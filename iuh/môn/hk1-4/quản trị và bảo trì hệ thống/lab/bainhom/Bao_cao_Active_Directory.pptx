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iu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"/>
            <a:ext cx="3017520" cy="860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29260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TRƯỜNG ĐẠI HỌC CÔNG NGHIỆP TP. HỒ CHÍ MINH — KHOA CÔNG NGHỆ THÔNG TIN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Môn học: Quản trị và bảo trì hệ thống  |  Học kỳ 1 • Năm học 2025 - 2026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743200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BÁO CÁO BÀI TẬP NHÓM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EAB308"/>
                </a:solidFill>
                <a:latin typeface="Segoe UI"/>
              </a:defRPr>
            </a:pPr>
            <a:r>
              <a:t>ACTIVE DIRECTORY DOMAIN SERVICES</a:t>
            </a:r>
          </a:p>
          <a:p>
            <a:pPr>
              <a:spcBef>
                <a:spcPts val="800"/>
              </a:spcBef>
              <a:defRPr sz="1350">
                <a:solidFill>
                  <a:srgbClr val="FFFFFF"/>
                </a:solidFill>
                <a:latin typeface="Segoe UI"/>
              </a:defRPr>
            </a:pPr>
            <a:r>
              <a:t>NGHIÊN CỨU KIẾN TRÚC, CƠ CHẾ HOẠT ĐỘNG, TIỆN ÍCH ADPREP</a:t>
            </a:r>
            <a:br/>
            <a:r>
              <a:t>VÀ QUY TRÌNH TRIỂN KHAI THỰC HÀNH CÀI ĐẶT TRÊN WINDOWS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2057400" cy="310896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AE6FD"/>
                </a:solidFill>
                <a:latin typeface="Segoe UI"/>
              </a:defRPr>
            </a:pPr>
            <a:r>
              <a:t>[X.500 HIERARCHY]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3703320"/>
            <a:ext cx="2057400" cy="310896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AE6FD"/>
                </a:solidFill>
                <a:latin typeface="Segoe UI"/>
              </a:defRPr>
            </a:pPr>
            <a:r>
              <a:t>[KERBEROS V5 SSO]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3703320"/>
            <a:ext cx="2057400" cy="310896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AE6FD"/>
                </a:solidFill>
                <a:latin typeface="Segoe UI"/>
              </a:defRPr>
            </a:pPr>
            <a:r>
              <a:t>[5 VAI TRÒ FSMO]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3703320"/>
            <a:ext cx="2057400" cy="310896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AE6FD"/>
                </a:solidFill>
                <a:latin typeface="Segoe UI"/>
              </a:defRPr>
            </a:pPr>
            <a:r>
              <a:t>[DNS INTEGRATED]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3703320"/>
            <a:ext cx="2057400" cy="310896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AE6FD"/>
                </a:solidFill>
                <a:latin typeface="Segoe UI"/>
              </a:defRPr>
            </a:pPr>
            <a:r>
              <a:t>[RODC SECURITY]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605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728655" cy="2057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058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7490"/>
                </a:solidFill>
                <a:latin typeface="Segoe UI"/>
              </a:defRPr>
            </a:pPr>
            <a:r>
              <a:t>DANH SÁCH SINH VIÊN THỰC HIỆN ĐỀ TÀI (NHÓM 01):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937760"/>
            <a:ext cx="32461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1. Đỗ Hữu Châu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MSSV: 24688491  •  [THIẾT KẾ &amp; BÁO CÁO]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EAB308"/>
                </a:solidFill>
                <a:latin typeface="Segoe UI"/>
              </a:defRPr>
            </a:pPr>
            <a:r>
              <a:t>Phụ trách Slide thuyết trình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4937760"/>
            <a:ext cx="32461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2. Phan Thanh Đô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MSSV: 24700621  •  [THỰC HÀNH &amp; VIDEO]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EAB308"/>
                </a:solidFill>
                <a:latin typeface="Segoe UI"/>
              </a:defRPr>
            </a:pPr>
            <a:r>
              <a:t>Phụ trách Chuỗi 6 Video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4937760"/>
            <a:ext cx="32461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3. Lê Thành Long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MSSV: 23630851  •  [NGHIÊN CỨU &amp; WORD]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EAB308"/>
                </a:solidFill>
                <a:latin typeface="Segoe UI"/>
              </a:defRPr>
            </a:pPr>
            <a:r>
              <a:t>Phụ trách Lý thuyết, Tài liệu Word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TỔNG QUAN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Nội Dung Báo Cáo Chuyên Đề &amp; Tiến Trình Nghiên Cứu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1645920"/>
            <a:ext cx="36576" cy="420624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10728655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536192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554480"/>
            <a:ext cx="1280160" cy="475488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CHƯƠNG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8132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TỔNG QUAN &amp; CHỨC NĂNG CỦA DIRECTORY SERVICE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Bối cảnh ra đời, so sánh Workgroup vs Domain, 4 chức năng cốt lõi và 4 mục đích chiến lược.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77440"/>
            <a:ext cx="10728655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542032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560320"/>
            <a:ext cx="1280160" cy="475488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CHƯƠNG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48716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KIẾN TRÚC &amp; CƠ CHẾ HOẠT ĐỘNG CỦA ACTIVE DIRECTORY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Cấu trúc Logic &amp; Vật lý, Schema &amp; Global Catalog, 5 vai trò FSMO, xác thực Kerberos v5 &amp;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383280"/>
            <a:ext cx="10728655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47872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566160"/>
            <a:ext cx="1280160" cy="475488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CHƯƠNG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49300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TÍNH NĂNG NÂNG CAO, RODC &amp; BỘ CÔNG CỤ ADPREP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Giải pháp an ninh chi nhánh với RODC và chuyên sâu bộ 3 lệnh ADPREP mở rộng hạ tầng mạng.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89120"/>
            <a:ext cx="10728655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53712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54480" y="4572000"/>
            <a:ext cx="1280160" cy="475488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CHƯƠNG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49884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TRIỂN KHAI THỰC HÀNH CÀI ĐẶT &amp; CHUỖI 6 VIDEO DEMO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Quy hoạch IP máy ảo VMware, các bước cấu hình DC/DNS, chạy lệnh adprep, join domain Win 7.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559552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577840"/>
            <a:ext cx="1280160" cy="47548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KẾT LUẬN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550468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KẾT LUẬN &amp; ĐỊNH HƯỚNG PHÁT TRIỂN ĐỀ TÀI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Đánh giá các kết quả lý thuyết - thực hành đã đạt được và hướng mở rộng Hybrid Cloud / GPO.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1 • TỔNG QUAN VÀ CHỨC NĂNG CỦA DIRECTORY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Bối Cảnh Ra Đời &amp; Sự Cần Thiết Của Dịch Vụ Thư Mục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30368" cy="2514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230368" cy="38404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[CẢNH BÁO] HẠN CHẾ CỐT LÕI CỦA MÔ HÌNH MẠNG WORKGROUP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956048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Lưu trữ tài khoản phân tán: </a:t>
            </a:r>
            <a:r>
              <a:rPr sz="950" b="0">
                <a:solidFill>
                  <a:srgbClr val="1E293B"/>
                </a:solidFill>
                <a:latin typeface="Segoe UI"/>
              </a:rPr>
              <a:t>Mỗi máy trạm tự quản lý danh tính độc lập qua tệp SAM cục bộ (C:\Windows\System32\config\SAM).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Vận hành tốn kém &amp; lặp lại: </a:t>
            </a:r>
            <a:r>
              <a:rPr sz="950" b="0">
                <a:solidFill>
                  <a:srgbClr val="1E293B"/>
                </a:solidFill>
                <a:latin typeface="Segoe UI"/>
              </a:rPr>
              <a:t>Quản trị viên phải đến từng máy tính vật lý để cấu hình lại các tài khoản người dùng tương tự.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Không đồng bộ an ninh: </a:t>
            </a:r>
            <a:r>
              <a:rPr sz="950" b="0">
                <a:solidFill>
                  <a:srgbClr val="1E293B"/>
                </a:solidFill>
                <a:latin typeface="Segoe UI"/>
              </a:rPr>
              <a:t>Không thể áp đặt chính sách mật khẩu thống nhất; phân quyền lỏng lẻo, dễ rò rỉ dữ liệu nội bộ.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Khả năng mở rộng kém: </a:t>
            </a:r>
            <a:r>
              <a:rPr sz="950" b="0">
                <a:solidFill>
                  <a:srgbClr val="1E293B"/>
                </a:solidFill>
                <a:latin typeface="Segoe UI"/>
              </a:rPr>
              <a:t>Chỉ phù hợp quy mô gia đình hoặc văn phòng rất nhỏ dưới 10 thiết bị; mở rộng gây hỗn loạn.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30368" cy="2514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230368" cy="38404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[GIẢI PHÁP] ACTIVE DIRECTORY DOMAIN SERVICES (AD 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4956048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Cơ sở dữ liệu tập trung: </a:t>
            </a:r>
            <a:r>
              <a:rPr sz="950" b="0">
                <a:solidFill>
                  <a:srgbClr val="1E293B"/>
                </a:solidFill>
                <a:latin typeface="Segoe UI"/>
              </a:rPr>
              <a:t>Lưu trữ toàn bộ danh tính số trong tệp ntds.dit duy nhất trên máy chủ Domain Controller (DC).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Đăng nhập một lần (SSO): </a:t>
            </a:r>
            <a:r>
              <a:rPr sz="950" b="0">
                <a:solidFill>
                  <a:srgbClr val="1E293B"/>
                </a:solidFill>
                <a:latin typeface="Segoe UI"/>
              </a:rPr>
              <a:t>Người dùng chỉ nhớ 1 cặp tài khoản/mật khẩu để truy cập thông suốt mọi tài nguyên mạng được phân quyền.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Chính sách Group Policy (GPO): </a:t>
            </a:r>
            <a:r>
              <a:rPr sz="950" b="0">
                <a:solidFill>
                  <a:srgbClr val="1E293B"/>
                </a:solidFill>
                <a:latin typeface="Segoe UI"/>
              </a:rPr>
              <a:t>Tự động hóa khóa cổng USB, đổi hình nền, cài phần mềm đồng loạt cho hàng ngàn máy với 1 click.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Khả năng mở rộng vượt trội: </a:t>
            </a:r>
            <a:r>
              <a:rPr sz="950" b="0">
                <a:solidFill>
                  <a:srgbClr val="1E293B"/>
                </a:solidFill>
                <a:latin typeface="Segoe UI"/>
              </a:rPr>
              <a:t>Hỗ trợ hàng triệu đối tượng, đồng bộ đa máy chủ (Multi-Master Replication) an toàn và tin cậy.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10728655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10332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03366"/>
                </a:solidFill>
                <a:latin typeface="Segoe UI"/>
              </a:defRPr>
            </a:pPr>
            <a:r>
              <a:t>SƠ ĐỒ ĐỐI CHIẾU KIẾN TRÚC MÔ HÌNH: PHÂN TÁN (WORKGROUP) VS TẬP TRUNG (ACTIVE DIRECTORY)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389120"/>
            <a:ext cx="4663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4526280"/>
            <a:ext cx="1280160" cy="658368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  <a:latin typeface="Segoe UI"/>
              </a:defRPr>
            </a:pPr>
            <a:r>
              <a:t>PC-01</a:t>
            </a:r>
          </a:p>
        </p:txBody>
      </p:sp>
      <p:sp>
        <p:nvSpPr>
          <p:cNvPr id="17" name="Can 16"/>
          <p:cNvSpPr/>
          <p:nvPr/>
        </p:nvSpPr>
        <p:spPr>
          <a:xfrm>
            <a:off x="1508760" y="5230368"/>
            <a:ext cx="640080" cy="384048"/>
          </a:xfrm>
          <a:prstGeom prst="can">
            <a:avLst/>
          </a:prstGeom>
          <a:solidFill>
            <a:srgbClr val="FECACA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DC2626"/>
                </a:solidFill>
                <a:latin typeface="Segoe UI"/>
              </a:defRPr>
            </a:pPr>
            <a:r>
              <a:t>SAM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4526280"/>
            <a:ext cx="1280160" cy="658368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  <a:latin typeface="Segoe UI"/>
              </a:defRPr>
            </a:pPr>
            <a:r>
              <a:t>PC-02</a:t>
            </a:r>
          </a:p>
        </p:txBody>
      </p:sp>
      <p:sp>
        <p:nvSpPr>
          <p:cNvPr id="19" name="Can 18"/>
          <p:cNvSpPr/>
          <p:nvPr/>
        </p:nvSpPr>
        <p:spPr>
          <a:xfrm>
            <a:off x="2971800" y="5230368"/>
            <a:ext cx="640080" cy="384048"/>
          </a:xfrm>
          <a:prstGeom prst="can">
            <a:avLst/>
          </a:prstGeom>
          <a:solidFill>
            <a:srgbClr val="FECACA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DC2626"/>
                </a:solidFill>
                <a:latin typeface="Segoe UI"/>
              </a:defRPr>
            </a:pPr>
            <a:r>
              <a:t>SAM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4526280"/>
            <a:ext cx="1280160" cy="658368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  <a:latin typeface="Segoe UI"/>
              </a:defRPr>
            </a:pPr>
            <a:r>
              <a:t>PC-03</a:t>
            </a:r>
          </a:p>
        </p:txBody>
      </p:sp>
      <p:sp>
        <p:nvSpPr>
          <p:cNvPr id="21" name="Can 20"/>
          <p:cNvSpPr/>
          <p:nvPr/>
        </p:nvSpPr>
        <p:spPr>
          <a:xfrm>
            <a:off x="4434840" y="5230368"/>
            <a:ext cx="640080" cy="384048"/>
          </a:xfrm>
          <a:prstGeom prst="can">
            <a:avLst/>
          </a:prstGeom>
          <a:solidFill>
            <a:srgbClr val="FECACA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DC2626"/>
                </a:solidFill>
                <a:latin typeface="Segoe UI"/>
              </a:defRPr>
            </a:pPr>
            <a:r>
              <a:t>SAM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715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DC2626"/>
                </a:solidFill>
                <a:latin typeface="Segoe UI"/>
              </a:defRPr>
            </a:pPr>
            <a:r>
              <a:t>[!] Rời rạc: Mỗi máy tự lưu SAM cục bộ riêng. Không tin cậy lẫn nhau, không có cơ chế quản lý tập trung.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389120"/>
            <a:ext cx="49377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4526280"/>
            <a:ext cx="2011680" cy="658368"/>
          </a:xfrm>
          <a:prstGeom prst="roundRect">
            <a:avLst/>
          </a:prstGeom>
          <a:solidFill>
            <a:srgbClr val="003366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DOMAIN CONTROLLER</a:t>
            </a:r>
            <a:br/>
            <a:r>
              <a:t>(MÁY CHỦ QUẢN TRỊ MIỀN)</a:t>
            </a:r>
          </a:p>
        </p:txBody>
      </p:sp>
      <p:sp>
        <p:nvSpPr>
          <p:cNvPr id="25" name="Can 24"/>
          <p:cNvSpPr/>
          <p:nvPr/>
        </p:nvSpPr>
        <p:spPr>
          <a:xfrm>
            <a:off x="6903720" y="5230368"/>
            <a:ext cx="1188720" cy="411480"/>
          </a:xfrm>
          <a:prstGeom prst="can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3366"/>
                </a:solidFill>
                <a:latin typeface="Segoe UI"/>
              </a:defRPr>
            </a:pPr>
            <a:r>
              <a:t>NTDS.DIT (ESE)</a:t>
            </a:r>
          </a:p>
        </p:txBody>
      </p:sp>
      <p:sp>
        <p:nvSpPr>
          <p:cNvPr id="26" name="Left-Right Arrow 25"/>
          <p:cNvSpPr/>
          <p:nvPr/>
        </p:nvSpPr>
        <p:spPr>
          <a:xfrm>
            <a:off x="8595360" y="4754880"/>
            <a:ext cx="411480" cy="256032"/>
          </a:xfrm>
          <a:prstGeom prst="leftRightArrow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280" y="4526280"/>
            <a:ext cx="1965960" cy="658368"/>
          </a:xfrm>
          <a:prstGeom prst="roundRect">
            <a:avLst/>
          </a:prstGeom>
          <a:solidFill>
            <a:srgbClr val="F0FDF4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6A34A"/>
                </a:solidFill>
                <a:latin typeface="Segoe UI"/>
              </a:defRPr>
            </a:pPr>
            <a:r>
              <a:t>CÁC MÁY TRẠM CLIENT</a:t>
            </a:r>
            <a:br/>
            <a:r>
              <a:t>(Win 7, Win 10/11...)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5257800"/>
            <a:ext cx="196596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3366"/>
                </a:solidFill>
                <a:latin typeface="Segoe UI"/>
              </a:defRPr>
            </a:pPr>
            <a:r>
              <a:t>Kerberos SSO + GPO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7150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16A34A"/>
                </a:solidFill>
                <a:latin typeface="Segoe UI"/>
              </a:defRPr>
            </a:pPr>
            <a:r>
              <a:t>[✓] Tập trung: 1 tài khoản đăng nhập mọi máy. Quản trị viên chỉ cấu hình 1 lần trên DC, áp dụng toàn mạng.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1 • TỔNG QUAN VÀ CHỨC NĂNG CỦA DIRECTORY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So Sánh Chi Tiết: Mô Hình Workgroup vs Mô Hình Domain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04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53312"/>
          <a:ext cx="10728655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327855"/>
              </a:tblGrid>
              <a:tr h="485648">
                <a:tc>
                  <a:txBody>
                    <a:bodyPr lIns="109728" rIns="109728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Tiêu chuẩn so sánh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Mô hình Workgroup (Ngang hàng)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Mô hình Domain (Active Directory)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Quản lý tài khoản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Phân tán trên từng máy cục bộ (SAM Database)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Tập trung tại máy chủ Domain Controller (NTDS.dit)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Xác thực người dùng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Máy tính nào tự xác thực tài khoản máy đó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Xác thực tập trung qua giao thức chuẩn Kerberos v5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Đăng nhập một lần (SSO)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Không hỗ trợ; phải nhớ mật khẩu riêng từng máy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Hỗ trợ hoàn hảo; 1 tài khoản đăng nhập mọi máy trong miền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Chính sách an ninh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Cấu hình thủ công từng máy qua Local Group Policy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Triển khai đồng loạt tức thì qua Domain Group Policy (GPO)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Khả năng mở rộng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Rất kém; chỉ phù hợp mạng nhỏ dưới 10 máy tính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Vượt trội; hỗ trợ từ hàng trăm đến hàng triệu đối tượng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Phân quyền quản trị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Chỉ có toàn quyền Admin hoặc User cục bộ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Ủy quyền quản trị linh hoạt theo từng phòng ban (OU)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Dự phòng sự cố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[X] Không có cơ chế đồng bộ dự phòng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[✓] Hỗ trợ Multi-Master Replication giữa nhiều Domain Controller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5648"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Chi phí &amp; Vận hành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Tiết kiệm ban đầu, nhưng tốn công sức quản trị lớn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 tIns="18288" bIns="1828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Đòi hỏi máy chủ Windows Server, nhưng tối ưu chi phí dài hạn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833872"/>
            <a:ext cx="10728655" cy="475488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3366"/>
                </a:solidFill>
                <a:latin typeface="Segoe UI"/>
              </a:defRPr>
            </a:pPr>
            <a:r>
              <a:t>[KẾT LUẬN CHIẾN LƯỢC] Active Directory là tiêu chuẩn hạ tầng bắt buộc cho mọi doanh nghiệp có từ 10 máy trạm trở lên.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1 • TỔNG QUAN VÀ CHỨC NĂNG CỦA DIRECTORY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4 Chức Năng Cốt Lõi &amp; Lợi Ích Chiến Lược Của Active Directory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25420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542032" cy="34747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1. Quản Trị Tập Trung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19072"/>
            <a:ext cx="23225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Kho dữ liệu duy nhất: </a:t>
            </a:r>
            <a:r>
              <a:rPr sz="850" b="0">
                <a:solidFill>
                  <a:srgbClr val="1E293B"/>
                </a:solidFill>
                <a:latin typeface="Segoe UI"/>
              </a:rPr>
              <a:t>Toàn bộ User, Computer, Group lưu trong ntds.dit.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Hiệu lực tức thì: </a:t>
            </a:r>
            <a:r>
              <a:rPr sz="850" b="0">
                <a:solidFill>
                  <a:srgbClr val="1E293B"/>
                </a:solidFill>
                <a:latin typeface="Segoe UI"/>
              </a:rPr>
              <a:t>Thêm, xóa, khóa tài khoản được cập nhật toàn mạng.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Tiết kiệm chi phí: </a:t>
            </a:r>
            <a:r>
              <a:rPr sz="850" b="0">
                <a:solidFill>
                  <a:srgbClr val="1E293B"/>
                </a:solidFill>
                <a:latin typeface="Segoe UI"/>
              </a:rPr>
              <a:t>Quản trị viên quản lý hàng ngàn máy từ 1 bàn làm việc.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25880"/>
            <a:ext cx="25420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1325880"/>
            <a:ext cx="2542032" cy="347472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2. Phân Cấp &amp; Mở Rộng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19072"/>
            <a:ext cx="23225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Mô hình chuẩn X.500: </a:t>
            </a:r>
            <a:r>
              <a:rPr sz="850" b="0">
                <a:solidFill>
                  <a:srgbClr val="1E293B"/>
                </a:solidFill>
                <a:latin typeface="Segoe UI"/>
              </a:rPr>
              <a:t>Cây logic mô phỏng đúng phòng ban công ty.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Khả năng mở rộng lớn: </a:t>
            </a:r>
            <a:r>
              <a:rPr sz="850" b="0">
                <a:solidFill>
                  <a:srgbClr val="1E293B"/>
                </a:solidFill>
                <a:latin typeface="Segoe UI"/>
              </a:rPr>
              <a:t>Hỗ trợ hàng triệu đối tượng mà tốc độ vẫn tối ưu.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Ranh giới rõ ràng: </a:t>
            </a:r>
            <a:r>
              <a:rPr sz="850" b="0">
                <a:solidFill>
                  <a:srgbClr val="1E293B"/>
                </a:solidFill>
                <a:latin typeface="Segoe UI"/>
              </a:rPr>
              <a:t>Dễ dàng phân định phạm vi quản lý giữa các chi nhánh.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25880"/>
            <a:ext cx="25420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325880"/>
            <a:ext cx="2542032" cy="34747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3. Tra Cứu Toàn Cục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719072"/>
            <a:ext cx="23225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Chuẩn danh bạ LDAP: </a:t>
            </a:r>
            <a:r>
              <a:rPr sz="850" b="0">
                <a:solidFill>
                  <a:srgbClr val="1E293B"/>
                </a:solidFill>
                <a:latin typeface="Segoe UI"/>
              </a:rPr>
              <a:t>Lắng nghe qua cổng TCP 389 và TCP 636 (SSL).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Định vị tài nguyên: </a:t>
            </a:r>
            <a:r>
              <a:rPr sz="850" b="0">
                <a:solidFill>
                  <a:srgbClr val="1E293B"/>
                </a:solidFill>
                <a:latin typeface="Segoe UI"/>
              </a:rPr>
              <a:t>Tìm kiếm máy in, thư mục chia sẻ theo thuộc tính.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Danh mục Global Catalog: </a:t>
            </a:r>
            <a:r>
              <a:rPr sz="850" b="0">
                <a:solidFill>
                  <a:srgbClr val="1E293B"/>
                </a:solidFill>
                <a:latin typeface="Segoe UI"/>
              </a:rPr>
              <a:t>Tìm kiếm toàn Forest trong thời gian mili-giây.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25880"/>
            <a:ext cx="25420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1325880"/>
            <a:ext cx="2542032" cy="347472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4. Bảo Mật &amp; Phân Quyền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719072"/>
            <a:ext cx="23225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Kiểm soát truy cập ACL: </a:t>
            </a:r>
            <a:r>
              <a:rPr sz="850" b="0">
                <a:solidFill>
                  <a:srgbClr val="1E293B"/>
                </a:solidFill>
                <a:latin typeface="Segoe UI"/>
              </a:rPr>
              <a:t>Mỗi đối tượng đều có Access Control List chi tiết.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Mã an ninh duy nhất SID: </a:t>
            </a:r>
            <a:r>
              <a:rPr sz="850" b="0">
                <a:solidFill>
                  <a:srgbClr val="1E293B"/>
                </a:solidFill>
                <a:latin typeface="Segoe UI"/>
              </a:rPr>
              <a:t>Định danh bảo mật bất biến, chống giả mạo quyền.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Xác thực Kerberos v5: </a:t>
            </a:r>
            <a:r>
              <a:rPr sz="850" b="0">
                <a:solidFill>
                  <a:srgbClr val="1E293B"/>
                </a:solidFill>
                <a:latin typeface="Segoe UI"/>
              </a:rPr>
              <a:t>Mã hóa vé an toàn tuyệt đối qua mạng LAN/WAN.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107286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3366"/>
                </a:solidFill>
                <a:latin typeface="Segoe UI"/>
              </a:defRPr>
            </a:pPr>
            <a:r>
              <a:t>[MỤC ĐÍCH CHIẾN LƯỢC] 4 LỢI ÍCH SỐNG CÒN KHI DOANH NGHIỆP ÁP DỤNG ACTIVE DIRECTORY: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31920"/>
            <a:ext cx="2542032" cy="22402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2542032" cy="34747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1. Single Sign-On (SSO)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315968"/>
            <a:ext cx="232257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Trải nghiệm liền mạch: </a:t>
            </a:r>
            <a:r>
              <a:rPr sz="850" b="0">
                <a:solidFill>
                  <a:srgbClr val="1E293B"/>
                </a:solidFill>
                <a:latin typeface="Segoe UI"/>
              </a:rPr>
              <a:t>Nhân viên chỉ nhớ 1 tài khoản duy nhất để mở email, đăng nhập máy tính và web nội bộ.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Giảm tải Helpdesk: </a:t>
            </a:r>
            <a:r>
              <a:rPr sz="850" b="0">
                <a:solidFill>
                  <a:srgbClr val="1E293B"/>
                </a:solidFill>
                <a:latin typeface="Segoe UI"/>
              </a:rPr>
              <a:t>Giảm 70% số lượng yêu cầu hỗ trợ quên mật khẩu.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56432" y="3931920"/>
            <a:ext cx="2542032" cy="2240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56432" y="3931920"/>
            <a:ext cx="2542032" cy="34747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2. Group Policy (GPO)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315968"/>
            <a:ext cx="232257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Khóa cổng USB an toàn: </a:t>
            </a:r>
            <a:r>
              <a:rPr sz="850" b="0">
                <a:solidFill>
                  <a:srgbClr val="1E293B"/>
                </a:solidFill>
                <a:latin typeface="Segoe UI"/>
              </a:rPr>
              <a:t>Ngăn chặn sao chép dữ liệu nội bộ trái phép.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Tự động hóa hoàn toàn: </a:t>
            </a:r>
            <a:r>
              <a:rPr sz="850" b="0">
                <a:solidFill>
                  <a:srgbClr val="1E293B"/>
                </a:solidFill>
                <a:latin typeface="Segoe UI"/>
              </a:rPr>
              <a:t>Đồng bộ hình nền thương hiệu, cài phần mềm diệt virus đồng loạt với 1 click.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931920"/>
            <a:ext cx="2542032" cy="224028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1344" y="3931920"/>
            <a:ext cx="2542032" cy="347472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3. Ủy Quyền Quản Trị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4315968"/>
            <a:ext cx="232257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Phân quyền linh hoạt: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Cấp quyền reset mật khẩu cho IT Helpdesk từng phòng ban OU cụ thể.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Bảo vệ quyền tối cao: </a:t>
            </a:r>
            <a:r>
              <a:rPr sz="850" b="0">
                <a:solidFill>
                  <a:srgbClr val="1E293B"/>
                </a:solidFill>
                <a:latin typeface="Segoe UI"/>
              </a:rPr>
              <a:t>Hoàn toàn không để lộ mật khẩu quản trị cấp cao Enterprise Admins.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6256" y="3931920"/>
            <a:ext cx="2542032" cy="224028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06256" y="3931920"/>
            <a:ext cx="2542032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4. Chịu Lỗi (Fault Tolerance)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4315968"/>
            <a:ext cx="232257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Dự phòng Multi-Master: </a:t>
            </a:r>
            <a:r>
              <a:rPr sz="850" b="0">
                <a:solidFill>
                  <a:srgbClr val="1E293B"/>
                </a:solidFill>
                <a:latin typeface="Segoe UI"/>
              </a:rPr>
              <a:t>Triển khai nhiều DC chạy song song, dữ liệu tự động đồng bộ.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Vận hành liên tục 24/7: </a:t>
            </a:r>
            <a:r>
              <a:rPr sz="850" b="0">
                <a:solidFill>
                  <a:srgbClr val="1E293B"/>
                </a:solidFill>
                <a:latin typeface="Segoe UI"/>
              </a:rPr>
              <a:t>Khi 1 máy chủ bảo trì, toàn hệ thống vẫn vận hành bình thường 100%.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2 • KIẾN TRÚC VÀ CƠ CHẾ HOẠT ĐỘNG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Cấu Trúc Logic: Phân Tầng Đối Tượng, OU, Domain Và Rừng Miền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43891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2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Segoe UI"/>
              </a:defRPr>
            </a:pPr>
            <a:r>
              <a:t>SƠ ĐỒ PHÂN CẤP LOGIC (HIERARCHY)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783080"/>
            <a:ext cx="4023360" cy="621792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FOREST (RỪNG MIỀN)</a:t>
            </a:r>
          </a:p>
          <a:p>
            <a:pPr algn="ctr">
              <a:defRPr sz="800">
                <a:solidFill>
                  <a:srgbClr val="E2E8F0"/>
                </a:solidFill>
                <a:latin typeface="Segoe UI"/>
              </a:defRPr>
            </a:pPr>
            <a:r>
              <a:t>Ranh giới an ninh tối cao • Chung Schema &amp; GC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16352" y="2441448"/>
            <a:ext cx="219456" cy="219456"/>
          </a:xfrm>
          <a:prstGeom prst="downArrow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51560" y="2697480"/>
            <a:ext cx="3749039" cy="62179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DOMAIN TREE (CÂY MIỀN)</a:t>
            </a:r>
          </a:p>
          <a:p>
            <a:pPr algn="ctr">
              <a:defRPr sz="800">
                <a:solidFill>
                  <a:srgbClr val="E2E8F0"/>
                </a:solidFill>
                <a:latin typeface="Segoe UI"/>
              </a:defRPr>
            </a:pPr>
            <a:r>
              <a:t>Không gian tên liên tục (iuh.edu.vn, cntt.iuh.edu.vn)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16352" y="3355848"/>
            <a:ext cx="219456" cy="219456"/>
          </a:xfrm>
          <a:prstGeom prst="downArrow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3611880"/>
            <a:ext cx="3474720" cy="621792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DOMAIN (MIỀN QUẢN TRỊ)</a:t>
            </a:r>
          </a:p>
          <a:p>
            <a:pPr algn="ctr">
              <a:defRPr sz="800">
                <a:solidFill>
                  <a:srgbClr val="E2E8F0"/>
                </a:solidFill>
                <a:latin typeface="Segoe UI"/>
              </a:defRPr>
            </a:pPr>
            <a:r>
              <a:t>Chia sẻ chung CSDL ntds.dit &amp; 1 chính sách an ninh (nhom1.vn)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16352" y="4270248"/>
            <a:ext cx="219456" cy="219456"/>
          </a:xfrm>
          <a:prstGeom prst="downArrow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325880" y="4526280"/>
            <a:ext cx="3200400" cy="62179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ORGANIZATIONAL UNIT (OU)</a:t>
            </a:r>
          </a:p>
          <a:p>
            <a:pPr algn="ctr">
              <a:defRPr sz="800">
                <a:solidFill>
                  <a:srgbClr val="E2E8F0"/>
                </a:solidFill>
                <a:latin typeface="Segoe UI"/>
              </a:defRPr>
            </a:pPr>
            <a:r>
              <a:t>Thùng chứa logic (OU Kế Toán, OU CNTT) • Gắn GPO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816352" y="5184648"/>
            <a:ext cx="219456" cy="219456"/>
          </a:xfrm>
          <a:prstGeom prst="downArrow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63040" y="5440680"/>
            <a:ext cx="2926080" cy="621792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OBJECTS (ĐỐI TƯỢNG)</a:t>
            </a:r>
          </a:p>
          <a:p>
            <a:pPr algn="ctr">
              <a:defRPr sz="800">
                <a:solidFill>
                  <a:srgbClr val="E2E8F0"/>
                </a:solidFill>
                <a:latin typeface="Segoe UI"/>
              </a:defRPr>
            </a:pPr>
            <a:r>
              <a:t>User, Computer, Group, Printer • Đơn vị nhỏ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76672" y="1353312"/>
            <a:ext cx="6080760" cy="15361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76672" y="1353312"/>
            <a:ext cx="6080760" cy="34747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1. OBJECTS &amp; ORGANIZATIONAL UNIT (OU)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1264" y="1737360"/>
            <a:ext cx="575157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Thực thể cụ thể: </a:t>
            </a:r>
            <a:r>
              <a:rPr sz="900" b="0">
                <a:solidFill>
                  <a:srgbClr val="1E293B"/>
                </a:solidFill>
                <a:latin typeface="Segoe UI"/>
              </a:rPr>
              <a:t>User (người dùng), Computer (máy trạm), Group, Printer. Mỗi đối tượng gắn GUID toàn cầu và mã an ninh SID.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Đơn vị tổ chức OU: </a:t>
            </a:r>
            <a:r>
              <a:rPr sz="900" b="0">
                <a:solidFill>
                  <a:srgbClr val="1E293B"/>
                </a:solidFill>
                <a:latin typeface="Segoe UI"/>
              </a:rPr>
              <a:t>Là container mô phỏng sơ đồ phòng ban công ty (OU KHOA-CNTT). Cấp độ duy nhất cho phép liên kết Group Policy (GPO) và ủy quyền quản trị.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76672" y="3026664"/>
            <a:ext cx="6080760" cy="15361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76672" y="3026664"/>
            <a:ext cx="6080760" cy="347472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2. DOMAIN &amp; CÂY MIỀN (DOMAIN TREE)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3410712"/>
            <a:ext cx="575157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Ranh giới quản trị: </a:t>
            </a:r>
            <a:r>
              <a:rPr sz="900" b="0">
                <a:solidFill>
                  <a:srgbClr val="1E293B"/>
                </a:solidFill>
                <a:latin typeface="Segoe UI"/>
              </a:rPr>
              <a:t>Mọi tài khoản trong cùng Domain chia sẻ chung 1 cơ sở dữ liệu ntds.dit và 1 chính sách an ninh mật khẩu thống nhất.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Domain Tree: </a:t>
            </a:r>
            <a:r>
              <a:rPr sz="900" b="0">
                <a:solidFill>
                  <a:srgbClr val="1E293B"/>
                </a:solidFill>
                <a:latin typeface="Segoe UI"/>
              </a:rPr>
              <a:t>Tập hợp các domain có không gian tên liên tục (contiguous namespace). Ví dụ: cntt.iuh.edu.vn là subdomain của iuh.edu.vn.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76672" y="4700016"/>
            <a:ext cx="6080760" cy="15361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76672" y="4700016"/>
            <a:ext cx="608076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3. FOREST (RỪNG MIỀN) &amp; QUAN HỆ ỦY THÁC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1264" y="5084064"/>
            <a:ext cx="575157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Ranh giới an ninh tối cao: </a:t>
            </a:r>
            <a:r>
              <a:rPr sz="900" b="0">
                <a:solidFill>
                  <a:srgbClr val="1E293B"/>
                </a:solidFill>
                <a:latin typeface="Segoe UI"/>
              </a:rPr>
              <a:t>Tập hợp một hoặc nhiều Tree có thể khác nhau về tên miền nhưng chia sẻ chung Schema, Cấu hình và Global Catalog.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Quan hệ ủy thác (Trust): </a:t>
            </a:r>
            <a:r>
              <a:rPr sz="900" b="0">
                <a:solidFill>
                  <a:srgbClr val="1E293B"/>
                </a:solidFill>
                <a:latin typeface="Segoe UI"/>
              </a:rPr>
              <a:t>Tự động tạo lập quan hệ tin cậy 2 chiều truyền tiếp (Two-way Transitive Trust) giữa mọi domain trong cùng Forest.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2 • KIẾN TRÚC VÀ CƠ CHẾ HOẠT ĐỘNG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Cấu Trúc Vật Lý: Máy Chủ Domain Controller, Sites Và Tối Ưu Mạng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07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493776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4937760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1. MÁY CHỦ DOMAIN CONTROLLER (DC) &amp; CSDL NTDS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5720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Trái tim hệ thống mạng: </a:t>
            </a:r>
            <a:r>
              <a:rPr sz="950" b="0">
                <a:solidFill>
                  <a:srgbClr val="1E293B"/>
                </a:solidFill>
                <a:latin typeface="Segoe UI"/>
              </a:rPr>
              <a:t>Máy chủ Windows Server cài Role AD DS, chịu trách nhiệm lưu trữ và xác thực toàn miền.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Cơ sở dữ liệu NTDS.DIT: </a:t>
            </a:r>
            <a:r>
              <a:rPr sz="950" b="0">
                <a:solidFill>
                  <a:srgbClr val="1E293B"/>
                </a:solidFill>
                <a:latin typeface="Segoe UI"/>
              </a:rPr>
              <a:t>Tệp C:\Windows\NTDS\ntds.dit dùng công nghệ Jet Engine (ESE) co giãn hàng triệu bản ghi.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Cơ chế Multi-Master Replication: </a:t>
            </a:r>
            <a:r>
              <a:rPr sz="950" b="0">
                <a:solidFill>
                  <a:srgbClr val="1E293B"/>
                </a:solidFill>
                <a:latin typeface="Segoe UI"/>
              </a:rPr>
              <a:t>Mọi DC đều có quyền đọc/ghi dữ liệu. Thay đổi ở bất kỳ DC nào sẽ tự động đồng bộ sang các DC còn lại.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Hai thư mục chia sẻ hệ thống: </a:t>
            </a:r>
            <a:r>
              <a:rPr sz="950" b="0">
                <a:solidFill>
                  <a:srgbClr val="1E293B"/>
                </a:solidFill>
                <a:latin typeface="Segoe UI"/>
              </a:rPr>
              <a:t>Bắt buộc duy trì SYSVOL (chứa chính sách GPO) và NETLOGON (chứa kịch bản đăng nhập mạng).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Cơ chế chịu lỗi (Fault Tolerance): </a:t>
            </a:r>
            <a:r>
              <a:rPr sz="950" b="0">
                <a:solidFill>
                  <a:srgbClr val="1E293B"/>
                </a:solidFill>
                <a:latin typeface="Segoe UI"/>
              </a:rPr>
              <a:t>Doanh nghiệp luôn triển khai ít nhất 2 DC để khi 1 máy bảo trì, toàn hệ thống vẫn chạy 100%.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Bảo vệ vật lý máy chủ: </a:t>
            </a:r>
            <a:r>
              <a:rPr sz="950" b="0">
                <a:solidFill>
                  <a:srgbClr val="1E293B"/>
                </a:solidFill>
                <a:latin typeface="Segoe UI"/>
              </a:rPr>
              <a:t>Đặt trong phòng Server chuyên dụng, khóa tủ rack và hạn chế tối đa đăng nhập trực tiếp.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25312" y="1353312"/>
            <a:ext cx="55321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25312" y="1353312"/>
            <a:ext cx="5532120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2. SƠ ĐỒ SITES &amp; SUBNETS — TỐI ƯU HÓA TUYẾN MẠNG WAN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874519"/>
            <a:ext cx="23317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2331720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SITE 1: TP. HỒ CHÍ MINH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04288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Segoe UI"/>
              </a:defRPr>
            </a:pPr>
            <a:r>
              <a:t>• Hội sở chính (Headquarters)</a:t>
            </a:r>
            <a:br/>
            <a:r>
              <a:t>• Subnet: 192.168.10.0/24</a:t>
            </a:r>
            <a:br/>
            <a:r>
              <a:t>• Server DC1 (192.168.10.1)</a:t>
            </a:r>
            <a:br/>
            <a:r>
              <a:t>• 500 Máy trạm Client LAN</a:t>
            </a:r>
            <a:br/>
            <a:r>
              <a:t>• CSDL ntds.dit đầy đủ (Đọc/Ghi)</a:t>
            </a:r>
            <a:br/>
            <a:r>
              <a:t>• Băng thông LAN: 1 Gbps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8558784" y="2697480"/>
            <a:ext cx="411480" cy="320040"/>
          </a:xfrm>
          <a:prstGeom prst="left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34272" y="1874519"/>
            <a:ext cx="22402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34272" y="1874519"/>
            <a:ext cx="2240280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SITE 2: HÀ NỘI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304288"/>
            <a:ext cx="2057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Segoe UI"/>
              </a:defRPr>
            </a:pPr>
            <a:r>
              <a:t>• Chi nhánh miền Bắc (Branch)</a:t>
            </a:r>
            <a:br/>
            <a:r>
              <a:t>• Subnet: 172.16.0.0/24</a:t>
            </a:r>
            <a:br/>
            <a:r>
              <a:t>• Server DC2 (172.16.0.1)</a:t>
            </a:r>
            <a:br/>
            <a:r>
              <a:t>• 200 Máy trạm Client LAN</a:t>
            </a:r>
            <a:br/>
            <a:r>
              <a:t>• Đồng bộ định kỳ với DC1</a:t>
            </a:r>
            <a:br/>
            <a:r>
              <a:t>• Băng thông LAN: 1 Gbps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251960"/>
            <a:ext cx="5102352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[LIÊN KẾT SITE LINK] TỐI ƯU ĐƯỜNG TRUYỀN WAN LIÊN TỈNH: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Nén dữ liệu (Compression): </a:t>
            </a:r>
            <a:r>
              <a:rPr sz="850" b="0">
                <a:solidFill>
                  <a:srgbClr val="1E293B"/>
                </a:solidFill>
                <a:latin typeface="Segoe UI"/>
              </a:rPr>
              <a:t>Dữ liệu đồng bộ qua RPC over IP được nén tối đa nhằm tiết kiệm băng thông thuê bao.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Lập lịch thông minh (Schedule):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Chỉ đồng bộ ban đêm (ngoài giờ hành chính) để dành đường truyền cho công việc.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Đăng nhập cục bộ (Locality): </a:t>
            </a:r>
            <a:r>
              <a:rPr sz="850" b="0">
                <a:solidFill>
                  <a:srgbClr val="1E293B"/>
                </a:solidFill>
                <a:latin typeface="Segoe UI"/>
              </a:rPr>
              <a:t>Client Hà Nội tìm đến DC2 đăng nhập tức thì, không gửi truy vấn vượt WAN về TP.HCM.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2 • KIẾN TRÚC VÀ CƠ CHẾ HOẠT ĐỘNG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Hai Trụ Cột Duy Trì Tính Toàn Vẹn: Schema &amp; Global Catalog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5230368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5230368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1. ACTIVE DIRECTORY SCHEMA (BẢN THIẾT KẾ RỪNG)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6460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Bản thiết kế cốt lõi (Blueprint): </a:t>
            </a:r>
            <a:r>
              <a:rPr sz="950" b="0">
                <a:solidFill>
                  <a:srgbClr val="1E293B"/>
                </a:solidFill>
                <a:latin typeface="Segoe UI"/>
              </a:rPr>
              <a:t>Định nghĩa toàn bộ quy tắc về các loại đối tượng và thuộc tính được phép tồn tại trong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Class Schema (Lớp đối tượng): </a:t>
            </a:r>
            <a:r>
              <a:rPr sz="950" b="0">
                <a:solidFill>
                  <a:srgbClr val="1E293B"/>
                </a:solidFill>
                <a:latin typeface="Segoe UI"/>
              </a:rPr>
              <a:t>Khuôn mẫu thực thể: User, Computer, Group, Organizational Unit, PrintQueue...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Attribute Schema (Thuộc tính): </a:t>
            </a:r>
            <a:r>
              <a:rPr sz="950" b="0">
                <a:solidFill>
                  <a:srgbClr val="1E293B"/>
                </a:solidFill>
                <a:latin typeface="Segoe UI"/>
              </a:rPr>
              <a:t>Từng trường dữ liệu cụ thể: givenName, mail, userPrincipalName, telephoneNumber...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Duy nhất &amp; Bất biến: </a:t>
            </a:r>
            <a:r>
              <a:rPr sz="950" b="0">
                <a:solidFill>
                  <a:srgbClr val="1E293B"/>
                </a:solidFill>
                <a:latin typeface="Segoe UI"/>
              </a:rPr>
              <a:t>Toàn bộ Forest chỉ có duy nhất 1 Schema chung do Schema Master độc quyền quản lý.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Công cụ quản trị MMC: </a:t>
            </a:r>
            <a:r>
              <a:rPr sz="950" b="0">
                <a:solidFill>
                  <a:srgbClr val="1E293B"/>
                </a:solidFill>
                <a:latin typeface="Segoe UI"/>
              </a:rPr>
              <a:t>Mở qua Active Directory Schema Snap-in (chạy regsvr32 schmmgmt.dll trước khi mở).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754880"/>
            <a:ext cx="4864608" cy="1325880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ct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[MINH HỌA CẤU TRÚC SCHEMA TRONG BÀI LAB]: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Class: User | Đối tượng tạo lập trong lab: 'sv1'</a:t>
            </a:r>
            <a:br/>
            <a:r>
              <a:t>• Thuộc tính: sAMAccountName = 'sv1', userPrincipalName = 'sv1@nhom1.vn'</a:t>
            </a:r>
            <a:br/>
            <a:r>
              <a:t>• Khi chạy lệnh adprep /forestprep -&gt; Schema được nạp thêm thuộc tính mới của Windows Server nâng cấp mà không xóa thuộc tính cũ!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53312"/>
            <a:ext cx="5230368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53312"/>
            <a:ext cx="5230368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2. GLOBAL CATALOG (GC - DANH MỤC TOÀN CỤC)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486460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Bản sao danh bạ toàn cục: </a:t>
            </a:r>
            <a:r>
              <a:rPr sz="950" b="0">
                <a:solidFill>
                  <a:srgbClr val="1E293B"/>
                </a:solidFill>
                <a:latin typeface="Segoe UI"/>
              </a:rPr>
              <a:t>Lưu trữ bản sao đầy đủ của Domain cục bộ + bản sao rút gọn (PAS - Partial Attribute Set) của MỌI đối tượng trong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Cổng dịch vụ tiêu chuẩn: </a:t>
            </a:r>
            <a:r>
              <a:rPr sz="950" b="0">
                <a:solidFill>
                  <a:srgbClr val="1E293B"/>
                </a:solidFill>
                <a:latin typeface="Segoe UI"/>
              </a:rPr>
              <a:t>Lắng nghe truy vấn danh bạ trên cổng TCP 3268 (LDAP GC) và TCP 3269 (LDAPS SSL GC).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Tra cứu tài nguyên siêu tốc: </a:t>
            </a:r>
            <a:r>
              <a:rPr sz="950" b="0">
                <a:solidFill>
                  <a:srgbClr val="1E293B"/>
                </a:solidFill>
                <a:latin typeface="Segoe UI"/>
              </a:rPr>
              <a:t>Người dùng tìm kiếm thông tin nhân viên toàn tập đoàn chỉ trong vài mili-giây mà không cần gửi truy vấn xuyên miền.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Phân giải Universal Group: </a:t>
            </a:r>
            <a:r>
              <a:rPr sz="950" b="0">
                <a:solidFill>
                  <a:srgbClr val="1E293B"/>
                </a:solidFill>
                <a:latin typeface="Segoe UI"/>
              </a:rPr>
              <a:t>Bắt buộc phải có Global Catalog để xác thực đăng nhập trong môi trường đa miền (Multi-Domain Forest).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Kích hoạt linh hoạt: </a:t>
            </a:r>
            <a:r>
              <a:rPr sz="950" b="0">
                <a:solidFill>
                  <a:srgbClr val="1E293B"/>
                </a:solidFill>
                <a:latin typeface="Segoe UI"/>
              </a:rPr>
              <a:t>Bất kỳ máy DC nào cũng có thể bật tính năng GC chỉ với 1 dấu tích trong AD Sites and Services.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754880"/>
            <a:ext cx="4864608" cy="1325880"/>
          </a:xfrm>
          <a:prstGeom prst="roundRect">
            <a:avLst/>
          </a:prstGeom>
          <a:solidFill>
            <a:srgbClr val="ECFE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ctr">
              <a:defRPr sz="950" b="1">
                <a:solidFill>
                  <a:srgbClr val="0E7490"/>
                </a:solidFill>
                <a:latin typeface="Segoe UI"/>
              </a:defRPr>
            </a:pPr>
            <a:r>
              <a:t>[MINH HỌA TRUY VẤN GLOBAL CATALOG TRONG LAB]: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User tại máy trạm Win 7 tìm kiếm email của Administrator miền nhom1.vn.</a:t>
            </a:r>
            <a:br/>
            <a:r>
              <a:t>• Gửi truy vấn tới DC cổng TCP 3268 -&gt; Trả về kết quả tức thì trong &lt; 5ms.</a:t>
            </a:r>
            <a:br/>
            <a:r>
              <a:t>• Trong mô hình Single Domain của bài lab, DC WIN-P6PG9M9AICK đồng thời kiêm nhiệm máy chủ Global Catalog.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2 • KIẾN TRÚC VÀ CƠ CHẾ HOẠT ĐỘNG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5 Vai Trò FSMO (Flexible Single Master Operation Roles)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09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7286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3366"/>
                </a:solidFill>
                <a:latin typeface="Segoe UI"/>
              </a:defRPr>
            </a:pPr>
            <a:r>
              <a:t>[VAI TRÒ CẤP RỪNG - FOREST-WIDE ROLES] — DUY NHẤT 1 MÁY CHỦ TRONG TOÀN BỘ RỪNG: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30368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5230368" cy="329184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1. SCHEMA MASTER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4956048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3366"/>
                </a:solidFill>
                <a:latin typeface="Segoe UI"/>
              </a:defRPr>
            </a:pPr>
            <a:r>
              <a:t>Kiểm soát &amp; Mở rộng cấu trúc CSDL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Nhiệm vụ: </a:t>
            </a:r>
            <a:r>
              <a:rPr sz="850" b="0">
                <a:solidFill>
                  <a:srgbClr val="1E293B"/>
                </a:solidFill>
                <a:latin typeface="Segoe UI"/>
              </a:rPr>
              <a:t>Độc quyền thực hiện mọi thao tác sửa đổi, mở rộng cấu trúc Schema của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Tình huống: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Chạy lệnh adprep /forestprep hoặc cài đặt Microsoft Exchange Server.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Thẩm quyền: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Chỉ thành viên nhóm Schema Admins và Enterprise Admins mới có quyền truy cập.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Nếu offline: </a:t>
            </a:r>
            <a:r>
              <a:rPr sz="850" b="0">
                <a:solidFill>
                  <a:srgbClr val="1E293B"/>
                </a:solidFill>
                <a:latin typeface="Segoe UI"/>
              </a:rPr>
              <a:t>Hệ thống đăng nhập vẫn hoạt động bình thường, chỉ tạm ngưng việc sửa Schema.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5230368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7064" y="1600200"/>
            <a:ext cx="5230368" cy="329184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2. DOMAIN NAMING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965960"/>
            <a:ext cx="4956048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E7490"/>
                </a:solidFill>
                <a:latin typeface="Segoe UI"/>
              </a:defRPr>
            </a:pPr>
            <a:r>
              <a:t>Phê duyệt &amp; Quản lý Không gian tên miền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Nhiệm vụ: </a:t>
            </a:r>
            <a:r>
              <a:rPr sz="850" b="0">
                <a:solidFill>
                  <a:srgbClr val="1E293B"/>
                </a:solidFill>
                <a:latin typeface="Segoe UI"/>
              </a:rPr>
              <a:t>Kiểm soát việc thêm mới hoặc gỡ bỏ một Domain con trong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Đảm bảo: </a:t>
            </a:r>
            <a:r>
              <a:rPr sz="850" b="0">
                <a:solidFill>
                  <a:srgbClr val="1E293B"/>
                </a:solidFill>
                <a:latin typeface="Segoe UI"/>
              </a:rPr>
              <a:t>Không bao giờ xảy ra tình trạng trùng lặp tên miền trong cùng một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Quản lý bổ sung: </a:t>
            </a:r>
            <a:r>
              <a:rPr sz="850" b="0">
                <a:solidFill>
                  <a:srgbClr val="1E293B"/>
                </a:solidFill>
                <a:latin typeface="Segoe UI"/>
              </a:rPr>
              <a:t>Quản lý các phân vùng thư mục ứng dụng (Application Directory Partitions).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Nếu offline: </a:t>
            </a:r>
            <a:r>
              <a:rPr sz="850" b="0">
                <a:solidFill>
                  <a:srgbClr val="1E293B"/>
                </a:solidFill>
                <a:latin typeface="Segoe UI"/>
              </a:rPr>
              <a:t>Không thể tạo thêm domain mới hoặc đổi tên domain hiện có.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30752"/>
            <a:ext cx="107286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3366"/>
                </a:solidFill>
                <a:latin typeface="Segoe UI"/>
              </a:defRPr>
            </a:pPr>
            <a:r>
              <a:t>[VAI TRÒ CẤP MIỀN - DOMAIN-WIDE ROLES] — MỖI DOMAIN CÓ 1 MÁY CHỦ ĐẢM NHẬN: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41648"/>
            <a:ext cx="3401568" cy="20848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41648"/>
            <a:ext cx="3401568" cy="329184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3. PDC EMULATOR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07408"/>
            <a:ext cx="318211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3366"/>
                </a:solidFill>
                <a:latin typeface="Segoe UI"/>
              </a:defRPr>
            </a:pPr>
            <a:r>
              <a:t>Đồng bộ giờ &amp; Mật khẩu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NTP Master: </a:t>
            </a:r>
            <a:r>
              <a:rPr sz="850" b="0">
                <a:solidFill>
                  <a:srgbClr val="1E293B"/>
                </a:solidFill>
                <a:latin typeface="Segoe UI"/>
              </a:rPr>
              <a:t>Máy chủ đồng bộ thời gian chuẩn cho toàn bộ máy trạm và DC.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Mật khẩu khẩn cấp: </a:t>
            </a:r>
            <a:r>
              <a:rPr sz="850" b="0">
                <a:solidFill>
                  <a:srgbClr val="1E293B"/>
                </a:solidFill>
                <a:latin typeface="Segoe UI"/>
              </a:rPr>
              <a:t>Xử lý ưu tiên khi đổi pass và kiểm tra pass sai trước khi khóa user.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Quản trị GPO: </a:t>
            </a:r>
            <a:r>
              <a:rPr sz="850" b="0">
                <a:solidFill>
                  <a:srgbClr val="1E293B"/>
                </a:solidFill>
                <a:latin typeface="Segoe UI"/>
              </a:rPr>
              <a:t>Là trạm chủ mặc định khi mở Group Policy Management.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Quan trọng nhất: </a:t>
            </a:r>
            <a:r>
              <a:rPr sz="850" b="0">
                <a:solidFill>
                  <a:srgbClr val="1E293B"/>
                </a:solidFill>
                <a:latin typeface="Segoe UI"/>
              </a:rPr>
              <a:t>Nếu PDC offline, người dùng đổi mật khẩu sẽ bị chậm đồng bộ.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041648"/>
            <a:ext cx="3401568" cy="20848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4041648"/>
            <a:ext cx="3401568" cy="329184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4. RID MASTER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4407408"/>
            <a:ext cx="318211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E7490"/>
                </a:solidFill>
                <a:latin typeface="Segoe UI"/>
              </a:defRPr>
            </a:pPr>
            <a:r>
              <a:t>Cấp phát định danh RID Pool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Cấp khối RID: </a:t>
            </a:r>
            <a:r>
              <a:rPr sz="850" b="0">
                <a:solidFill>
                  <a:srgbClr val="1E293B"/>
                </a:solidFill>
                <a:latin typeface="Segoe UI"/>
              </a:rPr>
              <a:t>Phân phối từng khối RID Pool (mặc định 500 ID) cho các DC khác.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Tạo mã SID: </a:t>
            </a:r>
            <a:r>
              <a:rPr sz="850" b="0">
                <a:solidFill>
                  <a:srgbClr val="1E293B"/>
                </a:solidFill>
                <a:latin typeface="Segoe UI"/>
              </a:rPr>
              <a:t>Đảm bảo mã Security Identifier duy nhất toàn cầu cho User/Group mới.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Ngăn trùng lặp: </a:t>
            </a:r>
            <a:r>
              <a:rPr sz="850" b="0">
                <a:solidFill>
                  <a:srgbClr val="1E293B"/>
                </a:solidFill>
                <a:latin typeface="Segoe UI"/>
              </a:rPr>
              <a:t>Không cho phép 2 đối tượng khác nhau có cùng mã định danh SID.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Nếu offline: </a:t>
            </a:r>
            <a:r>
              <a:rPr sz="850" b="0">
                <a:solidFill>
                  <a:srgbClr val="1E293B"/>
                </a:solidFill>
                <a:latin typeface="Segoe UI"/>
              </a:rPr>
              <a:t>Các DC vẫn tạo được user cho đến khi xài hết khối 500 RID đã cấp.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041648"/>
            <a:ext cx="3401568" cy="20848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041648"/>
            <a:ext cx="3401568" cy="329184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5. INFRASTRUCTURE MASTER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4407408"/>
            <a:ext cx="318211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Tham chiếu liên miền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Duy trì tham chiếu: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Cập nhật các liên kết nhóm xuyên miền (Cross-domain group-to-user).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Quy tắc sống còn: </a:t>
            </a:r>
            <a:r>
              <a:rPr sz="850" b="0">
                <a:solidFill>
                  <a:srgbClr val="1E293B"/>
                </a:solidFill>
                <a:latin typeface="Segoe UI"/>
              </a:rPr>
              <a:t>KHÔNG ĐƯỢC đặt chung với Global Catalog (trừ Single Domain).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Phiên dịch danh tính: </a:t>
            </a:r>
            <a:r>
              <a:rPr sz="850" b="0">
                <a:solidFill>
                  <a:srgbClr val="1E293B"/>
                </a:solidFill>
                <a:latin typeface="Segoe UI"/>
              </a:rPr>
              <a:t>Dịch chuyển SID thành tên người dùng khi phân quyền.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Nếu offline: </a:t>
            </a:r>
            <a:r>
              <a:rPr sz="850" b="0">
                <a:solidFill>
                  <a:srgbClr val="1E293B"/>
                </a:solidFill>
                <a:latin typeface="Segoe UI"/>
              </a:rPr>
              <a:t>Ảnh hưởng đến việc hiển thị tên thành viên nhóm ở các miền khác.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172200"/>
            <a:ext cx="10728655" cy="274320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3366"/>
                </a:solidFill>
                <a:latin typeface="Segoe UI"/>
              </a:defRPr>
            </a:pPr>
            <a:r>
              <a:t>[LỆNH KIỂM TRA FSMO]: netdom query fsmo  •  Máy DC đầu tiên (WIN-P6PG9M9AICK) nắm giữ toàn bộ 5 vai trò trong bài lab.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2 • KIẾN TRÚC VÀ CƠ CHẾ HOẠT ĐỘNG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Cơ Chế Xác Thực Kerberos v5 &amp; Mối Quan Hệ Sống Còn Với DNS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10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62179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6217920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QUY TRÌNH XÁC THỰC DỰA TRÊN VÉ KERBEROS V5 (5 BƯỚC)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5852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1938528"/>
            <a:ext cx="1508760" cy="29260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Bước 1: AS-REQ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901952"/>
            <a:ext cx="40690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Segoe UI"/>
              </a:defRPr>
            </a:pPr>
            <a:r>
              <a:t>Client gửi yêu cầu kèm dấu thời gian (Timestamp) mã hóa bằng mật khẩu người dùng lên KDC.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697480"/>
            <a:ext cx="5852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2807208"/>
            <a:ext cx="1508760" cy="29260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Bước 2: AS-REP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770632"/>
            <a:ext cx="40690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Segoe UI"/>
              </a:defRPr>
            </a:pPr>
            <a:r>
              <a:t>KDC giải mã kiểm tra mật khẩu. Nếu đúng, trả về vé cấp vé TGT (Ticket Granting Ticket) mã hóa bằng khóa bí mật KDC.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566160"/>
            <a:ext cx="5852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675888"/>
            <a:ext cx="1508760" cy="29260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Bước 3: TGS-REQ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639312"/>
            <a:ext cx="40690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Segoe UI"/>
              </a:defRPr>
            </a:pPr>
            <a:r>
              <a:t>Khi muốn truy cập File Server, Client xuất trình vé TGT lên KDC để xin vé dịch vụ cụ thể.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34840"/>
            <a:ext cx="5852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544568"/>
            <a:ext cx="1508760" cy="29260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Bước 4: TGS-REP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07992"/>
            <a:ext cx="40690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Segoe UI"/>
              </a:defRPr>
            </a:pPr>
            <a:r>
              <a:t>KDC kiểm tra TGT hợp lệ và cấp cho Client một vé dịch vụ Service Ticket (TGS Ticket).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303520"/>
            <a:ext cx="5852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13248"/>
            <a:ext cx="1508760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Bước 5: AP-REQ / AP-REP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376672"/>
            <a:ext cx="40690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1E293B"/>
                </a:solidFill>
                <a:latin typeface="Segoe UI"/>
              </a:defRPr>
            </a:pPr>
            <a:r>
              <a:t>Client trình vé Service Ticket cho File Server. Server giải mã vé và cho phép truy cập an toàn mà không lộ mật khẩu gốc.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5472" y="1353312"/>
            <a:ext cx="425196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05472" y="1353312"/>
            <a:ext cx="4251960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MỐI QUAN HỆ SỐNG CÒN VỚI DNS 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1810512"/>
            <a:ext cx="39319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Khẳng định kỹ thuật: </a:t>
            </a:r>
            <a:r>
              <a:rPr sz="900" b="0">
                <a:solidFill>
                  <a:srgbClr val="1E293B"/>
                </a:solidFill>
                <a:latin typeface="Segoe UI"/>
              </a:rPr>
              <a:t>Active Directory KHÔNG THỂ hoạt động nếu thiếu máy chủ DNS!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Bản ghi dịch vụ SRV: </a:t>
            </a:r>
            <a:r>
              <a:rPr sz="900" b="0">
                <a:solidFill>
                  <a:srgbClr val="1E293B"/>
                </a:solidFill>
                <a:latin typeface="Segoe UI"/>
              </a:rPr>
              <a:t>Client định vị Domain Controller qua bản ghi SRV: _ldap._tcp.dc._msdcs.&lt;domain&gt; (cổng 389) và _kerberos._tcp.dc._msdcs.&lt;domain&gt; (cổng 88).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Đăng ký động DDNS: </a:t>
            </a:r>
            <a:r>
              <a:rPr sz="900" b="0">
                <a:solidFill>
                  <a:srgbClr val="1E293B"/>
                </a:solidFill>
                <a:latin typeface="Segoe UI"/>
              </a:rPr>
              <a:t>Dịch vụ Netlogon trên DC tự động ghi nhận địa chỉ IP và bản ghi SRV vào DNS.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Lỗi kinh điển thường gặp: </a:t>
            </a:r>
            <a:r>
              <a:rPr sz="900" b="0">
                <a:solidFill>
                  <a:srgbClr val="1E293B"/>
                </a:solidFill>
                <a:latin typeface="Segoe UI"/>
              </a:rPr>
              <a:t>99% lỗi Join Domain thất bại là do máy trạm trỏ sai DNS (ví dụ trỏ 8.8.8.8 thay vì trỏ IP của DC).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Tích hợp AD-Integrated: </a:t>
            </a:r>
            <a:r>
              <a:rPr sz="900" b="0">
                <a:solidFill>
                  <a:srgbClr val="1E293B"/>
                </a:solidFill>
                <a:latin typeface="Segoe UI"/>
              </a:rPr>
              <a:t>Zone lưu trong ntds.dit, đồng bộ an toàn qua Multi-Master.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4572000"/>
            <a:ext cx="3931920" cy="1536192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ctr">
              <a:defRPr sz="900" b="1">
                <a:solidFill>
                  <a:srgbClr val="003366"/>
                </a:solidFill>
                <a:latin typeface="Segoe UI"/>
              </a:defRPr>
            </a:pPr>
            <a:r>
              <a:t>[SƠ ĐỒ TRUY VẤN BẢN GHI SRV TRÊN LAB]: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1. Client Win 7 truy vấn: _ldap._tcp.dc._msdcs.nhom1.vn</a:t>
            </a:r>
            <a:br/>
            <a:r>
              <a:t>2. DNS Server trả về: IP 192.168.11.1 (Cổng 389)</a:t>
            </a:r>
            <a:br/>
            <a:r>
              <a:t>3. Client kết nối an toàn tới DC thăng cấp xác thực.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3 • TÍNH NĂNG NÂNG CAO, BẢO MẬT &amp; BỘ CÔNG CỤ ADPREP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Bảo Mật Chi Nhánh Với Read-Only Domain Controller (RODC)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86868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[NGUY CƠ AN NINH VẬT LÝ] TẠI CÁC VĂN PHÒNG CHI NHÁNH (BRANCH OFFICE):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  <a:latin typeface="Segoe UI"/>
              </a:defRPr>
            </a:pPr>
            <a:r>
              <a:t>Văn phòng chi nhánh thường không có phòng máy chủ an ninh và thiếu IT chuyên trách. Nếu đặt DC ghi/đọc thông thường, kẻ gian có thể đánh cắp máy chủ, trích xuất tệp ntds.dit và bẻ khóa toàn bộ tài khoản quản trị tập đoàn!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3401568" cy="2514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3401568" cy="5029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1. CƠ SỞ DỮ LIỆU CHỈ ĐỌC</a:t>
            </a:r>
            <a:br/>
            <a:r>
              <a:t>(Read-Only Database)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3182112" cy="1892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Không thể ghi đè: </a:t>
            </a:r>
            <a:r>
              <a:rPr sz="850" b="0">
                <a:solidFill>
                  <a:srgbClr val="1E293B"/>
                </a:solidFill>
                <a:latin typeface="Segoe UI"/>
              </a:rPr>
              <a:t>Mọi dữ liệu trên RODC đều là bản sao chỉ đọc. Kẻ tấn công không thể tạo user giả mạo hoặc sửa pass trực tiếp tại chi nhánh.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Chuyển tiếp an toàn: </a:t>
            </a:r>
            <a:r>
              <a:rPr sz="850" b="0">
                <a:solidFill>
                  <a:srgbClr val="1E293B"/>
                </a:solidFill>
                <a:latin typeface="Segoe UI"/>
              </a:rPr>
              <a:t>Mọi yêu cầu thay đổi cấu hình bắt buộc phải chuyển tiếp bảo mật về Writable DC tại hội sở chính xác nhận.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Đồng bộ 1 chiều: </a:t>
            </a:r>
            <a:r>
              <a:rPr sz="850" b="0">
                <a:solidFill>
                  <a:srgbClr val="1E293B"/>
                </a:solidFill>
                <a:latin typeface="Segoe UI"/>
              </a:rPr>
              <a:t>Dữ liệu chỉ chảy từ Writable DC -&gt; RODC, hoàn toàn ngăn chặn lây nhiễm ngược.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331720"/>
            <a:ext cx="3401568" cy="2514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2331720"/>
            <a:ext cx="3401568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2. CHÍNH SÁCH CACHE MẬT KHẨU</a:t>
            </a:r>
            <a:br/>
            <a:r>
              <a:t>(Password Replication Policy - PRP)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880360"/>
            <a:ext cx="3182112" cy="1892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Mặc định không lưu mật khẩu: </a:t>
            </a:r>
            <a:r>
              <a:rPr sz="850" b="0">
                <a:solidFill>
                  <a:srgbClr val="1E293B"/>
                </a:solidFill>
                <a:latin typeface="Segoe UI"/>
              </a:rPr>
              <a:t>RODC hoàn toàn KHÔNG lưu bất kỳ mật khẩu nào của tài khoản Quản trị viên (Domain Admins) hay hội sở.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Chỉ cache user chi nhánh: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Chỉ lưu mật khẩu của đúng những nhân viên làm việc tại chi nhánh đó. Nếu máy chủ bị cắp, toàn hệ thống vẫn an toàn 100%!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Tài khoản krbgt riêng: </a:t>
            </a:r>
            <a:r>
              <a:rPr sz="850" b="0">
                <a:solidFill>
                  <a:srgbClr val="1E293B"/>
                </a:solidFill>
                <a:latin typeface="Segoe UI"/>
              </a:rPr>
              <a:t>RODC sử dụng tài khoản krbtgt riêng biệt, thu hồi dễ dàng khi bị xâm phạm.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01568" cy="2514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2331720"/>
            <a:ext cx="3401568" cy="50292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3. PHÂN TÁCH QUẢN TRỊ CỤC BỘ</a:t>
            </a:r>
            <a:br/>
            <a:r>
              <a:t>(Admin Role Separation)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880360"/>
            <a:ext cx="3182112" cy="1892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Trao quyền hạn chế: </a:t>
            </a:r>
            <a:r>
              <a:rPr sz="850" b="0">
                <a:solidFill>
                  <a:srgbClr val="1E293B"/>
                </a:solidFill>
                <a:latin typeface="Segoe UI"/>
              </a:rPr>
              <a:t>Cho phép nhân viên IT tại chi nhánh có quyền quản trị phần cứng, khởi động lại server hoặc cài driver máy in.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Không có quyền trên AD: </a:t>
            </a:r>
            <a:r>
              <a:rPr sz="850" b="0">
                <a:solidFill>
                  <a:srgbClr val="1E293B"/>
                </a:solidFill>
                <a:latin typeface="Segoe UI"/>
              </a:rPr>
              <a:t>Nhân viên IT này hoàn toàn KHÔNG có bất kỳ quyền hạn nào trên hệ thống danh bạ Active Directory toàn mạng.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Ủy quyền qua ManagedBy: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Cấu hình đơn giản qua thuộc tính 'ManagedBy' của máy tính RODC.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8655" cy="1280160"/>
          </a:xfrm>
          <a:prstGeom prst="roundRect">
            <a:avLst/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000" b="1">
                <a:solidFill>
                  <a:srgbClr val="003366"/>
                </a:solidFill>
                <a:latin typeface="Segoe UI"/>
              </a:defRPr>
            </a:pPr>
            <a:r>
              <a:t>[MÔ HÌNH BẢO MẬT THỰC TẾ]: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Segoe UI"/>
              </a:defRPr>
            </a:pPr>
            <a:r>
              <a:t>• HỘI SỞ CHÍNH: Cặp Writable DC (đọc/ghi) trong Datacenter bảo mật cao, kết nối cáp quang Gigabit, nắm giữ toàn bộ 5 vai trò FSMO.</a:t>
            </a:r>
            <a:br/>
            <a:r>
              <a:t>• CHI NHÁNH: 1 máy chủ cài RODC kết nối về Hội sở qua VPN/WAN. Nhân viên chi nhánh xác thực tức thì qua Cache PRP; khi đứt mạng WAN vẫn làm việc bình thường!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3 • TÍNH NĂNG NÂNG CAO, BẢO MẬT &amp; BỘ CÔNG CỤ ADPREP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Bộ Công Cụ ADPREP: Mở Rộng Hạ Tầng &amp; Quy Trình Nâng Cấp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3401568" cy="3063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3401568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1. LỆNH: adprep /forestprep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92224"/>
            <a:ext cx="3182112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3366"/>
                </a:solidFill>
                <a:latin typeface="Segoe UI"/>
              </a:defRPr>
            </a:pPr>
            <a:r>
              <a:t>Cập Nhật Cấu Trúc Schema Rừng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Mục đích: </a:t>
            </a:r>
            <a:r>
              <a:rPr sz="850" b="0">
                <a:solidFill>
                  <a:srgbClr val="1E293B"/>
                </a:solidFill>
                <a:latin typeface="Segoe UI"/>
              </a:rPr>
              <a:t>Mở rộng và nạp các lớp/thuộc tính Schema mới của hệ điều hành Windows Server mới.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Máy chủ thực thi: </a:t>
            </a:r>
            <a:r>
              <a:rPr sz="850" b="0">
                <a:solidFill>
                  <a:srgbClr val="1E293B"/>
                </a:solidFill>
                <a:latin typeface="Segoe UI"/>
              </a:rPr>
              <a:t>Bắt buộc chạy trên máy chủ nắm giữ vai trò Schema Master.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Quyền hạn tối thiểu: </a:t>
            </a:r>
            <a:r>
              <a:rPr sz="850" b="0">
                <a:solidFill>
                  <a:srgbClr val="1E293B"/>
                </a:solidFill>
                <a:latin typeface="Segoe UI"/>
              </a:rPr>
              <a:t>Tài khoản thành viên Schema Admins và Enterprise Admins.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Đặc tính cốt lõi: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Chỉ thực thi DUY NHẤT 1 lần cho toàn bộ Forest.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Thư mục Log: </a:t>
            </a:r>
            <a:r>
              <a:rPr sz="850" b="0">
                <a:solidFill>
                  <a:srgbClr val="1E293B"/>
                </a:solidFill>
                <a:latin typeface="Segoe UI"/>
              </a:rPr>
              <a:t>Ghi nhận tiến trình tại C:\Windows\debug\adprep\logs\.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353312"/>
            <a:ext cx="3401568" cy="3063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353312"/>
            <a:ext cx="3401568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2. LỆNH: adprep /domainprep /gpprep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792224"/>
            <a:ext cx="3182112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E7490"/>
                </a:solidFill>
                <a:latin typeface="Segoe UI"/>
              </a:defRPr>
            </a:pPr>
            <a:r>
              <a:t>Cập Nhật Quyền Hạn Từng Miền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Mục đích: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Cập nhật các quyền bảo mật cấp miền và nâng cấp các đối tượng Group Policy (/gpprep).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Máy chủ thực thi: </a:t>
            </a:r>
            <a:r>
              <a:rPr sz="850" b="0">
                <a:solidFill>
                  <a:srgbClr val="1E293B"/>
                </a:solidFill>
                <a:latin typeface="Segoe UI"/>
              </a:rPr>
              <a:t>Bắt buộc chạy trên máy chủ nắm giữ vai trò Infrastructure Master.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Quyền hạn tối thiểu: </a:t>
            </a:r>
            <a:r>
              <a:rPr sz="850" b="0">
                <a:solidFill>
                  <a:srgbClr val="1E293B"/>
                </a:solidFill>
                <a:latin typeface="Segoe UI"/>
              </a:rPr>
              <a:t>Tài khoản thành viên Domain Admins của miền tương ứng.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Đặc tính cốt lõi: </a:t>
            </a:r>
            <a:r>
              <a:rPr sz="850" b="0">
                <a:solidFill>
                  <a:srgbClr val="1E293B"/>
                </a:solidFill>
                <a:latin typeface="Segoe UI"/>
              </a:rPr>
              <a:t>Phải chạy trên TỪNG Domain nếu Forest có nhiều miền con.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SYSVOL: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Cập nhật các quyền truy cập trên thư mục chính sách SYSVOL.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53312"/>
            <a:ext cx="3401568" cy="3063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353312"/>
            <a:ext cx="3401568" cy="38404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3. LỆNH: adprep /rodcprep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92224"/>
            <a:ext cx="3182112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Cập Nhật Quyền DNS Cho RODC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Mục đích: </a:t>
            </a:r>
            <a:r>
              <a:rPr sz="850" b="0">
                <a:solidFill>
                  <a:srgbClr val="1E293B"/>
                </a:solidFill>
                <a:latin typeface="Segoe UI"/>
              </a:rPr>
              <a:t>Cập nhật phân quyền trên các phân vùng thư mục ứng dụng DNS để hỗ trợ RODC.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Máy chủ thực thi: </a:t>
            </a:r>
            <a:r>
              <a:rPr sz="850" b="0">
                <a:solidFill>
                  <a:srgbClr val="1E293B"/>
                </a:solidFill>
                <a:latin typeface="Segoe UI"/>
              </a:rPr>
              <a:t>Có thể chạy trên bất kỳ máy DC nào kết nối được tới Domain Naming Master.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Quyền hạn tối thiểu: </a:t>
            </a:r>
            <a:r>
              <a:rPr sz="850" b="0">
                <a:solidFill>
                  <a:srgbClr val="1E293B"/>
                </a:solidFill>
                <a:latin typeface="Segoe UI"/>
              </a:rPr>
              <a:t>Tài khoản Enterprise Admins.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Đặc tính cốt lõi: </a:t>
            </a:r>
            <a:r>
              <a:rPr sz="850" b="0">
                <a:solidFill>
                  <a:srgbClr val="1E293B"/>
                </a:solidFill>
                <a:latin typeface="Segoe UI"/>
              </a:rPr>
              <a:t>Chỉ cần chạy 1 lần nếu doanh nghiệp có triển khai máy chủ RODC.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Segoe UI"/>
              </a:rPr>
              <a:t>• DNS Partitions: </a:t>
            </a:r>
            <a:r>
              <a:rPr sz="850" b="0">
                <a:solidFill>
                  <a:srgbClr val="1E293B"/>
                </a:solidFill>
                <a:latin typeface="Segoe UI"/>
              </a:rPr>
              <a:t>ForestDnsZones và DomainDnsZones được cấp quyền sao chép an toàn.</a:t>
            </a:r>
          </a:p>
        </p:txBody>
      </p:sp>
      <p:sp>
        <p:nvSpPr>
          <p:cNvPr id="16" name="Chevron 15"/>
          <p:cNvSpPr/>
          <p:nvPr/>
        </p:nvSpPr>
        <p:spPr>
          <a:xfrm>
            <a:off x="731520" y="4526280"/>
            <a:ext cx="2542032" cy="320040"/>
          </a:xfrm>
          <a:prstGeom prst="chevr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1. adprep /forestprep</a:t>
            </a:r>
          </a:p>
        </p:txBody>
      </p:sp>
      <p:sp>
        <p:nvSpPr>
          <p:cNvPr id="17" name="Chevron 16"/>
          <p:cNvSpPr/>
          <p:nvPr/>
        </p:nvSpPr>
        <p:spPr>
          <a:xfrm>
            <a:off x="3456432" y="4526280"/>
            <a:ext cx="2542032" cy="320040"/>
          </a:xfrm>
          <a:prstGeom prst="chevr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2. adprep /domainprep</a:t>
            </a:r>
          </a:p>
        </p:txBody>
      </p:sp>
      <p:sp>
        <p:nvSpPr>
          <p:cNvPr id="18" name="Chevron 17"/>
          <p:cNvSpPr/>
          <p:nvPr/>
        </p:nvSpPr>
        <p:spPr>
          <a:xfrm>
            <a:off x="6181344" y="4526280"/>
            <a:ext cx="2542032" cy="320040"/>
          </a:xfrm>
          <a:prstGeom prst="chevr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3. adprep /rodcprep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8906256" y="4526280"/>
            <a:ext cx="2542032" cy="320040"/>
          </a:xfrm>
          <a:prstGeom prst="chevron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4. Thăng cấp DC mới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56048"/>
            <a:ext cx="10728655" cy="1280160"/>
          </a:xfrm>
          <a:prstGeom prst="roundRect">
            <a:avLst/>
          </a:prstGeom>
          <a:solidFill>
            <a:srgbClr val="FEF9C3"/>
          </a:solidFill>
          <a:ln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000" b="1">
                <a:solidFill>
                  <a:srgbClr val="003366"/>
                </a:solidFill>
                <a:latin typeface="Segoe UI"/>
              </a:defRPr>
            </a:pPr>
            <a:r>
              <a:t>[BƯỚC TIẾN CÔNG NGHỆ TỪ WINDOWS SERVER 2012 ĐẾN NAY]: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Tự động hóa hoàn toàn (Auto-Prep): </a:t>
            </a:r>
            <a:r>
              <a:rPr sz="900" b="0">
                <a:solidFill>
                  <a:srgbClr val="1E293B"/>
                </a:solidFill>
                <a:latin typeface="Segoe UI"/>
              </a:rPr>
              <a:t>Người quản trị KHÔNG CÒN phải mở Command Prompt chèn đĩa ISO chạy tay từng lệnh adprep như thời Server 2003/2008.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Tích hợp Server Manager: </a:t>
            </a:r>
            <a:r>
              <a:rPr sz="900" b="0">
                <a:solidFill>
                  <a:srgbClr val="1E293B"/>
                </a:solidFill>
                <a:latin typeface="Segoe UI"/>
              </a:rPr>
              <a:t>Khi quảng bá DC, trình thuật sĩ AD DS Configuration Wizard tự động phát hiện phiên bản Schema và âm thầm thực thi adprep trong nền.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00" b="1">
                <a:solidFill>
                  <a:srgbClr val="1E293B"/>
                </a:solidFill>
                <a:latin typeface="Segoe UI"/>
              </a:rPr>
              <a:t>• Giá trị thực tiễn: </a:t>
            </a:r>
            <a:r>
              <a:rPr sz="900" b="0">
                <a:solidFill>
                  <a:srgbClr val="1E293B"/>
                </a:solidFill>
                <a:latin typeface="Segoe UI"/>
              </a:rPr>
              <a:t>Hiểu sâu bản chất 3 lệnh ADPREP là kiến thức bắt buộc đối với kỹ sư hệ thống khi thực hiện các dự án di chuyển dữ liệu (Migration) quy mô lớn.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4 • TRIỂN KHAI THỰC HÀNH CÀI ĐẶT &amp;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Bảng Quy Hoạch Môi Trường Và Sơ Đồ Đấu Nối Lab Thí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03366"/>
                </a:solidFill>
                <a:latin typeface="Segoe UI"/>
              </a:defRPr>
            </a:pPr>
            <a:r>
              <a:t>SƠ ĐỒ ĐẤU NỐI HỆ THỐNG LAB ẢO HÓA (VMWARE WORKSTATION — CARD MẠNG CÔ LẬP VMNET11)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737360"/>
            <a:ext cx="32918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1737360"/>
            <a:ext cx="3291840" cy="347472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SERVER DOMAIN CONTROLLER (DC)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21408"/>
            <a:ext cx="3108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Segoe UI"/>
              </a:defRPr>
            </a:pPr>
            <a:r>
              <a:t>• Tên máy: WIN-P6PG9M9AICK</a:t>
            </a:r>
            <a:br/>
            <a:r>
              <a:t>• HĐH: Windows Server 2012 R2 Datacenter</a:t>
            </a:r>
            <a:br/>
            <a:r>
              <a:t>• IP: 192.168.11.1 / 24  |  DNS: 192.168.11.1</a:t>
            </a:r>
            <a:br/>
            <a:r>
              <a:t>• Roles: AD DS, DNS Server, GC, 5 FSMO</a:t>
            </a:r>
            <a:br/>
            <a:r>
              <a:t>• Miền quản trị: nhom1.vn</a:t>
            </a:r>
          </a:p>
        </p:txBody>
      </p:sp>
      <p:sp>
        <p:nvSpPr>
          <p:cNvPr id="12" name="Hexagon 11"/>
          <p:cNvSpPr/>
          <p:nvPr/>
        </p:nvSpPr>
        <p:spPr>
          <a:xfrm>
            <a:off x="4754880" y="1965960"/>
            <a:ext cx="2651760" cy="1325880"/>
          </a:xfrm>
          <a:prstGeom prst="hexag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SWITCH ẢO VMNET11</a:t>
            </a:r>
            <a:br/>
            <a:r>
              <a:t>(Host-Only cô lập)</a:t>
            </a:r>
            <a:br/>
            <a:r>
              <a:t>Dải IP: 192.168.11.0/24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0" y="1737360"/>
            <a:ext cx="3291840" cy="34747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MÁY TRẠM CLIENT (WIN 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121408"/>
            <a:ext cx="3108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Segoe UI"/>
              </a:defRPr>
            </a:pPr>
            <a:r>
              <a:t>• Tên máy: WIN7-PC1</a:t>
            </a:r>
            <a:br/>
            <a:r>
              <a:t>• HĐH: Windows 7 Professional SP1</a:t>
            </a:r>
            <a:br/>
            <a:r>
              <a:t>• IP: 192.168.11.2 / 24  |  DNS: 192.168.11.1</a:t>
            </a:r>
            <a:br/>
            <a:r>
              <a:t>• Trạng thái: Đã Join Domain nhom1.vn</a:t>
            </a:r>
            <a:br/>
            <a:r>
              <a:t>• Đăng nhập tài khoản: nhom1\sv1</a:t>
            </a:r>
          </a:p>
        </p:txBody>
      </p:sp>
      <p:sp>
        <p:nvSpPr>
          <p:cNvPr id="16" name="Left-Right Arrow 15"/>
          <p:cNvSpPr/>
          <p:nvPr/>
        </p:nvSpPr>
        <p:spPr>
          <a:xfrm>
            <a:off x="4315968" y="2487168"/>
            <a:ext cx="411480" cy="274320"/>
          </a:xfrm>
          <a:prstGeom prst="left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-Right Arrow 16"/>
          <p:cNvSpPr/>
          <p:nvPr/>
        </p:nvSpPr>
        <p:spPr>
          <a:xfrm>
            <a:off x="7434072" y="2487168"/>
            <a:ext cx="411480" cy="274320"/>
          </a:xfrm>
          <a:prstGeom prst="left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3767328"/>
          <a:ext cx="1072865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144975"/>
              </a:tblGrid>
              <a:tr h="40386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Thông số kỹ thuật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Máy chủ Domain Controller (DC)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Máy trạm Client (Win 7)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03860">
                <a:tc>
                  <a:txBody>
                    <a:bodyPr lIns="109728" rIns="10972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Tên máy tính (Computer Name)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WIN-P6PG9M9AICK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WIN7-PC1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109728" rIns="10972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Hệ điều hành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Windows Server 2012 R2 Datacenter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Windows 7 Professional SP1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03860">
                <a:tc>
                  <a:txBody>
                    <a:bodyPr lIns="109728" rIns="10972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Địa chỉ IP tĩnh &amp; Subnet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192.168.11.1  /  255.255.255.0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192.168.11.2  /  255.255.255.0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109728" rIns="10972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Cấu hình DNS Server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192.168.11.1 (Trỏ về chính nó)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192.168.11.1 (Bắt buộc trỏ về DC)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03860">
                <a:tc>
                  <a:txBody>
                    <a:bodyPr lIns="109728" rIns="109728"/>
                    <a:lstStyle/>
                    <a:p>
                      <a:pPr>
                        <a:defRPr sz="950" b="1">
                          <a:solidFill>
                            <a:srgbClr val="003366"/>
                          </a:solidFill>
                          <a:latin typeface="Segoe UI"/>
                        </a:defRPr>
                      </a:pPr>
                      <a:r>
                        <a:t>Tên miền quản trị &amp; Tài khoản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nhom1.vn (Tài khoản: Administrator)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109728" rIns="109728"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nhom1.vn (Tài khoản: nhom1\sv1)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CHƯƠNG 4 • TRIỂN KHAI THỰC HÀNH CÀI ĐẶT &amp;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Kịch Bản Phân Rã 6 Video Demo Phục Vụ Nghiệm Thu Chấm Điểm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3401568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1] VIDEO 1 (~2 phút)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739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Cấu hình IP tĩnh, DNS &amp; Ping thông mạng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ncpa.cpl, cmd.exe (ping).</a:t>
            </a:r>
            <a:br/>
            <a:r>
              <a:t>• Thao tác: Gán IP 192.168.11.1/24 cho Server và 192.168.11.2/24 cho Client.</a:t>
            </a:r>
            <a:br/>
            <a:r>
              <a:t>• Nghiệm thu: Ping 2 chiều thành công 100%, 0% loss.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3533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353312"/>
            <a:ext cx="3401568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2] VIDEO 2 (~2 phút)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7739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Cài đặt Role AD DS trên Server Manager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Server Manager -&gt; Add Roles &amp; Features.</a:t>
            </a:r>
            <a:br/>
            <a:r>
              <a:t>• Thao tác: Chọn Active Directory Domain Services, kèm bộ công cụ RSAT.</a:t>
            </a:r>
            <a:br/>
            <a:r>
              <a:t>• Nghiệm thu: Hoàn tất cài đặt binary thành công.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533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353312"/>
            <a:ext cx="3401568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3] VIDEO 3 (~3 phút)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739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Promote DC đầu tiên &amp; Tích hợp DNS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Deployment Configuration Wizard.</a:t>
            </a:r>
            <a:br/>
            <a:r>
              <a:t>• Thao tác: 'Add a new forest', root domain 'nhom1.vn', tích hợp DNS &amp; GC.</a:t>
            </a:r>
            <a:br/>
            <a:r>
              <a:t>• Nghiệm thu: Server tự khởi động lại, đăng nhập domain.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679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867912"/>
            <a:ext cx="3401568" cy="38404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4] VIDEO 4 (~2 phút)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2885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Thực thi &amp; giải thích 3 lệnh ADPREP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CMD quyền Administrator.</a:t>
            </a:r>
            <a:br/>
            <a:r>
              <a:t>• Thao tác: Chạy adprep /forestprep, /domainprep /gpprep, /rodcprep.</a:t>
            </a:r>
            <a:br/>
            <a:r>
              <a:t>• Nghiệm thu: Giải thích trực quan tác động kỹ thuật lên Schema.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8679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3867912"/>
            <a:ext cx="3401568" cy="38404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5] VIDEO 5 (~2 phút)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2885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Khảo sát AD DS, DNS &amp; Share hệ thống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dsa.msc (ADUC), dnsmgmt.msc.</a:t>
            </a:r>
            <a:br/>
            <a:r>
              <a:t>• Thao tác: Tạo OU 'KHOA-CNTT', tạo User 'sv1'. Kiểm tra SYSVOL &amp; NETLOGON.</a:t>
            </a:r>
            <a:br/>
            <a:r>
              <a:t>• Nghiệm thu: Hai thư mục chia sẻ hoạt động ổn định.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867912"/>
            <a:ext cx="3401568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3867912"/>
            <a:ext cx="3401568" cy="38404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[PHẦN 6] VIDEO 6 (~3 phút)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4288536"/>
            <a:ext cx="3182112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3366"/>
                </a:solidFill>
                <a:latin typeface="Segoe UI"/>
              </a:defRPr>
            </a:pPr>
            <a:r>
              <a:t>Cấu hình Client Win 7 Join Domain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  <a:latin typeface="Segoe UI"/>
              </a:defRPr>
            </a:pPr>
            <a:r>
              <a:t>• Công cụ: sysdm.cpl, whoami, CMD.</a:t>
            </a:r>
            <a:br/>
            <a:r>
              <a:t>• Thao tác: Trỏ DNS về DC -&gt; Join domain 'nhom1.vn' -&gt; Khởi động lại máy.</a:t>
            </a:r>
            <a:br/>
            <a:r>
              <a:t>• Nghiệm thu: Đăng nhập user nhom1\sv1, gõ whoami xác nhận 100%.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E7490"/>
                </a:solidFill>
                <a:latin typeface="Segoe UI"/>
              </a:defRPr>
            </a:pPr>
            <a:r>
              <a:t>KẾT LUẬN &amp; ĐỊNH HƯỚNG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03366"/>
                </a:solidFill>
                <a:latin typeface="Segoe UI"/>
              </a:defRPr>
            </a:pPr>
            <a:r>
              <a:t>Tổng Kết Kết Quả Đạt Được &amp; Hướng Phát Triển Hệ Thống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Báo cáo bài tập nhóm — Quản trị và bảo trì hệ thống (IUH)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55664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50" b="1">
                <a:solidFill>
                  <a:srgbClr val="003366"/>
                </a:solidFill>
                <a:latin typeface="Segoe UI"/>
              </a:defRPr>
            </a:pPr>
            <a:r>
              <a:t>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5230368" cy="4343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5230368" cy="38404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[✓] CÁC KẾT QUẢ XUẤT SẮC ĐÃ ĐẠT ĐƯỢC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64608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Làm chủ nền tảng lý thuyết: </a:t>
            </a:r>
            <a:r>
              <a:rPr sz="950" b="0">
                <a:solidFill>
                  <a:srgbClr val="1E293B"/>
                </a:solidFill>
                <a:latin typeface="Segoe UI"/>
              </a:rPr>
              <a:t>Nắm vững sâu sắc sự tiến hóa từ Workgroup sang Domain, kiến trúc phân tầng X.500, cơ chế xác thực Kerberos v5, vai trò sống còn của DNS và 5 vai trò FSMO.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Hiểu rõ cơ chế ADPREP &amp; RODC: </a:t>
            </a:r>
            <a:r>
              <a:rPr sz="950" b="0">
                <a:solidFill>
                  <a:srgbClr val="1E293B"/>
                </a:solidFill>
                <a:latin typeface="Segoe UI"/>
              </a:rPr>
              <a:t>Làm rõ bản chất 3 lệnh mở rộng Schema/Domain và giải pháp an ninh chi nhánh RODC với chính sách Password Replication Policy.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Triển khai thực hành 100% thành công: </a:t>
            </a:r>
            <a:r>
              <a:rPr sz="950" b="0">
                <a:solidFill>
                  <a:srgbClr val="1E293B"/>
                </a:solidFill>
                <a:latin typeface="Segoe UI"/>
              </a:rPr>
              <a:t>Cài đặt hoàn chỉnh máy chủ Windows Server 2012 R2 Datacenter, thăng cấp thành công Domain Controller quản trị miền nhom1.vn.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Máy trạm gia nhập miền mượt mà: </a:t>
            </a:r>
            <a:r>
              <a:rPr sz="950" b="0">
                <a:solidFill>
                  <a:srgbClr val="1E293B"/>
                </a:solidFill>
                <a:latin typeface="Segoe UI"/>
              </a:rPr>
              <a:t>Cấu hình Client Windows 7 trỏ đúng DNS, gia nhập miền thành công và đăng nhập tài khoản sinh viên nhom1\sv1.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✓ Sản phẩm nghiệm thu trực quan: </a:t>
            </a:r>
            <a:r>
              <a:rPr sz="950" b="0">
                <a:solidFill>
                  <a:srgbClr val="1E293B"/>
                </a:solidFill>
                <a:latin typeface="Segoe UI"/>
              </a:rPr>
              <a:t>Xây dựng chuỗi 6 video clip demo chất lượng cao, thuyết minh chi tiết từng bước kỹ thuật.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53312"/>
            <a:ext cx="5230368" cy="4343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353312"/>
            <a:ext cx="5230368" cy="38404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[MỞ RỘNG] ĐỊNH HƯỚNG NÂNG CẤP HỆ THỐNG TRONG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64608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Triển khai máy chủ dự phòng (ADC): </a:t>
            </a:r>
            <a:r>
              <a:rPr sz="950" b="0">
                <a:solidFill>
                  <a:srgbClr val="1E293B"/>
                </a:solidFill>
                <a:latin typeface="Segoe UI"/>
              </a:rPr>
              <a:t>Cài đặt Additional Domain Controller để đồng bộ Multi-Master, chia tải xác thực và loại bỏ điểm chết duy nhất (Single Point of Failure).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Chính sách Group Policy (GPO) chuyên sâu: </a:t>
            </a:r>
            <a:r>
              <a:rPr sz="950" b="0">
                <a:solidFill>
                  <a:srgbClr val="1E293B"/>
                </a:solidFill>
                <a:latin typeface="Segoe UI"/>
              </a:rPr>
              <a:t>Triển khai chính sách khóa cổng USB chống lộ dữ liệu nội bộ, tự động ánh xạ ổ đĩa mạng chia sẻ (Network Drive Mapping) theo từng phòng ban OU.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Mô hình định danh lai (Hybrid Identity): </a:t>
            </a:r>
            <a:r>
              <a:rPr sz="950" b="0">
                <a:solidFill>
                  <a:srgbClr val="1E293B"/>
                </a:solidFill>
                <a:latin typeface="Segoe UI"/>
              </a:rPr>
              <a:t>Tích hợp công cụ Azure AD Connect để đồng bộ cơ sở dữ liệu tài khoản On-premises lên đám mây Microsoft Entra ID / Microsoft 365.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Segoe UI"/>
              </a:rPr>
              <a:t>• Áp dụng xác thực đa yếu tố (MFA): </a:t>
            </a:r>
            <a:r>
              <a:rPr sz="950" b="0">
                <a:solidFill>
                  <a:srgbClr val="1E293B"/>
                </a:solidFill>
                <a:latin typeface="Segoe UI"/>
              </a:rPr>
              <a:t>Tăng cường phòng thủ chống tấn công lừa đảo (Phishing) và đánh cắp mã băm mật khẩu (Pass-the-Hash) trong kỷ nguyên bảo mật Zero Trust.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06440"/>
            <a:ext cx="10728655" cy="502920"/>
          </a:xfrm>
          <a:prstGeom prst="roundRect">
            <a:avLst/>
          </a:prstGeom>
          <a:solidFill>
            <a:srgbClr val="FEF9C3"/>
          </a:solidFill>
          <a:ln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3366"/>
                </a:solidFill>
                <a:latin typeface="Segoe UI"/>
              </a:defRPr>
            </a:pPr>
            <a:r>
              <a:t>[GIÁ TRỊ THỰC TIỄN]: Đề tài cung cấp nền tảng kiến thức quản trị hạ tầng mạng vững chắc, sẵn sàng đáp ứng yêu cầu vận hành thực tế tại doanh nghiệp.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iu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"/>
            <a:ext cx="3017520" cy="860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29260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Segoe UI"/>
              </a:defRPr>
            </a:pPr>
            <a:r>
              <a:t>TRƯỜNG ĐẠI HỌC CÔNG NGHIỆP TP. HỒ CHÍ MINH — KHOA CÔNG NGHỆ THÔNG TIN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Bộ môn: Quản trị và bảo trì hệ thống  |  Báo cáo chuyên đề Nhóm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484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AB308"/>
                </a:solidFill>
                <a:latin typeface="Segoe UI"/>
              </a:defRPr>
            </a:pPr>
            <a:r>
              <a:t>XIN CHÂN THÀNH CẢM ƠN THẦY VÀ CÁC BẠN</a:t>
            </a:r>
            <a:br/>
            <a:r>
              <a:t>ĐÃ CHÚ Ý THEO DÕI BÀI BÁO CÁO!</a:t>
            </a:r>
          </a:p>
          <a:p>
            <a:pPr algn="ctr">
              <a:spcBef>
                <a:spcPts val="14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Kính chúc Thầy nhiều sức khỏe và thành công trong sự nghiệp giảng dạy!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2190" y="4389120"/>
            <a:ext cx="548640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PHIÊN HỎI ĐÁP (Q &amp; A)</a:t>
            </a:r>
            <a:br/>
            <a:r>
              <a:t>Nhóm 01 sẵn sàng lắng nghe &amp; giải đáp các câu hỏi phản biện!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