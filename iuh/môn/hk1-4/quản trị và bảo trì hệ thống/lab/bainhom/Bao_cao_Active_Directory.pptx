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iuh.png"/>
          <p:cNvPicPr>
            <a:picLocks noChangeAspect="1"/>
          </p:cNvPicPr>
          <p:nvPr/>
        </p:nvPicPr>
        <p:blipFill>
          <a:blip r:embed="rId2"/>
          <a:stretch>
            <a:fillRect/>
          </a:stretch>
        </p:blipFill>
        <p:spPr>
          <a:xfrm>
            <a:off x="731520" y="164592"/>
            <a:ext cx="3017520" cy="860429"/>
          </a:xfrm>
          <a:prstGeom prst="rect">
            <a:avLst/>
          </a:prstGeom>
        </p:spPr>
      </p:pic>
      <p:sp>
        <p:nvSpPr>
          <p:cNvPr id="5" name="TextBox 4"/>
          <p:cNvSpPr txBox="1"/>
          <p:nvPr/>
        </p:nvSpPr>
        <p:spPr>
          <a:xfrm>
            <a:off x="4023360" y="292608"/>
            <a:ext cx="7406640" cy="731520"/>
          </a:xfrm>
          <a:prstGeom prst="rect">
            <a:avLst/>
          </a:prstGeom>
          <a:noFill/>
        </p:spPr>
        <p:txBody>
          <a:bodyPr wrap="square">
            <a:spAutoFit/>
          </a:bodyPr>
          <a:lstStyle/>
          <a:p>
            <a:pPr>
              <a:defRPr sz="1300" b="1">
                <a:solidFill>
                  <a:srgbClr val="003366"/>
                </a:solidFill>
                <a:latin typeface="Segoe UI"/>
              </a:defRPr>
            </a:pPr>
            <a:r>
              <a:t>TRƯỜNG ĐẠI HỌC CÔNG NGHIỆP TP. HỒ CHÍ MINH — KHOA CÔNG NGHỆ THÔNG TIN</a:t>
            </a:r>
          </a:p>
          <a:p>
            <a:pPr>
              <a:defRPr sz="1100">
                <a:solidFill>
                  <a:srgbClr val="64748B"/>
                </a:solidFill>
                <a:latin typeface="Segoe UI"/>
              </a:defRPr>
            </a:pPr>
            <a:r>
              <a:t>Môn học: Quản trị và bảo trì hệ thống  |  Học kỳ 1 • Năm học 2025 - 2026</a:t>
            </a:r>
          </a:p>
        </p:txBody>
      </p:sp>
      <p:sp>
        <p:nvSpPr>
          <p:cNvPr id="6" name="Rounded Rectangle 5"/>
          <p:cNvSpPr/>
          <p:nvPr/>
        </p:nvSpPr>
        <p:spPr>
          <a:xfrm>
            <a:off x="731520" y="1600200"/>
            <a:ext cx="2743200" cy="38404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BÁO CÁO BÀI TẬP NHÓM 01</a:t>
            </a:r>
          </a:p>
        </p:txBody>
      </p:sp>
      <p:sp>
        <p:nvSpPr>
          <p:cNvPr id="7" name="TextBox 6"/>
          <p:cNvSpPr txBox="1"/>
          <p:nvPr/>
        </p:nvSpPr>
        <p:spPr>
          <a:xfrm>
            <a:off x="731520" y="2121408"/>
            <a:ext cx="10728655" cy="1645920"/>
          </a:xfrm>
          <a:prstGeom prst="rect">
            <a:avLst/>
          </a:prstGeom>
          <a:noFill/>
        </p:spPr>
        <p:txBody>
          <a:bodyPr wrap="square">
            <a:spAutoFit/>
          </a:bodyPr>
          <a:lstStyle/>
          <a:p>
            <a:pPr>
              <a:defRPr sz="3600" b="1">
                <a:solidFill>
                  <a:srgbClr val="EAB308"/>
                </a:solidFill>
                <a:latin typeface="Segoe UI"/>
              </a:defRPr>
            </a:pPr>
            <a:r>
              <a:t>ACTIVE DIRECTORY DOMAIN SERVICES</a:t>
            </a:r>
          </a:p>
          <a:p>
            <a:pPr>
              <a:spcBef>
                <a:spcPts val="800"/>
              </a:spcBef>
              <a:defRPr sz="1350">
                <a:solidFill>
                  <a:srgbClr val="FFFFFF"/>
                </a:solidFill>
                <a:latin typeface="Segoe UI"/>
              </a:defRPr>
            </a:pPr>
            <a:r>
              <a:t>NGHIÊN CỨU KIẾN TRÚC, CƠ CHẾ HOẠT ĐỘNG, TIỆN ÍCH ADPREP</a:t>
            </a:r>
            <a:br/>
            <a:r>
              <a:t>VÀ QUY TRÌNH TRIỂN KHAI THỰC HÀNH CÀI ĐẶT TRÊN WINDOWS SERVER</a:t>
            </a:r>
          </a:p>
        </p:txBody>
      </p:sp>
      <p:sp>
        <p:nvSpPr>
          <p:cNvPr id="8" name="Rounded Rectangle 7"/>
          <p:cNvSpPr/>
          <p:nvPr/>
        </p:nvSpPr>
        <p:spPr>
          <a:xfrm>
            <a:off x="731520" y="3703320"/>
            <a:ext cx="2057400" cy="310896"/>
          </a:xfrm>
          <a:prstGeom prst="roundRect">
            <a:avLst/>
          </a:prstGeom>
          <a:solidFill>
            <a:srgbClr val="1E3A8A"/>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AE6FD"/>
                </a:solidFill>
                <a:latin typeface="Segoe UI"/>
              </a:defRPr>
            </a:pPr>
            <a:r>
              <a:t>[X.500 HIERARCHY]</a:t>
            </a:r>
          </a:p>
        </p:txBody>
      </p:sp>
      <p:sp>
        <p:nvSpPr>
          <p:cNvPr id="9" name="Rounded Rectangle 8"/>
          <p:cNvSpPr/>
          <p:nvPr/>
        </p:nvSpPr>
        <p:spPr>
          <a:xfrm>
            <a:off x="2907792" y="3703320"/>
            <a:ext cx="2057400" cy="310896"/>
          </a:xfrm>
          <a:prstGeom prst="roundRect">
            <a:avLst/>
          </a:prstGeom>
          <a:solidFill>
            <a:srgbClr val="1E3A8A"/>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AE6FD"/>
                </a:solidFill>
                <a:latin typeface="Segoe UI"/>
              </a:defRPr>
            </a:pPr>
            <a:r>
              <a:t>[KERBEROS V5 SSO]</a:t>
            </a:r>
          </a:p>
        </p:txBody>
      </p:sp>
      <p:sp>
        <p:nvSpPr>
          <p:cNvPr id="10" name="Rounded Rectangle 9"/>
          <p:cNvSpPr/>
          <p:nvPr/>
        </p:nvSpPr>
        <p:spPr>
          <a:xfrm>
            <a:off x="5084064" y="3703320"/>
            <a:ext cx="2057400" cy="310896"/>
          </a:xfrm>
          <a:prstGeom prst="roundRect">
            <a:avLst/>
          </a:prstGeom>
          <a:solidFill>
            <a:srgbClr val="1E3A8A"/>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AE6FD"/>
                </a:solidFill>
                <a:latin typeface="Segoe UI"/>
              </a:defRPr>
            </a:pPr>
            <a:r>
              <a:t>[5 VAI TRÒ FSMO]</a:t>
            </a:r>
          </a:p>
        </p:txBody>
      </p:sp>
      <p:sp>
        <p:nvSpPr>
          <p:cNvPr id="11" name="Rounded Rectangle 10"/>
          <p:cNvSpPr/>
          <p:nvPr/>
        </p:nvSpPr>
        <p:spPr>
          <a:xfrm>
            <a:off x="7260336" y="3703320"/>
            <a:ext cx="2057400" cy="310896"/>
          </a:xfrm>
          <a:prstGeom prst="roundRect">
            <a:avLst/>
          </a:prstGeom>
          <a:solidFill>
            <a:srgbClr val="1E3A8A"/>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AE6FD"/>
                </a:solidFill>
                <a:latin typeface="Segoe UI"/>
              </a:defRPr>
            </a:pPr>
            <a:r>
              <a:t>[DNS INTEGRATED]</a:t>
            </a:r>
          </a:p>
        </p:txBody>
      </p:sp>
      <p:sp>
        <p:nvSpPr>
          <p:cNvPr id="12" name="Rounded Rectangle 11"/>
          <p:cNvSpPr/>
          <p:nvPr/>
        </p:nvSpPr>
        <p:spPr>
          <a:xfrm>
            <a:off x="9436608" y="3703320"/>
            <a:ext cx="2057400" cy="310896"/>
          </a:xfrm>
          <a:prstGeom prst="roundRect">
            <a:avLst/>
          </a:prstGeom>
          <a:solidFill>
            <a:srgbClr val="1E3A8A"/>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BAE6FD"/>
                </a:solidFill>
                <a:latin typeface="Segoe UI"/>
              </a:defRPr>
            </a:pPr>
            <a:r>
              <a:t>[RODC SECURITY]</a:t>
            </a:r>
          </a:p>
        </p:txBody>
      </p:sp>
      <p:sp>
        <p:nvSpPr>
          <p:cNvPr id="13" name="Rectangle 12"/>
          <p:cNvSpPr/>
          <p:nvPr/>
        </p:nvSpPr>
        <p:spPr>
          <a:xfrm>
            <a:off x="731520" y="416052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4389120"/>
            <a:ext cx="10728655" cy="2057400"/>
          </a:xfrm>
          <a:prstGeom prst="roundRect">
            <a:avLst/>
          </a:prstGeom>
          <a:solidFill>
            <a:srgbClr val="0F172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526280"/>
            <a:ext cx="10058400" cy="292608"/>
          </a:xfrm>
          <a:prstGeom prst="rect">
            <a:avLst/>
          </a:prstGeom>
          <a:noFill/>
        </p:spPr>
        <p:txBody>
          <a:bodyPr wrap="none">
            <a:spAutoFit/>
          </a:bodyPr>
          <a:lstStyle/>
          <a:p>
            <a:pPr>
              <a:defRPr sz="1100" b="1">
                <a:solidFill>
                  <a:srgbClr val="0E7490"/>
                </a:solidFill>
                <a:latin typeface="Segoe UI"/>
              </a:defRPr>
            </a:pPr>
            <a:r>
              <a:t>DANH SÁCH SINH VIÊN THỰC HIỆN ĐỀ TÀI (NHÓM 01):</a:t>
            </a:r>
          </a:p>
        </p:txBody>
      </p:sp>
      <p:sp>
        <p:nvSpPr>
          <p:cNvPr id="16" name="Rounded Rectangle 15"/>
          <p:cNvSpPr/>
          <p:nvPr/>
        </p:nvSpPr>
        <p:spPr>
          <a:xfrm>
            <a:off x="1005840" y="4937760"/>
            <a:ext cx="3246120" cy="1280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latin typeface="Segoe UI"/>
              </a:defRPr>
            </a:pPr>
            <a:r>
              <a:t>1. Đỗ Hữu Châu</a:t>
            </a:r>
          </a:p>
          <a:p>
            <a:pPr algn="ctr">
              <a:spcBef>
                <a:spcPts val="300"/>
              </a:spcBef>
              <a:defRPr sz="950">
                <a:solidFill>
                  <a:srgbClr val="94A3B8"/>
                </a:solidFill>
                <a:latin typeface="Segoe UI"/>
              </a:defRPr>
            </a:pPr>
            <a:r>
              <a:t>MSSV: 24688491  •  [THIẾT KẾ &amp; BÁO CÁO]</a:t>
            </a:r>
          </a:p>
          <a:p>
            <a:pPr algn="ctr">
              <a:spcBef>
                <a:spcPts val="300"/>
              </a:spcBef>
              <a:defRPr sz="1050" b="1">
                <a:solidFill>
                  <a:srgbClr val="EAB308"/>
                </a:solidFill>
                <a:latin typeface="Segoe UI"/>
              </a:defRPr>
            </a:pPr>
            <a:r>
              <a:t>Phụ trách Slide thuyết trình</a:t>
            </a:r>
          </a:p>
        </p:txBody>
      </p:sp>
      <p:sp>
        <p:nvSpPr>
          <p:cNvPr id="17" name="Rounded Rectangle 16"/>
          <p:cNvSpPr/>
          <p:nvPr/>
        </p:nvSpPr>
        <p:spPr>
          <a:xfrm>
            <a:off x="4562856" y="4937760"/>
            <a:ext cx="3246120" cy="1280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latin typeface="Segoe UI"/>
              </a:defRPr>
            </a:pPr>
            <a:r>
              <a:t>2. Phan Thanh Đô</a:t>
            </a:r>
          </a:p>
          <a:p>
            <a:pPr algn="ctr">
              <a:spcBef>
                <a:spcPts val="300"/>
              </a:spcBef>
              <a:defRPr sz="950">
                <a:solidFill>
                  <a:srgbClr val="94A3B8"/>
                </a:solidFill>
                <a:latin typeface="Segoe UI"/>
              </a:defRPr>
            </a:pPr>
            <a:r>
              <a:t>MSSV: 24700621  •  [THỰC HÀNH &amp; VIDEO]</a:t>
            </a:r>
          </a:p>
          <a:p>
            <a:pPr algn="ctr">
              <a:spcBef>
                <a:spcPts val="300"/>
              </a:spcBef>
              <a:defRPr sz="1050" b="1">
                <a:solidFill>
                  <a:srgbClr val="EAB308"/>
                </a:solidFill>
                <a:latin typeface="Segoe UI"/>
              </a:defRPr>
            </a:pPr>
            <a:r>
              <a:t>Phụ trách Chuỗi 6 Video Demo</a:t>
            </a:r>
          </a:p>
        </p:txBody>
      </p:sp>
      <p:sp>
        <p:nvSpPr>
          <p:cNvPr id="18" name="Rounded Rectangle 17"/>
          <p:cNvSpPr/>
          <p:nvPr/>
        </p:nvSpPr>
        <p:spPr>
          <a:xfrm>
            <a:off x="8119872" y="4937760"/>
            <a:ext cx="3246120" cy="1280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latin typeface="Segoe UI"/>
              </a:defRPr>
            </a:pPr>
            <a:r>
              <a:t>3. Lê Thành Long</a:t>
            </a:r>
          </a:p>
          <a:p>
            <a:pPr algn="ctr">
              <a:spcBef>
                <a:spcPts val="300"/>
              </a:spcBef>
              <a:defRPr sz="950">
                <a:solidFill>
                  <a:srgbClr val="94A3B8"/>
                </a:solidFill>
                <a:latin typeface="Segoe UI"/>
              </a:defRPr>
            </a:pPr>
            <a:r>
              <a:t>MSSV: 23630851  •  [NGHIÊN CỨU &amp; WORD]</a:t>
            </a:r>
          </a:p>
          <a:p>
            <a:pPr algn="ctr">
              <a:spcBef>
                <a:spcPts val="300"/>
              </a:spcBef>
              <a:defRPr sz="1050" b="1">
                <a:solidFill>
                  <a:srgbClr val="EAB308"/>
                </a:solidFill>
                <a:latin typeface="Segoe UI"/>
              </a:defRPr>
            </a:pPr>
            <a:r>
              <a:t>Phụ trách Lý thuyết, Tài liệu Word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TỔNG QUAN ĐỀ TÀI</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Nội Dung Báo Cáo Chuyên Đề &amp; Tiến Trình Nghiên Cứu</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02 / 16</a:t>
            </a:r>
          </a:p>
        </p:txBody>
      </p:sp>
      <p:sp>
        <p:nvSpPr>
          <p:cNvPr id="7" name="Rectangle 6"/>
          <p:cNvSpPr/>
          <p:nvPr/>
        </p:nvSpPr>
        <p:spPr>
          <a:xfrm>
            <a:off x="1536192" y="1645920"/>
            <a:ext cx="36576" cy="4206240"/>
          </a:xfrm>
          <a:prstGeom prst="rect">
            <a:avLst/>
          </a:prstGeom>
          <a:solidFill>
            <a:srgbClr val="BAE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71600"/>
            <a:ext cx="10728655" cy="8412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1536192"/>
            <a:ext cx="502920" cy="50292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01</a:t>
            </a:r>
          </a:p>
        </p:txBody>
      </p:sp>
      <p:sp>
        <p:nvSpPr>
          <p:cNvPr id="10" name="Rounded Rectangle 9"/>
          <p:cNvSpPr/>
          <p:nvPr/>
        </p:nvSpPr>
        <p:spPr>
          <a:xfrm>
            <a:off x="1554480" y="1554480"/>
            <a:ext cx="1280160" cy="47548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CHƯƠNG 1</a:t>
            </a:r>
          </a:p>
        </p:txBody>
      </p:sp>
      <p:sp>
        <p:nvSpPr>
          <p:cNvPr id="11" name="TextBox 10"/>
          <p:cNvSpPr txBox="1"/>
          <p:nvPr/>
        </p:nvSpPr>
        <p:spPr>
          <a:xfrm>
            <a:off x="2971800" y="1481328"/>
            <a:ext cx="8321040" cy="640080"/>
          </a:xfrm>
          <a:prstGeom prst="rect">
            <a:avLst/>
          </a:prstGeom>
          <a:noFill/>
        </p:spPr>
        <p:txBody>
          <a:bodyPr wrap="square" lIns="0" rIns="0" tIns="0" bIns="0">
            <a:spAutoFit/>
          </a:bodyPr>
          <a:lstStyle/>
          <a:p>
            <a:pPr>
              <a:defRPr sz="1300" b="1">
                <a:solidFill>
                  <a:srgbClr val="003366"/>
                </a:solidFill>
                <a:latin typeface="Segoe UI"/>
              </a:defRPr>
            </a:pPr>
            <a:r>
              <a:t>TỔNG QUAN &amp; CHỨC NĂNG CỦA DIRECTORY SERVICE</a:t>
            </a:r>
          </a:p>
          <a:p>
            <a:pPr>
              <a:spcBef>
                <a:spcPts val="300"/>
              </a:spcBef>
              <a:defRPr sz="1000">
                <a:solidFill>
                  <a:srgbClr val="64748B"/>
                </a:solidFill>
                <a:latin typeface="Segoe UI"/>
              </a:defRPr>
            </a:pPr>
            <a:r>
              <a:t>Bối cảnh ra đời, so sánh Workgroup vs Domain, 4 chức năng cốt lõi và 4 mục đích chiến lược.</a:t>
            </a:r>
          </a:p>
        </p:txBody>
      </p:sp>
      <p:sp>
        <p:nvSpPr>
          <p:cNvPr id="12" name="Rounded Rectangle 11"/>
          <p:cNvSpPr/>
          <p:nvPr/>
        </p:nvSpPr>
        <p:spPr>
          <a:xfrm>
            <a:off x="731520" y="2377440"/>
            <a:ext cx="10728655" cy="8412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4400" y="2542032"/>
            <a:ext cx="502920" cy="50292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02</a:t>
            </a:r>
          </a:p>
        </p:txBody>
      </p:sp>
      <p:sp>
        <p:nvSpPr>
          <p:cNvPr id="14" name="Rounded Rectangle 13"/>
          <p:cNvSpPr/>
          <p:nvPr/>
        </p:nvSpPr>
        <p:spPr>
          <a:xfrm>
            <a:off x="1554480" y="2560320"/>
            <a:ext cx="1280160" cy="47548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CHƯƠNG 2</a:t>
            </a:r>
          </a:p>
        </p:txBody>
      </p:sp>
      <p:sp>
        <p:nvSpPr>
          <p:cNvPr id="15" name="TextBox 14"/>
          <p:cNvSpPr txBox="1"/>
          <p:nvPr/>
        </p:nvSpPr>
        <p:spPr>
          <a:xfrm>
            <a:off x="2971800" y="2487168"/>
            <a:ext cx="8321040" cy="640080"/>
          </a:xfrm>
          <a:prstGeom prst="rect">
            <a:avLst/>
          </a:prstGeom>
          <a:noFill/>
        </p:spPr>
        <p:txBody>
          <a:bodyPr wrap="square" lIns="0" rIns="0" tIns="0" bIns="0">
            <a:spAutoFit/>
          </a:bodyPr>
          <a:lstStyle/>
          <a:p>
            <a:pPr>
              <a:defRPr sz="1300" b="1">
                <a:solidFill>
                  <a:srgbClr val="003366"/>
                </a:solidFill>
                <a:latin typeface="Segoe UI"/>
              </a:defRPr>
            </a:pPr>
            <a:r>
              <a:t>KIẾN TRÚC &amp; CƠ CHẾ HOẠT ĐỘNG CỦA ACTIVE DIRECTORY</a:t>
            </a:r>
          </a:p>
          <a:p>
            <a:pPr>
              <a:spcBef>
                <a:spcPts val="300"/>
              </a:spcBef>
              <a:defRPr sz="1000">
                <a:solidFill>
                  <a:srgbClr val="64748B"/>
                </a:solidFill>
                <a:latin typeface="Segoe UI"/>
              </a:defRPr>
            </a:pPr>
            <a:r>
              <a:t>Cấu trúc Logic &amp; Vật lý, Schema &amp; Global Catalog, 5 vai trò FSMO, xác thực Kerberos v5 &amp; DNS.</a:t>
            </a:r>
          </a:p>
        </p:txBody>
      </p:sp>
      <p:sp>
        <p:nvSpPr>
          <p:cNvPr id="16" name="Rounded Rectangle 15"/>
          <p:cNvSpPr/>
          <p:nvPr/>
        </p:nvSpPr>
        <p:spPr>
          <a:xfrm>
            <a:off x="731520" y="3383280"/>
            <a:ext cx="10728655" cy="8412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3547872"/>
            <a:ext cx="502920" cy="50292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03</a:t>
            </a:r>
          </a:p>
        </p:txBody>
      </p:sp>
      <p:sp>
        <p:nvSpPr>
          <p:cNvPr id="18" name="Rounded Rectangle 17"/>
          <p:cNvSpPr/>
          <p:nvPr/>
        </p:nvSpPr>
        <p:spPr>
          <a:xfrm>
            <a:off x="1554480" y="3566160"/>
            <a:ext cx="1280160" cy="47548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CHƯƠNG 3</a:t>
            </a:r>
          </a:p>
        </p:txBody>
      </p:sp>
      <p:sp>
        <p:nvSpPr>
          <p:cNvPr id="19" name="TextBox 18"/>
          <p:cNvSpPr txBox="1"/>
          <p:nvPr/>
        </p:nvSpPr>
        <p:spPr>
          <a:xfrm>
            <a:off x="2971800" y="3493008"/>
            <a:ext cx="8321040" cy="640080"/>
          </a:xfrm>
          <a:prstGeom prst="rect">
            <a:avLst/>
          </a:prstGeom>
          <a:noFill/>
        </p:spPr>
        <p:txBody>
          <a:bodyPr wrap="square" lIns="0" rIns="0" tIns="0" bIns="0">
            <a:spAutoFit/>
          </a:bodyPr>
          <a:lstStyle/>
          <a:p>
            <a:pPr>
              <a:defRPr sz="1300" b="1">
                <a:solidFill>
                  <a:srgbClr val="003366"/>
                </a:solidFill>
                <a:latin typeface="Segoe UI"/>
              </a:defRPr>
            </a:pPr>
            <a:r>
              <a:t>TÍNH NĂNG NÂNG CAO, RODC &amp; BỘ CÔNG CỤ ADPREP</a:t>
            </a:r>
          </a:p>
          <a:p>
            <a:pPr>
              <a:spcBef>
                <a:spcPts val="300"/>
              </a:spcBef>
              <a:defRPr sz="1000">
                <a:solidFill>
                  <a:srgbClr val="64748B"/>
                </a:solidFill>
                <a:latin typeface="Segoe UI"/>
              </a:defRPr>
            </a:pPr>
            <a:r>
              <a:t>Giải pháp an ninh chi nhánh với RODC và chuyên sâu bộ 3 lệnh ADPREP mở rộng hạ tầng mạng.</a:t>
            </a:r>
          </a:p>
        </p:txBody>
      </p:sp>
      <p:sp>
        <p:nvSpPr>
          <p:cNvPr id="20" name="Rounded Rectangle 19"/>
          <p:cNvSpPr/>
          <p:nvPr/>
        </p:nvSpPr>
        <p:spPr>
          <a:xfrm>
            <a:off x="731520" y="4389120"/>
            <a:ext cx="10728655" cy="8412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4553712"/>
            <a:ext cx="502920" cy="50292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04</a:t>
            </a:r>
          </a:p>
        </p:txBody>
      </p:sp>
      <p:sp>
        <p:nvSpPr>
          <p:cNvPr id="22" name="Rounded Rectangle 21"/>
          <p:cNvSpPr/>
          <p:nvPr/>
        </p:nvSpPr>
        <p:spPr>
          <a:xfrm>
            <a:off x="1554480" y="4572000"/>
            <a:ext cx="1280160" cy="47548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CHƯƠNG 4</a:t>
            </a:r>
          </a:p>
        </p:txBody>
      </p:sp>
      <p:sp>
        <p:nvSpPr>
          <p:cNvPr id="23" name="TextBox 22"/>
          <p:cNvSpPr txBox="1"/>
          <p:nvPr/>
        </p:nvSpPr>
        <p:spPr>
          <a:xfrm>
            <a:off x="2971800" y="4498848"/>
            <a:ext cx="8321040" cy="640080"/>
          </a:xfrm>
          <a:prstGeom prst="rect">
            <a:avLst/>
          </a:prstGeom>
          <a:noFill/>
        </p:spPr>
        <p:txBody>
          <a:bodyPr wrap="square" lIns="0" rIns="0" tIns="0" bIns="0">
            <a:spAutoFit/>
          </a:bodyPr>
          <a:lstStyle/>
          <a:p>
            <a:pPr>
              <a:defRPr sz="1300" b="1">
                <a:solidFill>
                  <a:srgbClr val="003366"/>
                </a:solidFill>
                <a:latin typeface="Segoe UI"/>
              </a:defRPr>
            </a:pPr>
            <a:r>
              <a:t>TRIỂN KHAI THỰC HÀNH CÀI ĐẶT &amp; CHUỖI 6 VIDEO DEMO</a:t>
            </a:r>
          </a:p>
          <a:p>
            <a:pPr>
              <a:spcBef>
                <a:spcPts val="300"/>
              </a:spcBef>
              <a:defRPr sz="1000">
                <a:solidFill>
                  <a:srgbClr val="64748B"/>
                </a:solidFill>
                <a:latin typeface="Segoe UI"/>
              </a:defRPr>
            </a:pPr>
            <a:r>
              <a:t>Quy hoạch IP máy ảo VMware, các bước cấu hình DC/DNS, chạy lệnh adprep, join domain Win 7.</a:t>
            </a:r>
          </a:p>
        </p:txBody>
      </p:sp>
      <p:sp>
        <p:nvSpPr>
          <p:cNvPr id="24" name="Rounded Rectangle 23"/>
          <p:cNvSpPr/>
          <p:nvPr/>
        </p:nvSpPr>
        <p:spPr>
          <a:xfrm>
            <a:off x="731520" y="5394960"/>
            <a:ext cx="10728655" cy="84124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 y="5559552"/>
            <a:ext cx="502920" cy="50292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05</a:t>
            </a:r>
          </a:p>
        </p:txBody>
      </p:sp>
      <p:sp>
        <p:nvSpPr>
          <p:cNvPr id="26" name="Rounded Rectangle 25"/>
          <p:cNvSpPr/>
          <p:nvPr/>
        </p:nvSpPr>
        <p:spPr>
          <a:xfrm>
            <a:off x="1554480" y="5577840"/>
            <a:ext cx="1280160" cy="47548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KẾT LUẬN</a:t>
            </a:r>
          </a:p>
        </p:txBody>
      </p:sp>
      <p:sp>
        <p:nvSpPr>
          <p:cNvPr id="27" name="TextBox 26"/>
          <p:cNvSpPr txBox="1"/>
          <p:nvPr/>
        </p:nvSpPr>
        <p:spPr>
          <a:xfrm>
            <a:off x="2971800" y="5504688"/>
            <a:ext cx="8321040" cy="640080"/>
          </a:xfrm>
          <a:prstGeom prst="rect">
            <a:avLst/>
          </a:prstGeom>
          <a:noFill/>
        </p:spPr>
        <p:txBody>
          <a:bodyPr wrap="square" lIns="0" rIns="0" tIns="0" bIns="0">
            <a:spAutoFit/>
          </a:bodyPr>
          <a:lstStyle/>
          <a:p>
            <a:pPr>
              <a:defRPr sz="1300" b="1">
                <a:solidFill>
                  <a:srgbClr val="003366"/>
                </a:solidFill>
                <a:latin typeface="Segoe UI"/>
              </a:defRPr>
            </a:pPr>
            <a:r>
              <a:t>KẾT LUẬN &amp; ĐỊNH HƯỚNG PHÁT TRIỂN ĐỀ TÀI</a:t>
            </a:r>
          </a:p>
          <a:p>
            <a:pPr>
              <a:spcBef>
                <a:spcPts val="300"/>
              </a:spcBef>
              <a:defRPr sz="1000">
                <a:solidFill>
                  <a:srgbClr val="64748B"/>
                </a:solidFill>
                <a:latin typeface="Segoe UI"/>
              </a:defRPr>
            </a:pPr>
            <a:r>
              <a:t>Đánh giá các kết quả lý thuyết - thực hành đã đạt được và hướng mở rộng Hybrid Cloud / GPO.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1 • TỔNG QUAN VÀ CHỨC NĂNG CỦA DIRECTORY SERVICE</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Bối Cảnh Ra Đời &amp; Sự Cần Thiết Của Dịch Vụ Thư Mục</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03 / 16</a:t>
            </a:r>
          </a:p>
        </p:txBody>
      </p:sp>
      <p:sp>
        <p:nvSpPr>
          <p:cNvPr id="7" name="Rounded Rectangle 6"/>
          <p:cNvSpPr/>
          <p:nvPr/>
        </p:nvSpPr>
        <p:spPr>
          <a:xfrm>
            <a:off x="731520" y="1325880"/>
            <a:ext cx="5230368" cy="251460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25880"/>
            <a:ext cx="5230368" cy="38404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[CẢNH BÁO] HẠN CHẾ CỐT LÕI CỦA MÔ HÌNH MẠNG WORKGROUP</a:t>
            </a:r>
          </a:p>
        </p:txBody>
      </p:sp>
      <p:sp>
        <p:nvSpPr>
          <p:cNvPr id="9" name="TextBox 8"/>
          <p:cNvSpPr txBox="1"/>
          <p:nvPr/>
        </p:nvSpPr>
        <p:spPr>
          <a:xfrm>
            <a:off x="868680" y="1783080"/>
            <a:ext cx="4956048" cy="1965960"/>
          </a:xfrm>
          <a:prstGeom prst="rect">
            <a:avLst/>
          </a:prstGeom>
          <a:noFill/>
        </p:spPr>
        <p:txBody>
          <a:bodyPr wrap="square" lIns="0" rIns="0" tIns="0" bIns="0">
            <a:spAutoFit/>
          </a:bodyPr>
          <a:lstStyle/>
          <a:p/>
          <a:p>
            <a:pPr>
              <a:spcBef>
                <a:spcPts val="200"/>
              </a:spcBef>
              <a:spcAft>
                <a:spcPts val="400"/>
              </a:spcAft>
            </a:pPr>
            <a:r>
              <a:rPr sz="950" b="1">
                <a:solidFill>
                  <a:srgbClr val="1E293B"/>
                </a:solidFill>
                <a:latin typeface="Segoe UI"/>
              </a:rPr>
              <a:t>• Lưu trữ tài khoản phân tán: </a:t>
            </a:r>
            <a:r>
              <a:rPr sz="950" b="0">
                <a:solidFill>
                  <a:srgbClr val="1E293B"/>
                </a:solidFill>
                <a:latin typeface="Segoe UI"/>
              </a:rPr>
              <a:t>Mỗi máy trạm tự quản lý danh tính độc lập qua tệp SAM cục bộ (C:\Windows\System32\config\SAM).</a:t>
            </a:r>
          </a:p>
          <a:p>
            <a:pPr>
              <a:spcBef>
                <a:spcPts val="200"/>
              </a:spcBef>
              <a:spcAft>
                <a:spcPts val="400"/>
              </a:spcAft>
            </a:pPr>
            <a:r>
              <a:rPr sz="950" b="1">
                <a:solidFill>
                  <a:srgbClr val="1E293B"/>
                </a:solidFill>
                <a:latin typeface="Segoe UI"/>
              </a:rPr>
              <a:t>• Vận hành tốn kém &amp; lặp lại: </a:t>
            </a:r>
            <a:r>
              <a:rPr sz="950" b="0">
                <a:solidFill>
                  <a:srgbClr val="1E293B"/>
                </a:solidFill>
                <a:latin typeface="Segoe UI"/>
              </a:rPr>
              <a:t>Quản trị viên phải đến từng máy tính vật lý để cấu hình lại các tài khoản người dùng tương tự.</a:t>
            </a:r>
          </a:p>
          <a:p>
            <a:pPr>
              <a:spcBef>
                <a:spcPts val="200"/>
              </a:spcBef>
              <a:spcAft>
                <a:spcPts val="400"/>
              </a:spcAft>
            </a:pPr>
            <a:r>
              <a:rPr sz="950" b="1">
                <a:solidFill>
                  <a:srgbClr val="1E293B"/>
                </a:solidFill>
                <a:latin typeface="Segoe UI"/>
              </a:rPr>
              <a:t>• Không đồng bộ an ninh: </a:t>
            </a:r>
            <a:r>
              <a:rPr sz="950" b="0">
                <a:solidFill>
                  <a:srgbClr val="1E293B"/>
                </a:solidFill>
                <a:latin typeface="Segoe UI"/>
              </a:rPr>
              <a:t>Không thể áp đặt chính sách mật khẩu thống nhất; phân quyền lỏng lẻo, dễ rò rỉ dữ liệu nội bộ.</a:t>
            </a:r>
          </a:p>
          <a:p>
            <a:pPr>
              <a:spcBef>
                <a:spcPts val="200"/>
              </a:spcBef>
              <a:spcAft>
                <a:spcPts val="400"/>
              </a:spcAft>
            </a:pPr>
            <a:r>
              <a:rPr sz="950" b="1">
                <a:solidFill>
                  <a:srgbClr val="1E293B"/>
                </a:solidFill>
                <a:latin typeface="Segoe UI"/>
              </a:rPr>
              <a:t>• Khả năng mở rộng kém: </a:t>
            </a:r>
            <a:r>
              <a:rPr sz="950" b="0">
                <a:solidFill>
                  <a:srgbClr val="1E293B"/>
                </a:solidFill>
                <a:latin typeface="Segoe UI"/>
              </a:rPr>
              <a:t>Chỉ phù hợp quy mô gia đình hoặc văn phòng rất nhỏ dưới 10 thiết bị; mở rộng gây hỗn loạn.</a:t>
            </a:r>
          </a:p>
        </p:txBody>
      </p:sp>
      <p:sp>
        <p:nvSpPr>
          <p:cNvPr id="10" name="Rounded Rectangle 9"/>
          <p:cNvSpPr/>
          <p:nvPr/>
        </p:nvSpPr>
        <p:spPr>
          <a:xfrm>
            <a:off x="6217920" y="1325880"/>
            <a:ext cx="5230368" cy="251460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325880"/>
            <a:ext cx="5230368" cy="38404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[GIẢI PHÁP] ACTIVE DIRECTORY DOMAIN SERVICES (AD DS)</a:t>
            </a:r>
          </a:p>
        </p:txBody>
      </p:sp>
      <p:sp>
        <p:nvSpPr>
          <p:cNvPr id="12" name="TextBox 11"/>
          <p:cNvSpPr txBox="1"/>
          <p:nvPr/>
        </p:nvSpPr>
        <p:spPr>
          <a:xfrm>
            <a:off x="6355080" y="1783080"/>
            <a:ext cx="4956048" cy="1965960"/>
          </a:xfrm>
          <a:prstGeom prst="rect">
            <a:avLst/>
          </a:prstGeom>
          <a:noFill/>
        </p:spPr>
        <p:txBody>
          <a:bodyPr wrap="square" lIns="0" rIns="0" tIns="0" bIns="0">
            <a:spAutoFit/>
          </a:bodyPr>
          <a:lstStyle/>
          <a:p/>
          <a:p>
            <a:pPr>
              <a:spcBef>
                <a:spcPts val="200"/>
              </a:spcBef>
              <a:spcAft>
                <a:spcPts val="400"/>
              </a:spcAft>
            </a:pPr>
            <a:r>
              <a:rPr sz="950" b="1">
                <a:solidFill>
                  <a:srgbClr val="1E293B"/>
                </a:solidFill>
                <a:latin typeface="Segoe UI"/>
              </a:rPr>
              <a:t>✓ Cơ sở dữ liệu tập trung: </a:t>
            </a:r>
            <a:r>
              <a:rPr sz="950" b="0">
                <a:solidFill>
                  <a:srgbClr val="1E293B"/>
                </a:solidFill>
                <a:latin typeface="Segoe UI"/>
              </a:rPr>
              <a:t>Lưu trữ toàn bộ danh tính số trong tệp ntds.dit duy nhất trên máy chủ Domain Controller (DC).</a:t>
            </a:r>
          </a:p>
          <a:p>
            <a:pPr>
              <a:spcBef>
                <a:spcPts val="200"/>
              </a:spcBef>
              <a:spcAft>
                <a:spcPts val="400"/>
              </a:spcAft>
            </a:pPr>
            <a:r>
              <a:rPr sz="950" b="1">
                <a:solidFill>
                  <a:srgbClr val="1E293B"/>
                </a:solidFill>
                <a:latin typeface="Segoe UI"/>
              </a:rPr>
              <a:t>✓ Đăng nhập một lần (SSO): </a:t>
            </a:r>
            <a:r>
              <a:rPr sz="950" b="0">
                <a:solidFill>
                  <a:srgbClr val="1E293B"/>
                </a:solidFill>
                <a:latin typeface="Segoe UI"/>
              </a:rPr>
              <a:t>Người dùng chỉ nhớ 1 cặp tài khoản/mật khẩu để truy cập thông suốt mọi tài nguyên mạng được phân quyền.</a:t>
            </a:r>
          </a:p>
          <a:p>
            <a:pPr>
              <a:spcBef>
                <a:spcPts val="200"/>
              </a:spcBef>
              <a:spcAft>
                <a:spcPts val="400"/>
              </a:spcAft>
            </a:pPr>
            <a:r>
              <a:rPr sz="950" b="1">
                <a:solidFill>
                  <a:srgbClr val="1E293B"/>
                </a:solidFill>
                <a:latin typeface="Segoe UI"/>
              </a:rPr>
              <a:t>✓ Chính sách Group Policy (GPO): </a:t>
            </a:r>
            <a:r>
              <a:rPr sz="950" b="0">
                <a:solidFill>
                  <a:srgbClr val="1E293B"/>
                </a:solidFill>
                <a:latin typeface="Segoe UI"/>
              </a:rPr>
              <a:t>Tự động hóa khóa cổng USB, đổi hình nền, cài phần mềm đồng loạt cho hàng ngàn máy với 1 click.</a:t>
            </a:r>
          </a:p>
          <a:p>
            <a:pPr>
              <a:spcBef>
                <a:spcPts val="200"/>
              </a:spcBef>
              <a:spcAft>
                <a:spcPts val="400"/>
              </a:spcAft>
            </a:pPr>
            <a:r>
              <a:rPr sz="950" b="1">
                <a:solidFill>
                  <a:srgbClr val="1E293B"/>
                </a:solidFill>
                <a:latin typeface="Segoe UI"/>
              </a:rPr>
              <a:t>✓ Khả năng mở rộng vượt trội: </a:t>
            </a:r>
            <a:r>
              <a:rPr sz="950" b="0">
                <a:solidFill>
                  <a:srgbClr val="1E293B"/>
                </a:solidFill>
                <a:latin typeface="Segoe UI"/>
              </a:rPr>
              <a:t>Hỗ trợ hàng triệu đối tượng, đồng bộ đa máy chủ (Multi-Master Replication) an toàn và tin cậy.</a:t>
            </a:r>
          </a:p>
        </p:txBody>
      </p:sp>
      <p:sp>
        <p:nvSpPr>
          <p:cNvPr id="13" name="Rounded Rectangle 12"/>
          <p:cNvSpPr/>
          <p:nvPr/>
        </p:nvSpPr>
        <p:spPr>
          <a:xfrm>
            <a:off x="731520" y="3977639"/>
            <a:ext cx="10728655"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69080"/>
            <a:ext cx="10332720" cy="256032"/>
          </a:xfrm>
          <a:prstGeom prst="rect">
            <a:avLst/>
          </a:prstGeom>
          <a:noFill/>
        </p:spPr>
        <p:txBody>
          <a:bodyPr wrap="none">
            <a:spAutoFit/>
          </a:bodyPr>
          <a:lstStyle/>
          <a:p>
            <a:pPr algn="ctr">
              <a:defRPr sz="1050" b="1">
                <a:solidFill>
                  <a:srgbClr val="003366"/>
                </a:solidFill>
                <a:latin typeface="Segoe UI"/>
              </a:defRPr>
            </a:pPr>
            <a:r>
              <a:t>SƠ ĐỒ ĐỐI CHIẾU KIẾN TRÚC MÔ HÌNH: PHÂN TÁN (WORKGROUP) VS TẬP TRUNG (ACTIVE DIRECTORY)</a:t>
            </a:r>
          </a:p>
        </p:txBody>
      </p:sp>
      <p:sp>
        <p:nvSpPr>
          <p:cNvPr id="15" name="Rounded Rectangle 14"/>
          <p:cNvSpPr/>
          <p:nvPr/>
        </p:nvSpPr>
        <p:spPr>
          <a:xfrm>
            <a:off x="1005840" y="4389120"/>
            <a:ext cx="4663440" cy="1783080"/>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188720" y="4526280"/>
            <a:ext cx="1280160" cy="658368"/>
          </a:xfrm>
          <a:prstGeom prst="roundRect">
            <a:avLst/>
          </a:prstGeom>
          <a:solidFill>
            <a:srgbClr val="FEF2F2"/>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latin typeface="Segoe UI"/>
              </a:defRPr>
            </a:pPr>
            <a:r>
              <a:t>PC-01</a:t>
            </a:r>
          </a:p>
        </p:txBody>
      </p:sp>
      <p:sp>
        <p:nvSpPr>
          <p:cNvPr id="17" name="Can 16"/>
          <p:cNvSpPr/>
          <p:nvPr/>
        </p:nvSpPr>
        <p:spPr>
          <a:xfrm>
            <a:off x="1508760" y="5230368"/>
            <a:ext cx="640080" cy="384048"/>
          </a:xfrm>
          <a:prstGeom prst="can">
            <a:avLst/>
          </a:prstGeom>
          <a:solidFill>
            <a:srgbClr val="FECACA"/>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DC2626"/>
                </a:solidFill>
                <a:latin typeface="Segoe UI"/>
              </a:defRPr>
            </a:pPr>
            <a:r>
              <a:t>SAM 1</a:t>
            </a:r>
          </a:p>
        </p:txBody>
      </p:sp>
      <p:sp>
        <p:nvSpPr>
          <p:cNvPr id="18" name="Rounded Rectangle 17"/>
          <p:cNvSpPr/>
          <p:nvPr/>
        </p:nvSpPr>
        <p:spPr>
          <a:xfrm>
            <a:off x="2651760" y="4526280"/>
            <a:ext cx="1280160" cy="658368"/>
          </a:xfrm>
          <a:prstGeom prst="roundRect">
            <a:avLst/>
          </a:prstGeom>
          <a:solidFill>
            <a:srgbClr val="FEF2F2"/>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latin typeface="Segoe UI"/>
              </a:defRPr>
            </a:pPr>
            <a:r>
              <a:t>PC-02</a:t>
            </a:r>
          </a:p>
        </p:txBody>
      </p:sp>
      <p:sp>
        <p:nvSpPr>
          <p:cNvPr id="19" name="Can 18"/>
          <p:cNvSpPr/>
          <p:nvPr/>
        </p:nvSpPr>
        <p:spPr>
          <a:xfrm>
            <a:off x="2971800" y="5230368"/>
            <a:ext cx="640080" cy="384048"/>
          </a:xfrm>
          <a:prstGeom prst="can">
            <a:avLst/>
          </a:prstGeom>
          <a:solidFill>
            <a:srgbClr val="FECACA"/>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DC2626"/>
                </a:solidFill>
                <a:latin typeface="Segoe UI"/>
              </a:defRPr>
            </a:pPr>
            <a:r>
              <a:t>SAM 2</a:t>
            </a:r>
          </a:p>
        </p:txBody>
      </p:sp>
      <p:sp>
        <p:nvSpPr>
          <p:cNvPr id="20" name="Rounded Rectangle 19"/>
          <p:cNvSpPr/>
          <p:nvPr/>
        </p:nvSpPr>
        <p:spPr>
          <a:xfrm>
            <a:off x="4114800" y="4526280"/>
            <a:ext cx="1280160" cy="658368"/>
          </a:xfrm>
          <a:prstGeom prst="roundRect">
            <a:avLst/>
          </a:prstGeom>
          <a:solidFill>
            <a:srgbClr val="FEF2F2"/>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latin typeface="Segoe UI"/>
              </a:defRPr>
            </a:pPr>
            <a:r>
              <a:t>PC-03</a:t>
            </a:r>
          </a:p>
        </p:txBody>
      </p:sp>
      <p:sp>
        <p:nvSpPr>
          <p:cNvPr id="21" name="Can 20"/>
          <p:cNvSpPr/>
          <p:nvPr/>
        </p:nvSpPr>
        <p:spPr>
          <a:xfrm>
            <a:off x="4434840" y="5230368"/>
            <a:ext cx="640080" cy="384048"/>
          </a:xfrm>
          <a:prstGeom prst="can">
            <a:avLst/>
          </a:prstGeom>
          <a:solidFill>
            <a:srgbClr val="FECACA"/>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DC2626"/>
                </a:solidFill>
                <a:latin typeface="Segoe UI"/>
              </a:defRPr>
            </a:pPr>
            <a:r>
              <a:t>SAM 3</a:t>
            </a:r>
          </a:p>
        </p:txBody>
      </p:sp>
      <p:sp>
        <p:nvSpPr>
          <p:cNvPr id="22" name="TextBox 21"/>
          <p:cNvSpPr txBox="1"/>
          <p:nvPr/>
        </p:nvSpPr>
        <p:spPr>
          <a:xfrm>
            <a:off x="1051560" y="5715000"/>
            <a:ext cx="4572000" cy="411480"/>
          </a:xfrm>
          <a:prstGeom prst="rect">
            <a:avLst/>
          </a:prstGeom>
          <a:noFill/>
        </p:spPr>
        <p:txBody>
          <a:bodyPr wrap="square">
            <a:spAutoFit/>
          </a:bodyPr>
          <a:lstStyle/>
          <a:p>
            <a:pPr algn="ctr">
              <a:defRPr sz="850">
                <a:solidFill>
                  <a:srgbClr val="DC2626"/>
                </a:solidFill>
                <a:latin typeface="Segoe UI"/>
              </a:defRPr>
            </a:pPr>
            <a:r>
              <a:t>[!] Rời rạc: Mỗi máy tự lưu SAM cục bộ riêng. Không tin cậy lẫn nhau, không có cơ chế quản lý tập trung.</a:t>
            </a:r>
          </a:p>
        </p:txBody>
      </p:sp>
      <p:sp>
        <p:nvSpPr>
          <p:cNvPr id="23" name="Rounded Rectangle 22"/>
          <p:cNvSpPr/>
          <p:nvPr/>
        </p:nvSpPr>
        <p:spPr>
          <a:xfrm>
            <a:off x="6309360" y="4389120"/>
            <a:ext cx="4937760" cy="178308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92240" y="4526280"/>
            <a:ext cx="2011680" cy="658368"/>
          </a:xfrm>
          <a:prstGeom prst="roundRect">
            <a:avLst/>
          </a:prstGeom>
          <a:solidFill>
            <a:srgbClr val="003366"/>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Segoe UI"/>
              </a:defRPr>
            </a:pPr>
            <a:r>
              <a:t>DOMAIN CONTROLLER</a:t>
            </a:r>
            <a:br/>
            <a:r>
              <a:t>(MÁY CHỦ QUẢN TRỊ MIỀN)</a:t>
            </a:r>
          </a:p>
        </p:txBody>
      </p:sp>
      <p:sp>
        <p:nvSpPr>
          <p:cNvPr id="25" name="Can 24"/>
          <p:cNvSpPr/>
          <p:nvPr/>
        </p:nvSpPr>
        <p:spPr>
          <a:xfrm>
            <a:off x="6903720" y="5230368"/>
            <a:ext cx="1188720" cy="411480"/>
          </a:xfrm>
          <a:prstGeom prst="can">
            <a:avLst/>
          </a:prstGeom>
          <a:solidFill>
            <a:srgbClr val="ECFEFF"/>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03366"/>
                </a:solidFill>
                <a:latin typeface="Segoe UI"/>
              </a:defRPr>
            </a:pPr>
            <a:r>
              <a:t>NTDS.DIT (ESE)</a:t>
            </a:r>
          </a:p>
        </p:txBody>
      </p:sp>
      <p:sp>
        <p:nvSpPr>
          <p:cNvPr id="26" name="Left-Right Arrow 25"/>
          <p:cNvSpPr/>
          <p:nvPr/>
        </p:nvSpPr>
        <p:spPr>
          <a:xfrm>
            <a:off x="8595360" y="4754880"/>
            <a:ext cx="411480" cy="256032"/>
          </a:xfrm>
          <a:prstGeom prst="leftRight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98280" y="4526280"/>
            <a:ext cx="1965960" cy="658368"/>
          </a:xfrm>
          <a:prstGeom prst="roundRect">
            <a:avLst/>
          </a:prstGeom>
          <a:solidFill>
            <a:srgbClr val="F0FDF4"/>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6A34A"/>
                </a:solidFill>
                <a:latin typeface="Segoe UI"/>
              </a:defRPr>
            </a:pPr>
            <a:r>
              <a:t>CÁC MÁY TRẠM CLIENT</a:t>
            </a:r>
            <a:br/>
            <a:r>
              <a:t>(Win 7, Win 10/11...)</a:t>
            </a:r>
          </a:p>
        </p:txBody>
      </p:sp>
      <p:sp>
        <p:nvSpPr>
          <p:cNvPr id="28" name="Rounded Rectangle 27"/>
          <p:cNvSpPr/>
          <p:nvPr/>
        </p:nvSpPr>
        <p:spPr>
          <a:xfrm>
            <a:off x="9098280" y="5257800"/>
            <a:ext cx="1965960" cy="347472"/>
          </a:xfrm>
          <a:prstGeom prst="roundRect">
            <a:avLst/>
          </a:prstGeom>
          <a:solidFill>
            <a:srgbClr val="EFF6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03366"/>
                </a:solidFill>
                <a:latin typeface="Segoe UI"/>
              </a:defRPr>
            </a:pPr>
            <a:r>
              <a:t>Kerberos SSO + GPO</a:t>
            </a:r>
          </a:p>
        </p:txBody>
      </p:sp>
      <p:sp>
        <p:nvSpPr>
          <p:cNvPr id="29" name="TextBox 28"/>
          <p:cNvSpPr txBox="1"/>
          <p:nvPr/>
        </p:nvSpPr>
        <p:spPr>
          <a:xfrm>
            <a:off x="6355080" y="5715000"/>
            <a:ext cx="4846320" cy="411480"/>
          </a:xfrm>
          <a:prstGeom prst="rect">
            <a:avLst/>
          </a:prstGeom>
          <a:noFill/>
        </p:spPr>
        <p:txBody>
          <a:bodyPr wrap="square">
            <a:spAutoFit/>
          </a:bodyPr>
          <a:lstStyle/>
          <a:p>
            <a:pPr algn="ctr">
              <a:defRPr sz="850">
                <a:solidFill>
                  <a:srgbClr val="16A34A"/>
                </a:solidFill>
                <a:latin typeface="Segoe UI"/>
              </a:defRPr>
            </a:pPr>
            <a:r>
              <a:t>[✓] Tập trung: 1 tài khoản đăng nhập mọi máy. Quản trị viên chỉ cấu hình 1 lần trên DC, áp dụng toàn mạng.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1 • TỔNG QUAN VÀ CHỨC NĂNG CỦA DIRECTORY SERVICE</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So Sánh Chi Tiết: Mô Hình Workgroup vs Mô Hình Domain</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04 / 16</a:t>
            </a:r>
          </a:p>
        </p:txBody>
      </p:sp>
      <p:graphicFrame>
        <p:nvGraphicFramePr>
          <p:cNvPr id="7" name="Table 6"/>
          <p:cNvGraphicFramePr>
            <a:graphicFrameLocks noGrp="1"/>
          </p:cNvGraphicFramePr>
          <p:nvPr/>
        </p:nvGraphicFramePr>
        <p:xfrm>
          <a:off x="731520" y="1353312"/>
          <a:ext cx="10728655" cy="4370832"/>
        </p:xfrm>
        <a:graphic>
          <a:graphicData uri="http://schemas.openxmlformats.org/drawingml/2006/table">
            <a:tbl>
              <a:tblPr firstRow="1" bandRow="1">
                <a:tableStyleId>{5C22544A-7EE6-4342-B048-85BDC9FD1C3A}</a:tableStyleId>
              </a:tblPr>
              <a:tblGrid>
                <a:gridCol w="2286000"/>
                <a:gridCol w="4114800"/>
                <a:gridCol w="4327855"/>
              </a:tblGrid>
              <a:tr h="485648">
                <a:tc>
                  <a:txBody>
                    <a:bodyPr lIns="109728" rIns="109728"/>
                    <a:lstStyle/>
                    <a:p>
                      <a:pPr algn="ctr">
                        <a:defRPr sz="1100" b="1">
                          <a:solidFill>
                            <a:srgbClr val="FFFFFF"/>
                          </a:solidFill>
                          <a:latin typeface="Segoe UI"/>
                        </a:defRPr>
                      </a:pPr>
                      <a:r>
                        <a:t>Tiêu chuẩn so sánh</a:t>
                      </a:r>
                    </a:p>
                  </a:txBody>
                  <a:tcPr anchor="ctr">
                    <a:solidFill>
                      <a:srgbClr val="003366"/>
                    </a:solidFill>
                  </a:tcPr>
                </a:tc>
                <a:tc>
                  <a:txBody>
                    <a:bodyPr lIns="109728" rIns="109728"/>
                    <a:lstStyle/>
                    <a:p>
                      <a:pPr algn="ctr">
                        <a:defRPr sz="1100" b="1">
                          <a:solidFill>
                            <a:srgbClr val="FFFFFF"/>
                          </a:solidFill>
                          <a:latin typeface="Segoe UI"/>
                        </a:defRPr>
                      </a:pPr>
                      <a:r>
                        <a:t>Mô hình Workgroup (Ngang hàng)</a:t>
                      </a:r>
                    </a:p>
                  </a:txBody>
                  <a:tcPr anchor="ctr">
                    <a:solidFill>
                      <a:srgbClr val="003366"/>
                    </a:solidFill>
                  </a:tcPr>
                </a:tc>
                <a:tc>
                  <a:txBody>
                    <a:bodyPr lIns="109728" rIns="109728"/>
                    <a:lstStyle/>
                    <a:p>
                      <a:pPr algn="ctr">
                        <a:defRPr sz="1100" b="1">
                          <a:solidFill>
                            <a:srgbClr val="FFFFFF"/>
                          </a:solidFill>
                          <a:latin typeface="Segoe UI"/>
                        </a:defRPr>
                      </a:pPr>
                      <a:r>
                        <a:t>Mô hình Domain (Active Directory)</a:t>
                      </a:r>
                    </a:p>
                  </a:txBody>
                  <a:tcPr anchor="ctr">
                    <a:solidFill>
                      <a:srgbClr val="003366"/>
                    </a:solidFill>
                  </a:tcPr>
                </a:tc>
              </a:tr>
              <a:tr h="485648">
                <a:tc>
                  <a:txBody>
                    <a:bodyPr lIns="109728" rIns="109728" tIns="18288" bIns="18288"/>
                    <a:lstStyle/>
                    <a:p>
                      <a:pPr>
                        <a:defRPr sz="950" b="1">
                          <a:solidFill>
                            <a:srgbClr val="003366"/>
                          </a:solidFill>
                          <a:latin typeface="Segoe UI"/>
                        </a:defRPr>
                      </a:pPr>
                      <a:r>
                        <a:t>Quản lý tài khoản</a:t>
                      </a:r>
                    </a:p>
                  </a:txBody>
                  <a:tcPr anchor="ctr">
                    <a:solidFill>
                      <a:srgbClr val="FFFFFF"/>
                    </a:solidFill>
                  </a:tcPr>
                </a:tc>
                <a:tc>
                  <a:txBody>
                    <a:bodyPr lIns="109728" rIns="109728" tIns="18288" bIns="18288"/>
                    <a:lstStyle/>
                    <a:p>
                      <a:pPr>
                        <a:defRPr sz="950">
                          <a:solidFill>
                            <a:srgbClr val="1E293B"/>
                          </a:solidFill>
                          <a:latin typeface="Segoe UI"/>
                        </a:defRPr>
                      </a:pPr>
                      <a:r>
                        <a:t>[X] Phân tán trên từng máy cục bộ (SAM Database)</a:t>
                      </a:r>
                    </a:p>
                  </a:txBody>
                  <a:tcPr anchor="ctr">
                    <a:solidFill>
                      <a:srgbClr val="FFFFFF"/>
                    </a:solidFill>
                  </a:tcPr>
                </a:tc>
                <a:tc>
                  <a:txBody>
                    <a:bodyPr lIns="109728" rIns="109728" tIns="18288" bIns="18288"/>
                    <a:lstStyle/>
                    <a:p>
                      <a:pPr>
                        <a:defRPr sz="950" b="1">
                          <a:solidFill>
                            <a:srgbClr val="003366"/>
                          </a:solidFill>
                          <a:latin typeface="Segoe UI"/>
                        </a:defRPr>
                      </a:pPr>
                      <a:r>
                        <a:t>[✓] Tập trung tại máy chủ Domain Controller (NTDS.dit)</a:t>
                      </a:r>
                    </a:p>
                  </a:txBody>
                  <a:tcPr anchor="ctr">
                    <a:solidFill>
                      <a:srgbClr val="FFFFFF"/>
                    </a:solidFill>
                  </a:tcPr>
                </a:tc>
              </a:tr>
              <a:tr h="485648">
                <a:tc>
                  <a:txBody>
                    <a:bodyPr lIns="109728" rIns="109728" tIns="18288" bIns="18288"/>
                    <a:lstStyle/>
                    <a:p>
                      <a:pPr>
                        <a:defRPr sz="950" b="1">
                          <a:solidFill>
                            <a:srgbClr val="003366"/>
                          </a:solidFill>
                          <a:latin typeface="Segoe UI"/>
                        </a:defRPr>
                      </a:pPr>
                      <a:r>
                        <a:t>Xác thực người dùng</a:t>
                      </a:r>
                    </a:p>
                  </a:txBody>
                  <a:tcPr anchor="ctr">
                    <a:solidFill>
                      <a:srgbClr val="F1F5F9"/>
                    </a:solidFill>
                  </a:tcPr>
                </a:tc>
                <a:tc>
                  <a:txBody>
                    <a:bodyPr lIns="109728" rIns="109728" tIns="18288" bIns="18288"/>
                    <a:lstStyle/>
                    <a:p>
                      <a:pPr>
                        <a:defRPr sz="950">
                          <a:solidFill>
                            <a:srgbClr val="1E293B"/>
                          </a:solidFill>
                          <a:latin typeface="Segoe UI"/>
                        </a:defRPr>
                      </a:pPr>
                      <a:r>
                        <a:t>[X] Máy tính nào tự xác thực tài khoản máy đó</a:t>
                      </a:r>
                    </a:p>
                  </a:txBody>
                  <a:tcPr anchor="ctr">
                    <a:solidFill>
                      <a:srgbClr val="F1F5F9"/>
                    </a:solidFill>
                  </a:tcPr>
                </a:tc>
                <a:tc>
                  <a:txBody>
                    <a:bodyPr lIns="109728" rIns="109728" tIns="18288" bIns="18288"/>
                    <a:lstStyle/>
                    <a:p>
                      <a:pPr>
                        <a:defRPr sz="950" b="1">
                          <a:solidFill>
                            <a:srgbClr val="003366"/>
                          </a:solidFill>
                          <a:latin typeface="Segoe UI"/>
                        </a:defRPr>
                      </a:pPr>
                      <a:r>
                        <a:t>[✓] Xác thực tập trung qua giao thức chuẩn Kerberos v5</a:t>
                      </a:r>
                    </a:p>
                  </a:txBody>
                  <a:tcPr anchor="ctr">
                    <a:solidFill>
                      <a:srgbClr val="F1F5F9"/>
                    </a:solidFill>
                  </a:tcPr>
                </a:tc>
              </a:tr>
              <a:tr h="485648">
                <a:tc>
                  <a:txBody>
                    <a:bodyPr lIns="109728" rIns="109728" tIns="18288" bIns="18288"/>
                    <a:lstStyle/>
                    <a:p>
                      <a:pPr>
                        <a:defRPr sz="950" b="1">
                          <a:solidFill>
                            <a:srgbClr val="003366"/>
                          </a:solidFill>
                          <a:latin typeface="Segoe UI"/>
                        </a:defRPr>
                      </a:pPr>
                      <a:r>
                        <a:t>Đăng nhập một lần (SSO)</a:t>
                      </a:r>
                    </a:p>
                  </a:txBody>
                  <a:tcPr anchor="ctr">
                    <a:solidFill>
                      <a:srgbClr val="FFFFFF"/>
                    </a:solidFill>
                  </a:tcPr>
                </a:tc>
                <a:tc>
                  <a:txBody>
                    <a:bodyPr lIns="109728" rIns="109728" tIns="18288" bIns="18288"/>
                    <a:lstStyle/>
                    <a:p>
                      <a:pPr>
                        <a:defRPr sz="950">
                          <a:solidFill>
                            <a:srgbClr val="1E293B"/>
                          </a:solidFill>
                          <a:latin typeface="Segoe UI"/>
                        </a:defRPr>
                      </a:pPr>
                      <a:r>
                        <a:t>[X] Không hỗ trợ; phải nhớ mật khẩu riêng từng máy</a:t>
                      </a:r>
                    </a:p>
                  </a:txBody>
                  <a:tcPr anchor="ctr">
                    <a:solidFill>
                      <a:srgbClr val="FFFFFF"/>
                    </a:solidFill>
                  </a:tcPr>
                </a:tc>
                <a:tc>
                  <a:txBody>
                    <a:bodyPr lIns="109728" rIns="109728" tIns="18288" bIns="18288"/>
                    <a:lstStyle/>
                    <a:p>
                      <a:pPr>
                        <a:defRPr sz="950" b="1">
                          <a:solidFill>
                            <a:srgbClr val="003366"/>
                          </a:solidFill>
                          <a:latin typeface="Segoe UI"/>
                        </a:defRPr>
                      </a:pPr>
                      <a:r>
                        <a:t>[✓] Hỗ trợ hoàn hảo; 1 tài khoản đăng nhập mọi máy trong miền</a:t>
                      </a:r>
                    </a:p>
                  </a:txBody>
                  <a:tcPr anchor="ctr">
                    <a:solidFill>
                      <a:srgbClr val="FFFFFF"/>
                    </a:solidFill>
                  </a:tcPr>
                </a:tc>
              </a:tr>
              <a:tr h="485648">
                <a:tc>
                  <a:txBody>
                    <a:bodyPr lIns="109728" rIns="109728" tIns="18288" bIns="18288"/>
                    <a:lstStyle/>
                    <a:p>
                      <a:pPr>
                        <a:defRPr sz="950" b="1">
                          <a:solidFill>
                            <a:srgbClr val="003366"/>
                          </a:solidFill>
                          <a:latin typeface="Segoe UI"/>
                        </a:defRPr>
                      </a:pPr>
                      <a:r>
                        <a:t>Chính sách an ninh</a:t>
                      </a:r>
                    </a:p>
                  </a:txBody>
                  <a:tcPr anchor="ctr">
                    <a:solidFill>
                      <a:srgbClr val="F1F5F9"/>
                    </a:solidFill>
                  </a:tcPr>
                </a:tc>
                <a:tc>
                  <a:txBody>
                    <a:bodyPr lIns="109728" rIns="109728" tIns="18288" bIns="18288"/>
                    <a:lstStyle/>
                    <a:p>
                      <a:pPr>
                        <a:defRPr sz="950">
                          <a:solidFill>
                            <a:srgbClr val="1E293B"/>
                          </a:solidFill>
                          <a:latin typeface="Segoe UI"/>
                        </a:defRPr>
                      </a:pPr>
                      <a:r>
                        <a:t>[X] Cấu hình thủ công từng máy qua Local Group Policy</a:t>
                      </a:r>
                    </a:p>
                  </a:txBody>
                  <a:tcPr anchor="ctr">
                    <a:solidFill>
                      <a:srgbClr val="F1F5F9"/>
                    </a:solidFill>
                  </a:tcPr>
                </a:tc>
                <a:tc>
                  <a:txBody>
                    <a:bodyPr lIns="109728" rIns="109728" tIns="18288" bIns="18288"/>
                    <a:lstStyle/>
                    <a:p>
                      <a:pPr>
                        <a:defRPr sz="950" b="1">
                          <a:solidFill>
                            <a:srgbClr val="003366"/>
                          </a:solidFill>
                          <a:latin typeface="Segoe UI"/>
                        </a:defRPr>
                      </a:pPr>
                      <a:r>
                        <a:t>[✓] Triển khai đồng loạt tức thì qua Domain Group Policy (GPO)</a:t>
                      </a:r>
                    </a:p>
                  </a:txBody>
                  <a:tcPr anchor="ctr">
                    <a:solidFill>
                      <a:srgbClr val="F1F5F9"/>
                    </a:solidFill>
                  </a:tcPr>
                </a:tc>
              </a:tr>
              <a:tr h="485648">
                <a:tc>
                  <a:txBody>
                    <a:bodyPr lIns="109728" rIns="109728" tIns="18288" bIns="18288"/>
                    <a:lstStyle/>
                    <a:p>
                      <a:pPr>
                        <a:defRPr sz="950" b="1">
                          <a:solidFill>
                            <a:srgbClr val="003366"/>
                          </a:solidFill>
                          <a:latin typeface="Segoe UI"/>
                        </a:defRPr>
                      </a:pPr>
                      <a:r>
                        <a:t>Khả năng mở rộng</a:t>
                      </a:r>
                    </a:p>
                  </a:txBody>
                  <a:tcPr anchor="ctr">
                    <a:solidFill>
                      <a:srgbClr val="FFFFFF"/>
                    </a:solidFill>
                  </a:tcPr>
                </a:tc>
                <a:tc>
                  <a:txBody>
                    <a:bodyPr lIns="109728" rIns="109728" tIns="18288" bIns="18288"/>
                    <a:lstStyle/>
                    <a:p>
                      <a:pPr>
                        <a:defRPr sz="950">
                          <a:solidFill>
                            <a:srgbClr val="1E293B"/>
                          </a:solidFill>
                          <a:latin typeface="Segoe UI"/>
                        </a:defRPr>
                      </a:pPr>
                      <a:r>
                        <a:t>[X] Rất kém; chỉ phù hợp mạng nhỏ dưới 10 máy tính</a:t>
                      </a:r>
                    </a:p>
                  </a:txBody>
                  <a:tcPr anchor="ctr">
                    <a:solidFill>
                      <a:srgbClr val="FFFFFF"/>
                    </a:solidFill>
                  </a:tcPr>
                </a:tc>
                <a:tc>
                  <a:txBody>
                    <a:bodyPr lIns="109728" rIns="109728" tIns="18288" bIns="18288"/>
                    <a:lstStyle/>
                    <a:p>
                      <a:pPr>
                        <a:defRPr sz="950" b="1">
                          <a:solidFill>
                            <a:srgbClr val="003366"/>
                          </a:solidFill>
                          <a:latin typeface="Segoe UI"/>
                        </a:defRPr>
                      </a:pPr>
                      <a:r>
                        <a:t>[✓] Vượt trội; hỗ trợ từ hàng trăm đến hàng triệu đối tượng</a:t>
                      </a:r>
                    </a:p>
                  </a:txBody>
                  <a:tcPr anchor="ctr">
                    <a:solidFill>
                      <a:srgbClr val="FFFFFF"/>
                    </a:solidFill>
                  </a:tcPr>
                </a:tc>
              </a:tr>
              <a:tr h="485648">
                <a:tc>
                  <a:txBody>
                    <a:bodyPr lIns="109728" rIns="109728" tIns="18288" bIns="18288"/>
                    <a:lstStyle/>
                    <a:p>
                      <a:pPr>
                        <a:defRPr sz="950" b="1">
                          <a:solidFill>
                            <a:srgbClr val="003366"/>
                          </a:solidFill>
                          <a:latin typeface="Segoe UI"/>
                        </a:defRPr>
                      </a:pPr>
                      <a:r>
                        <a:t>Phân quyền quản trị</a:t>
                      </a:r>
                    </a:p>
                  </a:txBody>
                  <a:tcPr anchor="ctr">
                    <a:solidFill>
                      <a:srgbClr val="F1F5F9"/>
                    </a:solidFill>
                  </a:tcPr>
                </a:tc>
                <a:tc>
                  <a:txBody>
                    <a:bodyPr lIns="109728" rIns="109728" tIns="18288" bIns="18288"/>
                    <a:lstStyle/>
                    <a:p>
                      <a:pPr>
                        <a:defRPr sz="950">
                          <a:solidFill>
                            <a:srgbClr val="1E293B"/>
                          </a:solidFill>
                          <a:latin typeface="Segoe UI"/>
                        </a:defRPr>
                      </a:pPr>
                      <a:r>
                        <a:t>[X] Chỉ có toàn quyền Admin hoặc User cục bộ</a:t>
                      </a:r>
                    </a:p>
                  </a:txBody>
                  <a:tcPr anchor="ctr">
                    <a:solidFill>
                      <a:srgbClr val="F1F5F9"/>
                    </a:solidFill>
                  </a:tcPr>
                </a:tc>
                <a:tc>
                  <a:txBody>
                    <a:bodyPr lIns="109728" rIns="109728" tIns="18288" bIns="18288"/>
                    <a:lstStyle/>
                    <a:p>
                      <a:pPr>
                        <a:defRPr sz="950" b="1">
                          <a:solidFill>
                            <a:srgbClr val="003366"/>
                          </a:solidFill>
                          <a:latin typeface="Segoe UI"/>
                        </a:defRPr>
                      </a:pPr>
                      <a:r>
                        <a:t>[✓] Ủy quyền quản trị linh hoạt theo từng phòng ban (OU)</a:t>
                      </a:r>
                    </a:p>
                  </a:txBody>
                  <a:tcPr anchor="ctr">
                    <a:solidFill>
                      <a:srgbClr val="F1F5F9"/>
                    </a:solidFill>
                  </a:tcPr>
                </a:tc>
              </a:tr>
              <a:tr h="485648">
                <a:tc>
                  <a:txBody>
                    <a:bodyPr lIns="109728" rIns="109728" tIns="18288" bIns="18288"/>
                    <a:lstStyle/>
                    <a:p>
                      <a:pPr>
                        <a:defRPr sz="950" b="1">
                          <a:solidFill>
                            <a:srgbClr val="003366"/>
                          </a:solidFill>
                          <a:latin typeface="Segoe UI"/>
                        </a:defRPr>
                      </a:pPr>
                      <a:r>
                        <a:t>Dự phòng sự cố</a:t>
                      </a:r>
                    </a:p>
                  </a:txBody>
                  <a:tcPr anchor="ctr">
                    <a:solidFill>
                      <a:srgbClr val="FFFFFF"/>
                    </a:solidFill>
                  </a:tcPr>
                </a:tc>
                <a:tc>
                  <a:txBody>
                    <a:bodyPr lIns="109728" rIns="109728" tIns="18288" bIns="18288"/>
                    <a:lstStyle/>
                    <a:p>
                      <a:pPr>
                        <a:defRPr sz="950">
                          <a:solidFill>
                            <a:srgbClr val="1E293B"/>
                          </a:solidFill>
                          <a:latin typeface="Segoe UI"/>
                        </a:defRPr>
                      </a:pPr>
                      <a:r>
                        <a:t>[X] Không có cơ chế đồng bộ dự phòng</a:t>
                      </a:r>
                    </a:p>
                  </a:txBody>
                  <a:tcPr anchor="ctr">
                    <a:solidFill>
                      <a:srgbClr val="FFFFFF"/>
                    </a:solidFill>
                  </a:tcPr>
                </a:tc>
                <a:tc>
                  <a:txBody>
                    <a:bodyPr lIns="109728" rIns="109728" tIns="18288" bIns="18288"/>
                    <a:lstStyle/>
                    <a:p>
                      <a:pPr>
                        <a:defRPr sz="950" b="1">
                          <a:solidFill>
                            <a:srgbClr val="003366"/>
                          </a:solidFill>
                          <a:latin typeface="Segoe UI"/>
                        </a:defRPr>
                      </a:pPr>
                      <a:r>
                        <a:t>[✓] Hỗ trợ Multi-Master Replication giữa nhiều Domain Controller</a:t>
                      </a:r>
                    </a:p>
                  </a:txBody>
                  <a:tcPr anchor="ctr">
                    <a:solidFill>
                      <a:srgbClr val="FFFFFF"/>
                    </a:solidFill>
                  </a:tcPr>
                </a:tc>
              </a:tr>
              <a:tr h="485648">
                <a:tc>
                  <a:txBody>
                    <a:bodyPr lIns="109728" rIns="109728" tIns="18288" bIns="18288"/>
                    <a:lstStyle/>
                    <a:p>
                      <a:pPr>
                        <a:defRPr sz="950" b="1">
                          <a:solidFill>
                            <a:srgbClr val="003366"/>
                          </a:solidFill>
                          <a:latin typeface="Segoe UI"/>
                        </a:defRPr>
                      </a:pPr>
                      <a:r>
                        <a:t>Chi phí &amp; Vận hành</a:t>
                      </a:r>
                    </a:p>
                  </a:txBody>
                  <a:tcPr anchor="ctr">
                    <a:solidFill>
                      <a:srgbClr val="F1F5F9"/>
                    </a:solidFill>
                  </a:tcPr>
                </a:tc>
                <a:tc>
                  <a:txBody>
                    <a:bodyPr lIns="109728" rIns="109728" tIns="18288" bIns="18288"/>
                    <a:lstStyle/>
                    <a:p>
                      <a:pPr>
                        <a:defRPr sz="950">
                          <a:solidFill>
                            <a:srgbClr val="1E293B"/>
                          </a:solidFill>
                          <a:latin typeface="Segoe UI"/>
                        </a:defRPr>
                      </a:pPr>
                      <a:r>
                        <a:t>Tiết kiệm ban đầu, nhưng tốn công sức quản trị lớn</a:t>
                      </a:r>
                    </a:p>
                  </a:txBody>
                  <a:tcPr anchor="ctr">
                    <a:solidFill>
                      <a:srgbClr val="F1F5F9"/>
                    </a:solidFill>
                  </a:tcPr>
                </a:tc>
                <a:tc>
                  <a:txBody>
                    <a:bodyPr lIns="109728" rIns="109728" tIns="18288" bIns="18288"/>
                    <a:lstStyle/>
                    <a:p>
                      <a:pPr>
                        <a:defRPr sz="950" b="1">
                          <a:solidFill>
                            <a:srgbClr val="003366"/>
                          </a:solidFill>
                          <a:latin typeface="Segoe UI"/>
                        </a:defRPr>
                      </a:pPr>
                      <a:r>
                        <a:t>Đòi hỏi máy chủ Windows Server, nhưng tối ưu chi phí dài hạn</a:t>
                      </a:r>
                    </a:p>
                  </a:txBody>
                  <a:tcPr anchor="ctr">
                    <a:solidFill>
                      <a:srgbClr val="F1F5F9"/>
                    </a:solidFill>
                  </a:tcPr>
                </a:tc>
              </a:tr>
            </a:tbl>
          </a:graphicData>
        </a:graphic>
      </p:graphicFrame>
      <p:sp>
        <p:nvSpPr>
          <p:cNvPr id="8" name="Rounded Rectangle 7"/>
          <p:cNvSpPr/>
          <p:nvPr/>
        </p:nvSpPr>
        <p:spPr>
          <a:xfrm>
            <a:off x="731520" y="5833872"/>
            <a:ext cx="10728655" cy="475488"/>
          </a:xfrm>
          <a:prstGeom prst="roundRect">
            <a:avLst/>
          </a:prstGeom>
          <a:solidFill>
            <a:srgbClr val="EFF6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03366"/>
                </a:solidFill>
                <a:latin typeface="Segoe UI"/>
              </a:defRPr>
            </a:pPr>
            <a:r>
              <a:t>[KẾT LUẬN CHIẾN LƯỢC] Active Directory là tiêu chuẩn hạ tầng bắt buộc cho mọi doanh nghiệp có từ 10 máy trạm trở lên.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1 • TỔNG QUAN VÀ CHỨC NĂNG CỦA DIRECTORY SERVICE</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4 Chức Năng Cốt Lõi &amp; Lợi Ích Chiến Lược Của Active Directory</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05 / 16</a:t>
            </a:r>
          </a:p>
        </p:txBody>
      </p:sp>
      <p:sp>
        <p:nvSpPr>
          <p:cNvPr id="7" name="Rounded Rectangle 6"/>
          <p:cNvSpPr/>
          <p:nvPr/>
        </p:nvSpPr>
        <p:spPr>
          <a:xfrm>
            <a:off x="731520" y="1325880"/>
            <a:ext cx="25420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25880"/>
            <a:ext cx="2542032"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1. Quản Trị Tập Trung</a:t>
            </a:r>
          </a:p>
        </p:txBody>
      </p:sp>
      <p:sp>
        <p:nvSpPr>
          <p:cNvPr id="9" name="TextBox 8"/>
          <p:cNvSpPr txBox="1"/>
          <p:nvPr/>
        </p:nvSpPr>
        <p:spPr>
          <a:xfrm>
            <a:off x="841248" y="1719072"/>
            <a:ext cx="2322576" cy="1691640"/>
          </a:xfrm>
          <a:prstGeom prst="rect">
            <a:avLst/>
          </a:prstGeom>
          <a:noFill/>
        </p:spPr>
        <p:txBody>
          <a:bodyPr wrap="square" lIns="0" rIns="0" tIns="0" bIns="0">
            <a:spAutoFit/>
          </a:bodyPr>
          <a:lstStyle/>
          <a:p/>
          <a:p>
            <a:pPr>
              <a:spcBef>
                <a:spcPts val="200"/>
              </a:spcBef>
              <a:spcAft>
                <a:spcPts val="400"/>
              </a:spcAft>
            </a:pPr>
            <a:r>
              <a:rPr sz="850" b="1">
                <a:solidFill>
                  <a:srgbClr val="1E293B"/>
                </a:solidFill>
                <a:latin typeface="Segoe UI"/>
              </a:rPr>
              <a:t>• Kho dữ liệu duy nhất: </a:t>
            </a:r>
            <a:r>
              <a:rPr sz="850" b="0">
                <a:solidFill>
                  <a:srgbClr val="1E293B"/>
                </a:solidFill>
                <a:latin typeface="Segoe UI"/>
              </a:rPr>
              <a:t>Toàn bộ User, Computer, Group lưu trong ntds.dit.</a:t>
            </a:r>
          </a:p>
          <a:p>
            <a:pPr>
              <a:spcBef>
                <a:spcPts val="200"/>
              </a:spcBef>
              <a:spcAft>
                <a:spcPts val="400"/>
              </a:spcAft>
            </a:pPr>
            <a:r>
              <a:rPr sz="850" b="1">
                <a:solidFill>
                  <a:srgbClr val="1E293B"/>
                </a:solidFill>
                <a:latin typeface="Segoe UI"/>
              </a:rPr>
              <a:t>• Hiệu lực tức thì: </a:t>
            </a:r>
            <a:r>
              <a:rPr sz="850" b="0">
                <a:solidFill>
                  <a:srgbClr val="1E293B"/>
                </a:solidFill>
                <a:latin typeface="Segoe UI"/>
              </a:rPr>
              <a:t>Thêm, xóa, khóa tài khoản được cập nhật toàn mạng.</a:t>
            </a:r>
          </a:p>
          <a:p>
            <a:pPr>
              <a:spcBef>
                <a:spcPts val="200"/>
              </a:spcBef>
              <a:spcAft>
                <a:spcPts val="400"/>
              </a:spcAft>
            </a:pPr>
            <a:r>
              <a:rPr sz="850" b="1">
                <a:solidFill>
                  <a:srgbClr val="1E293B"/>
                </a:solidFill>
                <a:latin typeface="Segoe UI"/>
              </a:rPr>
              <a:t>• Tiết kiệm chi phí: </a:t>
            </a:r>
            <a:r>
              <a:rPr sz="850" b="0">
                <a:solidFill>
                  <a:srgbClr val="1E293B"/>
                </a:solidFill>
                <a:latin typeface="Segoe UI"/>
              </a:rPr>
              <a:t>Quản trị viên quản lý hàng ngàn máy từ 1 bàn làm việc.</a:t>
            </a:r>
          </a:p>
        </p:txBody>
      </p:sp>
      <p:sp>
        <p:nvSpPr>
          <p:cNvPr id="10" name="Rounded Rectangle 9"/>
          <p:cNvSpPr/>
          <p:nvPr/>
        </p:nvSpPr>
        <p:spPr>
          <a:xfrm>
            <a:off x="3456432" y="1325880"/>
            <a:ext cx="25420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56432" y="1325880"/>
            <a:ext cx="2542032" cy="347472"/>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2. Phân Cấp &amp; Mở Rộng</a:t>
            </a:r>
          </a:p>
        </p:txBody>
      </p:sp>
      <p:sp>
        <p:nvSpPr>
          <p:cNvPr id="12" name="TextBox 11"/>
          <p:cNvSpPr txBox="1"/>
          <p:nvPr/>
        </p:nvSpPr>
        <p:spPr>
          <a:xfrm>
            <a:off x="3566160" y="1719072"/>
            <a:ext cx="2322576" cy="1691640"/>
          </a:xfrm>
          <a:prstGeom prst="rect">
            <a:avLst/>
          </a:prstGeom>
          <a:noFill/>
        </p:spPr>
        <p:txBody>
          <a:bodyPr wrap="square" lIns="0" rIns="0" tIns="0" bIns="0">
            <a:spAutoFit/>
          </a:bodyPr>
          <a:lstStyle/>
          <a:p/>
          <a:p>
            <a:pPr>
              <a:spcBef>
                <a:spcPts val="200"/>
              </a:spcBef>
              <a:spcAft>
                <a:spcPts val="400"/>
              </a:spcAft>
            </a:pPr>
            <a:r>
              <a:rPr sz="850" b="1">
                <a:solidFill>
                  <a:srgbClr val="1E293B"/>
                </a:solidFill>
                <a:latin typeface="Segoe UI"/>
              </a:rPr>
              <a:t>• Mô hình chuẩn X.500: </a:t>
            </a:r>
            <a:r>
              <a:rPr sz="850" b="0">
                <a:solidFill>
                  <a:srgbClr val="1E293B"/>
                </a:solidFill>
                <a:latin typeface="Segoe UI"/>
              </a:rPr>
              <a:t>Cây logic mô phỏng đúng phòng ban công ty.</a:t>
            </a:r>
          </a:p>
          <a:p>
            <a:pPr>
              <a:spcBef>
                <a:spcPts val="200"/>
              </a:spcBef>
              <a:spcAft>
                <a:spcPts val="400"/>
              </a:spcAft>
            </a:pPr>
            <a:r>
              <a:rPr sz="850" b="1">
                <a:solidFill>
                  <a:srgbClr val="1E293B"/>
                </a:solidFill>
                <a:latin typeface="Segoe UI"/>
              </a:rPr>
              <a:t>• Khả năng mở rộng lớn: </a:t>
            </a:r>
            <a:r>
              <a:rPr sz="850" b="0">
                <a:solidFill>
                  <a:srgbClr val="1E293B"/>
                </a:solidFill>
                <a:latin typeface="Segoe UI"/>
              </a:rPr>
              <a:t>Hỗ trợ hàng triệu đối tượng mà tốc độ vẫn tối ưu.</a:t>
            </a:r>
          </a:p>
          <a:p>
            <a:pPr>
              <a:spcBef>
                <a:spcPts val="200"/>
              </a:spcBef>
              <a:spcAft>
                <a:spcPts val="400"/>
              </a:spcAft>
            </a:pPr>
            <a:r>
              <a:rPr sz="850" b="1">
                <a:solidFill>
                  <a:srgbClr val="1E293B"/>
                </a:solidFill>
                <a:latin typeface="Segoe UI"/>
              </a:rPr>
              <a:t>• Ranh giới rõ ràng: </a:t>
            </a:r>
            <a:r>
              <a:rPr sz="850" b="0">
                <a:solidFill>
                  <a:srgbClr val="1E293B"/>
                </a:solidFill>
                <a:latin typeface="Segoe UI"/>
              </a:rPr>
              <a:t>Dễ dàng phân định phạm vi quản lý giữa các chi nhánh.</a:t>
            </a:r>
          </a:p>
        </p:txBody>
      </p:sp>
      <p:sp>
        <p:nvSpPr>
          <p:cNvPr id="13" name="Rounded Rectangle 12"/>
          <p:cNvSpPr/>
          <p:nvPr/>
        </p:nvSpPr>
        <p:spPr>
          <a:xfrm>
            <a:off x="6181344" y="1325880"/>
            <a:ext cx="25420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81344" y="1325880"/>
            <a:ext cx="2542032"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3. Tra Cứu Toàn Cục</a:t>
            </a:r>
          </a:p>
        </p:txBody>
      </p:sp>
      <p:sp>
        <p:nvSpPr>
          <p:cNvPr id="15" name="TextBox 14"/>
          <p:cNvSpPr txBox="1"/>
          <p:nvPr/>
        </p:nvSpPr>
        <p:spPr>
          <a:xfrm>
            <a:off x="6291072" y="1719072"/>
            <a:ext cx="2322576" cy="1691640"/>
          </a:xfrm>
          <a:prstGeom prst="rect">
            <a:avLst/>
          </a:prstGeom>
          <a:noFill/>
        </p:spPr>
        <p:txBody>
          <a:bodyPr wrap="square" lIns="0" rIns="0" tIns="0" bIns="0">
            <a:spAutoFit/>
          </a:bodyPr>
          <a:lstStyle/>
          <a:p/>
          <a:p>
            <a:pPr>
              <a:spcBef>
                <a:spcPts val="200"/>
              </a:spcBef>
              <a:spcAft>
                <a:spcPts val="400"/>
              </a:spcAft>
            </a:pPr>
            <a:r>
              <a:rPr sz="850" b="1">
                <a:solidFill>
                  <a:srgbClr val="1E293B"/>
                </a:solidFill>
                <a:latin typeface="Segoe UI"/>
              </a:rPr>
              <a:t>• Chuẩn danh bạ LDAP: </a:t>
            </a:r>
            <a:r>
              <a:rPr sz="850" b="0">
                <a:solidFill>
                  <a:srgbClr val="1E293B"/>
                </a:solidFill>
                <a:latin typeface="Segoe UI"/>
              </a:rPr>
              <a:t>Lắng nghe qua cổng TCP 389 và TCP 636 (SSL).</a:t>
            </a:r>
          </a:p>
          <a:p>
            <a:pPr>
              <a:spcBef>
                <a:spcPts val="200"/>
              </a:spcBef>
              <a:spcAft>
                <a:spcPts val="400"/>
              </a:spcAft>
            </a:pPr>
            <a:r>
              <a:rPr sz="850" b="1">
                <a:solidFill>
                  <a:srgbClr val="1E293B"/>
                </a:solidFill>
                <a:latin typeface="Segoe UI"/>
              </a:rPr>
              <a:t>• Định vị tài nguyên: </a:t>
            </a:r>
            <a:r>
              <a:rPr sz="850" b="0">
                <a:solidFill>
                  <a:srgbClr val="1E293B"/>
                </a:solidFill>
                <a:latin typeface="Segoe UI"/>
              </a:rPr>
              <a:t>Tìm kiếm máy in, thư mục chia sẻ theo thuộc tính.</a:t>
            </a:r>
          </a:p>
          <a:p>
            <a:pPr>
              <a:spcBef>
                <a:spcPts val="200"/>
              </a:spcBef>
              <a:spcAft>
                <a:spcPts val="400"/>
              </a:spcAft>
            </a:pPr>
            <a:r>
              <a:rPr sz="850" b="1">
                <a:solidFill>
                  <a:srgbClr val="1E293B"/>
                </a:solidFill>
                <a:latin typeface="Segoe UI"/>
              </a:rPr>
              <a:t>• Danh mục Global Catalog: </a:t>
            </a:r>
            <a:r>
              <a:rPr sz="850" b="0">
                <a:solidFill>
                  <a:srgbClr val="1E293B"/>
                </a:solidFill>
                <a:latin typeface="Segoe UI"/>
              </a:rPr>
              <a:t>Tìm kiếm toàn Forest trong thời gian mili-giây.</a:t>
            </a:r>
          </a:p>
        </p:txBody>
      </p:sp>
      <p:sp>
        <p:nvSpPr>
          <p:cNvPr id="16" name="Rounded Rectangle 15"/>
          <p:cNvSpPr/>
          <p:nvPr/>
        </p:nvSpPr>
        <p:spPr>
          <a:xfrm>
            <a:off x="8906256" y="1325880"/>
            <a:ext cx="25420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06256" y="1325880"/>
            <a:ext cx="2542032" cy="347472"/>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4. Bảo Mật &amp; Phân Quyền</a:t>
            </a:r>
          </a:p>
        </p:txBody>
      </p:sp>
      <p:sp>
        <p:nvSpPr>
          <p:cNvPr id="18" name="TextBox 17"/>
          <p:cNvSpPr txBox="1"/>
          <p:nvPr/>
        </p:nvSpPr>
        <p:spPr>
          <a:xfrm>
            <a:off x="9015984" y="1719072"/>
            <a:ext cx="2322576" cy="1691640"/>
          </a:xfrm>
          <a:prstGeom prst="rect">
            <a:avLst/>
          </a:prstGeom>
          <a:noFill/>
        </p:spPr>
        <p:txBody>
          <a:bodyPr wrap="square" lIns="0" rIns="0" tIns="0" bIns="0">
            <a:spAutoFit/>
          </a:bodyPr>
          <a:lstStyle/>
          <a:p/>
          <a:p>
            <a:pPr>
              <a:spcBef>
                <a:spcPts val="200"/>
              </a:spcBef>
              <a:spcAft>
                <a:spcPts val="400"/>
              </a:spcAft>
            </a:pPr>
            <a:r>
              <a:rPr sz="850" b="1">
                <a:solidFill>
                  <a:srgbClr val="1E293B"/>
                </a:solidFill>
                <a:latin typeface="Segoe UI"/>
              </a:rPr>
              <a:t>• Kiểm soát truy cập ACL: </a:t>
            </a:r>
            <a:r>
              <a:rPr sz="850" b="0">
                <a:solidFill>
                  <a:srgbClr val="1E293B"/>
                </a:solidFill>
                <a:latin typeface="Segoe UI"/>
              </a:rPr>
              <a:t>Mỗi đối tượng đều có Access Control List chi tiết.</a:t>
            </a:r>
          </a:p>
          <a:p>
            <a:pPr>
              <a:spcBef>
                <a:spcPts val="200"/>
              </a:spcBef>
              <a:spcAft>
                <a:spcPts val="400"/>
              </a:spcAft>
            </a:pPr>
            <a:r>
              <a:rPr sz="850" b="1">
                <a:solidFill>
                  <a:srgbClr val="1E293B"/>
                </a:solidFill>
                <a:latin typeface="Segoe UI"/>
              </a:rPr>
              <a:t>• Mã an ninh duy nhất SID: </a:t>
            </a:r>
            <a:r>
              <a:rPr sz="850" b="0">
                <a:solidFill>
                  <a:srgbClr val="1E293B"/>
                </a:solidFill>
                <a:latin typeface="Segoe UI"/>
              </a:rPr>
              <a:t>Định danh bảo mật bất biến, chống giả mạo quyền.</a:t>
            </a:r>
          </a:p>
          <a:p>
            <a:pPr>
              <a:spcBef>
                <a:spcPts val="200"/>
              </a:spcBef>
              <a:spcAft>
                <a:spcPts val="400"/>
              </a:spcAft>
            </a:pPr>
            <a:r>
              <a:rPr sz="850" b="1">
                <a:solidFill>
                  <a:srgbClr val="1E293B"/>
                </a:solidFill>
                <a:latin typeface="Segoe UI"/>
              </a:rPr>
              <a:t>• Xác thực Kerberos v5: </a:t>
            </a:r>
            <a:r>
              <a:rPr sz="850" b="0">
                <a:solidFill>
                  <a:srgbClr val="1E293B"/>
                </a:solidFill>
                <a:latin typeface="Segoe UI"/>
              </a:rPr>
              <a:t>Mã hóa vé an toàn tuyệt đối qua mạng LAN/WAN.</a:t>
            </a:r>
          </a:p>
        </p:txBody>
      </p:sp>
      <p:sp>
        <p:nvSpPr>
          <p:cNvPr id="19" name="TextBox 18"/>
          <p:cNvSpPr txBox="1"/>
          <p:nvPr/>
        </p:nvSpPr>
        <p:spPr>
          <a:xfrm>
            <a:off x="731520" y="3584448"/>
            <a:ext cx="10728655" cy="292608"/>
          </a:xfrm>
          <a:prstGeom prst="rect">
            <a:avLst/>
          </a:prstGeom>
          <a:noFill/>
        </p:spPr>
        <p:txBody>
          <a:bodyPr wrap="none">
            <a:spAutoFit/>
          </a:bodyPr>
          <a:lstStyle/>
          <a:p>
            <a:pPr>
              <a:defRPr sz="1050" b="1">
                <a:solidFill>
                  <a:srgbClr val="003366"/>
                </a:solidFill>
                <a:latin typeface="Segoe UI"/>
              </a:defRPr>
            </a:pPr>
            <a:r>
              <a:t>[MỤC ĐÍCH CHIẾN LƯỢC] 4 LỢI ÍCH SỐNG CÒN KHI DOANH NGHIỆP ÁP DỤNG ACTIVE DIRECTORY:</a:t>
            </a:r>
          </a:p>
        </p:txBody>
      </p:sp>
      <p:sp>
        <p:nvSpPr>
          <p:cNvPr id="20" name="Rounded Rectangle 19"/>
          <p:cNvSpPr/>
          <p:nvPr/>
        </p:nvSpPr>
        <p:spPr>
          <a:xfrm>
            <a:off x="731520" y="3931920"/>
            <a:ext cx="2542032" cy="224028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 y="3931920"/>
            <a:ext cx="2542032" cy="347472"/>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1. Single Sign-On (SSO)</a:t>
            </a:r>
          </a:p>
        </p:txBody>
      </p:sp>
      <p:sp>
        <p:nvSpPr>
          <p:cNvPr id="22" name="TextBox 21"/>
          <p:cNvSpPr txBox="1"/>
          <p:nvPr/>
        </p:nvSpPr>
        <p:spPr>
          <a:xfrm>
            <a:off x="841248" y="4315968"/>
            <a:ext cx="2322576" cy="1783080"/>
          </a:xfrm>
          <a:prstGeom prst="rect">
            <a:avLst/>
          </a:prstGeom>
          <a:noFill/>
        </p:spPr>
        <p:txBody>
          <a:bodyPr wrap="square" lIns="0" rIns="0" tIns="0" bIns="0">
            <a:spAutoFit/>
          </a:bodyPr>
          <a:lstStyle/>
          <a:p/>
          <a:p>
            <a:pPr>
              <a:spcBef>
                <a:spcPts val="200"/>
              </a:spcBef>
              <a:spcAft>
                <a:spcPts val="400"/>
              </a:spcAft>
            </a:pPr>
            <a:r>
              <a:rPr sz="850" b="1">
                <a:solidFill>
                  <a:srgbClr val="1E293B"/>
                </a:solidFill>
                <a:latin typeface="Segoe UI"/>
              </a:rPr>
              <a:t>• Trải nghiệm liền mạch: </a:t>
            </a:r>
            <a:r>
              <a:rPr sz="850" b="0">
                <a:solidFill>
                  <a:srgbClr val="1E293B"/>
                </a:solidFill>
                <a:latin typeface="Segoe UI"/>
              </a:rPr>
              <a:t>Nhân viên chỉ nhớ 1 tài khoản duy nhất để mở email, đăng nhập máy tính và web nội bộ.</a:t>
            </a:r>
          </a:p>
          <a:p>
            <a:pPr>
              <a:spcBef>
                <a:spcPts val="200"/>
              </a:spcBef>
              <a:spcAft>
                <a:spcPts val="400"/>
              </a:spcAft>
            </a:pPr>
            <a:r>
              <a:rPr sz="850" b="1">
                <a:solidFill>
                  <a:srgbClr val="1E293B"/>
                </a:solidFill>
                <a:latin typeface="Segoe UI"/>
              </a:rPr>
              <a:t>• Giảm tải Helpdesk: </a:t>
            </a:r>
            <a:r>
              <a:rPr sz="850" b="0">
                <a:solidFill>
                  <a:srgbClr val="1E293B"/>
                </a:solidFill>
                <a:latin typeface="Segoe UI"/>
              </a:rPr>
              <a:t>Giảm 70% số lượng yêu cầu hỗ trợ quên mật khẩu.</a:t>
            </a:r>
          </a:p>
        </p:txBody>
      </p:sp>
      <p:sp>
        <p:nvSpPr>
          <p:cNvPr id="23" name="Rounded Rectangle 22"/>
          <p:cNvSpPr/>
          <p:nvPr/>
        </p:nvSpPr>
        <p:spPr>
          <a:xfrm>
            <a:off x="3456432" y="3931920"/>
            <a:ext cx="2542032" cy="2240280"/>
          </a:xfrm>
          <a:prstGeom prst="roundRect">
            <a:avLst/>
          </a:prstGeom>
          <a:solidFill>
            <a:srgbClr val="EFF6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456432" y="3931920"/>
            <a:ext cx="2542032"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2. Group Policy (GPO)</a:t>
            </a:r>
          </a:p>
        </p:txBody>
      </p:sp>
      <p:sp>
        <p:nvSpPr>
          <p:cNvPr id="25" name="TextBox 24"/>
          <p:cNvSpPr txBox="1"/>
          <p:nvPr/>
        </p:nvSpPr>
        <p:spPr>
          <a:xfrm>
            <a:off x="3566160" y="4315968"/>
            <a:ext cx="2322576" cy="1783080"/>
          </a:xfrm>
          <a:prstGeom prst="rect">
            <a:avLst/>
          </a:prstGeom>
          <a:noFill/>
        </p:spPr>
        <p:txBody>
          <a:bodyPr wrap="square" lIns="0" rIns="0" tIns="0" bIns="0">
            <a:spAutoFit/>
          </a:bodyPr>
          <a:lstStyle/>
          <a:p/>
          <a:p>
            <a:pPr>
              <a:spcBef>
                <a:spcPts val="200"/>
              </a:spcBef>
              <a:spcAft>
                <a:spcPts val="400"/>
              </a:spcAft>
            </a:pPr>
            <a:r>
              <a:rPr sz="850" b="1">
                <a:solidFill>
                  <a:srgbClr val="1E293B"/>
                </a:solidFill>
                <a:latin typeface="Segoe UI"/>
              </a:rPr>
              <a:t>• Khóa cổng USB an toàn: </a:t>
            </a:r>
            <a:r>
              <a:rPr sz="850" b="0">
                <a:solidFill>
                  <a:srgbClr val="1E293B"/>
                </a:solidFill>
                <a:latin typeface="Segoe UI"/>
              </a:rPr>
              <a:t>Ngăn chặn sao chép dữ liệu nội bộ trái phép.</a:t>
            </a:r>
          </a:p>
          <a:p>
            <a:pPr>
              <a:spcBef>
                <a:spcPts val="200"/>
              </a:spcBef>
              <a:spcAft>
                <a:spcPts val="400"/>
              </a:spcAft>
            </a:pPr>
            <a:r>
              <a:rPr sz="850" b="1">
                <a:solidFill>
                  <a:srgbClr val="1E293B"/>
                </a:solidFill>
                <a:latin typeface="Segoe UI"/>
              </a:rPr>
              <a:t>• Tự động hóa hoàn toàn: </a:t>
            </a:r>
            <a:r>
              <a:rPr sz="850" b="0">
                <a:solidFill>
                  <a:srgbClr val="1E293B"/>
                </a:solidFill>
                <a:latin typeface="Segoe UI"/>
              </a:rPr>
              <a:t>Đồng bộ hình nền thương hiệu, cài phần mềm diệt virus đồng loạt với 1 click.</a:t>
            </a:r>
          </a:p>
        </p:txBody>
      </p:sp>
      <p:sp>
        <p:nvSpPr>
          <p:cNvPr id="26" name="Rounded Rectangle 25"/>
          <p:cNvSpPr/>
          <p:nvPr/>
        </p:nvSpPr>
        <p:spPr>
          <a:xfrm>
            <a:off x="6181344" y="3931920"/>
            <a:ext cx="2542032" cy="2240280"/>
          </a:xfrm>
          <a:prstGeom prst="roundRect">
            <a:avLst/>
          </a:prstGeom>
          <a:solidFill>
            <a:srgbClr val="ECFE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181344" y="3931920"/>
            <a:ext cx="2542032" cy="347472"/>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3. Ủy Quyền Quản Trị</a:t>
            </a:r>
          </a:p>
        </p:txBody>
      </p:sp>
      <p:sp>
        <p:nvSpPr>
          <p:cNvPr id="28" name="TextBox 27"/>
          <p:cNvSpPr txBox="1"/>
          <p:nvPr/>
        </p:nvSpPr>
        <p:spPr>
          <a:xfrm>
            <a:off x="6291072" y="4315968"/>
            <a:ext cx="2322576" cy="1783080"/>
          </a:xfrm>
          <a:prstGeom prst="rect">
            <a:avLst/>
          </a:prstGeom>
          <a:noFill/>
        </p:spPr>
        <p:txBody>
          <a:bodyPr wrap="square" lIns="0" rIns="0" tIns="0" bIns="0">
            <a:spAutoFit/>
          </a:bodyPr>
          <a:lstStyle/>
          <a:p/>
          <a:p>
            <a:pPr>
              <a:spcBef>
                <a:spcPts val="200"/>
              </a:spcBef>
              <a:spcAft>
                <a:spcPts val="400"/>
              </a:spcAft>
            </a:pPr>
            <a:r>
              <a:rPr sz="850" b="1">
                <a:solidFill>
                  <a:srgbClr val="1E293B"/>
                </a:solidFill>
                <a:latin typeface="Segoe UI"/>
              </a:rPr>
              <a:t>• Phân quyền linh hoạt: </a:t>
            </a:r>
            <a:r>
              <a:rPr sz="850" b="0">
                <a:solidFill>
                  <a:srgbClr val="1E293B"/>
                </a:solidFill>
                <a:latin typeface="Segoe UI"/>
              </a:rPr>
              <a:t>Cấp quyền reset mật khẩu cho IT Helpdesk từng phòng ban OU cụ thể.</a:t>
            </a:r>
          </a:p>
          <a:p>
            <a:pPr>
              <a:spcBef>
                <a:spcPts val="200"/>
              </a:spcBef>
              <a:spcAft>
                <a:spcPts val="400"/>
              </a:spcAft>
            </a:pPr>
            <a:r>
              <a:rPr sz="850" b="1">
                <a:solidFill>
                  <a:srgbClr val="1E293B"/>
                </a:solidFill>
                <a:latin typeface="Segoe UI"/>
              </a:rPr>
              <a:t>• Bảo vệ quyền tối cao: </a:t>
            </a:r>
            <a:r>
              <a:rPr sz="850" b="0">
                <a:solidFill>
                  <a:srgbClr val="1E293B"/>
                </a:solidFill>
                <a:latin typeface="Segoe UI"/>
              </a:rPr>
              <a:t>Hoàn toàn không để lộ mật khẩu quản trị cấp cao Enterprise Admins.</a:t>
            </a:r>
          </a:p>
        </p:txBody>
      </p:sp>
      <p:sp>
        <p:nvSpPr>
          <p:cNvPr id="29" name="Rounded Rectangle 28"/>
          <p:cNvSpPr/>
          <p:nvPr/>
        </p:nvSpPr>
        <p:spPr>
          <a:xfrm>
            <a:off x="8906256" y="3931920"/>
            <a:ext cx="2542032" cy="2240280"/>
          </a:xfrm>
          <a:prstGeom prst="roundRect">
            <a:avLst/>
          </a:prstGeom>
          <a:solidFill>
            <a:srgbClr val="FEF9C3"/>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906256" y="3931920"/>
            <a:ext cx="2542032" cy="34747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4. Chịu Lỗi (Fault Tolerance)</a:t>
            </a:r>
          </a:p>
        </p:txBody>
      </p:sp>
      <p:sp>
        <p:nvSpPr>
          <p:cNvPr id="31" name="TextBox 30"/>
          <p:cNvSpPr txBox="1"/>
          <p:nvPr/>
        </p:nvSpPr>
        <p:spPr>
          <a:xfrm>
            <a:off x="9015984" y="4315968"/>
            <a:ext cx="2322576" cy="1783080"/>
          </a:xfrm>
          <a:prstGeom prst="rect">
            <a:avLst/>
          </a:prstGeom>
          <a:noFill/>
        </p:spPr>
        <p:txBody>
          <a:bodyPr wrap="square" lIns="0" rIns="0" tIns="0" bIns="0">
            <a:spAutoFit/>
          </a:bodyPr>
          <a:lstStyle/>
          <a:p/>
          <a:p>
            <a:pPr>
              <a:spcBef>
                <a:spcPts val="200"/>
              </a:spcBef>
              <a:spcAft>
                <a:spcPts val="400"/>
              </a:spcAft>
            </a:pPr>
            <a:r>
              <a:rPr sz="850" b="1">
                <a:solidFill>
                  <a:srgbClr val="1E293B"/>
                </a:solidFill>
                <a:latin typeface="Segoe UI"/>
              </a:rPr>
              <a:t>• Dự phòng Multi-Master: </a:t>
            </a:r>
            <a:r>
              <a:rPr sz="850" b="0">
                <a:solidFill>
                  <a:srgbClr val="1E293B"/>
                </a:solidFill>
                <a:latin typeface="Segoe UI"/>
              </a:rPr>
              <a:t>Triển khai nhiều DC chạy song song, dữ liệu tự động đồng bộ.</a:t>
            </a:r>
          </a:p>
          <a:p>
            <a:pPr>
              <a:spcBef>
                <a:spcPts val="200"/>
              </a:spcBef>
              <a:spcAft>
                <a:spcPts val="400"/>
              </a:spcAft>
            </a:pPr>
            <a:r>
              <a:rPr sz="850" b="1">
                <a:solidFill>
                  <a:srgbClr val="1E293B"/>
                </a:solidFill>
                <a:latin typeface="Segoe UI"/>
              </a:rPr>
              <a:t>• Vận hành liên tục 24/7: </a:t>
            </a:r>
            <a:r>
              <a:rPr sz="850" b="0">
                <a:solidFill>
                  <a:srgbClr val="1E293B"/>
                </a:solidFill>
                <a:latin typeface="Segoe UI"/>
              </a:rPr>
              <a:t>Khi 1 máy chủ bảo trì, toàn hệ thống vẫn vận hành bình thường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2 • KIẾN TRÚC VÀ CƠ CHẾ HOẠT ĐỘNG</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Cấu Trúc Logic: Phân Tầng Đối Tượng, OU, Domain Và Rừng Miền</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06 / 16</a:t>
            </a:r>
          </a:p>
        </p:txBody>
      </p:sp>
      <p:sp>
        <p:nvSpPr>
          <p:cNvPr id="7" name="Rounded Rectangle 6"/>
          <p:cNvSpPr/>
          <p:nvPr/>
        </p:nvSpPr>
        <p:spPr>
          <a:xfrm>
            <a:off x="731520" y="1353312"/>
            <a:ext cx="4389120" cy="4892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44752"/>
            <a:ext cx="4114800" cy="256032"/>
          </a:xfrm>
          <a:prstGeom prst="rect">
            <a:avLst/>
          </a:prstGeom>
          <a:noFill/>
        </p:spPr>
        <p:txBody>
          <a:bodyPr wrap="none">
            <a:spAutoFit/>
          </a:bodyPr>
          <a:lstStyle/>
          <a:p>
            <a:pPr algn="ctr">
              <a:defRPr sz="1100" b="1">
                <a:solidFill>
                  <a:srgbClr val="003366"/>
                </a:solidFill>
                <a:latin typeface="Segoe UI"/>
              </a:defRPr>
            </a:pPr>
            <a:r>
              <a:t>SƠ ĐỒ PHÂN CẤP LOGIC (HIERARCHY)</a:t>
            </a:r>
          </a:p>
        </p:txBody>
      </p:sp>
      <p:sp>
        <p:nvSpPr>
          <p:cNvPr id="9" name="Rounded Rectangle 8"/>
          <p:cNvSpPr/>
          <p:nvPr/>
        </p:nvSpPr>
        <p:spPr>
          <a:xfrm>
            <a:off x="914400" y="1783080"/>
            <a:ext cx="4023360" cy="621792"/>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FOREST (RỪNG MIỀN)</a:t>
            </a:r>
          </a:p>
          <a:p>
            <a:pPr algn="ctr">
              <a:defRPr sz="800">
                <a:solidFill>
                  <a:srgbClr val="E2E8F0"/>
                </a:solidFill>
                <a:latin typeface="Segoe UI"/>
              </a:defRPr>
            </a:pPr>
            <a:r>
              <a:t>Ranh giới an ninh tối cao • Chung Schema &amp; GC</a:t>
            </a:r>
          </a:p>
        </p:txBody>
      </p:sp>
      <p:sp>
        <p:nvSpPr>
          <p:cNvPr id="10" name="Down Arrow 9"/>
          <p:cNvSpPr/>
          <p:nvPr/>
        </p:nvSpPr>
        <p:spPr>
          <a:xfrm>
            <a:off x="2816352" y="2441448"/>
            <a:ext cx="219456" cy="219456"/>
          </a:xfrm>
          <a:prstGeom prst="down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51560" y="2697480"/>
            <a:ext cx="3749039" cy="62179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DOMAIN TREE (CÂY MIỀN)</a:t>
            </a:r>
          </a:p>
          <a:p>
            <a:pPr algn="ctr">
              <a:defRPr sz="800">
                <a:solidFill>
                  <a:srgbClr val="E2E8F0"/>
                </a:solidFill>
                <a:latin typeface="Segoe UI"/>
              </a:defRPr>
            </a:pPr>
            <a:r>
              <a:t>Không gian tên liên tục (iuh.edu.vn, cntt.iuh.edu.vn)</a:t>
            </a:r>
          </a:p>
        </p:txBody>
      </p:sp>
      <p:sp>
        <p:nvSpPr>
          <p:cNvPr id="12" name="Down Arrow 11"/>
          <p:cNvSpPr/>
          <p:nvPr/>
        </p:nvSpPr>
        <p:spPr>
          <a:xfrm>
            <a:off x="2816352" y="3355848"/>
            <a:ext cx="219456" cy="219456"/>
          </a:xfrm>
          <a:prstGeom prst="down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88720" y="3611880"/>
            <a:ext cx="3474720" cy="621792"/>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DOMAIN (MIỀN QUẢN TRỊ)</a:t>
            </a:r>
          </a:p>
          <a:p>
            <a:pPr algn="ctr">
              <a:defRPr sz="800">
                <a:solidFill>
                  <a:srgbClr val="E2E8F0"/>
                </a:solidFill>
                <a:latin typeface="Segoe UI"/>
              </a:defRPr>
            </a:pPr>
            <a:r>
              <a:t>Chia sẻ chung CSDL ntds.dit &amp; 1 chính sách an ninh (nhom1.vn)</a:t>
            </a:r>
          </a:p>
        </p:txBody>
      </p:sp>
      <p:sp>
        <p:nvSpPr>
          <p:cNvPr id="14" name="Down Arrow 13"/>
          <p:cNvSpPr/>
          <p:nvPr/>
        </p:nvSpPr>
        <p:spPr>
          <a:xfrm>
            <a:off x="2816352" y="4270248"/>
            <a:ext cx="219456" cy="219456"/>
          </a:xfrm>
          <a:prstGeom prst="down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325880" y="4526280"/>
            <a:ext cx="3200400" cy="62179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ORGANIZATIONAL UNIT (OU)</a:t>
            </a:r>
          </a:p>
          <a:p>
            <a:pPr algn="ctr">
              <a:defRPr sz="800">
                <a:solidFill>
                  <a:srgbClr val="E2E8F0"/>
                </a:solidFill>
                <a:latin typeface="Segoe UI"/>
              </a:defRPr>
            </a:pPr>
            <a:r>
              <a:t>Thùng chứa logic (OU Kế Toán, OU CNTT) • Gắn GPO</a:t>
            </a:r>
          </a:p>
        </p:txBody>
      </p:sp>
      <p:sp>
        <p:nvSpPr>
          <p:cNvPr id="16" name="Down Arrow 15"/>
          <p:cNvSpPr/>
          <p:nvPr/>
        </p:nvSpPr>
        <p:spPr>
          <a:xfrm>
            <a:off x="2816352" y="5184648"/>
            <a:ext cx="219456" cy="219456"/>
          </a:xfrm>
          <a:prstGeom prst="down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63040" y="5440680"/>
            <a:ext cx="2926080" cy="621792"/>
          </a:xfrm>
          <a:prstGeom prst="round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OBJECTS (ĐỐI TƯỢNG)</a:t>
            </a:r>
          </a:p>
          <a:p>
            <a:pPr algn="ctr">
              <a:defRPr sz="800">
                <a:solidFill>
                  <a:srgbClr val="E2E8F0"/>
                </a:solidFill>
                <a:latin typeface="Segoe UI"/>
              </a:defRPr>
            </a:pPr>
            <a:r>
              <a:t>User, Computer, Group, Printer • Đơn vị nhỏ nhất</a:t>
            </a:r>
          </a:p>
        </p:txBody>
      </p:sp>
      <p:sp>
        <p:nvSpPr>
          <p:cNvPr id="18" name="Rounded Rectangle 17"/>
          <p:cNvSpPr/>
          <p:nvPr/>
        </p:nvSpPr>
        <p:spPr>
          <a:xfrm>
            <a:off x="5376672" y="1353312"/>
            <a:ext cx="608076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376672" y="1353312"/>
            <a:ext cx="6080760"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1. OBJECTS &amp; ORGANIZATIONAL UNIT (OU)</a:t>
            </a:r>
          </a:p>
        </p:txBody>
      </p:sp>
      <p:sp>
        <p:nvSpPr>
          <p:cNvPr id="20" name="TextBox 19"/>
          <p:cNvSpPr txBox="1"/>
          <p:nvPr/>
        </p:nvSpPr>
        <p:spPr>
          <a:xfrm>
            <a:off x="5541264" y="1737360"/>
            <a:ext cx="5751576" cy="1097280"/>
          </a:xfrm>
          <a:prstGeom prst="rect">
            <a:avLst/>
          </a:prstGeom>
          <a:noFill/>
        </p:spPr>
        <p:txBody>
          <a:bodyPr wrap="square" lIns="0" rIns="0" tIns="0" bIns="0">
            <a:spAutoFit/>
          </a:bodyPr>
          <a:lstStyle/>
          <a:p/>
          <a:p>
            <a:pPr>
              <a:spcBef>
                <a:spcPts val="200"/>
              </a:spcBef>
              <a:spcAft>
                <a:spcPts val="400"/>
              </a:spcAft>
            </a:pPr>
            <a:r>
              <a:rPr sz="900" b="1">
                <a:solidFill>
                  <a:srgbClr val="1E293B"/>
                </a:solidFill>
                <a:latin typeface="Segoe UI"/>
              </a:rPr>
              <a:t>• Thực thể cụ thể: </a:t>
            </a:r>
            <a:r>
              <a:rPr sz="900" b="0">
                <a:solidFill>
                  <a:srgbClr val="1E293B"/>
                </a:solidFill>
                <a:latin typeface="Segoe UI"/>
              </a:rPr>
              <a:t>User (người dùng), Computer (máy trạm), Group, Printer. Mỗi đối tượng gắn GUID toàn cầu và mã an ninh SID.</a:t>
            </a:r>
          </a:p>
          <a:p>
            <a:pPr>
              <a:spcBef>
                <a:spcPts val="200"/>
              </a:spcBef>
              <a:spcAft>
                <a:spcPts val="400"/>
              </a:spcAft>
            </a:pPr>
            <a:r>
              <a:rPr sz="900" b="1">
                <a:solidFill>
                  <a:srgbClr val="1E293B"/>
                </a:solidFill>
                <a:latin typeface="Segoe UI"/>
              </a:rPr>
              <a:t>• Đơn vị tổ chức OU: </a:t>
            </a:r>
            <a:r>
              <a:rPr sz="900" b="0">
                <a:solidFill>
                  <a:srgbClr val="1E293B"/>
                </a:solidFill>
                <a:latin typeface="Segoe UI"/>
              </a:rPr>
              <a:t>Là container mô phỏng sơ đồ phòng ban công ty (OU KHOA-CNTT). Cấp độ duy nhất cho phép liên kết Group Policy (GPO) và ủy quyền quản trị.</a:t>
            </a:r>
          </a:p>
        </p:txBody>
      </p:sp>
      <p:sp>
        <p:nvSpPr>
          <p:cNvPr id="21" name="Rounded Rectangle 20"/>
          <p:cNvSpPr/>
          <p:nvPr/>
        </p:nvSpPr>
        <p:spPr>
          <a:xfrm>
            <a:off x="5376672" y="3026664"/>
            <a:ext cx="608076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376672" y="3026664"/>
            <a:ext cx="6080760" cy="347472"/>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2. DOMAIN &amp; CÂY MIỀN (DOMAIN TREE)</a:t>
            </a:r>
          </a:p>
        </p:txBody>
      </p:sp>
      <p:sp>
        <p:nvSpPr>
          <p:cNvPr id="23" name="TextBox 22"/>
          <p:cNvSpPr txBox="1"/>
          <p:nvPr/>
        </p:nvSpPr>
        <p:spPr>
          <a:xfrm>
            <a:off x="5541264" y="3410712"/>
            <a:ext cx="5751576" cy="1097280"/>
          </a:xfrm>
          <a:prstGeom prst="rect">
            <a:avLst/>
          </a:prstGeom>
          <a:noFill/>
        </p:spPr>
        <p:txBody>
          <a:bodyPr wrap="square" lIns="0" rIns="0" tIns="0" bIns="0">
            <a:spAutoFit/>
          </a:bodyPr>
          <a:lstStyle/>
          <a:p/>
          <a:p>
            <a:pPr>
              <a:spcBef>
                <a:spcPts val="200"/>
              </a:spcBef>
              <a:spcAft>
                <a:spcPts val="400"/>
              </a:spcAft>
            </a:pPr>
            <a:r>
              <a:rPr sz="900" b="1">
                <a:solidFill>
                  <a:srgbClr val="1E293B"/>
                </a:solidFill>
                <a:latin typeface="Segoe UI"/>
              </a:rPr>
              <a:t>• Ranh giới quản trị: </a:t>
            </a:r>
            <a:r>
              <a:rPr sz="900" b="0">
                <a:solidFill>
                  <a:srgbClr val="1E293B"/>
                </a:solidFill>
                <a:latin typeface="Segoe UI"/>
              </a:rPr>
              <a:t>Mọi tài khoản trong cùng Domain chia sẻ chung 1 cơ sở dữ liệu ntds.dit và 1 chính sách an ninh mật khẩu thống nhất.</a:t>
            </a:r>
          </a:p>
          <a:p>
            <a:pPr>
              <a:spcBef>
                <a:spcPts val="200"/>
              </a:spcBef>
              <a:spcAft>
                <a:spcPts val="400"/>
              </a:spcAft>
            </a:pPr>
            <a:r>
              <a:rPr sz="900" b="1">
                <a:solidFill>
                  <a:srgbClr val="1E293B"/>
                </a:solidFill>
                <a:latin typeface="Segoe UI"/>
              </a:rPr>
              <a:t>• Domain Tree: </a:t>
            </a:r>
            <a:r>
              <a:rPr sz="900" b="0">
                <a:solidFill>
                  <a:srgbClr val="1E293B"/>
                </a:solidFill>
                <a:latin typeface="Segoe UI"/>
              </a:rPr>
              <a:t>Tập hợp các domain có không gian tên liên tục (contiguous namespace). Ví dụ: cntt.iuh.edu.vn là subdomain của iuh.edu.vn.</a:t>
            </a:r>
          </a:p>
        </p:txBody>
      </p:sp>
      <p:sp>
        <p:nvSpPr>
          <p:cNvPr id="24" name="Rounded Rectangle 23"/>
          <p:cNvSpPr/>
          <p:nvPr/>
        </p:nvSpPr>
        <p:spPr>
          <a:xfrm>
            <a:off x="5376672" y="4700016"/>
            <a:ext cx="608076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376672" y="4700016"/>
            <a:ext cx="6080760" cy="34747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3. FOREST (RỪNG MIỀN) &amp; QUAN HỆ ỦY THÁC</a:t>
            </a:r>
          </a:p>
        </p:txBody>
      </p:sp>
      <p:sp>
        <p:nvSpPr>
          <p:cNvPr id="26" name="TextBox 25"/>
          <p:cNvSpPr txBox="1"/>
          <p:nvPr/>
        </p:nvSpPr>
        <p:spPr>
          <a:xfrm>
            <a:off x="5541264" y="5084064"/>
            <a:ext cx="5751576" cy="1097280"/>
          </a:xfrm>
          <a:prstGeom prst="rect">
            <a:avLst/>
          </a:prstGeom>
          <a:noFill/>
        </p:spPr>
        <p:txBody>
          <a:bodyPr wrap="square" lIns="0" rIns="0" tIns="0" bIns="0">
            <a:spAutoFit/>
          </a:bodyPr>
          <a:lstStyle/>
          <a:p/>
          <a:p>
            <a:pPr>
              <a:spcBef>
                <a:spcPts val="200"/>
              </a:spcBef>
              <a:spcAft>
                <a:spcPts val="400"/>
              </a:spcAft>
            </a:pPr>
            <a:r>
              <a:rPr sz="900" b="1">
                <a:solidFill>
                  <a:srgbClr val="1E293B"/>
                </a:solidFill>
                <a:latin typeface="Segoe UI"/>
              </a:rPr>
              <a:t>• Ranh giới an ninh tối cao: </a:t>
            </a:r>
            <a:r>
              <a:rPr sz="900" b="0">
                <a:solidFill>
                  <a:srgbClr val="1E293B"/>
                </a:solidFill>
                <a:latin typeface="Segoe UI"/>
              </a:rPr>
              <a:t>Tập hợp một hoặc nhiều Tree có thể khác nhau về tên miền nhưng chia sẻ chung Schema, Cấu hình và Global Catalog.</a:t>
            </a:r>
          </a:p>
          <a:p>
            <a:pPr>
              <a:spcBef>
                <a:spcPts val="200"/>
              </a:spcBef>
              <a:spcAft>
                <a:spcPts val="400"/>
              </a:spcAft>
            </a:pPr>
            <a:r>
              <a:rPr sz="900" b="1">
                <a:solidFill>
                  <a:srgbClr val="1E293B"/>
                </a:solidFill>
                <a:latin typeface="Segoe UI"/>
              </a:rPr>
              <a:t>• Quan hệ ủy thác (Trust): </a:t>
            </a:r>
            <a:r>
              <a:rPr sz="900" b="0">
                <a:solidFill>
                  <a:srgbClr val="1E293B"/>
                </a:solidFill>
                <a:latin typeface="Segoe UI"/>
              </a:rPr>
              <a:t>Tự động tạo lập quan hệ tin cậy 2 chiều truyền tiếp (Two-way Transitive Trust) giữa mọi domain trong cùng Forest.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2 • KIẾN TRÚC VÀ CƠ CHẾ HOẠT ĐỘNG</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Cấu Trúc Vật Lý: Máy Chủ Domain Controller, Sites Và Tối Ưu Mạng</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07 / 16</a:t>
            </a:r>
          </a:p>
        </p:txBody>
      </p:sp>
      <p:sp>
        <p:nvSpPr>
          <p:cNvPr id="7" name="Rounded Rectangle 6"/>
          <p:cNvSpPr/>
          <p:nvPr/>
        </p:nvSpPr>
        <p:spPr>
          <a:xfrm>
            <a:off x="731520" y="1353312"/>
            <a:ext cx="4937760" cy="4892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53312"/>
            <a:ext cx="4937760" cy="384048"/>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Segoe UI"/>
              </a:defRPr>
            </a:pPr>
            <a:r>
              <a:t>1. MÁY CHỦ DOMAIN CONTROLLER (DC) &amp; CSDL NTDS</a:t>
            </a:r>
          </a:p>
        </p:txBody>
      </p:sp>
      <p:sp>
        <p:nvSpPr>
          <p:cNvPr id="9" name="TextBox 8"/>
          <p:cNvSpPr txBox="1"/>
          <p:nvPr/>
        </p:nvSpPr>
        <p:spPr>
          <a:xfrm>
            <a:off x="914400" y="1828800"/>
            <a:ext cx="4572000" cy="4297680"/>
          </a:xfrm>
          <a:prstGeom prst="rect">
            <a:avLst/>
          </a:prstGeom>
          <a:noFill/>
        </p:spPr>
        <p:txBody>
          <a:bodyPr wrap="square" lIns="0" rIns="0" tIns="0" bIns="0">
            <a:spAutoFit/>
          </a:bodyPr>
          <a:lstStyle/>
          <a:p/>
          <a:p>
            <a:pPr>
              <a:spcBef>
                <a:spcPts val="200"/>
              </a:spcBef>
              <a:spcAft>
                <a:spcPts val="400"/>
              </a:spcAft>
            </a:pPr>
            <a:r>
              <a:rPr sz="950" b="1">
                <a:solidFill>
                  <a:srgbClr val="1E293B"/>
                </a:solidFill>
                <a:latin typeface="Segoe UI"/>
              </a:rPr>
              <a:t>• Trái tim hệ thống mạng: </a:t>
            </a:r>
            <a:r>
              <a:rPr sz="950" b="0">
                <a:solidFill>
                  <a:srgbClr val="1E293B"/>
                </a:solidFill>
                <a:latin typeface="Segoe UI"/>
              </a:rPr>
              <a:t>Máy chủ Windows Server cài Role AD DS, chịu trách nhiệm lưu trữ và xác thực toàn miền.</a:t>
            </a:r>
          </a:p>
          <a:p>
            <a:pPr>
              <a:spcBef>
                <a:spcPts val="200"/>
              </a:spcBef>
              <a:spcAft>
                <a:spcPts val="400"/>
              </a:spcAft>
            </a:pPr>
            <a:r>
              <a:rPr sz="950" b="1">
                <a:solidFill>
                  <a:srgbClr val="1E293B"/>
                </a:solidFill>
                <a:latin typeface="Segoe UI"/>
              </a:rPr>
              <a:t>• Cơ sở dữ liệu NTDS.DIT: </a:t>
            </a:r>
            <a:r>
              <a:rPr sz="950" b="0">
                <a:solidFill>
                  <a:srgbClr val="1E293B"/>
                </a:solidFill>
                <a:latin typeface="Segoe UI"/>
              </a:rPr>
              <a:t>Tệp C:\Windows\NTDS\ntds.dit dùng công nghệ Jet Engine (ESE) co giãn hàng triệu bản ghi.</a:t>
            </a:r>
          </a:p>
          <a:p>
            <a:pPr>
              <a:spcBef>
                <a:spcPts val="200"/>
              </a:spcBef>
              <a:spcAft>
                <a:spcPts val="400"/>
              </a:spcAft>
            </a:pPr>
            <a:r>
              <a:rPr sz="950" b="1">
                <a:solidFill>
                  <a:srgbClr val="1E293B"/>
                </a:solidFill>
                <a:latin typeface="Segoe UI"/>
              </a:rPr>
              <a:t>• Cơ chế Multi-Master Replication: </a:t>
            </a:r>
            <a:r>
              <a:rPr sz="950" b="0">
                <a:solidFill>
                  <a:srgbClr val="1E293B"/>
                </a:solidFill>
                <a:latin typeface="Segoe UI"/>
              </a:rPr>
              <a:t>Mọi DC đều có quyền đọc/ghi dữ liệu. Thay đổi ở bất kỳ DC nào sẽ tự động đồng bộ sang các DC còn lại.</a:t>
            </a:r>
          </a:p>
          <a:p>
            <a:pPr>
              <a:spcBef>
                <a:spcPts val="200"/>
              </a:spcBef>
              <a:spcAft>
                <a:spcPts val="400"/>
              </a:spcAft>
            </a:pPr>
            <a:r>
              <a:rPr sz="950" b="1">
                <a:solidFill>
                  <a:srgbClr val="1E293B"/>
                </a:solidFill>
                <a:latin typeface="Segoe UI"/>
              </a:rPr>
              <a:t>• Hai thư mục chia sẻ hệ thống: </a:t>
            </a:r>
            <a:r>
              <a:rPr sz="950" b="0">
                <a:solidFill>
                  <a:srgbClr val="1E293B"/>
                </a:solidFill>
                <a:latin typeface="Segoe UI"/>
              </a:rPr>
              <a:t>Bắt buộc duy trì SYSVOL (chứa chính sách GPO) và NETLOGON (chứa kịch bản đăng nhập mạng).</a:t>
            </a:r>
          </a:p>
          <a:p>
            <a:pPr>
              <a:spcBef>
                <a:spcPts val="200"/>
              </a:spcBef>
              <a:spcAft>
                <a:spcPts val="400"/>
              </a:spcAft>
            </a:pPr>
            <a:r>
              <a:rPr sz="950" b="1">
                <a:solidFill>
                  <a:srgbClr val="1E293B"/>
                </a:solidFill>
                <a:latin typeface="Segoe UI"/>
              </a:rPr>
              <a:t>• Cơ chế chịu lỗi (Fault Tolerance): </a:t>
            </a:r>
            <a:r>
              <a:rPr sz="950" b="0">
                <a:solidFill>
                  <a:srgbClr val="1E293B"/>
                </a:solidFill>
                <a:latin typeface="Segoe UI"/>
              </a:rPr>
              <a:t>Doanh nghiệp luôn triển khai ít nhất 2 DC để khi 1 máy bảo trì, toàn hệ thống vẫn chạy 100%.</a:t>
            </a:r>
          </a:p>
          <a:p>
            <a:pPr>
              <a:spcBef>
                <a:spcPts val="200"/>
              </a:spcBef>
              <a:spcAft>
                <a:spcPts val="400"/>
              </a:spcAft>
            </a:pPr>
            <a:r>
              <a:rPr sz="950" b="1">
                <a:solidFill>
                  <a:srgbClr val="1E293B"/>
                </a:solidFill>
                <a:latin typeface="Segoe UI"/>
              </a:rPr>
              <a:t>• Bảo vệ vật lý máy chủ: </a:t>
            </a:r>
            <a:r>
              <a:rPr sz="950" b="0">
                <a:solidFill>
                  <a:srgbClr val="1E293B"/>
                </a:solidFill>
                <a:latin typeface="Segoe UI"/>
              </a:rPr>
              <a:t>Đặt trong phòng Server chuyên dụng, khóa tủ rack và hạn chế tối đa đăng nhập trực tiếp.</a:t>
            </a:r>
          </a:p>
        </p:txBody>
      </p:sp>
      <p:sp>
        <p:nvSpPr>
          <p:cNvPr id="10" name="Rounded Rectangle 9"/>
          <p:cNvSpPr/>
          <p:nvPr/>
        </p:nvSpPr>
        <p:spPr>
          <a:xfrm>
            <a:off x="5925312" y="1353312"/>
            <a:ext cx="5532120" cy="4892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25312" y="1353312"/>
            <a:ext cx="5532120" cy="38404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Segoe UI"/>
              </a:defRPr>
            </a:pPr>
            <a:r>
              <a:t>2. SƠ ĐỒ SITES &amp; SUBNETS — TỐI ƯU HÓA TUYẾN MẠNG WAN</a:t>
            </a:r>
          </a:p>
        </p:txBody>
      </p:sp>
      <p:sp>
        <p:nvSpPr>
          <p:cNvPr id="12" name="Rounded Rectangle 11"/>
          <p:cNvSpPr/>
          <p:nvPr/>
        </p:nvSpPr>
        <p:spPr>
          <a:xfrm>
            <a:off x="6172200" y="1874519"/>
            <a:ext cx="2331720" cy="22402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874519"/>
            <a:ext cx="2331720" cy="384048"/>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Segoe UI"/>
              </a:defRPr>
            </a:pPr>
            <a:r>
              <a:t>SITE 1: TP. HỒ CHÍ MINH</a:t>
            </a:r>
          </a:p>
        </p:txBody>
      </p:sp>
      <p:sp>
        <p:nvSpPr>
          <p:cNvPr id="14" name="TextBox 13"/>
          <p:cNvSpPr txBox="1"/>
          <p:nvPr/>
        </p:nvSpPr>
        <p:spPr>
          <a:xfrm>
            <a:off x="6263640" y="2304288"/>
            <a:ext cx="2148840" cy="1280160"/>
          </a:xfrm>
          <a:prstGeom prst="rect">
            <a:avLst/>
          </a:prstGeom>
          <a:noFill/>
        </p:spPr>
        <p:txBody>
          <a:bodyPr wrap="square" lIns="0" rIns="0" tIns="0" bIns="0">
            <a:spAutoFit/>
          </a:bodyPr>
          <a:lstStyle/>
          <a:p>
            <a:pPr>
              <a:defRPr sz="850">
                <a:solidFill>
                  <a:srgbClr val="1E293B"/>
                </a:solidFill>
                <a:latin typeface="Segoe UI"/>
              </a:defRPr>
            </a:pPr>
            <a:r>
              <a:t>• Hội sở chính (Headquarters)</a:t>
            </a:r>
            <a:br/>
            <a:r>
              <a:t>• Subnet: 192.168.10.0/24</a:t>
            </a:r>
            <a:br/>
            <a:r>
              <a:t>• Server DC1 (192.168.10.1)</a:t>
            </a:r>
            <a:br/>
            <a:r>
              <a:t>• 500 Máy trạm Client LAN</a:t>
            </a:r>
            <a:br/>
            <a:r>
              <a:t>• Băng thông LAN: 1 Gbps</a:t>
            </a:r>
          </a:p>
        </p:txBody>
      </p:sp>
      <p:sp>
        <p:nvSpPr>
          <p:cNvPr id="15" name="Can 14"/>
          <p:cNvSpPr/>
          <p:nvPr/>
        </p:nvSpPr>
        <p:spPr>
          <a:xfrm>
            <a:off x="6355080" y="3639312"/>
            <a:ext cx="1965960" cy="384048"/>
          </a:xfrm>
          <a:prstGeom prst="can">
            <a:avLst/>
          </a:prstGeom>
          <a:solidFill>
            <a:srgbClr val="ECFEFF"/>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03366"/>
                </a:solidFill>
                <a:latin typeface="Segoe UI"/>
              </a:defRPr>
            </a:pPr>
            <a:r>
              <a:t>ntds.dit (Đọc/Ghi)</a:t>
            </a:r>
          </a:p>
        </p:txBody>
      </p:sp>
      <p:sp>
        <p:nvSpPr>
          <p:cNvPr id="16" name="Left-Right Arrow 15"/>
          <p:cNvSpPr/>
          <p:nvPr/>
        </p:nvSpPr>
        <p:spPr>
          <a:xfrm>
            <a:off x="8558784" y="2606040"/>
            <a:ext cx="411480" cy="320040"/>
          </a:xfrm>
          <a:prstGeom prst="leftRightArrow">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2971800"/>
            <a:ext cx="621792" cy="548640"/>
          </a:xfrm>
          <a:prstGeom prst="rect">
            <a:avLst/>
          </a:prstGeom>
          <a:noFill/>
        </p:spPr>
        <p:txBody>
          <a:bodyPr wrap="square" lIns="0" rIns="0" tIns="0" bIns="0">
            <a:spAutoFit/>
          </a:bodyPr>
          <a:lstStyle/>
          <a:p>
            <a:pPr algn="ctr">
              <a:defRPr sz="750" b="1">
                <a:solidFill>
                  <a:srgbClr val="D97706"/>
                </a:solidFill>
                <a:latin typeface="Segoe UI"/>
              </a:defRPr>
            </a:pPr>
            <a:r>
              <a:t>WAN</a:t>
            </a:r>
            <a:br/>
            <a:r>
              <a:t>RPC/IP</a:t>
            </a:r>
          </a:p>
        </p:txBody>
      </p:sp>
      <p:sp>
        <p:nvSpPr>
          <p:cNvPr id="18" name="Rounded Rectangle 17"/>
          <p:cNvSpPr/>
          <p:nvPr/>
        </p:nvSpPr>
        <p:spPr>
          <a:xfrm>
            <a:off x="9034272" y="1874519"/>
            <a:ext cx="2240280" cy="224028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34272" y="1874519"/>
            <a:ext cx="2240280" cy="38404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Segoe UI"/>
              </a:defRPr>
            </a:pPr>
            <a:r>
              <a:t>SITE 2: HÀ NỘI</a:t>
            </a:r>
          </a:p>
        </p:txBody>
      </p:sp>
      <p:sp>
        <p:nvSpPr>
          <p:cNvPr id="20" name="TextBox 19"/>
          <p:cNvSpPr txBox="1"/>
          <p:nvPr/>
        </p:nvSpPr>
        <p:spPr>
          <a:xfrm>
            <a:off x="9125712" y="2304288"/>
            <a:ext cx="2057400" cy="1280160"/>
          </a:xfrm>
          <a:prstGeom prst="rect">
            <a:avLst/>
          </a:prstGeom>
          <a:noFill/>
        </p:spPr>
        <p:txBody>
          <a:bodyPr wrap="square" lIns="0" rIns="0" tIns="0" bIns="0">
            <a:spAutoFit/>
          </a:bodyPr>
          <a:lstStyle/>
          <a:p>
            <a:pPr>
              <a:defRPr sz="850">
                <a:solidFill>
                  <a:srgbClr val="1E293B"/>
                </a:solidFill>
                <a:latin typeface="Segoe UI"/>
              </a:defRPr>
            </a:pPr>
            <a:r>
              <a:t>• Chi nhánh miền Bắc (Branch)</a:t>
            </a:r>
            <a:br/>
            <a:r>
              <a:t>• Subnet: 172.16.0.0/24</a:t>
            </a:r>
            <a:br/>
            <a:r>
              <a:t>• Server DC2 (172.16.0.1)</a:t>
            </a:r>
            <a:br/>
            <a:r>
              <a:t>• 200 Máy trạm Client LAN</a:t>
            </a:r>
            <a:br/>
            <a:r>
              <a:t>• Băng thông LAN: 1 Gbps</a:t>
            </a:r>
          </a:p>
        </p:txBody>
      </p:sp>
      <p:sp>
        <p:nvSpPr>
          <p:cNvPr id="21" name="Can 20"/>
          <p:cNvSpPr/>
          <p:nvPr/>
        </p:nvSpPr>
        <p:spPr>
          <a:xfrm>
            <a:off x="9189720" y="3639312"/>
            <a:ext cx="1920240" cy="384048"/>
          </a:xfrm>
          <a:prstGeom prst="can">
            <a:avLst/>
          </a:prstGeom>
          <a:solidFill>
            <a:srgbClr val="EFF6FF"/>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E7490"/>
                </a:solidFill>
                <a:latin typeface="Segoe UI"/>
              </a:defRPr>
            </a:pPr>
            <a:r>
              <a:t>ntds.dit (Bản sao)</a:t>
            </a:r>
          </a:p>
        </p:txBody>
      </p:sp>
      <p:sp>
        <p:nvSpPr>
          <p:cNvPr id="22" name="Rounded Rectangle 21"/>
          <p:cNvSpPr/>
          <p:nvPr/>
        </p:nvSpPr>
        <p:spPr>
          <a:xfrm>
            <a:off x="6172200" y="4251960"/>
            <a:ext cx="5102352" cy="1828800"/>
          </a:xfrm>
          <a:prstGeom prst="roundRect">
            <a:avLst/>
          </a:prstGeom>
          <a:solidFill>
            <a:srgbClr val="EFF6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defRPr sz="950" b="1">
                <a:solidFill>
                  <a:srgbClr val="003366"/>
                </a:solidFill>
                <a:latin typeface="Segoe UI"/>
              </a:defRPr>
            </a:pPr>
            <a:r>
              <a:t>[LIÊN KẾT SITE LINK] TỐI ƯU ĐƯỜNG TRUYỀN WAN LIÊN TỈNH:</a:t>
            </a:r>
          </a:p>
          <a:p>
            <a:pPr>
              <a:spcBef>
                <a:spcPts val="200"/>
              </a:spcBef>
              <a:spcAft>
                <a:spcPts val="400"/>
              </a:spcAft>
            </a:pPr>
            <a:r>
              <a:rPr sz="850" b="1">
                <a:solidFill>
                  <a:srgbClr val="1E293B"/>
                </a:solidFill>
                <a:latin typeface="Segoe UI"/>
              </a:rPr>
              <a:t>• Nén dữ liệu (Compression): </a:t>
            </a:r>
            <a:r>
              <a:rPr sz="850" b="0">
                <a:solidFill>
                  <a:srgbClr val="1E293B"/>
                </a:solidFill>
                <a:latin typeface="Segoe UI"/>
              </a:rPr>
              <a:t>Dữ liệu đồng bộ qua RPC over IP được nén tối đa nhằm tiết kiệm băng thông thuê bao.</a:t>
            </a:r>
          </a:p>
          <a:p>
            <a:pPr>
              <a:spcBef>
                <a:spcPts val="200"/>
              </a:spcBef>
              <a:spcAft>
                <a:spcPts val="400"/>
              </a:spcAft>
            </a:pPr>
            <a:r>
              <a:rPr sz="850" b="1">
                <a:solidFill>
                  <a:srgbClr val="1E293B"/>
                </a:solidFill>
                <a:latin typeface="Segoe UI"/>
              </a:rPr>
              <a:t>• Lập lịch thông minh (Schedule): </a:t>
            </a:r>
            <a:r>
              <a:rPr sz="850" b="0">
                <a:solidFill>
                  <a:srgbClr val="1E293B"/>
                </a:solidFill>
                <a:latin typeface="Segoe UI"/>
              </a:rPr>
              <a:t>Chỉ đồng bộ ban đêm (ngoài giờ hành chính) để dành đường truyền cho công việc.</a:t>
            </a:r>
          </a:p>
          <a:p>
            <a:pPr>
              <a:spcBef>
                <a:spcPts val="200"/>
              </a:spcBef>
              <a:spcAft>
                <a:spcPts val="400"/>
              </a:spcAft>
            </a:pPr>
            <a:r>
              <a:rPr sz="850" b="1">
                <a:solidFill>
                  <a:srgbClr val="1E293B"/>
                </a:solidFill>
                <a:latin typeface="Segoe UI"/>
              </a:rPr>
              <a:t>• Đăng nhập cục bộ (Locality): </a:t>
            </a:r>
            <a:r>
              <a:rPr sz="850" b="0">
                <a:solidFill>
                  <a:srgbClr val="1E293B"/>
                </a:solidFill>
                <a:latin typeface="Segoe UI"/>
              </a:rPr>
              <a:t>Client Hà Nội tìm đến DC2 đăng nhập tức thì, không gửi truy vấn vượt WAN về TP.HCM.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2 • KIẾN TRÚC VÀ CƠ CHẾ HOẠT ĐỘNG</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Hai Trụ Cột Duy Trì Tính Toàn Vẹn: Schema &amp; Global Catalog</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08 / 16</a:t>
            </a:r>
          </a:p>
        </p:txBody>
      </p:sp>
      <p:sp>
        <p:nvSpPr>
          <p:cNvPr id="7" name="Rounded Rectangle 6"/>
          <p:cNvSpPr/>
          <p:nvPr/>
        </p:nvSpPr>
        <p:spPr>
          <a:xfrm>
            <a:off x="731520" y="1353312"/>
            <a:ext cx="5230368" cy="4892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53312"/>
            <a:ext cx="5230368" cy="384048"/>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Segoe UI"/>
              </a:defRPr>
            </a:pPr>
            <a:r>
              <a:t>1. ACTIVE DIRECTORY SCHEMA (BẢN THIẾT KẾ RỪNG)</a:t>
            </a:r>
          </a:p>
        </p:txBody>
      </p:sp>
      <p:sp>
        <p:nvSpPr>
          <p:cNvPr id="9" name="TextBox 8"/>
          <p:cNvSpPr txBox="1"/>
          <p:nvPr/>
        </p:nvSpPr>
        <p:spPr>
          <a:xfrm>
            <a:off x="914400" y="1828800"/>
            <a:ext cx="4864608" cy="2926080"/>
          </a:xfrm>
          <a:prstGeom prst="rect">
            <a:avLst/>
          </a:prstGeom>
          <a:noFill/>
        </p:spPr>
        <p:txBody>
          <a:bodyPr wrap="square" lIns="0" rIns="0" tIns="0" bIns="0">
            <a:spAutoFit/>
          </a:bodyPr>
          <a:lstStyle/>
          <a:p/>
          <a:p>
            <a:pPr>
              <a:spcBef>
                <a:spcPts val="200"/>
              </a:spcBef>
              <a:spcAft>
                <a:spcPts val="400"/>
              </a:spcAft>
            </a:pPr>
            <a:r>
              <a:rPr sz="950" b="1">
                <a:solidFill>
                  <a:srgbClr val="1E293B"/>
                </a:solidFill>
                <a:latin typeface="Segoe UI"/>
              </a:rPr>
              <a:t>• Bản thiết kế cốt lõi (Blueprint): </a:t>
            </a:r>
            <a:r>
              <a:rPr sz="950" b="0">
                <a:solidFill>
                  <a:srgbClr val="1E293B"/>
                </a:solidFill>
                <a:latin typeface="Segoe UI"/>
              </a:rPr>
              <a:t>Định nghĩa toàn bộ quy tắc về các loại đối tượng và thuộc tính được phép tồn tại trong Forest.</a:t>
            </a:r>
          </a:p>
          <a:p>
            <a:pPr>
              <a:spcBef>
                <a:spcPts val="200"/>
              </a:spcBef>
              <a:spcAft>
                <a:spcPts val="400"/>
              </a:spcAft>
            </a:pPr>
            <a:r>
              <a:rPr sz="950" b="1">
                <a:solidFill>
                  <a:srgbClr val="1E293B"/>
                </a:solidFill>
                <a:latin typeface="Segoe UI"/>
              </a:rPr>
              <a:t>• Class Schema (Lớp đối tượng): </a:t>
            </a:r>
            <a:r>
              <a:rPr sz="950" b="0">
                <a:solidFill>
                  <a:srgbClr val="1E293B"/>
                </a:solidFill>
                <a:latin typeface="Segoe UI"/>
              </a:rPr>
              <a:t>Khuôn mẫu thực thể: User, Computer, Group, Organizational Unit, PrintQueue...</a:t>
            </a:r>
          </a:p>
          <a:p>
            <a:pPr>
              <a:spcBef>
                <a:spcPts val="200"/>
              </a:spcBef>
              <a:spcAft>
                <a:spcPts val="400"/>
              </a:spcAft>
            </a:pPr>
            <a:r>
              <a:rPr sz="950" b="1">
                <a:solidFill>
                  <a:srgbClr val="1E293B"/>
                </a:solidFill>
                <a:latin typeface="Segoe UI"/>
              </a:rPr>
              <a:t>• Attribute Schema (Thuộc tính): </a:t>
            </a:r>
            <a:r>
              <a:rPr sz="950" b="0">
                <a:solidFill>
                  <a:srgbClr val="1E293B"/>
                </a:solidFill>
                <a:latin typeface="Segoe UI"/>
              </a:rPr>
              <a:t>Từng trường dữ liệu cụ thể: givenName, mail, userPrincipalName, telephoneNumber...</a:t>
            </a:r>
          </a:p>
          <a:p>
            <a:pPr>
              <a:spcBef>
                <a:spcPts val="200"/>
              </a:spcBef>
              <a:spcAft>
                <a:spcPts val="400"/>
              </a:spcAft>
            </a:pPr>
            <a:r>
              <a:rPr sz="950" b="1">
                <a:solidFill>
                  <a:srgbClr val="1E293B"/>
                </a:solidFill>
                <a:latin typeface="Segoe UI"/>
              </a:rPr>
              <a:t>• Duy nhất &amp; Bất biến: </a:t>
            </a:r>
            <a:r>
              <a:rPr sz="950" b="0">
                <a:solidFill>
                  <a:srgbClr val="1E293B"/>
                </a:solidFill>
                <a:latin typeface="Segoe UI"/>
              </a:rPr>
              <a:t>Toàn bộ Forest chỉ có duy nhất 1 Schema chung do Schema Master độc quyền quản lý.</a:t>
            </a:r>
          </a:p>
          <a:p>
            <a:pPr>
              <a:spcBef>
                <a:spcPts val="200"/>
              </a:spcBef>
              <a:spcAft>
                <a:spcPts val="400"/>
              </a:spcAft>
            </a:pPr>
            <a:r>
              <a:rPr sz="950" b="1">
                <a:solidFill>
                  <a:srgbClr val="1E293B"/>
                </a:solidFill>
                <a:latin typeface="Segoe UI"/>
              </a:rPr>
              <a:t>• Công cụ quản trị MMC: </a:t>
            </a:r>
            <a:r>
              <a:rPr sz="950" b="0">
                <a:solidFill>
                  <a:srgbClr val="1E293B"/>
                </a:solidFill>
                <a:latin typeface="Segoe UI"/>
              </a:rPr>
              <a:t>Mở qua Active Directory Schema Snap-in (chạy regsvr32 schmmgmt.dll trước khi mở).</a:t>
            </a:r>
          </a:p>
        </p:txBody>
      </p:sp>
      <p:sp>
        <p:nvSpPr>
          <p:cNvPr id="10" name="Rounded Rectangle 9"/>
          <p:cNvSpPr/>
          <p:nvPr/>
        </p:nvSpPr>
        <p:spPr>
          <a:xfrm>
            <a:off x="914400" y="4754880"/>
            <a:ext cx="4864608" cy="1325880"/>
          </a:xfrm>
          <a:prstGeom prst="roundRect">
            <a:avLst/>
          </a:prstGeom>
          <a:solidFill>
            <a:srgbClr val="EFF6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tIns="91440" bIns="91440"/>
          <a:lstStyle/>
          <a:p>
            <a:pPr algn="ctr">
              <a:defRPr sz="950" b="1">
                <a:solidFill>
                  <a:srgbClr val="003366"/>
                </a:solidFill>
                <a:latin typeface="Segoe UI"/>
              </a:defRPr>
            </a:pPr>
            <a:r>
              <a:t>[MINH HỌA CẤU TRÚC SCHEMA TRONG BÀI LAB]:</a:t>
            </a:r>
          </a:p>
          <a:p>
            <a:pPr>
              <a:spcBef>
                <a:spcPts val="300"/>
              </a:spcBef>
              <a:defRPr sz="850">
                <a:solidFill>
                  <a:srgbClr val="1E293B"/>
                </a:solidFill>
                <a:latin typeface="Segoe UI"/>
              </a:defRPr>
            </a:pPr>
            <a:r>
              <a:t>• Class: User | Đối tượng tạo lập trong lab: 'sv1'</a:t>
            </a:r>
            <a:br/>
            <a:r>
              <a:t>• Thuộc tính: sAMAccountName = 'sv1', userPrincipalName = 'sv1@nhom1.vn'</a:t>
            </a:r>
            <a:br/>
            <a:r>
              <a:t>• Khi chạy lệnh adprep /forestprep -&gt; Schema được nạp thêm thuộc tính mới của Windows Server nâng cấp mà không xóa thuộc tính cũ!</a:t>
            </a:r>
          </a:p>
        </p:txBody>
      </p:sp>
      <p:sp>
        <p:nvSpPr>
          <p:cNvPr id="11" name="Rounded Rectangle 10"/>
          <p:cNvSpPr/>
          <p:nvPr/>
        </p:nvSpPr>
        <p:spPr>
          <a:xfrm>
            <a:off x="6217920" y="1353312"/>
            <a:ext cx="5230368" cy="4892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1353312"/>
            <a:ext cx="5230368" cy="38404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Segoe UI"/>
              </a:defRPr>
            </a:pPr>
            <a:r>
              <a:t>2. GLOBAL CATALOG (GC - DANH MỤC TOÀN CỤC)</a:t>
            </a:r>
          </a:p>
        </p:txBody>
      </p:sp>
      <p:sp>
        <p:nvSpPr>
          <p:cNvPr id="13" name="TextBox 12"/>
          <p:cNvSpPr txBox="1"/>
          <p:nvPr/>
        </p:nvSpPr>
        <p:spPr>
          <a:xfrm>
            <a:off x="6400800" y="1828800"/>
            <a:ext cx="4864608" cy="2926080"/>
          </a:xfrm>
          <a:prstGeom prst="rect">
            <a:avLst/>
          </a:prstGeom>
          <a:noFill/>
        </p:spPr>
        <p:txBody>
          <a:bodyPr wrap="square" lIns="0" rIns="0" tIns="0" bIns="0">
            <a:spAutoFit/>
          </a:bodyPr>
          <a:lstStyle/>
          <a:p/>
          <a:p>
            <a:pPr>
              <a:spcBef>
                <a:spcPts val="200"/>
              </a:spcBef>
              <a:spcAft>
                <a:spcPts val="400"/>
              </a:spcAft>
            </a:pPr>
            <a:r>
              <a:rPr sz="950" b="1">
                <a:solidFill>
                  <a:srgbClr val="1E293B"/>
                </a:solidFill>
                <a:latin typeface="Segoe UI"/>
              </a:rPr>
              <a:t>• Bản sao danh bạ toàn cục: </a:t>
            </a:r>
            <a:r>
              <a:rPr sz="950" b="0">
                <a:solidFill>
                  <a:srgbClr val="1E293B"/>
                </a:solidFill>
                <a:latin typeface="Segoe UI"/>
              </a:rPr>
              <a:t>Lưu trữ bản sao đầy đủ của Domain cục bộ + bản sao rút gọn (PAS - Partial Attribute Set) của MỌI đối tượng trong Forest.</a:t>
            </a:r>
          </a:p>
          <a:p>
            <a:pPr>
              <a:spcBef>
                <a:spcPts val="200"/>
              </a:spcBef>
              <a:spcAft>
                <a:spcPts val="400"/>
              </a:spcAft>
            </a:pPr>
            <a:r>
              <a:rPr sz="950" b="1">
                <a:solidFill>
                  <a:srgbClr val="1E293B"/>
                </a:solidFill>
                <a:latin typeface="Segoe UI"/>
              </a:rPr>
              <a:t>• Cổng dịch vụ tiêu chuẩn: </a:t>
            </a:r>
            <a:r>
              <a:rPr sz="950" b="0">
                <a:solidFill>
                  <a:srgbClr val="1E293B"/>
                </a:solidFill>
                <a:latin typeface="Segoe UI"/>
              </a:rPr>
              <a:t>Lắng nghe truy vấn danh bạ trên cổng TCP 3268 (LDAP GC) và TCP 3269 (LDAPS SSL GC).</a:t>
            </a:r>
          </a:p>
          <a:p>
            <a:pPr>
              <a:spcBef>
                <a:spcPts val="200"/>
              </a:spcBef>
              <a:spcAft>
                <a:spcPts val="400"/>
              </a:spcAft>
            </a:pPr>
            <a:r>
              <a:rPr sz="950" b="1">
                <a:solidFill>
                  <a:srgbClr val="1E293B"/>
                </a:solidFill>
                <a:latin typeface="Segoe UI"/>
              </a:rPr>
              <a:t>• Tra cứu tài nguyên siêu tốc: </a:t>
            </a:r>
            <a:r>
              <a:rPr sz="950" b="0">
                <a:solidFill>
                  <a:srgbClr val="1E293B"/>
                </a:solidFill>
                <a:latin typeface="Segoe UI"/>
              </a:rPr>
              <a:t>Người dùng tìm kiếm thông tin nhân viên toàn tập đoàn chỉ trong vài mili-giây mà không cần gửi truy vấn xuyên miền.</a:t>
            </a:r>
          </a:p>
          <a:p>
            <a:pPr>
              <a:spcBef>
                <a:spcPts val="200"/>
              </a:spcBef>
              <a:spcAft>
                <a:spcPts val="400"/>
              </a:spcAft>
            </a:pPr>
            <a:r>
              <a:rPr sz="950" b="1">
                <a:solidFill>
                  <a:srgbClr val="1E293B"/>
                </a:solidFill>
                <a:latin typeface="Segoe UI"/>
              </a:rPr>
              <a:t>• Phân giải Universal Group: </a:t>
            </a:r>
            <a:r>
              <a:rPr sz="950" b="0">
                <a:solidFill>
                  <a:srgbClr val="1E293B"/>
                </a:solidFill>
                <a:latin typeface="Segoe UI"/>
              </a:rPr>
              <a:t>Bắt buộc phải có Global Catalog để xác thực đăng nhập trong môi trường đa miền (Multi-Domain Forest).</a:t>
            </a:r>
          </a:p>
          <a:p>
            <a:pPr>
              <a:spcBef>
                <a:spcPts val="200"/>
              </a:spcBef>
              <a:spcAft>
                <a:spcPts val="400"/>
              </a:spcAft>
            </a:pPr>
            <a:r>
              <a:rPr sz="950" b="1">
                <a:solidFill>
                  <a:srgbClr val="1E293B"/>
                </a:solidFill>
                <a:latin typeface="Segoe UI"/>
              </a:rPr>
              <a:t>• Kích hoạt linh hoạt: </a:t>
            </a:r>
            <a:r>
              <a:rPr sz="950" b="0">
                <a:solidFill>
                  <a:srgbClr val="1E293B"/>
                </a:solidFill>
                <a:latin typeface="Segoe UI"/>
              </a:rPr>
              <a:t>Bất kỳ máy DC nào cũng có thể bật tính năng GC chỉ với 1 dấu tích trong AD Sites and Services.</a:t>
            </a:r>
          </a:p>
        </p:txBody>
      </p:sp>
      <p:sp>
        <p:nvSpPr>
          <p:cNvPr id="14" name="Rounded Rectangle 13"/>
          <p:cNvSpPr/>
          <p:nvPr/>
        </p:nvSpPr>
        <p:spPr>
          <a:xfrm>
            <a:off x="6400800" y="4754880"/>
            <a:ext cx="4864608" cy="1325880"/>
          </a:xfrm>
          <a:prstGeom prst="roundRect">
            <a:avLst/>
          </a:prstGeom>
          <a:solidFill>
            <a:srgbClr val="ECFE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tIns="91440" bIns="91440"/>
          <a:lstStyle/>
          <a:p>
            <a:pPr algn="ctr">
              <a:defRPr sz="950" b="1">
                <a:solidFill>
                  <a:srgbClr val="0E7490"/>
                </a:solidFill>
                <a:latin typeface="Segoe UI"/>
              </a:defRPr>
            </a:pPr>
            <a:r>
              <a:t>[MINH HỌA TRUY VẤN GLOBAL CATALOG TRONG LAB]:</a:t>
            </a:r>
          </a:p>
          <a:p>
            <a:pPr>
              <a:spcBef>
                <a:spcPts val="300"/>
              </a:spcBef>
              <a:defRPr sz="850">
                <a:solidFill>
                  <a:srgbClr val="1E293B"/>
                </a:solidFill>
                <a:latin typeface="Segoe UI"/>
              </a:defRPr>
            </a:pPr>
            <a:r>
              <a:t>• User tại máy trạm Win 7 tìm kiếm email của Administrator miền nhom1.vn.</a:t>
            </a:r>
            <a:br/>
            <a:r>
              <a:t>• Gửi truy vấn tới DC cổng TCP 3268 -&gt; Trả về kết quả tức thì trong &lt; 5ms.</a:t>
            </a:r>
            <a:br/>
            <a:r>
              <a:t>• Trong mô hình Single Domain của bài lab, DC WIN-P6PG9M9AICK đồng thời kiêm nhiệm máy chủ Global Catalog.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2 • KIẾN TRÚC VÀ CƠ CHẾ HOẠT ĐỘNG</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5 Vai Trò FSMO (Flexible Single Master Operation Roles)</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09 / 16</a:t>
            </a:r>
          </a:p>
        </p:txBody>
      </p:sp>
      <p:sp>
        <p:nvSpPr>
          <p:cNvPr id="7" name="TextBox 6"/>
          <p:cNvSpPr txBox="1"/>
          <p:nvPr/>
        </p:nvSpPr>
        <p:spPr>
          <a:xfrm>
            <a:off x="731520" y="1280160"/>
            <a:ext cx="10728655" cy="292608"/>
          </a:xfrm>
          <a:prstGeom prst="rect">
            <a:avLst/>
          </a:prstGeom>
          <a:noFill/>
        </p:spPr>
        <p:txBody>
          <a:bodyPr wrap="none">
            <a:spAutoFit/>
          </a:bodyPr>
          <a:lstStyle/>
          <a:p>
            <a:pPr>
              <a:defRPr sz="1050" b="1">
                <a:solidFill>
                  <a:srgbClr val="003366"/>
                </a:solidFill>
                <a:latin typeface="Segoe UI"/>
              </a:defRPr>
            </a:pPr>
            <a:r>
              <a:t>[VAI TRÒ CẤP RỪNG - FOREST-WIDE ROLES] — DUY NHẤT 1 MÁY CHỦ TRONG TOÀN BỘ RỪNG:</a:t>
            </a:r>
          </a:p>
        </p:txBody>
      </p:sp>
      <p:sp>
        <p:nvSpPr>
          <p:cNvPr id="8" name="Rounded Rectangle 7"/>
          <p:cNvSpPr/>
          <p:nvPr/>
        </p:nvSpPr>
        <p:spPr>
          <a:xfrm>
            <a:off x="731520" y="1600200"/>
            <a:ext cx="5230368"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00200"/>
            <a:ext cx="5230368" cy="329184"/>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1. SCHEMA MASTER</a:t>
            </a:r>
          </a:p>
        </p:txBody>
      </p:sp>
      <p:sp>
        <p:nvSpPr>
          <p:cNvPr id="10" name="TextBox 9"/>
          <p:cNvSpPr txBox="1"/>
          <p:nvPr/>
        </p:nvSpPr>
        <p:spPr>
          <a:xfrm>
            <a:off x="868680" y="1965960"/>
            <a:ext cx="4956048" cy="1645920"/>
          </a:xfrm>
          <a:prstGeom prst="rect">
            <a:avLst/>
          </a:prstGeom>
          <a:noFill/>
        </p:spPr>
        <p:txBody>
          <a:bodyPr wrap="square" lIns="0" rIns="0" tIns="0" bIns="0">
            <a:spAutoFit/>
          </a:bodyPr>
          <a:lstStyle/>
          <a:p>
            <a:pPr>
              <a:defRPr sz="950" b="1">
                <a:solidFill>
                  <a:srgbClr val="003366"/>
                </a:solidFill>
                <a:latin typeface="Segoe UI"/>
              </a:defRPr>
            </a:pPr>
            <a:r>
              <a:t>Kiểm soát &amp; Mở rộng cấu trúc CSDL</a:t>
            </a:r>
          </a:p>
          <a:p>
            <a:pPr>
              <a:spcBef>
                <a:spcPts val="200"/>
              </a:spcBef>
              <a:spcAft>
                <a:spcPts val="400"/>
              </a:spcAft>
            </a:pPr>
            <a:r>
              <a:rPr sz="850" b="1">
                <a:solidFill>
                  <a:srgbClr val="1E293B"/>
                </a:solidFill>
                <a:latin typeface="Segoe UI"/>
              </a:rPr>
              <a:t>• Nhiệm vụ: </a:t>
            </a:r>
            <a:r>
              <a:rPr sz="850" b="0">
                <a:solidFill>
                  <a:srgbClr val="1E293B"/>
                </a:solidFill>
                <a:latin typeface="Segoe UI"/>
              </a:rPr>
              <a:t>Độc quyền thực hiện mọi thao tác sửa đổi, mở rộng cấu trúc Schema của Forest.</a:t>
            </a:r>
          </a:p>
          <a:p>
            <a:pPr>
              <a:spcBef>
                <a:spcPts val="200"/>
              </a:spcBef>
              <a:spcAft>
                <a:spcPts val="400"/>
              </a:spcAft>
            </a:pPr>
            <a:r>
              <a:rPr sz="850" b="1">
                <a:solidFill>
                  <a:srgbClr val="1E293B"/>
                </a:solidFill>
                <a:latin typeface="Segoe UI"/>
              </a:rPr>
              <a:t>• Tình huống: </a:t>
            </a:r>
            <a:r>
              <a:rPr sz="850" b="0">
                <a:solidFill>
                  <a:srgbClr val="1E293B"/>
                </a:solidFill>
                <a:latin typeface="Segoe UI"/>
              </a:rPr>
              <a:t>Chạy lệnh adprep /forestprep hoặc cài đặt Microsoft Exchange Server.</a:t>
            </a:r>
          </a:p>
          <a:p>
            <a:pPr>
              <a:spcBef>
                <a:spcPts val="200"/>
              </a:spcBef>
              <a:spcAft>
                <a:spcPts val="400"/>
              </a:spcAft>
            </a:pPr>
            <a:r>
              <a:rPr sz="850" b="1">
                <a:solidFill>
                  <a:srgbClr val="1E293B"/>
                </a:solidFill>
                <a:latin typeface="Segoe UI"/>
              </a:rPr>
              <a:t>• Thẩm quyền: </a:t>
            </a:r>
            <a:r>
              <a:rPr sz="850" b="0">
                <a:solidFill>
                  <a:srgbClr val="1E293B"/>
                </a:solidFill>
                <a:latin typeface="Segoe UI"/>
              </a:rPr>
              <a:t>Chỉ thành viên nhóm Schema Admins và Enterprise Admins mới có quyền truy cập.</a:t>
            </a:r>
          </a:p>
          <a:p>
            <a:pPr>
              <a:spcBef>
                <a:spcPts val="200"/>
              </a:spcBef>
              <a:spcAft>
                <a:spcPts val="400"/>
              </a:spcAft>
            </a:pPr>
            <a:r>
              <a:rPr sz="850" b="1">
                <a:solidFill>
                  <a:srgbClr val="1E293B"/>
                </a:solidFill>
                <a:latin typeface="Segoe UI"/>
              </a:rPr>
              <a:t>• Nếu offline: </a:t>
            </a:r>
            <a:r>
              <a:rPr sz="850" b="0">
                <a:solidFill>
                  <a:srgbClr val="1E293B"/>
                </a:solidFill>
                <a:latin typeface="Segoe UI"/>
              </a:rPr>
              <a:t>Hệ thống đăng nhập vẫn hoạt động bình thường, chỉ tạm ngưng việc sửa Schema.</a:t>
            </a:r>
          </a:p>
        </p:txBody>
      </p:sp>
      <p:sp>
        <p:nvSpPr>
          <p:cNvPr id="11" name="Rounded Rectangle 10"/>
          <p:cNvSpPr/>
          <p:nvPr/>
        </p:nvSpPr>
        <p:spPr>
          <a:xfrm>
            <a:off x="6227064" y="1600200"/>
            <a:ext cx="5230368"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27064" y="1600200"/>
            <a:ext cx="5230368" cy="329184"/>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2. DOMAIN NAMING MASTER</a:t>
            </a:r>
          </a:p>
        </p:txBody>
      </p:sp>
      <p:sp>
        <p:nvSpPr>
          <p:cNvPr id="13" name="TextBox 12"/>
          <p:cNvSpPr txBox="1"/>
          <p:nvPr/>
        </p:nvSpPr>
        <p:spPr>
          <a:xfrm>
            <a:off x="6364224" y="1965960"/>
            <a:ext cx="4956048" cy="1645920"/>
          </a:xfrm>
          <a:prstGeom prst="rect">
            <a:avLst/>
          </a:prstGeom>
          <a:noFill/>
        </p:spPr>
        <p:txBody>
          <a:bodyPr wrap="square" lIns="0" rIns="0" tIns="0" bIns="0">
            <a:spAutoFit/>
          </a:bodyPr>
          <a:lstStyle/>
          <a:p>
            <a:pPr>
              <a:defRPr sz="950" b="1">
                <a:solidFill>
                  <a:srgbClr val="0E7490"/>
                </a:solidFill>
                <a:latin typeface="Segoe UI"/>
              </a:defRPr>
            </a:pPr>
            <a:r>
              <a:t>Phê duyệt &amp; Quản lý Không gian tên miền</a:t>
            </a:r>
          </a:p>
          <a:p>
            <a:pPr>
              <a:spcBef>
                <a:spcPts val="200"/>
              </a:spcBef>
              <a:spcAft>
                <a:spcPts val="400"/>
              </a:spcAft>
            </a:pPr>
            <a:r>
              <a:rPr sz="850" b="1">
                <a:solidFill>
                  <a:srgbClr val="1E293B"/>
                </a:solidFill>
                <a:latin typeface="Segoe UI"/>
              </a:rPr>
              <a:t>• Nhiệm vụ: </a:t>
            </a:r>
            <a:r>
              <a:rPr sz="850" b="0">
                <a:solidFill>
                  <a:srgbClr val="1E293B"/>
                </a:solidFill>
                <a:latin typeface="Segoe UI"/>
              </a:rPr>
              <a:t>Kiểm soát việc thêm mới hoặc gỡ bỏ một Domain con trong Forest.</a:t>
            </a:r>
          </a:p>
          <a:p>
            <a:pPr>
              <a:spcBef>
                <a:spcPts val="200"/>
              </a:spcBef>
              <a:spcAft>
                <a:spcPts val="400"/>
              </a:spcAft>
            </a:pPr>
            <a:r>
              <a:rPr sz="850" b="1">
                <a:solidFill>
                  <a:srgbClr val="1E293B"/>
                </a:solidFill>
                <a:latin typeface="Segoe UI"/>
              </a:rPr>
              <a:t>• Đảm bảo: </a:t>
            </a:r>
            <a:r>
              <a:rPr sz="850" b="0">
                <a:solidFill>
                  <a:srgbClr val="1E293B"/>
                </a:solidFill>
                <a:latin typeface="Segoe UI"/>
              </a:rPr>
              <a:t>Không bao giờ xảy ra tình trạng trùng lặp tên miền trong cùng một Forest.</a:t>
            </a:r>
          </a:p>
          <a:p>
            <a:pPr>
              <a:spcBef>
                <a:spcPts val="200"/>
              </a:spcBef>
              <a:spcAft>
                <a:spcPts val="400"/>
              </a:spcAft>
            </a:pPr>
            <a:r>
              <a:rPr sz="850" b="1">
                <a:solidFill>
                  <a:srgbClr val="1E293B"/>
                </a:solidFill>
                <a:latin typeface="Segoe UI"/>
              </a:rPr>
              <a:t>• Quản lý bổ sung: </a:t>
            </a:r>
            <a:r>
              <a:rPr sz="850" b="0">
                <a:solidFill>
                  <a:srgbClr val="1E293B"/>
                </a:solidFill>
                <a:latin typeface="Segoe UI"/>
              </a:rPr>
              <a:t>Quản lý các phân vùng thư mục ứng dụng (Application Directory Partitions).</a:t>
            </a:r>
          </a:p>
          <a:p>
            <a:pPr>
              <a:spcBef>
                <a:spcPts val="200"/>
              </a:spcBef>
              <a:spcAft>
                <a:spcPts val="400"/>
              </a:spcAft>
            </a:pPr>
            <a:r>
              <a:rPr sz="850" b="1">
                <a:solidFill>
                  <a:srgbClr val="1E293B"/>
                </a:solidFill>
                <a:latin typeface="Segoe UI"/>
              </a:rPr>
              <a:t>• Nếu offline: </a:t>
            </a:r>
            <a:r>
              <a:rPr sz="850" b="0">
                <a:solidFill>
                  <a:srgbClr val="1E293B"/>
                </a:solidFill>
                <a:latin typeface="Segoe UI"/>
              </a:rPr>
              <a:t>Không thể tạo thêm domain mới hoặc đổi tên domain hiện có.</a:t>
            </a:r>
          </a:p>
        </p:txBody>
      </p:sp>
      <p:sp>
        <p:nvSpPr>
          <p:cNvPr id="14" name="TextBox 13"/>
          <p:cNvSpPr txBox="1"/>
          <p:nvPr/>
        </p:nvSpPr>
        <p:spPr>
          <a:xfrm>
            <a:off x="731520" y="3730752"/>
            <a:ext cx="10728655" cy="292608"/>
          </a:xfrm>
          <a:prstGeom prst="rect">
            <a:avLst/>
          </a:prstGeom>
          <a:noFill/>
        </p:spPr>
        <p:txBody>
          <a:bodyPr wrap="none">
            <a:spAutoFit/>
          </a:bodyPr>
          <a:lstStyle/>
          <a:p>
            <a:pPr>
              <a:defRPr sz="1050" b="1">
                <a:solidFill>
                  <a:srgbClr val="003366"/>
                </a:solidFill>
                <a:latin typeface="Segoe UI"/>
              </a:defRPr>
            </a:pPr>
            <a:r>
              <a:t>[VAI TRÒ CẤP MIỀN - DOMAIN-WIDE ROLES] — MỖI DOMAIN CÓ 1 MÁY CHỦ ĐẢM NHẬN:</a:t>
            </a:r>
          </a:p>
        </p:txBody>
      </p:sp>
      <p:sp>
        <p:nvSpPr>
          <p:cNvPr id="15" name="Rounded Rectangle 14"/>
          <p:cNvSpPr/>
          <p:nvPr/>
        </p:nvSpPr>
        <p:spPr>
          <a:xfrm>
            <a:off x="731520" y="4041648"/>
            <a:ext cx="3401568" cy="2084831"/>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4041648"/>
            <a:ext cx="3401568" cy="329184"/>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3. PDC EMULATOR</a:t>
            </a:r>
          </a:p>
        </p:txBody>
      </p:sp>
      <p:sp>
        <p:nvSpPr>
          <p:cNvPr id="17" name="TextBox 16"/>
          <p:cNvSpPr txBox="1"/>
          <p:nvPr/>
        </p:nvSpPr>
        <p:spPr>
          <a:xfrm>
            <a:off x="841248" y="4407408"/>
            <a:ext cx="3182112" cy="1691640"/>
          </a:xfrm>
          <a:prstGeom prst="rect">
            <a:avLst/>
          </a:prstGeom>
          <a:noFill/>
        </p:spPr>
        <p:txBody>
          <a:bodyPr wrap="square" lIns="0" rIns="0" tIns="0" bIns="0">
            <a:spAutoFit/>
          </a:bodyPr>
          <a:lstStyle/>
          <a:p>
            <a:pPr>
              <a:defRPr sz="900" b="1">
                <a:solidFill>
                  <a:srgbClr val="003366"/>
                </a:solidFill>
                <a:latin typeface="Segoe UI"/>
              </a:defRPr>
            </a:pPr>
            <a:r>
              <a:t>Đồng bộ giờ &amp; Mật khẩu</a:t>
            </a:r>
          </a:p>
          <a:p>
            <a:pPr>
              <a:spcBef>
                <a:spcPts val="200"/>
              </a:spcBef>
              <a:spcAft>
                <a:spcPts val="400"/>
              </a:spcAft>
            </a:pPr>
            <a:r>
              <a:rPr sz="850" b="1">
                <a:solidFill>
                  <a:srgbClr val="1E293B"/>
                </a:solidFill>
                <a:latin typeface="Segoe UI"/>
              </a:rPr>
              <a:t>• NTP Master: </a:t>
            </a:r>
            <a:r>
              <a:rPr sz="850" b="0">
                <a:solidFill>
                  <a:srgbClr val="1E293B"/>
                </a:solidFill>
                <a:latin typeface="Segoe UI"/>
              </a:rPr>
              <a:t>Máy chủ đồng bộ thời gian chuẩn cho toàn bộ máy trạm và DC.</a:t>
            </a:r>
          </a:p>
          <a:p>
            <a:pPr>
              <a:spcBef>
                <a:spcPts val="200"/>
              </a:spcBef>
              <a:spcAft>
                <a:spcPts val="400"/>
              </a:spcAft>
            </a:pPr>
            <a:r>
              <a:rPr sz="850" b="1">
                <a:solidFill>
                  <a:srgbClr val="1E293B"/>
                </a:solidFill>
                <a:latin typeface="Segoe UI"/>
              </a:rPr>
              <a:t>• Mật khẩu khẩn cấp: </a:t>
            </a:r>
            <a:r>
              <a:rPr sz="850" b="0">
                <a:solidFill>
                  <a:srgbClr val="1E293B"/>
                </a:solidFill>
                <a:latin typeface="Segoe UI"/>
              </a:rPr>
              <a:t>Xử lý ưu tiên khi đổi pass và kiểm tra pass sai trước khi khóa user.</a:t>
            </a:r>
          </a:p>
          <a:p>
            <a:pPr>
              <a:spcBef>
                <a:spcPts val="200"/>
              </a:spcBef>
              <a:spcAft>
                <a:spcPts val="400"/>
              </a:spcAft>
            </a:pPr>
            <a:r>
              <a:rPr sz="850" b="1">
                <a:solidFill>
                  <a:srgbClr val="1E293B"/>
                </a:solidFill>
                <a:latin typeface="Segoe UI"/>
              </a:rPr>
              <a:t>• Quản trị GPO: </a:t>
            </a:r>
            <a:r>
              <a:rPr sz="850" b="0">
                <a:solidFill>
                  <a:srgbClr val="1E293B"/>
                </a:solidFill>
                <a:latin typeface="Segoe UI"/>
              </a:rPr>
              <a:t>Là trạm chủ mặc định khi mở Group Policy Management.</a:t>
            </a:r>
          </a:p>
          <a:p>
            <a:pPr>
              <a:spcBef>
                <a:spcPts val="200"/>
              </a:spcBef>
              <a:spcAft>
                <a:spcPts val="400"/>
              </a:spcAft>
            </a:pPr>
            <a:r>
              <a:rPr sz="850" b="1">
                <a:solidFill>
                  <a:srgbClr val="1E293B"/>
                </a:solidFill>
                <a:latin typeface="Segoe UI"/>
              </a:rPr>
              <a:t>• Quan trọng nhất: </a:t>
            </a:r>
            <a:r>
              <a:rPr sz="850" b="0">
                <a:solidFill>
                  <a:srgbClr val="1E293B"/>
                </a:solidFill>
                <a:latin typeface="Segoe UI"/>
              </a:rPr>
              <a:t>Nếu PDC offline, người dùng đổi mật khẩu sẽ bị chậm đồng bộ.</a:t>
            </a:r>
          </a:p>
        </p:txBody>
      </p:sp>
      <p:sp>
        <p:nvSpPr>
          <p:cNvPr id="18" name="Rounded Rectangle 17"/>
          <p:cNvSpPr/>
          <p:nvPr/>
        </p:nvSpPr>
        <p:spPr>
          <a:xfrm>
            <a:off x="4389120" y="4041648"/>
            <a:ext cx="3401568" cy="2084831"/>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89120" y="4041648"/>
            <a:ext cx="3401568" cy="329184"/>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4. RID MASTER</a:t>
            </a:r>
          </a:p>
        </p:txBody>
      </p:sp>
      <p:sp>
        <p:nvSpPr>
          <p:cNvPr id="20" name="TextBox 19"/>
          <p:cNvSpPr txBox="1"/>
          <p:nvPr/>
        </p:nvSpPr>
        <p:spPr>
          <a:xfrm>
            <a:off x="4498848" y="4407408"/>
            <a:ext cx="3182112" cy="1691640"/>
          </a:xfrm>
          <a:prstGeom prst="rect">
            <a:avLst/>
          </a:prstGeom>
          <a:noFill/>
        </p:spPr>
        <p:txBody>
          <a:bodyPr wrap="square" lIns="0" rIns="0" tIns="0" bIns="0">
            <a:spAutoFit/>
          </a:bodyPr>
          <a:lstStyle/>
          <a:p>
            <a:pPr>
              <a:defRPr sz="900" b="1">
                <a:solidFill>
                  <a:srgbClr val="0E7490"/>
                </a:solidFill>
                <a:latin typeface="Segoe UI"/>
              </a:defRPr>
            </a:pPr>
            <a:r>
              <a:t>Cấp phát định danh RID Pool</a:t>
            </a:r>
          </a:p>
          <a:p>
            <a:pPr>
              <a:spcBef>
                <a:spcPts val="200"/>
              </a:spcBef>
              <a:spcAft>
                <a:spcPts val="400"/>
              </a:spcAft>
            </a:pPr>
            <a:r>
              <a:rPr sz="850" b="1">
                <a:solidFill>
                  <a:srgbClr val="1E293B"/>
                </a:solidFill>
                <a:latin typeface="Segoe UI"/>
              </a:rPr>
              <a:t>• Cấp khối RID: </a:t>
            </a:r>
            <a:r>
              <a:rPr sz="850" b="0">
                <a:solidFill>
                  <a:srgbClr val="1E293B"/>
                </a:solidFill>
                <a:latin typeface="Segoe UI"/>
              </a:rPr>
              <a:t>Phân phối từng khối RID Pool (mặc định 500 ID) cho các DC khác.</a:t>
            </a:r>
          </a:p>
          <a:p>
            <a:pPr>
              <a:spcBef>
                <a:spcPts val="200"/>
              </a:spcBef>
              <a:spcAft>
                <a:spcPts val="400"/>
              </a:spcAft>
            </a:pPr>
            <a:r>
              <a:rPr sz="850" b="1">
                <a:solidFill>
                  <a:srgbClr val="1E293B"/>
                </a:solidFill>
                <a:latin typeface="Segoe UI"/>
              </a:rPr>
              <a:t>• Tạo mã SID: </a:t>
            </a:r>
            <a:r>
              <a:rPr sz="850" b="0">
                <a:solidFill>
                  <a:srgbClr val="1E293B"/>
                </a:solidFill>
                <a:latin typeface="Segoe UI"/>
              </a:rPr>
              <a:t>Đảm bảo mã Security Identifier duy nhất toàn cầu cho User/Group mới.</a:t>
            </a:r>
          </a:p>
          <a:p>
            <a:pPr>
              <a:spcBef>
                <a:spcPts val="200"/>
              </a:spcBef>
              <a:spcAft>
                <a:spcPts val="400"/>
              </a:spcAft>
            </a:pPr>
            <a:r>
              <a:rPr sz="850" b="1">
                <a:solidFill>
                  <a:srgbClr val="1E293B"/>
                </a:solidFill>
                <a:latin typeface="Segoe UI"/>
              </a:rPr>
              <a:t>• Ngăn trùng lặp: </a:t>
            </a:r>
            <a:r>
              <a:rPr sz="850" b="0">
                <a:solidFill>
                  <a:srgbClr val="1E293B"/>
                </a:solidFill>
                <a:latin typeface="Segoe UI"/>
              </a:rPr>
              <a:t>Không cho phép 2 đối tượng khác nhau có cùng mã định danh SID.</a:t>
            </a:r>
          </a:p>
          <a:p>
            <a:pPr>
              <a:spcBef>
                <a:spcPts val="200"/>
              </a:spcBef>
              <a:spcAft>
                <a:spcPts val="400"/>
              </a:spcAft>
            </a:pPr>
            <a:r>
              <a:rPr sz="850" b="1">
                <a:solidFill>
                  <a:srgbClr val="1E293B"/>
                </a:solidFill>
                <a:latin typeface="Segoe UI"/>
              </a:rPr>
              <a:t>• Nếu offline: </a:t>
            </a:r>
            <a:r>
              <a:rPr sz="850" b="0">
                <a:solidFill>
                  <a:srgbClr val="1E293B"/>
                </a:solidFill>
                <a:latin typeface="Segoe UI"/>
              </a:rPr>
              <a:t>Các DC vẫn tạo được user cho đến khi xài hết khối 500 RID đã cấp.</a:t>
            </a:r>
          </a:p>
        </p:txBody>
      </p:sp>
      <p:sp>
        <p:nvSpPr>
          <p:cNvPr id="21" name="Rounded Rectangle 20"/>
          <p:cNvSpPr/>
          <p:nvPr/>
        </p:nvSpPr>
        <p:spPr>
          <a:xfrm>
            <a:off x="8046720" y="4041648"/>
            <a:ext cx="3401568" cy="2084831"/>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46720" y="4041648"/>
            <a:ext cx="3401568" cy="32918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5. INFRASTRUCTURE MASTER</a:t>
            </a:r>
          </a:p>
        </p:txBody>
      </p:sp>
      <p:sp>
        <p:nvSpPr>
          <p:cNvPr id="23" name="TextBox 22"/>
          <p:cNvSpPr txBox="1"/>
          <p:nvPr/>
        </p:nvSpPr>
        <p:spPr>
          <a:xfrm>
            <a:off x="8156448" y="4407408"/>
            <a:ext cx="3182112" cy="1691640"/>
          </a:xfrm>
          <a:prstGeom prst="rect">
            <a:avLst/>
          </a:prstGeom>
          <a:noFill/>
        </p:spPr>
        <p:txBody>
          <a:bodyPr wrap="square" lIns="0" rIns="0" tIns="0" bIns="0">
            <a:spAutoFit/>
          </a:bodyPr>
          <a:lstStyle/>
          <a:p>
            <a:pPr>
              <a:defRPr sz="900" b="1">
                <a:solidFill>
                  <a:srgbClr val="0D9488"/>
                </a:solidFill>
                <a:latin typeface="Segoe UI"/>
              </a:defRPr>
            </a:pPr>
            <a:r>
              <a:t>Tham chiếu liên miền</a:t>
            </a:r>
          </a:p>
          <a:p>
            <a:pPr>
              <a:spcBef>
                <a:spcPts val="200"/>
              </a:spcBef>
              <a:spcAft>
                <a:spcPts val="400"/>
              </a:spcAft>
            </a:pPr>
            <a:r>
              <a:rPr sz="850" b="1">
                <a:solidFill>
                  <a:srgbClr val="1E293B"/>
                </a:solidFill>
                <a:latin typeface="Segoe UI"/>
              </a:rPr>
              <a:t>• Duy trì tham chiếu: </a:t>
            </a:r>
            <a:r>
              <a:rPr sz="850" b="0">
                <a:solidFill>
                  <a:srgbClr val="1E293B"/>
                </a:solidFill>
                <a:latin typeface="Segoe UI"/>
              </a:rPr>
              <a:t>Cập nhật các liên kết nhóm xuyên miền (Cross-domain group-to-user).</a:t>
            </a:r>
          </a:p>
          <a:p>
            <a:pPr>
              <a:spcBef>
                <a:spcPts val="200"/>
              </a:spcBef>
              <a:spcAft>
                <a:spcPts val="400"/>
              </a:spcAft>
            </a:pPr>
            <a:r>
              <a:rPr sz="850" b="1">
                <a:solidFill>
                  <a:srgbClr val="1E293B"/>
                </a:solidFill>
                <a:latin typeface="Segoe UI"/>
              </a:rPr>
              <a:t>• Quy tắc sống còn: </a:t>
            </a:r>
            <a:r>
              <a:rPr sz="850" b="0">
                <a:solidFill>
                  <a:srgbClr val="1E293B"/>
                </a:solidFill>
                <a:latin typeface="Segoe UI"/>
              </a:rPr>
              <a:t>KHÔNG ĐƯỢC đặt chung với Global Catalog (trừ Single Domain).</a:t>
            </a:r>
          </a:p>
          <a:p>
            <a:pPr>
              <a:spcBef>
                <a:spcPts val="200"/>
              </a:spcBef>
              <a:spcAft>
                <a:spcPts val="400"/>
              </a:spcAft>
            </a:pPr>
            <a:r>
              <a:rPr sz="850" b="1">
                <a:solidFill>
                  <a:srgbClr val="1E293B"/>
                </a:solidFill>
                <a:latin typeface="Segoe UI"/>
              </a:rPr>
              <a:t>• Phiên dịch danh tính: </a:t>
            </a:r>
            <a:r>
              <a:rPr sz="850" b="0">
                <a:solidFill>
                  <a:srgbClr val="1E293B"/>
                </a:solidFill>
                <a:latin typeface="Segoe UI"/>
              </a:rPr>
              <a:t>Dịch chuyển SID thành tên người dùng khi phân quyền.</a:t>
            </a:r>
          </a:p>
          <a:p>
            <a:pPr>
              <a:spcBef>
                <a:spcPts val="200"/>
              </a:spcBef>
              <a:spcAft>
                <a:spcPts val="400"/>
              </a:spcAft>
            </a:pPr>
            <a:r>
              <a:rPr sz="850" b="1">
                <a:solidFill>
                  <a:srgbClr val="1E293B"/>
                </a:solidFill>
                <a:latin typeface="Segoe UI"/>
              </a:rPr>
              <a:t>• Nếu offline: </a:t>
            </a:r>
            <a:r>
              <a:rPr sz="850" b="0">
                <a:solidFill>
                  <a:srgbClr val="1E293B"/>
                </a:solidFill>
                <a:latin typeface="Segoe UI"/>
              </a:rPr>
              <a:t>Ảnh hưởng đến việc hiển thị tên thành viên nhóm ở các miền khác.</a:t>
            </a:r>
          </a:p>
        </p:txBody>
      </p:sp>
      <p:sp>
        <p:nvSpPr>
          <p:cNvPr id="24" name="Rounded Rectangle 23"/>
          <p:cNvSpPr/>
          <p:nvPr/>
        </p:nvSpPr>
        <p:spPr>
          <a:xfrm>
            <a:off x="731520" y="6172200"/>
            <a:ext cx="10728655" cy="274320"/>
          </a:xfrm>
          <a:prstGeom prst="roundRect">
            <a:avLst/>
          </a:prstGeom>
          <a:solidFill>
            <a:srgbClr val="EFF6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3366"/>
                </a:solidFill>
                <a:latin typeface="Segoe UI"/>
              </a:defRPr>
            </a:pPr>
            <a:r>
              <a:t>[LỆNH KIỂM TRA FSMO]: netdom query fsmo  •  Máy DC đầu tiên (WIN-P6PG9M9AICK) nắm giữ toàn bộ 5 vai trò trong bài lab.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2 • KIẾN TRÚC VÀ CƠ CHẾ HOẠT ĐỘNG</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Cơ Chế Xác Thực Kerberos v5 &amp; Mối Quan Hệ Sống Còn Với DNS</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10 / 16</a:t>
            </a:r>
          </a:p>
        </p:txBody>
      </p:sp>
      <p:sp>
        <p:nvSpPr>
          <p:cNvPr id="7" name="Rounded Rectangle 6"/>
          <p:cNvSpPr/>
          <p:nvPr/>
        </p:nvSpPr>
        <p:spPr>
          <a:xfrm>
            <a:off x="731520" y="1353312"/>
            <a:ext cx="6217920" cy="4892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53312"/>
            <a:ext cx="6217920" cy="384048"/>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Segoe UI"/>
              </a:defRPr>
            </a:pPr>
            <a:r>
              <a:t>QUY TRÌNH XÁC THỰC DỰA TRÊN VÉ KERBEROS V5 (5 BƯỚC)</a:t>
            </a:r>
          </a:p>
        </p:txBody>
      </p:sp>
      <p:sp>
        <p:nvSpPr>
          <p:cNvPr id="9" name="Rounded Rectangle 8"/>
          <p:cNvSpPr/>
          <p:nvPr/>
        </p:nvSpPr>
        <p:spPr>
          <a:xfrm>
            <a:off x="914400" y="1828800"/>
            <a:ext cx="5852160" cy="804672"/>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05840" y="1938528"/>
            <a:ext cx="1508760" cy="292608"/>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Segoe UI"/>
              </a:defRPr>
            </a:pPr>
            <a:r>
              <a:t>Bước 1: AS-REQ</a:t>
            </a:r>
          </a:p>
        </p:txBody>
      </p:sp>
      <p:sp>
        <p:nvSpPr>
          <p:cNvPr id="11" name="TextBox 10"/>
          <p:cNvSpPr txBox="1"/>
          <p:nvPr/>
        </p:nvSpPr>
        <p:spPr>
          <a:xfrm>
            <a:off x="2606040" y="1901952"/>
            <a:ext cx="4069080" cy="658368"/>
          </a:xfrm>
          <a:prstGeom prst="rect">
            <a:avLst/>
          </a:prstGeom>
          <a:noFill/>
        </p:spPr>
        <p:txBody>
          <a:bodyPr wrap="square" lIns="0" rIns="0" tIns="0" bIns="0">
            <a:spAutoFit/>
          </a:bodyPr>
          <a:lstStyle/>
          <a:p>
            <a:pPr>
              <a:defRPr sz="900">
                <a:solidFill>
                  <a:srgbClr val="1E293B"/>
                </a:solidFill>
                <a:latin typeface="Segoe UI"/>
              </a:defRPr>
            </a:pPr>
            <a:r>
              <a:t>Client gửi yêu cầu kèm dấu thời gian (Timestamp) mã hóa bằng mật khẩu người dùng lên KDC.</a:t>
            </a:r>
          </a:p>
        </p:txBody>
      </p:sp>
      <p:sp>
        <p:nvSpPr>
          <p:cNvPr id="12" name="Rounded Rectangle 11"/>
          <p:cNvSpPr/>
          <p:nvPr/>
        </p:nvSpPr>
        <p:spPr>
          <a:xfrm>
            <a:off x="914400" y="2697480"/>
            <a:ext cx="5852160" cy="804672"/>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2807208"/>
            <a:ext cx="1508760" cy="292608"/>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Segoe UI"/>
              </a:defRPr>
            </a:pPr>
            <a:r>
              <a:t>Bước 2: AS-REP</a:t>
            </a:r>
          </a:p>
        </p:txBody>
      </p:sp>
      <p:sp>
        <p:nvSpPr>
          <p:cNvPr id="14" name="TextBox 13"/>
          <p:cNvSpPr txBox="1"/>
          <p:nvPr/>
        </p:nvSpPr>
        <p:spPr>
          <a:xfrm>
            <a:off x="2606040" y="2770632"/>
            <a:ext cx="4069080" cy="658368"/>
          </a:xfrm>
          <a:prstGeom prst="rect">
            <a:avLst/>
          </a:prstGeom>
          <a:noFill/>
        </p:spPr>
        <p:txBody>
          <a:bodyPr wrap="square" lIns="0" rIns="0" tIns="0" bIns="0">
            <a:spAutoFit/>
          </a:bodyPr>
          <a:lstStyle/>
          <a:p>
            <a:pPr>
              <a:defRPr sz="900">
                <a:solidFill>
                  <a:srgbClr val="1E293B"/>
                </a:solidFill>
                <a:latin typeface="Segoe UI"/>
              </a:defRPr>
            </a:pPr>
            <a:r>
              <a:t>KDC giải mã kiểm tra mật khẩu. Nếu đúng, trả về vé cấp vé TGT (Ticket Granting Ticket) mã hóa bằng khóa bí mật KDC.</a:t>
            </a:r>
          </a:p>
        </p:txBody>
      </p:sp>
      <p:sp>
        <p:nvSpPr>
          <p:cNvPr id="15" name="Rounded Rectangle 14"/>
          <p:cNvSpPr/>
          <p:nvPr/>
        </p:nvSpPr>
        <p:spPr>
          <a:xfrm>
            <a:off x="914400" y="3566160"/>
            <a:ext cx="5852160" cy="804672"/>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675888"/>
            <a:ext cx="1508760" cy="29260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Segoe UI"/>
              </a:defRPr>
            </a:pPr>
            <a:r>
              <a:t>Bước 3: TGS-REQ</a:t>
            </a:r>
          </a:p>
        </p:txBody>
      </p:sp>
      <p:sp>
        <p:nvSpPr>
          <p:cNvPr id="17" name="TextBox 16"/>
          <p:cNvSpPr txBox="1"/>
          <p:nvPr/>
        </p:nvSpPr>
        <p:spPr>
          <a:xfrm>
            <a:off x="2606040" y="3639312"/>
            <a:ext cx="4069080" cy="658368"/>
          </a:xfrm>
          <a:prstGeom prst="rect">
            <a:avLst/>
          </a:prstGeom>
          <a:noFill/>
        </p:spPr>
        <p:txBody>
          <a:bodyPr wrap="square" lIns="0" rIns="0" tIns="0" bIns="0">
            <a:spAutoFit/>
          </a:bodyPr>
          <a:lstStyle/>
          <a:p>
            <a:pPr>
              <a:defRPr sz="900">
                <a:solidFill>
                  <a:srgbClr val="1E293B"/>
                </a:solidFill>
                <a:latin typeface="Segoe UI"/>
              </a:defRPr>
            </a:pPr>
            <a:r>
              <a:t>Khi muốn truy cập File Server, Client xuất trình vé TGT lên KDC để xin vé dịch vụ cụ thể.</a:t>
            </a:r>
          </a:p>
        </p:txBody>
      </p:sp>
      <p:sp>
        <p:nvSpPr>
          <p:cNvPr id="18" name="Rounded Rectangle 17"/>
          <p:cNvSpPr/>
          <p:nvPr/>
        </p:nvSpPr>
        <p:spPr>
          <a:xfrm>
            <a:off x="914400" y="4434840"/>
            <a:ext cx="5852160" cy="804672"/>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05840" y="4544568"/>
            <a:ext cx="1508760" cy="29260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Segoe UI"/>
              </a:defRPr>
            </a:pPr>
            <a:r>
              <a:t>Bước 4: TGS-REP</a:t>
            </a:r>
          </a:p>
        </p:txBody>
      </p:sp>
      <p:sp>
        <p:nvSpPr>
          <p:cNvPr id="20" name="TextBox 19"/>
          <p:cNvSpPr txBox="1"/>
          <p:nvPr/>
        </p:nvSpPr>
        <p:spPr>
          <a:xfrm>
            <a:off x="2606040" y="4507992"/>
            <a:ext cx="4069080" cy="658368"/>
          </a:xfrm>
          <a:prstGeom prst="rect">
            <a:avLst/>
          </a:prstGeom>
          <a:noFill/>
        </p:spPr>
        <p:txBody>
          <a:bodyPr wrap="square" lIns="0" rIns="0" tIns="0" bIns="0">
            <a:spAutoFit/>
          </a:bodyPr>
          <a:lstStyle/>
          <a:p>
            <a:pPr>
              <a:defRPr sz="900">
                <a:solidFill>
                  <a:srgbClr val="1E293B"/>
                </a:solidFill>
                <a:latin typeface="Segoe UI"/>
              </a:defRPr>
            </a:pPr>
            <a:r>
              <a:t>KDC kiểm tra TGT hợp lệ và cấp cho Client một vé dịch vụ Service Ticket (TGS Ticket).</a:t>
            </a:r>
          </a:p>
        </p:txBody>
      </p:sp>
      <p:sp>
        <p:nvSpPr>
          <p:cNvPr id="21" name="Rounded Rectangle 20"/>
          <p:cNvSpPr/>
          <p:nvPr/>
        </p:nvSpPr>
        <p:spPr>
          <a:xfrm>
            <a:off x="914400" y="5303520"/>
            <a:ext cx="5852160" cy="804672"/>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05840" y="5413248"/>
            <a:ext cx="1508760" cy="29260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Segoe UI"/>
              </a:defRPr>
            </a:pPr>
            <a:r>
              <a:t>Bước 5: AP-REQ / AP-REP</a:t>
            </a:r>
          </a:p>
        </p:txBody>
      </p:sp>
      <p:sp>
        <p:nvSpPr>
          <p:cNvPr id="23" name="TextBox 22"/>
          <p:cNvSpPr txBox="1"/>
          <p:nvPr/>
        </p:nvSpPr>
        <p:spPr>
          <a:xfrm>
            <a:off x="2606040" y="5376672"/>
            <a:ext cx="4069080" cy="658368"/>
          </a:xfrm>
          <a:prstGeom prst="rect">
            <a:avLst/>
          </a:prstGeom>
          <a:noFill/>
        </p:spPr>
        <p:txBody>
          <a:bodyPr wrap="square" lIns="0" rIns="0" tIns="0" bIns="0">
            <a:spAutoFit/>
          </a:bodyPr>
          <a:lstStyle/>
          <a:p>
            <a:pPr>
              <a:defRPr sz="900">
                <a:solidFill>
                  <a:srgbClr val="1E293B"/>
                </a:solidFill>
                <a:latin typeface="Segoe UI"/>
              </a:defRPr>
            </a:pPr>
            <a:r>
              <a:t>Client trình vé Service Ticket cho File Server. Server giải mã vé và cho phép truy cập an toàn mà không lộ mật khẩu gốc.</a:t>
            </a:r>
          </a:p>
        </p:txBody>
      </p:sp>
      <p:sp>
        <p:nvSpPr>
          <p:cNvPr id="24" name="Rounded Rectangle 23"/>
          <p:cNvSpPr/>
          <p:nvPr/>
        </p:nvSpPr>
        <p:spPr>
          <a:xfrm>
            <a:off x="7205472" y="1353312"/>
            <a:ext cx="4251960" cy="4892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05472" y="1353312"/>
            <a:ext cx="4251960" cy="38404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Segoe UI"/>
              </a:defRPr>
            </a:pPr>
            <a:r>
              <a:t>MỐI QUAN HỆ SỐNG CÒN VỚI DNS SERVER</a:t>
            </a:r>
          </a:p>
        </p:txBody>
      </p:sp>
      <p:sp>
        <p:nvSpPr>
          <p:cNvPr id="26" name="TextBox 25"/>
          <p:cNvSpPr txBox="1"/>
          <p:nvPr/>
        </p:nvSpPr>
        <p:spPr>
          <a:xfrm>
            <a:off x="7360920" y="1810512"/>
            <a:ext cx="3931920" cy="2651760"/>
          </a:xfrm>
          <a:prstGeom prst="rect">
            <a:avLst/>
          </a:prstGeom>
          <a:noFill/>
        </p:spPr>
        <p:txBody>
          <a:bodyPr wrap="square" lIns="0" rIns="0" tIns="0" bIns="0">
            <a:spAutoFit/>
          </a:bodyPr>
          <a:lstStyle/>
          <a:p/>
          <a:p>
            <a:pPr>
              <a:spcBef>
                <a:spcPts val="200"/>
              </a:spcBef>
              <a:spcAft>
                <a:spcPts val="400"/>
              </a:spcAft>
            </a:pPr>
            <a:r>
              <a:rPr sz="900" b="1">
                <a:solidFill>
                  <a:srgbClr val="1E293B"/>
                </a:solidFill>
                <a:latin typeface="Segoe UI"/>
              </a:rPr>
              <a:t>• Khẳng định kỹ thuật: </a:t>
            </a:r>
            <a:r>
              <a:rPr sz="900" b="0">
                <a:solidFill>
                  <a:srgbClr val="1E293B"/>
                </a:solidFill>
                <a:latin typeface="Segoe UI"/>
              </a:rPr>
              <a:t>Active Directory KHÔNG THỂ hoạt động nếu thiếu máy chủ DNS!</a:t>
            </a:r>
          </a:p>
          <a:p>
            <a:pPr>
              <a:spcBef>
                <a:spcPts val="200"/>
              </a:spcBef>
              <a:spcAft>
                <a:spcPts val="400"/>
              </a:spcAft>
            </a:pPr>
            <a:r>
              <a:rPr sz="900" b="1">
                <a:solidFill>
                  <a:srgbClr val="1E293B"/>
                </a:solidFill>
                <a:latin typeface="Segoe UI"/>
              </a:rPr>
              <a:t>• Bản ghi dịch vụ SRV: </a:t>
            </a:r>
            <a:r>
              <a:rPr sz="900" b="0">
                <a:solidFill>
                  <a:srgbClr val="1E293B"/>
                </a:solidFill>
                <a:latin typeface="Segoe UI"/>
              </a:rPr>
              <a:t>Client định vị Domain Controller qua bản ghi SRV: _ldap._tcp.dc._msdcs.&lt;domain&gt; (cổng 389) và _kerberos._tcp.dc._msdcs.&lt;domain&gt; (cổng 88).</a:t>
            </a:r>
          </a:p>
          <a:p>
            <a:pPr>
              <a:spcBef>
                <a:spcPts val="200"/>
              </a:spcBef>
              <a:spcAft>
                <a:spcPts val="400"/>
              </a:spcAft>
            </a:pPr>
            <a:r>
              <a:rPr sz="900" b="1">
                <a:solidFill>
                  <a:srgbClr val="1E293B"/>
                </a:solidFill>
                <a:latin typeface="Segoe UI"/>
              </a:rPr>
              <a:t>• Đăng ký động DDNS: </a:t>
            </a:r>
            <a:r>
              <a:rPr sz="900" b="0">
                <a:solidFill>
                  <a:srgbClr val="1E293B"/>
                </a:solidFill>
                <a:latin typeface="Segoe UI"/>
              </a:rPr>
              <a:t>Dịch vụ Netlogon trên DC tự động ghi nhận địa chỉ IP và bản ghi SRV vào DNS.</a:t>
            </a:r>
          </a:p>
          <a:p>
            <a:pPr>
              <a:spcBef>
                <a:spcPts val="200"/>
              </a:spcBef>
              <a:spcAft>
                <a:spcPts val="400"/>
              </a:spcAft>
            </a:pPr>
            <a:r>
              <a:rPr sz="900" b="1">
                <a:solidFill>
                  <a:srgbClr val="1E293B"/>
                </a:solidFill>
                <a:latin typeface="Segoe UI"/>
              </a:rPr>
              <a:t>• Lỗi kinh điển thường gặp: </a:t>
            </a:r>
            <a:r>
              <a:rPr sz="900" b="0">
                <a:solidFill>
                  <a:srgbClr val="1E293B"/>
                </a:solidFill>
                <a:latin typeface="Segoe UI"/>
              </a:rPr>
              <a:t>99% lỗi Join Domain thất bại là do máy trạm trỏ sai DNS (ví dụ trỏ 8.8.8.8 thay vì trỏ IP của DC).</a:t>
            </a:r>
          </a:p>
          <a:p>
            <a:pPr>
              <a:spcBef>
                <a:spcPts val="200"/>
              </a:spcBef>
              <a:spcAft>
                <a:spcPts val="400"/>
              </a:spcAft>
            </a:pPr>
            <a:r>
              <a:rPr sz="900" b="1">
                <a:solidFill>
                  <a:srgbClr val="1E293B"/>
                </a:solidFill>
                <a:latin typeface="Segoe UI"/>
              </a:rPr>
              <a:t>• Tích hợp AD-Integrated: </a:t>
            </a:r>
            <a:r>
              <a:rPr sz="900" b="0">
                <a:solidFill>
                  <a:srgbClr val="1E293B"/>
                </a:solidFill>
                <a:latin typeface="Segoe UI"/>
              </a:rPr>
              <a:t>Zone lưu trong ntds.dit, đồng bộ an toàn qua Multi-Master.</a:t>
            </a:r>
          </a:p>
        </p:txBody>
      </p:sp>
      <p:sp>
        <p:nvSpPr>
          <p:cNvPr id="27" name="Rounded Rectangle 26"/>
          <p:cNvSpPr/>
          <p:nvPr/>
        </p:nvSpPr>
        <p:spPr>
          <a:xfrm>
            <a:off x="7360920" y="4572000"/>
            <a:ext cx="3931920" cy="1536192"/>
          </a:xfrm>
          <a:prstGeom prst="roundRect">
            <a:avLst/>
          </a:prstGeom>
          <a:solidFill>
            <a:srgbClr val="EFF6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tIns="91440" bIns="91440"/>
          <a:lstStyle/>
          <a:p>
            <a:pPr algn="ctr">
              <a:defRPr sz="900" b="1">
                <a:solidFill>
                  <a:srgbClr val="003366"/>
                </a:solidFill>
                <a:latin typeface="Segoe UI"/>
              </a:defRPr>
            </a:pPr>
            <a:r>
              <a:t>[SƠ ĐỒ TRUY VẤN BẢN GHI SRV TRÊN LAB]:</a:t>
            </a:r>
          </a:p>
          <a:p>
            <a:pPr>
              <a:spcBef>
                <a:spcPts val="300"/>
              </a:spcBef>
              <a:defRPr sz="850">
                <a:solidFill>
                  <a:srgbClr val="1E293B"/>
                </a:solidFill>
                <a:latin typeface="Segoe UI"/>
              </a:defRPr>
            </a:pPr>
            <a:r>
              <a:t>1. Client Win 7 truy vấn: _ldap._tcp.dc._msdcs.nhom1.vn</a:t>
            </a:r>
            <a:br/>
            <a:r>
              <a:t>2. DNS Server trả về: IP 192.168.11.1 (Cổng 389)</a:t>
            </a:r>
            <a:br/>
            <a:r>
              <a:t>3. Client kết nối an toàn tới DC thăng cấp xác thực.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3 • TÍNH NĂNG NÂNG CAO, BẢO MẬT &amp; BỘ CÔNG CỤ ADPREP</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Bảo Mật Chi Nhánh Với Read-Only Domain Controller (RODC)</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11 / 16</a:t>
            </a:r>
          </a:p>
        </p:txBody>
      </p:sp>
      <p:sp>
        <p:nvSpPr>
          <p:cNvPr id="7" name="Rounded Rectangle 6"/>
          <p:cNvSpPr/>
          <p:nvPr/>
        </p:nvSpPr>
        <p:spPr>
          <a:xfrm>
            <a:off x="731520" y="1325880"/>
            <a:ext cx="10728655" cy="86868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defRPr sz="1000" b="1">
                <a:solidFill>
                  <a:srgbClr val="DC2626"/>
                </a:solidFill>
                <a:latin typeface="Segoe UI"/>
              </a:defRPr>
            </a:pPr>
            <a:r>
              <a:t>[NGUY CƠ AN NINH VẬT LÝ] TẠI CÁC VĂN PHÒNG CHI NHÁNH (BRANCH OFFICE):</a:t>
            </a:r>
          </a:p>
          <a:p>
            <a:pPr>
              <a:spcBef>
                <a:spcPts val="200"/>
              </a:spcBef>
              <a:defRPr sz="900">
                <a:solidFill>
                  <a:srgbClr val="1E293B"/>
                </a:solidFill>
                <a:latin typeface="Segoe UI"/>
              </a:defRPr>
            </a:pPr>
            <a:r>
              <a:t>Văn phòng chi nhánh thường không có phòng máy chủ an ninh và thiếu IT chuyên trách. Nếu đặt DC ghi/đọc thông thường, kẻ gian có thể đánh cắp máy chủ, trích xuất tệp ntds.dit và bẻ khóa toàn bộ tài khoản quản trị tập đoàn!</a:t>
            </a:r>
          </a:p>
        </p:txBody>
      </p:sp>
      <p:sp>
        <p:nvSpPr>
          <p:cNvPr id="8" name="Rounded Rectangle 7"/>
          <p:cNvSpPr/>
          <p:nvPr/>
        </p:nvSpPr>
        <p:spPr>
          <a:xfrm>
            <a:off x="731520" y="2331720"/>
            <a:ext cx="3401568" cy="2514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331720"/>
            <a:ext cx="3401568" cy="50292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1. CƠ SỞ DỮ LIỆU CHỈ ĐỌC</a:t>
            </a:r>
            <a:br/>
            <a:r>
              <a:t>(Read-Only Database)</a:t>
            </a:r>
          </a:p>
        </p:txBody>
      </p:sp>
      <p:sp>
        <p:nvSpPr>
          <p:cNvPr id="10" name="TextBox 9"/>
          <p:cNvSpPr txBox="1"/>
          <p:nvPr/>
        </p:nvSpPr>
        <p:spPr>
          <a:xfrm>
            <a:off x="841248" y="2880360"/>
            <a:ext cx="3182112" cy="1892808"/>
          </a:xfrm>
          <a:prstGeom prst="rect">
            <a:avLst/>
          </a:prstGeom>
          <a:noFill/>
        </p:spPr>
        <p:txBody>
          <a:bodyPr wrap="square" lIns="0" rIns="0" tIns="0" bIns="0">
            <a:spAutoFit/>
          </a:bodyPr>
          <a:lstStyle/>
          <a:p/>
          <a:p>
            <a:pPr>
              <a:spcBef>
                <a:spcPts val="200"/>
              </a:spcBef>
              <a:spcAft>
                <a:spcPts val="400"/>
              </a:spcAft>
            </a:pPr>
            <a:r>
              <a:rPr sz="850" b="1">
                <a:solidFill>
                  <a:srgbClr val="1E293B"/>
                </a:solidFill>
                <a:latin typeface="Segoe UI"/>
              </a:rPr>
              <a:t>• Không thể ghi đè: </a:t>
            </a:r>
            <a:r>
              <a:rPr sz="850" b="0">
                <a:solidFill>
                  <a:srgbClr val="1E293B"/>
                </a:solidFill>
                <a:latin typeface="Segoe UI"/>
              </a:rPr>
              <a:t>Mọi dữ liệu trên RODC đều là bản sao chỉ đọc. Kẻ tấn công không thể tạo user giả mạo hoặc sửa pass trực tiếp tại chi nhánh.</a:t>
            </a:r>
          </a:p>
          <a:p>
            <a:pPr>
              <a:spcBef>
                <a:spcPts val="200"/>
              </a:spcBef>
              <a:spcAft>
                <a:spcPts val="400"/>
              </a:spcAft>
            </a:pPr>
            <a:r>
              <a:rPr sz="850" b="1">
                <a:solidFill>
                  <a:srgbClr val="1E293B"/>
                </a:solidFill>
                <a:latin typeface="Segoe UI"/>
              </a:rPr>
              <a:t>• Chuyển tiếp an toàn: </a:t>
            </a:r>
            <a:r>
              <a:rPr sz="850" b="0">
                <a:solidFill>
                  <a:srgbClr val="1E293B"/>
                </a:solidFill>
                <a:latin typeface="Segoe UI"/>
              </a:rPr>
              <a:t>Mọi yêu cầu thay đổi cấu hình bắt buộc phải chuyển tiếp bảo mật về Writable DC tại hội sở chính xác nhận.</a:t>
            </a:r>
          </a:p>
          <a:p>
            <a:pPr>
              <a:spcBef>
                <a:spcPts val="200"/>
              </a:spcBef>
              <a:spcAft>
                <a:spcPts val="400"/>
              </a:spcAft>
            </a:pPr>
            <a:r>
              <a:rPr sz="850" b="1">
                <a:solidFill>
                  <a:srgbClr val="1E293B"/>
                </a:solidFill>
                <a:latin typeface="Segoe UI"/>
              </a:rPr>
              <a:t>• Đồng bộ 1 chiều: </a:t>
            </a:r>
            <a:r>
              <a:rPr sz="850" b="0">
                <a:solidFill>
                  <a:srgbClr val="1E293B"/>
                </a:solidFill>
                <a:latin typeface="Segoe UI"/>
              </a:rPr>
              <a:t>Dữ liệu chỉ chảy từ Writable DC -&gt; RODC, hoàn toàn ngăn chặn lây nhiễm ngược.</a:t>
            </a:r>
          </a:p>
        </p:txBody>
      </p:sp>
      <p:sp>
        <p:nvSpPr>
          <p:cNvPr id="11" name="Rounded Rectangle 10"/>
          <p:cNvSpPr/>
          <p:nvPr/>
        </p:nvSpPr>
        <p:spPr>
          <a:xfrm>
            <a:off x="4389120" y="2331720"/>
            <a:ext cx="3401568" cy="2514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9120" y="2331720"/>
            <a:ext cx="3401568"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2. CHÍNH SÁCH CACHE MẬT KHẨU</a:t>
            </a:r>
            <a:br/>
            <a:r>
              <a:t>(Password Replication Policy - PRP)</a:t>
            </a:r>
          </a:p>
        </p:txBody>
      </p:sp>
      <p:sp>
        <p:nvSpPr>
          <p:cNvPr id="13" name="TextBox 12"/>
          <p:cNvSpPr txBox="1"/>
          <p:nvPr/>
        </p:nvSpPr>
        <p:spPr>
          <a:xfrm>
            <a:off x="4498848" y="2880360"/>
            <a:ext cx="3182112" cy="1892808"/>
          </a:xfrm>
          <a:prstGeom prst="rect">
            <a:avLst/>
          </a:prstGeom>
          <a:noFill/>
        </p:spPr>
        <p:txBody>
          <a:bodyPr wrap="square" lIns="0" rIns="0" tIns="0" bIns="0">
            <a:spAutoFit/>
          </a:bodyPr>
          <a:lstStyle/>
          <a:p/>
          <a:p>
            <a:pPr>
              <a:spcBef>
                <a:spcPts val="200"/>
              </a:spcBef>
              <a:spcAft>
                <a:spcPts val="400"/>
              </a:spcAft>
            </a:pPr>
            <a:r>
              <a:rPr sz="850" b="1">
                <a:solidFill>
                  <a:srgbClr val="1E293B"/>
                </a:solidFill>
                <a:latin typeface="Segoe UI"/>
              </a:rPr>
              <a:t>• Mặc định không lưu mật khẩu: </a:t>
            </a:r>
            <a:r>
              <a:rPr sz="850" b="0">
                <a:solidFill>
                  <a:srgbClr val="1E293B"/>
                </a:solidFill>
                <a:latin typeface="Segoe UI"/>
              </a:rPr>
              <a:t>RODC hoàn toàn KHÔNG lưu bất kỳ mật khẩu nào của tài khoản Quản trị viên (Domain Admins) hay hội sở.</a:t>
            </a:r>
          </a:p>
          <a:p>
            <a:pPr>
              <a:spcBef>
                <a:spcPts val="200"/>
              </a:spcBef>
              <a:spcAft>
                <a:spcPts val="400"/>
              </a:spcAft>
            </a:pPr>
            <a:r>
              <a:rPr sz="850" b="1">
                <a:solidFill>
                  <a:srgbClr val="1E293B"/>
                </a:solidFill>
                <a:latin typeface="Segoe UI"/>
              </a:rPr>
              <a:t>• Chỉ cache user chi nhánh: </a:t>
            </a:r>
            <a:r>
              <a:rPr sz="850" b="0">
                <a:solidFill>
                  <a:srgbClr val="1E293B"/>
                </a:solidFill>
                <a:latin typeface="Segoe UI"/>
              </a:rPr>
              <a:t>Chỉ lưu mật khẩu của đúng những nhân viên làm việc tại chi nhánh đó. Nếu máy chủ bị cắp, toàn hệ thống vẫn an toàn 100%!</a:t>
            </a:r>
          </a:p>
          <a:p>
            <a:pPr>
              <a:spcBef>
                <a:spcPts val="200"/>
              </a:spcBef>
              <a:spcAft>
                <a:spcPts val="400"/>
              </a:spcAft>
            </a:pPr>
            <a:r>
              <a:rPr sz="850" b="1">
                <a:solidFill>
                  <a:srgbClr val="1E293B"/>
                </a:solidFill>
                <a:latin typeface="Segoe UI"/>
              </a:rPr>
              <a:t>• Tài khoản krbgt riêng: </a:t>
            </a:r>
            <a:r>
              <a:rPr sz="850" b="0">
                <a:solidFill>
                  <a:srgbClr val="1E293B"/>
                </a:solidFill>
                <a:latin typeface="Segoe UI"/>
              </a:rPr>
              <a:t>RODC sử dụng tài khoản krbtgt riêng biệt, thu hồi dễ dàng khi bị xâm phạm.</a:t>
            </a:r>
          </a:p>
        </p:txBody>
      </p:sp>
      <p:sp>
        <p:nvSpPr>
          <p:cNvPr id="14" name="Rounded Rectangle 13"/>
          <p:cNvSpPr/>
          <p:nvPr/>
        </p:nvSpPr>
        <p:spPr>
          <a:xfrm>
            <a:off x="8046720" y="2331720"/>
            <a:ext cx="3401568" cy="2514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0" y="2331720"/>
            <a:ext cx="3401568" cy="50292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3. PHÂN TÁCH QUẢN TRỊ CỤC BỘ</a:t>
            </a:r>
            <a:br/>
            <a:r>
              <a:t>(Admin Role Separation)</a:t>
            </a:r>
          </a:p>
        </p:txBody>
      </p:sp>
      <p:sp>
        <p:nvSpPr>
          <p:cNvPr id="16" name="TextBox 15"/>
          <p:cNvSpPr txBox="1"/>
          <p:nvPr/>
        </p:nvSpPr>
        <p:spPr>
          <a:xfrm>
            <a:off x="8156448" y="2880360"/>
            <a:ext cx="3182112" cy="1892808"/>
          </a:xfrm>
          <a:prstGeom prst="rect">
            <a:avLst/>
          </a:prstGeom>
          <a:noFill/>
        </p:spPr>
        <p:txBody>
          <a:bodyPr wrap="square" lIns="0" rIns="0" tIns="0" bIns="0">
            <a:spAutoFit/>
          </a:bodyPr>
          <a:lstStyle/>
          <a:p/>
          <a:p>
            <a:pPr>
              <a:spcBef>
                <a:spcPts val="200"/>
              </a:spcBef>
              <a:spcAft>
                <a:spcPts val="400"/>
              </a:spcAft>
            </a:pPr>
            <a:r>
              <a:rPr sz="850" b="1">
                <a:solidFill>
                  <a:srgbClr val="1E293B"/>
                </a:solidFill>
                <a:latin typeface="Segoe UI"/>
              </a:rPr>
              <a:t>• Trao quyền hạn chế: </a:t>
            </a:r>
            <a:r>
              <a:rPr sz="850" b="0">
                <a:solidFill>
                  <a:srgbClr val="1E293B"/>
                </a:solidFill>
                <a:latin typeface="Segoe UI"/>
              </a:rPr>
              <a:t>Cho phép nhân viên IT tại chi nhánh có quyền quản trị phần cứng, khởi động lại server hoặc cài driver máy in.</a:t>
            </a:r>
          </a:p>
          <a:p>
            <a:pPr>
              <a:spcBef>
                <a:spcPts val="200"/>
              </a:spcBef>
              <a:spcAft>
                <a:spcPts val="400"/>
              </a:spcAft>
            </a:pPr>
            <a:r>
              <a:rPr sz="850" b="1">
                <a:solidFill>
                  <a:srgbClr val="1E293B"/>
                </a:solidFill>
                <a:latin typeface="Segoe UI"/>
              </a:rPr>
              <a:t>• Không có quyền trên AD: </a:t>
            </a:r>
            <a:r>
              <a:rPr sz="850" b="0">
                <a:solidFill>
                  <a:srgbClr val="1E293B"/>
                </a:solidFill>
                <a:latin typeface="Segoe UI"/>
              </a:rPr>
              <a:t>Nhân viên IT này hoàn toàn KHÔNG có bất kỳ quyền hạn nào trên hệ thống danh bạ Active Directory toàn mạng.</a:t>
            </a:r>
          </a:p>
          <a:p>
            <a:pPr>
              <a:spcBef>
                <a:spcPts val="200"/>
              </a:spcBef>
              <a:spcAft>
                <a:spcPts val="400"/>
              </a:spcAft>
            </a:pPr>
            <a:r>
              <a:rPr sz="850" b="1">
                <a:solidFill>
                  <a:srgbClr val="1E293B"/>
                </a:solidFill>
                <a:latin typeface="Segoe UI"/>
              </a:rPr>
              <a:t>• Ủy quyền qua ManagedBy: </a:t>
            </a:r>
            <a:r>
              <a:rPr sz="850" b="0">
                <a:solidFill>
                  <a:srgbClr val="1E293B"/>
                </a:solidFill>
                <a:latin typeface="Segoe UI"/>
              </a:rPr>
              <a:t>Cấu hình đơn giản qua thuộc tính 'ManagedBy' của máy tính RODC.</a:t>
            </a:r>
          </a:p>
        </p:txBody>
      </p:sp>
      <p:sp>
        <p:nvSpPr>
          <p:cNvPr id="17" name="Rounded Rectangle 16"/>
          <p:cNvSpPr/>
          <p:nvPr/>
        </p:nvSpPr>
        <p:spPr>
          <a:xfrm>
            <a:off x="731520" y="4956048"/>
            <a:ext cx="10728655" cy="1353312"/>
          </a:xfrm>
          <a:prstGeom prst="roundRect">
            <a:avLst/>
          </a:prstGeom>
          <a:solidFill>
            <a:srgbClr val="EFF6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5840" y="5074920"/>
            <a:ext cx="3291840" cy="658368"/>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Segoe UI"/>
              </a:defRPr>
            </a:pPr>
            <a:r>
              <a:t>HỘI SỞ CHÍNH (HEADQUARTERS)</a:t>
            </a:r>
            <a:br/>
            <a:r>
              <a:t>Writable DC (Đọc/Ghi) • CSDL ntds.dit đầy đủ</a:t>
            </a:r>
          </a:p>
        </p:txBody>
      </p:sp>
      <p:sp>
        <p:nvSpPr>
          <p:cNvPr id="19" name="Right Arrow 18"/>
          <p:cNvSpPr/>
          <p:nvPr/>
        </p:nvSpPr>
        <p:spPr>
          <a:xfrm>
            <a:off x="4434840" y="5230368"/>
            <a:ext cx="1371600" cy="347472"/>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Segoe UI"/>
              </a:defRPr>
            </a:pPr>
            <a:r>
              <a:t>VPN (1 chiều)</a:t>
            </a:r>
          </a:p>
        </p:txBody>
      </p:sp>
      <p:sp>
        <p:nvSpPr>
          <p:cNvPr id="20" name="Rounded Rectangle 19"/>
          <p:cNvSpPr/>
          <p:nvPr/>
        </p:nvSpPr>
        <p:spPr>
          <a:xfrm>
            <a:off x="5943600" y="5074920"/>
            <a:ext cx="3291840" cy="65836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Segoe UI"/>
              </a:defRPr>
            </a:pPr>
            <a:r>
              <a:t>VĂN PHÒNG CHI NHÁNH (BRANCH OFFICE)</a:t>
            </a:r>
            <a:br/>
            <a:r>
              <a:t>RODC (Chỉ đọc) • Cache Password cục bộ qua PRP</a:t>
            </a:r>
          </a:p>
        </p:txBody>
      </p:sp>
      <p:sp>
        <p:nvSpPr>
          <p:cNvPr id="21" name="Rounded Rectangle 20"/>
          <p:cNvSpPr/>
          <p:nvPr/>
        </p:nvSpPr>
        <p:spPr>
          <a:xfrm>
            <a:off x="9418320" y="5074920"/>
            <a:ext cx="1737360" cy="658368"/>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6A34A"/>
                </a:solidFill>
                <a:latin typeface="Segoe UI"/>
              </a:defRPr>
            </a:pPr>
            <a:r>
              <a:t>Client Chi Nhánh</a:t>
            </a:r>
            <a:br/>
            <a:r>
              <a:t>(Xác thực tức thì)</a:t>
            </a:r>
          </a:p>
        </p:txBody>
      </p:sp>
      <p:sp>
        <p:nvSpPr>
          <p:cNvPr id="22" name="TextBox 21"/>
          <p:cNvSpPr txBox="1"/>
          <p:nvPr/>
        </p:nvSpPr>
        <p:spPr>
          <a:xfrm>
            <a:off x="914400" y="5833872"/>
            <a:ext cx="10332720" cy="384048"/>
          </a:xfrm>
          <a:prstGeom prst="rect">
            <a:avLst/>
          </a:prstGeom>
          <a:noFill/>
        </p:spPr>
        <p:txBody>
          <a:bodyPr wrap="square">
            <a:spAutoFit/>
          </a:bodyPr>
          <a:lstStyle/>
          <a:p>
            <a:pPr algn="ctr">
              <a:defRPr sz="850" b="1">
                <a:solidFill>
                  <a:srgbClr val="003366"/>
                </a:solidFill>
                <a:latin typeface="Segoe UI"/>
              </a:defRPr>
            </a:pPr>
            <a:r>
              <a:t>[LỢI ÍCH SỐNG CÒN]: Khi đứt cáp quang WAN, Client chi nhánh vẫn đăng nhập bình thường bằng vé trong Cache PRP! Nếu máy chủ RODC bị đánh cắp, mật khẩu Admin không bao giờ bị lộ!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3 • TÍNH NĂNG NÂNG CAO, BẢO MẬT &amp; BỘ CÔNG CỤ ADPREP</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Bộ Công Cụ ADPREP: Mở Rộng Hạ Tầng &amp; Quy Trình Nâng Cấp</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12 / 16</a:t>
            </a:r>
          </a:p>
        </p:txBody>
      </p:sp>
      <p:sp>
        <p:nvSpPr>
          <p:cNvPr id="7" name="Rounded Rectangle 6"/>
          <p:cNvSpPr/>
          <p:nvPr/>
        </p:nvSpPr>
        <p:spPr>
          <a:xfrm>
            <a:off x="731520" y="1353312"/>
            <a:ext cx="3401568" cy="3063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53312"/>
            <a:ext cx="3401568" cy="384048"/>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1. LỆNH: adprep /forestprep</a:t>
            </a:r>
          </a:p>
        </p:txBody>
      </p:sp>
      <p:sp>
        <p:nvSpPr>
          <p:cNvPr id="9" name="TextBox 8"/>
          <p:cNvSpPr txBox="1"/>
          <p:nvPr/>
        </p:nvSpPr>
        <p:spPr>
          <a:xfrm>
            <a:off x="841248" y="1792224"/>
            <a:ext cx="3182112" cy="2560320"/>
          </a:xfrm>
          <a:prstGeom prst="rect">
            <a:avLst/>
          </a:prstGeom>
          <a:noFill/>
        </p:spPr>
        <p:txBody>
          <a:bodyPr wrap="square" lIns="0" rIns="0" tIns="0" bIns="0">
            <a:spAutoFit/>
          </a:bodyPr>
          <a:lstStyle/>
          <a:p>
            <a:pPr>
              <a:defRPr sz="950" b="1">
                <a:solidFill>
                  <a:srgbClr val="003366"/>
                </a:solidFill>
                <a:latin typeface="Segoe UI"/>
              </a:defRPr>
            </a:pPr>
            <a:r>
              <a:t>Cập Nhật Cấu Trúc Schema Rừng</a:t>
            </a:r>
          </a:p>
          <a:p>
            <a:pPr>
              <a:spcBef>
                <a:spcPts val="200"/>
              </a:spcBef>
              <a:spcAft>
                <a:spcPts val="400"/>
              </a:spcAft>
            </a:pPr>
            <a:r>
              <a:rPr sz="850" b="1">
                <a:solidFill>
                  <a:srgbClr val="1E293B"/>
                </a:solidFill>
                <a:latin typeface="Segoe UI"/>
              </a:rPr>
              <a:t>• Mục đích: </a:t>
            </a:r>
            <a:r>
              <a:rPr sz="850" b="0">
                <a:solidFill>
                  <a:srgbClr val="1E293B"/>
                </a:solidFill>
                <a:latin typeface="Segoe UI"/>
              </a:rPr>
              <a:t>Mở rộng và nạp các lớp/thuộc tính Schema mới của hệ điều hành Windows Server mới.</a:t>
            </a:r>
          </a:p>
          <a:p>
            <a:pPr>
              <a:spcBef>
                <a:spcPts val="200"/>
              </a:spcBef>
              <a:spcAft>
                <a:spcPts val="400"/>
              </a:spcAft>
            </a:pPr>
            <a:r>
              <a:rPr sz="850" b="1">
                <a:solidFill>
                  <a:srgbClr val="1E293B"/>
                </a:solidFill>
                <a:latin typeface="Segoe UI"/>
              </a:rPr>
              <a:t>• Máy chủ thực thi: </a:t>
            </a:r>
            <a:r>
              <a:rPr sz="850" b="0">
                <a:solidFill>
                  <a:srgbClr val="1E293B"/>
                </a:solidFill>
                <a:latin typeface="Segoe UI"/>
              </a:rPr>
              <a:t>Bắt buộc chạy trên máy chủ nắm giữ vai trò Schema Master.</a:t>
            </a:r>
          </a:p>
          <a:p>
            <a:pPr>
              <a:spcBef>
                <a:spcPts val="200"/>
              </a:spcBef>
              <a:spcAft>
                <a:spcPts val="400"/>
              </a:spcAft>
            </a:pPr>
            <a:r>
              <a:rPr sz="850" b="1">
                <a:solidFill>
                  <a:srgbClr val="1E293B"/>
                </a:solidFill>
                <a:latin typeface="Segoe UI"/>
              </a:rPr>
              <a:t>• Quyền hạn tối thiểu: </a:t>
            </a:r>
            <a:r>
              <a:rPr sz="850" b="0">
                <a:solidFill>
                  <a:srgbClr val="1E293B"/>
                </a:solidFill>
                <a:latin typeface="Segoe UI"/>
              </a:rPr>
              <a:t>Tài khoản thành viên Schema Admins và Enterprise Admins.</a:t>
            </a:r>
          </a:p>
          <a:p>
            <a:pPr>
              <a:spcBef>
                <a:spcPts val="200"/>
              </a:spcBef>
              <a:spcAft>
                <a:spcPts val="400"/>
              </a:spcAft>
            </a:pPr>
            <a:r>
              <a:rPr sz="850" b="1">
                <a:solidFill>
                  <a:srgbClr val="1E293B"/>
                </a:solidFill>
                <a:latin typeface="Segoe UI"/>
              </a:rPr>
              <a:t>• Đặc tính cốt lõi: </a:t>
            </a:r>
            <a:r>
              <a:rPr sz="850" b="0">
                <a:solidFill>
                  <a:srgbClr val="1E293B"/>
                </a:solidFill>
                <a:latin typeface="Segoe UI"/>
              </a:rPr>
              <a:t>Chỉ thực thi DUY NHẤT 1 lần cho toàn bộ Forest.</a:t>
            </a:r>
          </a:p>
          <a:p>
            <a:pPr>
              <a:spcBef>
                <a:spcPts val="200"/>
              </a:spcBef>
              <a:spcAft>
                <a:spcPts val="400"/>
              </a:spcAft>
            </a:pPr>
            <a:r>
              <a:rPr sz="850" b="1">
                <a:solidFill>
                  <a:srgbClr val="1E293B"/>
                </a:solidFill>
                <a:latin typeface="Segoe UI"/>
              </a:rPr>
              <a:t>• Thư mục Log: </a:t>
            </a:r>
            <a:r>
              <a:rPr sz="850" b="0">
                <a:solidFill>
                  <a:srgbClr val="1E293B"/>
                </a:solidFill>
                <a:latin typeface="Segoe UI"/>
              </a:rPr>
              <a:t>Ghi nhận tiến trình tại C:\Windows\debug\adprep\logs\.</a:t>
            </a:r>
          </a:p>
        </p:txBody>
      </p:sp>
      <p:sp>
        <p:nvSpPr>
          <p:cNvPr id="10" name="Rounded Rectangle 9"/>
          <p:cNvSpPr/>
          <p:nvPr/>
        </p:nvSpPr>
        <p:spPr>
          <a:xfrm>
            <a:off x="4389120" y="1353312"/>
            <a:ext cx="3401568" cy="3063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1353312"/>
            <a:ext cx="3401568" cy="38404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2. LỆNH: adprep /domainprep /gpprep</a:t>
            </a:r>
          </a:p>
        </p:txBody>
      </p:sp>
      <p:sp>
        <p:nvSpPr>
          <p:cNvPr id="12" name="TextBox 11"/>
          <p:cNvSpPr txBox="1"/>
          <p:nvPr/>
        </p:nvSpPr>
        <p:spPr>
          <a:xfrm>
            <a:off x="4498848" y="1792224"/>
            <a:ext cx="3182112" cy="2560320"/>
          </a:xfrm>
          <a:prstGeom prst="rect">
            <a:avLst/>
          </a:prstGeom>
          <a:noFill/>
        </p:spPr>
        <p:txBody>
          <a:bodyPr wrap="square" lIns="0" rIns="0" tIns="0" bIns="0">
            <a:spAutoFit/>
          </a:bodyPr>
          <a:lstStyle/>
          <a:p>
            <a:pPr>
              <a:defRPr sz="950" b="1">
                <a:solidFill>
                  <a:srgbClr val="0E7490"/>
                </a:solidFill>
                <a:latin typeface="Segoe UI"/>
              </a:defRPr>
            </a:pPr>
            <a:r>
              <a:t>Cập Nhật Quyền Hạn Từng Miền</a:t>
            </a:r>
          </a:p>
          <a:p>
            <a:pPr>
              <a:spcBef>
                <a:spcPts val="200"/>
              </a:spcBef>
              <a:spcAft>
                <a:spcPts val="400"/>
              </a:spcAft>
            </a:pPr>
            <a:r>
              <a:rPr sz="850" b="1">
                <a:solidFill>
                  <a:srgbClr val="1E293B"/>
                </a:solidFill>
                <a:latin typeface="Segoe UI"/>
              </a:rPr>
              <a:t>• Mục đích: </a:t>
            </a:r>
            <a:r>
              <a:rPr sz="850" b="0">
                <a:solidFill>
                  <a:srgbClr val="1E293B"/>
                </a:solidFill>
                <a:latin typeface="Segoe UI"/>
              </a:rPr>
              <a:t>Cập nhật các quyền bảo mật cấp miền và nâng cấp các đối tượng Group Policy (/gpprep).</a:t>
            </a:r>
          </a:p>
          <a:p>
            <a:pPr>
              <a:spcBef>
                <a:spcPts val="200"/>
              </a:spcBef>
              <a:spcAft>
                <a:spcPts val="400"/>
              </a:spcAft>
            </a:pPr>
            <a:r>
              <a:rPr sz="850" b="1">
                <a:solidFill>
                  <a:srgbClr val="1E293B"/>
                </a:solidFill>
                <a:latin typeface="Segoe UI"/>
              </a:rPr>
              <a:t>• Máy chủ thực thi: </a:t>
            </a:r>
            <a:r>
              <a:rPr sz="850" b="0">
                <a:solidFill>
                  <a:srgbClr val="1E293B"/>
                </a:solidFill>
                <a:latin typeface="Segoe UI"/>
              </a:rPr>
              <a:t>Bắt buộc chạy trên máy chủ nắm giữ vai trò Infrastructure Master.</a:t>
            </a:r>
          </a:p>
          <a:p>
            <a:pPr>
              <a:spcBef>
                <a:spcPts val="200"/>
              </a:spcBef>
              <a:spcAft>
                <a:spcPts val="400"/>
              </a:spcAft>
            </a:pPr>
            <a:r>
              <a:rPr sz="850" b="1">
                <a:solidFill>
                  <a:srgbClr val="1E293B"/>
                </a:solidFill>
                <a:latin typeface="Segoe UI"/>
              </a:rPr>
              <a:t>• Quyền hạn tối thiểu: </a:t>
            </a:r>
            <a:r>
              <a:rPr sz="850" b="0">
                <a:solidFill>
                  <a:srgbClr val="1E293B"/>
                </a:solidFill>
                <a:latin typeface="Segoe UI"/>
              </a:rPr>
              <a:t>Tài khoản thành viên Domain Admins của miền tương ứng.</a:t>
            </a:r>
          </a:p>
          <a:p>
            <a:pPr>
              <a:spcBef>
                <a:spcPts val="200"/>
              </a:spcBef>
              <a:spcAft>
                <a:spcPts val="400"/>
              </a:spcAft>
            </a:pPr>
            <a:r>
              <a:rPr sz="850" b="1">
                <a:solidFill>
                  <a:srgbClr val="1E293B"/>
                </a:solidFill>
                <a:latin typeface="Segoe UI"/>
              </a:rPr>
              <a:t>• Đặc tính cốt lõi: </a:t>
            </a:r>
            <a:r>
              <a:rPr sz="850" b="0">
                <a:solidFill>
                  <a:srgbClr val="1E293B"/>
                </a:solidFill>
                <a:latin typeface="Segoe UI"/>
              </a:rPr>
              <a:t>Phải chạy trên TỪNG Domain nếu Forest có nhiều miền con.</a:t>
            </a:r>
          </a:p>
          <a:p>
            <a:pPr>
              <a:spcBef>
                <a:spcPts val="200"/>
              </a:spcBef>
              <a:spcAft>
                <a:spcPts val="400"/>
              </a:spcAft>
            </a:pPr>
            <a:r>
              <a:rPr sz="850" b="1">
                <a:solidFill>
                  <a:srgbClr val="1E293B"/>
                </a:solidFill>
                <a:latin typeface="Segoe UI"/>
              </a:rPr>
              <a:t>• SYSVOL: </a:t>
            </a:r>
            <a:r>
              <a:rPr sz="850" b="0">
                <a:solidFill>
                  <a:srgbClr val="1E293B"/>
                </a:solidFill>
                <a:latin typeface="Segoe UI"/>
              </a:rPr>
              <a:t>Cập nhật các quyền truy cập trên thư mục chính sách SYSVOL.</a:t>
            </a:r>
          </a:p>
        </p:txBody>
      </p:sp>
      <p:sp>
        <p:nvSpPr>
          <p:cNvPr id="13" name="Rounded Rectangle 12"/>
          <p:cNvSpPr/>
          <p:nvPr/>
        </p:nvSpPr>
        <p:spPr>
          <a:xfrm>
            <a:off x="8046720" y="1353312"/>
            <a:ext cx="3401568" cy="3063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353312"/>
            <a:ext cx="3401568"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3. LỆNH: adprep /rodcprep</a:t>
            </a:r>
          </a:p>
        </p:txBody>
      </p:sp>
      <p:sp>
        <p:nvSpPr>
          <p:cNvPr id="15" name="TextBox 14"/>
          <p:cNvSpPr txBox="1"/>
          <p:nvPr/>
        </p:nvSpPr>
        <p:spPr>
          <a:xfrm>
            <a:off x="8156448" y="1792224"/>
            <a:ext cx="3182112" cy="2560320"/>
          </a:xfrm>
          <a:prstGeom prst="rect">
            <a:avLst/>
          </a:prstGeom>
          <a:noFill/>
        </p:spPr>
        <p:txBody>
          <a:bodyPr wrap="square" lIns="0" rIns="0" tIns="0" bIns="0">
            <a:spAutoFit/>
          </a:bodyPr>
          <a:lstStyle/>
          <a:p>
            <a:pPr>
              <a:defRPr sz="950" b="1">
                <a:solidFill>
                  <a:srgbClr val="0D9488"/>
                </a:solidFill>
                <a:latin typeface="Segoe UI"/>
              </a:defRPr>
            </a:pPr>
            <a:r>
              <a:t>Cập Nhật Quyền DNS Cho RODC</a:t>
            </a:r>
          </a:p>
          <a:p>
            <a:pPr>
              <a:spcBef>
                <a:spcPts val="200"/>
              </a:spcBef>
              <a:spcAft>
                <a:spcPts val="400"/>
              </a:spcAft>
            </a:pPr>
            <a:r>
              <a:rPr sz="850" b="1">
                <a:solidFill>
                  <a:srgbClr val="1E293B"/>
                </a:solidFill>
                <a:latin typeface="Segoe UI"/>
              </a:rPr>
              <a:t>• Mục đích: </a:t>
            </a:r>
            <a:r>
              <a:rPr sz="850" b="0">
                <a:solidFill>
                  <a:srgbClr val="1E293B"/>
                </a:solidFill>
                <a:latin typeface="Segoe UI"/>
              </a:rPr>
              <a:t>Cập nhật phân quyền trên các phân vùng thư mục ứng dụng DNS để hỗ trợ RODC.</a:t>
            </a:r>
          </a:p>
          <a:p>
            <a:pPr>
              <a:spcBef>
                <a:spcPts val="200"/>
              </a:spcBef>
              <a:spcAft>
                <a:spcPts val="400"/>
              </a:spcAft>
            </a:pPr>
            <a:r>
              <a:rPr sz="850" b="1">
                <a:solidFill>
                  <a:srgbClr val="1E293B"/>
                </a:solidFill>
                <a:latin typeface="Segoe UI"/>
              </a:rPr>
              <a:t>• Máy chủ thực thi: </a:t>
            </a:r>
            <a:r>
              <a:rPr sz="850" b="0">
                <a:solidFill>
                  <a:srgbClr val="1E293B"/>
                </a:solidFill>
                <a:latin typeface="Segoe UI"/>
              </a:rPr>
              <a:t>Có thể chạy trên bất kỳ máy DC nào kết nối được tới Domain Naming Master.</a:t>
            </a:r>
          </a:p>
          <a:p>
            <a:pPr>
              <a:spcBef>
                <a:spcPts val="200"/>
              </a:spcBef>
              <a:spcAft>
                <a:spcPts val="400"/>
              </a:spcAft>
            </a:pPr>
            <a:r>
              <a:rPr sz="850" b="1">
                <a:solidFill>
                  <a:srgbClr val="1E293B"/>
                </a:solidFill>
                <a:latin typeface="Segoe UI"/>
              </a:rPr>
              <a:t>• Quyền hạn tối thiểu: </a:t>
            </a:r>
            <a:r>
              <a:rPr sz="850" b="0">
                <a:solidFill>
                  <a:srgbClr val="1E293B"/>
                </a:solidFill>
                <a:latin typeface="Segoe UI"/>
              </a:rPr>
              <a:t>Tài khoản Enterprise Admins.</a:t>
            </a:r>
          </a:p>
          <a:p>
            <a:pPr>
              <a:spcBef>
                <a:spcPts val="200"/>
              </a:spcBef>
              <a:spcAft>
                <a:spcPts val="400"/>
              </a:spcAft>
            </a:pPr>
            <a:r>
              <a:rPr sz="850" b="1">
                <a:solidFill>
                  <a:srgbClr val="1E293B"/>
                </a:solidFill>
                <a:latin typeface="Segoe UI"/>
              </a:rPr>
              <a:t>• Đặc tính cốt lõi: </a:t>
            </a:r>
            <a:r>
              <a:rPr sz="850" b="0">
                <a:solidFill>
                  <a:srgbClr val="1E293B"/>
                </a:solidFill>
                <a:latin typeface="Segoe UI"/>
              </a:rPr>
              <a:t>Chỉ cần chạy 1 lần nếu doanh nghiệp có triển khai máy chủ RODC.</a:t>
            </a:r>
          </a:p>
          <a:p>
            <a:pPr>
              <a:spcBef>
                <a:spcPts val="200"/>
              </a:spcBef>
              <a:spcAft>
                <a:spcPts val="400"/>
              </a:spcAft>
            </a:pPr>
            <a:r>
              <a:rPr sz="850" b="1">
                <a:solidFill>
                  <a:srgbClr val="1E293B"/>
                </a:solidFill>
                <a:latin typeface="Segoe UI"/>
              </a:rPr>
              <a:t>• DNS Partitions: </a:t>
            </a:r>
            <a:r>
              <a:rPr sz="850" b="0">
                <a:solidFill>
                  <a:srgbClr val="1E293B"/>
                </a:solidFill>
                <a:latin typeface="Segoe UI"/>
              </a:rPr>
              <a:t>ForestDnsZones và DomainDnsZones được cấp quyền sao chép an toàn.</a:t>
            </a:r>
          </a:p>
        </p:txBody>
      </p:sp>
      <p:sp>
        <p:nvSpPr>
          <p:cNvPr id="16" name="Chevron 15"/>
          <p:cNvSpPr/>
          <p:nvPr/>
        </p:nvSpPr>
        <p:spPr>
          <a:xfrm>
            <a:off x="731520" y="4526280"/>
            <a:ext cx="2542032" cy="320040"/>
          </a:xfrm>
          <a:prstGeom prst="chevron">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Segoe UI"/>
              </a:defRPr>
            </a:pPr>
            <a:r>
              <a:t>1. adprep /forestprep</a:t>
            </a:r>
          </a:p>
        </p:txBody>
      </p:sp>
      <p:sp>
        <p:nvSpPr>
          <p:cNvPr id="17" name="Chevron 16"/>
          <p:cNvSpPr/>
          <p:nvPr/>
        </p:nvSpPr>
        <p:spPr>
          <a:xfrm>
            <a:off x="3456432" y="4526280"/>
            <a:ext cx="2542032" cy="320040"/>
          </a:xfrm>
          <a:prstGeom prst="chevron">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Segoe UI"/>
              </a:defRPr>
            </a:pPr>
            <a:r>
              <a:t>2. adprep /domainprep</a:t>
            </a:r>
          </a:p>
        </p:txBody>
      </p:sp>
      <p:sp>
        <p:nvSpPr>
          <p:cNvPr id="18" name="Chevron 17"/>
          <p:cNvSpPr/>
          <p:nvPr/>
        </p:nvSpPr>
        <p:spPr>
          <a:xfrm>
            <a:off x="6181344" y="4526280"/>
            <a:ext cx="2542032" cy="320040"/>
          </a:xfrm>
          <a:prstGeom prst="chevron">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Segoe UI"/>
              </a:defRPr>
            </a:pPr>
            <a:r>
              <a:t>3. adprep /rodcprep</a:t>
            </a:r>
          </a:p>
        </p:txBody>
      </p:sp>
      <p:sp>
        <p:nvSpPr>
          <p:cNvPr id="19" name="Chevron 18"/>
          <p:cNvSpPr/>
          <p:nvPr/>
        </p:nvSpPr>
        <p:spPr>
          <a:xfrm>
            <a:off x="8906256" y="4526280"/>
            <a:ext cx="2542032" cy="320040"/>
          </a:xfrm>
          <a:prstGeom prst="chevron">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Segoe UI"/>
              </a:defRPr>
            </a:pPr>
            <a:r>
              <a:t>4. Thăng cấp DC mới</a:t>
            </a:r>
          </a:p>
        </p:txBody>
      </p:sp>
      <p:sp>
        <p:nvSpPr>
          <p:cNvPr id="20" name="Rounded Rectangle 19"/>
          <p:cNvSpPr/>
          <p:nvPr/>
        </p:nvSpPr>
        <p:spPr>
          <a:xfrm>
            <a:off x="731520" y="4956048"/>
            <a:ext cx="10728655" cy="1280160"/>
          </a:xfrm>
          <a:prstGeom prst="roundRect">
            <a:avLst/>
          </a:prstGeom>
          <a:solidFill>
            <a:srgbClr val="FEF9C3"/>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defRPr sz="1000" b="1">
                <a:solidFill>
                  <a:srgbClr val="003366"/>
                </a:solidFill>
                <a:latin typeface="Segoe UI"/>
              </a:defRPr>
            </a:pPr>
            <a:r>
              <a:t>[BƯỚC TIẾN CÔNG NGHỆ TỪ WINDOWS SERVER 2012 ĐẾN NAY]:</a:t>
            </a:r>
          </a:p>
          <a:p>
            <a:pPr>
              <a:spcBef>
                <a:spcPts val="200"/>
              </a:spcBef>
              <a:spcAft>
                <a:spcPts val="400"/>
              </a:spcAft>
            </a:pPr>
            <a:r>
              <a:rPr sz="900" b="1">
                <a:solidFill>
                  <a:srgbClr val="1E293B"/>
                </a:solidFill>
                <a:latin typeface="Segoe UI"/>
              </a:rPr>
              <a:t>• Tự động hóa hoàn toàn (Auto-Prep): </a:t>
            </a:r>
            <a:r>
              <a:rPr sz="900" b="0">
                <a:solidFill>
                  <a:srgbClr val="1E293B"/>
                </a:solidFill>
                <a:latin typeface="Segoe UI"/>
              </a:rPr>
              <a:t>Người quản trị KHÔNG CÒN phải mở Command Prompt chèn đĩa ISO chạy tay từng lệnh adprep như thời Server 2003/2008.</a:t>
            </a:r>
          </a:p>
          <a:p>
            <a:pPr>
              <a:spcBef>
                <a:spcPts val="200"/>
              </a:spcBef>
              <a:spcAft>
                <a:spcPts val="400"/>
              </a:spcAft>
            </a:pPr>
            <a:r>
              <a:rPr sz="900" b="1">
                <a:solidFill>
                  <a:srgbClr val="1E293B"/>
                </a:solidFill>
                <a:latin typeface="Segoe UI"/>
              </a:rPr>
              <a:t>• Tích hợp Server Manager: </a:t>
            </a:r>
            <a:r>
              <a:rPr sz="900" b="0">
                <a:solidFill>
                  <a:srgbClr val="1E293B"/>
                </a:solidFill>
                <a:latin typeface="Segoe UI"/>
              </a:rPr>
              <a:t>Khi quảng bá DC, trình thuật sĩ AD DS Configuration Wizard tự động phát hiện phiên bản Schema và âm thầm thực thi adprep trong nền.</a:t>
            </a:r>
          </a:p>
          <a:p>
            <a:pPr>
              <a:spcBef>
                <a:spcPts val="200"/>
              </a:spcBef>
              <a:spcAft>
                <a:spcPts val="400"/>
              </a:spcAft>
            </a:pPr>
            <a:r>
              <a:rPr sz="900" b="1">
                <a:solidFill>
                  <a:srgbClr val="1E293B"/>
                </a:solidFill>
                <a:latin typeface="Segoe UI"/>
              </a:rPr>
              <a:t>• Giá trị thực tiễn: </a:t>
            </a:r>
            <a:r>
              <a:rPr sz="900" b="0">
                <a:solidFill>
                  <a:srgbClr val="1E293B"/>
                </a:solidFill>
                <a:latin typeface="Segoe UI"/>
              </a:rPr>
              <a:t>Hiểu sâu bản chất 3 lệnh ADPREP là kiến thức bắt buộc đối với kỹ sư hệ thống khi thực hiện các dự án di chuyển dữ liệu (Migration) quy mô lớn.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4 • TRIỂN KHAI THỰC HÀNH CÀI ĐẶT &amp; DEMO</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Bảng Quy Hoạch Môi Trường Và Sơ Đồ Đấu Nối Lab Thí Nghiệm</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13 / 16</a:t>
            </a:r>
          </a:p>
        </p:txBody>
      </p:sp>
      <p:sp>
        <p:nvSpPr>
          <p:cNvPr id="7" name="Rounded Rectangle 6"/>
          <p:cNvSpPr/>
          <p:nvPr/>
        </p:nvSpPr>
        <p:spPr>
          <a:xfrm>
            <a:off x="731520" y="1353312"/>
            <a:ext cx="107286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17320"/>
            <a:ext cx="10332720" cy="256032"/>
          </a:xfrm>
          <a:prstGeom prst="rect">
            <a:avLst/>
          </a:prstGeom>
          <a:noFill/>
        </p:spPr>
        <p:txBody>
          <a:bodyPr wrap="none">
            <a:spAutoFit/>
          </a:bodyPr>
          <a:lstStyle/>
          <a:p>
            <a:pPr algn="ctr">
              <a:defRPr sz="1000" b="1">
                <a:solidFill>
                  <a:srgbClr val="003366"/>
                </a:solidFill>
                <a:latin typeface="Segoe UI"/>
              </a:defRPr>
            </a:pPr>
            <a:r>
              <a:t>SƠ ĐỒ ĐẤU NỐI HỆ THỐNG LAB ẢO HÓA (VMWARE WORKSTATION — CARD MẠNG CÔ LẬP VMNET11)</a:t>
            </a:r>
          </a:p>
        </p:txBody>
      </p:sp>
      <p:sp>
        <p:nvSpPr>
          <p:cNvPr id="9" name="Rounded Rectangle 8"/>
          <p:cNvSpPr/>
          <p:nvPr/>
        </p:nvSpPr>
        <p:spPr>
          <a:xfrm>
            <a:off x="1005840" y="1719072"/>
            <a:ext cx="3291840" cy="1810512"/>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05840" y="1719072"/>
            <a:ext cx="3291840" cy="347472"/>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SERVER DOMAIN CONTROLLER (DC)</a:t>
            </a:r>
          </a:p>
        </p:txBody>
      </p:sp>
      <p:sp>
        <p:nvSpPr>
          <p:cNvPr id="11" name="TextBox 10"/>
          <p:cNvSpPr txBox="1"/>
          <p:nvPr/>
        </p:nvSpPr>
        <p:spPr>
          <a:xfrm>
            <a:off x="1097280" y="2084831"/>
            <a:ext cx="3108960" cy="1051560"/>
          </a:xfrm>
          <a:prstGeom prst="rect">
            <a:avLst/>
          </a:prstGeom>
          <a:noFill/>
        </p:spPr>
        <p:txBody>
          <a:bodyPr wrap="square" lIns="0" rIns="0" tIns="0" bIns="0">
            <a:spAutoFit/>
          </a:bodyPr>
          <a:lstStyle/>
          <a:p>
            <a:pPr>
              <a:defRPr sz="850">
                <a:solidFill>
                  <a:srgbClr val="1E293B"/>
                </a:solidFill>
                <a:latin typeface="Segoe UI"/>
              </a:defRPr>
            </a:pPr>
            <a:r>
              <a:t>• Tên máy: WIN-P6PG9M9AICK</a:t>
            </a:r>
            <a:br/>
            <a:r>
              <a:t>• HĐH: Windows Server 2012 R2 Datacenter</a:t>
            </a:r>
            <a:br/>
            <a:r>
              <a:t>• IP: 192.168.11.1 / 24  |  DNS: 192.168.11.1</a:t>
            </a:r>
            <a:br/>
            <a:r>
              <a:t>• Roles: AD DS, DNS Server, GC, 5 FSMO</a:t>
            </a:r>
          </a:p>
        </p:txBody>
      </p:sp>
      <p:sp>
        <p:nvSpPr>
          <p:cNvPr id="12" name="Can 11"/>
          <p:cNvSpPr/>
          <p:nvPr/>
        </p:nvSpPr>
        <p:spPr>
          <a:xfrm>
            <a:off x="1188720" y="3127248"/>
            <a:ext cx="2926080" cy="347472"/>
          </a:xfrm>
          <a:prstGeom prst="can">
            <a:avLst/>
          </a:prstGeom>
          <a:solidFill>
            <a:srgbClr val="ECFEFF"/>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003366"/>
                </a:solidFill>
                <a:latin typeface="Segoe UI"/>
              </a:defRPr>
            </a:pPr>
            <a:r>
              <a:t>ntds.dit (CSDL Miền nhom1.vn)</a:t>
            </a:r>
          </a:p>
        </p:txBody>
      </p:sp>
      <p:sp>
        <p:nvSpPr>
          <p:cNvPr id="13" name="Hexagon 12"/>
          <p:cNvSpPr/>
          <p:nvPr/>
        </p:nvSpPr>
        <p:spPr>
          <a:xfrm>
            <a:off x="4709160" y="1920240"/>
            <a:ext cx="2743200" cy="1371600"/>
          </a:xfrm>
          <a:prstGeom prst="hexagon">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Segoe UI"/>
              </a:defRPr>
            </a:pPr>
            <a:r>
              <a:t>SWITCH ẢO VMNET11</a:t>
            </a:r>
            <a:br/>
            <a:r>
              <a:t>(Host-Only cô lập)</a:t>
            </a:r>
            <a:br/>
            <a:r>
              <a:t>Dải IP: 192.168.11.0/24</a:t>
            </a:r>
            <a:br/>
            <a:r>
              <a:t>Cách ly an toàn với mạng ngoài</a:t>
            </a:r>
          </a:p>
        </p:txBody>
      </p:sp>
      <p:sp>
        <p:nvSpPr>
          <p:cNvPr id="14" name="Rounded Rectangle 13"/>
          <p:cNvSpPr/>
          <p:nvPr/>
        </p:nvSpPr>
        <p:spPr>
          <a:xfrm>
            <a:off x="7863840" y="1719072"/>
            <a:ext cx="3291840" cy="1810512"/>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863840" y="1719072"/>
            <a:ext cx="3291840" cy="347472"/>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MÁY TRẠM CLIENT (WIN 7)</a:t>
            </a:r>
          </a:p>
        </p:txBody>
      </p:sp>
      <p:sp>
        <p:nvSpPr>
          <p:cNvPr id="16" name="TextBox 15"/>
          <p:cNvSpPr txBox="1"/>
          <p:nvPr/>
        </p:nvSpPr>
        <p:spPr>
          <a:xfrm>
            <a:off x="7955279" y="2084831"/>
            <a:ext cx="3108960" cy="1051560"/>
          </a:xfrm>
          <a:prstGeom prst="rect">
            <a:avLst/>
          </a:prstGeom>
          <a:noFill/>
        </p:spPr>
        <p:txBody>
          <a:bodyPr wrap="square" lIns="0" rIns="0" tIns="0" bIns="0">
            <a:spAutoFit/>
          </a:bodyPr>
          <a:lstStyle/>
          <a:p>
            <a:pPr>
              <a:defRPr sz="850">
                <a:solidFill>
                  <a:srgbClr val="1E293B"/>
                </a:solidFill>
                <a:latin typeface="Segoe UI"/>
              </a:defRPr>
            </a:pPr>
            <a:r>
              <a:t>• Tên máy: WIN7-PC1</a:t>
            </a:r>
            <a:br/>
            <a:r>
              <a:t>• HĐH: Windows 7 Professional SP1</a:t>
            </a:r>
            <a:br/>
            <a:r>
              <a:t>• IP: 192.168.11.2 / 24  |  DNS: 192.168.11.1</a:t>
            </a:r>
            <a:br/>
            <a:r>
              <a:t>• Trạng thái: Đã Join Domain nhom1.vn</a:t>
            </a:r>
          </a:p>
        </p:txBody>
      </p:sp>
      <p:sp>
        <p:nvSpPr>
          <p:cNvPr id="17" name="Rounded Rectangle 16"/>
          <p:cNvSpPr/>
          <p:nvPr/>
        </p:nvSpPr>
        <p:spPr>
          <a:xfrm>
            <a:off x="8046720" y="3127248"/>
            <a:ext cx="2926080" cy="347472"/>
          </a:xfrm>
          <a:prstGeom prst="roundRect">
            <a:avLst/>
          </a:prstGeom>
          <a:solidFill>
            <a:srgbClr val="F0FDF4"/>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6A34A"/>
                </a:solidFill>
                <a:latin typeface="Segoe UI"/>
              </a:defRPr>
            </a:pPr>
            <a:r>
              <a:t>[✓] Đăng nhập tài khoản: nhom1\sv1</a:t>
            </a:r>
          </a:p>
        </p:txBody>
      </p:sp>
      <p:sp>
        <p:nvSpPr>
          <p:cNvPr id="18" name="Left-Right Arrow 17"/>
          <p:cNvSpPr/>
          <p:nvPr/>
        </p:nvSpPr>
        <p:spPr>
          <a:xfrm>
            <a:off x="4315968" y="2423160"/>
            <a:ext cx="384048" cy="256032"/>
          </a:xfrm>
          <a:prstGeom prst="leftRightArrow">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eft-Right Arrow 18"/>
          <p:cNvSpPr/>
          <p:nvPr/>
        </p:nvSpPr>
        <p:spPr>
          <a:xfrm>
            <a:off x="7461504" y="2423160"/>
            <a:ext cx="384048" cy="256032"/>
          </a:xfrm>
          <a:prstGeom prst="leftRightArrow">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0" name="Table 19"/>
          <p:cNvGraphicFramePr>
            <a:graphicFrameLocks noGrp="1"/>
          </p:cNvGraphicFramePr>
          <p:nvPr/>
        </p:nvGraphicFramePr>
        <p:xfrm>
          <a:off x="731520" y="3767328"/>
          <a:ext cx="10728655" cy="2423160"/>
        </p:xfrm>
        <a:graphic>
          <a:graphicData uri="http://schemas.openxmlformats.org/drawingml/2006/table">
            <a:tbl>
              <a:tblPr firstRow="1" bandRow="1">
                <a:tableStyleId>{5C22544A-7EE6-4342-B048-85BDC9FD1C3A}</a:tableStyleId>
              </a:tblPr>
              <a:tblGrid>
                <a:gridCol w="2468880"/>
                <a:gridCol w="4114800"/>
                <a:gridCol w="4144975"/>
              </a:tblGrid>
              <a:tr h="403860">
                <a:tc>
                  <a:txBody>
                    <a:bodyPr/>
                    <a:lstStyle/>
                    <a:p>
                      <a:pPr algn="ctr">
                        <a:defRPr sz="1050" b="1">
                          <a:solidFill>
                            <a:srgbClr val="FFFFFF"/>
                          </a:solidFill>
                          <a:latin typeface="Segoe UI"/>
                        </a:defRPr>
                      </a:pPr>
                      <a:r>
                        <a:t>Thông số kỹ thuật</a:t>
                      </a:r>
                    </a:p>
                  </a:txBody>
                  <a:tcPr anchor="ctr">
                    <a:solidFill>
                      <a:srgbClr val="003366"/>
                    </a:solidFill>
                  </a:tcPr>
                </a:tc>
                <a:tc>
                  <a:txBody>
                    <a:bodyPr/>
                    <a:lstStyle/>
                    <a:p>
                      <a:pPr algn="ctr">
                        <a:defRPr sz="1050" b="1">
                          <a:solidFill>
                            <a:srgbClr val="FFFFFF"/>
                          </a:solidFill>
                          <a:latin typeface="Segoe UI"/>
                        </a:defRPr>
                      </a:pPr>
                      <a:r>
                        <a:t>Máy chủ Domain Controller (DC)</a:t>
                      </a:r>
                    </a:p>
                  </a:txBody>
                  <a:tcPr anchor="ctr">
                    <a:solidFill>
                      <a:srgbClr val="003366"/>
                    </a:solidFill>
                  </a:tcPr>
                </a:tc>
                <a:tc>
                  <a:txBody>
                    <a:bodyPr/>
                    <a:lstStyle/>
                    <a:p>
                      <a:pPr algn="ctr">
                        <a:defRPr sz="1050" b="1">
                          <a:solidFill>
                            <a:srgbClr val="FFFFFF"/>
                          </a:solidFill>
                          <a:latin typeface="Segoe UI"/>
                        </a:defRPr>
                      </a:pPr>
                      <a:r>
                        <a:t>Máy trạm Client (Win 7)</a:t>
                      </a:r>
                    </a:p>
                  </a:txBody>
                  <a:tcPr anchor="ctr">
                    <a:solidFill>
                      <a:srgbClr val="003366"/>
                    </a:solidFill>
                  </a:tcPr>
                </a:tc>
              </a:tr>
              <a:tr h="403860">
                <a:tc>
                  <a:txBody>
                    <a:bodyPr lIns="109728" rIns="109728"/>
                    <a:lstStyle/>
                    <a:p>
                      <a:pPr>
                        <a:defRPr sz="950" b="1">
                          <a:solidFill>
                            <a:srgbClr val="003366"/>
                          </a:solidFill>
                          <a:latin typeface="Segoe UI"/>
                        </a:defRPr>
                      </a:pPr>
                      <a:r>
                        <a:t>Tên máy tính (Computer Name)</a:t>
                      </a:r>
                    </a:p>
                  </a:txBody>
                  <a:tcPr anchor="ctr">
                    <a:solidFill>
                      <a:srgbClr val="FFFFFF"/>
                    </a:solidFill>
                  </a:tcPr>
                </a:tc>
                <a:tc>
                  <a:txBody>
                    <a:bodyPr lIns="109728" rIns="109728"/>
                    <a:lstStyle/>
                    <a:p>
                      <a:pPr>
                        <a:defRPr sz="950">
                          <a:solidFill>
                            <a:srgbClr val="1E293B"/>
                          </a:solidFill>
                          <a:latin typeface="Segoe UI"/>
                        </a:defRPr>
                      </a:pPr>
                      <a:r>
                        <a:t>WIN-P6PG9M9AICK</a:t>
                      </a:r>
                    </a:p>
                  </a:txBody>
                  <a:tcPr anchor="ctr">
                    <a:solidFill>
                      <a:srgbClr val="FFFFFF"/>
                    </a:solidFill>
                  </a:tcPr>
                </a:tc>
                <a:tc>
                  <a:txBody>
                    <a:bodyPr lIns="109728" rIns="109728"/>
                    <a:lstStyle/>
                    <a:p>
                      <a:pPr>
                        <a:defRPr sz="950">
                          <a:solidFill>
                            <a:srgbClr val="1E293B"/>
                          </a:solidFill>
                          <a:latin typeface="Segoe UI"/>
                        </a:defRPr>
                      </a:pPr>
                      <a:r>
                        <a:t>WIN7-PC1</a:t>
                      </a:r>
                    </a:p>
                  </a:txBody>
                  <a:tcPr anchor="ctr">
                    <a:solidFill>
                      <a:srgbClr val="FFFFFF"/>
                    </a:solidFill>
                  </a:tcPr>
                </a:tc>
              </a:tr>
              <a:tr h="403860">
                <a:tc>
                  <a:txBody>
                    <a:bodyPr lIns="109728" rIns="109728"/>
                    <a:lstStyle/>
                    <a:p>
                      <a:pPr>
                        <a:defRPr sz="950" b="1">
                          <a:solidFill>
                            <a:srgbClr val="003366"/>
                          </a:solidFill>
                          <a:latin typeface="Segoe UI"/>
                        </a:defRPr>
                      </a:pPr>
                      <a:r>
                        <a:t>Hệ điều hành</a:t>
                      </a:r>
                    </a:p>
                  </a:txBody>
                  <a:tcPr anchor="ctr">
                    <a:solidFill>
                      <a:srgbClr val="F1F5F9"/>
                    </a:solidFill>
                  </a:tcPr>
                </a:tc>
                <a:tc>
                  <a:txBody>
                    <a:bodyPr lIns="109728" rIns="109728"/>
                    <a:lstStyle/>
                    <a:p>
                      <a:pPr>
                        <a:defRPr sz="950">
                          <a:solidFill>
                            <a:srgbClr val="1E293B"/>
                          </a:solidFill>
                          <a:latin typeface="Segoe UI"/>
                        </a:defRPr>
                      </a:pPr>
                      <a:r>
                        <a:t>Windows Server 2012 R2 Datacenter</a:t>
                      </a:r>
                    </a:p>
                  </a:txBody>
                  <a:tcPr anchor="ctr">
                    <a:solidFill>
                      <a:srgbClr val="F1F5F9"/>
                    </a:solidFill>
                  </a:tcPr>
                </a:tc>
                <a:tc>
                  <a:txBody>
                    <a:bodyPr lIns="109728" rIns="109728"/>
                    <a:lstStyle/>
                    <a:p>
                      <a:pPr>
                        <a:defRPr sz="950">
                          <a:solidFill>
                            <a:srgbClr val="1E293B"/>
                          </a:solidFill>
                          <a:latin typeface="Segoe UI"/>
                        </a:defRPr>
                      </a:pPr>
                      <a:r>
                        <a:t>Windows 7 Professional SP1</a:t>
                      </a:r>
                    </a:p>
                  </a:txBody>
                  <a:tcPr anchor="ctr">
                    <a:solidFill>
                      <a:srgbClr val="F1F5F9"/>
                    </a:solidFill>
                  </a:tcPr>
                </a:tc>
              </a:tr>
              <a:tr h="403860">
                <a:tc>
                  <a:txBody>
                    <a:bodyPr lIns="109728" rIns="109728"/>
                    <a:lstStyle/>
                    <a:p>
                      <a:pPr>
                        <a:defRPr sz="950" b="1">
                          <a:solidFill>
                            <a:srgbClr val="003366"/>
                          </a:solidFill>
                          <a:latin typeface="Segoe UI"/>
                        </a:defRPr>
                      </a:pPr>
                      <a:r>
                        <a:t>Địa chỉ IP tĩnh &amp; Subnet</a:t>
                      </a:r>
                    </a:p>
                  </a:txBody>
                  <a:tcPr anchor="ctr">
                    <a:solidFill>
                      <a:srgbClr val="FFFFFF"/>
                    </a:solidFill>
                  </a:tcPr>
                </a:tc>
                <a:tc>
                  <a:txBody>
                    <a:bodyPr lIns="109728" rIns="109728"/>
                    <a:lstStyle/>
                    <a:p>
                      <a:pPr>
                        <a:defRPr sz="950">
                          <a:solidFill>
                            <a:srgbClr val="1E293B"/>
                          </a:solidFill>
                          <a:latin typeface="Segoe UI"/>
                        </a:defRPr>
                      </a:pPr>
                      <a:r>
                        <a:t>192.168.11.1  /  255.255.255.0</a:t>
                      </a:r>
                    </a:p>
                  </a:txBody>
                  <a:tcPr anchor="ctr">
                    <a:solidFill>
                      <a:srgbClr val="FFFFFF"/>
                    </a:solidFill>
                  </a:tcPr>
                </a:tc>
                <a:tc>
                  <a:txBody>
                    <a:bodyPr lIns="109728" rIns="109728"/>
                    <a:lstStyle/>
                    <a:p>
                      <a:pPr>
                        <a:defRPr sz="950">
                          <a:solidFill>
                            <a:srgbClr val="1E293B"/>
                          </a:solidFill>
                          <a:latin typeface="Segoe UI"/>
                        </a:defRPr>
                      </a:pPr>
                      <a:r>
                        <a:t>192.168.11.2  /  255.255.255.0</a:t>
                      </a:r>
                    </a:p>
                  </a:txBody>
                  <a:tcPr anchor="ctr">
                    <a:solidFill>
                      <a:srgbClr val="FFFFFF"/>
                    </a:solidFill>
                  </a:tcPr>
                </a:tc>
              </a:tr>
              <a:tr h="403860">
                <a:tc>
                  <a:txBody>
                    <a:bodyPr lIns="109728" rIns="109728"/>
                    <a:lstStyle/>
                    <a:p>
                      <a:pPr>
                        <a:defRPr sz="950" b="1">
                          <a:solidFill>
                            <a:srgbClr val="003366"/>
                          </a:solidFill>
                          <a:latin typeface="Segoe UI"/>
                        </a:defRPr>
                      </a:pPr>
                      <a:r>
                        <a:t>Cấu hình DNS Server</a:t>
                      </a:r>
                    </a:p>
                  </a:txBody>
                  <a:tcPr anchor="ctr">
                    <a:solidFill>
                      <a:srgbClr val="F1F5F9"/>
                    </a:solidFill>
                  </a:tcPr>
                </a:tc>
                <a:tc>
                  <a:txBody>
                    <a:bodyPr lIns="109728" rIns="109728"/>
                    <a:lstStyle/>
                    <a:p>
                      <a:pPr>
                        <a:defRPr sz="950">
                          <a:solidFill>
                            <a:srgbClr val="1E293B"/>
                          </a:solidFill>
                          <a:latin typeface="Segoe UI"/>
                        </a:defRPr>
                      </a:pPr>
                      <a:r>
                        <a:t>192.168.11.1 (Trỏ về chính nó)</a:t>
                      </a:r>
                    </a:p>
                  </a:txBody>
                  <a:tcPr anchor="ctr">
                    <a:solidFill>
                      <a:srgbClr val="F1F5F9"/>
                    </a:solidFill>
                  </a:tcPr>
                </a:tc>
                <a:tc>
                  <a:txBody>
                    <a:bodyPr lIns="109728" rIns="109728"/>
                    <a:lstStyle/>
                    <a:p>
                      <a:pPr>
                        <a:defRPr sz="950">
                          <a:solidFill>
                            <a:srgbClr val="1E293B"/>
                          </a:solidFill>
                          <a:latin typeface="Segoe UI"/>
                        </a:defRPr>
                      </a:pPr>
                      <a:r>
                        <a:t>192.168.11.1 (Bắt buộc trỏ về DC)</a:t>
                      </a:r>
                    </a:p>
                  </a:txBody>
                  <a:tcPr anchor="ctr">
                    <a:solidFill>
                      <a:srgbClr val="F1F5F9"/>
                    </a:solidFill>
                  </a:tcPr>
                </a:tc>
              </a:tr>
              <a:tr h="403860">
                <a:tc>
                  <a:txBody>
                    <a:bodyPr lIns="109728" rIns="109728"/>
                    <a:lstStyle/>
                    <a:p>
                      <a:pPr>
                        <a:defRPr sz="950" b="1">
                          <a:solidFill>
                            <a:srgbClr val="003366"/>
                          </a:solidFill>
                          <a:latin typeface="Segoe UI"/>
                        </a:defRPr>
                      </a:pPr>
                      <a:r>
                        <a:t>Tên miền quản trị &amp; Tài khoản</a:t>
                      </a:r>
                    </a:p>
                  </a:txBody>
                  <a:tcPr anchor="ctr">
                    <a:solidFill>
                      <a:srgbClr val="FFFFFF"/>
                    </a:solidFill>
                  </a:tcPr>
                </a:tc>
                <a:tc>
                  <a:txBody>
                    <a:bodyPr lIns="109728" rIns="109728"/>
                    <a:lstStyle/>
                    <a:p>
                      <a:pPr>
                        <a:defRPr sz="950">
                          <a:solidFill>
                            <a:srgbClr val="1E293B"/>
                          </a:solidFill>
                          <a:latin typeface="Segoe UI"/>
                        </a:defRPr>
                      </a:pPr>
                      <a:r>
                        <a:t>nhom1.vn (Tài khoản: Administrator)</a:t>
                      </a:r>
                    </a:p>
                  </a:txBody>
                  <a:tcPr anchor="ctr">
                    <a:solidFill>
                      <a:srgbClr val="FFFFFF"/>
                    </a:solidFill>
                  </a:tcPr>
                </a:tc>
                <a:tc>
                  <a:txBody>
                    <a:bodyPr lIns="109728" rIns="109728"/>
                    <a:lstStyle/>
                    <a:p>
                      <a:pPr>
                        <a:defRPr sz="950">
                          <a:solidFill>
                            <a:srgbClr val="1E293B"/>
                          </a:solidFill>
                          <a:latin typeface="Segoe UI"/>
                        </a:defRPr>
                      </a:pPr>
                      <a:r>
                        <a:t>nhom1.vn (Tài khoản: nhom1\sv1)</a:t>
                      </a:r>
                    </a:p>
                  </a:txBody>
                  <a:tcPr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CHƯƠNG 4 • TRIỂN KHAI THỰC HÀNH CÀI ĐẶT &amp; DEMO</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Kịch Bản Phân Rã 6 Video Demo Phục Vụ Nghiệm Thu Chấm Điểm</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14 / 16</a:t>
            </a:r>
          </a:p>
        </p:txBody>
      </p:sp>
      <p:sp>
        <p:nvSpPr>
          <p:cNvPr id="7" name="Rounded Rectangle 6"/>
          <p:cNvSpPr/>
          <p:nvPr/>
        </p:nvSpPr>
        <p:spPr>
          <a:xfrm>
            <a:off x="731520" y="1353312"/>
            <a:ext cx="3401568"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53312"/>
            <a:ext cx="3401568" cy="384048"/>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[PHẦN 1] VIDEO 1 (~2 phút)</a:t>
            </a:r>
          </a:p>
        </p:txBody>
      </p:sp>
      <p:sp>
        <p:nvSpPr>
          <p:cNvPr id="9" name="TextBox 8"/>
          <p:cNvSpPr txBox="1"/>
          <p:nvPr/>
        </p:nvSpPr>
        <p:spPr>
          <a:xfrm>
            <a:off x="841248" y="1773936"/>
            <a:ext cx="3182112" cy="1280160"/>
          </a:xfrm>
          <a:prstGeom prst="rect">
            <a:avLst/>
          </a:prstGeom>
          <a:noFill/>
        </p:spPr>
        <p:txBody>
          <a:bodyPr wrap="square" lIns="0" rIns="0" tIns="0" bIns="0">
            <a:spAutoFit/>
          </a:bodyPr>
          <a:lstStyle/>
          <a:p>
            <a:pPr>
              <a:defRPr sz="1000" b="1">
                <a:solidFill>
                  <a:srgbClr val="003366"/>
                </a:solidFill>
                <a:latin typeface="Segoe UI"/>
              </a:defRPr>
            </a:pPr>
            <a:r>
              <a:t>Cấu hình IP tĩnh, DNS &amp; Ping thông mạng</a:t>
            </a:r>
          </a:p>
          <a:p>
            <a:pPr>
              <a:spcBef>
                <a:spcPts val="300"/>
              </a:spcBef>
              <a:defRPr sz="850">
                <a:solidFill>
                  <a:srgbClr val="1E293B"/>
                </a:solidFill>
                <a:latin typeface="Segoe UI"/>
              </a:defRPr>
            </a:pPr>
            <a:r>
              <a:t>• Công cụ: ncpa.cpl, cmd.exe (ping).</a:t>
            </a:r>
            <a:br/>
            <a:r>
              <a:t>• Thao tác: Gán IP 192.168.11.1/24 cho Server và 192.168.11.2/24 cho Client.</a:t>
            </a:r>
          </a:p>
        </p:txBody>
      </p:sp>
      <p:sp>
        <p:nvSpPr>
          <p:cNvPr id="10" name="Rounded Rectangle 9"/>
          <p:cNvSpPr/>
          <p:nvPr/>
        </p:nvSpPr>
        <p:spPr>
          <a:xfrm>
            <a:off x="841248" y="3136392"/>
            <a:ext cx="3182112" cy="438912"/>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00" b="1">
                <a:solidFill>
                  <a:srgbClr val="16A34A"/>
                </a:solidFill>
                <a:latin typeface="Segoe UI"/>
              </a:defRPr>
            </a:pPr>
            <a:r>
              <a:t>[✓ NGHIỆM THU]: Ping 2 chiều thành công 100%, 0% packet loss.</a:t>
            </a:r>
          </a:p>
        </p:txBody>
      </p:sp>
      <p:sp>
        <p:nvSpPr>
          <p:cNvPr id="11" name="Rounded Rectangle 10"/>
          <p:cNvSpPr/>
          <p:nvPr/>
        </p:nvSpPr>
        <p:spPr>
          <a:xfrm>
            <a:off x="4389120" y="1353312"/>
            <a:ext cx="3401568"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9120" y="1353312"/>
            <a:ext cx="3401568" cy="38404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[PHẦN 2] VIDEO 2 (~2 phút)</a:t>
            </a:r>
          </a:p>
        </p:txBody>
      </p:sp>
      <p:sp>
        <p:nvSpPr>
          <p:cNvPr id="13" name="TextBox 12"/>
          <p:cNvSpPr txBox="1"/>
          <p:nvPr/>
        </p:nvSpPr>
        <p:spPr>
          <a:xfrm>
            <a:off x="4498848" y="1773936"/>
            <a:ext cx="3182112" cy="1280160"/>
          </a:xfrm>
          <a:prstGeom prst="rect">
            <a:avLst/>
          </a:prstGeom>
          <a:noFill/>
        </p:spPr>
        <p:txBody>
          <a:bodyPr wrap="square" lIns="0" rIns="0" tIns="0" bIns="0">
            <a:spAutoFit/>
          </a:bodyPr>
          <a:lstStyle/>
          <a:p>
            <a:pPr>
              <a:defRPr sz="1000" b="1">
                <a:solidFill>
                  <a:srgbClr val="003366"/>
                </a:solidFill>
                <a:latin typeface="Segoe UI"/>
              </a:defRPr>
            </a:pPr>
            <a:r>
              <a:t>Cài đặt Role AD DS trên Server Manager</a:t>
            </a:r>
          </a:p>
          <a:p>
            <a:pPr>
              <a:spcBef>
                <a:spcPts val="300"/>
              </a:spcBef>
              <a:defRPr sz="850">
                <a:solidFill>
                  <a:srgbClr val="1E293B"/>
                </a:solidFill>
                <a:latin typeface="Segoe UI"/>
              </a:defRPr>
            </a:pPr>
            <a:r>
              <a:t>• Công cụ: Server Manager -&gt; Add Roles &amp; Features.</a:t>
            </a:r>
            <a:br/>
            <a:r>
              <a:t>• Thao tác: Chọn Active Directory Domain Services, kèm bộ công cụ RSAT.</a:t>
            </a:r>
          </a:p>
        </p:txBody>
      </p:sp>
      <p:sp>
        <p:nvSpPr>
          <p:cNvPr id="14" name="Rounded Rectangle 13"/>
          <p:cNvSpPr/>
          <p:nvPr/>
        </p:nvSpPr>
        <p:spPr>
          <a:xfrm>
            <a:off x="4498848" y="3136392"/>
            <a:ext cx="3182112" cy="438912"/>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00" b="1">
                <a:solidFill>
                  <a:srgbClr val="16A34A"/>
                </a:solidFill>
                <a:latin typeface="Segoe UI"/>
              </a:defRPr>
            </a:pPr>
            <a:r>
              <a:t>[✓ NGHIỆM THU]: Role AD DS &amp; RSAT báo Installation Succeeded.</a:t>
            </a:r>
          </a:p>
        </p:txBody>
      </p:sp>
      <p:sp>
        <p:nvSpPr>
          <p:cNvPr id="15" name="Rounded Rectangle 14"/>
          <p:cNvSpPr/>
          <p:nvPr/>
        </p:nvSpPr>
        <p:spPr>
          <a:xfrm>
            <a:off x="8046720" y="1353312"/>
            <a:ext cx="3401568"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0" y="1353312"/>
            <a:ext cx="3401568" cy="384048"/>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[PHẦN 3] VIDEO 3 (~3 phút)</a:t>
            </a:r>
          </a:p>
        </p:txBody>
      </p:sp>
      <p:sp>
        <p:nvSpPr>
          <p:cNvPr id="17" name="TextBox 16"/>
          <p:cNvSpPr txBox="1"/>
          <p:nvPr/>
        </p:nvSpPr>
        <p:spPr>
          <a:xfrm>
            <a:off x="8156448" y="1773936"/>
            <a:ext cx="3182112" cy="1280160"/>
          </a:xfrm>
          <a:prstGeom prst="rect">
            <a:avLst/>
          </a:prstGeom>
          <a:noFill/>
        </p:spPr>
        <p:txBody>
          <a:bodyPr wrap="square" lIns="0" rIns="0" tIns="0" bIns="0">
            <a:spAutoFit/>
          </a:bodyPr>
          <a:lstStyle/>
          <a:p>
            <a:pPr>
              <a:defRPr sz="1000" b="1">
                <a:solidFill>
                  <a:srgbClr val="003366"/>
                </a:solidFill>
                <a:latin typeface="Segoe UI"/>
              </a:defRPr>
            </a:pPr>
            <a:r>
              <a:t>Promote DC đầu tiên &amp; Tích hợp DNS</a:t>
            </a:r>
          </a:p>
          <a:p>
            <a:pPr>
              <a:spcBef>
                <a:spcPts val="300"/>
              </a:spcBef>
              <a:defRPr sz="850">
                <a:solidFill>
                  <a:srgbClr val="1E293B"/>
                </a:solidFill>
                <a:latin typeface="Segoe UI"/>
              </a:defRPr>
            </a:pPr>
            <a:r>
              <a:t>• Công cụ: Deployment Configuration Wizard.</a:t>
            </a:r>
            <a:br/>
            <a:r>
              <a:t>• Thao tác: 'Add a new forest', root domain 'nhom1.vn', tích hợp DNS &amp; GC.</a:t>
            </a:r>
          </a:p>
        </p:txBody>
      </p:sp>
      <p:sp>
        <p:nvSpPr>
          <p:cNvPr id="18" name="Rounded Rectangle 17"/>
          <p:cNvSpPr/>
          <p:nvPr/>
        </p:nvSpPr>
        <p:spPr>
          <a:xfrm>
            <a:off x="8156448" y="3136392"/>
            <a:ext cx="3182112" cy="438912"/>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00" b="1">
                <a:solidFill>
                  <a:srgbClr val="16A34A"/>
                </a:solidFill>
                <a:latin typeface="Segoe UI"/>
              </a:defRPr>
            </a:pPr>
            <a:r>
              <a:t>[✓ NGHIỆM THU]: Thăng cấp DC thành công, tạo Forest nhom1.vn.</a:t>
            </a:r>
          </a:p>
        </p:txBody>
      </p:sp>
      <p:sp>
        <p:nvSpPr>
          <p:cNvPr id="19" name="Rounded Rectangle 18"/>
          <p:cNvSpPr/>
          <p:nvPr/>
        </p:nvSpPr>
        <p:spPr>
          <a:xfrm>
            <a:off x="731520" y="3867912"/>
            <a:ext cx="3401568"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1520" y="3867912"/>
            <a:ext cx="3401568"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[PHẦN 4] VIDEO 4 (~2 phút)</a:t>
            </a:r>
          </a:p>
        </p:txBody>
      </p:sp>
      <p:sp>
        <p:nvSpPr>
          <p:cNvPr id="21" name="TextBox 20"/>
          <p:cNvSpPr txBox="1"/>
          <p:nvPr/>
        </p:nvSpPr>
        <p:spPr>
          <a:xfrm>
            <a:off x="841248" y="4288536"/>
            <a:ext cx="3182112" cy="1280160"/>
          </a:xfrm>
          <a:prstGeom prst="rect">
            <a:avLst/>
          </a:prstGeom>
          <a:noFill/>
        </p:spPr>
        <p:txBody>
          <a:bodyPr wrap="square" lIns="0" rIns="0" tIns="0" bIns="0">
            <a:spAutoFit/>
          </a:bodyPr>
          <a:lstStyle/>
          <a:p>
            <a:pPr>
              <a:defRPr sz="1000" b="1">
                <a:solidFill>
                  <a:srgbClr val="003366"/>
                </a:solidFill>
                <a:latin typeface="Segoe UI"/>
              </a:defRPr>
            </a:pPr>
            <a:r>
              <a:t>Thực thi &amp; giải thích 3 lệnh ADPREP</a:t>
            </a:r>
          </a:p>
          <a:p>
            <a:pPr>
              <a:spcBef>
                <a:spcPts val="300"/>
              </a:spcBef>
              <a:defRPr sz="850">
                <a:solidFill>
                  <a:srgbClr val="1E293B"/>
                </a:solidFill>
                <a:latin typeface="Segoe UI"/>
              </a:defRPr>
            </a:pPr>
            <a:r>
              <a:t>• Công cụ: CMD quyền Administrator.</a:t>
            </a:r>
            <a:br/>
            <a:r>
              <a:t>• Thao tác: Chạy adprep /forestprep, /domainprep /gpprep, /rodcprep.</a:t>
            </a:r>
          </a:p>
        </p:txBody>
      </p:sp>
      <p:sp>
        <p:nvSpPr>
          <p:cNvPr id="22" name="Rounded Rectangle 21"/>
          <p:cNvSpPr/>
          <p:nvPr/>
        </p:nvSpPr>
        <p:spPr>
          <a:xfrm>
            <a:off x="841248" y="5650992"/>
            <a:ext cx="3182112" cy="438912"/>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00" b="1">
                <a:solidFill>
                  <a:srgbClr val="16A34A"/>
                </a:solidFill>
                <a:latin typeface="Segoe UI"/>
              </a:defRPr>
            </a:pPr>
            <a:r>
              <a:t>[✓ NGHIỆM THU]: Chạy 3 lệnh adprep thành công không lỗi.</a:t>
            </a:r>
          </a:p>
        </p:txBody>
      </p:sp>
      <p:sp>
        <p:nvSpPr>
          <p:cNvPr id="23" name="Rounded Rectangle 22"/>
          <p:cNvSpPr/>
          <p:nvPr/>
        </p:nvSpPr>
        <p:spPr>
          <a:xfrm>
            <a:off x="4389120" y="3867912"/>
            <a:ext cx="3401568"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89120" y="3867912"/>
            <a:ext cx="3401568" cy="38404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[PHẦN 5] VIDEO 5 (~2 phút)</a:t>
            </a:r>
          </a:p>
        </p:txBody>
      </p:sp>
      <p:sp>
        <p:nvSpPr>
          <p:cNvPr id="25" name="TextBox 24"/>
          <p:cNvSpPr txBox="1"/>
          <p:nvPr/>
        </p:nvSpPr>
        <p:spPr>
          <a:xfrm>
            <a:off x="4498848" y="4288536"/>
            <a:ext cx="3182112" cy="1280160"/>
          </a:xfrm>
          <a:prstGeom prst="rect">
            <a:avLst/>
          </a:prstGeom>
          <a:noFill/>
        </p:spPr>
        <p:txBody>
          <a:bodyPr wrap="square" lIns="0" rIns="0" tIns="0" bIns="0">
            <a:spAutoFit/>
          </a:bodyPr>
          <a:lstStyle/>
          <a:p>
            <a:pPr>
              <a:defRPr sz="1000" b="1">
                <a:solidFill>
                  <a:srgbClr val="003366"/>
                </a:solidFill>
                <a:latin typeface="Segoe UI"/>
              </a:defRPr>
            </a:pPr>
            <a:r>
              <a:t>Khảo sát AD DS, DNS &amp; Share hệ thống</a:t>
            </a:r>
          </a:p>
          <a:p>
            <a:pPr>
              <a:spcBef>
                <a:spcPts val="300"/>
              </a:spcBef>
              <a:defRPr sz="850">
                <a:solidFill>
                  <a:srgbClr val="1E293B"/>
                </a:solidFill>
                <a:latin typeface="Segoe UI"/>
              </a:defRPr>
            </a:pPr>
            <a:r>
              <a:t>• Công cụ: dsa.msc (ADUC), dnsmgmt.msc.</a:t>
            </a:r>
            <a:br/>
            <a:r>
              <a:t>• Thao tác: Tạo OU 'KHOA-CNTT', tạo User 'sv1'. Kiểm tra SYSVOL &amp; NETLOGON.</a:t>
            </a:r>
          </a:p>
        </p:txBody>
      </p:sp>
      <p:sp>
        <p:nvSpPr>
          <p:cNvPr id="26" name="Rounded Rectangle 25"/>
          <p:cNvSpPr/>
          <p:nvPr/>
        </p:nvSpPr>
        <p:spPr>
          <a:xfrm>
            <a:off x="4498848" y="5650992"/>
            <a:ext cx="3182112" cy="438912"/>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00" b="1">
                <a:solidFill>
                  <a:srgbClr val="16A34A"/>
                </a:solidFill>
                <a:latin typeface="Segoe UI"/>
              </a:defRPr>
            </a:pPr>
            <a:r>
              <a:t>[✓ NGHIỆM THU]: Tạo OU, User, xác nhận SYSVOL &amp; NETLOGON live.</a:t>
            </a:r>
          </a:p>
        </p:txBody>
      </p:sp>
      <p:sp>
        <p:nvSpPr>
          <p:cNvPr id="27" name="Rounded Rectangle 26"/>
          <p:cNvSpPr/>
          <p:nvPr/>
        </p:nvSpPr>
        <p:spPr>
          <a:xfrm>
            <a:off x="8046720" y="3867912"/>
            <a:ext cx="3401568"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46720" y="3867912"/>
            <a:ext cx="3401568" cy="38404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[PHẦN 6] VIDEO 6 (~3 phút)</a:t>
            </a:r>
          </a:p>
        </p:txBody>
      </p:sp>
      <p:sp>
        <p:nvSpPr>
          <p:cNvPr id="29" name="TextBox 28"/>
          <p:cNvSpPr txBox="1"/>
          <p:nvPr/>
        </p:nvSpPr>
        <p:spPr>
          <a:xfrm>
            <a:off x="8156448" y="4288536"/>
            <a:ext cx="3182112" cy="1280160"/>
          </a:xfrm>
          <a:prstGeom prst="rect">
            <a:avLst/>
          </a:prstGeom>
          <a:noFill/>
        </p:spPr>
        <p:txBody>
          <a:bodyPr wrap="square" lIns="0" rIns="0" tIns="0" bIns="0">
            <a:spAutoFit/>
          </a:bodyPr>
          <a:lstStyle/>
          <a:p>
            <a:pPr>
              <a:defRPr sz="1000" b="1">
                <a:solidFill>
                  <a:srgbClr val="003366"/>
                </a:solidFill>
                <a:latin typeface="Segoe UI"/>
              </a:defRPr>
            </a:pPr>
            <a:r>
              <a:t>Cấu hình Client Win 7 Join Domain</a:t>
            </a:r>
          </a:p>
          <a:p>
            <a:pPr>
              <a:spcBef>
                <a:spcPts val="300"/>
              </a:spcBef>
              <a:defRPr sz="850">
                <a:solidFill>
                  <a:srgbClr val="1E293B"/>
                </a:solidFill>
                <a:latin typeface="Segoe UI"/>
              </a:defRPr>
            </a:pPr>
            <a:r>
              <a:t>• Công cụ: sysdm.cpl, whoami, CMD.</a:t>
            </a:r>
            <a:br/>
            <a:r>
              <a:t>• Thao tác: Trỏ DNS về DC -&gt; Join domain 'nhom1.vn' -&gt; Khởi động lại máy.</a:t>
            </a:r>
          </a:p>
        </p:txBody>
      </p:sp>
      <p:sp>
        <p:nvSpPr>
          <p:cNvPr id="30" name="Rounded Rectangle 29"/>
          <p:cNvSpPr/>
          <p:nvPr/>
        </p:nvSpPr>
        <p:spPr>
          <a:xfrm>
            <a:off x="8156448" y="5650992"/>
            <a:ext cx="3182112" cy="438912"/>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800" b="1">
                <a:solidFill>
                  <a:srgbClr val="16A34A"/>
                </a:solidFill>
                <a:latin typeface="Segoe UI"/>
              </a:defRPr>
            </a:pPr>
            <a:r>
              <a:t>[✓ NGHIỆM THU]: Win 7 join domain, whoami ra nhom1\sv1.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47472"/>
            <a:ext cx="10728655" cy="292608"/>
          </a:xfrm>
          <a:prstGeom prst="rect">
            <a:avLst/>
          </a:prstGeom>
          <a:noFill/>
        </p:spPr>
        <p:txBody>
          <a:bodyPr wrap="square" lIns="0" rIns="0" tIns="0" bIns="0">
            <a:spAutoFit/>
          </a:bodyPr>
          <a:lstStyle/>
          <a:p>
            <a:pPr>
              <a:defRPr sz="1000" b="1">
                <a:solidFill>
                  <a:srgbClr val="0E7490"/>
                </a:solidFill>
                <a:latin typeface="Segoe UI"/>
              </a:defRPr>
            </a:pPr>
            <a:r>
              <a:t>KẾT LUẬN &amp; ĐỊNH HƯỚNG</a:t>
            </a:r>
          </a:p>
        </p:txBody>
      </p:sp>
      <p:sp>
        <p:nvSpPr>
          <p:cNvPr id="3" name="TextBox 2"/>
          <p:cNvSpPr txBox="1"/>
          <p:nvPr/>
        </p:nvSpPr>
        <p:spPr>
          <a:xfrm>
            <a:off x="731520" y="621792"/>
            <a:ext cx="10728655" cy="502920"/>
          </a:xfrm>
          <a:prstGeom prst="rect">
            <a:avLst/>
          </a:prstGeom>
          <a:noFill/>
        </p:spPr>
        <p:txBody>
          <a:bodyPr wrap="square" lIns="0" rIns="0" tIns="0" bIns="0">
            <a:spAutoFit/>
          </a:bodyPr>
          <a:lstStyle/>
          <a:p>
            <a:pPr>
              <a:defRPr sz="2100" b="1">
                <a:solidFill>
                  <a:srgbClr val="003366"/>
                </a:solidFill>
                <a:latin typeface="Segoe UI"/>
              </a:defRPr>
            </a:pPr>
            <a:r>
              <a:t>Tổng Kết Kết Quả Đạt Được &amp; Hướng Phát Triển Hệ Thống</a:t>
            </a:r>
          </a:p>
        </p:txBody>
      </p:sp>
      <p:sp>
        <p:nvSpPr>
          <p:cNvPr id="4" name="Rectangle 3"/>
          <p:cNvSpPr/>
          <p:nvPr/>
        </p:nvSpPr>
        <p:spPr>
          <a:xfrm>
            <a:off x="731520" y="1170432"/>
            <a:ext cx="10728655"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55664"/>
            <a:ext cx="7315200" cy="274320"/>
          </a:xfrm>
          <a:prstGeom prst="rect">
            <a:avLst/>
          </a:prstGeom>
          <a:noFill/>
        </p:spPr>
        <p:txBody>
          <a:bodyPr wrap="square" lIns="0" rIns="0" tIns="0" bIns="0">
            <a:spAutoFit/>
          </a:bodyPr>
          <a:lstStyle/>
          <a:p>
            <a:pPr>
              <a:defRPr sz="950">
                <a:solidFill>
                  <a:srgbClr val="64748B"/>
                </a:solidFill>
                <a:latin typeface="Segoe UI"/>
              </a:defRPr>
            </a:pPr>
            <a:r>
              <a:t>Báo cáo bài tập nhóm — Quản trị và bảo trì hệ thống (IUH)</a:t>
            </a:r>
          </a:p>
        </p:txBody>
      </p:sp>
      <p:sp>
        <p:nvSpPr>
          <p:cNvPr id="6" name="TextBox 5"/>
          <p:cNvSpPr txBox="1"/>
          <p:nvPr/>
        </p:nvSpPr>
        <p:spPr>
          <a:xfrm>
            <a:off x="8229600" y="6455664"/>
            <a:ext cx="3230575" cy="274320"/>
          </a:xfrm>
          <a:prstGeom prst="rect">
            <a:avLst/>
          </a:prstGeom>
          <a:noFill/>
        </p:spPr>
        <p:txBody>
          <a:bodyPr wrap="square" lIns="0" rIns="0" tIns="0" bIns="0">
            <a:spAutoFit/>
          </a:bodyPr>
          <a:lstStyle/>
          <a:p>
            <a:pPr algn="r">
              <a:defRPr sz="950" b="1">
                <a:solidFill>
                  <a:srgbClr val="003366"/>
                </a:solidFill>
                <a:latin typeface="Segoe UI"/>
              </a:defRPr>
            </a:pPr>
            <a:r>
              <a:t>15 / 16</a:t>
            </a:r>
          </a:p>
        </p:txBody>
      </p:sp>
      <p:sp>
        <p:nvSpPr>
          <p:cNvPr id="7" name="Rounded Rectangle 6"/>
          <p:cNvSpPr/>
          <p:nvPr/>
        </p:nvSpPr>
        <p:spPr>
          <a:xfrm>
            <a:off x="731520" y="1353312"/>
            <a:ext cx="5230368" cy="434340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53312"/>
            <a:ext cx="5230368" cy="38404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FFFFFF"/>
                </a:solidFill>
                <a:latin typeface="Segoe UI"/>
              </a:defRPr>
            </a:pPr>
            <a:r>
              <a:t>[✓] CÁC KẾT QUẢ XUẤT SẮC ĐÃ ĐẠT ĐƯỢC</a:t>
            </a:r>
          </a:p>
        </p:txBody>
      </p:sp>
      <p:sp>
        <p:nvSpPr>
          <p:cNvPr id="9" name="TextBox 8"/>
          <p:cNvSpPr txBox="1"/>
          <p:nvPr/>
        </p:nvSpPr>
        <p:spPr>
          <a:xfrm>
            <a:off x="914400" y="1828800"/>
            <a:ext cx="4864608" cy="3749039"/>
          </a:xfrm>
          <a:prstGeom prst="rect">
            <a:avLst/>
          </a:prstGeom>
          <a:noFill/>
        </p:spPr>
        <p:txBody>
          <a:bodyPr wrap="square" lIns="0" rIns="0" tIns="0" bIns="0">
            <a:spAutoFit/>
          </a:bodyPr>
          <a:lstStyle/>
          <a:p/>
          <a:p>
            <a:pPr>
              <a:spcBef>
                <a:spcPts val="200"/>
              </a:spcBef>
              <a:spcAft>
                <a:spcPts val="400"/>
              </a:spcAft>
            </a:pPr>
            <a:r>
              <a:rPr sz="950" b="1">
                <a:solidFill>
                  <a:srgbClr val="1E293B"/>
                </a:solidFill>
                <a:latin typeface="Segoe UI"/>
              </a:rPr>
              <a:t>✓ Làm chủ nền tảng lý thuyết: </a:t>
            </a:r>
            <a:r>
              <a:rPr sz="950" b="0">
                <a:solidFill>
                  <a:srgbClr val="1E293B"/>
                </a:solidFill>
                <a:latin typeface="Segoe UI"/>
              </a:rPr>
              <a:t>Nắm vững sâu sắc sự tiến hóa từ Workgroup sang Domain, kiến trúc phân tầng X.500, cơ chế xác thực Kerberos v5, vai trò sống còn của DNS và 5 vai trò FSMO.</a:t>
            </a:r>
          </a:p>
          <a:p>
            <a:pPr>
              <a:spcBef>
                <a:spcPts val="200"/>
              </a:spcBef>
              <a:spcAft>
                <a:spcPts val="400"/>
              </a:spcAft>
            </a:pPr>
            <a:r>
              <a:rPr sz="950" b="1">
                <a:solidFill>
                  <a:srgbClr val="1E293B"/>
                </a:solidFill>
                <a:latin typeface="Segoe UI"/>
              </a:rPr>
              <a:t>✓ Hiểu rõ cơ chế ADPREP &amp; RODC: </a:t>
            </a:r>
            <a:r>
              <a:rPr sz="950" b="0">
                <a:solidFill>
                  <a:srgbClr val="1E293B"/>
                </a:solidFill>
                <a:latin typeface="Segoe UI"/>
              </a:rPr>
              <a:t>Làm rõ bản chất 3 lệnh mở rộng Schema/Domain và giải pháp an ninh chi nhánh RODC với chính sách Password Replication Policy.</a:t>
            </a:r>
          </a:p>
          <a:p>
            <a:pPr>
              <a:spcBef>
                <a:spcPts val="200"/>
              </a:spcBef>
              <a:spcAft>
                <a:spcPts val="400"/>
              </a:spcAft>
            </a:pPr>
            <a:r>
              <a:rPr sz="950" b="1">
                <a:solidFill>
                  <a:srgbClr val="1E293B"/>
                </a:solidFill>
                <a:latin typeface="Segoe UI"/>
              </a:rPr>
              <a:t>✓ Triển khai thực hành 100% thành công: </a:t>
            </a:r>
            <a:r>
              <a:rPr sz="950" b="0">
                <a:solidFill>
                  <a:srgbClr val="1E293B"/>
                </a:solidFill>
                <a:latin typeface="Segoe UI"/>
              </a:rPr>
              <a:t>Cài đặt hoàn chỉnh máy chủ Windows Server 2012 R2 Datacenter, thăng cấp thành công Domain Controller quản trị miền nhom1.vn.</a:t>
            </a:r>
          </a:p>
          <a:p>
            <a:pPr>
              <a:spcBef>
                <a:spcPts val="200"/>
              </a:spcBef>
              <a:spcAft>
                <a:spcPts val="400"/>
              </a:spcAft>
            </a:pPr>
            <a:r>
              <a:rPr sz="950" b="1">
                <a:solidFill>
                  <a:srgbClr val="1E293B"/>
                </a:solidFill>
                <a:latin typeface="Segoe UI"/>
              </a:rPr>
              <a:t>✓ Máy trạm gia nhập miền mượt mà: </a:t>
            </a:r>
            <a:r>
              <a:rPr sz="950" b="0">
                <a:solidFill>
                  <a:srgbClr val="1E293B"/>
                </a:solidFill>
                <a:latin typeface="Segoe UI"/>
              </a:rPr>
              <a:t>Cấu hình Client Windows 7 trỏ đúng DNS, gia nhập miền thành công và đăng nhập tài khoản sinh viên nhom1\sv1.</a:t>
            </a:r>
          </a:p>
          <a:p>
            <a:pPr>
              <a:spcBef>
                <a:spcPts val="200"/>
              </a:spcBef>
              <a:spcAft>
                <a:spcPts val="400"/>
              </a:spcAft>
            </a:pPr>
            <a:r>
              <a:rPr sz="950" b="1">
                <a:solidFill>
                  <a:srgbClr val="1E293B"/>
                </a:solidFill>
                <a:latin typeface="Segoe UI"/>
              </a:rPr>
              <a:t>✓ Sản phẩm nghiệm thu trực quan: </a:t>
            </a:r>
            <a:r>
              <a:rPr sz="950" b="0">
                <a:solidFill>
                  <a:srgbClr val="1E293B"/>
                </a:solidFill>
                <a:latin typeface="Segoe UI"/>
              </a:rPr>
              <a:t>Xây dựng chuỗi 6 video clip demo chất lượng cao, thuyết minh chi tiết từng bước kỹ thuật.</a:t>
            </a:r>
          </a:p>
        </p:txBody>
      </p:sp>
      <p:sp>
        <p:nvSpPr>
          <p:cNvPr id="10" name="Rounded Rectangle 9"/>
          <p:cNvSpPr/>
          <p:nvPr/>
        </p:nvSpPr>
        <p:spPr>
          <a:xfrm>
            <a:off x="6217920" y="1353312"/>
            <a:ext cx="5230368" cy="4343400"/>
          </a:xfrm>
          <a:prstGeom prst="roundRect">
            <a:avLst/>
          </a:prstGeom>
          <a:solidFill>
            <a:srgbClr val="EFF6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353312"/>
            <a:ext cx="5230368" cy="384048"/>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FFFFFF"/>
                </a:solidFill>
                <a:latin typeface="Segoe UI"/>
              </a:defRPr>
            </a:pPr>
            <a:r>
              <a:t>[MỞ RỘNG] ĐỊNH HƯỚNG NÂNG CẤP HỆ THỐNG TRONG THỰC TẾ</a:t>
            </a:r>
          </a:p>
        </p:txBody>
      </p:sp>
      <p:sp>
        <p:nvSpPr>
          <p:cNvPr id="12" name="TextBox 11"/>
          <p:cNvSpPr txBox="1"/>
          <p:nvPr/>
        </p:nvSpPr>
        <p:spPr>
          <a:xfrm>
            <a:off x="6400800" y="1828800"/>
            <a:ext cx="4864608" cy="3749039"/>
          </a:xfrm>
          <a:prstGeom prst="rect">
            <a:avLst/>
          </a:prstGeom>
          <a:noFill/>
        </p:spPr>
        <p:txBody>
          <a:bodyPr wrap="square" lIns="0" rIns="0" tIns="0" bIns="0">
            <a:spAutoFit/>
          </a:bodyPr>
          <a:lstStyle/>
          <a:p/>
          <a:p>
            <a:pPr>
              <a:spcBef>
                <a:spcPts val="200"/>
              </a:spcBef>
              <a:spcAft>
                <a:spcPts val="400"/>
              </a:spcAft>
            </a:pPr>
            <a:r>
              <a:rPr sz="950" b="1">
                <a:solidFill>
                  <a:srgbClr val="1E293B"/>
                </a:solidFill>
                <a:latin typeface="Segoe UI"/>
              </a:rPr>
              <a:t>• Triển khai máy chủ dự phòng (ADC): </a:t>
            </a:r>
            <a:r>
              <a:rPr sz="950" b="0">
                <a:solidFill>
                  <a:srgbClr val="1E293B"/>
                </a:solidFill>
                <a:latin typeface="Segoe UI"/>
              </a:rPr>
              <a:t>Cài đặt Additional Domain Controller để đồng bộ Multi-Master, chia tải xác thực và loại bỏ điểm chết duy nhất (Single Point of Failure).</a:t>
            </a:r>
          </a:p>
          <a:p>
            <a:pPr>
              <a:spcBef>
                <a:spcPts val="200"/>
              </a:spcBef>
              <a:spcAft>
                <a:spcPts val="400"/>
              </a:spcAft>
            </a:pPr>
            <a:r>
              <a:rPr sz="950" b="1">
                <a:solidFill>
                  <a:srgbClr val="1E293B"/>
                </a:solidFill>
                <a:latin typeface="Segoe UI"/>
              </a:rPr>
              <a:t>• Chính sách Group Policy (GPO) chuyên sâu: </a:t>
            </a:r>
            <a:r>
              <a:rPr sz="950" b="0">
                <a:solidFill>
                  <a:srgbClr val="1E293B"/>
                </a:solidFill>
                <a:latin typeface="Segoe UI"/>
              </a:rPr>
              <a:t>Triển khai chính sách khóa cổng USB chống lộ dữ liệu nội bộ, tự động ánh xạ ổ đĩa mạng chia sẻ (Network Drive Mapping) theo từng phòng ban OU.</a:t>
            </a:r>
          </a:p>
          <a:p>
            <a:pPr>
              <a:spcBef>
                <a:spcPts val="200"/>
              </a:spcBef>
              <a:spcAft>
                <a:spcPts val="400"/>
              </a:spcAft>
            </a:pPr>
            <a:r>
              <a:rPr sz="950" b="1">
                <a:solidFill>
                  <a:srgbClr val="1E293B"/>
                </a:solidFill>
                <a:latin typeface="Segoe UI"/>
              </a:rPr>
              <a:t>• Mô hình định danh lai (Hybrid Identity): </a:t>
            </a:r>
            <a:r>
              <a:rPr sz="950" b="0">
                <a:solidFill>
                  <a:srgbClr val="1E293B"/>
                </a:solidFill>
                <a:latin typeface="Segoe UI"/>
              </a:rPr>
              <a:t>Tích hợp công cụ Azure AD Connect để đồng bộ cơ sở dữ liệu tài khoản On-premises lên đám mây Microsoft Entra ID / Microsoft 365.</a:t>
            </a:r>
          </a:p>
          <a:p>
            <a:pPr>
              <a:spcBef>
                <a:spcPts val="200"/>
              </a:spcBef>
              <a:spcAft>
                <a:spcPts val="400"/>
              </a:spcAft>
            </a:pPr>
            <a:r>
              <a:rPr sz="950" b="1">
                <a:solidFill>
                  <a:srgbClr val="1E293B"/>
                </a:solidFill>
                <a:latin typeface="Segoe UI"/>
              </a:rPr>
              <a:t>• Áp dụng xác thực đa yếu tố (MFA): </a:t>
            </a:r>
            <a:r>
              <a:rPr sz="950" b="0">
                <a:solidFill>
                  <a:srgbClr val="1E293B"/>
                </a:solidFill>
                <a:latin typeface="Segoe UI"/>
              </a:rPr>
              <a:t>Tăng cường phòng thủ chống tấn công lừa đảo (Phishing) và đánh cắp mã băm mật khẩu (Pass-the-Hash) trong kỷ nguyên bảo mật Zero Trust.</a:t>
            </a:r>
          </a:p>
        </p:txBody>
      </p:sp>
      <p:sp>
        <p:nvSpPr>
          <p:cNvPr id="13" name="Rounded Rectangle 12"/>
          <p:cNvSpPr/>
          <p:nvPr/>
        </p:nvSpPr>
        <p:spPr>
          <a:xfrm>
            <a:off x="731520" y="5806440"/>
            <a:ext cx="10728655" cy="502920"/>
          </a:xfrm>
          <a:prstGeom prst="roundRect">
            <a:avLst/>
          </a:prstGeom>
          <a:solidFill>
            <a:srgbClr val="FEF9C3"/>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3366"/>
                </a:solidFill>
                <a:latin typeface="Segoe UI"/>
              </a:defRPr>
            </a:pPr>
            <a:r>
              <a:t>[GIÁ TRỊ THỰC TIỄN]: Đề tài cung cấp nền tảng kiến thức quản trị hạ tầng mạng vững chắc, sẵn sàng đáp ứng yêu cầu vận hành thực tế tại doanh nghiệp.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iuh.png"/>
          <p:cNvPicPr>
            <a:picLocks noChangeAspect="1"/>
          </p:cNvPicPr>
          <p:nvPr/>
        </p:nvPicPr>
        <p:blipFill>
          <a:blip r:embed="rId2"/>
          <a:stretch>
            <a:fillRect/>
          </a:stretch>
        </p:blipFill>
        <p:spPr>
          <a:xfrm>
            <a:off x="731520" y="164592"/>
            <a:ext cx="3017520" cy="860429"/>
          </a:xfrm>
          <a:prstGeom prst="rect">
            <a:avLst/>
          </a:prstGeom>
        </p:spPr>
      </p:pic>
      <p:sp>
        <p:nvSpPr>
          <p:cNvPr id="5" name="TextBox 4"/>
          <p:cNvSpPr txBox="1"/>
          <p:nvPr/>
        </p:nvSpPr>
        <p:spPr>
          <a:xfrm>
            <a:off x="4023360" y="292608"/>
            <a:ext cx="7406640" cy="731520"/>
          </a:xfrm>
          <a:prstGeom prst="rect">
            <a:avLst/>
          </a:prstGeom>
          <a:noFill/>
        </p:spPr>
        <p:txBody>
          <a:bodyPr wrap="square">
            <a:spAutoFit/>
          </a:bodyPr>
          <a:lstStyle/>
          <a:p>
            <a:pPr>
              <a:defRPr sz="1300" b="1">
                <a:solidFill>
                  <a:srgbClr val="003366"/>
                </a:solidFill>
                <a:latin typeface="Segoe UI"/>
              </a:defRPr>
            </a:pPr>
            <a:r>
              <a:t>TRƯỜNG ĐẠI HỌC CÔNG NGHIỆP TP. HỒ CHÍ MINH — KHOA CÔNG NGHỆ THÔNG TIN</a:t>
            </a:r>
          </a:p>
          <a:p>
            <a:pPr>
              <a:defRPr sz="1100">
                <a:solidFill>
                  <a:srgbClr val="64748B"/>
                </a:solidFill>
                <a:latin typeface="Segoe UI"/>
              </a:defRPr>
            </a:pPr>
            <a:r>
              <a:t>Bộ môn: Quản trị và bảo trì hệ thống  |  Báo cáo chuyên đề Nhóm 01</a:t>
            </a:r>
          </a:p>
        </p:txBody>
      </p:sp>
      <p:sp>
        <p:nvSpPr>
          <p:cNvPr id="6" name="TextBox 5"/>
          <p:cNvSpPr txBox="1"/>
          <p:nvPr/>
        </p:nvSpPr>
        <p:spPr>
          <a:xfrm>
            <a:off x="1371600" y="2011680"/>
            <a:ext cx="9448495" cy="2103120"/>
          </a:xfrm>
          <a:prstGeom prst="rect">
            <a:avLst/>
          </a:prstGeom>
          <a:noFill/>
        </p:spPr>
        <p:txBody>
          <a:bodyPr wrap="square">
            <a:spAutoFit/>
          </a:bodyPr>
          <a:lstStyle/>
          <a:p>
            <a:pPr algn="ctr">
              <a:defRPr sz="3000" b="1">
                <a:solidFill>
                  <a:srgbClr val="EAB308"/>
                </a:solidFill>
                <a:latin typeface="Segoe UI"/>
              </a:defRPr>
            </a:pPr>
            <a:r>
              <a:t>XIN CHÂN THÀNH CẢM ƠN THẦY VÀ CÁC BẠN</a:t>
            </a:r>
            <a:br/>
            <a:r>
              <a:t>ĐÃ CHÚ Ý THEO DÕI BÀI BÁO CÁO!</a:t>
            </a:r>
          </a:p>
          <a:p>
            <a:pPr algn="ctr">
              <a:spcBef>
                <a:spcPts val="1400"/>
              </a:spcBef>
              <a:defRPr sz="1400">
                <a:solidFill>
                  <a:srgbClr val="FFFFFF"/>
                </a:solidFill>
                <a:latin typeface="Segoe UI"/>
              </a:defRPr>
            </a:pPr>
            <a:r>
              <a:t>Kính chúc Thầy nhiều sức khỏe và thành công trong sự nghiệp giảng dạy!</a:t>
            </a:r>
          </a:p>
        </p:txBody>
      </p:sp>
      <p:sp>
        <p:nvSpPr>
          <p:cNvPr id="7" name="Rounded Rectangle 6"/>
          <p:cNvSpPr/>
          <p:nvPr/>
        </p:nvSpPr>
        <p:spPr>
          <a:xfrm>
            <a:off x="3352190" y="4389120"/>
            <a:ext cx="5486400" cy="1280160"/>
          </a:xfrm>
          <a:prstGeom prst="roundRect">
            <a:avLst/>
          </a:prstGeom>
          <a:solidFill>
            <a:srgbClr val="1E293B"/>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PHIÊN HỎI ĐÁP (Q &amp; A)</a:t>
            </a:r>
            <a:br/>
            <a:r>
              <a:t>Nhóm 01 sẵn sàng lắng nghe &amp; giải đáp các câu hỏi phản biện!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