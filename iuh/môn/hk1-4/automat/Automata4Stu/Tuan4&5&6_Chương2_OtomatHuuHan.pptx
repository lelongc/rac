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4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Chương</a:t>
            </a:r>
            <a:r>
              <a:rPr lang="en-US" b="1" dirty="0"/>
              <a:t> 2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OTOMAT HỮU HẠN VÀ NGÔN NGỮ CHÍNH QUY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757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30815"/>
            <a:ext cx="8911687" cy="1280890"/>
          </a:xfrm>
        </p:spPr>
        <p:txBody>
          <a:bodyPr/>
          <a:lstStyle/>
          <a:p>
            <a:r>
              <a:rPr lang="es-MX" b="1"/>
              <a:t>Otomat hữu hạn không đơn </a:t>
            </a:r>
            <a:r>
              <a:rPr lang="es-MX" b="1" smtClean="0"/>
              <a:t>định (NFA)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264554"/>
            <a:ext cx="9514556" cy="559344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b="1" i="1"/>
              <a:t>Định nghĩa 2.1</a:t>
            </a:r>
            <a:r>
              <a:rPr lang="es-MX"/>
              <a:t> Một otomat hữu hạn không đơn định (Nondeterministic Finite </a:t>
            </a:r>
            <a:r>
              <a:rPr lang="es-MX" smtClean="0"/>
              <a:t>Automata) </a:t>
            </a:r>
            <a:r>
              <a:rPr lang="es-MX"/>
              <a:t>là một bộ năm: </a:t>
            </a:r>
            <a:endParaRPr lang="en-US"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s-MX"/>
              <a:t>A = &lt;Q, </a:t>
            </a:r>
            <a:r>
              <a:rPr lang="en-US"/>
              <a:t>Σ</a:t>
            </a:r>
            <a:r>
              <a:rPr lang="es-MX"/>
              <a:t>, </a:t>
            </a:r>
            <a:r>
              <a:rPr lang="en-US"/>
              <a:t>δ</a:t>
            </a:r>
            <a:r>
              <a:rPr lang="es-MX"/>
              <a:t>, q</a:t>
            </a:r>
            <a:r>
              <a:rPr lang="es-MX" baseline="-25000"/>
              <a:t>0</a:t>
            </a:r>
            <a:r>
              <a:rPr lang="es-MX"/>
              <a:t>, F&gt; </a:t>
            </a:r>
            <a:endParaRPr lang="en-US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/>
              <a:t>T</a:t>
            </a:r>
            <a:r>
              <a:rPr lang="es-MX" smtClean="0"/>
              <a:t>rong </a:t>
            </a:r>
            <a:r>
              <a:rPr lang="es-MX"/>
              <a:t>đó Q, </a:t>
            </a:r>
            <a:r>
              <a:rPr lang="en-US"/>
              <a:t>Σ</a:t>
            </a:r>
            <a:r>
              <a:rPr lang="es-MX"/>
              <a:t>, q</a:t>
            </a:r>
            <a:r>
              <a:rPr lang="es-MX" baseline="-25000"/>
              <a:t>0</a:t>
            </a:r>
            <a:r>
              <a:rPr lang="es-MX"/>
              <a:t>, F như trong định nghĩa 1.1 và </a:t>
            </a:r>
            <a:r>
              <a:rPr lang="en-US"/>
              <a:t>δ</a:t>
            </a:r>
            <a:r>
              <a:rPr lang="es-MX"/>
              <a:t>: Q × </a:t>
            </a:r>
            <a:r>
              <a:rPr lang="en-US"/>
              <a:t>Σ </a:t>
            </a:r>
            <a:r>
              <a:rPr lang="es-MX"/>
              <a:t>→ 2</a:t>
            </a:r>
            <a:r>
              <a:rPr lang="es-MX" baseline="30000"/>
              <a:t>Q</a:t>
            </a:r>
            <a:r>
              <a:rPr lang="es-MX"/>
              <a:t>, ở đây 2</a:t>
            </a:r>
            <a:r>
              <a:rPr lang="es-MX" baseline="30000"/>
              <a:t>Q</a:t>
            </a:r>
            <a:r>
              <a:rPr lang="es-MX"/>
              <a:t> (hay P(Q), là ký hiệu tập hợp các tập con của Q) gọi là ánh xạ chuyển.   </a:t>
            </a:r>
            <a:endParaRPr lang="en-US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/>
              <a:t>Rõ ràng ở đây ánh xạ </a:t>
            </a:r>
            <a:r>
              <a:rPr lang="en-US"/>
              <a:t>δ</a:t>
            </a:r>
            <a:r>
              <a:rPr lang="es-MX"/>
              <a:t> là một hàm đa trị (hàm không đơn định), vì vậy otomat A trong định nghĩa trên đây được gọi là không đơn định. </a:t>
            </a:r>
            <a:endParaRPr lang="en-US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/>
              <a:t>Trong trường hợp </a:t>
            </a:r>
            <a:r>
              <a:rPr lang="en-US"/>
              <a:t>δ</a:t>
            </a:r>
            <a:r>
              <a:rPr lang="es-MX"/>
              <a:t>(q, a) xác định ∀q ∈ Q, ∀a ∈ </a:t>
            </a:r>
            <a:r>
              <a:rPr lang="en-US"/>
              <a:t>Σ</a:t>
            </a:r>
            <a:r>
              <a:rPr lang="es-MX"/>
              <a:t>, ta nói ôtômát A là đầy đủ. </a:t>
            </a:r>
            <a:endParaRPr lang="en-US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/>
              <a:t>Nếu </a:t>
            </a:r>
            <a:r>
              <a:rPr lang="en-US"/>
              <a:t>δ</a:t>
            </a:r>
            <a:r>
              <a:rPr lang="es-MX"/>
              <a:t>(q, a) = {p</a:t>
            </a:r>
            <a:r>
              <a:rPr lang="es-MX" baseline="-25000"/>
              <a:t>1</a:t>
            </a:r>
            <a:r>
              <a:rPr lang="es-MX"/>
              <a:t>, p</a:t>
            </a:r>
            <a:r>
              <a:rPr lang="es-MX" baseline="-25000"/>
              <a:t>2</a:t>
            </a:r>
            <a:r>
              <a:rPr lang="es-MX"/>
              <a:t>, …, p</a:t>
            </a:r>
            <a:r>
              <a:rPr lang="es-MX" baseline="-25000"/>
              <a:t>k</a:t>
            </a:r>
            <a:r>
              <a:rPr lang="es-MX"/>
              <a:t>} thì ta nói rằng otomat A ở trạng thái q gặp ký hiệu a thì có thể chuyển đến một trong các trạng thái p</a:t>
            </a:r>
            <a:r>
              <a:rPr lang="es-MX" baseline="-25000"/>
              <a:t>1</a:t>
            </a:r>
            <a:r>
              <a:rPr lang="es-MX"/>
              <a:t>, p</a:t>
            </a:r>
            <a:r>
              <a:rPr lang="es-MX" baseline="-25000"/>
              <a:t>2</a:t>
            </a:r>
            <a:r>
              <a:rPr lang="es-MX"/>
              <a:t>, …, p</a:t>
            </a:r>
            <a:r>
              <a:rPr lang="es-MX" baseline="-25000"/>
              <a:t>k</a:t>
            </a:r>
            <a:r>
              <a:rPr lang="es-MX"/>
              <a:t>. </a:t>
            </a:r>
            <a:endParaRPr lang="es-MX" smtClean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mtClean="0"/>
              <a:t>Nếu </a:t>
            </a:r>
            <a:r>
              <a:rPr lang="en-US"/>
              <a:t>δ</a:t>
            </a:r>
            <a:r>
              <a:rPr lang="es-MX"/>
              <a:t>(q, a) = {p} thì ở trạng thái q gặp ký hiệu a, otomat A chỉ chuyển đến một trạng thái duy nhất p. </a:t>
            </a:r>
            <a:endParaRPr lang="es-MX" smtClean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MX" smtClean="0"/>
              <a:t>Nếu </a:t>
            </a:r>
            <a:r>
              <a:rPr lang="en-US"/>
              <a:t>δ</a:t>
            </a:r>
            <a:r>
              <a:rPr lang="es-MX"/>
              <a:t>(q, a) </a:t>
            </a:r>
            <a:r>
              <a:rPr lang="es-MX" smtClean="0"/>
              <a:t>không </a:t>
            </a:r>
            <a:r>
              <a:rPr lang="es-MX"/>
              <a:t>xác  </a:t>
            </a:r>
            <a:r>
              <a:rPr lang="es-MX" smtClean="0"/>
              <a:t>định </a:t>
            </a:r>
            <a:r>
              <a:rPr lang="es-MX"/>
              <a:t>(ta thường viết </a:t>
            </a:r>
            <a:r>
              <a:rPr lang="en-US"/>
              <a:t>δ</a:t>
            </a:r>
            <a:r>
              <a:rPr lang="es-MX"/>
              <a:t>(q, a) = ∅ ) thì ở trạng thái q gặp ký hiệu a, otomat A không thể chuyển đến trạng thái nào, cũng tương tự như với otomat hữu hạn đơn định.  </a:t>
            </a:r>
            <a:endParaRPr lang="en-US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3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51131"/>
            <a:ext cx="8911687" cy="651237"/>
          </a:xfrm>
        </p:spPr>
        <p:txBody>
          <a:bodyPr/>
          <a:lstStyle/>
          <a:p>
            <a:r>
              <a:rPr lang="en-US" smtClean="0"/>
              <a:t>Ví dụ: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5499" y="1002632"/>
            <a:ext cx="8915400" cy="57470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MX"/>
              <a:t>Cho otomat hữu hạn không đơn định: </a:t>
            </a:r>
            <a:endParaRPr lang="en-US"/>
          </a:p>
          <a:p>
            <a:pPr>
              <a:lnSpc>
                <a:spcPct val="150000"/>
              </a:lnSpc>
            </a:pPr>
            <a:r>
              <a:rPr lang="es-MX"/>
              <a:t>A = &lt;{q</a:t>
            </a:r>
            <a:r>
              <a:rPr lang="es-MX" baseline="-25000"/>
              <a:t>0</a:t>
            </a:r>
            <a:r>
              <a:rPr lang="es-MX"/>
              <a:t>, q</a:t>
            </a:r>
            <a:r>
              <a:rPr lang="es-MX" baseline="-25000"/>
              <a:t>1</a:t>
            </a:r>
            <a:r>
              <a:rPr lang="es-MX"/>
              <a:t>, q</a:t>
            </a:r>
            <a:r>
              <a:rPr lang="es-MX" baseline="-25000"/>
              <a:t>2, </a:t>
            </a:r>
            <a:r>
              <a:rPr lang="es-MX"/>
              <a:t>q</a:t>
            </a:r>
            <a:r>
              <a:rPr lang="es-MX" baseline="-25000"/>
              <a:t>3</a:t>
            </a:r>
            <a:r>
              <a:rPr lang="es-MX"/>
              <a:t>, q</a:t>
            </a:r>
            <a:r>
              <a:rPr lang="es-MX" baseline="-25000"/>
              <a:t>4</a:t>
            </a:r>
            <a:r>
              <a:rPr lang="es-MX"/>
              <a:t>}, {0, 1}, </a:t>
            </a:r>
            <a:r>
              <a:rPr lang="en-US"/>
              <a:t>δ</a:t>
            </a:r>
            <a:r>
              <a:rPr lang="es-MX"/>
              <a:t>, q</a:t>
            </a:r>
            <a:r>
              <a:rPr lang="es-MX" baseline="-25000"/>
              <a:t>0</a:t>
            </a:r>
            <a:r>
              <a:rPr lang="es-MX"/>
              <a:t>, {q</a:t>
            </a:r>
            <a:r>
              <a:rPr lang="es-MX" baseline="-25000"/>
              <a:t>2, </a:t>
            </a:r>
            <a:r>
              <a:rPr lang="es-MX"/>
              <a:t>q</a:t>
            </a:r>
            <a:r>
              <a:rPr lang="es-MX" baseline="-25000"/>
              <a:t>4</a:t>
            </a:r>
            <a:r>
              <a:rPr lang="es-MX"/>
              <a:t>}&gt;, </a:t>
            </a:r>
            <a:endParaRPr lang="en-US"/>
          </a:p>
          <a:p>
            <a:pPr>
              <a:lnSpc>
                <a:spcPct val="150000"/>
              </a:lnSpc>
            </a:pPr>
            <a:r>
              <a:rPr lang="es-MX"/>
              <a:t>Với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0</a:t>
            </a:r>
            <a:r>
              <a:rPr lang="es-MX"/>
              <a:t>,0) = {q</a:t>
            </a:r>
            <a:r>
              <a:rPr lang="es-MX" baseline="-25000"/>
              <a:t>0</a:t>
            </a:r>
            <a:r>
              <a:rPr lang="es-MX"/>
              <a:t>,q</a:t>
            </a:r>
            <a:r>
              <a:rPr lang="es-MX" baseline="-25000"/>
              <a:t>3</a:t>
            </a:r>
            <a:r>
              <a:rPr lang="es-MX"/>
              <a:t>},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0</a:t>
            </a:r>
            <a:r>
              <a:rPr lang="es-MX"/>
              <a:t>, 1) = {q</a:t>
            </a:r>
            <a:r>
              <a:rPr lang="es-MX" baseline="-25000"/>
              <a:t>0</a:t>
            </a:r>
            <a:r>
              <a:rPr lang="es-MX"/>
              <a:t>,q</a:t>
            </a:r>
            <a:r>
              <a:rPr lang="es-MX" baseline="-25000"/>
              <a:t>1</a:t>
            </a:r>
            <a:r>
              <a:rPr lang="es-MX"/>
              <a:t>},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1</a:t>
            </a:r>
            <a:r>
              <a:rPr lang="es-MX"/>
              <a:t>, 0) = ∅,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1</a:t>
            </a:r>
            <a:r>
              <a:rPr lang="es-MX"/>
              <a:t>, 1) = {q</a:t>
            </a:r>
            <a:r>
              <a:rPr lang="es-MX" baseline="-25000"/>
              <a:t>2</a:t>
            </a:r>
            <a:r>
              <a:rPr lang="es-MX"/>
              <a:t>},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2</a:t>
            </a:r>
            <a:r>
              <a:rPr lang="es-MX"/>
              <a:t>, 0) = {q</a:t>
            </a:r>
            <a:r>
              <a:rPr lang="es-MX" baseline="-25000"/>
              <a:t>2</a:t>
            </a:r>
            <a:r>
              <a:rPr lang="es-MX"/>
              <a:t>}, 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2</a:t>
            </a:r>
            <a:r>
              <a:rPr lang="es-MX"/>
              <a:t>, 1) = {q</a:t>
            </a:r>
            <a:r>
              <a:rPr lang="es-MX" baseline="-25000"/>
              <a:t>2</a:t>
            </a:r>
            <a:r>
              <a:rPr lang="es-MX"/>
              <a:t>},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3</a:t>
            </a:r>
            <a:r>
              <a:rPr lang="es-MX"/>
              <a:t>, 0) = {q</a:t>
            </a:r>
            <a:r>
              <a:rPr lang="es-MX" baseline="-25000"/>
              <a:t>4</a:t>
            </a:r>
            <a:r>
              <a:rPr lang="es-MX"/>
              <a:t>},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3</a:t>
            </a:r>
            <a:r>
              <a:rPr lang="es-MX"/>
              <a:t>,1) = ∅,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4</a:t>
            </a:r>
            <a:r>
              <a:rPr lang="es-MX"/>
              <a:t>, 0) = {q</a:t>
            </a:r>
            <a:r>
              <a:rPr lang="es-MX" baseline="-25000"/>
              <a:t>4</a:t>
            </a:r>
            <a:r>
              <a:rPr lang="es-MX"/>
              <a:t>},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4</a:t>
            </a:r>
            <a:r>
              <a:rPr lang="es-MX"/>
              <a:t>, 1) = {q</a:t>
            </a:r>
            <a:r>
              <a:rPr lang="es-MX" baseline="-25000"/>
              <a:t>4</a:t>
            </a:r>
            <a:r>
              <a:rPr lang="es-MX"/>
              <a:t>}. </a:t>
            </a:r>
            <a:endParaRPr lang="en-US" smtClean="0"/>
          </a:p>
          <a:p>
            <a:pPr>
              <a:lnSpc>
                <a:spcPct val="150000"/>
              </a:lnSpc>
            </a:pPr>
            <a:r>
              <a:rPr lang="es-MX"/>
              <a:t>Bảng chuyển trạng thái và đồ thị chuyển trạng thái của otomat A cho trong hình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947" y="3855267"/>
            <a:ext cx="3158040" cy="189732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7756093" y="3892037"/>
            <a:ext cx="3060700" cy="186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9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323321"/>
            <a:ext cx="8911687" cy="1280890"/>
          </a:xfrm>
        </p:spPr>
        <p:txBody>
          <a:bodyPr>
            <a:normAutofit/>
          </a:bodyPr>
          <a:lstStyle/>
          <a:p>
            <a:r>
              <a:rPr lang="es-MX" b="1"/>
              <a:t>Ngôn ngữ được đoán nhận bởi otomat hữu hạn không đơn định</a:t>
            </a:r>
            <a:r>
              <a:rPr lang="es-MX"/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67853"/>
            <a:ext cx="8915400" cy="444336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endParaRPr lang="es-MX" b="1" i="1" smtClean="0"/>
          </a:p>
          <a:p>
            <a:pPr>
              <a:lnSpc>
                <a:spcPct val="150000"/>
              </a:lnSpc>
            </a:pPr>
            <a:r>
              <a:rPr lang="es-MX" b="1" i="1" smtClean="0"/>
              <a:t>Định </a:t>
            </a:r>
            <a:r>
              <a:rPr lang="es-MX" b="1" i="1"/>
              <a:t>nghĩa 2.2 </a:t>
            </a:r>
            <a:r>
              <a:rPr lang="es-MX"/>
              <a:t> Cho otomat hữu hạn không đơn định A = &lt;Q, </a:t>
            </a:r>
            <a:r>
              <a:rPr lang="en-US"/>
              <a:t>Σ</a:t>
            </a:r>
            <a:r>
              <a:rPr lang="es-MX"/>
              <a:t>, </a:t>
            </a:r>
            <a:r>
              <a:rPr lang="en-US"/>
              <a:t>δ</a:t>
            </a:r>
            <a:r>
              <a:rPr lang="es-MX"/>
              <a:t>, q</a:t>
            </a:r>
            <a:r>
              <a:rPr lang="es-MX" baseline="-25000"/>
              <a:t>0</a:t>
            </a:r>
            <a:r>
              <a:rPr lang="es-MX"/>
              <a:t>, F&gt;. Mở rộng của </a:t>
            </a:r>
            <a:r>
              <a:rPr lang="en-US"/>
              <a:t>δ</a:t>
            </a:r>
            <a:r>
              <a:rPr lang="es-MX"/>
              <a:t> là ánh xạ </a:t>
            </a:r>
            <a:r>
              <a:rPr lang="en-US"/>
              <a:t>δ</a:t>
            </a:r>
            <a:r>
              <a:rPr lang="es-MX" baseline="30000"/>
              <a:t>’</a:t>
            </a:r>
            <a:r>
              <a:rPr lang="es-MX"/>
              <a:t> từ tập Q × </a:t>
            </a:r>
            <a:r>
              <a:rPr lang="en-US"/>
              <a:t>Σ </a:t>
            </a:r>
            <a:r>
              <a:rPr lang="es-MX" baseline="30000"/>
              <a:t>*</a:t>
            </a:r>
            <a:r>
              <a:rPr lang="es-MX"/>
              <a:t> vào 2</a:t>
            </a:r>
            <a:r>
              <a:rPr lang="es-MX" baseline="30000"/>
              <a:t>Q</a:t>
            </a:r>
            <a:r>
              <a:rPr lang="es-MX"/>
              <a:t> được xác định như sau: </a:t>
            </a:r>
            <a:endParaRPr lang="en-US"/>
          </a:p>
          <a:p>
            <a:pPr lvl="0" fontAlgn="base">
              <a:lnSpc>
                <a:spcPct val="150000"/>
              </a:lnSpc>
            </a:pPr>
            <a:r>
              <a:rPr lang="en-US" smtClean="0"/>
              <a:t>δ</a:t>
            </a:r>
            <a:r>
              <a:rPr lang="en-US" baseline="30000" smtClean="0"/>
              <a:t>’</a:t>
            </a:r>
            <a:r>
              <a:rPr lang="en-US" smtClean="0"/>
              <a:t>(q, ε) = {q}, ∀q ∈ Q, </a:t>
            </a:r>
          </a:p>
          <a:p>
            <a:pPr lvl="0" fontAlgn="base">
              <a:lnSpc>
                <a:spcPct val="150000"/>
              </a:lnSpc>
            </a:pPr>
            <a:r>
              <a:rPr lang="en-US"/>
              <a:t>δ</a:t>
            </a:r>
            <a:r>
              <a:rPr lang="en-US" baseline="30000"/>
              <a:t>’</a:t>
            </a:r>
            <a:r>
              <a:rPr lang="en-US"/>
              <a:t>(q, ωa) </a:t>
            </a:r>
            <a:r>
              <a:rPr lang="en-US" smtClean="0"/>
              <a:t>=              ∀</a:t>
            </a:r>
            <a:r>
              <a:rPr lang="en-US"/>
              <a:t>q∈Q, ∀a∈Σ, ∀ω∈Σ</a:t>
            </a:r>
            <a:r>
              <a:rPr lang="en-US" baseline="30000"/>
              <a:t>*</a:t>
            </a:r>
            <a:r>
              <a:rPr lang="en-US"/>
              <a:t> sao cho δ</a:t>
            </a:r>
            <a:r>
              <a:rPr lang="en-US" baseline="30000"/>
              <a:t>’</a:t>
            </a:r>
            <a:r>
              <a:rPr lang="en-US"/>
              <a:t>(q, ω) được xác định. </a:t>
            </a:r>
            <a:endParaRPr lang="en-US" smtClean="0"/>
          </a:p>
          <a:p>
            <a:pPr>
              <a:lnSpc>
                <a:spcPct val="150000"/>
              </a:lnSpc>
            </a:pPr>
            <a:endParaRPr lang="en-US" smtClean="0"/>
          </a:p>
          <a:p>
            <a:pPr>
              <a:lnSpc>
                <a:spcPct val="150000"/>
              </a:lnSpc>
            </a:pPr>
            <a:r>
              <a:rPr lang="en-US" b="1" i="1"/>
              <a:t>Định nghĩa 2.3  </a:t>
            </a:r>
            <a:r>
              <a:rPr lang="en-US"/>
              <a:t>Cho otomat hữu hạn không đơn định A = &lt;Q, Σ, δ, q</a:t>
            </a:r>
            <a:r>
              <a:rPr lang="en-US" baseline="-25000"/>
              <a:t>0</a:t>
            </a:r>
            <a:r>
              <a:rPr lang="en-US"/>
              <a:t>, F&gt;, ω ∈ Σ</a:t>
            </a:r>
            <a:r>
              <a:rPr lang="en-US" baseline="30000"/>
              <a:t>*</a:t>
            </a:r>
            <a:r>
              <a:rPr lang="en-US"/>
              <a:t> và L là một ngôn ngữ trên Σ. Ta nói: </a:t>
            </a:r>
          </a:p>
          <a:p>
            <a:pPr>
              <a:lnSpc>
                <a:spcPct val="150000"/>
              </a:lnSpc>
            </a:pPr>
            <a:r>
              <a:rPr lang="en-US" smtClean="0"/>
              <a:t>ω </a:t>
            </a:r>
            <a:r>
              <a:rPr lang="en-US"/>
              <a:t>được đoán nhận bởi A  nếu δ(q</a:t>
            </a:r>
            <a:r>
              <a:rPr lang="en-US" baseline="-25000"/>
              <a:t>0</a:t>
            </a:r>
            <a:r>
              <a:rPr lang="en-US"/>
              <a:t>, ω) ∩ F ≠ ∅; </a:t>
            </a:r>
          </a:p>
          <a:p>
            <a:pPr>
              <a:lnSpc>
                <a:spcPct val="150000"/>
              </a:lnSpc>
            </a:pPr>
            <a:r>
              <a:rPr lang="en-US" smtClean="0"/>
              <a:t>L </a:t>
            </a:r>
            <a:r>
              <a:rPr lang="en-US"/>
              <a:t>được đoán nhận bởi A nếu L = {ω∈Σ</a:t>
            </a:r>
            <a:r>
              <a:rPr lang="en-US" baseline="30000"/>
              <a:t>*</a:t>
            </a:r>
            <a:r>
              <a:rPr lang="en-US"/>
              <a:t> | δ(q</a:t>
            </a:r>
            <a:r>
              <a:rPr lang="en-US" baseline="-25000"/>
              <a:t>0</a:t>
            </a:r>
            <a:r>
              <a:rPr lang="en-US"/>
              <a:t>, ω) ∩ F ≠ ∅} và ký hiệu L là T(A). </a:t>
            </a:r>
          </a:p>
          <a:p>
            <a:pPr>
              <a:lnSpc>
                <a:spcPct val="150000"/>
              </a:lnSpc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961" y="3209806"/>
            <a:ext cx="821865" cy="54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6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7332"/>
          </a:xfrm>
        </p:spPr>
        <p:txBody>
          <a:bodyPr/>
          <a:lstStyle/>
          <a:p>
            <a:r>
              <a:rPr lang="en-US" smtClean="0"/>
              <a:t>Ví dụ: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311442"/>
            <a:ext cx="8915400" cy="5546558"/>
          </a:xfrm>
        </p:spPr>
        <p:txBody>
          <a:bodyPr>
            <a:normAutofit/>
          </a:bodyPr>
          <a:lstStyle/>
          <a:p>
            <a:r>
              <a:rPr lang="en-US"/>
              <a:t>Cho otomat hữu hạn không đơn định: </a:t>
            </a:r>
          </a:p>
          <a:p>
            <a:r>
              <a:rPr lang="en-US"/>
              <a:t>A = &lt;{q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, q</a:t>
            </a:r>
            <a:r>
              <a:rPr lang="en-US" baseline="-25000"/>
              <a:t>2</a:t>
            </a:r>
            <a:r>
              <a:rPr lang="en-US"/>
              <a:t>}, {a, b}, δ, q</a:t>
            </a:r>
            <a:r>
              <a:rPr lang="en-US" baseline="-25000"/>
              <a:t>0</a:t>
            </a:r>
            <a:r>
              <a:rPr lang="en-US"/>
              <a:t>, {q</a:t>
            </a:r>
            <a:r>
              <a:rPr lang="en-US" baseline="-25000"/>
              <a:t>2</a:t>
            </a:r>
            <a:r>
              <a:rPr lang="en-US"/>
              <a:t>}&gt;, </a:t>
            </a:r>
            <a:r>
              <a:rPr lang="en-US" smtClean="0"/>
              <a:t>trong </a:t>
            </a:r>
            <a:r>
              <a:rPr lang="en-US"/>
              <a:t>đó δ(q</a:t>
            </a:r>
            <a:r>
              <a:rPr lang="en-US" baseline="-25000"/>
              <a:t>0</a:t>
            </a:r>
            <a:r>
              <a:rPr lang="en-US"/>
              <a:t>, a) = {q</a:t>
            </a:r>
            <a:r>
              <a:rPr lang="en-US" baseline="-25000"/>
              <a:t>0</a:t>
            </a:r>
            <a:r>
              <a:rPr lang="en-US"/>
              <a:t>}, δ(q</a:t>
            </a:r>
            <a:r>
              <a:rPr lang="en-US" baseline="-25000"/>
              <a:t>0</a:t>
            </a:r>
            <a:r>
              <a:rPr lang="en-US"/>
              <a:t>, b) = 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}, δ(q</a:t>
            </a:r>
            <a:r>
              <a:rPr lang="en-US" baseline="-25000"/>
              <a:t>1</a:t>
            </a:r>
            <a:r>
              <a:rPr lang="en-US"/>
              <a:t>, a) = {q</a:t>
            </a:r>
            <a:r>
              <a:rPr lang="en-US" baseline="-25000"/>
              <a:t>1</a:t>
            </a:r>
            <a:r>
              <a:rPr lang="en-US"/>
              <a:t>}, δ(q</a:t>
            </a:r>
            <a:r>
              <a:rPr lang="en-US" baseline="-25000"/>
              <a:t>1</a:t>
            </a:r>
            <a:r>
              <a:rPr lang="en-US"/>
              <a:t>, b) = {q</a:t>
            </a:r>
            <a:r>
              <a:rPr lang="en-US" baseline="-25000"/>
              <a:t>1</a:t>
            </a:r>
            <a:r>
              <a:rPr lang="en-US"/>
              <a:t>, q</a:t>
            </a:r>
            <a:r>
              <a:rPr lang="en-US" baseline="-25000"/>
              <a:t>2</a:t>
            </a:r>
            <a:r>
              <a:rPr lang="en-US"/>
              <a:t>},  </a:t>
            </a:r>
            <a:r>
              <a:rPr lang="en-US" smtClean="0"/>
              <a:t>δ(q</a:t>
            </a:r>
            <a:r>
              <a:rPr lang="en-US" baseline="-25000" smtClean="0"/>
              <a:t>2</a:t>
            </a:r>
            <a:r>
              <a:rPr lang="en-US"/>
              <a:t>, a) = {q</a:t>
            </a:r>
            <a:r>
              <a:rPr lang="en-US" baseline="-25000"/>
              <a:t>2</a:t>
            </a:r>
            <a:r>
              <a:rPr lang="en-US"/>
              <a:t>}, δ(q</a:t>
            </a:r>
            <a:r>
              <a:rPr lang="en-US" baseline="-25000"/>
              <a:t>2</a:t>
            </a:r>
            <a:r>
              <a:rPr lang="en-US"/>
              <a:t>, b) = {q</a:t>
            </a:r>
            <a:r>
              <a:rPr lang="en-US" baseline="-25000"/>
              <a:t>2</a:t>
            </a:r>
            <a:r>
              <a:rPr lang="en-US"/>
              <a:t>}. </a:t>
            </a:r>
            <a:endParaRPr lang="en-US" smtClean="0"/>
          </a:p>
          <a:p>
            <a:r>
              <a:rPr lang="en-US"/>
              <a:t>Bảng chuyển và đồ thị chuyển của otomat A được cho trong hình </a:t>
            </a:r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r>
              <a:rPr lang="en-US" smtClean="0"/>
              <a:t>Có </a:t>
            </a:r>
            <a:r>
              <a:rPr lang="en-US"/>
              <a:t>thể kiểm tra được rằng từ ω = a</a:t>
            </a:r>
            <a:r>
              <a:rPr lang="en-US" baseline="30000"/>
              <a:t>n</a:t>
            </a:r>
            <a:r>
              <a:rPr lang="en-US"/>
              <a:t>b</a:t>
            </a:r>
            <a:r>
              <a:rPr lang="en-US" baseline="30000"/>
              <a:t>n </a:t>
            </a:r>
            <a:r>
              <a:rPr lang="en-US"/>
              <a:t>∈ T(A), tuy nhiên otomat A không đoán nhận ngôn ngữ L = { a</a:t>
            </a:r>
            <a:r>
              <a:rPr lang="en-US" baseline="30000"/>
              <a:t>n</a:t>
            </a:r>
            <a:r>
              <a:rPr lang="en-US"/>
              <a:t>b</a:t>
            </a:r>
            <a:r>
              <a:rPr lang="en-US" baseline="30000"/>
              <a:t>n</a:t>
            </a:r>
            <a:r>
              <a:rPr lang="en-US"/>
              <a:t> | ∀ n ≥ 1}. </a:t>
            </a:r>
          </a:p>
          <a:p>
            <a:r>
              <a:rPr lang="en-US"/>
              <a:t>Ngôn ngữ được đoán nhận bởi otomat A là: </a:t>
            </a:r>
          </a:p>
          <a:p>
            <a:r>
              <a:rPr lang="en-US"/>
              <a:t>T(A) = {ω</a:t>
            </a:r>
            <a:r>
              <a:rPr lang="en-US" baseline="-25000"/>
              <a:t>1</a:t>
            </a:r>
            <a:r>
              <a:rPr lang="en-US"/>
              <a:t>bω</a:t>
            </a:r>
            <a:r>
              <a:rPr lang="en-US" baseline="-25000"/>
              <a:t>2</a:t>
            </a:r>
            <a:r>
              <a:rPr lang="en-US"/>
              <a:t>bω</a:t>
            </a:r>
            <a:r>
              <a:rPr lang="en-US" baseline="-25000"/>
              <a:t>3</a:t>
            </a:r>
            <a:r>
              <a:rPr lang="en-US"/>
              <a:t> | ω</a:t>
            </a:r>
            <a:r>
              <a:rPr lang="en-US" baseline="-25000"/>
              <a:t>1</a:t>
            </a:r>
            <a:r>
              <a:rPr lang="en-US"/>
              <a:t>, ω</a:t>
            </a:r>
            <a:r>
              <a:rPr lang="en-US" baseline="-25000"/>
              <a:t>2</a:t>
            </a:r>
            <a:r>
              <a:rPr lang="en-US"/>
              <a:t>, ω</a:t>
            </a:r>
            <a:r>
              <a:rPr lang="en-US" baseline="-25000"/>
              <a:t>3</a:t>
            </a:r>
            <a:r>
              <a:rPr lang="en-US"/>
              <a:t>∈{a, b}</a:t>
            </a:r>
            <a:r>
              <a:rPr lang="en-US" baseline="30000"/>
              <a:t>*</a:t>
            </a:r>
            <a:r>
              <a:rPr lang="en-US"/>
              <a:t>}.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949" y="3280095"/>
            <a:ext cx="4126285" cy="1609251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243762" y="3280095"/>
            <a:ext cx="3837322" cy="160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413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0046" y="624110"/>
            <a:ext cx="8911687" cy="1280890"/>
          </a:xfrm>
        </p:spPr>
        <p:txBody>
          <a:bodyPr/>
          <a:lstStyle/>
          <a:p>
            <a:r>
              <a:rPr lang="en-US" b="1" dirty="0"/>
              <a:t>§1.  </a:t>
            </a:r>
            <a:r>
              <a:rPr lang="en-US" b="1" dirty="0" err="1"/>
              <a:t>Otomat</a:t>
            </a:r>
            <a:r>
              <a:rPr lang="en-US" b="1" dirty="0"/>
              <a:t> </a:t>
            </a:r>
            <a:r>
              <a:rPr lang="en-US" b="1" dirty="0" err="1"/>
              <a:t>hữu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err="1"/>
              <a:t>đơn</a:t>
            </a:r>
            <a:r>
              <a:rPr lang="en-US" b="1"/>
              <a:t> </a:t>
            </a:r>
            <a:r>
              <a:rPr lang="en-US" b="1" smtClean="0"/>
              <a:t>định (DFA)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33706"/>
            <a:ext cx="8915400" cy="3777622"/>
          </a:xfrm>
        </p:spPr>
        <p:txBody>
          <a:bodyPr>
            <a:noAutofit/>
          </a:bodyPr>
          <a:lstStyle/>
          <a:p>
            <a:r>
              <a:rPr lang="en-US" sz="2400" b="1" i="1" dirty="0" err="1"/>
              <a:t>Định</a:t>
            </a:r>
            <a:r>
              <a:rPr lang="en-US" sz="2400" b="1" i="1" dirty="0"/>
              <a:t> </a:t>
            </a:r>
            <a:r>
              <a:rPr lang="en-US" sz="2400" b="1" i="1" dirty="0" err="1"/>
              <a:t>nghĩa</a:t>
            </a:r>
            <a:r>
              <a:rPr lang="en-US" sz="2400" b="1" i="1" dirty="0"/>
              <a:t> 1.1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otomat</a:t>
            </a:r>
            <a:r>
              <a:rPr lang="en-US" sz="2400" dirty="0"/>
              <a:t> </a:t>
            </a:r>
            <a:r>
              <a:rPr lang="en-US" sz="2400" dirty="0" err="1"/>
              <a:t>hữu</a:t>
            </a:r>
            <a:r>
              <a:rPr lang="en-US" sz="2400" dirty="0"/>
              <a:t> </a:t>
            </a:r>
            <a:r>
              <a:rPr lang="en-US" sz="2400" dirty="0" err="1"/>
              <a:t>hạn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b="1" dirty="0"/>
              <a:t> </a:t>
            </a:r>
            <a:r>
              <a:rPr lang="en-US" sz="2400" dirty="0"/>
              <a:t>(Deterministic Finite Automata-DFA)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năm</a:t>
            </a:r>
            <a:r>
              <a:rPr lang="en-US" sz="2400" dirty="0"/>
              <a:t>: </a:t>
            </a:r>
          </a:p>
          <a:p>
            <a:r>
              <a:rPr lang="en-US" sz="2400" dirty="0"/>
              <a:t>A = &lt;Q, Σ, δ, q</a:t>
            </a:r>
            <a:r>
              <a:rPr lang="en-US" sz="2400" baseline="-25000" dirty="0"/>
              <a:t>0</a:t>
            </a:r>
            <a:r>
              <a:rPr lang="en-US" sz="2400" dirty="0"/>
              <a:t>, F</a:t>
            </a:r>
            <a:r>
              <a:rPr lang="en-US" sz="2400"/>
              <a:t>&gt;, </a:t>
            </a:r>
            <a:r>
              <a:rPr lang="en-US" sz="2400" smtClean="0"/>
              <a:t>trong </a:t>
            </a:r>
            <a:r>
              <a:rPr lang="en-US" sz="2400" dirty="0" err="1"/>
              <a:t>đó</a:t>
            </a:r>
            <a:r>
              <a:rPr lang="en-US" sz="2400" dirty="0"/>
              <a:t>: </a:t>
            </a:r>
          </a:p>
          <a:p>
            <a:r>
              <a:rPr lang="en-US" sz="2400" smtClean="0"/>
              <a:t>Q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hữu</a:t>
            </a:r>
            <a:r>
              <a:rPr lang="en-US" sz="2400" dirty="0"/>
              <a:t> </a:t>
            </a:r>
            <a:r>
              <a:rPr lang="en-US" sz="2400" dirty="0" err="1"/>
              <a:t>hạn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rỗng</a:t>
            </a:r>
            <a:r>
              <a:rPr lang="en-US" sz="2400" dirty="0"/>
              <a:t>,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; </a:t>
            </a:r>
          </a:p>
          <a:p>
            <a:r>
              <a:rPr lang="en-US" sz="2400" smtClean="0"/>
              <a:t>Σ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bảng</a:t>
            </a:r>
            <a:r>
              <a:rPr lang="en-US" sz="2400" dirty="0"/>
              <a:t> </a:t>
            </a:r>
            <a:r>
              <a:rPr lang="en-US" sz="2400" dirty="0" err="1"/>
              <a:t>chữ</a:t>
            </a:r>
            <a:r>
              <a:rPr lang="en-US" sz="2400" dirty="0"/>
              <a:t> </a:t>
            </a:r>
            <a:r>
              <a:rPr lang="en-US" sz="2400" dirty="0" err="1"/>
              <a:t>cái</a:t>
            </a:r>
            <a:r>
              <a:rPr lang="en-US" sz="2400" dirty="0"/>
              <a:t>,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bảng</a:t>
            </a:r>
            <a:r>
              <a:rPr lang="en-US" sz="2400" dirty="0"/>
              <a:t> </a:t>
            </a:r>
            <a:r>
              <a:rPr lang="en-US" sz="2400" dirty="0" err="1"/>
              <a:t>chữ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; </a:t>
            </a:r>
          </a:p>
          <a:p>
            <a:r>
              <a:rPr lang="en-US" sz="2400" smtClean="0"/>
              <a:t>δ</a:t>
            </a:r>
            <a:r>
              <a:rPr lang="en-US" sz="2400" dirty="0"/>
              <a:t>: D → Q,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ánh</a:t>
            </a:r>
            <a:r>
              <a:rPr lang="en-US" sz="2400" dirty="0"/>
              <a:t> </a:t>
            </a:r>
            <a:r>
              <a:rPr lang="en-US" sz="2400" dirty="0" err="1"/>
              <a:t>xạ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D </a:t>
            </a:r>
            <a:r>
              <a:rPr lang="en-US" sz="2400" dirty="0" err="1"/>
              <a:t>vào</a:t>
            </a:r>
            <a:r>
              <a:rPr lang="en-US" sz="2400" dirty="0"/>
              <a:t> Q,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D ⊆ Q × Σ ,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hàm</a:t>
            </a:r>
            <a:r>
              <a:rPr lang="en-US" sz="2400" dirty="0"/>
              <a:t> </a:t>
            </a: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(hay </a:t>
            </a:r>
            <a:r>
              <a:rPr lang="en-US" sz="2400" dirty="0" err="1"/>
              <a:t>hàm</a:t>
            </a:r>
            <a:r>
              <a:rPr lang="en-US" sz="2400" dirty="0"/>
              <a:t> </a:t>
            </a:r>
            <a:r>
              <a:rPr lang="en-US" sz="2400" dirty="0" err="1"/>
              <a:t>chuyển</a:t>
            </a:r>
            <a:r>
              <a:rPr lang="en-US" sz="2400" dirty="0"/>
              <a:t>); </a:t>
            </a:r>
          </a:p>
          <a:p>
            <a:r>
              <a:rPr lang="en-US" sz="2400" smtClean="0"/>
              <a:t>q</a:t>
            </a:r>
            <a:r>
              <a:rPr lang="en-US" sz="2400" baseline="-25000" smtClean="0"/>
              <a:t>0 </a:t>
            </a:r>
            <a:r>
              <a:rPr lang="en-US" sz="2400" dirty="0"/>
              <a:t>∈ Q,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khởi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; </a:t>
            </a:r>
          </a:p>
          <a:p>
            <a:r>
              <a:rPr lang="en-US" sz="2400" smtClean="0"/>
              <a:t>F </a:t>
            </a:r>
            <a:r>
              <a:rPr lang="en-US" sz="2400" dirty="0"/>
              <a:t>⊆ Q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thúc</a:t>
            </a:r>
            <a:r>
              <a:rPr lang="en-US" sz="2400" dirty="0"/>
              <a:t>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046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Chú</a:t>
            </a:r>
            <a:r>
              <a:rPr lang="en-US" dirty="0" smtClean="0"/>
              <a:t> ý: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D = Q × Σ , ta </a:t>
            </a:r>
            <a:r>
              <a:rPr lang="en-US" sz="2400" dirty="0" err="1"/>
              <a:t>nói</a:t>
            </a:r>
            <a:r>
              <a:rPr lang="en-US" sz="2400" dirty="0"/>
              <a:t> A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otomat</a:t>
            </a:r>
            <a:r>
              <a:rPr lang="en-US" sz="2400" dirty="0"/>
              <a:t> </a:t>
            </a:r>
            <a:r>
              <a:rPr lang="en-US" sz="2400" dirty="0" err="1"/>
              <a:t>đầy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.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 ta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thấy</a:t>
            </a:r>
            <a:r>
              <a:rPr lang="en-US" sz="2400" dirty="0"/>
              <a:t> </a:t>
            </a:r>
            <a:r>
              <a:rPr lang="en-US" sz="2400" dirty="0" err="1"/>
              <a:t>rằng</a:t>
            </a:r>
            <a:r>
              <a:rPr lang="en-US" sz="2400" dirty="0"/>
              <a:t> </a:t>
            </a:r>
            <a:r>
              <a:rPr lang="en-US" sz="2400" dirty="0" err="1"/>
              <a:t>mọi</a:t>
            </a:r>
            <a:r>
              <a:rPr lang="en-US" sz="2400" dirty="0"/>
              <a:t> </a:t>
            </a:r>
            <a:r>
              <a:rPr lang="en-US" sz="2400" dirty="0" err="1"/>
              <a:t>otomat</a:t>
            </a:r>
            <a:r>
              <a:rPr lang="en-US" sz="2400" dirty="0"/>
              <a:t> </a:t>
            </a:r>
            <a:r>
              <a:rPr lang="en-US" sz="2400" dirty="0" err="1"/>
              <a:t>hữu</a:t>
            </a:r>
            <a:r>
              <a:rPr lang="en-US" sz="2400" dirty="0"/>
              <a:t> </a:t>
            </a:r>
            <a:r>
              <a:rPr lang="en-US" sz="2400" dirty="0" err="1"/>
              <a:t>hạn</a:t>
            </a:r>
            <a:r>
              <a:rPr lang="en-US" sz="2400" dirty="0"/>
              <a:t> </a:t>
            </a:r>
            <a:r>
              <a:rPr lang="en-US" sz="2400" dirty="0" err="1"/>
              <a:t>đều</a:t>
            </a:r>
            <a:r>
              <a:rPr lang="en-US" sz="2400" dirty="0"/>
              <a:t> </a:t>
            </a:r>
            <a:r>
              <a:rPr lang="en-US" sz="2400" dirty="0" err="1"/>
              <a:t>đưa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otomat</a:t>
            </a:r>
            <a:r>
              <a:rPr lang="en-US" sz="2400" dirty="0"/>
              <a:t> </a:t>
            </a:r>
            <a:r>
              <a:rPr lang="en-US" sz="2400" dirty="0" err="1"/>
              <a:t>hữu</a:t>
            </a:r>
            <a:r>
              <a:rPr lang="en-US" sz="2400" dirty="0"/>
              <a:t> </a:t>
            </a:r>
            <a:r>
              <a:rPr lang="en-US" sz="2400" dirty="0" err="1"/>
              <a:t>hạn</a:t>
            </a:r>
            <a:r>
              <a:rPr lang="en-US" sz="2400" dirty="0"/>
              <a:t> </a:t>
            </a:r>
            <a:r>
              <a:rPr lang="en-US" sz="2400" dirty="0" err="1"/>
              <a:t>đầy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đương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417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6638" y="46590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otomat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A = &lt;Q, Σ, δ, q</a:t>
            </a:r>
            <a:r>
              <a:rPr lang="en-US" baseline="-25000" dirty="0"/>
              <a:t>0</a:t>
            </a:r>
            <a:r>
              <a:rPr lang="en-US" dirty="0"/>
              <a:t>, F&gt;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xâu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ω = a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2</a:t>
            </a:r>
            <a:r>
              <a:rPr lang="en-US" dirty="0"/>
              <a:t>… a</a:t>
            </a:r>
            <a:r>
              <a:rPr lang="en-US" baseline="-25000" dirty="0"/>
              <a:t>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474" y="1576135"/>
            <a:ext cx="10868525" cy="531795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 err="1" smtClean="0"/>
              <a:t>Khi</a:t>
            </a:r>
            <a:r>
              <a:rPr lang="en-US" sz="2000" dirty="0" smtClean="0"/>
              <a:t> </a:t>
            </a:r>
            <a:r>
              <a:rPr lang="en-US" sz="2000" dirty="0" err="1"/>
              <a:t>bắt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, </a:t>
            </a:r>
            <a:r>
              <a:rPr lang="en-US" sz="2000" dirty="0" err="1"/>
              <a:t>otomat</a:t>
            </a:r>
            <a:r>
              <a:rPr lang="en-US" sz="2000" dirty="0"/>
              <a:t> ở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khởi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q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đọc</a:t>
            </a:r>
            <a:r>
              <a:rPr lang="en-US" sz="2000" dirty="0"/>
              <a:t> </a:t>
            </a:r>
            <a:r>
              <a:rPr lang="en-US" sz="2000" dirty="0" err="1"/>
              <a:t>đang</a:t>
            </a:r>
            <a:r>
              <a:rPr lang="en-US" sz="2000" dirty="0"/>
              <a:t> </a:t>
            </a:r>
            <a:r>
              <a:rPr lang="en-US" sz="2000" dirty="0" err="1"/>
              <a:t>nhìn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ô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ký</a:t>
            </a:r>
            <a:r>
              <a:rPr lang="en-US" sz="2000" dirty="0"/>
              <a:t> </a:t>
            </a:r>
            <a:r>
              <a:rPr lang="en-US" sz="2000" dirty="0" err="1"/>
              <a:t>hiệu</a:t>
            </a:r>
            <a:r>
              <a:rPr lang="en-US" sz="2000" dirty="0"/>
              <a:t> a</a:t>
            </a:r>
            <a:r>
              <a:rPr lang="en-US" sz="2000" baseline="-25000" dirty="0"/>
              <a:t>1</a:t>
            </a:r>
            <a:r>
              <a:rPr lang="en-US" sz="2000" dirty="0"/>
              <a:t>. </a:t>
            </a:r>
            <a:r>
              <a:rPr lang="en-US" sz="2000" dirty="0" err="1"/>
              <a:t>Tiếp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otomat</a:t>
            </a:r>
            <a:r>
              <a:rPr lang="en-US" sz="2000" dirty="0"/>
              <a:t> </a:t>
            </a:r>
            <a:r>
              <a:rPr lang="en-US" sz="2000" dirty="0" err="1"/>
              <a:t>chuyển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q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 err="1"/>
              <a:t>dưới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ký</a:t>
            </a:r>
            <a:r>
              <a:rPr lang="en-US" sz="2000" dirty="0"/>
              <a:t> </a:t>
            </a:r>
            <a:r>
              <a:rPr lang="en-US" sz="2000" dirty="0" err="1"/>
              <a:t>hiệu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a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 δ(q</a:t>
            </a:r>
            <a:r>
              <a:rPr lang="en-US" sz="2000" baseline="-25000" dirty="0"/>
              <a:t>0</a:t>
            </a:r>
            <a:r>
              <a:rPr lang="en-US" sz="2000" dirty="0"/>
              <a:t>, a</a:t>
            </a:r>
            <a:r>
              <a:rPr lang="en-US" sz="2000" baseline="-25000" dirty="0"/>
              <a:t>1</a:t>
            </a:r>
            <a:r>
              <a:rPr lang="en-US" sz="2000" dirty="0"/>
              <a:t>) = q</a:t>
            </a:r>
            <a:r>
              <a:rPr lang="en-US" sz="2000" baseline="-25000" dirty="0"/>
              <a:t>1</a:t>
            </a:r>
            <a:r>
              <a:rPr lang="en-US" sz="2000" dirty="0"/>
              <a:t>∈Q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đọc</a:t>
            </a:r>
            <a:r>
              <a:rPr lang="en-US" sz="2000" dirty="0"/>
              <a:t> </a:t>
            </a:r>
            <a:r>
              <a:rPr lang="en-US" sz="2000" dirty="0" err="1"/>
              <a:t>chuyển</a:t>
            </a:r>
            <a:r>
              <a:rPr lang="en-US" sz="2000" dirty="0"/>
              <a:t> sang </a:t>
            </a:r>
            <a:r>
              <a:rPr lang="en-US" sz="2000" dirty="0" err="1"/>
              <a:t>phải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ô, </a:t>
            </a:r>
            <a:r>
              <a:rPr lang="en-US" sz="2000" dirty="0" err="1"/>
              <a:t>tức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nhìn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ô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ký</a:t>
            </a:r>
            <a:r>
              <a:rPr lang="en-US" sz="2000" dirty="0"/>
              <a:t> </a:t>
            </a:r>
            <a:r>
              <a:rPr lang="en-US" sz="2000" dirty="0" err="1"/>
              <a:t>hiệu</a:t>
            </a:r>
            <a:r>
              <a:rPr lang="en-US" sz="2000" dirty="0"/>
              <a:t> a</a:t>
            </a:r>
            <a:r>
              <a:rPr lang="en-US" sz="2000" baseline="-25000" dirty="0"/>
              <a:t>2</a:t>
            </a:r>
            <a:r>
              <a:rPr lang="en-US" sz="2000" dirty="0"/>
              <a:t>. 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đó</a:t>
            </a:r>
            <a:r>
              <a:rPr lang="en-US" sz="2000" dirty="0"/>
              <a:t> </a:t>
            </a:r>
            <a:r>
              <a:rPr lang="en-US" sz="2000" dirty="0" err="1"/>
              <a:t>otomat</a:t>
            </a:r>
            <a:r>
              <a:rPr lang="en-US" sz="2000" dirty="0"/>
              <a:t> A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</a:t>
            </a:r>
            <a:r>
              <a:rPr lang="en-US" sz="2000" dirty="0" err="1"/>
              <a:t>tiếp</a:t>
            </a:r>
            <a:r>
              <a:rPr lang="en-US" sz="2000" dirty="0"/>
              <a:t> </a:t>
            </a:r>
            <a:r>
              <a:rPr lang="en-US" sz="2000" dirty="0" err="1"/>
              <a:t>tục</a:t>
            </a:r>
            <a:r>
              <a:rPr lang="en-US" sz="2000" dirty="0"/>
              <a:t> </a:t>
            </a:r>
            <a:r>
              <a:rPr lang="en-US" sz="2000" dirty="0" err="1"/>
              <a:t>chuyển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q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 err="1"/>
              <a:t>nhờ</a:t>
            </a:r>
            <a:r>
              <a:rPr lang="en-US" sz="2000" dirty="0"/>
              <a:t> </a:t>
            </a:r>
            <a:r>
              <a:rPr lang="en-US" sz="2000" dirty="0" err="1"/>
              <a:t>hàm</a:t>
            </a:r>
            <a:r>
              <a:rPr lang="en-US" sz="2000" dirty="0"/>
              <a:t> </a:t>
            </a:r>
            <a:r>
              <a:rPr lang="en-US" sz="2000" dirty="0" err="1"/>
              <a:t>chuyển</a:t>
            </a:r>
            <a:r>
              <a:rPr lang="en-US" sz="2000" dirty="0"/>
              <a:t> δ </a:t>
            </a:r>
            <a:r>
              <a:rPr lang="en-US" sz="2000" dirty="0" err="1"/>
              <a:t>về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 q</a:t>
            </a:r>
            <a:r>
              <a:rPr lang="en-US" sz="2000" baseline="-25000" dirty="0"/>
              <a:t>2 </a:t>
            </a:r>
            <a:r>
              <a:rPr lang="en-US" sz="2000" dirty="0"/>
              <a:t>= δ(q</a:t>
            </a:r>
            <a:r>
              <a:rPr lang="en-US" sz="2000" baseline="-25000" dirty="0"/>
              <a:t>1</a:t>
            </a:r>
            <a:r>
              <a:rPr lang="en-US" sz="2000" dirty="0"/>
              <a:t>, a</a:t>
            </a:r>
            <a:r>
              <a:rPr lang="en-US" sz="2000" baseline="-25000" dirty="0"/>
              <a:t>2</a:t>
            </a:r>
            <a:r>
              <a:rPr lang="en-US" sz="2000" dirty="0"/>
              <a:t>) ∈ Q.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đó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tiếp</a:t>
            </a:r>
            <a:r>
              <a:rPr lang="en-US" sz="2000" dirty="0"/>
              <a:t> </a:t>
            </a:r>
            <a:r>
              <a:rPr lang="en-US" sz="2000" dirty="0" err="1"/>
              <a:t>tục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tới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gặp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tình</a:t>
            </a:r>
            <a:r>
              <a:rPr lang="en-US" sz="2000" dirty="0"/>
              <a:t> </a:t>
            </a:r>
            <a:r>
              <a:rPr lang="en-US" sz="2000" dirty="0" err="1"/>
              <a:t>huống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: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− </a:t>
            </a:r>
            <a:r>
              <a:rPr lang="en-US" sz="2000" dirty="0" err="1"/>
              <a:t>Otomat</a:t>
            </a:r>
            <a:r>
              <a:rPr lang="en-US" sz="2000" dirty="0"/>
              <a:t> A </a:t>
            </a:r>
            <a:r>
              <a:rPr lang="en-US" sz="2000" dirty="0" err="1"/>
              <a:t>đọc</a:t>
            </a:r>
            <a:r>
              <a:rPr lang="en-US" sz="2000" dirty="0"/>
              <a:t> </a:t>
            </a:r>
            <a:r>
              <a:rPr lang="en-US" sz="2000" dirty="0" err="1"/>
              <a:t>hết</a:t>
            </a:r>
            <a:r>
              <a:rPr lang="en-US" sz="2000" dirty="0"/>
              <a:t> </a:t>
            </a:r>
            <a:r>
              <a:rPr lang="en-US" sz="2000" dirty="0" err="1"/>
              <a:t>xâu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ω </a:t>
            </a:r>
            <a:r>
              <a:rPr lang="en-US" sz="2000" dirty="0" err="1"/>
              <a:t>và</a:t>
            </a:r>
            <a:r>
              <a:rPr lang="en-US" sz="2000" dirty="0"/>
              <a:t> δ(q</a:t>
            </a:r>
            <a:r>
              <a:rPr lang="en-US" sz="2000" baseline="-25000" dirty="0"/>
              <a:t>n-1</a:t>
            </a:r>
            <a:r>
              <a:rPr lang="en-US" sz="2000" dirty="0"/>
              <a:t>,a</a:t>
            </a:r>
            <a:r>
              <a:rPr lang="en-US" sz="2000" baseline="-25000" dirty="0"/>
              <a:t>n</a:t>
            </a:r>
            <a:r>
              <a:rPr lang="en-US" sz="2000" dirty="0"/>
              <a:t>) = </a:t>
            </a:r>
            <a:r>
              <a:rPr lang="en-US" sz="2000" dirty="0" err="1"/>
              <a:t>q</a:t>
            </a:r>
            <a:r>
              <a:rPr lang="en-US" sz="2000" baseline="-25000" dirty="0" err="1"/>
              <a:t>n</a:t>
            </a:r>
            <a:r>
              <a:rPr lang="en-US" sz="2000" baseline="-25000" dirty="0"/>
              <a:t> </a:t>
            </a:r>
            <a:r>
              <a:rPr lang="en-US" sz="2000" dirty="0"/>
              <a:t>∈ F, ta </a:t>
            </a:r>
            <a:r>
              <a:rPr lang="en-US" sz="2000" dirty="0" err="1"/>
              <a:t>nói</a:t>
            </a:r>
            <a:r>
              <a:rPr lang="en-US" sz="2000" dirty="0"/>
              <a:t> </a:t>
            </a:r>
            <a:r>
              <a:rPr lang="en-US" sz="2000" dirty="0" err="1"/>
              <a:t>rằng</a:t>
            </a:r>
            <a:r>
              <a:rPr lang="en-US" sz="2000" dirty="0"/>
              <a:t> A </a:t>
            </a:r>
            <a:r>
              <a:rPr lang="en-US" sz="2000" dirty="0" err="1"/>
              <a:t>đoán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xâu</a:t>
            </a:r>
            <a:r>
              <a:rPr lang="en-US" sz="2000" dirty="0"/>
              <a:t> ω.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− </a:t>
            </a:r>
            <a:r>
              <a:rPr lang="en-US" sz="2000" dirty="0" err="1"/>
              <a:t>Hoặc</a:t>
            </a:r>
            <a:r>
              <a:rPr lang="en-US" sz="2000" dirty="0"/>
              <a:t> </a:t>
            </a:r>
            <a:r>
              <a:rPr lang="en-US" sz="2000" dirty="0" err="1"/>
              <a:t>otomat</a:t>
            </a:r>
            <a:r>
              <a:rPr lang="en-US" sz="2000" dirty="0"/>
              <a:t> A </a:t>
            </a:r>
            <a:r>
              <a:rPr lang="en-US" sz="2000" dirty="0" err="1"/>
              <a:t>đọc</a:t>
            </a:r>
            <a:r>
              <a:rPr lang="en-US" sz="2000" dirty="0"/>
              <a:t> </a:t>
            </a:r>
            <a:r>
              <a:rPr lang="en-US" sz="2000" dirty="0" err="1"/>
              <a:t>hết</a:t>
            </a:r>
            <a:r>
              <a:rPr lang="en-US" sz="2000" dirty="0"/>
              <a:t> </a:t>
            </a:r>
            <a:r>
              <a:rPr lang="en-US" sz="2000" dirty="0" err="1"/>
              <a:t>xâu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ω </a:t>
            </a:r>
            <a:r>
              <a:rPr lang="en-US" sz="2000" dirty="0" err="1"/>
              <a:t>và</a:t>
            </a:r>
            <a:r>
              <a:rPr lang="en-US" sz="2000" dirty="0"/>
              <a:t> δ(q</a:t>
            </a:r>
            <a:r>
              <a:rPr lang="en-US" sz="2000" baseline="-25000" dirty="0"/>
              <a:t>n-1</a:t>
            </a:r>
            <a:r>
              <a:rPr lang="en-US" sz="2000" dirty="0"/>
              <a:t>,a</a:t>
            </a:r>
            <a:r>
              <a:rPr lang="en-US" sz="2000" baseline="-25000" dirty="0"/>
              <a:t>n</a:t>
            </a:r>
            <a:r>
              <a:rPr lang="en-US" sz="2000" dirty="0"/>
              <a:t>) = </a:t>
            </a:r>
            <a:r>
              <a:rPr lang="en-US" sz="2000" dirty="0" err="1"/>
              <a:t>q</a:t>
            </a:r>
            <a:r>
              <a:rPr lang="en-US" sz="2000" baseline="-25000" dirty="0" err="1"/>
              <a:t>n</a:t>
            </a:r>
            <a:r>
              <a:rPr lang="en-US" sz="2000" baseline="-25000" dirty="0"/>
              <a:t> </a:t>
            </a:r>
            <a:r>
              <a:rPr lang="en-US" sz="2000" dirty="0"/>
              <a:t>∉ F, ta </a:t>
            </a:r>
            <a:r>
              <a:rPr lang="en-US" sz="2000" dirty="0" err="1"/>
              <a:t>nói</a:t>
            </a:r>
            <a:r>
              <a:rPr lang="en-US" sz="2000" dirty="0"/>
              <a:t> A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đoán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xâu</a:t>
            </a:r>
            <a:r>
              <a:rPr lang="en-US" sz="2000" dirty="0"/>
              <a:t> ω.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− </a:t>
            </a:r>
            <a:r>
              <a:rPr lang="en-US" sz="2000" dirty="0" err="1"/>
              <a:t>Hoặc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otomat</a:t>
            </a:r>
            <a:r>
              <a:rPr lang="en-US" sz="2000" dirty="0"/>
              <a:t> A </a:t>
            </a:r>
            <a:r>
              <a:rPr lang="en-US" sz="2000" dirty="0" err="1"/>
              <a:t>đọc</a:t>
            </a:r>
            <a:r>
              <a:rPr lang="en-US" sz="2000" dirty="0"/>
              <a:t> </a:t>
            </a:r>
            <a:r>
              <a:rPr lang="en-US" sz="2000" dirty="0" err="1"/>
              <a:t>đến</a:t>
            </a:r>
            <a:r>
              <a:rPr lang="en-US" sz="2000" dirty="0"/>
              <a:t> </a:t>
            </a:r>
            <a:r>
              <a:rPr lang="en-US" sz="2000" dirty="0" err="1"/>
              <a:t>a</a:t>
            </a:r>
            <a:r>
              <a:rPr lang="en-US" sz="2000" baseline="-25000" dirty="0" err="1"/>
              <a:t>j</a:t>
            </a:r>
            <a:r>
              <a:rPr lang="en-US" sz="2000" baseline="-25000" dirty="0"/>
              <a:t> </a:t>
            </a:r>
            <a:r>
              <a:rPr lang="en-US" sz="2000" dirty="0"/>
              <a:t>, (j ≤ n)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hàm</a:t>
            </a:r>
            <a:r>
              <a:rPr lang="en-US" sz="2000" dirty="0"/>
              <a:t> δ(q</a:t>
            </a:r>
            <a:r>
              <a:rPr lang="en-US" sz="2000" baseline="-25000" dirty="0"/>
              <a:t>j-1</a:t>
            </a:r>
            <a:r>
              <a:rPr lang="en-US" sz="2000" dirty="0"/>
              <a:t>, </a:t>
            </a:r>
            <a:r>
              <a:rPr lang="en-US" sz="2000" dirty="0" err="1"/>
              <a:t>a</a:t>
            </a:r>
            <a:r>
              <a:rPr lang="en-US" sz="2000" baseline="-25000" dirty="0" err="1"/>
              <a:t>j</a:t>
            </a:r>
            <a:r>
              <a:rPr lang="en-US" sz="2000" dirty="0"/>
              <a:t>)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, ta </a:t>
            </a:r>
            <a:r>
              <a:rPr lang="en-US" sz="2000" dirty="0" err="1"/>
              <a:t>cũng</a:t>
            </a:r>
            <a:r>
              <a:rPr lang="en-US" sz="2000" dirty="0"/>
              <a:t> </a:t>
            </a:r>
            <a:r>
              <a:rPr lang="en-US" sz="2000" dirty="0" err="1"/>
              <a:t>nói</a:t>
            </a:r>
            <a:r>
              <a:rPr lang="en-US" sz="2000" dirty="0"/>
              <a:t> A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đoán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xâu</a:t>
            </a:r>
            <a:r>
              <a:rPr lang="en-US" sz="2000" dirty="0"/>
              <a:t> ω.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81261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Mô</a:t>
            </a:r>
            <a:r>
              <a:rPr lang="en-US" i="1" dirty="0"/>
              <a:t> </a:t>
            </a:r>
            <a:r>
              <a:rPr lang="en-US" i="1" dirty="0" err="1"/>
              <a:t>tả</a:t>
            </a:r>
            <a:r>
              <a:rPr lang="en-US" i="1" dirty="0"/>
              <a:t> </a:t>
            </a:r>
            <a:r>
              <a:rPr lang="en-US" i="1" dirty="0" err="1"/>
              <a:t>quá</a:t>
            </a:r>
            <a:r>
              <a:rPr lang="en-US" i="1" dirty="0"/>
              <a:t> </a:t>
            </a:r>
            <a:r>
              <a:rPr lang="en-US" i="1" dirty="0" err="1"/>
              <a:t>trình</a:t>
            </a:r>
            <a:r>
              <a:rPr lang="en-US" i="1" dirty="0"/>
              <a:t> </a:t>
            </a:r>
            <a:r>
              <a:rPr lang="en-US" i="1" dirty="0" err="1"/>
              <a:t>đoán</a:t>
            </a:r>
            <a:r>
              <a:rPr lang="en-US" i="1" dirty="0"/>
              <a:t> </a:t>
            </a:r>
            <a:r>
              <a:rPr lang="en-US" i="1" dirty="0" err="1"/>
              <a:t>nhận</a:t>
            </a:r>
            <a:r>
              <a:rPr lang="en-US" i="1" dirty="0"/>
              <a:t> </a:t>
            </a:r>
            <a:r>
              <a:rPr lang="en-US" i="1" dirty="0" err="1"/>
              <a:t>xâu</a:t>
            </a:r>
            <a:r>
              <a:rPr lang="en-US" i="1" dirty="0"/>
              <a:t> </a:t>
            </a:r>
            <a:r>
              <a:rPr lang="en-US" dirty="0"/>
              <a:t>ω</a:t>
            </a:r>
            <a:r>
              <a:rPr lang="en-US" i="1" dirty="0"/>
              <a:t> </a:t>
            </a:r>
            <a:r>
              <a:rPr lang="en-US" i="1" dirty="0" err="1"/>
              <a:t>của</a:t>
            </a:r>
            <a:r>
              <a:rPr lang="en-US" i="1" dirty="0"/>
              <a:t> </a:t>
            </a:r>
            <a:r>
              <a:rPr lang="en-US" i="1" dirty="0" err="1"/>
              <a:t>otomat</a:t>
            </a:r>
            <a:r>
              <a:rPr lang="en-US" i="1" dirty="0"/>
              <a:t> 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549316" y="2843463"/>
            <a:ext cx="6725652" cy="206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46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</a:t>
            </a:r>
            <a:r>
              <a:rPr lang="en-US" b="1" dirty="0" err="1" smtClean="0"/>
              <a:t>Biểu</a:t>
            </a:r>
            <a:r>
              <a:rPr lang="en-US" b="1" dirty="0" smtClean="0"/>
              <a:t> </a:t>
            </a:r>
            <a:r>
              <a:rPr lang="en-US" b="1" dirty="0" err="1"/>
              <a:t>diễn</a:t>
            </a:r>
            <a:r>
              <a:rPr lang="en-US" b="1" dirty="0"/>
              <a:t> </a:t>
            </a:r>
            <a:r>
              <a:rPr lang="en-US" b="1" dirty="0" err="1"/>
              <a:t>otomat</a:t>
            </a:r>
            <a:r>
              <a:rPr lang="en-US" b="1" dirty="0"/>
              <a:t> </a:t>
            </a:r>
            <a:r>
              <a:rPr lang="en-US" b="1" dirty="0" err="1"/>
              <a:t>hữu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83895"/>
            <a:ext cx="8915400" cy="3777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phận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otomat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  Cho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otomat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b="1" i="1" dirty="0"/>
              <a:t>Cho </a:t>
            </a:r>
            <a:r>
              <a:rPr lang="en-US" b="1" i="1" dirty="0" err="1"/>
              <a:t>otomat</a:t>
            </a:r>
            <a:r>
              <a:rPr lang="en-US" b="1" i="1" dirty="0"/>
              <a:t> </a:t>
            </a:r>
            <a:r>
              <a:rPr lang="en-US" b="1" i="1" dirty="0" err="1"/>
              <a:t>bằng</a:t>
            </a:r>
            <a:r>
              <a:rPr lang="en-US" b="1" i="1" dirty="0"/>
              <a:t> </a:t>
            </a:r>
            <a:r>
              <a:rPr lang="en-US" b="1" i="1" dirty="0" err="1"/>
              <a:t>bảng</a:t>
            </a:r>
            <a:r>
              <a:rPr lang="en-US" b="1" i="1" dirty="0"/>
              <a:t> </a:t>
            </a:r>
            <a:r>
              <a:rPr lang="en-US" b="1" i="1" dirty="0" err="1"/>
              <a:t>chuyển</a:t>
            </a:r>
            <a:r>
              <a:rPr lang="en-US" i="1" dirty="0"/>
              <a:t> </a:t>
            </a:r>
            <a:endParaRPr lang="en-US" b="1" i="1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683" y="3258229"/>
            <a:ext cx="81343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7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/>
              <a:t>V</a:t>
            </a:r>
            <a:r>
              <a:rPr lang="en-US" b="1" i="1" dirty="0" err="1" smtClean="0"/>
              <a:t>í</a:t>
            </a:r>
            <a:r>
              <a:rPr lang="en-US" b="1" i="1" dirty="0" smtClean="0"/>
              <a:t> </a:t>
            </a:r>
            <a:r>
              <a:rPr lang="en-US" b="1" i="1" dirty="0" err="1"/>
              <a:t>dụ</a:t>
            </a:r>
            <a:r>
              <a:rPr lang="en-US" b="1" i="1" dirty="0"/>
              <a:t> 1.1</a:t>
            </a:r>
            <a:r>
              <a:rPr lang="en-US" b="1" dirty="0"/>
              <a:t> </a:t>
            </a:r>
            <a:r>
              <a:rPr lang="en-US" dirty="0"/>
              <a:t> Cho </a:t>
            </a:r>
            <a:r>
              <a:rPr lang="en-US" dirty="0" err="1" smtClean="0"/>
              <a:t>otomat</a:t>
            </a:r>
            <a:r>
              <a:rPr lang="en-US" dirty="0" smtClean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 = &lt;{q</a:t>
            </a:r>
            <a:r>
              <a:rPr lang="en-US" baseline="-25000" dirty="0"/>
              <a:t>0</a:t>
            </a:r>
            <a:r>
              <a:rPr lang="en-US" dirty="0"/>
              <a:t>, q</a:t>
            </a:r>
            <a:r>
              <a:rPr lang="en-US" baseline="-25000" dirty="0"/>
              <a:t>1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}, {a, b}, δ, q</a:t>
            </a:r>
            <a:r>
              <a:rPr lang="en-US" baseline="-25000" dirty="0"/>
              <a:t>0</a:t>
            </a:r>
            <a:r>
              <a:rPr lang="en-US" dirty="0"/>
              <a:t>, {q</a:t>
            </a:r>
            <a:r>
              <a:rPr lang="en-US" baseline="-25000" dirty="0"/>
              <a:t>2</a:t>
            </a:r>
            <a:r>
              <a:rPr lang="en-US" dirty="0"/>
              <a:t>}&gt;, </a:t>
            </a:r>
          </a:p>
          <a:p>
            <a:r>
              <a:rPr lang="en-US" dirty="0" err="1"/>
              <a:t>Với</a:t>
            </a:r>
            <a:r>
              <a:rPr lang="en-US" dirty="0"/>
              <a:t> δ(q</a:t>
            </a:r>
            <a:r>
              <a:rPr lang="en-US" baseline="-25000" dirty="0"/>
              <a:t>0</a:t>
            </a:r>
            <a:r>
              <a:rPr lang="en-US" dirty="0"/>
              <a:t>, a) = q</a:t>
            </a:r>
            <a:r>
              <a:rPr lang="en-US" baseline="-25000" dirty="0"/>
              <a:t>0</a:t>
            </a:r>
            <a:r>
              <a:rPr lang="en-US" dirty="0"/>
              <a:t>, δ(q</a:t>
            </a:r>
            <a:r>
              <a:rPr lang="en-US" baseline="-25000" dirty="0"/>
              <a:t>0</a:t>
            </a:r>
            <a:r>
              <a:rPr lang="en-US" dirty="0"/>
              <a:t>, b) = q</a:t>
            </a:r>
            <a:r>
              <a:rPr lang="en-US" baseline="-25000" dirty="0"/>
              <a:t>1, </a:t>
            </a:r>
            <a:r>
              <a:rPr lang="en-US" dirty="0"/>
              <a:t>δ(q</a:t>
            </a:r>
            <a:r>
              <a:rPr lang="en-US" baseline="-25000" dirty="0"/>
              <a:t>1</a:t>
            </a:r>
            <a:r>
              <a:rPr lang="en-US" dirty="0"/>
              <a:t>, a) = q</a:t>
            </a:r>
            <a:r>
              <a:rPr lang="en-US" baseline="-25000" dirty="0"/>
              <a:t>0</a:t>
            </a:r>
            <a:r>
              <a:rPr lang="en-US" dirty="0"/>
              <a:t>, δ(q</a:t>
            </a:r>
            <a:r>
              <a:rPr lang="en-US" baseline="-25000" dirty="0"/>
              <a:t>1</a:t>
            </a:r>
            <a:r>
              <a:rPr lang="en-US" dirty="0"/>
              <a:t>, b) = q</a:t>
            </a:r>
            <a:r>
              <a:rPr lang="en-US" baseline="-25000" dirty="0"/>
              <a:t>2</a:t>
            </a:r>
            <a:r>
              <a:rPr lang="en-US" dirty="0"/>
              <a:t>, δ(q</a:t>
            </a:r>
            <a:r>
              <a:rPr lang="en-US" baseline="-25000" dirty="0"/>
              <a:t>2</a:t>
            </a:r>
            <a:r>
              <a:rPr lang="en-US" dirty="0"/>
              <a:t>, a) = q</a:t>
            </a:r>
            <a:r>
              <a:rPr lang="en-US" baseline="-25000" dirty="0"/>
              <a:t>2</a:t>
            </a:r>
            <a:r>
              <a:rPr lang="en-US" dirty="0"/>
              <a:t>, δ(q</a:t>
            </a:r>
            <a:r>
              <a:rPr lang="en-US" baseline="-25000" dirty="0"/>
              <a:t>2</a:t>
            </a:r>
            <a:r>
              <a:rPr lang="en-US" dirty="0"/>
              <a:t>, b) = q</a:t>
            </a:r>
            <a:r>
              <a:rPr lang="en-US" baseline="-25000" dirty="0"/>
              <a:t>2</a:t>
            </a:r>
            <a:r>
              <a:rPr lang="en-US" dirty="0"/>
              <a:t>. </a:t>
            </a:r>
          </a:p>
          <a:p>
            <a:r>
              <a:rPr lang="en-US" dirty="0"/>
              <a:t>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otomat</a:t>
            </a:r>
            <a:r>
              <a:rPr lang="en-US" dirty="0"/>
              <a:t> A</a:t>
            </a:r>
            <a:r>
              <a:rPr lang="en-US" baseline="-25000" dirty="0"/>
              <a:t>1 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</a:t>
            </a:r>
          </a:p>
          <a:p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3066799" y="4171906"/>
            <a:ext cx="3514475" cy="1739316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6870032" y="4171906"/>
            <a:ext cx="3922294" cy="155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87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Quá</a:t>
            </a:r>
            <a:r>
              <a:rPr lang="en-US" i="1" dirty="0"/>
              <a:t> </a:t>
            </a:r>
            <a:r>
              <a:rPr lang="en-US" i="1" dirty="0" err="1"/>
              <a:t>trình</a:t>
            </a:r>
            <a:r>
              <a:rPr lang="en-US" i="1" dirty="0"/>
              <a:t> </a:t>
            </a:r>
            <a:r>
              <a:rPr lang="en-US" i="1" dirty="0" err="1"/>
              <a:t>đoán</a:t>
            </a:r>
            <a:r>
              <a:rPr lang="en-US" i="1" dirty="0"/>
              <a:t> </a:t>
            </a:r>
            <a:r>
              <a:rPr lang="en-US" i="1" dirty="0" err="1"/>
              <a:t>nhận</a:t>
            </a:r>
            <a:r>
              <a:rPr lang="en-US" i="1" dirty="0"/>
              <a:t> </a:t>
            </a:r>
            <a:r>
              <a:rPr lang="en-US" i="1" dirty="0" err="1"/>
              <a:t>xâu</a:t>
            </a:r>
            <a:r>
              <a:rPr lang="en-US" i="1" dirty="0"/>
              <a:t> </a:t>
            </a:r>
            <a:r>
              <a:rPr lang="en-US" dirty="0"/>
              <a:t>α</a:t>
            </a:r>
            <a:r>
              <a:rPr lang="en-US" i="1" dirty="0"/>
              <a:t> = </a:t>
            </a:r>
            <a:r>
              <a:rPr lang="en-US" i="1" dirty="0" err="1"/>
              <a:t>ababbab</a:t>
            </a:r>
            <a:r>
              <a:rPr lang="en-US" i="1" dirty="0"/>
              <a:t> </a:t>
            </a:r>
            <a:r>
              <a:rPr lang="en-US" i="1" dirty="0" err="1"/>
              <a:t>của</a:t>
            </a:r>
            <a:r>
              <a:rPr lang="en-US" i="1" dirty="0"/>
              <a:t> A</a:t>
            </a:r>
            <a:r>
              <a:rPr lang="en-US" i="1" baseline="-25000" dirty="0"/>
              <a:t>1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104147" y="2322095"/>
            <a:ext cx="5895474" cy="198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78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28273"/>
            <a:ext cx="8915400" cy="3777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</a:t>
            </a:r>
            <a:r>
              <a:rPr lang="en-US" baseline="-25000" dirty="0"/>
              <a:t>2</a:t>
            </a:r>
            <a:r>
              <a:rPr lang="en-US" dirty="0"/>
              <a:t> = &lt;{q</a:t>
            </a:r>
            <a:r>
              <a:rPr lang="en-US" baseline="-25000" dirty="0"/>
              <a:t>0</a:t>
            </a:r>
            <a:r>
              <a:rPr lang="en-US" dirty="0"/>
              <a:t>, q</a:t>
            </a:r>
            <a:r>
              <a:rPr lang="en-US" baseline="-25000" dirty="0"/>
              <a:t>1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, q</a:t>
            </a:r>
            <a:r>
              <a:rPr lang="en-US" baseline="-25000" dirty="0"/>
              <a:t>3</a:t>
            </a:r>
            <a:r>
              <a:rPr lang="en-US" dirty="0"/>
              <a:t>}, {0, 1}, δ, q</a:t>
            </a:r>
            <a:r>
              <a:rPr lang="en-US" baseline="-25000" dirty="0"/>
              <a:t>0</a:t>
            </a:r>
            <a:r>
              <a:rPr lang="en-US" dirty="0"/>
              <a:t>, {q</a:t>
            </a:r>
            <a:r>
              <a:rPr lang="en-US" baseline="-25000" dirty="0"/>
              <a:t>0</a:t>
            </a:r>
            <a:r>
              <a:rPr lang="en-US" dirty="0"/>
              <a:t>}&gt;, 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δ(q</a:t>
            </a:r>
            <a:r>
              <a:rPr lang="en-US" baseline="-25000" dirty="0"/>
              <a:t>0</a:t>
            </a:r>
            <a:r>
              <a:rPr lang="en-US" dirty="0"/>
              <a:t>, 0) = q</a:t>
            </a:r>
            <a:r>
              <a:rPr lang="en-US" baseline="-25000" dirty="0"/>
              <a:t>2</a:t>
            </a:r>
            <a:r>
              <a:rPr lang="en-US" dirty="0"/>
              <a:t>, δ(q</a:t>
            </a:r>
            <a:r>
              <a:rPr lang="en-US" baseline="-25000" dirty="0"/>
              <a:t>0</a:t>
            </a:r>
            <a:r>
              <a:rPr lang="en-US" dirty="0"/>
              <a:t>, 1) = q</a:t>
            </a:r>
            <a:r>
              <a:rPr lang="en-US" baseline="-25000" dirty="0"/>
              <a:t>1</a:t>
            </a:r>
            <a:r>
              <a:rPr lang="en-US" dirty="0"/>
              <a:t>, δ(q</a:t>
            </a:r>
            <a:r>
              <a:rPr lang="en-US" baseline="-25000" dirty="0"/>
              <a:t>1</a:t>
            </a:r>
            <a:r>
              <a:rPr lang="en-US" dirty="0"/>
              <a:t>, 0) = q</a:t>
            </a:r>
            <a:r>
              <a:rPr lang="en-US" baseline="-25000" dirty="0"/>
              <a:t>3</a:t>
            </a:r>
            <a:r>
              <a:rPr lang="en-US" dirty="0"/>
              <a:t>, δ(q</a:t>
            </a:r>
            <a:r>
              <a:rPr lang="en-US" baseline="-25000" dirty="0"/>
              <a:t>1</a:t>
            </a:r>
            <a:r>
              <a:rPr lang="en-US" dirty="0"/>
              <a:t>, 1) = q</a:t>
            </a:r>
            <a:r>
              <a:rPr lang="en-US" baseline="-25000" dirty="0"/>
              <a:t>0</a:t>
            </a:r>
            <a:r>
              <a:rPr lang="en-US" dirty="0"/>
              <a:t>, δ(q</a:t>
            </a:r>
            <a:r>
              <a:rPr lang="en-US" baseline="-25000" dirty="0"/>
              <a:t>2</a:t>
            </a:r>
            <a:r>
              <a:rPr lang="en-US" dirty="0"/>
              <a:t>, 0) = q</a:t>
            </a:r>
            <a:r>
              <a:rPr lang="en-US" baseline="-25000" dirty="0"/>
              <a:t>0</a:t>
            </a:r>
            <a:r>
              <a:rPr lang="en-US" dirty="0"/>
              <a:t>, δ(q</a:t>
            </a:r>
            <a:r>
              <a:rPr lang="en-US" baseline="-25000" dirty="0"/>
              <a:t>2</a:t>
            </a:r>
            <a:r>
              <a:rPr lang="en-US" dirty="0"/>
              <a:t>, 1) = q</a:t>
            </a:r>
            <a:r>
              <a:rPr lang="en-US" baseline="-25000" dirty="0"/>
              <a:t>3</a:t>
            </a:r>
            <a:r>
              <a:rPr lang="en-US" dirty="0"/>
              <a:t>, δ(q</a:t>
            </a:r>
            <a:r>
              <a:rPr lang="en-US" baseline="-25000" dirty="0"/>
              <a:t>3</a:t>
            </a:r>
            <a:r>
              <a:rPr lang="en-US" dirty="0"/>
              <a:t>, 0) = q</a:t>
            </a:r>
            <a:r>
              <a:rPr lang="en-US" baseline="-25000" dirty="0"/>
              <a:t>1</a:t>
            </a:r>
            <a:r>
              <a:rPr lang="en-US" dirty="0"/>
              <a:t>, δ(q</a:t>
            </a:r>
            <a:r>
              <a:rPr lang="en-US" baseline="-25000" dirty="0"/>
              <a:t>3</a:t>
            </a:r>
            <a:r>
              <a:rPr lang="en-US" dirty="0"/>
              <a:t>, 1) = q</a:t>
            </a:r>
            <a:r>
              <a:rPr lang="en-US" baseline="-25000" dirty="0"/>
              <a:t>2</a:t>
            </a:r>
            <a:r>
              <a:rPr lang="en-US" dirty="0"/>
              <a:t>.  </a:t>
            </a:r>
          </a:p>
          <a:p>
            <a:pPr>
              <a:lnSpc>
                <a:spcPct val="150000"/>
              </a:lnSpc>
            </a:pPr>
            <a:r>
              <a:rPr lang="en-US" dirty="0"/>
              <a:t>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otomat</a:t>
            </a:r>
            <a:r>
              <a:rPr lang="en-US" dirty="0"/>
              <a:t> A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90861" y="3787899"/>
            <a:ext cx="4019801" cy="2351923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640053" y="3882940"/>
            <a:ext cx="3161547" cy="225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6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otomat</a:t>
            </a:r>
            <a:r>
              <a:rPr lang="en-US" dirty="0"/>
              <a:t> A</a:t>
            </a:r>
            <a:r>
              <a:rPr lang="en-US" baseline="-25000" dirty="0"/>
              <a:t>2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xâu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β = 1010100 </a:t>
            </a:r>
            <a:r>
              <a:rPr lang="en-US" dirty="0" err="1"/>
              <a:t>là</a:t>
            </a:r>
            <a:r>
              <a:rPr lang="en-US" dirty="0"/>
              <a:t>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5089358"/>
            <a:ext cx="8915400" cy="821864"/>
          </a:xfrm>
        </p:spPr>
        <p:txBody>
          <a:bodyPr/>
          <a:lstStyle/>
          <a:p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, </a:t>
            </a:r>
            <a:r>
              <a:rPr lang="en-US" dirty="0" err="1"/>
              <a:t>otomat</a:t>
            </a:r>
            <a:r>
              <a:rPr lang="en-US" dirty="0"/>
              <a:t> A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xâu</a:t>
            </a:r>
            <a:r>
              <a:rPr lang="en-US" dirty="0"/>
              <a:t> β. 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697496" y="2213663"/>
            <a:ext cx="7606716" cy="234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00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78942"/>
            <a:ext cx="8911687" cy="1280890"/>
          </a:xfrm>
        </p:spPr>
        <p:txBody>
          <a:bodyPr>
            <a:noAutofit/>
          </a:bodyPr>
          <a:lstStyle/>
          <a:p>
            <a:r>
              <a:rPr lang="en-US" sz="2400" dirty="0"/>
              <a:t>Ta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đoán</a:t>
            </a:r>
            <a:r>
              <a:rPr lang="en-US" sz="2400" dirty="0"/>
              <a:t> </a:t>
            </a:r>
            <a:r>
              <a:rPr lang="en-US" sz="2400" dirty="0" err="1"/>
              <a:t>nhận</a:t>
            </a:r>
            <a:r>
              <a:rPr lang="en-US" sz="2400" dirty="0"/>
              <a:t> </a:t>
            </a:r>
            <a:r>
              <a:rPr lang="en-US" sz="2400" dirty="0" err="1"/>
              <a:t>xâu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otomat</a:t>
            </a:r>
            <a:r>
              <a:rPr lang="en-US" sz="2400" dirty="0"/>
              <a:t> </a:t>
            </a:r>
            <a:r>
              <a:rPr lang="en-US" sz="2400" dirty="0" err="1"/>
              <a:t>hữu</a:t>
            </a:r>
            <a:r>
              <a:rPr lang="en-US" sz="2400" dirty="0"/>
              <a:t> </a:t>
            </a:r>
            <a:r>
              <a:rPr lang="en-US" sz="2400" dirty="0" err="1"/>
              <a:t>hạn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đầy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 A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phỏng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: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134979"/>
            <a:ext cx="8915400" cy="3777622"/>
          </a:xfrm>
        </p:spPr>
        <p:txBody>
          <a:bodyPr>
            <a:noAutofit/>
          </a:bodyPr>
          <a:lstStyle/>
          <a:p>
            <a:r>
              <a:rPr lang="en-US" sz="1400" dirty="0"/>
              <a:t>	</a:t>
            </a:r>
            <a:r>
              <a:rPr lang="en-US" sz="1400" b="1" i="1" dirty="0"/>
              <a:t>Input : </a:t>
            </a:r>
          </a:p>
          <a:p>
            <a:r>
              <a:rPr lang="en-US" sz="1400" dirty="0"/>
              <a:t> 	− </a:t>
            </a:r>
            <a:r>
              <a:rPr lang="en-US" sz="1400" dirty="0" err="1"/>
              <a:t>Một</a:t>
            </a:r>
            <a:r>
              <a:rPr lang="en-US" sz="1400" dirty="0"/>
              <a:t> </a:t>
            </a:r>
            <a:r>
              <a:rPr lang="en-US" sz="1400" dirty="0" err="1"/>
              <a:t>xâu</a:t>
            </a:r>
            <a:r>
              <a:rPr lang="en-US" sz="1400" dirty="0"/>
              <a:t> ω, </a:t>
            </a:r>
            <a:r>
              <a:rPr lang="en-US" sz="1400" dirty="0" err="1"/>
              <a:t>kết</a:t>
            </a:r>
            <a:r>
              <a:rPr lang="en-US" sz="1400" dirty="0"/>
              <a:t> </a:t>
            </a:r>
            <a:r>
              <a:rPr lang="en-US" sz="1400" dirty="0" err="1"/>
              <a:t>thúc</a:t>
            </a:r>
            <a:r>
              <a:rPr lang="en-US" sz="1400" dirty="0"/>
              <a:t> </a:t>
            </a:r>
            <a:r>
              <a:rPr lang="en-US" sz="1400" dirty="0" err="1"/>
              <a:t>bởi</a:t>
            </a:r>
            <a:r>
              <a:rPr lang="en-US" sz="1400" dirty="0"/>
              <a:t> </a:t>
            </a:r>
            <a:r>
              <a:rPr lang="en-US" sz="1400" dirty="0" err="1"/>
              <a:t>ký</a:t>
            </a:r>
            <a:r>
              <a:rPr lang="en-US" sz="1400" dirty="0"/>
              <a:t> </a:t>
            </a:r>
            <a:r>
              <a:rPr lang="en-US" sz="1400" dirty="0" err="1"/>
              <a:t>hiệu</a:t>
            </a:r>
            <a:r>
              <a:rPr lang="en-US" sz="1400" dirty="0"/>
              <a:t> </a:t>
            </a:r>
            <a:r>
              <a:rPr lang="en-US" sz="1400" dirty="0" err="1"/>
              <a:t>kết</a:t>
            </a:r>
            <a:r>
              <a:rPr lang="en-US" sz="1400" dirty="0"/>
              <a:t> </a:t>
            </a:r>
            <a:r>
              <a:rPr lang="en-US" sz="1400" dirty="0" err="1"/>
              <a:t>thúc</a:t>
            </a:r>
            <a:r>
              <a:rPr lang="en-US" sz="1400" dirty="0"/>
              <a:t> file </a:t>
            </a:r>
            <a:r>
              <a:rPr lang="en-US" sz="1400" dirty="0" err="1"/>
              <a:t>là</a:t>
            </a:r>
            <a:r>
              <a:rPr lang="en-US" sz="1400" dirty="0"/>
              <a:t> </a:t>
            </a:r>
            <a:r>
              <a:rPr lang="en-US" sz="1400" dirty="0" err="1"/>
              <a:t>eof</a:t>
            </a:r>
            <a:r>
              <a:rPr lang="en-US" sz="1400" dirty="0"/>
              <a:t>. </a:t>
            </a:r>
          </a:p>
          <a:p>
            <a:r>
              <a:rPr lang="en-US" sz="1400" dirty="0"/>
              <a:t> − </a:t>
            </a:r>
            <a:r>
              <a:rPr lang="en-US" sz="1400" dirty="0" err="1"/>
              <a:t>Một</a:t>
            </a:r>
            <a:r>
              <a:rPr lang="en-US" sz="1400" dirty="0"/>
              <a:t> </a:t>
            </a:r>
            <a:r>
              <a:rPr lang="en-US" sz="1400" dirty="0" err="1"/>
              <a:t>otomat</a:t>
            </a:r>
            <a:r>
              <a:rPr lang="en-US" sz="1400" dirty="0"/>
              <a:t> </a:t>
            </a:r>
            <a:r>
              <a:rPr lang="en-US" sz="1400" dirty="0" err="1"/>
              <a:t>hữu</a:t>
            </a:r>
            <a:r>
              <a:rPr lang="en-US" sz="1400" dirty="0"/>
              <a:t> </a:t>
            </a:r>
            <a:r>
              <a:rPr lang="en-US" sz="1400" dirty="0" err="1"/>
              <a:t>hạn</a:t>
            </a:r>
            <a:r>
              <a:rPr lang="en-US" sz="1400" dirty="0"/>
              <a:t> </a:t>
            </a:r>
            <a:r>
              <a:rPr lang="en-US" sz="1400" dirty="0" err="1"/>
              <a:t>đơn</a:t>
            </a:r>
            <a:r>
              <a:rPr lang="en-US" sz="1400" dirty="0"/>
              <a:t> </a:t>
            </a:r>
            <a:r>
              <a:rPr lang="en-US" sz="1400" dirty="0" err="1"/>
              <a:t>định</a:t>
            </a:r>
            <a:r>
              <a:rPr lang="en-US" sz="1400" dirty="0"/>
              <a:t> </a:t>
            </a:r>
            <a:r>
              <a:rPr lang="en-US" sz="1400" dirty="0" err="1"/>
              <a:t>đầy</a:t>
            </a:r>
            <a:r>
              <a:rPr lang="en-US" sz="1400" dirty="0"/>
              <a:t> </a:t>
            </a:r>
            <a:r>
              <a:rPr lang="en-US" sz="1400" dirty="0" err="1"/>
              <a:t>đủ</a:t>
            </a:r>
            <a:r>
              <a:rPr lang="en-US" sz="1400" dirty="0"/>
              <a:t> A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trạng</a:t>
            </a:r>
            <a:r>
              <a:rPr lang="en-US" sz="1400" dirty="0"/>
              <a:t> </a:t>
            </a:r>
            <a:r>
              <a:rPr lang="en-US" sz="1400" dirty="0" err="1"/>
              <a:t>thái</a:t>
            </a:r>
            <a:r>
              <a:rPr lang="en-US" sz="1400" dirty="0"/>
              <a:t> </a:t>
            </a:r>
            <a:r>
              <a:rPr lang="en-US" sz="1400" dirty="0" err="1"/>
              <a:t>đầu</a:t>
            </a:r>
            <a:r>
              <a:rPr lang="en-US" sz="1400" dirty="0"/>
              <a:t> q</a:t>
            </a:r>
            <a:r>
              <a:rPr lang="en-US" sz="1400" baseline="-25000" dirty="0"/>
              <a:t>0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tập</a:t>
            </a:r>
            <a:r>
              <a:rPr lang="en-US" sz="1400" dirty="0"/>
              <a:t> </a:t>
            </a:r>
            <a:r>
              <a:rPr lang="en-US" sz="1400" dirty="0" err="1"/>
              <a:t>trạng</a:t>
            </a:r>
            <a:r>
              <a:rPr lang="en-US" sz="1400" dirty="0"/>
              <a:t> </a:t>
            </a:r>
            <a:r>
              <a:rPr lang="en-US" sz="1400" dirty="0" err="1"/>
              <a:t>thái</a:t>
            </a:r>
            <a:r>
              <a:rPr lang="en-US" sz="1400" dirty="0"/>
              <a:t> </a:t>
            </a:r>
            <a:r>
              <a:rPr lang="en-US" sz="1400" dirty="0" err="1"/>
              <a:t>kết</a:t>
            </a:r>
            <a:r>
              <a:rPr lang="en-US" sz="1400" dirty="0"/>
              <a:t> </a:t>
            </a:r>
            <a:r>
              <a:rPr lang="en-US" sz="1400" dirty="0" err="1"/>
              <a:t>thúc</a:t>
            </a:r>
            <a:r>
              <a:rPr lang="en-US" sz="1400" dirty="0"/>
              <a:t> </a:t>
            </a:r>
            <a:r>
              <a:rPr lang="en-US" sz="1400" dirty="0" err="1"/>
              <a:t>là</a:t>
            </a:r>
            <a:r>
              <a:rPr lang="en-US" sz="1400" dirty="0"/>
              <a:t> F. </a:t>
            </a:r>
          </a:p>
          <a:p>
            <a:r>
              <a:rPr lang="en-US" sz="1400" dirty="0"/>
              <a:t> 	</a:t>
            </a:r>
            <a:r>
              <a:rPr lang="en-US" sz="1400" b="1" i="1" dirty="0"/>
              <a:t>Output:</a:t>
            </a:r>
            <a:r>
              <a:rPr lang="en-US" sz="1400" dirty="0"/>
              <a:t>  </a:t>
            </a:r>
            <a:endParaRPr lang="en-US" sz="1400" b="1" i="1" dirty="0"/>
          </a:p>
          <a:p>
            <a:pPr lvl="0" fontAlgn="base"/>
            <a:r>
              <a:rPr lang="en-US" sz="1400" dirty="0" err="1"/>
              <a:t>Trả</a:t>
            </a:r>
            <a:r>
              <a:rPr lang="en-US" sz="1400" dirty="0"/>
              <a:t> </a:t>
            </a:r>
            <a:r>
              <a:rPr lang="en-US" sz="1400" dirty="0" err="1"/>
              <a:t>lời</a:t>
            </a:r>
            <a:r>
              <a:rPr lang="en-US" sz="1400" dirty="0"/>
              <a:t>  “</a:t>
            </a:r>
            <a:r>
              <a:rPr lang="en-US" sz="1400" dirty="0" err="1"/>
              <a:t>Đúng</a:t>
            </a:r>
            <a:r>
              <a:rPr lang="en-US" sz="1400" dirty="0"/>
              <a:t>” </a:t>
            </a:r>
            <a:r>
              <a:rPr lang="en-US" sz="1400" dirty="0" err="1"/>
              <a:t>nếu</a:t>
            </a:r>
            <a:r>
              <a:rPr lang="en-US" sz="1400" dirty="0"/>
              <a:t> A </a:t>
            </a:r>
            <a:r>
              <a:rPr lang="en-US" sz="1400" dirty="0" err="1"/>
              <a:t>đoán</a:t>
            </a:r>
            <a:r>
              <a:rPr lang="en-US" sz="1400" dirty="0"/>
              <a:t> </a:t>
            </a:r>
            <a:r>
              <a:rPr lang="en-US" sz="1400" dirty="0" err="1"/>
              <a:t>nhận</a:t>
            </a:r>
            <a:r>
              <a:rPr lang="en-US" sz="1400" dirty="0"/>
              <a:t> </a:t>
            </a:r>
            <a:r>
              <a:rPr lang="en-US" sz="1400" dirty="0" err="1"/>
              <a:t>xâu</a:t>
            </a:r>
            <a:r>
              <a:rPr lang="en-US" sz="1400" dirty="0"/>
              <a:t> ω. </a:t>
            </a:r>
          </a:p>
          <a:p>
            <a:pPr lvl="0" fontAlgn="base"/>
            <a:r>
              <a:rPr lang="en-US" sz="1400" dirty="0" err="1"/>
              <a:t>Trả</a:t>
            </a:r>
            <a:r>
              <a:rPr lang="en-US" sz="1400" dirty="0"/>
              <a:t> </a:t>
            </a:r>
            <a:r>
              <a:rPr lang="en-US" sz="1400" dirty="0" err="1"/>
              <a:t>lời</a:t>
            </a:r>
            <a:r>
              <a:rPr lang="en-US" sz="1400" dirty="0"/>
              <a:t> “</a:t>
            </a:r>
            <a:r>
              <a:rPr lang="en-US" sz="1400" dirty="0" err="1"/>
              <a:t>Sai</a:t>
            </a:r>
            <a:r>
              <a:rPr lang="en-US" sz="1400" dirty="0"/>
              <a:t>” </a:t>
            </a:r>
            <a:r>
              <a:rPr lang="en-US" sz="1400" dirty="0" err="1"/>
              <a:t>nếu</a:t>
            </a:r>
            <a:r>
              <a:rPr lang="en-US" sz="1400" dirty="0"/>
              <a:t> A </a:t>
            </a:r>
            <a:r>
              <a:rPr lang="en-US" sz="1400" dirty="0" err="1"/>
              <a:t>không</a:t>
            </a:r>
            <a:r>
              <a:rPr lang="en-US" sz="1400" dirty="0"/>
              <a:t> </a:t>
            </a:r>
            <a:r>
              <a:rPr lang="en-US" sz="1400" dirty="0" err="1"/>
              <a:t>đoán</a:t>
            </a:r>
            <a:r>
              <a:rPr lang="en-US" sz="1400" dirty="0"/>
              <a:t> </a:t>
            </a:r>
            <a:r>
              <a:rPr lang="en-US" sz="1400" dirty="0" err="1"/>
              <a:t>nhận</a:t>
            </a:r>
            <a:r>
              <a:rPr lang="en-US" sz="1400" dirty="0"/>
              <a:t> </a:t>
            </a:r>
            <a:r>
              <a:rPr lang="en-US" sz="1400" dirty="0" err="1"/>
              <a:t>xâu</a:t>
            </a:r>
            <a:r>
              <a:rPr lang="en-US" sz="1400" dirty="0"/>
              <a:t> ω. </a:t>
            </a:r>
          </a:p>
          <a:p>
            <a:r>
              <a:rPr lang="en-US" sz="1400" dirty="0"/>
              <a:t> 	</a:t>
            </a:r>
            <a:r>
              <a:rPr lang="en-US" sz="1400" b="1" i="1" dirty="0" err="1"/>
              <a:t>Thuật</a:t>
            </a:r>
            <a:r>
              <a:rPr lang="en-US" sz="1400" b="1" i="1" dirty="0"/>
              <a:t> </a:t>
            </a:r>
            <a:r>
              <a:rPr lang="en-US" sz="1400" b="1" i="1" dirty="0" err="1"/>
              <a:t>toán</a:t>
            </a:r>
            <a:r>
              <a:rPr lang="en-US" sz="1400" b="1" i="1" dirty="0"/>
              <a:t>: </a:t>
            </a:r>
          </a:p>
          <a:p>
            <a:r>
              <a:rPr lang="en-US" sz="1400" dirty="0"/>
              <a:t> 	Begin </a:t>
            </a:r>
          </a:p>
          <a:p>
            <a:r>
              <a:rPr lang="en-US" sz="1400" dirty="0"/>
              <a:t> 	 	S:= q</a:t>
            </a:r>
            <a:r>
              <a:rPr lang="en-US" sz="1400" baseline="-25000" dirty="0"/>
              <a:t>0</a:t>
            </a:r>
            <a:r>
              <a:rPr lang="en-US" sz="1400" dirty="0"/>
              <a:t>; </a:t>
            </a:r>
          </a:p>
          <a:p>
            <a:r>
              <a:rPr lang="en-US" sz="1400" dirty="0"/>
              <a:t> 	 	C:= </a:t>
            </a:r>
            <a:r>
              <a:rPr lang="en-US" sz="1400" dirty="0" err="1"/>
              <a:t>ký</a:t>
            </a:r>
            <a:r>
              <a:rPr lang="en-US" sz="1400" dirty="0"/>
              <a:t> </a:t>
            </a:r>
            <a:r>
              <a:rPr lang="en-US" sz="1400" dirty="0" err="1"/>
              <a:t>hiệu</a:t>
            </a:r>
            <a:r>
              <a:rPr lang="en-US" sz="1400" dirty="0"/>
              <a:t> </a:t>
            </a:r>
            <a:r>
              <a:rPr lang="en-US" sz="1400" dirty="0" err="1"/>
              <a:t>tiếp</a:t>
            </a:r>
            <a:r>
              <a:rPr lang="en-US" sz="1400" dirty="0"/>
              <a:t> </a:t>
            </a:r>
            <a:r>
              <a:rPr lang="en-US" sz="1400" dirty="0" err="1"/>
              <a:t>theo</a:t>
            </a:r>
            <a:r>
              <a:rPr lang="en-US" sz="1400" dirty="0"/>
              <a:t>;  	 </a:t>
            </a:r>
            <a:endParaRPr lang="en-US" sz="1400" dirty="0" smtClean="0"/>
          </a:p>
          <a:p>
            <a:pPr marL="457200" lvl="1" indent="0">
              <a:buNone/>
            </a:pPr>
            <a:r>
              <a:rPr lang="en-US" sz="1200" dirty="0" smtClean="0"/>
              <a:t>While </a:t>
            </a:r>
            <a:r>
              <a:rPr lang="en-US" sz="1200" dirty="0"/>
              <a:t>C &lt; &gt; </a:t>
            </a:r>
            <a:r>
              <a:rPr lang="en-US" sz="1200" dirty="0" err="1"/>
              <a:t>eof</a:t>
            </a:r>
            <a:r>
              <a:rPr lang="en-US" sz="1200" dirty="0"/>
              <a:t> do </a:t>
            </a:r>
          </a:p>
          <a:p>
            <a:r>
              <a:rPr lang="en-US" sz="1400" dirty="0"/>
              <a:t> 	 	 	begin </a:t>
            </a:r>
          </a:p>
          <a:p>
            <a:r>
              <a:rPr lang="en-US" sz="1400" dirty="0"/>
              <a:t> 	 	 	 	S:= δ(S, C); </a:t>
            </a:r>
          </a:p>
          <a:p>
            <a:r>
              <a:rPr lang="en-US" sz="1400" dirty="0"/>
              <a:t> 	 	 	 	C:= </a:t>
            </a:r>
            <a:r>
              <a:rPr lang="en-US" sz="1400" dirty="0" err="1"/>
              <a:t>ký</a:t>
            </a:r>
            <a:r>
              <a:rPr lang="en-US" sz="1400" dirty="0"/>
              <a:t> </a:t>
            </a:r>
            <a:r>
              <a:rPr lang="en-US" sz="1400" dirty="0" err="1"/>
              <a:t>hiệu</a:t>
            </a:r>
            <a:r>
              <a:rPr lang="en-US" sz="1400" dirty="0"/>
              <a:t> </a:t>
            </a:r>
            <a:r>
              <a:rPr lang="en-US" sz="1400" dirty="0" err="1"/>
              <a:t>tiếp</a:t>
            </a:r>
            <a:r>
              <a:rPr lang="en-US" sz="1400" dirty="0"/>
              <a:t> </a:t>
            </a:r>
            <a:r>
              <a:rPr lang="en-US" sz="1400" dirty="0" err="1"/>
              <a:t>theo</a:t>
            </a:r>
            <a:r>
              <a:rPr lang="en-US" sz="1400" dirty="0"/>
              <a:t>; </a:t>
            </a:r>
          </a:p>
          <a:p>
            <a:r>
              <a:rPr lang="en-US" sz="1400" dirty="0"/>
              <a:t> 	 	 	end; </a:t>
            </a:r>
          </a:p>
          <a:p>
            <a:r>
              <a:rPr lang="en-US" sz="1400" dirty="0"/>
              <a:t> 	 	if S in F return (True)  	 	else return (False); </a:t>
            </a:r>
          </a:p>
          <a:p>
            <a:r>
              <a:rPr lang="en-US" sz="1400" dirty="0"/>
              <a:t> 	End.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635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otomat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i="1" dirty="0" err="1"/>
              <a:t>Định</a:t>
            </a:r>
            <a:r>
              <a:rPr lang="en-US" b="1" i="1" dirty="0"/>
              <a:t> </a:t>
            </a:r>
            <a:r>
              <a:rPr lang="en-US" b="1" i="1" dirty="0" err="1"/>
              <a:t>nghĩa</a:t>
            </a:r>
            <a:r>
              <a:rPr lang="en-US" b="1" i="1" dirty="0"/>
              <a:t> 1.2</a:t>
            </a:r>
            <a:r>
              <a:rPr lang="en-US" dirty="0"/>
              <a:t> Cho </a:t>
            </a:r>
            <a:r>
              <a:rPr lang="en-US" dirty="0" err="1"/>
              <a:t>otomat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A = &lt;Q, Σ, δ, q</a:t>
            </a:r>
            <a:r>
              <a:rPr lang="en-US" baseline="-25000" dirty="0"/>
              <a:t>0</a:t>
            </a:r>
            <a:r>
              <a:rPr lang="en-US" dirty="0"/>
              <a:t>, F&gt;.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δ</a:t>
            </a:r>
            <a:r>
              <a:rPr lang="en-US" baseline="30000" dirty="0"/>
              <a:t>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δ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xạ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D ⊆ Q × Σ </a:t>
            </a:r>
            <a:r>
              <a:rPr lang="en-US" baseline="30000" dirty="0"/>
              <a:t>*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Q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</a:t>
            </a:r>
          </a:p>
          <a:p>
            <a:pPr>
              <a:lnSpc>
                <a:spcPct val="150000"/>
              </a:lnSpc>
            </a:pPr>
            <a:r>
              <a:rPr lang="en-US" dirty="0"/>
              <a:t>1/. δ</a:t>
            </a:r>
            <a:r>
              <a:rPr lang="en-US" baseline="30000" dirty="0"/>
              <a:t>’</a:t>
            </a:r>
            <a:r>
              <a:rPr lang="en-US" dirty="0"/>
              <a:t>(q, ε) = q, ∀</a:t>
            </a:r>
            <a:r>
              <a:rPr lang="en-US" dirty="0" err="1"/>
              <a:t>q∈Q</a:t>
            </a:r>
            <a:r>
              <a:rPr lang="en-US" dirty="0"/>
              <a:t>, </a:t>
            </a:r>
          </a:p>
          <a:p>
            <a:pPr>
              <a:lnSpc>
                <a:spcPct val="150000"/>
              </a:lnSpc>
            </a:pPr>
            <a:r>
              <a:rPr lang="en-US" dirty="0"/>
              <a:t>2/.  δ</a:t>
            </a:r>
            <a:r>
              <a:rPr lang="en-US" baseline="30000" dirty="0"/>
              <a:t>’</a:t>
            </a:r>
            <a:r>
              <a:rPr lang="en-US" dirty="0"/>
              <a:t>(q, </a:t>
            </a:r>
            <a:r>
              <a:rPr lang="en-US" dirty="0" err="1"/>
              <a:t>ωa</a:t>
            </a:r>
            <a:r>
              <a:rPr lang="en-US" dirty="0"/>
              <a:t>) = δ(δ</a:t>
            </a:r>
            <a:r>
              <a:rPr lang="en-US" baseline="30000" dirty="0"/>
              <a:t>’</a:t>
            </a:r>
            <a:r>
              <a:rPr lang="en-US" dirty="0"/>
              <a:t>(q, ω), a), ∀</a:t>
            </a:r>
            <a:r>
              <a:rPr lang="en-US" dirty="0" err="1"/>
              <a:t>a∈Σ</a:t>
            </a:r>
            <a:r>
              <a:rPr lang="en-US" dirty="0"/>
              <a:t>, ∀</a:t>
            </a:r>
            <a:r>
              <a:rPr lang="en-US" dirty="0" err="1"/>
              <a:t>q∈Q</a:t>
            </a:r>
            <a:r>
              <a:rPr lang="en-US" dirty="0"/>
              <a:t>, ∀ω ∈ Σ</a:t>
            </a:r>
            <a:r>
              <a:rPr lang="en-US" baseline="30000" dirty="0"/>
              <a:t>*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δ</a:t>
            </a:r>
            <a:r>
              <a:rPr lang="en-US" baseline="30000" dirty="0"/>
              <a:t>’</a:t>
            </a:r>
            <a:r>
              <a:rPr lang="en-US" dirty="0"/>
              <a:t>(q, ω)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b="1" i="1"/>
              <a:t>Định nghĩa 1.3</a:t>
            </a:r>
            <a:r>
              <a:rPr lang="en-US"/>
              <a:t> Cho otomat hữu hạn đơn định A = &lt;Q, Σ, δ, q</a:t>
            </a:r>
            <a:r>
              <a:rPr lang="en-US" baseline="-25000"/>
              <a:t>0</a:t>
            </a:r>
            <a:r>
              <a:rPr lang="en-US"/>
              <a:t>, F&gt;, và một xâu ω∈Σ</a:t>
            </a:r>
            <a:r>
              <a:rPr lang="en-US" baseline="30000"/>
              <a:t>*</a:t>
            </a:r>
            <a:r>
              <a:rPr lang="en-US"/>
              <a:t>. Ta nói: </a:t>
            </a:r>
          </a:p>
          <a:p>
            <a:pPr>
              <a:lnSpc>
                <a:spcPct val="150000"/>
              </a:lnSpc>
            </a:pPr>
            <a:r>
              <a:rPr lang="en-US" smtClean="0"/>
              <a:t>ω </a:t>
            </a:r>
            <a:r>
              <a:rPr lang="en-US"/>
              <a:t>được đoán nhận bởi A  nếu δ(q</a:t>
            </a:r>
            <a:r>
              <a:rPr lang="en-US" baseline="-25000"/>
              <a:t>0</a:t>
            </a:r>
            <a:r>
              <a:rPr lang="en-US"/>
              <a:t>, ω) ∈ F; </a:t>
            </a:r>
          </a:p>
          <a:p>
            <a:pPr>
              <a:lnSpc>
                <a:spcPct val="150000"/>
              </a:lnSpc>
            </a:pPr>
            <a:r>
              <a:rPr lang="en-US" smtClean="0"/>
              <a:t>Ngôn </a:t>
            </a:r>
            <a:r>
              <a:rPr lang="en-US"/>
              <a:t>ngữ được đoán nhận bởi otomat A và ký hiệu là T(A), là tập từ: </a:t>
            </a:r>
          </a:p>
          <a:p>
            <a:pPr>
              <a:lnSpc>
                <a:spcPct val="150000"/>
              </a:lnSpc>
            </a:pPr>
            <a:r>
              <a:rPr lang="en-US"/>
              <a:t>T(A) = {ω∈Σ</a:t>
            </a:r>
            <a:r>
              <a:rPr lang="en-US" baseline="30000"/>
              <a:t>*</a:t>
            </a:r>
            <a:r>
              <a:rPr lang="en-US"/>
              <a:t> | δ(q</a:t>
            </a:r>
            <a:r>
              <a:rPr lang="en-US" baseline="-25000"/>
              <a:t>0</a:t>
            </a:r>
            <a:r>
              <a:rPr lang="en-US"/>
              <a:t>, ω)∈F}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309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64695"/>
            <a:ext cx="8915400" cy="6509084"/>
          </a:xfrm>
        </p:spPr>
        <p:txBody>
          <a:bodyPr>
            <a:normAutofit lnSpcReduction="10000"/>
          </a:bodyPr>
          <a:lstStyle/>
          <a:p>
            <a:r>
              <a:rPr lang="en-US" b="1" i="1"/>
              <a:t>Định nghĩa 1.4  </a:t>
            </a:r>
            <a:r>
              <a:rPr lang="en-US"/>
              <a:t>Hai otomat hữu hạn A = &lt;Q, Σ, δ, q</a:t>
            </a:r>
            <a:r>
              <a:rPr lang="en-US" baseline="-25000"/>
              <a:t>0</a:t>
            </a:r>
            <a:r>
              <a:rPr lang="en-US"/>
              <a:t>, F&gt; và A’= &lt;Q’, Σ’, δ’, q’</a:t>
            </a:r>
            <a:r>
              <a:rPr lang="en-US" baseline="-25000"/>
              <a:t>0</a:t>
            </a:r>
            <a:r>
              <a:rPr lang="en-US"/>
              <a:t>, F’&gt; được gọi là tương đương nếu T(A) = T(A’). </a:t>
            </a:r>
            <a:endParaRPr lang="en-US" smtClean="0"/>
          </a:p>
          <a:p>
            <a:r>
              <a:rPr lang="en-US" smtClean="0"/>
              <a:t>Ví dụ: </a:t>
            </a:r>
            <a:r>
              <a:rPr lang="en-US"/>
              <a:t>Cho otomat hữu hạn: A</a:t>
            </a:r>
            <a:r>
              <a:rPr lang="en-US" baseline="-25000"/>
              <a:t>3</a:t>
            </a:r>
            <a:r>
              <a:rPr lang="en-US"/>
              <a:t> = &lt;{q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, q</a:t>
            </a:r>
            <a:r>
              <a:rPr lang="en-US" baseline="-25000"/>
              <a:t>2</a:t>
            </a:r>
            <a:r>
              <a:rPr lang="en-US"/>
              <a:t>, q</a:t>
            </a:r>
            <a:r>
              <a:rPr lang="en-US" baseline="-25000"/>
              <a:t>3</a:t>
            </a:r>
            <a:r>
              <a:rPr lang="en-US"/>
              <a:t>, q</a:t>
            </a:r>
            <a:r>
              <a:rPr lang="en-US" baseline="-25000"/>
              <a:t>4</a:t>
            </a:r>
            <a:r>
              <a:rPr lang="en-US"/>
              <a:t>},{0, 1}, δ, q</a:t>
            </a:r>
            <a:r>
              <a:rPr lang="en-US" baseline="-25000"/>
              <a:t>0</a:t>
            </a:r>
            <a:r>
              <a:rPr lang="en-US"/>
              <a:t>, {q</a:t>
            </a:r>
            <a:r>
              <a:rPr lang="en-US" baseline="-25000"/>
              <a:t>1</a:t>
            </a:r>
            <a:r>
              <a:rPr lang="en-US"/>
              <a:t>, q</a:t>
            </a:r>
            <a:r>
              <a:rPr lang="en-US" baseline="-25000"/>
              <a:t>2</a:t>
            </a:r>
            <a:r>
              <a:rPr lang="en-US"/>
              <a:t>, q</a:t>
            </a:r>
            <a:r>
              <a:rPr lang="en-US" baseline="-25000"/>
              <a:t>4</a:t>
            </a:r>
            <a:r>
              <a:rPr lang="en-US"/>
              <a:t>}&gt; với δ(q</a:t>
            </a:r>
            <a:r>
              <a:rPr lang="en-US" baseline="-25000"/>
              <a:t>0</a:t>
            </a:r>
            <a:r>
              <a:rPr lang="en-US"/>
              <a:t>,0) = q</a:t>
            </a:r>
            <a:r>
              <a:rPr lang="en-US" baseline="-25000"/>
              <a:t>0</a:t>
            </a:r>
            <a:r>
              <a:rPr lang="en-US"/>
              <a:t>, δ(q</a:t>
            </a:r>
            <a:r>
              <a:rPr lang="en-US" baseline="-25000"/>
              <a:t>0</a:t>
            </a:r>
            <a:r>
              <a:rPr lang="en-US"/>
              <a:t>,1) = q</a:t>
            </a:r>
            <a:r>
              <a:rPr lang="en-US" baseline="-25000"/>
              <a:t>1</a:t>
            </a:r>
            <a:r>
              <a:rPr lang="en-US"/>
              <a:t>, δ(q</a:t>
            </a:r>
            <a:r>
              <a:rPr lang="en-US" baseline="-25000"/>
              <a:t>1</a:t>
            </a:r>
            <a:r>
              <a:rPr lang="en-US"/>
              <a:t>,0) = q</a:t>
            </a:r>
            <a:r>
              <a:rPr lang="en-US" baseline="-25000"/>
              <a:t>3</a:t>
            </a:r>
            <a:r>
              <a:rPr lang="en-US"/>
              <a:t>, δ(q</a:t>
            </a:r>
            <a:r>
              <a:rPr lang="en-US" baseline="-25000"/>
              <a:t>1</a:t>
            </a:r>
            <a:r>
              <a:rPr lang="en-US"/>
              <a:t>,1) = q</a:t>
            </a:r>
            <a:r>
              <a:rPr lang="en-US" baseline="-25000"/>
              <a:t>2</a:t>
            </a:r>
            <a:r>
              <a:rPr lang="en-US"/>
              <a:t>, δ(q</a:t>
            </a:r>
            <a:r>
              <a:rPr lang="en-US" baseline="-25000"/>
              <a:t>2</a:t>
            </a:r>
            <a:r>
              <a:rPr lang="en-US"/>
              <a:t>,0) = q</a:t>
            </a:r>
            <a:r>
              <a:rPr lang="en-US" baseline="-25000"/>
              <a:t>2</a:t>
            </a:r>
            <a:r>
              <a:rPr lang="en-US"/>
              <a:t>, δ(q</a:t>
            </a:r>
            <a:r>
              <a:rPr lang="en-US" baseline="-25000"/>
              <a:t>2</a:t>
            </a:r>
            <a:r>
              <a:rPr lang="en-US"/>
              <a:t>,1) = q</a:t>
            </a:r>
            <a:r>
              <a:rPr lang="en-US" baseline="-25000"/>
              <a:t>2</a:t>
            </a:r>
            <a:r>
              <a:rPr lang="en-US"/>
              <a:t>, δ(q</a:t>
            </a:r>
            <a:r>
              <a:rPr lang="en-US" baseline="-25000"/>
              <a:t>3</a:t>
            </a:r>
            <a:r>
              <a:rPr lang="en-US"/>
              <a:t>,1) = q</a:t>
            </a:r>
            <a:r>
              <a:rPr lang="en-US" baseline="-25000"/>
              <a:t>3</a:t>
            </a:r>
            <a:r>
              <a:rPr lang="en-US"/>
              <a:t>, δ(q</a:t>
            </a:r>
            <a:r>
              <a:rPr lang="en-US" baseline="-25000"/>
              <a:t>4</a:t>
            </a:r>
            <a:r>
              <a:rPr lang="en-US"/>
              <a:t>,0) = q</a:t>
            </a:r>
            <a:r>
              <a:rPr lang="en-US" baseline="-25000"/>
              <a:t>2</a:t>
            </a:r>
            <a:r>
              <a:rPr lang="en-US"/>
              <a:t>, δ(q</a:t>
            </a:r>
            <a:r>
              <a:rPr lang="en-US" baseline="-25000"/>
              <a:t>4</a:t>
            </a:r>
            <a:r>
              <a:rPr lang="en-US"/>
              <a:t>,1) = q</a:t>
            </a:r>
            <a:r>
              <a:rPr lang="en-US" baseline="-25000"/>
              <a:t>3</a:t>
            </a:r>
            <a:r>
              <a:rPr lang="en-US"/>
              <a:t>. </a:t>
            </a:r>
          </a:p>
          <a:p>
            <a:r>
              <a:rPr lang="en-US"/>
              <a:t> 	Đồ thị chuyển của A</a:t>
            </a:r>
            <a:r>
              <a:rPr lang="en-US" baseline="-25000"/>
              <a:t>3</a:t>
            </a:r>
            <a:r>
              <a:rPr lang="en-US"/>
              <a:t> là: </a:t>
            </a:r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r>
              <a:rPr lang="en-US"/>
              <a:t>A</a:t>
            </a:r>
            <a:r>
              <a:rPr lang="en-US" baseline="-25000"/>
              <a:t>4</a:t>
            </a:r>
            <a:r>
              <a:rPr lang="en-US"/>
              <a:t> = &lt;{q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, q</a:t>
            </a:r>
            <a:r>
              <a:rPr lang="en-US" baseline="-25000"/>
              <a:t>2</a:t>
            </a:r>
            <a:r>
              <a:rPr lang="en-US"/>
              <a:t>}, {0, 1}, δ, q</a:t>
            </a:r>
            <a:r>
              <a:rPr lang="en-US" baseline="-25000"/>
              <a:t>0</a:t>
            </a:r>
            <a:r>
              <a:rPr lang="en-US"/>
              <a:t>, {q</a:t>
            </a:r>
            <a:r>
              <a:rPr lang="en-US" baseline="-25000"/>
              <a:t>1</a:t>
            </a:r>
            <a:r>
              <a:rPr lang="en-US"/>
              <a:t>, q</a:t>
            </a:r>
            <a:r>
              <a:rPr lang="en-US" baseline="-25000"/>
              <a:t>2</a:t>
            </a:r>
            <a:r>
              <a:rPr lang="en-US"/>
              <a:t>}&gt;, </a:t>
            </a:r>
          </a:p>
          <a:p>
            <a:pPr marL="0" indent="0">
              <a:buNone/>
            </a:pPr>
            <a:r>
              <a:rPr lang="en-US"/>
              <a:t>trong đó δ(q</a:t>
            </a:r>
            <a:r>
              <a:rPr lang="en-US" baseline="-25000"/>
              <a:t>0</a:t>
            </a:r>
            <a:r>
              <a:rPr lang="en-US"/>
              <a:t>,0) = q</a:t>
            </a:r>
            <a:r>
              <a:rPr lang="en-US" baseline="-25000"/>
              <a:t>0</a:t>
            </a:r>
            <a:r>
              <a:rPr lang="en-US"/>
              <a:t>, δ(q</a:t>
            </a:r>
            <a:r>
              <a:rPr lang="en-US" baseline="-25000"/>
              <a:t>0</a:t>
            </a:r>
            <a:r>
              <a:rPr lang="en-US"/>
              <a:t>,1) = q</a:t>
            </a:r>
            <a:r>
              <a:rPr lang="en-US" baseline="-25000"/>
              <a:t>1</a:t>
            </a:r>
            <a:r>
              <a:rPr lang="en-US"/>
              <a:t>, δ(q</a:t>
            </a:r>
            <a:r>
              <a:rPr lang="en-US" baseline="-25000"/>
              <a:t>1</a:t>
            </a:r>
            <a:r>
              <a:rPr lang="en-US"/>
              <a:t>,1) = q</a:t>
            </a:r>
            <a:r>
              <a:rPr lang="en-US" baseline="-25000"/>
              <a:t>2</a:t>
            </a:r>
            <a:r>
              <a:rPr lang="en-US"/>
              <a:t>, δ(q</a:t>
            </a:r>
            <a:r>
              <a:rPr lang="en-US" baseline="-25000"/>
              <a:t>2</a:t>
            </a:r>
            <a:r>
              <a:rPr lang="en-US"/>
              <a:t>,0) = q</a:t>
            </a:r>
            <a:r>
              <a:rPr lang="en-US" baseline="-25000"/>
              <a:t>2</a:t>
            </a:r>
            <a:r>
              <a:rPr lang="en-US"/>
              <a:t>, δ(q</a:t>
            </a:r>
            <a:r>
              <a:rPr lang="en-US" baseline="-25000"/>
              <a:t>2</a:t>
            </a:r>
            <a:r>
              <a:rPr lang="en-US"/>
              <a:t>,1) = q</a:t>
            </a:r>
            <a:r>
              <a:rPr lang="en-US" baseline="-25000"/>
              <a:t>2</a:t>
            </a:r>
            <a:r>
              <a:rPr lang="en-US"/>
              <a:t>. Đồ thị chuyển của </a:t>
            </a:r>
            <a:r>
              <a:rPr lang="en-US" smtClean="0"/>
              <a:t>A</a:t>
            </a:r>
            <a:r>
              <a:rPr lang="en-US" baseline="-25000" smtClean="0"/>
              <a:t>4</a:t>
            </a:r>
            <a:endParaRPr lang="en-US"/>
          </a:p>
          <a:p>
            <a:endParaRPr lang="en-US" smtClean="0"/>
          </a:p>
          <a:p>
            <a:endParaRPr lang="en-US"/>
          </a:p>
          <a:p>
            <a:r>
              <a:rPr lang="en-US" smtClean="0"/>
              <a:t>T(A</a:t>
            </a:r>
            <a:r>
              <a:rPr lang="en-US" baseline="-25000" smtClean="0"/>
              <a:t>3</a:t>
            </a:r>
            <a:r>
              <a:rPr lang="en-US"/>
              <a:t>) = T(A</a:t>
            </a:r>
            <a:r>
              <a:rPr lang="en-US" baseline="-25000"/>
              <a:t>4</a:t>
            </a:r>
            <a:r>
              <a:rPr lang="en-US"/>
              <a:t>) = {0</a:t>
            </a:r>
            <a:r>
              <a:rPr lang="en-US" baseline="30000"/>
              <a:t>n</a:t>
            </a:r>
            <a:r>
              <a:rPr lang="en-US"/>
              <a:t>1, 0</a:t>
            </a:r>
            <a:r>
              <a:rPr lang="en-US" baseline="30000"/>
              <a:t>n</a:t>
            </a:r>
            <a:r>
              <a:rPr lang="en-US"/>
              <a:t>11ω / n ≥ 0, ω∈{0, 1}</a:t>
            </a:r>
            <a:r>
              <a:rPr lang="en-US" baseline="30000"/>
              <a:t>*</a:t>
            </a:r>
            <a:r>
              <a:rPr lang="en-US"/>
              <a:t>}. </a:t>
            </a:r>
            <a:endParaRPr lang="en-US" smtClean="0"/>
          </a:p>
          <a:p>
            <a:r>
              <a:rPr lang="en-US" b="1" i="1"/>
              <a:t>Bổ đề 1.1  </a:t>
            </a:r>
            <a:r>
              <a:rPr lang="en-US"/>
              <a:t>Cho otomat hữu hạn đơn định A = &lt;Q, Σ, δ, q</a:t>
            </a:r>
            <a:r>
              <a:rPr lang="en-US" baseline="-25000"/>
              <a:t>0</a:t>
            </a:r>
            <a:r>
              <a:rPr lang="en-US"/>
              <a:t>, F&gt;. Khi đó ∀ω</a:t>
            </a:r>
            <a:r>
              <a:rPr lang="en-US" baseline="-25000"/>
              <a:t>1</a:t>
            </a:r>
            <a:r>
              <a:rPr lang="en-US"/>
              <a:t>, ω</a:t>
            </a:r>
            <a:r>
              <a:rPr lang="en-US" baseline="-25000"/>
              <a:t>2 </a:t>
            </a:r>
            <a:r>
              <a:rPr lang="en-US"/>
              <a:t>∈ Σ</a:t>
            </a:r>
            <a:r>
              <a:rPr lang="en-US" baseline="30000"/>
              <a:t>*</a:t>
            </a:r>
            <a:r>
              <a:rPr lang="en-US"/>
              <a:t>, ∀q∈Q sao cho δ(q, ω</a:t>
            </a:r>
            <a:r>
              <a:rPr lang="en-US" baseline="-25000"/>
              <a:t>1</a:t>
            </a:r>
            <a:r>
              <a:rPr lang="en-US"/>
              <a:t>ω</a:t>
            </a:r>
            <a:r>
              <a:rPr lang="en-US" baseline="-25000"/>
              <a:t>2</a:t>
            </a:r>
            <a:r>
              <a:rPr lang="en-US"/>
              <a:t>) xác định, ta có: </a:t>
            </a:r>
            <a:endParaRPr lang="en-US" smtClean="0"/>
          </a:p>
          <a:p>
            <a:pPr marL="0" indent="0">
              <a:buNone/>
            </a:pPr>
            <a:r>
              <a:rPr lang="en-US" smtClean="0"/>
              <a:t>                                       </a:t>
            </a:r>
            <a:r>
              <a:rPr lang="en-US"/>
              <a:t>δ(q, ω</a:t>
            </a:r>
            <a:r>
              <a:rPr lang="en-US" baseline="-25000"/>
              <a:t>1</a:t>
            </a:r>
            <a:r>
              <a:rPr lang="en-US"/>
              <a:t>ω</a:t>
            </a:r>
            <a:r>
              <a:rPr lang="en-US" baseline="-25000"/>
              <a:t>2</a:t>
            </a:r>
            <a:r>
              <a:rPr lang="en-US"/>
              <a:t>) = δ(δ(q, ω</a:t>
            </a:r>
            <a:r>
              <a:rPr lang="en-US" baseline="-25000"/>
              <a:t>1</a:t>
            </a:r>
            <a:r>
              <a:rPr lang="en-US"/>
              <a:t>), ω</a:t>
            </a:r>
            <a:r>
              <a:rPr lang="en-US" baseline="-25000"/>
              <a:t>2</a:t>
            </a:r>
            <a:r>
              <a:rPr lang="en-US"/>
              <a:t>) </a:t>
            </a:r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919535" y="1805740"/>
            <a:ext cx="3114675" cy="15621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919535" y="4146885"/>
            <a:ext cx="305752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9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Đơn định hóa các otomat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Giả sử A = &lt;Q, Σ, δ, q</a:t>
            </a:r>
            <a:r>
              <a:rPr lang="en-US" baseline="-25000"/>
              <a:t>0</a:t>
            </a:r>
            <a:r>
              <a:rPr lang="en-US"/>
              <a:t>, F&gt; là một otomat không đơn định, khi đó ta có thể xây dựng otomat đơn định và đầy đủ M tương đương với  otomat A (theo nghĩa cùng đoán nhận một ngôn ngữ).  Việc xây dựng M được thực hiện theo thuật toán sau đây, được gọi là thuật toán đơn định hóa otomat. </a:t>
            </a:r>
          </a:p>
          <a:p>
            <a:pPr>
              <a:lnSpc>
                <a:spcPct val="150000"/>
              </a:lnSpc>
            </a:pPr>
            <a:r>
              <a:rPr lang="en-US" b="1" i="1"/>
              <a:t>Thuật toán đơn định hóa:</a:t>
            </a:r>
            <a:r>
              <a:rPr lang="en-US"/>
              <a:t> </a:t>
            </a:r>
            <a:endParaRPr lang="en-US" b="1" i="1"/>
          </a:p>
          <a:p>
            <a:pPr>
              <a:lnSpc>
                <a:spcPct val="150000"/>
              </a:lnSpc>
            </a:pPr>
            <a:r>
              <a:rPr lang="en-US" b="1" i="1"/>
              <a:t>Input: </a:t>
            </a:r>
            <a:r>
              <a:rPr lang="en-US" b="1"/>
              <a:t> </a:t>
            </a:r>
            <a:r>
              <a:rPr lang="en-US"/>
              <a:t>Otomat hữu hạn không đơn định A = &lt;Q, Σ, δ, q</a:t>
            </a:r>
            <a:r>
              <a:rPr lang="en-US" baseline="-25000"/>
              <a:t>0</a:t>
            </a:r>
            <a:r>
              <a:rPr lang="en-US"/>
              <a:t>, F&gt; </a:t>
            </a:r>
          </a:p>
          <a:p>
            <a:pPr>
              <a:lnSpc>
                <a:spcPct val="150000"/>
              </a:lnSpc>
            </a:pPr>
            <a:r>
              <a:rPr lang="en-US" b="1" i="1"/>
              <a:t>Output: </a:t>
            </a:r>
            <a:r>
              <a:rPr lang="en-US"/>
              <a:t>Otomat hữu hạn đơn định M = &lt;Q’, Σ, δ’, s</a:t>
            </a:r>
            <a:r>
              <a:rPr lang="en-US" baseline="-25000"/>
              <a:t>0</a:t>
            </a:r>
            <a:r>
              <a:rPr lang="en-US"/>
              <a:t>, F’&gt; </a:t>
            </a:r>
          </a:p>
          <a:p>
            <a:pPr>
              <a:lnSpc>
                <a:spcPct val="15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26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0658"/>
            <a:ext cx="8911687" cy="1280890"/>
          </a:xfrm>
        </p:spPr>
        <p:txBody>
          <a:bodyPr/>
          <a:lstStyle/>
          <a:p>
            <a:r>
              <a:rPr lang="en-US" b="1" i="1"/>
              <a:t>Phương pháp:</a:t>
            </a:r>
            <a:r>
              <a:rPr lang="en-US" b="1"/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673767"/>
            <a:ext cx="8915400" cy="605188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i="1"/>
              <a:t>Bước 1</a:t>
            </a:r>
            <a:r>
              <a:rPr lang="en-US"/>
              <a:t>: Xây dựng hàm hai biến    T: 2</a:t>
            </a:r>
            <a:r>
              <a:rPr lang="en-US" baseline="30000"/>
              <a:t>Q</a:t>
            </a:r>
            <a:r>
              <a:rPr lang="en-US"/>
              <a:t> × Σ → 2</a:t>
            </a:r>
            <a:r>
              <a:rPr lang="en-US" baseline="30000"/>
              <a:t>Q</a:t>
            </a:r>
            <a:r>
              <a:rPr lang="en-US"/>
              <a:t>  thỏa mãn các điều kiện: </a:t>
            </a:r>
          </a:p>
          <a:p>
            <a:pPr>
              <a:lnSpc>
                <a:spcPct val="150000"/>
              </a:lnSpc>
            </a:pPr>
            <a:r>
              <a:rPr lang="en-US" smtClean="0"/>
              <a:t>1/. </a:t>
            </a:r>
            <a:r>
              <a:rPr lang="en-US"/>
              <a:t>∀ q ∈ Q, ∀ a ∈ Σ thì T(q, a) = {q’ ∈ Q | q’ = δ(q, a) } </a:t>
            </a:r>
          </a:p>
          <a:p>
            <a:pPr>
              <a:lnSpc>
                <a:spcPct val="150000"/>
              </a:lnSpc>
            </a:pPr>
            <a:r>
              <a:rPr lang="en-US"/>
              <a:t>2/. ∀ B ⊆ Q mà δ(q, a) = B, ∀ a ∈ Σ </a:t>
            </a:r>
            <a:r>
              <a:rPr lang="en-US" smtClean="0"/>
              <a:t>thì T(B, a) =  U</a:t>
            </a:r>
            <a:r>
              <a:rPr lang="en-US" i="1" smtClean="0"/>
              <a:t>T </a:t>
            </a:r>
            <a:r>
              <a:rPr lang="en-US" smtClean="0"/>
              <a:t>( </a:t>
            </a:r>
            <a:r>
              <a:rPr lang="en-US" i="1" smtClean="0"/>
              <a:t>p</a:t>
            </a:r>
            <a:r>
              <a:rPr lang="en-US" smtClean="0"/>
              <a:t>, </a:t>
            </a:r>
            <a:r>
              <a:rPr lang="en-US" i="1" smtClean="0"/>
              <a:t>a</a:t>
            </a:r>
            <a:r>
              <a:rPr lang="en-US" smtClean="0"/>
              <a:t>) </a:t>
            </a:r>
          </a:p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</a:pPr>
            <a:r>
              <a:rPr lang="en-US" i="1"/>
              <a:t>Bước 2</a:t>
            </a:r>
            <a:r>
              <a:rPr lang="en-US"/>
              <a:t>: Xác định tập trạng thái mới Q’ = {s</a:t>
            </a:r>
            <a:r>
              <a:rPr lang="en-US" baseline="-25000"/>
              <a:t>0</a:t>
            </a:r>
            <a:r>
              <a:rPr lang="en-US"/>
              <a:t>, s</a:t>
            </a:r>
            <a:r>
              <a:rPr lang="en-US" baseline="-25000"/>
              <a:t>1,</a:t>
            </a:r>
            <a:r>
              <a:rPr lang="en-US"/>
              <a:t> …, s</a:t>
            </a:r>
            <a:r>
              <a:rPr lang="en-US" baseline="-25000"/>
              <a:t>k</a:t>
            </a:r>
            <a:r>
              <a:rPr lang="en-US"/>
              <a:t> | k ≤ 2</a:t>
            </a:r>
            <a:r>
              <a:rPr lang="en-US" baseline="30000"/>
              <a:t>| Q | </a:t>
            </a:r>
            <a:r>
              <a:rPr lang="en-US"/>
              <a:t>-1}: </a:t>
            </a:r>
          </a:p>
          <a:p>
            <a:pPr>
              <a:lnSpc>
                <a:spcPct val="150000"/>
              </a:lnSpc>
            </a:pPr>
            <a:r>
              <a:rPr lang="en-US"/>
              <a:t>1/.  Đặt  s</a:t>
            </a:r>
            <a:r>
              <a:rPr lang="en-US" baseline="-25000"/>
              <a:t>0</a:t>
            </a:r>
            <a:r>
              <a:rPr lang="en-US"/>
              <a:t> = {q</a:t>
            </a:r>
            <a:r>
              <a:rPr lang="en-US" baseline="-25000"/>
              <a:t>0</a:t>
            </a:r>
            <a:r>
              <a:rPr lang="en-US"/>
              <a:t>},  s</a:t>
            </a:r>
            <a:r>
              <a:rPr lang="en-US" baseline="-25000"/>
              <a:t>1 </a:t>
            </a:r>
            <a:r>
              <a:rPr lang="en-US"/>
              <a:t>= {q</a:t>
            </a:r>
            <a:r>
              <a:rPr lang="en-US" baseline="-25000"/>
              <a:t>1</a:t>
            </a:r>
            <a:r>
              <a:rPr lang="en-US"/>
              <a:t>}, … s</a:t>
            </a:r>
            <a:r>
              <a:rPr lang="en-US" baseline="-25000"/>
              <a:t>i</a:t>
            </a:r>
            <a:r>
              <a:rPr lang="en-US"/>
              <a:t> = {q</a:t>
            </a:r>
            <a:r>
              <a:rPr lang="en-US" baseline="-25000"/>
              <a:t>i</a:t>
            </a:r>
            <a:r>
              <a:rPr lang="en-US"/>
              <a:t>} ∀ {q</a:t>
            </a:r>
            <a:r>
              <a:rPr lang="en-US" baseline="-25000"/>
              <a:t>0</a:t>
            </a:r>
            <a:r>
              <a:rPr lang="en-US"/>
              <a:t>}, {q</a:t>
            </a:r>
            <a:r>
              <a:rPr lang="en-US" baseline="-25000"/>
              <a:t>1</a:t>
            </a:r>
            <a:r>
              <a:rPr lang="en-US"/>
              <a:t>}, …, {q</a:t>
            </a:r>
            <a:r>
              <a:rPr lang="en-US" baseline="-25000"/>
              <a:t>i</a:t>
            </a:r>
            <a:r>
              <a:rPr lang="en-US"/>
              <a:t>} ∈ Q</a:t>
            </a:r>
            <a:r>
              <a:rPr lang="en-US" smtClean="0"/>
              <a:t>,</a:t>
            </a:r>
          </a:p>
          <a:p>
            <a:pPr>
              <a:lnSpc>
                <a:spcPct val="150000"/>
              </a:lnSpc>
            </a:pPr>
            <a:r>
              <a:rPr lang="en-US" smtClean="0"/>
              <a:t>2</a:t>
            </a:r>
            <a:r>
              <a:rPr lang="en-US"/>
              <a:t>/.  </a:t>
            </a:r>
            <a:r>
              <a:rPr lang="es-MX"/>
              <a:t>Đặt s</a:t>
            </a:r>
            <a:r>
              <a:rPr lang="es-MX" baseline="-25000"/>
              <a:t>i+1</a:t>
            </a:r>
            <a:r>
              <a:rPr lang="es-MX"/>
              <a:t> = B</a:t>
            </a:r>
            <a:r>
              <a:rPr lang="es-MX" baseline="-25000"/>
              <a:t>1</a:t>
            </a:r>
            <a:r>
              <a:rPr lang="es-MX"/>
              <a:t>, s</a:t>
            </a:r>
            <a:r>
              <a:rPr lang="es-MX" baseline="-25000"/>
              <a:t>i+2 </a:t>
            </a:r>
            <a:r>
              <a:rPr lang="es-MX"/>
              <a:t>= B</a:t>
            </a:r>
            <a:r>
              <a:rPr lang="es-MX" baseline="-25000"/>
              <a:t>2</a:t>
            </a:r>
            <a:r>
              <a:rPr lang="es-MX"/>
              <a:t>,… ∀ B</a:t>
            </a:r>
            <a:r>
              <a:rPr lang="es-MX" baseline="-25000"/>
              <a:t>1</a:t>
            </a:r>
            <a:r>
              <a:rPr lang="es-MX"/>
              <a:t>, B</a:t>
            </a:r>
            <a:r>
              <a:rPr lang="es-MX" baseline="-25000"/>
              <a:t>2</a:t>
            </a:r>
            <a:r>
              <a:rPr lang="es-MX"/>
              <a:t> … ⊆ Q mà </a:t>
            </a:r>
            <a:r>
              <a:rPr lang="en-US"/>
              <a:t>δ</a:t>
            </a:r>
            <a:r>
              <a:rPr lang="es-MX"/>
              <a:t>(q</a:t>
            </a:r>
            <a:r>
              <a:rPr lang="es-MX" baseline="-25000"/>
              <a:t>j</a:t>
            </a:r>
            <a:r>
              <a:rPr lang="es-MX"/>
              <a:t>, a) = B</a:t>
            </a:r>
            <a:r>
              <a:rPr lang="es-MX" baseline="-25000"/>
              <a:t>j</a:t>
            </a:r>
            <a:r>
              <a:rPr lang="es-MX"/>
              <a:t>. </a:t>
            </a:r>
            <a:endParaRPr lang="en-US"/>
          </a:p>
          <a:p>
            <a:pPr>
              <a:lnSpc>
                <a:spcPct val="150000"/>
              </a:lnSpc>
            </a:pPr>
            <a:r>
              <a:rPr lang="es-MX"/>
              <a:t>3/.  Nếu otomat A là không đầy đủ, đặt s</a:t>
            </a:r>
            <a:r>
              <a:rPr lang="es-MX" baseline="-25000"/>
              <a:t>k</a:t>
            </a:r>
            <a:r>
              <a:rPr lang="es-MX"/>
              <a:t> = ∅ và thêm vào hàm chuyển </a:t>
            </a:r>
            <a:r>
              <a:rPr lang="en-US"/>
              <a:t>δ</a:t>
            </a:r>
            <a:r>
              <a:rPr lang="es-MX"/>
              <a:t>’ các giá trị </a:t>
            </a:r>
            <a:r>
              <a:rPr lang="en-US"/>
              <a:t>δ</a:t>
            </a:r>
            <a:r>
              <a:rPr lang="es-MX"/>
              <a:t>’(s</a:t>
            </a:r>
            <a:r>
              <a:rPr lang="es-MX" baseline="-25000"/>
              <a:t>k</a:t>
            </a:r>
            <a:r>
              <a:rPr lang="es-MX"/>
              <a:t>, a) = s</a:t>
            </a:r>
            <a:r>
              <a:rPr lang="es-MX" baseline="-25000"/>
              <a:t>k</a:t>
            </a:r>
            <a:r>
              <a:rPr lang="es-MX"/>
              <a:t> ∀ a ∈ </a:t>
            </a:r>
            <a:r>
              <a:rPr lang="en-US"/>
              <a:t>Σ</a:t>
            </a:r>
            <a:r>
              <a:rPr lang="es-MX"/>
              <a:t> để otomat M là otomat đầy đủ. </a:t>
            </a:r>
            <a:endParaRPr lang="en-US"/>
          </a:p>
          <a:p>
            <a:pPr>
              <a:lnSpc>
                <a:spcPct val="150000"/>
              </a:lnSpc>
            </a:pPr>
            <a:r>
              <a:rPr lang="es-MX"/>
              <a:t>4/. Trạng thái khởi đầu của otomat M là s</a:t>
            </a:r>
            <a:r>
              <a:rPr lang="es-MX" baseline="-25000"/>
              <a:t>0</a:t>
            </a:r>
            <a:r>
              <a:rPr lang="es-MX"/>
              <a:t>. </a:t>
            </a:r>
            <a:endParaRPr lang="en-US"/>
          </a:p>
          <a:p>
            <a:pPr>
              <a:lnSpc>
                <a:spcPct val="150000"/>
              </a:lnSpc>
            </a:pPr>
            <a:r>
              <a:rPr lang="es-MX"/>
              <a:t>5/. Tập trạng thái kết thúc của otomat M là F’ = {s ∈ Q’ | s ∩ F ≠ ∅ }. </a:t>
            </a:r>
            <a:endParaRPr lang="en-US"/>
          </a:p>
          <a:p>
            <a:pPr>
              <a:lnSpc>
                <a:spcPct val="150000"/>
              </a:lnSpc>
            </a:pPr>
            <a:r>
              <a:rPr lang="es-MX" i="1"/>
              <a:t>Bước 3</a:t>
            </a:r>
            <a:r>
              <a:rPr lang="es-MX"/>
              <a:t>: </a:t>
            </a:r>
            <a:r>
              <a:rPr lang="es-MX" smtClean="0"/>
              <a:t>Xác định hàm chuyển </a:t>
            </a:r>
            <a:r>
              <a:rPr lang="en-US" smtClean="0"/>
              <a:t>δ</a:t>
            </a:r>
            <a:r>
              <a:rPr lang="es-MX" smtClean="0"/>
              <a:t>’: Q’ × </a:t>
            </a:r>
            <a:r>
              <a:rPr lang="en-US" smtClean="0"/>
              <a:t>Σ </a:t>
            </a:r>
            <a:r>
              <a:rPr lang="es-MX" smtClean="0"/>
              <a:t>→ Q’ của otomat M: </a:t>
            </a:r>
            <a:endParaRPr lang="en-US" smtClean="0"/>
          </a:p>
          <a:p>
            <a:pPr>
              <a:lnSpc>
                <a:spcPct val="150000"/>
              </a:lnSpc>
            </a:pPr>
            <a:r>
              <a:rPr lang="en-US" smtClean="0"/>
              <a:t>∀ s ∈ Q’, ∀ a ∈ Σ thì δ’(s, a) = T(s, a) </a:t>
            </a:r>
          </a:p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64116" y="1954657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smtClean="0"/>
              <a:t>p</a:t>
            </a:r>
            <a:r>
              <a:rPr lang="en-US" sz="1100" i="1"/>
              <a:t> ∈ </a:t>
            </a:r>
            <a:r>
              <a:rPr lang="en-US" sz="1100" i="1" smtClean="0"/>
              <a:t>B</a:t>
            </a:r>
            <a:endParaRPr lang="en-US" sz="1100" i="1"/>
          </a:p>
        </p:txBody>
      </p:sp>
    </p:spTree>
    <p:extLst>
      <p:ext uri="{BB962C8B-B14F-4D97-AF65-F5344CB8AC3E}">
        <p14:creationId xmlns:p14="http://schemas.microsoft.com/office/powerpoint/2010/main" val="3028287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87225"/>
            <a:ext cx="8911687" cy="627175"/>
          </a:xfrm>
        </p:spPr>
        <p:txBody>
          <a:bodyPr>
            <a:normAutofit fontScale="90000"/>
          </a:bodyPr>
          <a:lstStyle/>
          <a:p>
            <a:r>
              <a:rPr lang="en-US" smtClean="0"/>
              <a:t>Ví dụ: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914400"/>
            <a:ext cx="8915400" cy="5943600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Cho otomat A = &lt;{p</a:t>
            </a:r>
            <a:r>
              <a:rPr lang="en-US" baseline="-25000"/>
              <a:t>0</a:t>
            </a:r>
            <a:r>
              <a:rPr lang="en-US"/>
              <a:t>, 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{a, b, c}, δ , p</a:t>
            </a:r>
            <a:r>
              <a:rPr lang="en-US" baseline="-25000"/>
              <a:t>0</a:t>
            </a:r>
            <a:r>
              <a:rPr lang="en-US"/>
              <a:t>, 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}&gt; với hàm chuyển δ cho bởi bảng sau: </a:t>
            </a:r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r>
              <a:rPr lang="en-US" smtClean="0"/>
              <a:t>Q’=2</a:t>
            </a:r>
            <a:r>
              <a:rPr lang="en-US" baseline="30000" smtClean="0"/>
              <a:t>|Q</a:t>
            </a:r>
            <a:r>
              <a:rPr lang="en-US" baseline="30000"/>
              <a:t>|</a:t>
            </a:r>
            <a:r>
              <a:rPr lang="en-US"/>
              <a:t>={p0,p1,p2,{</a:t>
            </a:r>
            <a:r>
              <a:rPr lang="en-US">
                <a:solidFill>
                  <a:srgbClr val="FF0000"/>
                </a:solidFill>
              </a:rPr>
              <a:t>p0,p1</a:t>
            </a:r>
            <a:r>
              <a:rPr lang="en-US"/>
              <a:t>},{p0,p2},{p1,p2},{</a:t>
            </a:r>
            <a:r>
              <a:rPr lang="en-US">
                <a:solidFill>
                  <a:srgbClr val="FF0000"/>
                </a:solidFill>
              </a:rPr>
              <a:t>p0,p1,p2</a:t>
            </a:r>
            <a:r>
              <a:rPr lang="en-US"/>
              <a:t>}, ∅}</a:t>
            </a:r>
            <a:endParaRPr lang="en-US" smtClean="0"/>
          </a:p>
          <a:p>
            <a:r>
              <a:rPr lang="en-US" smtClean="0"/>
              <a:t>Hãy </a:t>
            </a:r>
            <a:r>
              <a:rPr lang="en-US"/>
              <a:t>xây dựng otomat M = &lt;Q’, {a, b, c}, δ’, s</a:t>
            </a:r>
            <a:r>
              <a:rPr lang="en-US" baseline="-25000"/>
              <a:t>0</a:t>
            </a:r>
            <a:r>
              <a:rPr lang="en-US"/>
              <a:t>, F’&gt; đơn định và đầy đủ, tương đương với otomat A. </a:t>
            </a:r>
          </a:p>
          <a:p>
            <a:r>
              <a:rPr lang="en-US" b="1"/>
              <a:t> 	</a:t>
            </a:r>
            <a:r>
              <a:rPr lang="en-US"/>
              <a:t>1/. Xây dựng hàm T: 2</a:t>
            </a:r>
            <a:r>
              <a:rPr lang="en-US" baseline="30000"/>
              <a:t>Q</a:t>
            </a:r>
            <a:r>
              <a:rPr lang="en-US"/>
              <a:t> × Σ → 2</a:t>
            </a:r>
            <a:r>
              <a:rPr lang="en-US" baseline="30000"/>
              <a:t>Q</a:t>
            </a:r>
            <a:endParaRPr lang="en-US"/>
          </a:p>
          <a:p>
            <a:r>
              <a:rPr lang="en-US"/>
              <a:t>+ T(p</a:t>
            </a:r>
            <a:r>
              <a:rPr lang="en-US" baseline="-25000"/>
              <a:t>0</a:t>
            </a:r>
            <a:r>
              <a:rPr lang="en-US"/>
              <a:t>, a) = {p</a:t>
            </a:r>
            <a:r>
              <a:rPr lang="en-US" baseline="-25000"/>
              <a:t>1</a:t>
            </a:r>
            <a:r>
              <a:rPr lang="en-US"/>
              <a:t>}, T(p</a:t>
            </a:r>
            <a:r>
              <a:rPr lang="en-US" baseline="-25000"/>
              <a:t>0</a:t>
            </a:r>
            <a:r>
              <a:rPr lang="en-US"/>
              <a:t>, b) = 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T(p</a:t>
            </a:r>
            <a:r>
              <a:rPr lang="en-US" baseline="-25000"/>
              <a:t>0</a:t>
            </a:r>
            <a:r>
              <a:rPr lang="en-US"/>
              <a:t>, c) = {p</a:t>
            </a:r>
            <a:r>
              <a:rPr lang="en-US" baseline="-25000"/>
              <a:t>2</a:t>
            </a:r>
            <a:r>
              <a:rPr lang="en-US"/>
              <a:t>}, </a:t>
            </a:r>
          </a:p>
          <a:p>
            <a:r>
              <a:rPr lang="en-US" b="1"/>
              <a:t>+ </a:t>
            </a:r>
            <a:r>
              <a:rPr lang="en-US"/>
              <a:t>T(p</a:t>
            </a:r>
            <a:r>
              <a:rPr lang="en-US" baseline="-25000"/>
              <a:t>1</a:t>
            </a:r>
            <a:r>
              <a:rPr lang="en-US"/>
              <a:t>, a) = {p</a:t>
            </a:r>
            <a:r>
              <a:rPr lang="en-US" baseline="-25000"/>
              <a:t>2</a:t>
            </a:r>
            <a:r>
              <a:rPr lang="en-US"/>
              <a:t>}, T(p</a:t>
            </a:r>
            <a:r>
              <a:rPr lang="en-US" baseline="-25000"/>
              <a:t>1</a:t>
            </a:r>
            <a:r>
              <a:rPr lang="en-US"/>
              <a:t>, b) = ∅ , T(p</a:t>
            </a:r>
            <a:r>
              <a:rPr lang="en-US" baseline="-25000"/>
              <a:t>1</a:t>
            </a:r>
            <a:r>
              <a:rPr lang="en-US"/>
              <a:t>, c) = {p</a:t>
            </a:r>
            <a:r>
              <a:rPr lang="en-US" baseline="-25000"/>
              <a:t>0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</a:t>
            </a:r>
          </a:p>
          <a:p>
            <a:r>
              <a:rPr lang="en-US"/>
              <a:t>+ T(p</a:t>
            </a:r>
            <a:r>
              <a:rPr lang="en-US" baseline="-25000"/>
              <a:t>2</a:t>
            </a:r>
            <a:r>
              <a:rPr lang="en-US"/>
              <a:t>, a) = {p</a:t>
            </a:r>
            <a:r>
              <a:rPr lang="en-US" baseline="-25000"/>
              <a:t>1</a:t>
            </a:r>
            <a:r>
              <a:rPr lang="en-US"/>
              <a:t>}, T(p</a:t>
            </a:r>
            <a:r>
              <a:rPr lang="en-US" baseline="-25000"/>
              <a:t>2</a:t>
            </a:r>
            <a:r>
              <a:rPr lang="en-US"/>
              <a:t>, b) = {p</a:t>
            </a:r>
            <a:r>
              <a:rPr lang="en-US" baseline="-25000"/>
              <a:t>1</a:t>
            </a:r>
            <a:r>
              <a:rPr lang="en-US"/>
              <a:t>}, T(p</a:t>
            </a:r>
            <a:r>
              <a:rPr lang="en-US" baseline="-25000"/>
              <a:t>2</a:t>
            </a:r>
            <a:r>
              <a:rPr lang="en-US"/>
              <a:t>, c) = {p</a:t>
            </a:r>
            <a:r>
              <a:rPr lang="en-US" baseline="-25000"/>
              <a:t>2</a:t>
            </a:r>
            <a:r>
              <a:rPr lang="en-US"/>
              <a:t>}, </a:t>
            </a:r>
          </a:p>
          <a:p>
            <a:r>
              <a:rPr lang="en-US"/>
              <a:t>+ T({p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a) =  T(p</a:t>
            </a:r>
            <a:r>
              <a:rPr lang="en-US" baseline="-25000"/>
              <a:t>1</a:t>
            </a:r>
            <a:r>
              <a:rPr lang="en-US"/>
              <a:t>,a) ∪ T(p</a:t>
            </a:r>
            <a:r>
              <a:rPr lang="en-US" baseline="-25000"/>
              <a:t>2</a:t>
            </a:r>
            <a:r>
              <a:rPr lang="en-US"/>
              <a:t>,a) =  {p</a:t>
            </a:r>
            <a:r>
              <a:rPr lang="en-US" baseline="-25000"/>
              <a:t>2</a:t>
            </a:r>
            <a:r>
              <a:rPr lang="en-US"/>
              <a:t>} ∪{p</a:t>
            </a:r>
            <a:r>
              <a:rPr lang="en-US" baseline="-25000"/>
              <a:t>1</a:t>
            </a:r>
            <a:r>
              <a:rPr lang="en-US"/>
              <a:t>} = 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T({p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b) =       ∅ ∪ {p</a:t>
            </a:r>
            <a:r>
              <a:rPr lang="en-US" baseline="-25000"/>
              <a:t>1</a:t>
            </a:r>
            <a:r>
              <a:rPr lang="en-US"/>
              <a:t>} = {p</a:t>
            </a:r>
            <a:r>
              <a:rPr lang="en-US" baseline="-25000"/>
              <a:t>1</a:t>
            </a:r>
            <a:r>
              <a:rPr lang="en-US"/>
              <a:t>}, T({p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c) = {p</a:t>
            </a:r>
            <a:r>
              <a:rPr lang="en-US" baseline="-25000"/>
              <a:t>0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 ∪{p</a:t>
            </a:r>
            <a:r>
              <a:rPr lang="en-US" baseline="-25000"/>
              <a:t>2</a:t>
            </a:r>
            <a:r>
              <a:rPr lang="en-US"/>
              <a:t>} = {p</a:t>
            </a:r>
            <a:r>
              <a:rPr lang="en-US" baseline="-25000"/>
              <a:t>0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</a:t>
            </a:r>
          </a:p>
          <a:p>
            <a:r>
              <a:rPr lang="en-US"/>
              <a:t>+ T({p</a:t>
            </a:r>
            <a:r>
              <a:rPr lang="en-US" baseline="-25000"/>
              <a:t>0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a) = {p</a:t>
            </a:r>
            <a:r>
              <a:rPr lang="en-US" baseline="-25000"/>
              <a:t>1</a:t>
            </a:r>
            <a:r>
              <a:rPr lang="en-US"/>
              <a:t>}, T({p</a:t>
            </a:r>
            <a:r>
              <a:rPr lang="en-US" baseline="-25000"/>
              <a:t>0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b) = 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T({p</a:t>
            </a:r>
            <a:r>
              <a:rPr lang="en-US" baseline="-25000"/>
              <a:t>0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c) = {p</a:t>
            </a:r>
            <a:r>
              <a:rPr lang="en-US" baseline="-25000"/>
              <a:t>2</a:t>
            </a:r>
            <a:r>
              <a:rPr lang="en-US"/>
              <a:t>} </a:t>
            </a:r>
            <a:endParaRPr lang="en-US" smtClean="0"/>
          </a:p>
          <a:p>
            <a:r>
              <a:rPr lang="en-US"/>
              <a:t>T({</a:t>
            </a:r>
            <a:r>
              <a:rPr lang="en-US" smtClean="0">
                <a:solidFill>
                  <a:srgbClr val="FF0000"/>
                </a:solidFill>
              </a:rPr>
              <a:t>p</a:t>
            </a:r>
            <a:r>
              <a:rPr lang="en-US" baseline="-25000" smtClean="0">
                <a:solidFill>
                  <a:srgbClr val="FF0000"/>
                </a:solidFill>
              </a:rPr>
              <a:t>0</a:t>
            </a:r>
            <a:r>
              <a:rPr lang="en-US" smtClean="0">
                <a:solidFill>
                  <a:srgbClr val="FF0000"/>
                </a:solidFill>
              </a:rPr>
              <a:t>, p</a:t>
            </a:r>
            <a:r>
              <a:rPr lang="en-US" baseline="-25000" smtClean="0">
                <a:solidFill>
                  <a:srgbClr val="FF0000"/>
                </a:solidFill>
              </a:rPr>
              <a:t>1</a:t>
            </a:r>
            <a:r>
              <a:rPr lang="en-US" smtClean="0"/>
              <a:t>}, </a:t>
            </a:r>
            <a:r>
              <a:rPr lang="en-US"/>
              <a:t>a) =  </a:t>
            </a:r>
            <a:r>
              <a:rPr lang="en-US" smtClean="0"/>
              <a:t>T(p</a:t>
            </a:r>
            <a:r>
              <a:rPr lang="en-US" baseline="-25000" smtClean="0"/>
              <a:t>0</a:t>
            </a:r>
            <a:r>
              <a:rPr lang="en-US" smtClean="0"/>
              <a:t>,a</a:t>
            </a:r>
            <a:r>
              <a:rPr lang="en-US"/>
              <a:t>) ∪ </a:t>
            </a:r>
            <a:r>
              <a:rPr lang="en-US" smtClean="0"/>
              <a:t>T(p</a:t>
            </a:r>
            <a:r>
              <a:rPr lang="en-US" baseline="-25000" smtClean="0"/>
              <a:t>1</a:t>
            </a:r>
            <a:r>
              <a:rPr lang="en-US" smtClean="0"/>
              <a:t>,a</a:t>
            </a:r>
            <a:r>
              <a:rPr lang="en-US"/>
              <a:t>) =  {</a:t>
            </a:r>
            <a:r>
              <a:rPr lang="en-US" smtClean="0"/>
              <a:t>p</a:t>
            </a:r>
            <a:r>
              <a:rPr lang="en-US" baseline="-25000" smtClean="0"/>
              <a:t>1</a:t>
            </a:r>
            <a:r>
              <a:rPr lang="en-US" smtClean="0"/>
              <a:t>} </a:t>
            </a:r>
            <a:r>
              <a:rPr lang="en-US"/>
              <a:t>∪{</a:t>
            </a:r>
            <a:r>
              <a:rPr lang="en-US" smtClean="0"/>
              <a:t>p</a:t>
            </a:r>
            <a:r>
              <a:rPr lang="en-US" baseline="-25000" smtClean="0"/>
              <a:t>2</a:t>
            </a:r>
            <a:r>
              <a:rPr lang="en-US" smtClean="0"/>
              <a:t>} </a:t>
            </a:r>
            <a:r>
              <a:rPr lang="en-US"/>
              <a:t>= 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 smtClean="0"/>
              <a:t>},</a:t>
            </a:r>
          </a:p>
          <a:p>
            <a:r>
              <a:rPr lang="en-US"/>
              <a:t>T</a:t>
            </a:r>
            <a:r>
              <a:rPr lang="en-US" smtClean="0"/>
              <a:t>({</a:t>
            </a:r>
            <a:r>
              <a:rPr lang="en-US">
                <a:solidFill>
                  <a:srgbClr val="FF0000"/>
                </a:solidFill>
              </a:rPr>
              <a:t>p0,p1,p2</a:t>
            </a:r>
            <a:r>
              <a:rPr lang="en-US" smtClean="0"/>
              <a:t>}, </a:t>
            </a:r>
            <a:r>
              <a:rPr lang="en-US"/>
              <a:t>a) = </a:t>
            </a:r>
            <a:r>
              <a:rPr lang="en-US" smtClean="0"/>
              <a:t>T(p</a:t>
            </a:r>
            <a:r>
              <a:rPr lang="en-US" baseline="-25000" smtClean="0"/>
              <a:t>0</a:t>
            </a:r>
            <a:r>
              <a:rPr lang="en-US" smtClean="0"/>
              <a:t>,a)</a:t>
            </a:r>
            <a:r>
              <a:rPr lang="en-US"/>
              <a:t> ∪</a:t>
            </a:r>
            <a:r>
              <a:rPr lang="en-US" smtClean="0"/>
              <a:t> T(p</a:t>
            </a:r>
            <a:r>
              <a:rPr lang="en-US" baseline="-25000" smtClean="0"/>
              <a:t>1</a:t>
            </a:r>
            <a:r>
              <a:rPr lang="en-US" smtClean="0"/>
              <a:t>,a</a:t>
            </a:r>
            <a:r>
              <a:rPr lang="en-US"/>
              <a:t>) ∪ T(p</a:t>
            </a:r>
            <a:r>
              <a:rPr lang="en-US" baseline="-25000"/>
              <a:t>2</a:t>
            </a:r>
            <a:r>
              <a:rPr lang="en-US"/>
              <a:t>,a) </a:t>
            </a:r>
            <a:r>
              <a:rPr lang="en-US" smtClean="0"/>
              <a:t>=</a:t>
            </a:r>
            <a:r>
              <a:rPr lang="en-US"/>
              <a:t> {</a:t>
            </a:r>
            <a:r>
              <a:rPr lang="en-US" smtClean="0"/>
              <a:t>p</a:t>
            </a:r>
            <a:r>
              <a:rPr lang="en-US" baseline="-25000" smtClean="0"/>
              <a:t>1</a:t>
            </a:r>
            <a:r>
              <a:rPr lang="en-US" smtClean="0"/>
              <a:t>} </a:t>
            </a:r>
            <a:r>
              <a:rPr lang="en-US"/>
              <a:t>∪</a:t>
            </a:r>
            <a:r>
              <a:rPr lang="en-US" smtClean="0"/>
              <a:t> </a:t>
            </a:r>
            <a:r>
              <a:rPr lang="en-US"/>
              <a:t>{p</a:t>
            </a:r>
            <a:r>
              <a:rPr lang="en-US" baseline="-25000"/>
              <a:t>2</a:t>
            </a:r>
            <a:r>
              <a:rPr lang="en-US"/>
              <a:t>} ∪{p</a:t>
            </a:r>
            <a:r>
              <a:rPr lang="en-US" baseline="-25000"/>
              <a:t>1</a:t>
            </a:r>
            <a:r>
              <a:rPr lang="en-US"/>
              <a:t>} = 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</a:t>
            </a:r>
          </a:p>
          <a:p>
            <a:pPr marL="0" indent="0">
              <a:buNone/>
            </a:pPr>
            <a:r>
              <a:rPr lang="en-US" smtClean="0"/>
              <a:t>…</a:t>
            </a:r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765327" y="1184633"/>
            <a:ext cx="4716212" cy="161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41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32347"/>
            <a:ext cx="8915400" cy="6569242"/>
          </a:xfrm>
        </p:spPr>
        <p:txBody>
          <a:bodyPr>
            <a:normAutofit/>
          </a:bodyPr>
          <a:lstStyle/>
          <a:p>
            <a:r>
              <a:rPr lang="en-US"/>
              <a:t>	2/. Đặt s</a:t>
            </a:r>
            <a:r>
              <a:rPr lang="en-US" baseline="-25000"/>
              <a:t>0</a:t>
            </a:r>
            <a:r>
              <a:rPr lang="en-US"/>
              <a:t> = {p</a:t>
            </a:r>
            <a:r>
              <a:rPr lang="en-US" baseline="-25000"/>
              <a:t>0</a:t>
            </a:r>
            <a:r>
              <a:rPr lang="en-US"/>
              <a:t>}, s</a:t>
            </a:r>
            <a:r>
              <a:rPr lang="en-US" baseline="-25000"/>
              <a:t>1</a:t>
            </a:r>
            <a:r>
              <a:rPr lang="en-US"/>
              <a:t> = {p</a:t>
            </a:r>
            <a:r>
              <a:rPr lang="en-US" baseline="-25000"/>
              <a:t>1</a:t>
            </a:r>
            <a:r>
              <a:rPr lang="en-US"/>
              <a:t>}, s</a:t>
            </a:r>
            <a:r>
              <a:rPr lang="en-US" baseline="-25000"/>
              <a:t>2</a:t>
            </a:r>
            <a:r>
              <a:rPr lang="en-US"/>
              <a:t> = {p</a:t>
            </a:r>
            <a:r>
              <a:rPr lang="en-US" baseline="-25000"/>
              <a:t>2</a:t>
            </a:r>
            <a:r>
              <a:rPr lang="en-US"/>
              <a:t>}, s</a:t>
            </a:r>
            <a:r>
              <a:rPr lang="en-US" baseline="-25000"/>
              <a:t>3</a:t>
            </a:r>
            <a:r>
              <a:rPr lang="en-US"/>
              <a:t> = {p</a:t>
            </a:r>
            <a:r>
              <a:rPr lang="en-US" baseline="-25000"/>
              <a:t>1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s</a:t>
            </a:r>
            <a:r>
              <a:rPr lang="en-US" baseline="-25000"/>
              <a:t>4 </a:t>
            </a:r>
            <a:r>
              <a:rPr lang="en-US"/>
              <a:t>= {p</a:t>
            </a:r>
            <a:r>
              <a:rPr lang="en-US" baseline="-25000"/>
              <a:t>0</a:t>
            </a:r>
            <a:r>
              <a:rPr lang="en-US"/>
              <a:t>, p</a:t>
            </a:r>
            <a:r>
              <a:rPr lang="en-US" baseline="-25000"/>
              <a:t>2</a:t>
            </a:r>
            <a:r>
              <a:rPr lang="en-US"/>
              <a:t>}, s</a:t>
            </a:r>
            <a:r>
              <a:rPr lang="en-US" baseline="-25000"/>
              <a:t>5</a:t>
            </a:r>
            <a:r>
              <a:rPr lang="en-US"/>
              <a:t> = ∅ ta có: </a:t>
            </a:r>
          </a:p>
          <a:p>
            <a:r>
              <a:rPr lang="en-US"/>
              <a:t> + Tập trạng thái mới Q’ = {s</a:t>
            </a:r>
            <a:r>
              <a:rPr lang="en-US" baseline="-25000"/>
              <a:t>0</a:t>
            </a:r>
            <a:r>
              <a:rPr lang="en-US"/>
              <a:t>, s</a:t>
            </a:r>
            <a:r>
              <a:rPr lang="en-US" baseline="-25000"/>
              <a:t>1</a:t>
            </a:r>
            <a:r>
              <a:rPr lang="en-US"/>
              <a:t>, s</a:t>
            </a:r>
            <a:r>
              <a:rPr lang="en-US" baseline="-25000"/>
              <a:t>2</a:t>
            </a:r>
            <a:r>
              <a:rPr lang="en-US"/>
              <a:t>, s</a:t>
            </a:r>
            <a:r>
              <a:rPr lang="en-US" baseline="-25000"/>
              <a:t>3</a:t>
            </a:r>
            <a:r>
              <a:rPr lang="en-US"/>
              <a:t>, s</a:t>
            </a:r>
            <a:r>
              <a:rPr lang="en-US" baseline="-25000"/>
              <a:t>4</a:t>
            </a:r>
            <a:r>
              <a:rPr lang="en-US"/>
              <a:t>, s</a:t>
            </a:r>
            <a:r>
              <a:rPr lang="en-US" baseline="-25000"/>
              <a:t>5</a:t>
            </a:r>
            <a:r>
              <a:rPr lang="en-US"/>
              <a:t>}. </a:t>
            </a:r>
          </a:p>
          <a:p>
            <a:r>
              <a:rPr lang="en-US"/>
              <a:t>+ Trạng thái khởi đầu của M là s</a:t>
            </a:r>
            <a:r>
              <a:rPr lang="en-US" baseline="-25000"/>
              <a:t>0, </a:t>
            </a:r>
            <a:endParaRPr lang="en-US"/>
          </a:p>
          <a:p>
            <a:r>
              <a:rPr lang="en-US"/>
              <a:t>+ Tập trạng thái kết mới: F’ = {s</a:t>
            </a:r>
            <a:r>
              <a:rPr lang="en-US" baseline="-25000"/>
              <a:t>1</a:t>
            </a:r>
            <a:r>
              <a:rPr lang="en-US"/>
              <a:t>, s</a:t>
            </a:r>
            <a:r>
              <a:rPr lang="en-US" baseline="-25000"/>
              <a:t>2</a:t>
            </a:r>
            <a:r>
              <a:rPr lang="en-US"/>
              <a:t>, s</a:t>
            </a:r>
            <a:r>
              <a:rPr lang="en-US" baseline="-25000"/>
              <a:t>3</a:t>
            </a:r>
            <a:r>
              <a:rPr lang="en-US"/>
              <a:t>, s</a:t>
            </a:r>
            <a:r>
              <a:rPr lang="en-US" baseline="-25000"/>
              <a:t>4</a:t>
            </a:r>
            <a:r>
              <a:rPr lang="en-US"/>
              <a:t>}. </a:t>
            </a:r>
          </a:p>
          <a:p>
            <a:r>
              <a:rPr lang="en-US"/>
              <a:t>3/. Hàm chuyển mới δ’: Q’ × Σ → Q’ được xác định như sau: </a:t>
            </a:r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r>
              <a:rPr lang="en-US" smtClean="0"/>
              <a:t>Otomat </a:t>
            </a:r>
            <a:r>
              <a:rPr lang="en-US"/>
              <a:t>M = &lt;{s</a:t>
            </a:r>
            <a:r>
              <a:rPr lang="en-US" baseline="-25000"/>
              <a:t>0</a:t>
            </a:r>
            <a:r>
              <a:rPr lang="en-US"/>
              <a:t>, s</a:t>
            </a:r>
            <a:r>
              <a:rPr lang="en-US" baseline="-25000"/>
              <a:t>1</a:t>
            </a:r>
            <a:r>
              <a:rPr lang="en-US"/>
              <a:t>, s</a:t>
            </a:r>
            <a:r>
              <a:rPr lang="en-US" baseline="-25000"/>
              <a:t>2</a:t>
            </a:r>
            <a:r>
              <a:rPr lang="en-US"/>
              <a:t>, s</a:t>
            </a:r>
            <a:r>
              <a:rPr lang="en-US" baseline="-25000"/>
              <a:t>3</a:t>
            </a:r>
            <a:r>
              <a:rPr lang="en-US"/>
              <a:t>, s</a:t>
            </a:r>
            <a:r>
              <a:rPr lang="en-US" baseline="-25000"/>
              <a:t>4</a:t>
            </a:r>
            <a:r>
              <a:rPr lang="en-US"/>
              <a:t>, s</a:t>
            </a:r>
            <a:r>
              <a:rPr lang="en-US" baseline="-25000"/>
              <a:t>5</a:t>
            </a:r>
            <a:r>
              <a:rPr lang="en-US"/>
              <a:t>}, {a, b, c}, δ’, s</a:t>
            </a:r>
            <a:r>
              <a:rPr lang="en-US" baseline="-25000"/>
              <a:t>0</a:t>
            </a:r>
            <a:r>
              <a:rPr lang="en-US"/>
              <a:t>, {s</a:t>
            </a:r>
            <a:r>
              <a:rPr lang="en-US" baseline="-25000"/>
              <a:t>1</a:t>
            </a:r>
            <a:r>
              <a:rPr lang="en-US"/>
              <a:t>, s</a:t>
            </a:r>
            <a:r>
              <a:rPr lang="en-US" baseline="-25000"/>
              <a:t>2</a:t>
            </a:r>
            <a:r>
              <a:rPr lang="en-US"/>
              <a:t>, s</a:t>
            </a:r>
            <a:r>
              <a:rPr lang="en-US" baseline="-25000"/>
              <a:t>3</a:t>
            </a:r>
            <a:r>
              <a:rPr lang="en-US"/>
              <a:t>, s</a:t>
            </a:r>
            <a:r>
              <a:rPr lang="en-US" baseline="-25000"/>
              <a:t>4</a:t>
            </a:r>
            <a:r>
              <a:rPr lang="en-US"/>
              <a:t>}&gt; với hàm chuyển δ’ cho bởi bảng trên là otomat hữu hạn đơn định và đầy đủ.  </a:t>
            </a:r>
            <a:endParaRPr lang="en-US" smtClean="0"/>
          </a:p>
          <a:p>
            <a:r>
              <a:rPr lang="en-US" smtClean="0"/>
              <a:t>Otomat M </a:t>
            </a:r>
            <a:r>
              <a:rPr lang="en-US"/>
              <a:t>là tương đương với otomat A.</a:t>
            </a:r>
            <a:r>
              <a:rPr lang="en-US" b="1" i="1"/>
              <a:t> 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331369" y="2147636"/>
            <a:ext cx="4716379" cy="253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28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Cho otomat không đơn định: A = &lt;{q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}, {a, b}, δ, q</a:t>
            </a:r>
            <a:r>
              <a:rPr lang="en-US" baseline="-25000"/>
              <a:t>0</a:t>
            </a:r>
            <a:r>
              <a:rPr lang="en-US"/>
              <a:t>, {q</a:t>
            </a:r>
            <a:r>
              <a:rPr lang="en-US" baseline="-25000"/>
              <a:t>1</a:t>
            </a:r>
            <a:r>
              <a:rPr lang="en-US"/>
              <a:t>}&gt;, trong đó δ(q</a:t>
            </a:r>
            <a:r>
              <a:rPr lang="en-US" baseline="-25000"/>
              <a:t>0</a:t>
            </a:r>
            <a:r>
              <a:rPr lang="en-US"/>
              <a:t>, a) = {q</a:t>
            </a:r>
            <a:r>
              <a:rPr lang="en-US" baseline="-25000"/>
              <a:t>0</a:t>
            </a:r>
            <a:r>
              <a:rPr lang="en-US"/>
              <a:t>}, δ(q</a:t>
            </a:r>
            <a:r>
              <a:rPr lang="en-US" baseline="-25000"/>
              <a:t>0</a:t>
            </a:r>
            <a:r>
              <a:rPr lang="en-US"/>
              <a:t>, b) = 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}, δ(q</a:t>
            </a:r>
            <a:r>
              <a:rPr lang="en-US" baseline="-25000"/>
              <a:t>1</a:t>
            </a:r>
            <a:r>
              <a:rPr lang="en-US"/>
              <a:t>, a) = 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}, δ(q</a:t>
            </a:r>
            <a:r>
              <a:rPr lang="en-US" baseline="-25000"/>
              <a:t>1</a:t>
            </a:r>
            <a:r>
              <a:rPr lang="en-US"/>
              <a:t>, b) = ∅. </a:t>
            </a:r>
          </a:p>
          <a:p>
            <a:r>
              <a:rPr lang="en-US"/>
              <a:t>Đồ thị chuyển của A là: </a:t>
            </a:r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r>
              <a:rPr lang="en-US"/>
              <a:t>X</a:t>
            </a:r>
            <a:r>
              <a:rPr lang="en-US" smtClean="0"/>
              <a:t>ây </a:t>
            </a:r>
            <a:r>
              <a:rPr lang="en-US"/>
              <a:t>dựng otomat M = &lt;Q’, {a, b}, δ’, t</a:t>
            </a:r>
            <a:r>
              <a:rPr lang="en-US" baseline="-25000"/>
              <a:t>0</a:t>
            </a:r>
            <a:r>
              <a:rPr lang="en-US"/>
              <a:t>, F’&gt; tương đương với A theo thuật toán đơn định </a:t>
            </a:r>
            <a:r>
              <a:rPr lang="en-US" smtClean="0"/>
              <a:t>hóa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179719" y="3117536"/>
            <a:ext cx="4468228" cy="144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68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80474"/>
            <a:ext cx="8915400" cy="5730748"/>
          </a:xfrm>
        </p:spPr>
        <p:txBody>
          <a:bodyPr/>
          <a:lstStyle/>
          <a:p>
            <a:r>
              <a:rPr lang="en-US"/>
              <a:t>Ta xây dựng otomat M = &lt;Q’, {a, b}, δ’, t</a:t>
            </a:r>
            <a:r>
              <a:rPr lang="en-US" baseline="-25000"/>
              <a:t>0</a:t>
            </a:r>
            <a:r>
              <a:rPr lang="en-US"/>
              <a:t>, F’&gt; tương đương với A theo thuật toán đơn định hóa, ta có: </a:t>
            </a:r>
          </a:p>
          <a:p>
            <a:r>
              <a:rPr lang="en-US"/>
              <a:t>+ Q’ = {t</a:t>
            </a:r>
            <a:r>
              <a:rPr lang="en-US" baseline="-25000"/>
              <a:t>0</a:t>
            </a:r>
            <a:r>
              <a:rPr lang="en-US"/>
              <a:t>, t</a:t>
            </a:r>
            <a:r>
              <a:rPr lang="en-US" baseline="-25000"/>
              <a:t>1</a:t>
            </a:r>
            <a:r>
              <a:rPr lang="en-US"/>
              <a:t>, t</a:t>
            </a:r>
            <a:r>
              <a:rPr lang="en-US" baseline="-25000"/>
              <a:t>2</a:t>
            </a:r>
            <a:r>
              <a:rPr lang="en-US"/>
              <a:t>, t</a:t>
            </a:r>
            <a:r>
              <a:rPr lang="en-US" baseline="-25000"/>
              <a:t>3</a:t>
            </a:r>
            <a:r>
              <a:rPr lang="en-US"/>
              <a:t>}, với t</a:t>
            </a:r>
            <a:r>
              <a:rPr lang="en-US" baseline="-25000"/>
              <a:t>0</a:t>
            </a:r>
            <a:r>
              <a:rPr lang="en-US"/>
              <a:t> = {q</a:t>
            </a:r>
            <a:r>
              <a:rPr lang="en-US" baseline="-25000"/>
              <a:t>0</a:t>
            </a:r>
            <a:r>
              <a:rPr lang="en-US"/>
              <a:t>}, t</a:t>
            </a:r>
            <a:r>
              <a:rPr lang="en-US" baseline="-25000"/>
              <a:t>1 </a:t>
            </a:r>
            <a:r>
              <a:rPr lang="en-US"/>
              <a:t>= {q</a:t>
            </a:r>
            <a:r>
              <a:rPr lang="en-US" baseline="-25000"/>
              <a:t>1</a:t>
            </a:r>
            <a:r>
              <a:rPr lang="en-US"/>
              <a:t>},  t</a:t>
            </a:r>
            <a:r>
              <a:rPr lang="en-US" baseline="-25000"/>
              <a:t>2 </a:t>
            </a:r>
            <a:r>
              <a:rPr lang="en-US"/>
              <a:t>= 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}, t</a:t>
            </a:r>
            <a:r>
              <a:rPr lang="en-US" baseline="-25000"/>
              <a:t> 3</a:t>
            </a:r>
            <a:r>
              <a:rPr lang="en-US"/>
              <a:t> = ∅. </a:t>
            </a:r>
          </a:p>
          <a:p>
            <a:r>
              <a:rPr lang="en-US"/>
              <a:t>+ δ’(t</a:t>
            </a:r>
            <a:r>
              <a:rPr lang="en-US" baseline="-25000"/>
              <a:t>0</a:t>
            </a:r>
            <a:r>
              <a:rPr lang="en-US"/>
              <a:t>, a) = t</a:t>
            </a:r>
            <a:r>
              <a:rPr lang="en-US" baseline="-25000"/>
              <a:t>0</a:t>
            </a:r>
            <a:r>
              <a:rPr lang="en-US"/>
              <a:t>, δ’(t</a:t>
            </a:r>
            <a:r>
              <a:rPr lang="en-US" baseline="-25000"/>
              <a:t>0</a:t>
            </a:r>
            <a:r>
              <a:rPr lang="en-US"/>
              <a:t>, b) = t</a:t>
            </a:r>
            <a:r>
              <a:rPr lang="en-US" baseline="-25000"/>
              <a:t>2</a:t>
            </a:r>
            <a:r>
              <a:rPr lang="en-US"/>
              <a:t>, δ’(t</a:t>
            </a:r>
            <a:r>
              <a:rPr lang="en-US" baseline="-25000"/>
              <a:t>1</a:t>
            </a:r>
            <a:r>
              <a:rPr lang="en-US"/>
              <a:t>, a) = t</a:t>
            </a:r>
            <a:r>
              <a:rPr lang="en-US" baseline="-25000"/>
              <a:t>2</a:t>
            </a:r>
            <a:r>
              <a:rPr lang="en-US"/>
              <a:t>, δ’(t</a:t>
            </a:r>
            <a:r>
              <a:rPr lang="en-US" baseline="-25000"/>
              <a:t>1</a:t>
            </a:r>
            <a:r>
              <a:rPr lang="en-US"/>
              <a:t>, b) = t</a:t>
            </a:r>
            <a:r>
              <a:rPr lang="en-US" baseline="-25000"/>
              <a:t>3</a:t>
            </a:r>
            <a:r>
              <a:rPr lang="en-US"/>
              <a:t>, δ’(t</a:t>
            </a:r>
            <a:r>
              <a:rPr lang="en-US" baseline="-25000"/>
              <a:t>2</a:t>
            </a:r>
            <a:r>
              <a:rPr lang="en-US"/>
              <a:t>, a) = {q</a:t>
            </a:r>
            <a:r>
              <a:rPr lang="en-US" baseline="-25000"/>
              <a:t>0</a:t>
            </a:r>
            <a:r>
              <a:rPr lang="en-US"/>
              <a:t>}∪{q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} = t</a:t>
            </a:r>
            <a:r>
              <a:rPr lang="en-US" baseline="-25000"/>
              <a:t>2</a:t>
            </a:r>
            <a:r>
              <a:rPr lang="en-US"/>
              <a:t>, δ’(t</a:t>
            </a:r>
            <a:r>
              <a:rPr lang="en-US" baseline="-25000"/>
              <a:t>2</a:t>
            </a:r>
            <a:r>
              <a:rPr lang="en-US"/>
              <a:t>, b) = {q</a:t>
            </a:r>
            <a:r>
              <a:rPr lang="en-US" baseline="-25000"/>
              <a:t>0</a:t>
            </a:r>
            <a:r>
              <a:rPr lang="en-US"/>
              <a:t>, q</a:t>
            </a:r>
            <a:r>
              <a:rPr lang="en-US" baseline="-25000"/>
              <a:t>1</a:t>
            </a:r>
            <a:r>
              <a:rPr lang="en-US"/>
              <a:t>} ∪ ∅ = t</a:t>
            </a:r>
            <a:r>
              <a:rPr lang="en-US" baseline="-25000"/>
              <a:t>2</a:t>
            </a:r>
            <a:r>
              <a:rPr lang="en-US"/>
              <a:t>, δ’(t</a:t>
            </a:r>
            <a:r>
              <a:rPr lang="en-US" baseline="-25000"/>
              <a:t>3</a:t>
            </a:r>
            <a:r>
              <a:rPr lang="en-US"/>
              <a:t>, a) = t</a:t>
            </a:r>
            <a:r>
              <a:rPr lang="en-US" baseline="-25000"/>
              <a:t>3</a:t>
            </a:r>
            <a:r>
              <a:rPr lang="en-US"/>
              <a:t>, δ’(t</a:t>
            </a:r>
            <a:r>
              <a:rPr lang="en-US" baseline="-25000"/>
              <a:t>3</a:t>
            </a:r>
            <a:r>
              <a:rPr lang="en-US"/>
              <a:t>, b) = t</a:t>
            </a:r>
            <a:r>
              <a:rPr lang="en-US" baseline="-25000"/>
              <a:t>3</a:t>
            </a:r>
            <a:r>
              <a:rPr lang="en-US"/>
              <a:t>.   </a:t>
            </a:r>
          </a:p>
          <a:p>
            <a:r>
              <a:rPr lang="en-US"/>
              <a:t>Ta có bảng chuyển của M: </a:t>
            </a:r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r>
              <a:rPr lang="en-US" smtClean="0"/>
              <a:t>+ </a:t>
            </a:r>
            <a:r>
              <a:rPr lang="en-US"/>
              <a:t>Do t</a:t>
            </a:r>
            <a:r>
              <a:rPr lang="en-US" baseline="-25000"/>
              <a:t>1</a:t>
            </a:r>
            <a:r>
              <a:rPr lang="en-US"/>
              <a:t> ∩ F = {q</a:t>
            </a:r>
            <a:r>
              <a:rPr lang="en-US" baseline="-25000"/>
              <a:t>1</a:t>
            </a:r>
            <a:r>
              <a:rPr lang="en-US"/>
              <a:t>} ≠ ∅ , t</a:t>
            </a:r>
            <a:r>
              <a:rPr lang="en-US" baseline="-25000"/>
              <a:t>2</a:t>
            </a:r>
            <a:r>
              <a:rPr lang="en-US"/>
              <a:t> ∩ F  ={q</a:t>
            </a:r>
            <a:r>
              <a:rPr lang="en-US" baseline="-25000"/>
              <a:t>1</a:t>
            </a:r>
            <a:r>
              <a:rPr lang="en-US"/>
              <a:t>} ≠ ∅ nên F’ = {t</a:t>
            </a:r>
            <a:r>
              <a:rPr lang="en-US" baseline="-25000"/>
              <a:t>1</a:t>
            </a:r>
            <a:r>
              <a:rPr lang="en-US"/>
              <a:t>, t</a:t>
            </a:r>
            <a:r>
              <a:rPr lang="en-US" baseline="-25000"/>
              <a:t>2</a:t>
            </a:r>
            <a:r>
              <a:rPr lang="en-US"/>
              <a:t>}. </a:t>
            </a:r>
          </a:p>
          <a:p>
            <a:r>
              <a:rPr lang="en-US"/>
              <a:t>Rõ ràng otomat M  là đơn định và có đồ thị chuyển như sau: 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207543" y="2168691"/>
            <a:ext cx="3501941" cy="170547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350460" y="4792807"/>
            <a:ext cx="3131804" cy="182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21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312821"/>
            <a:ext cx="8915400" cy="55984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Nhìn vào bảng chuyển và đồ thị chuyển của M, ta thấy ngay rằng không có đường đi nào từ t</a:t>
            </a:r>
            <a:r>
              <a:rPr lang="en-US" baseline="-25000"/>
              <a:t>0 </a:t>
            </a:r>
            <a:r>
              <a:rPr lang="en-US"/>
              <a:t> đến được đỉnh kết thúc t</a:t>
            </a:r>
            <a:r>
              <a:rPr lang="en-US" baseline="-25000"/>
              <a:t>1</a:t>
            </a:r>
            <a:r>
              <a:rPr lang="en-US"/>
              <a:t>, vì vậy otomat M sẽ tương đương với otomat M’ có đồ thị chuyển như sau: </a:t>
            </a:r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r>
              <a:rPr lang="en-US" smtClean="0"/>
              <a:t>Ta </a:t>
            </a:r>
            <a:r>
              <a:rPr lang="en-US"/>
              <a:t>có  T(A) = T(M) = T(M’) = {a</a:t>
            </a:r>
            <a:r>
              <a:rPr lang="en-US" baseline="30000"/>
              <a:t>n</a:t>
            </a:r>
            <a:r>
              <a:rPr lang="en-US"/>
              <a:t>bω | n ≥ 0, ω∈{a, b}</a:t>
            </a:r>
            <a:r>
              <a:rPr lang="en-US" baseline="30000"/>
              <a:t>*</a:t>
            </a:r>
            <a:r>
              <a:rPr lang="en-US"/>
              <a:t>}. 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553869" y="2320453"/>
            <a:ext cx="3940426" cy="158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12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2.4  Sự tương đương giữa otomat đơn định và otomat không đơn định</a:t>
            </a:r>
            <a:r>
              <a:rPr lang="en-US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/>
              <a:t>Định lý 2.1</a:t>
            </a:r>
            <a:r>
              <a:rPr lang="en-US"/>
              <a:t>  Nếu ngôn ngữ L được đoán nhận bởi một otomat hữu hạn không đơn định thì tồn tại một otomat hữu hạn đơn định đoán nhận L. </a:t>
            </a:r>
          </a:p>
          <a:p>
            <a:r>
              <a:rPr lang="en-US" b="1" i="1"/>
              <a:t>Định lý 2.2</a:t>
            </a:r>
            <a:r>
              <a:rPr lang="en-US"/>
              <a:t>  Lớp ngôn ngữ được sinh bởi otomat hữu hạn đơn định là trùng với lớp ngôn ngữ được sinh bởi otomat hữu hạn không đơn định.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2918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717</TotalTime>
  <Words>2832</Words>
  <Application>Microsoft Office PowerPoint</Application>
  <PresentationFormat>Custom</PresentationFormat>
  <Paragraphs>189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Wisp</vt:lpstr>
      <vt:lpstr>Chương 2 </vt:lpstr>
      <vt:lpstr>Otomat hữu hạn không đơn định (NFA) </vt:lpstr>
      <vt:lpstr>Ví dụ:</vt:lpstr>
      <vt:lpstr>Ngôn ngữ được đoán nhận bởi otomat hữu hạn không đơn định </vt:lpstr>
      <vt:lpstr>Ví dụ:</vt:lpstr>
      <vt:lpstr>§1.  Otomat hữu hạn đơn định (DFA) </vt:lpstr>
      <vt:lpstr>Chú ý:</vt:lpstr>
      <vt:lpstr>Hoạt động của otomat hữu hạn đơn định A = &lt;Q, Σ, δ, q0, F&gt; khi cho xâu vào ω = a1a2… an có thể được mô tả như sau:  </vt:lpstr>
      <vt:lpstr>Mô tả quá trình đoán nhận xâu ω của otomat A </vt:lpstr>
      <vt:lpstr>1.2 Biểu diễn otomat hữu hạn đơn định </vt:lpstr>
      <vt:lpstr>Ví dụ 1.1  Cho otomat hữu hạn đơn định: </vt:lpstr>
      <vt:lpstr>Quá trình đoán nhận xâu α = ababbab của A1 </vt:lpstr>
      <vt:lpstr>Ví dụ 2:</vt:lpstr>
      <vt:lpstr>Dãy trạng thái của otomat A2 trong quá trình đoán nhận xâu vào β = 1010100 là: </vt:lpstr>
      <vt:lpstr>Ta có thể mô tả quá trình đoán nhận xâu vào của otomat hữu hạn đơn định đầy đủ A bằng thuật toán mô phỏng sau:  </vt:lpstr>
      <vt:lpstr>Ngôn ngữ được đoán nhận bởi otomat đơn định</vt:lpstr>
      <vt:lpstr>PowerPoint Presentation</vt:lpstr>
      <vt:lpstr>Đơn định hóa các otomat </vt:lpstr>
      <vt:lpstr>Phương pháp: </vt:lpstr>
      <vt:lpstr>Ví dụ:</vt:lpstr>
      <vt:lpstr>PowerPoint Presentation</vt:lpstr>
      <vt:lpstr>Ví dụ:</vt:lpstr>
      <vt:lpstr>PowerPoint Presentation</vt:lpstr>
      <vt:lpstr>PowerPoint Presentation</vt:lpstr>
      <vt:lpstr>2.4  Sự tương đương giữa otomat đơn định và otomat không đơn định 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2 </dc:title>
  <dc:creator>ThanhBinh</dc:creator>
  <cp:lastModifiedBy>Asus</cp:lastModifiedBy>
  <cp:revision>54</cp:revision>
  <dcterms:created xsi:type="dcterms:W3CDTF">2017-01-02T08:28:44Z</dcterms:created>
  <dcterms:modified xsi:type="dcterms:W3CDTF">2026-07-30T02:15:23Z</dcterms:modified>
</cp:coreProperties>
</file>