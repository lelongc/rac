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93" r:id="rId3"/>
    <p:sldId id="294" r:id="rId4"/>
    <p:sldId id="269" r:id="rId5"/>
    <p:sldId id="298" r:id="rId6"/>
    <p:sldId id="295" r:id="rId7"/>
    <p:sldId id="297" r:id="rId8"/>
    <p:sldId id="270" r:id="rId9"/>
    <p:sldId id="299" r:id="rId10"/>
    <p:sldId id="300" r:id="rId11"/>
    <p:sldId id="271" r:id="rId12"/>
    <p:sldId id="272" r:id="rId13"/>
    <p:sldId id="301" r:id="rId14"/>
    <p:sldId id="302" r:id="rId15"/>
    <p:sldId id="303" r:id="rId16"/>
    <p:sldId id="304" r:id="rId17"/>
    <p:sldId id="305" r:id="rId18"/>
    <p:sldId id="306" r:id="rId19"/>
    <p:sldId id="307" r:id="rId20"/>
    <p:sldId id="322" r:id="rId21"/>
    <p:sldId id="308" r:id="rId22"/>
    <p:sldId id="281" r:id="rId23"/>
    <p:sldId id="282" r:id="rId24"/>
    <p:sldId id="283" r:id="rId25"/>
    <p:sldId id="284" r:id="rId26"/>
    <p:sldId id="285" r:id="rId27"/>
    <p:sldId id="286" r:id="rId28"/>
    <p:sldId id="287" r:id="rId29"/>
    <p:sldId id="288" r:id="rId30"/>
    <p:sldId id="289" r:id="rId31"/>
    <p:sldId id="290" r:id="rId32"/>
    <p:sldId id="291" r:id="rId33"/>
    <p:sldId id="309" r:id="rId34"/>
    <p:sldId id="310" r:id="rId35"/>
    <p:sldId id="311" r:id="rId36"/>
    <p:sldId id="312" r:id="rId37"/>
    <p:sldId id="313" r:id="rId38"/>
    <p:sldId id="314" r:id="rId39"/>
    <p:sldId id="315" r:id="rId40"/>
    <p:sldId id="316" r:id="rId41"/>
    <p:sldId id="317" r:id="rId42"/>
    <p:sldId id="318" r:id="rId43"/>
    <p:sldId id="319" r:id="rId44"/>
    <p:sldId id="320" r:id="rId45"/>
    <p:sldId id="321" r:id="rId46"/>
    <p:sldId id="292" r:id="rId47"/>
    <p:sldId id="273" r:id="rId48"/>
    <p:sldId id="274" r:id="rId49"/>
    <p:sldId id="275" r:id="rId50"/>
    <p:sldId id="276" r:id="rId51"/>
    <p:sldId id="277" r:id="rId52"/>
    <p:sldId id="278" r:id="rId53"/>
    <p:sldId id="279" r:id="rId54"/>
    <p:sldId id="280" r:id="rId55"/>
    <p:sldId id="334" r:id="rId56"/>
    <p:sldId id="335" r:id="rId57"/>
    <p:sldId id="324" r:id="rId58"/>
    <p:sldId id="325" r:id="rId59"/>
    <p:sldId id="326" r:id="rId60"/>
    <p:sldId id="327" r:id="rId61"/>
    <p:sldId id="328" r:id="rId62"/>
    <p:sldId id="329" r:id="rId63"/>
    <p:sldId id="330" r:id="rId64"/>
    <p:sldId id="331" r:id="rId65"/>
    <p:sldId id="332" r:id="rId66"/>
    <p:sldId id="333" r:id="rId67"/>
    <p:sldId id="323" r:id="rId6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13" autoAdjust="0"/>
    <p:restoredTop sz="94660"/>
  </p:normalViewPr>
  <p:slideViewPr>
    <p:cSldViewPr snapToGrid="0">
      <p:cViewPr varScale="1">
        <p:scale>
          <a:sx n="74" d="100"/>
          <a:sy n="74" d="100"/>
        </p:scale>
        <p:origin x="-540" y="-9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9/17/2026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9/17/2026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9/17/2026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9/17/2026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smtClean="0"/>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157"/>
            <a:ext cx="2356674" cy="6853096"/>
            <a:chOff x="6627813" y="195610"/>
            <a:chExt cx="1952625" cy="5678141"/>
          </a:xfrm>
        </p:grpSpPr>
        <p:sp>
          <p:nvSpPr>
            <p:cNvPr id="11" name="Freeform 27"/>
            <p:cNvSpPr/>
            <p:nvPr/>
          </p:nvSpPr>
          <p:spPr bwMode="auto">
            <a:xfrm>
              <a:off x="6627813" y="195610"/>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9/17/2026</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txStyles>
    <p:title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image" Target="../media/image23.jp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image" Target="../media/image26.jp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image" Target="../media/image34.jp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8.jp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9.jp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jp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602092" y="737316"/>
            <a:ext cx="8915399" cy="2262781"/>
          </a:xfrm>
        </p:spPr>
        <p:txBody>
          <a:bodyPr>
            <a:normAutofit/>
          </a:bodyPr>
          <a:lstStyle/>
          <a:p>
            <a:r>
              <a:rPr lang="en-US" b="1" dirty="0" err="1"/>
              <a:t>Chương</a:t>
            </a:r>
            <a:r>
              <a:rPr lang="en-US" b="1" dirty="0"/>
              <a:t> 2 </a:t>
            </a:r>
            <a:endParaRPr lang="en-US" dirty="0"/>
          </a:p>
        </p:txBody>
      </p:sp>
      <p:sp>
        <p:nvSpPr>
          <p:cNvPr id="3" name="Subtitle 2"/>
          <p:cNvSpPr>
            <a:spLocks noGrp="1"/>
          </p:cNvSpPr>
          <p:nvPr>
            <p:ph type="subTitle" idx="1"/>
          </p:nvPr>
        </p:nvSpPr>
        <p:spPr>
          <a:xfrm>
            <a:off x="2589213" y="3296308"/>
            <a:ext cx="8915399" cy="1126283"/>
          </a:xfrm>
        </p:spPr>
        <p:txBody>
          <a:bodyPr>
            <a:normAutofit/>
          </a:bodyPr>
          <a:lstStyle/>
          <a:p>
            <a:pPr algn="ctr"/>
            <a:r>
              <a:rPr lang="en-US" sz="2800" b="1" dirty="0"/>
              <a:t>OTOMAT </a:t>
            </a:r>
            <a:r>
              <a:rPr lang="en-US" sz="2800" b="1"/>
              <a:t>HỮU </a:t>
            </a:r>
            <a:r>
              <a:rPr lang="en-US" sz="2800" b="1" smtClean="0"/>
              <a:t>HẠN</a:t>
            </a:r>
            <a:endParaRPr lang="en-US" sz="2800" dirty="0"/>
          </a:p>
        </p:txBody>
      </p:sp>
    </p:spTree>
    <p:extLst>
      <p:ext uri="{BB962C8B-B14F-4D97-AF65-F5344CB8AC3E}">
        <p14:creationId xmlns:p14="http://schemas.microsoft.com/office/powerpoint/2010/main" val="223757594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87898" y="2205535"/>
            <a:ext cx="5112913" cy="29479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3734872" y="5692461"/>
            <a:ext cx="4056845" cy="369332"/>
          </a:xfrm>
          <a:prstGeom prst="rect">
            <a:avLst/>
          </a:prstGeom>
          <a:noFill/>
        </p:spPr>
        <p:txBody>
          <a:bodyPr wrap="square" rtlCol="0">
            <a:spAutoFit/>
          </a:bodyPr>
          <a:lstStyle/>
          <a:p>
            <a:r>
              <a:rPr lang="en-US" smtClean="0"/>
              <a:t>Hình 2.1. Bộ công tắc đóng/mở</a:t>
            </a:r>
            <a:endParaRPr lang="en-US"/>
          </a:p>
        </p:txBody>
      </p:sp>
    </p:spTree>
    <p:extLst>
      <p:ext uri="{BB962C8B-B14F-4D97-AF65-F5344CB8AC3E}">
        <p14:creationId xmlns:p14="http://schemas.microsoft.com/office/powerpoint/2010/main" val="240838753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41680" y="624110"/>
            <a:ext cx="9650054" cy="831203"/>
          </a:xfrm>
        </p:spPr>
        <p:txBody>
          <a:bodyPr/>
          <a:lstStyle/>
          <a:p>
            <a:r>
              <a:rPr lang="en-US" b="1" dirty="0"/>
              <a:t>§1</a:t>
            </a:r>
            <a:r>
              <a:rPr lang="en-US" b="1"/>
              <a:t>. </a:t>
            </a:r>
            <a:r>
              <a:rPr lang="en-US" b="1" smtClean="0"/>
              <a:t>Otomat </a:t>
            </a:r>
            <a:r>
              <a:rPr lang="en-US" b="1" dirty="0" err="1"/>
              <a:t>hữu</a:t>
            </a:r>
            <a:r>
              <a:rPr lang="en-US" b="1" dirty="0"/>
              <a:t> </a:t>
            </a:r>
            <a:r>
              <a:rPr lang="en-US" b="1" err="1"/>
              <a:t>hạn</a:t>
            </a:r>
            <a:r>
              <a:rPr lang="en-US" b="1"/>
              <a:t> </a:t>
            </a:r>
            <a:r>
              <a:rPr lang="en-US" b="1" smtClean="0"/>
              <a:t>không đơn định (NFA) </a:t>
            </a:r>
            <a:endParaRPr lang="en-US" dirty="0"/>
          </a:p>
        </p:txBody>
      </p:sp>
      <p:sp>
        <p:nvSpPr>
          <p:cNvPr id="3" name="Content Placeholder 2"/>
          <p:cNvSpPr>
            <a:spLocks noGrp="1"/>
          </p:cNvSpPr>
          <p:nvPr>
            <p:ph idx="1"/>
          </p:nvPr>
        </p:nvSpPr>
        <p:spPr>
          <a:xfrm>
            <a:off x="2589212" y="1433706"/>
            <a:ext cx="8915400" cy="4967094"/>
          </a:xfrm>
        </p:spPr>
        <p:txBody>
          <a:bodyPr>
            <a:noAutofit/>
          </a:bodyPr>
          <a:lstStyle/>
          <a:p>
            <a:r>
              <a:rPr lang="en-US" sz="2400" b="1" i="1" dirty="0" err="1"/>
              <a:t>Định</a:t>
            </a:r>
            <a:r>
              <a:rPr lang="en-US" sz="2400" b="1" i="1" dirty="0"/>
              <a:t> </a:t>
            </a:r>
            <a:r>
              <a:rPr lang="en-US" sz="2400" b="1" i="1" dirty="0" err="1"/>
              <a:t>nghĩa</a:t>
            </a:r>
            <a:r>
              <a:rPr lang="en-US" sz="2400" b="1" i="1" dirty="0"/>
              <a:t> 1.1 </a:t>
            </a:r>
            <a:r>
              <a:rPr lang="en-US" sz="2400" dirty="0" err="1"/>
              <a:t>Một</a:t>
            </a:r>
            <a:r>
              <a:rPr lang="en-US" sz="2400" dirty="0"/>
              <a:t> </a:t>
            </a:r>
            <a:r>
              <a:rPr lang="en-US" sz="2400" dirty="0" err="1"/>
              <a:t>otomat</a:t>
            </a:r>
            <a:r>
              <a:rPr lang="en-US" sz="2400" dirty="0"/>
              <a:t> </a:t>
            </a:r>
            <a:r>
              <a:rPr lang="en-US" sz="2400" dirty="0" err="1"/>
              <a:t>hữu</a:t>
            </a:r>
            <a:r>
              <a:rPr lang="en-US" sz="2400" dirty="0"/>
              <a:t> </a:t>
            </a:r>
            <a:r>
              <a:rPr lang="en-US" sz="2400" err="1"/>
              <a:t>hạn</a:t>
            </a:r>
            <a:r>
              <a:rPr lang="en-US" sz="2400"/>
              <a:t> </a:t>
            </a:r>
            <a:r>
              <a:rPr lang="en-US" sz="2400" smtClean="0"/>
              <a:t>không đơn </a:t>
            </a:r>
            <a:r>
              <a:rPr lang="en-US" sz="2400" err="1"/>
              <a:t>định</a:t>
            </a:r>
            <a:r>
              <a:rPr lang="en-US" sz="2400" b="1"/>
              <a:t> </a:t>
            </a:r>
            <a:r>
              <a:rPr lang="en-US" sz="2400" smtClean="0"/>
              <a:t>(Non-Deterministic </a:t>
            </a:r>
            <a:r>
              <a:rPr lang="en-US" sz="2400"/>
              <a:t>Finite </a:t>
            </a:r>
            <a:r>
              <a:rPr lang="en-US" sz="2400" smtClean="0"/>
              <a:t>Automata-NFA</a:t>
            </a:r>
            <a:r>
              <a:rPr lang="en-US" sz="2400" dirty="0"/>
              <a:t>) </a:t>
            </a:r>
            <a:r>
              <a:rPr lang="en-US" sz="2400" dirty="0" err="1"/>
              <a:t>là</a:t>
            </a:r>
            <a:r>
              <a:rPr lang="en-US" sz="2400" dirty="0"/>
              <a:t> </a:t>
            </a:r>
            <a:r>
              <a:rPr lang="en-US" sz="2400" dirty="0" err="1"/>
              <a:t>một</a:t>
            </a:r>
            <a:r>
              <a:rPr lang="en-US" sz="2400" dirty="0"/>
              <a:t> </a:t>
            </a:r>
            <a:r>
              <a:rPr lang="en-US" sz="2400" dirty="0" err="1"/>
              <a:t>bộ</a:t>
            </a:r>
            <a:r>
              <a:rPr lang="en-US" sz="2400" dirty="0"/>
              <a:t> </a:t>
            </a:r>
            <a:r>
              <a:rPr lang="en-US" sz="2400" dirty="0" err="1"/>
              <a:t>năm</a:t>
            </a:r>
            <a:r>
              <a:rPr lang="en-US" sz="2400" dirty="0"/>
              <a:t>: </a:t>
            </a:r>
          </a:p>
          <a:p>
            <a:pPr marL="0" indent="0">
              <a:buNone/>
            </a:pPr>
            <a:r>
              <a:rPr lang="en-US" sz="2400" smtClean="0"/>
              <a:t>				A </a:t>
            </a:r>
            <a:r>
              <a:rPr lang="en-US" sz="2400" dirty="0"/>
              <a:t>= &lt;Q, Σ, δ, q</a:t>
            </a:r>
            <a:r>
              <a:rPr lang="en-US" sz="2400" baseline="-25000" dirty="0"/>
              <a:t>0</a:t>
            </a:r>
            <a:r>
              <a:rPr lang="en-US" sz="2400" dirty="0"/>
              <a:t>, F</a:t>
            </a:r>
            <a:r>
              <a:rPr lang="en-US" sz="2400"/>
              <a:t>&gt;, </a:t>
            </a:r>
            <a:r>
              <a:rPr lang="en-US" sz="2400" smtClean="0"/>
              <a:t>trong </a:t>
            </a:r>
            <a:r>
              <a:rPr lang="en-US" sz="2400" dirty="0" err="1"/>
              <a:t>đó</a:t>
            </a:r>
            <a:r>
              <a:rPr lang="en-US" sz="2400" dirty="0"/>
              <a:t>: </a:t>
            </a:r>
          </a:p>
          <a:p>
            <a:r>
              <a:rPr lang="en-US" sz="2400" smtClean="0"/>
              <a:t>Q </a:t>
            </a:r>
            <a:r>
              <a:rPr lang="en-US" sz="2400" dirty="0" err="1"/>
              <a:t>là</a:t>
            </a:r>
            <a:r>
              <a:rPr lang="en-US" sz="2400" dirty="0"/>
              <a:t> </a:t>
            </a:r>
            <a:r>
              <a:rPr lang="en-US" sz="2400" dirty="0" err="1"/>
              <a:t>một</a:t>
            </a:r>
            <a:r>
              <a:rPr lang="en-US" sz="2400" dirty="0"/>
              <a:t> </a:t>
            </a:r>
            <a:r>
              <a:rPr lang="en-US" sz="2400" dirty="0" err="1"/>
              <a:t>tập</a:t>
            </a:r>
            <a:r>
              <a:rPr lang="en-US" sz="2400" dirty="0"/>
              <a:t> </a:t>
            </a:r>
            <a:r>
              <a:rPr lang="en-US" sz="2400" dirty="0" err="1"/>
              <a:t>hữu</a:t>
            </a:r>
            <a:r>
              <a:rPr lang="en-US" sz="2400" dirty="0"/>
              <a:t> </a:t>
            </a:r>
            <a:r>
              <a:rPr lang="en-US" sz="2400" dirty="0" err="1"/>
              <a:t>hạn</a:t>
            </a:r>
            <a:r>
              <a:rPr lang="en-US" sz="2400" dirty="0"/>
              <a:t> </a:t>
            </a:r>
            <a:r>
              <a:rPr lang="en-US" sz="2400" dirty="0" err="1"/>
              <a:t>khác</a:t>
            </a:r>
            <a:r>
              <a:rPr lang="en-US" sz="2400" dirty="0"/>
              <a:t> </a:t>
            </a:r>
            <a:r>
              <a:rPr lang="en-US" sz="2400" dirty="0" err="1"/>
              <a:t>rỗng</a:t>
            </a:r>
            <a:r>
              <a:rPr lang="en-US" sz="2400" dirty="0"/>
              <a:t>, </a:t>
            </a:r>
            <a:r>
              <a:rPr lang="en-US" sz="2400" dirty="0" err="1"/>
              <a:t>được</a:t>
            </a:r>
            <a:r>
              <a:rPr lang="en-US" sz="2400" dirty="0"/>
              <a:t> </a:t>
            </a:r>
            <a:r>
              <a:rPr lang="en-US" sz="2400" dirty="0" err="1"/>
              <a:t>gọi</a:t>
            </a:r>
            <a:r>
              <a:rPr lang="en-US" sz="2400" dirty="0"/>
              <a:t> </a:t>
            </a:r>
            <a:r>
              <a:rPr lang="en-US" sz="2400" dirty="0" err="1"/>
              <a:t>là</a:t>
            </a:r>
            <a:r>
              <a:rPr lang="en-US" sz="2400" dirty="0"/>
              <a:t> </a:t>
            </a:r>
            <a:r>
              <a:rPr lang="en-US" sz="2400" dirty="0" err="1"/>
              <a:t>tập</a:t>
            </a:r>
            <a:r>
              <a:rPr lang="en-US" sz="2400" dirty="0"/>
              <a:t> </a:t>
            </a:r>
            <a:r>
              <a:rPr lang="en-US" sz="2400" dirty="0" err="1"/>
              <a:t>các</a:t>
            </a:r>
            <a:r>
              <a:rPr lang="en-US" sz="2400" dirty="0"/>
              <a:t> </a:t>
            </a:r>
            <a:r>
              <a:rPr lang="en-US" sz="2400" dirty="0" err="1"/>
              <a:t>trạng</a:t>
            </a:r>
            <a:r>
              <a:rPr lang="en-US" sz="2400" dirty="0"/>
              <a:t> </a:t>
            </a:r>
            <a:r>
              <a:rPr lang="en-US" sz="2400" dirty="0" err="1"/>
              <a:t>thái</a:t>
            </a:r>
            <a:r>
              <a:rPr lang="en-US" sz="2400" dirty="0"/>
              <a:t>; </a:t>
            </a:r>
          </a:p>
          <a:p>
            <a:r>
              <a:rPr lang="en-US" sz="2400" smtClean="0"/>
              <a:t>Σ </a:t>
            </a:r>
            <a:r>
              <a:rPr lang="en-US" sz="2400" dirty="0" err="1"/>
              <a:t>là</a:t>
            </a:r>
            <a:r>
              <a:rPr lang="en-US" sz="2400" dirty="0"/>
              <a:t> </a:t>
            </a:r>
            <a:r>
              <a:rPr lang="en-US" sz="2400" dirty="0" err="1"/>
              <a:t>một</a:t>
            </a:r>
            <a:r>
              <a:rPr lang="en-US" sz="2400" dirty="0"/>
              <a:t> </a:t>
            </a:r>
            <a:r>
              <a:rPr lang="en-US" sz="2400" dirty="0" err="1"/>
              <a:t>bảng</a:t>
            </a:r>
            <a:r>
              <a:rPr lang="en-US" sz="2400" dirty="0"/>
              <a:t> </a:t>
            </a:r>
            <a:r>
              <a:rPr lang="en-US" sz="2400" dirty="0" err="1"/>
              <a:t>chữ</a:t>
            </a:r>
            <a:r>
              <a:rPr lang="en-US" sz="2400" dirty="0"/>
              <a:t> </a:t>
            </a:r>
            <a:r>
              <a:rPr lang="en-US" sz="2400" dirty="0" err="1"/>
              <a:t>cái</a:t>
            </a:r>
            <a:r>
              <a:rPr lang="en-US" sz="2400" dirty="0"/>
              <a:t>, </a:t>
            </a:r>
            <a:r>
              <a:rPr lang="en-US" sz="2400" dirty="0" err="1"/>
              <a:t>được</a:t>
            </a:r>
            <a:r>
              <a:rPr lang="en-US" sz="2400" dirty="0"/>
              <a:t> </a:t>
            </a:r>
            <a:r>
              <a:rPr lang="en-US" sz="2400" dirty="0" err="1"/>
              <a:t>gọi</a:t>
            </a:r>
            <a:r>
              <a:rPr lang="en-US" sz="2400" dirty="0"/>
              <a:t> </a:t>
            </a:r>
            <a:r>
              <a:rPr lang="en-US" sz="2400" dirty="0" err="1"/>
              <a:t>là</a:t>
            </a:r>
            <a:r>
              <a:rPr lang="en-US" sz="2400" dirty="0"/>
              <a:t> </a:t>
            </a:r>
            <a:r>
              <a:rPr lang="en-US" sz="2400" dirty="0" err="1"/>
              <a:t>bảng</a:t>
            </a:r>
            <a:r>
              <a:rPr lang="en-US" sz="2400" dirty="0"/>
              <a:t> </a:t>
            </a:r>
            <a:r>
              <a:rPr lang="en-US" sz="2400" dirty="0" err="1"/>
              <a:t>chữ</a:t>
            </a:r>
            <a:r>
              <a:rPr lang="en-US" sz="2400" dirty="0"/>
              <a:t> </a:t>
            </a:r>
            <a:r>
              <a:rPr lang="en-US" sz="2400" dirty="0" err="1"/>
              <a:t>vào</a:t>
            </a:r>
            <a:r>
              <a:rPr lang="en-US" sz="2400" dirty="0"/>
              <a:t>; </a:t>
            </a:r>
          </a:p>
          <a:p>
            <a:r>
              <a:rPr lang="en-US" sz="2400" smtClean="0"/>
              <a:t>δ</a:t>
            </a:r>
            <a:r>
              <a:rPr lang="en-US" sz="2400" dirty="0"/>
              <a:t>: D </a:t>
            </a:r>
            <a:r>
              <a:rPr lang="en-US" sz="2400"/>
              <a:t>→ </a:t>
            </a:r>
            <a:r>
              <a:rPr lang="en-US" sz="2400" smtClean="0"/>
              <a:t>2</a:t>
            </a:r>
            <a:r>
              <a:rPr lang="en-US" sz="2400" baseline="30000" smtClean="0"/>
              <a:t>Q</a:t>
            </a:r>
            <a:r>
              <a:rPr lang="en-US" sz="2400" dirty="0"/>
              <a:t>, </a:t>
            </a:r>
            <a:r>
              <a:rPr lang="en-US" sz="2400" dirty="0" err="1"/>
              <a:t>là</a:t>
            </a:r>
            <a:r>
              <a:rPr lang="en-US" sz="2400" dirty="0"/>
              <a:t> </a:t>
            </a:r>
            <a:r>
              <a:rPr lang="en-US" sz="2400" dirty="0" err="1"/>
              <a:t>một</a:t>
            </a:r>
            <a:r>
              <a:rPr lang="en-US" sz="2400" dirty="0"/>
              <a:t> </a:t>
            </a:r>
            <a:r>
              <a:rPr lang="en-US" sz="2400" dirty="0" err="1"/>
              <a:t>ánh</a:t>
            </a:r>
            <a:r>
              <a:rPr lang="en-US" sz="2400" dirty="0"/>
              <a:t> </a:t>
            </a:r>
            <a:r>
              <a:rPr lang="en-US" sz="2400" dirty="0" err="1"/>
              <a:t>xạ</a:t>
            </a:r>
            <a:r>
              <a:rPr lang="en-US" sz="2400" dirty="0"/>
              <a:t> </a:t>
            </a:r>
            <a:r>
              <a:rPr lang="en-US" sz="2400" dirty="0" err="1"/>
              <a:t>từ</a:t>
            </a:r>
            <a:r>
              <a:rPr lang="en-US" sz="2400" dirty="0"/>
              <a:t> D </a:t>
            </a:r>
            <a:r>
              <a:rPr lang="en-US" sz="2400" dirty="0" err="1"/>
              <a:t>vào</a:t>
            </a:r>
            <a:r>
              <a:rPr lang="en-US" sz="2400" dirty="0"/>
              <a:t> Q, </a:t>
            </a:r>
            <a:r>
              <a:rPr lang="en-US" sz="2400" dirty="0" err="1"/>
              <a:t>trong</a:t>
            </a:r>
            <a:r>
              <a:rPr lang="en-US" sz="2400" dirty="0"/>
              <a:t> </a:t>
            </a:r>
            <a:r>
              <a:rPr lang="en-US" sz="2400" dirty="0" err="1"/>
              <a:t>đó</a:t>
            </a:r>
            <a:r>
              <a:rPr lang="en-US" sz="2400" dirty="0"/>
              <a:t> D ⊆ Q × Σ , </a:t>
            </a:r>
            <a:r>
              <a:rPr lang="en-US" sz="2400" dirty="0" err="1"/>
              <a:t>được</a:t>
            </a:r>
            <a:r>
              <a:rPr lang="en-US" sz="2400" dirty="0"/>
              <a:t> </a:t>
            </a:r>
            <a:r>
              <a:rPr lang="en-US" sz="2400" dirty="0" err="1"/>
              <a:t>gọi</a:t>
            </a:r>
            <a:r>
              <a:rPr lang="en-US" sz="2400" dirty="0"/>
              <a:t> </a:t>
            </a:r>
            <a:r>
              <a:rPr lang="en-US" sz="2400" dirty="0" err="1"/>
              <a:t>là</a:t>
            </a:r>
            <a:r>
              <a:rPr lang="en-US" sz="2400" dirty="0"/>
              <a:t> </a:t>
            </a:r>
            <a:r>
              <a:rPr lang="en-US" sz="2400" dirty="0" err="1"/>
              <a:t>hàm</a:t>
            </a:r>
            <a:r>
              <a:rPr lang="en-US" sz="2400" dirty="0"/>
              <a:t> </a:t>
            </a:r>
            <a:r>
              <a:rPr lang="en-US" sz="2400" dirty="0" err="1"/>
              <a:t>chuyển</a:t>
            </a:r>
            <a:r>
              <a:rPr lang="en-US" sz="2400" dirty="0"/>
              <a:t> </a:t>
            </a:r>
            <a:r>
              <a:rPr lang="en-US" sz="2400" dirty="0" err="1"/>
              <a:t>trạng</a:t>
            </a:r>
            <a:r>
              <a:rPr lang="en-US" sz="2400" dirty="0"/>
              <a:t> </a:t>
            </a:r>
            <a:r>
              <a:rPr lang="en-US" sz="2400" dirty="0" err="1"/>
              <a:t>thái</a:t>
            </a:r>
            <a:r>
              <a:rPr lang="en-US" sz="2400" dirty="0"/>
              <a:t> (hay </a:t>
            </a:r>
            <a:r>
              <a:rPr lang="en-US" sz="2400" dirty="0" err="1"/>
              <a:t>hàm</a:t>
            </a:r>
            <a:r>
              <a:rPr lang="en-US" sz="2400" dirty="0"/>
              <a:t> </a:t>
            </a:r>
            <a:r>
              <a:rPr lang="en-US" sz="2400" dirty="0" err="1"/>
              <a:t>chuyển</a:t>
            </a:r>
            <a:r>
              <a:rPr lang="en-US" sz="2400" dirty="0"/>
              <a:t>); </a:t>
            </a:r>
          </a:p>
          <a:p>
            <a:r>
              <a:rPr lang="en-US" sz="2400" smtClean="0"/>
              <a:t>q</a:t>
            </a:r>
            <a:r>
              <a:rPr lang="en-US" sz="2400" baseline="-25000" smtClean="0"/>
              <a:t>0 </a:t>
            </a:r>
            <a:r>
              <a:rPr lang="en-US" sz="2400" dirty="0"/>
              <a:t>∈ Q, </a:t>
            </a:r>
            <a:r>
              <a:rPr lang="en-US" sz="2400" dirty="0" err="1"/>
              <a:t>được</a:t>
            </a:r>
            <a:r>
              <a:rPr lang="en-US" sz="2400" dirty="0"/>
              <a:t> </a:t>
            </a:r>
            <a:r>
              <a:rPr lang="en-US" sz="2400" dirty="0" err="1"/>
              <a:t>gọi</a:t>
            </a:r>
            <a:r>
              <a:rPr lang="en-US" sz="2400" dirty="0"/>
              <a:t> </a:t>
            </a:r>
            <a:r>
              <a:rPr lang="en-US" sz="2400" dirty="0" err="1"/>
              <a:t>là</a:t>
            </a:r>
            <a:r>
              <a:rPr lang="en-US" sz="2400" dirty="0"/>
              <a:t> </a:t>
            </a:r>
            <a:r>
              <a:rPr lang="en-US" sz="2400" dirty="0" err="1"/>
              <a:t>trạng</a:t>
            </a:r>
            <a:r>
              <a:rPr lang="en-US" sz="2400" dirty="0"/>
              <a:t> </a:t>
            </a:r>
            <a:r>
              <a:rPr lang="en-US" sz="2400" dirty="0" err="1"/>
              <a:t>thái</a:t>
            </a:r>
            <a:r>
              <a:rPr lang="en-US" sz="2400" dirty="0"/>
              <a:t> </a:t>
            </a:r>
            <a:r>
              <a:rPr lang="en-US" sz="2400" dirty="0" err="1"/>
              <a:t>khởi</a:t>
            </a:r>
            <a:r>
              <a:rPr lang="en-US" sz="2400" dirty="0"/>
              <a:t> </a:t>
            </a:r>
            <a:r>
              <a:rPr lang="en-US" sz="2400" dirty="0" err="1"/>
              <a:t>đầu</a:t>
            </a:r>
            <a:r>
              <a:rPr lang="en-US" sz="2400" dirty="0"/>
              <a:t>; </a:t>
            </a:r>
          </a:p>
          <a:p>
            <a:r>
              <a:rPr lang="en-US" sz="2400" smtClean="0"/>
              <a:t>F </a:t>
            </a:r>
            <a:r>
              <a:rPr lang="en-US" sz="2400" dirty="0"/>
              <a:t>⊆ Q </a:t>
            </a:r>
            <a:r>
              <a:rPr lang="en-US" sz="2400" dirty="0" err="1"/>
              <a:t>được</a:t>
            </a:r>
            <a:r>
              <a:rPr lang="en-US" sz="2400" dirty="0"/>
              <a:t> </a:t>
            </a:r>
            <a:r>
              <a:rPr lang="en-US" sz="2400" dirty="0" err="1"/>
              <a:t>gọi</a:t>
            </a:r>
            <a:r>
              <a:rPr lang="en-US" sz="2400" dirty="0"/>
              <a:t> </a:t>
            </a:r>
            <a:r>
              <a:rPr lang="en-US" sz="2400" dirty="0" err="1"/>
              <a:t>là</a:t>
            </a:r>
            <a:r>
              <a:rPr lang="en-US" sz="2400" dirty="0"/>
              <a:t> </a:t>
            </a:r>
            <a:r>
              <a:rPr lang="en-US" sz="2400" dirty="0" err="1"/>
              <a:t>tập</a:t>
            </a:r>
            <a:r>
              <a:rPr lang="en-US" sz="2400" dirty="0"/>
              <a:t> </a:t>
            </a:r>
            <a:r>
              <a:rPr lang="en-US" sz="2400" dirty="0" err="1"/>
              <a:t>các</a:t>
            </a:r>
            <a:r>
              <a:rPr lang="en-US" sz="2400" dirty="0"/>
              <a:t> </a:t>
            </a:r>
            <a:r>
              <a:rPr lang="en-US" sz="2400" dirty="0" err="1"/>
              <a:t>trạng</a:t>
            </a:r>
            <a:r>
              <a:rPr lang="en-US" sz="2400" dirty="0"/>
              <a:t> </a:t>
            </a:r>
            <a:r>
              <a:rPr lang="en-US" sz="2400" dirty="0" err="1"/>
              <a:t>thái</a:t>
            </a:r>
            <a:r>
              <a:rPr lang="en-US" sz="2400" dirty="0"/>
              <a:t> </a:t>
            </a:r>
            <a:r>
              <a:rPr lang="en-US" sz="2400" dirty="0" err="1"/>
              <a:t>kết</a:t>
            </a:r>
            <a:r>
              <a:rPr lang="en-US" sz="2400" dirty="0"/>
              <a:t> </a:t>
            </a:r>
            <a:r>
              <a:rPr lang="en-US" sz="2400" dirty="0" err="1"/>
              <a:t>thúc</a:t>
            </a:r>
            <a:r>
              <a:rPr lang="en-US" sz="2400" dirty="0"/>
              <a:t>. </a:t>
            </a:r>
          </a:p>
          <a:p>
            <a:endParaRPr lang="en-US" sz="2400" dirty="0"/>
          </a:p>
        </p:txBody>
      </p:sp>
    </p:spTree>
    <p:extLst>
      <p:ext uri="{BB962C8B-B14F-4D97-AF65-F5344CB8AC3E}">
        <p14:creationId xmlns:p14="http://schemas.microsoft.com/office/powerpoint/2010/main" val="406419150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130815"/>
            <a:ext cx="8911687" cy="1280890"/>
          </a:xfrm>
        </p:spPr>
        <p:txBody>
          <a:bodyPr/>
          <a:lstStyle/>
          <a:p>
            <a:r>
              <a:rPr lang="es-MX" b="1"/>
              <a:t>Otomat hữu hạn không đơn </a:t>
            </a:r>
            <a:r>
              <a:rPr lang="es-MX" b="1" smtClean="0"/>
              <a:t>định (NFA) </a:t>
            </a:r>
            <a:endParaRPr lang="en-US"/>
          </a:p>
        </p:txBody>
      </p:sp>
      <p:sp>
        <p:nvSpPr>
          <p:cNvPr id="3" name="Content Placeholder 2"/>
          <p:cNvSpPr>
            <a:spLocks noGrp="1"/>
          </p:cNvSpPr>
          <p:nvPr>
            <p:ph idx="1"/>
          </p:nvPr>
        </p:nvSpPr>
        <p:spPr>
          <a:xfrm>
            <a:off x="2589212" y="1264554"/>
            <a:ext cx="9514556" cy="5123367"/>
          </a:xfrm>
        </p:spPr>
        <p:txBody>
          <a:bodyPr>
            <a:normAutofit/>
          </a:bodyPr>
          <a:lstStyle/>
          <a:p>
            <a:pPr>
              <a:lnSpc>
                <a:spcPct val="150000"/>
              </a:lnSpc>
              <a:spcBef>
                <a:spcPts val="0"/>
              </a:spcBef>
            </a:pPr>
            <a:r>
              <a:rPr lang="es-MX" sz="2000" smtClean="0"/>
              <a:t>Rõ </a:t>
            </a:r>
            <a:r>
              <a:rPr lang="es-MX" sz="2000"/>
              <a:t>ràng ở đây ánh xạ </a:t>
            </a:r>
            <a:r>
              <a:rPr lang="en-US" sz="2000"/>
              <a:t>δ</a:t>
            </a:r>
            <a:r>
              <a:rPr lang="es-MX" sz="2000"/>
              <a:t> là một hàm đa trị (hàm không đơn định), vì vậy otomat A trong định nghĩa trên đây được gọi là không đơn định. </a:t>
            </a:r>
            <a:endParaRPr lang="en-US" sz="2000"/>
          </a:p>
          <a:p>
            <a:pPr>
              <a:lnSpc>
                <a:spcPct val="150000"/>
              </a:lnSpc>
              <a:spcBef>
                <a:spcPts val="0"/>
              </a:spcBef>
            </a:pPr>
            <a:r>
              <a:rPr lang="es-MX" sz="2000"/>
              <a:t>Trong trường hợp </a:t>
            </a:r>
            <a:r>
              <a:rPr lang="en-US" sz="2000"/>
              <a:t>δ</a:t>
            </a:r>
            <a:r>
              <a:rPr lang="es-MX" sz="2000"/>
              <a:t>(q, a) xác định ∀q ∈ Q, ∀a ∈ </a:t>
            </a:r>
            <a:r>
              <a:rPr lang="en-US" sz="2000"/>
              <a:t>Σ</a:t>
            </a:r>
            <a:r>
              <a:rPr lang="es-MX" sz="2000"/>
              <a:t>, </a:t>
            </a:r>
            <a:r>
              <a:rPr lang="es-MX" sz="2000" smtClean="0"/>
              <a:t>hay </a:t>
            </a:r>
            <a:r>
              <a:rPr lang="en-US" sz="2000"/>
              <a:t>D </a:t>
            </a:r>
            <a:r>
              <a:rPr lang="en-US" sz="2000" smtClean="0"/>
              <a:t>= </a:t>
            </a:r>
            <a:r>
              <a:rPr lang="en-US" sz="2000"/>
              <a:t>Q × Σ </a:t>
            </a:r>
            <a:r>
              <a:rPr lang="es-MX" sz="2000" smtClean="0"/>
              <a:t>ta </a:t>
            </a:r>
            <a:r>
              <a:rPr lang="es-MX" sz="2000"/>
              <a:t>nói </a:t>
            </a:r>
            <a:r>
              <a:rPr lang="es-MX" sz="2000" smtClean="0"/>
              <a:t>otomat </a:t>
            </a:r>
            <a:r>
              <a:rPr lang="es-MX" sz="2000"/>
              <a:t>A là đầy đủ. </a:t>
            </a:r>
            <a:endParaRPr lang="en-US" sz="2000"/>
          </a:p>
          <a:p>
            <a:pPr>
              <a:lnSpc>
                <a:spcPct val="150000"/>
              </a:lnSpc>
              <a:spcBef>
                <a:spcPts val="0"/>
              </a:spcBef>
            </a:pPr>
            <a:r>
              <a:rPr lang="es-MX" sz="2000"/>
              <a:t>Nếu </a:t>
            </a:r>
            <a:r>
              <a:rPr lang="en-US" sz="2000"/>
              <a:t>δ</a:t>
            </a:r>
            <a:r>
              <a:rPr lang="es-MX" sz="2000"/>
              <a:t>(q, a) = {p</a:t>
            </a:r>
            <a:r>
              <a:rPr lang="es-MX" sz="2000" baseline="-25000"/>
              <a:t>1</a:t>
            </a:r>
            <a:r>
              <a:rPr lang="es-MX" sz="2000"/>
              <a:t>, p</a:t>
            </a:r>
            <a:r>
              <a:rPr lang="es-MX" sz="2000" baseline="-25000"/>
              <a:t>2</a:t>
            </a:r>
            <a:r>
              <a:rPr lang="es-MX" sz="2000"/>
              <a:t>, …, p</a:t>
            </a:r>
            <a:r>
              <a:rPr lang="es-MX" sz="2000" baseline="-25000"/>
              <a:t>k</a:t>
            </a:r>
            <a:r>
              <a:rPr lang="es-MX" sz="2000"/>
              <a:t>} thì ta nói rằng otomat A ở trạng thái q gặp ký hiệu a thì có thể chuyển đến một trong các trạng thái p</a:t>
            </a:r>
            <a:r>
              <a:rPr lang="es-MX" sz="2000" baseline="-25000"/>
              <a:t>1</a:t>
            </a:r>
            <a:r>
              <a:rPr lang="es-MX" sz="2000"/>
              <a:t>, p</a:t>
            </a:r>
            <a:r>
              <a:rPr lang="es-MX" sz="2000" baseline="-25000"/>
              <a:t>2</a:t>
            </a:r>
            <a:r>
              <a:rPr lang="es-MX" sz="2000"/>
              <a:t>, …, p</a:t>
            </a:r>
            <a:r>
              <a:rPr lang="es-MX" sz="2000" baseline="-25000"/>
              <a:t>k</a:t>
            </a:r>
            <a:r>
              <a:rPr lang="es-MX" sz="2000"/>
              <a:t>. </a:t>
            </a:r>
            <a:endParaRPr lang="es-MX" sz="2000" smtClean="0"/>
          </a:p>
          <a:p>
            <a:pPr>
              <a:lnSpc>
                <a:spcPct val="150000"/>
              </a:lnSpc>
              <a:spcBef>
                <a:spcPts val="0"/>
              </a:spcBef>
            </a:pPr>
            <a:r>
              <a:rPr lang="es-MX" sz="2000" smtClean="0"/>
              <a:t>Nếu </a:t>
            </a:r>
            <a:r>
              <a:rPr lang="en-US" sz="2000"/>
              <a:t>δ</a:t>
            </a:r>
            <a:r>
              <a:rPr lang="es-MX" sz="2000"/>
              <a:t>(q, a) = {p} thì ở trạng thái q gặp ký hiệu a, otomat A chỉ chuyển đến một trạng thái duy nhất p. </a:t>
            </a:r>
            <a:endParaRPr lang="es-MX" sz="2000" smtClean="0"/>
          </a:p>
          <a:p>
            <a:pPr>
              <a:lnSpc>
                <a:spcPct val="150000"/>
              </a:lnSpc>
              <a:spcBef>
                <a:spcPts val="0"/>
              </a:spcBef>
            </a:pPr>
            <a:r>
              <a:rPr lang="es-MX" sz="2000" smtClean="0"/>
              <a:t>Nếu </a:t>
            </a:r>
            <a:r>
              <a:rPr lang="en-US" sz="2000"/>
              <a:t>δ</a:t>
            </a:r>
            <a:r>
              <a:rPr lang="es-MX" sz="2000"/>
              <a:t>(q, a) </a:t>
            </a:r>
            <a:r>
              <a:rPr lang="es-MX" sz="2000" smtClean="0"/>
              <a:t>không </a:t>
            </a:r>
            <a:r>
              <a:rPr lang="es-MX" sz="2000"/>
              <a:t>xác  </a:t>
            </a:r>
            <a:r>
              <a:rPr lang="es-MX" sz="2000" smtClean="0"/>
              <a:t>định </a:t>
            </a:r>
            <a:r>
              <a:rPr lang="es-MX" sz="2000"/>
              <a:t>(ta thường viết </a:t>
            </a:r>
            <a:r>
              <a:rPr lang="en-US" sz="2000"/>
              <a:t>δ</a:t>
            </a:r>
            <a:r>
              <a:rPr lang="es-MX" sz="2000"/>
              <a:t>(q, a) = ∅ ) thì ở trạng thái q gặp ký hiệu a, otomat A không thể chuyển đến trạng thái </a:t>
            </a:r>
            <a:r>
              <a:rPr lang="es-MX" sz="2000" smtClean="0"/>
              <a:t>nào.  </a:t>
            </a:r>
            <a:endParaRPr lang="en-US" sz="2000"/>
          </a:p>
          <a:p>
            <a:pPr>
              <a:lnSpc>
                <a:spcPct val="150000"/>
              </a:lnSpc>
              <a:spcBef>
                <a:spcPts val="0"/>
              </a:spcBef>
            </a:pPr>
            <a:endParaRPr lang="en-US"/>
          </a:p>
        </p:txBody>
      </p:sp>
    </p:spTree>
    <p:extLst>
      <p:ext uri="{BB962C8B-B14F-4D97-AF65-F5344CB8AC3E}">
        <p14:creationId xmlns:p14="http://schemas.microsoft.com/office/powerpoint/2010/main" val="220243663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i="1" dirty="0" err="1"/>
              <a:t>Mô</a:t>
            </a:r>
            <a:r>
              <a:rPr lang="en-US" i="1" dirty="0"/>
              <a:t> </a:t>
            </a:r>
            <a:r>
              <a:rPr lang="en-US" i="1" dirty="0" err="1"/>
              <a:t>tả</a:t>
            </a:r>
            <a:r>
              <a:rPr lang="en-US" i="1" dirty="0"/>
              <a:t> </a:t>
            </a:r>
            <a:r>
              <a:rPr lang="en-US" i="1" dirty="0" err="1"/>
              <a:t>quá</a:t>
            </a:r>
            <a:r>
              <a:rPr lang="en-US" i="1" dirty="0"/>
              <a:t> </a:t>
            </a:r>
            <a:r>
              <a:rPr lang="en-US" i="1" dirty="0" err="1"/>
              <a:t>trình</a:t>
            </a:r>
            <a:r>
              <a:rPr lang="en-US" i="1" dirty="0"/>
              <a:t> </a:t>
            </a:r>
            <a:r>
              <a:rPr lang="en-US" i="1" dirty="0" err="1"/>
              <a:t>đoán</a:t>
            </a:r>
            <a:r>
              <a:rPr lang="en-US" i="1" dirty="0"/>
              <a:t> </a:t>
            </a:r>
            <a:r>
              <a:rPr lang="en-US" i="1" err="1"/>
              <a:t>nhận</a:t>
            </a:r>
            <a:r>
              <a:rPr lang="en-US" i="1"/>
              <a:t> </a:t>
            </a:r>
            <a:r>
              <a:rPr lang="en-US" i="1" smtClean="0"/>
              <a:t>chuỗi </a:t>
            </a:r>
            <a:r>
              <a:rPr lang="en-US" dirty="0"/>
              <a:t>ω</a:t>
            </a:r>
            <a:r>
              <a:rPr lang="en-US" i="1" dirty="0"/>
              <a:t> </a:t>
            </a:r>
            <a:r>
              <a:rPr lang="en-US" i="1" dirty="0" err="1"/>
              <a:t>của</a:t>
            </a:r>
            <a:r>
              <a:rPr lang="en-US" i="1" dirty="0"/>
              <a:t> </a:t>
            </a:r>
            <a:r>
              <a:rPr lang="en-US" i="1" dirty="0" err="1"/>
              <a:t>otomat</a:t>
            </a:r>
            <a:r>
              <a:rPr lang="en-US" i="1" dirty="0"/>
              <a:t> A </a:t>
            </a:r>
            <a:endParaRPr lang="en-US" dirty="0"/>
          </a:p>
        </p:txBody>
      </p:sp>
      <p:pic>
        <p:nvPicPr>
          <p:cNvPr id="4" name="Picture 3"/>
          <p:cNvPicPr/>
          <p:nvPr/>
        </p:nvPicPr>
        <p:blipFill>
          <a:blip r:embed="rId2"/>
          <a:stretch>
            <a:fillRect/>
          </a:stretch>
        </p:blipFill>
        <p:spPr>
          <a:xfrm>
            <a:off x="3240223" y="2238156"/>
            <a:ext cx="6725652" cy="2065421"/>
          </a:xfrm>
          <a:prstGeom prst="rect">
            <a:avLst/>
          </a:prstGeom>
        </p:spPr>
      </p:pic>
      <mc:AlternateContent xmlns:mc="http://schemas.openxmlformats.org/markup-compatibility/2006" xmlns:a14="http://schemas.microsoft.com/office/drawing/2010/main">
        <mc:Choice Requires="a14">
          <p:sp>
            <p:nvSpPr>
              <p:cNvPr id="5" name="TextBox 4"/>
              <p:cNvSpPr txBox="1"/>
              <p:nvPr/>
            </p:nvSpPr>
            <p:spPr>
              <a:xfrm>
                <a:off x="2936383" y="4623515"/>
                <a:ext cx="6362163" cy="120032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a:ea typeface="Cambria Math"/>
                        </a:rPr>
                        <m:t>𝛿</m:t>
                      </m:r>
                      <m:d>
                        <m:dPr>
                          <m:ctrlPr>
                            <a:rPr lang="en-US" b="0" i="1" smtClean="0">
                              <a:latin typeface="Cambria Math"/>
                              <a:ea typeface="Cambria Math"/>
                            </a:rPr>
                          </m:ctrlPr>
                        </m:dPr>
                        <m:e>
                          <m:sSub>
                            <m:sSubPr>
                              <m:ctrlPr>
                                <a:rPr lang="en-US" b="0" i="1" smtClean="0">
                                  <a:latin typeface="Cambria Math"/>
                                  <a:ea typeface="Cambria Math"/>
                                </a:rPr>
                              </m:ctrlPr>
                            </m:sSubPr>
                            <m:e>
                              <m:r>
                                <a:rPr lang="en-US" b="0" i="1" smtClean="0">
                                  <a:latin typeface="Cambria Math"/>
                                  <a:ea typeface="Cambria Math"/>
                                </a:rPr>
                                <m:t>𝑞</m:t>
                              </m:r>
                            </m:e>
                            <m:sub>
                              <m:r>
                                <a:rPr lang="en-US" b="0" i="1" smtClean="0">
                                  <a:latin typeface="Cambria Math"/>
                                  <a:ea typeface="Cambria Math"/>
                                </a:rPr>
                                <m:t>0</m:t>
                              </m:r>
                            </m:sub>
                          </m:sSub>
                          <m:r>
                            <a:rPr lang="en-US" b="0" i="1" smtClean="0">
                              <a:latin typeface="Cambria Math"/>
                              <a:ea typeface="Cambria Math"/>
                            </a:rPr>
                            <m:t>,</m:t>
                          </m:r>
                          <m:sSub>
                            <m:sSubPr>
                              <m:ctrlPr>
                                <a:rPr lang="en-US" b="0" i="1" smtClean="0">
                                  <a:latin typeface="Cambria Math"/>
                                  <a:ea typeface="Cambria Math"/>
                                </a:rPr>
                              </m:ctrlPr>
                            </m:sSubPr>
                            <m:e>
                              <m:r>
                                <a:rPr lang="en-US" b="0" i="1" smtClean="0">
                                  <a:latin typeface="Cambria Math"/>
                                  <a:ea typeface="Cambria Math"/>
                                </a:rPr>
                                <m:t>𝑎</m:t>
                              </m:r>
                            </m:e>
                            <m:sub>
                              <m:r>
                                <a:rPr lang="en-US" b="0" i="1" smtClean="0">
                                  <a:latin typeface="Cambria Math"/>
                                  <a:ea typeface="Cambria Math"/>
                                </a:rPr>
                                <m:t>1</m:t>
                              </m:r>
                            </m:sub>
                          </m:sSub>
                        </m:e>
                      </m:d>
                      <m:r>
                        <a:rPr lang="en-US" b="0" i="1" smtClean="0">
                          <a:latin typeface="Cambria Math"/>
                          <a:ea typeface="Cambria Math"/>
                        </a:rPr>
                        <m:t>= </m:t>
                      </m:r>
                      <m:sSub>
                        <m:sSubPr>
                          <m:ctrlPr>
                            <a:rPr lang="en-US" b="0" i="1" smtClean="0">
                              <a:latin typeface="Cambria Math"/>
                              <a:ea typeface="Cambria Math"/>
                            </a:rPr>
                          </m:ctrlPr>
                        </m:sSubPr>
                        <m:e>
                          <m:r>
                            <a:rPr lang="en-US" b="0" i="1" smtClean="0">
                              <a:latin typeface="Cambria Math"/>
                              <a:ea typeface="Cambria Math"/>
                            </a:rPr>
                            <m:t>𝑞</m:t>
                          </m:r>
                        </m:e>
                        <m:sub>
                          <m:r>
                            <a:rPr lang="en-US" b="0" i="1" smtClean="0">
                              <a:latin typeface="Cambria Math"/>
                              <a:ea typeface="Cambria Math"/>
                            </a:rPr>
                            <m:t>1</m:t>
                          </m:r>
                        </m:sub>
                      </m:sSub>
                    </m:oMath>
                  </m:oMathPara>
                </a14:m>
                <a:endParaRPr lang="en-US" smtClean="0"/>
              </a:p>
              <a:p>
                <a:pPr/>
                <a14:m>
                  <m:oMathPara xmlns:m="http://schemas.openxmlformats.org/officeDocument/2006/math">
                    <m:oMathParaPr>
                      <m:jc m:val="centerGroup"/>
                    </m:oMathParaPr>
                    <m:oMath xmlns:m="http://schemas.openxmlformats.org/officeDocument/2006/math">
                      <m:r>
                        <a:rPr lang="en-US" i="1">
                          <a:latin typeface="Cambria Math"/>
                          <a:ea typeface="Cambria Math"/>
                        </a:rPr>
                        <m:t>𝛿</m:t>
                      </m:r>
                      <m:d>
                        <m:dPr>
                          <m:ctrlPr>
                            <a:rPr lang="en-US" i="1">
                              <a:latin typeface="Cambria Math"/>
                              <a:ea typeface="Cambria Math"/>
                            </a:rPr>
                          </m:ctrlPr>
                        </m:dPr>
                        <m:e>
                          <m:sSub>
                            <m:sSubPr>
                              <m:ctrlPr>
                                <a:rPr lang="en-US" i="1">
                                  <a:latin typeface="Cambria Math"/>
                                  <a:ea typeface="Cambria Math"/>
                                </a:rPr>
                              </m:ctrlPr>
                            </m:sSubPr>
                            <m:e>
                              <m:r>
                                <a:rPr lang="en-US" i="1">
                                  <a:latin typeface="Cambria Math"/>
                                  <a:ea typeface="Cambria Math"/>
                                </a:rPr>
                                <m:t>𝑞</m:t>
                              </m:r>
                            </m:e>
                            <m:sub>
                              <m:r>
                                <a:rPr lang="en-US" b="0" i="1" smtClean="0">
                                  <a:latin typeface="Cambria Math"/>
                                  <a:ea typeface="Cambria Math"/>
                                </a:rPr>
                                <m:t>1</m:t>
                              </m:r>
                            </m:sub>
                          </m:sSub>
                          <m:r>
                            <a:rPr lang="en-US" i="1">
                              <a:latin typeface="Cambria Math"/>
                              <a:ea typeface="Cambria Math"/>
                            </a:rPr>
                            <m:t>,</m:t>
                          </m:r>
                          <m:sSub>
                            <m:sSubPr>
                              <m:ctrlPr>
                                <a:rPr lang="en-US" i="1">
                                  <a:latin typeface="Cambria Math"/>
                                  <a:ea typeface="Cambria Math"/>
                                </a:rPr>
                              </m:ctrlPr>
                            </m:sSubPr>
                            <m:e>
                              <m:r>
                                <a:rPr lang="en-US" i="1">
                                  <a:latin typeface="Cambria Math"/>
                                  <a:ea typeface="Cambria Math"/>
                                </a:rPr>
                                <m:t>𝑎</m:t>
                              </m:r>
                            </m:e>
                            <m:sub>
                              <m:r>
                                <a:rPr lang="en-US" b="0" i="1" smtClean="0">
                                  <a:latin typeface="Cambria Math"/>
                                  <a:ea typeface="Cambria Math"/>
                                </a:rPr>
                                <m:t>2</m:t>
                              </m:r>
                            </m:sub>
                          </m:sSub>
                        </m:e>
                      </m:d>
                      <m:r>
                        <a:rPr lang="en-US" i="1">
                          <a:latin typeface="Cambria Math"/>
                          <a:ea typeface="Cambria Math"/>
                        </a:rPr>
                        <m:t>= </m:t>
                      </m:r>
                      <m:sSub>
                        <m:sSubPr>
                          <m:ctrlPr>
                            <a:rPr lang="en-US" i="1">
                              <a:latin typeface="Cambria Math"/>
                              <a:ea typeface="Cambria Math"/>
                            </a:rPr>
                          </m:ctrlPr>
                        </m:sSubPr>
                        <m:e>
                          <m:r>
                            <a:rPr lang="en-US" i="1">
                              <a:latin typeface="Cambria Math"/>
                              <a:ea typeface="Cambria Math"/>
                            </a:rPr>
                            <m:t>𝑞</m:t>
                          </m:r>
                        </m:e>
                        <m:sub>
                          <m:r>
                            <a:rPr lang="en-US" b="0" i="1" smtClean="0">
                              <a:latin typeface="Cambria Math"/>
                              <a:ea typeface="Cambria Math"/>
                            </a:rPr>
                            <m:t>2</m:t>
                          </m:r>
                        </m:sub>
                      </m:sSub>
                    </m:oMath>
                  </m:oMathPara>
                </a14:m>
                <a:endParaRPr lang="en-US" smtClean="0"/>
              </a:p>
              <a:p>
                <a:pPr algn="ctr"/>
                <a:r>
                  <a:rPr lang="en-US" smtClean="0"/>
                  <a:t>……</a:t>
                </a:r>
              </a:p>
              <a:p>
                <a:pPr algn="ctr"/>
                <a14:m>
                  <m:oMathPara xmlns:m="http://schemas.openxmlformats.org/officeDocument/2006/math">
                    <m:oMathParaPr>
                      <m:jc m:val="centerGroup"/>
                    </m:oMathParaPr>
                    <m:oMath xmlns:m="http://schemas.openxmlformats.org/officeDocument/2006/math">
                      <m:r>
                        <a:rPr lang="en-US" i="1">
                          <a:latin typeface="Cambria Math"/>
                          <a:ea typeface="Cambria Math"/>
                        </a:rPr>
                        <m:t>𝛿</m:t>
                      </m:r>
                      <m:d>
                        <m:dPr>
                          <m:ctrlPr>
                            <a:rPr lang="en-US" i="1">
                              <a:latin typeface="Cambria Math"/>
                              <a:ea typeface="Cambria Math"/>
                            </a:rPr>
                          </m:ctrlPr>
                        </m:dPr>
                        <m:e>
                          <m:sSub>
                            <m:sSubPr>
                              <m:ctrlPr>
                                <a:rPr lang="en-US" i="1">
                                  <a:latin typeface="Cambria Math"/>
                                  <a:ea typeface="Cambria Math"/>
                                </a:rPr>
                              </m:ctrlPr>
                            </m:sSubPr>
                            <m:e>
                              <m:r>
                                <a:rPr lang="en-US" i="1">
                                  <a:latin typeface="Cambria Math"/>
                                  <a:ea typeface="Cambria Math"/>
                                </a:rPr>
                                <m:t>𝑞</m:t>
                              </m:r>
                            </m:e>
                            <m:sub>
                              <m:r>
                                <a:rPr lang="en-US" b="0" i="1" smtClean="0">
                                  <a:latin typeface="Cambria Math"/>
                                  <a:ea typeface="Cambria Math"/>
                                </a:rPr>
                                <m:t>𝑛</m:t>
                              </m:r>
                              <m:r>
                                <a:rPr lang="en-US" b="0" i="1" smtClean="0">
                                  <a:latin typeface="Cambria Math"/>
                                  <a:ea typeface="Cambria Math"/>
                                </a:rPr>
                                <m:t>−1</m:t>
                              </m:r>
                            </m:sub>
                          </m:sSub>
                          <m:r>
                            <a:rPr lang="en-US" i="1">
                              <a:latin typeface="Cambria Math"/>
                              <a:ea typeface="Cambria Math"/>
                            </a:rPr>
                            <m:t>,</m:t>
                          </m:r>
                          <m:sSub>
                            <m:sSubPr>
                              <m:ctrlPr>
                                <a:rPr lang="en-US" i="1">
                                  <a:latin typeface="Cambria Math"/>
                                  <a:ea typeface="Cambria Math"/>
                                </a:rPr>
                              </m:ctrlPr>
                            </m:sSubPr>
                            <m:e>
                              <m:r>
                                <a:rPr lang="en-US" i="1">
                                  <a:latin typeface="Cambria Math"/>
                                  <a:ea typeface="Cambria Math"/>
                                </a:rPr>
                                <m:t>𝑎</m:t>
                              </m:r>
                            </m:e>
                            <m:sub>
                              <m:r>
                                <a:rPr lang="en-US" b="0" i="1" smtClean="0">
                                  <a:latin typeface="Cambria Math"/>
                                  <a:ea typeface="Cambria Math"/>
                                </a:rPr>
                                <m:t>𝑛</m:t>
                              </m:r>
                            </m:sub>
                          </m:sSub>
                        </m:e>
                      </m:d>
                      <m:r>
                        <a:rPr lang="en-US" i="1">
                          <a:latin typeface="Cambria Math"/>
                          <a:ea typeface="Cambria Math"/>
                        </a:rPr>
                        <m:t>= </m:t>
                      </m:r>
                      <m:sSub>
                        <m:sSubPr>
                          <m:ctrlPr>
                            <a:rPr lang="en-US" i="1">
                              <a:latin typeface="Cambria Math"/>
                              <a:ea typeface="Cambria Math"/>
                            </a:rPr>
                          </m:ctrlPr>
                        </m:sSubPr>
                        <m:e>
                          <m:r>
                            <a:rPr lang="en-US" i="1">
                              <a:latin typeface="Cambria Math"/>
                              <a:ea typeface="Cambria Math"/>
                            </a:rPr>
                            <m:t>𝑞</m:t>
                          </m:r>
                        </m:e>
                        <m:sub>
                          <m:r>
                            <a:rPr lang="en-US" b="0" i="1" smtClean="0">
                              <a:latin typeface="Cambria Math"/>
                              <a:ea typeface="Cambria Math"/>
                            </a:rPr>
                            <m:t>𝑛</m:t>
                          </m:r>
                        </m:sub>
                      </m:sSub>
                    </m:oMath>
                  </m:oMathPara>
                </a14:m>
                <a:endParaRPr lang="en-US"/>
              </a:p>
            </p:txBody>
          </p:sp>
        </mc:Choice>
        <mc:Fallback xmlns="">
          <p:sp>
            <p:nvSpPr>
              <p:cNvPr id="5" name="TextBox 4"/>
              <p:cNvSpPr txBox="1">
                <a:spLocks noRot="1" noChangeAspect="1" noMove="1" noResize="1" noEditPoints="1" noAdjustHandles="1" noChangeArrowheads="1" noChangeShapeType="1" noTextEdit="1"/>
              </p:cNvSpPr>
              <p:nvPr/>
            </p:nvSpPr>
            <p:spPr>
              <a:xfrm>
                <a:off x="2936383" y="4623515"/>
                <a:ext cx="6362163" cy="1200329"/>
              </a:xfrm>
              <a:prstGeom prst="rect">
                <a:avLst/>
              </a:prstGeom>
              <a:blipFill rotWithShape="1">
                <a:blip r:embed="rId3"/>
                <a:stretch>
                  <a:fillRect b="-2030"/>
                </a:stretch>
              </a:blipFill>
            </p:spPr>
            <p:txBody>
              <a:bodyPr/>
              <a:lstStyle/>
              <a:p>
                <a:r>
                  <a:rPr lang="en-US">
                    <a:noFill/>
                  </a:rPr>
                  <a:t> </a:t>
                </a:r>
              </a:p>
            </p:txBody>
          </p:sp>
        </mc:Fallback>
      </mc:AlternateContent>
    </p:spTree>
    <p:extLst>
      <p:ext uri="{BB962C8B-B14F-4D97-AF65-F5344CB8AC3E}">
        <p14:creationId xmlns:p14="http://schemas.microsoft.com/office/powerpoint/2010/main" val="252052784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67437" y="651898"/>
            <a:ext cx="9628010" cy="842052"/>
          </a:xfrm>
        </p:spPr>
        <p:txBody>
          <a:bodyPr>
            <a:normAutofit fontScale="90000"/>
          </a:bodyPr>
          <a:lstStyle/>
          <a:p>
            <a:r>
              <a:rPr lang="en-US" smtClean="0"/>
              <a:t>Điều kiện kết thúc quá trình đọc chuỗi vào: </a:t>
            </a:r>
            <a:r>
              <a:rPr lang="en-US" dirty="0"/>
              <a:t/>
            </a:r>
            <a:br>
              <a:rPr lang="en-US" dirty="0"/>
            </a:br>
            <a:endParaRPr lang="en-US" dirty="0"/>
          </a:p>
        </p:txBody>
      </p:sp>
      <p:sp>
        <p:nvSpPr>
          <p:cNvPr id="3" name="Content Placeholder 2"/>
          <p:cNvSpPr>
            <a:spLocks noGrp="1"/>
          </p:cNvSpPr>
          <p:nvPr>
            <p:ph idx="1"/>
          </p:nvPr>
        </p:nvSpPr>
        <p:spPr>
          <a:xfrm>
            <a:off x="1233323" y="2181441"/>
            <a:ext cx="10868525" cy="3717083"/>
          </a:xfrm>
        </p:spPr>
        <p:txBody>
          <a:bodyPr>
            <a:noAutofit/>
          </a:bodyPr>
          <a:lstStyle/>
          <a:p>
            <a:pPr>
              <a:lnSpc>
                <a:spcPct val="150000"/>
              </a:lnSpc>
              <a:spcBef>
                <a:spcPts val="0"/>
              </a:spcBef>
            </a:pPr>
            <a:r>
              <a:rPr lang="en-US" sz="2400" smtClean="0">
                <a:latin typeface="Arial" pitchFamily="34" charset="0"/>
                <a:cs typeface="Arial" pitchFamily="34" charset="0"/>
              </a:rPr>
              <a:t>Otomat </a:t>
            </a:r>
            <a:r>
              <a:rPr lang="en-US" sz="2400" dirty="0">
                <a:latin typeface="Arial" pitchFamily="34" charset="0"/>
                <a:cs typeface="Arial" pitchFamily="34" charset="0"/>
              </a:rPr>
              <a:t>A </a:t>
            </a:r>
            <a:r>
              <a:rPr lang="en-US" sz="2400" dirty="0" err="1">
                <a:latin typeface="Arial" pitchFamily="34" charset="0"/>
                <a:cs typeface="Arial" pitchFamily="34" charset="0"/>
              </a:rPr>
              <a:t>đọc</a:t>
            </a:r>
            <a:r>
              <a:rPr lang="en-US" sz="2400" dirty="0">
                <a:latin typeface="Arial" pitchFamily="34" charset="0"/>
                <a:cs typeface="Arial" pitchFamily="34" charset="0"/>
              </a:rPr>
              <a:t> </a:t>
            </a:r>
            <a:r>
              <a:rPr lang="en-US" sz="2400" err="1">
                <a:latin typeface="Arial" pitchFamily="34" charset="0"/>
                <a:cs typeface="Arial" pitchFamily="34" charset="0"/>
              </a:rPr>
              <a:t>hết</a:t>
            </a:r>
            <a:r>
              <a:rPr lang="en-US" sz="2400">
                <a:latin typeface="Arial" pitchFamily="34" charset="0"/>
                <a:cs typeface="Arial" pitchFamily="34" charset="0"/>
              </a:rPr>
              <a:t> </a:t>
            </a:r>
            <a:r>
              <a:rPr lang="en-US" sz="2400" smtClean="0">
                <a:latin typeface="Arial" pitchFamily="34" charset="0"/>
                <a:cs typeface="Arial" pitchFamily="34" charset="0"/>
              </a:rPr>
              <a:t>chuỗi </a:t>
            </a:r>
            <a:r>
              <a:rPr lang="en-US" sz="2400" dirty="0" err="1">
                <a:latin typeface="Arial" pitchFamily="34" charset="0"/>
                <a:cs typeface="Arial" pitchFamily="34" charset="0"/>
              </a:rPr>
              <a:t>vào</a:t>
            </a:r>
            <a:r>
              <a:rPr lang="en-US" sz="2400" dirty="0">
                <a:latin typeface="Arial" pitchFamily="34" charset="0"/>
                <a:cs typeface="Arial" pitchFamily="34" charset="0"/>
              </a:rPr>
              <a:t> ω </a:t>
            </a:r>
            <a:r>
              <a:rPr lang="en-US" sz="2400" dirty="0" err="1">
                <a:latin typeface="Arial" pitchFamily="34" charset="0"/>
                <a:cs typeface="Arial" pitchFamily="34" charset="0"/>
              </a:rPr>
              <a:t>và</a:t>
            </a:r>
            <a:r>
              <a:rPr lang="en-US" sz="2400" dirty="0">
                <a:latin typeface="Arial" pitchFamily="34" charset="0"/>
                <a:cs typeface="Arial" pitchFamily="34" charset="0"/>
              </a:rPr>
              <a:t> δ(q</a:t>
            </a:r>
            <a:r>
              <a:rPr lang="en-US" sz="2400" baseline="-25000" dirty="0">
                <a:latin typeface="Arial" pitchFamily="34" charset="0"/>
                <a:cs typeface="Arial" pitchFamily="34" charset="0"/>
              </a:rPr>
              <a:t>n-1</a:t>
            </a:r>
            <a:r>
              <a:rPr lang="en-US" sz="2400" dirty="0">
                <a:latin typeface="Arial" pitchFamily="34" charset="0"/>
                <a:cs typeface="Arial" pitchFamily="34" charset="0"/>
              </a:rPr>
              <a:t>,a</a:t>
            </a:r>
            <a:r>
              <a:rPr lang="en-US" sz="2400" baseline="-25000" dirty="0">
                <a:latin typeface="Arial" pitchFamily="34" charset="0"/>
                <a:cs typeface="Arial" pitchFamily="34" charset="0"/>
              </a:rPr>
              <a:t>n</a:t>
            </a:r>
            <a:r>
              <a:rPr lang="en-US" sz="2400" dirty="0">
                <a:latin typeface="Arial" pitchFamily="34" charset="0"/>
                <a:cs typeface="Arial" pitchFamily="34" charset="0"/>
              </a:rPr>
              <a:t>) = </a:t>
            </a:r>
            <a:r>
              <a:rPr lang="en-US" sz="2400" dirty="0" err="1">
                <a:latin typeface="Arial" pitchFamily="34" charset="0"/>
                <a:cs typeface="Arial" pitchFamily="34" charset="0"/>
              </a:rPr>
              <a:t>q</a:t>
            </a:r>
            <a:r>
              <a:rPr lang="en-US" sz="2400" baseline="-25000" dirty="0" err="1">
                <a:latin typeface="Arial" pitchFamily="34" charset="0"/>
                <a:cs typeface="Arial" pitchFamily="34" charset="0"/>
              </a:rPr>
              <a:t>n</a:t>
            </a:r>
            <a:r>
              <a:rPr lang="en-US" sz="2400" baseline="-25000" dirty="0">
                <a:latin typeface="Arial" pitchFamily="34" charset="0"/>
                <a:cs typeface="Arial" pitchFamily="34" charset="0"/>
              </a:rPr>
              <a:t> </a:t>
            </a:r>
            <a:r>
              <a:rPr lang="en-US" sz="2400" dirty="0">
                <a:latin typeface="Arial" pitchFamily="34" charset="0"/>
                <a:cs typeface="Arial" pitchFamily="34" charset="0"/>
              </a:rPr>
              <a:t>∈ F, ta </a:t>
            </a:r>
            <a:r>
              <a:rPr lang="en-US" sz="2400" dirty="0" err="1">
                <a:latin typeface="Arial" pitchFamily="34" charset="0"/>
                <a:cs typeface="Arial" pitchFamily="34" charset="0"/>
              </a:rPr>
              <a:t>nói</a:t>
            </a:r>
            <a:r>
              <a:rPr lang="en-US" sz="2400" dirty="0">
                <a:latin typeface="Arial" pitchFamily="34" charset="0"/>
                <a:cs typeface="Arial" pitchFamily="34" charset="0"/>
              </a:rPr>
              <a:t> </a:t>
            </a:r>
            <a:r>
              <a:rPr lang="en-US" sz="2400" dirty="0" err="1">
                <a:latin typeface="Arial" pitchFamily="34" charset="0"/>
                <a:cs typeface="Arial" pitchFamily="34" charset="0"/>
              </a:rPr>
              <a:t>rằng</a:t>
            </a:r>
            <a:r>
              <a:rPr lang="en-US" sz="2400" dirty="0">
                <a:latin typeface="Arial" pitchFamily="34" charset="0"/>
                <a:cs typeface="Arial" pitchFamily="34" charset="0"/>
              </a:rPr>
              <a:t> A </a:t>
            </a:r>
            <a:r>
              <a:rPr lang="en-US" sz="2400" dirty="0" err="1">
                <a:latin typeface="Arial" pitchFamily="34" charset="0"/>
                <a:cs typeface="Arial" pitchFamily="34" charset="0"/>
              </a:rPr>
              <a:t>đoán</a:t>
            </a:r>
            <a:r>
              <a:rPr lang="en-US" sz="2400" dirty="0">
                <a:latin typeface="Arial" pitchFamily="34" charset="0"/>
                <a:cs typeface="Arial" pitchFamily="34" charset="0"/>
              </a:rPr>
              <a:t> </a:t>
            </a:r>
            <a:r>
              <a:rPr lang="en-US" sz="2400" err="1">
                <a:latin typeface="Arial" pitchFamily="34" charset="0"/>
                <a:cs typeface="Arial" pitchFamily="34" charset="0"/>
              </a:rPr>
              <a:t>nhận</a:t>
            </a:r>
            <a:r>
              <a:rPr lang="en-US" sz="2400">
                <a:latin typeface="Arial" pitchFamily="34" charset="0"/>
                <a:cs typeface="Arial" pitchFamily="34" charset="0"/>
              </a:rPr>
              <a:t> </a:t>
            </a:r>
            <a:r>
              <a:rPr lang="en-US" sz="2400" smtClean="0">
                <a:latin typeface="Arial" pitchFamily="34" charset="0"/>
                <a:cs typeface="Arial" pitchFamily="34" charset="0"/>
              </a:rPr>
              <a:t>chuỗi </a:t>
            </a:r>
            <a:r>
              <a:rPr lang="en-US" sz="2400" dirty="0">
                <a:latin typeface="Arial" pitchFamily="34" charset="0"/>
                <a:cs typeface="Arial" pitchFamily="34" charset="0"/>
              </a:rPr>
              <a:t>ω. </a:t>
            </a:r>
          </a:p>
          <a:p>
            <a:pPr>
              <a:lnSpc>
                <a:spcPct val="150000"/>
              </a:lnSpc>
              <a:spcBef>
                <a:spcPts val="0"/>
              </a:spcBef>
            </a:pPr>
            <a:r>
              <a:rPr lang="en-US" sz="2400" smtClean="0">
                <a:latin typeface="Arial" pitchFamily="34" charset="0"/>
                <a:cs typeface="Arial" pitchFamily="34" charset="0"/>
              </a:rPr>
              <a:t>Hoặc </a:t>
            </a:r>
            <a:r>
              <a:rPr lang="en-US" sz="2400" dirty="0" err="1">
                <a:latin typeface="Arial" pitchFamily="34" charset="0"/>
                <a:cs typeface="Arial" pitchFamily="34" charset="0"/>
              </a:rPr>
              <a:t>otomat</a:t>
            </a:r>
            <a:r>
              <a:rPr lang="en-US" sz="2400" dirty="0">
                <a:latin typeface="Arial" pitchFamily="34" charset="0"/>
                <a:cs typeface="Arial" pitchFamily="34" charset="0"/>
              </a:rPr>
              <a:t> A </a:t>
            </a:r>
            <a:r>
              <a:rPr lang="en-US" sz="2400" dirty="0" err="1">
                <a:latin typeface="Arial" pitchFamily="34" charset="0"/>
                <a:cs typeface="Arial" pitchFamily="34" charset="0"/>
              </a:rPr>
              <a:t>đọc</a:t>
            </a:r>
            <a:r>
              <a:rPr lang="en-US" sz="2400" dirty="0">
                <a:latin typeface="Arial" pitchFamily="34" charset="0"/>
                <a:cs typeface="Arial" pitchFamily="34" charset="0"/>
              </a:rPr>
              <a:t> </a:t>
            </a:r>
            <a:r>
              <a:rPr lang="en-US" sz="2400" err="1">
                <a:latin typeface="Arial" pitchFamily="34" charset="0"/>
                <a:cs typeface="Arial" pitchFamily="34" charset="0"/>
              </a:rPr>
              <a:t>hết</a:t>
            </a:r>
            <a:r>
              <a:rPr lang="en-US" sz="2400">
                <a:latin typeface="Arial" pitchFamily="34" charset="0"/>
                <a:cs typeface="Arial" pitchFamily="34" charset="0"/>
              </a:rPr>
              <a:t> </a:t>
            </a:r>
            <a:r>
              <a:rPr lang="en-US" sz="2400" smtClean="0">
                <a:latin typeface="Arial" pitchFamily="34" charset="0"/>
                <a:cs typeface="Arial" pitchFamily="34" charset="0"/>
              </a:rPr>
              <a:t>chuỗi </a:t>
            </a:r>
            <a:r>
              <a:rPr lang="en-US" sz="2400" dirty="0" err="1">
                <a:latin typeface="Arial" pitchFamily="34" charset="0"/>
                <a:cs typeface="Arial" pitchFamily="34" charset="0"/>
              </a:rPr>
              <a:t>vào</a:t>
            </a:r>
            <a:r>
              <a:rPr lang="en-US" sz="2400" dirty="0">
                <a:latin typeface="Arial" pitchFamily="34" charset="0"/>
                <a:cs typeface="Arial" pitchFamily="34" charset="0"/>
              </a:rPr>
              <a:t> ω </a:t>
            </a:r>
            <a:r>
              <a:rPr lang="en-US" sz="2400" dirty="0" err="1">
                <a:latin typeface="Arial" pitchFamily="34" charset="0"/>
                <a:cs typeface="Arial" pitchFamily="34" charset="0"/>
              </a:rPr>
              <a:t>và</a:t>
            </a:r>
            <a:r>
              <a:rPr lang="en-US" sz="2400" dirty="0">
                <a:latin typeface="Arial" pitchFamily="34" charset="0"/>
                <a:cs typeface="Arial" pitchFamily="34" charset="0"/>
              </a:rPr>
              <a:t> δ(q</a:t>
            </a:r>
            <a:r>
              <a:rPr lang="en-US" sz="2400" baseline="-25000" dirty="0">
                <a:latin typeface="Arial" pitchFamily="34" charset="0"/>
                <a:cs typeface="Arial" pitchFamily="34" charset="0"/>
              </a:rPr>
              <a:t>n-1</a:t>
            </a:r>
            <a:r>
              <a:rPr lang="en-US" sz="2400" dirty="0">
                <a:latin typeface="Arial" pitchFamily="34" charset="0"/>
                <a:cs typeface="Arial" pitchFamily="34" charset="0"/>
              </a:rPr>
              <a:t>,a</a:t>
            </a:r>
            <a:r>
              <a:rPr lang="en-US" sz="2400" baseline="-25000" dirty="0">
                <a:latin typeface="Arial" pitchFamily="34" charset="0"/>
                <a:cs typeface="Arial" pitchFamily="34" charset="0"/>
              </a:rPr>
              <a:t>n</a:t>
            </a:r>
            <a:r>
              <a:rPr lang="en-US" sz="2400" dirty="0">
                <a:latin typeface="Arial" pitchFamily="34" charset="0"/>
                <a:cs typeface="Arial" pitchFamily="34" charset="0"/>
              </a:rPr>
              <a:t>) = </a:t>
            </a:r>
            <a:r>
              <a:rPr lang="en-US" sz="2400" dirty="0" err="1">
                <a:latin typeface="Arial" pitchFamily="34" charset="0"/>
                <a:cs typeface="Arial" pitchFamily="34" charset="0"/>
              </a:rPr>
              <a:t>q</a:t>
            </a:r>
            <a:r>
              <a:rPr lang="en-US" sz="2400" baseline="-25000" dirty="0" err="1">
                <a:latin typeface="Arial" pitchFamily="34" charset="0"/>
                <a:cs typeface="Arial" pitchFamily="34" charset="0"/>
              </a:rPr>
              <a:t>n</a:t>
            </a:r>
            <a:r>
              <a:rPr lang="en-US" sz="2400" baseline="-25000" dirty="0">
                <a:latin typeface="Arial" pitchFamily="34" charset="0"/>
                <a:cs typeface="Arial" pitchFamily="34" charset="0"/>
              </a:rPr>
              <a:t> </a:t>
            </a:r>
            <a:r>
              <a:rPr lang="en-US" sz="2400" dirty="0">
                <a:latin typeface="Arial" pitchFamily="34" charset="0"/>
                <a:cs typeface="Arial" pitchFamily="34" charset="0"/>
              </a:rPr>
              <a:t>∉ F, ta </a:t>
            </a:r>
            <a:r>
              <a:rPr lang="en-US" sz="2400" dirty="0" err="1">
                <a:latin typeface="Arial" pitchFamily="34" charset="0"/>
                <a:cs typeface="Arial" pitchFamily="34" charset="0"/>
              </a:rPr>
              <a:t>nói</a:t>
            </a:r>
            <a:r>
              <a:rPr lang="en-US" sz="2400" dirty="0">
                <a:latin typeface="Arial" pitchFamily="34" charset="0"/>
                <a:cs typeface="Arial" pitchFamily="34" charset="0"/>
              </a:rPr>
              <a:t> A </a:t>
            </a:r>
            <a:r>
              <a:rPr lang="en-US" sz="2400" dirty="0" err="1">
                <a:latin typeface="Arial" pitchFamily="34" charset="0"/>
                <a:cs typeface="Arial" pitchFamily="34" charset="0"/>
              </a:rPr>
              <a:t>không</a:t>
            </a:r>
            <a:r>
              <a:rPr lang="en-US" sz="2400" dirty="0">
                <a:latin typeface="Arial" pitchFamily="34" charset="0"/>
                <a:cs typeface="Arial" pitchFamily="34" charset="0"/>
              </a:rPr>
              <a:t> </a:t>
            </a:r>
            <a:r>
              <a:rPr lang="en-US" sz="2400" dirty="0" err="1">
                <a:latin typeface="Arial" pitchFamily="34" charset="0"/>
                <a:cs typeface="Arial" pitchFamily="34" charset="0"/>
              </a:rPr>
              <a:t>đoán</a:t>
            </a:r>
            <a:r>
              <a:rPr lang="en-US" sz="2400" dirty="0">
                <a:latin typeface="Arial" pitchFamily="34" charset="0"/>
                <a:cs typeface="Arial" pitchFamily="34" charset="0"/>
              </a:rPr>
              <a:t> </a:t>
            </a:r>
            <a:r>
              <a:rPr lang="en-US" sz="2400" err="1">
                <a:latin typeface="Arial" pitchFamily="34" charset="0"/>
                <a:cs typeface="Arial" pitchFamily="34" charset="0"/>
              </a:rPr>
              <a:t>nhận</a:t>
            </a:r>
            <a:r>
              <a:rPr lang="en-US" sz="2400">
                <a:latin typeface="Arial" pitchFamily="34" charset="0"/>
                <a:cs typeface="Arial" pitchFamily="34" charset="0"/>
              </a:rPr>
              <a:t> </a:t>
            </a:r>
            <a:r>
              <a:rPr lang="en-US" sz="2400" smtClean="0">
                <a:latin typeface="Arial" pitchFamily="34" charset="0"/>
                <a:cs typeface="Arial" pitchFamily="34" charset="0"/>
              </a:rPr>
              <a:t>chuỗi </a:t>
            </a:r>
            <a:r>
              <a:rPr lang="en-US" sz="2400" dirty="0">
                <a:latin typeface="Arial" pitchFamily="34" charset="0"/>
                <a:cs typeface="Arial" pitchFamily="34" charset="0"/>
              </a:rPr>
              <a:t>ω. </a:t>
            </a:r>
          </a:p>
          <a:p>
            <a:pPr>
              <a:lnSpc>
                <a:spcPct val="150000"/>
              </a:lnSpc>
              <a:spcBef>
                <a:spcPts val="0"/>
              </a:spcBef>
            </a:pPr>
            <a:r>
              <a:rPr lang="en-US" sz="2400" smtClean="0">
                <a:latin typeface="Arial" pitchFamily="34" charset="0"/>
                <a:cs typeface="Arial" pitchFamily="34" charset="0"/>
              </a:rPr>
              <a:t>Hoặc </a:t>
            </a:r>
            <a:r>
              <a:rPr lang="en-US" sz="2400" dirty="0" err="1">
                <a:latin typeface="Arial" pitchFamily="34" charset="0"/>
                <a:cs typeface="Arial" pitchFamily="34" charset="0"/>
              </a:rPr>
              <a:t>khi</a:t>
            </a:r>
            <a:r>
              <a:rPr lang="en-US" sz="2400" dirty="0">
                <a:latin typeface="Arial" pitchFamily="34" charset="0"/>
                <a:cs typeface="Arial" pitchFamily="34" charset="0"/>
              </a:rPr>
              <a:t> </a:t>
            </a:r>
            <a:r>
              <a:rPr lang="en-US" sz="2400" dirty="0" err="1">
                <a:latin typeface="Arial" pitchFamily="34" charset="0"/>
                <a:cs typeface="Arial" pitchFamily="34" charset="0"/>
              </a:rPr>
              <a:t>otomat</a:t>
            </a:r>
            <a:r>
              <a:rPr lang="en-US" sz="2400" dirty="0">
                <a:latin typeface="Arial" pitchFamily="34" charset="0"/>
                <a:cs typeface="Arial" pitchFamily="34" charset="0"/>
              </a:rPr>
              <a:t> A </a:t>
            </a:r>
            <a:r>
              <a:rPr lang="en-US" sz="2400" dirty="0" err="1">
                <a:latin typeface="Arial" pitchFamily="34" charset="0"/>
                <a:cs typeface="Arial" pitchFamily="34" charset="0"/>
              </a:rPr>
              <a:t>đọc</a:t>
            </a:r>
            <a:r>
              <a:rPr lang="en-US" sz="2400" dirty="0">
                <a:latin typeface="Arial" pitchFamily="34" charset="0"/>
                <a:cs typeface="Arial" pitchFamily="34" charset="0"/>
              </a:rPr>
              <a:t> </a:t>
            </a:r>
            <a:r>
              <a:rPr lang="en-US" sz="2400" dirty="0" err="1">
                <a:latin typeface="Arial" pitchFamily="34" charset="0"/>
                <a:cs typeface="Arial" pitchFamily="34" charset="0"/>
              </a:rPr>
              <a:t>đến</a:t>
            </a:r>
            <a:r>
              <a:rPr lang="en-US" sz="2400" dirty="0">
                <a:latin typeface="Arial" pitchFamily="34" charset="0"/>
                <a:cs typeface="Arial" pitchFamily="34" charset="0"/>
              </a:rPr>
              <a:t> </a:t>
            </a:r>
            <a:r>
              <a:rPr lang="en-US" sz="2400" dirty="0" err="1">
                <a:latin typeface="Arial" pitchFamily="34" charset="0"/>
                <a:cs typeface="Arial" pitchFamily="34" charset="0"/>
              </a:rPr>
              <a:t>a</a:t>
            </a:r>
            <a:r>
              <a:rPr lang="en-US" sz="2400" baseline="-25000" dirty="0" err="1">
                <a:latin typeface="Arial" pitchFamily="34" charset="0"/>
                <a:cs typeface="Arial" pitchFamily="34" charset="0"/>
              </a:rPr>
              <a:t>j</a:t>
            </a:r>
            <a:r>
              <a:rPr lang="en-US" sz="2400" baseline="-25000" dirty="0">
                <a:latin typeface="Arial" pitchFamily="34" charset="0"/>
                <a:cs typeface="Arial" pitchFamily="34" charset="0"/>
              </a:rPr>
              <a:t> </a:t>
            </a:r>
            <a:r>
              <a:rPr lang="en-US" sz="2400" dirty="0">
                <a:latin typeface="Arial" pitchFamily="34" charset="0"/>
                <a:cs typeface="Arial" pitchFamily="34" charset="0"/>
              </a:rPr>
              <a:t>, (j ≤ n) </a:t>
            </a:r>
            <a:r>
              <a:rPr lang="en-US" sz="2400" dirty="0" err="1">
                <a:latin typeface="Arial" pitchFamily="34" charset="0"/>
                <a:cs typeface="Arial" pitchFamily="34" charset="0"/>
              </a:rPr>
              <a:t>và</a:t>
            </a:r>
            <a:r>
              <a:rPr lang="en-US" sz="2400" dirty="0">
                <a:latin typeface="Arial" pitchFamily="34" charset="0"/>
                <a:cs typeface="Arial" pitchFamily="34" charset="0"/>
              </a:rPr>
              <a:t> </a:t>
            </a:r>
            <a:r>
              <a:rPr lang="en-US" sz="2400" dirty="0" err="1">
                <a:latin typeface="Arial" pitchFamily="34" charset="0"/>
                <a:cs typeface="Arial" pitchFamily="34" charset="0"/>
              </a:rPr>
              <a:t>hàm</a:t>
            </a:r>
            <a:r>
              <a:rPr lang="en-US" sz="2400" dirty="0">
                <a:latin typeface="Arial" pitchFamily="34" charset="0"/>
                <a:cs typeface="Arial" pitchFamily="34" charset="0"/>
              </a:rPr>
              <a:t> δ(q</a:t>
            </a:r>
            <a:r>
              <a:rPr lang="en-US" sz="2400" baseline="-25000" dirty="0">
                <a:latin typeface="Arial" pitchFamily="34" charset="0"/>
                <a:cs typeface="Arial" pitchFamily="34" charset="0"/>
              </a:rPr>
              <a:t>j-1</a:t>
            </a:r>
            <a:r>
              <a:rPr lang="en-US" sz="2400" dirty="0">
                <a:latin typeface="Arial" pitchFamily="34" charset="0"/>
                <a:cs typeface="Arial" pitchFamily="34" charset="0"/>
              </a:rPr>
              <a:t>, </a:t>
            </a:r>
            <a:r>
              <a:rPr lang="en-US" sz="2400" dirty="0" err="1">
                <a:latin typeface="Arial" pitchFamily="34" charset="0"/>
                <a:cs typeface="Arial" pitchFamily="34" charset="0"/>
              </a:rPr>
              <a:t>a</a:t>
            </a:r>
            <a:r>
              <a:rPr lang="en-US" sz="2400" baseline="-25000" dirty="0" err="1">
                <a:latin typeface="Arial" pitchFamily="34" charset="0"/>
                <a:cs typeface="Arial" pitchFamily="34" charset="0"/>
              </a:rPr>
              <a:t>j</a:t>
            </a:r>
            <a:r>
              <a:rPr lang="en-US" sz="2400" dirty="0">
                <a:latin typeface="Arial" pitchFamily="34" charset="0"/>
                <a:cs typeface="Arial" pitchFamily="34" charset="0"/>
              </a:rPr>
              <a:t>) </a:t>
            </a:r>
            <a:r>
              <a:rPr lang="en-US" sz="2400" dirty="0" err="1">
                <a:latin typeface="Arial" pitchFamily="34" charset="0"/>
                <a:cs typeface="Arial" pitchFamily="34" charset="0"/>
              </a:rPr>
              <a:t>không</a:t>
            </a:r>
            <a:r>
              <a:rPr lang="en-US" sz="2400" dirty="0">
                <a:latin typeface="Arial" pitchFamily="34" charset="0"/>
                <a:cs typeface="Arial" pitchFamily="34" charset="0"/>
              </a:rPr>
              <a:t> </a:t>
            </a:r>
            <a:r>
              <a:rPr lang="en-US" sz="2400" dirty="0" err="1">
                <a:latin typeface="Arial" pitchFamily="34" charset="0"/>
                <a:cs typeface="Arial" pitchFamily="34" charset="0"/>
              </a:rPr>
              <a:t>xác</a:t>
            </a:r>
            <a:r>
              <a:rPr lang="en-US" sz="2400" dirty="0">
                <a:latin typeface="Arial" pitchFamily="34" charset="0"/>
                <a:cs typeface="Arial" pitchFamily="34" charset="0"/>
              </a:rPr>
              <a:t> </a:t>
            </a:r>
            <a:r>
              <a:rPr lang="en-US" sz="2400" dirty="0" err="1">
                <a:latin typeface="Arial" pitchFamily="34" charset="0"/>
                <a:cs typeface="Arial" pitchFamily="34" charset="0"/>
              </a:rPr>
              <a:t>định</a:t>
            </a:r>
            <a:r>
              <a:rPr lang="en-US" sz="2400" dirty="0">
                <a:latin typeface="Arial" pitchFamily="34" charset="0"/>
                <a:cs typeface="Arial" pitchFamily="34" charset="0"/>
              </a:rPr>
              <a:t>, ta </a:t>
            </a:r>
            <a:r>
              <a:rPr lang="en-US" sz="2400" dirty="0" err="1">
                <a:latin typeface="Arial" pitchFamily="34" charset="0"/>
                <a:cs typeface="Arial" pitchFamily="34" charset="0"/>
              </a:rPr>
              <a:t>cũng</a:t>
            </a:r>
            <a:r>
              <a:rPr lang="en-US" sz="2400" dirty="0">
                <a:latin typeface="Arial" pitchFamily="34" charset="0"/>
                <a:cs typeface="Arial" pitchFamily="34" charset="0"/>
              </a:rPr>
              <a:t> </a:t>
            </a:r>
            <a:r>
              <a:rPr lang="en-US" sz="2400" dirty="0" err="1">
                <a:latin typeface="Arial" pitchFamily="34" charset="0"/>
                <a:cs typeface="Arial" pitchFamily="34" charset="0"/>
              </a:rPr>
              <a:t>nói</a:t>
            </a:r>
            <a:r>
              <a:rPr lang="en-US" sz="2400" dirty="0">
                <a:latin typeface="Arial" pitchFamily="34" charset="0"/>
                <a:cs typeface="Arial" pitchFamily="34" charset="0"/>
              </a:rPr>
              <a:t> A </a:t>
            </a:r>
            <a:r>
              <a:rPr lang="en-US" sz="2400" dirty="0" err="1">
                <a:latin typeface="Arial" pitchFamily="34" charset="0"/>
                <a:cs typeface="Arial" pitchFamily="34" charset="0"/>
              </a:rPr>
              <a:t>không</a:t>
            </a:r>
            <a:r>
              <a:rPr lang="en-US" sz="2400" dirty="0">
                <a:latin typeface="Arial" pitchFamily="34" charset="0"/>
                <a:cs typeface="Arial" pitchFamily="34" charset="0"/>
              </a:rPr>
              <a:t> </a:t>
            </a:r>
            <a:r>
              <a:rPr lang="en-US" sz="2400" dirty="0" err="1">
                <a:latin typeface="Arial" pitchFamily="34" charset="0"/>
                <a:cs typeface="Arial" pitchFamily="34" charset="0"/>
              </a:rPr>
              <a:t>đoán</a:t>
            </a:r>
            <a:r>
              <a:rPr lang="en-US" sz="2400" dirty="0">
                <a:latin typeface="Arial" pitchFamily="34" charset="0"/>
                <a:cs typeface="Arial" pitchFamily="34" charset="0"/>
              </a:rPr>
              <a:t> </a:t>
            </a:r>
            <a:r>
              <a:rPr lang="en-US" sz="2400" err="1">
                <a:latin typeface="Arial" pitchFamily="34" charset="0"/>
                <a:cs typeface="Arial" pitchFamily="34" charset="0"/>
              </a:rPr>
              <a:t>nhận</a:t>
            </a:r>
            <a:r>
              <a:rPr lang="en-US" sz="2400">
                <a:latin typeface="Arial" pitchFamily="34" charset="0"/>
                <a:cs typeface="Arial" pitchFamily="34" charset="0"/>
              </a:rPr>
              <a:t> </a:t>
            </a:r>
            <a:r>
              <a:rPr lang="en-US" sz="2400" smtClean="0">
                <a:latin typeface="Arial" pitchFamily="34" charset="0"/>
                <a:cs typeface="Arial" pitchFamily="34" charset="0"/>
              </a:rPr>
              <a:t>chuỗi </a:t>
            </a:r>
            <a:r>
              <a:rPr lang="en-US" sz="2400" dirty="0">
                <a:latin typeface="Arial" pitchFamily="34" charset="0"/>
                <a:cs typeface="Arial" pitchFamily="34" charset="0"/>
              </a:rPr>
              <a:t>ω</a:t>
            </a:r>
            <a:r>
              <a:rPr lang="en-US" sz="2000" dirty="0"/>
              <a:t>. </a:t>
            </a:r>
          </a:p>
          <a:p>
            <a:pPr>
              <a:lnSpc>
                <a:spcPct val="150000"/>
              </a:lnSpc>
              <a:spcBef>
                <a:spcPts val="0"/>
              </a:spcBef>
            </a:pPr>
            <a:endParaRPr lang="en-US" sz="2000" dirty="0"/>
          </a:p>
        </p:txBody>
      </p:sp>
    </p:spTree>
    <p:extLst>
      <p:ext uri="{BB962C8B-B14F-4D97-AF65-F5344CB8AC3E}">
        <p14:creationId xmlns:p14="http://schemas.microsoft.com/office/powerpoint/2010/main" val="38509502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4255" y="624110"/>
            <a:ext cx="10315976" cy="882718"/>
          </a:xfrm>
        </p:spPr>
        <p:txBody>
          <a:bodyPr/>
          <a:lstStyle/>
          <a:p>
            <a:r>
              <a:rPr lang="en-US" dirty="0"/>
              <a:t>1.2 </a:t>
            </a:r>
            <a:r>
              <a:rPr lang="en-US" b="1" dirty="0" err="1" smtClean="0"/>
              <a:t>Biểu</a:t>
            </a:r>
            <a:r>
              <a:rPr lang="en-US" b="1" dirty="0" smtClean="0"/>
              <a:t> </a:t>
            </a:r>
            <a:r>
              <a:rPr lang="en-US" b="1" dirty="0" err="1"/>
              <a:t>diễn</a:t>
            </a:r>
            <a:r>
              <a:rPr lang="en-US" b="1" dirty="0"/>
              <a:t> </a:t>
            </a:r>
            <a:r>
              <a:rPr lang="en-US" b="1" dirty="0" err="1"/>
              <a:t>otomat</a:t>
            </a:r>
            <a:r>
              <a:rPr lang="en-US" b="1" dirty="0"/>
              <a:t> </a:t>
            </a:r>
            <a:r>
              <a:rPr lang="en-US" b="1" dirty="0" err="1"/>
              <a:t>hữu</a:t>
            </a:r>
            <a:r>
              <a:rPr lang="en-US" b="1" dirty="0"/>
              <a:t> </a:t>
            </a:r>
            <a:r>
              <a:rPr lang="en-US" b="1" err="1"/>
              <a:t>hạn</a:t>
            </a:r>
            <a:r>
              <a:rPr lang="en-US" b="1"/>
              <a:t> </a:t>
            </a:r>
            <a:r>
              <a:rPr lang="en-US" b="1" smtClean="0"/>
              <a:t>không đơn </a:t>
            </a:r>
            <a:r>
              <a:rPr lang="en-US" b="1" dirty="0" err="1"/>
              <a:t>định</a:t>
            </a:r>
            <a:r>
              <a:rPr lang="en-US" dirty="0"/>
              <a:t> </a:t>
            </a:r>
          </a:p>
        </p:txBody>
      </p:sp>
      <p:sp>
        <p:nvSpPr>
          <p:cNvPr id="3" name="Content Placeholder 2"/>
          <p:cNvSpPr>
            <a:spLocks noGrp="1"/>
          </p:cNvSpPr>
          <p:nvPr>
            <p:ph idx="1"/>
          </p:nvPr>
        </p:nvSpPr>
        <p:spPr>
          <a:xfrm>
            <a:off x="1918952" y="1483895"/>
            <a:ext cx="9585660" cy="2444161"/>
          </a:xfrm>
        </p:spPr>
        <p:txBody>
          <a:bodyPr/>
          <a:lstStyle/>
          <a:p>
            <a:pPr>
              <a:lnSpc>
                <a:spcPct val="150000"/>
              </a:lnSpc>
            </a:pPr>
            <a:r>
              <a:rPr lang="en-US" dirty="0" err="1">
                <a:latin typeface="Arial" pitchFamily="34" charset="0"/>
                <a:cs typeface="Arial" pitchFamily="34" charset="0"/>
              </a:rPr>
              <a:t>Hàm</a:t>
            </a:r>
            <a:r>
              <a:rPr lang="en-US" dirty="0">
                <a:latin typeface="Arial" pitchFamily="34" charset="0"/>
                <a:cs typeface="Arial" pitchFamily="34" charset="0"/>
              </a:rPr>
              <a:t> </a:t>
            </a:r>
            <a:r>
              <a:rPr lang="en-US" dirty="0" err="1">
                <a:latin typeface="Arial" pitchFamily="34" charset="0"/>
                <a:cs typeface="Arial" pitchFamily="34" charset="0"/>
              </a:rPr>
              <a:t>chuyển</a:t>
            </a:r>
            <a:r>
              <a:rPr lang="en-US" dirty="0">
                <a:latin typeface="Arial" pitchFamily="34" charset="0"/>
                <a:cs typeface="Arial" pitchFamily="34" charset="0"/>
              </a:rPr>
              <a:t> </a:t>
            </a:r>
            <a:r>
              <a:rPr lang="en-US" dirty="0" err="1">
                <a:latin typeface="Arial" pitchFamily="34" charset="0"/>
                <a:cs typeface="Arial" pitchFamily="34" charset="0"/>
              </a:rPr>
              <a:t>trạng</a:t>
            </a:r>
            <a:r>
              <a:rPr lang="en-US" dirty="0">
                <a:latin typeface="Arial" pitchFamily="34" charset="0"/>
                <a:cs typeface="Arial" pitchFamily="34" charset="0"/>
              </a:rPr>
              <a:t> </a:t>
            </a:r>
            <a:r>
              <a:rPr lang="en-US" err="1">
                <a:latin typeface="Arial" pitchFamily="34" charset="0"/>
                <a:cs typeface="Arial" pitchFamily="34" charset="0"/>
              </a:rPr>
              <a:t>thái</a:t>
            </a:r>
            <a:r>
              <a:rPr lang="en-US">
                <a:latin typeface="Arial" pitchFamily="34" charset="0"/>
                <a:cs typeface="Arial" pitchFamily="34" charset="0"/>
              </a:rPr>
              <a:t> </a:t>
            </a:r>
            <a:r>
              <a:rPr lang="en-US" smtClean="0">
                <a:latin typeface="Arial" pitchFamily="34" charset="0"/>
                <a:cs typeface="Arial" pitchFamily="34" charset="0"/>
                <a:sym typeface="Symbol"/>
              </a:rPr>
              <a:t> </a:t>
            </a:r>
            <a:r>
              <a:rPr lang="en-US" smtClean="0">
                <a:latin typeface="Arial" pitchFamily="34" charset="0"/>
                <a:cs typeface="Arial" pitchFamily="34" charset="0"/>
              </a:rPr>
              <a:t>là </a:t>
            </a:r>
            <a:r>
              <a:rPr lang="en-US" dirty="0" err="1">
                <a:latin typeface="Arial" pitchFamily="34" charset="0"/>
                <a:cs typeface="Arial" pitchFamily="34" charset="0"/>
              </a:rPr>
              <a:t>một</a:t>
            </a:r>
            <a:r>
              <a:rPr lang="en-US" dirty="0">
                <a:latin typeface="Arial" pitchFamily="34" charset="0"/>
                <a:cs typeface="Arial" pitchFamily="34" charset="0"/>
              </a:rPr>
              <a:t> </a:t>
            </a:r>
            <a:r>
              <a:rPr lang="en-US" dirty="0" err="1">
                <a:latin typeface="Arial" pitchFamily="34" charset="0"/>
                <a:cs typeface="Arial" pitchFamily="34" charset="0"/>
              </a:rPr>
              <a:t>bộ</a:t>
            </a:r>
            <a:r>
              <a:rPr lang="en-US" dirty="0">
                <a:latin typeface="Arial" pitchFamily="34" charset="0"/>
                <a:cs typeface="Arial" pitchFamily="34" charset="0"/>
              </a:rPr>
              <a:t> </a:t>
            </a:r>
            <a:r>
              <a:rPr lang="en-US" dirty="0" err="1">
                <a:latin typeface="Arial" pitchFamily="34" charset="0"/>
                <a:cs typeface="Arial" pitchFamily="34" charset="0"/>
              </a:rPr>
              <a:t>phận</a:t>
            </a:r>
            <a:r>
              <a:rPr lang="en-US" dirty="0">
                <a:latin typeface="Arial" pitchFamily="34" charset="0"/>
                <a:cs typeface="Arial" pitchFamily="34" charset="0"/>
              </a:rPr>
              <a:t> </a:t>
            </a:r>
            <a:r>
              <a:rPr lang="en-US" dirty="0" err="1">
                <a:latin typeface="Arial" pitchFamily="34" charset="0"/>
                <a:cs typeface="Arial" pitchFamily="34" charset="0"/>
              </a:rPr>
              <a:t>quan</a:t>
            </a:r>
            <a:r>
              <a:rPr lang="en-US" dirty="0">
                <a:latin typeface="Arial" pitchFamily="34" charset="0"/>
                <a:cs typeface="Arial" pitchFamily="34" charset="0"/>
              </a:rPr>
              <a:t> </a:t>
            </a:r>
            <a:r>
              <a:rPr lang="en-US" dirty="0" err="1">
                <a:latin typeface="Arial" pitchFamily="34" charset="0"/>
                <a:cs typeface="Arial" pitchFamily="34" charset="0"/>
              </a:rPr>
              <a:t>trọng</a:t>
            </a:r>
            <a:r>
              <a:rPr lang="en-US" dirty="0">
                <a:latin typeface="Arial" pitchFamily="34" charset="0"/>
                <a:cs typeface="Arial" pitchFamily="34" charset="0"/>
              </a:rPr>
              <a:t> </a:t>
            </a:r>
            <a:r>
              <a:rPr lang="en-US" dirty="0" err="1">
                <a:latin typeface="Arial" pitchFamily="34" charset="0"/>
                <a:cs typeface="Arial" pitchFamily="34" charset="0"/>
              </a:rPr>
              <a:t>của</a:t>
            </a:r>
            <a:r>
              <a:rPr lang="en-US" dirty="0">
                <a:latin typeface="Arial" pitchFamily="34" charset="0"/>
                <a:cs typeface="Arial" pitchFamily="34" charset="0"/>
              </a:rPr>
              <a:t> </a:t>
            </a:r>
            <a:r>
              <a:rPr lang="en-US" dirty="0" err="1">
                <a:latin typeface="Arial" pitchFamily="34" charset="0"/>
                <a:cs typeface="Arial" pitchFamily="34" charset="0"/>
              </a:rPr>
              <a:t>một</a:t>
            </a:r>
            <a:r>
              <a:rPr lang="en-US" dirty="0">
                <a:latin typeface="Arial" pitchFamily="34" charset="0"/>
                <a:cs typeface="Arial" pitchFamily="34" charset="0"/>
              </a:rPr>
              <a:t> </a:t>
            </a:r>
            <a:r>
              <a:rPr lang="en-US" dirty="0" err="1">
                <a:latin typeface="Arial" pitchFamily="34" charset="0"/>
                <a:cs typeface="Arial" pitchFamily="34" charset="0"/>
              </a:rPr>
              <a:t>otomat</a:t>
            </a:r>
            <a:r>
              <a:rPr lang="en-US" dirty="0">
                <a:latin typeface="Arial" pitchFamily="34" charset="0"/>
                <a:cs typeface="Arial" pitchFamily="34" charset="0"/>
              </a:rPr>
              <a:t> </a:t>
            </a:r>
            <a:r>
              <a:rPr lang="en-US" err="1">
                <a:latin typeface="Arial" pitchFamily="34" charset="0"/>
                <a:cs typeface="Arial" pitchFamily="34" charset="0"/>
              </a:rPr>
              <a:t>hữu</a:t>
            </a:r>
            <a:r>
              <a:rPr lang="en-US">
                <a:latin typeface="Arial" pitchFamily="34" charset="0"/>
                <a:cs typeface="Arial" pitchFamily="34" charset="0"/>
              </a:rPr>
              <a:t> </a:t>
            </a:r>
            <a:r>
              <a:rPr lang="en-US" smtClean="0">
                <a:latin typeface="Arial" pitchFamily="34" charset="0"/>
                <a:cs typeface="Arial" pitchFamily="34" charset="0"/>
              </a:rPr>
              <a:t>hạn không </a:t>
            </a:r>
            <a:r>
              <a:rPr lang="en-US" dirty="0" err="1">
                <a:latin typeface="Arial" pitchFamily="34" charset="0"/>
                <a:cs typeface="Arial" pitchFamily="34" charset="0"/>
              </a:rPr>
              <a:t>đơn</a:t>
            </a:r>
            <a:r>
              <a:rPr lang="en-US" dirty="0">
                <a:latin typeface="Arial" pitchFamily="34" charset="0"/>
                <a:cs typeface="Arial" pitchFamily="34" charset="0"/>
              </a:rPr>
              <a:t> </a:t>
            </a:r>
            <a:r>
              <a:rPr lang="en-US" dirty="0" err="1">
                <a:latin typeface="Arial" pitchFamily="34" charset="0"/>
                <a:cs typeface="Arial" pitchFamily="34" charset="0"/>
              </a:rPr>
              <a:t>định</a:t>
            </a:r>
            <a:r>
              <a:rPr lang="en-US" dirty="0">
                <a:latin typeface="Arial" pitchFamily="34" charset="0"/>
                <a:cs typeface="Arial" pitchFamily="34" charset="0"/>
              </a:rPr>
              <a:t>.  Cho </a:t>
            </a:r>
            <a:r>
              <a:rPr lang="en-US" dirty="0" err="1">
                <a:latin typeface="Arial" pitchFamily="34" charset="0"/>
                <a:cs typeface="Arial" pitchFamily="34" charset="0"/>
              </a:rPr>
              <a:t>một</a:t>
            </a:r>
            <a:r>
              <a:rPr lang="en-US" dirty="0">
                <a:latin typeface="Arial" pitchFamily="34" charset="0"/>
                <a:cs typeface="Arial" pitchFamily="34" charset="0"/>
              </a:rPr>
              <a:t> </a:t>
            </a:r>
            <a:r>
              <a:rPr lang="en-US" dirty="0" err="1">
                <a:latin typeface="Arial" pitchFamily="34" charset="0"/>
                <a:cs typeface="Arial" pitchFamily="34" charset="0"/>
              </a:rPr>
              <a:t>otomat</a:t>
            </a:r>
            <a:r>
              <a:rPr lang="en-US" dirty="0">
                <a:latin typeface="Arial" pitchFamily="34" charset="0"/>
                <a:cs typeface="Arial" pitchFamily="34" charset="0"/>
              </a:rPr>
              <a:t> </a:t>
            </a:r>
            <a:r>
              <a:rPr lang="en-US" dirty="0" err="1">
                <a:latin typeface="Arial" pitchFamily="34" charset="0"/>
                <a:cs typeface="Arial" pitchFamily="34" charset="0"/>
              </a:rPr>
              <a:t>thực</a:t>
            </a:r>
            <a:r>
              <a:rPr lang="en-US" dirty="0">
                <a:latin typeface="Arial" pitchFamily="34" charset="0"/>
                <a:cs typeface="Arial" pitchFamily="34" charset="0"/>
              </a:rPr>
              <a:t> </a:t>
            </a:r>
            <a:r>
              <a:rPr lang="en-US" dirty="0" err="1">
                <a:latin typeface="Arial" pitchFamily="34" charset="0"/>
                <a:cs typeface="Arial" pitchFamily="34" charset="0"/>
              </a:rPr>
              <a:t>chất</a:t>
            </a:r>
            <a:r>
              <a:rPr lang="en-US" dirty="0">
                <a:latin typeface="Arial" pitchFamily="34" charset="0"/>
                <a:cs typeface="Arial" pitchFamily="34" charset="0"/>
              </a:rPr>
              <a:t> </a:t>
            </a:r>
            <a:r>
              <a:rPr lang="en-US" dirty="0" err="1">
                <a:latin typeface="Arial" pitchFamily="34" charset="0"/>
                <a:cs typeface="Arial" pitchFamily="34" charset="0"/>
              </a:rPr>
              <a:t>là</a:t>
            </a:r>
            <a:r>
              <a:rPr lang="en-US" dirty="0">
                <a:latin typeface="Arial" pitchFamily="34" charset="0"/>
                <a:cs typeface="Arial" pitchFamily="34" charset="0"/>
              </a:rPr>
              <a:t> </a:t>
            </a:r>
            <a:r>
              <a:rPr lang="en-US" dirty="0" err="1">
                <a:latin typeface="Arial" pitchFamily="34" charset="0"/>
                <a:cs typeface="Arial" pitchFamily="34" charset="0"/>
              </a:rPr>
              <a:t>cho</a:t>
            </a:r>
            <a:r>
              <a:rPr lang="en-US" dirty="0">
                <a:latin typeface="Arial" pitchFamily="34" charset="0"/>
                <a:cs typeface="Arial" pitchFamily="34" charset="0"/>
              </a:rPr>
              <a:t> </a:t>
            </a:r>
            <a:r>
              <a:rPr lang="en-US" dirty="0" err="1">
                <a:latin typeface="Arial" pitchFamily="34" charset="0"/>
                <a:cs typeface="Arial" pitchFamily="34" charset="0"/>
              </a:rPr>
              <a:t>hàm</a:t>
            </a:r>
            <a:r>
              <a:rPr lang="en-US" dirty="0">
                <a:latin typeface="Arial" pitchFamily="34" charset="0"/>
                <a:cs typeface="Arial" pitchFamily="34" charset="0"/>
              </a:rPr>
              <a:t> </a:t>
            </a:r>
            <a:r>
              <a:rPr lang="en-US" dirty="0" err="1">
                <a:latin typeface="Arial" pitchFamily="34" charset="0"/>
                <a:cs typeface="Arial" pitchFamily="34" charset="0"/>
              </a:rPr>
              <a:t>chuyển</a:t>
            </a:r>
            <a:r>
              <a:rPr lang="en-US" dirty="0">
                <a:latin typeface="Arial" pitchFamily="34" charset="0"/>
                <a:cs typeface="Arial" pitchFamily="34" charset="0"/>
              </a:rPr>
              <a:t> </a:t>
            </a:r>
            <a:r>
              <a:rPr lang="en-US" dirty="0" err="1">
                <a:latin typeface="Arial" pitchFamily="34" charset="0"/>
                <a:cs typeface="Arial" pitchFamily="34" charset="0"/>
              </a:rPr>
              <a:t>trạng</a:t>
            </a:r>
            <a:r>
              <a:rPr lang="en-US" dirty="0">
                <a:latin typeface="Arial" pitchFamily="34" charset="0"/>
                <a:cs typeface="Arial" pitchFamily="34" charset="0"/>
              </a:rPr>
              <a:t> </a:t>
            </a:r>
            <a:r>
              <a:rPr lang="en-US" dirty="0" err="1">
                <a:latin typeface="Arial" pitchFamily="34" charset="0"/>
                <a:cs typeface="Arial" pitchFamily="34" charset="0"/>
              </a:rPr>
              <a:t>thái</a:t>
            </a:r>
            <a:r>
              <a:rPr lang="en-US" dirty="0">
                <a:latin typeface="Arial" pitchFamily="34" charset="0"/>
                <a:cs typeface="Arial" pitchFamily="34" charset="0"/>
              </a:rPr>
              <a:t> </a:t>
            </a:r>
            <a:r>
              <a:rPr lang="en-US" dirty="0" err="1">
                <a:latin typeface="Arial" pitchFamily="34" charset="0"/>
                <a:cs typeface="Arial" pitchFamily="34" charset="0"/>
              </a:rPr>
              <a:t>của</a:t>
            </a:r>
            <a:r>
              <a:rPr lang="en-US" dirty="0">
                <a:latin typeface="Arial" pitchFamily="34" charset="0"/>
                <a:cs typeface="Arial" pitchFamily="34" charset="0"/>
              </a:rPr>
              <a:t> </a:t>
            </a:r>
            <a:r>
              <a:rPr lang="en-US" dirty="0" err="1">
                <a:latin typeface="Arial" pitchFamily="34" charset="0"/>
                <a:cs typeface="Arial" pitchFamily="34" charset="0"/>
              </a:rPr>
              <a:t>nó</a:t>
            </a:r>
            <a:r>
              <a:rPr lang="en-US" dirty="0">
                <a:latin typeface="Arial" pitchFamily="34" charset="0"/>
                <a:cs typeface="Arial" pitchFamily="34" charset="0"/>
              </a:rPr>
              <a:t>, </a:t>
            </a:r>
            <a:r>
              <a:rPr lang="en-US" dirty="0" err="1">
                <a:latin typeface="Arial" pitchFamily="34" charset="0"/>
                <a:cs typeface="Arial" pitchFamily="34" charset="0"/>
              </a:rPr>
              <a:t>có</a:t>
            </a:r>
            <a:r>
              <a:rPr lang="en-US" dirty="0">
                <a:latin typeface="Arial" pitchFamily="34" charset="0"/>
                <a:cs typeface="Arial" pitchFamily="34" charset="0"/>
              </a:rPr>
              <a:t> </a:t>
            </a:r>
            <a:r>
              <a:rPr lang="en-US" dirty="0" err="1">
                <a:latin typeface="Arial" pitchFamily="34" charset="0"/>
                <a:cs typeface="Arial" pitchFamily="34" charset="0"/>
              </a:rPr>
              <a:t>thể</a:t>
            </a:r>
            <a:r>
              <a:rPr lang="en-US" dirty="0">
                <a:latin typeface="Arial" pitchFamily="34" charset="0"/>
                <a:cs typeface="Arial" pitchFamily="34" charset="0"/>
              </a:rPr>
              <a:t> </a:t>
            </a:r>
            <a:r>
              <a:rPr lang="en-US" dirty="0" err="1">
                <a:latin typeface="Arial" pitchFamily="34" charset="0"/>
                <a:cs typeface="Arial" pitchFamily="34" charset="0"/>
              </a:rPr>
              <a:t>cho</a:t>
            </a:r>
            <a:r>
              <a:rPr lang="en-US" dirty="0">
                <a:latin typeface="Arial" pitchFamily="34" charset="0"/>
                <a:cs typeface="Arial" pitchFamily="34" charset="0"/>
              </a:rPr>
              <a:t> </a:t>
            </a:r>
            <a:r>
              <a:rPr lang="en-US" dirty="0" err="1">
                <a:latin typeface="Arial" pitchFamily="34" charset="0"/>
                <a:cs typeface="Arial" pitchFamily="34" charset="0"/>
              </a:rPr>
              <a:t>dưới</a:t>
            </a:r>
            <a:r>
              <a:rPr lang="en-US" dirty="0">
                <a:latin typeface="Arial" pitchFamily="34" charset="0"/>
                <a:cs typeface="Arial" pitchFamily="34" charset="0"/>
              </a:rPr>
              <a:t> </a:t>
            </a:r>
            <a:r>
              <a:rPr lang="en-US" dirty="0" err="1">
                <a:latin typeface="Arial" pitchFamily="34" charset="0"/>
                <a:cs typeface="Arial" pitchFamily="34" charset="0"/>
              </a:rPr>
              <a:t>dạng</a:t>
            </a:r>
            <a:r>
              <a:rPr lang="en-US" dirty="0">
                <a:latin typeface="Arial" pitchFamily="34" charset="0"/>
                <a:cs typeface="Arial" pitchFamily="34" charset="0"/>
              </a:rPr>
              <a:t> </a:t>
            </a:r>
            <a:r>
              <a:rPr lang="en-US" dirty="0" err="1">
                <a:latin typeface="Arial" pitchFamily="34" charset="0"/>
                <a:cs typeface="Arial" pitchFamily="34" charset="0"/>
              </a:rPr>
              <a:t>bảng</a:t>
            </a:r>
            <a:r>
              <a:rPr lang="en-US" dirty="0">
                <a:latin typeface="Arial" pitchFamily="34" charset="0"/>
                <a:cs typeface="Arial" pitchFamily="34" charset="0"/>
              </a:rPr>
              <a:t> </a:t>
            </a:r>
            <a:r>
              <a:rPr lang="en-US" dirty="0" err="1">
                <a:latin typeface="Arial" pitchFamily="34" charset="0"/>
                <a:cs typeface="Arial" pitchFamily="34" charset="0"/>
              </a:rPr>
              <a:t>chuyển</a:t>
            </a:r>
            <a:r>
              <a:rPr lang="en-US" dirty="0">
                <a:latin typeface="Arial" pitchFamily="34" charset="0"/>
                <a:cs typeface="Arial" pitchFamily="34" charset="0"/>
              </a:rPr>
              <a:t> </a:t>
            </a:r>
            <a:r>
              <a:rPr lang="en-US" dirty="0" err="1">
                <a:latin typeface="Arial" pitchFamily="34" charset="0"/>
                <a:cs typeface="Arial" pitchFamily="34" charset="0"/>
              </a:rPr>
              <a:t>hoặc</a:t>
            </a:r>
            <a:r>
              <a:rPr lang="en-US" dirty="0">
                <a:latin typeface="Arial" pitchFamily="34" charset="0"/>
                <a:cs typeface="Arial" pitchFamily="34" charset="0"/>
              </a:rPr>
              <a:t> </a:t>
            </a:r>
            <a:r>
              <a:rPr lang="en-US" dirty="0" err="1">
                <a:latin typeface="Arial" pitchFamily="34" charset="0"/>
                <a:cs typeface="Arial" pitchFamily="34" charset="0"/>
              </a:rPr>
              <a:t>cho</a:t>
            </a:r>
            <a:r>
              <a:rPr lang="en-US" dirty="0">
                <a:latin typeface="Arial" pitchFamily="34" charset="0"/>
                <a:cs typeface="Arial" pitchFamily="34" charset="0"/>
              </a:rPr>
              <a:t> </a:t>
            </a:r>
            <a:r>
              <a:rPr lang="en-US" dirty="0" err="1">
                <a:latin typeface="Arial" pitchFamily="34" charset="0"/>
                <a:cs typeface="Arial" pitchFamily="34" charset="0"/>
              </a:rPr>
              <a:t>dưới</a:t>
            </a:r>
            <a:r>
              <a:rPr lang="en-US" dirty="0">
                <a:latin typeface="Arial" pitchFamily="34" charset="0"/>
                <a:cs typeface="Arial" pitchFamily="34" charset="0"/>
              </a:rPr>
              <a:t> </a:t>
            </a:r>
            <a:r>
              <a:rPr lang="en-US" dirty="0" err="1">
                <a:latin typeface="Arial" pitchFamily="34" charset="0"/>
                <a:cs typeface="Arial" pitchFamily="34" charset="0"/>
              </a:rPr>
              <a:t>dạng</a:t>
            </a:r>
            <a:r>
              <a:rPr lang="en-US" dirty="0">
                <a:latin typeface="Arial" pitchFamily="34" charset="0"/>
                <a:cs typeface="Arial" pitchFamily="34" charset="0"/>
              </a:rPr>
              <a:t> </a:t>
            </a:r>
            <a:r>
              <a:rPr lang="en-US" dirty="0" err="1">
                <a:latin typeface="Arial" pitchFamily="34" charset="0"/>
                <a:cs typeface="Arial" pitchFamily="34" charset="0"/>
              </a:rPr>
              <a:t>đồ</a:t>
            </a:r>
            <a:r>
              <a:rPr lang="en-US" dirty="0">
                <a:latin typeface="Arial" pitchFamily="34" charset="0"/>
                <a:cs typeface="Arial" pitchFamily="34" charset="0"/>
              </a:rPr>
              <a:t> </a:t>
            </a:r>
            <a:r>
              <a:rPr lang="en-US" dirty="0" err="1">
                <a:latin typeface="Arial" pitchFamily="34" charset="0"/>
                <a:cs typeface="Arial" pitchFamily="34" charset="0"/>
              </a:rPr>
              <a:t>thị</a:t>
            </a:r>
            <a:r>
              <a:rPr lang="en-US" dirty="0">
                <a:latin typeface="Arial" pitchFamily="34" charset="0"/>
                <a:cs typeface="Arial" pitchFamily="34" charset="0"/>
              </a:rPr>
              <a:t> </a:t>
            </a:r>
            <a:r>
              <a:rPr lang="en-US" dirty="0" err="1">
                <a:latin typeface="Arial" pitchFamily="34" charset="0"/>
                <a:cs typeface="Arial" pitchFamily="34" charset="0"/>
              </a:rPr>
              <a:t>chuyển</a:t>
            </a:r>
            <a:r>
              <a:rPr lang="en-US" dirty="0">
                <a:latin typeface="Arial" pitchFamily="34" charset="0"/>
                <a:cs typeface="Arial" pitchFamily="34" charset="0"/>
              </a:rPr>
              <a:t>.</a:t>
            </a:r>
            <a:r>
              <a:rPr lang="en-US" dirty="0"/>
              <a:t> </a:t>
            </a:r>
          </a:p>
          <a:p>
            <a:pPr>
              <a:lnSpc>
                <a:spcPct val="150000"/>
              </a:lnSpc>
            </a:pPr>
            <a:r>
              <a:rPr lang="en-US" b="1" i="1" dirty="0"/>
              <a:t>Cho </a:t>
            </a:r>
            <a:r>
              <a:rPr lang="en-US" b="1" i="1" dirty="0" err="1"/>
              <a:t>otomat</a:t>
            </a:r>
            <a:r>
              <a:rPr lang="en-US" b="1" i="1" dirty="0"/>
              <a:t> </a:t>
            </a:r>
            <a:r>
              <a:rPr lang="en-US" b="1" i="1" dirty="0" err="1"/>
              <a:t>bằng</a:t>
            </a:r>
            <a:r>
              <a:rPr lang="en-US" b="1" i="1" dirty="0"/>
              <a:t> </a:t>
            </a:r>
            <a:r>
              <a:rPr lang="en-US" b="1" i="1" dirty="0" err="1"/>
              <a:t>bảng</a:t>
            </a:r>
            <a:r>
              <a:rPr lang="en-US" b="1" i="1" dirty="0"/>
              <a:t> </a:t>
            </a:r>
            <a:r>
              <a:rPr lang="en-US" b="1" i="1" err="1"/>
              <a:t>chuyển</a:t>
            </a:r>
            <a:r>
              <a:rPr lang="en-US" i="1"/>
              <a:t> </a:t>
            </a:r>
            <a:endParaRPr lang="en-US" b="1" i="1" dirty="0"/>
          </a:p>
        </p:txBody>
      </p:sp>
      <p:pic>
        <p:nvPicPr>
          <p:cNvPr id="5" name="Picture 4"/>
          <p:cNvPicPr>
            <a:picLocks noChangeAspect="1"/>
          </p:cNvPicPr>
          <p:nvPr/>
        </p:nvPicPr>
        <p:blipFill>
          <a:blip r:embed="rId2"/>
          <a:stretch>
            <a:fillRect/>
          </a:stretch>
        </p:blipFill>
        <p:spPr>
          <a:xfrm>
            <a:off x="2705887" y="3381375"/>
            <a:ext cx="8134350" cy="3476625"/>
          </a:xfrm>
          <a:prstGeom prst="rect">
            <a:avLst/>
          </a:prstGeom>
        </p:spPr>
      </p:pic>
    </p:spTree>
    <p:extLst>
      <p:ext uri="{BB962C8B-B14F-4D97-AF65-F5344CB8AC3E}">
        <p14:creationId xmlns:p14="http://schemas.microsoft.com/office/powerpoint/2010/main" val="34731444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89212" y="251131"/>
            <a:ext cx="8911687" cy="651237"/>
          </a:xfrm>
        </p:spPr>
        <p:txBody>
          <a:bodyPr/>
          <a:lstStyle/>
          <a:p>
            <a:r>
              <a:rPr lang="en-US" smtClean="0"/>
              <a:t>Ví dụ:</a:t>
            </a:r>
            <a:endParaRPr lang="en-US"/>
          </a:p>
        </p:txBody>
      </p:sp>
      <p:sp>
        <p:nvSpPr>
          <p:cNvPr id="3" name="Content Placeholder 2"/>
          <p:cNvSpPr>
            <a:spLocks noGrp="1"/>
          </p:cNvSpPr>
          <p:nvPr>
            <p:ph idx="1"/>
          </p:nvPr>
        </p:nvSpPr>
        <p:spPr>
          <a:xfrm>
            <a:off x="2585499" y="1002632"/>
            <a:ext cx="8915400" cy="5747084"/>
          </a:xfrm>
        </p:spPr>
        <p:txBody>
          <a:bodyPr/>
          <a:lstStyle/>
          <a:p>
            <a:pPr>
              <a:lnSpc>
                <a:spcPct val="150000"/>
              </a:lnSpc>
            </a:pPr>
            <a:r>
              <a:rPr lang="es-MX"/>
              <a:t>Cho otomat hữu hạn không đơn định: </a:t>
            </a:r>
            <a:endParaRPr lang="en-US"/>
          </a:p>
          <a:p>
            <a:pPr>
              <a:lnSpc>
                <a:spcPct val="150000"/>
              </a:lnSpc>
            </a:pPr>
            <a:r>
              <a:rPr lang="es-MX"/>
              <a:t>A = &lt;{q</a:t>
            </a:r>
            <a:r>
              <a:rPr lang="es-MX" baseline="-25000"/>
              <a:t>0</a:t>
            </a:r>
            <a:r>
              <a:rPr lang="es-MX"/>
              <a:t>, q</a:t>
            </a:r>
            <a:r>
              <a:rPr lang="es-MX" baseline="-25000"/>
              <a:t>1</a:t>
            </a:r>
            <a:r>
              <a:rPr lang="es-MX"/>
              <a:t>, q</a:t>
            </a:r>
            <a:r>
              <a:rPr lang="es-MX" baseline="-25000"/>
              <a:t>2, </a:t>
            </a:r>
            <a:r>
              <a:rPr lang="es-MX"/>
              <a:t>q</a:t>
            </a:r>
            <a:r>
              <a:rPr lang="es-MX" baseline="-25000"/>
              <a:t>3</a:t>
            </a:r>
            <a:r>
              <a:rPr lang="es-MX"/>
              <a:t>, q</a:t>
            </a:r>
            <a:r>
              <a:rPr lang="es-MX" baseline="-25000"/>
              <a:t>4</a:t>
            </a:r>
            <a:r>
              <a:rPr lang="es-MX"/>
              <a:t>}, {0, 1}, </a:t>
            </a:r>
            <a:r>
              <a:rPr lang="en-US"/>
              <a:t>δ</a:t>
            </a:r>
            <a:r>
              <a:rPr lang="es-MX"/>
              <a:t>, q</a:t>
            </a:r>
            <a:r>
              <a:rPr lang="es-MX" baseline="-25000"/>
              <a:t>0</a:t>
            </a:r>
            <a:r>
              <a:rPr lang="es-MX"/>
              <a:t>, {q</a:t>
            </a:r>
            <a:r>
              <a:rPr lang="es-MX" baseline="-25000"/>
              <a:t>2, </a:t>
            </a:r>
            <a:r>
              <a:rPr lang="es-MX"/>
              <a:t>q</a:t>
            </a:r>
            <a:r>
              <a:rPr lang="es-MX" baseline="-25000"/>
              <a:t>4</a:t>
            </a:r>
            <a:r>
              <a:rPr lang="es-MX"/>
              <a:t>}&gt;, </a:t>
            </a:r>
            <a:endParaRPr lang="en-US"/>
          </a:p>
          <a:p>
            <a:pPr>
              <a:lnSpc>
                <a:spcPct val="150000"/>
              </a:lnSpc>
            </a:pPr>
            <a:r>
              <a:rPr lang="es-MX"/>
              <a:t>Với </a:t>
            </a:r>
            <a:r>
              <a:rPr lang="en-US"/>
              <a:t>δ</a:t>
            </a:r>
            <a:r>
              <a:rPr lang="es-MX"/>
              <a:t>(q</a:t>
            </a:r>
            <a:r>
              <a:rPr lang="es-MX" baseline="-25000"/>
              <a:t>0</a:t>
            </a:r>
            <a:r>
              <a:rPr lang="es-MX"/>
              <a:t>,0) = {q</a:t>
            </a:r>
            <a:r>
              <a:rPr lang="es-MX" baseline="-25000"/>
              <a:t>0</a:t>
            </a:r>
            <a:r>
              <a:rPr lang="es-MX"/>
              <a:t>,q</a:t>
            </a:r>
            <a:r>
              <a:rPr lang="es-MX" baseline="-25000"/>
              <a:t>3</a:t>
            </a:r>
            <a:r>
              <a:rPr lang="es-MX"/>
              <a:t>}, </a:t>
            </a:r>
            <a:r>
              <a:rPr lang="en-US"/>
              <a:t>δ</a:t>
            </a:r>
            <a:r>
              <a:rPr lang="es-MX"/>
              <a:t>(q</a:t>
            </a:r>
            <a:r>
              <a:rPr lang="es-MX" baseline="-25000"/>
              <a:t>0</a:t>
            </a:r>
            <a:r>
              <a:rPr lang="es-MX"/>
              <a:t>, 1) = {q</a:t>
            </a:r>
            <a:r>
              <a:rPr lang="es-MX" baseline="-25000"/>
              <a:t>0</a:t>
            </a:r>
            <a:r>
              <a:rPr lang="es-MX"/>
              <a:t>,q</a:t>
            </a:r>
            <a:r>
              <a:rPr lang="es-MX" baseline="-25000"/>
              <a:t>1</a:t>
            </a:r>
            <a:r>
              <a:rPr lang="es-MX"/>
              <a:t>}, </a:t>
            </a:r>
            <a:r>
              <a:rPr lang="en-US"/>
              <a:t>δ</a:t>
            </a:r>
            <a:r>
              <a:rPr lang="es-MX"/>
              <a:t>(q</a:t>
            </a:r>
            <a:r>
              <a:rPr lang="es-MX" baseline="-25000"/>
              <a:t>1</a:t>
            </a:r>
            <a:r>
              <a:rPr lang="es-MX"/>
              <a:t>, 0) = ∅, </a:t>
            </a:r>
            <a:r>
              <a:rPr lang="en-US"/>
              <a:t>δ</a:t>
            </a:r>
            <a:r>
              <a:rPr lang="es-MX"/>
              <a:t>(q</a:t>
            </a:r>
            <a:r>
              <a:rPr lang="es-MX" baseline="-25000"/>
              <a:t>1</a:t>
            </a:r>
            <a:r>
              <a:rPr lang="es-MX"/>
              <a:t>, 1) = {q</a:t>
            </a:r>
            <a:r>
              <a:rPr lang="es-MX" baseline="-25000"/>
              <a:t>2</a:t>
            </a:r>
            <a:r>
              <a:rPr lang="es-MX"/>
              <a:t>}, </a:t>
            </a:r>
            <a:r>
              <a:rPr lang="en-US"/>
              <a:t>δ</a:t>
            </a:r>
            <a:r>
              <a:rPr lang="es-MX"/>
              <a:t>(q</a:t>
            </a:r>
            <a:r>
              <a:rPr lang="es-MX" baseline="-25000"/>
              <a:t>2</a:t>
            </a:r>
            <a:r>
              <a:rPr lang="es-MX"/>
              <a:t>, 0) = {q</a:t>
            </a:r>
            <a:r>
              <a:rPr lang="es-MX" baseline="-25000"/>
              <a:t>2</a:t>
            </a:r>
            <a:r>
              <a:rPr lang="es-MX"/>
              <a:t>},  </a:t>
            </a:r>
            <a:r>
              <a:rPr lang="en-US"/>
              <a:t>δ</a:t>
            </a:r>
            <a:r>
              <a:rPr lang="es-MX"/>
              <a:t>(q</a:t>
            </a:r>
            <a:r>
              <a:rPr lang="es-MX" baseline="-25000"/>
              <a:t>2</a:t>
            </a:r>
            <a:r>
              <a:rPr lang="es-MX"/>
              <a:t>, 1) = {q</a:t>
            </a:r>
            <a:r>
              <a:rPr lang="es-MX" baseline="-25000"/>
              <a:t>2</a:t>
            </a:r>
            <a:r>
              <a:rPr lang="es-MX"/>
              <a:t>}, </a:t>
            </a:r>
            <a:r>
              <a:rPr lang="en-US"/>
              <a:t>δ</a:t>
            </a:r>
            <a:r>
              <a:rPr lang="es-MX"/>
              <a:t>(q</a:t>
            </a:r>
            <a:r>
              <a:rPr lang="es-MX" baseline="-25000"/>
              <a:t>3</a:t>
            </a:r>
            <a:r>
              <a:rPr lang="es-MX"/>
              <a:t>, 0) = {q</a:t>
            </a:r>
            <a:r>
              <a:rPr lang="es-MX" baseline="-25000"/>
              <a:t>4</a:t>
            </a:r>
            <a:r>
              <a:rPr lang="es-MX"/>
              <a:t>}, </a:t>
            </a:r>
            <a:r>
              <a:rPr lang="en-US"/>
              <a:t>δ</a:t>
            </a:r>
            <a:r>
              <a:rPr lang="es-MX"/>
              <a:t>(q</a:t>
            </a:r>
            <a:r>
              <a:rPr lang="es-MX" baseline="-25000"/>
              <a:t>3</a:t>
            </a:r>
            <a:r>
              <a:rPr lang="es-MX"/>
              <a:t>,1) = ∅, </a:t>
            </a:r>
            <a:r>
              <a:rPr lang="en-US"/>
              <a:t>δ</a:t>
            </a:r>
            <a:r>
              <a:rPr lang="es-MX"/>
              <a:t>(q</a:t>
            </a:r>
            <a:r>
              <a:rPr lang="es-MX" baseline="-25000"/>
              <a:t>4</a:t>
            </a:r>
            <a:r>
              <a:rPr lang="es-MX"/>
              <a:t>, 0) = {q</a:t>
            </a:r>
            <a:r>
              <a:rPr lang="es-MX" baseline="-25000"/>
              <a:t>4</a:t>
            </a:r>
            <a:r>
              <a:rPr lang="es-MX"/>
              <a:t>}, </a:t>
            </a:r>
            <a:r>
              <a:rPr lang="en-US"/>
              <a:t>δ</a:t>
            </a:r>
            <a:r>
              <a:rPr lang="es-MX"/>
              <a:t>(q</a:t>
            </a:r>
            <a:r>
              <a:rPr lang="es-MX" baseline="-25000"/>
              <a:t>4</a:t>
            </a:r>
            <a:r>
              <a:rPr lang="es-MX"/>
              <a:t>, 1) = {q</a:t>
            </a:r>
            <a:r>
              <a:rPr lang="es-MX" baseline="-25000"/>
              <a:t>4</a:t>
            </a:r>
            <a:r>
              <a:rPr lang="es-MX"/>
              <a:t>}. </a:t>
            </a:r>
            <a:endParaRPr lang="en-US" smtClean="0"/>
          </a:p>
          <a:p>
            <a:pPr>
              <a:lnSpc>
                <a:spcPct val="150000"/>
              </a:lnSpc>
            </a:pPr>
            <a:r>
              <a:rPr lang="es-MX"/>
              <a:t>Bảng chuyển trạng thái và đồ thị chuyển trạng thái của otomat A cho trong hình</a:t>
            </a:r>
            <a:endParaRPr lang="en-US"/>
          </a:p>
        </p:txBody>
      </p:sp>
      <p:pic>
        <p:nvPicPr>
          <p:cNvPr id="5" name="Picture 4"/>
          <p:cNvPicPr>
            <a:picLocks noChangeAspect="1"/>
          </p:cNvPicPr>
          <p:nvPr/>
        </p:nvPicPr>
        <p:blipFill>
          <a:blip r:embed="rId2"/>
          <a:stretch>
            <a:fillRect/>
          </a:stretch>
        </p:blipFill>
        <p:spPr>
          <a:xfrm>
            <a:off x="3199435" y="3855267"/>
            <a:ext cx="3872552" cy="2326592"/>
          </a:xfrm>
          <a:prstGeom prst="rect">
            <a:avLst/>
          </a:prstGeom>
        </p:spPr>
      </p:pic>
      <p:pic>
        <p:nvPicPr>
          <p:cNvPr id="6" name="Picture 5"/>
          <p:cNvPicPr/>
          <p:nvPr/>
        </p:nvPicPr>
        <p:blipFill>
          <a:blip r:embed="rId3"/>
          <a:stretch>
            <a:fillRect/>
          </a:stretch>
        </p:blipFill>
        <p:spPr>
          <a:xfrm>
            <a:off x="7756093" y="3892037"/>
            <a:ext cx="3500042" cy="2289822"/>
          </a:xfrm>
          <a:prstGeom prst="rect">
            <a:avLst/>
          </a:prstGeom>
        </p:spPr>
      </p:pic>
    </p:spTree>
    <p:extLst>
      <p:ext uri="{BB962C8B-B14F-4D97-AF65-F5344CB8AC3E}">
        <p14:creationId xmlns:p14="http://schemas.microsoft.com/office/powerpoint/2010/main" val="311759943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9133" y="546837"/>
            <a:ext cx="8911687" cy="831203"/>
          </a:xfrm>
        </p:spPr>
        <p:txBody>
          <a:bodyPr/>
          <a:lstStyle/>
          <a:p>
            <a:r>
              <a:rPr lang="en-US" smtClean="0"/>
              <a:t>Ví dụ</a:t>
            </a:r>
            <a:endParaRPr lang="en-US"/>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38659" y="1317670"/>
            <a:ext cx="5835339" cy="12967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2176528" y="2859110"/>
            <a:ext cx="7894751" cy="1631216"/>
          </a:xfrm>
          <a:prstGeom prst="rect">
            <a:avLst/>
          </a:prstGeom>
          <a:noFill/>
        </p:spPr>
        <p:txBody>
          <a:bodyPr wrap="square" rtlCol="0">
            <a:spAutoFit/>
          </a:bodyPr>
          <a:lstStyle/>
          <a:p>
            <a:pPr marL="342900" indent="-342900">
              <a:buFont typeface="Arial" pitchFamily="34" charset="0"/>
              <a:buChar char="•"/>
            </a:pPr>
            <a:r>
              <a:rPr lang="en-US" sz="2000" smtClean="0">
                <a:latin typeface="Arial" pitchFamily="34" charset="0"/>
                <a:cs typeface="Arial" pitchFamily="34" charset="0"/>
              </a:rPr>
              <a:t>Hãy mô tả otomat A có đồ thị chuyển như trên.</a:t>
            </a:r>
          </a:p>
          <a:p>
            <a:pPr marL="342900" indent="-342900">
              <a:buFont typeface="Arial" pitchFamily="34" charset="0"/>
              <a:buChar char="•"/>
            </a:pPr>
            <a:endParaRPr lang="en-US" sz="2000" smtClean="0">
              <a:latin typeface="Arial" pitchFamily="34" charset="0"/>
              <a:cs typeface="Arial" pitchFamily="34" charset="0"/>
            </a:endParaRPr>
          </a:p>
          <a:p>
            <a:pPr marL="342900" indent="-342900">
              <a:buFont typeface="Arial" pitchFamily="34" charset="0"/>
              <a:buChar char="•"/>
            </a:pPr>
            <a:r>
              <a:rPr lang="en-US" sz="2000" smtClean="0">
                <a:latin typeface="Arial" pitchFamily="34" charset="0"/>
                <a:cs typeface="Arial" pitchFamily="34" charset="0"/>
              </a:rPr>
              <a:t>Hãy lập bảng chuyển trạng thái cho đồ thị chuyển trên.</a:t>
            </a:r>
          </a:p>
          <a:p>
            <a:pPr marL="342900" indent="-342900">
              <a:buFont typeface="Arial" pitchFamily="34" charset="0"/>
              <a:buChar char="•"/>
            </a:pPr>
            <a:endParaRPr lang="en-US" sz="2000" smtClean="0">
              <a:latin typeface="Arial" pitchFamily="34" charset="0"/>
              <a:cs typeface="Arial" pitchFamily="34" charset="0"/>
            </a:endParaRPr>
          </a:p>
          <a:p>
            <a:pPr marL="342900" indent="-342900">
              <a:buFont typeface="Arial" pitchFamily="34" charset="0"/>
              <a:buChar char="•"/>
            </a:pPr>
            <a:r>
              <a:rPr lang="en-US" sz="2000" smtClean="0">
                <a:latin typeface="Arial" pitchFamily="34" charset="0"/>
                <a:cs typeface="Arial" pitchFamily="34" charset="0"/>
              </a:rPr>
              <a:t>Cho chuỗi vào w = 010110. Cây tiến trình biểu diễn quá trình đọc </a:t>
            </a:r>
            <a:endParaRPr lang="en-US" sz="2000">
              <a:latin typeface="Arial" pitchFamily="34" charset="0"/>
              <a:cs typeface="Arial" pitchFamily="34" charset="0"/>
            </a:endParaRPr>
          </a:p>
        </p:txBody>
      </p:sp>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92884" y="4661615"/>
            <a:ext cx="8326888" cy="1726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0713600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Tiến trình song song của NFA</a:t>
            </a:r>
            <a:endParaRPr lang="en-US"/>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65928" y="1751527"/>
            <a:ext cx="4756112" cy="1957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2867695" y="4062039"/>
            <a:ext cx="6096000" cy="923330"/>
          </a:xfrm>
          <a:prstGeom prst="rect">
            <a:avLst/>
          </a:prstGeom>
        </p:spPr>
        <p:txBody>
          <a:bodyPr>
            <a:spAutoFit/>
          </a:bodyPr>
          <a:lstStyle/>
          <a:p>
            <a:r>
              <a:rPr lang="en-US" i="1"/>
              <a:t>Q </a:t>
            </a:r>
            <a:r>
              <a:rPr lang="en-US"/>
              <a:t>= { </a:t>
            </a:r>
            <a:r>
              <a:rPr lang="en-US" i="1"/>
              <a:t>q</a:t>
            </a:r>
            <a:r>
              <a:rPr lang="en-US" i="1" baseline="-25000"/>
              <a:t>0</a:t>
            </a:r>
            <a:r>
              <a:rPr lang="en-US"/>
              <a:t>, </a:t>
            </a:r>
            <a:r>
              <a:rPr lang="en-US" i="1"/>
              <a:t>q</a:t>
            </a:r>
            <a:r>
              <a:rPr lang="en-US" baseline="-25000"/>
              <a:t>1</a:t>
            </a:r>
            <a:r>
              <a:rPr lang="en-US"/>
              <a:t>, q</a:t>
            </a:r>
            <a:r>
              <a:rPr lang="en-US" baseline="-25000"/>
              <a:t>2</a:t>
            </a:r>
            <a:r>
              <a:rPr lang="en-US"/>
              <a:t>, q</a:t>
            </a:r>
            <a:r>
              <a:rPr lang="en-US" baseline="-25000"/>
              <a:t>3</a:t>
            </a:r>
            <a:r>
              <a:rPr lang="en-US"/>
              <a:t>, q</a:t>
            </a:r>
            <a:r>
              <a:rPr lang="en-US" baseline="-25000"/>
              <a:t>4</a:t>
            </a:r>
            <a:r>
              <a:rPr lang="en-US"/>
              <a:t>, </a:t>
            </a:r>
            <a:r>
              <a:rPr lang="en-US" i="1"/>
              <a:t>q</a:t>
            </a:r>
            <a:r>
              <a:rPr lang="en-US" baseline="-25000"/>
              <a:t>5</a:t>
            </a:r>
            <a:r>
              <a:rPr lang="en-US"/>
              <a:t> }, </a:t>
            </a:r>
          </a:p>
          <a:p>
            <a:r>
              <a:rPr lang="en-US">
                <a:sym typeface="Symbol"/>
              </a:rPr>
              <a:t></a:t>
            </a:r>
            <a:r>
              <a:rPr lang="en-US" smtClean="0"/>
              <a:t>(</a:t>
            </a:r>
            <a:r>
              <a:rPr lang="en-US" i="1"/>
              <a:t>q</a:t>
            </a:r>
            <a:r>
              <a:rPr lang="en-US" i="1" baseline="-25000"/>
              <a:t>0</a:t>
            </a:r>
            <a:r>
              <a:rPr lang="en-US"/>
              <a:t>, a ) = { q</a:t>
            </a:r>
            <a:r>
              <a:rPr lang="en-US" baseline="-25000"/>
              <a:t>1</a:t>
            </a:r>
            <a:r>
              <a:rPr lang="en-US"/>
              <a:t>, q</a:t>
            </a:r>
            <a:r>
              <a:rPr lang="en-US" baseline="-25000"/>
              <a:t>4</a:t>
            </a:r>
            <a:r>
              <a:rPr lang="en-US"/>
              <a:t> }, </a:t>
            </a:r>
            <a:r>
              <a:rPr lang="en-US">
                <a:sym typeface="Symbol"/>
              </a:rPr>
              <a:t></a:t>
            </a:r>
            <a:r>
              <a:rPr lang="en-US" smtClean="0"/>
              <a:t>(</a:t>
            </a:r>
            <a:r>
              <a:rPr lang="en-US" i="1"/>
              <a:t>q</a:t>
            </a:r>
            <a:r>
              <a:rPr lang="en-US" baseline="-25000"/>
              <a:t>1</a:t>
            </a:r>
            <a:r>
              <a:rPr lang="en-US"/>
              <a:t>, a ) = { q</a:t>
            </a:r>
            <a:r>
              <a:rPr lang="en-US" baseline="-25000"/>
              <a:t>2</a:t>
            </a:r>
            <a:r>
              <a:rPr lang="en-US"/>
              <a:t> }, </a:t>
            </a:r>
          </a:p>
          <a:p>
            <a:r>
              <a:rPr lang="en-US">
                <a:sym typeface="Symbol"/>
              </a:rPr>
              <a:t></a:t>
            </a:r>
            <a:r>
              <a:rPr lang="en-US" smtClean="0"/>
              <a:t>(</a:t>
            </a:r>
            <a:r>
              <a:rPr lang="en-US" i="1"/>
              <a:t>q</a:t>
            </a:r>
            <a:r>
              <a:rPr lang="en-US" baseline="-25000"/>
              <a:t>2</a:t>
            </a:r>
            <a:r>
              <a:rPr lang="en-US"/>
              <a:t>, a ) = { q</a:t>
            </a:r>
            <a:r>
              <a:rPr lang="en-US" baseline="-25000"/>
              <a:t>3</a:t>
            </a:r>
            <a:r>
              <a:rPr lang="en-US"/>
              <a:t> }, </a:t>
            </a:r>
            <a:r>
              <a:rPr lang="en-US">
                <a:sym typeface="Symbol"/>
              </a:rPr>
              <a:t></a:t>
            </a:r>
            <a:r>
              <a:rPr lang="en-US" smtClean="0"/>
              <a:t>(</a:t>
            </a:r>
            <a:r>
              <a:rPr lang="en-US" i="1"/>
              <a:t>q</a:t>
            </a:r>
            <a:r>
              <a:rPr lang="en-US" baseline="-25000"/>
              <a:t>4</a:t>
            </a:r>
            <a:r>
              <a:rPr lang="en-US"/>
              <a:t>, a ) = { q</a:t>
            </a:r>
            <a:r>
              <a:rPr lang="en-US" baseline="-25000"/>
              <a:t>5</a:t>
            </a:r>
            <a:r>
              <a:rPr lang="en-US"/>
              <a:t> }, </a:t>
            </a:r>
            <a:r>
              <a:rPr lang="en-US">
                <a:sym typeface="Symbol"/>
              </a:rPr>
              <a:t></a:t>
            </a:r>
            <a:r>
              <a:rPr lang="en-US" smtClean="0"/>
              <a:t>(</a:t>
            </a:r>
            <a:r>
              <a:rPr lang="en-US" i="1"/>
              <a:t>q</a:t>
            </a:r>
            <a:r>
              <a:rPr lang="en-US" baseline="-25000"/>
              <a:t>5</a:t>
            </a:r>
            <a:r>
              <a:rPr lang="en-US"/>
              <a:t>, a ) = { q</a:t>
            </a:r>
            <a:r>
              <a:rPr lang="en-US" baseline="-25000"/>
              <a:t>4</a:t>
            </a:r>
            <a:r>
              <a:rPr lang="en-US"/>
              <a:t> }. </a:t>
            </a:r>
          </a:p>
        </p:txBody>
      </p:sp>
      <p:sp>
        <p:nvSpPr>
          <p:cNvPr id="5" name="Rectangle 4"/>
          <p:cNvSpPr/>
          <p:nvPr/>
        </p:nvSpPr>
        <p:spPr>
          <a:xfrm>
            <a:off x="2112136" y="5211428"/>
            <a:ext cx="8860664" cy="1200329"/>
          </a:xfrm>
          <a:prstGeom prst="rect">
            <a:avLst/>
          </a:prstGeom>
        </p:spPr>
        <p:txBody>
          <a:bodyPr wrap="square">
            <a:spAutoFit/>
          </a:bodyPr>
          <a:lstStyle/>
          <a:p>
            <a:r>
              <a:rPr lang="en-US" smtClean="0"/>
              <a:t>NFA</a:t>
            </a:r>
            <a:r>
              <a:rPr lang="vi-VN" smtClean="0"/>
              <a:t> </a:t>
            </a:r>
            <a:r>
              <a:rPr lang="vi-VN"/>
              <a:t>có hàm chuyển dịch được mở rộng </a:t>
            </a:r>
            <a:r>
              <a:rPr lang="en-US" smtClean="0">
                <a:solidFill>
                  <a:srgbClr val="FF0000"/>
                </a:solidFill>
                <a:sym typeface="Symbol"/>
              </a:rPr>
              <a:t></a:t>
            </a:r>
            <a:r>
              <a:rPr lang="vi-VN" smtClean="0">
                <a:solidFill>
                  <a:srgbClr val="FF0000"/>
                </a:solidFill>
              </a:rPr>
              <a:t>*</a:t>
            </a:r>
            <a:r>
              <a:rPr lang="vi-VN" smtClean="0"/>
              <a:t> </a:t>
            </a:r>
            <a:endParaRPr lang="vi-VN"/>
          </a:p>
          <a:p>
            <a:r>
              <a:rPr lang="en-US" smtClean="0">
                <a:sym typeface="Symbol"/>
              </a:rPr>
              <a:t> 		</a:t>
            </a:r>
            <a:r>
              <a:rPr lang="en-US" smtClean="0">
                <a:solidFill>
                  <a:srgbClr val="FF0000"/>
                </a:solidFill>
                <a:sym typeface="Symbol"/>
              </a:rPr>
              <a:t></a:t>
            </a:r>
            <a:r>
              <a:rPr lang="en-US" smtClean="0">
                <a:solidFill>
                  <a:srgbClr val="FF0000"/>
                </a:solidFill>
              </a:rPr>
              <a:t>*</a:t>
            </a:r>
            <a:r>
              <a:rPr lang="en-US" smtClean="0"/>
              <a:t>(</a:t>
            </a:r>
            <a:r>
              <a:rPr lang="en-US"/>
              <a:t>q</a:t>
            </a:r>
            <a:r>
              <a:rPr lang="en-US" baseline="-25000"/>
              <a:t>i</a:t>
            </a:r>
            <a:r>
              <a:rPr lang="en-US"/>
              <a:t>, w) = Q</a:t>
            </a:r>
            <a:r>
              <a:rPr lang="en-US" baseline="-25000"/>
              <a:t>j</a:t>
            </a:r>
            <a:r>
              <a:rPr lang="en-US"/>
              <a:t> </a:t>
            </a:r>
          </a:p>
          <a:p>
            <a:r>
              <a:rPr lang="vi-VN"/>
              <a:t>Với Q</a:t>
            </a:r>
            <a:r>
              <a:rPr lang="vi-VN" baseline="-25000"/>
              <a:t>j</a:t>
            </a:r>
            <a:r>
              <a:rPr lang="vi-VN"/>
              <a:t> là tập những trạng thái có thể của </a:t>
            </a:r>
            <a:r>
              <a:rPr lang="en-US" smtClean="0"/>
              <a:t>NFA</a:t>
            </a:r>
            <a:r>
              <a:rPr lang="vi-VN" smtClean="0"/>
              <a:t>, </a:t>
            </a:r>
            <a:r>
              <a:rPr lang="vi-VN"/>
              <a:t>khi nó ở trạng thái </a:t>
            </a:r>
            <a:r>
              <a:rPr lang="vi-VN" i="1" smtClean="0"/>
              <a:t>q</a:t>
            </a:r>
            <a:r>
              <a:rPr lang="en-US" i="1" baseline="-25000" smtClean="0"/>
              <a:t>i</a:t>
            </a:r>
            <a:r>
              <a:rPr lang="vi-VN" i="1" smtClean="0"/>
              <a:t> </a:t>
            </a:r>
            <a:r>
              <a:rPr lang="vi-VN"/>
              <a:t>và đọc </a:t>
            </a:r>
            <a:r>
              <a:rPr lang="en-US" smtClean="0"/>
              <a:t>chuỗi </a:t>
            </a:r>
            <a:r>
              <a:rPr lang="vi-VN" i="1" smtClean="0"/>
              <a:t>w</a:t>
            </a:r>
            <a:r>
              <a:rPr lang="vi-VN" smtClean="0"/>
              <a:t>.</a:t>
            </a:r>
            <a:endParaRPr lang="en-US" smtClean="0"/>
          </a:p>
          <a:p>
            <a:r>
              <a:rPr lang="en-US" smtClean="0"/>
              <a:t>Các chuỗi được chấp nhận có dạng </a:t>
            </a:r>
            <a:r>
              <a:rPr lang="en-US" smtClean="0">
                <a:solidFill>
                  <a:srgbClr val="FF0000"/>
                </a:solidFill>
              </a:rPr>
              <a:t>w = aaa</a:t>
            </a:r>
            <a:r>
              <a:rPr lang="en-US" smtClean="0"/>
              <a:t> hoặc </a:t>
            </a:r>
            <a:r>
              <a:rPr lang="en-US" smtClean="0">
                <a:solidFill>
                  <a:srgbClr val="FF0000"/>
                </a:solidFill>
              </a:rPr>
              <a:t>w = a</a:t>
            </a:r>
            <a:r>
              <a:rPr lang="en-US" baseline="30000" smtClean="0">
                <a:solidFill>
                  <a:srgbClr val="FF0000"/>
                </a:solidFill>
              </a:rPr>
              <a:t>2n</a:t>
            </a:r>
            <a:r>
              <a:rPr lang="vi-VN" smtClean="0"/>
              <a:t> </a:t>
            </a:r>
            <a:endParaRPr lang="en-US"/>
          </a:p>
        </p:txBody>
      </p:sp>
    </p:spTree>
    <p:extLst>
      <p:ext uri="{BB962C8B-B14F-4D97-AF65-F5344CB8AC3E}">
        <p14:creationId xmlns:p14="http://schemas.microsoft.com/office/powerpoint/2010/main" val="334798149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323321"/>
            <a:ext cx="8911687" cy="1280890"/>
          </a:xfrm>
        </p:spPr>
        <p:txBody>
          <a:bodyPr>
            <a:normAutofit/>
          </a:bodyPr>
          <a:lstStyle/>
          <a:p>
            <a:r>
              <a:rPr lang="es-MX" b="1"/>
              <a:t>Ngôn ngữ được đoán nhận bởi otomat hữu hạn không đơn định</a:t>
            </a:r>
            <a:r>
              <a:rPr lang="es-MX"/>
              <a:t> </a:t>
            </a:r>
            <a:endParaRPr lang="en-US"/>
          </a:p>
        </p:txBody>
      </p:sp>
      <p:sp>
        <p:nvSpPr>
          <p:cNvPr id="3" name="Content Placeholder 2"/>
          <p:cNvSpPr>
            <a:spLocks noGrp="1"/>
          </p:cNvSpPr>
          <p:nvPr>
            <p:ph idx="1"/>
          </p:nvPr>
        </p:nvSpPr>
        <p:spPr>
          <a:xfrm>
            <a:off x="2589212" y="1467853"/>
            <a:ext cx="8915400" cy="4443369"/>
          </a:xfrm>
        </p:spPr>
        <p:txBody>
          <a:bodyPr>
            <a:normAutofit fontScale="92500" lnSpcReduction="20000"/>
          </a:bodyPr>
          <a:lstStyle/>
          <a:p>
            <a:pPr>
              <a:lnSpc>
                <a:spcPct val="150000"/>
              </a:lnSpc>
            </a:pPr>
            <a:endParaRPr lang="es-MX" b="1" i="1" smtClean="0"/>
          </a:p>
          <a:p>
            <a:pPr>
              <a:lnSpc>
                <a:spcPct val="150000"/>
              </a:lnSpc>
            </a:pPr>
            <a:r>
              <a:rPr lang="es-MX" b="1" i="1" smtClean="0"/>
              <a:t>Định </a:t>
            </a:r>
            <a:r>
              <a:rPr lang="es-MX" b="1" i="1"/>
              <a:t>nghĩa 2.2 </a:t>
            </a:r>
            <a:r>
              <a:rPr lang="es-MX"/>
              <a:t> Cho otomat hữu hạn không đơn định A = &lt;Q, </a:t>
            </a:r>
            <a:r>
              <a:rPr lang="en-US"/>
              <a:t>Σ</a:t>
            </a:r>
            <a:r>
              <a:rPr lang="es-MX"/>
              <a:t>, </a:t>
            </a:r>
            <a:r>
              <a:rPr lang="en-US"/>
              <a:t>δ</a:t>
            </a:r>
            <a:r>
              <a:rPr lang="es-MX"/>
              <a:t>, q</a:t>
            </a:r>
            <a:r>
              <a:rPr lang="es-MX" baseline="-25000"/>
              <a:t>0</a:t>
            </a:r>
            <a:r>
              <a:rPr lang="es-MX"/>
              <a:t>, F&gt;. Mở rộng của </a:t>
            </a:r>
            <a:r>
              <a:rPr lang="en-US"/>
              <a:t>δ</a:t>
            </a:r>
            <a:r>
              <a:rPr lang="es-MX"/>
              <a:t> là ánh xạ </a:t>
            </a:r>
            <a:r>
              <a:rPr lang="en-US" smtClean="0"/>
              <a:t>δ*</a:t>
            </a:r>
            <a:r>
              <a:rPr lang="es-MX" smtClean="0"/>
              <a:t> </a:t>
            </a:r>
            <a:r>
              <a:rPr lang="es-MX"/>
              <a:t>từ tập Q × </a:t>
            </a:r>
            <a:r>
              <a:rPr lang="en-US"/>
              <a:t>Σ </a:t>
            </a:r>
            <a:r>
              <a:rPr lang="es-MX" baseline="30000"/>
              <a:t>*</a:t>
            </a:r>
            <a:r>
              <a:rPr lang="es-MX"/>
              <a:t> vào 2</a:t>
            </a:r>
            <a:r>
              <a:rPr lang="es-MX" baseline="30000"/>
              <a:t>Q</a:t>
            </a:r>
            <a:r>
              <a:rPr lang="es-MX"/>
              <a:t> được xác định như sau: </a:t>
            </a:r>
            <a:endParaRPr lang="en-US"/>
          </a:p>
          <a:p>
            <a:pPr lvl="0" fontAlgn="base">
              <a:lnSpc>
                <a:spcPct val="150000"/>
              </a:lnSpc>
            </a:pPr>
            <a:r>
              <a:rPr lang="en-US" smtClean="0"/>
              <a:t>δ</a:t>
            </a:r>
            <a:r>
              <a:rPr lang="en-US" baseline="30000"/>
              <a:t>*</a:t>
            </a:r>
            <a:r>
              <a:rPr lang="en-US" smtClean="0"/>
              <a:t>(q, ε) = {q}, ∀q ∈ Q, </a:t>
            </a:r>
          </a:p>
          <a:p>
            <a:pPr lvl="0" fontAlgn="base">
              <a:lnSpc>
                <a:spcPct val="150000"/>
              </a:lnSpc>
            </a:pPr>
            <a:r>
              <a:rPr lang="en-US" smtClean="0"/>
              <a:t>δ*</a:t>
            </a:r>
            <a:r>
              <a:rPr lang="en-US" baseline="30000" smtClean="0"/>
              <a:t> </a:t>
            </a:r>
            <a:r>
              <a:rPr lang="en-US" smtClean="0"/>
              <a:t>(</a:t>
            </a:r>
            <a:r>
              <a:rPr lang="en-US"/>
              <a:t>q, ωa) </a:t>
            </a:r>
            <a:r>
              <a:rPr lang="en-US" smtClean="0"/>
              <a:t>=              ∀</a:t>
            </a:r>
            <a:r>
              <a:rPr lang="en-US"/>
              <a:t>q∈Q, ∀a∈Σ, ∀ω∈Σ</a:t>
            </a:r>
            <a:r>
              <a:rPr lang="en-US" baseline="30000"/>
              <a:t>*</a:t>
            </a:r>
            <a:r>
              <a:rPr lang="en-US"/>
              <a:t> sao cho </a:t>
            </a:r>
            <a:r>
              <a:rPr lang="en-US" smtClean="0"/>
              <a:t>δ*</a:t>
            </a:r>
            <a:r>
              <a:rPr lang="en-US" baseline="30000" smtClean="0"/>
              <a:t> </a:t>
            </a:r>
            <a:r>
              <a:rPr lang="en-US" smtClean="0"/>
              <a:t>(</a:t>
            </a:r>
            <a:r>
              <a:rPr lang="en-US"/>
              <a:t>q, ω) được xác định. </a:t>
            </a:r>
            <a:endParaRPr lang="en-US" smtClean="0"/>
          </a:p>
          <a:p>
            <a:pPr>
              <a:lnSpc>
                <a:spcPct val="150000"/>
              </a:lnSpc>
            </a:pPr>
            <a:endParaRPr lang="en-US" smtClean="0"/>
          </a:p>
          <a:p>
            <a:pPr>
              <a:lnSpc>
                <a:spcPct val="150000"/>
              </a:lnSpc>
            </a:pPr>
            <a:r>
              <a:rPr lang="en-US" b="1" i="1"/>
              <a:t>Định nghĩa 2.3  </a:t>
            </a:r>
            <a:r>
              <a:rPr lang="en-US"/>
              <a:t>Cho otomat hữu hạn không đơn định A = &lt;Q, Σ, δ, q</a:t>
            </a:r>
            <a:r>
              <a:rPr lang="en-US" baseline="-25000"/>
              <a:t>0</a:t>
            </a:r>
            <a:r>
              <a:rPr lang="en-US"/>
              <a:t>, F&gt;, ω ∈ Σ</a:t>
            </a:r>
            <a:r>
              <a:rPr lang="en-US" baseline="30000"/>
              <a:t>*</a:t>
            </a:r>
            <a:r>
              <a:rPr lang="en-US"/>
              <a:t> và L là một ngôn ngữ trên Σ. Ta nói: </a:t>
            </a:r>
          </a:p>
          <a:p>
            <a:pPr>
              <a:lnSpc>
                <a:spcPct val="150000"/>
              </a:lnSpc>
            </a:pPr>
            <a:r>
              <a:rPr lang="en-US" smtClean="0"/>
              <a:t>ω </a:t>
            </a:r>
            <a:r>
              <a:rPr lang="en-US"/>
              <a:t>được đoán nhận bởi A  nếu δ(q</a:t>
            </a:r>
            <a:r>
              <a:rPr lang="en-US" baseline="-25000"/>
              <a:t>0</a:t>
            </a:r>
            <a:r>
              <a:rPr lang="en-US"/>
              <a:t>, ω) ∩ F ≠ ∅; </a:t>
            </a:r>
          </a:p>
          <a:p>
            <a:pPr>
              <a:lnSpc>
                <a:spcPct val="150000"/>
              </a:lnSpc>
            </a:pPr>
            <a:r>
              <a:rPr lang="en-US" smtClean="0"/>
              <a:t>L </a:t>
            </a:r>
            <a:r>
              <a:rPr lang="en-US"/>
              <a:t>được đoán nhận bởi A nếu L = {ω∈Σ</a:t>
            </a:r>
            <a:r>
              <a:rPr lang="en-US" baseline="30000"/>
              <a:t>*</a:t>
            </a:r>
            <a:r>
              <a:rPr lang="en-US"/>
              <a:t> | δ(q</a:t>
            </a:r>
            <a:r>
              <a:rPr lang="en-US" baseline="-25000"/>
              <a:t>0</a:t>
            </a:r>
            <a:r>
              <a:rPr lang="en-US"/>
              <a:t>, ω) ∩ F ≠ ∅} và ký hiệu L là T(A). </a:t>
            </a:r>
          </a:p>
          <a:p>
            <a:pPr>
              <a:lnSpc>
                <a:spcPct val="150000"/>
              </a:lnSpc>
            </a:pPr>
            <a:endParaRPr lang="en-US"/>
          </a:p>
        </p:txBody>
      </p:sp>
      <p:pic>
        <p:nvPicPr>
          <p:cNvPr id="4" name="Picture 3"/>
          <p:cNvPicPr>
            <a:picLocks noChangeAspect="1"/>
          </p:cNvPicPr>
          <p:nvPr/>
        </p:nvPicPr>
        <p:blipFill>
          <a:blip r:embed="rId2"/>
          <a:stretch>
            <a:fillRect/>
          </a:stretch>
        </p:blipFill>
        <p:spPr>
          <a:xfrm>
            <a:off x="4176961" y="3209806"/>
            <a:ext cx="821865" cy="547910"/>
          </a:xfrm>
          <a:prstGeom prst="rect">
            <a:avLst/>
          </a:prstGeom>
        </p:spPr>
      </p:pic>
    </p:spTree>
    <p:extLst>
      <p:ext uri="{BB962C8B-B14F-4D97-AF65-F5344CB8AC3E}">
        <p14:creationId xmlns:p14="http://schemas.microsoft.com/office/powerpoint/2010/main" val="241136149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687332"/>
          </a:xfrm>
        </p:spPr>
        <p:txBody>
          <a:bodyPr/>
          <a:lstStyle/>
          <a:p>
            <a:r>
              <a:rPr lang="en-US" smtClean="0"/>
              <a:t>Ví dụ:</a:t>
            </a:r>
            <a:endParaRPr lang="en-US"/>
          </a:p>
        </p:txBody>
      </p:sp>
      <p:sp>
        <p:nvSpPr>
          <p:cNvPr id="3" name="Content Placeholder 2"/>
          <p:cNvSpPr>
            <a:spLocks noGrp="1"/>
          </p:cNvSpPr>
          <p:nvPr>
            <p:ph idx="1"/>
          </p:nvPr>
        </p:nvSpPr>
        <p:spPr>
          <a:xfrm>
            <a:off x="2589212" y="1311442"/>
            <a:ext cx="8915400" cy="5546558"/>
          </a:xfrm>
        </p:spPr>
        <p:txBody>
          <a:bodyPr>
            <a:normAutofit/>
          </a:bodyPr>
          <a:lstStyle/>
          <a:p>
            <a:r>
              <a:rPr lang="en-US"/>
              <a:t>Cho otomat hữu hạn không đơn định: </a:t>
            </a:r>
          </a:p>
          <a:p>
            <a:r>
              <a:rPr lang="en-US"/>
              <a:t>A = &lt;{q</a:t>
            </a:r>
            <a:r>
              <a:rPr lang="en-US" baseline="-25000"/>
              <a:t>0</a:t>
            </a:r>
            <a:r>
              <a:rPr lang="en-US"/>
              <a:t>, q</a:t>
            </a:r>
            <a:r>
              <a:rPr lang="en-US" baseline="-25000"/>
              <a:t>1</a:t>
            </a:r>
            <a:r>
              <a:rPr lang="en-US"/>
              <a:t>, q</a:t>
            </a:r>
            <a:r>
              <a:rPr lang="en-US" baseline="-25000"/>
              <a:t>2</a:t>
            </a:r>
            <a:r>
              <a:rPr lang="en-US"/>
              <a:t>}, {a, b}, δ, q</a:t>
            </a:r>
            <a:r>
              <a:rPr lang="en-US" baseline="-25000"/>
              <a:t>0</a:t>
            </a:r>
            <a:r>
              <a:rPr lang="en-US"/>
              <a:t>, {q</a:t>
            </a:r>
            <a:r>
              <a:rPr lang="en-US" baseline="-25000"/>
              <a:t>2</a:t>
            </a:r>
            <a:r>
              <a:rPr lang="en-US"/>
              <a:t>}&gt;, </a:t>
            </a:r>
            <a:r>
              <a:rPr lang="en-US" smtClean="0"/>
              <a:t>trong </a:t>
            </a:r>
            <a:r>
              <a:rPr lang="en-US"/>
              <a:t>đó δ(q</a:t>
            </a:r>
            <a:r>
              <a:rPr lang="en-US" baseline="-25000"/>
              <a:t>0</a:t>
            </a:r>
            <a:r>
              <a:rPr lang="en-US"/>
              <a:t>, a) = {q</a:t>
            </a:r>
            <a:r>
              <a:rPr lang="en-US" baseline="-25000"/>
              <a:t>0</a:t>
            </a:r>
            <a:r>
              <a:rPr lang="en-US"/>
              <a:t>}, δ(q</a:t>
            </a:r>
            <a:r>
              <a:rPr lang="en-US" baseline="-25000"/>
              <a:t>0</a:t>
            </a:r>
            <a:r>
              <a:rPr lang="en-US"/>
              <a:t>, b) = {q</a:t>
            </a:r>
            <a:r>
              <a:rPr lang="en-US" baseline="-25000"/>
              <a:t>0</a:t>
            </a:r>
            <a:r>
              <a:rPr lang="en-US"/>
              <a:t>, q</a:t>
            </a:r>
            <a:r>
              <a:rPr lang="en-US" baseline="-25000"/>
              <a:t>1</a:t>
            </a:r>
            <a:r>
              <a:rPr lang="en-US"/>
              <a:t>}, δ(q</a:t>
            </a:r>
            <a:r>
              <a:rPr lang="en-US" baseline="-25000"/>
              <a:t>1</a:t>
            </a:r>
            <a:r>
              <a:rPr lang="en-US"/>
              <a:t>, a) = {q</a:t>
            </a:r>
            <a:r>
              <a:rPr lang="en-US" baseline="-25000"/>
              <a:t>1</a:t>
            </a:r>
            <a:r>
              <a:rPr lang="en-US"/>
              <a:t>}, δ(q</a:t>
            </a:r>
            <a:r>
              <a:rPr lang="en-US" baseline="-25000"/>
              <a:t>1</a:t>
            </a:r>
            <a:r>
              <a:rPr lang="en-US"/>
              <a:t>, b) = {q</a:t>
            </a:r>
            <a:r>
              <a:rPr lang="en-US" baseline="-25000"/>
              <a:t>1</a:t>
            </a:r>
            <a:r>
              <a:rPr lang="en-US"/>
              <a:t>, q</a:t>
            </a:r>
            <a:r>
              <a:rPr lang="en-US" baseline="-25000"/>
              <a:t>2</a:t>
            </a:r>
            <a:r>
              <a:rPr lang="en-US"/>
              <a:t>},  </a:t>
            </a:r>
            <a:r>
              <a:rPr lang="en-US" smtClean="0"/>
              <a:t>δ(q</a:t>
            </a:r>
            <a:r>
              <a:rPr lang="en-US" baseline="-25000" smtClean="0"/>
              <a:t>2</a:t>
            </a:r>
            <a:r>
              <a:rPr lang="en-US"/>
              <a:t>, a) = {q</a:t>
            </a:r>
            <a:r>
              <a:rPr lang="en-US" baseline="-25000"/>
              <a:t>2</a:t>
            </a:r>
            <a:r>
              <a:rPr lang="en-US"/>
              <a:t>}, δ(q</a:t>
            </a:r>
            <a:r>
              <a:rPr lang="en-US" baseline="-25000"/>
              <a:t>2</a:t>
            </a:r>
            <a:r>
              <a:rPr lang="en-US"/>
              <a:t>, b) = {q</a:t>
            </a:r>
            <a:r>
              <a:rPr lang="en-US" baseline="-25000"/>
              <a:t>2</a:t>
            </a:r>
            <a:r>
              <a:rPr lang="en-US"/>
              <a:t>}. </a:t>
            </a:r>
            <a:endParaRPr lang="en-US" smtClean="0"/>
          </a:p>
          <a:p>
            <a:r>
              <a:rPr lang="en-US"/>
              <a:t>Bảng chuyển và đồ thị chuyển của otomat A được cho trong hình </a:t>
            </a:r>
            <a:endParaRPr lang="en-US" smtClean="0"/>
          </a:p>
          <a:p>
            <a:endParaRPr lang="en-US"/>
          </a:p>
          <a:p>
            <a:endParaRPr lang="en-US" smtClean="0"/>
          </a:p>
          <a:p>
            <a:endParaRPr lang="en-US"/>
          </a:p>
          <a:p>
            <a:endParaRPr lang="en-US" smtClean="0"/>
          </a:p>
          <a:p>
            <a:endParaRPr lang="en-US"/>
          </a:p>
          <a:p>
            <a:endParaRPr lang="en-US" smtClean="0"/>
          </a:p>
          <a:p>
            <a:r>
              <a:rPr lang="en-US" smtClean="0"/>
              <a:t>Có </a:t>
            </a:r>
            <a:r>
              <a:rPr lang="en-US"/>
              <a:t>thể kiểm tra được rằng từ ω = a</a:t>
            </a:r>
            <a:r>
              <a:rPr lang="en-US" baseline="30000"/>
              <a:t>n</a:t>
            </a:r>
            <a:r>
              <a:rPr lang="en-US"/>
              <a:t>b</a:t>
            </a:r>
            <a:r>
              <a:rPr lang="en-US" baseline="30000"/>
              <a:t>n </a:t>
            </a:r>
            <a:r>
              <a:rPr lang="en-US"/>
              <a:t>∈ T(A), tuy nhiên otomat A không đoán nhận ngôn ngữ L = { a</a:t>
            </a:r>
            <a:r>
              <a:rPr lang="en-US" baseline="30000"/>
              <a:t>n</a:t>
            </a:r>
            <a:r>
              <a:rPr lang="en-US"/>
              <a:t>b</a:t>
            </a:r>
            <a:r>
              <a:rPr lang="en-US" baseline="30000"/>
              <a:t>n</a:t>
            </a:r>
            <a:r>
              <a:rPr lang="en-US"/>
              <a:t> | ∀ n ≥ 1}. </a:t>
            </a:r>
          </a:p>
          <a:p>
            <a:r>
              <a:rPr lang="en-US"/>
              <a:t>Ngôn ngữ được đoán nhận bởi otomat A là: </a:t>
            </a:r>
          </a:p>
          <a:p>
            <a:pPr marL="0" indent="0">
              <a:buNone/>
            </a:pPr>
            <a:r>
              <a:rPr lang="en-US" smtClean="0"/>
              <a:t> 		T(A</a:t>
            </a:r>
            <a:r>
              <a:rPr lang="en-US"/>
              <a:t>) = {ω</a:t>
            </a:r>
            <a:r>
              <a:rPr lang="en-US" baseline="-25000"/>
              <a:t>1</a:t>
            </a:r>
            <a:r>
              <a:rPr lang="en-US"/>
              <a:t>bω</a:t>
            </a:r>
            <a:r>
              <a:rPr lang="en-US" baseline="-25000"/>
              <a:t>2</a:t>
            </a:r>
            <a:r>
              <a:rPr lang="en-US"/>
              <a:t>bω</a:t>
            </a:r>
            <a:r>
              <a:rPr lang="en-US" baseline="-25000"/>
              <a:t>3</a:t>
            </a:r>
            <a:r>
              <a:rPr lang="en-US"/>
              <a:t> | ω</a:t>
            </a:r>
            <a:r>
              <a:rPr lang="en-US" baseline="-25000"/>
              <a:t>1</a:t>
            </a:r>
            <a:r>
              <a:rPr lang="en-US"/>
              <a:t>, ω</a:t>
            </a:r>
            <a:r>
              <a:rPr lang="en-US" baseline="-25000"/>
              <a:t>2</a:t>
            </a:r>
            <a:r>
              <a:rPr lang="en-US"/>
              <a:t>, ω</a:t>
            </a:r>
            <a:r>
              <a:rPr lang="en-US" baseline="-25000"/>
              <a:t>3</a:t>
            </a:r>
            <a:r>
              <a:rPr lang="en-US"/>
              <a:t>∈{a, b}</a:t>
            </a:r>
            <a:r>
              <a:rPr lang="en-US" baseline="30000"/>
              <a:t>*</a:t>
            </a:r>
            <a:r>
              <a:rPr lang="en-US"/>
              <a:t>}. </a:t>
            </a:r>
          </a:p>
        </p:txBody>
      </p:sp>
      <p:pic>
        <p:nvPicPr>
          <p:cNvPr id="4" name="Picture 3"/>
          <p:cNvPicPr>
            <a:picLocks noChangeAspect="1"/>
          </p:cNvPicPr>
          <p:nvPr/>
        </p:nvPicPr>
        <p:blipFill>
          <a:blip r:embed="rId2"/>
          <a:stretch>
            <a:fillRect/>
          </a:stretch>
        </p:blipFill>
        <p:spPr>
          <a:xfrm>
            <a:off x="2693949" y="3280095"/>
            <a:ext cx="4126285" cy="1609251"/>
          </a:xfrm>
          <a:prstGeom prst="rect">
            <a:avLst/>
          </a:prstGeom>
        </p:spPr>
      </p:pic>
      <p:pic>
        <p:nvPicPr>
          <p:cNvPr id="5" name="Picture 4"/>
          <p:cNvPicPr/>
          <p:nvPr/>
        </p:nvPicPr>
        <p:blipFill>
          <a:blip r:embed="rId3"/>
          <a:stretch>
            <a:fillRect/>
          </a:stretch>
        </p:blipFill>
        <p:spPr>
          <a:xfrm>
            <a:off x="7243762" y="3280095"/>
            <a:ext cx="3837322" cy="1609251"/>
          </a:xfrm>
          <a:prstGeom prst="rect">
            <a:avLst/>
          </a:prstGeom>
        </p:spPr>
      </p:pic>
    </p:spTree>
    <p:extLst>
      <p:ext uri="{BB962C8B-B14F-4D97-AF65-F5344CB8AC3E}">
        <p14:creationId xmlns:p14="http://schemas.microsoft.com/office/powerpoint/2010/main" val="109341354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818324"/>
          </a:xfrm>
        </p:spPr>
        <p:txBody>
          <a:bodyPr/>
          <a:lstStyle/>
          <a:p>
            <a:r>
              <a:rPr lang="en-US" smtClean="0"/>
              <a:t>Ví dụ: </a:t>
            </a:r>
            <a:r>
              <a:rPr lang="en-US"/>
              <a:t>Tìm </a:t>
            </a:r>
            <a:r>
              <a:rPr lang="el-GR"/>
              <a:t>δ(</a:t>
            </a:r>
            <a:r>
              <a:rPr lang="en-US" i="1"/>
              <a:t>q</a:t>
            </a:r>
            <a:r>
              <a:rPr lang="en-US" baseline="-25000"/>
              <a:t>0</a:t>
            </a:r>
            <a:r>
              <a:rPr lang="en-US"/>
              <a:t>,1011) và </a:t>
            </a:r>
            <a:r>
              <a:rPr lang="el-GR"/>
              <a:t>δ(</a:t>
            </a:r>
            <a:r>
              <a:rPr lang="en-US" i="1"/>
              <a:t>q</a:t>
            </a:r>
            <a:r>
              <a:rPr lang="en-US" baseline="-25000"/>
              <a:t>1</a:t>
            </a:r>
            <a:r>
              <a:rPr lang="en-US"/>
              <a:t>,01) </a:t>
            </a: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77636" y="1764406"/>
            <a:ext cx="4597349" cy="16069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2906332" y="3994477"/>
            <a:ext cx="6096000" cy="646331"/>
          </a:xfrm>
          <a:prstGeom prst="rect">
            <a:avLst/>
          </a:prstGeom>
        </p:spPr>
        <p:txBody>
          <a:bodyPr>
            <a:spAutoFit/>
          </a:bodyPr>
          <a:lstStyle/>
          <a:p>
            <a:r>
              <a:rPr lang="el-GR"/>
              <a:t>δ(</a:t>
            </a:r>
            <a:r>
              <a:rPr lang="en-US" i="1"/>
              <a:t>q</a:t>
            </a:r>
            <a:r>
              <a:rPr lang="en-US" baseline="-25000"/>
              <a:t>0</a:t>
            </a:r>
            <a:r>
              <a:rPr lang="en-US"/>
              <a:t>,1011) = {</a:t>
            </a:r>
            <a:r>
              <a:rPr lang="en-US" i="1"/>
              <a:t>q</a:t>
            </a:r>
            <a:r>
              <a:rPr lang="en-US" baseline="-25000"/>
              <a:t>2</a:t>
            </a:r>
            <a:r>
              <a:rPr lang="en-US"/>
              <a:t>} hoặc rỗng </a:t>
            </a:r>
          </a:p>
          <a:p>
            <a:r>
              <a:rPr lang="el-GR"/>
              <a:t>δ(</a:t>
            </a:r>
            <a:r>
              <a:rPr lang="en-US" i="1"/>
              <a:t>q</a:t>
            </a:r>
            <a:r>
              <a:rPr lang="en-US" baseline="-25000"/>
              <a:t>1</a:t>
            </a:r>
            <a:r>
              <a:rPr lang="en-US"/>
              <a:t>,01) = {</a:t>
            </a:r>
            <a:r>
              <a:rPr lang="en-US" i="1"/>
              <a:t>q</a:t>
            </a:r>
            <a:r>
              <a:rPr lang="en-US" baseline="-25000"/>
              <a:t>1</a:t>
            </a:r>
            <a:r>
              <a:rPr lang="en-US"/>
              <a:t>} hoặc rỗng </a:t>
            </a:r>
          </a:p>
        </p:txBody>
      </p:sp>
    </p:spTree>
    <p:extLst>
      <p:ext uri="{BB962C8B-B14F-4D97-AF65-F5344CB8AC3E}">
        <p14:creationId xmlns:p14="http://schemas.microsoft.com/office/powerpoint/2010/main" val="327500854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Ví dụ: Tìm ngôn ngữ được đoán nhận bởi otomat bên dưới</a:t>
            </a:r>
            <a:endParaRPr lang="en-US"/>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37112" y="2298947"/>
            <a:ext cx="4912013" cy="1551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8567272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47741" y="624110"/>
            <a:ext cx="9710670" cy="1706966"/>
          </a:xfrm>
        </p:spPr>
        <p:txBody>
          <a:bodyPr>
            <a:normAutofit fontScale="90000"/>
          </a:bodyPr>
          <a:lstStyle/>
          <a:p>
            <a:r>
              <a:rPr lang="en-US" smtClean="0"/>
              <a:t>Ví dụ: </a:t>
            </a:r>
            <a:r>
              <a:rPr lang="vi-VN">
                <a:solidFill>
                  <a:schemeClr val="tx1"/>
                </a:solidFill>
              </a:rPr>
              <a:t>Thiết kế </a:t>
            </a:r>
            <a:r>
              <a:rPr lang="en-US" smtClean="0">
                <a:solidFill>
                  <a:schemeClr val="tx1"/>
                </a:solidFill>
              </a:rPr>
              <a:t>NFA</a:t>
            </a:r>
            <a:r>
              <a:rPr lang="vi-VN" smtClean="0">
                <a:solidFill>
                  <a:schemeClr val="tx1"/>
                </a:solidFill>
              </a:rPr>
              <a:t> </a:t>
            </a:r>
            <a:r>
              <a:rPr lang="vi-VN">
                <a:solidFill>
                  <a:schemeClr val="tx1"/>
                </a:solidFill>
              </a:rPr>
              <a:t>với điều kiện </a:t>
            </a:r>
            <a:r>
              <a:rPr lang="vi-VN" smtClean="0">
                <a:solidFill>
                  <a:schemeClr val="tx1"/>
                </a:solidFill>
              </a:rPr>
              <a:t>không </a:t>
            </a:r>
            <a:r>
              <a:rPr lang="vi-VN">
                <a:solidFill>
                  <a:schemeClr val="tx1"/>
                </a:solidFill>
              </a:rPr>
              <a:t>quá 5 trạng thái cho tập ngôn ngữ L </a:t>
            </a:r>
            <a:br>
              <a:rPr lang="vi-VN">
                <a:solidFill>
                  <a:schemeClr val="tx1"/>
                </a:solidFill>
              </a:rPr>
            </a:br>
            <a:r>
              <a:rPr lang="en-US" smtClean="0">
                <a:solidFill>
                  <a:schemeClr val="tx1"/>
                </a:solidFill>
              </a:rPr>
              <a:t>    		</a:t>
            </a:r>
            <a:r>
              <a:rPr lang="pt-BR" i="1" smtClean="0">
                <a:solidFill>
                  <a:schemeClr val="tx1"/>
                </a:solidFill>
              </a:rPr>
              <a:t>L </a:t>
            </a:r>
            <a:r>
              <a:rPr lang="pt-BR" i="1">
                <a:solidFill>
                  <a:schemeClr val="tx1"/>
                </a:solidFill>
              </a:rPr>
              <a:t>= </a:t>
            </a:r>
            <a:r>
              <a:rPr lang="pt-BR">
                <a:solidFill>
                  <a:schemeClr val="tx1"/>
                </a:solidFill>
              </a:rPr>
              <a:t>{</a:t>
            </a:r>
            <a:r>
              <a:rPr lang="pt-BR" i="1">
                <a:solidFill>
                  <a:schemeClr val="tx1"/>
                </a:solidFill>
              </a:rPr>
              <a:t>abab</a:t>
            </a:r>
            <a:r>
              <a:rPr lang="pt-BR" i="1" baseline="30000">
                <a:solidFill>
                  <a:schemeClr val="tx1"/>
                </a:solidFill>
              </a:rPr>
              <a:t>n</a:t>
            </a:r>
            <a:r>
              <a:rPr lang="pt-BR">
                <a:solidFill>
                  <a:schemeClr val="tx1"/>
                </a:solidFill>
              </a:rPr>
              <a:t>: </a:t>
            </a:r>
            <a:r>
              <a:rPr lang="pt-BR" i="1">
                <a:solidFill>
                  <a:schemeClr val="tx1"/>
                </a:solidFill>
              </a:rPr>
              <a:t>n </a:t>
            </a:r>
            <a:r>
              <a:rPr lang="pt-BR">
                <a:solidFill>
                  <a:schemeClr val="tx1"/>
                </a:solidFill>
              </a:rPr>
              <a:t>≥ </a:t>
            </a:r>
            <a:r>
              <a:rPr lang="pt-BR" smtClean="0">
                <a:solidFill>
                  <a:schemeClr val="tx1"/>
                </a:solidFill>
              </a:rPr>
              <a:t>1} </a:t>
            </a:r>
            <a:r>
              <a:rPr lang="pt-BR" smtClean="0">
                <a:solidFill>
                  <a:schemeClr val="tx1"/>
                </a:solidFill>
                <a:sym typeface="Symbol"/>
              </a:rPr>
              <a:t></a:t>
            </a:r>
            <a:r>
              <a:rPr lang="pt-BR" smtClean="0">
                <a:solidFill>
                  <a:schemeClr val="tx1"/>
                </a:solidFill>
              </a:rPr>
              <a:t> </a:t>
            </a:r>
            <a:r>
              <a:rPr lang="pt-BR">
                <a:solidFill>
                  <a:schemeClr val="tx1"/>
                </a:solidFill>
              </a:rPr>
              <a:t>{</a:t>
            </a:r>
            <a:r>
              <a:rPr lang="pt-BR" i="1">
                <a:solidFill>
                  <a:schemeClr val="tx1"/>
                </a:solidFill>
              </a:rPr>
              <a:t>aba</a:t>
            </a:r>
            <a:r>
              <a:rPr lang="pt-BR" i="1" baseline="30000">
                <a:solidFill>
                  <a:schemeClr val="tx1"/>
                </a:solidFill>
              </a:rPr>
              <a:t>n</a:t>
            </a:r>
            <a:r>
              <a:rPr lang="pt-BR">
                <a:solidFill>
                  <a:schemeClr val="tx1"/>
                </a:solidFill>
              </a:rPr>
              <a:t>: </a:t>
            </a:r>
            <a:r>
              <a:rPr lang="pt-BR" i="1">
                <a:solidFill>
                  <a:schemeClr val="tx1"/>
                </a:solidFill>
              </a:rPr>
              <a:t>n </a:t>
            </a:r>
            <a:r>
              <a:rPr lang="pt-BR">
                <a:solidFill>
                  <a:schemeClr val="tx1"/>
                </a:solidFill>
              </a:rPr>
              <a:t>≥ </a:t>
            </a:r>
            <a:r>
              <a:rPr lang="pt-BR" smtClean="0">
                <a:solidFill>
                  <a:schemeClr val="tx1"/>
                </a:solidFill>
              </a:rPr>
              <a:t>1}.</a:t>
            </a:r>
            <a:r>
              <a:rPr lang="en-US">
                <a:solidFill>
                  <a:schemeClr val="tx1"/>
                </a:solidFill>
              </a:rPr>
              <a:t/>
            </a:r>
            <a:br>
              <a:rPr lang="en-US">
                <a:solidFill>
                  <a:schemeClr val="tx1"/>
                </a:solidFill>
              </a:rPr>
            </a:br>
            <a:endParaRPr lang="en-US">
              <a:solidFill>
                <a:schemeClr val="tx1"/>
              </a:solidFill>
            </a:endParaRP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37071" y="3477296"/>
            <a:ext cx="7208149" cy="12150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3635665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895597"/>
          </a:xfrm>
        </p:spPr>
        <p:txBody>
          <a:bodyPr/>
          <a:lstStyle/>
          <a:p>
            <a:r>
              <a:rPr lang="en-US" smtClean="0"/>
              <a:t>Bài tập</a:t>
            </a:r>
            <a:endParaRPr lang="en-US"/>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21271" y="3074865"/>
            <a:ext cx="5006330" cy="17063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2107842" y="1900965"/>
            <a:ext cx="6096000" cy="646331"/>
          </a:xfrm>
          <a:prstGeom prst="rect">
            <a:avLst/>
          </a:prstGeom>
        </p:spPr>
        <p:txBody>
          <a:bodyPr>
            <a:spAutoFit/>
          </a:bodyPr>
          <a:lstStyle/>
          <a:p>
            <a:endParaRPr lang="en-US"/>
          </a:p>
          <a:p>
            <a:r>
              <a:rPr lang="en-US"/>
              <a:t>Trong hình sau, tìm </a:t>
            </a:r>
            <a:r>
              <a:rPr lang="en-US" smtClean="0">
                <a:sym typeface="Symbol"/>
              </a:rPr>
              <a:t></a:t>
            </a:r>
            <a:r>
              <a:rPr lang="en-US" smtClean="0"/>
              <a:t>(</a:t>
            </a:r>
            <a:r>
              <a:rPr lang="en-US" i="1"/>
              <a:t>q</a:t>
            </a:r>
            <a:r>
              <a:rPr lang="en-US" baseline="-25000"/>
              <a:t>0</a:t>
            </a:r>
            <a:r>
              <a:rPr lang="en-US"/>
              <a:t>, </a:t>
            </a:r>
            <a:r>
              <a:rPr lang="en-US" i="1"/>
              <a:t>a</a:t>
            </a:r>
            <a:r>
              <a:rPr lang="en-US"/>
              <a:t>) và </a:t>
            </a:r>
            <a:r>
              <a:rPr lang="en-US">
                <a:sym typeface="Symbol"/>
              </a:rPr>
              <a:t></a:t>
            </a:r>
            <a:r>
              <a:rPr lang="en-US" smtClean="0"/>
              <a:t>(</a:t>
            </a:r>
            <a:r>
              <a:rPr lang="en-US" i="1"/>
              <a:t>q</a:t>
            </a:r>
            <a:r>
              <a:rPr lang="en-US"/>
              <a:t>1, </a:t>
            </a:r>
            <a:r>
              <a:rPr lang="en-US" smtClean="0">
                <a:sym typeface="Symbol"/>
              </a:rPr>
              <a:t></a:t>
            </a:r>
            <a:r>
              <a:rPr lang="en-US" smtClean="0"/>
              <a:t>). </a:t>
            </a:r>
            <a:endParaRPr lang="en-US"/>
          </a:p>
        </p:txBody>
      </p:sp>
    </p:spTree>
    <p:extLst>
      <p:ext uri="{BB962C8B-B14F-4D97-AF65-F5344CB8AC3E}">
        <p14:creationId xmlns:p14="http://schemas.microsoft.com/office/powerpoint/2010/main" val="176930892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Bài tập</a:t>
            </a:r>
            <a:endParaRPr lang="en-US"/>
          </a:p>
        </p:txBody>
      </p:sp>
      <p:sp>
        <p:nvSpPr>
          <p:cNvPr id="3" name="Content Placeholder 2"/>
          <p:cNvSpPr>
            <a:spLocks noGrp="1"/>
          </p:cNvSpPr>
          <p:nvPr>
            <p:ph idx="1"/>
          </p:nvPr>
        </p:nvSpPr>
        <p:spPr>
          <a:xfrm>
            <a:off x="2589212" y="2133600"/>
            <a:ext cx="8915400" cy="2052034"/>
          </a:xfrm>
        </p:spPr>
        <p:txBody>
          <a:bodyPr/>
          <a:lstStyle/>
          <a:p>
            <a:endParaRPr lang="en-US"/>
          </a:p>
          <a:p>
            <a:r>
              <a:rPr lang="en-US"/>
              <a:t>Với </a:t>
            </a:r>
            <a:r>
              <a:rPr lang="en-US" smtClean="0"/>
              <a:t>NFA </a:t>
            </a:r>
            <a:r>
              <a:rPr lang="en-US"/>
              <a:t>trong hình sau. </a:t>
            </a:r>
          </a:p>
          <a:p>
            <a:pPr marL="800100" lvl="1" indent="-342900">
              <a:buFont typeface="+mj-lt"/>
              <a:buAutoNum type="alphaLcPeriod"/>
            </a:pPr>
            <a:r>
              <a:rPr lang="en-US" smtClean="0"/>
              <a:t>Hãy </a:t>
            </a:r>
            <a:r>
              <a:rPr lang="en-US"/>
              <a:t>tìm </a:t>
            </a:r>
            <a:r>
              <a:rPr lang="en-US" smtClean="0">
                <a:sym typeface="Symbol"/>
              </a:rPr>
              <a:t></a:t>
            </a:r>
            <a:r>
              <a:rPr lang="en-US" smtClean="0"/>
              <a:t>*(</a:t>
            </a:r>
            <a:r>
              <a:rPr lang="en-US" i="1"/>
              <a:t>q</a:t>
            </a:r>
            <a:r>
              <a:rPr lang="en-US" baseline="-25000"/>
              <a:t>0</a:t>
            </a:r>
            <a:r>
              <a:rPr lang="en-US"/>
              <a:t>,1010) và </a:t>
            </a:r>
            <a:r>
              <a:rPr lang="en-US">
                <a:sym typeface="Symbol"/>
              </a:rPr>
              <a:t> </a:t>
            </a:r>
            <a:r>
              <a:rPr lang="en-US" smtClean="0"/>
              <a:t>*(</a:t>
            </a:r>
            <a:r>
              <a:rPr lang="en-US" i="1"/>
              <a:t>q</a:t>
            </a:r>
            <a:r>
              <a:rPr lang="en-US" baseline="-25000"/>
              <a:t>1</a:t>
            </a:r>
            <a:r>
              <a:rPr lang="en-US"/>
              <a:t>,00). </a:t>
            </a:r>
          </a:p>
          <a:p>
            <a:pPr marL="0" indent="0">
              <a:buNone/>
            </a:pPr>
            <a:r>
              <a:rPr lang="en-US"/>
              <a:t>	</a:t>
            </a:r>
            <a:r>
              <a:rPr lang="en-US" smtClean="0"/>
              <a:t>b. </a:t>
            </a:r>
            <a:r>
              <a:rPr lang="vi-VN" smtClean="0"/>
              <a:t>Chuỗi </a:t>
            </a:r>
            <a:r>
              <a:rPr lang="vi-VN"/>
              <a:t>nào trong các chuỗi : 00, 01001, 10010, 000, 0000 đựơc chấp nhận</a:t>
            </a:r>
            <a:endParaRPr lang="en-US"/>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95877" y="4157395"/>
            <a:ext cx="4689325" cy="1612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239711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3347" y="624110"/>
            <a:ext cx="9521266" cy="1591056"/>
          </a:xfrm>
        </p:spPr>
        <p:txBody>
          <a:bodyPr>
            <a:normAutofit fontScale="90000"/>
          </a:bodyPr>
          <a:lstStyle/>
          <a:p>
            <a:r>
              <a:rPr lang="en-US" smtClean="0"/>
              <a:t>Bài tập. </a:t>
            </a:r>
            <a:r>
              <a:rPr lang="en-US"/>
              <a:t/>
            </a:r>
            <a:br>
              <a:rPr lang="en-US"/>
            </a:br>
            <a:r>
              <a:rPr lang="vi-VN"/>
              <a:t>Cho hàm chuyển dịch của một </a:t>
            </a:r>
            <a:r>
              <a:rPr lang="en-US" smtClean="0"/>
              <a:t>NFA</a:t>
            </a:r>
            <a:r>
              <a:rPr lang="vi-VN" smtClean="0"/>
              <a:t> </a:t>
            </a:r>
            <a:r>
              <a:rPr lang="vi-VN"/>
              <a:t>như bảng sau. Vẽ đồ thị của nó. </a:t>
            </a:r>
            <a:br>
              <a:rPr lang="vi-VN"/>
            </a:br>
            <a:endParaRPr lang="en-US"/>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28089" y="2633261"/>
            <a:ext cx="5316576" cy="2093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3760922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Bài tập</a:t>
            </a:r>
            <a:endParaRPr lang="en-US"/>
          </a:p>
        </p:txBody>
      </p:sp>
      <p:sp>
        <p:nvSpPr>
          <p:cNvPr id="3" name="Content Placeholder 2"/>
          <p:cNvSpPr>
            <a:spLocks noGrp="1"/>
          </p:cNvSpPr>
          <p:nvPr>
            <p:ph idx="1"/>
          </p:nvPr>
        </p:nvSpPr>
        <p:spPr/>
        <p:txBody>
          <a:bodyPr/>
          <a:lstStyle/>
          <a:p>
            <a:endParaRPr lang="en-US"/>
          </a:p>
          <a:p>
            <a:r>
              <a:rPr lang="vi-VN"/>
              <a:t>Thiết kế một nfa mà chấp nhận các chuỗi </a:t>
            </a:r>
            <a:r>
              <a:rPr lang="vi-VN" smtClean="0">
                <a:sym typeface="Symbol"/>
              </a:rPr>
              <a:t></a:t>
            </a:r>
            <a:r>
              <a:rPr lang="vi-VN" smtClean="0"/>
              <a:t>, </a:t>
            </a:r>
            <a:r>
              <a:rPr lang="vi-VN" i="1"/>
              <a:t>a</a:t>
            </a:r>
            <a:r>
              <a:rPr lang="vi-VN"/>
              <a:t>, </a:t>
            </a:r>
            <a:r>
              <a:rPr lang="vi-VN" i="1"/>
              <a:t>baba </a:t>
            </a:r>
            <a:r>
              <a:rPr lang="vi-VN"/>
              <a:t>và </a:t>
            </a:r>
            <a:r>
              <a:rPr lang="vi-VN" i="1"/>
              <a:t>baa</a:t>
            </a:r>
            <a:r>
              <a:rPr lang="vi-VN"/>
              <a:t>, nhưng không chấp nhận những chuỗi </a:t>
            </a:r>
            <a:r>
              <a:rPr lang="vi-VN" i="1"/>
              <a:t>b</a:t>
            </a:r>
            <a:r>
              <a:rPr lang="vi-VN"/>
              <a:t>, </a:t>
            </a:r>
            <a:r>
              <a:rPr lang="vi-VN" i="1"/>
              <a:t>bb </a:t>
            </a:r>
            <a:r>
              <a:rPr lang="vi-VN"/>
              <a:t>và </a:t>
            </a:r>
            <a:r>
              <a:rPr lang="vi-VN" i="1"/>
              <a:t>babba. </a:t>
            </a:r>
            <a:endParaRPr lang="vi-VN"/>
          </a:p>
          <a:p>
            <a:endParaRPr lang="en-US"/>
          </a:p>
          <a:p>
            <a:r>
              <a:rPr lang="vi-VN"/>
              <a:t>Thiết kế </a:t>
            </a:r>
            <a:r>
              <a:rPr lang="en-US" smtClean="0"/>
              <a:t>NFA</a:t>
            </a:r>
            <a:r>
              <a:rPr lang="vi-VN" smtClean="0"/>
              <a:t> </a:t>
            </a:r>
            <a:r>
              <a:rPr lang="vi-VN"/>
              <a:t>với điều kiện ít hơn 5 trạng thái cho tập ngôn ngữ L </a:t>
            </a:r>
          </a:p>
          <a:p>
            <a:pPr marL="0" indent="0">
              <a:buNone/>
            </a:pPr>
            <a:r>
              <a:rPr lang="pt-BR" i="1" smtClean="0"/>
              <a:t>			L </a:t>
            </a:r>
            <a:r>
              <a:rPr lang="pt-BR" i="1"/>
              <a:t>= </a:t>
            </a:r>
            <a:r>
              <a:rPr lang="pt-BR"/>
              <a:t>{</a:t>
            </a:r>
            <a:r>
              <a:rPr lang="pt-BR" i="1"/>
              <a:t>abab</a:t>
            </a:r>
            <a:r>
              <a:rPr lang="pt-BR" i="1" baseline="30000"/>
              <a:t>n</a:t>
            </a:r>
            <a:r>
              <a:rPr lang="pt-BR"/>
              <a:t>: </a:t>
            </a:r>
            <a:r>
              <a:rPr lang="pt-BR" i="1"/>
              <a:t>n </a:t>
            </a:r>
            <a:r>
              <a:rPr lang="pt-BR"/>
              <a:t>≥ 0} </a:t>
            </a:r>
            <a:r>
              <a:rPr lang="pt-BR" smtClean="0">
                <a:sym typeface="Symbol"/>
              </a:rPr>
              <a:t></a:t>
            </a:r>
            <a:r>
              <a:rPr lang="pt-BR" smtClean="0"/>
              <a:t> </a:t>
            </a:r>
            <a:r>
              <a:rPr lang="pt-BR"/>
              <a:t>{</a:t>
            </a:r>
            <a:r>
              <a:rPr lang="pt-BR" i="1"/>
              <a:t>aba</a:t>
            </a:r>
            <a:r>
              <a:rPr lang="pt-BR" i="1" baseline="30000"/>
              <a:t>n</a:t>
            </a:r>
            <a:r>
              <a:rPr lang="pt-BR"/>
              <a:t>: </a:t>
            </a:r>
            <a:r>
              <a:rPr lang="pt-BR" i="1"/>
              <a:t>n </a:t>
            </a:r>
            <a:r>
              <a:rPr lang="pt-BR"/>
              <a:t>≥ 0}.</a:t>
            </a:r>
            <a:endParaRPr lang="en-US"/>
          </a:p>
        </p:txBody>
      </p:sp>
    </p:spTree>
    <p:extLst>
      <p:ext uri="{BB962C8B-B14F-4D97-AF65-F5344CB8AC3E}">
        <p14:creationId xmlns:p14="http://schemas.microsoft.com/office/powerpoint/2010/main" val="126995104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Bài tập</a:t>
            </a:r>
            <a:endParaRPr lang="en-US"/>
          </a:p>
        </p:txBody>
      </p:sp>
      <p:sp>
        <p:nvSpPr>
          <p:cNvPr id="3" name="Content Placeholder 2"/>
          <p:cNvSpPr>
            <a:spLocks noGrp="1"/>
          </p:cNvSpPr>
          <p:nvPr>
            <p:ph idx="1"/>
          </p:nvPr>
        </p:nvSpPr>
        <p:spPr>
          <a:xfrm>
            <a:off x="2589212" y="2120720"/>
            <a:ext cx="8915400" cy="4395989"/>
          </a:xfrm>
        </p:spPr>
        <p:txBody>
          <a:bodyPr>
            <a:normAutofit/>
          </a:bodyPr>
          <a:lstStyle/>
          <a:p>
            <a:r>
              <a:rPr lang="en-US" smtClean="0"/>
              <a:t>Liệt kê 5 từ được đoán nhận ngắn nhất và 5 từ không được đoán nhận ngắn nhất của NFA sau:</a:t>
            </a:r>
          </a:p>
          <a:p>
            <a:endParaRPr lang="en-US"/>
          </a:p>
          <a:p>
            <a:endParaRPr lang="en-US" smtClean="0"/>
          </a:p>
          <a:p>
            <a:endParaRPr lang="en-US"/>
          </a:p>
          <a:p>
            <a:endParaRPr lang="en-US" smtClean="0"/>
          </a:p>
          <a:p>
            <a:endParaRPr lang="en-US"/>
          </a:p>
          <a:p>
            <a:endParaRPr lang="en-US" smtClean="0"/>
          </a:p>
          <a:p>
            <a:endParaRPr lang="en-US" smtClean="0"/>
          </a:p>
          <a:p>
            <a:endParaRPr lang="en-US"/>
          </a:p>
          <a:p>
            <a:r>
              <a:rPr lang="en-US" smtClean="0"/>
              <a:t>Tìm ngôn ngữ được đoán nhận bởi NFA  này</a:t>
            </a:r>
            <a:endParaRPr lang="en-US"/>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29660" y="2963248"/>
            <a:ext cx="3667435" cy="25406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362552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90649" y="160471"/>
            <a:ext cx="8911687" cy="1280890"/>
          </a:xfrm>
        </p:spPr>
        <p:txBody>
          <a:bodyPr/>
          <a:lstStyle/>
          <a:p>
            <a:endParaRPr lang="en-US"/>
          </a:p>
        </p:txBody>
      </p:sp>
      <p:pic>
        <p:nvPicPr>
          <p:cNvPr id="1026" name="Picture 2" descr="Cửa kính tự động BossMatic – cánh cửa mang phong cách hiệ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60264" y="1620547"/>
            <a:ext cx="4596729" cy="459672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84311" y="1764205"/>
            <a:ext cx="5267466" cy="15843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9"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82002" y="3918911"/>
            <a:ext cx="4371975" cy="1228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30410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23223" y="392290"/>
            <a:ext cx="8911687" cy="882718"/>
          </a:xfrm>
        </p:spPr>
        <p:txBody>
          <a:bodyPr/>
          <a:lstStyle/>
          <a:p>
            <a:r>
              <a:rPr lang="en-US" b="1" smtClean="0"/>
              <a:t>§2.  </a:t>
            </a:r>
            <a:r>
              <a:rPr lang="en-US" b="1" dirty="0" err="1"/>
              <a:t>Otomat</a:t>
            </a:r>
            <a:r>
              <a:rPr lang="en-US" b="1" dirty="0"/>
              <a:t> </a:t>
            </a:r>
            <a:r>
              <a:rPr lang="en-US" b="1" dirty="0" err="1"/>
              <a:t>hữu</a:t>
            </a:r>
            <a:r>
              <a:rPr lang="en-US" b="1" dirty="0"/>
              <a:t> </a:t>
            </a:r>
            <a:r>
              <a:rPr lang="en-US" b="1" dirty="0" err="1"/>
              <a:t>hạn</a:t>
            </a:r>
            <a:r>
              <a:rPr lang="en-US" b="1" dirty="0"/>
              <a:t> </a:t>
            </a:r>
            <a:r>
              <a:rPr lang="en-US" b="1" err="1"/>
              <a:t>đơn</a:t>
            </a:r>
            <a:r>
              <a:rPr lang="en-US" b="1"/>
              <a:t> </a:t>
            </a:r>
            <a:r>
              <a:rPr lang="en-US" b="1" smtClean="0"/>
              <a:t>định (DFA) </a:t>
            </a:r>
            <a:endParaRPr lang="en-US" dirty="0"/>
          </a:p>
        </p:txBody>
      </p:sp>
      <p:sp>
        <p:nvSpPr>
          <p:cNvPr id="3" name="Content Placeholder 2"/>
          <p:cNvSpPr>
            <a:spLocks noGrp="1"/>
          </p:cNvSpPr>
          <p:nvPr>
            <p:ph idx="1"/>
          </p:nvPr>
        </p:nvSpPr>
        <p:spPr>
          <a:xfrm>
            <a:off x="2589212" y="1433706"/>
            <a:ext cx="8915400" cy="5031488"/>
          </a:xfrm>
        </p:spPr>
        <p:txBody>
          <a:bodyPr>
            <a:noAutofit/>
          </a:bodyPr>
          <a:lstStyle/>
          <a:p>
            <a:r>
              <a:rPr lang="en-US" sz="2400" b="1" i="1" dirty="0" err="1"/>
              <a:t>Định</a:t>
            </a:r>
            <a:r>
              <a:rPr lang="en-US" sz="2400" b="1" i="1" dirty="0"/>
              <a:t> </a:t>
            </a:r>
            <a:r>
              <a:rPr lang="en-US" sz="2400" b="1" i="1" err="1"/>
              <a:t>nghĩa</a:t>
            </a:r>
            <a:r>
              <a:rPr lang="en-US" sz="2400" b="1" i="1"/>
              <a:t> </a:t>
            </a:r>
            <a:r>
              <a:rPr lang="en-US" sz="2400" b="1" i="1" smtClean="0"/>
              <a:t>2.1 </a:t>
            </a:r>
            <a:r>
              <a:rPr lang="en-US" sz="2400" dirty="0" err="1"/>
              <a:t>Một</a:t>
            </a:r>
            <a:r>
              <a:rPr lang="en-US" sz="2400" dirty="0"/>
              <a:t> </a:t>
            </a:r>
            <a:r>
              <a:rPr lang="en-US" sz="2400" dirty="0" err="1"/>
              <a:t>otomat</a:t>
            </a:r>
            <a:r>
              <a:rPr lang="en-US" sz="2400" dirty="0"/>
              <a:t> </a:t>
            </a:r>
            <a:r>
              <a:rPr lang="en-US" sz="2400" dirty="0" err="1"/>
              <a:t>hữu</a:t>
            </a:r>
            <a:r>
              <a:rPr lang="en-US" sz="2400" dirty="0"/>
              <a:t> </a:t>
            </a:r>
            <a:r>
              <a:rPr lang="en-US" sz="2400" dirty="0" err="1"/>
              <a:t>hạn</a:t>
            </a:r>
            <a:r>
              <a:rPr lang="en-US" sz="2400" dirty="0"/>
              <a:t> </a:t>
            </a:r>
            <a:r>
              <a:rPr lang="en-US" sz="2400" dirty="0" err="1"/>
              <a:t>đơn</a:t>
            </a:r>
            <a:r>
              <a:rPr lang="en-US" sz="2400" dirty="0"/>
              <a:t> </a:t>
            </a:r>
            <a:r>
              <a:rPr lang="en-US" sz="2400" dirty="0" err="1"/>
              <a:t>định</a:t>
            </a:r>
            <a:r>
              <a:rPr lang="en-US" sz="2400" b="1" dirty="0"/>
              <a:t> </a:t>
            </a:r>
            <a:r>
              <a:rPr lang="en-US" sz="2400" dirty="0"/>
              <a:t>(Deterministic Finite Automata-DFA) </a:t>
            </a:r>
            <a:r>
              <a:rPr lang="en-US" sz="2400" dirty="0" err="1"/>
              <a:t>là</a:t>
            </a:r>
            <a:r>
              <a:rPr lang="en-US" sz="2400" dirty="0"/>
              <a:t> </a:t>
            </a:r>
            <a:r>
              <a:rPr lang="en-US" sz="2400" dirty="0" err="1"/>
              <a:t>một</a:t>
            </a:r>
            <a:r>
              <a:rPr lang="en-US" sz="2400" dirty="0"/>
              <a:t> </a:t>
            </a:r>
            <a:r>
              <a:rPr lang="en-US" sz="2400" dirty="0" err="1"/>
              <a:t>bộ</a:t>
            </a:r>
            <a:r>
              <a:rPr lang="en-US" sz="2400" dirty="0"/>
              <a:t> </a:t>
            </a:r>
            <a:r>
              <a:rPr lang="en-US" sz="2400" dirty="0" err="1"/>
              <a:t>năm</a:t>
            </a:r>
            <a:r>
              <a:rPr lang="en-US" sz="2400" dirty="0"/>
              <a:t>: </a:t>
            </a:r>
          </a:p>
          <a:p>
            <a:r>
              <a:rPr lang="en-US" sz="2400" dirty="0"/>
              <a:t>A = &lt;Q, Σ, δ, q</a:t>
            </a:r>
            <a:r>
              <a:rPr lang="en-US" sz="2400" baseline="-25000" dirty="0"/>
              <a:t>0</a:t>
            </a:r>
            <a:r>
              <a:rPr lang="en-US" sz="2400" dirty="0"/>
              <a:t>, F</a:t>
            </a:r>
            <a:r>
              <a:rPr lang="en-US" sz="2400"/>
              <a:t>&gt;, </a:t>
            </a:r>
            <a:r>
              <a:rPr lang="en-US" sz="2400" smtClean="0"/>
              <a:t>trong </a:t>
            </a:r>
            <a:r>
              <a:rPr lang="en-US" sz="2400" dirty="0" err="1"/>
              <a:t>đó</a:t>
            </a:r>
            <a:r>
              <a:rPr lang="en-US" sz="2400" dirty="0"/>
              <a:t>: </a:t>
            </a:r>
          </a:p>
          <a:p>
            <a:r>
              <a:rPr lang="en-US" sz="2400" smtClean="0"/>
              <a:t>Q </a:t>
            </a:r>
            <a:r>
              <a:rPr lang="en-US" sz="2400" dirty="0" err="1"/>
              <a:t>là</a:t>
            </a:r>
            <a:r>
              <a:rPr lang="en-US" sz="2400" dirty="0"/>
              <a:t> </a:t>
            </a:r>
            <a:r>
              <a:rPr lang="en-US" sz="2400" dirty="0" err="1"/>
              <a:t>một</a:t>
            </a:r>
            <a:r>
              <a:rPr lang="en-US" sz="2400" dirty="0"/>
              <a:t> </a:t>
            </a:r>
            <a:r>
              <a:rPr lang="en-US" sz="2400" dirty="0" err="1"/>
              <a:t>tập</a:t>
            </a:r>
            <a:r>
              <a:rPr lang="en-US" sz="2400" dirty="0"/>
              <a:t> </a:t>
            </a:r>
            <a:r>
              <a:rPr lang="en-US" sz="2400" dirty="0" err="1"/>
              <a:t>hữu</a:t>
            </a:r>
            <a:r>
              <a:rPr lang="en-US" sz="2400" dirty="0"/>
              <a:t> </a:t>
            </a:r>
            <a:r>
              <a:rPr lang="en-US" sz="2400" dirty="0" err="1"/>
              <a:t>hạn</a:t>
            </a:r>
            <a:r>
              <a:rPr lang="en-US" sz="2400" dirty="0"/>
              <a:t> </a:t>
            </a:r>
            <a:r>
              <a:rPr lang="en-US" sz="2400" dirty="0" err="1"/>
              <a:t>khác</a:t>
            </a:r>
            <a:r>
              <a:rPr lang="en-US" sz="2400" dirty="0"/>
              <a:t> </a:t>
            </a:r>
            <a:r>
              <a:rPr lang="en-US" sz="2400" dirty="0" err="1"/>
              <a:t>rỗng</a:t>
            </a:r>
            <a:r>
              <a:rPr lang="en-US" sz="2400" dirty="0"/>
              <a:t>, </a:t>
            </a:r>
            <a:r>
              <a:rPr lang="en-US" sz="2400" dirty="0" err="1"/>
              <a:t>được</a:t>
            </a:r>
            <a:r>
              <a:rPr lang="en-US" sz="2400" dirty="0"/>
              <a:t> </a:t>
            </a:r>
            <a:r>
              <a:rPr lang="en-US" sz="2400" dirty="0" err="1"/>
              <a:t>gọi</a:t>
            </a:r>
            <a:r>
              <a:rPr lang="en-US" sz="2400" dirty="0"/>
              <a:t> </a:t>
            </a:r>
            <a:r>
              <a:rPr lang="en-US" sz="2400" dirty="0" err="1"/>
              <a:t>là</a:t>
            </a:r>
            <a:r>
              <a:rPr lang="en-US" sz="2400" dirty="0"/>
              <a:t> </a:t>
            </a:r>
            <a:r>
              <a:rPr lang="en-US" sz="2400" dirty="0" err="1"/>
              <a:t>tập</a:t>
            </a:r>
            <a:r>
              <a:rPr lang="en-US" sz="2400" dirty="0"/>
              <a:t> </a:t>
            </a:r>
            <a:r>
              <a:rPr lang="en-US" sz="2400" dirty="0" err="1"/>
              <a:t>các</a:t>
            </a:r>
            <a:r>
              <a:rPr lang="en-US" sz="2400" dirty="0"/>
              <a:t> </a:t>
            </a:r>
            <a:r>
              <a:rPr lang="en-US" sz="2400" dirty="0" err="1"/>
              <a:t>trạng</a:t>
            </a:r>
            <a:r>
              <a:rPr lang="en-US" sz="2400" dirty="0"/>
              <a:t> </a:t>
            </a:r>
            <a:r>
              <a:rPr lang="en-US" sz="2400" dirty="0" err="1"/>
              <a:t>thái</a:t>
            </a:r>
            <a:r>
              <a:rPr lang="en-US" sz="2400" dirty="0"/>
              <a:t>; </a:t>
            </a:r>
          </a:p>
          <a:p>
            <a:r>
              <a:rPr lang="en-US" sz="2400" smtClean="0"/>
              <a:t>Σ </a:t>
            </a:r>
            <a:r>
              <a:rPr lang="en-US" sz="2400" dirty="0" err="1"/>
              <a:t>là</a:t>
            </a:r>
            <a:r>
              <a:rPr lang="en-US" sz="2400" dirty="0"/>
              <a:t> </a:t>
            </a:r>
            <a:r>
              <a:rPr lang="en-US" sz="2400" dirty="0" err="1"/>
              <a:t>một</a:t>
            </a:r>
            <a:r>
              <a:rPr lang="en-US" sz="2400" dirty="0"/>
              <a:t> </a:t>
            </a:r>
            <a:r>
              <a:rPr lang="en-US" sz="2400" dirty="0" err="1"/>
              <a:t>bảng</a:t>
            </a:r>
            <a:r>
              <a:rPr lang="en-US" sz="2400" dirty="0"/>
              <a:t> </a:t>
            </a:r>
            <a:r>
              <a:rPr lang="en-US" sz="2400" dirty="0" err="1"/>
              <a:t>chữ</a:t>
            </a:r>
            <a:r>
              <a:rPr lang="en-US" sz="2400" dirty="0"/>
              <a:t> </a:t>
            </a:r>
            <a:r>
              <a:rPr lang="en-US" sz="2400" dirty="0" err="1"/>
              <a:t>cái</a:t>
            </a:r>
            <a:r>
              <a:rPr lang="en-US" sz="2400" dirty="0"/>
              <a:t>, </a:t>
            </a:r>
            <a:r>
              <a:rPr lang="en-US" sz="2400" dirty="0" err="1"/>
              <a:t>được</a:t>
            </a:r>
            <a:r>
              <a:rPr lang="en-US" sz="2400" dirty="0"/>
              <a:t> </a:t>
            </a:r>
            <a:r>
              <a:rPr lang="en-US" sz="2400" dirty="0" err="1"/>
              <a:t>gọi</a:t>
            </a:r>
            <a:r>
              <a:rPr lang="en-US" sz="2400" dirty="0"/>
              <a:t> </a:t>
            </a:r>
            <a:r>
              <a:rPr lang="en-US" sz="2400" dirty="0" err="1"/>
              <a:t>là</a:t>
            </a:r>
            <a:r>
              <a:rPr lang="en-US" sz="2400" dirty="0"/>
              <a:t> </a:t>
            </a:r>
            <a:r>
              <a:rPr lang="en-US" sz="2400" dirty="0" err="1"/>
              <a:t>bảng</a:t>
            </a:r>
            <a:r>
              <a:rPr lang="en-US" sz="2400" dirty="0"/>
              <a:t> </a:t>
            </a:r>
            <a:r>
              <a:rPr lang="en-US" sz="2400" dirty="0" err="1"/>
              <a:t>chữ</a:t>
            </a:r>
            <a:r>
              <a:rPr lang="en-US" sz="2400" dirty="0"/>
              <a:t> </a:t>
            </a:r>
            <a:r>
              <a:rPr lang="en-US" sz="2400" dirty="0" err="1"/>
              <a:t>vào</a:t>
            </a:r>
            <a:r>
              <a:rPr lang="en-US" sz="2400" dirty="0"/>
              <a:t>; </a:t>
            </a:r>
          </a:p>
          <a:p>
            <a:r>
              <a:rPr lang="en-US" sz="2400" smtClean="0"/>
              <a:t>δ</a:t>
            </a:r>
            <a:r>
              <a:rPr lang="en-US" sz="2400" dirty="0"/>
              <a:t>: D → Q, </a:t>
            </a:r>
            <a:r>
              <a:rPr lang="en-US" sz="2400" dirty="0" err="1"/>
              <a:t>là</a:t>
            </a:r>
            <a:r>
              <a:rPr lang="en-US" sz="2400" dirty="0"/>
              <a:t> </a:t>
            </a:r>
            <a:r>
              <a:rPr lang="en-US" sz="2400" dirty="0" err="1"/>
              <a:t>một</a:t>
            </a:r>
            <a:r>
              <a:rPr lang="en-US" sz="2400" dirty="0"/>
              <a:t> </a:t>
            </a:r>
            <a:r>
              <a:rPr lang="en-US" sz="2400" dirty="0" err="1"/>
              <a:t>ánh</a:t>
            </a:r>
            <a:r>
              <a:rPr lang="en-US" sz="2400" dirty="0"/>
              <a:t> </a:t>
            </a:r>
            <a:r>
              <a:rPr lang="en-US" sz="2400" dirty="0" err="1"/>
              <a:t>xạ</a:t>
            </a:r>
            <a:r>
              <a:rPr lang="en-US" sz="2400" dirty="0"/>
              <a:t> </a:t>
            </a:r>
            <a:r>
              <a:rPr lang="en-US" sz="2400" dirty="0" err="1"/>
              <a:t>từ</a:t>
            </a:r>
            <a:r>
              <a:rPr lang="en-US" sz="2400" dirty="0"/>
              <a:t> D </a:t>
            </a:r>
            <a:r>
              <a:rPr lang="en-US" sz="2400" dirty="0" err="1"/>
              <a:t>vào</a:t>
            </a:r>
            <a:r>
              <a:rPr lang="en-US" sz="2400" dirty="0"/>
              <a:t> Q, </a:t>
            </a:r>
            <a:r>
              <a:rPr lang="en-US" sz="2400" dirty="0" err="1"/>
              <a:t>trong</a:t>
            </a:r>
            <a:r>
              <a:rPr lang="en-US" sz="2400" dirty="0"/>
              <a:t> </a:t>
            </a:r>
            <a:r>
              <a:rPr lang="en-US" sz="2400" dirty="0" err="1"/>
              <a:t>đó</a:t>
            </a:r>
            <a:r>
              <a:rPr lang="en-US" sz="2400" dirty="0"/>
              <a:t> D ⊆ Q × Σ , </a:t>
            </a:r>
            <a:r>
              <a:rPr lang="en-US" sz="2400" dirty="0" err="1"/>
              <a:t>được</a:t>
            </a:r>
            <a:r>
              <a:rPr lang="en-US" sz="2400" dirty="0"/>
              <a:t> </a:t>
            </a:r>
            <a:r>
              <a:rPr lang="en-US" sz="2400" dirty="0" err="1"/>
              <a:t>gọi</a:t>
            </a:r>
            <a:r>
              <a:rPr lang="en-US" sz="2400" dirty="0"/>
              <a:t> </a:t>
            </a:r>
            <a:r>
              <a:rPr lang="en-US" sz="2400" dirty="0" err="1"/>
              <a:t>là</a:t>
            </a:r>
            <a:r>
              <a:rPr lang="en-US" sz="2400" dirty="0"/>
              <a:t> </a:t>
            </a:r>
            <a:r>
              <a:rPr lang="en-US" sz="2400" dirty="0" err="1"/>
              <a:t>hàm</a:t>
            </a:r>
            <a:r>
              <a:rPr lang="en-US" sz="2400" dirty="0"/>
              <a:t> </a:t>
            </a:r>
            <a:r>
              <a:rPr lang="en-US" sz="2400" dirty="0" err="1"/>
              <a:t>chuyển</a:t>
            </a:r>
            <a:r>
              <a:rPr lang="en-US" sz="2400" dirty="0"/>
              <a:t> </a:t>
            </a:r>
            <a:r>
              <a:rPr lang="en-US" sz="2400" dirty="0" err="1"/>
              <a:t>trạng</a:t>
            </a:r>
            <a:r>
              <a:rPr lang="en-US" sz="2400" dirty="0"/>
              <a:t> </a:t>
            </a:r>
            <a:r>
              <a:rPr lang="en-US" sz="2400" dirty="0" err="1"/>
              <a:t>thái</a:t>
            </a:r>
            <a:r>
              <a:rPr lang="en-US" sz="2400" dirty="0"/>
              <a:t> (hay </a:t>
            </a:r>
            <a:r>
              <a:rPr lang="en-US" sz="2400" dirty="0" err="1"/>
              <a:t>hàm</a:t>
            </a:r>
            <a:r>
              <a:rPr lang="en-US" sz="2400" dirty="0"/>
              <a:t> </a:t>
            </a:r>
            <a:r>
              <a:rPr lang="en-US" sz="2400" dirty="0" err="1"/>
              <a:t>chuyển</a:t>
            </a:r>
            <a:r>
              <a:rPr lang="en-US" sz="2400" dirty="0"/>
              <a:t>); </a:t>
            </a:r>
          </a:p>
          <a:p>
            <a:r>
              <a:rPr lang="en-US" sz="2400" smtClean="0"/>
              <a:t>q</a:t>
            </a:r>
            <a:r>
              <a:rPr lang="en-US" sz="2400" baseline="-25000" smtClean="0"/>
              <a:t>0 </a:t>
            </a:r>
            <a:r>
              <a:rPr lang="en-US" sz="2400" dirty="0"/>
              <a:t>∈ Q, </a:t>
            </a:r>
            <a:r>
              <a:rPr lang="en-US" sz="2400" dirty="0" err="1"/>
              <a:t>được</a:t>
            </a:r>
            <a:r>
              <a:rPr lang="en-US" sz="2400" dirty="0"/>
              <a:t> </a:t>
            </a:r>
            <a:r>
              <a:rPr lang="en-US" sz="2400" dirty="0" err="1"/>
              <a:t>gọi</a:t>
            </a:r>
            <a:r>
              <a:rPr lang="en-US" sz="2400" dirty="0"/>
              <a:t> </a:t>
            </a:r>
            <a:r>
              <a:rPr lang="en-US" sz="2400" dirty="0" err="1"/>
              <a:t>là</a:t>
            </a:r>
            <a:r>
              <a:rPr lang="en-US" sz="2400" dirty="0"/>
              <a:t> </a:t>
            </a:r>
            <a:r>
              <a:rPr lang="en-US" sz="2400" dirty="0" err="1"/>
              <a:t>trạng</a:t>
            </a:r>
            <a:r>
              <a:rPr lang="en-US" sz="2400" dirty="0"/>
              <a:t> </a:t>
            </a:r>
            <a:r>
              <a:rPr lang="en-US" sz="2400" dirty="0" err="1"/>
              <a:t>thái</a:t>
            </a:r>
            <a:r>
              <a:rPr lang="en-US" sz="2400" dirty="0"/>
              <a:t> </a:t>
            </a:r>
            <a:r>
              <a:rPr lang="en-US" sz="2400" dirty="0" err="1"/>
              <a:t>khởi</a:t>
            </a:r>
            <a:r>
              <a:rPr lang="en-US" sz="2400" dirty="0"/>
              <a:t> </a:t>
            </a:r>
            <a:r>
              <a:rPr lang="en-US" sz="2400" dirty="0" err="1"/>
              <a:t>đầu</a:t>
            </a:r>
            <a:r>
              <a:rPr lang="en-US" sz="2400" dirty="0"/>
              <a:t>; </a:t>
            </a:r>
          </a:p>
          <a:p>
            <a:r>
              <a:rPr lang="en-US" sz="2400" smtClean="0"/>
              <a:t>F </a:t>
            </a:r>
            <a:r>
              <a:rPr lang="en-US" sz="2400" dirty="0"/>
              <a:t>⊆ Q </a:t>
            </a:r>
            <a:r>
              <a:rPr lang="en-US" sz="2400" dirty="0" err="1"/>
              <a:t>được</a:t>
            </a:r>
            <a:r>
              <a:rPr lang="en-US" sz="2400" dirty="0"/>
              <a:t> </a:t>
            </a:r>
            <a:r>
              <a:rPr lang="en-US" sz="2400" dirty="0" err="1"/>
              <a:t>gọi</a:t>
            </a:r>
            <a:r>
              <a:rPr lang="en-US" sz="2400" dirty="0"/>
              <a:t> </a:t>
            </a:r>
            <a:r>
              <a:rPr lang="en-US" sz="2400" dirty="0" err="1"/>
              <a:t>là</a:t>
            </a:r>
            <a:r>
              <a:rPr lang="en-US" sz="2400" dirty="0"/>
              <a:t> </a:t>
            </a:r>
            <a:r>
              <a:rPr lang="en-US" sz="2400" dirty="0" err="1"/>
              <a:t>tập</a:t>
            </a:r>
            <a:r>
              <a:rPr lang="en-US" sz="2400" dirty="0"/>
              <a:t> </a:t>
            </a:r>
            <a:r>
              <a:rPr lang="en-US" sz="2400" dirty="0" err="1"/>
              <a:t>các</a:t>
            </a:r>
            <a:r>
              <a:rPr lang="en-US" sz="2400" dirty="0"/>
              <a:t> </a:t>
            </a:r>
            <a:r>
              <a:rPr lang="en-US" sz="2400" dirty="0" err="1"/>
              <a:t>trạng</a:t>
            </a:r>
            <a:r>
              <a:rPr lang="en-US" sz="2400" dirty="0"/>
              <a:t> </a:t>
            </a:r>
            <a:r>
              <a:rPr lang="en-US" sz="2400" dirty="0" err="1"/>
              <a:t>thái</a:t>
            </a:r>
            <a:r>
              <a:rPr lang="en-US" sz="2400" dirty="0"/>
              <a:t> </a:t>
            </a:r>
            <a:r>
              <a:rPr lang="en-US" sz="2400" dirty="0" err="1"/>
              <a:t>kết</a:t>
            </a:r>
            <a:r>
              <a:rPr lang="en-US" sz="2400" dirty="0"/>
              <a:t> </a:t>
            </a:r>
            <a:r>
              <a:rPr lang="en-US" sz="2400" dirty="0" err="1"/>
              <a:t>thúc</a:t>
            </a:r>
            <a:r>
              <a:rPr lang="en-US" sz="2400" dirty="0"/>
              <a:t>. </a:t>
            </a:r>
          </a:p>
          <a:p>
            <a:endParaRPr lang="en-US" sz="2400" dirty="0"/>
          </a:p>
        </p:txBody>
      </p:sp>
    </p:spTree>
    <p:extLst>
      <p:ext uri="{BB962C8B-B14F-4D97-AF65-F5344CB8AC3E}">
        <p14:creationId xmlns:p14="http://schemas.microsoft.com/office/powerpoint/2010/main" val="229046562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Chú</a:t>
            </a:r>
            <a:r>
              <a:rPr lang="en-US" dirty="0" smtClean="0"/>
              <a:t> ý:</a:t>
            </a:r>
            <a:endParaRPr lang="en-US" dirty="0"/>
          </a:p>
        </p:txBody>
      </p:sp>
      <p:sp>
        <p:nvSpPr>
          <p:cNvPr id="3" name="Content Placeholder 2"/>
          <p:cNvSpPr>
            <a:spLocks noGrp="1"/>
          </p:cNvSpPr>
          <p:nvPr>
            <p:ph idx="1"/>
          </p:nvPr>
        </p:nvSpPr>
        <p:spPr/>
        <p:txBody>
          <a:bodyPr>
            <a:normAutofit/>
          </a:bodyPr>
          <a:lstStyle/>
          <a:p>
            <a:pPr>
              <a:lnSpc>
                <a:spcPct val="150000"/>
              </a:lnSpc>
            </a:pPr>
            <a:r>
              <a:rPr lang="en-US" sz="2400" dirty="0" err="1"/>
              <a:t>Trong</a:t>
            </a:r>
            <a:r>
              <a:rPr lang="en-US" sz="2400" dirty="0"/>
              <a:t> </a:t>
            </a:r>
            <a:r>
              <a:rPr lang="en-US" sz="2400" dirty="0" err="1"/>
              <a:t>trường</a:t>
            </a:r>
            <a:r>
              <a:rPr lang="en-US" sz="2400" dirty="0"/>
              <a:t> </a:t>
            </a:r>
            <a:r>
              <a:rPr lang="en-US" sz="2400" dirty="0" err="1"/>
              <a:t>hợp</a:t>
            </a:r>
            <a:r>
              <a:rPr lang="en-US" sz="2400" dirty="0"/>
              <a:t> D = Q × Σ , ta </a:t>
            </a:r>
            <a:r>
              <a:rPr lang="en-US" sz="2400" dirty="0" err="1"/>
              <a:t>nói</a:t>
            </a:r>
            <a:r>
              <a:rPr lang="en-US" sz="2400" dirty="0"/>
              <a:t> A </a:t>
            </a:r>
            <a:r>
              <a:rPr lang="en-US" sz="2400" dirty="0" err="1"/>
              <a:t>là</a:t>
            </a:r>
            <a:r>
              <a:rPr lang="en-US" sz="2400" dirty="0"/>
              <a:t> </a:t>
            </a:r>
            <a:r>
              <a:rPr lang="en-US" sz="2400" dirty="0" err="1"/>
              <a:t>otomat</a:t>
            </a:r>
            <a:r>
              <a:rPr lang="en-US" sz="2400" dirty="0"/>
              <a:t> </a:t>
            </a:r>
            <a:r>
              <a:rPr lang="en-US" sz="2400" dirty="0" err="1"/>
              <a:t>đầy</a:t>
            </a:r>
            <a:r>
              <a:rPr lang="en-US" sz="2400" dirty="0"/>
              <a:t> </a:t>
            </a:r>
            <a:r>
              <a:rPr lang="en-US" sz="2400" dirty="0" err="1"/>
              <a:t>đủ</a:t>
            </a:r>
            <a:r>
              <a:rPr lang="en-US" sz="2400" dirty="0"/>
              <a:t>. </a:t>
            </a:r>
            <a:r>
              <a:rPr lang="en-US" sz="2400" dirty="0" err="1"/>
              <a:t>Sau</a:t>
            </a:r>
            <a:r>
              <a:rPr lang="en-US" sz="2400" dirty="0"/>
              <a:t> </a:t>
            </a:r>
            <a:r>
              <a:rPr lang="en-US" sz="2400" dirty="0" err="1"/>
              <a:t>này</a:t>
            </a:r>
            <a:r>
              <a:rPr lang="en-US" sz="2400" dirty="0"/>
              <a:t> ta </a:t>
            </a:r>
            <a:r>
              <a:rPr lang="en-US" sz="2400" dirty="0" err="1"/>
              <a:t>sẽ</a:t>
            </a:r>
            <a:r>
              <a:rPr lang="en-US" sz="2400" dirty="0"/>
              <a:t> </a:t>
            </a:r>
            <a:r>
              <a:rPr lang="en-US" sz="2400" dirty="0" err="1"/>
              <a:t>thấy</a:t>
            </a:r>
            <a:r>
              <a:rPr lang="en-US" sz="2400" dirty="0"/>
              <a:t> </a:t>
            </a:r>
            <a:r>
              <a:rPr lang="en-US" sz="2400" dirty="0" err="1"/>
              <a:t>rằng</a:t>
            </a:r>
            <a:r>
              <a:rPr lang="en-US" sz="2400" dirty="0"/>
              <a:t> </a:t>
            </a:r>
            <a:r>
              <a:rPr lang="en-US" sz="2400" dirty="0" err="1"/>
              <a:t>mọi</a:t>
            </a:r>
            <a:r>
              <a:rPr lang="en-US" sz="2400" dirty="0"/>
              <a:t> </a:t>
            </a:r>
            <a:r>
              <a:rPr lang="en-US" sz="2400" dirty="0" err="1"/>
              <a:t>otomat</a:t>
            </a:r>
            <a:r>
              <a:rPr lang="en-US" sz="2400" dirty="0"/>
              <a:t> </a:t>
            </a:r>
            <a:r>
              <a:rPr lang="en-US" sz="2400" dirty="0" err="1"/>
              <a:t>hữu</a:t>
            </a:r>
            <a:r>
              <a:rPr lang="en-US" sz="2400" dirty="0"/>
              <a:t> </a:t>
            </a:r>
            <a:r>
              <a:rPr lang="en-US" sz="2400" dirty="0" err="1"/>
              <a:t>hạn</a:t>
            </a:r>
            <a:r>
              <a:rPr lang="en-US" sz="2400" dirty="0"/>
              <a:t> </a:t>
            </a:r>
            <a:r>
              <a:rPr lang="en-US" sz="2400" dirty="0" err="1"/>
              <a:t>đều</a:t>
            </a:r>
            <a:r>
              <a:rPr lang="en-US" sz="2400" dirty="0"/>
              <a:t> </a:t>
            </a:r>
            <a:r>
              <a:rPr lang="en-US" sz="2400" dirty="0" err="1"/>
              <a:t>đưa</a:t>
            </a:r>
            <a:r>
              <a:rPr lang="en-US" sz="2400" dirty="0"/>
              <a:t> </a:t>
            </a:r>
            <a:r>
              <a:rPr lang="en-US" sz="2400" dirty="0" err="1"/>
              <a:t>về</a:t>
            </a:r>
            <a:r>
              <a:rPr lang="en-US" sz="2400" dirty="0"/>
              <a:t> </a:t>
            </a:r>
            <a:r>
              <a:rPr lang="en-US" sz="2400" dirty="0" err="1"/>
              <a:t>được</a:t>
            </a:r>
            <a:r>
              <a:rPr lang="en-US" sz="2400" dirty="0"/>
              <a:t> </a:t>
            </a:r>
            <a:r>
              <a:rPr lang="en-US" sz="2400" dirty="0" err="1"/>
              <a:t>otomat</a:t>
            </a:r>
            <a:r>
              <a:rPr lang="en-US" sz="2400" dirty="0"/>
              <a:t> </a:t>
            </a:r>
            <a:r>
              <a:rPr lang="en-US" sz="2400" dirty="0" err="1"/>
              <a:t>hữu</a:t>
            </a:r>
            <a:r>
              <a:rPr lang="en-US" sz="2400" dirty="0"/>
              <a:t> </a:t>
            </a:r>
            <a:r>
              <a:rPr lang="en-US" sz="2400" dirty="0" err="1"/>
              <a:t>hạn</a:t>
            </a:r>
            <a:r>
              <a:rPr lang="en-US" sz="2400" dirty="0"/>
              <a:t> </a:t>
            </a:r>
            <a:r>
              <a:rPr lang="en-US" sz="2400" dirty="0" err="1"/>
              <a:t>đầy</a:t>
            </a:r>
            <a:r>
              <a:rPr lang="en-US" sz="2400" dirty="0"/>
              <a:t> </a:t>
            </a:r>
            <a:r>
              <a:rPr lang="en-US" sz="2400" dirty="0" err="1"/>
              <a:t>đủ</a:t>
            </a:r>
            <a:r>
              <a:rPr lang="en-US" sz="2400" dirty="0"/>
              <a:t> </a:t>
            </a:r>
            <a:r>
              <a:rPr lang="en-US" sz="2400" dirty="0" err="1"/>
              <a:t>tương</a:t>
            </a:r>
            <a:r>
              <a:rPr lang="en-US" sz="2400" dirty="0"/>
              <a:t> </a:t>
            </a:r>
            <a:r>
              <a:rPr lang="en-US" sz="2400" dirty="0" err="1"/>
              <a:t>đương</a:t>
            </a:r>
            <a:r>
              <a:rPr lang="en-US" sz="2400" dirty="0"/>
              <a:t>. </a:t>
            </a:r>
          </a:p>
          <a:p>
            <a:pPr>
              <a:lnSpc>
                <a:spcPct val="150000"/>
              </a:lnSpc>
            </a:pPr>
            <a:endParaRPr lang="en-US" sz="2400" dirty="0"/>
          </a:p>
        </p:txBody>
      </p:sp>
    </p:spTree>
    <p:extLst>
      <p:ext uri="{BB962C8B-B14F-4D97-AF65-F5344CB8AC3E}">
        <p14:creationId xmlns:p14="http://schemas.microsoft.com/office/powerpoint/2010/main" val="301417922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6638" y="46590"/>
            <a:ext cx="8911687" cy="1280890"/>
          </a:xfrm>
        </p:spPr>
        <p:txBody>
          <a:bodyPr>
            <a:normAutofit fontScale="90000"/>
          </a:bodyPr>
          <a:lstStyle/>
          <a:p>
            <a:r>
              <a:rPr lang="en-US" dirty="0" err="1"/>
              <a:t>Hoạt</a:t>
            </a:r>
            <a:r>
              <a:rPr lang="en-US" dirty="0"/>
              <a:t> </a:t>
            </a:r>
            <a:r>
              <a:rPr lang="en-US" dirty="0" err="1"/>
              <a:t>động</a:t>
            </a:r>
            <a:r>
              <a:rPr lang="en-US" dirty="0"/>
              <a:t> </a:t>
            </a:r>
            <a:r>
              <a:rPr lang="en-US" dirty="0" err="1"/>
              <a:t>của</a:t>
            </a:r>
            <a:r>
              <a:rPr lang="en-US" dirty="0"/>
              <a:t> </a:t>
            </a:r>
            <a:r>
              <a:rPr lang="en-US" dirty="0" err="1"/>
              <a:t>otomat</a:t>
            </a:r>
            <a:r>
              <a:rPr lang="en-US" dirty="0"/>
              <a:t> </a:t>
            </a:r>
            <a:r>
              <a:rPr lang="en-US" dirty="0" err="1"/>
              <a:t>hữu</a:t>
            </a:r>
            <a:r>
              <a:rPr lang="en-US" dirty="0"/>
              <a:t> </a:t>
            </a:r>
            <a:r>
              <a:rPr lang="en-US" dirty="0" err="1"/>
              <a:t>hạn</a:t>
            </a:r>
            <a:r>
              <a:rPr lang="en-US" dirty="0"/>
              <a:t> </a:t>
            </a:r>
            <a:r>
              <a:rPr lang="en-US" dirty="0" err="1"/>
              <a:t>đơn</a:t>
            </a:r>
            <a:r>
              <a:rPr lang="en-US" dirty="0"/>
              <a:t> </a:t>
            </a:r>
            <a:r>
              <a:rPr lang="en-US" dirty="0" err="1"/>
              <a:t>định</a:t>
            </a:r>
            <a:r>
              <a:rPr lang="en-US" dirty="0"/>
              <a:t> A = &lt;Q, Σ, δ, q</a:t>
            </a:r>
            <a:r>
              <a:rPr lang="en-US" baseline="-25000" dirty="0"/>
              <a:t>0</a:t>
            </a:r>
            <a:r>
              <a:rPr lang="en-US" dirty="0"/>
              <a:t>, F&gt; </a:t>
            </a:r>
            <a:r>
              <a:rPr lang="en-US" dirty="0" err="1"/>
              <a:t>khi</a:t>
            </a:r>
            <a:r>
              <a:rPr lang="en-US" dirty="0"/>
              <a:t> </a:t>
            </a:r>
            <a:r>
              <a:rPr lang="en-US" dirty="0" err="1"/>
              <a:t>cho</a:t>
            </a:r>
            <a:r>
              <a:rPr lang="en-US" dirty="0"/>
              <a:t> </a:t>
            </a:r>
            <a:r>
              <a:rPr lang="en-US" dirty="0" err="1"/>
              <a:t>xâu</a:t>
            </a:r>
            <a:r>
              <a:rPr lang="en-US" dirty="0"/>
              <a:t> </a:t>
            </a:r>
            <a:r>
              <a:rPr lang="en-US" dirty="0" err="1"/>
              <a:t>vào</a:t>
            </a:r>
            <a:r>
              <a:rPr lang="en-US" dirty="0"/>
              <a:t> ω = a</a:t>
            </a:r>
            <a:r>
              <a:rPr lang="en-US" baseline="-25000" dirty="0"/>
              <a:t>1</a:t>
            </a:r>
            <a:r>
              <a:rPr lang="en-US" dirty="0"/>
              <a:t>a</a:t>
            </a:r>
            <a:r>
              <a:rPr lang="en-US" baseline="-25000" dirty="0"/>
              <a:t>2</a:t>
            </a:r>
            <a:r>
              <a:rPr lang="en-US" dirty="0"/>
              <a:t>… a</a:t>
            </a:r>
            <a:r>
              <a:rPr lang="en-US" baseline="-25000" dirty="0"/>
              <a:t>n</a:t>
            </a:r>
            <a:r>
              <a:rPr lang="en-US" dirty="0"/>
              <a:t> </a:t>
            </a:r>
            <a:r>
              <a:rPr lang="en-US" dirty="0" err="1"/>
              <a:t>có</a:t>
            </a:r>
            <a:r>
              <a:rPr lang="en-US" dirty="0"/>
              <a:t> </a:t>
            </a:r>
            <a:r>
              <a:rPr lang="en-US" dirty="0" err="1"/>
              <a:t>thể</a:t>
            </a:r>
            <a:r>
              <a:rPr lang="en-US" dirty="0"/>
              <a:t> </a:t>
            </a:r>
            <a:r>
              <a:rPr lang="en-US" dirty="0" err="1"/>
              <a:t>được</a:t>
            </a:r>
            <a:r>
              <a:rPr lang="en-US" dirty="0"/>
              <a:t> </a:t>
            </a:r>
            <a:r>
              <a:rPr lang="en-US" dirty="0" err="1"/>
              <a:t>mô</a:t>
            </a:r>
            <a:r>
              <a:rPr lang="en-US" dirty="0"/>
              <a:t> </a:t>
            </a:r>
            <a:r>
              <a:rPr lang="en-US" dirty="0" err="1"/>
              <a:t>tả</a:t>
            </a:r>
            <a:r>
              <a:rPr lang="en-US" dirty="0"/>
              <a:t> </a:t>
            </a:r>
            <a:r>
              <a:rPr lang="en-US" dirty="0" err="1"/>
              <a:t>như</a:t>
            </a:r>
            <a:r>
              <a:rPr lang="en-US" dirty="0"/>
              <a:t> </a:t>
            </a:r>
            <a:r>
              <a:rPr lang="en-US" dirty="0" err="1"/>
              <a:t>sau</a:t>
            </a:r>
            <a:r>
              <a:rPr lang="en-US" dirty="0"/>
              <a:t>: </a:t>
            </a:r>
            <a:br>
              <a:rPr lang="en-US" dirty="0"/>
            </a:br>
            <a:endParaRPr lang="en-US" dirty="0"/>
          </a:p>
        </p:txBody>
      </p:sp>
      <p:sp>
        <p:nvSpPr>
          <p:cNvPr id="3" name="Content Placeholder 2"/>
          <p:cNvSpPr>
            <a:spLocks noGrp="1"/>
          </p:cNvSpPr>
          <p:nvPr>
            <p:ph idx="1"/>
          </p:nvPr>
        </p:nvSpPr>
        <p:spPr>
          <a:xfrm>
            <a:off x="1323474" y="1576135"/>
            <a:ext cx="10868525" cy="5317958"/>
          </a:xfrm>
        </p:spPr>
        <p:txBody>
          <a:bodyPr>
            <a:noAutofit/>
          </a:bodyPr>
          <a:lstStyle/>
          <a:p>
            <a:pPr>
              <a:lnSpc>
                <a:spcPct val="150000"/>
              </a:lnSpc>
              <a:spcBef>
                <a:spcPts val="0"/>
              </a:spcBef>
            </a:pPr>
            <a:r>
              <a:rPr lang="en-US" sz="2000" dirty="0" err="1" smtClean="0"/>
              <a:t>Khi</a:t>
            </a:r>
            <a:r>
              <a:rPr lang="en-US" sz="2000" dirty="0" smtClean="0"/>
              <a:t> </a:t>
            </a:r>
            <a:r>
              <a:rPr lang="en-US" sz="2000" dirty="0" err="1"/>
              <a:t>bắt</a:t>
            </a:r>
            <a:r>
              <a:rPr lang="en-US" sz="2000" dirty="0"/>
              <a:t> </a:t>
            </a:r>
            <a:r>
              <a:rPr lang="en-US" sz="2000" dirty="0" err="1"/>
              <a:t>đầu</a:t>
            </a:r>
            <a:r>
              <a:rPr lang="en-US" sz="2000" dirty="0"/>
              <a:t> </a:t>
            </a:r>
            <a:r>
              <a:rPr lang="en-US" sz="2000" dirty="0" err="1"/>
              <a:t>làm</a:t>
            </a:r>
            <a:r>
              <a:rPr lang="en-US" sz="2000" dirty="0"/>
              <a:t> </a:t>
            </a:r>
            <a:r>
              <a:rPr lang="en-US" sz="2000" dirty="0" err="1"/>
              <a:t>việc</a:t>
            </a:r>
            <a:r>
              <a:rPr lang="en-US" sz="2000" dirty="0"/>
              <a:t>, </a:t>
            </a:r>
            <a:r>
              <a:rPr lang="en-US" sz="2000" dirty="0" err="1"/>
              <a:t>otomat</a:t>
            </a:r>
            <a:r>
              <a:rPr lang="en-US" sz="2000" dirty="0"/>
              <a:t> ở </a:t>
            </a:r>
            <a:r>
              <a:rPr lang="en-US" sz="2000" dirty="0" err="1"/>
              <a:t>trạng</a:t>
            </a:r>
            <a:r>
              <a:rPr lang="en-US" sz="2000" dirty="0"/>
              <a:t> </a:t>
            </a:r>
            <a:r>
              <a:rPr lang="en-US" sz="2000" dirty="0" err="1"/>
              <a:t>thái</a:t>
            </a:r>
            <a:r>
              <a:rPr lang="en-US" sz="2000" dirty="0"/>
              <a:t> </a:t>
            </a:r>
            <a:r>
              <a:rPr lang="en-US" sz="2000" dirty="0" err="1"/>
              <a:t>khởi</a:t>
            </a:r>
            <a:r>
              <a:rPr lang="en-US" sz="2000" dirty="0"/>
              <a:t> </a:t>
            </a:r>
            <a:r>
              <a:rPr lang="en-US" sz="2000" dirty="0" err="1"/>
              <a:t>đầu</a:t>
            </a:r>
            <a:r>
              <a:rPr lang="en-US" sz="2000" dirty="0"/>
              <a:t> q</a:t>
            </a:r>
            <a:r>
              <a:rPr lang="en-US" sz="2000" baseline="-25000" dirty="0"/>
              <a:t>0</a:t>
            </a:r>
            <a:r>
              <a:rPr lang="en-US" sz="2000" dirty="0"/>
              <a:t> </a:t>
            </a:r>
            <a:r>
              <a:rPr lang="en-US" sz="2000" dirty="0" err="1"/>
              <a:t>và</a:t>
            </a:r>
            <a:r>
              <a:rPr lang="en-US" sz="2000" dirty="0"/>
              <a:t> </a:t>
            </a:r>
            <a:r>
              <a:rPr lang="en-US" sz="2000" dirty="0" err="1"/>
              <a:t>đầu</a:t>
            </a:r>
            <a:r>
              <a:rPr lang="en-US" sz="2000" dirty="0"/>
              <a:t> </a:t>
            </a:r>
            <a:r>
              <a:rPr lang="en-US" sz="2000" dirty="0" err="1"/>
              <a:t>đọc</a:t>
            </a:r>
            <a:r>
              <a:rPr lang="en-US" sz="2000" dirty="0"/>
              <a:t> </a:t>
            </a:r>
            <a:r>
              <a:rPr lang="en-US" sz="2000" dirty="0" err="1"/>
              <a:t>đang</a:t>
            </a:r>
            <a:r>
              <a:rPr lang="en-US" sz="2000" dirty="0"/>
              <a:t> </a:t>
            </a:r>
            <a:r>
              <a:rPr lang="en-US" sz="2000" dirty="0" err="1"/>
              <a:t>nhìn</a:t>
            </a:r>
            <a:r>
              <a:rPr lang="en-US" sz="2000" dirty="0"/>
              <a:t> </a:t>
            </a:r>
            <a:r>
              <a:rPr lang="en-US" sz="2000" dirty="0" err="1"/>
              <a:t>vào</a:t>
            </a:r>
            <a:r>
              <a:rPr lang="en-US" sz="2000" dirty="0"/>
              <a:t> ô </a:t>
            </a:r>
            <a:r>
              <a:rPr lang="en-US" sz="2000" dirty="0" err="1"/>
              <a:t>có</a:t>
            </a:r>
            <a:r>
              <a:rPr lang="en-US" sz="2000" dirty="0"/>
              <a:t> </a:t>
            </a:r>
            <a:r>
              <a:rPr lang="en-US" sz="2000" dirty="0" err="1"/>
              <a:t>ký</a:t>
            </a:r>
            <a:r>
              <a:rPr lang="en-US" sz="2000" dirty="0"/>
              <a:t> </a:t>
            </a:r>
            <a:r>
              <a:rPr lang="en-US" sz="2000" dirty="0" err="1"/>
              <a:t>hiệu</a:t>
            </a:r>
            <a:r>
              <a:rPr lang="en-US" sz="2000" dirty="0"/>
              <a:t> a</a:t>
            </a:r>
            <a:r>
              <a:rPr lang="en-US" sz="2000" baseline="-25000" dirty="0"/>
              <a:t>1</a:t>
            </a:r>
            <a:r>
              <a:rPr lang="en-US" sz="2000" dirty="0"/>
              <a:t>. </a:t>
            </a:r>
            <a:r>
              <a:rPr lang="en-US" sz="2000" dirty="0" err="1"/>
              <a:t>Tiếp</a:t>
            </a:r>
            <a:r>
              <a:rPr lang="en-US" sz="2000" dirty="0"/>
              <a:t> </a:t>
            </a:r>
            <a:r>
              <a:rPr lang="en-US" sz="2000" dirty="0" err="1"/>
              <a:t>theo</a:t>
            </a:r>
            <a:r>
              <a:rPr lang="en-US" sz="2000" dirty="0"/>
              <a:t> </a:t>
            </a:r>
            <a:r>
              <a:rPr lang="en-US" sz="2000" dirty="0" err="1"/>
              <a:t>otomat</a:t>
            </a:r>
            <a:r>
              <a:rPr lang="en-US" sz="2000" dirty="0"/>
              <a:t> </a:t>
            </a:r>
            <a:r>
              <a:rPr lang="en-US" sz="2000" dirty="0" err="1"/>
              <a:t>chuyển</a:t>
            </a:r>
            <a:r>
              <a:rPr lang="en-US" sz="2000" dirty="0"/>
              <a:t> </a:t>
            </a:r>
            <a:r>
              <a:rPr lang="en-US" sz="2000" dirty="0" err="1"/>
              <a:t>từ</a:t>
            </a:r>
            <a:r>
              <a:rPr lang="en-US" sz="2000" dirty="0"/>
              <a:t> </a:t>
            </a:r>
            <a:r>
              <a:rPr lang="en-US" sz="2000" dirty="0" err="1"/>
              <a:t>trạng</a:t>
            </a:r>
            <a:r>
              <a:rPr lang="en-US" sz="2000" dirty="0"/>
              <a:t> </a:t>
            </a:r>
            <a:r>
              <a:rPr lang="en-US" sz="2000" dirty="0" err="1"/>
              <a:t>thái</a:t>
            </a:r>
            <a:r>
              <a:rPr lang="en-US" sz="2000" dirty="0"/>
              <a:t> q</a:t>
            </a:r>
            <a:r>
              <a:rPr lang="en-US" sz="2000" baseline="-25000" dirty="0"/>
              <a:t>0</a:t>
            </a:r>
            <a:r>
              <a:rPr lang="en-US" sz="2000" dirty="0"/>
              <a:t> </a:t>
            </a:r>
            <a:r>
              <a:rPr lang="en-US" sz="2000" dirty="0" err="1"/>
              <a:t>dưới</a:t>
            </a:r>
            <a:r>
              <a:rPr lang="en-US" sz="2000" dirty="0"/>
              <a:t> </a:t>
            </a:r>
            <a:r>
              <a:rPr lang="en-US" sz="2000" dirty="0" err="1"/>
              <a:t>tác</a:t>
            </a:r>
            <a:r>
              <a:rPr lang="en-US" sz="2000" dirty="0"/>
              <a:t> </a:t>
            </a:r>
            <a:r>
              <a:rPr lang="en-US" sz="2000" dirty="0" err="1"/>
              <a:t>động</a:t>
            </a:r>
            <a:r>
              <a:rPr lang="en-US" sz="2000" dirty="0"/>
              <a:t> </a:t>
            </a:r>
            <a:r>
              <a:rPr lang="en-US" sz="2000" dirty="0" err="1"/>
              <a:t>của</a:t>
            </a:r>
            <a:r>
              <a:rPr lang="en-US" sz="2000" dirty="0"/>
              <a:t> </a:t>
            </a:r>
            <a:r>
              <a:rPr lang="en-US" sz="2000" dirty="0" err="1"/>
              <a:t>ký</a:t>
            </a:r>
            <a:r>
              <a:rPr lang="en-US" sz="2000" dirty="0"/>
              <a:t> </a:t>
            </a:r>
            <a:r>
              <a:rPr lang="en-US" sz="2000" dirty="0" err="1"/>
              <a:t>hiệu</a:t>
            </a:r>
            <a:r>
              <a:rPr lang="en-US" sz="2000" dirty="0"/>
              <a:t> </a:t>
            </a:r>
            <a:r>
              <a:rPr lang="en-US" sz="2000" dirty="0" err="1"/>
              <a:t>vào</a:t>
            </a:r>
            <a:r>
              <a:rPr lang="en-US" sz="2000" dirty="0"/>
              <a:t> a</a:t>
            </a:r>
            <a:r>
              <a:rPr lang="en-US" sz="2000" baseline="-25000" dirty="0"/>
              <a:t>1</a:t>
            </a:r>
            <a:r>
              <a:rPr lang="en-US" sz="2000" dirty="0"/>
              <a:t> </a:t>
            </a:r>
            <a:r>
              <a:rPr lang="en-US" sz="2000" dirty="0" err="1"/>
              <a:t>về</a:t>
            </a:r>
            <a:r>
              <a:rPr lang="en-US" sz="2000" dirty="0"/>
              <a:t> </a:t>
            </a:r>
            <a:r>
              <a:rPr lang="en-US" sz="2000" dirty="0" err="1"/>
              <a:t>trạng</a:t>
            </a:r>
            <a:r>
              <a:rPr lang="en-US" sz="2000" dirty="0"/>
              <a:t> </a:t>
            </a:r>
            <a:r>
              <a:rPr lang="en-US" sz="2000" dirty="0" err="1"/>
              <a:t>thái</a:t>
            </a:r>
            <a:r>
              <a:rPr lang="en-US" sz="2000" dirty="0"/>
              <a:t> </a:t>
            </a:r>
            <a:r>
              <a:rPr lang="en-US" sz="2000" dirty="0" err="1"/>
              <a:t>mới</a:t>
            </a:r>
            <a:r>
              <a:rPr lang="en-US" sz="2000" dirty="0"/>
              <a:t> δ(q</a:t>
            </a:r>
            <a:r>
              <a:rPr lang="en-US" sz="2000" baseline="-25000" dirty="0"/>
              <a:t>0</a:t>
            </a:r>
            <a:r>
              <a:rPr lang="en-US" sz="2000" dirty="0"/>
              <a:t>, a</a:t>
            </a:r>
            <a:r>
              <a:rPr lang="en-US" sz="2000" baseline="-25000" dirty="0"/>
              <a:t>1</a:t>
            </a:r>
            <a:r>
              <a:rPr lang="en-US" sz="2000" dirty="0"/>
              <a:t>) = q</a:t>
            </a:r>
            <a:r>
              <a:rPr lang="en-US" sz="2000" baseline="-25000" dirty="0"/>
              <a:t>1</a:t>
            </a:r>
            <a:r>
              <a:rPr lang="en-US" sz="2000" dirty="0"/>
              <a:t>∈Q </a:t>
            </a:r>
            <a:r>
              <a:rPr lang="en-US" sz="2000" dirty="0" err="1"/>
              <a:t>và</a:t>
            </a:r>
            <a:r>
              <a:rPr lang="en-US" sz="2000" dirty="0"/>
              <a:t> </a:t>
            </a:r>
            <a:r>
              <a:rPr lang="en-US" sz="2000" dirty="0" err="1"/>
              <a:t>đầu</a:t>
            </a:r>
            <a:r>
              <a:rPr lang="en-US" sz="2000" dirty="0"/>
              <a:t> </a:t>
            </a:r>
            <a:r>
              <a:rPr lang="en-US" sz="2000" dirty="0" err="1"/>
              <a:t>đọc</a:t>
            </a:r>
            <a:r>
              <a:rPr lang="en-US" sz="2000" dirty="0"/>
              <a:t> </a:t>
            </a:r>
            <a:r>
              <a:rPr lang="en-US" sz="2000" dirty="0" err="1"/>
              <a:t>chuyển</a:t>
            </a:r>
            <a:r>
              <a:rPr lang="en-US" sz="2000" dirty="0"/>
              <a:t> sang </a:t>
            </a:r>
            <a:r>
              <a:rPr lang="en-US" sz="2000" dirty="0" err="1"/>
              <a:t>phải</a:t>
            </a:r>
            <a:r>
              <a:rPr lang="en-US" sz="2000" dirty="0"/>
              <a:t> </a:t>
            </a:r>
            <a:r>
              <a:rPr lang="en-US" sz="2000" dirty="0" err="1"/>
              <a:t>một</a:t>
            </a:r>
            <a:r>
              <a:rPr lang="en-US" sz="2000" dirty="0"/>
              <a:t> ô, </a:t>
            </a:r>
            <a:r>
              <a:rPr lang="en-US" sz="2000" dirty="0" err="1"/>
              <a:t>tức</a:t>
            </a:r>
            <a:r>
              <a:rPr lang="en-US" sz="2000" dirty="0"/>
              <a:t> </a:t>
            </a:r>
            <a:r>
              <a:rPr lang="en-US" sz="2000" dirty="0" err="1"/>
              <a:t>là</a:t>
            </a:r>
            <a:r>
              <a:rPr lang="en-US" sz="2000" dirty="0"/>
              <a:t> </a:t>
            </a:r>
            <a:r>
              <a:rPr lang="en-US" sz="2000" dirty="0" err="1"/>
              <a:t>nhìn</a:t>
            </a:r>
            <a:r>
              <a:rPr lang="en-US" sz="2000" dirty="0"/>
              <a:t> </a:t>
            </a:r>
            <a:r>
              <a:rPr lang="en-US" sz="2000" dirty="0" err="1"/>
              <a:t>vào</a:t>
            </a:r>
            <a:r>
              <a:rPr lang="en-US" sz="2000" dirty="0"/>
              <a:t> ô </a:t>
            </a:r>
            <a:r>
              <a:rPr lang="en-US" sz="2000" dirty="0" err="1"/>
              <a:t>có</a:t>
            </a:r>
            <a:r>
              <a:rPr lang="en-US" sz="2000" dirty="0"/>
              <a:t> </a:t>
            </a:r>
            <a:r>
              <a:rPr lang="en-US" sz="2000" dirty="0" err="1"/>
              <a:t>ký</a:t>
            </a:r>
            <a:r>
              <a:rPr lang="en-US" sz="2000" dirty="0"/>
              <a:t> </a:t>
            </a:r>
            <a:r>
              <a:rPr lang="en-US" sz="2000" dirty="0" err="1"/>
              <a:t>hiệu</a:t>
            </a:r>
            <a:r>
              <a:rPr lang="en-US" sz="2000" dirty="0"/>
              <a:t> a</a:t>
            </a:r>
            <a:r>
              <a:rPr lang="en-US" sz="2000" baseline="-25000" dirty="0"/>
              <a:t>2</a:t>
            </a:r>
            <a:r>
              <a:rPr lang="en-US" sz="2000" dirty="0"/>
              <a:t>.  </a:t>
            </a:r>
            <a:r>
              <a:rPr lang="en-US" sz="2000" dirty="0" err="1"/>
              <a:t>Sau</a:t>
            </a:r>
            <a:r>
              <a:rPr lang="en-US" sz="2000" dirty="0"/>
              <a:t> </a:t>
            </a:r>
            <a:r>
              <a:rPr lang="en-US" sz="2000" dirty="0" err="1"/>
              <a:t>đó</a:t>
            </a:r>
            <a:r>
              <a:rPr lang="en-US" sz="2000" dirty="0"/>
              <a:t> </a:t>
            </a:r>
            <a:r>
              <a:rPr lang="en-US" sz="2000" dirty="0" err="1"/>
              <a:t>otomat</a:t>
            </a:r>
            <a:r>
              <a:rPr lang="en-US" sz="2000" dirty="0"/>
              <a:t> A </a:t>
            </a:r>
            <a:r>
              <a:rPr lang="en-US" sz="2000" dirty="0" err="1"/>
              <a:t>có</a:t>
            </a:r>
            <a:r>
              <a:rPr lang="en-US" sz="2000" dirty="0"/>
              <a:t> </a:t>
            </a:r>
            <a:r>
              <a:rPr lang="en-US" sz="2000" dirty="0" err="1"/>
              <a:t>thể</a:t>
            </a:r>
            <a:r>
              <a:rPr lang="en-US" sz="2000" dirty="0"/>
              <a:t> </a:t>
            </a:r>
            <a:r>
              <a:rPr lang="en-US" sz="2000" dirty="0" err="1"/>
              <a:t>lại</a:t>
            </a:r>
            <a:r>
              <a:rPr lang="en-US" sz="2000" dirty="0"/>
              <a:t> </a:t>
            </a:r>
            <a:r>
              <a:rPr lang="en-US" sz="2000" dirty="0" err="1"/>
              <a:t>tiếp</a:t>
            </a:r>
            <a:r>
              <a:rPr lang="en-US" sz="2000" dirty="0"/>
              <a:t> </a:t>
            </a:r>
            <a:r>
              <a:rPr lang="en-US" sz="2000" dirty="0" err="1"/>
              <a:t>tục</a:t>
            </a:r>
            <a:r>
              <a:rPr lang="en-US" sz="2000" dirty="0"/>
              <a:t> </a:t>
            </a:r>
            <a:r>
              <a:rPr lang="en-US" sz="2000" dirty="0" err="1"/>
              <a:t>chuyển</a:t>
            </a:r>
            <a:r>
              <a:rPr lang="en-US" sz="2000" dirty="0"/>
              <a:t> </a:t>
            </a:r>
            <a:r>
              <a:rPr lang="en-US" sz="2000" dirty="0" err="1"/>
              <a:t>từ</a:t>
            </a:r>
            <a:r>
              <a:rPr lang="en-US" sz="2000" dirty="0"/>
              <a:t> </a:t>
            </a:r>
            <a:r>
              <a:rPr lang="en-US" sz="2000" dirty="0" err="1"/>
              <a:t>trạng</a:t>
            </a:r>
            <a:r>
              <a:rPr lang="en-US" sz="2000" dirty="0"/>
              <a:t> </a:t>
            </a:r>
            <a:r>
              <a:rPr lang="en-US" sz="2000" dirty="0" err="1"/>
              <a:t>thái</a:t>
            </a:r>
            <a:r>
              <a:rPr lang="en-US" sz="2000" dirty="0"/>
              <a:t> q</a:t>
            </a:r>
            <a:r>
              <a:rPr lang="en-US" sz="2000" baseline="-25000" dirty="0"/>
              <a:t>1</a:t>
            </a:r>
            <a:r>
              <a:rPr lang="en-US" sz="2000" dirty="0"/>
              <a:t> </a:t>
            </a:r>
            <a:r>
              <a:rPr lang="en-US" sz="2000" dirty="0" err="1"/>
              <a:t>nhờ</a:t>
            </a:r>
            <a:r>
              <a:rPr lang="en-US" sz="2000" dirty="0"/>
              <a:t> </a:t>
            </a:r>
            <a:r>
              <a:rPr lang="en-US" sz="2000" dirty="0" err="1"/>
              <a:t>hàm</a:t>
            </a:r>
            <a:r>
              <a:rPr lang="en-US" sz="2000" dirty="0"/>
              <a:t> </a:t>
            </a:r>
            <a:r>
              <a:rPr lang="en-US" sz="2000" dirty="0" err="1"/>
              <a:t>chuyển</a:t>
            </a:r>
            <a:r>
              <a:rPr lang="en-US" sz="2000" dirty="0"/>
              <a:t> δ </a:t>
            </a:r>
            <a:r>
              <a:rPr lang="en-US" sz="2000" dirty="0" err="1"/>
              <a:t>về</a:t>
            </a:r>
            <a:r>
              <a:rPr lang="en-US" sz="2000" dirty="0"/>
              <a:t> </a:t>
            </a:r>
            <a:r>
              <a:rPr lang="en-US" sz="2000" dirty="0" err="1"/>
              <a:t>trạng</a:t>
            </a:r>
            <a:r>
              <a:rPr lang="en-US" sz="2000" dirty="0"/>
              <a:t> </a:t>
            </a:r>
            <a:r>
              <a:rPr lang="en-US" sz="2000" dirty="0" err="1"/>
              <a:t>thái</a:t>
            </a:r>
            <a:r>
              <a:rPr lang="en-US" sz="2000" dirty="0"/>
              <a:t> </a:t>
            </a:r>
            <a:r>
              <a:rPr lang="en-US" sz="2000" dirty="0" err="1"/>
              <a:t>mới</a:t>
            </a:r>
            <a:r>
              <a:rPr lang="en-US" sz="2000" dirty="0"/>
              <a:t> q</a:t>
            </a:r>
            <a:r>
              <a:rPr lang="en-US" sz="2000" baseline="-25000" dirty="0"/>
              <a:t>2 </a:t>
            </a:r>
            <a:r>
              <a:rPr lang="en-US" sz="2000" dirty="0"/>
              <a:t>= δ(q</a:t>
            </a:r>
            <a:r>
              <a:rPr lang="en-US" sz="2000" baseline="-25000" dirty="0"/>
              <a:t>1</a:t>
            </a:r>
            <a:r>
              <a:rPr lang="en-US" sz="2000" dirty="0"/>
              <a:t>, a</a:t>
            </a:r>
            <a:r>
              <a:rPr lang="en-US" sz="2000" baseline="-25000" dirty="0"/>
              <a:t>2</a:t>
            </a:r>
            <a:r>
              <a:rPr lang="en-US" sz="2000" dirty="0"/>
              <a:t>) ∈ Q. </a:t>
            </a:r>
            <a:r>
              <a:rPr lang="en-US" sz="2000" dirty="0" err="1"/>
              <a:t>Quá</a:t>
            </a:r>
            <a:r>
              <a:rPr lang="en-US" sz="2000" dirty="0"/>
              <a:t> </a:t>
            </a:r>
            <a:r>
              <a:rPr lang="en-US" sz="2000" dirty="0" err="1"/>
              <a:t>trình</a:t>
            </a:r>
            <a:r>
              <a:rPr lang="en-US" sz="2000" dirty="0"/>
              <a:t> </a:t>
            </a:r>
            <a:r>
              <a:rPr lang="en-US" sz="2000" dirty="0" err="1"/>
              <a:t>đó</a:t>
            </a:r>
            <a:r>
              <a:rPr lang="en-US" sz="2000" dirty="0"/>
              <a:t> </a:t>
            </a:r>
            <a:r>
              <a:rPr lang="en-US" sz="2000" dirty="0" err="1"/>
              <a:t>sẽ</a:t>
            </a:r>
            <a:r>
              <a:rPr lang="en-US" sz="2000" dirty="0"/>
              <a:t> </a:t>
            </a:r>
            <a:r>
              <a:rPr lang="en-US" sz="2000" dirty="0" err="1"/>
              <a:t>tiếp</a:t>
            </a:r>
            <a:r>
              <a:rPr lang="en-US" sz="2000" dirty="0"/>
              <a:t> </a:t>
            </a:r>
            <a:r>
              <a:rPr lang="en-US" sz="2000" dirty="0" err="1"/>
              <a:t>tục</a:t>
            </a:r>
            <a:r>
              <a:rPr lang="en-US" sz="2000" dirty="0"/>
              <a:t> </a:t>
            </a:r>
            <a:r>
              <a:rPr lang="en-US" sz="2000" dirty="0" err="1"/>
              <a:t>cho</a:t>
            </a:r>
            <a:r>
              <a:rPr lang="en-US" sz="2000" dirty="0"/>
              <a:t> </a:t>
            </a:r>
            <a:r>
              <a:rPr lang="en-US" sz="2000" dirty="0" err="1"/>
              <a:t>tới</a:t>
            </a:r>
            <a:r>
              <a:rPr lang="en-US" sz="2000" dirty="0"/>
              <a:t> </a:t>
            </a:r>
            <a:r>
              <a:rPr lang="en-US" sz="2000" dirty="0" err="1"/>
              <a:t>khi</a:t>
            </a:r>
            <a:r>
              <a:rPr lang="en-US" sz="2000" dirty="0"/>
              <a:t> </a:t>
            </a:r>
            <a:r>
              <a:rPr lang="en-US" sz="2000" dirty="0" err="1"/>
              <a:t>gặp</a:t>
            </a:r>
            <a:r>
              <a:rPr lang="en-US" sz="2000" dirty="0"/>
              <a:t> </a:t>
            </a:r>
            <a:r>
              <a:rPr lang="en-US" sz="2000" dirty="0" err="1"/>
              <a:t>một</a:t>
            </a:r>
            <a:r>
              <a:rPr lang="en-US" sz="2000" dirty="0"/>
              <a:t> </a:t>
            </a:r>
            <a:r>
              <a:rPr lang="en-US" sz="2000" dirty="0" err="1"/>
              <a:t>trong</a:t>
            </a:r>
            <a:r>
              <a:rPr lang="en-US" sz="2000" dirty="0"/>
              <a:t> </a:t>
            </a:r>
            <a:r>
              <a:rPr lang="en-US" sz="2000" dirty="0" err="1"/>
              <a:t>các</a:t>
            </a:r>
            <a:r>
              <a:rPr lang="en-US" sz="2000" dirty="0"/>
              <a:t> </a:t>
            </a:r>
            <a:r>
              <a:rPr lang="en-US" sz="2000" dirty="0" err="1"/>
              <a:t>tình</a:t>
            </a:r>
            <a:r>
              <a:rPr lang="en-US" sz="2000" dirty="0"/>
              <a:t> </a:t>
            </a:r>
            <a:r>
              <a:rPr lang="en-US" sz="2000" dirty="0" err="1"/>
              <a:t>huống</a:t>
            </a:r>
            <a:r>
              <a:rPr lang="en-US" sz="2000" dirty="0"/>
              <a:t> </a:t>
            </a:r>
            <a:r>
              <a:rPr lang="en-US" sz="2000" dirty="0" err="1"/>
              <a:t>sau</a:t>
            </a:r>
            <a:r>
              <a:rPr lang="en-US" sz="2000" dirty="0"/>
              <a:t>: </a:t>
            </a:r>
          </a:p>
          <a:p>
            <a:pPr>
              <a:lnSpc>
                <a:spcPct val="150000"/>
              </a:lnSpc>
              <a:spcBef>
                <a:spcPts val="0"/>
              </a:spcBef>
            </a:pPr>
            <a:r>
              <a:rPr lang="en-US" sz="2000" dirty="0"/>
              <a:t>− </a:t>
            </a:r>
            <a:r>
              <a:rPr lang="en-US" sz="2000" dirty="0" err="1"/>
              <a:t>Otomat</a:t>
            </a:r>
            <a:r>
              <a:rPr lang="en-US" sz="2000" dirty="0"/>
              <a:t> A </a:t>
            </a:r>
            <a:r>
              <a:rPr lang="en-US" sz="2000" dirty="0" err="1"/>
              <a:t>đọc</a:t>
            </a:r>
            <a:r>
              <a:rPr lang="en-US" sz="2000" dirty="0"/>
              <a:t> </a:t>
            </a:r>
            <a:r>
              <a:rPr lang="en-US" sz="2000" dirty="0" err="1"/>
              <a:t>hết</a:t>
            </a:r>
            <a:r>
              <a:rPr lang="en-US" sz="2000" dirty="0"/>
              <a:t> </a:t>
            </a:r>
            <a:r>
              <a:rPr lang="en-US" sz="2000" dirty="0" err="1"/>
              <a:t>xâu</a:t>
            </a:r>
            <a:r>
              <a:rPr lang="en-US" sz="2000" dirty="0"/>
              <a:t> </a:t>
            </a:r>
            <a:r>
              <a:rPr lang="en-US" sz="2000" dirty="0" err="1"/>
              <a:t>vào</a:t>
            </a:r>
            <a:r>
              <a:rPr lang="en-US" sz="2000" dirty="0"/>
              <a:t> ω </a:t>
            </a:r>
            <a:r>
              <a:rPr lang="en-US" sz="2000" dirty="0" err="1"/>
              <a:t>và</a:t>
            </a:r>
            <a:r>
              <a:rPr lang="en-US" sz="2000" dirty="0"/>
              <a:t> δ(q</a:t>
            </a:r>
            <a:r>
              <a:rPr lang="en-US" sz="2000" baseline="-25000" dirty="0"/>
              <a:t>n-1</a:t>
            </a:r>
            <a:r>
              <a:rPr lang="en-US" sz="2000" dirty="0"/>
              <a:t>,a</a:t>
            </a:r>
            <a:r>
              <a:rPr lang="en-US" sz="2000" baseline="-25000" dirty="0"/>
              <a:t>n</a:t>
            </a:r>
            <a:r>
              <a:rPr lang="en-US" sz="2000" dirty="0"/>
              <a:t>) = </a:t>
            </a:r>
            <a:r>
              <a:rPr lang="en-US" sz="2000" dirty="0" err="1"/>
              <a:t>q</a:t>
            </a:r>
            <a:r>
              <a:rPr lang="en-US" sz="2000" baseline="-25000" dirty="0" err="1"/>
              <a:t>n</a:t>
            </a:r>
            <a:r>
              <a:rPr lang="en-US" sz="2000" baseline="-25000" dirty="0"/>
              <a:t> </a:t>
            </a:r>
            <a:r>
              <a:rPr lang="en-US" sz="2000" dirty="0"/>
              <a:t>∈ F, ta </a:t>
            </a:r>
            <a:r>
              <a:rPr lang="en-US" sz="2000" dirty="0" err="1"/>
              <a:t>nói</a:t>
            </a:r>
            <a:r>
              <a:rPr lang="en-US" sz="2000" dirty="0"/>
              <a:t> </a:t>
            </a:r>
            <a:r>
              <a:rPr lang="en-US" sz="2000" dirty="0" err="1"/>
              <a:t>rằng</a:t>
            </a:r>
            <a:r>
              <a:rPr lang="en-US" sz="2000" dirty="0"/>
              <a:t> A </a:t>
            </a:r>
            <a:r>
              <a:rPr lang="en-US" sz="2000" dirty="0" err="1"/>
              <a:t>đoán</a:t>
            </a:r>
            <a:r>
              <a:rPr lang="en-US" sz="2000" dirty="0"/>
              <a:t> </a:t>
            </a:r>
            <a:r>
              <a:rPr lang="en-US" sz="2000" dirty="0" err="1"/>
              <a:t>nhận</a:t>
            </a:r>
            <a:r>
              <a:rPr lang="en-US" sz="2000" dirty="0"/>
              <a:t> </a:t>
            </a:r>
            <a:r>
              <a:rPr lang="en-US" sz="2000" dirty="0" err="1"/>
              <a:t>xâu</a:t>
            </a:r>
            <a:r>
              <a:rPr lang="en-US" sz="2000" dirty="0"/>
              <a:t> ω. </a:t>
            </a:r>
          </a:p>
          <a:p>
            <a:pPr>
              <a:lnSpc>
                <a:spcPct val="150000"/>
              </a:lnSpc>
              <a:spcBef>
                <a:spcPts val="0"/>
              </a:spcBef>
            </a:pPr>
            <a:r>
              <a:rPr lang="en-US" sz="2000" dirty="0"/>
              <a:t>− </a:t>
            </a:r>
            <a:r>
              <a:rPr lang="en-US" sz="2000" dirty="0" err="1"/>
              <a:t>Hoặc</a:t>
            </a:r>
            <a:r>
              <a:rPr lang="en-US" sz="2000" dirty="0"/>
              <a:t> </a:t>
            </a:r>
            <a:r>
              <a:rPr lang="en-US" sz="2000" dirty="0" err="1"/>
              <a:t>otomat</a:t>
            </a:r>
            <a:r>
              <a:rPr lang="en-US" sz="2000" dirty="0"/>
              <a:t> A </a:t>
            </a:r>
            <a:r>
              <a:rPr lang="en-US" sz="2000" dirty="0" err="1"/>
              <a:t>đọc</a:t>
            </a:r>
            <a:r>
              <a:rPr lang="en-US" sz="2000" dirty="0"/>
              <a:t> </a:t>
            </a:r>
            <a:r>
              <a:rPr lang="en-US" sz="2000" dirty="0" err="1"/>
              <a:t>hết</a:t>
            </a:r>
            <a:r>
              <a:rPr lang="en-US" sz="2000" dirty="0"/>
              <a:t> </a:t>
            </a:r>
            <a:r>
              <a:rPr lang="en-US" sz="2000" dirty="0" err="1"/>
              <a:t>xâu</a:t>
            </a:r>
            <a:r>
              <a:rPr lang="en-US" sz="2000" dirty="0"/>
              <a:t> </a:t>
            </a:r>
            <a:r>
              <a:rPr lang="en-US" sz="2000" dirty="0" err="1"/>
              <a:t>vào</a:t>
            </a:r>
            <a:r>
              <a:rPr lang="en-US" sz="2000" dirty="0"/>
              <a:t> ω </a:t>
            </a:r>
            <a:r>
              <a:rPr lang="en-US" sz="2000" dirty="0" err="1"/>
              <a:t>và</a:t>
            </a:r>
            <a:r>
              <a:rPr lang="en-US" sz="2000" dirty="0"/>
              <a:t> δ(q</a:t>
            </a:r>
            <a:r>
              <a:rPr lang="en-US" sz="2000" baseline="-25000" dirty="0"/>
              <a:t>n-1</a:t>
            </a:r>
            <a:r>
              <a:rPr lang="en-US" sz="2000" dirty="0"/>
              <a:t>,a</a:t>
            </a:r>
            <a:r>
              <a:rPr lang="en-US" sz="2000" baseline="-25000" dirty="0"/>
              <a:t>n</a:t>
            </a:r>
            <a:r>
              <a:rPr lang="en-US" sz="2000" dirty="0"/>
              <a:t>) = </a:t>
            </a:r>
            <a:r>
              <a:rPr lang="en-US" sz="2000" dirty="0" err="1"/>
              <a:t>q</a:t>
            </a:r>
            <a:r>
              <a:rPr lang="en-US" sz="2000" baseline="-25000" dirty="0" err="1"/>
              <a:t>n</a:t>
            </a:r>
            <a:r>
              <a:rPr lang="en-US" sz="2000" baseline="-25000" dirty="0"/>
              <a:t> </a:t>
            </a:r>
            <a:r>
              <a:rPr lang="en-US" sz="2000" dirty="0"/>
              <a:t>∉ F, ta </a:t>
            </a:r>
            <a:r>
              <a:rPr lang="en-US" sz="2000" dirty="0" err="1"/>
              <a:t>nói</a:t>
            </a:r>
            <a:r>
              <a:rPr lang="en-US" sz="2000" dirty="0"/>
              <a:t> A </a:t>
            </a:r>
            <a:r>
              <a:rPr lang="en-US" sz="2000" dirty="0" err="1"/>
              <a:t>không</a:t>
            </a:r>
            <a:r>
              <a:rPr lang="en-US" sz="2000" dirty="0"/>
              <a:t> </a:t>
            </a:r>
            <a:r>
              <a:rPr lang="en-US" sz="2000" dirty="0" err="1"/>
              <a:t>đoán</a:t>
            </a:r>
            <a:r>
              <a:rPr lang="en-US" sz="2000" dirty="0"/>
              <a:t> </a:t>
            </a:r>
            <a:r>
              <a:rPr lang="en-US" sz="2000" dirty="0" err="1"/>
              <a:t>nhận</a:t>
            </a:r>
            <a:r>
              <a:rPr lang="en-US" sz="2000" dirty="0"/>
              <a:t> </a:t>
            </a:r>
            <a:r>
              <a:rPr lang="en-US" sz="2000" dirty="0" err="1"/>
              <a:t>xâu</a:t>
            </a:r>
            <a:r>
              <a:rPr lang="en-US" sz="2000" dirty="0"/>
              <a:t> ω. </a:t>
            </a:r>
          </a:p>
          <a:p>
            <a:pPr>
              <a:lnSpc>
                <a:spcPct val="150000"/>
              </a:lnSpc>
              <a:spcBef>
                <a:spcPts val="0"/>
              </a:spcBef>
            </a:pPr>
            <a:r>
              <a:rPr lang="en-US" sz="2000" dirty="0"/>
              <a:t>− </a:t>
            </a:r>
            <a:r>
              <a:rPr lang="en-US" sz="2000" dirty="0" err="1"/>
              <a:t>Hoặc</a:t>
            </a:r>
            <a:r>
              <a:rPr lang="en-US" sz="2000" dirty="0"/>
              <a:t> </a:t>
            </a:r>
            <a:r>
              <a:rPr lang="en-US" sz="2000" dirty="0" err="1"/>
              <a:t>khi</a:t>
            </a:r>
            <a:r>
              <a:rPr lang="en-US" sz="2000" dirty="0"/>
              <a:t> </a:t>
            </a:r>
            <a:r>
              <a:rPr lang="en-US" sz="2000" dirty="0" err="1"/>
              <a:t>otomat</a:t>
            </a:r>
            <a:r>
              <a:rPr lang="en-US" sz="2000" dirty="0"/>
              <a:t> A </a:t>
            </a:r>
            <a:r>
              <a:rPr lang="en-US" sz="2000" dirty="0" err="1"/>
              <a:t>đọc</a:t>
            </a:r>
            <a:r>
              <a:rPr lang="en-US" sz="2000" dirty="0"/>
              <a:t> </a:t>
            </a:r>
            <a:r>
              <a:rPr lang="en-US" sz="2000" dirty="0" err="1"/>
              <a:t>đến</a:t>
            </a:r>
            <a:r>
              <a:rPr lang="en-US" sz="2000" dirty="0"/>
              <a:t> </a:t>
            </a:r>
            <a:r>
              <a:rPr lang="en-US" sz="2000" dirty="0" err="1"/>
              <a:t>a</a:t>
            </a:r>
            <a:r>
              <a:rPr lang="en-US" sz="2000" baseline="-25000" dirty="0" err="1"/>
              <a:t>j</a:t>
            </a:r>
            <a:r>
              <a:rPr lang="en-US" sz="2000" baseline="-25000" dirty="0"/>
              <a:t> </a:t>
            </a:r>
            <a:r>
              <a:rPr lang="en-US" sz="2000" dirty="0"/>
              <a:t>, (j ≤ n) </a:t>
            </a:r>
            <a:r>
              <a:rPr lang="en-US" sz="2000" dirty="0" err="1"/>
              <a:t>và</a:t>
            </a:r>
            <a:r>
              <a:rPr lang="en-US" sz="2000" dirty="0"/>
              <a:t> </a:t>
            </a:r>
            <a:r>
              <a:rPr lang="en-US" sz="2000" dirty="0" err="1"/>
              <a:t>hàm</a:t>
            </a:r>
            <a:r>
              <a:rPr lang="en-US" sz="2000" dirty="0"/>
              <a:t> δ(q</a:t>
            </a:r>
            <a:r>
              <a:rPr lang="en-US" sz="2000" baseline="-25000" dirty="0"/>
              <a:t>j-1</a:t>
            </a:r>
            <a:r>
              <a:rPr lang="en-US" sz="2000" dirty="0"/>
              <a:t>, </a:t>
            </a:r>
            <a:r>
              <a:rPr lang="en-US" sz="2000" dirty="0" err="1"/>
              <a:t>a</a:t>
            </a:r>
            <a:r>
              <a:rPr lang="en-US" sz="2000" baseline="-25000" dirty="0" err="1"/>
              <a:t>j</a:t>
            </a:r>
            <a:r>
              <a:rPr lang="en-US" sz="2000" dirty="0"/>
              <a:t>) </a:t>
            </a:r>
            <a:r>
              <a:rPr lang="en-US" sz="2000" dirty="0" err="1"/>
              <a:t>không</a:t>
            </a:r>
            <a:r>
              <a:rPr lang="en-US" sz="2000" dirty="0"/>
              <a:t> </a:t>
            </a:r>
            <a:r>
              <a:rPr lang="en-US" sz="2000" dirty="0" err="1"/>
              <a:t>xác</a:t>
            </a:r>
            <a:r>
              <a:rPr lang="en-US" sz="2000" dirty="0"/>
              <a:t> </a:t>
            </a:r>
            <a:r>
              <a:rPr lang="en-US" sz="2000" dirty="0" err="1"/>
              <a:t>định</a:t>
            </a:r>
            <a:r>
              <a:rPr lang="en-US" sz="2000" dirty="0"/>
              <a:t>, ta </a:t>
            </a:r>
            <a:r>
              <a:rPr lang="en-US" sz="2000" dirty="0" err="1"/>
              <a:t>cũng</a:t>
            </a:r>
            <a:r>
              <a:rPr lang="en-US" sz="2000" dirty="0"/>
              <a:t> </a:t>
            </a:r>
            <a:r>
              <a:rPr lang="en-US" sz="2000" dirty="0" err="1"/>
              <a:t>nói</a:t>
            </a:r>
            <a:r>
              <a:rPr lang="en-US" sz="2000" dirty="0"/>
              <a:t> A </a:t>
            </a:r>
            <a:r>
              <a:rPr lang="en-US" sz="2000" dirty="0" err="1"/>
              <a:t>không</a:t>
            </a:r>
            <a:r>
              <a:rPr lang="en-US" sz="2000" dirty="0"/>
              <a:t> </a:t>
            </a:r>
            <a:r>
              <a:rPr lang="en-US" sz="2000" dirty="0" err="1"/>
              <a:t>đoán</a:t>
            </a:r>
            <a:r>
              <a:rPr lang="en-US" sz="2000" dirty="0"/>
              <a:t> </a:t>
            </a:r>
            <a:r>
              <a:rPr lang="en-US" sz="2000" dirty="0" err="1"/>
              <a:t>nhận</a:t>
            </a:r>
            <a:r>
              <a:rPr lang="en-US" sz="2000" dirty="0"/>
              <a:t> </a:t>
            </a:r>
            <a:r>
              <a:rPr lang="en-US" sz="2000" dirty="0" err="1"/>
              <a:t>xâu</a:t>
            </a:r>
            <a:r>
              <a:rPr lang="en-US" sz="2000" dirty="0"/>
              <a:t> ω. </a:t>
            </a:r>
          </a:p>
          <a:p>
            <a:pPr>
              <a:lnSpc>
                <a:spcPct val="150000"/>
              </a:lnSpc>
              <a:spcBef>
                <a:spcPts val="0"/>
              </a:spcBef>
            </a:pPr>
            <a:endParaRPr lang="en-US" sz="2000" dirty="0"/>
          </a:p>
        </p:txBody>
      </p:sp>
    </p:spTree>
    <p:extLst>
      <p:ext uri="{BB962C8B-B14F-4D97-AF65-F5344CB8AC3E}">
        <p14:creationId xmlns:p14="http://schemas.microsoft.com/office/powerpoint/2010/main" val="18812618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i="1" dirty="0" err="1"/>
              <a:t>Mô</a:t>
            </a:r>
            <a:r>
              <a:rPr lang="en-US" i="1" dirty="0"/>
              <a:t> </a:t>
            </a:r>
            <a:r>
              <a:rPr lang="en-US" i="1" dirty="0" err="1"/>
              <a:t>tả</a:t>
            </a:r>
            <a:r>
              <a:rPr lang="en-US" i="1" dirty="0"/>
              <a:t> </a:t>
            </a:r>
            <a:r>
              <a:rPr lang="en-US" i="1" dirty="0" err="1"/>
              <a:t>quá</a:t>
            </a:r>
            <a:r>
              <a:rPr lang="en-US" i="1" dirty="0"/>
              <a:t> </a:t>
            </a:r>
            <a:r>
              <a:rPr lang="en-US" i="1" dirty="0" err="1"/>
              <a:t>trình</a:t>
            </a:r>
            <a:r>
              <a:rPr lang="en-US" i="1" dirty="0"/>
              <a:t> </a:t>
            </a:r>
            <a:r>
              <a:rPr lang="en-US" i="1" dirty="0" err="1"/>
              <a:t>đoán</a:t>
            </a:r>
            <a:r>
              <a:rPr lang="en-US" i="1" dirty="0"/>
              <a:t> </a:t>
            </a:r>
            <a:r>
              <a:rPr lang="en-US" i="1" dirty="0" err="1"/>
              <a:t>nhận</a:t>
            </a:r>
            <a:r>
              <a:rPr lang="en-US" i="1" dirty="0"/>
              <a:t> </a:t>
            </a:r>
            <a:r>
              <a:rPr lang="en-US" i="1" dirty="0" err="1"/>
              <a:t>xâu</a:t>
            </a:r>
            <a:r>
              <a:rPr lang="en-US" i="1" dirty="0"/>
              <a:t> </a:t>
            </a:r>
            <a:r>
              <a:rPr lang="en-US" dirty="0"/>
              <a:t>ω</a:t>
            </a:r>
            <a:r>
              <a:rPr lang="en-US" i="1" dirty="0"/>
              <a:t> </a:t>
            </a:r>
            <a:r>
              <a:rPr lang="en-US" i="1" dirty="0" err="1"/>
              <a:t>của</a:t>
            </a:r>
            <a:r>
              <a:rPr lang="en-US" i="1" dirty="0"/>
              <a:t> </a:t>
            </a:r>
            <a:r>
              <a:rPr lang="en-US" i="1" dirty="0" err="1"/>
              <a:t>otomat</a:t>
            </a:r>
            <a:r>
              <a:rPr lang="en-US" i="1" dirty="0"/>
              <a:t> A </a:t>
            </a:r>
            <a:endParaRPr lang="en-US" dirty="0"/>
          </a:p>
        </p:txBody>
      </p:sp>
      <p:sp>
        <p:nvSpPr>
          <p:cNvPr id="3" name="Content Placeholder 2"/>
          <p:cNvSpPr>
            <a:spLocks noGrp="1"/>
          </p:cNvSpPr>
          <p:nvPr>
            <p:ph idx="1"/>
          </p:nvPr>
        </p:nvSpPr>
        <p:spPr/>
        <p:txBody>
          <a:bodyPr/>
          <a:lstStyle/>
          <a:p>
            <a:endParaRPr lang="en-US" dirty="0"/>
          </a:p>
        </p:txBody>
      </p:sp>
      <p:pic>
        <p:nvPicPr>
          <p:cNvPr id="4" name="Picture 3"/>
          <p:cNvPicPr/>
          <p:nvPr/>
        </p:nvPicPr>
        <p:blipFill>
          <a:blip r:embed="rId2"/>
          <a:stretch>
            <a:fillRect/>
          </a:stretch>
        </p:blipFill>
        <p:spPr>
          <a:xfrm>
            <a:off x="3549316" y="2843463"/>
            <a:ext cx="6725652" cy="2065421"/>
          </a:xfrm>
          <a:prstGeom prst="rect">
            <a:avLst/>
          </a:prstGeom>
        </p:spPr>
      </p:pic>
    </p:spTree>
    <p:extLst>
      <p:ext uri="{BB962C8B-B14F-4D97-AF65-F5344CB8AC3E}">
        <p14:creationId xmlns:p14="http://schemas.microsoft.com/office/powerpoint/2010/main" val="15290462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1.2 </a:t>
            </a:r>
            <a:r>
              <a:rPr lang="en-US" b="1" dirty="0" err="1" smtClean="0"/>
              <a:t>Biểu</a:t>
            </a:r>
            <a:r>
              <a:rPr lang="en-US" b="1" dirty="0" smtClean="0"/>
              <a:t> </a:t>
            </a:r>
            <a:r>
              <a:rPr lang="en-US" b="1" dirty="0" err="1"/>
              <a:t>diễn</a:t>
            </a:r>
            <a:r>
              <a:rPr lang="en-US" b="1" dirty="0"/>
              <a:t> </a:t>
            </a:r>
            <a:r>
              <a:rPr lang="en-US" b="1" dirty="0" err="1"/>
              <a:t>otomat</a:t>
            </a:r>
            <a:r>
              <a:rPr lang="en-US" b="1" dirty="0"/>
              <a:t> </a:t>
            </a:r>
            <a:r>
              <a:rPr lang="en-US" b="1" dirty="0" err="1"/>
              <a:t>hữu</a:t>
            </a:r>
            <a:r>
              <a:rPr lang="en-US" b="1" dirty="0"/>
              <a:t> </a:t>
            </a:r>
            <a:r>
              <a:rPr lang="en-US" b="1" dirty="0" err="1"/>
              <a:t>hạn</a:t>
            </a:r>
            <a:r>
              <a:rPr lang="en-US" b="1" dirty="0"/>
              <a:t> </a:t>
            </a:r>
            <a:r>
              <a:rPr lang="en-US" b="1" dirty="0" err="1"/>
              <a:t>đơn</a:t>
            </a:r>
            <a:r>
              <a:rPr lang="en-US" b="1" dirty="0"/>
              <a:t> </a:t>
            </a:r>
            <a:r>
              <a:rPr lang="en-US" b="1" dirty="0" err="1"/>
              <a:t>định</a:t>
            </a:r>
            <a:r>
              <a:rPr lang="en-US" dirty="0"/>
              <a:t> </a:t>
            </a:r>
          </a:p>
        </p:txBody>
      </p:sp>
      <p:sp>
        <p:nvSpPr>
          <p:cNvPr id="3" name="Content Placeholder 2"/>
          <p:cNvSpPr>
            <a:spLocks noGrp="1"/>
          </p:cNvSpPr>
          <p:nvPr>
            <p:ph idx="1"/>
          </p:nvPr>
        </p:nvSpPr>
        <p:spPr>
          <a:xfrm>
            <a:off x="2589212" y="1483895"/>
            <a:ext cx="8915400" cy="3777622"/>
          </a:xfrm>
        </p:spPr>
        <p:txBody>
          <a:bodyPr/>
          <a:lstStyle/>
          <a:p>
            <a:pPr>
              <a:lnSpc>
                <a:spcPct val="150000"/>
              </a:lnSpc>
            </a:pPr>
            <a:r>
              <a:rPr lang="en-US" dirty="0" err="1"/>
              <a:t>Hàm</a:t>
            </a:r>
            <a:r>
              <a:rPr lang="en-US" dirty="0"/>
              <a:t> </a:t>
            </a:r>
            <a:r>
              <a:rPr lang="en-US" dirty="0" err="1"/>
              <a:t>chuyển</a:t>
            </a:r>
            <a:r>
              <a:rPr lang="en-US" dirty="0"/>
              <a:t> </a:t>
            </a:r>
            <a:r>
              <a:rPr lang="en-US" dirty="0" err="1"/>
              <a:t>trạng</a:t>
            </a:r>
            <a:r>
              <a:rPr lang="en-US" dirty="0"/>
              <a:t> </a:t>
            </a:r>
            <a:r>
              <a:rPr lang="en-US" dirty="0" err="1"/>
              <a:t>thái</a:t>
            </a:r>
            <a:r>
              <a:rPr lang="en-US" dirty="0"/>
              <a:t> </a:t>
            </a:r>
            <a:r>
              <a:rPr lang="en-US" dirty="0" err="1"/>
              <a:t>là</a:t>
            </a:r>
            <a:r>
              <a:rPr lang="en-US" dirty="0"/>
              <a:t> </a:t>
            </a:r>
            <a:r>
              <a:rPr lang="en-US" dirty="0" err="1"/>
              <a:t>một</a:t>
            </a:r>
            <a:r>
              <a:rPr lang="en-US" dirty="0"/>
              <a:t> </a:t>
            </a:r>
            <a:r>
              <a:rPr lang="en-US" dirty="0" err="1"/>
              <a:t>bộ</a:t>
            </a:r>
            <a:r>
              <a:rPr lang="en-US" dirty="0"/>
              <a:t> </a:t>
            </a:r>
            <a:r>
              <a:rPr lang="en-US" dirty="0" err="1"/>
              <a:t>phận</a:t>
            </a:r>
            <a:r>
              <a:rPr lang="en-US" dirty="0"/>
              <a:t> </a:t>
            </a:r>
            <a:r>
              <a:rPr lang="en-US" dirty="0" err="1"/>
              <a:t>quan</a:t>
            </a:r>
            <a:r>
              <a:rPr lang="en-US" dirty="0"/>
              <a:t> </a:t>
            </a:r>
            <a:r>
              <a:rPr lang="en-US" dirty="0" err="1"/>
              <a:t>trọng</a:t>
            </a:r>
            <a:r>
              <a:rPr lang="en-US" dirty="0"/>
              <a:t> </a:t>
            </a:r>
            <a:r>
              <a:rPr lang="en-US" dirty="0" err="1"/>
              <a:t>của</a:t>
            </a:r>
            <a:r>
              <a:rPr lang="en-US" dirty="0"/>
              <a:t> </a:t>
            </a:r>
            <a:r>
              <a:rPr lang="en-US" dirty="0" err="1"/>
              <a:t>một</a:t>
            </a:r>
            <a:r>
              <a:rPr lang="en-US" dirty="0"/>
              <a:t> </a:t>
            </a:r>
            <a:r>
              <a:rPr lang="en-US" dirty="0" err="1"/>
              <a:t>otomat</a:t>
            </a:r>
            <a:r>
              <a:rPr lang="en-US" dirty="0"/>
              <a:t> </a:t>
            </a:r>
            <a:r>
              <a:rPr lang="en-US" dirty="0" err="1"/>
              <a:t>hữu</a:t>
            </a:r>
            <a:r>
              <a:rPr lang="en-US" dirty="0"/>
              <a:t> </a:t>
            </a:r>
            <a:r>
              <a:rPr lang="en-US" dirty="0" err="1"/>
              <a:t>hạn</a:t>
            </a:r>
            <a:r>
              <a:rPr lang="en-US" dirty="0"/>
              <a:t> </a:t>
            </a:r>
            <a:r>
              <a:rPr lang="en-US" dirty="0" err="1"/>
              <a:t>đơn</a:t>
            </a:r>
            <a:r>
              <a:rPr lang="en-US" dirty="0"/>
              <a:t> </a:t>
            </a:r>
            <a:r>
              <a:rPr lang="en-US" dirty="0" err="1"/>
              <a:t>định</a:t>
            </a:r>
            <a:r>
              <a:rPr lang="en-US" dirty="0"/>
              <a:t>.  Cho </a:t>
            </a:r>
            <a:r>
              <a:rPr lang="en-US" dirty="0" err="1"/>
              <a:t>một</a:t>
            </a:r>
            <a:r>
              <a:rPr lang="en-US" dirty="0"/>
              <a:t> </a:t>
            </a:r>
            <a:r>
              <a:rPr lang="en-US" dirty="0" err="1"/>
              <a:t>otomat</a:t>
            </a:r>
            <a:r>
              <a:rPr lang="en-US" dirty="0"/>
              <a:t> </a:t>
            </a:r>
            <a:r>
              <a:rPr lang="en-US" dirty="0" err="1"/>
              <a:t>thực</a:t>
            </a:r>
            <a:r>
              <a:rPr lang="en-US" dirty="0"/>
              <a:t> </a:t>
            </a:r>
            <a:r>
              <a:rPr lang="en-US" dirty="0" err="1"/>
              <a:t>chất</a:t>
            </a:r>
            <a:r>
              <a:rPr lang="en-US" dirty="0"/>
              <a:t> </a:t>
            </a:r>
            <a:r>
              <a:rPr lang="en-US" dirty="0" err="1"/>
              <a:t>là</a:t>
            </a:r>
            <a:r>
              <a:rPr lang="en-US" dirty="0"/>
              <a:t> </a:t>
            </a:r>
            <a:r>
              <a:rPr lang="en-US" dirty="0" err="1"/>
              <a:t>cho</a:t>
            </a:r>
            <a:r>
              <a:rPr lang="en-US" dirty="0"/>
              <a:t> </a:t>
            </a:r>
            <a:r>
              <a:rPr lang="en-US" dirty="0" err="1"/>
              <a:t>hàm</a:t>
            </a:r>
            <a:r>
              <a:rPr lang="en-US" dirty="0"/>
              <a:t> </a:t>
            </a:r>
            <a:r>
              <a:rPr lang="en-US" dirty="0" err="1"/>
              <a:t>chuyển</a:t>
            </a:r>
            <a:r>
              <a:rPr lang="en-US" dirty="0"/>
              <a:t> </a:t>
            </a:r>
            <a:r>
              <a:rPr lang="en-US" dirty="0" err="1"/>
              <a:t>trạng</a:t>
            </a:r>
            <a:r>
              <a:rPr lang="en-US" dirty="0"/>
              <a:t> </a:t>
            </a:r>
            <a:r>
              <a:rPr lang="en-US" dirty="0" err="1"/>
              <a:t>thái</a:t>
            </a:r>
            <a:r>
              <a:rPr lang="en-US" dirty="0"/>
              <a:t> </a:t>
            </a:r>
            <a:r>
              <a:rPr lang="en-US" dirty="0" err="1"/>
              <a:t>của</a:t>
            </a:r>
            <a:r>
              <a:rPr lang="en-US" dirty="0"/>
              <a:t> </a:t>
            </a:r>
            <a:r>
              <a:rPr lang="en-US" dirty="0" err="1"/>
              <a:t>nó</a:t>
            </a:r>
            <a:r>
              <a:rPr lang="en-US" dirty="0"/>
              <a:t>, </a:t>
            </a:r>
            <a:r>
              <a:rPr lang="en-US" dirty="0" err="1"/>
              <a:t>có</a:t>
            </a:r>
            <a:r>
              <a:rPr lang="en-US" dirty="0"/>
              <a:t> </a:t>
            </a:r>
            <a:r>
              <a:rPr lang="en-US" dirty="0" err="1"/>
              <a:t>thể</a:t>
            </a:r>
            <a:r>
              <a:rPr lang="en-US" dirty="0"/>
              <a:t> </a:t>
            </a:r>
            <a:r>
              <a:rPr lang="en-US" dirty="0" err="1"/>
              <a:t>cho</a:t>
            </a:r>
            <a:r>
              <a:rPr lang="en-US" dirty="0"/>
              <a:t> </a:t>
            </a:r>
            <a:r>
              <a:rPr lang="en-US" dirty="0" err="1"/>
              <a:t>dưới</a:t>
            </a:r>
            <a:r>
              <a:rPr lang="en-US" dirty="0"/>
              <a:t> </a:t>
            </a:r>
            <a:r>
              <a:rPr lang="en-US" dirty="0" err="1"/>
              <a:t>dạng</a:t>
            </a:r>
            <a:r>
              <a:rPr lang="en-US" dirty="0"/>
              <a:t> </a:t>
            </a:r>
            <a:r>
              <a:rPr lang="en-US" dirty="0" err="1"/>
              <a:t>bảng</a:t>
            </a:r>
            <a:r>
              <a:rPr lang="en-US" dirty="0"/>
              <a:t> </a:t>
            </a:r>
            <a:r>
              <a:rPr lang="en-US" dirty="0" err="1"/>
              <a:t>chuyển</a:t>
            </a:r>
            <a:r>
              <a:rPr lang="en-US" dirty="0"/>
              <a:t> </a:t>
            </a:r>
            <a:r>
              <a:rPr lang="en-US" dirty="0" err="1"/>
              <a:t>hoặc</a:t>
            </a:r>
            <a:r>
              <a:rPr lang="en-US" dirty="0"/>
              <a:t> </a:t>
            </a:r>
            <a:r>
              <a:rPr lang="en-US" dirty="0" err="1"/>
              <a:t>cho</a:t>
            </a:r>
            <a:r>
              <a:rPr lang="en-US" dirty="0"/>
              <a:t> </a:t>
            </a:r>
            <a:r>
              <a:rPr lang="en-US" dirty="0" err="1"/>
              <a:t>dưới</a:t>
            </a:r>
            <a:r>
              <a:rPr lang="en-US" dirty="0"/>
              <a:t> </a:t>
            </a:r>
            <a:r>
              <a:rPr lang="en-US" dirty="0" err="1"/>
              <a:t>dạng</a:t>
            </a:r>
            <a:r>
              <a:rPr lang="en-US" dirty="0"/>
              <a:t> </a:t>
            </a:r>
            <a:r>
              <a:rPr lang="en-US" dirty="0" err="1"/>
              <a:t>đồ</a:t>
            </a:r>
            <a:r>
              <a:rPr lang="en-US" dirty="0"/>
              <a:t> </a:t>
            </a:r>
            <a:r>
              <a:rPr lang="en-US" dirty="0" err="1"/>
              <a:t>thị</a:t>
            </a:r>
            <a:r>
              <a:rPr lang="en-US" dirty="0"/>
              <a:t> </a:t>
            </a:r>
            <a:r>
              <a:rPr lang="en-US" dirty="0" err="1"/>
              <a:t>chuyển</a:t>
            </a:r>
            <a:r>
              <a:rPr lang="en-US" dirty="0"/>
              <a:t>. </a:t>
            </a:r>
          </a:p>
          <a:p>
            <a:pPr>
              <a:lnSpc>
                <a:spcPct val="150000"/>
              </a:lnSpc>
            </a:pPr>
            <a:r>
              <a:rPr lang="en-US" b="1" i="1" dirty="0"/>
              <a:t>Cho </a:t>
            </a:r>
            <a:r>
              <a:rPr lang="en-US" b="1" i="1" dirty="0" err="1"/>
              <a:t>otomat</a:t>
            </a:r>
            <a:r>
              <a:rPr lang="en-US" b="1" i="1" dirty="0"/>
              <a:t> </a:t>
            </a:r>
            <a:r>
              <a:rPr lang="en-US" b="1" i="1" dirty="0" err="1"/>
              <a:t>bằng</a:t>
            </a:r>
            <a:r>
              <a:rPr lang="en-US" b="1" i="1" dirty="0"/>
              <a:t> </a:t>
            </a:r>
            <a:r>
              <a:rPr lang="en-US" b="1" i="1" dirty="0" err="1"/>
              <a:t>bảng</a:t>
            </a:r>
            <a:r>
              <a:rPr lang="en-US" b="1" i="1" dirty="0"/>
              <a:t> </a:t>
            </a:r>
            <a:r>
              <a:rPr lang="en-US" b="1" i="1" dirty="0" err="1"/>
              <a:t>chuyển</a:t>
            </a:r>
            <a:r>
              <a:rPr lang="en-US" i="1" dirty="0"/>
              <a:t> </a:t>
            </a:r>
            <a:endParaRPr lang="en-US" b="1" i="1" dirty="0"/>
          </a:p>
          <a:p>
            <a:pPr>
              <a:lnSpc>
                <a:spcPct val="150000"/>
              </a:lnSpc>
            </a:pPr>
            <a:endParaRPr lang="en-US" dirty="0"/>
          </a:p>
        </p:txBody>
      </p:sp>
      <p:pic>
        <p:nvPicPr>
          <p:cNvPr id="5" name="Picture 4"/>
          <p:cNvPicPr>
            <a:picLocks noChangeAspect="1"/>
          </p:cNvPicPr>
          <p:nvPr/>
        </p:nvPicPr>
        <p:blipFill>
          <a:blip r:embed="rId2"/>
          <a:stretch>
            <a:fillRect/>
          </a:stretch>
        </p:blipFill>
        <p:spPr>
          <a:xfrm>
            <a:off x="2899683" y="3258229"/>
            <a:ext cx="8134350" cy="3476625"/>
          </a:xfrm>
          <a:prstGeom prst="rect">
            <a:avLst/>
          </a:prstGeom>
        </p:spPr>
      </p:pic>
    </p:spTree>
    <p:extLst>
      <p:ext uri="{BB962C8B-B14F-4D97-AF65-F5344CB8AC3E}">
        <p14:creationId xmlns:p14="http://schemas.microsoft.com/office/powerpoint/2010/main" val="2515275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err="1"/>
              <a:t>V</a:t>
            </a:r>
            <a:r>
              <a:rPr lang="en-US" b="1" i="1" dirty="0" err="1" smtClean="0"/>
              <a:t>í</a:t>
            </a:r>
            <a:r>
              <a:rPr lang="en-US" b="1" i="1" dirty="0" smtClean="0"/>
              <a:t> </a:t>
            </a:r>
            <a:r>
              <a:rPr lang="en-US" b="1" i="1" dirty="0" err="1"/>
              <a:t>dụ</a:t>
            </a:r>
            <a:r>
              <a:rPr lang="en-US" b="1" i="1" dirty="0"/>
              <a:t> 1.1</a:t>
            </a:r>
            <a:r>
              <a:rPr lang="en-US" b="1" dirty="0"/>
              <a:t> </a:t>
            </a:r>
            <a:r>
              <a:rPr lang="en-US" dirty="0"/>
              <a:t> Cho </a:t>
            </a:r>
            <a:r>
              <a:rPr lang="en-US" dirty="0" err="1" smtClean="0"/>
              <a:t>otomat</a:t>
            </a:r>
            <a:r>
              <a:rPr lang="en-US" dirty="0" smtClean="0"/>
              <a:t> </a:t>
            </a:r>
            <a:r>
              <a:rPr lang="en-US" dirty="0" err="1"/>
              <a:t>hữu</a:t>
            </a:r>
            <a:r>
              <a:rPr lang="en-US" dirty="0"/>
              <a:t> </a:t>
            </a:r>
            <a:r>
              <a:rPr lang="en-US" dirty="0" err="1"/>
              <a:t>hạn</a:t>
            </a:r>
            <a:r>
              <a:rPr lang="en-US" dirty="0"/>
              <a:t> </a:t>
            </a:r>
            <a:r>
              <a:rPr lang="en-US" dirty="0" err="1"/>
              <a:t>đơn</a:t>
            </a:r>
            <a:r>
              <a:rPr lang="en-US" dirty="0"/>
              <a:t> </a:t>
            </a:r>
            <a:r>
              <a:rPr lang="en-US" dirty="0" err="1"/>
              <a:t>định</a:t>
            </a:r>
            <a:r>
              <a:rPr lang="en-US" dirty="0"/>
              <a:t>: </a:t>
            </a:r>
          </a:p>
        </p:txBody>
      </p:sp>
      <p:sp>
        <p:nvSpPr>
          <p:cNvPr id="3" name="Content Placeholder 2"/>
          <p:cNvSpPr>
            <a:spLocks noGrp="1"/>
          </p:cNvSpPr>
          <p:nvPr>
            <p:ph idx="1"/>
          </p:nvPr>
        </p:nvSpPr>
        <p:spPr/>
        <p:txBody>
          <a:bodyPr/>
          <a:lstStyle/>
          <a:p>
            <a:r>
              <a:rPr lang="en-US" dirty="0"/>
              <a:t>A</a:t>
            </a:r>
            <a:r>
              <a:rPr lang="en-US" baseline="-25000" dirty="0"/>
              <a:t>1</a:t>
            </a:r>
            <a:r>
              <a:rPr lang="en-US" dirty="0"/>
              <a:t> = &lt;{q</a:t>
            </a:r>
            <a:r>
              <a:rPr lang="en-US" baseline="-25000" dirty="0"/>
              <a:t>0</a:t>
            </a:r>
            <a:r>
              <a:rPr lang="en-US" dirty="0"/>
              <a:t>, q</a:t>
            </a:r>
            <a:r>
              <a:rPr lang="en-US" baseline="-25000" dirty="0"/>
              <a:t>1</a:t>
            </a:r>
            <a:r>
              <a:rPr lang="en-US" dirty="0"/>
              <a:t>, q</a:t>
            </a:r>
            <a:r>
              <a:rPr lang="en-US" baseline="-25000" dirty="0"/>
              <a:t>2</a:t>
            </a:r>
            <a:r>
              <a:rPr lang="en-US" dirty="0"/>
              <a:t>}, {a, b}, δ, q</a:t>
            </a:r>
            <a:r>
              <a:rPr lang="en-US" baseline="-25000" dirty="0"/>
              <a:t>0</a:t>
            </a:r>
            <a:r>
              <a:rPr lang="en-US" dirty="0"/>
              <a:t>, {q</a:t>
            </a:r>
            <a:r>
              <a:rPr lang="en-US" baseline="-25000" dirty="0"/>
              <a:t>2</a:t>
            </a:r>
            <a:r>
              <a:rPr lang="en-US" dirty="0"/>
              <a:t>}&gt;, </a:t>
            </a:r>
          </a:p>
          <a:p>
            <a:r>
              <a:rPr lang="en-US" dirty="0" err="1"/>
              <a:t>Với</a:t>
            </a:r>
            <a:r>
              <a:rPr lang="en-US" dirty="0"/>
              <a:t> δ(q</a:t>
            </a:r>
            <a:r>
              <a:rPr lang="en-US" baseline="-25000" dirty="0"/>
              <a:t>0</a:t>
            </a:r>
            <a:r>
              <a:rPr lang="en-US" dirty="0"/>
              <a:t>, a) = q</a:t>
            </a:r>
            <a:r>
              <a:rPr lang="en-US" baseline="-25000" dirty="0"/>
              <a:t>0</a:t>
            </a:r>
            <a:r>
              <a:rPr lang="en-US" dirty="0"/>
              <a:t>, δ(q</a:t>
            </a:r>
            <a:r>
              <a:rPr lang="en-US" baseline="-25000" dirty="0"/>
              <a:t>0</a:t>
            </a:r>
            <a:r>
              <a:rPr lang="en-US" dirty="0"/>
              <a:t>, b) = q</a:t>
            </a:r>
            <a:r>
              <a:rPr lang="en-US" baseline="-25000" dirty="0"/>
              <a:t>1, </a:t>
            </a:r>
            <a:r>
              <a:rPr lang="en-US" dirty="0"/>
              <a:t>δ(q</a:t>
            </a:r>
            <a:r>
              <a:rPr lang="en-US" baseline="-25000" dirty="0"/>
              <a:t>1</a:t>
            </a:r>
            <a:r>
              <a:rPr lang="en-US" dirty="0"/>
              <a:t>, a) = q</a:t>
            </a:r>
            <a:r>
              <a:rPr lang="en-US" baseline="-25000" dirty="0"/>
              <a:t>0</a:t>
            </a:r>
            <a:r>
              <a:rPr lang="en-US" dirty="0"/>
              <a:t>, δ(q</a:t>
            </a:r>
            <a:r>
              <a:rPr lang="en-US" baseline="-25000" dirty="0"/>
              <a:t>1</a:t>
            </a:r>
            <a:r>
              <a:rPr lang="en-US" dirty="0"/>
              <a:t>, b) = q</a:t>
            </a:r>
            <a:r>
              <a:rPr lang="en-US" baseline="-25000" dirty="0"/>
              <a:t>2</a:t>
            </a:r>
            <a:r>
              <a:rPr lang="en-US" dirty="0"/>
              <a:t>, δ(q</a:t>
            </a:r>
            <a:r>
              <a:rPr lang="en-US" baseline="-25000" dirty="0"/>
              <a:t>2</a:t>
            </a:r>
            <a:r>
              <a:rPr lang="en-US" dirty="0"/>
              <a:t>, a) = q</a:t>
            </a:r>
            <a:r>
              <a:rPr lang="en-US" baseline="-25000" dirty="0"/>
              <a:t>2</a:t>
            </a:r>
            <a:r>
              <a:rPr lang="en-US" dirty="0"/>
              <a:t>, δ(q</a:t>
            </a:r>
            <a:r>
              <a:rPr lang="en-US" baseline="-25000" dirty="0"/>
              <a:t>2</a:t>
            </a:r>
            <a:r>
              <a:rPr lang="en-US" dirty="0"/>
              <a:t>, b) = q</a:t>
            </a:r>
            <a:r>
              <a:rPr lang="en-US" baseline="-25000" dirty="0"/>
              <a:t>2</a:t>
            </a:r>
            <a:r>
              <a:rPr lang="en-US" dirty="0"/>
              <a:t>. </a:t>
            </a:r>
          </a:p>
          <a:p>
            <a:r>
              <a:rPr lang="en-US" dirty="0"/>
              <a:t>Ta </a:t>
            </a:r>
            <a:r>
              <a:rPr lang="en-US" dirty="0" err="1"/>
              <a:t>có</a:t>
            </a:r>
            <a:r>
              <a:rPr lang="en-US" dirty="0"/>
              <a:t> </a:t>
            </a:r>
            <a:r>
              <a:rPr lang="en-US" dirty="0" err="1"/>
              <a:t>bảng</a:t>
            </a:r>
            <a:r>
              <a:rPr lang="en-US" dirty="0"/>
              <a:t> </a:t>
            </a:r>
            <a:r>
              <a:rPr lang="en-US" dirty="0" err="1"/>
              <a:t>chuyển</a:t>
            </a:r>
            <a:r>
              <a:rPr lang="en-US" dirty="0"/>
              <a:t> </a:t>
            </a:r>
            <a:r>
              <a:rPr lang="en-US" dirty="0" err="1"/>
              <a:t>trạng</a:t>
            </a:r>
            <a:r>
              <a:rPr lang="en-US" dirty="0"/>
              <a:t> </a:t>
            </a:r>
            <a:r>
              <a:rPr lang="en-US" dirty="0" err="1"/>
              <a:t>thái</a:t>
            </a:r>
            <a:r>
              <a:rPr lang="en-US" dirty="0"/>
              <a:t> </a:t>
            </a:r>
            <a:r>
              <a:rPr lang="en-US" dirty="0" err="1"/>
              <a:t>và</a:t>
            </a:r>
            <a:r>
              <a:rPr lang="en-US" dirty="0"/>
              <a:t> </a:t>
            </a:r>
            <a:r>
              <a:rPr lang="en-US" dirty="0" err="1"/>
              <a:t>đồ</a:t>
            </a:r>
            <a:r>
              <a:rPr lang="en-US" dirty="0"/>
              <a:t> </a:t>
            </a:r>
            <a:r>
              <a:rPr lang="en-US" dirty="0" err="1"/>
              <a:t>thị</a:t>
            </a:r>
            <a:r>
              <a:rPr lang="en-US" dirty="0"/>
              <a:t> </a:t>
            </a:r>
            <a:r>
              <a:rPr lang="en-US" dirty="0" err="1"/>
              <a:t>chuyển</a:t>
            </a:r>
            <a:r>
              <a:rPr lang="en-US" dirty="0"/>
              <a:t> </a:t>
            </a:r>
            <a:r>
              <a:rPr lang="en-US" dirty="0" err="1"/>
              <a:t>trạng</a:t>
            </a:r>
            <a:r>
              <a:rPr lang="en-US" dirty="0"/>
              <a:t> </a:t>
            </a:r>
            <a:r>
              <a:rPr lang="en-US" dirty="0" err="1"/>
              <a:t>thái</a:t>
            </a:r>
            <a:r>
              <a:rPr lang="en-US" dirty="0"/>
              <a:t> </a:t>
            </a:r>
            <a:r>
              <a:rPr lang="en-US" dirty="0" err="1"/>
              <a:t>của</a:t>
            </a:r>
            <a:r>
              <a:rPr lang="en-US" dirty="0"/>
              <a:t> </a:t>
            </a:r>
            <a:r>
              <a:rPr lang="en-US" dirty="0" err="1"/>
              <a:t>otomat</a:t>
            </a:r>
            <a:r>
              <a:rPr lang="en-US" dirty="0"/>
              <a:t> A</a:t>
            </a:r>
            <a:r>
              <a:rPr lang="en-US" baseline="-25000" dirty="0"/>
              <a:t>1 </a:t>
            </a:r>
            <a:r>
              <a:rPr lang="en-US" dirty="0"/>
              <a:t> </a:t>
            </a:r>
            <a:r>
              <a:rPr lang="en-US" dirty="0" err="1"/>
              <a:t>như</a:t>
            </a:r>
            <a:r>
              <a:rPr lang="en-US" dirty="0"/>
              <a:t> </a:t>
            </a:r>
            <a:r>
              <a:rPr lang="en-US" dirty="0" err="1"/>
              <a:t>sau</a:t>
            </a:r>
            <a:r>
              <a:rPr lang="en-US" dirty="0"/>
              <a:t>: </a:t>
            </a:r>
          </a:p>
          <a:p>
            <a:endParaRPr lang="en-US" dirty="0"/>
          </a:p>
        </p:txBody>
      </p:sp>
      <p:pic>
        <p:nvPicPr>
          <p:cNvPr id="9" name="Picture 8"/>
          <p:cNvPicPr/>
          <p:nvPr/>
        </p:nvPicPr>
        <p:blipFill>
          <a:blip r:embed="rId2"/>
          <a:stretch>
            <a:fillRect/>
          </a:stretch>
        </p:blipFill>
        <p:spPr>
          <a:xfrm>
            <a:off x="3066799" y="4171906"/>
            <a:ext cx="3514475" cy="1739316"/>
          </a:xfrm>
          <a:prstGeom prst="rect">
            <a:avLst/>
          </a:prstGeom>
        </p:spPr>
      </p:pic>
      <p:pic>
        <p:nvPicPr>
          <p:cNvPr id="10" name="Picture 9"/>
          <p:cNvPicPr/>
          <p:nvPr/>
        </p:nvPicPr>
        <p:blipFill>
          <a:blip r:embed="rId3"/>
          <a:stretch>
            <a:fillRect/>
          </a:stretch>
        </p:blipFill>
        <p:spPr>
          <a:xfrm>
            <a:off x="6870032" y="4171906"/>
            <a:ext cx="3922294" cy="1555126"/>
          </a:xfrm>
          <a:prstGeom prst="rect">
            <a:avLst/>
          </a:prstGeom>
        </p:spPr>
      </p:pic>
    </p:spTree>
    <p:extLst>
      <p:ext uri="{BB962C8B-B14F-4D97-AF65-F5344CB8AC3E}">
        <p14:creationId xmlns:p14="http://schemas.microsoft.com/office/powerpoint/2010/main" val="30975877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dirty="0" err="1"/>
              <a:t>Quá</a:t>
            </a:r>
            <a:r>
              <a:rPr lang="en-US" i="1" dirty="0"/>
              <a:t> </a:t>
            </a:r>
            <a:r>
              <a:rPr lang="en-US" i="1" dirty="0" err="1"/>
              <a:t>trình</a:t>
            </a:r>
            <a:r>
              <a:rPr lang="en-US" i="1" dirty="0"/>
              <a:t> </a:t>
            </a:r>
            <a:r>
              <a:rPr lang="en-US" i="1" dirty="0" err="1"/>
              <a:t>đoán</a:t>
            </a:r>
            <a:r>
              <a:rPr lang="en-US" i="1" dirty="0"/>
              <a:t> </a:t>
            </a:r>
            <a:r>
              <a:rPr lang="en-US" i="1" dirty="0" err="1"/>
              <a:t>nhận</a:t>
            </a:r>
            <a:r>
              <a:rPr lang="en-US" i="1" dirty="0"/>
              <a:t> </a:t>
            </a:r>
            <a:r>
              <a:rPr lang="en-US" i="1" dirty="0" err="1"/>
              <a:t>xâu</a:t>
            </a:r>
            <a:r>
              <a:rPr lang="en-US" i="1" dirty="0"/>
              <a:t> </a:t>
            </a:r>
            <a:r>
              <a:rPr lang="en-US" dirty="0"/>
              <a:t>α</a:t>
            </a:r>
            <a:r>
              <a:rPr lang="en-US" i="1" dirty="0"/>
              <a:t> = </a:t>
            </a:r>
            <a:r>
              <a:rPr lang="en-US" i="1" dirty="0" err="1"/>
              <a:t>ababbab</a:t>
            </a:r>
            <a:r>
              <a:rPr lang="en-US" i="1" dirty="0"/>
              <a:t> </a:t>
            </a:r>
            <a:r>
              <a:rPr lang="en-US" i="1" dirty="0" err="1"/>
              <a:t>của</a:t>
            </a:r>
            <a:r>
              <a:rPr lang="en-US" i="1" dirty="0"/>
              <a:t> A</a:t>
            </a:r>
            <a:r>
              <a:rPr lang="en-US" i="1" baseline="-25000" dirty="0"/>
              <a:t>1 </a:t>
            </a:r>
            <a:endParaRPr lang="en-US" dirty="0"/>
          </a:p>
        </p:txBody>
      </p:sp>
      <p:pic>
        <p:nvPicPr>
          <p:cNvPr id="4" name="Picture 3"/>
          <p:cNvPicPr/>
          <p:nvPr/>
        </p:nvPicPr>
        <p:blipFill>
          <a:blip r:embed="rId2"/>
          <a:stretch>
            <a:fillRect/>
          </a:stretch>
        </p:blipFill>
        <p:spPr>
          <a:xfrm>
            <a:off x="3104147" y="2322095"/>
            <a:ext cx="5895474" cy="1985210"/>
          </a:xfrm>
          <a:prstGeom prst="rect">
            <a:avLst/>
          </a:prstGeom>
        </p:spPr>
      </p:pic>
    </p:spTree>
    <p:extLst>
      <p:ext uri="{BB962C8B-B14F-4D97-AF65-F5344CB8AC3E}">
        <p14:creationId xmlns:p14="http://schemas.microsoft.com/office/powerpoint/2010/main" val="210487845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Ví</a:t>
            </a:r>
            <a:r>
              <a:rPr lang="en-US" dirty="0" smtClean="0"/>
              <a:t> </a:t>
            </a:r>
            <a:r>
              <a:rPr lang="en-US" dirty="0" err="1" smtClean="0"/>
              <a:t>dụ</a:t>
            </a:r>
            <a:r>
              <a:rPr lang="en-US" dirty="0" smtClean="0"/>
              <a:t> 2:</a:t>
            </a:r>
            <a:endParaRPr lang="en-US" dirty="0"/>
          </a:p>
        </p:txBody>
      </p:sp>
      <p:sp>
        <p:nvSpPr>
          <p:cNvPr id="3" name="Content Placeholder 2"/>
          <p:cNvSpPr>
            <a:spLocks noGrp="1"/>
          </p:cNvSpPr>
          <p:nvPr>
            <p:ph idx="1"/>
          </p:nvPr>
        </p:nvSpPr>
        <p:spPr>
          <a:xfrm>
            <a:off x="2589212" y="1628273"/>
            <a:ext cx="8915400" cy="3777622"/>
          </a:xfrm>
        </p:spPr>
        <p:txBody>
          <a:bodyPr/>
          <a:lstStyle/>
          <a:p>
            <a:pPr>
              <a:lnSpc>
                <a:spcPct val="150000"/>
              </a:lnSpc>
            </a:pPr>
            <a:r>
              <a:rPr lang="en-US" dirty="0"/>
              <a:t>A</a:t>
            </a:r>
            <a:r>
              <a:rPr lang="en-US" baseline="-25000" dirty="0"/>
              <a:t>2</a:t>
            </a:r>
            <a:r>
              <a:rPr lang="en-US" dirty="0"/>
              <a:t> = &lt;{q</a:t>
            </a:r>
            <a:r>
              <a:rPr lang="en-US" baseline="-25000" dirty="0"/>
              <a:t>0</a:t>
            </a:r>
            <a:r>
              <a:rPr lang="en-US" dirty="0"/>
              <a:t>, q</a:t>
            </a:r>
            <a:r>
              <a:rPr lang="en-US" baseline="-25000" dirty="0"/>
              <a:t>1</a:t>
            </a:r>
            <a:r>
              <a:rPr lang="en-US" dirty="0"/>
              <a:t>, q</a:t>
            </a:r>
            <a:r>
              <a:rPr lang="en-US" baseline="-25000" dirty="0"/>
              <a:t>2</a:t>
            </a:r>
            <a:r>
              <a:rPr lang="en-US" dirty="0"/>
              <a:t>, q</a:t>
            </a:r>
            <a:r>
              <a:rPr lang="en-US" baseline="-25000" dirty="0"/>
              <a:t>3</a:t>
            </a:r>
            <a:r>
              <a:rPr lang="en-US" dirty="0"/>
              <a:t>}, {0, 1}, δ, q</a:t>
            </a:r>
            <a:r>
              <a:rPr lang="en-US" baseline="-25000" dirty="0"/>
              <a:t>0</a:t>
            </a:r>
            <a:r>
              <a:rPr lang="en-US" dirty="0"/>
              <a:t>, {q</a:t>
            </a:r>
            <a:r>
              <a:rPr lang="en-US" baseline="-25000" dirty="0"/>
              <a:t>0</a:t>
            </a:r>
            <a:r>
              <a:rPr lang="en-US" dirty="0"/>
              <a:t>}&gt;,  </a:t>
            </a:r>
          </a:p>
          <a:p>
            <a:pPr>
              <a:lnSpc>
                <a:spcPct val="150000"/>
              </a:lnSpc>
            </a:pPr>
            <a:r>
              <a:rPr lang="en-US" dirty="0" err="1"/>
              <a:t>trong</a:t>
            </a:r>
            <a:r>
              <a:rPr lang="en-US" dirty="0"/>
              <a:t> </a:t>
            </a:r>
            <a:r>
              <a:rPr lang="en-US" dirty="0" err="1"/>
              <a:t>đó</a:t>
            </a:r>
            <a:r>
              <a:rPr lang="en-US" dirty="0"/>
              <a:t> δ(q</a:t>
            </a:r>
            <a:r>
              <a:rPr lang="en-US" baseline="-25000" dirty="0"/>
              <a:t>0</a:t>
            </a:r>
            <a:r>
              <a:rPr lang="en-US" dirty="0"/>
              <a:t>, 0) = q</a:t>
            </a:r>
            <a:r>
              <a:rPr lang="en-US" baseline="-25000" dirty="0"/>
              <a:t>2</a:t>
            </a:r>
            <a:r>
              <a:rPr lang="en-US" dirty="0"/>
              <a:t>, δ(q</a:t>
            </a:r>
            <a:r>
              <a:rPr lang="en-US" baseline="-25000" dirty="0"/>
              <a:t>0</a:t>
            </a:r>
            <a:r>
              <a:rPr lang="en-US" dirty="0"/>
              <a:t>, 1) = q</a:t>
            </a:r>
            <a:r>
              <a:rPr lang="en-US" baseline="-25000" dirty="0"/>
              <a:t>1</a:t>
            </a:r>
            <a:r>
              <a:rPr lang="en-US" dirty="0"/>
              <a:t>, δ(q</a:t>
            </a:r>
            <a:r>
              <a:rPr lang="en-US" baseline="-25000" dirty="0"/>
              <a:t>1</a:t>
            </a:r>
            <a:r>
              <a:rPr lang="en-US" dirty="0"/>
              <a:t>, 0) = q</a:t>
            </a:r>
            <a:r>
              <a:rPr lang="en-US" baseline="-25000" dirty="0"/>
              <a:t>3</a:t>
            </a:r>
            <a:r>
              <a:rPr lang="en-US" dirty="0"/>
              <a:t>, δ(q</a:t>
            </a:r>
            <a:r>
              <a:rPr lang="en-US" baseline="-25000" dirty="0"/>
              <a:t>1</a:t>
            </a:r>
            <a:r>
              <a:rPr lang="en-US" dirty="0"/>
              <a:t>, 1) = q</a:t>
            </a:r>
            <a:r>
              <a:rPr lang="en-US" baseline="-25000" dirty="0"/>
              <a:t>0</a:t>
            </a:r>
            <a:r>
              <a:rPr lang="en-US" dirty="0"/>
              <a:t>, δ(q</a:t>
            </a:r>
            <a:r>
              <a:rPr lang="en-US" baseline="-25000" dirty="0"/>
              <a:t>2</a:t>
            </a:r>
            <a:r>
              <a:rPr lang="en-US" dirty="0"/>
              <a:t>, 0) = q</a:t>
            </a:r>
            <a:r>
              <a:rPr lang="en-US" baseline="-25000" dirty="0"/>
              <a:t>0</a:t>
            </a:r>
            <a:r>
              <a:rPr lang="en-US" dirty="0"/>
              <a:t>, δ(q</a:t>
            </a:r>
            <a:r>
              <a:rPr lang="en-US" baseline="-25000" dirty="0"/>
              <a:t>2</a:t>
            </a:r>
            <a:r>
              <a:rPr lang="en-US" dirty="0"/>
              <a:t>, 1) = q</a:t>
            </a:r>
            <a:r>
              <a:rPr lang="en-US" baseline="-25000" dirty="0"/>
              <a:t>3</a:t>
            </a:r>
            <a:r>
              <a:rPr lang="en-US" dirty="0"/>
              <a:t>, δ(q</a:t>
            </a:r>
            <a:r>
              <a:rPr lang="en-US" baseline="-25000" dirty="0"/>
              <a:t>3</a:t>
            </a:r>
            <a:r>
              <a:rPr lang="en-US" dirty="0"/>
              <a:t>, 0) = q</a:t>
            </a:r>
            <a:r>
              <a:rPr lang="en-US" baseline="-25000" dirty="0"/>
              <a:t>1</a:t>
            </a:r>
            <a:r>
              <a:rPr lang="en-US" dirty="0"/>
              <a:t>, δ(q</a:t>
            </a:r>
            <a:r>
              <a:rPr lang="en-US" baseline="-25000" dirty="0"/>
              <a:t>3</a:t>
            </a:r>
            <a:r>
              <a:rPr lang="en-US" dirty="0"/>
              <a:t>, 1) = q</a:t>
            </a:r>
            <a:r>
              <a:rPr lang="en-US" baseline="-25000" dirty="0"/>
              <a:t>2</a:t>
            </a:r>
            <a:r>
              <a:rPr lang="en-US" dirty="0"/>
              <a:t>.  </a:t>
            </a:r>
          </a:p>
          <a:p>
            <a:pPr>
              <a:lnSpc>
                <a:spcPct val="150000"/>
              </a:lnSpc>
            </a:pPr>
            <a:r>
              <a:rPr lang="en-US" dirty="0"/>
              <a:t>Ta </a:t>
            </a:r>
            <a:r>
              <a:rPr lang="en-US" dirty="0" err="1"/>
              <a:t>có</a:t>
            </a:r>
            <a:r>
              <a:rPr lang="en-US" dirty="0"/>
              <a:t> </a:t>
            </a:r>
            <a:r>
              <a:rPr lang="en-US" dirty="0" err="1"/>
              <a:t>bảng</a:t>
            </a:r>
            <a:r>
              <a:rPr lang="en-US" dirty="0"/>
              <a:t> </a:t>
            </a:r>
            <a:r>
              <a:rPr lang="en-US" dirty="0" err="1"/>
              <a:t>chuyển</a:t>
            </a:r>
            <a:r>
              <a:rPr lang="en-US" dirty="0"/>
              <a:t> </a:t>
            </a:r>
            <a:r>
              <a:rPr lang="en-US" dirty="0" err="1"/>
              <a:t>trạng</a:t>
            </a:r>
            <a:r>
              <a:rPr lang="en-US" dirty="0"/>
              <a:t> </a:t>
            </a:r>
            <a:r>
              <a:rPr lang="en-US" dirty="0" err="1"/>
              <a:t>thái</a:t>
            </a:r>
            <a:r>
              <a:rPr lang="en-US" dirty="0"/>
              <a:t> </a:t>
            </a:r>
            <a:r>
              <a:rPr lang="en-US" dirty="0" err="1"/>
              <a:t>và</a:t>
            </a:r>
            <a:r>
              <a:rPr lang="en-US" dirty="0"/>
              <a:t> </a:t>
            </a:r>
            <a:r>
              <a:rPr lang="en-US" dirty="0" err="1"/>
              <a:t>đồ</a:t>
            </a:r>
            <a:r>
              <a:rPr lang="en-US" dirty="0"/>
              <a:t> </a:t>
            </a:r>
            <a:r>
              <a:rPr lang="en-US" dirty="0" err="1"/>
              <a:t>thị</a:t>
            </a:r>
            <a:r>
              <a:rPr lang="en-US" dirty="0"/>
              <a:t> </a:t>
            </a:r>
            <a:r>
              <a:rPr lang="en-US" dirty="0" err="1"/>
              <a:t>chuyển</a:t>
            </a:r>
            <a:r>
              <a:rPr lang="en-US" dirty="0"/>
              <a:t> </a:t>
            </a:r>
            <a:r>
              <a:rPr lang="en-US" dirty="0" err="1"/>
              <a:t>trạng</a:t>
            </a:r>
            <a:r>
              <a:rPr lang="en-US" dirty="0"/>
              <a:t> </a:t>
            </a:r>
            <a:r>
              <a:rPr lang="en-US" dirty="0" err="1"/>
              <a:t>thái</a:t>
            </a:r>
            <a:r>
              <a:rPr lang="en-US" dirty="0"/>
              <a:t> </a:t>
            </a:r>
            <a:r>
              <a:rPr lang="en-US" dirty="0" err="1"/>
              <a:t>của</a:t>
            </a:r>
            <a:r>
              <a:rPr lang="en-US" dirty="0"/>
              <a:t> </a:t>
            </a:r>
            <a:r>
              <a:rPr lang="en-US" dirty="0" err="1"/>
              <a:t>otomat</a:t>
            </a:r>
            <a:r>
              <a:rPr lang="en-US" dirty="0"/>
              <a:t> A</a:t>
            </a:r>
            <a:r>
              <a:rPr lang="en-US" baseline="-25000" dirty="0"/>
              <a:t>2</a:t>
            </a:r>
            <a:endParaRPr lang="en-US" dirty="0"/>
          </a:p>
        </p:txBody>
      </p:sp>
      <p:pic>
        <p:nvPicPr>
          <p:cNvPr id="4" name="Picture 3"/>
          <p:cNvPicPr/>
          <p:nvPr/>
        </p:nvPicPr>
        <p:blipFill>
          <a:blip r:embed="rId2"/>
          <a:stretch>
            <a:fillRect/>
          </a:stretch>
        </p:blipFill>
        <p:spPr>
          <a:xfrm>
            <a:off x="3090861" y="3787899"/>
            <a:ext cx="4019801" cy="2351923"/>
          </a:xfrm>
          <a:prstGeom prst="rect">
            <a:avLst/>
          </a:prstGeom>
        </p:spPr>
      </p:pic>
      <p:pic>
        <p:nvPicPr>
          <p:cNvPr id="5" name="Picture 4"/>
          <p:cNvPicPr/>
          <p:nvPr/>
        </p:nvPicPr>
        <p:blipFill>
          <a:blip r:embed="rId3"/>
          <a:stretch>
            <a:fillRect/>
          </a:stretch>
        </p:blipFill>
        <p:spPr>
          <a:xfrm>
            <a:off x="7640053" y="3882940"/>
            <a:ext cx="3161547" cy="2256882"/>
          </a:xfrm>
          <a:prstGeom prst="rect">
            <a:avLst/>
          </a:prstGeom>
        </p:spPr>
      </p:pic>
    </p:spTree>
    <p:extLst>
      <p:ext uri="{BB962C8B-B14F-4D97-AF65-F5344CB8AC3E}">
        <p14:creationId xmlns:p14="http://schemas.microsoft.com/office/powerpoint/2010/main" val="2652866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err="1"/>
              <a:t>Dãy</a:t>
            </a:r>
            <a:r>
              <a:rPr lang="en-US" dirty="0"/>
              <a:t> </a:t>
            </a:r>
            <a:r>
              <a:rPr lang="en-US" dirty="0" err="1"/>
              <a:t>trạng</a:t>
            </a:r>
            <a:r>
              <a:rPr lang="en-US" dirty="0"/>
              <a:t> </a:t>
            </a:r>
            <a:r>
              <a:rPr lang="en-US" dirty="0" err="1"/>
              <a:t>thái</a:t>
            </a:r>
            <a:r>
              <a:rPr lang="en-US" dirty="0"/>
              <a:t> </a:t>
            </a:r>
            <a:r>
              <a:rPr lang="en-US" dirty="0" err="1"/>
              <a:t>của</a:t>
            </a:r>
            <a:r>
              <a:rPr lang="en-US" dirty="0"/>
              <a:t> </a:t>
            </a:r>
            <a:r>
              <a:rPr lang="en-US" dirty="0" err="1"/>
              <a:t>otomat</a:t>
            </a:r>
            <a:r>
              <a:rPr lang="en-US" dirty="0"/>
              <a:t> A</a:t>
            </a:r>
            <a:r>
              <a:rPr lang="en-US" baseline="-25000" dirty="0"/>
              <a:t>2 </a:t>
            </a:r>
            <a:r>
              <a:rPr lang="en-US" dirty="0" err="1"/>
              <a:t>trong</a:t>
            </a:r>
            <a:r>
              <a:rPr lang="en-US" dirty="0"/>
              <a:t> </a:t>
            </a:r>
            <a:r>
              <a:rPr lang="en-US" dirty="0" err="1"/>
              <a:t>quá</a:t>
            </a:r>
            <a:r>
              <a:rPr lang="en-US" dirty="0"/>
              <a:t> </a:t>
            </a:r>
            <a:r>
              <a:rPr lang="en-US" dirty="0" err="1"/>
              <a:t>trình</a:t>
            </a:r>
            <a:r>
              <a:rPr lang="en-US" dirty="0"/>
              <a:t> </a:t>
            </a:r>
            <a:r>
              <a:rPr lang="en-US" dirty="0" err="1"/>
              <a:t>đoán</a:t>
            </a:r>
            <a:r>
              <a:rPr lang="en-US" dirty="0"/>
              <a:t> </a:t>
            </a:r>
            <a:r>
              <a:rPr lang="en-US" dirty="0" err="1"/>
              <a:t>nhận</a:t>
            </a:r>
            <a:r>
              <a:rPr lang="en-US" dirty="0"/>
              <a:t> </a:t>
            </a:r>
            <a:r>
              <a:rPr lang="en-US" dirty="0" err="1"/>
              <a:t>xâu</a:t>
            </a:r>
            <a:r>
              <a:rPr lang="en-US" dirty="0"/>
              <a:t> </a:t>
            </a:r>
            <a:r>
              <a:rPr lang="en-US" dirty="0" err="1"/>
              <a:t>vào</a:t>
            </a:r>
            <a:r>
              <a:rPr lang="en-US" dirty="0"/>
              <a:t> β = 1010100 </a:t>
            </a:r>
            <a:r>
              <a:rPr lang="en-US" dirty="0" err="1"/>
              <a:t>là</a:t>
            </a:r>
            <a:r>
              <a:rPr lang="en-US" dirty="0"/>
              <a:t>: </a:t>
            </a:r>
          </a:p>
        </p:txBody>
      </p:sp>
      <p:sp>
        <p:nvSpPr>
          <p:cNvPr id="3" name="Content Placeholder 2"/>
          <p:cNvSpPr>
            <a:spLocks noGrp="1"/>
          </p:cNvSpPr>
          <p:nvPr>
            <p:ph idx="1"/>
          </p:nvPr>
        </p:nvSpPr>
        <p:spPr>
          <a:xfrm>
            <a:off x="2589212" y="5089358"/>
            <a:ext cx="8915400" cy="821864"/>
          </a:xfrm>
        </p:spPr>
        <p:txBody>
          <a:bodyPr/>
          <a:lstStyle/>
          <a:p>
            <a:r>
              <a:rPr lang="en-US" dirty="0" err="1"/>
              <a:t>Như</a:t>
            </a:r>
            <a:r>
              <a:rPr lang="en-US" dirty="0"/>
              <a:t> </a:t>
            </a:r>
            <a:r>
              <a:rPr lang="en-US" dirty="0" err="1"/>
              <a:t>vậy</a:t>
            </a:r>
            <a:r>
              <a:rPr lang="en-US" dirty="0"/>
              <a:t>, </a:t>
            </a:r>
            <a:r>
              <a:rPr lang="en-US" dirty="0" err="1"/>
              <a:t>otomat</a:t>
            </a:r>
            <a:r>
              <a:rPr lang="en-US" dirty="0"/>
              <a:t> A</a:t>
            </a:r>
            <a:r>
              <a:rPr lang="en-US" baseline="-25000" dirty="0"/>
              <a:t>2</a:t>
            </a:r>
            <a:r>
              <a:rPr lang="en-US" dirty="0"/>
              <a:t> </a:t>
            </a:r>
            <a:r>
              <a:rPr lang="en-US" dirty="0" err="1"/>
              <a:t>không</a:t>
            </a:r>
            <a:r>
              <a:rPr lang="en-US" dirty="0"/>
              <a:t> </a:t>
            </a:r>
            <a:r>
              <a:rPr lang="en-US" dirty="0" err="1"/>
              <a:t>chấp</a:t>
            </a:r>
            <a:r>
              <a:rPr lang="en-US" dirty="0"/>
              <a:t> </a:t>
            </a:r>
            <a:r>
              <a:rPr lang="en-US" dirty="0" err="1"/>
              <a:t>nhận</a:t>
            </a:r>
            <a:r>
              <a:rPr lang="en-US" dirty="0"/>
              <a:t> </a:t>
            </a:r>
            <a:r>
              <a:rPr lang="en-US" dirty="0" err="1"/>
              <a:t>xâu</a:t>
            </a:r>
            <a:r>
              <a:rPr lang="en-US" dirty="0"/>
              <a:t> β. </a:t>
            </a:r>
          </a:p>
          <a:p>
            <a:endParaRPr lang="en-US" dirty="0"/>
          </a:p>
        </p:txBody>
      </p:sp>
      <p:pic>
        <p:nvPicPr>
          <p:cNvPr id="4" name="Picture 3"/>
          <p:cNvPicPr/>
          <p:nvPr/>
        </p:nvPicPr>
        <p:blipFill>
          <a:blip r:embed="rId2"/>
          <a:stretch>
            <a:fillRect/>
          </a:stretch>
        </p:blipFill>
        <p:spPr>
          <a:xfrm>
            <a:off x="2697496" y="2213663"/>
            <a:ext cx="7606716" cy="2342147"/>
          </a:xfrm>
          <a:prstGeom prst="rect">
            <a:avLst/>
          </a:prstGeom>
        </p:spPr>
      </p:pic>
    </p:spTree>
    <p:extLst>
      <p:ext uri="{BB962C8B-B14F-4D97-AF65-F5344CB8AC3E}">
        <p14:creationId xmlns:p14="http://schemas.microsoft.com/office/powerpoint/2010/main" val="467600365"/>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178942"/>
            <a:ext cx="8911687" cy="1280890"/>
          </a:xfrm>
        </p:spPr>
        <p:txBody>
          <a:bodyPr>
            <a:noAutofit/>
          </a:bodyPr>
          <a:lstStyle/>
          <a:p>
            <a:r>
              <a:rPr lang="en-US" sz="2400" dirty="0"/>
              <a:t>Ta </a:t>
            </a:r>
            <a:r>
              <a:rPr lang="en-US" sz="2400" dirty="0" err="1"/>
              <a:t>có</a:t>
            </a:r>
            <a:r>
              <a:rPr lang="en-US" sz="2400" dirty="0"/>
              <a:t> </a:t>
            </a:r>
            <a:r>
              <a:rPr lang="en-US" sz="2400" dirty="0" err="1"/>
              <a:t>thể</a:t>
            </a:r>
            <a:r>
              <a:rPr lang="en-US" sz="2400" dirty="0"/>
              <a:t> </a:t>
            </a:r>
            <a:r>
              <a:rPr lang="en-US" sz="2400" dirty="0" err="1"/>
              <a:t>mô</a:t>
            </a:r>
            <a:r>
              <a:rPr lang="en-US" sz="2400" dirty="0"/>
              <a:t> </a:t>
            </a:r>
            <a:r>
              <a:rPr lang="en-US" sz="2400" dirty="0" err="1"/>
              <a:t>tả</a:t>
            </a:r>
            <a:r>
              <a:rPr lang="en-US" sz="2400" dirty="0"/>
              <a:t> </a:t>
            </a:r>
            <a:r>
              <a:rPr lang="en-US" sz="2400" dirty="0" err="1"/>
              <a:t>quá</a:t>
            </a:r>
            <a:r>
              <a:rPr lang="en-US" sz="2400" dirty="0"/>
              <a:t> </a:t>
            </a:r>
            <a:r>
              <a:rPr lang="en-US" sz="2400" dirty="0" err="1"/>
              <a:t>trình</a:t>
            </a:r>
            <a:r>
              <a:rPr lang="en-US" sz="2400" dirty="0"/>
              <a:t> </a:t>
            </a:r>
            <a:r>
              <a:rPr lang="en-US" sz="2400" dirty="0" err="1"/>
              <a:t>đoán</a:t>
            </a:r>
            <a:r>
              <a:rPr lang="en-US" sz="2400" dirty="0"/>
              <a:t> </a:t>
            </a:r>
            <a:r>
              <a:rPr lang="en-US" sz="2400" dirty="0" err="1"/>
              <a:t>nhận</a:t>
            </a:r>
            <a:r>
              <a:rPr lang="en-US" sz="2400" dirty="0"/>
              <a:t> </a:t>
            </a:r>
            <a:r>
              <a:rPr lang="en-US" sz="2400" dirty="0" err="1"/>
              <a:t>xâu</a:t>
            </a:r>
            <a:r>
              <a:rPr lang="en-US" sz="2400" dirty="0"/>
              <a:t> </a:t>
            </a:r>
            <a:r>
              <a:rPr lang="en-US" sz="2400" dirty="0" err="1"/>
              <a:t>vào</a:t>
            </a:r>
            <a:r>
              <a:rPr lang="en-US" sz="2400" dirty="0"/>
              <a:t> </a:t>
            </a:r>
            <a:r>
              <a:rPr lang="en-US" sz="2400" dirty="0" err="1"/>
              <a:t>của</a:t>
            </a:r>
            <a:r>
              <a:rPr lang="en-US" sz="2400" dirty="0"/>
              <a:t> </a:t>
            </a:r>
            <a:r>
              <a:rPr lang="en-US" sz="2400" dirty="0" err="1"/>
              <a:t>otomat</a:t>
            </a:r>
            <a:r>
              <a:rPr lang="en-US" sz="2400" dirty="0"/>
              <a:t> </a:t>
            </a:r>
            <a:r>
              <a:rPr lang="en-US" sz="2400" dirty="0" err="1"/>
              <a:t>hữu</a:t>
            </a:r>
            <a:r>
              <a:rPr lang="en-US" sz="2400" dirty="0"/>
              <a:t> </a:t>
            </a:r>
            <a:r>
              <a:rPr lang="en-US" sz="2400" dirty="0" err="1"/>
              <a:t>hạn</a:t>
            </a:r>
            <a:r>
              <a:rPr lang="en-US" sz="2400" dirty="0"/>
              <a:t> </a:t>
            </a:r>
            <a:r>
              <a:rPr lang="en-US" sz="2400" dirty="0" err="1"/>
              <a:t>đơn</a:t>
            </a:r>
            <a:r>
              <a:rPr lang="en-US" sz="2400" dirty="0"/>
              <a:t> </a:t>
            </a:r>
            <a:r>
              <a:rPr lang="en-US" sz="2400" dirty="0" err="1"/>
              <a:t>định</a:t>
            </a:r>
            <a:r>
              <a:rPr lang="en-US" sz="2400" dirty="0"/>
              <a:t> </a:t>
            </a:r>
            <a:r>
              <a:rPr lang="en-US" sz="2400" dirty="0" err="1"/>
              <a:t>đầy</a:t>
            </a:r>
            <a:r>
              <a:rPr lang="en-US" sz="2400" dirty="0"/>
              <a:t> </a:t>
            </a:r>
            <a:r>
              <a:rPr lang="en-US" sz="2400" dirty="0" err="1"/>
              <a:t>đủ</a:t>
            </a:r>
            <a:r>
              <a:rPr lang="en-US" sz="2400" dirty="0"/>
              <a:t> A </a:t>
            </a:r>
            <a:r>
              <a:rPr lang="en-US" sz="2400" dirty="0" err="1"/>
              <a:t>bằng</a:t>
            </a:r>
            <a:r>
              <a:rPr lang="en-US" sz="2400" dirty="0"/>
              <a:t> </a:t>
            </a:r>
            <a:r>
              <a:rPr lang="en-US" sz="2400" dirty="0" err="1"/>
              <a:t>thuật</a:t>
            </a:r>
            <a:r>
              <a:rPr lang="en-US" sz="2400" dirty="0"/>
              <a:t> </a:t>
            </a:r>
            <a:r>
              <a:rPr lang="en-US" sz="2400" dirty="0" err="1"/>
              <a:t>toán</a:t>
            </a:r>
            <a:r>
              <a:rPr lang="en-US" sz="2400" dirty="0"/>
              <a:t> </a:t>
            </a:r>
            <a:r>
              <a:rPr lang="en-US" sz="2400" dirty="0" err="1"/>
              <a:t>mô</a:t>
            </a:r>
            <a:r>
              <a:rPr lang="en-US" sz="2400" dirty="0"/>
              <a:t> </a:t>
            </a:r>
            <a:r>
              <a:rPr lang="en-US" sz="2400" dirty="0" err="1"/>
              <a:t>phỏng</a:t>
            </a:r>
            <a:r>
              <a:rPr lang="en-US" sz="2400" dirty="0"/>
              <a:t> </a:t>
            </a:r>
            <a:r>
              <a:rPr lang="en-US" sz="2400" dirty="0" err="1"/>
              <a:t>sau</a:t>
            </a:r>
            <a:r>
              <a:rPr lang="en-US" sz="2400" dirty="0"/>
              <a:t>: </a:t>
            </a:r>
            <a:br>
              <a:rPr lang="en-US" sz="2400" dirty="0"/>
            </a:br>
            <a:endParaRPr lang="en-US" sz="2400" dirty="0"/>
          </a:p>
        </p:txBody>
      </p:sp>
      <p:sp>
        <p:nvSpPr>
          <p:cNvPr id="3" name="Content Placeholder 2"/>
          <p:cNvSpPr>
            <a:spLocks noGrp="1"/>
          </p:cNvSpPr>
          <p:nvPr>
            <p:ph idx="1"/>
          </p:nvPr>
        </p:nvSpPr>
        <p:spPr>
          <a:xfrm>
            <a:off x="2589212" y="1134979"/>
            <a:ext cx="8915400" cy="3777622"/>
          </a:xfrm>
        </p:spPr>
        <p:txBody>
          <a:bodyPr>
            <a:noAutofit/>
          </a:bodyPr>
          <a:lstStyle/>
          <a:p>
            <a:r>
              <a:rPr lang="en-US" sz="1400" dirty="0"/>
              <a:t>	</a:t>
            </a:r>
            <a:r>
              <a:rPr lang="en-US" sz="1400" b="1" i="1" dirty="0"/>
              <a:t>Input : </a:t>
            </a:r>
          </a:p>
          <a:p>
            <a:r>
              <a:rPr lang="en-US" sz="1400" dirty="0"/>
              <a:t> 	− </a:t>
            </a:r>
            <a:r>
              <a:rPr lang="en-US" sz="1400" dirty="0" err="1"/>
              <a:t>Một</a:t>
            </a:r>
            <a:r>
              <a:rPr lang="en-US" sz="1400" dirty="0"/>
              <a:t> </a:t>
            </a:r>
            <a:r>
              <a:rPr lang="en-US" sz="1400" dirty="0" err="1"/>
              <a:t>xâu</a:t>
            </a:r>
            <a:r>
              <a:rPr lang="en-US" sz="1400" dirty="0"/>
              <a:t> ω, </a:t>
            </a:r>
            <a:r>
              <a:rPr lang="en-US" sz="1400" dirty="0" err="1"/>
              <a:t>kết</a:t>
            </a:r>
            <a:r>
              <a:rPr lang="en-US" sz="1400" dirty="0"/>
              <a:t> </a:t>
            </a:r>
            <a:r>
              <a:rPr lang="en-US" sz="1400" dirty="0" err="1"/>
              <a:t>thúc</a:t>
            </a:r>
            <a:r>
              <a:rPr lang="en-US" sz="1400" dirty="0"/>
              <a:t> </a:t>
            </a:r>
            <a:r>
              <a:rPr lang="en-US" sz="1400" dirty="0" err="1"/>
              <a:t>bởi</a:t>
            </a:r>
            <a:r>
              <a:rPr lang="en-US" sz="1400" dirty="0"/>
              <a:t> </a:t>
            </a:r>
            <a:r>
              <a:rPr lang="en-US" sz="1400" dirty="0" err="1"/>
              <a:t>ký</a:t>
            </a:r>
            <a:r>
              <a:rPr lang="en-US" sz="1400" dirty="0"/>
              <a:t> </a:t>
            </a:r>
            <a:r>
              <a:rPr lang="en-US" sz="1400" dirty="0" err="1"/>
              <a:t>hiệu</a:t>
            </a:r>
            <a:r>
              <a:rPr lang="en-US" sz="1400" dirty="0"/>
              <a:t> </a:t>
            </a:r>
            <a:r>
              <a:rPr lang="en-US" sz="1400" dirty="0" err="1"/>
              <a:t>kết</a:t>
            </a:r>
            <a:r>
              <a:rPr lang="en-US" sz="1400" dirty="0"/>
              <a:t> </a:t>
            </a:r>
            <a:r>
              <a:rPr lang="en-US" sz="1400" dirty="0" err="1"/>
              <a:t>thúc</a:t>
            </a:r>
            <a:r>
              <a:rPr lang="en-US" sz="1400" dirty="0"/>
              <a:t> file </a:t>
            </a:r>
            <a:r>
              <a:rPr lang="en-US" sz="1400" dirty="0" err="1"/>
              <a:t>là</a:t>
            </a:r>
            <a:r>
              <a:rPr lang="en-US" sz="1400" dirty="0"/>
              <a:t> </a:t>
            </a:r>
            <a:r>
              <a:rPr lang="en-US" sz="1400" dirty="0" err="1"/>
              <a:t>eof</a:t>
            </a:r>
            <a:r>
              <a:rPr lang="en-US" sz="1400" dirty="0"/>
              <a:t>. </a:t>
            </a:r>
          </a:p>
          <a:p>
            <a:r>
              <a:rPr lang="en-US" sz="1400" dirty="0"/>
              <a:t> − </a:t>
            </a:r>
            <a:r>
              <a:rPr lang="en-US" sz="1400" dirty="0" err="1"/>
              <a:t>Một</a:t>
            </a:r>
            <a:r>
              <a:rPr lang="en-US" sz="1400" dirty="0"/>
              <a:t> </a:t>
            </a:r>
            <a:r>
              <a:rPr lang="en-US" sz="1400" dirty="0" err="1"/>
              <a:t>otomat</a:t>
            </a:r>
            <a:r>
              <a:rPr lang="en-US" sz="1400" dirty="0"/>
              <a:t> </a:t>
            </a:r>
            <a:r>
              <a:rPr lang="en-US" sz="1400" dirty="0" err="1"/>
              <a:t>hữu</a:t>
            </a:r>
            <a:r>
              <a:rPr lang="en-US" sz="1400" dirty="0"/>
              <a:t> </a:t>
            </a:r>
            <a:r>
              <a:rPr lang="en-US" sz="1400" dirty="0" err="1"/>
              <a:t>hạn</a:t>
            </a:r>
            <a:r>
              <a:rPr lang="en-US" sz="1400" dirty="0"/>
              <a:t> </a:t>
            </a:r>
            <a:r>
              <a:rPr lang="en-US" sz="1400" dirty="0" err="1"/>
              <a:t>đơn</a:t>
            </a:r>
            <a:r>
              <a:rPr lang="en-US" sz="1400" dirty="0"/>
              <a:t> </a:t>
            </a:r>
            <a:r>
              <a:rPr lang="en-US" sz="1400" dirty="0" err="1"/>
              <a:t>định</a:t>
            </a:r>
            <a:r>
              <a:rPr lang="en-US" sz="1400" dirty="0"/>
              <a:t> </a:t>
            </a:r>
            <a:r>
              <a:rPr lang="en-US" sz="1400" dirty="0" err="1"/>
              <a:t>đầy</a:t>
            </a:r>
            <a:r>
              <a:rPr lang="en-US" sz="1400" dirty="0"/>
              <a:t> </a:t>
            </a:r>
            <a:r>
              <a:rPr lang="en-US" sz="1400" dirty="0" err="1"/>
              <a:t>đủ</a:t>
            </a:r>
            <a:r>
              <a:rPr lang="en-US" sz="1400" dirty="0"/>
              <a:t> A </a:t>
            </a:r>
            <a:r>
              <a:rPr lang="en-US" sz="1400" dirty="0" err="1"/>
              <a:t>với</a:t>
            </a:r>
            <a:r>
              <a:rPr lang="en-US" sz="1400" dirty="0"/>
              <a:t> </a:t>
            </a:r>
            <a:r>
              <a:rPr lang="en-US" sz="1400" dirty="0" err="1"/>
              <a:t>trạng</a:t>
            </a:r>
            <a:r>
              <a:rPr lang="en-US" sz="1400" dirty="0"/>
              <a:t> </a:t>
            </a:r>
            <a:r>
              <a:rPr lang="en-US" sz="1400" dirty="0" err="1"/>
              <a:t>thái</a:t>
            </a:r>
            <a:r>
              <a:rPr lang="en-US" sz="1400" dirty="0"/>
              <a:t> </a:t>
            </a:r>
            <a:r>
              <a:rPr lang="en-US" sz="1400" dirty="0" err="1"/>
              <a:t>đầu</a:t>
            </a:r>
            <a:r>
              <a:rPr lang="en-US" sz="1400" dirty="0"/>
              <a:t> q</a:t>
            </a:r>
            <a:r>
              <a:rPr lang="en-US" sz="1400" baseline="-25000" dirty="0"/>
              <a:t>0</a:t>
            </a:r>
            <a:r>
              <a:rPr lang="en-US" sz="1400" dirty="0"/>
              <a:t> </a:t>
            </a:r>
            <a:r>
              <a:rPr lang="en-US" sz="1400" dirty="0" err="1"/>
              <a:t>và</a:t>
            </a:r>
            <a:r>
              <a:rPr lang="en-US" sz="1400" dirty="0"/>
              <a:t> </a:t>
            </a:r>
            <a:r>
              <a:rPr lang="en-US" sz="1400" dirty="0" err="1"/>
              <a:t>tập</a:t>
            </a:r>
            <a:r>
              <a:rPr lang="en-US" sz="1400" dirty="0"/>
              <a:t> </a:t>
            </a:r>
            <a:r>
              <a:rPr lang="en-US" sz="1400" dirty="0" err="1"/>
              <a:t>trạng</a:t>
            </a:r>
            <a:r>
              <a:rPr lang="en-US" sz="1400" dirty="0"/>
              <a:t> </a:t>
            </a:r>
            <a:r>
              <a:rPr lang="en-US" sz="1400" dirty="0" err="1"/>
              <a:t>thái</a:t>
            </a:r>
            <a:r>
              <a:rPr lang="en-US" sz="1400" dirty="0"/>
              <a:t> </a:t>
            </a:r>
            <a:r>
              <a:rPr lang="en-US" sz="1400" dirty="0" err="1"/>
              <a:t>kết</a:t>
            </a:r>
            <a:r>
              <a:rPr lang="en-US" sz="1400" dirty="0"/>
              <a:t> </a:t>
            </a:r>
            <a:r>
              <a:rPr lang="en-US" sz="1400" dirty="0" err="1"/>
              <a:t>thúc</a:t>
            </a:r>
            <a:r>
              <a:rPr lang="en-US" sz="1400" dirty="0"/>
              <a:t> </a:t>
            </a:r>
            <a:r>
              <a:rPr lang="en-US" sz="1400" dirty="0" err="1"/>
              <a:t>là</a:t>
            </a:r>
            <a:r>
              <a:rPr lang="en-US" sz="1400" dirty="0"/>
              <a:t> F. </a:t>
            </a:r>
          </a:p>
          <a:p>
            <a:r>
              <a:rPr lang="en-US" sz="1400" dirty="0"/>
              <a:t> 	</a:t>
            </a:r>
            <a:r>
              <a:rPr lang="en-US" sz="1400" b="1" i="1" dirty="0"/>
              <a:t>Output:</a:t>
            </a:r>
            <a:r>
              <a:rPr lang="en-US" sz="1400" dirty="0"/>
              <a:t>  </a:t>
            </a:r>
            <a:endParaRPr lang="en-US" sz="1400" b="1" i="1" dirty="0"/>
          </a:p>
          <a:p>
            <a:pPr lvl="0" fontAlgn="base"/>
            <a:r>
              <a:rPr lang="en-US" sz="1400" dirty="0" err="1"/>
              <a:t>Trả</a:t>
            </a:r>
            <a:r>
              <a:rPr lang="en-US" sz="1400" dirty="0"/>
              <a:t> </a:t>
            </a:r>
            <a:r>
              <a:rPr lang="en-US" sz="1400" dirty="0" err="1"/>
              <a:t>lời</a:t>
            </a:r>
            <a:r>
              <a:rPr lang="en-US" sz="1400" dirty="0"/>
              <a:t>  “</a:t>
            </a:r>
            <a:r>
              <a:rPr lang="en-US" sz="1400" dirty="0" err="1"/>
              <a:t>Đúng</a:t>
            </a:r>
            <a:r>
              <a:rPr lang="en-US" sz="1400" dirty="0"/>
              <a:t>” </a:t>
            </a:r>
            <a:r>
              <a:rPr lang="en-US" sz="1400" dirty="0" err="1"/>
              <a:t>nếu</a:t>
            </a:r>
            <a:r>
              <a:rPr lang="en-US" sz="1400" dirty="0"/>
              <a:t> A </a:t>
            </a:r>
            <a:r>
              <a:rPr lang="en-US" sz="1400" dirty="0" err="1"/>
              <a:t>đoán</a:t>
            </a:r>
            <a:r>
              <a:rPr lang="en-US" sz="1400" dirty="0"/>
              <a:t> </a:t>
            </a:r>
            <a:r>
              <a:rPr lang="en-US" sz="1400" dirty="0" err="1"/>
              <a:t>nhận</a:t>
            </a:r>
            <a:r>
              <a:rPr lang="en-US" sz="1400" dirty="0"/>
              <a:t> </a:t>
            </a:r>
            <a:r>
              <a:rPr lang="en-US" sz="1400" dirty="0" err="1"/>
              <a:t>xâu</a:t>
            </a:r>
            <a:r>
              <a:rPr lang="en-US" sz="1400" dirty="0"/>
              <a:t> ω. </a:t>
            </a:r>
          </a:p>
          <a:p>
            <a:pPr lvl="0" fontAlgn="base"/>
            <a:r>
              <a:rPr lang="en-US" sz="1400" dirty="0" err="1"/>
              <a:t>Trả</a:t>
            </a:r>
            <a:r>
              <a:rPr lang="en-US" sz="1400" dirty="0"/>
              <a:t> </a:t>
            </a:r>
            <a:r>
              <a:rPr lang="en-US" sz="1400" dirty="0" err="1"/>
              <a:t>lời</a:t>
            </a:r>
            <a:r>
              <a:rPr lang="en-US" sz="1400" dirty="0"/>
              <a:t> “</a:t>
            </a:r>
            <a:r>
              <a:rPr lang="en-US" sz="1400" dirty="0" err="1"/>
              <a:t>Sai</a:t>
            </a:r>
            <a:r>
              <a:rPr lang="en-US" sz="1400" dirty="0"/>
              <a:t>” </a:t>
            </a:r>
            <a:r>
              <a:rPr lang="en-US" sz="1400" dirty="0" err="1"/>
              <a:t>nếu</a:t>
            </a:r>
            <a:r>
              <a:rPr lang="en-US" sz="1400" dirty="0"/>
              <a:t> A </a:t>
            </a:r>
            <a:r>
              <a:rPr lang="en-US" sz="1400" dirty="0" err="1"/>
              <a:t>không</a:t>
            </a:r>
            <a:r>
              <a:rPr lang="en-US" sz="1400" dirty="0"/>
              <a:t> </a:t>
            </a:r>
            <a:r>
              <a:rPr lang="en-US" sz="1400" dirty="0" err="1"/>
              <a:t>đoán</a:t>
            </a:r>
            <a:r>
              <a:rPr lang="en-US" sz="1400" dirty="0"/>
              <a:t> </a:t>
            </a:r>
            <a:r>
              <a:rPr lang="en-US" sz="1400" dirty="0" err="1"/>
              <a:t>nhận</a:t>
            </a:r>
            <a:r>
              <a:rPr lang="en-US" sz="1400" dirty="0"/>
              <a:t> </a:t>
            </a:r>
            <a:r>
              <a:rPr lang="en-US" sz="1400" dirty="0" err="1"/>
              <a:t>xâu</a:t>
            </a:r>
            <a:r>
              <a:rPr lang="en-US" sz="1400" dirty="0"/>
              <a:t> ω. </a:t>
            </a:r>
          </a:p>
          <a:p>
            <a:r>
              <a:rPr lang="en-US" sz="1400" dirty="0"/>
              <a:t> 	</a:t>
            </a:r>
            <a:r>
              <a:rPr lang="en-US" sz="1400" b="1" i="1" dirty="0" err="1"/>
              <a:t>Thuật</a:t>
            </a:r>
            <a:r>
              <a:rPr lang="en-US" sz="1400" b="1" i="1" dirty="0"/>
              <a:t> </a:t>
            </a:r>
            <a:r>
              <a:rPr lang="en-US" sz="1400" b="1" i="1" dirty="0" err="1"/>
              <a:t>toán</a:t>
            </a:r>
            <a:r>
              <a:rPr lang="en-US" sz="1400" b="1" i="1" dirty="0"/>
              <a:t>: </a:t>
            </a:r>
          </a:p>
          <a:p>
            <a:r>
              <a:rPr lang="en-US" sz="1400" dirty="0"/>
              <a:t> 	Begin </a:t>
            </a:r>
          </a:p>
          <a:p>
            <a:r>
              <a:rPr lang="en-US" sz="1400" dirty="0"/>
              <a:t> 	 	S:= q</a:t>
            </a:r>
            <a:r>
              <a:rPr lang="en-US" sz="1400" baseline="-25000" dirty="0"/>
              <a:t>0</a:t>
            </a:r>
            <a:r>
              <a:rPr lang="en-US" sz="1400" dirty="0"/>
              <a:t>; </a:t>
            </a:r>
          </a:p>
          <a:p>
            <a:r>
              <a:rPr lang="en-US" sz="1400" dirty="0"/>
              <a:t> 	 	C:= </a:t>
            </a:r>
            <a:r>
              <a:rPr lang="en-US" sz="1400" dirty="0" err="1"/>
              <a:t>ký</a:t>
            </a:r>
            <a:r>
              <a:rPr lang="en-US" sz="1400" dirty="0"/>
              <a:t> </a:t>
            </a:r>
            <a:r>
              <a:rPr lang="en-US" sz="1400" dirty="0" err="1"/>
              <a:t>hiệu</a:t>
            </a:r>
            <a:r>
              <a:rPr lang="en-US" sz="1400" dirty="0"/>
              <a:t> </a:t>
            </a:r>
            <a:r>
              <a:rPr lang="en-US" sz="1400" dirty="0" err="1"/>
              <a:t>tiếp</a:t>
            </a:r>
            <a:r>
              <a:rPr lang="en-US" sz="1400" dirty="0"/>
              <a:t> </a:t>
            </a:r>
            <a:r>
              <a:rPr lang="en-US" sz="1400" dirty="0" err="1"/>
              <a:t>theo</a:t>
            </a:r>
            <a:r>
              <a:rPr lang="en-US" sz="1400" dirty="0"/>
              <a:t>;  	 </a:t>
            </a:r>
            <a:endParaRPr lang="en-US" sz="1400" dirty="0" smtClean="0"/>
          </a:p>
          <a:p>
            <a:pPr marL="457200" lvl="1" indent="0">
              <a:buNone/>
            </a:pPr>
            <a:r>
              <a:rPr lang="en-US" sz="1200" dirty="0" smtClean="0"/>
              <a:t>While </a:t>
            </a:r>
            <a:r>
              <a:rPr lang="en-US" sz="1200" dirty="0"/>
              <a:t>C &lt; &gt; </a:t>
            </a:r>
            <a:r>
              <a:rPr lang="en-US" sz="1200" dirty="0" err="1"/>
              <a:t>eof</a:t>
            </a:r>
            <a:r>
              <a:rPr lang="en-US" sz="1200" dirty="0"/>
              <a:t> do </a:t>
            </a:r>
          </a:p>
          <a:p>
            <a:r>
              <a:rPr lang="en-US" sz="1400" dirty="0"/>
              <a:t> 	 	 	begin </a:t>
            </a:r>
          </a:p>
          <a:p>
            <a:r>
              <a:rPr lang="en-US" sz="1400" dirty="0"/>
              <a:t> 	 	 	 	S:= δ(S, C); </a:t>
            </a:r>
          </a:p>
          <a:p>
            <a:r>
              <a:rPr lang="en-US" sz="1400" dirty="0"/>
              <a:t> 	 	 	 	C:= </a:t>
            </a:r>
            <a:r>
              <a:rPr lang="en-US" sz="1400" dirty="0" err="1"/>
              <a:t>ký</a:t>
            </a:r>
            <a:r>
              <a:rPr lang="en-US" sz="1400" dirty="0"/>
              <a:t> </a:t>
            </a:r>
            <a:r>
              <a:rPr lang="en-US" sz="1400" dirty="0" err="1"/>
              <a:t>hiệu</a:t>
            </a:r>
            <a:r>
              <a:rPr lang="en-US" sz="1400" dirty="0"/>
              <a:t> </a:t>
            </a:r>
            <a:r>
              <a:rPr lang="en-US" sz="1400" dirty="0" err="1"/>
              <a:t>tiếp</a:t>
            </a:r>
            <a:r>
              <a:rPr lang="en-US" sz="1400" dirty="0"/>
              <a:t> </a:t>
            </a:r>
            <a:r>
              <a:rPr lang="en-US" sz="1400" dirty="0" err="1"/>
              <a:t>theo</a:t>
            </a:r>
            <a:r>
              <a:rPr lang="en-US" sz="1400" dirty="0"/>
              <a:t>; </a:t>
            </a:r>
          </a:p>
          <a:p>
            <a:r>
              <a:rPr lang="en-US" sz="1400" dirty="0"/>
              <a:t> 	 	 	end; </a:t>
            </a:r>
          </a:p>
          <a:p>
            <a:r>
              <a:rPr lang="en-US" sz="1400" dirty="0"/>
              <a:t> 	 	if S in F return (True)  	 	else return (False); </a:t>
            </a:r>
          </a:p>
          <a:p>
            <a:r>
              <a:rPr lang="en-US" sz="1400" dirty="0"/>
              <a:t> 	End. </a:t>
            </a:r>
          </a:p>
          <a:p>
            <a:endParaRPr lang="en-US" sz="1400" dirty="0"/>
          </a:p>
        </p:txBody>
      </p:sp>
    </p:spTree>
    <p:extLst>
      <p:ext uri="{BB962C8B-B14F-4D97-AF65-F5344CB8AC3E}">
        <p14:creationId xmlns:p14="http://schemas.microsoft.com/office/powerpoint/2010/main" val="27863514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Ngôn</a:t>
            </a:r>
            <a:r>
              <a:rPr lang="en-US" dirty="0"/>
              <a:t> </a:t>
            </a:r>
            <a:r>
              <a:rPr lang="en-US" dirty="0" err="1"/>
              <a:t>ngữ</a:t>
            </a:r>
            <a:r>
              <a:rPr lang="en-US" dirty="0"/>
              <a:t> </a:t>
            </a:r>
            <a:r>
              <a:rPr lang="en-US" dirty="0" err="1"/>
              <a:t>được</a:t>
            </a:r>
            <a:r>
              <a:rPr lang="en-US" dirty="0"/>
              <a:t> </a:t>
            </a:r>
            <a:r>
              <a:rPr lang="en-US" dirty="0" err="1"/>
              <a:t>đoán</a:t>
            </a:r>
            <a:r>
              <a:rPr lang="en-US" dirty="0"/>
              <a:t> </a:t>
            </a:r>
            <a:r>
              <a:rPr lang="en-US" dirty="0" err="1"/>
              <a:t>nhận</a:t>
            </a:r>
            <a:r>
              <a:rPr lang="en-US" dirty="0"/>
              <a:t> </a:t>
            </a:r>
            <a:r>
              <a:rPr lang="en-US" dirty="0" err="1"/>
              <a:t>bởi</a:t>
            </a:r>
            <a:r>
              <a:rPr lang="en-US" dirty="0"/>
              <a:t> </a:t>
            </a:r>
            <a:r>
              <a:rPr lang="en-US" dirty="0" err="1"/>
              <a:t>otomat</a:t>
            </a:r>
            <a:r>
              <a:rPr lang="en-US" dirty="0"/>
              <a:t> </a:t>
            </a:r>
            <a:r>
              <a:rPr lang="en-US" dirty="0" err="1"/>
              <a:t>đơn</a:t>
            </a:r>
            <a:r>
              <a:rPr lang="en-US" dirty="0"/>
              <a:t> </a:t>
            </a:r>
            <a:r>
              <a:rPr lang="en-US" dirty="0" err="1"/>
              <a:t>định</a:t>
            </a:r>
            <a:endParaRPr lang="en-US" dirty="0"/>
          </a:p>
        </p:txBody>
      </p:sp>
      <p:sp>
        <p:nvSpPr>
          <p:cNvPr id="3" name="Content Placeholder 2"/>
          <p:cNvSpPr>
            <a:spLocks noGrp="1"/>
          </p:cNvSpPr>
          <p:nvPr>
            <p:ph idx="1"/>
          </p:nvPr>
        </p:nvSpPr>
        <p:spPr>
          <a:xfrm>
            <a:off x="2589212" y="1905000"/>
            <a:ext cx="8915400" cy="4953000"/>
          </a:xfrm>
        </p:spPr>
        <p:txBody>
          <a:bodyPr>
            <a:normAutofit lnSpcReduction="10000"/>
          </a:bodyPr>
          <a:lstStyle/>
          <a:p>
            <a:pPr>
              <a:lnSpc>
                <a:spcPct val="150000"/>
              </a:lnSpc>
            </a:pPr>
            <a:r>
              <a:rPr lang="en-US" b="1" i="1" dirty="0" err="1"/>
              <a:t>Định</a:t>
            </a:r>
            <a:r>
              <a:rPr lang="en-US" b="1" i="1" dirty="0"/>
              <a:t> </a:t>
            </a:r>
            <a:r>
              <a:rPr lang="en-US" b="1" i="1" err="1"/>
              <a:t>nghĩa</a:t>
            </a:r>
            <a:r>
              <a:rPr lang="en-US" b="1" i="1"/>
              <a:t> </a:t>
            </a:r>
            <a:r>
              <a:rPr lang="en-US" b="1" i="1" smtClean="0"/>
              <a:t>2.2</a:t>
            </a:r>
            <a:r>
              <a:rPr lang="en-US" smtClean="0"/>
              <a:t> </a:t>
            </a:r>
            <a:r>
              <a:rPr lang="en-US" dirty="0"/>
              <a:t>Cho </a:t>
            </a:r>
            <a:r>
              <a:rPr lang="en-US" dirty="0" err="1"/>
              <a:t>otomat</a:t>
            </a:r>
            <a:r>
              <a:rPr lang="en-US" dirty="0"/>
              <a:t> </a:t>
            </a:r>
            <a:r>
              <a:rPr lang="en-US" dirty="0" err="1"/>
              <a:t>hữu</a:t>
            </a:r>
            <a:r>
              <a:rPr lang="en-US" dirty="0"/>
              <a:t> </a:t>
            </a:r>
            <a:r>
              <a:rPr lang="en-US" dirty="0" err="1"/>
              <a:t>hạn</a:t>
            </a:r>
            <a:r>
              <a:rPr lang="en-US" dirty="0"/>
              <a:t> </a:t>
            </a:r>
            <a:r>
              <a:rPr lang="en-US" dirty="0" err="1"/>
              <a:t>đơn</a:t>
            </a:r>
            <a:r>
              <a:rPr lang="en-US" dirty="0"/>
              <a:t> </a:t>
            </a:r>
            <a:r>
              <a:rPr lang="en-US" dirty="0" err="1"/>
              <a:t>định</a:t>
            </a:r>
            <a:r>
              <a:rPr lang="en-US" dirty="0"/>
              <a:t> A = &lt;Q, Σ, δ, q</a:t>
            </a:r>
            <a:r>
              <a:rPr lang="en-US" baseline="-25000" dirty="0"/>
              <a:t>0</a:t>
            </a:r>
            <a:r>
              <a:rPr lang="en-US" dirty="0"/>
              <a:t>, F&gt;. </a:t>
            </a:r>
            <a:r>
              <a:rPr lang="en-US" dirty="0" err="1"/>
              <a:t>Mở</a:t>
            </a:r>
            <a:r>
              <a:rPr lang="en-US" dirty="0"/>
              <a:t> </a:t>
            </a:r>
            <a:r>
              <a:rPr lang="en-US" err="1"/>
              <a:t>rộng</a:t>
            </a:r>
            <a:r>
              <a:rPr lang="en-US"/>
              <a:t> </a:t>
            </a:r>
            <a:r>
              <a:rPr lang="en-US" smtClean="0"/>
              <a:t>δ* </a:t>
            </a:r>
            <a:r>
              <a:rPr lang="en-US" dirty="0" err="1"/>
              <a:t>của</a:t>
            </a:r>
            <a:r>
              <a:rPr lang="en-US" dirty="0"/>
              <a:t> δ </a:t>
            </a:r>
            <a:r>
              <a:rPr lang="en-US" dirty="0" err="1"/>
              <a:t>là</a:t>
            </a:r>
            <a:r>
              <a:rPr lang="en-US" dirty="0"/>
              <a:t> </a:t>
            </a:r>
            <a:r>
              <a:rPr lang="en-US" dirty="0" err="1"/>
              <a:t>một</a:t>
            </a:r>
            <a:r>
              <a:rPr lang="en-US" dirty="0"/>
              <a:t> </a:t>
            </a:r>
            <a:r>
              <a:rPr lang="en-US" dirty="0" err="1"/>
              <a:t>ánh</a:t>
            </a:r>
            <a:r>
              <a:rPr lang="en-US" dirty="0"/>
              <a:t> </a:t>
            </a:r>
            <a:r>
              <a:rPr lang="en-US" dirty="0" err="1"/>
              <a:t>xạ</a:t>
            </a:r>
            <a:r>
              <a:rPr lang="en-US" dirty="0"/>
              <a:t> </a:t>
            </a:r>
            <a:r>
              <a:rPr lang="en-US" dirty="0" err="1"/>
              <a:t>từ</a:t>
            </a:r>
            <a:r>
              <a:rPr lang="en-US" dirty="0"/>
              <a:t> D ⊆ Q × Σ </a:t>
            </a:r>
            <a:r>
              <a:rPr lang="en-US" baseline="30000" dirty="0"/>
              <a:t>*</a:t>
            </a:r>
            <a:r>
              <a:rPr lang="en-US" dirty="0"/>
              <a:t> </a:t>
            </a:r>
            <a:r>
              <a:rPr lang="en-US" dirty="0" err="1"/>
              <a:t>vào</a:t>
            </a:r>
            <a:r>
              <a:rPr lang="en-US" dirty="0"/>
              <a:t> Q </a:t>
            </a:r>
            <a:r>
              <a:rPr lang="en-US" dirty="0" err="1"/>
              <a:t>được</a:t>
            </a:r>
            <a:r>
              <a:rPr lang="en-US" dirty="0"/>
              <a:t> </a:t>
            </a:r>
            <a:r>
              <a:rPr lang="en-US" dirty="0" err="1"/>
              <a:t>xác</a:t>
            </a:r>
            <a:r>
              <a:rPr lang="en-US" dirty="0"/>
              <a:t> </a:t>
            </a:r>
            <a:r>
              <a:rPr lang="en-US" dirty="0" err="1"/>
              <a:t>định</a:t>
            </a:r>
            <a:r>
              <a:rPr lang="en-US" dirty="0"/>
              <a:t> </a:t>
            </a:r>
            <a:r>
              <a:rPr lang="en-US" dirty="0" err="1"/>
              <a:t>như</a:t>
            </a:r>
            <a:r>
              <a:rPr lang="en-US" dirty="0"/>
              <a:t> </a:t>
            </a:r>
            <a:r>
              <a:rPr lang="en-US" dirty="0" err="1"/>
              <a:t>sau</a:t>
            </a:r>
            <a:r>
              <a:rPr lang="en-US" dirty="0"/>
              <a:t>: </a:t>
            </a:r>
          </a:p>
          <a:p>
            <a:pPr>
              <a:lnSpc>
                <a:spcPct val="150000"/>
              </a:lnSpc>
            </a:pPr>
            <a:r>
              <a:rPr lang="en-US" dirty="0"/>
              <a:t>1</a:t>
            </a:r>
            <a:r>
              <a:rPr lang="en-US"/>
              <a:t>/. δ*(q</a:t>
            </a:r>
            <a:r>
              <a:rPr lang="en-US" dirty="0"/>
              <a:t>, ε) = q, ∀</a:t>
            </a:r>
            <a:r>
              <a:rPr lang="en-US" dirty="0" err="1"/>
              <a:t>q∈Q</a:t>
            </a:r>
            <a:r>
              <a:rPr lang="en-US" dirty="0"/>
              <a:t>, </a:t>
            </a:r>
          </a:p>
          <a:p>
            <a:pPr>
              <a:lnSpc>
                <a:spcPct val="150000"/>
              </a:lnSpc>
            </a:pPr>
            <a:r>
              <a:rPr lang="en-US" dirty="0"/>
              <a:t>2</a:t>
            </a:r>
            <a:r>
              <a:rPr lang="en-US"/>
              <a:t>/. δ*(</a:t>
            </a:r>
            <a:r>
              <a:rPr lang="en-US" dirty="0"/>
              <a:t>q, </a:t>
            </a:r>
            <a:r>
              <a:rPr lang="en-US" dirty="0" err="1"/>
              <a:t>ωa</a:t>
            </a:r>
            <a:r>
              <a:rPr lang="en-US" dirty="0"/>
              <a:t>) </a:t>
            </a:r>
            <a:r>
              <a:rPr lang="en-US"/>
              <a:t>= δ(δ*(</a:t>
            </a:r>
            <a:r>
              <a:rPr lang="en-US" dirty="0"/>
              <a:t>q, ω), a), ∀</a:t>
            </a:r>
            <a:r>
              <a:rPr lang="en-US" dirty="0" err="1"/>
              <a:t>a∈Σ</a:t>
            </a:r>
            <a:r>
              <a:rPr lang="en-US" dirty="0"/>
              <a:t>, ∀</a:t>
            </a:r>
            <a:r>
              <a:rPr lang="en-US" dirty="0" err="1"/>
              <a:t>q∈Q</a:t>
            </a:r>
            <a:r>
              <a:rPr lang="en-US" dirty="0"/>
              <a:t>, ∀ω ∈ Σ</a:t>
            </a:r>
            <a:r>
              <a:rPr lang="en-US" baseline="30000" dirty="0"/>
              <a:t>*</a:t>
            </a:r>
            <a:r>
              <a:rPr lang="en-US" dirty="0"/>
              <a:t> </a:t>
            </a:r>
            <a:r>
              <a:rPr lang="en-US" dirty="0" err="1"/>
              <a:t>sao</a:t>
            </a:r>
            <a:r>
              <a:rPr lang="en-US" dirty="0"/>
              <a:t> </a:t>
            </a:r>
            <a:r>
              <a:rPr lang="en-US" err="1"/>
              <a:t>cho</a:t>
            </a:r>
            <a:r>
              <a:rPr lang="en-US"/>
              <a:t> δ*(</a:t>
            </a:r>
            <a:r>
              <a:rPr lang="en-US" dirty="0"/>
              <a:t>q, ω) </a:t>
            </a:r>
            <a:r>
              <a:rPr lang="en-US" dirty="0" err="1"/>
              <a:t>được</a:t>
            </a:r>
            <a:r>
              <a:rPr lang="en-US" dirty="0"/>
              <a:t> </a:t>
            </a:r>
            <a:r>
              <a:rPr lang="en-US" dirty="0" err="1"/>
              <a:t>xác</a:t>
            </a:r>
            <a:r>
              <a:rPr lang="en-US" dirty="0"/>
              <a:t> </a:t>
            </a:r>
            <a:r>
              <a:rPr lang="en-US" dirty="0" err="1"/>
              <a:t>định</a:t>
            </a:r>
            <a:r>
              <a:rPr lang="en-US" dirty="0"/>
              <a:t>. </a:t>
            </a:r>
          </a:p>
          <a:p>
            <a:pPr>
              <a:lnSpc>
                <a:spcPct val="150000"/>
              </a:lnSpc>
            </a:pPr>
            <a:r>
              <a:rPr lang="en-US" b="1" i="1"/>
              <a:t>Định nghĩa </a:t>
            </a:r>
            <a:r>
              <a:rPr lang="en-US" b="1" i="1" smtClean="0"/>
              <a:t>2.3</a:t>
            </a:r>
            <a:r>
              <a:rPr lang="en-US" smtClean="0"/>
              <a:t> </a:t>
            </a:r>
            <a:r>
              <a:rPr lang="en-US"/>
              <a:t>Cho otomat hữu hạn đơn định A = &lt;Q, Σ, δ, q</a:t>
            </a:r>
            <a:r>
              <a:rPr lang="en-US" baseline="-25000"/>
              <a:t>0</a:t>
            </a:r>
            <a:r>
              <a:rPr lang="en-US"/>
              <a:t>, F&gt;, và một xâu ω∈Σ</a:t>
            </a:r>
            <a:r>
              <a:rPr lang="en-US" baseline="30000"/>
              <a:t>*</a:t>
            </a:r>
            <a:r>
              <a:rPr lang="en-US"/>
              <a:t>. Ta nói: </a:t>
            </a:r>
          </a:p>
          <a:p>
            <a:pPr>
              <a:lnSpc>
                <a:spcPct val="150000"/>
              </a:lnSpc>
            </a:pPr>
            <a:r>
              <a:rPr lang="en-US" smtClean="0"/>
              <a:t>ω </a:t>
            </a:r>
            <a:r>
              <a:rPr lang="en-US"/>
              <a:t>được đoán nhận bởi A  nếu δ*(q</a:t>
            </a:r>
            <a:r>
              <a:rPr lang="en-US" baseline="-25000"/>
              <a:t>0</a:t>
            </a:r>
            <a:r>
              <a:rPr lang="en-US"/>
              <a:t>, ω) ∈ F; </a:t>
            </a:r>
          </a:p>
          <a:p>
            <a:pPr>
              <a:lnSpc>
                <a:spcPct val="150000"/>
              </a:lnSpc>
            </a:pPr>
            <a:r>
              <a:rPr lang="en-US" smtClean="0"/>
              <a:t>Ngôn </a:t>
            </a:r>
            <a:r>
              <a:rPr lang="en-US"/>
              <a:t>ngữ được đoán nhận bởi otomat A và ký hiệu là T(A), là tập từ: </a:t>
            </a:r>
          </a:p>
          <a:p>
            <a:pPr>
              <a:lnSpc>
                <a:spcPct val="150000"/>
              </a:lnSpc>
            </a:pPr>
            <a:r>
              <a:rPr lang="en-US"/>
              <a:t>T(A) = {ω∈Σ</a:t>
            </a:r>
            <a:r>
              <a:rPr lang="en-US" baseline="30000"/>
              <a:t>*</a:t>
            </a:r>
            <a:r>
              <a:rPr lang="en-US"/>
              <a:t> | δ*(q</a:t>
            </a:r>
            <a:r>
              <a:rPr lang="en-US" baseline="-25000"/>
              <a:t>0</a:t>
            </a:r>
            <a:r>
              <a:rPr lang="en-US"/>
              <a:t>, ω)∈F} </a:t>
            </a:r>
          </a:p>
          <a:p>
            <a:pPr>
              <a:lnSpc>
                <a:spcPct val="150000"/>
              </a:lnSpc>
            </a:pPr>
            <a:endParaRPr lang="en-US" dirty="0"/>
          </a:p>
        </p:txBody>
      </p:sp>
    </p:spTree>
    <p:extLst>
      <p:ext uri="{BB962C8B-B14F-4D97-AF65-F5344CB8AC3E}">
        <p14:creationId xmlns:p14="http://schemas.microsoft.com/office/powerpoint/2010/main" val="225530997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Ví dụ. Tìm ngôn ngữ được đoán nhận bởi DFA dưới đây </a:t>
            </a:r>
            <a:endParaRPr lang="en-US"/>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30413" y="2328794"/>
            <a:ext cx="5799825" cy="3054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1258141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869839"/>
          </a:xfrm>
        </p:spPr>
        <p:txBody>
          <a:bodyPr/>
          <a:lstStyle/>
          <a:p>
            <a:r>
              <a:rPr lang="en-US" smtClean="0"/>
              <a:t>Thiết kế DFA</a:t>
            </a:r>
            <a:endParaRPr lang="en-US"/>
          </a:p>
        </p:txBody>
      </p:sp>
      <p:sp>
        <p:nvSpPr>
          <p:cNvPr id="3" name="Content Placeholder 2"/>
          <p:cNvSpPr>
            <a:spLocks noGrp="1"/>
          </p:cNvSpPr>
          <p:nvPr>
            <p:ph idx="1"/>
          </p:nvPr>
        </p:nvSpPr>
        <p:spPr>
          <a:xfrm>
            <a:off x="2370271" y="1798750"/>
            <a:ext cx="8915400" cy="3777622"/>
          </a:xfrm>
        </p:spPr>
        <p:txBody>
          <a:bodyPr>
            <a:normAutofit lnSpcReduction="10000"/>
          </a:bodyPr>
          <a:lstStyle/>
          <a:p>
            <a:r>
              <a:rPr lang="vi-VN"/>
              <a:t>Để thiết kế một DFA chấp nhận một ngôn ngữ </a:t>
            </a:r>
            <a:r>
              <a:rPr lang="vi-VN" i="1"/>
              <a:t>L </a:t>
            </a:r>
            <a:r>
              <a:rPr lang="vi-VN"/>
              <a:t>cho trước, theo quy trình 4 bước sau: </a:t>
            </a:r>
          </a:p>
          <a:p>
            <a:pPr marL="0" indent="0">
              <a:buNone/>
            </a:pPr>
            <a:r>
              <a:rPr lang="vi-VN"/>
              <a:t>1. </a:t>
            </a:r>
            <a:r>
              <a:rPr lang="vi-VN" b="1"/>
              <a:t>Hiểu rõ ngôn ngữ </a:t>
            </a:r>
            <a:r>
              <a:rPr lang="vi-VN" b="1" i="1"/>
              <a:t>L</a:t>
            </a:r>
            <a:r>
              <a:rPr lang="vi-VN" b="1"/>
              <a:t>: </a:t>
            </a:r>
            <a:r>
              <a:rPr lang="vi-VN"/>
              <a:t>Xác định "MẪU" cốt lõi mà ngôn ngữ yêu cầu, nhận rõ yêu cầu chuỗi nào được chấp nhận và chuỗi nào bị từ chối. Ví dụ ra một vài chuỗi ngắn thuộc </a:t>
            </a:r>
            <a:r>
              <a:rPr lang="vi-VN" i="1"/>
              <a:t>L </a:t>
            </a:r>
            <a:r>
              <a:rPr lang="vi-VN"/>
              <a:t>và không thuộc </a:t>
            </a:r>
            <a:r>
              <a:rPr lang="vi-VN" i="1"/>
              <a:t>L</a:t>
            </a:r>
            <a:r>
              <a:rPr lang="vi-VN"/>
              <a:t>. </a:t>
            </a:r>
          </a:p>
          <a:p>
            <a:pPr marL="0" indent="0">
              <a:buNone/>
            </a:pPr>
            <a:r>
              <a:rPr lang="vi-VN"/>
              <a:t>2. </a:t>
            </a:r>
            <a:r>
              <a:rPr lang="vi-VN" b="1"/>
              <a:t>Xác định các trạng thái trong </a:t>
            </a:r>
            <a:r>
              <a:rPr lang="vi-VN" b="1" i="1"/>
              <a:t>Q</a:t>
            </a:r>
            <a:r>
              <a:rPr lang="vi-VN" b="1"/>
              <a:t>: </a:t>
            </a:r>
            <a:r>
              <a:rPr lang="vi-VN"/>
              <a:t>Đặt tên các trạng thái dựa trên "ý nghĩa" hoặc "trí nhớ" mà DFA cần ghi nhận sau khi đọc một phần của chuỗi. </a:t>
            </a:r>
          </a:p>
          <a:p>
            <a:pPr marL="0" indent="0">
              <a:buNone/>
            </a:pPr>
            <a:r>
              <a:rPr lang="vi-VN"/>
              <a:t>3. </a:t>
            </a:r>
            <a:r>
              <a:rPr lang="vi-VN" b="1"/>
              <a:t>Xây dựng hàm chuyển trạng thái </a:t>
            </a:r>
            <a:r>
              <a:rPr lang="vi-VN" b="1" smtClean="0"/>
              <a:t>(</a:t>
            </a:r>
            <a:r>
              <a:rPr lang="vi-VN">
                <a:sym typeface="Symbol"/>
              </a:rPr>
              <a:t></a:t>
            </a:r>
            <a:r>
              <a:rPr lang="vi-VN" smtClean="0"/>
              <a:t>: </a:t>
            </a:r>
            <a:r>
              <a:rPr lang="vi-VN" b="1" i="1"/>
              <a:t>Q × </a:t>
            </a:r>
            <a:r>
              <a:rPr lang="vi-VN">
                <a:sym typeface="Symbol"/>
              </a:rPr>
              <a:t></a:t>
            </a:r>
            <a:r>
              <a:rPr lang="vi-VN" smtClean="0"/>
              <a:t> </a:t>
            </a:r>
            <a:r>
              <a:rPr lang="vi-VN"/>
              <a:t>→ </a:t>
            </a:r>
            <a:r>
              <a:rPr lang="vi-VN" b="1" i="1"/>
              <a:t>Q </a:t>
            </a:r>
            <a:r>
              <a:rPr lang="vi-VN" b="1"/>
              <a:t>): </a:t>
            </a:r>
            <a:r>
              <a:rPr lang="vi-VN"/>
              <a:t>Vẽ các mũi tên chuyển đổi từ trạng thái này sang trạng thái khác cho </a:t>
            </a:r>
            <a:r>
              <a:rPr lang="vi-VN" i="1"/>
              <a:t>mọi </a:t>
            </a:r>
            <a:r>
              <a:rPr lang="vi-VN"/>
              <a:t>ký tự trong bảng chữ cái </a:t>
            </a:r>
            <a:r>
              <a:rPr lang="vi-VN" smtClean="0">
                <a:sym typeface="Symbol"/>
              </a:rPr>
              <a:t></a:t>
            </a:r>
            <a:r>
              <a:rPr lang="vi-VN" smtClean="0"/>
              <a:t>. </a:t>
            </a:r>
            <a:r>
              <a:rPr lang="vi-VN" b="1"/>
              <a:t>Lưu ý: </a:t>
            </a:r>
            <a:r>
              <a:rPr lang="vi-VN"/>
              <a:t>Mỗi trạng thái phải có số mũi tên đi ra bằng số phần tử của </a:t>
            </a:r>
            <a:r>
              <a:rPr lang="vi-VN" smtClean="0">
                <a:sym typeface="Symbol"/>
              </a:rPr>
              <a:t></a:t>
            </a:r>
            <a:r>
              <a:rPr lang="vi-VN" smtClean="0"/>
              <a:t>. </a:t>
            </a:r>
            <a:r>
              <a:rPr lang="vi-VN"/>
              <a:t>Xác định trạng thái bắt đầu (</a:t>
            </a:r>
            <a:r>
              <a:rPr lang="vi-VN" i="1"/>
              <a:t>q</a:t>
            </a:r>
            <a:r>
              <a:rPr lang="vi-VN" baseline="-25000"/>
              <a:t>0</a:t>
            </a:r>
            <a:r>
              <a:rPr lang="vi-VN"/>
              <a:t>) và tập trạng thái kết thúc (</a:t>
            </a:r>
            <a:r>
              <a:rPr lang="vi-VN" i="1"/>
              <a:t>F</a:t>
            </a:r>
            <a:r>
              <a:rPr lang="vi-VN"/>
              <a:t>) </a:t>
            </a:r>
          </a:p>
          <a:p>
            <a:pPr marL="0" indent="0">
              <a:buNone/>
            </a:pPr>
            <a:r>
              <a:rPr lang="en-US"/>
              <a:t>4. Vẽ DFA và Kiểm thử vài chuỗi. </a:t>
            </a:r>
          </a:p>
          <a:p>
            <a:endParaRPr lang="en-US"/>
          </a:p>
        </p:txBody>
      </p:sp>
    </p:spTree>
    <p:extLst>
      <p:ext uri="{BB962C8B-B14F-4D97-AF65-F5344CB8AC3E}">
        <p14:creationId xmlns:p14="http://schemas.microsoft.com/office/powerpoint/2010/main" val="2440518303"/>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15167" y="624110"/>
            <a:ext cx="9289446" cy="1642572"/>
          </a:xfrm>
        </p:spPr>
        <p:txBody>
          <a:bodyPr>
            <a:normAutofit fontScale="90000"/>
          </a:bodyPr>
          <a:lstStyle/>
          <a:p>
            <a:r>
              <a:rPr lang="en-US" smtClean="0"/>
              <a:t>Ví dụ 1. </a:t>
            </a:r>
            <a:r>
              <a:rPr lang="en-US"/>
              <a:t>Thiết kế một DFA trên </a:t>
            </a:r>
            <a:r>
              <a:rPr lang="en-US" smtClean="0">
                <a:sym typeface="Symbol"/>
              </a:rPr>
              <a:t></a:t>
            </a:r>
            <a:r>
              <a:rPr lang="en-US" smtClean="0"/>
              <a:t> </a:t>
            </a:r>
            <a:r>
              <a:rPr lang="en-US"/>
              <a:t>= {</a:t>
            </a:r>
            <a:r>
              <a:rPr lang="en-US" i="1"/>
              <a:t>a</a:t>
            </a:r>
            <a:r>
              <a:rPr lang="en-US"/>
              <a:t>, </a:t>
            </a:r>
            <a:r>
              <a:rPr lang="en-US" i="1"/>
              <a:t>b</a:t>
            </a:r>
            <a:r>
              <a:rPr lang="en-US"/>
              <a:t>} chấp nhận ngôn ngữ </a:t>
            </a:r>
            <a:r>
              <a:rPr lang="en-US" i="1"/>
              <a:t>L </a:t>
            </a:r>
            <a:r>
              <a:rPr lang="en-US"/>
              <a:t>gồm </a:t>
            </a:r>
            <a:r>
              <a:rPr lang="en-US" b="1"/>
              <a:t>tất cả các chuỗi có chứa ít nhất một chuỗi con </a:t>
            </a:r>
            <a:r>
              <a:rPr lang="en-US" b="1" i="1"/>
              <a:t>ab</a:t>
            </a:r>
            <a:r>
              <a:rPr lang="en-US"/>
              <a:t>. </a:t>
            </a:r>
          </a:p>
        </p:txBody>
      </p:sp>
      <p:sp>
        <p:nvSpPr>
          <p:cNvPr id="3" name="Content Placeholder 2"/>
          <p:cNvSpPr>
            <a:spLocks noGrp="1"/>
          </p:cNvSpPr>
          <p:nvPr>
            <p:ph idx="1"/>
          </p:nvPr>
        </p:nvSpPr>
        <p:spPr>
          <a:xfrm>
            <a:off x="2048299" y="2378299"/>
            <a:ext cx="8915400" cy="3777622"/>
          </a:xfrm>
        </p:spPr>
        <p:txBody>
          <a:bodyPr>
            <a:normAutofit lnSpcReduction="10000"/>
          </a:bodyPr>
          <a:lstStyle/>
          <a:p>
            <a:r>
              <a:rPr lang="vi-VN" b="1"/>
              <a:t>Phân tích để hiểu rõ </a:t>
            </a:r>
            <a:r>
              <a:rPr lang="vi-VN" b="1" i="1"/>
              <a:t>L </a:t>
            </a:r>
            <a:r>
              <a:rPr lang="vi-VN"/>
              <a:t>(phần in đậm của đề bài là MẪU) </a:t>
            </a:r>
          </a:p>
          <a:p>
            <a:pPr marL="0" indent="0">
              <a:buNone/>
            </a:pPr>
            <a:r>
              <a:rPr lang="en-US" i="1" smtClean="0"/>
              <a:t>	</a:t>
            </a:r>
            <a:r>
              <a:rPr lang="vi-VN" i="1" smtClean="0"/>
              <a:t>Chuỗi </a:t>
            </a:r>
            <a:r>
              <a:rPr lang="vi-VN" i="1"/>
              <a:t>được chấp nhận</a:t>
            </a:r>
            <a:r>
              <a:rPr lang="vi-VN"/>
              <a:t>: </a:t>
            </a:r>
            <a:r>
              <a:rPr lang="vi-VN" i="1"/>
              <a:t>ab</a:t>
            </a:r>
            <a:r>
              <a:rPr lang="vi-VN"/>
              <a:t>, </a:t>
            </a:r>
            <a:r>
              <a:rPr lang="vi-VN" i="1"/>
              <a:t>aab</a:t>
            </a:r>
            <a:r>
              <a:rPr lang="vi-VN"/>
              <a:t>, </a:t>
            </a:r>
            <a:r>
              <a:rPr lang="vi-VN" i="1"/>
              <a:t>abab</a:t>
            </a:r>
            <a:r>
              <a:rPr lang="vi-VN"/>
              <a:t>, </a:t>
            </a:r>
            <a:r>
              <a:rPr lang="vi-VN" i="1"/>
              <a:t>baab</a:t>
            </a:r>
            <a:r>
              <a:rPr lang="vi-VN"/>
              <a:t>, … </a:t>
            </a:r>
          </a:p>
          <a:p>
            <a:pPr marL="0" indent="0">
              <a:buNone/>
            </a:pPr>
            <a:r>
              <a:rPr lang="en-US" i="1" smtClean="0"/>
              <a:t>	Chuỗi </a:t>
            </a:r>
            <a:r>
              <a:rPr lang="en-US" i="1"/>
              <a:t>không chấp nhận </a:t>
            </a:r>
            <a:r>
              <a:rPr lang="en-US"/>
              <a:t>: "" (chuỗi rỗng), </a:t>
            </a:r>
            <a:r>
              <a:rPr lang="en-US" i="1"/>
              <a:t>a</a:t>
            </a:r>
            <a:r>
              <a:rPr lang="en-US"/>
              <a:t>, </a:t>
            </a:r>
            <a:r>
              <a:rPr lang="en-US" i="1"/>
              <a:t>b</a:t>
            </a:r>
            <a:r>
              <a:rPr lang="en-US"/>
              <a:t>, </a:t>
            </a:r>
            <a:r>
              <a:rPr lang="en-US" i="1"/>
              <a:t>baa</a:t>
            </a:r>
            <a:r>
              <a:rPr lang="en-US"/>
              <a:t>, </a:t>
            </a:r>
            <a:r>
              <a:rPr lang="en-US" i="1"/>
              <a:t>baaba</a:t>
            </a:r>
            <a:r>
              <a:rPr lang="en-US"/>
              <a:t>,… </a:t>
            </a:r>
          </a:p>
          <a:p>
            <a:r>
              <a:rPr lang="vi-VN" b="1"/>
              <a:t>Bước 1: Ghi nhớ của DFA </a:t>
            </a:r>
            <a:endParaRPr lang="vi-VN"/>
          </a:p>
          <a:p>
            <a:pPr marL="0" indent="0">
              <a:buNone/>
            </a:pPr>
            <a:r>
              <a:rPr lang="en-US" smtClean="0"/>
              <a:t>	</a:t>
            </a:r>
            <a:r>
              <a:rPr lang="vi-VN" smtClean="0"/>
              <a:t>Để </a:t>
            </a:r>
            <a:r>
              <a:rPr lang="vi-VN"/>
              <a:t>biết một chuỗi có chứa </a:t>
            </a:r>
            <a:r>
              <a:rPr lang="vi-VN" i="1"/>
              <a:t>ab </a:t>
            </a:r>
            <a:r>
              <a:rPr lang="vi-VN"/>
              <a:t>hay chưa, DFA cần ghi nhớ tiến trình đọc: </a:t>
            </a:r>
          </a:p>
          <a:p>
            <a:pPr marL="0" indent="0">
              <a:buNone/>
            </a:pPr>
            <a:r>
              <a:rPr lang="en-US" smtClean="0"/>
              <a:t>	</a:t>
            </a:r>
            <a:r>
              <a:rPr lang="vi-VN" smtClean="0"/>
              <a:t>+ </a:t>
            </a:r>
            <a:r>
              <a:rPr lang="vi-VN"/>
              <a:t>Mới bắt đầu hoặc vừa đọc xong các ký tự không liên quan đến MẪU thì: </a:t>
            </a:r>
            <a:r>
              <a:rPr lang="vi-VN" i="1"/>
              <a:t>Chưa thấy gì</a:t>
            </a:r>
            <a:r>
              <a:rPr lang="vi-VN"/>
              <a:t>. </a:t>
            </a:r>
          </a:p>
          <a:p>
            <a:pPr marL="0" indent="0">
              <a:buNone/>
            </a:pPr>
            <a:r>
              <a:rPr lang="en-US" smtClean="0"/>
              <a:t>	</a:t>
            </a:r>
            <a:r>
              <a:rPr lang="vi-VN" smtClean="0"/>
              <a:t>+ </a:t>
            </a:r>
            <a:r>
              <a:rPr lang="vi-VN"/>
              <a:t>Vừa đọc được ký tự </a:t>
            </a:r>
            <a:r>
              <a:rPr lang="vi-VN" i="1"/>
              <a:t>a </a:t>
            </a:r>
            <a:r>
              <a:rPr lang="vi-VN"/>
              <a:t>đầu tiên thì: Cần nhớ để chờ xem ký tự tiếp theo có phải là </a:t>
            </a:r>
            <a:r>
              <a:rPr lang="vi-VN" i="1"/>
              <a:t>b </a:t>
            </a:r>
            <a:r>
              <a:rPr lang="vi-VN"/>
              <a:t>không. </a:t>
            </a:r>
          </a:p>
          <a:p>
            <a:pPr marL="0" indent="0">
              <a:buNone/>
            </a:pPr>
            <a:r>
              <a:rPr lang="en-US" smtClean="0"/>
              <a:t>	</a:t>
            </a:r>
            <a:r>
              <a:rPr lang="vi-VN" smtClean="0"/>
              <a:t>+ </a:t>
            </a:r>
            <a:r>
              <a:rPr lang="vi-VN"/>
              <a:t>Đã đọc được chuỗi </a:t>
            </a:r>
            <a:r>
              <a:rPr lang="vi-VN" i="1"/>
              <a:t>ab </a:t>
            </a:r>
            <a:r>
              <a:rPr lang="vi-VN"/>
              <a:t>thì: Đã thành công, từ đây đọc thêm bất kỳ ký tự nào thì chuỗi vẫn hợp lệ.</a:t>
            </a:r>
            <a:endParaRPr lang="en-US"/>
          </a:p>
        </p:txBody>
      </p:sp>
    </p:spTree>
    <p:extLst>
      <p:ext uri="{BB962C8B-B14F-4D97-AF65-F5344CB8AC3E}">
        <p14:creationId xmlns:p14="http://schemas.microsoft.com/office/powerpoint/2010/main" val="618984962"/>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805445"/>
          </a:xfrm>
        </p:spPr>
        <p:txBody>
          <a:bodyPr/>
          <a:lstStyle/>
          <a:p>
            <a:r>
              <a:rPr lang="en-US" smtClean="0"/>
              <a:t>Ví dụ 1.</a:t>
            </a:r>
            <a:endParaRPr lang="en-US"/>
          </a:p>
        </p:txBody>
      </p:sp>
      <p:sp>
        <p:nvSpPr>
          <p:cNvPr id="3" name="Content Placeholder 2"/>
          <p:cNvSpPr>
            <a:spLocks noGrp="1"/>
          </p:cNvSpPr>
          <p:nvPr>
            <p:ph idx="1"/>
          </p:nvPr>
        </p:nvSpPr>
        <p:spPr/>
        <p:txBody>
          <a:bodyPr>
            <a:normAutofit/>
          </a:bodyPr>
          <a:lstStyle/>
          <a:p>
            <a:r>
              <a:rPr lang="vi-VN" b="1"/>
              <a:t>Bước 2: Xác định các trạng thái của Q </a:t>
            </a:r>
            <a:endParaRPr lang="vi-VN"/>
          </a:p>
          <a:p>
            <a:pPr marL="0" indent="0">
              <a:buNone/>
            </a:pPr>
            <a:r>
              <a:rPr lang="en-US" smtClean="0"/>
              <a:t>	</a:t>
            </a:r>
            <a:r>
              <a:rPr lang="vi-VN" smtClean="0"/>
              <a:t>Ta </a:t>
            </a:r>
            <a:r>
              <a:rPr lang="vi-VN"/>
              <a:t>xác định 3 trạng thái: </a:t>
            </a:r>
          </a:p>
          <a:p>
            <a:pPr marL="0" indent="0">
              <a:buNone/>
            </a:pPr>
            <a:r>
              <a:rPr lang="en-US" smtClean="0"/>
              <a:t>		</a:t>
            </a:r>
            <a:r>
              <a:rPr lang="vi-VN" smtClean="0"/>
              <a:t>+ </a:t>
            </a:r>
            <a:r>
              <a:rPr lang="vi-VN" b="1" i="1"/>
              <a:t>q</a:t>
            </a:r>
            <a:r>
              <a:rPr lang="vi-VN" b="1" baseline="-25000"/>
              <a:t>0</a:t>
            </a:r>
            <a:r>
              <a:rPr lang="vi-VN" b="1"/>
              <a:t> (Trạng thái bắt đầu): </a:t>
            </a:r>
            <a:r>
              <a:rPr lang="vi-VN"/>
              <a:t>Chưa đọc được gì hoặc chưa thấy ký tự </a:t>
            </a:r>
            <a:r>
              <a:rPr lang="vi-VN" i="1"/>
              <a:t>a </a:t>
            </a:r>
            <a:r>
              <a:rPr lang="vi-VN"/>
              <a:t>nào cho tiền tố </a:t>
            </a:r>
            <a:r>
              <a:rPr lang="vi-VN" i="1"/>
              <a:t>ab</a:t>
            </a:r>
            <a:r>
              <a:rPr lang="vi-VN"/>
              <a:t>. </a:t>
            </a:r>
          </a:p>
          <a:p>
            <a:pPr marL="0" indent="0">
              <a:buNone/>
            </a:pPr>
            <a:r>
              <a:rPr lang="en-US" smtClean="0"/>
              <a:t>		</a:t>
            </a:r>
            <a:r>
              <a:rPr lang="vi-VN" smtClean="0"/>
              <a:t>+ </a:t>
            </a:r>
            <a:r>
              <a:rPr lang="vi-VN" b="1" i="1"/>
              <a:t>q</a:t>
            </a:r>
            <a:r>
              <a:rPr lang="vi-VN" b="1" baseline="-25000"/>
              <a:t>1</a:t>
            </a:r>
            <a:r>
              <a:rPr lang="vi-VN" b="1"/>
              <a:t>: </a:t>
            </a:r>
            <a:r>
              <a:rPr lang="vi-VN"/>
              <a:t>Đã vừa đọc được ký tự </a:t>
            </a:r>
            <a:r>
              <a:rPr lang="vi-VN" i="1"/>
              <a:t>a </a:t>
            </a:r>
            <a:r>
              <a:rPr lang="vi-VN"/>
              <a:t>(đang chờ ký tự </a:t>
            </a:r>
            <a:r>
              <a:rPr lang="vi-VN" i="1"/>
              <a:t>b</a:t>
            </a:r>
            <a:r>
              <a:rPr lang="vi-VN"/>
              <a:t>). </a:t>
            </a:r>
          </a:p>
          <a:p>
            <a:pPr marL="0" indent="0">
              <a:buNone/>
            </a:pPr>
            <a:r>
              <a:rPr lang="en-US" smtClean="0"/>
              <a:t>		+ </a:t>
            </a:r>
            <a:r>
              <a:rPr lang="en-US" b="1" i="1"/>
              <a:t>q</a:t>
            </a:r>
            <a:r>
              <a:rPr lang="en-US" b="1" baseline="-25000"/>
              <a:t>2</a:t>
            </a:r>
            <a:r>
              <a:rPr lang="en-US" b="1"/>
              <a:t> (Trạng thái kết thúc): </a:t>
            </a:r>
            <a:r>
              <a:rPr lang="en-US"/>
              <a:t>Đã tìm thấy chuỗi con </a:t>
            </a:r>
            <a:r>
              <a:rPr lang="en-US" i="1"/>
              <a:t>ab</a:t>
            </a:r>
            <a:r>
              <a:rPr lang="en-US"/>
              <a:t>. </a:t>
            </a:r>
          </a:p>
          <a:p>
            <a:r>
              <a:rPr lang="vi-VN" i="1"/>
              <a:t>Q </a:t>
            </a:r>
            <a:r>
              <a:rPr lang="vi-VN"/>
              <a:t>= {</a:t>
            </a:r>
            <a:r>
              <a:rPr lang="vi-VN" i="1"/>
              <a:t>q</a:t>
            </a:r>
            <a:r>
              <a:rPr lang="vi-VN" baseline="-25000"/>
              <a:t>0</a:t>
            </a:r>
            <a:r>
              <a:rPr lang="vi-VN"/>
              <a:t>, </a:t>
            </a:r>
            <a:r>
              <a:rPr lang="vi-VN" i="1"/>
              <a:t>q</a:t>
            </a:r>
            <a:r>
              <a:rPr lang="vi-VN" baseline="-25000"/>
              <a:t>1</a:t>
            </a:r>
            <a:r>
              <a:rPr lang="vi-VN"/>
              <a:t>, </a:t>
            </a:r>
            <a:r>
              <a:rPr lang="vi-VN" i="1" smtClean="0"/>
              <a:t>q</a:t>
            </a:r>
            <a:r>
              <a:rPr lang="vi-VN" baseline="-25000" smtClean="0"/>
              <a:t>2</a:t>
            </a:r>
            <a:r>
              <a:rPr lang="en-US" smtClean="0"/>
              <a:t>},</a:t>
            </a:r>
            <a:r>
              <a:rPr lang="vi-VN" smtClean="0"/>
              <a:t> </a:t>
            </a:r>
            <a:r>
              <a:rPr lang="vi-VN" i="1"/>
              <a:t>q</a:t>
            </a:r>
            <a:r>
              <a:rPr lang="vi-VN" baseline="-25000"/>
              <a:t>0</a:t>
            </a:r>
            <a:r>
              <a:rPr lang="vi-VN"/>
              <a:t> là bắt đầu, </a:t>
            </a:r>
            <a:r>
              <a:rPr lang="vi-VN" i="1"/>
              <a:t>F </a:t>
            </a:r>
            <a:r>
              <a:rPr lang="vi-VN"/>
              <a:t>={</a:t>
            </a:r>
            <a:r>
              <a:rPr lang="vi-VN" i="1"/>
              <a:t>q</a:t>
            </a:r>
            <a:r>
              <a:rPr lang="vi-VN" baseline="-25000"/>
              <a:t>2</a:t>
            </a:r>
            <a:r>
              <a:rPr lang="vi-VN"/>
              <a:t>}. </a:t>
            </a:r>
          </a:p>
        </p:txBody>
      </p:sp>
    </p:spTree>
    <p:extLst>
      <p:ext uri="{BB962C8B-B14F-4D97-AF65-F5344CB8AC3E}">
        <p14:creationId xmlns:p14="http://schemas.microsoft.com/office/powerpoint/2010/main" val="2085931379"/>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Ví dụ 1.</a:t>
            </a:r>
            <a:endParaRPr lang="en-US"/>
          </a:p>
        </p:txBody>
      </p:sp>
      <p:sp>
        <p:nvSpPr>
          <p:cNvPr id="3" name="Content Placeholder 2"/>
          <p:cNvSpPr>
            <a:spLocks noGrp="1"/>
          </p:cNvSpPr>
          <p:nvPr>
            <p:ph idx="1"/>
          </p:nvPr>
        </p:nvSpPr>
        <p:spPr/>
        <p:txBody>
          <a:bodyPr>
            <a:normAutofit fontScale="92500" lnSpcReduction="20000"/>
          </a:bodyPr>
          <a:lstStyle/>
          <a:p>
            <a:r>
              <a:rPr lang="vi-VN" b="1"/>
              <a:t>Bước 3: Xây dựng hàm chuyển dịch </a:t>
            </a:r>
            <a:endParaRPr lang="vi-VN" smtClean="0"/>
          </a:p>
          <a:p>
            <a:pPr marL="457200" lvl="1" indent="0">
              <a:buNone/>
            </a:pPr>
            <a:r>
              <a:rPr lang="vi-VN" smtClean="0"/>
              <a:t>a xét đường đi cho từng trạng thái với các ký tự trong </a:t>
            </a:r>
            <a:r>
              <a:rPr lang="vi-VN" smtClean="0">
                <a:sym typeface="Symbol"/>
              </a:rPr>
              <a:t></a:t>
            </a:r>
            <a:r>
              <a:rPr lang="vi-VN" smtClean="0"/>
              <a:t> = {a, b}: </a:t>
            </a:r>
          </a:p>
          <a:p>
            <a:pPr marL="0" indent="0">
              <a:buNone/>
            </a:pPr>
            <a:r>
              <a:rPr lang="en-US" smtClean="0"/>
              <a:t>		</a:t>
            </a:r>
            <a:r>
              <a:rPr lang="vi-VN" smtClean="0"/>
              <a:t>+</a:t>
            </a:r>
            <a:r>
              <a:rPr lang="vi-VN" b="1"/>
              <a:t>Tại </a:t>
            </a:r>
            <a:r>
              <a:rPr lang="vi-VN" b="1" i="1"/>
              <a:t>q</a:t>
            </a:r>
            <a:r>
              <a:rPr lang="vi-VN" b="1"/>
              <a:t>0 (Chưa có gì): </a:t>
            </a:r>
            <a:endParaRPr lang="vi-VN"/>
          </a:p>
          <a:p>
            <a:pPr marL="0" indent="0">
              <a:buNone/>
            </a:pPr>
            <a:r>
              <a:rPr lang="en-US" smtClean="0"/>
              <a:t>			</a:t>
            </a:r>
            <a:r>
              <a:rPr lang="vi-VN" smtClean="0">
                <a:sym typeface="Symbol"/>
              </a:rPr>
              <a:t></a:t>
            </a:r>
            <a:r>
              <a:rPr lang="vi-VN" smtClean="0"/>
              <a:t>(</a:t>
            </a:r>
            <a:r>
              <a:rPr lang="vi-VN" i="1"/>
              <a:t>q</a:t>
            </a:r>
            <a:r>
              <a:rPr lang="vi-VN" baseline="-25000"/>
              <a:t>0</a:t>
            </a:r>
            <a:r>
              <a:rPr lang="vi-VN"/>
              <a:t>, </a:t>
            </a:r>
            <a:r>
              <a:rPr lang="vi-VN" i="1"/>
              <a:t>a</a:t>
            </a:r>
            <a:r>
              <a:rPr lang="vi-VN"/>
              <a:t>) → </a:t>
            </a:r>
            <a:r>
              <a:rPr lang="vi-VN" i="1"/>
              <a:t>q</a:t>
            </a:r>
            <a:r>
              <a:rPr lang="vi-VN" baseline="-25000"/>
              <a:t>1</a:t>
            </a:r>
            <a:r>
              <a:rPr lang="vi-VN"/>
              <a:t> (vì ta bắt đầu tìm thấy </a:t>
            </a:r>
            <a:r>
              <a:rPr lang="vi-VN" i="1"/>
              <a:t>a</a:t>
            </a:r>
            <a:r>
              <a:rPr lang="vi-VN"/>
              <a:t>). </a:t>
            </a:r>
          </a:p>
          <a:p>
            <a:pPr marL="0" indent="0">
              <a:buNone/>
            </a:pPr>
            <a:r>
              <a:rPr lang="en-US" smtClean="0"/>
              <a:t>			</a:t>
            </a:r>
            <a:r>
              <a:rPr lang="vi-VN" smtClean="0">
                <a:sym typeface="Symbol"/>
              </a:rPr>
              <a:t></a:t>
            </a:r>
            <a:r>
              <a:rPr lang="vi-VN" smtClean="0"/>
              <a:t>(</a:t>
            </a:r>
            <a:r>
              <a:rPr lang="vi-VN" i="1"/>
              <a:t>q</a:t>
            </a:r>
            <a:r>
              <a:rPr lang="vi-VN" baseline="-25000"/>
              <a:t>0</a:t>
            </a:r>
            <a:r>
              <a:rPr lang="vi-VN"/>
              <a:t>, </a:t>
            </a:r>
            <a:r>
              <a:rPr lang="vi-VN" i="1"/>
              <a:t>b</a:t>
            </a:r>
            <a:r>
              <a:rPr lang="vi-VN"/>
              <a:t>) → </a:t>
            </a:r>
            <a:r>
              <a:rPr lang="vi-VN" i="1"/>
              <a:t>q</a:t>
            </a:r>
            <a:r>
              <a:rPr lang="vi-VN" baseline="-25000"/>
              <a:t>0</a:t>
            </a:r>
            <a:r>
              <a:rPr lang="vi-VN"/>
              <a:t> Đọc </a:t>
            </a:r>
            <a:r>
              <a:rPr lang="vi-VN" i="1"/>
              <a:t>b</a:t>
            </a:r>
            <a:r>
              <a:rPr lang="vi-VN"/>
              <a:t>: Ở lại q</a:t>
            </a:r>
            <a:r>
              <a:rPr lang="vi-VN" baseline="-25000"/>
              <a:t>0</a:t>
            </a:r>
            <a:r>
              <a:rPr lang="vi-VN"/>
              <a:t> (vì đứng đầu là </a:t>
            </a:r>
            <a:r>
              <a:rPr lang="vi-VN" i="1"/>
              <a:t>b </a:t>
            </a:r>
            <a:r>
              <a:rPr lang="vi-VN"/>
              <a:t>thì chưa giúp gì cho </a:t>
            </a:r>
            <a:r>
              <a:rPr lang="vi-VN" i="1"/>
              <a:t>ab</a:t>
            </a:r>
            <a:r>
              <a:rPr lang="vi-VN"/>
              <a:t>). </a:t>
            </a:r>
          </a:p>
          <a:p>
            <a:pPr marL="0" indent="0">
              <a:buNone/>
            </a:pPr>
            <a:r>
              <a:rPr lang="en-US" smtClean="0"/>
              <a:t>		+</a:t>
            </a:r>
            <a:r>
              <a:rPr lang="en-US" b="1"/>
              <a:t>Tại </a:t>
            </a:r>
            <a:r>
              <a:rPr lang="en-US" b="1" i="1"/>
              <a:t>q</a:t>
            </a:r>
            <a:r>
              <a:rPr lang="en-US" b="1" baseline="-25000"/>
              <a:t>1</a:t>
            </a:r>
            <a:r>
              <a:rPr lang="en-US" b="1"/>
              <a:t> (Đã có '</a:t>
            </a:r>
            <a:r>
              <a:rPr lang="en-US" b="1" i="1"/>
              <a:t>a</a:t>
            </a:r>
            <a:r>
              <a:rPr lang="en-US" b="1"/>
              <a:t>'): </a:t>
            </a:r>
            <a:endParaRPr lang="en-US"/>
          </a:p>
          <a:p>
            <a:pPr marL="0" indent="0">
              <a:buNone/>
            </a:pPr>
            <a:r>
              <a:rPr lang="en-US" smtClean="0"/>
              <a:t>			</a:t>
            </a:r>
            <a:r>
              <a:rPr lang="vi-VN">
                <a:sym typeface="Symbol"/>
              </a:rPr>
              <a:t> </a:t>
            </a:r>
            <a:r>
              <a:rPr lang="vi-VN" smtClean="0"/>
              <a:t>(</a:t>
            </a:r>
            <a:r>
              <a:rPr lang="vi-VN" i="1"/>
              <a:t>q</a:t>
            </a:r>
            <a:r>
              <a:rPr lang="vi-VN" baseline="-25000"/>
              <a:t>1</a:t>
            </a:r>
            <a:r>
              <a:rPr lang="vi-VN"/>
              <a:t>, </a:t>
            </a:r>
            <a:r>
              <a:rPr lang="vi-VN" i="1"/>
              <a:t>a</a:t>
            </a:r>
            <a:r>
              <a:rPr lang="vi-VN"/>
              <a:t>) → </a:t>
            </a:r>
            <a:r>
              <a:rPr lang="vi-VN" i="1"/>
              <a:t>q</a:t>
            </a:r>
            <a:r>
              <a:rPr lang="vi-VN" baseline="-25000"/>
              <a:t>1</a:t>
            </a:r>
            <a:r>
              <a:rPr lang="vi-VN"/>
              <a:t> (vì chuỗi vẫn có thể dạng </a:t>
            </a:r>
            <a:r>
              <a:rPr lang="vi-VN" i="1"/>
              <a:t>aa...b</a:t>
            </a:r>
            <a:r>
              <a:rPr lang="vi-VN"/>
              <a:t>, ký tự </a:t>
            </a:r>
            <a:r>
              <a:rPr lang="vi-VN" i="1"/>
              <a:t>a </a:t>
            </a:r>
            <a:r>
              <a:rPr lang="vi-VN"/>
              <a:t>mới này có thể là khởi đầu cho </a:t>
            </a:r>
            <a:r>
              <a:rPr lang="vi-VN" i="1"/>
              <a:t>ab </a:t>
            </a:r>
            <a:r>
              <a:rPr lang="vi-VN"/>
              <a:t>tiếp theo). </a:t>
            </a:r>
          </a:p>
          <a:p>
            <a:pPr marL="0" indent="0">
              <a:buNone/>
            </a:pPr>
            <a:r>
              <a:rPr lang="en-US" smtClean="0"/>
              <a:t>			</a:t>
            </a:r>
            <a:r>
              <a:rPr lang="vi-VN">
                <a:sym typeface="Symbol"/>
              </a:rPr>
              <a:t> </a:t>
            </a:r>
            <a:r>
              <a:rPr lang="vi-VN" smtClean="0"/>
              <a:t>(</a:t>
            </a:r>
            <a:r>
              <a:rPr lang="vi-VN" i="1"/>
              <a:t>q</a:t>
            </a:r>
            <a:r>
              <a:rPr lang="vi-VN" baseline="-25000"/>
              <a:t>1</a:t>
            </a:r>
            <a:r>
              <a:rPr lang="vi-VN"/>
              <a:t>, </a:t>
            </a:r>
            <a:r>
              <a:rPr lang="vi-VN" i="1"/>
              <a:t>b</a:t>
            </a:r>
            <a:r>
              <a:rPr lang="vi-VN"/>
              <a:t>) → </a:t>
            </a:r>
            <a:r>
              <a:rPr lang="vi-VN" i="1"/>
              <a:t>q</a:t>
            </a:r>
            <a:r>
              <a:rPr lang="vi-VN" baseline="-25000"/>
              <a:t>2</a:t>
            </a:r>
            <a:r>
              <a:rPr lang="vi-VN"/>
              <a:t> (vì ta đã hoàn thành đọc được chuỗi </a:t>
            </a:r>
            <a:r>
              <a:rPr lang="vi-VN" i="1"/>
              <a:t>ab</a:t>
            </a:r>
            <a:r>
              <a:rPr lang="vi-VN"/>
              <a:t>). </a:t>
            </a:r>
          </a:p>
          <a:p>
            <a:pPr marL="0" indent="0">
              <a:buNone/>
            </a:pPr>
            <a:r>
              <a:rPr lang="en-US" smtClean="0"/>
              <a:t> 		+</a:t>
            </a:r>
            <a:r>
              <a:rPr lang="en-US" b="1"/>
              <a:t>Tại </a:t>
            </a:r>
            <a:r>
              <a:rPr lang="en-US" b="1" i="1"/>
              <a:t>q</a:t>
            </a:r>
            <a:r>
              <a:rPr lang="en-US" b="1" baseline="-25000"/>
              <a:t>2</a:t>
            </a:r>
            <a:r>
              <a:rPr lang="en-US" b="1"/>
              <a:t> (Đã thành công - </a:t>
            </a:r>
            <a:r>
              <a:rPr lang="en-US" b="1" i="1"/>
              <a:t>q</a:t>
            </a:r>
            <a:r>
              <a:rPr lang="en-US" b="1" baseline="-25000"/>
              <a:t>2</a:t>
            </a:r>
            <a:r>
              <a:rPr lang="en-US" b="1"/>
              <a:t> là trạng thái chấp nhận): </a:t>
            </a:r>
            <a:endParaRPr lang="en-US"/>
          </a:p>
          <a:p>
            <a:pPr marL="0" indent="0">
              <a:buNone/>
            </a:pPr>
            <a:r>
              <a:rPr lang="en-US" smtClean="0"/>
              <a:t>			</a:t>
            </a:r>
            <a:r>
              <a:rPr lang="vi-VN">
                <a:sym typeface="Symbol"/>
              </a:rPr>
              <a:t> </a:t>
            </a:r>
            <a:r>
              <a:rPr lang="vi-VN" smtClean="0"/>
              <a:t>(</a:t>
            </a:r>
            <a:r>
              <a:rPr lang="vi-VN" i="1"/>
              <a:t>q</a:t>
            </a:r>
            <a:r>
              <a:rPr lang="vi-VN" baseline="-25000"/>
              <a:t>2</a:t>
            </a:r>
            <a:r>
              <a:rPr lang="vi-VN"/>
              <a:t>, </a:t>
            </a:r>
            <a:r>
              <a:rPr lang="vi-VN" i="1"/>
              <a:t>a</a:t>
            </a:r>
            <a:r>
              <a:rPr lang="vi-VN"/>
              <a:t>) → </a:t>
            </a:r>
            <a:r>
              <a:rPr lang="vi-VN" i="1"/>
              <a:t>q</a:t>
            </a:r>
            <a:r>
              <a:rPr lang="vi-VN" baseline="-25000"/>
              <a:t>2</a:t>
            </a:r>
            <a:r>
              <a:rPr lang="vi-VN"/>
              <a:t> , </a:t>
            </a:r>
            <a:r>
              <a:rPr lang="vi-VN">
                <a:sym typeface="Symbol"/>
              </a:rPr>
              <a:t></a:t>
            </a:r>
            <a:r>
              <a:rPr lang="vi-VN" smtClean="0"/>
              <a:t>(</a:t>
            </a:r>
            <a:r>
              <a:rPr lang="vi-VN" i="1"/>
              <a:t>q</a:t>
            </a:r>
            <a:r>
              <a:rPr lang="vi-VN" baseline="-25000"/>
              <a:t>2</a:t>
            </a:r>
            <a:r>
              <a:rPr lang="vi-VN"/>
              <a:t>, </a:t>
            </a:r>
            <a:r>
              <a:rPr lang="vi-VN" i="1"/>
              <a:t>b</a:t>
            </a:r>
            <a:r>
              <a:rPr lang="vi-VN"/>
              <a:t>) → </a:t>
            </a:r>
            <a:r>
              <a:rPr lang="vi-VN" i="1"/>
              <a:t>q</a:t>
            </a:r>
            <a:r>
              <a:rPr lang="vi-VN" baseline="-25000"/>
              <a:t>2</a:t>
            </a:r>
            <a:r>
              <a:rPr lang="vi-VN"/>
              <a:t> (vì chuỗi đã chứa </a:t>
            </a:r>
            <a:r>
              <a:rPr lang="vi-VN" i="1"/>
              <a:t>ab </a:t>
            </a:r>
            <a:r>
              <a:rPr lang="vi-VN"/>
              <a:t>rồi thì đọc thêm gì ở sau cũng vẫn thỏa mãn đề bài).</a:t>
            </a:r>
            <a:endParaRPr lang="en-US"/>
          </a:p>
          <a:p>
            <a:endParaRPr lang="en-US"/>
          </a:p>
        </p:txBody>
      </p:sp>
    </p:spTree>
    <p:extLst>
      <p:ext uri="{BB962C8B-B14F-4D97-AF65-F5344CB8AC3E}">
        <p14:creationId xmlns:p14="http://schemas.microsoft.com/office/powerpoint/2010/main" val="1166617399"/>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Ví dụ 1.</a:t>
            </a:r>
            <a:endParaRPr lang="en-US"/>
          </a:p>
        </p:txBody>
      </p:sp>
      <p:sp>
        <p:nvSpPr>
          <p:cNvPr id="3" name="Content Placeholder 2"/>
          <p:cNvSpPr>
            <a:spLocks noGrp="1"/>
          </p:cNvSpPr>
          <p:nvPr>
            <p:ph idx="1"/>
          </p:nvPr>
        </p:nvSpPr>
        <p:spPr/>
        <p:txBody>
          <a:bodyPr>
            <a:normAutofit/>
          </a:bodyPr>
          <a:lstStyle/>
          <a:p>
            <a:r>
              <a:rPr lang="vi-VN" b="1" smtClean="0"/>
              <a:t>Bước </a:t>
            </a:r>
            <a:r>
              <a:rPr lang="vi-VN" b="1"/>
              <a:t>4</a:t>
            </a:r>
            <a:r>
              <a:rPr lang="vi-VN"/>
              <a:t>: </a:t>
            </a:r>
            <a:r>
              <a:rPr lang="en-US" b="1" smtClean="0"/>
              <a:t>Vẽ DFA, và </a:t>
            </a:r>
            <a:r>
              <a:rPr lang="vi-VN" b="1" smtClean="0"/>
              <a:t>Kiểm thử</a:t>
            </a:r>
            <a:endParaRPr lang="en-US" b="1" smtClean="0"/>
          </a:p>
          <a:p>
            <a:endParaRPr lang="en-US" b="1"/>
          </a:p>
          <a:p>
            <a:endParaRPr lang="en-US" b="1" smtClean="0"/>
          </a:p>
          <a:p>
            <a:endParaRPr lang="en-US" b="1"/>
          </a:p>
          <a:p>
            <a:endParaRPr lang="en-US" b="1" smtClean="0"/>
          </a:p>
          <a:p>
            <a:endParaRPr lang="en-US" b="1"/>
          </a:p>
          <a:p>
            <a:endParaRPr lang="en-US" b="1" smtClean="0"/>
          </a:p>
          <a:p>
            <a:r>
              <a:rPr lang="en-US"/>
              <a:t>(</a:t>
            </a:r>
            <a:r>
              <a:rPr lang="en-US" i="1"/>
              <a:t>q</a:t>
            </a:r>
            <a:r>
              <a:rPr lang="en-US" baseline="-25000"/>
              <a:t>0</a:t>
            </a:r>
            <a:r>
              <a:rPr lang="en-US"/>
              <a:t>, </a:t>
            </a:r>
            <a:r>
              <a:rPr lang="en-US" i="1"/>
              <a:t>baa</a:t>
            </a:r>
            <a:r>
              <a:rPr lang="en-US"/>
              <a:t>) → (</a:t>
            </a:r>
            <a:r>
              <a:rPr lang="en-US" i="1"/>
              <a:t>q</a:t>
            </a:r>
            <a:r>
              <a:rPr lang="en-US" baseline="-25000"/>
              <a:t>0</a:t>
            </a:r>
            <a:r>
              <a:rPr lang="en-US"/>
              <a:t>, </a:t>
            </a:r>
            <a:r>
              <a:rPr lang="en-US" i="1"/>
              <a:t>aa</a:t>
            </a:r>
            <a:r>
              <a:rPr lang="en-US"/>
              <a:t>) → (</a:t>
            </a:r>
            <a:r>
              <a:rPr lang="en-US" i="1"/>
              <a:t>q</a:t>
            </a:r>
            <a:r>
              <a:rPr lang="en-US" baseline="-25000"/>
              <a:t>1</a:t>
            </a:r>
            <a:r>
              <a:rPr lang="en-US"/>
              <a:t>, </a:t>
            </a:r>
            <a:r>
              <a:rPr lang="en-US" i="1"/>
              <a:t>a</a:t>
            </a:r>
            <a:r>
              <a:rPr lang="en-US"/>
              <a:t>) → </a:t>
            </a:r>
            <a:r>
              <a:rPr lang="en-US" i="1"/>
              <a:t>q</a:t>
            </a:r>
            <a:r>
              <a:rPr lang="en-US" baseline="-25000"/>
              <a:t>1</a:t>
            </a:r>
            <a:r>
              <a:rPr lang="en-US"/>
              <a:t> không là trạng thái kết thúc, từ chối </a:t>
            </a:r>
            <a:r>
              <a:rPr lang="en-US" i="1"/>
              <a:t>abb </a:t>
            </a:r>
            <a:endParaRPr lang="en-US"/>
          </a:p>
          <a:p>
            <a:r>
              <a:rPr lang="vi-VN"/>
              <a:t>(</a:t>
            </a:r>
            <a:r>
              <a:rPr lang="vi-VN" i="1"/>
              <a:t>q</a:t>
            </a:r>
            <a:r>
              <a:rPr lang="vi-VN" baseline="-25000"/>
              <a:t>0</a:t>
            </a:r>
            <a:r>
              <a:rPr lang="vi-VN"/>
              <a:t>, </a:t>
            </a:r>
            <a:r>
              <a:rPr lang="vi-VN" i="1"/>
              <a:t>aab</a:t>
            </a:r>
            <a:r>
              <a:rPr lang="vi-VN"/>
              <a:t>) → (</a:t>
            </a:r>
            <a:r>
              <a:rPr lang="vi-VN" i="1"/>
              <a:t>q</a:t>
            </a:r>
            <a:r>
              <a:rPr lang="vi-VN" baseline="-25000"/>
              <a:t>1</a:t>
            </a:r>
            <a:r>
              <a:rPr lang="vi-VN"/>
              <a:t>, </a:t>
            </a:r>
            <a:r>
              <a:rPr lang="vi-VN" i="1"/>
              <a:t>ab</a:t>
            </a:r>
            <a:r>
              <a:rPr lang="vi-VN"/>
              <a:t>) → (</a:t>
            </a:r>
            <a:r>
              <a:rPr lang="vi-VN" i="1"/>
              <a:t>q</a:t>
            </a:r>
            <a:r>
              <a:rPr lang="vi-VN" baseline="-25000"/>
              <a:t>1</a:t>
            </a:r>
            <a:r>
              <a:rPr lang="vi-VN"/>
              <a:t>, </a:t>
            </a:r>
            <a:r>
              <a:rPr lang="vi-VN" i="1"/>
              <a:t>b</a:t>
            </a:r>
            <a:r>
              <a:rPr lang="vi-VN"/>
              <a:t>) → </a:t>
            </a:r>
            <a:r>
              <a:rPr lang="vi-VN" i="1"/>
              <a:t>q</a:t>
            </a:r>
            <a:r>
              <a:rPr lang="vi-VN" baseline="-25000"/>
              <a:t>2</a:t>
            </a:r>
            <a:r>
              <a:rPr lang="vi-VN"/>
              <a:t> Kết thúc, </a:t>
            </a:r>
            <a:r>
              <a:rPr lang="vi-VN" i="1"/>
              <a:t>aab </a:t>
            </a:r>
            <a:r>
              <a:rPr lang="vi-VN"/>
              <a:t>được chấp nhận.</a:t>
            </a:r>
            <a:endParaRPr lang="en-US"/>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70358" y="2990850"/>
            <a:ext cx="5398058" cy="14394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95339568"/>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Bài tập.</a:t>
            </a:r>
            <a:endParaRPr lang="en-US"/>
          </a:p>
        </p:txBody>
      </p:sp>
      <p:sp>
        <p:nvSpPr>
          <p:cNvPr id="3" name="Content Placeholder 2"/>
          <p:cNvSpPr>
            <a:spLocks noGrp="1"/>
          </p:cNvSpPr>
          <p:nvPr>
            <p:ph idx="1"/>
          </p:nvPr>
        </p:nvSpPr>
        <p:spPr/>
        <p:txBody>
          <a:bodyPr/>
          <a:lstStyle/>
          <a:p>
            <a:pPr marL="0" indent="0">
              <a:buNone/>
            </a:pPr>
            <a:r>
              <a:rPr lang="en-US" smtClean="0"/>
              <a:t>1. </a:t>
            </a:r>
            <a:r>
              <a:rPr lang="vi-VN"/>
              <a:t>Thiết kế DFA trên </a:t>
            </a:r>
            <a:r>
              <a:rPr lang="vi-VN" smtClean="0">
                <a:sym typeface="Symbol"/>
              </a:rPr>
              <a:t></a:t>
            </a:r>
            <a:r>
              <a:rPr lang="vi-VN" smtClean="0"/>
              <a:t> </a:t>
            </a:r>
            <a:r>
              <a:rPr lang="vi-VN"/>
              <a:t>={</a:t>
            </a:r>
            <a:r>
              <a:rPr lang="vi-VN" i="1"/>
              <a:t>a</a:t>
            </a:r>
            <a:r>
              <a:rPr lang="vi-VN"/>
              <a:t>, b} chấp nhận ngôn ngữ </a:t>
            </a:r>
            <a:r>
              <a:rPr lang="vi-VN" i="1"/>
              <a:t>L </a:t>
            </a:r>
            <a:r>
              <a:rPr lang="vi-VN"/>
              <a:t>gồm </a:t>
            </a:r>
            <a:r>
              <a:rPr lang="vi-VN" b="1"/>
              <a:t>các chuỗi bắt đầu là ký tự </a:t>
            </a:r>
            <a:r>
              <a:rPr lang="vi-VN" b="1" i="1"/>
              <a:t>a</a:t>
            </a:r>
            <a:r>
              <a:rPr lang="vi-VN"/>
              <a:t>. </a:t>
            </a:r>
            <a:endParaRPr lang="en-US"/>
          </a:p>
        </p:txBody>
      </p:sp>
    </p:spTree>
    <p:extLst>
      <p:ext uri="{BB962C8B-B14F-4D97-AF65-F5344CB8AC3E}">
        <p14:creationId xmlns:p14="http://schemas.microsoft.com/office/powerpoint/2010/main" val="1387875264"/>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mtClean="0"/>
              <a:t>Ví dụ 2. </a:t>
            </a:r>
            <a:r>
              <a:rPr lang="vi-VN"/>
              <a:t>Thiết kế DFA nhận ra tập hợp tất cả các chuỗi trên </a:t>
            </a:r>
            <a:r>
              <a:rPr lang="vi-VN" smtClean="0">
                <a:sym typeface="Symbol"/>
              </a:rPr>
              <a:t></a:t>
            </a:r>
            <a:r>
              <a:rPr lang="vi-VN" smtClean="0"/>
              <a:t> </a:t>
            </a:r>
            <a:r>
              <a:rPr lang="vi-VN" i="1"/>
              <a:t>= </a:t>
            </a:r>
            <a:r>
              <a:rPr lang="en-US"/>
              <a:t>{</a:t>
            </a:r>
            <a:r>
              <a:rPr lang="vi-VN" i="1" smtClean="0"/>
              <a:t>a</a:t>
            </a:r>
            <a:r>
              <a:rPr lang="vi-VN"/>
              <a:t>, </a:t>
            </a:r>
            <a:r>
              <a:rPr lang="vi-VN" i="1"/>
              <a:t>b</a:t>
            </a:r>
            <a:r>
              <a:rPr lang="vi-VN"/>
              <a:t>} </a:t>
            </a:r>
            <a:r>
              <a:rPr lang="vi-VN" b="1"/>
              <a:t>bắt đầu với chuỗi </a:t>
            </a:r>
            <a:r>
              <a:rPr lang="vi-VN" b="1" i="1"/>
              <a:t>ab</a:t>
            </a:r>
            <a:r>
              <a:rPr lang="vi-VN"/>
              <a:t>. </a:t>
            </a:r>
            <a:endParaRPr lang="en-US"/>
          </a:p>
        </p:txBody>
      </p:sp>
      <p:sp>
        <p:nvSpPr>
          <p:cNvPr id="3" name="Content Placeholder 2"/>
          <p:cNvSpPr>
            <a:spLocks noGrp="1"/>
          </p:cNvSpPr>
          <p:nvPr>
            <p:ph idx="1"/>
          </p:nvPr>
        </p:nvSpPr>
        <p:spPr/>
        <p:txBody>
          <a:bodyPr/>
          <a:lstStyle/>
          <a:p>
            <a:pPr marL="0" indent="0">
              <a:buNone/>
            </a:pPr>
            <a:r>
              <a:rPr lang="en-US" i="1" smtClean="0"/>
              <a:t>	Chuỗi </a:t>
            </a:r>
            <a:r>
              <a:rPr lang="en-US" i="1"/>
              <a:t>thuộc DFA: ab</a:t>
            </a:r>
            <a:r>
              <a:rPr lang="en-US"/>
              <a:t>, </a:t>
            </a:r>
            <a:r>
              <a:rPr lang="en-US" i="1"/>
              <a:t>abaa</a:t>
            </a:r>
            <a:r>
              <a:rPr lang="en-US"/>
              <a:t>, </a:t>
            </a:r>
            <a:r>
              <a:rPr lang="en-US" i="1"/>
              <a:t>abbb</a:t>
            </a:r>
            <a:r>
              <a:rPr lang="en-US"/>
              <a:t>, </a:t>
            </a:r>
            <a:r>
              <a:rPr lang="en-US" i="1"/>
              <a:t>ababbaa</a:t>
            </a:r>
            <a:r>
              <a:rPr lang="en-US"/>
              <a:t>, ... </a:t>
            </a:r>
          </a:p>
          <a:p>
            <a:pPr marL="0" indent="0">
              <a:buNone/>
            </a:pPr>
            <a:r>
              <a:rPr lang="en-US" i="1" smtClean="0"/>
              <a:t>	Chuỗi </a:t>
            </a:r>
            <a:r>
              <a:rPr lang="en-US" i="1"/>
              <a:t>không thuộc L: </a:t>
            </a:r>
            <a:r>
              <a:rPr lang="en-US"/>
              <a:t>"", </a:t>
            </a:r>
            <a:r>
              <a:rPr lang="en-US" i="1"/>
              <a:t>b</a:t>
            </a:r>
            <a:r>
              <a:rPr lang="en-US"/>
              <a:t>, </a:t>
            </a:r>
            <a:r>
              <a:rPr lang="en-US" i="1"/>
              <a:t>ba</a:t>
            </a:r>
            <a:r>
              <a:rPr lang="en-US"/>
              <a:t>, </a:t>
            </a:r>
            <a:r>
              <a:rPr lang="en-US" i="1"/>
              <a:t>bba</a:t>
            </a:r>
            <a:r>
              <a:rPr lang="en-US"/>
              <a:t>, ... </a:t>
            </a:r>
          </a:p>
          <a:p>
            <a:pPr marL="0" indent="0">
              <a:buNone/>
            </a:pPr>
            <a:r>
              <a:rPr lang="vi-VN"/>
              <a:t>1. </a:t>
            </a:r>
            <a:r>
              <a:rPr lang="vi-VN" b="1"/>
              <a:t>Phân tích cần nhớ: </a:t>
            </a:r>
            <a:r>
              <a:rPr lang="vi-VN"/>
              <a:t>DFA cần kiểm tra 2 ký tự đầu tiên có phải là </a:t>
            </a:r>
            <a:r>
              <a:rPr lang="vi-VN" i="1"/>
              <a:t>ab </a:t>
            </a:r>
            <a:r>
              <a:rPr lang="vi-VN"/>
              <a:t>không. Nếu ký tự đầu là </a:t>
            </a:r>
            <a:r>
              <a:rPr lang="vi-VN" i="1"/>
              <a:t>b</a:t>
            </a:r>
            <a:r>
              <a:rPr lang="vi-VN"/>
              <a:t>, từ chối ngay. </a:t>
            </a:r>
          </a:p>
          <a:p>
            <a:pPr marL="0" indent="0">
              <a:buNone/>
            </a:pPr>
            <a:r>
              <a:rPr lang="vi-VN" b="1"/>
              <a:t>2. Xác định trạng thái : </a:t>
            </a:r>
            <a:endParaRPr lang="vi-VN"/>
          </a:p>
          <a:p>
            <a:pPr marL="0" indent="0">
              <a:buNone/>
            </a:pPr>
            <a:r>
              <a:rPr lang="en-US" smtClean="0"/>
              <a:t>	</a:t>
            </a:r>
            <a:r>
              <a:rPr lang="vi-VN" smtClean="0"/>
              <a:t>q</a:t>
            </a:r>
            <a:r>
              <a:rPr lang="vi-VN" baseline="-25000" smtClean="0"/>
              <a:t>0</a:t>
            </a:r>
            <a:r>
              <a:rPr lang="vi-VN"/>
              <a:t>: Trạng thái ban đầu, </a:t>
            </a:r>
          </a:p>
          <a:p>
            <a:pPr marL="0" indent="0">
              <a:buNone/>
            </a:pPr>
            <a:r>
              <a:rPr lang="en-US" i="1" smtClean="0"/>
              <a:t>	</a:t>
            </a:r>
            <a:r>
              <a:rPr lang="vi-VN" i="1" smtClean="0"/>
              <a:t>q</a:t>
            </a:r>
            <a:r>
              <a:rPr lang="vi-VN" baseline="-25000" smtClean="0"/>
              <a:t>1</a:t>
            </a:r>
            <a:r>
              <a:rPr lang="vi-VN"/>
              <a:t>: Đã nhận ký </a:t>
            </a:r>
            <a:r>
              <a:rPr lang="vi-VN" i="1"/>
              <a:t>a </a:t>
            </a:r>
            <a:r>
              <a:rPr lang="vi-VN"/>
              <a:t>đầu chuỗi </a:t>
            </a:r>
          </a:p>
          <a:p>
            <a:pPr marL="0" indent="0">
              <a:buNone/>
            </a:pPr>
            <a:r>
              <a:rPr lang="en-US" i="1" smtClean="0"/>
              <a:t>	</a:t>
            </a:r>
            <a:r>
              <a:rPr lang="vi-VN" i="1" smtClean="0"/>
              <a:t>q</a:t>
            </a:r>
            <a:r>
              <a:rPr lang="vi-VN" baseline="-25000" smtClean="0"/>
              <a:t>2</a:t>
            </a:r>
            <a:r>
              <a:rPr lang="vi-VN"/>
              <a:t>: Đã nhận chuỗi </a:t>
            </a:r>
            <a:r>
              <a:rPr lang="vi-VN" i="1"/>
              <a:t>ab </a:t>
            </a:r>
            <a:r>
              <a:rPr lang="vi-VN"/>
              <a:t>đầu chuỗi và sau đó khi hết chuỗi nhập thì kết thúc ờ </a:t>
            </a:r>
            <a:r>
              <a:rPr lang="vi-VN" i="1"/>
              <a:t>q</a:t>
            </a:r>
            <a:r>
              <a:rPr lang="vi-VN"/>
              <a:t>2, </a:t>
            </a:r>
          </a:p>
          <a:p>
            <a:pPr marL="0" indent="0">
              <a:buNone/>
            </a:pPr>
            <a:r>
              <a:rPr lang="en-US" i="1" smtClean="0"/>
              <a:t>	q</a:t>
            </a:r>
            <a:r>
              <a:rPr lang="en-US" i="1" baseline="-25000" smtClean="0"/>
              <a:t>3</a:t>
            </a:r>
            <a:r>
              <a:rPr lang="en-US" i="1"/>
              <a:t>: Trạng thái không kết thúc, chính là trạng thái bẫy.</a:t>
            </a:r>
            <a:endParaRPr lang="en-US"/>
          </a:p>
        </p:txBody>
      </p:sp>
    </p:spTree>
    <p:extLst>
      <p:ext uri="{BB962C8B-B14F-4D97-AF65-F5344CB8AC3E}">
        <p14:creationId xmlns:p14="http://schemas.microsoft.com/office/powerpoint/2010/main" val="353835241"/>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Ví dụ 2.</a:t>
            </a:r>
            <a:endParaRPr lang="en-US"/>
          </a:p>
        </p:txBody>
      </p:sp>
      <p:sp>
        <p:nvSpPr>
          <p:cNvPr id="3" name="Content Placeholder 2"/>
          <p:cNvSpPr>
            <a:spLocks noGrp="1"/>
          </p:cNvSpPr>
          <p:nvPr>
            <p:ph idx="1"/>
          </p:nvPr>
        </p:nvSpPr>
        <p:spPr>
          <a:xfrm>
            <a:off x="2537697" y="1757543"/>
            <a:ext cx="8915400" cy="3777622"/>
          </a:xfrm>
        </p:spPr>
        <p:txBody>
          <a:bodyPr/>
          <a:lstStyle/>
          <a:p>
            <a:endParaRPr lang="en-US"/>
          </a:p>
          <a:p>
            <a:r>
              <a:rPr lang="en-US" b="1"/>
              <a:t>3. Hàm chuyển dịch </a:t>
            </a:r>
            <a:endParaRPr lang="en-US"/>
          </a:p>
          <a:p>
            <a:pPr marL="0" indent="0">
              <a:buNone/>
            </a:pPr>
            <a:r>
              <a:rPr lang="en-US" smtClean="0"/>
              <a:t>	(</a:t>
            </a:r>
            <a:r>
              <a:rPr lang="en-US" i="1"/>
              <a:t>q</a:t>
            </a:r>
            <a:r>
              <a:rPr lang="en-US" baseline="-25000"/>
              <a:t>0</a:t>
            </a:r>
            <a:r>
              <a:rPr lang="en-US"/>
              <a:t>, </a:t>
            </a:r>
            <a:r>
              <a:rPr lang="en-US" i="1"/>
              <a:t>a</a:t>
            </a:r>
            <a:r>
              <a:rPr lang="en-US"/>
              <a:t>) → </a:t>
            </a:r>
            <a:r>
              <a:rPr lang="en-US" i="1"/>
              <a:t>q</a:t>
            </a:r>
            <a:r>
              <a:rPr lang="en-US" baseline="-25000"/>
              <a:t>1</a:t>
            </a:r>
            <a:r>
              <a:rPr lang="en-US"/>
              <a:t>, (</a:t>
            </a:r>
            <a:r>
              <a:rPr lang="en-US" i="1"/>
              <a:t>q</a:t>
            </a:r>
            <a:r>
              <a:rPr lang="en-US" baseline="-25000"/>
              <a:t>0</a:t>
            </a:r>
            <a:r>
              <a:rPr lang="en-US"/>
              <a:t>, </a:t>
            </a:r>
            <a:r>
              <a:rPr lang="en-US" i="1"/>
              <a:t>b</a:t>
            </a:r>
            <a:r>
              <a:rPr lang="en-US"/>
              <a:t>) → </a:t>
            </a:r>
            <a:r>
              <a:rPr lang="en-US" i="1"/>
              <a:t>q</a:t>
            </a:r>
            <a:r>
              <a:rPr lang="en-US" baseline="-25000"/>
              <a:t>3</a:t>
            </a:r>
            <a:r>
              <a:rPr lang="en-US"/>
              <a:t>, </a:t>
            </a:r>
          </a:p>
          <a:p>
            <a:pPr marL="0" indent="0">
              <a:buNone/>
            </a:pPr>
            <a:r>
              <a:rPr lang="en-US" smtClean="0"/>
              <a:t>	(</a:t>
            </a:r>
            <a:r>
              <a:rPr lang="en-US" i="1"/>
              <a:t>q</a:t>
            </a:r>
            <a:r>
              <a:rPr lang="en-US" baseline="-25000"/>
              <a:t>1</a:t>
            </a:r>
            <a:r>
              <a:rPr lang="en-US"/>
              <a:t>, </a:t>
            </a:r>
            <a:r>
              <a:rPr lang="en-US" i="1"/>
              <a:t>a</a:t>
            </a:r>
            <a:r>
              <a:rPr lang="en-US"/>
              <a:t>) → </a:t>
            </a:r>
            <a:r>
              <a:rPr lang="en-US" i="1"/>
              <a:t>q</a:t>
            </a:r>
            <a:r>
              <a:rPr lang="en-US" baseline="-25000"/>
              <a:t>3</a:t>
            </a:r>
            <a:r>
              <a:rPr lang="en-US"/>
              <a:t>, (</a:t>
            </a:r>
            <a:r>
              <a:rPr lang="en-US" i="1"/>
              <a:t>q</a:t>
            </a:r>
            <a:r>
              <a:rPr lang="en-US" baseline="-25000"/>
              <a:t>1</a:t>
            </a:r>
            <a:r>
              <a:rPr lang="en-US"/>
              <a:t>, </a:t>
            </a:r>
            <a:r>
              <a:rPr lang="en-US" i="1"/>
              <a:t>b</a:t>
            </a:r>
            <a:r>
              <a:rPr lang="en-US"/>
              <a:t>) → </a:t>
            </a:r>
            <a:r>
              <a:rPr lang="en-US" i="1"/>
              <a:t>q</a:t>
            </a:r>
            <a:r>
              <a:rPr lang="en-US" baseline="-25000"/>
              <a:t>2</a:t>
            </a:r>
            <a:r>
              <a:rPr lang="en-US"/>
              <a:t>, </a:t>
            </a:r>
          </a:p>
          <a:p>
            <a:pPr marL="0" indent="0">
              <a:buNone/>
            </a:pPr>
            <a:r>
              <a:rPr lang="en-US" smtClean="0"/>
              <a:t>	(</a:t>
            </a:r>
            <a:r>
              <a:rPr lang="en-US" i="1"/>
              <a:t>q</a:t>
            </a:r>
            <a:r>
              <a:rPr lang="en-US" baseline="-25000"/>
              <a:t>3</a:t>
            </a:r>
            <a:r>
              <a:rPr lang="en-US"/>
              <a:t>, </a:t>
            </a:r>
            <a:r>
              <a:rPr lang="en-US" i="1"/>
              <a:t>a</a:t>
            </a:r>
            <a:r>
              <a:rPr lang="en-US"/>
              <a:t>) → </a:t>
            </a:r>
            <a:r>
              <a:rPr lang="en-US" i="1"/>
              <a:t>q</a:t>
            </a:r>
            <a:r>
              <a:rPr lang="en-US" baseline="-25000"/>
              <a:t>3</a:t>
            </a:r>
            <a:r>
              <a:rPr lang="en-US"/>
              <a:t>, (</a:t>
            </a:r>
            <a:r>
              <a:rPr lang="en-US" i="1"/>
              <a:t>q</a:t>
            </a:r>
            <a:r>
              <a:rPr lang="en-US" baseline="-25000"/>
              <a:t>3</a:t>
            </a:r>
            <a:r>
              <a:rPr lang="en-US"/>
              <a:t>, </a:t>
            </a:r>
            <a:r>
              <a:rPr lang="en-US" i="1"/>
              <a:t>b</a:t>
            </a:r>
            <a:r>
              <a:rPr lang="en-US"/>
              <a:t>) → </a:t>
            </a:r>
            <a:r>
              <a:rPr lang="en-US" i="1"/>
              <a:t>q</a:t>
            </a:r>
            <a:r>
              <a:rPr lang="en-US" baseline="-25000"/>
              <a:t>3</a:t>
            </a:r>
            <a:r>
              <a:rPr lang="en-US"/>
              <a:t>. </a:t>
            </a:r>
          </a:p>
          <a:p>
            <a:r>
              <a:rPr lang="en-US" b="1"/>
              <a:t>4. Vẽ DFA, kiểm thử </a:t>
            </a:r>
            <a:endParaRPr lang="en-US"/>
          </a:p>
          <a:p>
            <a:endParaRPr lang="en-US"/>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53348" y="4514983"/>
            <a:ext cx="4813522" cy="17827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05934781"/>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77770" y="270456"/>
            <a:ext cx="8911687" cy="1531513"/>
          </a:xfrm>
        </p:spPr>
        <p:txBody>
          <a:bodyPr>
            <a:normAutofit fontScale="90000"/>
          </a:bodyPr>
          <a:lstStyle/>
          <a:p>
            <a:r>
              <a:rPr lang="en-US" smtClean="0"/>
              <a:t>Ví dụ 3.</a:t>
            </a:r>
            <a:r>
              <a:rPr lang="vi-VN"/>
              <a:t> Thiết kế DFA trên </a:t>
            </a:r>
            <a:r>
              <a:rPr lang="vi-VN" smtClean="0">
                <a:sym typeface="Symbol"/>
              </a:rPr>
              <a:t></a:t>
            </a:r>
            <a:r>
              <a:rPr lang="vi-VN" smtClean="0"/>
              <a:t> </a:t>
            </a:r>
            <a:r>
              <a:rPr lang="vi-VN"/>
              <a:t>={</a:t>
            </a:r>
            <a:r>
              <a:rPr lang="vi-VN" i="1"/>
              <a:t>a</a:t>
            </a:r>
            <a:r>
              <a:rPr lang="vi-VN"/>
              <a:t>, </a:t>
            </a:r>
            <a:r>
              <a:rPr lang="vi-VN" i="1"/>
              <a:t>b</a:t>
            </a:r>
            <a:r>
              <a:rPr lang="vi-VN"/>
              <a:t>} chấp nhận các chuỗi có </a:t>
            </a:r>
            <a:r>
              <a:rPr lang="vi-VN" b="1"/>
              <a:t>số lượng ký tự </a:t>
            </a:r>
            <a:r>
              <a:rPr lang="vi-VN" b="1" i="1"/>
              <a:t>a </a:t>
            </a:r>
            <a:r>
              <a:rPr lang="vi-VN" b="1"/>
              <a:t>là số chẵn </a:t>
            </a:r>
            <a:r>
              <a:rPr lang="vi-VN"/>
              <a:t>(ký tự </a:t>
            </a:r>
            <a:r>
              <a:rPr lang="vi-VN" i="1"/>
              <a:t>b </a:t>
            </a:r>
            <a:r>
              <a:rPr lang="vi-VN"/>
              <a:t>xuất hiện bao nhiêu lần tùy ý). </a:t>
            </a:r>
            <a:endParaRPr lang="en-US"/>
          </a:p>
        </p:txBody>
      </p:sp>
      <p:sp>
        <p:nvSpPr>
          <p:cNvPr id="3" name="Content Placeholder 2"/>
          <p:cNvSpPr>
            <a:spLocks noGrp="1"/>
          </p:cNvSpPr>
          <p:nvPr>
            <p:ph idx="1"/>
          </p:nvPr>
        </p:nvSpPr>
        <p:spPr>
          <a:xfrm>
            <a:off x="2228603" y="1966175"/>
            <a:ext cx="8915400" cy="3777622"/>
          </a:xfrm>
        </p:spPr>
        <p:txBody>
          <a:bodyPr>
            <a:normAutofit fontScale="92500" lnSpcReduction="20000"/>
          </a:bodyPr>
          <a:lstStyle/>
          <a:p>
            <a:pPr marL="0" indent="0">
              <a:buNone/>
            </a:pPr>
            <a:r>
              <a:rPr lang="en-US" i="1" smtClean="0"/>
              <a:t>	Chuỗi </a:t>
            </a:r>
            <a:r>
              <a:rPr lang="en-US" i="1"/>
              <a:t>thuộc DFA: b</a:t>
            </a:r>
            <a:r>
              <a:rPr lang="en-US"/>
              <a:t>, </a:t>
            </a:r>
            <a:r>
              <a:rPr lang="en-US" i="1"/>
              <a:t>aa</a:t>
            </a:r>
            <a:r>
              <a:rPr lang="en-US"/>
              <a:t>, </a:t>
            </a:r>
            <a:r>
              <a:rPr lang="en-US" i="1"/>
              <a:t>babba</a:t>
            </a:r>
            <a:r>
              <a:rPr lang="en-US"/>
              <a:t>, </a:t>
            </a:r>
            <a:r>
              <a:rPr lang="en-US" i="1"/>
              <a:t>bb</a:t>
            </a:r>
            <a:r>
              <a:rPr lang="en-US"/>
              <a:t>, ... (0 là số chẵn) </a:t>
            </a:r>
          </a:p>
          <a:p>
            <a:pPr marL="0" indent="0">
              <a:buNone/>
            </a:pPr>
            <a:r>
              <a:rPr lang="en-US" i="1" smtClean="0"/>
              <a:t>	Chuỗi </a:t>
            </a:r>
            <a:r>
              <a:rPr lang="en-US" i="1"/>
              <a:t>không thuộc DFA: a</a:t>
            </a:r>
            <a:r>
              <a:rPr lang="en-US"/>
              <a:t>, </a:t>
            </a:r>
            <a:r>
              <a:rPr lang="en-US" i="1"/>
              <a:t>aababaa</a:t>
            </a:r>
            <a:r>
              <a:rPr lang="en-US"/>
              <a:t>, </a:t>
            </a:r>
            <a:r>
              <a:rPr lang="en-US" i="1"/>
              <a:t>ababa</a:t>
            </a:r>
            <a:r>
              <a:rPr lang="en-US"/>
              <a:t>,... </a:t>
            </a:r>
          </a:p>
          <a:p>
            <a:pPr marL="0" indent="0">
              <a:buNone/>
            </a:pPr>
            <a:r>
              <a:rPr lang="vi-VN"/>
              <a:t>1. </a:t>
            </a:r>
            <a:r>
              <a:rPr lang="vi-VN" b="1"/>
              <a:t>Phân tích cần nhớ: </a:t>
            </a:r>
            <a:r>
              <a:rPr lang="vi-VN"/>
              <a:t>Chỉ quan tâm đến việc đếm số lượng kí tự </a:t>
            </a:r>
            <a:r>
              <a:rPr lang="vi-VN" i="1"/>
              <a:t>a</a:t>
            </a:r>
            <a:r>
              <a:rPr lang="vi-VN"/>
              <a:t>, bỏ qua kí tự </a:t>
            </a:r>
            <a:r>
              <a:rPr lang="vi-VN" i="1"/>
              <a:t>b</a:t>
            </a:r>
            <a:r>
              <a:rPr lang="vi-VN"/>
              <a:t>. </a:t>
            </a:r>
          </a:p>
          <a:p>
            <a:pPr marL="0" indent="0">
              <a:buNone/>
            </a:pPr>
            <a:r>
              <a:rPr lang="vi-VN"/>
              <a:t>2. </a:t>
            </a:r>
            <a:r>
              <a:rPr lang="vi-VN" b="1"/>
              <a:t>Xác định trạng thái</a:t>
            </a:r>
            <a:r>
              <a:rPr lang="vi-VN"/>
              <a:t>: </a:t>
            </a:r>
          </a:p>
          <a:p>
            <a:pPr marL="0" indent="0">
              <a:buNone/>
            </a:pPr>
            <a:r>
              <a:rPr lang="en-US" i="1" smtClean="0"/>
              <a:t>	</a:t>
            </a:r>
            <a:r>
              <a:rPr lang="vi-VN" i="1" smtClean="0"/>
              <a:t>q</a:t>
            </a:r>
            <a:r>
              <a:rPr lang="vi-VN" baseline="-25000" smtClean="0"/>
              <a:t>0</a:t>
            </a:r>
            <a:r>
              <a:rPr lang="vi-VN"/>
              <a:t>: Số lượng </a:t>
            </a:r>
            <a:r>
              <a:rPr lang="vi-VN" i="1"/>
              <a:t>a </a:t>
            </a:r>
            <a:r>
              <a:rPr lang="vi-VN"/>
              <a:t>đang là </a:t>
            </a:r>
            <a:r>
              <a:rPr lang="vi-VN" b="1"/>
              <a:t>Chẵn </a:t>
            </a:r>
            <a:r>
              <a:rPr lang="vi-VN"/>
              <a:t>(Bắt đầu &amp; Chấp nhận). </a:t>
            </a:r>
          </a:p>
          <a:p>
            <a:pPr marL="0" indent="0">
              <a:buNone/>
            </a:pPr>
            <a:r>
              <a:rPr lang="fr-FR" i="1" smtClean="0"/>
              <a:t>	q</a:t>
            </a:r>
            <a:r>
              <a:rPr lang="fr-FR" baseline="-25000" smtClean="0"/>
              <a:t>1</a:t>
            </a:r>
            <a:r>
              <a:rPr lang="fr-FR"/>
              <a:t>: Số lượng </a:t>
            </a:r>
            <a:r>
              <a:rPr lang="fr-FR" i="1"/>
              <a:t>a </a:t>
            </a:r>
            <a:r>
              <a:rPr lang="fr-FR"/>
              <a:t>đang là </a:t>
            </a:r>
            <a:r>
              <a:rPr lang="fr-FR" b="1"/>
              <a:t>Lẻ</a:t>
            </a:r>
            <a:r>
              <a:rPr lang="fr-FR" smtClean="0"/>
              <a:t>.</a:t>
            </a:r>
          </a:p>
          <a:p>
            <a:pPr marL="0" indent="0">
              <a:buNone/>
            </a:pPr>
            <a:r>
              <a:rPr lang="en-US" b="1" smtClean="0"/>
              <a:t>3</a:t>
            </a:r>
            <a:r>
              <a:rPr lang="en-US" b="1"/>
              <a:t>. Hàm chuyển trạng thái</a:t>
            </a:r>
            <a:r>
              <a:rPr lang="en-US"/>
              <a:t>: </a:t>
            </a:r>
          </a:p>
          <a:p>
            <a:pPr marL="0" indent="0">
              <a:buNone/>
            </a:pPr>
            <a:r>
              <a:rPr lang="en-US" smtClean="0"/>
              <a:t>	</a:t>
            </a:r>
            <a:r>
              <a:rPr lang="vi-VN" smtClean="0"/>
              <a:t>(</a:t>
            </a:r>
            <a:r>
              <a:rPr lang="vi-VN" i="1"/>
              <a:t>q</a:t>
            </a:r>
            <a:r>
              <a:rPr lang="vi-VN" baseline="-25000"/>
              <a:t>0</a:t>
            </a:r>
            <a:r>
              <a:rPr lang="vi-VN"/>
              <a:t>, </a:t>
            </a:r>
            <a:r>
              <a:rPr lang="vi-VN" i="1"/>
              <a:t>a</a:t>
            </a:r>
            <a:r>
              <a:rPr lang="vi-VN"/>
              <a:t>) → </a:t>
            </a:r>
            <a:r>
              <a:rPr lang="vi-VN" i="1"/>
              <a:t>q</a:t>
            </a:r>
            <a:r>
              <a:rPr lang="vi-VN" baseline="-25000"/>
              <a:t>1</a:t>
            </a:r>
            <a:r>
              <a:rPr lang="vi-VN"/>
              <a:t>, (tại </a:t>
            </a:r>
            <a:r>
              <a:rPr lang="vi-VN" i="1"/>
              <a:t>q</a:t>
            </a:r>
            <a:r>
              <a:rPr lang="vi-VN" baseline="-25000"/>
              <a:t>0</a:t>
            </a:r>
            <a:r>
              <a:rPr lang="vi-VN"/>
              <a:t> thì đang chẵn kí tự </a:t>
            </a:r>
            <a:r>
              <a:rPr lang="vi-VN" i="1"/>
              <a:t>a</a:t>
            </a:r>
            <a:r>
              <a:rPr lang="vi-VN"/>
              <a:t>, tại </a:t>
            </a:r>
            <a:r>
              <a:rPr lang="vi-VN" i="1"/>
              <a:t>q</a:t>
            </a:r>
            <a:r>
              <a:rPr lang="vi-VN" baseline="-25000"/>
              <a:t>1</a:t>
            </a:r>
            <a:r>
              <a:rPr lang="vi-VN"/>
              <a:t> thì đang lẻ kí tự </a:t>
            </a:r>
            <a:r>
              <a:rPr lang="vi-VN" i="1"/>
              <a:t>b</a:t>
            </a:r>
            <a:r>
              <a:rPr lang="vi-VN"/>
              <a:t>) </a:t>
            </a:r>
          </a:p>
          <a:p>
            <a:pPr marL="0" indent="0">
              <a:buNone/>
            </a:pPr>
            <a:r>
              <a:rPr lang="en-US" smtClean="0"/>
              <a:t>	</a:t>
            </a:r>
            <a:r>
              <a:rPr lang="vi-VN" smtClean="0"/>
              <a:t>(</a:t>
            </a:r>
            <a:r>
              <a:rPr lang="vi-VN" i="1"/>
              <a:t>q</a:t>
            </a:r>
            <a:r>
              <a:rPr lang="vi-VN" baseline="-25000"/>
              <a:t>0</a:t>
            </a:r>
            <a:r>
              <a:rPr lang="vi-VN"/>
              <a:t>, </a:t>
            </a:r>
            <a:r>
              <a:rPr lang="vi-VN" i="1"/>
              <a:t>b</a:t>
            </a:r>
            <a:r>
              <a:rPr lang="vi-VN"/>
              <a:t>) → </a:t>
            </a:r>
            <a:r>
              <a:rPr lang="vi-VN" i="1"/>
              <a:t>q</a:t>
            </a:r>
            <a:r>
              <a:rPr lang="vi-VN" baseline="-25000"/>
              <a:t>0</a:t>
            </a:r>
            <a:r>
              <a:rPr lang="vi-VN"/>
              <a:t>, (vì </a:t>
            </a:r>
            <a:r>
              <a:rPr lang="vi-VN" i="1"/>
              <a:t>b </a:t>
            </a:r>
            <a:r>
              <a:rPr lang="vi-VN"/>
              <a:t>không làm thay đổi số kí tự </a:t>
            </a:r>
            <a:r>
              <a:rPr lang="vi-VN" i="1"/>
              <a:t>a</a:t>
            </a:r>
            <a:r>
              <a:rPr lang="vi-VN"/>
              <a:t>). </a:t>
            </a:r>
          </a:p>
          <a:p>
            <a:pPr marL="0" indent="0">
              <a:buNone/>
            </a:pPr>
            <a:r>
              <a:rPr lang="en-US" smtClean="0"/>
              <a:t>	(</a:t>
            </a:r>
            <a:r>
              <a:rPr lang="en-US" i="1"/>
              <a:t>q</a:t>
            </a:r>
            <a:r>
              <a:rPr lang="en-US" baseline="-25000"/>
              <a:t>1</a:t>
            </a:r>
            <a:r>
              <a:rPr lang="en-US"/>
              <a:t>, </a:t>
            </a:r>
            <a:r>
              <a:rPr lang="en-US" i="1"/>
              <a:t>a</a:t>
            </a:r>
            <a:r>
              <a:rPr lang="en-US"/>
              <a:t>) → </a:t>
            </a:r>
            <a:r>
              <a:rPr lang="en-US" i="1"/>
              <a:t>q</a:t>
            </a:r>
            <a:r>
              <a:rPr lang="en-US" baseline="-25000"/>
              <a:t>0</a:t>
            </a:r>
            <a:r>
              <a:rPr lang="en-US"/>
              <a:t>, (</a:t>
            </a:r>
            <a:r>
              <a:rPr lang="en-US" i="1"/>
              <a:t>q</a:t>
            </a:r>
            <a:r>
              <a:rPr lang="en-US" baseline="-25000"/>
              <a:t>1</a:t>
            </a:r>
            <a:r>
              <a:rPr lang="en-US"/>
              <a:t>, </a:t>
            </a:r>
            <a:r>
              <a:rPr lang="en-US" i="1"/>
              <a:t>b</a:t>
            </a:r>
            <a:r>
              <a:rPr lang="en-US"/>
              <a:t>) → </a:t>
            </a:r>
            <a:r>
              <a:rPr lang="en-US" i="1"/>
              <a:t>q</a:t>
            </a:r>
            <a:r>
              <a:rPr lang="en-US" baseline="-25000"/>
              <a:t>1</a:t>
            </a:r>
            <a:r>
              <a:rPr lang="en-US"/>
              <a:t>, </a:t>
            </a:r>
          </a:p>
          <a:p>
            <a:pPr marL="0" indent="0">
              <a:buNone/>
            </a:pPr>
            <a:r>
              <a:rPr lang="en-US" b="1"/>
              <a:t>4. Vẽ DFA và kiểm thử </a:t>
            </a:r>
            <a:endParaRPr lang="en-US"/>
          </a:p>
          <a:p>
            <a:pPr marL="0" indent="0">
              <a:buNone/>
            </a:pPr>
            <a:endParaRPr lang="en-US"/>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78721" y="5516517"/>
            <a:ext cx="3043884" cy="10967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55095965"/>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Ví dụ 4. </a:t>
            </a:r>
            <a:r>
              <a:rPr lang="en-US"/>
              <a:t>Thiết kế DFA trên </a:t>
            </a:r>
            <a:r>
              <a:rPr lang="en-US" smtClean="0">
                <a:sym typeface="Symbol"/>
              </a:rPr>
              <a:t></a:t>
            </a:r>
            <a:r>
              <a:rPr lang="en-US" smtClean="0"/>
              <a:t> </a:t>
            </a:r>
            <a:r>
              <a:rPr lang="en-US"/>
              <a:t>={</a:t>
            </a:r>
            <a:r>
              <a:rPr lang="en-US" i="1"/>
              <a:t>a</a:t>
            </a:r>
            <a:r>
              <a:rPr lang="en-US"/>
              <a:t>, </a:t>
            </a:r>
            <a:r>
              <a:rPr lang="en-US" i="1"/>
              <a:t>b</a:t>
            </a:r>
            <a:r>
              <a:rPr lang="en-US"/>
              <a:t>} chấp nhận diện chuỗi </a:t>
            </a:r>
            <a:r>
              <a:rPr lang="en-US" b="1"/>
              <a:t>kết thúc bằng </a:t>
            </a:r>
            <a:r>
              <a:rPr lang="en-US" b="1" i="1"/>
              <a:t>ab</a:t>
            </a:r>
            <a:r>
              <a:rPr lang="en-US"/>
              <a:t>. </a:t>
            </a:r>
          </a:p>
        </p:txBody>
      </p:sp>
      <p:sp>
        <p:nvSpPr>
          <p:cNvPr id="3" name="Content Placeholder 2"/>
          <p:cNvSpPr>
            <a:spLocks noGrp="1"/>
          </p:cNvSpPr>
          <p:nvPr>
            <p:ph idx="1"/>
          </p:nvPr>
        </p:nvSpPr>
        <p:spPr>
          <a:xfrm>
            <a:off x="1017431" y="2133600"/>
            <a:ext cx="11062952" cy="3777622"/>
          </a:xfrm>
        </p:spPr>
        <p:txBody>
          <a:bodyPr>
            <a:normAutofit fontScale="85000" lnSpcReduction="10000"/>
          </a:bodyPr>
          <a:lstStyle/>
          <a:p>
            <a:pPr marL="0" indent="0">
              <a:buNone/>
            </a:pPr>
            <a:r>
              <a:rPr lang="en-US" i="1" smtClean="0"/>
              <a:t>	Chuỗi </a:t>
            </a:r>
            <a:r>
              <a:rPr lang="en-US" i="1"/>
              <a:t>thuộc DFA: ab</a:t>
            </a:r>
            <a:r>
              <a:rPr lang="en-US"/>
              <a:t>, </a:t>
            </a:r>
            <a:r>
              <a:rPr lang="en-US" i="1"/>
              <a:t>aab</a:t>
            </a:r>
            <a:r>
              <a:rPr lang="en-US"/>
              <a:t>, </a:t>
            </a:r>
            <a:r>
              <a:rPr lang="en-US" i="1"/>
              <a:t>bab</a:t>
            </a:r>
            <a:r>
              <a:rPr lang="en-US"/>
              <a:t>. </a:t>
            </a:r>
          </a:p>
          <a:p>
            <a:pPr marL="0" indent="0">
              <a:buNone/>
            </a:pPr>
            <a:r>
              <a:rPr lang="en-US" i="1" smtClean="0"/>
              <a:t>	Chuỗi </a:t>
            </a:r>
            <a:r>
              <a:rPr lang="en-US" i="1"/>
              <a:t>không thuộc DFA: aba</a:t>
            </a:r>
            <a:r>
              <a:rPr lang="en-US"/>
              <a:t>, </a:t>
            </a:r>
            <a:r>
              <a:rPr lang="en-US" i="1"/>
              <a:t>abb</a:t>
            </a:r>
            <a:r>
              <a:rPr lang="en-US"/>
              <a:t>, </a:t>
            </a:r>
            <a:r>
              <a:rPr lang="en-US" i="1"/>
              <a:t>ba</a:t>
            </a:r>
            <a:r>
              <a:rPr lang="en-US"/>
              <a:t>. </a:t>
            </a:r>
          </a:p>
          <a:p>
            <a:pPr marL="0" indent="0">
              <a:buNone/>
            </a:pPr>
            <a:r>
              <a:rPr lang="vi-VN"/>
              <a:t>1. </a:t>
            </a:r>
            <a:r>
              <a:rPr lang="vi-VN" b="1"/>
              <a:t>Phân tích cần nhớ: </a:t>
            </a:r>
            <a:r>
              <a:rPr lang="vi-VN"/>
              <a:t>DFA phải ghi nhớ 2 ký tự cuối cùng đã đọc để xem có phải là </a:t>
            </a:r>
            <a:r>
              <a:rPr lang="vi-VN" i="1"/>
              <a:t>ab </a:t>
            </a:r>
            <a:r>
              <a:rPr lang="vi-VN"/>
              <a:t>hay không ở thời điểm kết thúc chuỗi. </a:t>
            </a:r>
          </a:p>
          <a:p>
            <a:pPr marL="0" indent="0">
              <a:buNone/>
            </a:pPr>
            <a:r>
              <a:rPr lang="vi-VN" b="1"/>
              <a:t>2. Xác định trạng thái</a:t>
            </a:r>
            <a:r>
              <a:rPr lang="vi-VN"/>
              <a:t>: </a:t>
            </a:r>
            <a:endParaRPr lang="en-US"/>
          </a:p>
          <a:p>
            <a:pPr marL="0" indent="0">
              <a:buNone/>
            </a:pPr>
            <a:r>
              <a:rPr lang="en-US" i="1" smtClean="0"/>
              <a:t>		</a:t>
            </a:r>
            <a:r>
              <a:rPr lang="vi-VN" i="1" smtClean="0"/>
              <a:t>q</a:t>
            </a:r>
            <a:r>
              <a:rPr lang="vi-VN" i="1" baseline="-25000" smtClean="0"/>
              <a:t>0</a:t>
            </a:r>
            <a:r>
              <a:rPr lang="vi-VN" i="1"/>
              <a:t>: Trạng thái bắt đầu. </a:t>
            </a:r>
            <a:endParaRPr lang="vi-VN"/>
          </a:p>
          <a:p>
            <a:pPr marL="0" indent="0">
              <a:buNone/>
            </a:pPr>
            <a:r>
              <a:rPr lang="en-US" i="1" smtClean="0"/>
              <a:t>		</a:t>
            </a:r>
            <a:r>
              <a:rPr lang="vi-VN" i="1" smtClean="0"/>
              <a:t>q</a:t>
            </a:r>
            <a:r>
              <a:rPr lang="vi-VN" baseline="-25000" smtClean="0"/>
              <a:t>1</a:t>
            </a:r>
            <a:r>
              <a:rPr lang="vi-VN"/>
              <a:t>: Vừa đọc được ký tự </a:t>
            </a:r>
            <a:r>
              <a:rPr lang="vi-VN" i="1"/>
              <a:t>a </a:t>
            </a:r>
            <a:r>
              <a:rPr lang="vi-VN"/>
              <a:t>cuối cùng. </a:t>
            </a:r>
          </a:p>
          <a:p>
            <a:pPr marL="0" indent="0">
              <a:buNone/>
            </a:pPr>
            <a:r>
              <a:rPr lang="en-US" i="1" smtClean="0"/>
              <a:t>		</a:t>
            </a:r>
            <a:r>
              <a:rPr lang="vi-VN" i="1" smtClean="0"/>
              <a:t>q</a:t>
            </a:r>
            <a:r>
              <a:rPr lang="vi-VN" baseline="-25000" smtClean="0"/>
              <a:t>2</a:t>
            </a:r>
            <a:r>
              <a:rPr lang="vi-VN"/>
              <a:t>: Vừa đọc được chuỗi kết thúc đúng là </a:t>
            </a:r>
            <a:r>
              <a:rPr lang="vi-VN" i="1"/>
              <a:t>ab </a:t>
            </a:r>
            <a:r>
              <a:rPr lang="vi-VN"/>
              <a:t>(Trạng thái chấp nhận). </a:t>
            </a:r>
          </a:p>
          <a:p>
            <a:pPr marL="0" indent="0">
              <a:buNone/>
            </a:pPr>
            <a:r>
              <a:rPr lang="en-US" b="1"/>
              <a:t>3. Hàm chuyển trạng thái</a:t>
            </a:r>
            <a:r>
              <a:rPr lang="en-US"/>
              <a:t> : </a:t>
            </a:r>
          </a:p>
          <a:p>
            <a:pPr marL="0" indent="0">
              <a:buNone/>
            </a:pPr>
            <a:r>
              <a:rPr lang="en-US" smtClean="0"/>
              <a:t>		(</a:t>
            </a:r>
            <a:r>
              <a:rPr lang="en-US" i="1"/>
              <a:t>q</a:t>
            </a:r>
            <a:r>
              <a:rPr lang="en-US" baseline="-25000"/>
              <a:t>0</a:t>
            </a:r>
            <a:r>
              <a:rPr lang="en-US"/>
              <a:t>, </a:t>
            </a:r>
            <a:r>
              <a:rPr lang="en-US" i="1"/>
              <a:t>a</a:t>
            </a:r>
            <a:r>
              <a:rPr lang="en-US"/>
              <a:t>) → </a:t>
            </a:r>
            <a:r>
              <a:rPr lang="en-US" i="1"/>
              <a:t>q</a:t>
            </a:r>
            <a:r>
              <a:rPr lang="en-US" baseline="-25000"/>
              <a:t>1</a:t>
            </a:r>
            <a:r>
              <a:rPr lang="en-US"/>
              <a:t>, (</a:t>
            </a:r>
            <a:r>
              <a:rPr lang="en-US" i="1"/>
              <a:t>q</a:t>
            </a:r>
            <a:r>
              <a:rPr lang="en-US" baseline="-25000"/>
              <a:t>0</a:t>
            </a:r>
            <a:r>
              <a:rPr lang="en-US"/>
              <a:t>, </a:t>
            </a:r>
            <a:r>
              <a:rPr lang="en-US" i="1"/>
              <a:t>b</a:t>
            </a:r>
            <a:r>
              <a:rPr lang="en-US"/>
              <a:t>) → </a:t>
            </a:r>
            <a:r>
              <a:rPr lang="en-US" i="1"/>
              <a:t>q</a:t>
            </a:r>
            <a:r>
              <a:rPr lang="en-US" baseline="-25000"/>
              <a:t>0</a:t>
            </a:r>
            <a:r>
              <a:rPr lang="en-US"/>
              <a:t>, </a:t>
            </a:r>
          </a:p>
          <a:p>
            <a:pPr marL="0" indent="0">
              <a:buNone/>
            </a:pPr>
            <a:r>
              <a:rPr lang="en-US" smtClean="0"/>
              <a:t>		(</a:t>
            </a:r>
            <a:r>
              <a:rPr lang="en-US" i="1"/>
              <a:t>q</a:t>
            </a:r>
            <a:r>
              <a:rPr lang="en-US" baseline="-25000"/>
              <a:t>1</a:t>
            </a:r>
            <a:r>
              <a:rPr lang="en-US"/>
              <a:t>, </a:t>
            </a:r>
            <a:r>
              <a:rPr lang="en-US" i="1"/>
              <a:t>a</a:t>
            </a:r>
            <a:r>
              <a:rPr lang="en-US"/>
              <a:t>) → </a:t>
            </a:r>
            <a:r>
              <a:rPr lang="en-US" i="1"/>
              <a:t>q</a:t>
            </a:r>
            <a:r>
              <a:rPr lang="en-US" baseline="-25000"/>
              <a:t>1</a:t>
            </a:r>
            <a:r>
              <a:rPr lang="en-US"/>
              <a:t>, (</a:t>
            </a:r>
            <a:r>
              <a:rPr lang="en-US" i="1"/>
              <a:t>q</a:t>
            </a:r>
            <a:r>
              <a:rPr lang="en-US" baseline="-25000"/>
              <a:t>1</a:t>
            </a:r>
            <a:r>
              <a:rPr lang="en-US"/>
              <a:t>, </a:t>
            </a:r>
            <a:r>
              <a:rPr lang="en-US" i="1"/>
              <a:t>b</a:t>
            </a:r>
            <a:r>
              <a:rPr lang="en-US"/>
              <a:t>) → </a:t>
            </a:r>
            <a:r>
              <a:rPr lang="en-US" i="1"/>
              <a:t>q</a:t>
            </a:r>
            <a:r>
              <a:rPr lang="en-US" baseline="-25000"/>
              <a:t>2</a:t>
            </a:r>
            <a:r>
              <a:rPr lang="en-US"/>
              <a:t>, </a:t>
            </a:r>
          </a:p>
          <a:p>
            <a:pPr marL="0" indent="0">
              <a:buNone/>
            </a:pPr>
            <a:r>
              <a:rPr lang="en-US" smtClean="0"/>
              <a:t>		(</a:t>
            </a:r>
            <a:r>
              <a:rPr lang="en-US" i="1"/>
              <a:t>q</a:t>
            </a:r>
            <a:r>
              <a:rPr lang="en-US" baseline="-25000"/>
              <a:t>2</a:t>
            </a:r>
            <a:r>
              <a:rPr lang="en-US"/>
              <a:t>, </a:t>
            </a:r>
            <a:r>
              <a:rPr lang="en-US" i="1"/>
              <a:t>a</a:t>
            </a:r>
            <a:r>
              <a:rPr lang="en-US"/>
              <a:t>) → </a:t>
            </a:r>
            <a:r>
              <a:rPr lang="en-US" i="1"/>
              <a:t>q</a:t>
            </a:r>
            <a:r>
              <a:rPr lang="en-US" baseline="-25000"/>
              <a:t>1</a:t>
            </a:r>
            <a:r>
              <a:rPr lang="en-US"/>
              <a:t>, (</a:t>
            </a:r>
            <a:r>
              <a:rPr lang="en-US" i="1"/>
              <a:t>q</a:t>
            </a:r>
            <a:r>
              <a:rPr lang="en-US" baseline="-25000"/>
              <a:t>2</a:t>
            </a:r>
            <a:r>
              <a:rPr lang="en-US"/>
              <a:t>, </a:t>
            </a:r>
            <a:r>
              <a:rPr lang="en-US" i="1"/>
              <a:t>b</a:t>
            </a:r>
            <a:r>
              <a:rPr lang="en-US"/>
              <a:t>) → </a:t>
            </a:r>
            <a:r>
              <a:rPr lang="en-US" i="1"/>
              <a:t>q</a:t>
            </a:r>
            <a:r>
              <a:rPr lang="en-US" baseline="-25000"/>
              <a:t>0</a:t>
            </a:r>
            <a:r>
              <a:rPr lang="en-US"/>
              <a:t>,</a:t>
            </a: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07207" y="4761962"/>
            <a:ext cx="4074454" cy="1432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25793212"/>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Bài tập</a:t>
            </a:r>
            <a:endParaRPr lang="en-US"/>
          </a:p>
        </p:txBody>
      </p:sp>
      <p:sp>
        <p:nvSpPr>
          <p:cNvPr id="3" name="Content Placeholder 2"/>
          <p:cNvSpPr>
            <a:spLocks noGrp="1"/>
          </p:cNvSpPr>
          <p:nvPr>
            <p:ph idx="1"/>
          </p:nvPr>
        </p:nvSpPr>
        <p:spPr/>
        <p:txBody>
          <a:bodyPr/>
          <a:lstStyle/>
          <a:p>
            <a:pPr>
              <a:buAutoNum type="arabicPeriod"/>
            </a:pPr>
            <a:r>
              <a:rPr lang="vi-VN" smtClean="0"/>
              <a:t>Thiết </a:t>
            </a:r>
            <a:r>
              <a:rPr lang="vi-VN"/>
              <a:t>kế DFA trên </a:t>
            </a:r>
            <a:r>
              <a:rPr lang="vi-VN" smtClean="0">
                <a:sym typeface="Symbol"/>
              </a:rPr>
              <a:t></a:t>
            </a:r>
            <a:r>
              <a:rPr lang="en-US" smtClean="0">
                <a:sym typeface="Symbol"/>
              </a:rPr>
              <a:t> </a:t>
            </a:r>
            <a:r>
              <a:rPr lang="vi-VN" smtClean="0"/>
              <a:t>={</a:t>
            </a:r>
            <a:r>
              <a:rPr lang="vi-VN" i="1"/>
              <a:t>a</a:t>
            </a:r>
            <a:r>
              <a:rPr lang="vi-VN"/>
              <a:t>, </a:t>
            </a:r>
            <a:r>
              <a:rPr lang="vi-VN" i="1"/>
              <a:t>b</a:t>
            </a:r>
            <a:r>
              <a:rPr lang="vi-VN"/>
              <a:t>} chấp nhận ngôn ngữ </a:t>
            </a:r>
            <a:r>
              <a:rPr lang="vi-VN" i="1"/>
              <a:t>L </a:t>
            </a:r>
            <a:r>
              <a:rPr lang="vi-VN"/>
              <a:t>mà độ dài của chuỗi </a:t>
            </a:r>
            <a:r>
              <a:rPr lang="vi-VN" b="1"/>
              <a:t>chia hết cho 3</a:t>
            </a:r>
            <a:r>
              <a:rPr lang="vi-VN"/>
              <a:t>. </a:t>
            </a:r>
            <a:endParaRPr lang="en-US" smtClean="0"/>
          </a:p>
          <a:p>
            <a:pPr>
              <a:buAutoNum type="arabicPeriod"/>
            </a:pPr>
            <a:r>
              <a:rPr lang="vi-VN"/>
              <a:t>Thiết kế DFA trên </a:t>
            </a:r>
            <a:r>
              <a:rPr lang="vi-VN" smtClean="0">
                <a:sym typeface="Symbol"/>
              </a:rPr>
              <a:t></a:t>
            </a:r>
            <a:r>
              <a:rPr lang="vi-VN" smtClean="0"/>
              <a:t> </a:t>
            </a:r>
            <a:r>
              <a:rPr lang="vi-VN"/>
              <a:t>={</a:t>
            </a:r>
            <a:r>
              <a:rPr lang="vi-VN" i="1"/>
              <a:t>a</a:t>
            </a:r>
            <a:r>
              <a:rPr lang="vi-VN"/>
              <a:t>, </a:t>
            </a:r>
            <a:r>
              <a:rPr lang="vi-VN" i="1"/>
              <a:t>b</a:t>
            </a:r>
            <a:r>
              <a:rPr lang="vi-VN"/>
              <a:t>} chấp nhận các chuỗi </a:t>
            </a:r>
            <a:r>
              <a:rPr lang="vi-VN" b="1"/>
              <a:t>không chứa chuỗi con </a:t>
            </a:r>
            <a:r>
              <a:rPr lang="vi-VN" b="1" i="1"/>
              <a:t>abb </a:t>
            </a:r>
            <a:r>
              <a:rPr lang="vi-VN"/>
              <a:t>ở vị trí bất kỳ ở đâu trong chuỗi</a:t>
            </a:r>
            <a:r>
              <a:rPr lang="vi-VN" smtClean="0"/>
              <a:t>.</a:t>
            </a:r>
            <a:endParaRPr lang="en-US" smtClean="0"/>
          </a:p>
          <a:p>
            <a:pPr>
              <a:buAutoNum type="arabicPeriod"/>
            </a:pPr>
            <a:r>
              <a:rPr lang="en-US"/>
              <a:t>Thiết kế DFA </a:t>
            </a:r>
            <a:r>
              <a:rPr lang="en-US" smtClean="0"/>
              <a:t>chấp </a:t>
            </a:r>
            <a:r>
              <a:rPr lang="en-US"/>
              <a:t>nhận ngôn ngữ </a:t>
            </a:r>
            <a:r>
              <a:rPr lang="en-US" i="1"/>
              <a:t>L </a:t>
            </a:r>
            <a:r>
              <a:rPr lang="en-US"/>
              <a:t>= {</a:t>
            </a:r>
            <a:r>
              <a:rPr lang="en-US" i="1" smtClean="0"/>
              <a:t>w</a:t>
            </a:r>
            <a:r>
              <a:rPr lang="en-US"/>
              <a:t>: </a:t>
            </a:r>
            <a:r>
              <a:rPr lang="en-US" i="1"/>
              <a:t>n</a:t>
            </a:r>
            <a:r>
              <a:rPr lang="en-US" i="1" baseline="-25000"/>
              <a:t>a</a:t>
            </a:r>
            <a:r>
              <a:rPr lang="en-US"/>
              <a:t>(</a:t>
            </a:r>
            <a:r>
              <a:rPr lang="en-US" i="1"/>
              <a:t>w</a:t>
            </a:r>
            <a:r>
              <a:rPr lang="en-US"/>
              <a:t>) mod 3 &gt; </a:t>
            </a:r>
            <a:r>
              <a:rPr lang="en-US" smtClean="0"/>
              <a:t>1}.</a:t>
            </a:r>
          </a:p>
          <a:p>
            <a:pPr>
              <a:buAutoNum type="arabicPeriod"/>
            </a:pPr>
            <a:r>
              <a:rPr lang="en-US"/>
              <a:t>Thiết kế DFA trên </a:t>
            </a:r>
            <a:r>
              <a:rPr lang="en-US" smtClean="0">
                <a:sym typeface="Symbol"/>
              </a:rPr>
              <a:t></a:t>
            </a:r>
            <a:r>
              <a:rPr lang="en-US" smtClean="0"/>
              <a:t> </a:t>
            </a:r>
            <a:r>
              <a:rPr lang="en-US"/>
              <a:t>={</a:t>
            </a:r>
            <a:r>
              <a:rPr lang="en-US" i="1"/>
              <a:t>a</a:t>
            </a:r>
            <a:r>
              <a:rPr lang="en-US"/>
              <a:t>, </a:t>
            </a:r>
            <a:r>
              <a:rPr lang="en-US" i="1"/>
              <a:t>b</a:t>
            </a:r>
            <a:r>
              <a:rPr lang="en-US"/>
              <a:t>} cho ngôn ngữ </a:t>
            </a:r>
            <a:r>
              <a:rPr lang="en-US" i="1"/>
              <a:t>L </a:t>
            </a:r>
            <a:r>
              <a:rPr lang="en-US"/>
              <a:t>= </a:t>
            </a:r>
            <a:r>
              <a:rPr lang="en-US" smtClean="0"/>
              <a:t>{</a:t>
            </a:r>
            <a:r>
              <a:rPr lang="en-US" i="1" smtClean="0"/>
              <a:t>w</a:t>
            </a:r>
            <a:r>
              <a:rPr lang="en-US" i="1"/>
              <a:t>: |w| </a:t>
            </a:r>
            <a:r>
              <a:rPr lang="en-US"/>
              <a:t>mod 5 </a:t>
            </a:r>
            <a:r>
              <a:rPr lang="en-US" smtClean="0">
                <a:sym typeface="Symbol"/>
              </a:rPr>
              <a:t></a:t>
            </a:r>
            <a:r>
              <a:rPr lang="en-US" smtClean="0"/>
              <a:t> 0} </a:t>
            </a:r>
            <a:r>
              <a:rPr lang="en-US"/>
              <a:t>(|</a:t>
            </a:r>
            <a:r>
              <a:rPr lang="en-US" i="1"/>
              <a:t>w</a:t>
            </a:r>
            <a:r>
              <a:rPr lang="en-US"/>
              <a:t>| không chia hết cho 5</a:t>
            </a:r>
            <a:r>
              <a:rPr lang="en-US" smtClean="0"/>
              <a:t>).</a:t>
            </a:r>
          </a:p>
          <a:p>
            <a:pPr>
              <a:buAutoNum type="arabicPeriod"/>
            </a:pPr>
            <a:r>
              <a:rPr lang="en-US"/>
              <a:t>Thiết kế DFA trên </a:t>
            </a:r>
            <a:r>
              <a:rPr lang="en-US" smtClean="0">
                <a:sym typeface="Symbol"/>
              </a:rPr>
              <a:t> </a:t>
            </a:r>
            <a:r>
              <a:rPr lang="en-US" smtClean="0"/>
              <a:t>={</a:t>
            </a:r>
            <a:r>
              <a:rPr lang="en-US" i="1"/>
              <a:t>a</a:t>
            </a:r>
            <a:r>
              <a:rPr lang="en-US"/>
              <a:t>, </a:t>
            </a:r>
            <a:r>
              <a:rPr lang="en-US" i="1"/>
              <a:t>b</a:t>
            </a:r>
            <a:r>
              <a:rPr lang="en-US"/>
              <a:t>} chấp nhận các chuỗi </a:t>
            </a:r>
            <a:r>
              <a:rPr lang="en-US" b="1"/>
              <a:t>kết thúc bằng chuỗi </a:t>
            </a:r>
            <a:r>
              <a:rPr lang="en-US" b="1" i="1"/>
              <a:t>abba</a:t>
            </a:r>
            <a:endParaRPr lang="en-US"/>
          </a:p>
        </p:txBody>
      </p:sp>
    </p:spTree>
    <p:extLst>
      <p:ext uri="{BB962C8B-B14F-4D97-AF65-F5344CB8AC3E}">
        <p14:creationId xmlns:p14="http://schemas.microsoft.com/office/powerpoint/2010/main" val="1701676890"/>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Bài tập</a:t>
            </a:r>
            <a:endParaRPr lang="en-US"/>
          </a:p>
        </p:txBody>
      </p:sp>
      <p:sp>
        <p:nvSpPr>
          <p:cNvPr id="3" name="Content Placeholder 2"/>
          <p:cNvSpPr>
            <a:spLocks noGrp="1"/>
          </p:cNvSpPr>
          <p:nvPr>
            <p:ph idx="1"/>
          </p:nvPr>
        </p:nvSpPr>
        <p:spPr/>
        <p:txBody>
          <a:bodyPr/>
          <a:lstStyle/>
          <a:p>
            <a:pPr marL="0" indent="0">
              <a:buNone/>
            </a:pPr>
            <a:r>
              <a:rPr lang="en-US" smtClean="0"/>
              <a:t>6. </a:t>
            </a:r>
            <a:r>
              <a:rPr lang="en-US" sz="2400"/>
              <a:t>Với mỗi ngôn ngữ sau, thiết kế DFA trên </a:t>
            </a:r>
            <a:r>
              <a:rPr lang="en-US" sz="2400" smtClean="0">
                <a:sym typeface="Symbol"/>
              </a:rPr>
              <a:t></a:t>
            </a:r>
            <a:r>
              <a:rPr lang="en-US" sz="2400" smtClean="0"/>
              <a:t> </a:t>
            </a:r>
            <a:r>
              <a:rPr lang="en-US" sz="2400"/>
              <a:t>= {</a:t>
            </a:r>
            <a:r>
              <a:rPr lang="en-US" sz="2400" smtClean="0"/>
              <a:t>0</a:t>
            </a:r>
            <a:r>
              <a:rPr lang="en-US" sz="2400"/>
              <a:t>, </a:t>
            </a:r>
            <a:r>
              <a:rPr lang="en-US" sz="2400" smtClean="0"/>
              <a:t>1} chấp </a:t>
            </a:r>
            <a:r>
              <a:rPr lang="en-US" sz="2400"/>
              <a:t>nhận nó </a:t>
            </a:r>
          </a:p>
          <a:p>
            <a:pPr marL="0" indent="0">
              <a:buNone/>
            </a:pPr>
            <a:r>
              <a:rPr lang="en-US" sz="2400" smtClean="0"/>
              <a:t>	</a:t>
            </a:r>
            <a:r>
              <a:rPr lang="vi-VN" sz="2400" smtClean="0"/>
              <a:t>a</a:t>
            </a:r>
            <a:r>
              <a:rPr lang="vi-VN" sz="2400"/>
              <a:t>. Tập chuỗi nhị phân, bắt đầu là 010 và kết thúc bằng 101. </a:t>
            </a:r>
          </a:p>
          <a:p>
            <a:pPr marL="0" indent="0">
              <a:buNone/>
            </a:pPr>
            <a:r>
              <a:rPr lang="en-US" sz="2400" smtClean="0"/>
              <a:t>	</a:t>
            </a:r>
            <a:r>
              <a:rPr lang="vi-VN" sz="2400" smtClean="0"/>
              <a:t>b</a:t>
            </a:r>
            <a:r>
              <a:rPr lang="vi-VN" sz="2400"/>
              <a:t>. Tập chuỗi nhị phân chứa chuỗi con 010 nhưng không chứa 101. </a:t>
            </a:r>
          </a:p>
          <a:p>
            <a:pPr marL="0" indent="0">
              <a:buNone/>
            </a:pPr>
            <a:r>
              <a:rPr lang="en-US" sz="2400" smtClean="0"/>
              <a:t>	</a:t>
            </a:r>
            <a:r>
              <a:rPr lang="vi-VN" sz="2400" smtClean="0"/>
              <a:t>c</a:t>
            </a:r>
            <a:r>
              <a:rPr lang="vi-VN" sz="2400"/>
              <a:t>. Tập chuỗi nhị phân bắt đầu với 010, kết thúc với 101, chứa chuỗi con 0000. </a:t>
            </a:r>
            <a:endParaRPr lang="en-US" sz="2400"/>
          </a:p>
        </p:txBody>
      </p:sp>
    </p:spTree>
    <p:extLst>
      <p:ext uri="{BB962C8B-B14F-4D97-AF65-F5344CB8AC3E}">
        <p14:creationId xmlns:p14="http://schemas.microsoft.com/office/powerpoint/2010/main" val="4220404350"/>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89212" y="264695"/>
            <a:ext cx="8915400" cy="6509084"/>
          </a:xfrm>
        </p:spPr>
        <p:txBody>
          <a:bodyPr>
            <a:normAutofit lnSpcReduction="10000"/>
          </a:bodyPr>
          <a:lstStyle/>
          <a:p>
            <a:r>
              <a:rPr lang="en-US" b="1" i="1"/>
              <a:t>Định nghĩa </a:t>
            </a:r>
            <a:r>
              <a:rPr lang="en-US" b="1" i="1" smtClean="0"/>
              <a:t>2.4  </a:t>
            </a:r>
            <a:r>
              <a:rPr lang="en-US"/>
              <a:t>Hai otomat hữu hạn A = &lt;Q, Σ, δ, q</a:t>
            </a:r>
            <a:r>
              <a:rPr lang="en-US" baseline="-25000"/>
              <a:t>0</a:t>
            </a:r>
            <a:r>
              <a:rPr lang="en-US"/>
              <a:t>, F&gt; và A’= &lt;Q’, Σ’, δ’, q’</a:t>
            </a:r>
            <a:r>
              <a:rPr lang="en-US" baseline="-25000"/>
              <a:t>0</a:t>
            </a:r>
            <a:r>
              <a:rPr lang="en-US"/>
              <a:t>, F’&gt; được gọi là tương đương nếu T(A) = T(A’). </a:t>
            </a:r>
            <a:endParaRPr lang="en-US" smtClean="0"/>
          </a:p>
          <a:p>
            <a:r>
              <a:rPr lang="en-US" smtClean="0"/>
              <a:t>Ví dụ: </a:t>
            </a:r>
            <a:r>
              <a:rPr lang="en-US"/>
              <a:t>Cho otomat hữu hạn: A</a:t>
            </a:r>
            <a:r>
              <a:rPr lang="en-US" baseline="-25000"/>
              <a:t>3</a:t>
            </a:r>
            <a:r>
              <a:rPr lang="en-US"/>
              <a:t> = &lt;{q</a:t>
            </a:r>
            <a:r>
              <a:rPr lang="en-US" baseline="-25000"/>
              <a:t>0</a:t>
            </a:r>
            <a:r>
              <a:rPr lang="en-US"/>
              <a:t>, q</a:t>
            </a:r>
            <a:r>
              <a:rPr lang="en-US" baseline="-25000"/>
              <a:t>1</a:t>
            </a:r>
            <a:r>
              <a:rPr lang="en-US"/>
              <a:t>, q</a:t>
            </a:r>
            <a:r>
              <a:rPr lang="en-US" baseline="-25000"/>
              <a:t>2</a:t>
            </a:r>
            <a:r>
              <a:rPr lang="en-US"/>
              <a:t>, q</a:t>
            </a:r>
            <a:r>
              <a:rPr lang="en-US" baseline="-25000"/>
              <a:t>3</a:t>
            </a:r>
            <a:r>
              <a:rPr lang="en-US"/>
              <a:t>, q</a:t>
            </a:r>
            <a:r>
              <a:rPr lang="en-US" baseline="-25000"/>
              <a:t>4</a:t>
            </a:r>
            <a:r>
              <a:rPr lang="en-US"/>
              <a:t>},{0, 1}, δ, q</a:t>
            </a:r>
            <a:r>
              <a:rPr lang="en-US" baseline="-25000"/>
              <a:t>0</a:t>
            </a:r>
            <a:r>
              <a:rPr lang="en-US"/>
              <a:t>, {q</a:t>
            </a:r>
            <a:r>
              <a:rPr lang="en-US" baseline="-25000"/>
              <a:t>1</a:t>
            </a:r>
            <a:r>
              <a:rPr lang="en-US"/>
              <a:t>, q</a:t>
            </a:r>
            <a:r>
              <a:rPr lang="en-US" baseline="-25000"/>
              <a:t>2</a:t>
            </a:r>
            <a:r>
              <a:rPr lang="en-US"/>
              <a:t>, q</a:t>
            </a:r>
            <a:r>
              <a:rPr lang="en-US" baseline="-25000"/>
              <a:t>4</a:t>
            </a:r>
            <a:r>
              <a:rPr lang="en-US"/>
              <a:t>}&gt; với δ(q</a:t>
            </a:r>
            <a:r>
              <a:rPr lang="en-US" baseline="-25000"/>
              <a:t>0</a:t>
            </a:r>
            <a:r>
              <a:rPr lang="en-US"/>
              <a:t>,0) = q</a:t>
            </a:r>
            <a:r>
              <a:rPr lang="en-US" baseline="-25000"/>
              <a:t>0</a:t>
            </a:r>
            <a:r>
              <a:rPr lang="en-US"/>
              <a:t>, δ(q</a:t>
            </a:r>
            <a:r>
              <a:rPr lang="en-US" baseline="-25000"/>
              <a:t>0</a:t>
            </a:r>
            <a:r>
              <a:rPr lang="en-US"/>
              <a:t>,1) = q</a:t>
            </a:r>
            <a:r>
              <a:rPr lang="en-US" baseline="-25000"/>
              <a:t>1</a:t>
            </a:r>
            <a:r>
              <a:rPr lang="en-US"/>
              <a:t>, δ(q</a:t>
            </a:r>
            <a:r>
              <a:rPr lang="en-US" baseline="-25000"/>
              <a:t>1</a:t>
            </a:r>
            <a:r>
              <a:rPr lang="en-US"/>
              <a:t>,0) = q</a:t>
            </a:r>
            <a:r>
              <a:rPr lang="en-US" baseline="-25000"/>
              <a:t>3</a:t>
            </a:r>
            <a:r>
              <a:rPr lang="en-US"/>
              <a:t>, δ(q</a:t>
            </a:r>
            <a:r>
              <a:rPr lang="en-US" baseline="-25000"/>
              <a:t>1</a:t>
            </a:r>
            <a:r>
              <a:rPr lang="en-US"/>
              <a:t>,1) = q</a:t>
            </a:r>
            <a:r>
              <a:rPr lang="en-US" baseline="-25000"/>
              <a:t>2</a:t>
            </a:r>
            <a:r>
              <a:rPr lang="en-US"/>
              <a:t>, δ(q</a:t>
            </a:r>
            <a:r>
              <a:rPr lang="en-US" baseline="-25000"/>
              <a:t>2</a:t>
            </a:r>
            <a:r>
              <a:rPr lang="en-US"/>
              <a:t>,0) = q</a:t>
            </a:r>
            <a:r>
              <a:rPr lang="en-US" baseline="-25000"/>
              <a:t>2</a:t>
            </a:r>
            <a:r>
              <a:rPr lang="en-US"/>
              <a:t>, δ(q</a:t>
            </a:r>
            <a:r>
              <a:rPr lang="en-US" baseline="-25000"/>
              <a:t>2</a:t>
            </a:r>
            <a:r>
              <a:rPr lang="en-US"/>
              <a:t>,1) = q</a:t>
            </a:r>
            <a:r>
              <a:rPr lang="en-US" baseline="-25000"/>
              <a:t>2</a:t>
            </a:r>
            <a:r>
              <a:rPr lang="en-US"/>
              <a:t>, δ(q</a:t>
            </a:r>
            <a:r>
              <a:rPr lang="en-US" baseline="-25000"/>
              <a:t>3</a:t>
            </a:r>
            <a:r>
              <a:rPr lang="en-US"/>
              <a:t>,1) = q</a:t>
            </a:r>
            <a:r>
              <a:rPr lang="en-US" baseline="-25000"/>
              <a:t>3</a:t>
            </a:r>
            <a:r>
              <a:rPr lang="en-US"/>
              <a:t>, δ(q</a:t>
            </a:r>
            <a:r>
              <a:rPr lang="en-US" baseline="-25000"/>
              <a:t>4</a:t>
            </a:r>
            <a:r>
              <a:rPr lang="en-US"/>
              <a:t>,0) = q</a:t>
            </a:r>
            <a:r>
              <a:rPr lang="en-US" baseline="-25000"/>
              <a:t>2</a:t>
            </a:r>
            <a:r>
              <a:rPr lang="en-US"/>
              <a:t>, δ(q</a:t>
            </a:r>
            <a:r>
              <a:rPr lang="en-US" baseline="-25000"/>
              <a:t>4</a:t>
            </a:r>
            <a:r>
              <a:rPr lang="en-US"/>
              <a:t>,1) = q</a:t>
            </a:r>
            <a:r>
              <a:rPr lang="en-US" baseline="-25000"/>
              <a:t>3</a:t>
            </a:r>
            <a:r>
              <a:rPr lang="en-US"/>
              <a:t>. </a:t>
            </a:r>
          </a:p>
          <a:p>
            <a:r>
              <a:rPr lang="en-US"/>
              <a:t> 	Đồ thị chuyển của A</a:t>
            </a:r>
            <a:r>
              <a:rPr lang="en-US" baseline="-25000"/>
              <a:t>3</a:t>
            </a:r>
            <a:r>
              <a:rPr lang="en-US"/>
              <a:t> là: </a:t>
            </a:r>
          </a:p>
          <a:p>
            <a:endParaRPr lang="en-US"/>
          </a:p>
          <a:p>
            <a:endParaRPr lang="en-US" smtClean="0"/>
          </a:p>
          <a:p>
            <a:endParaRPr lang="en-US"/>
          </a:p>
          <a:p>
            <a:r>
              <a:rPr lang="en-US"/>
              <a:t>A</a:t>
            </a:r>
            <a:r>
              <a:rPr lang="en-US" baseline="-25000"/>
              <a:t>4</a:t>
            </a:r>
            <a:r>
              <a:rPr lang="en-US"/>
              <a:t> = &lt;{q</a:t>
            </a:r>
            <a:r>
              <a:rPr lang="en-US" baseline="-25000"/>
              <a:t>0</a:t>
            </a:r>
            <a:r>
              <a:rPr lang="en-US"/>
              <a:t>, q</a:t>
            </a:r>
            <a:r>
              <a:rPr lang="en-US" baseline="-25000"/>
              <a:t>1</a:t>
            </a:r>
            <a:r>
              <a:rPr lang="en-US"/>
              <a:t>, q</a:t>
            </a:r>
            <a:r>
              <a:rPr lang="en-US" baseline="-25000"/>
              <a:t>2</a:t>
            </a:r>
            <a:r>
              <a:rPr lang="en-US"/>
              <a:t>}, {0, 1}, δ, q</a:t>
            </a:r>
            <a:r>
              <a:rPr lang="en-US" baseline="-25000"/>
              <a:t>0</a:t>
            </a:r>
            <a:r>
              <a:rPr lang="en-US"/>
              <a:t>, {q</a:t>
            </a:r>
            <a:r>
              <a:rPr lang="en-US" baseline="-25000"/>
              <a:t>1</a:t>
            </a:r>
            <a:r>
              <a:rPr lang="en-US"/>
              <a:t>, q</a:t>
            </a:r>
            <a:r>
              <a:rPr lang="en-US" baseline="-25000"/>
              <a:t>2</a:t>
            </a:r>
            <a:r>
              <a:rPr lang="en-US"/>
              <a:t>}&gt;, </a:t>
            </a:r>
          </a:p>
          <a:p>
            <a:pPr marL="0" indent="0">
              <a:buNone/>
            </a:pPr>
            <a:r>
              <a:rPr lang="en-US"/>
              <a:t>trong đó δ(q</a:t>
            </a:r>
            <a:r>
              <a:rPr lang="en-US" baseline="-25000"/>
              <a:t>0</a:t>
            </a:r>
            <a:r>
              <a:rPr lang="en-US"/>
              <a:t>,0) = q</a:t>
            </a:r>
            <a:r>
              <a:rPr lang="en-US" baseline="-25000"/>
              <a:t>0</a:t>
            </a:r>
            <a:r>
              <a:rPr lang="en-US"/>
              <a:t>, δ(q</a:t>
            </a:r>
            <a:r>
              <a:rPr lang="en-US" baseline="-25000"/>
              <a:t>0</a:t>
            </a:r>
            <a:r>
              <a:rPr lang="en-US"/>
              <a:t>,1) = q</a:t>
            </a:r>
            <a:r>
              <a:rPr lang="en-US" baseline="-25000"/>
              <a:t>1</a:t>
            </a:r>
            <a:r>
              <a:rPr lang="en-US"/>
              <a:t>, δ(q</a:t>
            </a:r>
            <a:r>
              <a:rPr lang="en-US" baseline="-25000"/>
              <a:t>1</a:t>
            </a:r>
            <a:r>
              <a:rPr lang="en-US"/>
              <a:t>,1) = q</a:t>
            </a:r>
            <a:r>
              <a:rPr lang="en-US" baseline="-25000"/>
              <a:t>2</a:t>
            </a:r>
            <a:r>
              <a:rPr lang="en-US"/>
              <a:t>, δ(q</a:t>
            </a:r>
            <a:r>
              <a:rPr lang="en-US" baseline="-25000"/>
              <a:t>2</a:t>
            </a:r>
            <a:r>
              <a:rPr lang="en-US"/>
              <a:t>,0) = q</a:t>
            </a:r>
            <a:r>
              <a:rPr lang="en-US" baseline="-25000"/>
              <a:t>2</a:t>
            </a:r>
            <a:r>
              <a:rPr lang="en-US"/>
              <a:t>, δ(q</a:t>
            </a:r>
            <a:r>
              <a:rPr lang="en-US" baseline="-25000"/>
              <a:t>2</a:t>
            </a:r>
            <a:r>
              <a:rPr lang="en-US"/>
              <a:t>,1) = q</a:t>
            </a:r>
            <a:r>
              <a:rPr lang="en-US" baseline="-25000"/>
              <a:t>2</a:t>
            </a:r>
            <a:r>
              <a:rPr lang="en-US"/>
              <a:t>. Đồ thị chuyển của </a:t>
            </a:r>
            <a:r>
              <a:rPr lang="en-US" smtClean="0"/>
              <a:t>A</a:t>
            </a:r>
            <a:r>
              <a:rPr lang="en-US" baseline="-25000" smtClean="0"/>
              <a:t>4</a:t>
            </a:r>
            <a:endParaRPr lang="en-US"/>
          </a:p>
          <a:p>
            <a:endParaRPr lang="en-US" smtClean="0"/>
          </a:p>
          <a:p>
            <a:endParaRPr lang="en-US"/>
          </a:p>
          <a:p>
            <a:r>
              <a:rPr lang="en-US" smtClean="0"/>
              <a:t>T(A</a:t>
            </a:r>
            <a:r>
              <a:rPr lang="en-US" baseline="-25000" smtClean="0"/>
              <a:t>3</a:t>
            </a:r>
            <a:r>
              <a:rPr lang="en-US"/>
              <a:t>) = T(A</a:t>
            </a:r>
            <a:r>
              <a:rPr lang="en-US" baseline="-25000"/>
              <a:t>4</a:t>
            </a:r>
            <a:r>
              <a:rPr lang="en-US"/>
              <a:t>) = {0</a:t>
            </a:r>
            <a:r>
              <a:rPr lang="en-US" baseline="30000"/>
              <a:t>n</a:t>
            </a:r>
            <a:r>
              <a:rPr lang="en-US"/>
              <a:t>1, 0</a:t>
            </a:r>
            <a:r>
              <a:rPr lang="en-US" baseline="30000"/>
              <a:t>n</a:t>
            </a:r>
            <a:r>
              <a:rPr lang="en-US"/>
              <a:t>11ω / n ≥ 0, ω∈{0, 1}</a:t>
            </a:r>
            <a:r>
              <a:rPr lang="en-US" baseline="30000"/>
              <a:t>*</a:t>
            </a:r>
            <a:r>
              <a:rPr lang="en-US"/>
              <a:t>}. </a:t>
            </a:r>
            <a:endParaRPr lang="en-US" smtClean="0"/>
          </a:p>
          <a:p>
            <a:r>
              <a:rPr lang="en-US" b="1" i="1"/>
              <a:t>Bổ đề 1.1  </a:t>
            </a:r>
            <a:r>
              <a:rPr lang="en-US"/>
              <a:t>Cho otomat hữu hạn đơn định A = &lt;Q, Σ, δ, q</a:t>
            </a:r>
            <a:r>
              <a:rPr lang="en-US" baseline="-25000"/>
              <a:t>0</a:t>
            </a:r>
            <a:r>
              <a:rPr lang="en-US"/>
              <a:t>, F&gt;. Khi đó ∀ω</a:t>
            </a:r>
            <a:r>
              <a:rPr lang="en-US" baseline="-25000"/>
              <a:t>1</a:t>
            </a:r>
            <a:r>
              <a:rPr lang="en-US"/>
              <a:t>, ω</a:t>
            </a:r>
            <a:r>
              <a:rPr lang="en-US" baseline="-25000"/>
              <a:t>2 </a:t>
            </a:r>
            <a:r>
              <a:rPr lang="en-US"/>
              <a:t>∈ Σ</a:t>
            </a:r>
            <a:r>
              <a:rPr lang="en-US" baseline="30000"/>
              <a:t>*</a:t>
            </a:r>
            <a:r>
              <a:rPr lang="en-US"/>
              <a:t>, ∀q∈Q sao cho δ*(q, ω</a:t>
            </a:r>
            <a:r>
              <a:rPr lang="en-US" baseline="-25000"/>
              <a:t>1</a:t>
            </a:r>
            <a:r>
              <a:rPr lang="en-US"/>
              <a:t>ω</a:t>
            </a:r>
            <a:r>
              <a:rPr lang="en-US" baseline="-25000"/>
              <a:t>2</a:t>
            </a:r>
            <a:r>
              <a:rPr lang="en-US"/>
              <a:t>) xác định, ta có: </a:t>
            </a:r>
            <a:endParaRPr lang="en-US" smtClean="0"/>
          </a:p>
          <a:p>
            <a:pPr marL="0" indent="0" algn="ctr">
              <a:buNone/>
            </a:pPr>
            <a:r>
              <a:rPr lang="en-US" smtClean="0"/>
              <a:t> </a:t>
            </a:r>
            <a:r>
              <a:rPr lang="en-US"/>
              <a:t>δ*(q, ω</a:t>
            </a:r>
            <a:r>
              <a:rPr lang="en-US" baseline="-25000"/>
              <a:t>1</a:t>
            </a:r>
            <a:r>
              <a:rPr lang="en-US"/>
              <a:t>ω</a:t>
            </a:r>
            <a:r>
              <a:rPr lang="en-US" baseline="-25000"/>
              <a:t>2</a:t>
            </a:r>
            <a:r>
              <a:rPr lang="en-US"/>
              <a:t>) = δ</a:t>
            </a:r>
            <a:r>
              <a:rPr lang="en-US" smtClean="0"/>
              <a:t>*(</a:t>
            </a:r>
            <a:r>
              <a:rPr lang="en-US"/>
              <a:t>δ*(q, ω</a:t>
            </a:r>
            <a:r>
              <a:rPr lang="en-US" baseline="-25000"/>
              <a:t>1</a:t>
            </a:r>
            <a:r>
              <a:rPr lang="en-US"/>
              <a:t>), ω</a:t>
            </a:r>
            <a:r>
              <a:rPr lang="en-US" baseline="-25000"/>
              <a:t>2</a:t>
            </a:r>
            <a:r>
              <a:rPr lang="en-US"/>
              <a:t>) </a:t>
            </a:r>
          </a:p>
          <a:p>
            <a:endParaRPr lang="en-US"/>
          </a:p>
        </p:txBody>
      </p:sp>
      <p:pic>
        <p:nvPicPr>
          <p:cNvPr id="4" name="Picture 3"/>
          <p:cNvPicPr/>
          <p:nvPr/>
        </p:nvPicPr>
        <p:blipFill>
          <a:blip r:embed="rId2"/>
          <a:stretch>
            <a:fillRect/>
          </a:stretch>
        </p:blipFill>
        <p:spPr>
          <a:xfrm>
            <a:off x="7919535" y="1805740"/>
            <a:ext cx="3114675" cy="1562100"/>
          </a:xfrm>
          <a:prstGeom prst="rect">
            <a:avLst/>
          </a:prstGeom>
        </p:spPr>
      </p:pic>
      <p:pic>
        <p:nvPicPr>
          <p:cNvPr id="5" name="Picture 4"/>
          <p:cNvPicPr/>
          <p:nvPr/>
        </p:nvPicPr>
        <p:blipFill>
          <a:blip r:embed="rId3"/>
          <a:stretch>
            <a:fillRect/>
          </a:stretch>
        </p:blipFill>
        <p:spPr>
          <a:xfrm>
            <a:off x="7919535" y="4146885"/>
            <a:ext cx="3057525" cy="762000"/>
          </a:xfrm>
          <a:prstGeom prst="rect">
            <a:avLst/>
          </a:prstGeom>
        </p:spPr>
      </p:pic>
    </p:spTree>
    <p:extLst>
      <p:ext uri="{BB962C8B-B14F-4D97-AF65-F5344CB8AC3E}">
        <p14:creationId xmlns:p14="http://schemas.microsoft.com/office/powerpoint/2010/main" val="405329302"/>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Đơn định hóa các otomat </a:t>
            </a:r>
          </a:p>
        </p:txBody>
      </p:sp>
      <p:sp>
        <p:nvSpPr>
          <p:cNvPr id="3" name="Content Placeholder 2"/>
          <p:cNvSpPr>
            <a:spLocks noGrp="1"/>
          </p:cNvSpPr>
          <p:nvPr>
            <p:ph idx="1"/>
          </p:nvPr>
        </p:nvSpPr>
        <p:spPr/>
        <p:txBody>
          <a:bodyPr/>
          <a:lstStyle/>
          <a:p>
            <a:pPr>
              <a:lnSpc>
                <a:spcPct val="150000"/>
              </a:lnSpc>
            </a:pPr>
            <a:r>
              <a:rPr lang="en-US"/>
              <a:t>Giả sử A = &lt;Q, Σ, δ, q</a:t>
            </a:r>
            <a:r>
              <a:rPr lang="en-US" baseline="-25000"/>
              <a:t>0</a:t>
            </a:r>
            <a:r>
              <a:rPr lang="en-US"/>
              <a:t>, F&gt; là một otomat không đơn định, khi đó ta có thể xây dựng otomat đơn định và đầy đủ M tương đương với  otomat A (theo nghĩa cùng đoán nhận một ngôn ngữ).  Việc xây dựng M được thực hiện theo thuật toán sau đây, được gọi là thuật toán đơn định hóa otomat. </a:t>
            </a:r>
          </a:p>
          <a:p>
            <a:pPr>
              <a:lnSpc>
                <a:spcPct val="150000"/>
              </a:lnSpc>
            </a:pPr>
            <a:r>
              <a:rPr lang="en-US" b="1" i="1"/>
              <a:t>Thuật toán đơn định hóa:</a:t>
            </a:r>
            <a:r>
              <a:rPr lang="en-US"/>
              <a:t> </a:t>
            </a:r>
            <a:endParaRPr lang="en-US" b="1" i="1"/>
          </a:p>
          <a:p>
            <a:pPr>
              <a:lnSpc>
                <a:spcPct val="150000"/>
              </a:lnSpc>
            </a:pPr>
            <a:r>
              <a:rPr lang="en-US" b="1" i="1"/>
              <a:t>Input: </a:t>
            </a:r>
            <a:r>
              <a:rPr lang="en-US" b="1"/>
              <a:t> </a:t>
            </a:r>
            <a:r>
              <a:rPr lang="en-US"/>
              <a:t>Otomat hữu hạn không đơn định A = &lt;Q, Σ, δ, q</a:t>
            </a:r>
            <a:r>
              <a:rPr lang="en-US" baseline="-25000"/>
              <a:t>0</a:t>
            </a:r>
            <a:r>
              <a:rPr lang="en-US"/>
              <a:t>, F&gt; </a:t>
            </a:r>
          </a:p>
          <a:p>
            <a:pPr>
              <a:lnSpc>
                <a:spcPct val="150000"/>
              </a:lnSpc>
            </a:pPr>
            <a:r>
              <a:rPr lang="en-US" b="1" i="1"/>
              <a:t>Output: </a:t>
            </a:r>
            <a:r>
              <a:rPr lang="en-US"/>
              <a:t>Otomat hữu hạn đơn định M = &lt;Q’, Σ, δ’, s</a:t>
            </a:r>
            <a:r>
              <a:rPr lang="en-US" baseline="-25000"/>
              <a:t>0</a:t>
            </a:r>
            <a:r>
              <a:rPr lang="en-US"/>
              <a:t>, F’&gt; </a:t>
            </a:r>
          </a:p>
          <a:p>
            <a:pPr>
              <a:lnSpc>
                <a:spcPct val="150000"/>
              </a:lnSpc>
            </a:pPr>
            <a:endParaRPr lang="en-US"/>
          </a:p>
        </p:txBody>
      </p:sp>
    </p:spTree>
    <p:extLst>
      <p:ext uri="{BB962C8B-B14F-4D97-AF65-F5344CB8AC3E}">
        <p14:creationId xmlns:p14="http://schemas.microsoft.com/office/powerpoint/2010/main" val="2099426745"/>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0658"/>
            <a:ext cx="8911687" cy="1280890"/>
          </a:xfrm>
        </p:spPr>
        <p:txBody>
          <a:bodyPr/>
          <a:lstStyle/>
          <a:p>
            <a:r>
              <a:rPr lang="en-US" b="1" i="1"/>
              <a:t>Phương pháp:</a:t>
            </a:r>
            <a:r>
              <a:rPr lang="en-US" b="1"/>
              <a:t> </a:t>
            </a:r>
            <a:endParaRPr lang="en-US"/>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589212" y="673767"/>
                <a:ext cx="8915400" cy="6051885"/>
              </a:xfrm>
            </p:spPr>
            <p:txBody>
              <a:bodyPr>
                <a:normAutofit fontScale="92500" lnSpcReduction="10000"/>
              </a:bodyPr>
              <a:lstStyle/>
              <a:p>
                <a:pPr>
                  <a:lnSpc>
                    <a:spcPct val="150000"/>
                  </a:lnSpc>
                </a:pPr>
                <a:r>
                  <a:rPr lang="en-US" i="1" smtClean="0"/>
                  <a:t>Bước 1</a:t>
                </a:r>
                <a:r>
                  <a:rPr lang="en-US"/>
                  <a:t>: Xây dựng hàm hai biến    T: 2</a:t>
                </a:r>
                <a:r>
                  <a:rPr lang="en-US" baseline="30000"/>
                  <a:t>Q</a:t>
                </a:r>
                <a:r>
                  <a:rPr lang="en-US"/>
                  <a:t> × Σ → 2</a:t>
                </a:r>
                <a:r>
                  <a:rPr lang="en-US" baseline="30000"/>
                  <a:t>Q</a:t>
                </a:r>
                <a:r>
                  <a:rPr lang="en-US"/>
                  <a:t>  thỏa mãn các điều kiện: </a:t>
                </a:r>
              </a:p>
              <a:p>
                <a:pPr marL="0" indent="0">
                  <a:lnSpc>
                    <a:spcPct val="150000"/>
                  </a:lnSpc>
                  <a:buNone/>
                </a:pPr>
                <a:r>
                  <a:rPr lang="en-US" smtClean="0"/>
                  <a:t>	1/. </a:t>
                </a:r>
                <a:r>
                  <a:rPr lang="en-US"/>
                  <a:t>∀ q ∈ Q, ∀ a ∈ Σ thì T(q, a) = {q’ ∈ Q | q’ = δ(q, a) } </a:t>
                </a:r>
              </a:p>
              <a:p>
                <a:pPr marL="0" indent="0">
                  <a:lnSpc>
                    <a:spcPct val="150000"/>
                  </a:lnSpc>
                  <a:buNone/>
                </a:pPr>
                <a:r>
                  <a:rPr lang="en-US" smtClean="0"/>
                  <a:t>	2</a:t>
                </a:r>
                <a:r>
                  <a:rPr lang="en-US"/>
                  <a:t>/. ∀ B ⊆ Q mà δ(q, a) = B, ∀ a ∈ Σ </a:t>
                </a:r>
                <a:r>
                  <a:rPr lang="en-US" smtClean="0"/>
                  <a:t>thì </a:t>
                </a:r>
                <a14:m>
                  <m:oMath xmlns:m="http://schemas.openxmlformats.org/officeDocument/2006/math">
                    <m:r>
                      <a:rPr lang="en-US" b="0" i="1" smtClean="0">
                        <a:latin typeface="Cambria Math"/>
                      </a:rPr>
                      <m:t>𝑇</m:t>
                    </m:r>
                    <m:d>
                      <m:dPr>
                        <m:ctrlPr>
                          <a:rPr lang="en-US" b="0" i="1" smtClean="0">
                            <a:latin typeface="Cambria Math"/>
                          </a:rPr>
                        </m:ctrlPr>
                      </m:dPr>
                      <m:e>
                        <m:r>
                          <a:rPr lang="en-US" b="0" i="1" smtClean="0">
                            <a:latin typeface="Cambria Math"/>
                          </a:rPr>
                          <m:t>𝐵</m:t>
                        </m:r>
                        <m:r>
                          <a:rPr lang="en-US" b="0" i="1" smtClean="0">
                            <a:latin typeface="Cambria Math"/>
                          </a:rPr>
                          <m:t>,</m:t>
                        </m:r>
                        <m:r>
                          <a:rPr lang="en-US" b="0" i="1" smtClean="0">
                            <a:latin typeface="Cambria Math"/>
                          </a:rPr>
                          <m:t>𝑎</m:t>
                        </m:r>
                      </m:e>
                    </m:d>
                    <m:r>
                      <a:rPr lang="en-US" b="0" i="1" smtClean="0">
                        <a:latin typeface="Cambria Math"/>
                      </a:rPr>
                      <m:t>=</m:t>
                    </m:r>
                    <m:nary>
                      <m:naryPr>
                        <m:chr m:val="⋃"/>
                        <m:supHide m:val="on"/>
                        <m:ctrlPr>
                          <a:rPr lang="en-US" b="0" i="1" smtClean="0">
                            <a:latin typeface="Cambria Math"/>
                          </a:rPr>
                        </m:ctrlPr>
                      </m:naryPr>
                      <m:sub>
                        <m:r>
                          <m:rPr>
                            <m:brk m:alnAt="7"/>
                          </m:rPr>
                          <a:rPr lang="en-US" b="0" i="1" smtClean="0">
                            <a:latin typeface="Cambria Math"/>
                          </a:rPr>
                          <m:t>𝑝</m:t>
                        </m:r>
                        <m:r>
                          <a:rPr lang="en-US" b="0" i="1" smtClean="0">
                            <a:latin typeface="Cambria Math"/>
                            <a:ea typeface="Cambria Math"/>
                          </a:rPr>
                          <m:t>∈</m:t>
                        </m:r>
                        <m:r>
                          <a:rPr lang="en-US" b="0" i="1" smtClean="0">
                            <a:latin typeface="Cambria Math"/>
                            <a:ea typeface="Cambria Math"/>
                          </a:rPr>
                          <m:t>𝐵</m:t>
                        </m:r>
                      </m:sub>
                      <m:sup/>
                      <m:e>
                        <m:r>
                          <a:rPr lang="en-US" b="0" i="1" smtClean="0">
                            <a:latin typeface="Cambria Math"/>
                          </a:rPr>
                          <m:t>𝑇</m:t>
                        </m:r>
                        <m:d>
                          <m:dPr>
                            <m:ctrlPr>
                              <a:rPr lang="en-US" b="0" i="1" smtClean="0">
                                <a:latin typeface="Cambria Math"/>
                              </a:rPr>
                            </m:ctrlPr>
                          </m:dPr>
                          <m:e>
                            <m:r>
                              <a:rPr lang="en-US" b="0" i="1" smtClean="0">
                                <a:latin typeface="Cambria Math"/>
                              </a:rPr>
                              <m:t>𝑝</m:t>
                            </m:r>
                            <m:r>
                              <a:rPr lang="en-US" b="0" i="1" smtClean="0">
                                <a:latin typeface="Cambria Math"/>
                              </a:rPr>
                              <m:t>,</m:t>
                            </m:r>
                            <m:r>
                              <a:rPr lang="en-US" b="0" i="1" smtClean="0">
                                <a:latin typeface="Cambria Math"/>
                              </a:rPr>
                              <m:t>𝑎</m:t>
                            </m:r>
                          </m:e>
                        </m:d>
                      </m:e>
                    </m:nary>
                  </m:oMath>
                </a14:m>
                <a:r>
                  <a:rPr lang="en-US" smtClean="0"/>
                  <a:t> </a:t>
                </a:r>
                <a:endParaRPr lang="en-US"/>
              </a:p>
              <a:p>
                <a:pPr>
                  <a:lnSpc>
                    <a:spcPct val="150000"/>
                  </a:lnSpc>
                </a:pPr>
                <a:r>
                  <a:rPr lang="en-US" i="1"/>
                  <a:t>Bước 2</a:t>
                </a:r>
                <a:r>
                  <a:rPr lang="en-US"/>
                  <a:t>: Xác định tập trạng thái mới Q’ = {s</a:t>
                </a:r>
                <a:r>
                  <a:rPr lang="en-US" baseline="-25000"/>
                  <a:t>0</a:t>
                </a:r>
                <a:r>
                  <a:rPr lang="en-US"/>
                  <a:t>, s</a:t>
                </a:r>
                <a:r>
                  <a:rPr lang="en-US" baseline="-25000"/>
                  <a:t>1,</a:t>
                </a:r>
                <a:r>
                  <a:rPr lang="en-US"/>
                  <a:t> …, s</a:t>
                </a:r>
                <a:r>
                  <a:rPr lang="en-US" baseline="-25000"/>
                  <a:t>k</a:t>
                </a:r>
                <a:r>
                  <a:rPr lang="en-US"/>
                  <a:t> | k ≤ 2</a:t>
                </a:r>
                <a:r>
                  <a:rPr lang="en-US" baseline="30000"/>
                  <a:t>| Q | </a:t>
                </a:r>
                <a:r>
                  <a:rPr lang="en-US"/>
                  <a:t>-1}: </a:t>
                </a:r>
              </a:p>
              <a:p>
                <a:pPr marL="0" indent="0">
                  <a:lnSpc>
                    <a:spcPct val="150000"/>
                  </a:lnSpc>
                  <a:buNone/>
                </a:pPr>
                <a:r>
                  <a:rPr lang="en-US" smtClean="0"/>
                  <a:t>	1</a:t>
                </a:r>
                <a:r>
                  <a:rPr lang="en-US"/>
                  <a:t>/.  Đặt  s</a:t>
                </a:r>
                <a:r>
                  <a:rPr lang="en-US" baseline="-25000"/>
                  <a:t>0</a:t>
                </a:r>
                <a:r>
                  <a:rPr lang="en-US"/>
                  <a:t> = {q</a:t>
                </a:r>
                <a:r>
                  <a:rPr lang="en-US" baseline="-25000"/>
                  <a:t>0</a:t>
                </a:r>
                <a:r>
                  <a:rPr lang="en-US"/>
                  <a:t>},  s</a:t>
                </a:r>
                <a:r>
                  <a:rPr lang="en-US" baseline="-25000"/>
                  <a:t>1 </a:t>
                </a:r>
                <a:r>
                  <a:rPr lang="en-US"/>
                  <a:t>= {q</a:t>
                </a:r>
                <a:r>
                  <a:rPr lang="en-US" baseline="-25000"/>
                  <a:t>1</a:t>
                </a:r>
                <a:r>
                  <a:rPr lang="en-US"/>
                  <a:t>}, … s</a:t>
                </a:r>
                <a:r>
                  <a:rPr lang="en-US" baseline="-25000"/>
                  <a:t>i</a:t>
                </a:r>
                <a:r>
                  <a:rPr lang="en-US"/>
                  <a:t> = {q</a:t>
                </a:r>
                <a:r>
                  <a:rPr lang="en-US" baseline="-25000"/>
                  <a:t>i</a:t>
                </a:r>
                <a:r>
                  <a:rPr lang="en-US"/>
                  <a:t>} ∀ {q</a:t>
                </a:r>
                <a:r>
                  <a:rPr lang="en-US" baseline="-25000"/>
                  <a:t>0</a:t>
                </a:r>
                <a:r>
                  <a:rPr lang="en-US"/>
                  <a:t>}, {q</a:t>
                </a:r>
                <a:r>
                  <a:rPr lang="en-US" baseline="-25000"/>
                  <a:t>1</a:t>
                </a:r>
                <a:r>
                  <a:rPr lang="en-US"/>
                  <a:t>}, …, {q</a:t>
                </a:r>
                <a:r>
                  <a:rPr lang="en-US" baseline="-25000"/>
                  <a:t>i</a:t>
                </a:r>
                <a:r>
                  <a:rPr lang="en-US"/>
                  <a:t>} ∈ Q</a:t>
                </a:r>
                <a:r>
                  <a:rPr lang="en-US" smtClean="0"/>
                  <a:t>,</a:t>
                </a:r>
              </a:p>
              <a:p>
                <a:pPr marL="0" indent="0">
                  <a:lnSpc>
                    <a:spcPct val="150000"/>
                  </a:lnSpc>
                  <a:buNone/>
                </a:pPr>
                <a:r>
                  <a:rPr lang="en-US" smtClean="0"/>
                  <a:t>	2</a:t>
                </a:r>
                <a:r>
                  <a:rPr lang="en-US"/>
                  <a:t>/.  </a:t>
                </a:r>
                <a:r>
                  <a:rPr lang="es-MX"/>
                  <a:t>Đặt s</a:t>
                </a:r>
                <a:r>
                  <a:rPr lang="es-MX" baseline="-25000"/>
                  <a:t>i+1</a:t>
                </a:r>
                <a:r>
                  <a:rPr lang="es-MX"/>
                  <a:t> = B</a:t>
                </a:r>
                <a:r>
                  <a:rPr lang="es-MX" baseline="-25000"/>
                  <a:t>1</a:t>
                </a:r>
                <a:r>
                  <a:rPr lang="es-MX"/>
                  <a:t>, s</a:t>
                </a:r>
                <a:r>
                  <a:rPr lang="es-MX" baseline="-25000"/>
                  <a:t>i+2 </a:t>
                </a:r>
                <a:r>
                  <a:rPr lang="es-MX"/>
                  <a:t>= B</a:t>
                </a:r>
                <a:r>
                  <a:rPr lang="es-MX" baseline="-25000"/>
                  <a:t>2</a:t>
                </a:r>
                <a:r>
                  <a:rPr lang="es-MX"/>
                  <a:t>,… ∀ B</a:t>
                </a:r>
                <a:r>
                  <a:rPr lang="es-MX" baseline="-25000"/>
                  <a:t>1</a:t>
                </a:r>
                <a:r>
                  <a:rPr lang="es-MX"/>
                  <a:t>, B</a:t>
                </a:r>
                <a:r>
                  <a:rPr lang="es-MX" baseline="-25000"/>
                  <a:t>2</a:t>
                </a:r>
                <a:r>
                  <a:rPr lang="es-MX"/>
                  <a:t> … ⊆ Q mà </a:t>
                </a:r>
                <a:r>
                  <a:rPr lang="en-US"/>
                  <a:t>δ</a:t>
                </a:r>
                <a:r>
                  <a:rPr lang="es-MX"/>
                  <a:t>(q</a:t>
                </a:r>
                <a:r>
                  <a:rPr lang="es-MX" baseline="-25000"/>
                  <a:t>j</a:t>
                </a:r>
                <a:r>
                  <a:rPr lang="es-MX"/>
                  <a:t>, a) = B</a:t>
                </a:r>
                <a:r>
                  <a:rPr lang="es-MX" baseline="-25000"/>
                  <a:t>j</a:t>
                </a:r>
                <a:r>
                  <a:rPr lang="es-MX"/>
                  <a:t>. </a:t>
                </a:r>
                <a:endParaRPr lang="en-US"/>
              </a:p>
              <a:p>
                <a:pPr marL="0" indent="0">
                  <a:lnSpc>
                    <a:spcPct val="150000"/>
                  </a:lnSpc>
                  <a:buNone/>
                </a:pPr>
                <a:r>
                  <a:rPr lang="es-MX" smtClean="0"/>
                  <a:t>	3</a:t>
                </a:r>
                <a:r>
                  <a:rPr lang="es-MX"/>
                  <a:t>/.  Nếu otomat A là không đầy đủ, đặt s</a:t>
                </a:r>
                <a:r>
                  <a:rPr lang="es-MX" baseline="-25000"/>
                  <a:t>k</a:t>
                </a:r>
                <a:r>
                  <a:rPr lang="es-MX"/>
                  <a:t> = ∅ và thêm vào hàm chuyển </a:t>
                </a:r>
                <a:r>
                  <a:rPr lang="en-US"/>
                  <a:t>δ</a:t>
                </a:r>
                <a:r>
                  <a:rPr lang="es-MX"/>
                  <a:t>’ các giá trị </a:t>
                </a:r>
                <a:r>
                  <a:rPr lang="en-US"/>
                  <a:t>δ</a:t>
                </a:r>
                <a:r>
                  <a:rPr lang="es-MX"/>
                  <a:t>’(s</a:t>
                </a:r>
                <a:r>
                  <a:rPr lang="es-MX" baseline="-25000"/>
                  <a:t>k</a:t>
                </a:r>
                <a:r>
                  <a:rPr lang="es-MX"/>
                  <a:t>, a) = s</a:t>
                </a:r>
                <a:r>
                  <a:rPr lang="es-MX" baseline="-25000"/>
                  <a:t>k</a:t>
                </a:r>
                <a:r>
                  <a:rPr lang="es-MX"/>
                  <a:t> ∀ a ∈ </a:t>
                </a:r>
                <a:r>
                  <a:rPr lang="en-US"/>
                  <a:t>Σ</a:t>
                </a:r>
                <a:r>
                  <a:rPr lang="es-MX"/>
                  <a:t> để otomat M là otomat đầy đủ. </a:t>
                </a:r>
                <a:endParaRPr lang="en-US"/>
              </a:p>
              <a:p>
                <a:pPr marL="0" indent="0">
                  <a:lnSpc>
                    <a:spcPct val="150000"/>
                  </a:lnSpc>
                  <a:buNone/>
                </a:pPr>
                <a:r>
                  <a:rPr lang="es-MX" smtClean="0"/>
                  <a:t>	4</a:t>
                </a:r>
                <a:r>
                  <a:rPr lang="es-MX"/>
                  <a:t>/. Trạng thái khởi đầu của otomat M là s</a:t>
                </a:r>
                <a:r>
                  <a:rPr lang="es-MX" baseline="-25000"/>
                  <a:t>0</a:t>
                </a:r>
                <a:r>
                  <a:rPr lang="es-MX"/>
                  <a:t>. </a:t>
                </a:r>
                <a:endParaRPr lang="en-US"/>
              </a:p>
              <a:p>
                <a:pPr marL="0" indent="0">
                  <a:lnSpc>
                    <a:spcPct val="150000"/>
                  </a:lnSpc>
                  <a:buNone/>
                </a:pPr>
                <a:r>
                  <a:rPr lang="es-MX" smtClean="0"/>
                  <a:t>	5</a:t>
                </a:r>
                <a:r>
                  <a:rPr lang="es-MX"/>
                  <a:t>/. Tập trạng thái kết thúc của otomat M là F’ = {s ∈ Q’ | s ∩ F ≠ ∅ }. </a:t>
                </a:r>
                <a:endParaRPr lang="en-US"/>
              </a:p>
              <a:p>
                <a:pPr>
                  <a:lnSpc>
                    <a:spcPct val="150000"/>
                  </a:lnSpc>
                </a:pPr>
                <a:r>
                  <a:rPr lang="es-MX" i="1"/>
                  <a:t>Bước 3</a:t>
                </a:r>
                <a:r>
                  <a:rPr lang="es-MX"/>
                  <a:t>: </a:t>
                </a:r>
                <a:r>
                  <a:rPr lang="es-MX" smtClean="0"/>
                  <a:t>Xác định hàm chuyển </a:t>
                </a:r>
                <a:r>
                  <a:rPr lang="en-US" smtClean="0"/>
                  <a:t>δ</a:t>
                </a:r>
                <a:r>
                  <a:rPr lang="es-MX" smtClean="0"/>
                  <a:t>’: Q’ × </a:t>
                </a:r>
                <a:r>
                  <a:rPr lang="en-US" smtClean="0"/>
                  <a:t>Σ </a:t>
                </a:r>
                <a:r>
                  <a:rPr lang="es-MX" smtClean="0"/>
                  <a:t>→ Q’ của otomat M: </a:t>
                </a:r>
                <a:endParaRPr lang="en-US" smtClean="0"/>
              </a:p>
              <a:p>
                <a:pPr marL="0" indent="0">
                  <a:lnSpc>
                    <a:spcPct val="150000"/>
                  </a:lnSpc>
                  <a:buNone/>
                </a:pPr>
                <a:r>
                  <a:rPr lang="en-US" smtClean="0"/>
                  <a:t>		∀ s ∈ Q’, ∀ a ∈ Σ thì δ’(s, a) = T(s, a) </a:t>
                </a:r>
              </a:p>
              <a:p>
                <a:pPr>
                  <a:lnSpc>
                    <a:spcPct val="150000"/>
                  </a:lnSpc>
                </a:pPr>
                <a:endParaRPr lang="en-US"/>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589212" y="673767"/>
                <a:ext cx="8915400" cy="6051885"/>
              </a:xfrm>
              <a:blipFill rotWithShape="1">
                <a:blip r:embed="rId2"/>
                <a:stretch>
                  <a:fillRect l="-479" r="-274"/>
                </a:stretch>
              </a:blipFill>
            </p:spPr>
            <p:txBody>
              <a:bodyPr/>
              <a:lstStyle/>
              <a:p>
                <a:r>
                  <a:rPr lang="en-US">
                    <a:noFill/>
                  </a:rPr>
                  <a:t> </a:t>
                </a:r>
              </a:p>
            </p:txBody>
          </p:sp>
        </mc:Fallback>
      </mc:AlternateContent>
    </p:spTree>
    <p:extLst>
      <p:ext uri="{BB962C8B-B14F-4D97-AF65-F5344CB8AC3E}">
        <p14:creationId xmlns:p14="http://schemas.microsoft.com/office/powerpoint/2010/main" val="3028287510"/>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89212" y="287225"/>
            <a:ext cx="8911687" cy="627175"/>
          </a:xfrm>
        </p:spPr>
        <p:txBody>
          <a:bodyPr>
            <a:normAutofit fontScale="90000"/>
          </a:bodyPr>
          <a:lstStyle/>
          <a:p>
            <a:r>
              <a:rPr lang="en-US" smtClean="0"/>
              <a:t>Ví dụ:</a:t>
            </a:r>
            <a:endParaRPr lang="en-US"/>
          </a:p>
        </p:txBody>
      </p:sp>
      <p:sp>
        <p:nvSpPr>
          <p:cNvPr id="3" name="Content Placeholder 2"/>
          <p:cNvSpPr>
            <a:spLocks noGrp="1"/>
          </p:cNvSpPr>
          <p:nvPr>
            <p:ph idx="1"/>
          </p:nvPr>
        </p:nvSpPr>
        <p:spPr>
          <a:xfrm>
            <a:off x="2589212" y="914400"/>
            <a:ext cx="8915400" cy="5943600"/>
          </a:xfrm>
        </p:spPr>
        <p:txBody>
          <a:bodyPr>
            <a:normAutofit fontScale="92500" lnSpcReduction="20000"/>
          </a:bodyPr>
          <a:lstStyle/>
          <a:p>
            <a:r>
              <a:rPr lang="en-US"/>
              <a:t>Cho otomat A = &lt;{p</a:t>
            </a:r>
            <a:r>
              <a:rPr lang="en-US" baseline="-25000"/>
              <a:t>0</a:t>
            </a:r>
            <a:r>
              <a:rPr lang="en-US"/>
              <a:t>, p</a:t>
            </a:r>
            <a:r>
              <a:rPr lang="en-US" baseline="-25000"/>
              <a:t>1</a:t>
            </a:r>
            <a:r>
              <a:rPr lang="en-US"/>
              <a:t>, p</a:t>
            </a:r>
            <a:r>
              <a:rPr lang="en-US" baseline="-25000"/>
              <a:t>2</a:t>
            </a:r>
            <a:r>
              <a:rPr lang="en-US"/>
              <a:t>}, {a, b, c}, δ , p</a:t>
            </a:r>
            <a:r>
              <a:rPr lang="en-US" baseline="-25000"/>
              <a:t>0</a:t>
            </a:r>
            <a:r>
              <a:rPr lang="en-US"/>
              <a:t>, {p</a:t>
            </a:r>
            <a:r>
              <a:rPr lang="en-US" baseline="-25000"/>
              <a:t>1</a:t>
            </a:r>
            <a:r>
              <a:rPr lang="en-US"/>
              <a:t>, p</a:t>
            </a:r>
            <a:r>
              <a:rPr lang="en-US" baseline="-25000"/>
              <a:t>2</a:t>
            </a:r>
            <a:r>
              <a:rPr lang="en-US"/>
              <a:t>}&gt; với hàm chuyển δ cho bởi bảng sau: </a:t>
            </a:r>
            <a:endParaRPr lang="en-US" smtClean="0"/>
          </a:p>
          <a:p>
            <a:endParaRPr lang="en-US"/>
          </a:p>
          <a:p>
            <a:endParaRPr lang="en-US" smtClean="0"/>
          </a:p>
          <a:p>
            <a:endParaRPr lang="en-US"/>
          </a:p>
          <a:p>
            <a:endParaRPr lang="en-US" smtClean="0"/>
          </a:p>
          <a:p>
            <a:r>
              <a:rPr lang="en-US" smtClean="0"/>
              <a:t>Q’=2</a:t>
            </a:r>
            <a:r>
              <a:rPr lang="en-US" baseline="30000" smtClean="0"/>
              <a:t>|Q</a:t>
            </a:r>
            <a:r>
              <a:rPr lang="en-US" baseline="30000"/>
              <a:t>|</a:t>
            </a:r>
            <a:r>
              <a:rPr lang="en-US"/>
              <a:t>={p0</a:t>
            </a:r>
            <a:r>
              <a:rPr lang="en-US" smtClean="0"/>
              <a:t>, p1, p2, {</a:t>
            </a:r>
            <a:r>
              <a:rPr lang="en-US"/>
              <a:t>p0,p2</a:t>
            </a:r>
            <a:r>
              <a:rPr lang="en-US" smtClean="0"/>
              <a:t>}, {</a:t>
            </a:r>
            <a:r>
              <a:rPr lang="en-US"/>
              <a:t>p1,p2</a:t>
            </a:r>
            <a:r>
              <a:rPr lang="en-US" smtClean="0"/>
              <a:t>}, </a:t>
            </a:r>
            <a:r>
              <a:rPr lang="en-US"/>
              <a:t>∅}</a:t>
            </a:r>
            <a:endParaRPr lang="en-US" smtClean="0"/>
          </a:p>
          <a:p>
            <a:r>
              <a:rPr lang="en-US" smtClean="0"/>
              <a:t>Hãy </a:t>
            </a:r>
            <a:r>
              <a:rPr lang="en-US"/>
              <a:t>xây dựng otomat M = &lt;Q’, {a, b, c}, δ’, s</a:t>
            </a:r>
            <a:r>
              <a:rPr lang="en-US" baseline="-25000"/>
              <a:t>0</a:t>
            </a:r>
            <a:r>
              <a:rPr lang="en-US"/>
              <a:t>, F’&gt; đơn định và đầy đủ, tương đương với otomat A. </a:t>
            </a:r>
          </a:p>
          <a:p>
            <a:pPr marL="0" indent="0">
              <a:buNone/>
            </a:pPr>
            <a:r>
              <a:rPr lang="en-US" smtClean="0"/>
              <a:t>1</a:t>
            </a:r>
            <a:r>
              <a:rPr lang="en-US"/>
              <a:t>/. Xây dựng hàm T: 2</a:t>
            </a:r>
            <a:r>
              <a:rPr lang="en-US" baseline="30000"/>
              <a:t>Q</a:t>
            </a:r>
            <a:r>
              <a:rPr lang="en-US"/>
              <a:t> × Σ → 2</a:t>
            </a:r>
            <a:r>
              <a:rPr lang="en-US" baseline="30000"/>
              <a:t>Q</a:t>
            </a:r>
            <a:endParaRPr lang="en-US"/>
          </a:p>
          <a:p>
            <a:pPr marL="0" indent="0">
              <a:buNone/>
            </a:pPr>
            <a:r>
              <a:rPr lang="en-US" smtClean="0"/>
              <a:t>	+ </a:t>
            </a:r>
            <a:r>
              <a:rPr lang="en-US"/>
              <a:t>T(p</a:t>
            </a:r>
            <a:r>
              <a:rPr lang="en-US" baseline="-25000"/>
              <a:t>0</a:t>
            </a:r>
            <a:r>
              <a:rPr lang="en-US"/>
              <a:t>, a) = {p</a:t>
            </a:r>
            <a:r>
              <a:rPr lang="en-US" baseline="-25000"/>
              <a:t>1</a:t>
            </a:r>
            <a:r>
              <a:rPr lang="en-US"/>
              <a:t>}, T(p</a:t>
            </a:r>
            <a:r>
              <a:rPr lang="en-US" baseline="-25000"/>
              <a:t>0</a:t>
            </a:r>
            <a:r>
              <a:rPr lang="en-US"/>
              <a:t>, b) = {p</a:t>
            </a:r>
            <a:r>
              <a:rPr lang="en-US" baseline="-25000"/>
              <a:t>1</a:t>
            </a:r>
            <a:r>
              <a:rPr lang="en-US"/>
              <a:t>, p</a:t>
            </a:r>
            <a:r>
              <a:rPr lang="en-US" baseline="-25000"/>
              <a:t>2</a:t>
            </a:r>
            <a:r>
              <a:rPr lang="en-US"/>
              <a:t>}, T(p</a:t>
            </a:r>
            <a:r>
              <a:rPr lang="en-US" baseline="-25000"/>
              <a:t>0</a:t>
            </a:r>
            <a:r>
              <a:rPr lang="en-US"/>
              <a:t>, c) = {p</a:t>
            </a:r>
            <a:r>
              <a:rPr lang="en-US" baseline="-25000"/>
              <a:t>2</a:t>
            </a:r>
            <a:r>
              <a:rPr lang="en-US"/>
              <a:t>}, </a:t>
            </a:r>
          </a:p>
          <a:p>
            <a:pPr marL="0" indent="0">
              <a:buNone/>
            </a:pPr>
            <a:r>
              <a:rPr lang="en-US" b="1" smtClean="0"/>
              <a:t>	+ </a:t>
            </a:r>
            <a:r>
              <a:rPr lang="en-US"/>
              <a:t>T(p</a:t>
            </a:r>
            <a:r>
              <a:rPr lang="en-US" baseline="-25000"/>
              <a:t>1</a:t>
            </a:r>
            <a:r>
              <a:rPr lang="en-US"/>
              <a:t>, a) = {p</a:t>
            </a:r>
            <a:r>
              <a:rPr lang="en-US" baseline="-25000"/>
              <a:t>2</a:t>
            </a:r>
            <a:r>
              <a:rPr lang="en-US"/>
              <a:t>}, T(p</a:t>
            </a:r>
            <a:r>
              <a:rPr lang="en-US" baseline="-25000"/>
              <a:t>1</a:t>
            </a:r>
            <a:r>
              <a:rPr lang="en-US"/>
              <a:t>, b) = ∅ , T(p</a:t>
            </a:r>
            <a:r>
              <a:rPr lang="en-US" baseline="-25000"/>
              <a:t>1</a:t>
            </a:r>
            <a:r>
              <a:rPr lang="en-US"/>
              <a:t>, c) = {p</a:t>
            </a:r>
            <a:r>
              <a:rPr lang="en-US" baseline="-25000"/>
              <a:t>0</a:t>
            </a:r>
            <a:r>
              <a:rPr lang="en-US"/>
              <a:t>, p</a:t>
            </a:r>
            <a:r>
              <a:rPr lang="en-US" baseline="-25000"/>
              <a:t>2</a:t>
            </a:r>
            <a:r>
              <a:rPr lang="en-US"/>
              <a:t>}, </a:t>
            </a:r>
          </a:p>
          <a:p>
            <a:pPr marL="0" indent="0">
              <a:buNone/>
            </a:pPr>
            <a:r>
              <a:rPr lang="en-US" smtClean="0"/>
              <a:t>	+ </a:t>
            </a:r>
            <a:r>
              <a:rPr lang="en-US"/>
              <a:t>T(p</a:t>
            </a:r>
            <a:r>
              <a:rPr lang="en-US" baseline="-25000"/>
              <a:t>2</a:t>
            </a:r>
            <a:r>
              <a:rPr lang="en-US"/>
              <a:t>, a) = {p</a:t>
            </a:r>
            <a:r>
              <a:rPr lang="en-US" baseline="-25000"/>
              <a:t>1</a:t>
            </a:r>
            <a:r>
              <a:rPr lang="en-US"/>
              <a:t>}, T(p</a:t>
            </a:r>
            <a:r>
              <a:rPr lang="en-US" baseline="-25000"/>
              <a:t>2</a:t>
            </a:r>
            <a:r>
              <a:rPr lang="en-US"/>
              <a:t>, b) = {p</a:t>
            </a:r>
            <a:r>
              <a:rPr lang="en-US" baseline="-25000"/>
              <a:t>1</a:t>
            </a:r>
            <a:r>
              <a:rPr lang="en-US"/>
              <a:t>}, T(p</a:t>
            </a:r>
            <a:r>
              <a:rPr lang="en-US" baseline="-25000"/>
              <a:t>2</a:t>
            </a:r>
            <a:r>
              <a:rPr lang="en-US"/>
              <a:t>, c) = {p</a:t>
            </a:r>
            <a:r>
              <a:rPr lang="en-US" baseline="-25000"/>
              <a:t>2</a:t>
            </a:r>
            <a:r>
              <a:rPr lang="en-US"/>
              <a:t>}, </a:t>
            </a:r>
          </a:p>
          <a:p>
            <a:pPr marL="0" indent="0">
              <a:buNone/>
            </a:pPr>
            <a:r>
              <a:rPr lang="en-US" smtClean="0"/>
              <a:t>	+ </a:t>
            </a:r>
            <a:r>
              <a:rPr lang="en-US"/>
              <a:t>T({p</a:t>
            </a:r>
            <a:r>
              <a:rPr lang="en-US" baseline="-25000"/>
              <a:t>1</a:t>
            </a:r>
            <a:r>
              <a:rPr lang="en-US"/>
              <a:t>, p</a:t>
            </a:r>
            <a:r>
              <a:rPr lang="en-US" baseline="-25000"/>
              <a:t>2</a:t>
            </a:r>
            <a:r>
              <a:rPr lang="en-US"/>
              <a:t>}, a) =  T(p</a:t>
            </a:r>
            <a:r>
              <a:rPr lang="en-US" baseline="-25000"/>
              <a:t>1</a:t>
            </a:r>
            <a:r>
              <a:rPr lang="en-US"/>
              <a:t>,a) ∪ T(p</a:t>
            </a:r>
            <a:r>
              <a:rPr lang="en-US" baseline="-25000"/>
              <a:t>2</a:t>
            </a:r>
            <a:r>
              <a:rPr lang="en-US"/>
              <a:t>,a) =  {p</a:t>
            </a:r>
            <a:r>
              <a:rPr lang="en-US" baseline="-25000"/>
              <a:t>2</a:t>
            </a:r>
            <a:r>
              <a:rPr lang="en-US"/>
              <a:t>} ∪{p</a:t>
            </a:r>
            <a:r>
              <a:rPr lang="en-US" baseline="-25000"/>
              <a:t>1</a:t>
            </a:r>
            <a:r>
              <a:rPr lang="en-US"/>
              <a:t>} = {p</a:t>
            </a:r>
            <a:r>
              <a:rPr lang="en-US" baseline="-25000"/>
              <a:t>1</a:t>
            </a:r>
            <a:r>
              <a:rPr lang="en-US"/>
              <a:t>, p</a:t>
            </a:r>
            <a:r>
              <a:rPr lang="en-US" baseline="-25000"/>
              <a:t>2</a:t>
            </a:r>
            <a:r>
              <a:rPr lang="en-US"/>
              <a:t>}, T({p</a:t>
            </a:r>
            <a:r>
              <a:rPr lang="en-US" baseline="-25000"/>
              <a:t>1</a:t>
            </a:r>
            <a:r>
              <a:rPr lang="en-US"/>
              <a:t>, p</a:t>
            </a:r>
            <a:r>
              <a:rPr lang="en-US" baseline="-25000"/>
              <a:t>2</a:t>
            </a:r>
            <a:r>
              <a:rPr lang="en-US"/>
              <a:t>}, b) </a:t>
            </a:r>
            <a:r>
              <a:rPr lang="en-US" smtClean="0"/>
              <a:t>= </a:t>
            </a:r>
            <a:r>
              <a:rPr lang="en-US"/>
              <a:t>∅ ∪ {p</a:t>
            </a:r>
            <a:r>
              <a:rPr lang="en-US" baseline="-25000"/>
              <a:t>1</a:t>
            </a:r>
            <a:r>
              <a:rPr lang="en-US"/>
              <a:t>} = {p</a:t>
            </a:r>
            <a:r>
              <a:rPr lang="en-US" baseline="-25000"/>
              <a:t>1</a:t>
            </a:r>
            <a:r>
              <a:rPr lang="en-US"/>
              <a:t>}, T({p</a:t>
            </a:r>
            <a:r>
              <a:rPr lang="en-US" baseline="-25000"/>
              <a:t>1</a:t>
            </a:r>
            <a:r>
              <a:rPr lang="en-US"/>
              <a:t>, p</a:t>
            </a:r>
            <a:r>
              <a:rPr lang="en-US" baseline="-25000"/>
              <a:t>2</a:t>
            </a:r>
            <a:r>
              <a:rPr lang="en-US"/>
              <a:t>}, c) = {p</a:t>
            </a:r>
            <a:r>
              <a:rPr lang="en-US" baseline="-25000"/>
              <a:t>0</a:t>
            </a:r>
            <a:r>
              <a:rPr lang="en-US"/>
              <a:t>, p</a:t>
            </a:r>
            <a:r>
              <a:rPr lang="en-US" baseline="-25000"/>
              <a:t>2</a:t>
            </a:r>
            <a:r>
              <a:rPr lang="en-US"/>
              <a:t>} ∪{p</a:t>
            </a:r>
            <a:r>
              <a:rPr lang="en-US" baseline="-25000"/>
              <a:t>2</a:t>
            </a:r>
            <a:r>
              <a:rPr lang="en-US"/>
              <a:t>} = {p</a:t>
            </a:r>
            <a:r>
              <a:rPr lang="en-US" baseline="-25000"/>
              <a:t>0</a:t>
            </a:r>
            <a:r>
              <a:rPr lang="en-US"/>
              <a:t>, p</a:t>
            </a:r>
            <a:r>
              <a:rPr lang="en-US" baseline="-25000"/>
              <a:t>2</a:t>
            </a:r>
            <a:r>
              <a:rPr lang="en-US"/>
              <a:t>}, </a:t>
            </a:r>
          </a:p>
          <a:p>
            <a:pPr marL="0" indent="0">
              <a:buNone/>
            </a:pPr>
            <a:r>
              <a:rPr lang="en-US" smtClean="0"/>
              <a:t>	+ </a:t>
            </a:r>
            <a:r>
              <a:rPr lang="en-US"/>
              <a:t>T({p</a:t>
            </a:r>
            <a:r>
              <a:rPr lang="en-US" baseline="-25000"/>
              <a:t>0</a:t>
            </a:r>
            <a:r>
              <a:rPr lang="en-US"/>
              <a:t>, p</a:t>
            </a:r>
            <a:r>
              <a:rPr lang="en-US" baseline="-25000"/>
              <a:t>2</a:t>
            </a:r>
            <a:r>
              <a:rPr lang="en-US"/>
              <a:t>}, a) = {p</a:t>
            </a:r>
            <a:r>
              <a:rPr lang="en-US" baseline="-25000"/>
              <a:t>1</a:t>
            </a:r>
            <a:r>
              <a:rPr lang="en-US"/>
              <a:t>}, T({p</a:t>
            </a:r>
            <a:r>
              <a:rPr lang="en-US" baseline="-25000"/>
              <a:t>0</a:t>
            </a:r>
            <a:r>
              <a:rPr lang="en-US"/>
              <a:t>, p</a:t>
            </a:r>
            <a:r>
              <a:rPr lang="en-US" baseline="-25000"/>
              <a:t>2</a:t>
            </a:r>
            <a:r>
              <a:rPr lang="en-US"/>
              <a:t>}, b) = {p</a:t>
            </a:r>
            <a:r>
              <a:rPr lang="en-US" baseline="-25000"/>
              <a:t>1</a:t>
            </a:r>
            <a:r>
              <a:rPr lang="en-US"/>
              <a:t>, p</a:t>
            </a:r>
            <a:r>
              <a:rPr lang="en-US" baseline="-25000"/>
              <a:t>2</a:t>
            </a:r>
            <a:r>
              <a:rPr lang="en-US"/>
              <a:t>}, T({p</a:t>
            </a:r>
            <a:r>
              <a:rPr lang="en-US" baseline="-25000"/>
              <a:t>0</a:t>
            </a:r>
            <a:r>
              <a:rPr lang="en-US"/>
              <a:t>, p</a:t>
            </a:r>
            <a:r>
              <a:rPr lang="en-US" baseline="-25000"/>
              <a:t>2</a:t>
            </a:r>
            <a:r>
              <a:rPr lang="en-US"/>
              <a:t>}, c) = {p</a:t>
            </a:r>
            <a:r>
              <a:rPr lang="en-US" baseline="-25000"/>
              <a:t>2</a:t>
            </a:r>
            <a:r>
              <a:rPr lang="en-US"/>
              <a:t>} </a:t>
            </a:r>
            <a:endParaRPr lang="en-US" smtClean="0"/>
          </a:p>
          <a:p>
            <a:pPr marL="0" indent="0">
              <a:buNone/>
            </a:pPr>
            <a:r>
              <a:rPr lang="en-US" smtClean="0"/>
              <a:t>	</a:t>
            </a:r>
            <a:endParaRPr lang="en-US"/>
          </a:p>
          <a:p>
            <a:pPr marL="0" indent="0">
              <a:buNone/>
            </a:pPr>
            <a:r>
              <a:rPr lang="en-US" smtClean="0"/>
              <a:t>…</a:t>
            </a:r>
            <a:endParaRPr lang="en-US"/>
          </a:p>
        </p:txBody>
      </p:sp>
      <p:pic>
        <p:nvPicPr>
          <p:cNvPr id="4" name="Picture 3"/>
          <p:cNvPicPr/>
          <p:nvPr/>
        </p:nvPicPr>
        <p:blipFill>
          <a:blip r:embed="rId2"/>
          <a:stretch>
            <a:fillRect/>
          </a:stretch>
        </p:blipFill>
        <p:spPr>
          <a:xfrm>
            <a:off x="4765327" y="1184633"/>
            <a:ext cx="4716212" cy="1617579"/>
          </a:xfrm>
          <a:prstGeom prst="rect">
            <a:avLst/>
          </a:prstGeom>
        </p:spPr>
      </p:pic>
    </p:spTree>
    <p:extLst>
      <p:ext uri="{BB962C8B-B14F-4D97-AF65-F5344CB8AC3E}">
        <p14:creationId xmlns:p14="http://schemas.microsoft.com/office/powerpoint/2010/main" val="1886241263"/>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89212" y="132347"/>
            <a:ext cx="8915400" cy="6569242"/>
          </a:xfrm>
        </p:spPr>
        <p:txBody>
          <a:bodyPr>
            <a:normAutofit/>
          </a:bodyPr>
          <a:lstStyle/>
          <a:p>
            <a:r>
              <a:rPr lang="en-US"/>
              <a:t>	2/. Đặt s</a:t>
            </a:r>
            <a:r>
              <a:rPr lang="en-US" baseline="-25000"/>
              <a:t>0</a:t>
            </a:r>
            <a:r>
              <a:rPr lang="en-US"/>
              <a:t> = {p</a:t>
            </a:r>
            <a:r>
              <a:rPr lang="en-US" baseline="-25000"/>
              <a:t>0</a:t>
            </a:r>
            <a:r>
              <a:rPr lang="en-US"/>
              <a:t>}, s</a:t>
            </a:r>
            <a:r>
              <a:rPr lang="en-US" baseline="-25000"/>
              <a:t>1</a:t>
            </a:r>
            <a:r>
              <a:rPr lang="en-US"/>
              <a:t> = {p</a:t>
            </a:r>
            <a:r>
              <a:rPr lang="en-US" baseline="-25000"/>
              <a:t>1</a:t>
            </a:r>
            <a:r>
              <a:rPr lang="en-US"/>
              <a:t>}, s</a:t>
            </a:r>
            <a:r>
              <a:rPr lang="en-US" baseline="-25000"/>
              <a:t>2</a:t>
            </a:r>
            <a:r>
              <a:rPr lang="en-US"/>
              <a:t> = {p</a:t>
            </a:r>
            <a:r>
              <a:rPr lang="en-US" baseline="-25000"/>
              <a:t>2</a:t>
            </a:r>
            <a:r>
              <a:rPr lang="en-US"/>
              <a:t>}, s</a:t>
            </a:r>
            <a:r>
              <a:rPr lang="en-US" baseline="-25000"/>
              <a:t>3</a:t>
            </a:r>
            <a:r>
              <a:rPr lang="en-US"/>
              <a:t> = {p</a:t>
            </a:r>
            <a:r>
              <a:rPr lang="en-US" baseline="-25000"/>
              <a:t>1</a:t>
            </a:r>
            <a:r>
              <a:rPr lang="en-US"/>
              <a:t>, p</a:t>
            </a:r>
            <a:r>
              <a:rPr lang="en-US" baseline="-25000"/>
              <a:t>2</a:t>
            </a:r>
            <a:r>
              <a:rPr lang="en-US"/>
              <a:t>}, s</a:t>
            </a:r>
            <a:r>
              <a:rPr lang="en-US" baseline="-25000"/>
              <a:t>4 </a:t>
            </a:r>
            <a:r>
              <a:rPr lang="en-US"/>
              <a:t>= {p</a:t>
            </a:r>
            <a:r>
              <a:rPr lang="en-US" baseline="-25000"/>
              <a:t>0</a:t>
            </a:r>
            <a:r>
              <a:rPr lang="en-US"/>
              <a:t>, p</a:t>
            </a:r>
            <a:r>
              <a:rPr lang="en-US" baseline="-25000"/>
              <a:t>2</a:t>
            </a:r>
            <a:r>
              <a:rPr lang="en-US"/>
              <a:t>}, s</a:t>
            </a:r>
            <a:r>
              <a:rPr lang="en-US" baseline="-25000"/>
              <a:t>5</a:t>
            </a:r>
            <a:r>
              <a:rPr lang="en-US"/>
              <a:t> = ∅ ta có: </a:t>
            </a:r>
          </a:p>
          <a:p>
            <a:r>
              <a:rPr lang="en-US"/>
              <a:t> + Tập trạng thái mới Q’ = {s</a:t>
            </a:r>
            <a:r>
              <a:rPr lang="en-US" baseline="-25000"/>
              <a:t>0</a:t>
            </a:r>
            <a:r>
              <a:rPr lang="en-US"/>
              <a:t>, s</a:t>
            </a:r>
            <a:r>
              <a:rPr lang="en-US" baseline="-25000"/>
              <a:t>1</a:t>
            </a:r>
            <a:r>
              <a:rPr lang="en-US"/>
              <a:t>, s</a:t>
            </a:r>
            <a:r>
              <a:rPr lang="en-US" baseline="-25000"/>
              <a:t>2</a:t>
            </a:r>
            <a:r>
              <a:rPr lang="en-US"/>
              <a:t>, s</a:t>
            </a:r>
            <a:r>
              <a:rPr lang="en-US" baseline="-25000"/>
              <a:t>3</a:t>
            </a:r>
            <a:r>
              <a:rPr lang="en-US"/>
              <a:t>, s</a:t>
            </a:r>
            <a:r>
              <a:rPr lang="en-US" baseline="-25000"/>
              <a:t>4</a:t>
            </a:r>
            <a:r>
              <a:rPr lang="en-US"/>
              <a:t>, s</a:t>
            </a:r>
            <a:r>
              <a:rPr lang="en-US" baseline="-25000"/>
              <a:t>5</a:t>
            </a:r>
            <a:r>
              <a:rPr lang="en-US"/>
              <a:t>}. </a:t>
            </a:r>
          </a:p>
          <a:p>
            <a:r>
              <a:rPr lang="en-US"/>
              <a:t>+ Trạng thái khởi đầu của M là s</a:t>
            </a:r>
            <a:r>
              <a:rPr lang="en-US" baseline="-25000"/>
              <a:t>0, </a:t>
            </a:r>
            <a:endParaRPr lang="en-US"/>
          </a:p>
          <a:p>
            <a:r>
              <a:rPr lang="en-US"/>
              <a:t>+ Tập trạng thái kết mới: F’ = {s</a:t>
            </a:r>
            <a:r>
              <a:rPr lang="en-US" baseline="-25000"/>
              <a:t>1</a:t>
            </a:r>
            <a:r>
              <a:rPr lang="en-US"/>
              <a:t>, s</a:t>
            </a:r>
            <a:r>
              <a:rPr lang="en-US" baseline="-25000"/>
              <a:t>2</a:t>
            </a:r>
            <a:r>
              <a:rPr lang="en-US"/>
              <a:t>, s</a:t>
            </a:r>
            <a:r>
              <a:rPr lang="en-US" baseline="-25000"/>
              <a:t>3</a:t>
            </a:r>
            <a:r>
              <a:rPr lang="en-US"/>
              <a:t>, s</a:t>
            </a:r>
            <a:r>
              <a:rPr lang="en-US" baseline="-25000"/>
              <a:t>4</a:t>
            </a:r>
            <a:r>
              <a:rPr lang="en-US"/>
              <a:t>}. </a:t>
            </a:r>
          </a:p>
          <a:p>
            <a:r>
              <a:rPr lang="en-US"/>
              <a:t>3/. Hàm chuyển mới δ’: Q’ × Σ → Q’ được xác định như sau: </a:t>
            </a:r>
            <a:endParaRPr lang="en-US" smtClean="0"/>
          </a:p>
          <a:p>
            <a:endParaRPr lang="en-US"/>
          </a:p>
          <a:p>
            <a:endParaRPr lang="en-US" smtClean="0"/>
          </a:p>
          <a:p>
            <a:endParaRPr lang="en-US"/>
          </a:p>
          <a:p>
            <a:endParaRPr lang="en-US" smtClean="0"/>
          </a:p>
          <a:p>
            <a:endParaRPr lang="en-US"/>
          </a:p>
          <a:p>
            <a:endParaRPr lang="en-US" smtClean="0"/>
          </a:p>
          <a:p>
            <a:endParaRPr lang="en-US"/>
          </a:p>
          <a:p>
            <a:r>
              <a:rPr lang="en-US" smtClean="0"/>
              <a:t>Otomat </a:t>
            </a:r>
            <a:r>
              <a:rPr lang="en-US"/>
              <a:t>M = &lt;{s</a:t>
            </a:r>
            <a:r>
              <a:rPr lang="en-US" baseline="-25000"/>
              <a:t>0</a:t>
            </a:r>
            <a:r>
              <a:rPr lang="en-US"/>
              <a:t>, s</a:t>
            </a:r>
            <a:r>
              <a:rPr lang="en-US" baseline="-25000"/>
              <a:t>1</a:t>
            </a:r>
            <a:r>
              <a:rPr lang="en-US"/>
              <a:t>, s</a:t>
            </a:r>
            <a:r>
              <a:rPr lang="en-US" baseline="-25000"/>
              <a:t>2</a:t>
            </a:r>
            <a:r>
              <a:rPr lang="en-US"/>
              <a:t>, s</a:t>
            </a:r>
            <a:r>
              <a:rPr lang="en-US" baseline="-25000"/>
              <a:t>3</a:t>
            </a:r>
            <a:r>
              <a:rPr lang="en-US"/>
              <a:t>, s</a:t>
            </a:r>
            <a:r>
              <a:rPr lang="en-US" baseline="-25000"/>
              <a:t>4</a:t>
            </a:r>
            <a:r>
              <a:rPr lang="en-US"/>
              <a:t>, s</a:t>
            </a:r>
            <a:r>
              <a:rPr lang="en-US" baseline="-25000"/>
              <a:t>5</a:t>
            </a:r>
            <a:r>
              <a:rPr lang="en-US"/>
              <a:t>}, {a, b, c}, δ’, s</a:t>
            </a:r>
            <a:r>
              <a:rPr lang="en-US" baseline="-25000"/>
              <a:t>0</a:t>
            </a:r>
            <a:r>
              <a:rPr lang="en-US"/>
              <a:t>, {s</a:t>
            </a:r>
            <a:r>
              <a:rPr lang="en-US" baseline="-25000"/>
              <a:t>1</a:t>
            </a:r>
            <a:r>
              <a:rPr lang="en-US"/>
              <a:t>, s</a:t>
            </a:r>
            <a:r>
              <a:rPr lang="en-US" baseline="-25000"/>
              <a:t>2</a:t>
            </a:r>
            <a:r>
              <a:rPr lang="en-US"/>
              <a:t>, s</a:t>
            </a:r>
            <a:r>
              <a:rPr lang="en-US" baseline="-25000"/>
              <a:t>3</a:t>
            </a:r>
            <a:r>
              <a:rPr lang="en-US"/>
              <a:t>, s</a:t>
            </a:r>
            <a:r>
              <a:rPr lang="en-US" baseline="-25000"/>
              <a:t>4</a:t>
            </a:r>
            <a:r>
              <a:rPr lang="en-US"/>
              <a:t>}&gt; với hàm chuyển δ’ cho bởi bảng trên là otomat hữu hạn đơn định và đầy đủ.  </a:t>
            </a:r>
            <a:endParaRPr lang="en-US" smtClean="0"/>
          </a:p>
          <a:p>
            <a:r>
              <a:rPr lang="en-US" smtClean="0"/>
              <a:t>Otomat M </a:t>
            </a:r>
            <a:r>
              <a:rPr lang="en-US"/>
              <a:t>là tương đương với otomat A.</a:t>
            </a:r>
            <a:r>
              <a:rPr lang="en-US" b="1" i="1"/>
              <a:t> </a:t>
            </a:r>
            <a:endParaRPr lang="en-US"/>
          </a:p>
          <a:p>
            <a:endParaRPr lang="en-US"/>
          </a:p>
          <a:p>
            <a:endParaRPr lang="en-US"/>
          </a:p>
          <a:p>
            <a:endParaRPr lang="en-US"/>
          </a:p>
          <a:p>
            <a:endParaRPr lang="en-US"/>
          </a:p>
        </p:txBody>
      </p:sp>
      <p:pic>
        <p:nvPicPr>
          <p:cNvPr id="4" name="Picture 3"/>
          <p:cNvPicPr/>
          <p:nvPr/>
        </p:nvPicPr>
        <p:blipFill>
          <a:blip r:embed="rId2"/>
          <a:stretch>
            <a:fillRect/>
          </a:stretch>
        </p:blipFill>
        <p:spPr>
          <a:xfrm>
            <a:off x="4331369" y="2147636"/>
            <a:ext cx="4716379" cy="2538663"/>
          </a:xfrm>
          <a:prstGeom prst="rect">
            <a:avLst/>
          </a:prstGeom>
        </p:spPr>
      </p:pic>
    </p:spTree>
    <p:extLst>
      <p:ext uri="{BB962C8B-B14F-4D97-AF65-F5344CB8AC3E}">
        <p14:creationId xmlns:p14="http://schemas.microsoft.com/office/powerpoint/2010/main" val="3802128982"/>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Ví dụ:</a:t>
            </a:r>
            <a:endParaRPr lang="en-US"/>
          </a:p>
        </p:txBody>
      </p:sp>
      <p:sp>
        <p:nvSpPr>
          <p:cNvPr id="3" name="Content Placeholder 2"/>
          <p:cNvSpPr>
            <a:spLocks noGrp="1"/>
          </p:cNvSpPr>
          <p:nvPr>
            <p:ph idx="1"/>
          </p:nvPr>
        </p:nvSpPr>
        <p:spPr/>
        <p:txBody>
          <a:bodyPr/>
          <a:lstStyle/>
          <a:p>
            <a:r>
              <a:rPr lang="en-US"/>
              <a:t>Cho otomat không đơn định: A = &lt;{q</a:t>
            </a:r>
            <a:r>
              <a:rPr lang="en-US" baseline="-25000"/>
              <a:t>0</a:t>
            </a:r>
            <a:r>
              <a:rPr lang="en-US"/>
              <a:t>, q</a:t>
            </a:r>
            <a:r>
              <a:rPr lang="en-US" baseline="-25000"/>
              <a:t>1</a:t>
            </a:r>
            <a:r>
              <a:rPr lang="en-US"/>
              <a:t>}, {a, b}, δ, q</a:t>
            </a:r>
            <a:r>
              <a:rPr lang="en-US" baseline="-25000"/>
              <a:t>0</a:t>
            </a:r>
            <a:r>
              <a:rPr lang="en-US"/>
              <a:t>, {q</a:t>
            </a:r>
            <a:r>
              <a:rPr lang="en-US" baseline="-25000"/>
              <a:t>1</a:t>
            </a:r>
            <a:r>
              <a:rPr lang="en-US"/>
              <a:t>}&gt;, trong đó δ(q</a:t>
            </a:r>
            <a:r>
              <a:rPr lang="en-US" baseline="-25000"/>
              <a:t>0</a:t>
            </a:r>
            <a:r>
              <a:rPr lang="en-US"/>
              <a:t>, a) = {q</a:t>
            </a:r>
            <a:r>
              <a:rPr lang="en-US" baseline="-25000"/>
              <a:t>0</a:t>
            </a:r>
            <a:r>
              <a:rPr lang="en-US"/>
              <a:t>}, δ(q</a:t>
            </a:r>
            <a:r>
              <a:rPr lang="en-US" baseline="-25000"/>
              <a:t>0</a:t>
            </a:r>
            <a:r>
              <a:rPr lang="en-US"/>
              <a:t>, b) = {q</a:t>
            </a:r>
            <a:r>
              <a:rPr lang="en-US" baseline="-25000"/>
              <a:t>0</a:t>
            </a:r>
            <a:r>
              <a:rPr lang="en-US"/>
              <a:t>, q</a:t>
            </a:r>
            <a:r>
              <a:rPr lang="en-US" baseline="-25000"/>
              <a:t>1</a:t>
            </a:r>
            <a:r>
              <a:rPr lang="en-US"/>
              <a:t>}, δ(q</a:t>
            </a:r>
            <a:r>
              <a:rPr lang="en-US" baseline="-25000"/>
              <a:t>1</a:t>
            </a:r>
            <a:r>
              <a:rPr lang="en-US"/>
              <a:t>, a) = {q</a:t>
            </a:r>
            <a:r>
              <a:rPr lang="en-US" baseline="-25000"/>
              <a:t>0</a:t>
            </a:r>
            <a:r>
              <a:rPr lang="en-US"/>
              <a:t>, q</a:t>
            </a:r>
            <a:r>
              <a:rPr lang="en-US" baseline="-25000"/>
              <a:t>1</a:t>
            </a:r>
            <a:r>
              <a:rPr lang="en-US"/>
              <a:t>}, δ(q</a:t>
            </a:r>
            <a:r>
              <a:rPr lang="en-US" baseline="-25000"/>
              <a:t>1</a:t>
            </a:r>
            <a:r>
              <a:rPr lang="en-US"/>
              <a:t>, b) = ∅. </a:t>
            </a:r>
          </a:p>
          <a:p>
            <a:r>
              <a:rPr lang="en-US"/>
              <a:t>Đồ thị chuyển của A là: </a:t>
            </a:r>
            <a:endParaRPr lang="en-US" smtClean="0"/>
          </a:p>
          <a:p>
            <a:endParaRPr lang="en-US"/>
          </a:p>
          <a:p>
            <a:endParaRPr lang="en-US" smtClean="0"/>
          </a:p>
          <a:p>
            <a:endParaRPr lang="en-US"/>
          </a:p>
          <a:p>
            <a:endParaRPr lang="en-US" smtClean="0"/>
          </a:p>
          <a:p>
            <a:r>
              <a:rPr lang="en-US"/>
              <a:t>X</a:t>
            </a:r>
            <a:r>
              <a:rPr lang="en-US" smtClean="0"/>
              <a:t>ây </a:t>
            </a:r>
            <a:r>
              <a:rPr lang="en-US"/>
              <a:t>dựng otomat M = &lt;Q’, {a, b}, δ’, t</a:t>
            </a:r>
            <a:r>
              <a:rPr lang="en-US" baseline="-25000"/>
              <a:t>0</a:t>
            </a:r>
            <a:r>
              <a:rPr lang="en-US"/>
              <a:t>, F’&gt; tương đương với A theo thuật toán đơn định </a:t>
            </a:r>
            <a:r>
              <a:rPr lang="en-US" smtClean="0"/>
              <a:t>hóa</a:t>
            </a:r>
            <a:r>
              <a:rPr lang="en-US"/>
              <a:t>.</a:t>
            </a:r>
          </a:p>
          <a:p>
            <a:endParaRPr lang="en-US"/>
          </a:p>
          <a:p>
            <a:endParaRPr lang="en-US"/>
          </a:p>
        </p:txBody>
      </p:sp>
      <p:pic>
        <p:nvPicPr>
          <p:cNvPr id="4" name="Picture 3"/>
          <p:cNvPicPr/>
          <p:nvPr/>
        </p:nvPicPr>
        <p:blipFill>
          <a:blip r:embed="rId2"/>
          <a:stretch>
            <a:fillRect/>
          </a:stretch>
        </p:blipFill>
        <p:spPr>
          <a:xfrm>
            <a:off x="6179719" y="3117536"/>
            <a:ext cx="4468228" cy="1442432"/>
          </a:xfrm>
          <a:prstGeom prst="rect">
            <a:avLst/>
          </a:prstGeom>
        </p:spPr>
      </p:pic>
    </p:spTree>
    <p:extLst>
      <p:ext uri="{BB962C8B-B14F-4D97-AF65-F5344CB8AC3E}">
        <p14:creationId xmlns:p14="http://schemas.microsoft.com/office/powerpoint/2010/main" val="3087068705"/>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89212" y="180474"/>
            <a:ext cx="8915400" cy="5730748"/>
          </a:xfrm>
        </p:spPr>
        <p:txBody>
          <a:bodyPr/>
          <a:lstStyle/>
          <a:p>
            <a:r>
              <a:rPr lang="en-US"/>
              <a:t>Ta xây dựng otomat M = &lt;Q’, {a, b}, δ’, t</a:t>
            </a:r>
            <a:r>
              <a:rPr lang="en-US" baseline="-25000"/>
              <a:t>0</a:t>
            </a:r>
            <a:r>
              <a:rPr lang="en-US"/>
              <a:t>, F’&gt; tương đương với A theo thuật toán đơn định hóa, ta có: </a:t>
            </a:r>
          </a:p>
          <a:p>
            <a:pPr marL="0" indent="0">
              <a:buNone/>
            </a:pPr>
            <a:r>
              <a:rPr lang="en-US" smtClean="0"/>
              <a:t>	+ </a:t>
            </a:r>
            <a:r>
              <a:rPr lang="en-US"/>
              <a:t>Q’ = {t</a:t>
            </a:r>
            <a:r>
              <a:rPr lang="en-US" baseline="-25000"/>
              <a:t>0</a:t>
            </a:r>
            <a:r>
              <a:rPr lang="en-US"/>
              <a:t>, t</a:t>
            </a:r>
            <a:r>
              <a:rPr lang="en-US" baseline="-25000"/>
              <a:t>1</a:t>
            </a:r>
            <a:r>
              <a:rPr lang="en-US"/>
              <a:t>, t</a:t>
            </a:r>
            <a:r>
              <a:rPr lang="en-US" baseline="-25000"/>
              <a:t>2</a:t>
            </a:r>
            <a:r>
              <a:rPr lang="en-US"/>
              <a:t>, t</a:t>
            </a:r>
            <a:r>
              <a:rPr lang="en-US" baseline="-25000"/>
              <a:t>3</a:t>
            </a:r>
            <a:r>
              <a:rPr lang="en-US"/>
              <a:t>}, với t</a:t>
            </a:r>
            <a:r>
              <a:rPr lang="en-US" baseline="-25000"/>
              <a:t>0</a:t>
            </a:r>
            <a:r>
              <a:rPr lang="en-US"/>
              <a:t> = {q</a:t>
            </a:r>
            <a:r>
              <a:rPr lang="en-US" baseline="-25000"/>
              <a:t>0</a:t>
            </a:r>
            <a:r>
              <a:rPr lang="en-US"/>
              <a:t>}, t</a:t>
            </a:r>
            <a:r>
              <a:rPr lang="en-US" baseline="-25000"/>
              <a:t>1 </a:t>
            </a:r>
            <a:r>
              <a:rPr lang="en-US"/>
              <a:t>= {q</a:t>
            </a:r>
            <a:r>
              <a:rPr lang="en-US" baseline="-25000"/>
              <a:t>1</a:t>
            </a:r>
            <a:r>
              <a:rPr lang="en-US"/>
              <a:t>},  t</a:t>
            </a:r>
            <a:r>
              <a:rPr lang="en-US" baseline="-25000"/>
              <a:t>2 </a:t>
            </a:r>
            <a:r>
              <a:rPr lang="en-US"/>
              <a:t>= {q</a:t>
            </a:r>
            <a:r>
              <a:rPr lang="en-US" baseline="-25000"/>
              <a:t>0</a:t>
            </a:r>
            <a:r>
              <a:rPr lang="en-US"/>
              <a:t>, q</a:t>
            </a:r>
            <a:r>
              <a:rPr lang="en-US" baseline="-25000"/>
              <a:t>1</a:t>
            </a:r>
            <a:r>
              <a:rPr lang="en-US"/>
              <a:t>}, t</a:t>
            </a:r>
            <a:r>
              <a:rPr lang="en-US" baseline="-25000"/>
              <a:t> 3</a:t>
            </a:r>
            <a:r>
              <a:rPr lang="en-US"/>
              <a:t> = ∅. </a:t>
            </a:r>
          </a:p>
          <a:p>
            <a:pPr marL="0" indent="0">
              <a:buNone/>
            </a:pPr>
            <a:r>
              <a:rPr lang="en-US" smtClean="0"/>
              <a:t>	+ </a:t>
            </a:r>
            <a:r>
              <a:rPr lang="en-US"/>
              <a:t>δ’(t</a:t>
            </a:r>
            <a:r>
              <a:rPr lang="en-US" baseline="-25000"/>
              <a:t>0</a:t>
            </a:r>
            <a:r>
              <a:rPr lang="en-US"/>
              <a:t>, a) = t</a:t>
            </a:r>
            <a:r>
              <a:rPr lang="en-US" baseline="-25000"/>
              <a:t>0</a:t>
            </a:r>
            <a:r>
              <a:rPr lang="en-US"/>
              <a:t>, δ’(t</a:t>
            </a:r>
            <a:r>
              <a:rPr lang="en-US" baseline="-25000"/>
              <a:t>0</a:t>
            </a:r>
            <a:r>
              <a:rPr lang="en-US"/>
              <a:t>, b) = t</a:t>
            </a:r>
            <a:r>
              <a:rPr lang="en-US" baseline="-25000"/>
              <a:t>2</a:t>
            </a:r>
            <a:r>
              <a:rPr lang="en-US"/>
              <a:t>, δ’(t</a:t>
            </a:r>
            <a:r>
              <a:rPr lang="en-US" baseline="-25000"/>
              <a:t>1</a:t>
            </a:r>
            <a:r>
              <a:rPr lang="en-US"/>
              <a:t>, a) = t</a:t>
            </a:r>
            <a:r>
              <a:rPr lang="en-US" baseline="-25000"/>
              <a:t>2</a:t>
            </a:r>
            <a:r>
              <a:rPr lang="en-US"/>
              <a:t>, δ’(t</a:t>
            </a:r>
            <a:r>
              <a:rPr lang="en-US" baseline="-25000"/>
              <a:t>1</a:t>
            </a:r>
            <a:r>
              <a:rPr lang="en-US"/>
              <a:t>, b) = t</a:t>
            </a:r>
            <a:r>
              <a:rPr lang="en-US" baseline="-25000"/>
              <a:t>3</a:t>
            </a:r>
            <a:r>
              <a:rPr lang="en-US"/>
              <a:t>, δ’(t</a:t>
            </a:r>
            <a:r>
              <a:rPr lang="en-US" baseline="-25000"/>
              <a:t>2</a:t>
            </a:r>
            <a:r>
              <a:rPr lang="en-US"/>
              <a:t>, a) = {q</a:t>
            </a:r>
            <a:r>
              <a:rPr lang="en-US" baseline="-25000"/>
              <a:t>0</a:t>
            </a:r>
            <a:r>
              <a:rPr lang="en-US"/>
              <a:t>}∪{q</a:t>
            </a:r>
            <a:r>
              <a:rPr lang="en-US" baseline="-25000"/>
              <a:t>0</a:t>
            </a:r>
            <a:r>
              <a:rPr lang="en-US"/>
              <a:t>, q</a:t>
            </a:r>
            <a:r>
              <a:rPr lang="en-US" baseline="-25000"/>
              <a:t>1</a:t>
            </a:r>
            <a:r>
              <a:rPr lang="en-US"/>
              <a:t>} = t</a:t>
            </a:r>
            <a:r>
              <a:rPr lang="en-US" baseline="-25000"/>
              <a:t>2</a:t>
            </a:r>
            <a:r>
              <a:rPr lang="en-US"/>
              <a:t>, δ’(t</a:t>
            </a:r>
            <a:r>
              <a:rPr lang="en-US" baseline="-25000"/>
              <a:t>2</a:t>
            </a:r>
            <a:r>
              <a:rPr lang="en-US"/>
              <a:t>, b) = {q</a:t>
            </a:r>
            <a:r>
              <a:rPr lang="en-US" baseline="-25000"/>
              <a:t>0</a:t>
            </a:r>
            <a:r>
              <a:rPr lang="en-US"/>
              <a:t>, q</a:t>
            </a:r>
            <a:r>
              <a:rPr lang="en-US" baseline="-25000"/>
              <a:t>1</a:t>
            </a:r>
            <a:r>
              <a:rPr lang="en-US"/>
              <a:t>} ∪ ∅ = t</a:t>
            </a:r>
            <a:r>
              <a:rPr lang="en-US" baseline="-25000"/>
              <a:t>2</a:t>
            </a:r>
            <a:r>
              <a:rPr lang="en-US"/>
              <a:t>, δ’(t</a:t>
            </a:r>
            <a:r>
              <a:rPr lang="en-US" baseline="-25000"/>
              <a:t>3</a:t>
            </a:r>
            <a:r>
              <a:rPr lang="en-US"/>
              <a:t>, a) = t</a:t>
            </a:r>
            <a:r>
              <a:rPr lang="en-US" baseline="-25000"/>
              <a:t>3</a:t>
            </a:r>
            <a:r>
              <a:rPr lang="en-US"/>
              <a:t>, δ’(t</a:t>
            </a:r>
            <a:r>
              <a:rPr lang="en-US" baseline="-25000"/>
              <a:t>3</a:t>
            </a:r>
            <a:r>
              <a:rPr lang="en-US"/>
              <a:t>, b) = t</a:t>
            </a:r>
            <a:r>
              <a:rPr lang="en-US" baseline="-25000"/>
              <a:t>3</a:t>
            </a:r>
            <a:r>
              <a:rPr lang="en-US"/>
              <a:t>.   </a:t>
            </a:r>
          </a:p>
          <a:p>
            <a:r>
              <a:rPr lang="en-US"/>
              <a:t>Ta có bảng chuyển của M: </a:t>
            </a:r>
            <a:endParaRPr lang="en-US" smtClean="0"/>
          </a:p>
          <a:p>
            <a:endParaRPr lang="en-US"/>
          </a:p>
          <a:p>
            <a:endParaRPr lang="en-US" smtClean="0"/>
          </a:p>
          <a:p>
            <a:endParaRPr lang="en-US"/>
          </a:p>
          <a:p>
            <a:endParaRPr lang="en-US" smtClean="0"/>
          </a:p>
          <a:p>
            <a:pPr marL="0" indent="0">
              <a:buNone/>
            </a:pPr>
            <a:r>
              <a:rPr lang="en-US" smtClean="0"/>
              <a:t>	+ </a:t>
            </a:r>
            <a:r>
              <a:rPr lang="en-US"/>
              <a:t>Do t</a:t>
            </a:r>
            <a:r>
              <a:rPr lang="en-US" baseline="-25000"/>
              <a:t>1</a:t>
            </a:r>
            <a:r>
              <a:rPr lang="en-US"/>
              <a:t> ∩ F = {q</a:t>
            </a:r>
            <a:r>
              <a:rPr lang="en-US" baseline="-25000"/>
              <a:t>1</a:t>
            </a:r>
            <a:r>
              <a:rPr lang="en-US"/>
              <a:t>} ≠ ∅ , t</a:t>
            </a:r>
            <a:r>
              <a:rPr lang="en-US" baseline="-25000"/>
              <a:t>2</a:t>
            </a:r>
            <a:r>
              <a:rPr lang="en-US"/>
              <a:t> ∩ F  ={q</a:t>
            </a:r>
            <a:r>
              <a:rPr lang="en-US" baseline="-25000"/>
              <a:t>1</a:t>
            </a:r>
            <a:r>
              <a:rPr lang="en-US"/>
              <a:t>} ≠ ∅ nên F’ = {t</a:t>
            </a:r>
            <a:r>
              <a:rPr lang="en-US" baseline="-25000"/>
              <a:t>1</a:t>
            </a:r>
            <a:r>
              <a:rPr lang="en-US"/>
              <a:t>, t</a:t>
            </a:r>
            <a:r>
              <a:rPr lang="en-US" baseline="-25000"/>
              <a:t>2</a:t>
            </a:r>
            <a:r>
              <a:rPr lang="en-US"/>
              <a:t>}. </a:t>
            </a:r>
          </a:p>
          <a:p>
            <a:r>
              <a:rPr lang="en-US"/>
              <a:t>Rõ ràng otomat M  là đơn định và có đồ thị chuyển như sau: </a:t>
            </a:r>
          </a:p>
          <a:p>
            <a:endParaRPr lang="en-US"/>
          </a:p>
          <a:p>
            <a:endParaRPr lang="en-US"/>
          </a:p>
        </p:txBody>
      </p:sp>
      <p:pic>
        <p:nvPicPr>
          <p:cNvPr id="4" name="Picture 3"/>
          <p:cNvPicPr/>
          <p:nvPr/>
        </p:nvPicPr>
        <p:blipFill>
          <a:blip r:embed="rId2"/>
          <a:stretch>
            <a:fillRect/>
          </a:stretch>
        </p:blipFill>
        <p:spPr>
          <a:xfrm>
            <a:off x="6207543" y="2168691"/>
            <a:ext cx="3501941" cy="1705477"/>
          </a:xfrm>
          <a:prstGeom prst="rect">
            <a:avLst/>
          </a:prstGeom>
        </p:spPr>
      </p:pic>
      <p:pic>
        <p:nvPicPr>
          <p:cNvPr id="5" name="Picture 4"/>
          <p:cNvPicPr/>
          <p:nvPr/>
        </p:nvPicPr>
        <p:blipFill>
          <a:blip r:embed="rId3"/>
          <a:stretch>
            <a:fillRect/>
          </a:stretch>
        </p:blipFill>
        <p:spPr>
          <a:xfrm>
            <a:off x="5350460" y="4792807"/>
            <a:ext cx="3131804" cy="1824561"/>
          </a:xfrm>
          <a:prstGeom prst="rect">
            <a:avLst/>
          </a:prstGeom>
        </p:spPr>
      </p:pic>
    </p:spTree>
    <p:extLst>
      <p:ext uri="{BB962C8B-B14F-4D97-AF65-F5344CB8AC3E}">
        <p14:creationId xmlns:p14="http://schemas.microsoft.com/office/powerpoint/2010/main" val="698621502"/>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89212" y="312821"/>
            <a:ext cx="8915400" cy="5598401"/>
          </a:xfrm>
        </p:spPr>
        <p:txBody>
          <a:bodyPr/>
          <a:lstStyle/>
          <a:p>
            <a:pPr>
              <a:lnSpc>
                <a:spcPct val="150000"/>
              </a:lnSpc>
            </a:pPr>
            <a:r>
              <a:rPr lang="en-US"/>
              <a:t>Nhìn vào bảng chuyển và đồ thị chuyển của M, ta thấy ngay rằng không có đường đi nào từ t</a:t>
            </a:r>
            <a:r>
              <a:rPr lang="en-US" baseline="-25000"/>
              <a:t>0 </a:t>
            </a:r>
            <a:r>
              <a:rPr lang="en-US"/>
              <a:t> đến được đỉnh kết thúc t</a:t>
            </a:r>
            <a:r>
              <a:rPr lang="en-US" baseline="-25000"/>
              <a:t>1</a:t>
            </a:r>
            <a:r>
              <a:rPr lang="en-US"/>
              <a:t>, vì vậy otomat M sẽ tương đương với otomat M’ có đồ thị chuyển như sau: </a:t>
            </a:r>
            <a:endParaRPr lang="en-US" smtClean="0"/>
          </a:p>
          <a:p>
            <a:endParaRPr lang="en-US"/>
          </a:p>
          <a:p>
            <a:endParaRPr lang="en-US" smtClean="0"/>
          </a:p>
          <a:p>
            <a:endParaRPr lang="en-US" smtClean="0"/>
          </a:p>
          <a:p>
            <a:endParaRPr lang="en-US" smtClean="0"/>
          </a:p>
          <a:p>
            <a:endParaRPr lang="en-US" smtClean="0"/>
          </a:p>
          <a:p>
            <a:endParaRPr lang="en-US"/>
          </a:p>
          <a:p>
            <a:endParaRPr lang="en-US" smtClean="0"/>
          </a:p>
          <a:p>
            <a:r>
              <a:rPr lang="en-US" smtClean="0"/>
              <a:t>Ta </a:t>
            </a:r>
            <a:r>
              <a:rPr lang="en-US"/>
              <a:t>có  T(A) = T(M) = T(M’) = {a</a:t>
            </a:r>
            <a:r>
              <a:rPr lang="en-US" baseline="30000"/>
              <a:t>n</a:t>
            </a:r>
            <a:r>
              <a:rPr lang="en-US"/>
              <a:t>bω | n ≥ 0, ω∈{a, b}</a:t>
            </a:r>
            <a:r>
              <a:rPr lang="en-US" baseline="30000"/>
              <a:t>*</a:t>
            </a:r>
            <a:r>
              <a:rPr lang="en-US"/>
              <a:t>}. </a:t>
            </a:r>
          </a:p>
          <a:p>
            <a:endParaRPr lang="en-US"/>
          </a:p>
          <a:p>
            <a:endParaRPr lang="en-US"/>
          </a:p>
        </p:txBody>
      </p:sp>
      <p:pic>
        <p:nvPicPr>
          <p:cNvPr id="4" name="Picture 3"/>
          <p:cNvPicPr/>
          <p:nvPr/>
        </p:nvPicPr>
        <p:blipFill>
          <a:blip r:embed="rId2"/>
          <a:stretch>
            <a:fillRect/>
          </a:stretch>
        </p:blipFill>
        <p:spPr>
          <a:xfrm>
            <a:off x="4553869" y="2320453"/>
            <a:ext cx="3940426" cy="1583135"/>
          </a:xfrm>
          <a:prstGeom prst="rect">
            <a:avLst/>
          </a:prstGeom>
        </p:spPr>
      </p:pic>
    </p:spTree>
    <p:extLst>
      <p:ext uri="{BB962C8B-B14F-4D97-AF65-F5344CB8AC3E}">
        <p14:creationId xmlns:p14="http://schemas.microsoft.com/office/powerpoint/2010/main" val="3259212412"/>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a:t>2.4  Sự tương đương giữa otomat đơn định và otomat không đơn định</a:t>
            </a:r>
            <a:r>
              <a:rPr lang="en-US"/>
              <a:t>  </a:t>
            </a:r>
          </a:p>
        </p:txBody>
      </p:sp>
      <p:sp>
        <p:nvSpPr>
          <p:cNvPr id="3" name="Content Placeholder 2"/>
          <p:cNvSpPr>
            <a:spLocks noGrp="1"/>
          </p:cNvSpPr>
          <p:nvPr>
            <p:ph idx="1"/>
          </p:nvPr>
        </p:nvSpPr>
        <p:spPr/>
        <p:txBody>
          <a:bodyPr/>
          <a:lstStyle/>
          <a:p>
            <a:r>
              <a:rPr lang="en-US" b="1" i="1"/>
              <a:t>Định lý 2.1</a:t>
            </a:r>
            <a:r>
              <a:rPr lang="en-US"/>
              <a:t>  Nếu ngôn ngữ L được đoán nhận bởi một otomat hữu hạn không đơn định thì tồn tại một otomat hữu hạn đơn định đoán nhận L. </a:t>
            </a:r>
          </a:p>
          <a:p>
            <a:r>
              <a:rPr lang="en-US" b="1" i="1"/>
              <a:t>Định lý 2.2</a:t>
            </a:r>
            <a:r>
              <a:rPr lang="en-US"/>
              <a:t>  Lớp ngôn ngữ được sinh bởi otomat hữu hạn đơn định là trùng với lớp ngôn ngữ được sinh bởi otomat hữu hạn không đơn định. </a:t>
            </a:r>
          </a:p>
          <a:p>
            <a:endParaRPr lang="en-US"/>
          </a:p>
        </p:txBody>
      </p:sp>
    </p:spTree>
    <p:extLst>
      <p:ext uri="{BB962C8B-B14F-4D97-AF65-F5344CB8AC3E}">
        <p14:creationId xmlns:p14="http://schemas.microsoft.com/office/powerpoint/2010/main" val="788929180"/>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26536" y="2325978"/>
            <a:ext cx="7397963" cy="35789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15484537"/>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64606" y="2482603"/>
            <a:ext cx="8684935" cy="22825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98328974"/>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40925" y="624110"/>
            <a:ext cx="9263688" cy="985749"/>
          </a:xfrm>
        </p:spPr>
        <p:txBody>
          <a:bodyPr/>
          <a:lstStyle/>
          <a:p>
            <a:r>
              <a:rPr lang="en-US" smtClean="0"/>
              <a:t>2.5. Tối thiểu hóa các trạng thái của DFA</a:t>
            </a:r>
            <a:endParaRPr 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45910" y="2067394"/>
            <a:ext cx="7577808" cy="3084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3525459" y="5499279"/>
            <a:ext cx="6635972" cy="369332"/>
          </a:xfrm>
          <a:prstGeom prst="rect">
            <a:avLst/>
          </a:prstGeom>
          <a:noFill/>
        </p:spPr>
        <p:txBody>
          <a:bodyPr wrap="square" rtlCol="0">
            <a:spAutoFit/>
          </a:bodyPr>
          <a:lstStyle/>
          <a:p>
            <a:r>
              <a:rPr lang="en-US" smtClean="0"/>
              <a:t>Hai DFA của hình a và hình b tương đương nhau. </a:t>
            </a:r>
            <a:endParaRPr lang="en-US"/>
          </a:p>
        </p:txBody>
      </p:sp>
      <p:sp>
        <p:nvSpPr>
          <p:cNvPr id="5" name="TextBox 4"/>
          <p:cNvSpPr txBox="1"/>
          <p:nvPr/>
        </p:nvSpPr>
        <p:spPr>
          <a:xfrm>
            <a:off x="3525459" y="6194738"/>
            <a:ext cx="5657178" cy="369332"/>
          </a:xfrm>
          <a:prstGeom prst="rect">
            <a:avLst/>
          </a:prstGeom>
          <a:noFill/>
        </p:spPr>
        <p:txBody>
          <a:bodyPr wrap="square" rtlCol="0">
            <a:spAutoFit/>
          </a:bodyPr>
          <a:lstStyle/>
          <a:p>
            <a:r>
              <a:rPr lang="en-US" smtClean="0"/>
              <a:t>Tìm ngôn ngữ được đoán nhận?</a:t>
            </a:r>
            <a:endParaRPr lang="en-US"/>
          </a:p>
        </p:txBody>
      </p:sp>
    </p:spTree>
    <p:extLst>
      <p:ext uri="{BB962C8B-B14F-4D97-AF65-F5344CB8AC3E}">
        <p14:creationId xmlns:p14="http://schemas.microsoft.com/office/powerpoint/2010/main" val="360894695"/>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80830" y="2967640"/>
            <a:ext cx="6781355" cy="2768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2768958" y="1957589"/>
            <a:ext cx="7688688" cy="369332"/>
          </a:xfrm>
          <a:prstGeom prst="rect">
            <a:avLst/>
          </a:prstGeom>
          <a:noFill/>
        </p:spPr>
        <p:txBody>
          <a:bodyPr wrap="square" rtlCol="0">
            <a:spAutoFit/>
          </a:bodyPr>
          <a:lstStyle/>
          <a:p>
            <a:r>
              <a:rPr lang="en-US" smtClean="0"/>
              <a:t>q</a:t>
            </a:r>
            <a:r>
              <a:rPr lang="en-US" baseline="-25000" smtClean="0"/>
              <a:t>5</a:t>
            </a:r>
            <a:r>
              <a:rPr lang="en-US" smtClean="0"/>
              <a:t> là trạng thái thừa vì không tồn tại từ nào để đi từ q</a:t>
            </a:r>
            <a:r>
              <a:rPr lang="en-US" baseline="-25000" smtClean="0"/>
              <a:t>0</a:t>
            </a:r>
            <a:r>
              <a:rPr lang="en-US" smtClean="0"/>
              <a:t> đến q</a:t>
            </a:r>
            <a:r>
              <a:rPr lang="en-US" baseline="-25000" smtClean="0"/>
              <a:t>5</a:t>
            </a:r>
            <a:r>
              <a:rPr lang="en-US" smtClean="0"/>
              <a:t> </a:t>
            </a:r>
            <a:endParaRPr lang="en-US"/>
          </a:p>
        </p:txBody>
      </p:sp>
    </p:spTree>
    <p:extLst>
      <p:ext uri="{BB962C8B-B14F-4D97-AF65-F5344CB8AC3E}">
        <p14:creationId xmlns:p14="http://schemas.microsoft.com/office/powerpoint/2010/main" val="292726489"/>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29753" y="2923369"/>
            <a:ext cx="6926142" cy="3194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2691685" y="2073499"/>
            <a:ext cx="7057622" cy="369332"/>
          </a:xfrm>
          <a:prstGeom prst="rect">
            <a:avLst/>
          </a:prstGeom>
          <a:noFill/>
        </p:spPr>
        <p:txBody>
          <a:bodyPr wrap="square" rtlCol="0">
            <a:spAutoFit/>
          </a:bodyPr>
          <a:lstStyle/>
          <a:p>
            <a:r>
              <a:rPr lang="en-US" smtClean="0"/>
              <a:t>q</a:t>
            </a:r>
            <a:r>
              <a:rPr lang="en-US" baseline="-25000" smtClean="0"/>
              <a:t>1</a:t>
            </a:r>
            <a:r>
              <a:rPr lang="en-US" smtClean="0"/>
              <a:t> và q</a:t>
            </a:r>
            <a:r>
              <a:rPr lang="en-US" baseline="-25000" smtClean="0"/>
              <a:t>2</a:t>
            </a:r>
            <a:r>
              <a:rPr lang="en-US" smtClean="0"/>
              <a:t> được kết nối thành </a:t>
            </a:r>
            <a:r>
              <a:rPr lang="en-US" b="1" smtClean="0"/>
              <a:t>q</a:t>
            </a:r>
            <a:r>
              <a:rPr lang="en-US" b="1" baseline="-25000" smtClean="0"/>
              <a:t>1</a:t>
            </a:r>
            <a:r>
              <a:rPr lang="en-US" b="1" smtClean="0"/>
              <a:t>’</a:t>
            </a:r>
            <a:r>
              <a:rPr lang="en-US" b="1" baseline="-25000" smtClean="0"/>
              <a:t> </a:t>
            </a:r>
            <a:r>
              <a:rPr lang="en-US" b="1" smtClean="0"/>
              <a:t> = </a:t>
            </a:r>
            <a:r>
              <a:rPr lang="en-US" smtClean="0"/>
              <a:t>{q</a:t>
            </a:r>
            <a:r>
              <a:rPr lang="en-US" baseline="-25000" smtClean="0"/>
              <a:t>1</a:t>
            </a:r>
            <a:r>
              <a:rPr lang="en-US" smtClean="0"/>
              <a:t>, q</a:t>
            </a:r>
            <a:r>
              <a:rPr lang="en-US" baseline="-25000" smtClean="0"/>
              <a:t>2</a:t>
            </a:r>
            <a:r>
              <a:rPr lang="en-US"/>
              <a:t>}</a:t>
            </a:r>
            <a:endParaRPr lang="en-US" b="1" baseline="-25000"/>
          </a:p>
        </p:txBody>
      </p:sp>
    </p:spTree>
    <p:extLst>
      <p:ext uri="{BB962C8B-B14F-4D97-AF65-F5344CB8AC3E}">
        <p14:creationId xmlns:p14="http://schemas.microsoft.com/office/powerpoint/2010/main" val="2145580532"/>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8230" y="2864276"/>
            <a:ext cx="7243513" cy="28539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2794715" y="2150772"/>
            <a:ext cx="6606862" cy="369332"/>
          </a:xfrm>
          <a:prstGeom prst="rect">
            <a:avLst/>
          </a:prstGeom>
          <a:noFill/>
        </p:spPr>
        <p:txBody>
          <a:bodyPr wrap="square" rtlCol="0">
            <a:spAutoFit/>
          </a:bodyPr>
          <a:lstStyle/>
          <a:p>
            <a:r>
              <a:rPr lang="en-US" smtClean="0"/>
              <a:t>q</a:t>
            </a:r>
            <a:r>
              <a:rPr lang="en-US" baseline="-25000" smtClean="0"/>
              <a:t>3</a:t>
            </a:r>
            <a:r>
              <a:rPr lang="en-US" smtClean="0"/>
              <a:t> và q</a:t>
            </a:r>
            <a:r>
              <a:rPr lang="en-US" baseline="-25000" smtClean="0"/>
              <a:t>4</a:t>
            </a:r>
            <a:r>
              <a:rPr lang="en-US" smtClean="0"/>
              <a:t> được kết nối thành </a:t>
            </a:r>
            <a:r>
              <a:rPr lang="en-US" b="1" smtClean="0"/>
              <a:t>q</a:t>
            </a:r>
            <a:r>
              <a:rPr lang="en-US" b="1" baseline="-25000" smtClean="0"/>
              <a:t>2</a:t>
            </a:r>
            <a:r>
              <a:rPr lang="en-US" b="1" smtClean="0"/>
              <a:t>’</a:t>
            </a:r>
            <a:r>
              <a:rPr lang="en-US" smtClean="0"/>
              <a:t> = {q</a:t>
            </a:r>
            <a:r>
              <a:rPr lang="en-US" baseline="-25000" smtClean="0"/>
              <a:t>3</a:t>
            </a:r>
            <a:r>
              <a:rPr lang="en-US" smtClean="0"/>
              <a:t>, q</a:t>
            </a:r>
            <a:r>
              <a:rPr lang="en-US" baseline="-25000" smtClean="0"/>
              <a:t>4</a:t>
            </a:r>
            <a:r>
              <a:rPr lang="en-US" smtClean="0"/>
              <a:t>}</a:t>
            </a:r>
            <a:endParaRPr lang="en-US"/>
          </a:p>
        </p:txBody>
      </p:sp>
    </p:spTree>
    <p:extLst>
      <p:ext uri="{BB962C8B-B14F-4D97-AF65-F5344CB8AC3E}">
        <p14:creationId xmlns:p14="http://schemas.microsoft.com/office/powerpoint/2010/main" val="2640985048"/>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smtClean="0"/>
              <a:t>Định nghĩa 2.5. </a:t>
            </a:r>
          </a:p>
          <a:p>
            <a:pPr marL="0" indent="0">
              <a:buNone/>
            </a:pPr>
            <a:r>
              <a:rPr lang="en-US" smtClean="0"/>
              <a:t>	</a:t>
            </a:r>
            <a:r>
              <a:rPr lang="vi-VN" smtClean="0"/>
              <a:t>1- </a:t>
            </a:r>
            <a:r>
              <a:rPr lang="vi-VN"/>
              <a:t>Hai trạng thái </a:t>
            </a:r>
            <a:r>
              <a:rPr lang="vi-VN" i="1">
                <a:solidFill>
                  <a:srgbClr val="FF0000"/>
                </a:solidFill>
              </a:rPr>
              <a:t>p </a:t>
            </a:r>
            <a:r>
              <a:rPr lang="vi-VN">
                <a:solidFill>
                  <a:srgbClr val="FF0000"/>
                </a:solidFill>
              </a:rPr>
              <a:t>và </a:t>
            </a:r>
            <a:r>
              <a:rPr lang="vi-VN" i="1">
                <a:solidFill>
                  <a:srgbClr val="FF0000"/>
                </a:solidFill>
              </a:rPr>
              <a:t>q</a:t>
            </a:r>
            <a:r>
              <a:rPr lang="vi-VN" i="1"/>
              <a:t> </a:t>
            </a:r>
            <a:r>
              <a:rPr lang="vi-VN"/>
              <a:t>của một DFA được gọi là </a:t>
            </a:r>
            <a:r>
              <a:rPr lang="vi-VN">
                <a:solidFill>
                  <a:srgbClr val="FF0000"/>
                </a:solidFill>
              </a:rPr>
              <a:t>không thể phân biệt</a:t>
            </a:r>
            <a:r>
              <a:rPr lang="vi-VN"/>
              <a:t> được nếu: </a:t>
            </a:r>
          </a:p>
          <a:p>
            <a:pPr marL="0" indent="0">
              <a:buNone/>
            </a:pPr>
            <a:r>
              <a:rPr lang="en-US"/>
              <a:t>Với mọi chuỗi </a:t>
            </a:r>
            <a:r>
              <a:rPr lang="en-US" smtClean="0"/>
              <a:t>w</a:t>
            </a:r>
            <a:r>
              <a:rPr lang="en-US" smtClean="0">
                <a:sym typeface="Symbol"/>
              </a:rPr>
              <a:t></a:t>
            </a:r>
            <a:r>
              <a:rPr lang="en-US" smtClean="0"/>
              <a:t> </a:t>
            </a:r>
            <a:r>
              <a:rPr lang="en-US" smtClean="0">
                <a:sym typeface="Symbol"/>
              </a:rPr>
              <a:t></a:t>
            </a:r>
            <a:r>
              <a:rPr lang="en-US" smtClean="0"/>
              <a:t>*, </a:t>
            </a:r>
            <a:r>
              <a:rPr lang="en-US"/>
              <a:t>ta có: </a:t>
            </a:r>
          </a:p>
          <a:p>
            <a:pPr marL="0" indent="0">
              <a:buNone/>
            </a:pPr>
            <a:r>
              <a:rPr lang="en-US" smtClean="0"/>
              <a:t>		</a:t>
            </a:r>
            <a:r>
              <a:rPr lang="en-US" smtClean="0">
                <a:sym typeface="Symbol"/>
              </a:rPr>
              <a:t></a:t>
            </a:r>
            <a:r>
              <a:rPr lang="en-US" i="1" smtClean="0"/>
              <a:t>* </a:t>
            </a:r>
            <a:r>
              <a:rPr lang="en-US"/>
              <a:t>(q, w) </a:t>
            </a:r>
            <a:r>
              <a:rPr lang="en-US" smtClean="0">
                <a:sym typeface="Symbol"/>
              </a:rPr>
              <a:t></a:t>
            </a:r>
            <a:r>
              <a:rPr lang="en-US" smtClean="0"/>
              <a:t> </a:t>
            </a:r>
            <a:r>
              <a:rPr lang="en-US"/>
              <a:t>F suy ra </a:t>
            </a:r>
            <a:r>
              <a:rPr lang="en-US">
                <a:sym typeface="Symbol"/>
              </a:rPr>
              <a:t> </a:t>
            </a:r>
            <a:r>
              <a:rPr lang="en-US" i="1" smtClean="0"/>
              <a:t>* </a:t>
            </a:r>
            <a:r>
              <a:rPr lang="en-US"/>
              <a:t>(p, w) </a:t>
            </a:r>
            <a:r>
              <a:rPr lang="en-US" smtClean="0">
                <a:sym typeface="Symbol"/>
              </a:rPr>
              <a:t></a:t>
            </a:r>
            <a:r>
              <a:rPr lang="en-US" smtClean="0"/>
              <a:t> </a:t>
            </a:r>
            <a:r>
              <a:rPr lang="en-US"/>
              <a:t>F, và </a:t>
            </a:r>
          </a:p>
          <a:p>
            <a:pPr marL="0" indent="0">
              <a:buNone/>
            </a:pPr>
            <a:r>
              <a:rPr lang="en-US" smtClean="0"/>
              <a:t>		</a:t>
            </a:r>
            <a:r>
              <a:rPr lang="en-US">
                <a:sym typeface="Symbol"/>
              </a:rPr>
              <a:t>  </a:t>
            </a:r>
            <a:r>
              <a:rPr lang="en-US" i="1" smtClean="0"/>
              <a:t>*</a:t>
            </a:r>
            <a:r>
              <a:rPr lang="en-US" smtClean="0"/>
              <a:t>(</a:t>
            </a:r>
            <a:r>
              <a:rPr lang="en-US"/>
              <a:t>p, w) </a:t>
            </a:r>
            <a:r>
              <a:rPr lang="en-US">
                <a:sym typeface="Symbol"/>
              </a:rPr>
              <a:t></a:t>
            </a:r>
            <a:r>
              <a:rPr lang="en-US" smtClean="0"/>
              <a:t> </a:t>
            </a:r>
            <a:r>
              <a:rPr lang="en-US"/>
              <a:t>F suy ra </a:t>
            </a:r>
            <a:r>
              <a:rPr lang="en-US">
                <a:sym typeface="Symbol"/>
              </a:rPr>
              <a:t> </a:t>
            </a:r>
            <a:r>
              <a:rPr lang="en-US" i="1" smtClean="0"/>
              <a:t>* </a:t>
            </a:r>
            <a:r>
              <a:rPr lang="en-US"/>
              <a:t>(q, w) </a:t>
            </a:r>
            <a:r>
              <a:rPr lang="en-US">
                <a:sym typeface="Symbol"/>
              </a:rPr>
              <a:t></a:t>
            </a:r>
            <a:r>
              <a:rPr lang="en-US" smtClean="0"/>
              <a:t> </a:t>
            </a:r>
            <a:r>
              <a:rPr lang="en-US"/>
              <a:t>F, </a:t>
            </a:r>
            <a:endParaRPr lang="en-US" smtClean="0"/>
          </a:p>
          <a:p>
            <a:pPr marL="0" indent="0">
              <a:buNone/>
            </a:pPr>
            <a:r>
              <a:rPr lang="en-US" smtClean="0"/>
              <a:t>	</a:t>
            </a:r>
            <a:r>
              <a:rPr lang="vi-VN" smtClean="0"/>
              <a:t>2- </a:t>
            </a:r>
            <a:r>
              <a:rPr lang="vi-VN"/>
              <a:t>Hai trạng thái </a:t>
            </a:r>
            <a:r>
              <a:rPr lang="vi-VN" i="1">
                <a:solidFill>
                  <a:srgbClr val="FF0000"/>
                </a:solidFill>
              </a:rPr>
              <a:t>p </a:t>
            </a:r>
            <a:r>
              <a:rPr lang="vi-VN">
                <a:solidFill>
                  <a:srgbClr val="FF0000"/>
                </a:solidFill>
              </a:rPr>
              <a:t>và </a:t>
            </a:r>
            <a:r>
              <a:rPr lang="vi-VN" i="1">
                <a:solidFill>
                  <a:srgbClr val="FF0000"/>
                </a:solidFill>
              </a:rPr>
              <a:t>q</a:t>
            </a:r>
            <a:r>
              <a:rPr lang="vi-VN" i="1"/>
              <a:t> </a:t>
            </a:r>
            <a:r>
              <a:rPr lang="vi-VN"/>
              <a:t>của một DFA được gọi là </a:t>
            </a:r>
            <a:r>
              <a:rPr lang="vi-VN">
                <a:solidFill>
                  <a:srgbClr val="FF0000"/>
                </a:solidFill>
              </a:rPr>
              <a:t>phân biệt được</a:t>
            </a:r>
            <a:r>
              <a:rPr lang="vi-VN"/>
              <a:t> nếu: </a:t>
            </a:r>
          </a:p>
          <a:p>
            <a:pPr marL="0" indent="0">
              <a:buNone/>
            </a:pPr>
            <a:r>
              <a:rPr lang="en-US"/>
              <a:t>Tồn tại một chuỗi w sao cho: </a:t>
            </a:r>
          </a:p>
          <a:p>
            <a:pPr marL="0" indent="0">
              <a:buNone/>
            </a:pPr>
            <a:r>
              <a:rPr lang="en-US" smtClean="0"/>
              <a:t>	</a:t>
            </a:r>
            <a:r>
              <a:rPr lang="en-US">
                <a:sym typeface="Symbol"/>
              </a:rPr>
              <a:t> </a:t>
            </a:r>
            <a:r>
              <a:rPr lang="en-US" smtClean="0">
                <a:sym typeface="Symbol"/>
              </a:rPr>
              <a:t>* </a:t>
            </a:r>
            <a:r>
              <a:rPr lang="vi-VN" smtClean="0"/>
              <a:t>(</a:t>
            </a:r>
            <a:r>
              <a:rPr lang="vi-VN"/>
              <a:t>q, w) </a:t>
            </a:r>
            <a:r>
              <a:rPr lang="en-US">
                <a:sym typeface="Symbol"/>
              </a:rPr>
              <a:t> </a:t>
            </a:r>
            <a:r>
              <a:rPr lang="vi-VN" i="1" smtClean="0"/>
              <a:t>F </a:t>
            </a:r>
            <a:r>
              <a:rPr lang="vi-VN" i="1"/>
              <a:t>và </a:t>
            </a:r>
            <a:r>
              <a:rPr lang="en-US" smtClean="0">
                <a:sym typeface="Symbol"/>
              </a:rPr>
              <a:t>* </a:t>
            </a:r>
            <a:r>
              <a:rPr lang="vi-VN" smtClean="0"/>
              <a:t>(</a:t>
            </a:r>
            <a:r>
              <a:rPr lang="vi-VN"/>
              <a:t>p, w) </a:t>
            </a:r>
            <a:r>
              <a:rPr lang="en-US">
                <a:sym typeface="Symbol"/>
              </a:rPr>
              <a:t> </a:t>
            </a:r>
            <a:r>
              <a:rPr lang="vi-VN" i="1" smtClean="0"/>
              <a:t>F </a:t>
            </a:r>
            <a:r>
              <a:rPr lang="vi-VN"/>
              <a:t>hay ngược lại </a:t>
            </a:r>
            <a:r>
              <a:rPr lang="en-US" smtClean="0">
                <a:sym typeface="Symbol"/>
              </a:rPr>
              <a:t>*</a:t>
            </a:r>
            <a:r>
              <a:rPr lang="vi-VN" i="1" smtClean="0"/>
              <a:t> </a:t>
            </a:r>
            <a:r>
              <a:rPr lang="vi-VN"/>
              <a:t>(</a:t>
            </a:r>
            <a:r>
              <a:rPr lang="vi-VN" i="1"/>
              <a:t>p</a:t>
            </a:r>
            <a:r>
              <a:rPr lang="vi-VN"/>
              <a:t>, w) </a:t>
            </a:r>
            <a:r>
              <a:rPr lang="en-US">
                <a:sym typeface="Symbol"/>
              </a:rPr>
              <a:t> </a:t>
            </a:r>
            <a:r>
              <a:rPr lang="vi-VN" i="1" smtClean="0"/>
              <a:t>F </a:t>
            </a:r>
            <a:r>
              <a:rPr lang="vi-VN" i="1"/>
              <a:t>và </a:t>
            </a:r>
            <a:r>
              <a:rPr lang="en-US" smtClean="0">
                <a:sym typeface="Symbol"/>
              </a:rPr>
              <a:t>*</a:t>
            </a:r>
            <a:r>
              <a:rPr lang="vi-VN" smtClean="0"/>
              <a:t>(</a:t>
            </a:r>
            <a:r>
              <a:rPr lang="vi-VN" i="1"/>
              <a:t>q</a:t>
            </a:r>
            <a:r>
              <a:rPr lang="vi-VN"/>
              <a:t>, w) </a:t>
            </a:r>
            <a:r>
              <a:rPr lang="en-US">
                <a:sym typeface="Symbol"/>
              </a:rPr>
              <a:t> </a:t>
            </a:r>
            <a:r>
              <a:rPr lang="vi-VN" i="1" smtClean="0"/>
              <a:t>F</a:t>
            </a:r>
            <a:endParaRPr lang="en-US"/>
          </a:p>
        </p:txBody>
      </p:sp>
    </p:spTree>
    <p:extLst>
      <p:ext uri="{BB962C8B-B14F-4D97-AF65-F5344CB8AC3E}">
        <p14:creationId xmlns:p14="http://schemas.microsoft.com/office/powerpoint/2010/main" val="3874069250"/>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41409" y="147591"/>
            <a:ext cx="8911687" cy="805445"/>
          </a:xfrm>
        </p:spPr>
        <p:txBody>
          <a:bodyPr/>
          <a:lstStyle/>
          <a:p>
            <a:r>
              <a:rPr lang="en-US" smtClean="0"/>
              <a:t>Giải thuật tối thiểu hóa trạng thái</a:t>
            </a:r>
            <a:endParaRPr lang="en-US"/>
          </a:p>
        </p:txBody>
      </p:sp>
      <p:sp>
        <p:nvSpPr>
          <p:cNvPr id="3" name="Content Placeholder 2"/>
          <p:cNvSpPr>
            <a:spLocks noGrp="1"/>
          </p:cNvSpPr>
          <p:nvPr>
            <p:ph idx="1"/>
          </p:nvPr>
        </p:nvSpPr>
        <p:spPr>
          <a:xfrm>
            <a:off x="2279561" y="1352282"/>
            <a:ext cx="9736427" cy="5190185"/>
          </a:xfrm>
        </p:spPr>
        <p:txBody>
          <a:bodyPr>
            <a:normAutofit lnSpcReduction="10000"/>
          </a:bodyPr>
          <a:lstStyle/>
          <a:p>
            <a:r>
              <a:rPr lang="vi-VN" b="1"/>
              <a:t>Bước 0 </a:t>
            </a:r>
            <a:r>
              <a:rPr lang="vi-VN"/>
              <a:t>− Loại bỏ các trạng thái mà từ trạng thái khởi đầu không thể đi đến chúng được </a:t>
            </a:r>
          </a:p>
          <a:p>
            <a:r>
              <a:rPr lang="vi-VN" b="1"/>
              <a:t>Bước 1 </a:t>
            </a:r>
            <a:r>
              <a:rPr lang="vi-VN"/>
              <a:t>− Vẽ một bảng cho tất cả các cặp trạng thái (</a:t>
            </a:r>
            <a:r>
              <a:rPr lang="vi-VN" i="1"/>
              <a:t>qi </a:t>
            </a:r>
            <a:r>
              <a:rPr lang="vi-VN"/>
              <a:t>, </a:t>
            </a:r>
            <a:r>
              <a:rPr lang="vi-VN" i="1"/>
              <a:t>qj </a:t>
            </a:r>
            <a:r>
              <a:rPr lang="vi-VN"/>
              <a:t>) kể cả các cặp không kết nối trực tiếp </a:t>
            </a:r>
          </a:p>
          <a:p>
            <a:pPr marL="0" indent="0">
              <a:buNone/>
            </a:pPr>
            <a:r>
              <a:rPr lang="vi-VN" smtClean="0"/>
              <a:t>//</a:t>
            </a:r>
            <a:r>
              <a:rPr lang="vi-VN"/>
              <a:t>Ban đầu tất cả đều không được đánh dấu, và bảng này để đánh dấu các cặp là phân biệt được </a:t>
            </a:r>
          </a:p>
          <a:p>
            <a:r>
              <a:rPr lang="vi-VN" b="1"/>
              <a:t>Bước 2 </a:t>
            </a:r>
            <a:r>
              <a:rPr lang="vi-VN"/>
              <a:t>− Xét mọi cặp trạng thái (</a:t>
            </a:r>
            <a:r>
              <a:rPr lang="vi-VN" i="1"/>
              <a:t>qi </a:t>
            </a:r>
            <a:r>
              <a:rPr lang="vi-VN"/>
              <a:t>, </a:t>
            </a:r>
            <a:r>
              <a:rPr lang="vi-VN" i="1"/>
              <a:t>qj</a:t>
            </a:r>
            <a:r>
              <a:rPr lang="vi-VN"/>
              <a:t>) trong DFA trong đó </a:t>
            </a:r>
            <a:r>
              <a:rPr lang="vi-VN" i="1"/>
              <a:t>qi </a:t>
            </a:r>
            <a:r>
              <a:rPr lang="vi-VN"/>
              <a:t>∈ </a:t>
            </a:r>
            <a:r>
              <a:rPr lang="vi-VN" i="1"/>
              <a:t>F </a:t>
            </a:r>
            <a:r>
              <a:rPr lang="vi-VN"/>
              <a:t>và </a:t>
            </a:r>
            <a:r>
              <a:rPr lang="vi-VN" i="1"/>
              <a:t>qj </a:t>
            </a:r>
            <a:r>
              <a:rPr lang="vi-VN"/>
              <a:t>∉ </a:t>
            </a:r>
            <a:r>
              <a:rPr lang="vi-VN" i="1"/>
              <a:t>F </a:t>
            </a:r>
            <a:r>
              <a:rPr lang="vi-VN"/>
              <a:t>hoặc ngược lại và đánh dấu chúng vào bảng là phân biệt được. //</a:t>
            </a:r>
            <a:r>
              <a:rPr lang="vi-VN" i="1"/>
              <a:t>F </a:t>
            </a:r>
            <a:r>
              <a:rPr lang="vi-VN"/>
              <a:t>là tập hợp các trạng thái kết thúc của DFA </a:t>
            </a:r>
          </a:p>
          <a:p>
            <a:r>
              <a:rPr lang="vi-VN" b="1"/>
              <a:t>Bước 3 </a:t>
            </a:r>
            <a:r>
              <a:rPr lang="vi-VN"/>
              <a:t>− Lặp lại bước này cho đến khi không thể đánh dấu thêm cặp trạng thái phân biệt được nào nữa </a:t>
            </a:r>
          </a:p>
          <a:p>
            <a:pPr marL="0" indent="0">
              <a:buNone/>
            </a:pPr>
            <a:r>
              <a:rPr lang="en-US" smtClean="0"/>
              <a:t>	</a:t>
            </a:r>
            <a:r>
              <a:rPr lang="vi-VN" smtClean="0"/>
              <a:t>Đối </a:t>
            </a:r>
            <a:r>
              <a:rPr lang="vi-VN"/>
              <a:t>với mọi cặp trạng thái (</a:t>
            </a:r>
            <a:r>
              <a:rPr lang="vi-VN" i="1"/>
              <a:t>p</a:t>
            </a:r>
            <a:r>
              <a:rPr lang="vi-VN"/>
              <a:t>, </a:t>
            </a:r>
            <a:r>
              <a:rPr lang="vi-VN" i="1"/>
              <a:t>q</a:t>
            </a:r>
            <a:r>
              <a:rPr lang="vi-VN"/>
              <a:t>) chưa được đánh dấu và với mọi ký tự </a:t>
            </a:r>
            <a:r>
              <a:rPr lang="vi-VN" i="1"/>
              <a:t>a </a:t>
            </a:r>
            <a:r>
              <a:rPr lang="vi-VN"/>
              <a:t>∈ </a:t>
            </a:r>
            <a:r>
              <a:rPr lang="el-GR"/>
              <a:t>Σ: </a:t>
            </a:r>
          </a:p>
          <a:p>
            <a:pPr marL="0" indent="0">
              <a:buNone/>
            </a:pPr>
            <a:r>
              <a:rPr lang="en-US" smtClean="0"/>
              <a:t>	1</a:t>
            </a:r>
            <a:r>
              <a:rPr lang="en-US"/>
              <a:t>. Tính các trạng thái kế tiếp: </a:t>
            </a:r>
            <a:r>
              <a:rPr lang="el-GR"/>
              <a:t>δ(</a:t>
            </a:r>
            <a:r>
              <a:rPr lang="en-US" i="1"/>
              <a:t>p, a</a:t>
            </a:r>
            <a:r>
              <a:rPr lang="en-US"/>
              <a:t>) = </a:t>
            </a:r>
            <a:r>
              <a:rPr lang="en-US" i="1"/>
              <a:t>pa </a:t>
            </a:r>
            <a:r>
              <a:rPr lang="en-US"/>
              <a:t>và </a:t>
            </a:r>
            <a:r>
              <a:rPr lang="el-GR"/>
              <a:t>δ(</a:t>
            </a:r>
            <a:r>
              <a:rPr lang="en-US" i="1"/>
              <a:t>q, a</a:t>
            </a:r>
            <a:r>
              <a:rPr lang="en-US"/>
              <a:t>) = </a:t>
            </a:r>
            <a:r>
              <a:rPr lang="en-US" i="1"/>
              <a:t>qa</a:t>
            </a:r>
            <a:r>
              <a:rPr lang="en-US"/>
              <a:t>. </a:t>
            </a:r>
          </a:p>
          <a:p>
            <a:pPr marL="0" indent="0">
              <a:buNone/>
            </a:pPr>
            <a:r>
              <a:rPr lang="en-US" smtClean="0"/>
              <a:t>	</a:t>
            </a:r>
            <a:r>
              <a:rPr lang="vi-VN" smtClean="0"/>
              <a:t>2</a:t>
            </a:r>
            <a:r>
              <a:rPr lang="vi-VN"/>
              <a:t>. Nếu cặp trạng thái (</a:t>
            </a:r>
            <a:r>
              <a:rPr lang="vi-VN" i="1"/>
              <a:t>pa</a:t>
            </a:r>
            <a:r>
              <a:rPr lang="vi-VN"/>
              <a:t>, </a:t>
            </a:r>
            <a:r>
              <a:rPr lang="vi-VN" i="1"/>
              <a:t>qa</a:t>
            </a:r>
            <a:r>
              <a:rPr lang="vi-VN"/>
              <a:t>) đã được đánh dấu là phân biệt được, thì hãy đánh dấu cặp (</a:t>
            </a:r>
            <a:r>
              <a:rPr lang="vi-VN" i="1"/>
              <a:t>p, q</a:t>
            </a:r>
            <a:r>
              <a:rPr lang="vi-VN"/>
              <a:t>) là phân biệt được. </a:t>
            </a:r>
            <a:endParaRPr lang="en-US"/>
          </a:p>
          <a:p>
            <a:r>
              <a:rPr lang="vi-VN" b="1"/>
              <a:t>Bước 4 </a:t>
            </a:r>
            <a:r>
              <a:rPr lang="vi-VN"/>
              <a:t>− Kết hợp tất cả các cặp không được đánh dấu (</a:t>
            </a:r>
            <a:r>
              <a:rPr lang="vi-VN" i="1"/>
              <a:t>qi </a:t>
            </a:r>
            <a:r>
              <a:rPr lang="vi-VN"/>
              <a:t>, </a:t>
            </a:r>
            <a:r>
              <a:rPr lang="vi-VN" i="1"/>
              <a:t>qj </a:t>
            </a:r>
            <a:r>
              <a:rPr lang="vi-VN"/>
              <a:t>) và biến chúng thành một trạng thái duy nhất trong DFA rút gọn trạng thái.</a:t>
            </a:r>
            <a:endParaRPr lang="en-US"/>
          </a:p>
        </p:txBody>
      </p:sp>
    </p:spTree>
    <p:extLst>
      <p:ext uri="{BB962C8B-B14F-4D97-AF65-F5344CB8AC3E}">
        <p14:creationId xmlns:p14="http://schemas.microsoft.com/office/powerpoint/2010/main" val="1247017434"/>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Ví dụ. Tìm DFA tối thiểu trạng thái cho DFA sau:</a:t>
            </a:r>
            <a:endParaRPr lang="en-US"/>
          </a:p>
        </p:txBody>
      </p:sp>
      <p:pic>
        <p:nvPicPr>
          <p:cNvPr id="512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69737" y="2482471"/>
            <a:ext cx="5223502" cy="29524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45651380"/>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Ví dụ. Tìm DFA tối thiểu trạng thái cho DFA sau:</a:t>
            </a:r>
            <a:endParaRPr lang="en-US"/>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15488" y="2525868"/>
            <a:ext cx="6228479" cy="30506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39202443"/>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57589" y="624110"/>
            <a:ext cx="9994005" cy="1243327"/>
          </a:xfrm>
        </p:spPr>
        <p:txBody>
          <a:bodyPr>
            <a:normAutofit fontScale="90000"/>
          </a:bodyPr>
          <a:lstStyle/>
          <a:p>
            <a:r>
              <a:rPr lang="en-US" smtClean="0"/>
              <a:t>Mệnh đề 2.6. </a:t>
            </a:r>
            <a:r>
              <a:rPr lang="en-US" smtClean="0">
                <a:solidFill>
                  <a:schemeClr val="tx1"/>
                </a:solidFill>
              </a:rPr>
              <a:t>Một DFA là tối thiểu khi và chỉ khi tất cả các trạng thái của nó có thể phân biệt được</a:t>
            </a:r>
            <a:endParaRPr lang="en-US">
              <a:solidFill>
                <a:schemeClr val="tx1"/>
              </a:solidFill>
            </a:endParaRPr>
          </a:p>
        </p:txBody>
      </p:sp>
      <p:sp>
        <p:nvSpPr>
          <p:cNvPr id="3" name="Content Placeholder 2"/>
          <p:cNvSpPr>
            <a:spLocks noGrp="1"/>
          </p:cNvSpPr>
          <p:nvPr>
            <p:ph idx="1"/>
          </p:nvPr>
        </p:nvSpPr>
        <p:spPr>
          <a:xfrm>
            <a:off x="2589212" y="2133600"/>
            <a:ext cx="8915400" cy="970208"/>
          </a:xfrm>
        </p:spPr>
        <p:txBody>
          <a:bodyPr/>
          <a:lstStyle/>
          <a:p>
            <a:r>
              <a:rPr lang="en-US" smtClean="0"/>
              <a:t>Ví dụ. Kiểm tra xem DFA sau có tối thiểu không?</a:t>
            </a:r>
            <a:endParaRPr lang="en-US"/>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06153" y="2908345"/>
            <a:ext cx="6156034" cy="24749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05846989"/>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Bài tập. Tối thiểu hóa các trạng thái của DFA sau</a:t>
            </a:r>
            <a:endParaRPr lang="en-US"/>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62094" y="2426726"/>
            <a:ext cx="6291581" cy="27248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16981734"/>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3600" smtClean="0"/>
              <a:t>Cho một thang máy gồm có 3 tầng. </a:t>
            </a:r>
          </a:p>
          <a:p>
            <a:r>
              <a:rPr lang="en-US" sz="3600" smtClean="0"/>
              <a:t>Hãy thiết kế một ô tô mát cho thang máy này. </a:t>
            </a:r>
            <a:endParaRPr lang="en-US" sz="3600"/>
          </a:p>
        </p:txBody>
      </p:sp>
    </p:spTree>
    <p:extLst>
      <p:ext uri="{BB962C8B-B14F-4D97-AF65-F5344CB8AC3E}">
        <p14:creationId xmlns:p14="http://schemas.microsoft.com/office/powerpoint/2010/main" val="199578052"/>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2E5369"/>
      </a:dk2>
      <a:lt2>
        <a:srgbClr val="CFE2E7"/>
      </a:lt2>
      <a:accent1>
        <a:srgbClr val="353535"/>
      </a:accent1>
      <a:accent2>
        <a:srgbClr val="31B4E6"/>
      </a:accent2>
      <a:accent3>
        <a:srgbClr val="265991"/>
      </a:accent3>
      <a:accent4>
        <a:srgbClr val="7E40CC"/>
      </a:accent4>
      <a:accent5>
        <a:srgbClr val="B927E9"/>
      </a:accent5>
      <a:accent6>
        <a:srgbClr val="E833BF"/>
      </a:accent6>
      <a:hlink>
        <a:srgbClr val="2DA0F1"/>
      </a:hlink>
      <a:folHlink>
        <a:srgbClr val="7ED1E6"/>
      </a:folHlink>
    </a:clrScheme>
    <a:fontScheme name="Wisp">
      <a:maj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 xmlns:thm15="http://schemas.microsoft.com/office/thememl/2012/main" name="Wisp" id="{7CB32D59-10C0-40DD-B7BD-2E94284A981C}" vid="{4F34B87B-9C7A-41AE-A6CB-48536223DFFD}"/>
    </a:ext>
  </a:extLst>
</a:theme>
</file>

<file path=docProps/app.xml><?xml version="1.0" encoding="utf-8"?>
<Properties xmlns="http://schemas.openxmlformats.org/officeDocument/2006/extended-properties" xmlns:vt="http://schemas.openxmlformats.org/officeDocument/2006/docPropsVTypes">
  <Template>Ion Boardroom</Template>
  <TotalTime>2331</TotalTime>
  <Words>3844</Words>
  <Application>Microsoft Office PowerPoint</Application>
  <PresentationFormat>Custom</PresentationFormat>
  <Paragraphs>377</Paragraphs>
  <Slides>67</Slides>
  <Notes>0</Notes>
  <HiddenSlides>0</HiddenSlides>
  <MMClips>0</MMClips>
  <ScaleCrop>false</ScaleCrop>
  <HeadingPairs>
    <vt:vector size="4" baseType="variant">
      <vt:variant>
        <vt:lpstr>Theme</vt:lpstr>
      </vt:variant>
      <vt:variant>
        <vt:i4>1</vt:i4>
      </vt:variant>
      <vt:variant>
        <vt:lpstr>Slide Titles</vt:lpstr>
      </vt:variant>
      <vt:variant>
        <vt:i4>67</vt:i4>
      </vt:variant>
    </vt:vector>
  </HeadingPairs>
  <TitlesOfParts>
    <vt:vector size="68" baseType="lpstr">
      <vt:lpstr>Wisp</vt:lpstr>
      <vt:lpstr>Chương 2 </vt:lpstr>
      <vt:lpstr>PowerPoint Presentation</vt:lpstr>
      <vt:lpstr>§1. Otomat hữu hạn không đơn định (NFA) </vt:lpstr>
      <vt:lpstr>Otomat hữu hạn không đơn định (NFA) </vt:lpstr>
      <vt:lpstr>Mô tả quá trình đoán nhận chuỗi ω của otomat A </vt:lpstr>
      <vt:lpstr>Điều kiện kết thúc quá trình đọc chuỗi vào:  </vt:lpstr>
      <vt:lpstr>1.2 Biểu diễn otomat hữu hạn không đơn định </vt:lpstr>
      <vt:lpstr>Ví dụ:</vt:lpstr>
      <vt:lpstr>Ví dụ</vt:lpstr>
      <vt:lpstr>Tiến trình song song của NFA</vt:lpstr>
      <vt:lpstr>Ngôn ngữ được đoán nhận bởi otomat hữu hạn không đơn định </vt:lpstr>
      <vt:lpstr>Ví dụ:</vt:lpstr>
      <vt:lpstr>Ví dụ: Tìm δ(q0,1011) và δ(q1,01) </vt:lpstr>
      <vt:lpstr>Ví dụ: Tìm ngôn ngữ được đoán nhận bởi otomat bên dưới</vt:lpstr>
      <vt:lpstr>Ví dụ: Thiết kế NFA với điều kiện không quá 5 trạng thái cho tập ngôn ngữ L        L = {ababn: n ≥ 1}  {aban: n ≥ 1}. </vt:lpstr>
      <vt:lpstr>Bài tập</vt:lpstr>
      <vt:lpstr>Bài tập</vt:lpstr>
      <vt:lpstr>Bài tập.  Cho hàm chuyển dịch của một NFA như bảng sau. Vẽ đồ thị của nó.  </vt:lpstr>
      <vt:lpstr>Bài tập</vt:lpstr>
      <vt:lpstr>Bài tập</vt:lpstr>
      <vt:lpstr>PowerPoint Presentation</vt:lpstr>
      <vt:lpstr>§2.  Otomat hữu hạn đơn định (DFA) </vt:lpstr>
      <vt:lpstr>Chú ý:</vt:lpstr>
      <vt:lpstr>Hoạt động của otomat hữu hạn đơn định A = &lt;Q, Σ, δ, q0, F&gt; khi cho xâu vào ω = a1a2… an có thể được mô tả như sau:  </vt:lpstr>
      <vt:lpstr>Mô tả quá trình đoán nhận xâu ω của otomat A </vt:lpstr>
      <vt:lpstr>1.2 Biểu diễn otomat hữu hạn đơn định </vt:lpstr>
      <vt:lpstr>Ví dụ 1.1  Cho otomat hữu hạn đơn định: </vt:lpstr>
      <vt:lpstr>Quá trình đoán nhận xâu α = ababbab của A1 </vt:lpstr>
      <vt:lpstr>Ví dụ 2:</vt:lpstr>
      <vt:lpstr>Dãy trạng thái của otomat A2 trong quá trình đoán nhận xâu vào β = 1010100 là: </vt:lpstr>
      <vt:lpstr>Ta có thể mô tả quá trình đoán nhận xâu vào của otomat hữu hạn đơn định đầy đủ A bằng thuật toán mô phỏng sau:  </vt:lpstr>
      <vt:lpstr>Ngôn ngữ được đoán nhận bởi otomat đơn định</vt:lpstr>
      <vt:lpstr>Ví dụ. Tìm ngôn ngữ được đoán nhận bởi DFA dưới đây </vt:lpstr>
      <vt:lpstr>Thiết kế DFA</vt:lpstr>
      <vt:lpstr>Ví dụ 1. Thiết kế một DFA trên  = {a, b} chấp nhận ngôn ngữ L gồm tất cả các chuỗi có chứa ít nhất một chuỗi con ab. </vt:lpstr>
      <vt:lpstr>Ví dụ 1.</vt:lpstr>
      <vt:lpstr>Ví dụ 1.</vt:lpstr>
      <vt:lpstr>Ví dụ 1.</vt:lpstr>
      <vt:lpstr>Bài tập.</vt:lpstr>
      <vt:lpstr>Ví dụ 2. Thiết kế DFA nhận ra tập hợp tất cả các chuỗi trên  = {a, b} bắt đầu với chuỗi ab. </vt:lpstr>
      <vt:lpstr>Ví dụ 2.</vt:lpstr>
      <vt:lpstr>Ví dụ 3. Thiết kế DFA trên  ={a, b} chấp nhận các chuỗi có số lượng ký tự a là số chẵn (ký tự b xuất hiện bao nhiêu lần tùy ý). </vt:lpstr>
      <vt:lpstr>Ví dụ 4. Thiết kế DFA trên  ={a, b} chấp nhận diện chuỗi kết thúc bằng ab. </vt:lpstr>
      <vt:lpstr>Bài tập</vt:lpstr>
      <vt:lpstr>Bài tập</vt:lpstr>
      <vt:lpstr>PowerPoint Presentation</vt:lpstr>
      <vt:lpstr>Đơn định hóa các otomat </vt:lpstr>
      <vt:lpstr>Phương pháp: </vt:lpstr>
      <vt:lpstr>Ví dụ:</vt:lpstr>
      <vt:lpstr>PowerPoint Presentation</vt:lpstr>
      <vt:lpstr>Ví dụ:</vt:lpstr>
      <vt:lpstr>PowerPoint Presentation</vt:lpstr>
      <vt:lpstr>PowerPoint Presentation</vt:lpstr>
      <vt:lpstr>2.4  Sự tương đương giữa otomat đơn định và otomat không đơn định  </vt:lpstr>
      <vt:lpstr>PowerPoint Presentation</vt:lpstr>
      <vt:lpstr>PowerPoint Presentation</vt:lpstr>
      <vt:lpstr>2.5. Tối thiểu hóa các trạng thái của DFA</vt:lpstr>
      <vt:lpstr>PowerPoint Presentation</vt:lpstr>
      <vt:lpstr>PowerPoint Presentation</vt:lpstr>
      <vt:lpstr>PowerPoint Presentation</vt:lpstr>
      <vt:lpstr>PowerPoint Presentation</vt:lpstr>
      <vt:lpstr>Giải thuật tối thiểu hóa trạng thái</vt:lpstr>
      <vt:lpstr>Ví dụ. Tìm DFA tối thiểu trạng thái cho DFA sau:</vt:lpstr>
      <vt:lpstr>Ví dụ. Tìm DFA tối thiểu trạng thái cho DFA sau:</vt:lpstr>
      <vt:lpstr>Mệnh đề 2.6. Một DFA là tối thiểu khi và chỉ khi tất cả các trạng thái của nó có thể phân biệt được</vt:lpstr>
      <vt:lpstr>Bài tập. Tối thiểu hóa các trạng thái của DFA sau</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Chương 2 </dc:title>
  <dc:creator>ThanhBinh</dc:creator>
  <cp:lastModifiedBy>Asus</cp:lastModifiedBy>
  <cp:revision>93</cp:revision>
  <dcterms:created xsi:type="dcterms:W3CDTF">2017-01-02T08:28:44Z</dcterms:created>
  <dcterms:modified xsi:type="dcterms:W3CDTF">2026-09-17T01:55:47Z</dcterms:modified>
</cp:coreProperties>
</file>