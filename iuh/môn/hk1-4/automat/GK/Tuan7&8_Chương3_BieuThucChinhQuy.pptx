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04" r:id="rId3"/>
    <p:sldId id="305" r:id="rId4"/>
    <p:sldId id="281" r:id="rId5"/>
    <p:sldId id="282" r:id="rId6"/>
    <p:sldId id="283" r:id="rId7"/>
    <p:sldId id="306" r:id="rId8"/>
    <p:sldId id="284" r:id="rId9"/>
    <p:sldId id="296" r:id="rId10"/>
    <p:sldId id="297" r:id="rId11"/>
    <p:sldId id="298" r:id="rId12"/>
    <p:sldId id="285" r:id="rId13"/>
    <p:sldId id="307" r:id="rId14"/>
    <p:sldId id="308" r:id="rId15"/>
    <p:sldId id="299" r:id="rId16"/>
    <p:sldId id="300" r:id="rId17"/>
    <p:sldId id="301" r:id="rId18"/>
    <p:sldId id="286" r:id="rId19"/>
    <p:sldId id="303" r:id="rId20"/>
    <p:sldId id="302" r:id="rId21"/>
    <p:sldId id="287" r:id="rId22"/>
    <p:sldId id="288" r:id="rId23"/>
    <p:sldId id="289" r:id="rId24"/>
    <p:sldId id="290" r:id="rId25"/>
    <p:sldId id="291" r:id="rId26"/>
    <p:sldId id="292" r:id="rId27"/>
    <p:sldId id="293" r:id="rId28"/>
    <p:sldId id="294" r:id="rId29"/>
    <p:sldId id="29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4" d="100"/>
          <a:sy n="74" d="100"/>
        </p:scale>
        <p:origin x="-54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73303" y="1197735"/>
            <a:ext cx="8915399" cy="1197054"/>
          </a:xfrm>
        </p:spPr>
        <p:txBody>
          <a:bodyPr>
            <a:normAutofit/>
          </a:bodyPr>
          <a:lstStyle/>
          <a:p>
            <a:r>
              <a:rPr lang="en-US" b="1" err="1"/>
              <a:t>Chương</a:t>
            </a:r>
            <a:r>
              <a:rPr lang="en-US" b="1"/>
              <a:t> </a:t>
            </a:r>
            <a:r>
              <a:rPr lang="en-US" b="1" smtClean="0"/>
              <a:t>3 </a:t>
            </a:r>
            <a:endParaRPr lang="en-US" dirty="0"/>
          </a:p>
        </p:txBody>
      </p:sp>
      <p:sp>
        <p:nvSpPr>
          <p:cNvPr id="3" name="Subtitle 2"/>
          <p:cNvSpPr>
            <a:spLocks noGrp="1"/>
          </p:cNvSpPr>
          <p:nvPr>
            <p:ph type="subTitle" idx="1"/>
          </p:nvPr>
        </p:nvSpPr>
        <p:spPr>
          <a:xfrm>
            <a:off x="2589213" y="2922822"/>
            <a:ext cx="8915399" cy="1126283"/>
          </a:xfrm>
        </p:spPr>
        <p:txBody>
          <a:bodyPr>
            <a:normAutofit/>
          </a:bodyPr>
          <a:lstStyle/>
          <a:p>
            <a:r>
              <a:rPr lang="en-US" sz="2800" b="1" dirty="0"/>
              <a:t>OTOMAT HỮU HẠN VÀ NGÔN NGỮ CHÍNH QUY</a:t>
            </a:r>
            <a:endParaRPr lang="en-US" sz="2800" dirty="0"/>
          </a:p>
        </p:txBody>
      </p:sp>
    </p:spTree>
    <p:extLst>
      <p:ext uri="{BB962C8B-B14F-4D97-AF65-F5344CB8AC3E}">
        <p14:creationId xmlns:p14="http://schemas.microsoft.com/office/powerpoint/2010/main" val="22375759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1939" y="1090410"/>
            <a:ext cx="8915400" cy="4808113"/>
          </a:xfrm>
        </p:spPr>
        <p:txBody>
          <a:bodyPr>
            <a:noAutofit/>
          </a:bodyPr>
          <a:lstStyle/>
          <a:p>
            <a:r>
              <a:rPr lang="vi-VN" sz="2000" smtClean="0"/>
              <a:t> </a:t>
            </a:r>
            <a:r>
              <a:rPr lang="vi-VN" sz="2000" b="1">
                <a:solidFill>
                  <a:srgbClr val="FF0000"/>
                </a:solidFill>
              </a:rPr>
              <a:t>Ngôn ngữ hình thức </a:t>
            </a:r>
            <a:r>
              <a:rPr lang="vi-VN" sz="2000"/>
              <a:t>trong toán học và khoa học máy tính là một tập hợp các chuỗi ký tự được hình thành từ một bảng chữ </a:t>
            </a:r>
            <a:r>
              <a:rPr lang="vi-VN" sz="2000"/>
              <a:t>cái </a:t>
            </a:r>
            <a:r>
              <a:rPr lang="vi-VN" sz="2000" smtClean="0">
                <a:sym typeface="Symbol"/>
              </a:rPr>
              <a:t></a:t>
            </a:r>
            <a:r>
              <a:rPr lang="vi-VN" sz="2000" smtClean="0"/>
              <a:t> </a:t>
            </a:r>
            <a:r>
              <a:rPr lang="vi-VN" sz="2000"/>
              <a:t>xác định, tuân theo một tập hợp các quy tắc văn phạm chặt chẽ mà không phụ thuộc vào ý nghĩa ngữ nghĩa hay ngữ cảnh</a:t>
            </a:r>
            <a:r>
              <a:rPr lang="vi-VN" sz="2000"/>
              <a:t>. </a:t>
            </a:r>
            <a:endParaRPr lang="en-US" sz="2000" smtClean="0"/>
          </a:p>
          <a:p>
            <a:endParaRPr lang="en-US" sz="2000"/>
          </a:p>
          <a:p>
            <a:r>
              <a:rPr lang="vi-VN" sz="2000"/>
              <a:t> </a:t>
            </a:r>
            <a:r>
              <a:rPr lang="vi-VN" sz="2000" b="1">
                <a:solidFill>
                  <a:srgbClr val="FF0000"/>
                </a:solidFill>
              </a:rPr>
              <a:t>Ngôn ngữ chính </a:t>
            </a:r>
            <a:r>
              <a:rPr lang="vi-VN" sz="2000" b="1">
                <a:solidFill>
                  <a:srgbClr val="FF0000"/>
                </a:solidFill>
              </a:rPr>
              <a:t>quy </a:t>
            </a:r>
            <a:r>
              <a:rPr lang="en-US" sz="2000" smtClean="0">
                <a:solidFill>
                  <a:schemeClr val="tx1"/>
                </a:solidFill>
              </a:rPr>
              <a:t>(regular language) </a:t>
            </a:r>
            <a:r>
              <a:rPr lang="vi-VN" sz="2000" smtClean="0"/>
              <a:t>là </a:t>
            </a:r>
            <a:r>
              <a:rPr lang="vi-VN" sz="2000"/>
              <a:t>một dạng của ngôn ngữ hình thức chủ yếu được biểu diễn và xác định thông qua các quy tắc văn phạm và NFA hay DFA</a:t>
            </a:r>
            <a:r>
              <a:rPr lang="vi-VN" sz="2000"/>
              <a:t>. </a:t>
            </a:r>
            <a:endParaRPr lang="en-US" sz="2000" smtClean="0"/>
          </a:p>
          <a:p>
            <a:endParaRPr lang="en-US" sz="2000"/>
          </a:p>
          <a:p>
            <a:r>
              <a:rPr lang="vi-VN" sz="2000"/>
              <a:t> </a:t>
            </a:r>
            <a:r>
              <a:rPr lang="vi-VN" sz="2000" b="1">
                <a:solidFill>
                  <a:srgbClr val="FF0000"/>
                </a:solidFill>
              </a:rPr>
              <a:t>Văn phạm chính quy </a:t>
            </a:r>
            <a:r>
              <a:rPr lang="vi-VN" sz="2000"/>
              <a:t>(Regular Grammar), là một văn phạm hình thức có các quy tắc (luật sinh) dùng để mô tả các ngôn ngữ chính quy. </a:t>
            </a:r>
            <a:endParaRPr lang="en-US" sz="2000"/>
          </a:p>
        </p:txBody>
      </p:sp>
    </p:spTree>
    <p:extLst>
      <p:ext uri="{BB962C8B-B14F-4D97-AF65-F5344CB8AC3E}">
        <p14:creationId xmlns:p14="http://schemas.microsoft.com/office/powerpoint/2010/main" val="3920468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2744" y="875762"/>
            <a:ext cx="8915400" cy="5705341"/>
          </a:xfrm>
        </p:spPr>
        <p:txBody>
          <a:bodyPr>
            <a:normAutofit/>
          </a:bodyPr>
          <a:lstStyle/>
          <a:p>
            <a:r>
              <a:rPr lang="en-US" sz="2000" smtClean="0"/>
              <a:t>1</a:t>
            </a:r>
            <a:r>
              <a:rPr lang="en-US" sz="2000"/>
              <a:t>. 0*10 = {</a:t>
            </a:r>
            <a:r>
              <a:rPr lang="en-US" sz="2000" i="1"/>
              <a:t>w </a:t>
            </a:r>
            <a:r>
              <a:rPr lang="en-US" sz="2000"/>
              <a:t>: </a:t>
            </a:r>
            <a:r>
              <a:rPr lang="en-US" sz="2000" i="1"/>
              <a:t>w </a:t>
            </a:r>
            <a:r>
              <a:rPr lang="en-US" sz="2000"/>
              <a:t>có chứa một ký hiệu 1, một hay nhiều ký hiệu 0}. </a:t>
            </a:r>
          </a:p>
          <a:p>
            <a:r>
              <a:rPr lang="en-US" sz="2000"/>
              <a:t>2</a:t>
            </a:r>
            <a:r>
              <a:rPr lang="en-US" sz="2000"/>
              <a:t>. </a:t>
            </a:r>
            <a:r>
              <a:rPr lang="en-US" sz="2000">
                <a:sym typeface="Symbol"/>
              </a:rPr>
              <a:t> </a:t>
            </a:r>
            <a:r>
              <a:rPr lang="en-US" sz="2000" smtClean="0"/>
              <a:t>*1</a:t>
            </a:r>
            <a:r>
              <a:rPr lang="en-US" sz="2000">
                <a:sym typeface="Symbol"/>
              </a:rPr>
              <a:t>  </a:t>
            </a:r>
            <a:r>
              <a:rPr lang="en-US" sz="2000" smtClean="0"/>
              <a:t>* </a:t>
            </a:r>
            <a:r>
              <a:rPr lang="en-US" sz="2000"/>
              <a:t>= {</a:t>
            </a:r>
            <a:r>
              <a:rPr lang="en-US" sz="2000" i="1"/>
              <a:t>w </a:t>
            </a:r>
            <a:r>
              <a:rPr lang="en-US" sz="2000"/>
              <a:t>: </a:t>
            </a:r>
            <a:r>
              <a:rPr lang="en-US" sz="2000" i="1"/>
              <a:t>w </a:t>
            </a:r>
            <a:r>
              <a:rPr lang="en-US" sz="2000"/>
              <a:t>có chứa ít nhất một ký hiệu 1}. </a:t>
            </a:r>
          </a:p>
          <a:p>
            <a:r>
              <a:rPr lang="en-US" sz="2000"/>
              <a:t>3</a:t>
            </a:r>
            <a:r>
              <a:rPr lang="en-US" sz="2000"/>
              <a:t>. </a:t>
            </a:r>
            <a:r>
              <a:rPr lang="en-US" sz="2000">
                <a:sym typeface="Symbol"/>
              </a:rPr>
              <a:t> </a:t>
            </a:r>
            <a:r>
              <a:rPr lang="en-US" sz="2000" smtClean="0"/>
              <a:t>*001</a:t>
            </a:r>
            <a:r>
              <a:rPr lang="en-US" sz="2000">
                <a:sym typeface="Symbol"/>
              </a:rPr>
              <a:t>  </a:t>
            </a:r>
            <a:r>
              <a:rPr lang="en-US" sz="2000" smtClean="0"/>
              <a:t>* </a:t>
            </a:r>
            <a:r>
              <a:rPr lang="en-US" sz="2000"/>
              <a:t>= {</a:t>
            </a:r>
            <a:r>
              <a:rPr lang="en-US" sz="2000" i="1"/>
              <a:t>w </a:t>
            </a:r>
            <a:r>
              <a:rPr lang="en-US" sz="2000"/>
              <a:t>: </a:t>
            </a:r>
            <a:r>
              <a:rPr lang="en-US" sz="2000" i="1"/>
              <a:t>w </a:t>
            </a:r>
            <a:r>
              <a:rPr lang="en-US" sz="2000"/>
              <a:t>chứa chuỗi con 001}. </a:t>
            </a:r>
          </a:p>
          <a:p>
            <a:r>
              <a:rPr lang="en-US" sz="2000"/>
              <a:t>4. 1*(01+)* = {</a:t>
            </a:r>
            <a:r>
              <a:rPr lang="en-US" sz="2000" i="1"/>
              <a:t>w </a:t>
            </a:r>
            <a:r>
              <a:rPr lang="en-US" sz="2000"/>
              <a:t>: mỗi ký hiệu 0 trong </a:t>
            </a:r>
            <a:r>
              <a:rPr lang="en-US" sz="2000" i="1"/>
              <a:t>w </a:t>
            </a:r>
            <a:r>
              <a:rPr lang="en-US" sz="2000"/>
              <a:t>thì sau nó có ít nhất một ký hiệu 1}. </a:t>
            </a:r>
          </a:p>
          <a:p>
            <a:r>
              <a:rPr lang="en-US" sz="2000"/>
              <a:t>5</a:t>
            </a:r>
            <a:r>
              <a:rPr lang="en-US" sz="2000"/>
              <a:t>. </a:t>
            </a:r>
            <a:r>
              <a:rPr lang="en-US" sz="2000" smtClean="0"/>
              <a:t>(</a:t>
            </a:r>
            <a:r>
              <a:rPr lang="en-US" sz="2000">
                <a:sym typeface="Symbol"/>
              </a:rPr>
              <a:t> </a:t>
            </a:r>
            <a:r>
              <a:rPr lang="en-US" sz="2000">
                <a:sym typeface="Symbol"/>
              </a:rPr>
              <a:t></a:t>
            </a:r>
            <a:r>
              <a:rPr lang="en-US" sz="2000" smtClean="0"/>
              <a:t>)* </a:t>
            </a:r>
            <a:r>
              <a:rPr lang="en-US" sz="2000"/>
              <a:t>= {</a:t>
            </a:r>
            <a:r>
              <a:rPr lang="en-US" sz="2000" i="1"/>
              <a:t>w </a:t>
            </a:r>
            <a:r>
              <a:rPr lang="en-US" sz="2000"/>
              <a:t>: </a:t>
            </a:r>
            <a:r>
              <a:rPr lang="en-US" sz="2000" i="1"/>
              <a:t>w </a:t>
            </a:r>
            <a:r>
              <a:rPr lang="en-US" sz="2000"/>
              <a:t>có chiều dài chẵn}. </a:t>
            </a:r>
          </a:p>
          <a:p>
            <a:r>
              <a:rPr lang="en-US" sz="2000"/>
              <a:t>6</a:t>
            </a:r>
            <a:r>
              <a:rPr lang="en-US" sz="2000"/>
              <a:t>. </a:t>
            </a:r>
            <a:r>
              <a:rPr lang="en-US" sz="2000" smtClean="0"/>
              <a:t>(</a:t>
            </a:r>
            <a:r>
              <a:rPr lang="en-US" sz="2000">
                <a:sym typeface="Symbol"/>
              </a:rPr>
              <a:t> </a:t>
            </a:r>
            <a:r>
              <a:rPr lang="en-US" sz="2000" smtClean="0">
                <a:sym typeface="Symbol"/>
              </a:rPr>
              <a:t></a:t>
            </a:r>
            <a:r>
              <a:rPr lang="en-US" sz="2000">
                <a:sym typeface="Symbol"/>
              </a:rPr>
              <a:t> </a:t>
            </a:r>
            <a:r>
              <a:rPr lang="en-US" sz="2000" smtClean="0"/>
              <a:t>)* </a:t>
            </a:r>
            <a:r>
              <a:rPr lang="en-US" sz="2000"/>
              <a:t>= {</a:t>
            </a:r>
            <a:r>
              <a:rPr lang="en-US" sz="2000" i="1"/>
              <a:t>w </a:t>
            </a:r>
            <a:r>
              <a:rPr lang="en-US" sz="2000"/>
              <a:t>: chiều dài </a:t>
            </a:r>
            <a:r>
              <a:rPr lang="en-US" sz="2000" i="1"/>
              <a:t>w </a:t>
            </a:r>
            <a:r>
              <a:rPr lang="en-US" sz="2000"/>
              <a:t>là bội số của 3</a:t>
            </a:r>
            <a:r>
              <a:rPr lang="en-US" sz="2000"/>
              <a:t>}. </a:t>
            </a:r>
            <a:endParaRPr lang="en-US" sz="2000"/>
          </a:p>
          <a:p>
            <a:r>
              <a:rPr lang="en-US" sz="2000"/>
              <a:t>7. 01+10 = {01, 10}. </a:t>
            </a:r>
          </a:p>
          <a:p>
            <a:r>
              <a:rPr lang="en-US" sz="2000"/>
              <a:t>8. </a:t>
            </a:r>
            <a:r>
              <a:rPr lang="en-US" sz="2000"/>
              <a:t>(</a:t>
            </a:r>
            <a:r>
              <a:rPr lang="en-US" sz="2000" smtClean="0"/>
              <a:t>0+</a:t>
            </a:r>
            <a:r>
              <a:rPr lang="en-US" sz="2000" smtClean="0">
                <a:sym typeface="Symbol"/>
              </a:rPr>
              <a:t></a:t>
            </a:r>
            <a:r>
              <a:rPr lang="en-US" sz="2000" smtClean="0"/>
              <a:t>)</a:t>
            </a:r>
            <a:r>
              <a:rPr lang="en-US" sz="2000"/>
              <a:t>1* = </a:t>
            </a:r>
            <a:r>
              <a:rPr lang="en-US" sz="2000"/>
              <a:t>01</a:t>
            </a:r>
            <a:r>
              <a:rPr lang="en-US" sz="2000" smtClean="0"/>
              <a:t>*+</a:t>
            </a:r>
            <a:r>
              <a:rPr lang="en-US" sz="2000">
                <a:sym typeface="Symbol"/>
              </a:rPr>
              <a:t> </a:t>
            </a:r>
            <a:r>
              <a:rPr lang="en-US" sz="2000" smtClean="0">
                <a:sym typeface="Symbol"/>
              </a:rPr>
              <a:t></a:t>
            </a:r>
            <a:r>
              <a:rPr lang="en-US" sz="2000" smtClean="0"/>
              <a:t>1</a:t>
            </a:r>
            <a:r>
              <a:rPr lang="en-US" sz="2000"/>
              <a:t>*= 01* </a:t>
            </a:r>
            <a:r>
              <a:rPr lang="en-US" sz="2000"/>
              <a:t>+ </a:t>
            </a:r>
            <a:r>
              <a:rPr lang="en-US" sz="2000" smtClean="0"/>
              <a:t>1*. </a:t>
            </a:r>
            <a:endParaRPr lang="en-US" sz="2000"/>
          </a:p>
          <a:p>
            <a:r>
              <a:rPr lang="en-US" sz="2000"/>
              <a:t>9. (0 </a:t>
            </a:r>
            <a:r>
              <a:rPr lang="en-US" sz="2000"/>
              <a:t>+ </a:t>
            </a:r>
            <a:r>
              <a:rPr lang="en-US" sz="2000">
                <a:sym typeface="Symbol"/>
              </a:rPr>
              <a:t></a:t>
            </a:r>
            <a:r>
              <a:rPr lang="en-US" sz="2000" smtClean="0"/>
              <a:t>) </a:t>
            </a:r>
            <a:r>
              <a:rPr lang="en-US" sz="2000"/>
              <a:t>(1 </a:t>
            </a:r>
            <a:r>
              <a:rPr lang="en-US" sz="2000"/>
              <a:t>+ </a:t>
            </a:r>
            <a:r>
              <a:rPr lang="en-US" sz="2000">
                <a:sym typeface="Symbol"/>
              </a:rPr>
              <a:t></a:t>
            </a:r>
            <a:r>
              <a:rPr lang="en-US" sz="2000" smtClean="0"/>
              <a:t>) </a:t>
            </a:r>
            <a:r>
              <a:rPr lang="en-US" sz="2000"/>
              <a:t>= {01, 0, 1</a:t>
            </a:r>
            <a:r>
              <a:rPr lang="en-US" sz="2000"/>
              <a:t>, </a:t>
            </a:r>
            <a:r>
              <a:rPr lang="en-US" sz="2000">
                <a:sym typeface="Symbol"/>
              </a:rPr>
              <a:t></a:t>
            </a:r>
            <a:r>
              <a:rPr lang="en-US" sz="2000" smtClean="0"/>
              <a:t>}. </a:t>
            </a:r>
            <a:endParaRPr lang="en-US" sz="2000"/>
          </a:p>
          <a:p>
            <a:r>
              <a:rPr lang="vi-VN" sz="2000"/>
              <a:t>10. </a:t>
            </a:r>
            <a:r>
              <a:rPr lang="vi-VN" sz="2000">
                <a:solidFill>
                  <a:srgbClr val="FF0000"/>
                </a:solidFill>
              </a:rPr>
              <a:t>1</a:t>
            </a:r>
            <a:r>
              <a:rPr lang="vi-VN" sz="2000" smtClean="0">
                <a:solidFill>
                  <a:srgbClr val="FF0000"/>
                </a:solidFill>
              </a:rPr>
              <a:t>*</a:t>
            </a:r>
            <a:r>
              <a:rPr lang="vi-VN" sz="2000" smtClean="0">
                <a:solidFill>
                  <a:srgbClr val="FF0000"/>
                </a:solidFill>
                <a:sym typeface="Symbol"/>
              </a:rPr>
              <a:t></a:t>
            </a:r>
            <a:r>
              <a:rPr lang="vi-VN" sz="2000" smtClean="0">
                <a:solidFill>
                  <a:srgbClr val="FF0000"/>
                </a:solidFill>
              </a:rPr>
              <a:t> </a:t>
            </a:r>
            <a:r>
              <a:rPr lang="vi-VN" sz="2000">
                <a:solidFill>
                  <a:srgbClr val="FF0000"/>
                </a:solidFill>
              </a:rPr>
              <a:t>= </a:t>
            </a:r>
            <a:r>
              <a:rPr lang="vi-VN" sz="2000" smtClean="0">
                <a:solidFill>
                  <a:srgbClr val="FF0000"/>
                </a:solidFill>
                <a:sym typeface="Symbol"/>
              </a:rPr>
              <a:t></a:t>
            </a:r>
            <a:r>
              <a:rPr lang="vi-VN" sz="2000" smtClean="0"/>
              <a:t>. </a:t>
            </a:r>
            <a:r>
              <a:rPr lang="vi-VN" sz="2000"/>
              <a:t>Kết nối tập rỗng với bất kỳ tập nào thì kết quả đều là tập rỗng. </a:t>
            </a:r>
          </a:p>
          <a:p>
            <a:r>
              <a:rPr lang="en-US" sz="2000"/>
              <a:t>11</a:t>
            </a:r>
            <a:r>
              <a:rPr lang="en-US" sz="2000"/>
              <a:t>. </a:t>
            </a:r>
            <a:r>
              <a:rPr lang="en-US" sz="2000" smtClean="0">
                <a:solidFill>
                  <a:srgbClr val="FF0000"/>
                </a:solidFill>
                <a:sym typeface="Symbol"/>
              </a:rPr>
              <a:t></a:t>
            </a:r>
            <a:r>
              <a:rPr lang="en-US" sz="2000" smtClean="0">
                <a:solidFill>
                  <a:srgbClr val="FF0000"/>
                </a:solidFill>
              </a:rPr>
              <a:t>* </a:t>
            </a:r>
            <a:r>
              <a:rPr lang="en-US" sz="2000">
                <a:solidFill>
                  <a:srgbClr val="FF0000"/>
                </a:solidFill>
              </a:rPr>
              <a:t>= </a:t>
            </a:r>
            <a:r>
              <a:rPr lang="en-US" sz="2000" smtClean="0">
                <a:solidFill>
                  <a:srgbClr val="FF0000"/>
                </a:solidFill>
              </a:rPr>
              <a:t>{</a:t>
            </a:r>
            <a:r>
              <a:rPr lang="en-US" sz="2000" smtClean="0">
                <a:solidFill>
                  <a:srgbClr val="FF0000"/>
                </a:solidFill>
                <a:sym typeface="Symbol"/>
              </a:rPr>
              <a:t></a:t>
            </a:r>
            <a:r>
              <a:rPr lang="en-US" sz="2000" smtClean="0">
                <a:solidFill>
                  <a:srgbClr val="FF0000"/>
                </a:solidFill>
              </a:rPr>
              <a:t>}</a:t>
            </a:r>
            <a:r>
              <a:rPr lang="en-US" sz="2000" smtClean="0"/>
              <a:t>. </a:t>
            </a:r>
            <a:endParaRPr lang="en-US" sz="2000"/>
          </a:p>
          <a:p>
            <a:endParaRPr lang="en-US" sz="2000"/>
          </a:p>
          <a:p>
            <a:endParaRPr lang="en-US" sz="2000"/>
          </a:p>
        </p:txBody>
      </p:sp>
      <p:sp>
        <p:nvSpPr>
          <p:cNvPr id="4" name="TextBox 3"/>
          <p:cNvSpPr txBox="1"/>
          <p:nvPr/>
        </p:nvSpPr>
        <p:spPr>
          <a:xfrm>
            <a:off x="2472744" y="218941"/>
            <a:ext cx="4752304" cy="400110"/>
          </a:xfrm>
          <a:prstGeom prst="rect">
            <a:avLst/>
          </a:prstGeom>
          <a:noFill/>
        </p:spPr>
        <p:txBody>
          <a:bodyPr wrap="square" rtlCol="0">
            <a:spAutoFit/>
          </a:bodyPr>
          <a:lstStyle/>
          <a:p>
            <a:r>
              <a:rPr lang="en-US" sz="2000" smtClean="0"/>
              <a:t>Cho bảng chữ cái </a:t>
            </a:r>
            <a:r>
              <a:rPr lang="en-US" sz="2000" smtClean="0">
                <a:sym typeface="Symbol"/>
              </a:rPr>
              <a:t> = {0,1)</a:t>
            </a:r>
            <a:endParaRPr lang="en-US" sz="2000"/>
          </a:p>
        </p:txBody>
      </p:sp>
    </p:spTree>
    <p:extLst>
      <p:ext uri="{BB962C8B-B14F-4D97-AF65-F5344CB8AC3E}">
        <p14:creationId xmlns:p14="http://schemas.microsoft.com/office/powerpoint/2010/main" val="2722487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b="1" smtClean="0"/>
              <a:t>3. Ngôn </a:t>
            </a:r>
            <a:r>
              <a:rPr lang="es-MX" b="1"/>
              <a:t>ngữ chính quy và biểu thức chính quy </a:t>
            </a:r>
            <a:r>
              <a:rPr lang="en-US" b="1"/>
              <a:t/>
            </a:r>
            <a:br>
              <a:rPr lang="en-US" b="1"/>
            </a:br>
            <a:endParaRPr lang="en-US"/>
          </a:p>
        </p:txBody>
      </p:sp>
      <p:sp>
        <p:nvSpPr>
          <p:cNvPr id="3" name="Content Placeholder 2"/>
          <p:cNvSpPr>
            <a:spLocks noGrp="1"/>
          </p:cNvSpPr>
          <p:nvPr>
            <p:ph idx="1"/>
          </p:nvPr>
        </p:nvSpPr>
        <p:spPr>
          <a:xfrm>
            <a:off x="2592925" y="1820779"/>
            <a:ext cx="8915400" cy="4724400"/>
          </a:xfrm>
        </p:spPr>
        <p:txBody>
          <a:bodyPr>
            <a:normAutofit lnSpcReduction="10000"/>
          </a:bodyPr>
          <a:lstStyle/>
          <a:p>
            <a:r>
              <a:rPr lang="es-MX">
                <a:solidFill>
                  <a:srgbClr val="FF0000"/>
                </a:solidFill>
              </a:rPr>
              <a:t>B</a:t>
            </a:r>
            <a:r>
              <a:rPr lang="es-MX" smtClean="0">
                <a:solidFill>
                  <a:srgbClr val="FF0000"/>
                </a:solidFill>
              </a:rPr>
              <a:t>iểu </a:t>
            </a:r>
            <a:r>
              <a:rPr lang="es-MX">
                <a:solidFill>
                  <a:srgbClr val="FF0000"/>
                </a:solidFill>
              </a:rPr>
              <a:t>thức chính </a:t>
            </a:r>
            <a:r>
              <a:rPr lang="es-MX" smtClean="0">
                <a:solidFill>
                  <a:srgbClr val="FF0000"/>
                </a:solidFill>
              </a:rPr>
              <a:t>quy</a:t>
            </a:r>
            <a:r>
              <a:rPr lang="es-MX" smtClean="0"/>
              <a:t> là </a:t>
            </a:r>
            <a:r>
              <a:rPr lang="es-MX"/>
              <a:t>công cụ để biểu diễn các </a:t>
            </a:r>
            <a:r>
              <a:rPr lang="es-MX">
                <a:solidFill>
                  <a:srgbClr val="FF0000"/>
                </a:solidFill>
              </a:rPr>
              <a:t>ngôn ngữ chính quy</a:t>
            </a:r>
            <a:r>
              <a:rPr lang="es-MX" smtClean="0"/>
              <a:t>.</a:t>
            </a:r>
          </a:p>
          <a:p>
            <a:endParaRPr lang="es-MX"/>
          </a:p>
          <a:p>
            <a:endParaRPr lang="es-MX" smtClean="0"/>
          </a:p>
          <a:p>
            <a:pPr>
              <a:lnSpc>
                <a:spcPct val="150000"/>
              </a:lnSpc>
            </a:pPr>
            <a:r>
              <a:rPr lang="es-MX" b="1" i="1"/>
              <a:t>Định nghĩa 3.1</a:t>
            </a:r>
            <a:r>
              <a:rPr lang="es-MX"/>
              <a:t> Cho bảng chữ cái </a:t>
            </a:r>
            <a:r>
              <a:rPr lang="en-US"/>
              <a:t>Σ</a:t>
            </a:r>
            <a:r>
              <a:rPr lang="es-MX"/>
              <a:t> = {a</a:t>
            </a:r>
            <a:r>
              <a:rPr lang="es-MX" baseline="-25000"/>
              <a:t>1</a:t>
            </a:r>
            <a:r>
              <a:rPr lang="es-MX"/>
              <a:t>, a</a:t>
            </a:r>
            <a:r>
              <a:rPr lang="es-MX" baseline="-25000"/>
              <a:t>2</a:t>
            </a:r>
            <a:r>
              <a:rPr lang="es-MX"/>
              <a:t>, …, a</a:t>
            </a:r>
            <a:r>
              <a:rPr lang="es-MX" baseline="-25000"/>
              <a:t>n</a:t>
            </a:r>
            <a:r>
              <a:rPr lang="es-MX"/>
              <a:t>}, khi đó </a:t>
            </a:r>
            <a:r>
              <a:rPr lang="es-MX">
                <a:solidFill>
                  <a:srgbClr val="FF0000"/>
                </a:solidFill>
              </a:rPr>
              <a:t>ngôn ngữ chính quy  </a:t>
            </a:r>
            <a:r>
              <a:rPr lang="es-MX" i="1">
                <a:solidFill>
                  <a:srgbClr val="FF0000"/>
                </a:solidFill>
              </a:rPr>
              <a:t>(regular languages)</a:t>
            </a:r>
            <a:r>
              <a:rPr lang="es-MX"/>
              <a:t> được định nghĩa đệ quy như sau:  </a:t>
            </a:r>
            <a:endParaRPr lang="en-US"/>
          </a:p>
          <a:p>
            <a:pPr marL="0" indent="0">
              <a:lnSpc>
                <a:spcPct val="150000"/>
              </a:lnSpc>
              <a:buNone/>
            </a:pPr>
            <a:r>
              <a:rPr lang="es-MX" smtClean="0"/>
              <a:t>	 </a:t>
            </a:r>
            <a:r>
              <a:rPr lang="es-MX"/>
              <a:t>1</a:t>
            </a:r>
            <a:r>
              <a:rPr lang="es-MX" smtClean="0"/>
              <a:t>/ </a:t>
            </a:r>
            <a:r>
              <a:rPr lang="es-MX"/>
              <a:t>Các ngôn ngữ ∅ và {a</a:t>
            </a:r>
            <a:r>
              <a:rPr lang="es-MX" baseline="-25000"/>
              <a:t>i</a:t>
            </a:r>
            <a:r>
              <a:rPr lang="es-MX"/>
              <a:t>} ( i = 1, 2, …, n) được gọi là các ngôn ngữ chính quy trên bảng chữ cái </a:t>
            </a:r>
            <a:r>
              <a:rPr lang="en-US"/>
              <a:t>Σ</a:t>
            </a:r>
            <a:r>
              <a:rPr lang="es-MX" smtClean="0"/>
              <a:t>.</a:t>
            </a:r>
            <a:endParaRPr lang="en-US"/>
          </a:p>
          <a:p>
            <a:pPr marL="457200" lvl="1" indent="0">
              <a:lnSpc>
                <a:spcPct val="150000"/>
              </a:lnSpc>
              <a:buNone/>
            </a:pPr>
            <a:r>
              <a:rPr lang="es-MX" smtClean="0"/>
              <a:t>2/  </a:t>
            </a:r>
            <a:r>
              <a:rPr lang="es-MX"/>
              <a:t>Nếu R và S là hai ngôn ngữ chính quy trên bảng chữ cái </a:t>
            </a:r>
            <a:r>
              <a:rPr lang="en-US"/>
              <a:t>Σ</a:t>
            </a:r>
            <a:r>
              <a:rPr lang="es-MX"/>
              <a:t> thì R ∪ S; R.S; R</a:t>
            </a:r>
            <a:r>
              <a:rPr lang="es-MX" baseline="30000"/>
              <a:t>+</a:t>
            </a:r>
            <a:r>
              <a:rPr lang="es-MX"/>
              <a:t> (hay S</a:t>
            </a:r>
            <a:r>
              <a:rPr lang="es-MX" baseline="30000"/>
              <a:t>+</a:t>
            </a:r>
            <a:r>
              <a:rPr lang="es-MX"/>
              <a:t>) là các ngôn ngữ chính quy trên bảng chữ cái </a:t>
            </a:r>
            <a:r>
              <a:rPr lang="en-US"/>
              <a:t>Σ</a:t>
            </a:r>
            <a:r>
              <a:rPr lang="es-MX"/>
              <a:t>. </a:t>
            </a:r>
            <a:endParaRPr lang="en-US"/>
          </a:p>
          <a:p>
            <a:pPr marL="0" indent="0">
              <a:lnSpc>
                <a:spcPct val="150000"/>
              </a:lnSpc>
              <a:buNone/>
            </a:pPr>
            <a:r>
              <a:rPr lang="es-MX"/>
              <a:t>	</a:t>
            </a:r>
            <a:r>
              <a:rPr lang="es-MX" smtClean="0"/>
              <a:t>3/ </a:t>
            </a:r>
            <a:r>
              <a:rPr lang="es-MX"/>
              <a:t>Không có các ngôn ngữ chính quy nào khác trên bảng chữ cái </a:t>
            </a:r>
            <a:r>
              <a:rPr lang="en-US"/>
              <a:t>Σ</a:t>
            </a:r>
            <a:r>
              <a:rPr lang="es-MX"/>
              <a:t> ngoài các ngôn ngữ chính quy được định nghĩa như trên. </a:t>
            </a:r>
            <a:endParaRPr lang="es-MX" smtClean="0"/>
          </a:p>
          <a:p>
            <a:endParaRPr lang="en-US"/>
          </a:p>
        </p:txBody>
      </p:sp>
      <p:sp>
        <p:nvSpPr>
          <p:cNvPr id="4" name="Title 1"/>
          <p:cNvSpPr txBox="1">
            <a:spLocks/>
          </p:cNvSpPr>
          <p:nvPr/>
        </p:nvSpPr>
        <p:spPr>
          <a:xfrm>
            <a:off x="2592925" y="2424837"/>
            <a:ext cx="8911687" cy="1088384"/>
          </a:xfrm>
          <a:prstGeom prst="rect">
            <a:avLst/>
          </a:prstGeom>
        </p:spPr>
        <p:txBody>
          <a:bodyPr vert="horz" lIns="91440" tIns="45720" rIns="91440" bIns="45720" rtlCol="0" anchor="t">
            <a:normAutofit fontScale="75000" lnSpcReduction="200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b="1"/>
              <a:t>3.1  Ngôn ngữ chính quy và biểu thức chính quy </a:t>
            </a:r>
            <a:r>
              <a:rPr lang="es-MX"/>
              <a:t> </a:t>
            </a:r>
            <a:r>
              <a:rPr lang="en-US" b="1" smtClean="0"/>
              <a:t/>
            </a:r>
            <a:br>
              <a:rPr lang="en-US" b="1" smtClean="0"/>
            </a:br>
            <a:endParaRPr lang="en-US"/>
          </a:p>
        </p:txBody>
      </p:sp>
    </p:spTree>
    <p:extLst>
      <p:ext uri="{BB962C8B-B14F-4D97-AF65-F5344CB8AC3E}">
        <p14:creationId xmlns:p14="http://schemas.microsoft.com/office/powerpoint/2010/main" val="417717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68442"/>
            <a:ext cx="8915400" cy="5742780"/>
          </a:xfrm>
        </p:spPr>
        <p:txBody>
          <a:bodyPr/>
          <a:lstStyle/>
          <a:p>
            <a:pPr>
              <a:lnSpc>
                <a:spcPct val="150000"/>
              </a:lnSpc>
            </a:pPr>
            <a:r>
              <a:rPr lang="es-MX" b="1" i="1" smtClean="0"/>
              <a:t>Định </a:t>
            </a:r>
            <a:r>
              <a:rPr lang="es-MX" b="1" i="1"/>
              <a:t>lý 3.1  </a:t>
            </a:r>
            <a:r>
              <a:rPr lang="es-MX"/>
              <a:t>Mọi ngôn ngữ chính quy trên bảng chữ cái </a:t>
            </a:r>
            <a:r>
              <a:rPr lang="en-US"/>
              <a:t>Σ</a:t>
            </a:r>
            <a:r>
              <a:rPr lang="es-MX"/>
              <a:t> đều nhận được từ các ngôn ngữ hữu hạn bằng cách áp dụng một số hữu hạn lần các phép toán hợp, nhân ghép và phép lặp. </a:t>
            </a:r>
            <a:endParaRPr lang="en-US"/>
          </a:p>
          <a:p>
            <a:pPr marL="0" indent="0">
              <a:lnSpc>
                <a:spcPct val="150000"/>
              </a:lnSpc>
              <a:buNone/>
            </a:pPr>
            <a:r>
              <a:rPr lang="es-MX" b="1" i="1"/>
              <a:t>Chú ý:</a:t>
            </a:r>
            <a:r>
              <a:rPr lang="es-MX"/>
              <a:t>  </a:t>
            </a:r>
            <a:endParaRPr lang="en-US" b="1" i="1"/>
          </a:p>
          <a:p>
            <a:pPr marL="0" indent="0">
              <a:lnSpc>
                <a:spcPct val="150000"/>
              </a:lnSpc>
              <a:buNone/>
            </a:pPr>
            <a:r>
              <a:rPr lang="es-MX" smtClean="0"/>
              <a:t>	1/  </a:t>
            </a:r>
            <a:r>
              <a:rPr lang="es-MX"/>
              <a:t>Các văn phạm chính quy  không chứa các quy tắc sinh từ rỗng (còn gọi là các quy tắc rỗng, là các quy tắc có dạng A → </a:t>
            </a:r>
            <a:r>
              <a:rPr lang="en-US"/>
              <a:t>ε</a:t>
            </a:r>
            <a:r>
              <a:rPr lang="es-MX"/>
              <a:t>, với A là ký hiệu phụ), vì vậy các ngôn ngữ chính quy cũng không chứa từ rỗng </a:t>
            </a:r>
            <a:r>
              <a:rPr lang="en-US"/>
              <a:t>ε</a:t>
            </a:r>
            <a:r>
              <a:rPr lang="es-MX"/>
              <a:t>. </a:t>
            </a:r>
            <a:endParaRPr lang="en-US"/>
          </a:p>
          <a:p>
            <a:pPr marL="0" indent="0">
              <a:lnSpc>
                <a:spcPct val="150000"/>
              </a:lnSpc>
              <a:buNone/>
            </a:pPr>
            <a:r>
              <a:rPr lang="es-MX" smtClean="0"/>
              <a:t>	2/  </a:t>
            </a:r>
            <a:r>
              <a:rPr lang="es-MX"/>
              <a:t>Ngôn ngữ chính quy suy rộng là các ngôn ngữ chính quy có chứa từ rỗng </a:t>
            </a:r>
            <a:r>
              <a:rPr lang="en-US"/>
              <a:t>ε</a:t>
            </a:r>
            <a:r>
              <a:rPr lang="es-MX"/>
              <a:t>, văn phạm chính quy có chứa quy tắc rỗng được gọi là văn phạm chính quy suy rộng </a:t>
            </a:r>
            <a:endParaRPr lang="en-US"/>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4674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00789"/>
            <a:ext cx="8915400" cy="5610433"/>
          </a:xfrm>
        </p:spPr>
        <p:txBody>
          <a:bodyPr>
            <a:normAutofit/>
          </a:bodyPr>
          <a:lstStyle/>
          <a:p>
            <a:pPr>
              <a:lnSpc>
                <a:spcPct val="150000"/>
              </a:lnSpc>
            </a:pPr>
            <a:r>
              <a:rPr lang="es-MX" b="1" i="1"/>
              <a:t>Định nghĩa 3.2</a:t>
            </a:r>
            <a:r>
              <a:rPr lang="es-MX"/>
              <a:t>  Cho bảng chữ cái </a:t>
            </a:r>
            <a:r>
              <a:rPr lang="en-US"/>
              <a:t>Σ</a:t>
            </a:r>
            <a:r>
              <a:rPr lang="es-MX"/>
              <a:t> = {a</a:t>
            </a:r>
            <a:r>
              <a:rPr lang="es-MX" baseline="-25000"/>
              <a:t>1</a:t>
            </a:r>
            <a:r>
              <a:rPr lang="es-MX"/>
              <a:t>, a</a:t>
            </a:r>
            <a:r>
              <a:rPr lang="es-MX" baseline="-25000"/>
              <a:t>2</a:t>
            </a:r>
            <a:r>
              <a:rPr lang="es-MX"/>
              <a:t>, …, a</a:t>
            </a:r>
            <a:r>
              <a:rPr lang="es-MX" baseline="-25000"/>
              <a:t>n</a:t>
            </a:r>
            <a:r>
              <a:rPr lang="es-MX"/>
              <a:t>}, khi đó </a:t>
            </a:r>
            <a:r>
              <a:rPr lang="es-MX">
                <a:solidFill>
                  <a:srgbClr val="FF0000"/>
                </a:solidFill>
              </a:rPr>
              <a:t>biểu thức chính quy  </a:t>
            </a:r>
            <a:r>
              <a:rPr lang="es-MX" i="1">
                <a:solidFill>
                  <a:srgbClr val="FF0000"/>
                </a:solidFill>
              </a:rPr>
              <a:t>(regular expresions)</a:t>
            </a:r>
            <a:r>
              <a:rPr lang="es-MX"/>
              <a:t> được định nghĩa đệ quy như sau:  </a:t>
            </a:r>
            <a:endParaRPr lang="en-US"/>
          </a:p>
          <a:p>
            <a:pPr marL="0" indent="0">
              <a:lnSpc>
                <a:spcPct val="150000"/>
              </a:lnSpc>
              <a:buNone/>
            </a:pPr>
            <a:r>
              <a:rPr lang="es-MX" smtClean="0"/>
              <a:t>	1/ </a:t>
            </a:r>
            <a:r>
              <a:rPr lang="es-MX"/>
              <a:t>∅ và a (với a ∈ </a:t>
            </a:r>
            <a:r>
              <a:rPr lang="en-US"/>
              <a:t>Σ</a:t>
            </a:r>
            <a:r>
              <a:rPr lang="es-MX"/>
              <a:t>) là các biểu thức chính quy trên bảng chữ cái </a:t>
            </a:r>
            <a:r>
              <a:rPr lang="en-US"/>
              <a:t>Σ</a:t>
            </a:r>
            <a:r>
              <a:rPr lang="es-MX"/>
              <a:t> biểu diễn ngôn ngữ ∅ và ngôn ngữ {a} </a:t>
            </a:r>
            <a:endParaRPr lang="en-US"/>
          </a:p>
          <a:p>
            <a:pPr marL="0" indent="0">
              <a:lnSpc>
                <a:spcPct val="150000"/>
              </a:lnSpc>
              <a:buNone/>
            </a:pPr>
            <a:r>
              <a:rPr lang="es-MX" smtClean="0"/>
              <a:t>	2/  </a:t>
            </a:r>
            <a:r>
              <a:rPr lang="es-MX"/>
              <a:t>Nếu r và s là hai biểu thức chính quy biểu diễn các ngôn ngữ chính quy R và S trên bảng chữ cái </a:t>
            </a:r>
            <a:r>
              <a:rPr lang="en-US"/>
              <a:t>Σ</a:t>
            </a:r>
            <a:r>
              <a:rPr lang="es-MX"/>
              <a:t> thì:  </a:t>
            </a:r>
            <a:endParaRPr lang="en-US"/>
          </a:p>
          <a:p>
            <a:pPr marL="457200" lvl="1" indent="0" fontAlgn="base">
              <a:lnSpc>
                <a:spcPct val="150000"/>
              </a:lnSpc>
              <a:buNone/>
            </a:pPr>
            <a:r>
              <a:rPr lang="es-MX" smtClean="0"/>
              <a:t>	r </a:t>
            </a:r>
            <a:r>
              <a:rPr lang="es-MX"/>
              <a:t>+ s là biểu thức chính quy trên bảng chữ cái </a:t>
            </a:r>
            <a:r>
              <a:rPr lang="en-US"/>
              <a:t>Σ</a:t>
            </a:r>
            <a:r>
              <a:rPr lang="es-MX"/>
              <a:t> biểu diễn ngôn ngữ R ∪ S </a:t>
            </a:r>
            <a:endParaRPr lang="en-US"/>
          </a:p>
          <a:p>
            <a:pPr marL="457200" lvl="1" indent="0" fontAlgn="base">
              <a:lnSpc>
                <a:spcPct val="150000"/>
              </a:lnSpc>
              <a:buNone/>
            </a:pPr>
            <a:r>
              <a:rPr lang="es-MX" smtClean="0"/>
              <a:t>	r.s </a:t>
            </a:r>
            <a:r>
              <a:rPr lang="es-MX"/>
              <a:t>là biểu thức chính quy trên bảng chữ cái </a:t>
            </a:r>
            <a:r>
              <a:rPr lang="en-US"/>
              <a:t>Σ</a:t>
            </a:r>
            <a:r>
              <a:rPr lang="es-MX"/>
              <a:t> biểu diễn ngôn ngữ R.S </a:t>
            </a:r>
            <a:endParaRPr lang="en-US"/>
          </a:p>
          <a:p>
            <a:pPr marL="457200" lvl="1" indent="0" fontAlgn="base">
              <a:lnSpc>
                <a:spcPct val="150000"/>
              </a:lnSpc>
              <a:buNone/>
            </a:pPr>
            <a:r>
              <a:rPr lang="es-MX" smtClean="0"/>
              <a:t>	r</a:t>
            </a:r>
            <a:r>
              <a:rPr lang="es-MX" baseline="30000"/>
              <a:t>+</a:t>
            </a:r>
            <a:r>
              <a:rPr lang="es-MX"/>
              <a:t> (hay s</a:t>
            </a:r>
            <a:r>
              <a:rPr lang="es-MX" baseline="30000"/>
              <a:t>+</a:t>
            </a:r>
            <a:r>
              <a:rPr lang="es-MX"/>
              <a:t>) là biểu thức chính quy trên bảng chữ cái </a:t>
            </a:r>
            <a:r>
              <a:rPr lang="en-US"/>
              <a:t>Σ</a:t>
            </a:r>
            <a:r>
              <a:rPr lang="es-MX"/>
              <a:t> biểu diễn ngôn ngữ R</a:t>
            </a:r>
            <a:r>
              <a:rPr lang="es-MX" baseline="30000"/>
              <a:t>+ </a:t>
            </a:r>
            <a:r>
              <a:rPr lang="es-MX"/>
              <a:t>(hay S</a:t>
            </a:r>
            <a:r>
              <a:rPr lang="es-MX" baseline="30000"/>
              <a:t>+</a:t>
            </a:r>
            <a:r>
              <a:rPr lang="es-MX"/>
              <a:t>) </a:t>
            </a:r>
            <a:endParaRPr lang="en-US"/>
          </a:p>
          <a:p>
            <a:pPr marL="0" indent="0">
              <a:lnSpc>
                <a:spcPct val="150000"/>
              </a:lnSpc>
              <a:buNone/>
            </a:pPr>
            <a:r>
              <a:rPr lang="es-MX" smtClean="0"/>
              <a:t>	3/ </a:t>
            </a:r>
            <a:r>
              <a:rPr lang="es-MX"/>
              <a:t>Không có các biểu thức chính quy nào khác trên bảng chữ cái </a:t>
            </a:r>
            <a:r>
              <a:rPr lang="en-US"/>
              <a:t>Σ</a:t>
            </a:r>
            <a:r>
              <a:rPr lang="es-MX"/>
              <a:t> ngoài các biểu thức chính quy được định nghĩa như trên. </a:t>
            </a:r>
            <a:endParaRPr lang="en-US"/>
          </a:p>
          <a:p>
            <a:pPr>
              <a:lnSpc>
                <a:spcPct val="150000"/>
              </a:lnSpc>
            </a:pPr>
            <a:endParaRPr lang="en-US"/>
          </a:p>
        </p:txBody>
      </p:sp>
    </p:spTree>
    <p:extLst>
      <p:ext uri="{BB962C8B-B14F-4D97-AF65-F5344CB8AC3E}">
        <p14:creationId xmlns:p14="http://schemas.microsoft.com/office/powerpoint/2010/main" val="4060948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i="1"/>
              <a:t>Ví </a:t>
            </a:r>
            <a:r>
              <a:rPr lang="en-US" b="1" i="1"/>
              <a:t>dụ </a:t>
            </a:r>
            <a:r>
              <a:rPr lang="en-US" b="1" i="1" smtClean="0"/>
              <a:t>. </a:t>
            </a:r>
            <a:r>
              <a:rPr lang="vi-VN" smtClean="0"/>
              <a:t>Trình </a:t>
            </a:r>
            <a:r>
              <a:rPr lang="vi-VN"/>
              <a:t>bày ngôn ngữ </a:t>
            </a:r>
            <a:r>
              <a:rPr lang="vi-VN" i="1"/>
              <a:t>L </a:t>
            </a:r>
            <a:r>
              <a:rPr lang="vi-VN"/>
              <a:t>(</a:t>
            </a:r>
            <a:r>
              <a:rPr lang="vi-VN" i="1"/>
              <a:t>a*.</a:t>
            </a:r>
            <a:r>
              <a:rPr lang="vi-VN"/>
              <a:t>(</a:t>
            </a:r>
            <a:r>
              <a:rPr lang="vi-VN" i="1"/>
              <a:t>a+b</a:t>
            </a:r>
            <a:r>
              <a:rPr lang="vi-VN"/>
              <a:t>)) dưới dạng tập hợp. </a:t>
            </a:r>
          </a:p>
          <a:p>
            <a:pPr marL="0" indent="0">
              <a:buNone/>
            </a:pPr>
            <a:r>
              <a:rPr lang="pt-BR" i="1" smtClean="0"/>
              <a:t>	L </a:t>
            </a:r>
            <a:r>
              <a:rPr lang="pt-BR"/>
              <a:t>(</a:t>
            </a:r>
            <a:r>
              <a:rPr lang="pt-BR" i="1"/>
              <a:t>a* . </a:t>
            </a:r>
            <a:r>
              <a:rPr lang="pt-BR"/>
              <a:t>(</a:t>
            </a:r>
            <a:r>
              <a:rPr lang="pt-BR" i="1"/>
              <a:t>a + b</a:t>
            </a:r>
            <a:r>
              <a:rPr lang="pt-BR"/>
              <a:t>)) </a:t>
            </a:r>
            <a:r>
              <a:rPr lang="pt-BR" smtClean="0"/>
              <a:t>	</a:t>
            </a:r>
            <a:r>
              <a:rPr lang="pt-BR" i="1" smtClean="0"/>
              <a:t>= </a:t>
            </a:r>
            <a:r>
              <a:rPr lang="pt-BR" i="1"/>
              <a:t>L</a:t>
            </a:r>
            <a:r>
              <a:rPr lang="pt-BR"/>
              <a:t>(</a:t>
            </a:r>
            <a:r>
              <a:rPr lang="pt-BR" i="1"/>
              <a:t>a*</a:t>
            </a:r>
            <a:r>
              <a:rPr lang="pt-BR"/>
              <a:t>) </a:t>
            </a:r>
            <a:r>
              <a:rPr lang="pt-BR" i="1"/>
              <a:t>L</a:t>
            </a:r>
            <a:r>
              <a:rPr lang="pt-BR"/>
              <a:t>(</a:t>
            </a:r>
            <a:r>
              <a:rPr lang="pt-BR" i="1"/>
              <a:t>a + b</a:t>
            </a:r>
            <a:r>
              <a:rPr lang="pt-BR"/>
              <a:t>) </a:t>
            </a:r>
            <a:r>
              <a:rPr lang="pt-BR" smtClean="0"/>
              <a:t>	</a:t>
            </a:r>
          </a:p>
          <a:p>
            <a:pPr marL="0" indent="0">
              <a:buNone/>
            </a:pPr>
            <a:r>
              <a:rPr lang="pt-BR"/>
              <a:t>	</a:t>
            </a:r>
            <a:r>
              <a:rPr lang="pt-BR" smtClean="0"/>
              <a:t>			   	</a:t>
            </a:r>
            <a:r>
              <a:rPr lang="en-US" smtClean="0"/>
              <a:t>= </a:t>
            </a:r>
            <a:r>
              <a:rPr lang="en-US"/>
              <a:t>(L(a))* (L(a</a:t>
            </a:r>
            <a:r>
              <a:rPr lang="en-US"/>
              <a:t>) </a:t>
            </a:r>
            <a:r>
              <a:rPr lang="en-US" smtClean="0">
                <a:sym typeface="Symbol"/>
              </a:rPr>
              <a:t></a:t>
            </a:r>
            <a:r>
              <a:rPr lang="en-US" smtClean="0"/>
              <a:t> </a:t>
            </a:r>
            <a:r>
              <a:rPr lang="en-US"/>
              <a:t>L(b)) </a:t>
            </a:r>
          </a:p>
          <a:p>
            <a:pPr marL="0" indent="0">
              <a:buNone/>
            </a:pPr>
            <a:r>
              <a:rPr lang="en-US" smtClean="0"/>
              <a:t>					= {</a:t>
            </a:r>
            <a:r>
              <a:rPr lang="en-US" smtClean="0">
                <a:sym typeface="Symbol"/>
              </a:rPr>
              <a:t></a:t>
            </a:r>
            <a:r>
              <a:rPr lang="en-US" smtClean="0"/>
              <a:t>, </a:t>
            </a:r>
            <a:r>
              <a:rPr lang="en-US"/>
              <a:t>a, aa, aaa,…}{a, b} </a:t>
            </a:r>
          </a:p>
          <a:p>
            <a:pPr marL="0" indent="0">
              <a:buNone/>
            </a:pPr>
            <a:r>
              <a:rPr lang="en-US" smtClean="0"/>
              <a:t>					= </a:t>
            </a:r>
            <a:r>
              <a:rPr lang="en-US"/>
              <a:t>{a, b, aa, ab, aaa, aab, aaaa, aaab, …}</a:t>
            </a:r>
            <a:endParaRPr lang="en-US"/>
          </a:p>
        </p:txBody>
      </p:sp>
      <p:sp>
        <p:nvSpPr>
          <p:cNvPr id="4" name="Rectangle 3"/>
          <p:cNvSpPr/>
          <p:nvPr/>
        </p:nvSpPr>
        <p:spPr>
          <a:xfrm>
            <a:off x="2545724" y="346381"/>
            <a:ext cx="6096000" cy="1631216"/>
          </a:xfrm>
          <a:prstGeom prst="rect">
            <a:avLst/>
          </a:prstGeom>
        </p:spPr>
        <p:txBody>
          <a:bodyPr>
            <a:spAutoFit/>
          </a:bodyPr>
          <a:lstStyle/>
          <a:p>
            <a:r>
              <a:rPr lang="pt-BR" sz="2000"/>
              <a:t>Nếu </a:t>
            </a:r>
            <a:r>
              <a:rPr lang="pt-BR" sz="2000" i="1"/>
              <a:t>r</a:t>
            </a:r>
            <a:r>
              <a:rPr lang="pt-BR" sz="2000" baseline="-25000"/>
              <a:t>1</a:t>
            </a:r>
            <a:r>
              <a:rPr lang="pt-BR" sz="2000"/>
              <a:t> và </a:t>
            </a:r>
            <a:r>
              <a:rPr lang="pt-BR" sz="2000" i="1"/>
              <a:t>r</a:t>
            </a:r>
            <a:r>
              <a:rPr lang="pt-BR" sz="2000" baseline="-25000"/>
              <a:t>2</a:t>
            </a:r>
            <a:r>
              <a:rPr lang="pt-BR" sz="2000"/>
              <a:t> là các BTCQ thì: </a:t>
            </a:r>
          </a:p>
          <a:p>
            <a:r>
              <a:rPr lang="pt-BR" sz="2000"/>
              <a:t>	</a:t>
            </a:r>
            <a:r>
              <a:rPr lang="pt-BR" sz="2000" smtClean="0"/>
              <a:t>L(r</a:t>
            </a:r>
            <a:r>
              <a:rPr lang="pt-BR" sz="2000" baseline="-25000" smtClean="0"/>
              <a:t>1</a:t>
            </a:r>
            <a:r>
              <a:rPr lang="pt-BR" sz="2000"/>
              <a:t>+ r</a:t>
            </a:r>
            <a:r>
              <a:rPr lang="pt-BR" sz="2000" baseline="-25000"/>
              <a:t>2</a:t>
            </a:r>
            <a:r>
              <a:rPr lang="pt-BR" sz="2000"/>
              <a:t>) = L(r</a:t>
            </a:r>
            <a:r>
              <a:rPr lang="pt-BR" sz="2000" baseline="-25000"/>
              <a:t>1</a:t>
            </a:r>
            <a:r>
              <a:rPr lang="pt-BR" sz="2000"/>
              <a:t>) </a:t>
            </a:r>
            <a:r>
              <a:rPr lang="pt-BR" sz="2000" smtClean="0">
                <a:sym typeface="Symbol"/>
              </a:rPr>
              <a:t></a:t>
            </a:r>
            <a:r>
              <a:rPr lang="pt-BR" sz="2000" smtClean="0"/>
              <a:t> </a:t>
            </a:r>
            <a:r>
              <a:rPr lang="pt-BR" sz="2000"/>
              <a:t>L(r</a:t>
            </a:r>
            <a:r>
              <a:rPr lang="pt-BR" sz="2000" baseline="-25000"/>
              <a:t>2</a:t>
            </a:r>
            <a:r>
              <a:rPr lang="pt-BR" sz="2000"/>
              <a:t>). </a:t>
            </a:r>
          </a:p>
          <a:p>
            <a:r>
              <a:rPr lang="pt-BR" sz="2000"/>
              <a:t>	</a:t>
            </a:r>
            <a:r>
              <a:rPr lang="pt-BR" sz="2000" smtClean="0"/>
              <a:t>L(r</a:t>
            </a:r>
            <a:r>
              <a:rPr lang="pt-BR" sz="2000" baseline="-25000" smtClean="0"/>
              <a:t>1</a:t>
            </a:r>
            <a:r>
              <a:rPr lang="pt-BR" sz="2000"/>
              <a:t>. r</a:t>
            </a:r>
            <a:r>
              <a:rPr lang="pt-BR" sz="2000" baseline="-25000"/>
              <a:t>2</a:t>
            </a:r>
            <a:r>
              <a:rPr lang="pt-BR" sz="2000"/>
              <a:t>) = L(r</a:t>
            </a:r>
            <a:r>
              <a:rPr lang="pt-BR" sz="2000" baseline="-25000"/>
              <a:t>1</a:t>
            </a:r>
            <a:r>
              <a:rPr lang="pt-BR" sz="2000"/>
              <a:t>) L(r</a:t>
            </a:r>
            <a:r>
              <a:rPr lang="pt-BR" sz="2000" baseline="-25000"/>
              <a:t>2</a:t>
            </a:r>
            <a:r>
              <a:rPr lang="pt-BR" sz="2000"/>
              <a:t>). </a:t>
            </a:r>
          </a:p>
          <a:p>
            <a:r>
              <a:rPr lang="pt-BR" sz="2000"/>
              <a:t>	</a:t>
            </a:r>
            <a:r>
              <a:rPr lang="pt-BR" sz="2000" smtClean="0"/>
              <a:t>L </a:t>
            </a:r>
            <a:r>
              <a:rPr lang="pt-BR" sz="2000"/>
              <a:t>((r</a:t>
            </a:r>
            <a:r>
              <a:rPr lang="pt-BR" sz="2000" baseline="-25000"/>
              <a:t>1</a:t>
            </a:r>
            <a:r>
              <a:rPr lang="pt-BR" sz="2000"/>
              <a:t>)) = L (r</a:t>
            </a:r>
            <a:r>
              <a:rPr lang="pt-BR" sz="2000" baseline="-25000"/>
              <a:t>1</a:t>
            </a:r>
            <a:r>
              <a:rPr lang="pt-BR" sz="2000"/>
              <a:t>). </a:t>
            </a:r>
          </a:p>
          <a:p>
            <a:r>
              <a:rPr lang="en-US" sz="2000"/>
              <a:t>	</a:t>
            </a:r>
            <a:r>
              <a:rPr lang="en-US" sz="2000" smtClean="0"/>
              <a:t>L </a:t>
            </a:r>
            <a:r>
              <a:rPr lang="en-US" sz="2000"/>
              <a:t>(r</a:t>
            </a:r>
            <a:r>
              <a:rPr lang="en-US" sz="2000" baseline="-25000"/>
              <a:t>1</a:t>
            </a:r>
            <a:r>
              <a:rPr lang="en-US" sz="2000"/>
              <a:t>*) = (L(r</a:t>
            </a:r>
            <a:r>
              <a:rPr lang="en-US" sz="2000" baseline="-25000"/>
              <a:t>1</a:t>
            </a:r>
            <a:r>
              <a:rPr lang="en-US" sz="2000"/>
              <a:t>))*. </a:t>
            </a:r>
          </a:p>
        </p:txBody>
      </p:sp>
    </p:spTree>
    <p:extLst>
      <p:ext uri="{BB962C8B-B14F-4D97-AF65-F5344CB8AC3E}">
        <p14:creationId xmlns:p14="http://schemas.microsoft.com/office/powerpoint/2010/main" val="3938157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1" y="264695"/>
            <a:ext cx="9454399" cy="6509084"/>
          </a:xfrm>
        </p:spPr>
        <p:txBody>
          <a:bodyPr>
            <a:normAutofit fontScale="92500" lnSpcReduction="10000"/>
          </a:bodyPr>
          <a:lstStyle/>
          <a:p>
            <a:r>
              <a:rPr lang="es-MX" b="1" i="1"/>
              <a:t>Định lý 3.2</a:t>
            </a:r>
            <a:r>
              <a:rPr lang="es-MX"/>
              <a:t>  Một ngôn ngữ trên bảng chữ cái </a:t>
            </a:r>
            <a:r>
              <a:rPr lang="en-US"/>
              <a:t>Σ</a:t>
            </a:r>
            <a:r>
              <a:rPr lang="es-MX"/>
              <a:t> là chính quy khi và chỉ khi nó được biểu diễn được bằng một biểu thức chính quy. </a:t>
            </a:r>
            <a:endParaRPr lang="es-MX" smtClean="0"/>
          </a:p>
          <a:p>
            <a:pPr marL="0" indent="0">
              <a:buNone/>
            </a:pPr>
            <a:r>
              <a:rPr lang="es-MX" b="1" i="1"/>
              <a:t>Chú ý:</a:t>
            </a:r>
            <a:r>
              <a:rPr lang="es-MX"/>
              <a:t> </a:t>
            </a:r>
            <a:endParaRPr lang="en-US" b="1" i="1"/>
          </a:p>
          <a:p>
            <a:pPr marL="0" indent="0">
              <a:buNone/>
            </a:pPr>
            <a:r>
              <a:rPr lang="es-MX" smtClean="0"/>
              <a:t>	1</a:t>
            </a:r>
            <a:r>
              <a:rPr lang="es-MX"/>
              <a:t>/.  Biểu thức chính quy suy rộng chấp nhận </a:t>
            </a:r>
            <a:r>
              <a:rPr lang="en-US"/>
              <a:t>ε</a:t>
            </a:r>
            <a:r>
              <a:rPr lang="es-MX"/>
              <a:t> là biểu thức chính quy biểu diễn ngôn ngữ {</a:t>
            </a:r>
            <a:r>
              <a:rPr lang="en-US"/>
              <a:t>ε</a:t>
            </a:r>
            <a:r>
              <a:rPr lang="es-MX"/>
              <a:t>}, và chấp nhận phép toán lặp (*), tức là nếu r là biểu thức chính quy biểu diễn ngôn ngữ chính quy R thì r</a:t>
            </a:r>
            <a:r>
              <a:rPr lang="es-MX" baseline="30000"/>
              <a:t>*</a:t>
            </a:r>
            <a:r>
              <a:rPr lang="es-MX"/>
              <a:t> là biểu thức chính quy suy rộng biểu diễn ngôn ngữ chính quy suy rộng </a:t>
            </a:r>
            <a:r>
              <a:rPr lang="es-MX" smtClean="0"/>
              <a:t>R</a:t>
            </a:r>
          </a:p>
          <a:p>
            <a:pPr marL="0" indent="0">
              <a:buNone/>
            </a:pPr>
            <a:r>
              <a:rPr lang="es-MX" smtClean="0"/>
              <a:t>	2</a:t>
            </a:r>
            <a:r>
              <a:rPr lang="es-MX"/>
              <a:t>/.  Trong các biểu thức chính quy ta có thể bỏ qua các dấu ngoặc và quy ước thứ tự các phép toán là </a:t>
            </a:r>
            <a:r>
              <a:rPr lang="es-MX">
                <a:solidFill>
                  <a:srgbClr val="FF0000"/>
                </a:solidFill>
              </a:rPr>
              <a:t>phép lặp, phép nhân ghép và cuối cùng là các phép hợp</a:t>
            </a:r>
            <a:r>
              <a:rPr lang="es-MX"/>
              <a:t>.   </a:t>
            </a:r>
            <a:endParaRPr lang="en-US"/>
          </a:p>
          <a:p>
            <a:pPr marL="0" indent="0">
              <a:buNone/>
            </a:pPr>
            <a:r>
              <a:rPr lang="es-MX" smtClean="0"/>
              <a:t>	Nếu </a:t>
            </a:r>
            <a:r>
              <a:rPr lang="es-MX"/>
              <a:t>r, s, t là các biểu thức chính quy thì ta có các kết quả sau: </a:t>
            </a:r>
            <a:endParaRPr lang="en-US"/>
          </a:p>
          <a:p>
            <a:pPr marL="0" lvl="0" indent="0" fontAlgn="base">
              <a:buNone/>
            </a:pPr>
            <a:r>
              <a:rPr lang="en-US" smtClean="0"/>
              <a:t>		r+s </a:t>
            </a:r>
            <a:r>
              <a:rPr lang="en-US"/>
              <a:t>= s+r, </a:t>
            </a:r>
          </a:p>
          <a:p>
            <a:pPr marL="0" lvl="0" indent="0" fontAlgn="base">
              <a:buNone/>
            </a:pPr>
            <a:r>
              <a:rPr lang="en-US" smtClean="0"/>
              <a:t>		(</a:t>
            </a:r>
            <a:r>
              <a:rPr lang="en-US"/>
              <a:t>r+s)+t = r+(s+t), </a:t>
            </a:r>
          </a:p>
          <a:p>
            <a:pPr marL="0" lvl="0" indent="0" fontAlgn="base">
              <a:buNone/>
            </a:pPr>
            <a:r>
              <a:rPr lang="en-US" smtClean="0"/>
              <a:t>		r+r </a:t>
            </a:r>
            <a:r>
              <a:rPr lang="en-US"/>
              <a:t>= r, </a:t>
            </a:r>
          </a:p>
          <a:p>
            <a:pPr marL="0" lvl="0" indent="0" fontAlgn="base">
              <a:buNone/>
            </a:pPr>
            <a:r>
              <a:rPr lang="en-US" smtClean="0"/>
              <a:t>		(</a:t>
            </a:r>
            <a:r>
              <a:rPr lang="en-US"/>
              <a:t>rs)t = r(st), </a:t>
            </a:r>
          </a:p>
          <a:p>
            <a:pPr marL="0" lvl="0" indent="0" fontAlgn="base">
              <a:buNone/>
            </a:pPr>
            <a:r>
              <a:rPr lang="en-US" smtClean="0"/>
              <a:t>		r(s+t</a:t>
            </a:r>
            <a:r>
              <a:rPr lang="en-US"/>
              <a:t>) = rs+rt, (s+t)r = sr+tr, </a:t>
            </a:r>
          </a:p>
          <a:p>
            <a:pPr marL="0" lvl="0" indent="0" fontAlgn="base">
              <a:buNone/>
            </a:pPr>
            <a:r>
              <a:rPr lang="en-US" smtClean="0"/>
              <a:t>		∅</a:t>
            </a:r>
            <a:r>
              <a:rPr lang="en-US" baseline="30000"/>
              <a:t>*</a:t>
            </a:r>
            <a:r>
              <a:rPr lang="en-US"/>
              <a:t> = ε, </a:t>
            </a:r>
          </a:p>
          <a:p>
            <a:pPr marL="0" lvl="0" indent="0" fontAlgn="base">
              <a:buNone/>
            </a:pPr>
            <a:r>
              <a:rPr lang="en-US" smtClean="0"/>
              <a:t>		(</a:t>
            </a:r>
            <a:r>
              <a:rPr lang="en-US"/>
              <a:t>r</a:t>
            </a:r>
            <a:r>
              <a:rPr lang="en-US" baseline="30000"/>
              <a:t>*</a:t>
            </a:r>
            <a:r>
              <a:rPr lang="en-US"/>
              <a:t>)</a:t>
            </a:r>
            <a:r>
              <a:rPr lang="en-US" baseline="30000"/>
              <a:t>*</a:t>
            </a:r>
            <a:r>
              <a:rPr lang="en-US"/>
              <a:t> = r</a:t>
            </a:r>
            <a:r>
              <a:rPr lang="en-US" baseline="30000"/>
              <a:t>*</a:t>
            </a:r>
            <a:r>
              <a:rPr lang="en-US"/>
              <a:t>, (r</a:t>
            </a:r>
            <a:r>
              <a:rPr lang="en-US" baseline="30000"/>
              <a:t>+</a:t>
            </a:r>
            <a:r>
              <a:rPr lang="en-US"/>
              <a:t>)</a:t>
            </a:r>
            <a:r>
              <a:rPr lang="en-US" baseline="30000"/>
              <a:t> +</a:t>
            </a:r>
            <a:r>
              <a:rPr lang="en-US"/>
              <a:t> = r</a:t>
            </a:r>
            <a:r>
              <a:rPr lang="en-US" baseline="30000"/>
              <a:t>+</a:t>
            </a:r>
            <a:r>
              <a:rPr lang="en-US"/>
              <a:t> </a:t>
            </a:r>
            <a:endParaRPr lang="en-US" smtClean="0"/>
          </a:p>
          <a:p>
            <a:pPr marL="0" lvl="0" indent="0" fontAlgn="base">
              <a:buNone/>
            </a:pPr>
            <a:r>
              <a:rPr lang="en-US" smtClean="0"/>
              <a:t>		rr</a:t>
            </a:r>
            <a:r>
              <a:rPr lang="en-US" baseline="30000" smtClean="0"/>
              <a:t>*+</a:t>
            </a:r>
            <a:r>
              <a:rPr lang="en-US"/>
              <a:t> </a:t>
            </a:r>
            <a:r>
              <a:rPr lang="en-US" smtClean="0"/>
              <a:t>ε=r</a:t>
            </a:r>
            <a:r>
              <a:rPr lang="en-US" baseline="30000" smtClean="0"/>
              <a:t>*</a:t>
            </a:r>
            <a:endParaRPr lang="en-US" smtClean="0"/>
          </a:p>
          <a:p>
            <a:pPr marL="0" lvl="0" indent="0" fontAlgn="base">
              <a:buNone/>
            </a:pPr>
            <a:r>
              <a:rPr lang="en-US" smtClean="0"/>
              <a:t>		(</a:t>
            </a:r>
            <a:r>
              <a:rPr lang="en-US" smtClean="0"/>
              <a:t>R*s*)*=(r+s)*</a:t>
            </a:r>
            <a:endParaRPr lang="en-US" baseline="30000"/>
          </a:p>
          <a:p>
            <a:endParaRPr lang="en-US"/>
          </a:p>
        </p:txBody>
      </p:sp>
    </p:spTree>
    <p:extLst>
      <p:ext uri="{BB962C8B-B14F-4D97-AF65-F5344CB8AC3E}">
        <p14:creationId xmlns:p14="http://schemas.microsoft.com/office/powerpoint/2010/main" val="232326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515155"/>
                <a:ext cx="8915400" cy="5396067"/>
              </a:xfrm>
            </p:spPr>
            <p:txBody>
              <a:bodyPr>
                <a:normAutofit lnSpcReduction="10000"/>
              </a:bodyPr>
              <a:lstStyle/>
              <a:p>
                <a:r>
                  <a:rPr lang="en-US" b="1" smtClean="0"/>
                  <a:t>Định nghĩa 3.3</a:t>
                </a:r>
                <a:r>
                  <a:rPr lang="en-US" smtClean="0"/>
                  <a:t>. </a:t>
                </a:r>
                <a:r>
                  <a:rPr lang="vi-VN" smtClean="0"/>
                  <a:t>Tập</a:t>
                </a:r>
                <a:r>
                  <a:rPr lang="en-US" smtClean="0"/>
                  <a:t> (ngôn ngữ)</a:t>
                </a:r>
                <a:r>
                  <a:rPr lang="vi-VN" smtClean="0"/>
                  <a:t> </a:t>
                </a:r>
                <a:r>
                  <a:rPr lang="vi-VN"/>
                  <a:t>biểu diễn cho một biểu thức chính qui được gọi là </a:t>
                </a:r>
                <a:r>
                  <a:rPr lang="vi-VN">
                    <a:solidFill>
                      <a:srgbClr val="FF0000"/>
                    </a:solidFill>
                  </a:rPr>
                  <a:t>tập </a:t>
                </a:r>
                <a:r>
                  <a:rPr lang="en-US" smtClean="0">
                    <a:solidFill>
                      <a:srgbClr val="FF0000"/>
                    </a:solidFill>
                  </a:rPr>
                  <a:t>(ngôn ngữ) </a:t>
                </a:r>
                <a:r>
                  <a:rPr lang="vi-VN" smtClean="0">
                    <a:solidFill>
                      <a:srgbClr val="FF0000"/>
                    </a:solidFill>
                  </a:rPr>
                  <a:t>chính </a:t>
                </a:r>
                <a:r>
                  <a:rPr lang="vi-VN">
                    <a:solidFill>
                      <a:srgbClr val="FF0000"/>
                    </a:solidFill>
                  </a:rPr>
                  <a:t>qui</a:t>
                </a:r>
                <a:r>
                  <a:rPr lang="vi-VN"/>
                  <a:t>. Nếu </a:t>
                </a:r>
                <a14:m>
                  <m:oMath xmlns:m="http://schemas.openxmlformats.org/officeDocument/2006/math">
                    <m:r>
                      <a:rPr lang="en-US" b="0" i="1" smtClean="0">
                        <a:latin typeface="Cambria Math"/>
                      </a:rPr>
                      <m:t>𝑎</m:t>
                    </m:r>
                    <m:r>
                      <a:rPr lang="en-US" b="0" i="1" smtClean="0">
                        <a:latin typeface="Cambria Math"/>
                      </a:rPr>
                      <m:t>,</m:t>
                    </m:r>
                    <m:r>
                      <a:rPr lang="en-US" b="0" i="1" smtClean="0">
                        <a:latin typeface="Cambria Math"/>
                      </a:rPr>
                      <m:t>𝑏</m:t>
                    </m:r>
                    <m:r>
                      <a:rPr lang="en-US" b="0" i="1" smtClean="0">
                        <a:latin typeface="Cambria Math"/>
                        <a:ea typeface="Cambria Math"/>
                      </a:rPr>
                      <m:t>∈</m:t>
                    </m:r>
                    <m:r>
                      <m:rPr>
                        <m:sty m:val="p"/>
                      </m:rPr>
                      <a:rPr lang="el-GR" b="0" i="1" smtClean="0">
                        <a:latin typeface="Cambria Math"/>
                        <a:ea typeface="Cambria Math"/>
                      </a:rPr>
                      <m:t>Σ</m:t>
                    </m:r>
                  </m:oMath>
                </a14:m>
                <a:r>
                  <a:rPr lang="en-US" i="1" smtClean="0"/>
                  <a:t> </a:t>
                </a:r>
                <a:r>
                  <a:rPr lang="vi-VN" smtClean="0"/>
                  <a:t> </a:t>
                </a:r>
                <a:r>
                  <a:rPr lang="vi-VN"/>
                  <a:t>thì</a:t>
                </a:r>
                <a:r>
                  <a:rPr lang="en-US" smtClean="0"/>
                  <a:t> </a:t>
                </a:r>
              </a:p>
              <a:p>
                <a:pPr marL="457200" lvl="1" indent="0">
                  <a:buNone/>
                </a:pPr>
                <a:r>
                  <a:rPr lang="en-US"/>
                  <a:t>	</a:t>
                </a:r>
                <a:r>
                  <a:rPr lang="vi-VN" smtClean="0"/>
                  <a:t>1</a:t>
                </a:r>
                <a:r>
                  <a:rPr lang="vi-VN"/>
                  <a:t>. Biểu thức chính qui </a:t>
                </a:r>
                <a:r>
                  <a:rPr lang="vi-VN" b="1"/>
                  <a:t>a </a:t>
                </a:r>
                <a:r>
                  <a:rPr lang="vi-VN"/>
                  <a:t>xác định tập {a}, nói cách khác tập {a} được biểu diễn bởi </a:t>
                </a:r>
                <a:r>
                  <a:rPr lang="vi-VN" b="1"/>
                  <a:t>a, </a:t>
                </a:r>
                <a:endParaRPr lang="vi-VN"/>
              </a:p>
              <a:p>
                <a:pPr marL="457200" lvl="1" indent="0">
                  <a:buNone/>
                </a:pPr>
                <a:r>
                  <a:rPr lang="en-US" smtClean="0"/>
                  <a:t>	</a:t>
                </a:r>
                <a:r>
                  <a:rPr lang="vi-VN" smtClean="0"/>
                  <a:t>2</a:t>
                </a:r>
                <a:r>
                  <a:rPr lang="vi-VN"/>
                  <a:t>. Biểu thức chính qui </a:t>
                </a:r>
                <a:r>
                  <a:rPr lang="vi-VN" b="1"/>
                  <a:t>a + b </a:t>
                </a:r>
                <a:r>
                  <a:rPr lang="vi-VN"/>
                  <a:t>xác định tập {a, b}, hoặc {a, b} được biểu diễn bởi biểu thức </a:t>
                </a:r>
                <a:r>
                  <a:rPr lang="vi-VN" b="1"/>
                  <a:t>a + b </a:t>
                </a:r>
                <a:endParaRPr lang="vi-VN"/>
              </a:p>
              <a:p>
                <a:pPr marL="457200" lvl="1" indent="0">
                  <a:buNone/>
                </a:pPr>
                <a:r>
                  <a:rPr lang="en-US" smtClean="0"/>
                  <a:t>	</a:t>
                </a:r>
                <a:r>
                  <a:rPr lang="vi-VN" smtClean="0"/>
                  <a:t>3</a:t>
                </a:r>
                <a:r>
                  <a:rPr lang="vi-VN"/>
                  <a:t>. Biểu thức chính qui </a:t>
                </a:r>
                <a:r>
                  <a:rPr lang="vi-VN" b="1"/>
                  <a:t>ab </a:t>
                </a:r>
                <a:r>
                  <a:rPr lang="vi-VN"/>
                  <a:t>xác định tập {ab}, hoặc {ab} được biểu diễn bởi biểu thức </a:t>
                </a:r>
                <a:r>
                  <a:rPr lang="vi-VN" b="1"/>
                  <a:t>ab </a:t>
                </a:r>
                <a:endParaRPr lang="vi-VN"/>
              </a:p>
              <a:p>
                <a:pPr marL="457200" lvl="1" indent="0">
                  <a:buNone/>
                </a:pPr>
                <a:r>
                  <a:rPr lang="en-US" smtClean="0"/>
                  <a:t>	</a:t>
                </a:r>
                <a:r>
                  <a:rPr lang="vi-VN" smtClean="0"/>
                  <a:t>4</a:t>
                </a:r>
                <a:r>
                  <a:rPr lang="vi-VN"/>
                  <a:t>. Biểu thức chính qui </a:t>
                </a:r>
                <a:r>
                  <a:rPr lang="vi-VN" b="1"/>
                  <a:t>a* </a:t>
                </a:r>
                <a:r>
                  <a:rPr lang="vi-VN"/>
                  <a:t>xác định tập </a:t>
                </a:r>
                <a:r>
                  <a:rPr lang="vi-VN" smtClean="0"/>
                  <a:t>{</a:t>
                </a:r>
                <a:r>
                  <a:rPr lang="vi-VN" smtClean="0">
                    <a:sym typeface="Symbol"/>
                  </a:rPr>
                  <a:t></a:t>
                </a:r>
                <a:r>
                  <a:rPr lang="vi-VN" smtClean="0"/>
                  <a:t>, </a:t>
                </a:r>
                <a:r>
                  <a:rPr lang="vi-VN"/>
                  <a:t>a, aa, aaa, ...}, hoặc </a:t>
                </a:r>
                <a:r>
                  <a:rPr lang="vi-VN" smtClean="0"/>
                  <a:t>{</a:t>
                </a:r>
                <a:r>
                  <a:rPr lang="vi-VN">
                    <a:sym typeface="Symbol"/>
                  </a:rPr>
                  <a:t></a:t>
                </a:r>
                <a:r>
                  <a:rPr lang="vi-VN" smtClean="0"/>
                  <a:t>, </a:t>
                </a:r>
                <a:r>
                  <a:rPr lang="vi-VN"/>
                  <a:t>a, aa, aaa, ...} được biểu diễn bởi </a:t>
                </a:r>
                <a:r>
                  <a:rPr lang="vi-VN" b="1"/>
                  <a:t>a* </a:t>
                </a:r>
                <a:endParaRPr lang="vi-VN"/>
              </a:p>
              <a:p>
                <a:pPr marL="457200" lvl="1" indent="0">
                  <a:buNone/>
                </a:pPr>
                <a:r>
                  <a:rPr lang="en-US" smtClean="0"/>
                  <a:t>	</a:t>
                </a:r>
                <a:r>
                  <a:rPr lang="vi-VN" smtClean="0"/>
                  <a:t>5</a:t>
                </a:r>
                <a:r>
                  <a:rPr lang="vi-VN"/>
                  <a:t>. Biểu thức chính qui (</a:t>
                </a:r>
                <a:r>
                  <a:rPr lang="vi-VN" b="1"/>
                  <a:t>a + b</a:t>
                </a:r>
                <a:r>
                  <a:rPr lang="vi-VN"/>
                  <a:t>)</a:t>
                </a:r>
                <a:r>
                  <a:rPr lang="vi-VN" b="1"/>
                  <a:t>* </a:t>
                </a:r>
                <a:r>
                  <a:rPr lang="vi-VN"/>
                  <a:t>xác định tập {a, b}*, hoặc tập {a, b}* được biểu diễn bởi (</a:t>
                </a:r>
                <a:r>
                  <a:rPr lang="vi-VN" b="1"/>
                  <a:t>a + b</a:t>
                </a:r>
                <a:r>
                  <a:rPr lang="vi-VN"/>
                  <a:t>)</a:t>
                </a:r>
                <a:r>
                  <a:rPr lang="vi-VN" b="1"/>
                  <a:t>*</a:t>
                </a:r>
                <a:r>
                  <a:rPr lang="vi-VN"/>
                  <a:t>. </a:t>
                </a:r>
              </a:p>
              <a:p>
                <a:r>
                  <a:rPr lang="vi-VN"/>
                  <a:t>Để hiểu rõ hơn việc tính toán các biểu thức chính qui chúng ta cần xét kỹ hơn ba phép toán nêu trên. Giả sử </a:t>
                </a:r>
                <a:r>
                  <a:rPr lang="vi-VN" b="1"/>
                  <a:t>R1 </a:t>
                </a:r>
                <a:r>
                  <a:rPr lang="vi-VN"/>
                  <a:t>và </a:t>
                </a:r>
                <a:r>
                  <a:rPr lang="vi-VN" b="1"/>
                  <a:t>R2 </a:t>
                </a:r>
                <a:r>
                  <a:rPr lang="vi-VN"/>
                  <a:t>là hai biểu thức chính qui. </a:t>
                </a:r>
              </a:p>
              <a:p>
                <a:pPr marL="457200" lvl="1" indent="0">
                  <a:buNone/>
                </a:pPr>
                <a:r>
                  <a:rPr lang="pt-BR"/>
                  <a:t>(i) Một xâu trong </a:t>
                </a:r>
                <a:r>
                  <a:rPr lang="pt-BR" b="1"/>
                  <a:t>R1 + R2 </a:t>
                </a:r>
                <a:r>
                  <a:rPr lang="pt-BR"/>
                  <a:t>là một xâu trong </a:t>
                </a:r>
                <a:r>
                  <a:rPr lang="pt-BR" b="1"/>
                  <a:t>R1 </a:t>
                </a:r>
                <a:r>
                  <a:rPr lang="pt-BR"/>
                  <a:t>hoặc </a:t>
                </a:r>
                <a:r>
                  <a:rPr lang="pt-BR" b="1"/>
                  <a:t>R2</a:t>
                </a:r>
                <a:r>
                  <a:rPr lang="pt-BR"/>
                  <a:t>. </a:t>
                </a:r>
              </a:p>
              <a:p>
                <a:pPr marL="457200" lvl="1" indent="0">
                  <a:buNone/>
                </a:pPr>
                <a:r>
                  <a:rPr lang="vi-VN"/>
                  <a:t>(ii) Một xâu trong </a:t>
                </a:r>
                <a:r>
                  <a:rPr lang="vi-VN" b="1"/>
                  <a:t>R1R2 </a:t>
                </a:r>
                <a:r>
                  <a:rPr lang="vi-VN"/>
                  <a:t>là một xâu trong </a:t>
                </a:r>
                <a:r>
                  <a:rPr lang="vi-VN" b="1"/>
                  <a:t>R1 </a:t>
                </a:r>
                <a:r>
                  <a:rPr lang="vi-VN"/>
                  <a:t>được ghép với xâu của </a:t>
                </a:r>
                <a:r>
                  <a:rPr lang="vi-VN" b="1"/>
                  <a:t>R2</a:t>
                </a:r>
                <a:r>
                  <a:rPr lang="vi-VN"/>
                  <a:t>. </a:t>
                </a:r>
              </a:p>
              <a:p>
                <a:pPr marL="457200" lvl="1" indent="0">
                  <a:buNone/>
                </a:pPr>
                <a:r>
                  <a:rPr lang="vi-VN"/>
                  <a:t>(iii) Một xâu trong </a:t>
                </a:r>
                <a:r>
                  <a:rPr lang="vi-VN" b="1"/>
                  <a:t>R</a:t>
                </a:r>
                <a:r>
                  <a:rPr lang="vi-VN"/>
                  <a:t>* là một xâu được xây dựng từ phép ghép </a:t>
                </a:r>
                <a:r>
                  <a:rPr lang="vi-VN" i="1"/>
                  <a:t>n </a:t>
                </a:r>
                <a:r>
                  <a:rPr lang="vi-VN"/>
                  <a:t>các phần tử của </a:t>
                </a:r>
                <a:r>
                  <a:rPr lang="vi-VN" b="1"/>
                  <a:t>R</a:t>
                </a:r>
                <a:r>
                  <a:rPr lang="vi-VN"/>
                  <a:t>, với n </a:t>
                </a:r>
                <a:r>
                  <a:rPr lang="vi-VN" smtClean="0">
                    <a:sym typeface="Symbol"/>
                  </a:rPr>
                  <a:t></a:t>
                </a:r>
                <a:r>
                  <a:rPr lang="vi-VN" smtClean="0"/>
                  <a:t> </a:t>
                </a:r>
                <a:r>
                  <a:rPr lang="vi-VN"/>
                  <a:t>0. </a:t>
                </a:r>
              </a:p>
              <a:p>
                <a:endParaRPr lang="en-US"/>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515155"/>
                <a:ext cx="8915400" cy="5396067"/>
              </a:xfrm>
              <a:blipFill rotWithShape="1">
                <a:blip r:embed="rId2"/>
                <a:stretch>
                  <a:fillRect l="-479" t="-1130" r="-137"/>
                </a:stretch>
              </a:blipFill>
            </p:spPr>
            <p:txBody>
              <a:bodyPr/>
              <a:lstStyle/>
              <a:p>
                <a:r>
                  <a:rPr lang="en-US">
                    <a:noFill/>
                  </a:rPr>
                  <a:t> </a:t>
                </a:r>
              </a:p>
            </p:txBody>
          </p:sp>
        </mc:Fallback>
      </mc:AlternateContent>
    </p:spTree>
    <p:extLst>
      <p:ext uri="{BB962C8B-B14F-4D97-AF65-F5344CB8AC3E}">
        <p14:creationId xmlns:p14="http://schemas.microsoft.com/office/powerpoint/2010/main" val="3127444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21972"/>
            <a:ext cx="8915400" cy="5589250"/>
          </a:xfrm>
        </p:spPr>
        <p:txBody>
          <a:bodyPr/>
          <a:lstStyle/>
          <a:p>
            <a:pPr marL="0" indent="0">
              <a:buNone/>
            </a:pPr>
            <a:r>
              <a:rPr lang="vi-VN" b="1"/>
              <a:t>Ví dụ </a:t>
            </a:r>
            <a:r>
              <a:rPr lang="en-US" b="1" smtClean="0"/>
              <a:t>3</a:t>
            </a:r>
            <a:r>
              <a:rPr lang="vi-VN" b="1" smtClean="0"/>
              <a:t>.1 </a:t>
            </a:r>
            <a:r>
              <a:rPr lang="vi-VN"/>
              <a:t>Xác định các biểu thức chính qui biểu diễn cho các tập sau: </a:t>
            </a:r>
          </a:p>
          <a:p>
            <a:pPr marL="457200" lvl="1" indent="0">
              <a:buNone/>
            </a:pPr>
            <a:r>
              <a:rPr lang="en-US" smtClean="0"/>
              <a:t>	</a:t>
            </a:r>
            <a:r>
              <a:rPr lang="vi-VN" smtClean="0"/>
              <a:t>(</a:t>
            </a:r>
            <a:r>
              <a:rPr lang="vi-VN"/>
              <a:t>i) Tập {101} được biểu diễn bởi biểu thức </a:t>
            </a:r>
            <a:r>
              <a:rPr lang="vi-VN" b="1"/>
              <a:t>101</a:t>
            </a:r>
            <a:r>
              <a:rPr lang="vi-VN"/>
              <a:t>, </a:t>
            </a:r>
          </a:p>
          <a:p>
            <a:pPr marL="457200" lvl="1" indent="0">
              <a:buNone/>
            </a:pPr>
            <a:r>
              <a:rPr lang="en-US" smtClean="0"/>
              <a:t>	</a:t>
            </a:r>
            <a:r>
              <a:rPr lang="vi-VN" smtClean="0"/>
              <a:t>(</a:t>
            </a:r>
            <a:r>
              <a:rPr lang="vi-VN"/>
              <a:t>ii) {abba} được biểu diễn bởi biểu thức </a:t>
            </a:r>
            <a:r>
              <a:rPr lang="vi-VN" b="1"/>
              <a:t>abba</a:t>
            </a:r>
            <a:r>
              <a:rPr lang="vi-VN"/>
              <a:t>, </a:t>
            </a:r>
          </a:p>
          <a:p>
            <a:pPr marL="457200" lvl="1" indent="0">
              <a:buNone/>
            </a:pPr>
            <a:r>
              <a:rPr lang="en-US" smtClean="0"/>
              <a:t>	</a:t>
            </a:r>
            <a:r>
              <a:rPr lang="vi-VN" smtClean="0"/>
              <a:t>(</a:t>
            </a:r>
            <a:r>
              <a:rPr lang="vi-VN"/>
              <a:t>iii) {01, 10} được biểu diễn bởi biểu thức </a:t>
            </a:r>
            <a:r>
              <a:rPr lang="vi-VN" b="1"/>
              <a:t>01 + 10</a:t>
            </a:r>
            <a:r>
              <a:rPr lang="vi-VN"/>
              <a:t>, </a:t>
            </a:r>
          </a:p>
          <a:p>
            <a:pPr marL="457200" lvl="1" indent="0">
              <a:buNone/>
            </a:pPr>
            <a:r>
              <a:rPr lang="en-US" smtClean="0"/>
              <a:t>	</a:t>
            </a:r>
            <a:r>
              <a:rPr lang="vi-VN" smtClean="0"/>
              <a:t>(</a:t>
            </a:r>
            <a:r>
              <a:rPr lang="vi-VN"/>
              <a:t>iv) </a:t>
            </a:r>
            <a:r>
              <a:rPr lang="vi-VN" smtClean="0"/>
              <a:t>{</a:t>
            </a:r>
            <a:r>
              <a:rPr lang="vi-VN">
                <a:sym typeface="Symbol"/>
              </a:rPr>
              <a:t></a:t>
            </a:r>
            <a:r>
              <a:rPr lang="vi-VN" smtClean="0"/>
              <a:t>, </a:t>
            </a:r>
            <a:r>
              <a:rPr lang="vi-VN"/>
              <a:t>ab} được biểu diễn bởi biểu thức </a:t>
            </a:r>
            <a:r>
              <a:rPr lang="vi-VN">
                <a:sym typeface="Symbol"/>
              </a:rPr>
              <a:t></a:t>
            </a:r>
            <a:r>
              <a:rPr lang="vi-VN" smtClean="0"/>
              <a:t> </a:t>
            </a:r>
            <a:r>
              <a:rPr lang="vi-VN"/>
              <a:t>+ </a:t>
            </a:r>
            <a:r>
              <a:rPr lang="vi-VN" b="1"/>
              <a:t>ab</a:t>
            </a:r>
            <a:r>
              <a:rPr lang="vi-VN"/>
              <a:t>, </a:t>
            </a:r>
          </a:p>
          <a:p>
            <a:pPr marL="457200" lvl="1" indent="0">
              <a:buNone/>
            </a:pPr>
            <a:r>
              <a:rPr lang="en-US" smtClean="0"/>
              <a:t>	</a:t>
            </a:r>
            <a:r>
              <a:rPr lang="vi-VN" smtClean="0"/>
              <a:t>(</a:t>
            </a:r>
            <a:r>
              <a:rPr lang="vi-VN"/>
              <a:t>v) {abb, a, b, bba} được biểu diễn bởi biểu thức </a:t>
            </a:r>
            <a:r>
              <a:rPr lang="vi-VN" b="1"/>
              <a:t>abb + a + b + bbaa</a:t>
            </a:r>
            <a:r>
              <a:rPr lang="vi-VN"/>
              <a:t>, </a:t>
            </a:r>
          </a:p>
          <a:p>
            <a:pPr marL="457200" lvl="1" indent="0">
              <a:buNone/>
            </a:pPr>
            <a:r>
              <a:rPr lang="en-US" smtClean="0"/>
              <a:t>	</a:t>
            </a:r>
            <a:r>
              <a:rPr lang="vi-VN" smtClean="0"/>
              <a:t>(</a:t>
            </a:r>
            <a:r>
              <a:rPr lang="vi-VN"/>
              <a:t>vi) </a:t>
            </a:r>
            <a:r>
              <a:rPr lang="vi-VN" smtClean="0"/>
              <a:t>{</a:t>
            </a:r>
            <a:r>
              <a:rPr lang="vi-VN">
                <a:sym typeface="Symbol"/>
              </a:rPr>
              <a:t></a:t>
            </a:r>
            <a:r>
              <a:rPr lang="vi-VN" smtClean="0"/>
              <a:t>, </a:t>
            </a:r>
            <a:r>
              <a:rPr lang="vi-VN"/>
              <a:t>0, 00, 000, ... } được biểu diễn bởi biểu thức </a:t>
            </a:r>
            <a:r>
              <a:rPr lang="vi-VN" b="1"/>
              <a:t>0*</a:t>
            </a:r>
            <a:r>
              <a:rPr lang="vi-VN"/>
              <a:t>, </a:t>
            </a:r>
          </a:p>
          <a:p>
            <a:pPr marL="457200" lvl="1" indent="0">
              <a:buNone/>
            </a:pPr>
            <a:r>
              <a:rPr lang="en-US" smtClean="0"/>
              <a:t>	</a:t>
            </a:r>
            <a:r>
              <a:rPr lang="vi-VN" smtClean="0"/>
              <a:t>(</a:t>
            </a:r>
            <a:r>
              <a:rPr lang="vi-VN"/>
              <a:t>vii) {1, 11, 111, ...} được biểu diễn bởi biểu thức </a:t>
            </a:r>
            <a:r>
              <a:rPr lang="vi-VN" b="1"/>
              <a:t>1(1)*</a:t>
            </a:r>
            <a:r>
              <a:rPr lang="vi-VN"/>
              <a:t>. </a:t>
            </a:r>
          </a:p>
          <a:p>
            <a:endParaRPr lang="en-US"/>
          </a:p>
          <a:p>
            <a:endParaRPr lang="en-US"/>
          </a:p>
        </p:txBody>
      </p:sp>
    </p:spTree>
    <p:extLst>
      <p:ext uri="{BB962C8B-B14F-4D97-AF65-F5344CB8AC3E}">
        <p14:creationId xmlns:p14="http://schemas.microsoft.com/office/powerpoint/2010/main" val="3892649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09093"/>
            <a:ext cx="8915400" cy="5602129"/>
          </a:xfrm>
        </p:spPr>
        <p:txBody>
          <a:bodyPr/>
          <a:lstStyle/>
          <a:p>
            <a:pPr marL="0" indent="0">
              <a:buNone/>
            </a:pPr>
            <a:r>
              <a:rPr lang="vi-VN" b="1"/>
              <a:t>Ví dụ </a:t>
            </a:r>
            <a:r>
              <a:rPr lang="en-US" b="1" smtClean="0"/>
              <a:t>3</a:t>
            </a:r>
            <a:r>
              <a:rPr lang="vi-VN" b="1" smtClean="0"/>
              <a:t>.2 </a:t>
            </a:r>
            <a:r>
              <a:rPr lang="vi-VN"/>
              <a:t>Xác định các biểu thức chính qui biểu diễn cho các tập (ngôn ngữ) sau: </a:t>
            </a:r>
          </a:p>
          <a:p>
            <a:pPr marL="457200" lvl="1" indent="0">
              <a:buNone/>
            </a:pPr>
            <a:r>
              <a:rPr lang="en-US" smtClean="0"/>
              <a:t>(</a:t>
            </a:r>
            <a:r>
              <a:rPr lang="en-US"/>
              <a:t>i) L1 là tập tất cả các xâu chứa 0, 1 và kết thúc bằng 00, </a:t>
            </a:r>
          </a:p>
          <a:p>
            <a:pPr marL="457200" lvl="1" indent="0">
              <a:buNone/>
            </a:pPr>
            <a:r>
              <a:rPr lang="vi-VN"/>
              <a:t>(ii) L2 là tập tất cả các xâu chứa 0, 1 được bắt đầu bằng 0 và kết thúc bằng 1, </a:t>
            </a:r>
          </a:p>
          <a:p>
            <a:pPr marL="457200" lvl="1" indent="0">
              <a:buNone/>
            </a:pPr>
            <a:r>
              <a:rPr lang="en-US"/>
              <a:t>(iii) L3 = </a:t>
            </a:r>
            <a:r>
              <a:rPr lang="en-US" smtClean="0"/>
              <a:t>{</a:t>
            </a:r>
            <a:r>
              <a:rPr lang="vi-VN" smtClean="0">
                <a:sym typeface="Symbol"/>
              </a:rPr>
              <a:t></a:t>
            </a:r>
            <a:r>
              <a:rPr lang="en-US" smtClean="0"/>
              <a:t>, </a:t>
            </a:r>
            <a:r>
              <a:rPr lang="en-US"/>
              <a:t>11, 1111, 111111, </a:t>
            </a:r>
            <a:r>
              <a:rPr lang="en-US" smtClean="0"/>
              <a:t>...}</a:t>
            </a:r>
          </a:p>
          <a:p>
            <a:pPr marL="0" indent="0">
              <a:buNone/>
            </a:pPr>
            <a:r>
              <a:rPr lang="en-US" smtClean="0">
                <a:solidFill>
                  <a:srgbClr val="FF0000"/>
                </a:solidFill>
              </a:rPr>
              <a:t>Giải</a:t>
            </a:r>
          </a:p>
          <a:p>
            <a:endParaRPr lang="en-US"/>
          </a:p>
          <a:p>
            <a:pPr lvl="1"/>
            <a:r>
              <a:rPr lang="vi-VN"/>
              <a:t>(i) Một xâu bất kỳ của L</a:t>
            </a:r>
            <a:r>
              <a:rPr lang="vi-VN" sz="800"/>
              <a:t>1 </a:t>
            </a:r>
            <a:r>
              <a:rPr lang="vi-VN"/>
              <a:t>sẽ được xây dựng từ phép ghép của xâu xác định trên {0, 1} với xâu 00. {0, 1} biểu diễn cho </a:t>
            </a:r>
            <a:r>
              <a:rPr lang="vi-VN" b="1"/>
              <a:t>0 + 1</a:t>
            </a:r>
            <a:r>
              <a:rPr lang="vi-VN"/>
              <a:t>. Vậy, L</a:t>
            </a:r>
            <a:r>
              <a:rPr lang="vi-VN" sz="800"/>
              <a:t>1 </a:t>
            </a:r>
            <a:r>
              <a:rPr lang="vi-VN"/>
              <a:t>được biểu diễn bởi (</a:t>
            </a:r>
            <a:r>
              <a:rPr lang="vi-VN" b="1"/>
              <a:t>0+1</a:t>
            </a:r>
            <a:r>
              <a:rPr lang="vi-VN"/>
              <a:t>)</a:t>
            </a:r>
            <a:r>
              <a:rPr lang="vi-VN" sz="800"/>
              <a:t>*</a:t>
            </a:r>
            <a:r>
              <a:rPr lang="vi-VN" b="1"/>
              <a:t>00</a:t>
            </a:r>
            <a:r>
              <a:rPr lang="vi-VN"/>
              <a:t>. </a:t>
            </a:r>
          </a:p>
          <a:p>
            <a:pPr lvl="1"/>
            <a:r>
              <a:rPr lang="vi-VN"/>
              <a:t>(ii) Mỗi phần tử của L</a:t>
            </a:r>
            <a:r>
              <a:rPr lang="vi-VN" sz="800"/>
              <a:t>2 </a:t>
            </a:r>
            <a:r>
              <a:rPr lang="vi-VN"/>
              <a:t>đều nhận được từ phép ghép 0 với các xâu xác định trên {0, 1} và ghép tiếp với 1, nên L</a:t>
            </a:r>
            <a:r>
              <a:rPr lang="vi-VN" sz="800"/>
              <a:t>2 </a:t>
            </a:r>
            <a:r>
              <a:rPr lang="vi-VN"/>
              <a:t>sẽ được biểu diễn bởi </a:t>
            </a:r>
            <a:r>
              <a:rPr lang="vi-VN" b="1" smtClean="0"/>
              <a:t>0(0+1)</a:t>
            </a:r>
            <a:r>
              <a:rPr lang="en-US" b="1" smtClean="0"/>
              <a:t>*1</a:t>
            </a:r>
            <a:r>
              <a:rPr lang="vi-VN" smtClean="0"/>
              <a:t>. </a:t>
            </a:r>
            <a:endParaRPr lang="vi-VN"/>
          </a:p>
          <a:p>
            <a:pPr lvl="1"/>
            <a:r>
              <a:rPr lang="vi-VN"/>
              <a:t>(iii) Mỗi phần tử của L</a:t>
            </a:r>
            <a:r>
              <a:rPr lang="vi-VN" sz="800"/>
              <a:t>3 </a:t>
            </a:r>
            <a:r>
              <a:rPr lang="vi-VN"/>
              <a:t>hoặc là </a:t>
            </a:r>
            <a:r>
              <a:rPr lang="vi-VN" smtClean="0">
                <a:sym typeface="Symbol"/>
              </a:rPr>
              <a:t></a:t>
            </a:r>
            <a:r>
              <a:rPr lang="vi-VN" smtClean="0"/>
              <a:t>, </a:t>
            </a:r>
            <a:r>
              <a:rPr lang="vi-VN"/>
              <a:t>hoặc là xâu chứa chẵn lần các số 1, nghĩa là những xâu có dạng (11)</a:t>
            </a:r>
            <a:r>
              <a:rPr lang="vi-VN" sz="800"/>
              <a:t>n</a:t>
            </a:r>
            <a:r>
              <a:rPr lang="vi-VN"/>
              <a:t>, n </a:t>
            </a:r>
            <a:r>
              <a:rPr lang="vi-VN" smtClean="0">
                <a:sym typeface="Symbol"/>
              </a:rPr>
              <a:t></a:t>
            </a:r>
            <a:r>
              <a:rPr lang="vi-VN" smtClean="0"/>
              <a:t> </a:t>
            </a:r>
            <a:r>
              <a:rPr lang="vi-VN"/>
              <a:t>0. Vậy L</a:t>
            </a:r>
            <a:r>
              <a:rPr lang="vi-VN" sz="800"/>
              <a:t>3 </a:t>
            </a:r>
            <a:r>
              <a:rPr lang="vi-VN"/>
              <a:t>có thể được biểu diễn bởi </a:t>
            </a:r>
            <a:r>
              <a:rPr lang="vi-VN" b="1"/>
              <a:t>(11</a:t>
            </a:r>
            <a:r>
              <a:rPr lang="vi-VN" b="1" smtClean="0"/>
              <a:t>)</a:t>
            </a:r>
            <a:r>
              <a:rPr lang="en-US" b="1" smtClean="0"/>
              <a:t>*</a:t>
            </a:r>
            <a:r>
              <a:rPr lang="vi-VN" smtClean="0"/>
              <a:t>. </a:t>
            </a:r>
            <a:endParaRPr lang="vi-VN"/>
          </a:p>
          <a:p>
            <a:pPr lvl="1"/>
            <a:endParaRPr lang="en-US"/>
          </a:p>
        </p:txBody>
      </p:sp>
    </p:spTree>
    <p:extLst>
      <p:ext uri="{BB962C8B-B14F-4D97-AF65-F5344CB8AC3E}">
        <p14:creationId xmlns:p14="http://schemas.microsoft.com/office/powerpoint/2010/main" val="2119549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a:t>
            </a:r>
            <a:endParaRPr lang="en-US"/>
          </a:p>
        </p:txBody>
      </p:sp>
      <p:sp>
        <p:nvSpPr>
          <p:cNvPr id="3" name="Content Placeholder 2"/>
          <p:cNvSpPr>
            <a:spLocks noGrp="1"/>
          </p:cNvSpPr>
          <p:nvPr>
            <p:ph idx="1"/>
          </p:nvPr>
        </p:nvSpPr>
        <p:spPr/>
        <p:txBody>
          <a:bodyPr/>
          <a:lstStyle/>
          <a:p>
            <a:r>
              <a:rPr lang="en-US"/>
              <a:t>Xác định ngôn ngữ chính quy được biểu diễn bởi biểu thức  r = (01</a:t>
            </a:r>
            <a:r>
              <a:rPr lang="en-US" baseline="30000"/>
              <a:t>*</a:t>
            </a:r>
            <a:r>
              <a:rPr lang="en-US"/>
              <a:t>+02)1. </a:t>
            </a:r>
          </a:p>
          <a:p>
            <a:pPr marL="0" indent="0">
              <a:buNone/>
            </a:pPr>
            <a:r>
              <a:rPr lang="en-US" smtClean="0"/>
              <a:t>	Ta </a:t>
            </a:r>
            <a:r>
              <a:rPr lang="en-US"/>
              <a:t>có: </a:t>
            </a:r>
          </a:p>
          <a:p>
            <a:pPr marL="0" indent="0">
              <a:buNone/>
            </a:pPr>
            <a:r>
              <a:rPr lang="en-US" smtClean="0"/>
              <a:t>	r </a:t>
            </a:r>
            <a:r>
              <a:rPr lang="en-US"/>
              <a:t>= (01</a:t>
            </a:r>
            <a:r>
              <a:rPr lang="en-US" baseline="30000"/>
              <a:t>*</a:t>
            </a:r>
            <a:r>
              <a:rPr lang="en-US"/>
              <a:t>+02)1 = </a:t>
            </a:r>
            <a:r>
              <a:rPr lang="en-US" smtClean="0"/>
              <a:t>01*1+021</a:t>
            </a:r>
            <a:endParaRPr lang="en-US"/>
          </a:p>
          <a:p>
            <a:endParaRPr lang="en-US"/>
          </a:p>
          <a:p>
            <a:endParaRPr lang="en-US"/>
          </a:p>
          <a:p>
            <a:pPr marL="457200" lvl="1" indent="0">
              <a:buNone/>
            </a:pPr>
            <a:r>
              <a:rPr lang="en-US"/>
              <a:t>V</a:t>
            </a:r>
            <a:r>
              <a:rPr lang="en-US" smtClean="0"/>
              <a:t>ậy </a:t>
            </a:r>
            <a:r>
              <a:rPr lang="en-US"/>
              <a:t>ngôn ngữ chính quy biểu diễn bởi r là: </a:t>
            </a:r>
          </a:p>
          <a:p>
            <a:pPr marL="0" indent="0">
              <a:buNone/>
            </a:pPr>
            <a:r>
              <a:rPr lang="en-US" smtClean="0"/>
              <a:t>		L </a:t>
            </a:r>
            <a:r>
              <a:rPr lang="en-US"/>
              <a:t>(r) = L(01*1+021) = L(01*1) ∪ L(021) = {01</a:t>
            </a:r>
            <a:r>
              <a:rPr lang="en-US" baseline="30000"/>
              <a:t>n</a:t>
            </a:r>
            <a:r>
              <a:rPr lang="en-US"/>
              <a:t> , 021 | n ≥ 1} </a:t>
            </a:r>
          </a:p>
          <a:p>
            <a:endParaRPr lang="en-US"/>
          </a:p>
        </p:txBody>
      </p:sp>
    </p:spTree>
    <p:extLst>
      <p:ext uri="{BB962C8B-B14F-4D97-AF65-F5344CB8AC3E}">
        <p14:creationId xmlns:p14="http://schemas.microsoft.com/office/powerpoint/2010/main" val="121306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571223"/>
            <a:ext cx="8915400" cy="4855335"/>
          </a:xfrm>
        </p:spPr>
        <p:txBody>
          <a:bodyPr>
            <a:normAutofit/>
          </a:bodyPr>
          <a:lstStyle/>
          <a:p>
            <a:pPr marL="0" indent="0">
              <a:buNone/>
            </a:pPr>
            <a:r>
              <a:rPr lang="en-US"/>
              <a:t>Xét từng phần của biểu thức </a:t>
            </a:r>
            <a:r>
              <a:rPr lang="en-US" i="1"/>
              <a:t>r</a:t>
            </a:r>
            <a:r>
              <a:rPr lang="en-US"/>
              <a:t>. </a:t>
            </a:r>
          </a:p>
          <a:p>
            <a:r>
              <a:rPr lang="en-US"/>
              <a:t>Phần thứ nhất, </a:t>
            </a:r>
            <a:r>
              <a:rPr lang="en-US">
                <a:solidFill>
                  <a:srgbClr val="FF0000"/>
                </a:solidFill>
              </a:rPr>
              <a:t>tiền tố (</a:t>
            </a:r>
            <a:r>
              <a:rPr lang="en-US" i="1">
                <a:solidFill>
                  <a:srgbClr val="FF0000"/>
                </a:solidFill>
              </a:rPr>
              <a:t>a+b</a:t>
            </a:r>
            <a:r>
              <a:rPr lang="en-US">
                <a:solidFill>
                  <a:srgbClr val="FF0000"/>
                </a:solidFill>
              </a:rPr>
              <a:t>)</a:t>
            </a:r>
            <a:r>
              <a:rPr lang="en-US" i="1">
                <a:solidFill>
                  <a:srgbClr val="FF0000"/>
                </a:solidFill>
              </a:rPr>
              <a:t>*</a:t>
            </a:r>
            <a:r>
              <a:rPr lang="en-US"/>
              <a:t>, biểu thị cho những chuỗi trên {</a:t>
            </a:r>
            <a:r>
              <a:rPr lang="en-US" i="1"/>
              <a:t>a</a:t>
            </a:r>
            <a:r>
              <a:rPr lang="en-US"/>
              <a:t>, </a:t>
            </a:r>
            <a:r>
              <a:rPr lang="en-US" i="1"/>
              <a:t>b</a:t>
            </a:r>
            <a:r>
              <a:rPr lang="en-US"/>
              <a:t>} </a:t>
            </a:r>
          </a:p>
          <a:p>
            <a:pPr marL="0" indent="0">
              <a:buNone/>
            </a:pPr>
            <a:r>
              <a:rPr lang="pt-BR" smtClean="0"/>
              <a:t>	(</a:t>
            </a:r>
            <a:r>
              <a:rPr lang="pt-BR"/>
              <a:t>a + b</a:t>
            </a:r>
            <a:r>
              <a:rPr lang="pt-BR"/>
              <a:t>)* </a:t>
            </a:r>
            <a:r>
              <a:rPr lang="pt-BR" smtClean="0"/>
              <a:t>= {</a:t>
            </a:r>
            <a:r>
              <a:rPr lang="pt-BR" smtClean="0">
                <a:sym typeface="Symbol"/>
              </a:rPr>
              <a:t></a:t>
            </a:r>
            <a:r>
              <a:rPr lang="pt-BR" smtClean="0"/>
              <a:t>, </a:t>
            </a:r>
            <a:r>
              <a:rPr lang="pt-BR"/>
              <a:t>a, b, aa, ab, ba, bb</a:t>
            </a:r>
            <a:r>
              <a:rPr lang="pt-BR"/>
              <a:t>, </a:t>
            </a:r>
            <a:r>
              <a:rPr lang="pt-BR" smtClean="0"/>
              <a:t>…}</a:t>
            </a:r>
          </a:p>
          <a:p>
            <a:r>
              <a:rPr lang="en-US"/>
              <a:t>Phần thứ hai, </a:t>
            </a:r>
            <a:r>
              <a:rPr lang="en-US">
                <a:solidFill>
                  <a:srgbClr val="FF0000"/>
                </a:solidFill>
              </a:rPr>
              <a:t>hậu tố (</a:t>
            </a:r>
            <a:r>
              <a:rPr lang="en-US" i="1">
                <a:solidFill>
                  <a:srgbClr val="FF0000"/>
                </a:solidFill>
              </a:rPr>
              <a:t>a + bb</a:t>
            </a:r>
            <a:r>
              <a:rPr lang="en-US">
                <a:solidFill>
                  <a:srgbClr val="FF0000"/>
                </a:solidFill>
              </a:rPr>
              <a:t>)</a:t>
            </a:r>
            <a:r>
              <a:rPr lang="en-US"/>
              <a:t> biểu thị cho </a:t>
            </a:r>
            <a:r>
              <a:rPr lang="en-US" i="1"/>
              <a:t>a </a:t>
            </a:r>
            <a:r>
              <a:rPr lang="en-US"/>
              <a:t>hoặc </a:t>
            </a:r>
            <a:r>
              <a:rPr lang="en-US" i="1"/>
              <a:t>bb</a:t>
            </a:r>
            <a:r>
              <a:rPr lang="en-US"/>
              <a:t>, (</a:t>
            </a:r>
            <a:r>
              <a:rPr lang="en-US" i="1"/>
              <a:t>a + bb</a:t>
            </a:r>
            <a:r>
              <a:rPr lang="en-US"/>
              <a:t>) = {</a:t>
            </a:r>
            <a:r>
              <a:rPr lang="en-US" i="1"/>
              <a:t>a</a:t>
            </a:r>
            <a:r>
              <a:rPr lang="en-US"/>
              <a:t>, </a:t>
            </a:r>
            <a:r>
              <a:rPr lang="en-US" i="1"/>
              <a:t>bb</a:t>
            </a:r>
            <a:r>
              <a:rPr lang="en-US"/>
              <a:t>} </a:t>
            </a:r>
          </a:p>
          <a:p>
            <a:r>
              <a:rPr lang="vi-VN"/>
              <a:t>Do vậy, </a:t>
            </a:r>
            <a:r>
              <a:rPr lang="vi-VN" i="1"/>
              <a:t>L</a:t>
            </a:r>
            <a:r>
              <a:rPr lang="vi-VN"/>
              <a:t>(</a:t>
            </a:r>
            <a:r>
              <a:rPr lang="vi-VN" i="1"/>
              <a:t>r</a:t>
            </a:r>
            <a:r>
              <a:rPr lang="vi-VN"/>
              <a:t>) là một tập của tất cả các chuỗi trên {</a:t>
            </a:r>
            <a:r>
              <a:rPr lang="vi-VN" i="1"/>
              <a:t>a</a:t>
            </a:r>
            <a:r>
              <a:rPr lang="vi-VN"/>
              <a:t>, </a:t>
            </a:r>
            <a:r>
              <a:rPr lang="vi-VN" i="1"/>
              <a:t>b</a:t>
            </a:r>
            <a:r>
              <a:rPr lang="vi-VN"/>
              <a:t>}, được kết thúc bởi một ký hiệu </a:t>
            </a:r>
            <a:r>
              <a:rPr lang="vi-VN" i="1"/>
              <a:t>a </a:t>
            </a:r>
            <a:r>
              <a:rPr lang="vi-VN"/>
              <a:t>hay một chuỗi </a:t>
            </a:r>
            <a:r>
              <a:rPr lang="vi-VN" i="1"/>
              <a:t>bb</a:t>
            </a:r>
            <a:r>
              <a:rPr lang="vi-VN" smtClean="0"/>
              <a:t>.</a:t>
            </a:r>
            <a:endParaRPr lang="en-US" smtClean="0"/>
          </a:p>
          <a:p>
            <a:pPr marL="0" indent="0">
              <a:buNone/>
            </a:pPr>
            <a:r>
              <a:rPr lang="pt-BR" i="1" smtClean="0"/>
              <a:t>Ta có: </a:t>
            </a:r>
          </a:p>
          <a:p>
            <a:pPr marL="0" indent="0">
              <a:buNone/>
            </a:pPr>
            <a:r>
              <a:rPr lang="pt-BR" i="1"/>
              <a:t>	</a:t>
            </a:r>
            <a:r>
              <a:rPr lang="pt-BR" i="1" smtClean="0"/>
              <a:t>r </a:t>
            </a:r>
            <a:r>
              <a:rPr lang="pt-BR" i="1"/>
              <a:t>= </a:t>
            </a:r>
            <a:r>
              <a:rPr lang="pt-BR"/>
              <a:t>(</a:t>
            </a:r>
            <a:r>
              <a:rPr lang="pt-BR" i="1"/>
              <a:t>a + b</a:t>
            </a:r>
            <a:r>
              <a:rPr lang="pt-BR"/>
              <a:t>)</a:t>
            </a:r>
            <a:r>
              <a:rPr lang="pt-BR" i="1"/>
              <a:t>* </a:t>
            </a:r>
            <a:r>
              <a:rPr lang="pt-BR"/>
              <a:t>(</a:t>
            </a:r>
            <a:r>
              <a:rPr lang="pt-BR" i="1"/>
              <a:t>a + bb</a:t>
            </a:r>
            <a:r>
              <a:rPr lang="pt-BR"/>
              <a:t>) </a:t>
            </a:r>
          </a:p>
          <a:p>
            <a:pPr marL="0" indent="0">
              <a:buNone/>
            </a:pPr>
            <a:r>
              <a:rPr lang="en-US" smtClean="0"/>
              <a:t>	  = {</a:t>
            </a:r>
            <a:r>
              <a:rPr lang="en-US" smtClean="0">
                <a:sym typeface="Symbol"/>
              </a:rPr>
              <a:t></a:t>
            </a:r>
            <a:r>
              <a:rPr lang="en-US" smtClean="0"/>
              <a:t>, </a:t>
            </a:r>
            <a:r>
              <a:rPr lang="en-US" i="1"/>
              <a:t>a</a:t>
            </a:r>
            <a:r>
              <a:rPr lang="en-US"/>
              <a:t>, </a:t>
            </a:r>
            <a:r>
              <a:rPr lang="en-US" i="1"/>
              <a:t>b, aa</a:t>
            </a:r>
            <a:r>
              <a:rPr lang="en-US"/>
              <a:t>, </a:t>
            </a:r>
            <a:r>
              <a:rPr lang="en-US" i="1"/>
              <a:t>ab</a:t>
            </a:r>
            <a:r>
              <a:rPr lang="en-US"/>
              <a:t>, </a:t>
            </a:r>
            <a:r>
              <a:rPr lang="en-US" i="1"/>
              <a:t>ba</a:t>
            </a:r>
            <a:r>
              <a:rPr lang="en-US"/>
              <a:t>, </a:t>
            </a:r>
            <a:r>
              <a:rPr lang="en-US" i="1"/>
              <a:t>bb,</a:t>
            </a:r>
            <a:r>
              <a:rPr lang="en-US"/>
              <a:t>…} {</a:t>
            </a:r>
            <a:r>
              <a:rPr lang="en-US" i="1"/>
              <a:t>a</a:t>
            </a:r>
            <a:r>
              <a:rPr lang="en-US"/>
              <a:t>, </a:t>
            </a:r>
            <a:r>
              <a:rPr lang="en-US" i="1"/>
              <a:t>bb</a:t>
            </a:r>
            <a:r>
              <a:rPr lang="en-US"/>
              <a:t>} </a:t>
            </a:r>
          </a:p>
          <a:p>
            <a:pPr marL="0" indent="0">
              <a:buNone/>
            </a:pPr>
            <a:r>
              <a:rPr lang="en-US" smtClean="0"/>
              <a:t>	  = </a:t>
            </a:r>
            <a:r>
              <a:rPr lang="en-US"/>
              <a:t>{</a:t>
            </a:r>
            <a:r>
              <a:rPr lang="en-US" i="1"/>
              <a:t>a</a:t>
            </a:r>
            <a:r>
              <a:rPr lang="en-US"/>
              <a:t>, </a:t>
            </a:r>
            <a:r>
              <a:rPr lang="en-US" i="1"/>
              <a:t>bb</a:t>
            </a:r>
            <a:r>
              <a:rPr lang="en-US"/>
              <a:t>, </a:t>
            </a:r>
            <a:r>
              <a:rPr lang="en-US" i="1"/>
              <a:t>aa</a:t>
            </a:r>
            <a:r>
              <a:rPr lang="en-US"/>
              <a:t>, </a:t>
            </a:r>
            <a:r>
              <a:rPr lang="en-US" i="1"/>
              <a:t>abb</a:t>
            </a:r>
            <a:r>
              <a:rPr lang="en-US"/>
              <a:t>, </a:t>
            </a:r>
            <a:r>
              <a:rPr lang="en-US" i="1"/>
              <a:t>ba</a:t>
            </a:r>
            <a:r>
              <a:rPr lang="en-US"/>
              <a:t>, </a:t>
            </a:r>
            <a:r>
              <a:rPr lang="en-US" i="1"/>
              <a:t>bbb</a:t>
            </a:r>
            <a:r>
              <a:rPr lang="en-US"/>
              <a:t>, </a:t>
            </a:r>
            <a:r>
              <a:rPr lang="en-US" i="1"/>
              <a:t>aaa</a:t>
            </a:r>
            <a:r>
              <a:rPr lang="en-US"/>
              <a:t>, </a:t>
            </a:r>
            <a:r>
              <a:rPr lang="en-US" i="1"/>
              <a:t>aabb …</a:t>
            </a:r>
            <a:r>
              <a:rPr lang="en-US"/>
              <a:t>}. </a:t>
            </a:r>
          </a:p>
          <a:p>
            <a:r>
              <a:rPr lang="en-US" i="1"/>
              <a:t>r biểu thị cho ngôn ngữ </a:t>
            </a:r>
            <a:endParaRPr lang="en-US"/>
          </a:p>
          <a:p>
            <a:pPr marL="0" indent="0">
              <a:buNone/>
            </a:pPr>
            <a:r>
              <a:rPr lang="en-US" i="1" smtClean="0"/>
              <a:t>	L(r</a:t>
            </a:r>
            <a:r>
              <a:rPr lang="en-US" i="1"/>
              <a:t>) = {a, bb, aa, abb, ba, bbb, aaa, aabb, aba, abbb …}.</a:t>
            </a:r>
            <a:endParaRPr lang="en-US"/>
          </a:p>
        </p:txBody>
      </p:sp>
      <p:sp>
        <p:nvSpPr>
          <p:cNvPr id="4" name="Rectangle 3"/>
          <p:cNvSpPr/>
          <p:nvPr/>
        </p:nvSpPr>
        <p:spPr>
          <a:xfrm>
            <a:off x="2558603" y="365803"/>
            <a:ext cx="9019504" cy="923330"/>
          </a:xfrm>
          <a:prstGeom prst="rect">
            <a:avLst/>
          </a:prstGeom>
        </p:spPr>
        <p:txBody>
          <a:bodyPr wrap="square">
            <a:spAutoFit/>
          </a:bodyPr>
          <a:lstStyle/>
          <a:p>
            <a:r>
              <a:rPr lang="en-US" b="1" i="1"/>
              <a:t>Ví </a:t>
            </a:r>
            <a:r>
              <a:rPr lang="en-US" b="1" i="1"/>
              <a:t>dụ </a:t>
            </a:r>
            <a:r>
              <a:rPr lang="en-US" b="1" i="1" smtClean="0"/>
              <a:t> </a:t>
            </a:r>
            <a:endParaRPr lang="en-US"/>
          </a:p>
          <a:p>
            <a:r>
              <a:rPr lang="vi-VN"/>
              <a:t>Cho </a:t>
            </a:r>
            <a:r>
              <a:rPr lang="vi-VN" smtClean="0">
                <a:sym typeface="Symbol"/>
              </a:rPr>
              <a:t></a:t>
            </a:r>
            <a:r>
              <a:rPr lang="vi-VN" smtClean="0"/>
              <a:t> </a:t>
            </a:r>
            <a:r>
              <a:rPr lang="vi-VN"/>
              <a:t>= {</a:t>
            </a:r>
            <a:r>
              <a:rPr lang="vi-VN" i="1"/>
              <a:t>a</a:t>
            </a:r>
            <a:r>
              <a:rPr lang="vi-VN"/>
              <a:t>, </a:t>
            </a:r>
            <a:r>
              <a:rPr lang="vi-VN" i="1"/>
              <a:t>b</a:t>
            </a:r>
            <a:r>
              <a:rPr lang="vi-VN"/>
              <a:t>}, biểu thức </a:t>
            </a:r>
            <a:r>
              <a:rPr lang="vi-VN" i="1">
                <a:solidFill>
                  <a:srgbClr val="FF0000"/>
                </a:solidFill>
              </a:rPr>
              <a:t>r = </a:t>
            </a:r>
            <a:r>
              <a:rPr lang="vi-VN">
                <a:solidFill>
                  <a:srgbClr val="FF0000"/>
                </a:solidFill>
              </a:rPr>
              <a:t>(</a:t>
            </a:r>
            <a:r>
              <a:rPr lang="vi-VN" i="1">
                <a:solidFill>
                  <a:srgbClr val="FF0000"/>
                </a:solidFill>
              </a:rPr>
              <a:t>a + b</a:t>
            </a:r>
            <a:r>
              <a:rPr lang="vi-VN">
                <a:solidFill>
                  <a:srgbClr val="FF0000"/>
                </a:solidFill>
              </a:rPr>
              <a:t>)</a:t>
            </a:r>
            <a:r>
              <a:rPr lang="vi-VN" i="1">
                <a:solidFill>
                  <a:srgbClr val="FF0000"/>
                </a:solidFill>
              </a:rPr>
              <a:t>* </a:t>
            </a:r>
            <a:r>
              <a:rPr lang="vi-VN">
                <a:solidFill>
                  <a:srgbClr val="FF0000"/>
                </a:solidFill>
              </a:rPr>
              <a:t>(</a:t>
            </a:r>
            <a:r>
              <a:rPr lang="vi-VN" i="1">
                <a:solidFill>
                  <a:srgbClr val="FF0000"/>
                </a:solidFill>
              </a:rPr>
              <a:t>a + bb</a:t>
            </a:r>
            <a:r>
              <a:rPr lang="vi-VN">
                <a:solidFill>
                  <a:srgbClr val="FF0000"/>
                </a:solidFill>
              </a:rPr>
              <a:t>)</a:t>
            </a:r>
            <a:r>
              <a:rPr lang="vi-VN"/>
              <a:t> là BTCQ. Tìm ngôn ngữ </a:t>
            </a:r>
            <a:r>
              <a:rPr lang="vi-VN" i="1"/>
              <a:t>L</a:t>
            </a:r>
            <a:r>
              <a:rPr lang="vi-VN"/>
              <a:t>(</a:t>
            </a:r>
            <a:r>
              <a:rPr lang="vi-VN" i="1"/>
              <a:t>r</a:t>
            </a:r>
            <a:r>
              <a:rPr lang="vi-VN"/>
              <a:t>) dưới dạng tập hợp. </a:t>
            </a:r>
            <a:endParaRPr lang="en-US"/>
          </a:p>
        </p:txBody>
      </p:sp>
    </p:spTree>
    <p:extLst>
      <p:ext uri="{BB962C8B-B14F-4D97-AF65-F5344CB8AC3E}">
        <p14:creationId xmlns:p14="http://schemas.microsoft.com/office/powerpoint/2010/main" val="2938510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9967" y="1335110"/>
            <a:ext cx="8915400" cy="3777622"/>
          </a:xfrm>
        </p:spPr>
        <p:txBody>
          <a:bodyPr/>
          <a:lstStyle/>
          <a:p>
            <a:r>
              <a:rPr lang="vi-VN"/>
              <a:t>Ta có câu trả lời: mỗi chuỗi trong </a:t>
            </a:r>
            <a:r>
              <a:rPr lang="vi-VN" i="1"/>
              <a:t>L</a:t>
            </a:r>
            <a:r>
              <a:rPr lang="vi-VN"/>
              <a:t>(</a:t>
            </a:r>
            <a:r>
              <a:rPr lang="vi-VN" i="1"/>
              <a:t>r</a:t>
            </a:r>
            <a:r>
              <a:rPr lang="vi-VN"/>
              <a:t>) phải chứa </a:t>
            </a:r>
            <a:r>
              <a:rPr lang="vi-VN">
                <a:solidFill>
                  <a:srgbClr val="FF0000"/>
                </a:solidFill>
              </a:rPr>
              <a:t>00</a:t>
            </a:r>
            <a:r>
              <a:rPr lang="vi-VN"/>
              <a:t>, nhưng trước và sau đó hoàn toàn tuỳ ý</a:t>
            </a:r>
            <a:r>
              <a:rPr lang="vi-VN"/>
              <a:t>. </a:t>
            </a:r>
            <a:endParaRPr lang="en-US" smtClean="0"/>
          </a:p>
          <a:p>
            <a:r>
              <a:rPr lang="en-US" smtClean="0">
                <a:solidFill>
                  <a:schemeClr val="tx1"/>
                </a:solidFill>
              </a:rPr>
              <a:t>L = {0,1}*00{0,1}* = </a:t>
            </a:r>
            <a:r>
              <a:rPr lang="en-US" smtClean="0">
                <a:solidFill>
                  <a:schemeClr val="tx1"/>
                </a:solidFill>
                <a:sym typeface="Symbol"/>
              </a:rPr>
              <a:t>*00*</a:t>
            </a:r>
            <a:endParaRPr lang="en-US">
              <a:solidFill>
                <a:schemeClr val="tx1"/>
              </a:solidFill>
            </a:endParaRPr>
          </a:p>
          <a:p>
            <a:r>
              <a:rPr lang="vi-VN" b="1" smtClean="0">
                <a:solidFill>
                  <a:srgbClr val="FF0000"/>
                </a:solidFill>
              </a:rPr>
              <a:t>Một </a:t>
            </a:r>
            <a:r>
              <a:rPr lang="vi-VN" b="1">
                <a:solidFill>
                  <a:srgbClr val="FF0000"/>
                </a:solidFill>
              </a:rPr>
              <a:t>chuỗi tuỳ ý trên {0,1} có thể được biểu thị bởi (0 + 1)*</a:t>
            </a:r>
            <a:r>
              <a:rPr lang="vi-VN"/>
              <a:t>. Đặt các nhận xét này nối với nhau, có kết quả </a:t>
            </a:r>
          </a:p>
          <a:p>
            <a:pPr marL="0" indent="0">
              <a:buNone/>
            </a:pPr>
            <a:r>
              <a:rPr lang="pt-BR" i="1" smtClean="0"/>
              <a:t>						r </a:t>
            </a:r>
            <a:r>
              <a:rPr lang="pt-BR"/>
              <a:t>= (0 + 1)* 00 (0 + 1)*</a:t>
            </a:r>
            <a:endParaRPr lang="en-US" smtClean="0"/>
          </a:p>
          <a:p>
            <a:endParaRPr lang="en-US"/>
          </a:p>
        </p:txBody>
      </p:sp>
      <p:sp>
        <p:nvSpPr>
          <p:cNvPr id="4" name="Rectangle 3"/>
          <p:cNvSpPr/>
          <p:nvPr/>
        </p:nvSpPr>
        <p:spPr>
          <a:xfrm>
            <a:off x="2519967" y="288529"/>
            <a:ext cx="9109656" cy="707886"/>
          </a:xfrm>
          <a:prstGeom prst="rect">
            <a:avLst/>
          </a:prstGeom>
        </p:spPr>
        <p:txBody>
          <a:bodyPr wrap="square">
            <a:spAutoFit/>
          </a:bodyPr>
          <a:lstStyle/>
          <a:p>
            <a:r>
              <a:rPr lang="en-US" sz="2000" b="1" i="1"/>
              <a:t>Ví </a:t>
            </a:r>
            <a:r>
              <a:rPr lang="en-US" sz="2000" b="1" i="1" smtClean="0"/>
              <a:t>dụ. </a:t>
            </a:r>
            <a:r>
              <a:rPr lang="en-US" sz="2000" smtClean="0"/>
              <a:t>Cho </a:t>
            </a:r>
            <a:r>
              <a:rPr lang="en-US" sz="2000" smtClean="0">
                <a:sym typeface="Symbol"/>
              </a:rPr>
              <a:t></a:t>
            </a:r>
            <a:r>
              <a:rPr lang="en-US" sz="2000" smtClean="0"/>
              <a:t> </a:t>
            </a:r>
            <a:r>
              <a:rPr lang="en-US" sz="2000"/>
              <a:t>= {0,1}, tìm </a:t>
            </a:r>
            <a:r>
              <a:rPr lang="en-US" sz="2000"/>
              <a:t>một </a:t>
            </a:r>
            <a:r>
              <a:rPr lang="en-US" sz="2000" smtClean="0"/>
              <a:t>BTCQ  </a:t>
            </a:r>
            <a:r>
              <a:rPr lang="en-US" sz="2000" i="1"/>
              <a:t>r </a:t>
            </a:r>
            <a:r>
              <a:rPr lang="en-US" sz="2000"/>
              <a:t>sao cho: </a:t>
            </a:r>
          </a:p>
          <a:p>
            <a:r>
              <a:rPr lang="en-US" sz="2000" i="1" smtClean="0"/>
              <a:t>		L</a:t>
            </a:r>
            <a:r>
              <a:rPr lang="en-US" sz="2000" smtClean="0"/>
              <a:t>(</a:t>
            </a:r>
            <a:r>
              <a:rPr lang="en-US" sz="2000" i="1" smtClean="0"/>
              <a:t>r</a:t>
            </a:r>
            <a:r>
              <a:rPr lang="en-US" sz="2000"/>
              <a:t>) </a:t>
            </a:r>
            <a:r>
              <a:rPr lang="en-US" sz="2000" i="1"/>
              <a:t>= </a:t>
            </a:r>
            <a:r>
              <a:rPr lang="en-US" sz="2000"/>
              <a:t>{</a:t>
            </a:r>
            <a:r>
              <a:rPr lang="en-US" sz="2000" i="1"/>
              <a:t>w </a:t>
            </a:r>
            <a:r>
              <a:rPr lang="en-US" sz="2000" i="1" smtClean="0">
                <a:sym typeface="Symbol"/>
              </a:rPr>
              <a:t></a:t>
            </a:r>
            <a:r>
              <a:rPr lang="en-US" sz="2000">
                <a:sym typeface="Symbol"/>
              </a:rPr>
              <a:t></a:t>
            </a:r>
            <a:r>
              <a:rPr lang="en-US" sz="2000" i="1" smtClean="0"/>
              <a:t>* </a:t>
            </a:r>
            <a:r>
              <a:rPr lang="en-US" sz="2000" i="1"/>
              <a:t>: w </a:t>
            </a:r>
            <a:r>
              <a:rPr lang="en-US" sz="2000"/>
              <a:t>có ít nhất một cặp số 0 liên tiếp} </a:t>
            </a:r>
            <a:endParaRPr lang="en-US" sz="2000"/>
          </a:p>
        </p:txBody>
      </p:sp>
      <p:sp>
        <p:nvSpPr>
          <p:cNvPr id="5" name="Rectangle 4"/>
          <p:cNvSpPr/>
          <p:nvPr/>
        </p:nvSpPr>
        <p:spPr>
          <a:xfrm>
            <a:off x="2519967" y="3890665"/>
            <a:ext cx="9109656" cy="707886"/>
          </a:xfrm>
          <a:prstGeom prst="rect">
            <a:avLst/>
          </a:prstGeom>
        </p:spPr>
        <p:txBody>
          <a:bodyPr wrap="square">
            <a:spAutoFit/>
          </a:bodyPr>
          <a:lstStyle/>
          <a:p>
            <a:r>
              <a:rPr lang="en-US" sz="2000" b="1" i="1"/>
              <a:t>Ví </a:t>
            </a:r>
            <a:r>
              <a:rPr lang="en-US" sz="2000" b="1" i="1" smtClean="0"/>
              <a:t>dụ. </a:t>
            </a:r>
            <a:r>
              <a:rPr lang="en-US" sz="2000" smtClean="0"/>
              <a:t>Tìm </a:t>
            </a:r>
            <a:r>
              <a:rPr lang="en-US" sz="2000"/>
              <a:t>biểu thức chính quy cho ngôn ngữ </a:t>
            </a:r>
          </a:p>
          <a:p>
            <a:r>
              <a:rPr lang="en-US" sz="2000" i="1" smtClean="0"/>
              <a:t>			L </a:t>
            </a:r>
            <a:r>
              <a:rPr lang="en-US" sz="2000"/>
              <a:t>= {</a:t>
            </a:r>
            <a:r>
              <a:rPr lang="en-US" sz="2000" i="1"/>
              <a:t>w </a:t>
            </a:r>
            <a:r>
              <a:rPr lang="en-US" sz="2000" smtClean="0">
                <a:sym typeface="Symbol"/>
              </a:rPr>
              <a:t> {</a:t>
            </a:r>
            <a:r>
              <a:rPr lang="en-US" sz="2000" smtClean="0"/>
              <a:t>0,1</a:t>
            </a:r>
            <a:r>
              <a:rPr lang="en-US" sz="2000"/>
              <a:t>}</a:t>
            </a:r>
            <a:r>
              <a:rPr lang="en-US" sz="2000" i="1" smtClean="0"/>
              <a:t>* </a:t>
            </a:r>
            <a:r>
              <a:rPr lang="en-US" sz="2000"/>
              <a:t>: </a:t>
            </a:r>
            <a:r>
              <a:rPr lang="en-US" sz="2000" i="1"/>
              <a:t>w </a:t>
            </a:r>
            <a:r>
              <a:rPr lang="en-US" sz="2000"/>
              <a:t>không có cặp số 0 liên tiếp nào} </a:t>
            </a:r>
            <a:endParaRPr lang="en-US" sz="2000"/>
          </a:p>
        </p:txBody>
      </p:sp>
    </p:spTree>
    <p:extLst>
      <p:ext uri="{BB962C8B-B14F-4D97-AF65-F5344CB8AC3E}">
        <p14:creationId xmlns:p14="http://schemas.microsoft.com/office/powerpoint/2010/main" val="361366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6073" y="0"/>
            <a:ext cx="10285927" cy="1280890"/>
          </a:xfrm>
        </p:spPr>
        <p:txBody>
          <a:bodyPr/>
          <a:lstStyle/>
          <a:p>
            <a:r>
              <a:rPr lang="en-US" smtClean="0"/>
              <a:t>3.2. Sự tương đương của các biểu thức chính quy</a:t>
            </a:r>
            <a:endParaRPr lang="en-US"/>
          </a:p>
        </p:txBody>
      </p:sp>
      <p:sp>
        <p:nvSpPr>
          <p:cNvPr id="3" name="Content Placeholder 2"/>
          <p:cNvSpPr>
            <a:spLocks noGrp="1"/>
          </p:cNvSpPr>
          <p:nvPr>
            <p:ph idx="1"/>
          </p:nvPr>
        </p:nvSpPr>
        <p:spPr>
          <a:xfrm>
            <a:off x="2009104" y="1442434"/>
            <a:ext cx="9495508" cy="5280338"/>
          </a:xfrm>
        </p:spPr>
        <p:txBody>
          <a:bodyPr>
            <a:normAutofit lnSpcReduction="10000"/>
          </a:bodyPr>
          <a:lstStyle/>
          <a:p>
            <a:r>
              <a:rPr lang="vi-VN" b="1"/>
              <a:t>Định nghĩa </a:t>
            </a:r>
            <a:r>
              <a:rPr lang="en-US" b="1" smtClean="0"/>
              <a:t>3</a:t>
            </a:r>
            <a:r>
              <a:rPr lang="vi-VN" b="1" smtClean="0"/>
              <a:t>.</a:t>
            </a:r>
            <a:r>
              <a:rPr lang="en-US" b="1" smtClean="0"/>
              <a:t>4</a:t>
            </a:r>
            <a:r>
              <a:rPr lang="vi-VN" b="1" smtClean="0"/>
              <a:t> </a:t>
            </a:r>
            <a:r>
              <a:rPr lang="vi-VN"/>
              <a:t>Hai biểu thức chính qui </a:t>
            </a:r>
            <a:r>
              <a:rPr lang="vi-VN" b="1"/>
              <a:t>P, Q </a:t>
            </a:r>
            <a:r>
              <a:rPr lang="vi-VN"/>
              <a:t>được gọi là </a:t>
            </a:r>
            <a:r>
              <a:rPr lang="vi-VN" i="1"/>
              <a:t>tương đương, </a:t>
            </a:r>
            <a:r>
              <a:rPr lang="vi-VN"/>
              <a:t>(ta viết là </a:t>
            </a:r>
            <a:r>
              <a:rPr lang="vi-VN" b="1" i="1"/>
              <a:t>P = Q</a:t>
            </a:r>
            <a:r>
              <a:rPr lang="vi-VN"/>
              <a:t>) nếu </a:t>
            </a:r>
            <a:r>
              <a:rPr lang="vi-VN" b="1"/>
              <a:t>P </a:t>
            </a:r>
            <a:r>
              <a:rPr lang="vi-VN"/>
              <a:t>và </a:t>
            </a:r>
            <a:r>
              <a:rPr lang="vi-VN" b="1"/>
              <a:t>Q </a:t>
            </a:r>
            <a:r>
              <a:rPr lang="vi-VN"/>
              <a:t>cùng biểu diễn cho cùng một tập các xâu. </a:t>
            </a:r>
            <a:endParaRPr lang="en-US" smtClean="0"/>
          </a:p>
          <a:p>
            <a:r>
              <a:rPr lang="vi-VN" smtClean="0"/>
              <a:t>Các </a:t>
            </a:r>
            <a:r>
              <a:rPr lang="vi-VN"/>
              <a:t>biểu thức chính qui có các tính chất sau: </a:t>
            </a:r>
            <a:endParaRPr lang="en-US" smtClean="0"/>
          </a:p>
          <a:p>
            <a:pPr lvl="1"/>
            <a:r>
              <a:rPr lang="vi-VN" b="1" smtClean="0"/>
              <a:t>I</a:t>
            </a:r>
            <a:r>
              <a:rPr lang="vi-VN" b="1" baseline="-25000" smtClean="0"/>
              <a:t>1</a:t>
            </a:r>
            <a:r>
              <a:rPr lang="vi-VN" b="1" smtClean="0"/>
              <a:t> </a:t>
            </a:r>
            <a:r>
              <a:rPr lang="vi-VN" b="1" smtClean="0">
                <a:sym typeface="Symbol"/>
              </a:rPr>
              <a:t></a:t>
            </a:r>
            <a:r>
              <a:rPr lang="vi-VN" smtClean="0"/>
              <a:t> </a:t>
            </a:r>
            <a:r>
              <a:rPr lang="vi-VN" b="1"/>
              <a:t>+ R = R </a:t>
            </a:r>
            <a:endParaRPr lang="en-US" b="1" smtClean="0"/>
          </a:p>
          <a:p>
            <a:pPr lvl="1"/>
            <a:r>
              <a:rPr lang="vi-VN" b="1" smtClean="0"/>
              <a:t>I</a:t>
            </a:r>
            <a:r>
              <a:rPr lang="vi-VN" b="1" baseline="-25000" smtClean="0"/>
              <a:t>2</a:t>
            </a:r>
            <a:r>
              <a:rPr lang="vi-VN" b="1" smtClean="0"/>
              <a:t> </a:t>
            </a:r>
            <a:r>
              <a:rPr lang="vi-VN" b="1">
                <a:sym typeface="Symbol"/>
              </a:rPr>
              <a:t> </a:t>
            </a:r>
            <a:r>
              <a:rPr lang="vi-VN" b="1" smtClean="0"/>
              <a:t>R </a:t>
            </a:r>
            <a:r>
              <a:rPr lang="vi-VN" b="1"/>
              <a:t>= </a:t>
            </a:r>
            <a:r>
              <a:rPr lang="vi-VN" b="1" smtClean="0"/>
              <a:t>R</a:t>
            </a:r>
            <a:r>
              <a:rPr lang="vi-VN" b="1">
                <a:sym typeface="Symbol"/>
              </a:rPr>
              <a:t> </a:t>
            </a:r>
            <a:r>
              <a:rPr lang="vi-VN" smtClean="0"/>
              <a:t> </a:t>
            </a:r>
            <a:r>
              <a:rPr lang="vi-VN" b="1"/>
              <a:t>= </a:t>
            </a:r>
            <a:r>
              <a:rPr lang="vi-VN" b="1">
                <a:sym typeface="Symbol"/>
              </a:rPr>
              <a:t></a:t>
            </a:r>
            <a:r>
              <a:rPr lang="vi-VN" smtClean="0"/>
              <a:t> </a:t>
            </a:r>
            <a:endParaRPr lang="en-US" smtClean="0"/>
          </a:p>
          <a:p>
            <a:pPr lvl="1"/>
            <a:r>
              <a:rPr lang="vi-VN" b="1" smtClean="0"/>
              <a:t>I</a:t>
            </a:r>
            <a:r>
              <a:rPr lang="vi-VN" b="1" baseline="-25000" smtClean="0"/>
              <a:t>3</a:t>
            </a:r>
            <a:r>
              <a:rPr lang="vi-VN" b="1" smtClean="0"/>
              <a:t> </a:t>
            </a:r>
            <a:r>
              <a:rPr lang="vi-VN">
                <a:sym typeface="Symbol"/>
              </a:rPr>
              <a:t></a:t>
            </a:r>
            <a:r>
              <a:rPr lang="vi-VN" b="1" smtClean="0"/>
              <a:t>R </a:t>
            </a:r>
            <a:r>
              <a:rPr lang="vi-VN" b="1"/>
              <a:t>= </a:t>
            </a:r>
            <a:r>
              <a:rPr lang="vi-VN" b="1" smtClean="0"/>
              <a:t>R</a:t>
            </a:r>
            <a:r>
              <a:rPr lang="vi-VN">
                <a:sym typeface="Symbol"/>
              </a:rPr>
              <a:t> </a:t>
            </a:r>
            <a:r>
              <a:rPr lang="vi-VN" smtClean="0"/>
              <a:t> </a:t>
            </a:r>
            <a:r>
              <a:rPr lang="vi-VN" b="1"/>
              <a:t>= R </a:t>
            </a:r>
            <a:endParaRPr lang="en-US" b="1" smtClean="0"/>
          </a:p>
          <a:p>
            <a:pPr lvl="1"/>
            <a:r>
              <a:rPr lang="vi-VN" b="1" smtClean="0"/>
              <a:t>I</a:t>
            </a:r>
            <a:r>
              <a:rPr lang="vi-VN" b="1" baseline="-25000" smtClean="0"/>
              <a:t>4</a:t>
            </a:r>
            <a:r>
              <a:rPr lang="vi-VN" b="1" smtClean="0"/>
              <a:t> </a:t>
            </a:r>
            <a:r>
              <a:rPr lang="vi-VN">
                <a:sym typeface="Symbol"/>
              </a:rPr>
              <a:t> </a:t>
            </a:r>
            <a:r>
              <a:rPr lang="vi-VN" b="1" smtClean="0"/>
              <a:t>* </a:t>
            </a:r>
            <a:r>
              <a:rPr lang="vi-VN" b="1"/>
              <a:t>= </a:t>
            </a:r>
            <a:r>
              <a:rPr lang="vi-VN">
                <a:sym typeface="Symbol"/>
              </a:rPr>
              <a:t></a:t>
            </a:r>
            <a:r>
              <a:rPr lang="vi-VN" smtClean="0"/>
              <a:t> </a:t>
            </a:r>
            <a:r>
              <a:rPr lang="vi-VN" b="1"/>
              <a:t>và </a:t>
            </a:r>
            <a:r>
              <a:rPr lang="vi-VN" b="1">
                <a:sym typeface="Symbol"/>
              </a:rPr>
              <a:t> </a:t>
            </a:r>
            <a:r>
              <a:rPr lang="vi-VN" b="1" smtClean="0"/>
              <a:t>* </a:t>
            </a:r>
            <a:r>
              <a:rPr lang="vi-VN" b="1"/>
              <a:t>= </a:t>
            </a:r>
            <a:r>
              <a:rPr lang="vi-VN">
                <a:sym typeface="Symbol"/>
              </a:rPr>
              <a:t></a:t>
            </a:r>
            <a:r>
              <a:rPr lang="vi-VN" smtClean="0"/>
              <a:t> </a:t>
            </a:r>
            <a:endParaRPr lang="en-US" smtClean="0"/>
          </a:p>
          <a:p>
            <a:pPr lvl="1"/>
            <a:r>
              <a:rPr lang="vi-VN" b="1" smtClean="0"/>
              <a:t>I</a:t>
            </a:r>
            <a:r>
              <a:rPr lang="vi-VN" b="1" baseline="-25000" smtClean="0"/>
              <a:t>5</a:t>
            </a:r>
            <a:r>
              <a:rPr lang="vi-VN" b="1" smtClean="0"/>
              <a:t> </a:t>
            </a:r>
            <a:r>
              <a:rPr lang="vi-VN" b="1"/>
              <a:t>R + R = R </a:t>
            </a:r>
            <a:endParaRPr lang="en-US" b="1" smtClean="0"/>
          </a:p>
          <a:p>
            <a:pPr lvl="1"/>
            <a:r>
              <a:rPr lang="vi-VN" b="1" smtClean="0"/>
              <a:t>I</a:t>
            </a:r>
            <a:r>
              <a:rPr lang="vi-VN" b="1" baseline="-25000" smtClean="0"/>
              <a:t>6</a:t>
            </a:r>
            <a:r>
              <a:rPr lang="vi-VN" b="1" smtClean="0"/>
              <a:t> </a:t>
            </a:r>
            <a:r>
              <a:rPr lang="vi-VN" b="1"/>
              <a:t>R*R* = R* </a:t>
            </a:r>
            <a:endParaRPr lang="en-US" b="1" smtClean="0"/>
          </a:p>
          <a:p>
            <a:pPr lvl="1"/>
            <a:r>
              <a:rPr lang="vi-VN" b="1" smtClean="0"/>
              <a:t>I</a:t>
            </a:r>
            <a:r>
              <a:rPr lang="vi-VN" b="1" baseline="-25000" smtClean="0"/>
              <a:t>7</a:t>
            </a:r>
            <a:r>
              <a:rPr lang="vi-VN" b="1" smtClean="0"/>
              <a:t> </a:t>
            </a:r>
            <a:r>
              <a:rPr lang="vi-VN" b="1"/>
              <a:t>RR* = R*R </a:t>
            </a:r>
            <a:endParaRPr lang="en-US" b="1" smtClean="0"/>
          </a:p>
          <a:p>
            <a:pPr lvl="1"/>
            <a:r>
              <a:rPr lang="vi-VN" b="1" smtClean="0"/>
              <a:t>I</a:t>
            </a:r>
            <a:r>
              <a:rPr lang="vi-VN" b="1" baseline="-25000" smtClean="0"/>
              <a:t>8</a:t>
            </a:r>
            <a:r>
              <a:rPr lang="vi-VN" b="1" smtClean="0"/>
              <a:t> </a:t>
            </a:r>
            <a:r>
              <a:rPr lang="vi-VN" b="1"/>
              <a:t>(R*)* = R* </a:t>
            </a:r>
            <a:endParaRPr lang="en-US" b="1" smtClean="0"/>
          </a:p>
          <a:p>
            <a:pPr lvl="1"/>
            <a:r>
              <a:rPr lang="vi-VN" b="1" smtClean="0"/>
              <a:t>I</a:t>
            </a:r>
            <a:r>
              <a:rPr lang="vi-VN" b="1" baseline="-25000" smtClean="0"/>
              <a:t>9</a:t>
            </a:r>
            <a:r>
              <a:rPr lang="vi-VN" b="1" smtClean="0"/>
              <a:t> </a:t>
            </a:r>
            <a:r>
              <a:rPr lang="vi-VN">
                <a:sym typeface="Symbol"/>
              </a:rPr>
              <a:t></a:t>
            </a:r>
            <a:r>
              <a:rPr lang="vi-VN" smtClean="0"/>
              <a:t> </a:t>
            </a:r>
            <a:r>
              <a:rPr lang="vi-VN" b="1"/>
              <a:t>+ RR* = </a:t>
            </a:r>
            <a:r>
              <a:rPr lang="vi-VN">
                <a:sym typeface="Symbol"/>
              </a:rPr>
              <a:t></a:t>
            </a:r>
            <a:r>
              <a:rPr lang="vi-VN" smtClean="0"/>
              <a:t> </a:t>
            </a:r>
            <a:r>
              <a:rPr lang="vi-VN" b="1"/>
              <a:t>+ R*R = R* </a:t>
            </a:r>
            <a:endParaRPr lang="en-US" b="1" smtClean="0"/>
          </a:p>
          <a:p>
            <a:pPr lvl="1"/>
            <a:r>
              <a:rPr lang="vi-VN" b="1" smtClean="0"/>
              <a:t>I</a:t>
            </a:r>
            <a:r>
              <a:rPr lang="vi-VN" b="1" baseline="-25000" smtClean="0"/>
              <a:t>10</a:t>
            </a:r>
            <a:r>
              <a:rPr lang="vi-VN" b="1" smtClean="0"/>
              <a:t> </a:t>
            </a:r>
            <a:r>
              <a:rPr lang="vi-VN" b="1"/>
              <a:t>(PQ)*P = P(QP)* </a:t>
            </a:r>
            <a:endParaRPr lang="en-US" b="1" smtClean="0"/>
          </a:p>
          <a:p>
            <a:pPr lvl="1"/>
            <a:r>
              <a:rPr lang="vi-VN" b="1" smtClean="0"/>
              <a:t>I</a:t>
            </a:r>
            <a:r>
              <a:rPr lang="vi-VN" b="1" baseline="-25000" smtClean="0"/>
              <a:t>11</a:t>
            </a:r>
            <a:r>
              <a:rPr lang="vi-VN" b="1" smtClean="0"/>
              <a:t> </a:t>
            </a:r>
            <a:r>
              <a:rPr lang="vi-VN" b="1"/>
              <a:t>(P + Q)* = (Q*P*)* = (P* + Q*)* </a:t>
            </a:r>
            <a:endParaRPr lang="en-US" b="1" smtClean="0"/>
          </a:p>
          <a:p>
            <a:pPr lvl="1"/>
            <a:r>
              <a:rPr lang="vi-VN" b="1" smtClean="0"/>
              <a:t>I</a:t>
            </a:r>
            <a:r>
              <a:rPr lang="vi-VN" b="1" baseline="-25000" smtClean="0"/>
              <a:t>12</a:t>
            </a:r>
            <a:r>
              <a:rPr lang="vi-VN" b="1" smtClean="0"/>
              <a:t> </a:t>
            </a:r>
            <a:r>
              <a:rPr lang="vi-VN" b="1"/>
              <a:t>(P + Q)R = PR + QR và R(P+Q) = RP + RQ</a:t>
            </a:r>
            <a:endParaRPr lang="en-US"/>
          </a:p>
        </p:txBody>
      </p:sp>
    </p:spTree>
    <p:extLst>
      <p:ext uri="{BB962C8B-B14F-4D97-AF65-F5344CB8AC3E}">
        <p14:creationId xmlns:p14="http://schemas.microsoft.com/office/powerpoint/2010/main" val="1999650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57577"/>
            <a:ext cx="8915400" cy="5653645"/>
          </a:xfrm>
        </p:spPr>
        <p:txBody>
          <a:bodyPr/>
          <a:lstStyle/>
          <a:p>
            <a:r>
              <a:rPr lang="vi-VN" b="1"/>
              <a:t>Định lý </a:t>
            </a:r>
            <a:r>
              <a:rPr lang="en-US" b="1" smtClean="0"/>
              <a:t>3</a:t>
            </a:r>
            <a:r>
              <a:rPr lang="vi-VN" b="1" smtClean="0"/>
              <a:t>.</a:t>
            </a:r>
            <a:r>
              <a:rPr lang="en-US" b="1" smtClean="0"/>
              <a:t>2</a:t>
            </a:r>
            <a:r>
              <a:rPr lang="vi-VN" b="1" smtClean="0"/>
              <a:t> </a:t>
            </a:r>
            <a:r>
              <a:rPr lang="vi-VN" b="1"/>
              <a:t>(Định lý Arden) </a:t>
            </a:r>
            <a:r>
              <a:rPr lang="vi-VN"/>
              <a:t>Giả sử </a:t>
            </a:r>
            <a:r>
              <a:rPr lang="vi-VN" b="1"/>
              <a:t>P </a:t>
            </a:r>
            <a:r>
              <a:rPr lang="vi-VN"/>
              <a:t>và </a:t>
            </a:r>
            <a:r>
              <a:rPr lang="vi-VN" b="1"/>
              <a:t>Q </a:t>
            </a:r>
            <a:r>
              <a:rPr lang="vi-VN"/>
              <a:t>là hai biểu thức chính qui trên </a:t>
            </a:r>
            <a:r>
              <a:rPr lang="vi-VN" smtClean="0">
                <a:sym typeface="Symbol"/>
              </a:rPr>
              <a:t></a:t>
            </a:r>
            <a:r>
              <a:rPr lang="vi-VN" smtClean="0"/>
              <a:t>. </a:t>
            </a:r>
            <a:r>
              <a:rPr lang="vi-VN"/>
              <a:t>Nếu </a:t>
            </a:r>
            <a:r>
              <a:rPr lang="vi-VN" b="1"/>
              <a:t>P </a:t>
            </a:r>
            <a:r>
              <a:rPr lang="vi-VN"/>
              <a:t>không chứa </a:t>
            </a:r>
            <a:r>
              <a:rPr lang="vi-VN" smtClean="0">
                <a:sym typeface="Symbol"/>
              </a:rPr>
              <a:t></a:t>
            </a:r>
            <a:r>
              <a:rPr lang="vi-VN" smtClean="0"/>
              <a:t> </a:t>
            </a:r>
            <a:r>
              <a:rPr lang="vi-VN"/>
              <a:t>thì phương trình sau </a:t>
            </a:r>
            <a:endParaRPr lang="en-US" smtClean="0"/>
          </a:p>
          <a:p>
            <a:pPr marL="0" indent="0">
              <a:buNone/>
            </a:pPr>
            <a:r>
              <a:rPr lang="en-US" b="1" smtClean="0"/>
              <a:t>				</a:t>
            </a:r>
            <a:r>
              <a:rPr lang="vi-VN" b="1" smtClean="0"/>
              <a:t>R </a:t>
            </a:r>
            <a:r>
              <a:rPr lang="vi-VN" b="1"/>
              <a:t>= Q + RP </a:t>
            </a:r>
            <a:r>
              <a:rPr lang="vi-VN" smtClean="0"/>
              <a:t> </a:t>
            </a:r>
            <a:endParaRPr lang="en-US" smtClean="0"/>
          </a:p>
          <a:p>
            <a:pPr marL="0" indent="0">
              <a:buNone/>
            </a:pPr>
            <a:r>
              <a:rPr lang="en-US"/>
              <a:t> </a:t>
            </a:r>
            <a:r>
              <a:rPr lang="en-US" smtClean="0"/>
              <a:t>     </a:t>
            </a:r>
            <a:r>
              <a:rPr lang="vi-VN" smtClean="0"/>
              <a:t>có </a:t>
            </a:r>
            <a:r>
              <a:rPr lang="vi-VN"/>
              <a:t>nghiệm duy nhất là </a:t>
            </a:r>
            <a:r>
              <a:rPr lang="vi-VN" b="1"/>
              <a:t>R = QP</a:t>
            </a:r>
            <a:r>
              <a:rPr lang="vi-VN" b="1" smtClean="0"/>
              <a:t>*</a:t>
            </a:r>
            <a:r>
              <a:rPr lang="en-US" b="1" smtClean="0"/>
              <a:t>.</a:t>
            </a:r>
          </a:p>
          <a:p>
            <a:pPr marL="0" indent="0">
              <a:buNone/>
            </a:pPr>
            <a:endParaRPr lang="en-US" b="1"/>
          </a:p>
          <a:p>
            <a:pPr>
              <a:buFont typeface="Wingdings" pitchFamily="2" charset="2"/>
              <a:buChar char="Ø"/>
            </a:pPr>
            <a:r>
              <a:rPr lang="vi-VN" b="1"/>
              <a:t>Ví dụ </a:t>
            </a:r>
            <a:r>
              <a:rPr lang="en-US" b="1" smtClean="0"/>
              <a:t>3</a:t>
            </a:r>
            <a:r>
              <a:rPr lang="vi-VN" b="1" smtClean="0"/>
              <a:t>.3 </a:t>
            </a:r>
            <a:r>
              <a:rPr lang="vi-VN"/>
              <a:t>Chứng minh rằng </a:t>
            </a:r>
            <a:r>
              <a:rPr lang="vi-VN" b="1"/>
              <a:t>R </a:t>
            </a:r>
            <a:r>
              <a:rPr lang="vi-VN"/>
              <a:t>= </a:t>
            </a:r>
            <a:r>
              <a:rPr lang="vi-VN" smtClean="0">
                <a:sym typeface="Symbol"/>
              </a:rPr>
              <a:t></a:t>
            </a:r>
            <a:r>
              <a:rPr lang="vi-VN" smtClean="0"/>
              <a:t> </a:t>
            </a:r>
            <a:r>
              <a:rPr lang="vi-VN" b="1"/>
              <a:t>+ 1*</a:t>
            </a:r>
            <a:r>
              <a:rPr lang="vi-VN"/>
              <a:t>(</a:t>
            </a:r>
            <a:r>
              <a:rPr lang="vi-VN" b="1"/>
              <a:t>011</a:t>
            </a:r>
            <a:r>
              <a:rPr lang="vi-VN"/>
              <a:t>)</a:t>
            </a:r>
            <a:r>
              <a:rPr lang="vi-VN" b="1"/>
              <a:t>*</a:t>
            </a:r>
            <a:r>
              <a:rPr lang="vi-VN"/>
              <a:t>(</a:t>
            </a:r>
            <a:r>
              <a:rPr lang="vi-VN" b="1"/>
              <a:t>1*</a:t>
            </a:r>
            <a:r>
              <a:rPr lang="vi-VN"/>
              <a:t>(</a:t>
            </a:r>
            <a:r>
              <a:rPr lang="vi-VN" b="1"/>
              <a:t>011</a:t>
            </a:r>
            <a:r>
              <a:rPr lang="vi-VN"/>
              <a:t>)</a:t>
            </a:r>
            <a:r>
              <a:rPr lang="vi-VN" b="1"/>
              <a:t>*</a:t>
            </a:r>
            <a:r>
              <a:rPr lang="vi-VN"/>
              <a:t>)</a:t>
            </a:r>
            <a:r>
              <a:rPr lang="vi-VN" b="1"/>
              <a:t>* </a:t>
            </a:r>
            <a:r>
              <a:rPr lang="vi-VN"/>
              <a:t>và (</a:t>
            </a:r>
            <a:r>
              <a:rPr lang="vi-VN" b="1"/>
              <a:t>1+ 011</a:t>
            </a:r>
            <a:r>
              <a:rPr lang="vi-VN"/>
              <a:t>)* là tương đương. </a:t>
            </a:r>
            <a:endParaRPr lang="en-US" smtClean="0"/>
          </a:p>
          <a:p>
            <a:pPr marL="0" indent="0">
              <a:buNone/>
            </a:pPr>
            <a:r>
              <a:rPr lang="en-US"/>
              <a:t>	</a:t>
            </a:r>
            <a:r>
              <a:rPr lang="vi-VN" smtClean="0"/>
              <a:t>Thật </a:t>
            </a:r>
            <a:r>
              <a:rPr lang="vi-VN"/>
              <a:t>vậy, đặt </a:t>
            </a:r>
            <a:r>
              <a:rPr lang="vi-VN" b="1"/>
              <a:t>P </a:t>
            </a:r>
            <a:r>
              <a:rPr lang="vi-VN"/>
              <a:t>= </a:t>
            </a:r>
            <a:r>
              <a:rPr lang="vi-VN" b="1"/>
              <a:t>1*(011)* </a:t>
            </a:r>
            <a:r>
              <a:rPr lang="vi-VN"/>
              <a:t>chúng ta có: </a:t>
            </a:r>
            <a:endParaRPr lang="en-US" smtClean="0"/>
          </a:p>
          <a:p>
            <a:pPr marL="0" indent="0">
              <a:buNone/>
            </a:pPr>
            <a:r>
              <a:rPr lang="en-US" b="1"/>
              <a:t>	</a:t>
            </a:r>
            <a:r>
              <a:rPr lang="vi-VN" b="1" smtClean="0"/>
              <a:t>R </a:t>
            </a:r>
            <a:r>
              <a:rPr lang="vi-VN"/>
              <a:t>= </a:t>
            </a:r>
            <a:r>
              <a:rPr lang="vi-VN" smtClean="0">
                <a:sym typeface="Symbol"/>
              </a:rPr>
              <a:t></a:t>
            </a:r>
            <a:r>
              <a:rPr lang="vi-VN" smtClean="0"/>
              <a:t> </a:t>
            </a:r>
            <a:r>
              <a:rPr lang="vi-VN" b="1"/>
              <a:t>+ PP* </a:t>
            </a:r>
            <a:r>
              <a:rPr lang="vi-VN"/>
              <a:t>= </a:t>
            </a:r>
            <a:r>
              <a:rPr lang="vi-VN" b="1"/>
              <a:t>P* </a:t>
            </a:r>
            <a:r>
              <a:rPr lang="en-US" b="1" smtClean="0"/>
              <a:t>		</a:t>
            </a:r>
            <a:r>
              <a:rPr lang="vi-VN" smtClean="0"/>
              <a:t>(</a:t>
            </a:r>
            <a:r>
              <a:rPr lang="vi-VN"/>
              <a:t>theo I</a:t>
            </a:r>
            <a:r>
              <a:rPr lang="vi-VN" baseline="-25000"/>
              <a:t>9</a:t>
            </a:r>
            <a:r>
              <a:rPr lang="vi-VN"/>
              <a:t>) </a:t>
            </a:r>
            <a:endParaRPr lang="en-US" smtClean="0"/>
          </a:p>
          <a:p>
            <a:pPr marL="0" indent="0">
              <a:buNone/>
            </a:pPr>
            <a:r>
              <a:rPr lang="en-US"/>
              <a:t>	</a:t>
            </a:r>
            <a:r>
              <a:rPr lang="en-US" smtClean="0"/>
              <a:t>    </a:t>
            </a:r>
            <a:r>
              <a:rPr lang="vi-VN" smtClean="0"/>
              <a:t>= </a:t>
            </a:r>
            <a:r>
              <a:rPr lang="vi-VN"/>
              <a:t>(</a:t>
            </a:r>
            <a:r>
              <a:rPr lang="vi-VN" b="1"/>
              <a:t>1*</a:t>
            </a:r>
            <a:r>
              <a:rPr lang="vi-VN"/>
              <a:t>(</a:t>
            </a:r>
            <a:r>
              <a:rPr lang="vi-VN" b="1"/>
              <a:t>011</a:t>
            </a:r>
            <a:r>
              <a:rPr lang="vi-VN"/>
              <a:t>)</a:t>
            </a:r>
            <a:r>
              <a:rPr lang="vi-VN" b="1"/>
              <a:t>*</a:t>
            </a:r>
            <a:r>
              <a:rPr lang="vi-VN"/>
              <a:t>)</a:t>
            </a:r>
            <a:r>
              <a:rPr lang="vi-VN" b="1"/>
              <a:t>* </a:t>
            </a:r>
            <a:r>
              <a:rPr lang="en-US" b="1" smtClean="0"/>
              <a:t>		</a:t>
            </a:r>
            <a:r>
              <a:rPr lang="vi-VN" smtClean="0"/>
              <a:t>(</a:t>
            </a:r>
            <a:r>
              <a:rPr lang="vi-VN"/>
              <a:t>Áp dụng định lý </a:t>
            </a:r>
            <a:r>
              <a:rPr lang="en-US" smtClean="0"/>
              <a:t>3</a:t>
            </a:r>
            <a:r>
              <a:rPr lang="vi-VN" smtClean="0"/>
              <a:t>.</a:t>
            </a:r>
            <a:r>
              <a:rPr lang="en-US" smtClean="0"/>
              <a:t>2</a:t>
            </a:r>
            <a:r>
              <a:rPr lang="vi-VN" smtClean="0"/>
              <a:t> </a:t>
            </a:r>
            <a:r>
              <a:rPr lang="vi-VN"/>
              <a:t>với Q = </a:t>
            </a:r>
            <a:r>
              <a:rPr lang="vi-VN" smtClean="0">
                <a:sym typeface="Symbol"/>
              </a:rPr>
              <a:t></a:t>
            </a:r>
            <a:r>
              <a:rPr lang="vi-VN" smtClean="0"/>
              <a:t>) </a:t>
            </a:r>
            <a:endParaRPr lang="en-US" smtClean="0"/>
          </a:p>
          <a:p>
            <a:pPr marL="0" indent="0">
              <a:buNone/>
            </a:pPr>
            <a:r>
              <a:rPr lang="en-US"/>
              <a:t> </a:t>
            </a:r>
            <a:r>
              <a:rPr lang="en-US" smtClean="0"/>
              <a:t>          </a:t>
            </a:r>
            <a:r>
              <a:rPr lang="vi-VN" smtClean="0"/>
              <a:t>= </a:t>
            </a:r>
            <a:r>
              <a:rPr lang="vi-VN"/>
              <a:t>(</a:t>
            </a:r>
            <a:r>
              <a:rPr lang="vi-VN" b="1"/>
              <a:t>P1*P2*</a:t>
            </a:r>
            <a:r>
              <a:rPr lang="vi-VN"/>
              <a:t>) </a:t>
            </a:r>
            <a:r>
              <a:rPr lang="vi-VN" b="1"/>
              <a:t>* </a:t>
            </a:r>
            <a:r>
              <a:rPr lang="en-US" b="1" smtClean="0"/>
              <a:t>			</a:t>
            </a:r>
            <a:r>
              <a:rPr lang="vi-VN" smtClean="0"/>
              <a:t>(</a:t>
            </a:r>
            <a:r>
              <a:rPr lang="vi-VN"/>
              <a:t>Đặt </a:t>
            </a:r>
            <a:r>
              <a:rPr lang="vi-VN" b="1"/>
              <a:t>P </a:t>
            </a:r>
            <a:r>
              <a:rPr lang="vi-VN"/>
              <a:t>= </a:t>
            </a:r>
            <a:r>
              <a:rPr lang="vi-VN" b="1"/>
              <a:t>1, P2 </a:t>
            </a:r>
            <a:r>
              <a:rPr lang="vi-VN"/>
              <a:t>= </a:t>
            </a:r>
            <a:r>
              <a:rPr lang="vi-VN" b="1"/>
              <a:t>011</a:t>
            </a:r>
            <a:r>
              <a:rPr lang="vi-VN"/>
              <a:t>) </a:t>
            </a:r>
            <a:endParaRPr lang="en-US" smtClean="0"/>
          </a:p>
          <a:p>
            <a:pPr marL="0" indent="0">
              <a:buNone/>
            </a:pPr>
            <a:r>
              <a:rPr lang="en-US"/>
              <a:t> </a:t>
            </a:r>
            <a:r>
              <a:rPr lang="en-US" smtClean="0"/>
              <a:t>          </a:t>
            </a:r>
            <a:r>
              <a:rPr lang="vi-VN" smtClean="0"/>
              <a:t>= </a:t>
            </a:r>
            <a:r>
              <a:rPr lang="vi-VN"/>
              <a:t>(</a:t>
            </a:r>
            <a:r>
              <a:rPr lang="vi-VN" b="1"/>
              <a:t>P1 + P2</a:t>
            </a:r>
            <a:r>
              <a:rPr lang="vi-VN"/>
              <a:t>)</a:t>
            </a:r>
            <a:r>
              <a:rPr lang="vi-VN" b="1"/>
              <a:t>* </a:t>
            </a:r>
            <a:r>
              <a:rPr lang="en-US" b="1" smtClean="0"/>
              <a:t>			</a:t>
            </a:r>
            <a:r>
              <a:rPr lang="vi-VN" smtClean="0"/>
              <a:t>(</a:t>
            </a:r>
            <a:r>
              <a:rPr lang="vi-VN"/>
              <a:t>theo I</a:t>
            </a:r>
            <a:r>
              <a:rPr lang="vi-VN" baseline="-25000"/>
              <a:t>11</a:t>
            </a:r>
            <a:r>
              <a:rPr lang="vi-VN"/>
              <a:t>) </a:t>
            </a:r>
            <a:endParaRPr lang="en-US" smtClean="0"/>
          </a:p>
          <a:p>
            <a:pPr marL="0" indent="0">
              <a:buNone/>
            </a:pPr>
            <a:r>
              <a:rPr lang="en-US"/>
              <a:t> </a:t>
            </a:r>
            <a:r>
              <a:rPr lang="en-US" smtClean="0"/>
              <a:t>          </a:t>
            </a:r>
            <a:r>
              <a:rPr lang="vi-VN" smtClean="0"/>
              <a:t>= </a:t>
            </a:r>
            <a:r>
              <a:rPr lang="vi-VN"/>
              <a:t>(</a:t>
            </a:r>
            <a:r>
              <a:rPr lang="vi-VN" b="1"/>
              <a:t>1 + 011</a:t>
            </a:r>
            <a:r>
              <a:rPr lang="vi-VN"/>
              <a:t>)</a:t>
            </a:r>
            <a:r>
              <a:rPr lang="vi-VN" b="1"/>
              <a:t>*</a:t>
            </a:r>
            <a:endParaRPr lang="en-US"/>
          </a:p>
        </p:txBody>
      </p:sp>
    </p:spTree>
    <p:extLst>
      <p:ext uri="{BB962C8B-B14F-4D97-AF65-F5344CB8AC3E}">
        <p14:creationId xmlns:p14="http://schemas.microsoft.com/office/powerpoint/2010/main" val="2058917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a:t>Ví dụ </a:t>
            </a:r>
            <a:r>
              <a:rPr lang="en-US" b="1" smtClean="0"/>
              <a:t>3.4 </a:t>
            </a:r>
            <a:r>
              <a:rPr lang="en-US"/>
              <a:t>Hãy chỉ ra rằng </a:t>
            </a:r>
            <a:endParaRPr lang="en-US" smtClean="0"/>
          </a:p>
          <a:p>
            <a:pPr marL="0" indent="0">
              <a:buNone/>
            </a:pPr>
            <a:r>
              <a:rPr lang="en-US"/>
              <a:t>	</a:t>
            </a:r>
            <a:r>
              <a:rPr lang="en-US" smtClean="0"/>
              <a:t>(</a:t>
            </a:r>
            <a:r>
              <a:rPr lang="en-US" b="1"/>
              <a:t>1+00*1</a:t>
            </a:r>
            <a:r>
              <a:rPr lang="en-US"/>
              <a:t>) </a:t>
            </a:r>
            <a:r>
              <a:rPr lang="en-US" b="1"/>
              <a:t>+ </a:t>
            </a:r>
            <a:r>
              <a:rPr lang="en-US"/>
              <a:t>(</a:t>
            </a:r>
            <a:r>
              <a:rPr lang="en-US" b="1"/>
              <a:t>1+00*1</a:t>
            </a:r>
            <a:r>
              <a:rPr lang="en-US"/>
              <a:t>)(</a:t>
            </a:r>
            <a:r>
              <a:rPr lang="en-US" b="1"/>
              <a:t>0+10*1</a:t>
            </a:r>
            <a:r>
              <a:rPr lang="en-US"/>
              <a:t>)</a:t>
            </a:r>
            <a:r>
              <a:rPr lang="en-US" b="1"/>
              <a:t>*</a:t>
            </a:r>
            <a:r>
              <a:rPr lang="en-US"/>
              <a:t>(</a:t>
            </a:r>
            <a:r>
              <a:rPr lang="en-US" b="1"/>
              <a:t>0+10*1</a:t>
            </a:r>
            <a:r>
              <a:rPr lang="en-US"/>
              <a:t>) = </a:t>
            </a:r>
            <a:r>
              <a:rPr lang="en-US" b="1"/>
              <a:t>0*1</a:t>
            </a:r>
            <a:r>
              <a:rPr lang="en-US"/>
              <a:t>(</a:t>
            </a:r>
            <a:r>
              <a:rPr lang="en-US" b="1"/>
              <a:t>0 + 10*1</a:t>
            </a:r>
            <a:r>
              <a:rPr lang="en-US"/>
              <a:t>)</a:t>
            </a:r>
            <a:r>
              <a:rPr lang="en-US" b="1"/>
              <a:t>* </a:t>
            </a:r>
            <a:endParaRPr lang="en-US" b="1" smtClean="0"/>
          </a:p>
          <a:p>
            <a:pPr marL="0" indent="0">
              <a:buNone/>
            </a:pPr>
            <a:r>
              <a:rPr lang="en-US" b="1"/>
              <a:t>	</a:t>
            </a:r>
            <a:r>
              <a:rPr lang="en-US" smtClean="0"/>
              <a:t>Bởi </a:t>
            </a:r>
            <a:r>
              <a:rPr lang="en-US"/>
              <a:t>vì </a:t>
            </a:r>
            <a:endParaRPr lang="en-US" smtClean="0"/>
          </a:p>
          <a:p>
            <a:pPr marL="0" indent="0">
              <a:buNone/>
            </a:pPr>
            <a:r>
              <a:rPr lang="en-US"/>
              <a:t> </a:t>
            </a:r>
            <a:r>
              <a:rPr lang="en-US" smtClean="0"/>
              <a:t> (</a:t>
            </a:r>
            <a:r>
              <a:rPr lang="en-US" b="1"/>
              <a:t>1+00*1</a:t>
            </a:r>
            <a:r>
              <a:rPr lang="en-US"/>
              <a:t>) </a:t>
            </a:r>
            <a:r>
              <a:rPr lang="en-US" b="1"/>
              <a:t>+</a:t>
            </a:r>
            <a:r>
              <a:rPr lang="en-US"/>
              <a:t>(</a:t>
            </a:r>
            <a:r>
              <a:rPr lang="en-US" b="1"/>
              <a:t>1+00*1</a:t>
            </a:r>
            <a:r>
              <a:rPr lang="en-US"/>
              <a:t>)(</a:t>
            </a:r>
            <a:r>
              <a:rPr lang="en-US" b="1"/>
              <a:t>0+10*1</a:t>
            </a:r>
            <a:r>
              <a:rPr lang="en-US"/>
              <a:t>)*(</a:t>
            </a:r>
            <a:r>
              <a:rPr lang="en-US" b="1"/>
              <a:t>0+10*1</a:t>
            </a:r>
            <a:r>
              <a:rPr lang="en-US"/>
              <a:t>) = (</a:t>
            </a:r>
            <a:r>
              <a:rPr lang="en-US" b="1"/>
              <a:t>1+00*1</a:t>
            </a:r>
            <a:r>
              <a:rPr lang="en-US" smtClean="0"/>
              <a:t>)(</a:t>
            </a:r>
            <a:r>
              <a:rPr lang="en-US" smtClean="0">
                <a:sym typeface="Symbol"/>
              </a:rPr>
              <a:t></a:t>
            </a:r>
            <a:r>
              <a:rPr lang="en-US" b="1" smtClean="0"/>
              <a:t>+</a:t>
            </a:r>
            <a:r>
              <a:rPr lang="en-US" smtClean="0"/>
              <a:t>(</a:t>
            </a:r>
            <a:r>
              <a:rPr lang="en-US" b="1"/>
              <a:t>0+10*1</a:t>
            </a:r>
            <a:r>
              <a:rPr lang="en-US"/>
              <a:t>)*(</a:t>
            </a:r>
            <a:r>
              <a:rPr lang="en-US" b="1"/>
              <a:t>0+10*1</a:t>
            </a:r>
            <a:r>
              <a:rPr lang="en-US"/>
              <a:t>) (theo I</a:t>
            </a:r>
            <a:r>
              <a:rPr lang="en-US" baseline="-25000"/>
              <a:t>12</a:t>
            </a:r>
            <a:r>
              <a:rPr lang="en-US"/>
              <a:t>) </a:t>
            </a:r>
            <a:endParaRPr lang="en-US" smtClean="0"/>
          </a:p>
          <a:p>
            <a:pPr marL="0" indent="0">
              <a:buNone/>
            </a:pPr>
            <a:r>
              <a:rPr lang="en-US" smtClean="0"/>
              <a:t>									= </a:t>
            </a:r>
            <a:r>
              <a:rPr lang="en-US"/>
              <a:t>(</a:t>
            </a:r>
            <a:r>
              <a:rPr lang="en-US" b="1"/>
              <a:t>1 + 00*1</a:t>
            </a:r>
            <a:r>
              <a:rPr lang="en-US"/>
              <a:t>)(</a:t>
            </a:r>
            <a:r>
              <a:rPr lang="en-US" b="1"/>
              <a:t>0 + 10*1</a:t>
            </a:r>
            <a:r>
              <a:rPr lang="en-US"/>
              <a:t>)</a:t>
            </a:r>
            <a:r>
              <a:rPr lang="en-US" b="1"/>
              <a:t>* </a:t>
            </a:r>
            <a:r>
              <a:rPr lang="en-US"/>
              <a:t>(theo </a:t>
            </a:r>
            <a:r>
              <a:rPr lang="en-US" smtClean="0"/>
              <a:t>I</a:t>
            </a:r>
            <a:r>
              <a:rPr lang="en-US" baseline="-25000" smtClean="0"/>
              <a:t>9</a:t>
            </a:r>
            <a:r>
              <a:rPr lang="en-US" smtClean="0"/>
              <a:t>) </a:t>
            </a:r>
          </a:p>
          <a:p>
            <a:pPr marL="0" indent="0">
              <a:buNone/>
            </a:pPr>
            <a:r>
              <a:rPr lang="en-US" smtClean="0"/>
              <a:t>									= (</a:t>
            </a:r>
            <a:r>
              <a:rPr lang="en-US" smtClean="0">
                <a:sym typeface="Symbol"/>
              </a:rPr>
              <a:t></a:t>
            </a:r>
            <a:r>
              <a:rPr lang="en-US" smtClean="0"/>
              <a:t> </a:t>
            </a:r>
            <a:r>
              <a:rPr lang="en-US" b="1"/>
              <a:t>+ 00*</a:t>
            </a:r>
            <a:r>
              <a:rPr lang="en-US"/>
              <a:t>)</a:t>
            </a:r>
            <a:r>
              <a:rPr lang="en-US" b="1"/>
              <a:t>1 </a:t>
            </a:r>
            <a:r>
              <a:rPr lang="en-US"/>
              <a:t>(</a:t>
            </a:r>
            <a:r>
              <a:rPr lang="en-US" b="1"/>
              <a:t>0 + 10*1</a:t>
            </a:r>
            <a:r>
              <a:rPr lang="en-US"/>
              <a:t>)</a:t>
            </a:r>
            <a:r>
              <a:rPr lang="en-US" b="1"/>
              <a:t>* </a:t>
            </a:r>
            <a:endParaRPr lang="en-US" b="1" smtClean="0"/>
          </a:p>
          <a:p>
            <a:pPr marL="0" indent="0">
              <a:buNone/>
            </a:pPr>
            <a:r>
              <a:rPr lang="en-US" b="1" smtClean="0"/>
              <a:t>									= </a:t>
            </a:r>
            <a:r>
              <a:rPr lang="en-US" b="1"/>
              <a:t>0*1</a:t>
            </a:r>
            <a:r>
              <a:rPr lang="en-US"/>
              <a:t>(</a:t>
            </a:r>
            <a:r>
              <a:rPr lang="en-US" b="1"/>
              <a:t>0 + 10*1</a:t>
            </a:r>
            <a:r>
              <a:rPr lang="en-US"/>
              <a:t>)</a:t>
            </a:r>
            <a:r>
              <a:rPr lang="en-US" b="1"/>
              <a:t>* </a:t>
            </a:r>
            <a:r>
              <a:rPr lang="en-US"/>
              <a:t>(theo I</a:t>
            </a:r>
            <a:r>
              <a:rPr lang="en-US" baseline="-25000"/>
              <a:t>9</a:t>
            </a:r>
            <a:r>
              <a:rPr lang="en-US"/>
              <a:t>)</a:t>
            </a:r>
          </a:p>
        </p:txBody>
      </p:sp>
    </p:spTree>
    <p:extLst>
      <p:ext uri="{BB962C8B-B14F-4D97-AF65-F5344CB8AC3E}">
        <p14:creationId xmlns:p14="http://schemas.microsoft.com/office/powerpoint/2010/main" val="3846412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3.2  Sự liên hệ giữa otomat hữu hạn và </a:t>
            </a:r>
            <a:r>
              <a:rPr lang="en-US" b="1" smtClean="0"/>
              <a:t>biểu thức </a:t>
            </a:r>
            <a:r>
              <a:rPr lang="en-US" b="1"/>
              <a:t>chính quy </a:t>
            </a:r>
            <a:r>
              <a:rPr lang="en-US"/>
              <a:t> </a:t>
            </a:r>
          </a:p>
        </p:txBody>
      </p:sp>
      <p:sp>
        <p:nvSpPr>
          <p:cNvPr id="3" name="Content Placeholder 2"/>
          <p:cNvSpPr>
            <a:spLocks noGrp="1"/>
          </p:cNvSpPr>
          <p:nvPr>
            <p:ph idx="1"/>
          </p:nvPr>
        </p:nvSpPr>
        <p:spPr>
          <a:xfrm>
            <a:off x="2589212" y="2133600"/>
            <a:ext cx="8915400" cy="4202806"/>
          </a:xfrm>
        </p:spPr>
        <p:txBody>
          <a:bodyPr>
            <a:normAutofit/>
          </a:bodyPr>
          <a:lstStyle/>
          <a:p>
            <a:r>
              <a:rPr lang="en-US" smtClean="0"/>
              <a:t> </a:t>
            </a:r>
            <a:r>
              <a:rPr lang="vi-VN" b="1"/>
              <a:t>Định nghĩa </a:t>
            </a:r>
            <a:r>
              <a:rPr lang="en-US" b="1" smtClean="0"/>
              <a:t>3</a:t>
            </a:r>
            <a:r>
              <a:rPr lang="vi-VN" b="1" smtClean="0"/>
              <a:t>.</a:t>
            </a:r>
            <a:r>
              <a:rPr lang="en-US" b="1" smtClean="0"/>
              <a:t>5</a:t>
            </a:r>
            <a:r>
              <a:rPr lang="vi-VN" b="1" smtClean="0"/>
              <a:t> </a:t>
            </a:r>
            <a:r>
              <a:rPr lang="vi-VN" i="1"/>
              <a:t>Hệ thống chuyển trạng thái </a:t>
            </a:r>
            <a:r>
              <a:rPr lang="vi-VN"/>
              <a:t>(gọi tắt là </a:t>
            </a:r>
            <a:r>
              <a:rPr lang="vi-VN" i="1"/>
              <a:t>hệ chuyển trạng thái</a:t>
            </a:r>
            <a:r>
              <a:rPr lang="vi-VN"/>
              <a:t>) là bộ </a:t>
            </a:r>
            <a:r>
              <a:rPr lang="vi-VN" i="1"/>
              <a:t>S = </a:t>
            </a:r>
            <a:r>
              <a:rPr lang="vi-VN"/>
              <a:t>(Q, </a:t>
            </a:r>
            <a:r>
              <a:rPr lang="vi-VN" smtClean="0">
                <a:sym typeface="Symbol"/>
              </a:rPr>
              <a:t></a:t>
            </a:r>
            <a:r>
              <a:rPr lang="vi-VN" smtClean="0"/>
              <a:t>, </a:t>
            </a:r>
            <a:r>
              <a:rPr lang="vi-VN">
                <a:sym typeface="Symbol"/>
              </a:rPr>
              <a:t></a:t>
            </a:r>
            <a:r>
              <a:rPr lang="vi-VN" smtClean="0"/>
              <a:t>, </a:t>
            </a:r>
            <a:r>
              <a:rPr lang="vi-VN"/>
              <a:t>Q</a:t>
            </a:r>
            <a:r>
              <a:rPr lang="vi-VN" baseline="-25000"/>
              <a:t>0</a:t>
            </a:r>
            <a:r>
              <a:rPr lang="vi-VN"/>
              <a:t>, F), trong đó </a:t>
            </a:r>
          </a:p>
          <a:p>
            <a:pPr lvl="1"/>
            <a:r>
              <a:rPr lang="en-US" i="1"/>
              <a:t>(a) </a:t>
            </a:r>
            <a:r>
              <a:rPr lang="en-US"/>
              <a:t>Q, </a:t>
            </a:r>
            <a:r>
              <a:rPr lang="vi-VN">
                <a:sym typeface="Symbol"/>
              </a:rPr>
              <a:t></a:t>
            </a:r>
            <a:r>
              <a:rPr lang="en-US" smtClean="0"/>
              <a:t> </a:t>
            </a:r>
            <a:r>
              <a:rPr lang="en-US"/>
              <a:t>và F </a:t>
            </a:r>
            <a:r>
              <a:rPr lang="en-US" smtClean="0">
                <a:sym typeface="Symbol"/>
              </a:rPr>
              <a:t></a:t>
            </a:r>
            <a:r>
              <a:rPr lang="en-US" smtClean="0"/>
              <a:t> </a:t>
            </a:r>
            <a:r>
              <a:rPr lang="en-US"/>
              <a:t>Q là tập hữu hạn trạng thái khác rỗng, bảng chữ vào và tập hữu hạn trạng thái kết thúc, </a:t>
            </a:r>
          </a:p>
          <a:p>
            <a:pPr lvl="1"/>
            <a:r>
              <a:rPr lang="vi-VN" i="1"/>
              <a:t>(b) </a:t>
            </a:r>
            <a:r>
              <a:rPr lang="vi-VN"/>
              <a:t>Q</a:t>
            </a:r>
            <a:r>
              <a:rPr lang="vi-VN" baseline="-25000"/>
              <a:t>0</a:t>
            </a:r>
            <a:r>
              <a:rPr lang="vi-VN"/>
              <a:t> </a:t>
            </a:r>
            <a:r>
              <a:rPr lang="en-US">
                <a:sym typeface="Symbol"/>
              </a:rPr>
              <a:t></a:t>
            </a:r>
            <a:r>
              <a:rPr lang="vi-VN" smtClean="0"/>
              <a:t> </a:t>
            </a:r>
            <a:r>
              <a:rPr lang="vi-VN"/>
              <a:t>Q là tập các trạng thái khởi đầu, khác rỗng, |Q</a:t>
            </a:r>
            <a:r>
              <a:rPr lang="vi-VN" baseline="-25000"/>
              <a:t>0</a:t>
            </a:r>
            <a:r>
              <a:rPr lang="vi-VN"/>
              <a:t>| </a:t>
            </a:r>
            <a:r>
              <a:rPr lang="vi-VN" smtClean="0">
                <a:sym typeface="Symbol"/>
              </a:rPr>
              <a:t></a:t>
            </a:r>
            <a:r>
              <a:rPr lang="vi-VN" smtClean="0"/>
              <a:t> </a:t>
            </a:r>
            <a:r>
              <a:rPr lang="vi-VN"/>
              <a:t>1 </a:t>
            </a:r>
          </a:p>
          <a:p>
            <a:pPr lvl="1"/>
            <a:r>
              <a:rPr lang="vi-VN" i="1"/>
              <a:t>(c) </a:t>
            </a:r>
            <a:r>
              <a:rPr lang="vi-VN">
                <a:sym typeface="Symbol"/>
              </a:rPr>
              <a:t> </a:t>
            </a:r>
            <a:r>
              <a:rPr lang="vi-VN" smtClean="0"/>
              <a:t>: </a:t>
            </a:r>
            <a:r>
              <a:rPr lang="vi-VN"/>
              <a:t>Q </a:t>
            </a:r>
            <a:r>
              <a:rPr lang="en-US" smtClean="0"/>
              <a:t>x</a:t>
            </a:r>
            <a:r>
              <a:rPr lang="vi-VN" smtClean="0"/>
              <a:t> </a:t>
            </a:r>
            <a:r>
              <a:rPr lang="vi-VN" smtClean="0">
                <a:sym typeface="Symbol"/>
              </a:rPr>
              <a:t></a:t>
            </a:r>
            <a:r>
              <a:rPr lang="vi-VN" smtClean="0"/>
              <a:t>* </a:t>
            </a:r>
            <a:r>
              <a:rPr lang="en-US" smtClean="0">
                <a:sym typeface="Wingdings" pitchFamily="2" charset="2"/>
              </a:rPr>
              <a:t></a:t>
            </a:r>
            <a:r>
              <a:rPr lang="vi-VN" smtClean="0"/>
              <a:t> </a:t>
            </a:r>
            <a:r>
              <a:rPr lang="vi-VN"/>
              <a:t>Q. Nói cách khác, </a:t>
            </a:r>
            <a:r>
              <a:rPr lang="vi-VN" smtClean="0">
                <a:sym typeface="Symbol"/>
              </a:rPr>
              <a:t></a:t>
            </a:r>
            <a:r>
              <a:rPr lang="vi-VN" smtClean="0"/>
              <a:t> </a:t>
            </a:r>
            <a:r>
              <a:rPr lang="vi-VN"/>
              <a:t>(q</a:t>
            </a:r>
            <a:r>
              <a:rPr lang="vi-VN" baseline="-25000"/>
              <a:t>1</a:t>
            </a:r>
            <a:r>
              <a:rPr lang="vi-VN"/>
              <a:t>, w) = q</a:t>
            </a:r>
            <a:r>
              <a:rPr lang="vi-VN" baseline="-25000"/>
              <a:t>2</a:t>
            </a:r>
            <a:r>
              <a:rPr lang="vi-VN"/>
              <a:t>, nghĩa là trên đồ thị chuyển trạng thái có một đường đi bắt đầu từ q</a:t>
            </a:r>
            <a:r>
              <a:rPr lang="vi-VN" baseline="-25000"/>
              <a:t>1</a:t>
            </a:r>
            <a:r>
              <a:rPr lang="vi-VN"/>
              <a:t> đến q</a:t>
            </a:r>
            <a:r>
              <a:rPr lang="vi-VN" baseline="-25000"/>
              <a:t>2</a:t>
            </a:r>
            <a:r>
              <a:rPr lang="vi-VN"/>
              <a:t> và các nhãn của các cung ghép lại thành w, w có thể là </a:t>
            </a:r>
            <a:r>
              <a:rPr lang="vi-VN" smtClean="0">
                <a:sym typeface="Symbol"/>
              </a:rPr>
              <a:t></a:t>
            </a:r>
            <a:r>
              <a:rPr lang="vi-VN" smtClean="0"/>
              <a:t> </a:t>
            </a:r>
            <a:r>
              <a:rPr lang="vi-VN"/>
              <a:t>. </a:t>
            </a:r>
          </a:p>
          <a:p>
            <a:r>
              <a:rPr lang="vi-VN" b="1"/>
              <a:t>Định nghĩa 4.5 </a:t>
            </a:r>
            <a:r>
              <a:rPr lang="vi-VN"/>
              <a:t>Hệ chuyển trạng thái </a:t>
            </a:r>
            <a:r>
              <a:rPr lang="vi-VN" i="1"/>
              <a:t>S = </a:t>
            </a:r>
            <a:r>
              <a:rPr lang="vi-VN"/>
              <a:t>(Q, </a:t>
            </a:r>
            <a:r>
              <a:rPr lang="vi-VN">
                <a:sym typeface="Symbol"/>
              </a:rPr>
              <a:t></a:t>
            </a:r>
            <a:r>
              <a:rPr lang="vi-VN"/>
              <a:t>, </a:t>
            </a:r>
            <a:r>
              <a:rPr lang="vi-VN">
                <a:sym typeface="Symbol"/>
              </a:rPr>
              <a:t></a:t>
            </a:r>
            <a:r>
              <a:rPr lang="vi-VN"/>
              <a:t>, Q</a:t>
            </a:r>
            <a:r>
              <a:rPr lang="vi-VN" baseline="-25000"/>
              <a:t>0</a:t>
            </a:r>
            <a:r>
              <a:rPr lang="vi-VN"/>
              <a:t>, F)</a:t>
            </a:r>
            <a:r>
              <a:rPr lang="vi-VN" smtClean="0"/>
              <a:t> </a:t>
            </a:r>
            <a:r>
              <a:rPr lang="vi-VN" i="1"/>
              <a:t>chấp nhận </a:t>
            </a:r>
            <a:r>
              <a:rPr lang="vi-VN"/>
              <a:t>(đoán </a:t>
            </a:r>
            <a:r>
              <a:rPr lang="vi-VN" smtClean="0"/>
              <a:t>nhận</a:t>
            </a:r>
            <a:r>
              <a:rPr lang="en-US" smtClean="0"/>
              <a:t> - recognised</a:t>
            </a:r>
            <a:r>
              <a:rPr lang="vi-VN" smtClean="0"/>
              <a:t>) </a:t>
            </a:r>
            <a:r>
              <a:rPr lang="vi-VN"/>
              <a:t>xâu w trong </a:t>
            </a:r>
            <a:r>
              <a:rPr lang="vi-VN" smtClean="0">
                <a:sym typeface="Symbol"/>
              </a:rPr>
              <a:t></a:t>
            </a:r>
            <a:r>
              <a:rPr lang="vi-VN" smtClean="0"/>
              <a:t>* </a:t>
            </a:r>
            <a:r>
              <a:rPr lang="vi-VN"/>
              <a:t>nếu </a:t>
            </a:r>
          </a:p>
          <a:p>
            <a:pPr lvl="1"/>
            <a:r>
              <a:rPr lang="vi-VN"/>
              <a:t>(a) Có một đường đi trên đồ thị trạng thái, bắt đầu từ một đỉnh khởi đầu (nằm trong Q</a:t>
            </a:r>
            <a:r>
              <a:rPr lang="vi-VN" baseline="-25000"/>
              <a:t>0</a:t>
            </a:r>
            <a:r>
              <a:rPr lang="vi-VN"/>
              <a:t>) và kết thúc tại một đỉnh kết thúc (đỉnh thuộc F), </a:t>
            </a:r>
          </a:p>
          <a:p>
            <a:pPr lvl="1"/>
            <a:r>
              <a:rPr lang="vi-VN"/>
              <a:t>(b) Các nhãn trên các cung trên đường đi đó ghép lại tạo thành </a:t>
            </a:r>
            <a:r>
              <a:rPr lang="vi-VN" i="1"/>
              <a:t>w</a:t>
            </a:r>
            <a:r>
              <a:rPr lang="vi-VN"/>
              <a:t>. </a:t>
            </a:r>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035537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47730"/>
            <a:ext cx="8915400" cy="5563492"/>
          </a:xfrm>
        </p:spPr>
        <p:txBody>
          <a:bodyPr/>
          <a:lstStyle/>
          <a:p>
            <a:r>
              <a:rPr lang="vi-VN" b="1"/>
              <a:t>Định nghĩa 4.6 </a:t>
            </a:r>
            <a:r>
              <a:rPr lang="vi-VN"/>
              <a:t>Ngôn ngữ đoán nhận được bởi hệ chuyển trạng thái </a:t>
            </a:r>
            <a:r>
              <a:rPr lang="vi-VN" i="1"/>
              <a:t>S = </a:t>
            </a:r>
            <a:r>
              <a:rPr lang="vi-VN"/>
              <a:t>(Q, </a:t>
            </a:r>
            <a:r>
              <a:rPr lang="vi-VN">
                <a:sym typeface="Symbol"/>
              </a:rPr>
              <a:t></a:t>
            </a:r>
            <a:r>
              <a:rPr lang="vi-VN"/>
              <a:t>, </a:t>
            </a:r>
            <a:r>
              <a:rPr lang="vi-VN">
                <a:sym typeface="Symbol"/>
              </a:rPr>
              <a:t></a:t>
            </a:r>
            <a:r>
              <a:rPr lang="vi-VN"/>
              <a:t>, Q</a:t>
            </a:r>
            <a:r>
              <a:rPr lang="vi-VN" baseline="-25000"/>
              <a:t>0</a:t>
            </a:r>
            <a:r>
              <a:rPr lang="vi-VN"/>
              <a:t>, F)</a:t>
            </a:r>
            <a:r>
              <a:rPr lang="vi-VN" smtClean="0"/>
              <a:t>, </a:t>
            </a:r>
            <a:r>
              <a:rPr lang="vi-VN"/>
              <a:t>ký hiệu là L(S), là tập tất cả các xâu đoán nhận được bởi S. </a:t>
            </a:r>
            <a:endParaRPr lang="en-US" smtClean="0"/>
          </a:p>
          <a:p>
            <a:pPr marL="0" indent="0">
              <a:buNone/>
            </a:pPr>
            <a:r>
              <a:rPr lang="en-US" smtClean="0"/>
              <a:t>		</a:t>
            </a:r>
            <a:r>
              <a:rPr lang="vi-VN" smtClean="0"/>
              <a:t>L(S</a:t>
            </a:r>
            <a:r>
              <a:rPr lang="vi-VN"/>
              <a:t>) = {w </a:t>
            </a:r>
            <a:r>
              <a:rPr lang="vi-VN" smtClean="0">
                <a:sym typeface="Symbol"/>
              </a:rPr>
              <a:t></a:t>
            </a:r>
            <a:r>
              <a:rPr lang="en-US" smtClean="0">
                <a:sym typeface="Symbol"/>
              </a:rPr>
              <a:t> </a:t>
            </a:r>
            <a:r>
              <a:rPr lang="vi-VN" smtClean="0">
                <a:sym typeface="Symbol"/>
              </a:rPr>
              <a:t></a:t>
            </a:r>
            <a:r>
              <a:rPr lang="vi-VN" smtClean="0"/>
              <a:t>* </a:t>
            </a:r>
            <a:r>
              <a:rPr lang="vi-VN"/>
              <a:t>| </a:t>
            </a:r>
            <a:r>
              <a:rPr lang="vi-VN" smtClean="0">
                <a:sym typeface="Symbol"/>
              </a:rPr>
              <a:t></a:t>
            </a:r>
            <a:r>
              <a:rPr lang="vi-VN" smtClean="0"/>
              <a:t>q </a:t>
            </a:r>
            <a:r>
              <a:rPr lang="vi-VN">
                <a:sym typeface="Symbol"/>
              </a:rPr>
              <a:t></a:t>
            </a:r>
            <a:r>
              <a:rPr lang="vi-VN" smtClean="0"/>
              <a:t> </a:t>
            </a:r>
            <a:r>
              <a:rPr lang="vi-VN"/>
              <a:t>Q</a:t>
            </a:r>
            <a:r>
              <a:rPr lang="vi-VN" baseline="-25000"/>
              <a:t>0</a:t>
            </a:r>
            <a:r>
              <a:rPr lang="vi-VN"/>
              <a:t>, </a:t>
            </a:r>
            <a:r>
              <a:rPr lang="vi-VN" smtClean="0">
                <a:sym typeface="Symbol"/>
              </a:rPr>
              <a:t></a:t>
            </a:r>
            <a:r>
              <a:rPr lang="vi-VN" smtClean="0"/>
              <a:t>(</a:t>
            </a:r>
            <a:r>
              <a:rPr lang="vi-VN"/>
              <a:t>q, w) </a:t>
            </a:r>
            <a:r>
              <a:rPr lang="vi-VN" smtClean="0">
                <a:sym typeface="Symbol"/>
              </a:rPr>
              <a:t></a:t>
            </a:r>
            <a:r>
              <a:rPr lang="vi-VN" smtClean="0"/>
              <a:t> </a:t>
            </a:r>
            <a:r>
              <a:rPr lang="vi-VN"/>
              <a:t>F </a:t>
            </a:r>
            <a:r>
              <a:rPr lang="vi-VN">
                <a:sym typeface="Symbol"/>
              </a:rPr>
              <a:t></a:t>
            </a:r>
            <a:r>
              <a:rPr lang="vi-VN" smtClean="0"/>
              <a:t> </a:t>
            </a:r>
            <a:r>
              <a:rPr lang="vi-VN" smtClean="0">
                <a:sym typeface="Symbol"/>
              </a:rPr>
              <a:t></a:t>
            </a:r>
            <a:r>
              <a:rPr lang="vi-VN" smtClean="0"/>
              <a:t>} </a:t>
            </a:r>
            <a:endParaRPr lang="en-US" smtClean="0"/>
          </a:p>
          <a:p>
            <a:pPr marL="0" indent="0">
              <a:buNone/>
            </a:pPr>
            <a:r>
              <a:rPr lang="en-US" smtClean="0"/>
              <a:t>	</a:t>
            </a:r>
            <a:r>
              <a:rPr lang="vi-VN" smtClean="0"/>
              <a:t>L(S</a:t>
            </a:r>
            <a:r>
              <a:rPr lang="vi-VN"/>
              <a:t>) là tập tất cả các dãy ký tự vào trên tất cả các đường đi từ một đỉnh bắt đầu đến một đỉnh kết thúc.</a:t>
            </a:r>
            <a:endParaRPr lang="en-US"/>
          </a:p>
          <a:p>
            <a:r>
              <a:rPr lang="vi-VN" smtClean="0"/>
              <a:t> </a:t>
            </a:r>
            <a:r>
              <a:rPr lang="vi-VN" b="1"/>
              <a:t>Ví dụ 4.5 </a:t>
            </a:r>
            <a:r>
              <a:rPr lang="vi-VN"/>
              <a:t>Cho trước hệ chuyển trạng thái được mô tả như </a:t>
            </a:r>
            <a:r>
              <a:rPr lang="vi-VN" smtClean="0"/>
              <a:t>hình.</a:t>
            </a:r>
            <a:endParaRPr lang="en-US" smtClean="0"/>
          </a:p>
          <a:p>
            <a:pPr marL="0" indent="0">
              <a:buNone/>
            </a:pPr>
            <a:r>
              <a:rPr lang="vi-VN"/>
              <a:t>Trong đó Q</a:t>
            </a:r>
            <a:r>
              <a:rPr lang="vi-VN" baseline="-25000"/>
              <a:t>0</a:t>
            </a:r>
            <a:r>
              <a:rPr lang="vi-VN"/>
              <a:t> = {q</a:t>
            </a:r>
            <a:r>
              <a:rPr lang="vi-VN" baseline="-25000"/>
              <a:t>0</a:t>
            </a:r>
            <a:r>
              <a:rPr lang="vi-VN"/>
              <a:t>, q</a:t>
            </a:r>
            <a:r>
              <a:rPr lang="vi-VN" baseline="-25000"/>
              <a:t>1</a:t>
            </a:r>
            <a:r>
              <a:rPr lang="vi-VN"/>
              <a:t>} và F = {q</a:t>
            </a:r>
            <a:r>
              <a:rPr lang="vi-VN" baseline="-25000"/>
              <a:t>3</a:t>
            </a:r>
            <a:r>
              <a:rPr lang="vi-VN"/>
              <a:t>}. Dễ nhận thấy hệ thống trên đoán nhận dãy w = 1100 vì có đường đi từ q</a:t>
            </a:r>
            <a:r>
              <a:rPr lang="vi-VN" baseline="-25000"/>
              <a:t>0</a:t>
            </a:r>
            <a:r>
              <a:rPr lang="vi-VN"/>
              <a:t>, q</a:t>
            </a:r>
            <a:r>
              <a:rPr lang="vi-VN" baseline="-25000"/>
              <a:t>0</a:t>
            </a:r>
            <a:r>
              <a:rPr lang="vi-VN"/>
              <a:t>, q</a:t>
            </a:r>
            <a:r>
              <a:rPr lang="vi-VN" baseline="-25000"/>
              <a:t>2</a:t>
            </a:r>
            <a:r>
              <a:rPr lang="vi-VN"/>
              <a:t>, q</a:t>
            </a:r>
            <a:r>
              <a:rPr lang="vi-VN" baseline="-25000"/>
              <a:t>3</a:t>
            </a:r>
            <a:r>
              <a:rPr lang="vi-VN"/>
              <a:t> sẽ có các nhãn ghép lại thành w. Ngôn ngữ đoán nhận được bởi S là L = {1</a:t>
            </a:r>
            <a:r>
              <a:rPr lang="vi-VN" baseline="30000"/>
              <a:t>n</a:t>
            </a:r>
            <a:r>
              <a:rPr lang="vi-VN"/>
              <a:t>01</a:t>
            </a:r>
            <a:r>
              <a:rPr lang="vi-VN" baseline="30000"/>
              <a:t>m</a:t>
            </a:r>
            <a:r>
              <a:rPr lang="vi-VN"/>
              <a:t>0, 1</a:t>
            </a:r>
            <a:r>
              <a:rPr lang="vi-VN" baseline="30000"/>
              <a:t>n</a:t>
            </a:r>
            <a:r>
              <a:rPr lang="vi-VN"/>
              <a:t>01</a:t>
            </a:r>
            <a:r>
              <a:rPr lang="vi-VN" baseline="30000"/>
              <a:t>m</a:t>
            </a:r>
            <a:r>
              <a:rPr lang="vi-VN"/>
              <a:t>11, 1</a:t>
            </a:r>
            <a:r>
              <a:rPr lang="vi-VN" baseline="30000"/>
              <a:t>n</a:t>
            </a:r>
            <a:r>
              <a:rPr lang="vi-VN"/>
              <a:t>01, 1 | n, m </a:t>
            </a:r>
            <a:r>
              <a:rPr lang="vi-VN" smtClean="0">
                <a:sym typeface="Symbol"/>
              </a:rPr>
              <a:t></a:t>
            </a:r>
            <a:r>
              <a:rPr lang="vi-VN" smtClean="0"/>
              <a:t> </a:t>
            </a:r>
            <a:r>
              <a:rPr lang="vi-VN"/>
              <a:t>0} được biểu diễn bởi biểu thức chính qui </a:t>
            </a:r>
            <a:r>
              <a:rPr lang="vi-VN" b="1"/>
              <a:t>1*01*0 + 1*01*11 + 1*01 + 1</a:t>
            </a:r>
            <a:r>
              <a:rPr lang="vi-VN"/>
              <a:t>.</a:t>
            </a:r>
            <a:endParaRPr lang="en-US" smtClean="0"/>
          </a:p>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954" y="3951936"/>
            <a:ext cx="3495675"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824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3.2  Sự liên hệ giữa otomat hữu hạn và ngôn ngữ chính quy </a:t>
            </a:r>
            <a:r>
              <a:rPr lang="en-US"/>
              <a:t> </a:t>
            </a:r>
          </a:p>
        </p:txBody>
      </p:sp>
      <p:sp>
        <p:nvSpPr>
          <p:cNvPr id="3" name="Content Placeholder 2"/>
          <p:cNvSpPr>
            <a:spLocks noGrp="1"/>
          </p:cNvSpPr>
          <p:nvPr>
            <p:ph idx="1"/>
          </p:nvPr>
        </p:nvSpPr>
        <p:spPr/>
        <p:txBody>
          <a:bodyPr/>
          <a:lstStyle/>
          <a:p>
            <a:pPr>
              <a:lnSpc>
                <a:spcPct val="150000"/>
              </a:lnSpc>
            </a:pPr>
            <a:r>
              <a:rPr lang="en-US" b="1" i="1"/>
              <a:t>Định lý 3.3 </a:t>
            </a:r>
            <a:r>
              <a:rPr lang="en-US"/>
              <a:t> Nếu L là một ngôn ngữ chính quy thì tồn tại một otomat hữu hạn không đơn định A đoán nhận L, tức là L = T(A). </a:t>
            </a:r>
          </a:p>
          <a:p>
            <a:pPr>
              <a:lnSpc>
                <a:spcPct val="150000"/>
              </a:lnSpc>
            </a:pPr>
            <a:endParaRPr lang="en-US"/>
          </a:p>
        </p:txBody>
      </p:sp>
    </p:spTree>
    <p:extLst>
      <p:ext uri="{BB962C8B-B14F-4D97-AF65-F5344CB8AC3E}">
        <p14:creationId xmlns:p14="http://schemas.microsoft.com/office/powerpoint/2010/main" val="531657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90973"/>
            <a:ext cx="8911687" cy="579048"/>
          </a:xfrm>
        </p:spPr>
        <p:txBody>
          <a:bodyPr>
            <a:normAutofit fontScale="90000"/>
          </a:bodyPr>
          <a:lstStyle/>
          <a:p>
            <a:r>
              <a:rPr lang="en-US" smtClean="0"/>
              <a:t>Ví dụ:</a:t>
            </a:r>
            <a:endParaRPr lang="en-US"/>
          </a:p>
        </p:txBody>
      </p:sp>
      <p:sp>
        <p:nvSpPr>
          <p:cNvPr id="3" name="Content Placeholder 2"/>
          <p:cNvSpPr>
            <a:spLocks noGrp="1"/>
          </p:cNvSpPr>
          <p:nvPr>
            <p:ph idx="1"/>
          </p:nvPr>
        </p:nvSpPr>
        <p:spPr>
          <a:xfrm>
            <a:off x="2589212" y="770021"/>
            <a:ext cx="8915400" cy="5739063"/>
          </a:xfrm>
        </p:spPr>
        <p:txBody>
          <a:bodyPr>
            <a:normAutofit/>
          </a:bodyPr>
          <a:lstStyle/>
          <a:p>
            <a:pPr>
              <a:lnSpc>
                <a:spcPct val="150000"/>
              </a:lnSpc>
            </a:pPr>
            <a:r>
              <a:rPr lang="en-US" smtClean="0"/>
              <a:t>Cho </a:t>
            </a:r>
            <a:r>
              <a:rPr lang="en-US"/>
              <a:t>ngôn ngữ L = {ωab</a:t>
            </a:r>
            <a:r>
              <a:rPr lang="en-US" baseline="30000"/>
              <a:t>n</a:t>
            </a:r>
            <a:r>
              <a:rPr lang="en-US"/>
              <a:t>ab | n≥0, ω∈{a, b}</a:t>
            </a:r>
            <a:r>
              <a:rPr lang="en-US" baseline="30000"/>
              <a:t>*</a:t>
            </a:r>
            <a:r>
              <a:rPr lang="en-US"/>
              <a:t>}. Ta có L = L(G) trong đó G = &lt;{a, b}, {S, A, B}, S, {S→aS, S→bS, S→aA, A→bA, A→aB, B→b}&gt; là văn phạm chính quy. </a:t>
            </a:r>
          </a:p>
          <a:p>
            <a:pPr>
              <a:lnSpc>
                <a:spcPct val="150000"/>
              </a:lnSpc>
            </a:pPr>
            <a:r>
              <a:rPr lang="en-US"/>
              <a:t>Xây dựng otomat hữu hạn không đơn định A = &lt;{S, A, B, E}, {a, b}, δ, S, {E}&gt;, trong đó δ(S, a) = {S, A}, δ(S, b) = {S}, δ(A, a) = {B}, δ(A, b) = {A}, δ(B, a) = ∅, δ(B, b) = {E}, δ(E, a) = ∅, δ(E, b) = ∅.  Đồ thị chuyển của </a:t>
            </a:r>
            <a:r>
              <a:rPr lang="en-US" smtClean="0"/>
              <a:t>A:</a:t>
            </a:r>
          </a:p>
          <a:p>
            <a:pPr>
              <a:lnSpc>
                <a:spcPct val="150000"/>
              </a:lnSpc>
            </a:pPr>
            <a:endParaRPr lang="en-US"/>
          </a:p>
          <a:p>
            <a:pPr>
              <a:lnSpc>
                <a:spcPct val="150000"/>
              </a:lnSpc>
            </a:pPr>
            <a:endParaRPr lang="en-US" smtClean="0"/>
          </a:p>
          <a:p>
            <a:pPr>
              <a:lnSpc>
                <a:spcPct val="150000"/>
              </a:lnSpc>
            </a:pPr>
            <a:endParaRPr lang="en-US"/>
          </a:p>
          <a:p>
            <a:r>
              <a:rPr lang="en-US"/>
              <a:t>Theo định lý trên, otomat A đoán nhận ngôn ngữ chính quy L, thật vậy ta có: </a:t>
            </a:r>
          </a:p>
          <a:p>
            <a:r>
              <a:rPr lang="en-US"/>
              <a:t>T(A) = {ωab</a:t>
            </a:r>
            <a:r>
              <a:rPr lang="en-US" baseline="30000"/>
              <a:t>n</a:t>
            </a:r>
            <a:r>
              <a:rPr lang="en-US"/>
              <a:t>ab | n ≥ 0, ω∈{a, b}</a:t>
            </a:r>
            <a:r>
              <a:rPr lang="en-US" baseline="30000"/>
              <a:t>*</a:t>
            </a:r>
            <a:r>
              <a:rPr lang="en-US"/>
              <a:t>} = L </a:t>
            </a:r>
          </a:p>
          <a:p>
            <a:endParaRPr lang="en-US"/>
          </a:p>
        </p:txBody>
      </p:sp>
      <p:pic>
        <p:nvPicPr>
          <p:cNvPr id="4" name="Picture 3"/>
          <p:cNvPicPr/>
          <p:nvPr/>
        </p:nvPicPr>
        <p:blipFill>
          <a:blip r:embed="rId2"/>
          <a:stretch>
            <a:fillRect/>
          </a:stretch>
        </p:blipFill>
        <p:spPr>
          <a:xfrm>
            <a:off x="4339958" y="3530015"/>
            <a:ext cx="5598126" cy="1463090"/>
          </a:xfrm>
          <a:prstGeom prst="rect">
            <a:avLst/>
          </a:prstGeom>
        </p:spPr>
      </p:pic>
    </p:spTree>
    <p:extLst>
      <p:ext uri="{BB962C8B-B14F-4D97-AF65-F5344CB8AC3E}">
        <p14:creationId xmlns:p14="http://schemas.microsoft.com/office/powerpoint/2010/main" val="1654602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40632"/>
            <a:ext cx="8915400" cy="5670590"/>
          </a:xfrm>
        </p:spPr>
        <p:txBody>
          <a:bodyPr/>
          <a:lstStyle/>
          <a:p>
            <a:pPr>
              <a:lnSpc>
                <a:spcPct val="150000"/>
              </a:lnSpc>
            </a:pPr>
            <a:r>
              <a:rPr lang="en-US" b="1" i="1"/>
              <a:t>Định lý 3.4  </a:t>
            </a:r>
            <a:r>
              <a:rPr lang="en-US"/>
              <a:t>Nếu L là ngôn ngữ được đoán nhận bởi một otomat hữu hạn đơn định thì L là một ngôn ngữ chính quy. </a:t>
            </a:r>
            <a:endParaRPr lang="en-US" smtClean="0"/>
          </a:p>
          <a:p>
            <a:pPr>
              <a:lnSpc>
                <a:spcPct val="150000"/>
              </a:lnSpc>
            </a:pPr>
            <a:r>
              <a:rPr lang="en-US" smtClean="0"/>
              <a:t>Ví dụ: Cho </a:t>
            </a:r>
            <a:r>
              <a:rPr lang="en-US"/>
              <a:t>otomat hữu hạn đơn định A = &lt;{q</a:t>
            </a:r>
            <a:r>
              <a:rPr lang="en-US" baseline="-25000"/>
              <a:t>0</a:t>
            </a:r>
            <a:r>
              <a:rPr lang="en-US"/>
              <a:t>, q</a:t>
            </a:r>
            <a:r>
              <a:rPr lang="en-US" baseline="-25000"/>
              <a:t>1</a:t>
            </a:r>
            <a:r>
              <a:rPr lang="en-US"/>
              <a:t>, q</a:t>
            </a:r>
            <a:r>
              <a:rPr lang="en-US" baseline="-25000"/>
              <a:t>2</a:t>
            </a:r>
            <a:r>
              <a:rPr lang="en-US"/>
              <a:t>}, {0, 1}, δ, q</a:t>
            </a:r>
            <a:r>
              <a:rPr lang="en-US" baseline="-25000"/>
              <a:t>0</a:t>
            </a:r>
            <a:r>
              <a:rPr lang="en-US"/>
              <a:t>, {q</a:t>
            </a:r>
            <a:r>
              <a:rPr lang="en-US" baseline="-25000"/>
              <a:t>2</a:t>
            </a:r>
            <a:r>
              <a:rPr lang="en-US"/>
              <a:t>}&gt;, trong đó δ(q</a:t>
            </a:r>
            <a:r>
              <a:rPr lang="en-US" baseline="-25000"/>
              <a:t>0</a:t>
            </a:r>
            <a:r>
              <a:rPr lang="en-US"/>
              <a:t>, 0) = q</a:t>
            </a:r>
            <a:r>
              <a:rPr lang="en-US" baseline="-25000"/>
              <a:t>1</a:t>
            </a:r>
            <a:r>
              <a:rPr lang="en-US"/>
              <a:t>, δ(q</a:t>
            </a:r>
            <a:r>
              <a:rPr lang="en-US" baseline="-25000"/>
              <a:t>1</a:t>
            </a:r>
            <a:r>
              <a:rPr lang="en-US"/>
              <a:t>, 0) = q</a:t>
            </a:r>
            <a:r>
              <a:rPr lang="en-US" baseline="-25000"/>
              <a:t>2</a:t>
            </a:r>
            <a:r>
              <a:rPr lang="en-US"/>
              <a:t>, δ(q</a:t>
            </a:r>
            <a:r>
              <a:rPr lang="en-US" baseline="-25000"/>
              <a:t>1</a:t>
            </a:r>
            <a:r>
              <a:rPr lang="en-US"/>
              <a:t>, 1) = q</a:t>
            </a:r>
            <a:r>
              <a:rPr lang="en-US" baseline="-25000"/>
              <a:t>0</a:t>
            </a:r>
            <a:r>
              <a:rPr lang="en-US"/>
              <a:t>, δ(q</a:t>
            </a:r>
            <a:r>
              <a:rPr lang="en-US" baseline="-25000"/>
              <a:t>2</a:t>
            </a:r>
            <a:r>
              <a:rPr lang="en-US"/>
              <a:t>, 1) = q</a:t>
            </a:r>
            <a:r>
              <a:rPr lang="en-US" baseline="-25000"/>
              <a:t>0</a:t>
            </a:r>
            <a:r>
              <a:rPr lang="en-US"/>
              <a:t>. Đồ thị chuyển của A là: </a:t>
            </a:r>
            <a:endParaRPr lang="en-US" smtClean="0"/>
          </a:p>
          <a:p>
            <a:pPr>
              <a:lnSpc>
                <a:spcPct val="150000"/>
              </a:lnSpc>
            </a:pPr>
            <a:endParaRPr lang="en-US"/>
          </a:p>
          <a:p>
            <a:pPr>
              <a:lnSpc>
                <a:spcPct val="150000"/>
              </a:lnSpc>
            </a:pPr>
            <a:endParaRPr lang="en-US" smtClean="0"/>
          </a:p>
          <a:p>
            <a:pPr>
              <a:lnSpc>
                <a:spcPct val="150000"/>
              </a:lnSpc>
            </a:pPr>
            <a:r>
              <a:rPr lang="en-US"/>
              <a:t>T(A) = {ω00 | ω∈{01, 001}</a:t>
            </a:r>
            <a:r>
              <a:rPr lang="en-US" baseline="30000"/>
              <a:t>*</a:t>
            </a:r>
            <a:r>
              <a:rPr lang="en-US"/>
              <a:t>} là ngôn ngữ chính quy. </a:t>
            </a:r>
          </a:p>
          <a:p>
            <a:pPr>
              <a:lnSpc>
                <a:spcPct val="150000"/>
              </a:lnSpc>
            </a:pPr>
            <a:endParaRPr lang="en-US"/>
          </a:p>
          <a:p>
            <a:pPr>
              <a:lnSpc>
                <a:spcPct val="150000"/>
              </a:lnSpc>
            </a:pPr>
            <a:endParaRPr lang="en-US"/>
          </a:p>
          <a:p>
            <a:pPr>
              <a:lnSpc>
                <a:spcPct val="150000"/>
              </a:lnSpc>
            </a:pPr>
            <a:endParaRPr lang="en-US"/>
          </a:p>
        </p:txBody>
      </p:sp>
      <p:pic>
        <p:nvPicPr>
          <p:cNvPr id="4" name="Picture 3"/>
          <p:cNvPicPr/>
          <p:nvPr/>
        </p:nvPicPr>
        <p:blipFill>
          <a:blip r:embed="rId2"/>
          <a:stretch>
            <a:fillRect/>
          </a:stretch>
        </p:blipFill>
        <p:spPr>
          <a:xfrm>
            <a:off x="4289508" y="2554933"/>
            <a:ext cx="4649955" cy="1041987"/>
          </a:xfrm>
          <a:prstGeom prst="rect">
            <a:avLst/>
          </a:prstGeom>
        </p:spPr>
      </p:pic>
    </p:spTree>
    <p:extLst>
      <p:ext uri="{BB962C8B-B14F-4D97-AF65-F5344CB8AC3E}">
        <p14:creationId xmlns:p14="http://schemas.microsoft.com/office/powerpoint/2010/main" val="884536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27067"/>
            <a:ext cx="8911687" cy="771554"/>
          </a:xfrm>
        </p:spPr>
        <p:txBody>
          <a:bodyPr/>
          <a:lstStyle/>
          <a:p>
            <a:r>
              <a:rPr lang="en-US" b="1" i="1"/>
              <a:t>Kết luận</a:t>
            </a:r>
            <a:endParaRPr lang="en-US"/>
          </a:p>
        </p:txBody>
      </p:sp>
      <p:sp>
        <p:nvSpPr>
          <p:cNvPr id="3" name="Content Placeholder 2"/>
          <p:cNvSpPr>
            <a:spLocks noGrp="1"/>
          </p:cNvSpPr>
          <p:nvPr>
            <p:ph idx="1"/>
          </p:nvPr>
        </p:nvSpPr>
        <p:spPr>
          <a:xfrm>
            <a:off x="2589212" y="998621"/>
            <a:ext cx="8915400" cy="5702968"/>
          </a:xfrm>
        </p:spPr>
        <p:txBody>
          <a:bodyPr>
            <a:normAutofit fontScale="92500" lnSpcReduction="10000"/>
          </a:bodyPr>
          <a:lstStyle/>
          <a:p>
            <a:pPr>
              <a:lnSpc>
                <a:spcPct val="150000"/>
              </a:lnSpc>
            </a:pPr>
            <a:r>
              <a:rPr lang="en-US" smtClean="0"/>
              <a:t>Từ </a:t>
            </a:r>
            <a:r>
              <a:rPr lang="en-US"/>
              <a:t>các định lý trên ta có kết luận về sự liên hệ giữa otomat hữu hạn và ngôn ngữ chính quy như sau: </a:t>
            </a:r>
          </a:p>
          <a:p>
            <a:pPr>
              <a:lnSpc>
                <a:spcPct val="150000"/>
              </a:lnSpc>
            </a:pPr>
            <a:r>
              <a:rPr lang="en-US"/>
              <a:t>1/.  Gọi </a:t>
            </a:r>
            <a:r>
              <a:rPr lang="en-US" b="1"/>
              <a:t>D</a:t>
            </a:r>
            <a:r>
              <a:rPr lang="en-US"/>
              <a:t> là lớp các ngôn ngữ được đoán nhận bởi otomat hữu hạn đơn định, </a:t>
            </a:r>
            <a:r>
              <a:rPr lang="en-US" b="1"/>
              <a:t>N </a:t>
            </a:r>
            <a:r>
              <a:rPr lang="en-US"/>
              <a:t>là lớp các ngôn ngữ được đoán nhận bởi otomat hữu hạn không đơn định và </a:t>
            </a:r>
            <a:r>
              <a:rPr lang="en-US" b="1"/>
              <a:t>R</a:t>
            </a:r>
            <a:r>
              <a:rPr lang="en-US"/>
              <a:t> là lớp các ngôn ngữ chính quy. </a:t>
            </a:r>
          </a:p>
          <a:p>
            <a:pPr>
              <a:lnSpc>
                <a:spcPct val="150000"/>
              </a:lnSpc>
            </a:pPr>
            <a:r>
              <a:rPr lang="en-US"/>
              <a:t>Định lý 2.1 cho biết </a:t>
            </a:r>
            <a:r>
              <a:rPr lang="en-US" b="1"/>
              <a:t>D</a:t>
            </a:r>
            <a:r>
              <a:rPr lang="en-US"/>
              <a:t> = </a:t>
            </a:r>
            <a:r>
              <a:rPr lang="en-US" b="1"/>
              <a:t>N</a:t>
            </a:r>
            <a:r>
              <a:rPr lang="en-US"/>
              <a:t>. </a:t>
            </a:r>
          </a:p>
          <a:p>
            <a:pPr>
              <a:lnSpc>
                <a:spcPct val="150000"/>
              </a:lnSpc>
            </a:pPr>
            <a:r>
              <a:rPr lang="en-US"/>
              <a:t>Định lý 3.3 cho biết </a:t>
            </a:r>
            <a:r>
              <a:rPr lang="en-US" b="1"/>
              <a:t>R</a:t>
            </a:r>
            <a:r>
              <a:rPr lang="en-US"/>
              <a:t> ⊂ </a:t>
            </a:r>
            <a:r>
              <a:rPr lang="en-US" b="1"/>
              <a:t>N</a:t>
            </a:r>
            <a:r>
              <a:rPr lang="en-US"/>
              <a:t>.</a:t>
            </a:r>
            <a:r>
              <a:rPr lang="en-US" b="1"/>
              <a:t> </a:t>
            </a:r>
            <a:endParaRPr lang="en-US" b="1" smtClean="0"/>
          </a:p>
          <a:p>
            <a:pPr>
              <a:lnSpc>
                <a:spcPct val="150000"/>
              </a:lnSpc>
            </a:pPr>
            <a:r>
              <a:rPr lang="en-US" smtClean="0"/>
              <a:t>Định </a:t>
            </a:r>
            <a:r>
              <a:rPr lang="en-US"/>
              <a:t>lý 3.4 cho biết </a:t>
            </a:r>
            <a:r>
              <a:rPr lang="en-US" b="1"/>
              <a:t>D</a:t>
            </a:r>
            <a:r>
              <a:rPr lang="en-US"/>
              <a:t> ⊂ </a:t>
            </a:r>
            <a:r>
              <a:rPr lang="en-US" b="1"/>
              <a:t>R</a:t>
            </a:r>
            <a:r>
              <a:rPr lang="en-US"/>
              <a:t>  Vậy </a:t>
            </a:r>
            <a:r>
              <a:rPr lang="en-US" b="1"/>
              <a:t>D</a:t>
            </a:r>
            <a:r>
              <a:rPr lang="en-US"/>
              <a:t> = </a:t>
            </a:r>
            <a:r>
              <a:rPr lang="en-US" b="1"/>
              <a:t>N</a:t>
            </a:r>
            <a:r>
              <a:rPr lang="en-US"/>
              <a:t> = </a:t>
            </a:r>
            <a:r>
              <a:rPr lang="en-US" b="1"/>
              <a:t>R</a:t>
            </a:r>
            <a:r>
              <a:rPr lang="en-US"/>
              <a:t>. </a:t>
            </a:r>
          </a:p>
          <a:p>
            <a:pPr>
              <a:lnSpc>
                <a:spcPct val="150000"/>
              </a:lnSpc>
            </a:pPr>
            <a:r>
              <a:rPr lang="en-US"/>
              <a:t>2/.  Ngôn ngữ L là chính quy khi và chỉ khi: </a:t>
            </a:r>
          </a:p>
          <a:p>
            <a:pPr>
              <a:lnSpc>
                <a:spcPct val="150000"/>
              </a:lnSpc>
            </a:pPr>
            <a:r>
              <a:rPr lang="en-US" smtClean="0"/>
              <a:t>a</a:t>
            </a:r>
            <a:r>
              <a:rPr lang="en-US"/>
              <a:t>/.  Tồn tại một biểu thúc chính quy biểu diễn L, </a:t>
            </a:r>
            <a:endParaRPr lang="en-US" smtClean="0"/>
          </a:p>
          <a:p>
            <a:pPr>
              <a:lnSpc>
                <a:spcPct val="150000"/>
              </a:lnSpc>
            </a:pPr>
            <a:r>
              <a:rPr lang="en-US" smtClean="0"/>
              <a:t>b</a:t>
            </a:r>
            <a:r>
              <a:rPr lang="en-US"/>
              <a:t>/.  Tồn tại một văn phạm chính quy sinh ngôn ngữ L, </a:t>
            </a:r>
            <a:endParaRPr lang="en-US" smtClean="0"/>
          </a:p>
          <a:p>
            <a:pPr>
              <a:lnSpc>
                <a:spcPct val="150000"/>
              </a:lnSpc>
            </a:pPr>
            <a:r>
              <a:rPr lang="en-US" smtClean="0"/>
              <a:t>c</a:t>
            </a:r>
            <a:r>
              <a:rPr lang="en-US"/>
              <a:t>/.  Tồn tại một otomat hữu hạn đoán nhận L </a:t>
            </a:r>
          </a:p>
          <a:p>
            <a:pPr>
              <a:lnSpc>
                <a:spcPct val="150000"/>
              </a:lnSpc>
            </a:pPr>
            <a:endParaRPr lang="en-US"/>
          </a:p>
        </p:txBody>
      </p:sp>
    </p:spTree>
    <p:extLst>
      <p:ext uri="{BB962C8B-B14F-4D97-AF65-F5344CB8AC3E}">
        <p14:creationId xmlns:p14="http://schemas.microsoft.com/office/powerpoint/2010/main" val="3462722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90973"/>
            <a:ext cx="8911687" cy="651238"/>
          </a:xfrm>
        </p:spPr>
        <p:txBody>
          <a:bodyPr/>
          <a:lstStyle/>
          <a:p>
            <a:r>
              <a:rPr lang="en-US" smtClean="0"/>
              <a:t>Ví dụ:</a:t>
            </a:r>
            <a:endParaRPr lang="en-US"/>
          </a:p>
        </p:txBody>
      </p:sp>
      <p:sp>
        <p:nvSpPr>
          <p:cNvPr id="3" name="Content Placeholder 2"/>
          <p:cNvSpPr>
            <a:spLocks noGrp="1"/>
          </p:cNvSpPr>
          <p:nvPr>
            <p:ph idx="1"/>
          </p:nvPr>
        </p:nvSpPr>
        <p:spPr>
          <a:xfrm>
            <a:off x="2589212" y="842211"/>
            <a:ext cx="8915400" cy="5895473"/>
          </a:xfrm>
        </p:spPr>
        <p:txBody>
          <a:bodyPr/>
          <a:lstStyle/>
          <a:p>
            <a:pPr>
              <a:lnSpc>
                <a:spcPct val="150000"/>
              </a:lnSpc>
            </a:pPr>
            <a:r>
              <a:rPr lang="en-US"/>
              <a:t>Với ngôn ngữ chính quy L = {01</a:t>
            </a:r>
            <a:r>
              <a:rPr lang="en-US" baseline="30000"/>
              <a:t>n</a:t>
            </a:r>
            <a:r>
              <a:rPr lang="en-US"/>
              <a:t>, 021 | n ≥ 1}, ta có: </a:t>
            </a:r>
          </a:p>
          <a:p>
            <a:pPr lvl="0" fontAlgn="base">
              <a:lnSpc>
                <a:spcPct val="150000"/>
              </a:lnSpc>
            </a:pPr>
            <a:r>
              <a:rPr lang="en-US"/>
              <a:t>Biểu thức chính quy biểu diễn L (xem thí dụ 3.2) là:  </a:t>
            </a:r>
          </a:p>
          <a:p>
            <a:pPr>
              <a:lnSpc>
                <a:spcPct val="150000"/>
              </a:lnSpc>
            </a:pPr>
            <a:r>
              <a:rPr lang="en-US"/>
              <a:t>  	 	 	 	     r = 01*1+021 </a:t>
            </a:r>
          </a:p>
          <a:p>
            <a:pPr lvl="0" fontAlgn="base">
              <a:lnSpc>
                <a:spcPct val="150000"/>
              </a:lnSpc>
            </a:pPr>
            <a:r>
              <a:rPr lang="en-US"/>
              <a:t>Văn phạm chính quy sinh ngôn ngữ L:  </a:t>
            </a:r>
          </a:p>
          <a:p>
            <a:pPr>
              <a:lnSpc>
                <a:spcPct val="150000"/>
              </a:lnSpc>
            </a:pPr>
            <a:r>
              <a:rPr lang="en-US"/>
              <a:t> 	G = &lt;{0, 1, 2}, {S, A, B, C}, S, {S→0A, A→1A, A→1, S→0B, B→2C, C→1</a:t>
            </a:r>
            <a:r>
              <a:rPr lang="en-US" smtClean="0"/>
              <a:t>}&gt;. </a:t>
            </a:r>
            <a:r>
              <a:rPr lang="en-US"/>
              <a:t>Otomat hữu hạn A đoán nhận L có đồ thị chuyển là: </a:t>
            </a:r>
          </a:p>
          <a:p>
            <a:pPr>
              <a:lnSpc>
                <a:spcPct val="150000"/>
              </a:lnSpc>
            </a:pPr>
            <a:endParaRPr lang="en-US"/>
          </a:p>
        </p:txBody>
      </p:sp>
      <p:pic>
        <p:nvPicPr>
          <p:cNvPr id="4" name="Picture 3"/>
          <p:cNvPicPr/>
          <p:nvPr/>
        </p:nvPicPr>
        <p:blipFill>
          <a:blip r:embed="rId2"/>
          <a:stretch>
            <a:fillRect/>
          </a:stretch>
        </p:blipFill>
        <p:spPr>
          <a:xfrm>
            <a:off x="5317956" y="4158414"/>
            <a:ext cx="3753853" cy="2182228"/>
          </a:xfrm>
          <a:prstGeom prst="rect">
            <a:avLst/>
          </a:prstGeom>
        </p:spPr>
      </p:pic>
    </p:spTree>
    <p:extLst>
      <p:ext uri="{BB962C8B-B14F-4D97-AF65-F5344CB8AC3E}">
        <p14:creationId xmlns:p14="http://schemas.microsoft.com/office/powerpoint/2010/main" val="3705705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239100"/>
            <a:ext cx="9370177" cy="1280890"/>
          </a:xfrm>
        </p:spPr>
        <p:txBody>
          <a:bodyPr>
            <a:normAutofit/>
          </a:bodyPr>
          <a:lstStyle/>
          <a:p>
            <a:r>
              <a:rPr lang="en-US" b="1"/>
              <a:t>4.  Điều kiện cần của ngôn ngữ chính quy</a:t>
            </a:r>
            <a:r>
              <a:rPr lang="en-US" b="1" i="1"/>
              <a:t>  </a:t>
            </a:r>
            <a:endParaRPr lang="en-US"/>
          </a:p>
        </p:txBody>
      </p:sp>
      <p:sp>
        <p:nvSpPr>
          <p:cNvPr id="3" name="Content Placeholder 2"/>
          <p:cNvSpPr>
            <a:spLocks noGrp="1"/>
          </p:cNvSpPr>
          <p:nvPr>
            <p:ph idx="1"/>
          </p:nvPr>
        </p:nvSpPr>
        <p:spPr>
          <a:xfrm>
            <a:off x="2589211" y="879545"/>
            <a:ext cx="8915400" cy="5978455"/>
          </a:xfrm>
        </p:spPr>
        <p:txBody>
          <a:bodyPr>
            <a:normAutofit lnSpcReduction="10000"/>
          </a:bodyPr>
          <a:lstStyle/>
          <a:p>
            <a:pPr>
              <a:lnSpc>
                <a:spcPct val="150000"/>
              </a:lnSpc>
            </a:pPr>
            <a:r>
              <a:rPr lang="en-US"/>
              <a:t> Khi một ngôn ngữ được đoán nhận bởi otomat hữu hạn, hoặc được sinh bởi một văn phạm chính quy, hoặc được xác định bởi một biểu thức chính quy thì nó là ngôn ngữ chính quy.  </a:t>
            </a:r>
            <a:endParaRPr lang="en-US" smtClean="0"/>
          </a:p>
          <a:p>
            <a:pPr>
              <a:lnSpc>
                <a:spcPct val="150000"/>
              </a:lnSpc>
            </a:pPr>
            <a:r>
              <a:rPr lang="en-US" smtClean="0"/>
              <a:t>Như </a:t>
            </a:r>
            <a:r>
              <a:rPr lang="en-US"/>
              <a:t>vậy việc chứng minh một ngôn ngữ là chính quy là khá dễ dàng bằng cách chỉ ra rằng nó được xác định bằng một trong những cách trên.  Tuy nhiên, để khẳng định một ngôn ngữ L không phải là ngôn ngữ chính quy thì lại không hề đơn giản.  Dù ta không xây dựng được otomat hữu hạn, văn phạm chính quy hay biểu thức chính quy để xác định L, nhưng ta vẫn không thể kết luận được ngôn ngữ này không phải là ngôn ngữ chính quy, bởi vì ta không thể khẳng định được rằng không tồn tại những văn phạm chính quy hay những otomat hữu hạn sinh ra L. </a:t>
            </a:r>
            <a:endParaRPr lang="en-US" smtClean="0"/>
          </a:p>
          <a:p>
            <a:pPr>
              <a:lnSpc>
                <a:spcPct val="150000"/>
              </a:lnSpc>
            </a:pPr>
            <a:r>
              <a:rPr lang="en-US" smtClean="0"/>
              <a:t>Như </a:t>
            </a:r>
            <a:r>
              <a:rPr lang="en-US"/>
              <a:t>vậy, cần có một tiêu chuẩn để căn cứ vào đó có thể kết luận một ngôn ngữ không phải là ngôn ngữ chính quy, tiêu chuẩn đó là </a:t>
            </a:r>
            <a:r>
              <a:rPr lang="en-US" i="1"/>
              <a:t>điều kiện cần</a:t>
            </a:r>
            <a:r>
              <a:rPr lang="en-US"/>
              <a:t> của ngôn ngữ chính quy</a:t>
            </a:r>
            <a:r>
              <a:rPr lang="en-US" smtClean="0"/>
              <a:t>.</a:t>
            </a:r>
            <a:endParaRPr lang="en-US"/>
          </a:p>
        </p:txBody>
      </p:sp>
    </p:spTree>
    <p:extLst>
      <p:ext uri="{BB962C8B-B14F-4D97-AF65-F5344CB8AC3E}">
        <p14:creationId xmlns:p14="http://schemas.microsoft.com/office/powerpoint/2010/main" val="3985050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Otomat tối tiểu </a:t>
            </a:r>
          </a:p>
        </p:txBody>
      </p:sp>
      <p:sp>
        <p:nvSpPr>
          <p:cNvPr id="3" name="Content Placeholder 2"/>
          <p:cNvSpPr>
            <a:spLocks noGrp="1"/>
          </p:cNvSpPr>
          <p:nvPr>
            <p:ph idx="1"/>
          </p:nvPr>
        </p:nvSpPr>
        <p:spPr/>
        <p:txBody>
          <a:bodyPr/>
          <a:lstStyle/>
          <a:p>
            <a:pPr>
              <a:lnSpc>
                <a:spcPct val="150000"/>
              </a:lnSpc>
            </a:pPr>
            <a:r>
              <a:rPr lang="en-US" b="1" i="1"/>
              <a:t>Định nghĩa 4.1</a:t>
            </a:r>
            <a:r>
              <a:rPr lang="en-US"/>
              <a:t>  Otomat có số trạng thái ít nhất trong các otomat hữu hạn cùng đoán nhận ngôn ngữ L được gọi là otomat tối tiểu của ngôn ngữ L. </a:t>
            </a:r>
          </a:p>
          <a:p>
            <a:pPr>
              <a:lnSpc>
                <a:spcPct val="150000"/>
              </a:lnSpc>
            </a:pPr>
            <a:r>
              <a:rPr lang="en-US" b="1" i="1"/>
              <a:t>Nhận xét:</a:t>
            </a:r>
            <a:r>
              <a:rPr lang="en-US"/>
              <a:t> Dễ thấy rằng với mỗi ngôn ngữ L, otomat tối tiểu của nó có thể không duy nhất. </a:t>
            </a:r>
          </a:p>
          <a:p>
            <a:pPr>
              <a:lnSpc>
                <a:spcPct val="150000"/>
              </a:lnSpc>
            </a:pPr>
            <a:endParaRPr lang="en-US"/>
          </a:p>
        </p:txBody>
      </p:sp>
    </p:spTree>
    <p:extLst>
      <p:ext uri="{BB962C8B-B14F-4D97-AF65-F5344CB8AC3E}">
        <p14:creationId xmlns:p14="http://schemas.microsoft.com/office/powerpoint/2010/main" val="3930893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50868"/>
            <a:ext cx="8911687" cy="1280890"/>
          </a:xfrm>
        </p:spPr>
        <p:txBody>
          <a:bodyPr/>
          <a:lstStyle/>
          <a:p>
            <a:r>
              <a:rPr lang="en-US" smtClean="0"/>
              <a:t>Ví dụ:</a:t>
            </a:r>
            <a:endParaRPr lang="en-US"/>
          </a:p>
        </p:txBody>
      </p:sp>
      <p:sp>
        <p:nvSpPr>
          <p:cNvPr id="3" name="Content Placeholder 2"/>
          <p:cNvSpPr>
            <a:spLocks noGrp="1"/>
          </p:cNvSpPr>
          <p:nvPr>
            <p:ph idx="1"/>
          </p:nvPr>
        </p:nvSpPr>
        <p:spPr>
          <a:xfrm>
            <a:off x="2585499" y="791312"/>
            <a:ext cx="8915400" cy="6066687"/>
          </a:xfrm>
        </p:spPr>
        <p:txBody>
          <a:bodyPr>
            <a:normAutofit/>
          </a:bodyPr>
          <a:lstStyle/>
          <a:p>
            <a:pPr>
              <a:lnSpc>
                <a:spcPct val="150000"/>
              </a:lnSpc>
            </a:pPr>
            <a:r>
              <a:rPr lang="en-US" smtClean="0"/>
              <a:t>Giả </a:t>
            </a:r>
            <a:r>
              <a:rPr lang="en-US"/>
              <a:t>sử ta có otomat M = &lt;Q, {a, b}, δ, t</a:t>
            </a:r>
            <a:r>
              <a:rPr lang="en-US" baseline="-25000"/>
              <a:t>0</a:t>
            </a:r>
            <a:r>
              <a:rPr lang="en-US"/>
              <a:t>, F&gt;, với </a:t>
            </a:r>
          </a:p>
          <a:p>
            <a:pPr>
              <a:lnSpc>
                <a:spcPct val="150000"/>
              </a:lnSpc>
            </a:pPr>
            <a:r>
              <a:rPr lang="en-US"/>
              <a:t>+ Q = {t</a:t>
            </a:r>
            <a:r>
              <a:rPr lang="en-US" baseline="-25000"/>
              <a:t>0</a:t>
            </a:r>
            <a:r>
              <a:rPr lang="en-US"/>
              <a:t>, t</a:t>
            </a:r>
            <a:r>
              <a:rPr lang="en-US" baseline="-25000"/>
              <a:t>1</a:t>
            </a:r>
            <a:r>
              <a:rPr lang="en-US"/>
              <a:t>, t</a:t>
            </a:r>
            <a:r>
              <a:rPr lang="en-US" baseline="-25000"/>
              <a:t>2</a:t>
            </a:r>
            <a:r>
              <a:rPr lang="en-US"/>
              <a:t>, t</a:t>
            </a:r>
            <a:r>
              <a:rPr lang="en-US" baseline="-25000"/>
              <a:t>3</a:t>
            </a:r>
            <a:r>
              <a:rPr lang="en-US"/>
              <a:t>}, với t</a:t>
            </a:r>
            <a:r>
              <a:rPr lang="en-US" baseline="-25000"/>
              <a:t>0</a:t>
            </a:r>
            <a:r>
              <a:rPr lang="en-US"/>
              <a:t> = {q</a:t>
            </a:r>
            <a:r>
              <a:rPr lang="en-US" baseline="-25000"/>
              <a:t>0</a:t>
            </a:r>
            <a:r>
              <a:rPr lang="en-US"/>
              <a:t>}, t</a:t>
            </a:r>
            <a:r>
              <a:rPr lang="en-US" baseline="-25000"/>
              <a:t>1 </a:t>
            </a:r>
            <a:r>
              <a:rPr lang="en-US"/>
              <a:t>= {q</a:t>
            </a:r>
            <a:r>
              <a:rPr lang="en-US" baseline="-25000"/>
              <a:t>1</a:t>
            </a:r>
            <a:r>
              <a:rPr lang="en-US"/>
              <a:t>},  t</a:t>
            </a:r>
            <a:r>
              <a:rPr lang="en-US" baseline="-25000"/>
              <a:t>2 </a:t>
            </a:r>
            <a:r>
              <a:rPr lang="en-US"/>
              <a:t>= {q</a:t>
            </a:r>
            <a:r>
              <a:rPr lang="en-US" baseline="-25000"/>
              <a:t>0</a:t>
            </a:r>
            <a:r>
              <a:rPr lang="en-US"/>
              <a:t>, q</a:t>
            </a:r>
            <a:r>
              <a:rPr lang="en-US" baseline="-25000"/>
              <a:t>1</a:t>
            </a:r>
            <a:r>
              <a:rPr lang="en-US"/>
              <a:t>}, t</a:t>
            </a:r>
            <a:r>
              <a:rPr lang="en-US" baseline="-25000"/>
              <a:t> 3</a:t>
            </a:r>
            <a:r>
              <a:rPr lang="en-US"/>
              <a:t> = ∅. </a:t>
            </a:r>
          </a:p>
          <a:p>
            <a:pPr>
              <a:lnSpc>
                <a:spcPct val="150000"/>
              </a:lnSpc>
            </a:pPr>
            <a:r>
              <a:rPr lang="en-US"/>
              <a:t>+ δ(t</a:t>
            </a:r>
            <a:r>
              <a:rPr lang="en-US" baseline="-25000"/>
              <a:t>0</a:t>
            </a:r>
            <a:r>
              <a:rPr lang="en-US"/>
              <a:t>, a) = t</a:t>
            </a:r>
            <a:r>
              <a:rPr lang="en-US" baseline="-25000"/>
              <a:t>0</a:t>
            </a:r>
            <a:r>
              <a:rPr lang="en-US"/>
              <a:t>, δ(t</a:t>
            </a:r>
            <a:r>
              <a:rPr lang="en-US" baseline="-25000"/>
              <a:t>0</a:t>
            </a:r>
            <a:r>
              <a:rPr lang="en-US"/>
              <a:t>, b) = t</a:t>
            </a:r>
            <a:r>
              <a:rPr lang="en-US" baseline="-25000"/>
              <a:t>2</a:t>
            </a:r>
            <a:r>
              <a:rPr lang="en-US"/>
              <a:t>, δ(t</a:t>
            </a:r>
            <a:r>
              <a:rPr lang="en-US" baseline="-25000"/>
              <a:t>1</a:t>
            </a:r>
            <a:r>
              <a:rPr lang="en-US"/>
              <a:t>, a) = t</a:t>
            </a:r>
            <a:r>
              <a:rPr lang="en-US" baseline="-25000"/>
              <a:t>2</a:t>
            </a:r>
            <a:r>
              <a:rPr lang="en-US"/>
              <a:t>, δ(t</a:t>
            </a:r>
            <a:r>
              <a:rPr lang="en-US" baseline="-25000"/>
              <a:t>1</a:t>
            </a:r>
            <a:r>
              <a:rPr lang="en-US"/>
              <a:t>, b) = t</a:t>
            </a:r>
            <a:r>
              <a:rPr lang="en-US" baseline="-25000"/>
              <a:t>3</a:t>
            </a:r>
            <a:r>
              <a:rPr lang="en-US"/>
              <a:t>, δ(t</a:t>
            </a:r>
            <a:r>
              <a:rPr lang="en-US" baseline="-25000"/>
              <a:t>2</a:t>
            </a:r>
            <a:r>
              <a:rPr lang="en-US"/>
              <a:t>, a) = t</a:t>
            </a:r>
            <a:r>
              <a:rPr lang="en-US" baseline="-25000"/>
              <a:t>2</a:t>
            </a:r>
            <a:r>
              <a:rPr lang="en-US"/>
              <a:t>, δ(t</a:t>
            </a:r>
            <a:r>
              <a:rPr lang="en-US" baseline="-25000"/>
              <a:t>2</a:t>
            </a:r>
            <a:r>
              <a:rPr lang="en-US"/>
              <a:t>, b) = t</a:t>
            </a:r>
            <a:r>
              <a:rPr lang="en-US" baseline="-25000"/>
              <a:t>2</a:t>
            </a:r>
            <a:r>
              <a:rPr lang="en-US"/>
              <a:t>, δ(t</a:t>
            </a:r>
            <a:r>
              <a:rPr lang="en-US" baseline="-25000"/>
              <a:t>3</a:t>
            </a:r>
            <a:r>
              <a:rPr lang="en-US"/>
              <a:t>, a) = t</a:t>
            </a:r>
            <a:r>
              <a:rPr lang="en-US" baseline="-25000"/>
              <a:t>3</a:t>
            </a:r>
            <a:r>
              <a:rPr lang="en-US"/>
              <a:t>, δ’(t</a:t>
            </a:r>
            <a:r>
              <a:rPr lang="en-US" baseline="-25000"/>
              <a:t>3</a:t>
            </a:r>
            <a:r>
              <a:rPr lang="en-US"/>
              <a:t>, b) = t</a:t>
            </a:r>
            <a:r>
              <a:rPr lang="en-US" baseline="-25000"/>
              <a:t>3</a:t>
            </a:r>
            <a:r>
              <a:rPr lang="en-US"/>
              <a:t>.   + F = {t</a:t>
            </a:r>
            <a:r>
              <a:rPr lang="en-US" baseline="-25000"/>
              <a:t>1</a:t>
            </a:r>
            <a:r>
              <a:rPr lang="en-US"/>
              <a:t>, t</a:t>
            </a:r>
            <a:r>
              <a:rPr lang="en-US" baseline="-25000"/>
              <a:t>2</a:t>
            </a:r>
            <a:r>
              <a:rPr lang="en-US"/>
              <a:t>}. otomat M  là đơn định, có 4 trạng thái và có đồ thị chuyển như sau: </a:t>
            </a:r>
            <a:endParaRPr lang="en-US" smtClean="0"/>
          </a:p>
          <a:p>
            <a:pPr>
              <a:lnSpc>
                <a:spcPct val="150000"/>
              </a:lnSpc>
            </a:pPr>
            <a:endParaRPr lang="en-US"/>
          </a:p>
          <a:p>
            <a:pPr>
              <a:lnSpc>
                <a:spcPct val="150000"/>
              </a:lnSpc>
            </a:pPr>
            <a:endParaRPr lang="en-US" smtClean="0"/>
          </a:p>
          <a:p>
            <a:pPr>
              <a:lnSpc>
                <a:spcPct val="150000"/>
              </a:lnSpc>
            </a:pPr>
            <a:endParaRPr lang="en-US"/>
          </a:p>
          <a:p>
            <a:pPr>
              <a:lnSpc>
                <a:spcPct val="150000"/>
              </a:lnSpc>
            </a:pPr>
            <a:endParaRPr lang="en-US" smtClean="0"/>
          </a:p>
          <a:p>
            <a:r>
              <a:rPr lang="en-US"/>
              <a:t>Dễ thấy rằng otomat M đoán nhận ngôn ngữ: </a:t>
            </a:r>
          </a:p>
          <a:p>
            <a:r>
              <a:rPr lang="en-US"/>
              <a:t>L = T(M) = {a</a:t>
            </a:r>
            <a:r>
              <a:rPr lang="en-US" baseline="30000"/>
              <a:t>n</a:t>
            </a:r>
            <a:r>
              <a:rPr lang="en-US"/>
              <a:t>bω | n≥0, ω∈{a, b}</a:t>
            </a:r>
            <a:r>
              <a:rPr lang="en-US" baseline="30000"/>
              <a:t>*</a:t>
            </a:r>
            <a:r>
              <a:rPr lang="en-US"/>
              <a:t>}. </a:t>
            </a:r>
          </a:p>
          <a:p>
            <a:pPr>
              <a:lnSpc>
                <a:spcPct val="150000"/>
              </a:lnSpc>
            </a:pPr>
            <a:endParaRPr lang="en-US"/>
          </a:p>
        </p:txBody>
      </p:sp>
      <p:pic>
        <p:nvPicPr>
          <p:cNvPr id="4" name="Picture 3"/>
          <p:cNvPicPr/>
          <p:nvPr/>
        </p:nvPicPr>
        <p:blipFill>
          <a:blip r:embed="rId2"/>
          <a:stretch>
            <a:fillRect/>
          </a:stretch>
        </p:blipFill>
        <p:spPr>
          <a:xfrm>
            <a:off x="6745955" y="3006036"/>
            <a:ext cx="3468855" cy="2277685"/>
          </a:xfrm>
          <a:prstGeom prst="rect">
            <a:avLst/>
          </a:prstGeom>
        </p:spPr>
      </p:pic>
    </p:spTree>
    <p:extLst>
      <p:ext uri="{BB962C8B-B14F-4D97-AF65-F5344CB8AC3E}">
        <p14:creationId xmlns:p14="http://schemas.microsoft.com/office/powerpoint/2010/main" val="4220679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16568"/>
            <a:ext cx="8915400" cy="5694654"/>
          </a:xfrm>
        </p:spPr>
        <p:txBody>
          <a:bodyPr/>
          <a:lstStyle/>
          <a:p>
            <a:pPr>
              <a:lnSpc>
                <a:spcPct val="150000"/>
              </a:lnSpc>
            </a:pPr>
            <a:r>
              <a:rPr lang="en-US"/>
              <a:t>Nhìn vào đồ thị chuyển của M, ta thấy ngay rằng không có đường đi nào từ t</a:t>
            </a:r>
            <a:r>
              <a:rPr lang="en-US" baseline="-25000"/>
              <a:t>0 </a:t>
            </a:r>
            <a:r>
              <a:rPr lang="en-US"/>
              <a:t> đến được đỉnh kết thúc t</a:t>
            </a:r>
            <a:r>
              <a:rPr lang="en-US" baseline="-25000"/>
              <a:t>1</a:t>
            </a:r>
            <a:r>
              <a:rPr lang="en-US"/>
              <a:t>, vì vậy otomat M sẽ tương đương với otomat M’ có đồ thị chuyển như sau: </a:t>
            </a:r>
            <a:endParaRPr lang="en-US" smtClean="0"/>
          </a:p>
          <a:p>
            <a:pPr>
              <a:lnSpc>
                <a:spcPct val="150000"/>
              </a:lnSpc>
            </a:pPr>
            <a:endParaRPr lang="en-US"/>
          </a:p>
          <a:p>
            <a:pPr>
              <a:lnSpc>
                <a:spcPct val="150000"/>
              </a:lnSpc>
            </a:pPr>
            <a:endParaRPr lang="en-US" smtClean="0"/>
          </a:p>
          <a:p>
            <a:pPr>
              <a:lnSpc>
                <a:spcPct val="150000"/>
              </a:lnSpc>
            </a:pPr>
            <a:endParaRPr lang="en-US"/>
          </a:p>
          <a:p>
            <a:pPr>
              <a:lnSpc>
                <a:spcPct val="150000"/>
              </a:lnSpc>
            </a:pPr>
            <a:endParaRPr lang="en-US" smtClean="0"/>
          </a:p>
          <a:p>
            <a:pPr>
              <a:lnSpc>
                <a:spcPct val="150000"/>
              </a:lnSpc>
            </a:pPr>
            <a:r>
              <a:rPr lang="en-US"/>
              <a:t>Rõ ràng là otomat M’ cũng đoán nhận ngôn ngữ L = T(M’) = {a</a:t>
            </a:r>
            <a:r>
              <a:rPr lang="en-US" baseline="30000"/>
              <a:t>n</a:t>
            </a:r>
            <a:r>
              <a:rPr lang="en-US"/>
              <a:t>bω | n≥0, ω∈{a, b}</a:t>
            </a:r>
            <a:r>
              <a:rPr lang="en-US" baseline="30000"/>
              <a:t>*</a:t>
            </a:r>
            <a:r>
              <a:rPr lang="en-US"/>
              <a:t>}, M’ chỉ có hai trạng thái và là otomat tối tiểu của ngôn ngữ </a:t>
            </a:r>
            <a:endParaRPr lang="en-US" smtClean="0"/>
          </a:p>
          <a:p>
            <a:pPr marL="0" indent="0">
              <a:lnSpc>
                <a:spcPct val="150000"/>
              </a:lnSpc>
              <a:buNone/>
            </a:pPr>
            <a:r>
              <a:rPr lang="en-US"/>
              <a:t>	</a:t>
            </a:r>
            <a:r>
              <a:rPr lang="en-US" smtClean="0"/>
              <a:t>L </a:t>
            </a:r>
            <a:r>
              <a:rPr lang="en-US"/>
              <a:t>= {a</a:t>
            </a:r>
            <a:r>
              <a:rPr lang="en-US" baseline="30000"/>
              <a:t>n</a:t>
            </a:r>
            <a:r>
              <a:rPr lang="en-US"/>
              <a:t>bω | n≥0, ω∈{a, b}</a:t>
            </a:r>
            <a:r>
              <a:rPr lang="en-US" baseline="30000"/>
              <a:t>*</a:t>
            </a:r>
            <a:r>
              <a:rPr lang="en-US"/>
              <a:t>}. </a:t>
            </a:r>
          </a:p>
          <a:p>
            <a:pPr>
              <a:lnSpc>
                <a:spcPct val="150000"/>
              </a:lnSpc>
            </a:pPr>
            <a:endParaRPr lang="en-US"/>
          </a:p>
          <a:p>
            <a:pPr>
              <a:lnSpc>
                <a:spcPct val="150000"/>
              </a:lnSpc>
            </a:pPr>
            <a:endParaRPr lang="en-US"/>
          </a:p>
        </p:txBody>
      </p:sp>
      <p:grpSp>
        <p:nvGrpSpPr>
          <p:cNvPr id="4" name="Group 3"/>
          <p:cNvGrpSpPr/>
          <p:nvPr/>
        </p:nvGrpSpPr>
        <p:grpSpPr>
          <a:xfrm>
            <a:off x="4731355" y="1985210"/>
            <a:ext cx="3931381" cy="1811923"/>
            <a:chOff x="-1650" y="-4444"/>
            <a:chExt cx="2705100" cy="983888"/>
          </a:xfrm>
        </p:grpSpPr>
        <p:sp>
          <p:nvSpPr>
            <p:cNvPr id="5" name="Rectangle 4"/>
            <p:cNvSpPr/>
            <p:nvPr/>
          </p:nvSpPr>
          <p:spPr>
            <a:xfrm>
              <a:off x="967740" y="303523"/>
              <a:ext cx="50673" cy="184382"/>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200">
                  <a:solidFill>
                    <a:srgbClr val="000000"/>
                  </a:solidFill>
                  <a:effectLst/>
                  <a:latin typeface="Times New Roman" panose="02020603050405020304" pitchFamily="18" charset="0"/>
                  <a:ea typeface="Times New Roman" panose="02020603050405020304" pitchFamily="18" charset="0"/>
                </a:rPr>
                <a:t> </a:t>
              </a:r>
            </a:p>
          </p:txBody>
        </p:sp>
        <p:sp>
          <p:nvSpPr>
            <p:cNvPr id="6" name="Rectangle 5"/>
            <p:cNvSpPr/>
            <p:nvPr/>
          </p:nvSpPr>
          <p:spPr>
            <a:xfrm>
              <a:off x="1371600" y="794864"/>
              <a:ext cx="50673" cy="184580"/>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200" i="1">
                  <a:solidFill>
                    <a:srgbClr val="000000"/>
                  </a:solidFill>
                  <a:effectLst/>
                  <a:latin typeface="Times New Roman" panose="02020603050405020304" pitchFamily="18" charset="0"/>
                  <a:ea typeface="Times New Roman" panose="02020603050405020304" pitchFamily="18" charset="0"/>
                </a:rPr>
                <a:t> </a:t>
              </a:r>
              <a:endParaRPr lang="en-US" sz="1200">
                <a:solidFill>
                  <a:srgbClr val="000000"/>
                </a:solidFill>
                <a:effectLst/>
                <a:latin typeface="Times New Roman" panose="02020603050405020304" pitchFamily="18" charset="0"/>
                <a:ea typeface="Times New Roman" panose="02020603050405020304" pitchFamily="18" charset="0"/>
              </a:endParaRPr>
            </a:p>
          </p:txBody>
        </p:sp>
        <p:pic>
          <p:nvPicPr>
            <p:cNvPr id="7" name="Picture 6"/>
            <p:cNvPicPr/>
            <p:nvPr/>
          </p:nvPicPr>
          <p:blipFill>
            <a:blip r:embed="rId2"/>
            <a:stretch>
              <a:fillRect/>
            </a:stretch>
          </p:blipFill>
          <p:spPr>
            <a:xfrm>
              <a:off x="-1650" y="-4444"/>
              <a:ext cx="2705100" cy="825500"/>
            </a:xfrm>
            <a:prstGeom prst="rect">
              <a:avLst/>
            </a:prstGeom>
          </p:spPr>
        </p:pic>
      </p:grpSp>
    </p:spTree>
    <p:extLst>
      <p:ext uri="{BB962C8B-B14F-4D97-AF65-F5344CB8AC3E}">
        <p14:creationId xmlns:p14="http://schemas.microsoft.com/office/powerpoint/2010/main" val="3476649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4.2 Điều kiện cần của ngôn ngữ chính quy </a:t>
            </a:r>
            <a:endParaRPr lang="en-US"/>
          </a:p>
        </p:txBody>
      </p:sp>
      <p:sp>
        <p:nvSpPr>
          <p:cNvPr id="3" name="Content Placeholder 2"/>
          <p:cNvSpPr>
            <a:spLocks noGrp="1"/>
          </p:cNvSpPr>
          <p:nvPr>
            <p:ph idx="1"/>
          </p:nvPr>
        </p:nvSpPr>
        <p:spPr/>
        <p:txBody>
          <a:bodyPr/>
          <a:lstStyle/>
          <a:p>
            <a:pPr>
              <a:lnSpc>
                <a:spcPct val="150000"/>
              </a:lnSpc>
            </a:pPr>
            <a:r>
              <a:rPr lang="en-US" b="1" i="1"/>
              <a:t>Định lý 4.1 </a:t>
            </a:r>
            <a:r>
              <a:rPr lang="en-US"/>
              <a:t> Nếu L là ngôn ngữ chính quy thì tồn tại số nguyên dương n sao cho với mọi   ω ∈ L mà |ω | ≥ n đều có thể phân tích được dưới dạng ω = uvw, (với |v| ≥ 1 hay v ≠ ε) mà với mọi chỉ số i = 0, 1. 2,… ta có uv</a:t>
            </a:r>
            <a:r>
              <a:rPr lang="en-US" baseline="30000"/>
              <a:t>i</a:t>
            </a:r>
            <a:r>
              <a:rPr lang="en-US"/>
              <a:t>w ∈ L </a:t>
            </a:r>
            <a:endParaRPr lang="en-US" smtClean="0"/>
          </a:p>
          <a:p>
            <a:pPr>
              <a:lnSpc>
                <a:spcPct val="150000"/>
              </a:lnSpc>
            </a:pPr>
            <a:r>
              <a:rPr lang="en-US" b="1" i="1"/>
              <a:t>Hệ quả 4.1 </a:t>
            </a:r>
            <a:r>
              <a:rPr lang="en-US"/>
              <a:t> Cho A là otomat hữu hạn đơn định có n trạng thái và L là ngôn ngữ được đoán nhận bởi A. Khi đó L ≠ ∅ khi và chỉ khi ∃ ω ∈L sao |ω| &lt; n.  </a:t>
            </a:r>
          </a:p>
          <a:p>
            <a:pPr>
              <a:lnSpc>
                <a:spcPct val="150000"/>
              </a:lnSpc>
            </a:pPr>
            <a:r>
              <a:rPr lang="en-US" b="1" i="1"/>
              <a:t>Hệ quả 4.2 </a:t>
            </a:r>
            <a:r>
              <a:rPr lang="en-US"/>
              <a:t> Tồn tại một ngôn ngữ phi ngữ cảnh mà không được đoán nhận bởi bất kỳ một otomat hữu hạn đơn định nào. </a:t>
            </a:r>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17293635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Ion Boardroom</Template>
  <TotalTime>1009</TotalTime>
  <Words>2802</Words>
  <Application>Microsoft Office PowerPoint</Application>
  <PresentationFormat>Custom</PresentationFormat>
  <Paragraphs>227</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Wisp</vt:lpstr>
      <vt:lpstr>Chương 3 </vt:lpstr>
      <vt:lpstr>PowerPoint Presentation</vt:lpstr>
      <vt:lpstr>PowerPoint Presentation</vt:lpstr>
      <vt:lpstr>3. Ngôn ngữ chính quy và biểu thức chính quy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Ví dụ:</vt:lpstr>
      <vt:lpstr>PowerPoint Presentation</vt:lpstr>
      <vt:lpstr>PowerPoint Presentation</vt:lpstr>
      <vt:lpstr>3.2. Sự tương đương của các biểu thức chính quy</vt:lpstr>
      <vt:lpstr>PowerPoint Presentation</vt:lpstr>
      <vt:lpstr>PowerPoint Presentation</vt:lpstr>
      <vt:lpstr>3.2  Sự liên hệ giữa otomat hữu hạn và biểu thức chính quy  </vt:lpstr>
      <vt:lpstr>PowerPoint Presentation</vt:lpstr>
      <vt:lpstr>3.2  Sự liên hệ giữa otomat hữu hạn và ngôn ngữ chính quy  </vt:lpstr>
      <vt:lpstr>Ví dụ:</vt:lpstr>
      <vt:lpstr>PowerPoint Presentation</vt:lpstr>
      <vt:lpstr>Kết luận</vt:lpstr>
      <vt:lpstr>Ví dụ:</vt:lpstr>
      <vt:lpstr>4.  Điều kiện cần của ngôn ngữ chính quy  </vt:lpstr>
      <vt:lpstr>Otomat tối tiểu </vt:lpstr>
      <vt:lpstr>Ví dụ:</vt:lpstr>
      <vt:lpstr>PowerPoint Presentation</vt:lpstr>
      <vt:lpstr>4.2 Điều kiện cần của ngôn ngữ chính quy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dc:title>
  <dc:creator>ThanhBinh</dc:creator>
  <cp:lastModifiedBy>Asus</cp:lastModifiedBy>
  <cp:revision>81</cp:revision>
  <dcterms:created xsi:type="dcterms:W3CDTF">2017-01-02T08:28:44Z</dcterms:created>
  <dcterms:modified xsi:type="dcterms:W3CDTF">2026-09-30T23:01:25Z</dcterms:modified>
</cp:coreProperties>
</file>