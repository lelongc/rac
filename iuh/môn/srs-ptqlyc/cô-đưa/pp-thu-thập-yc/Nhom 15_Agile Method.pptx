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9" r:id="rId2"/>
    <p:sldId id="260" r:id="rId3"/>
    <p:sldId id="261" r:id="rId4"/>
    <p:sldId id="264" r:id="rId5"/>
    <p:sldId id="265" r:id="rId6"/>
    <p:sldId id="266" r:id="rId7"/>
    <p:sldId id="267" r:id="rId8"/>
    <p:sldId id="268" r:id="rId9"/>
    <p:sldId id="301" r:id="rId10"/>
    <p:sldId id="270" r:id="rId11"/>
    <p:sldId id="271" r:id="rId12"/>
    <p:sldId id="272" r:id="rId13"/>
    <p:sldId id="273" r:id="rId14"/>
    <p:sldId id="291" r:id="rId15"/>
    <p:sldId id="292" r:id="rId16"/>
    <p:sldId id="293" r:id="rId17"/>
    <p:sldId id="294" r:id="rId18"/>
    <p:sldId id="274" r:id="rId19"/>
    <p:sldId id="275" r:id="rId20"/>
    <p:sldId id="295" r:id="rId21"/>
    <p:sldId id="277" r:id="rId22"/>
    <p:sldId id="278" r:id="rId23"/>
    <p:sldId id="279" r:id="rId24"/>
    <p:sldId id="296" r:id="rId25"/>
    <p:sldId id="297" r:id="rId26"/>
    <p:sldId id="280" r:id="rId27"/>
    <p:sldId id="298" r:id="rId28"/>
    <p:sldId id="282" r:id="rId29"/>
    <p:sldId id="299" r:id="rId30"/>
    <p:sldId id="284"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5879"/>
    <a:srgbClr val="543A14"/>
    <a:srgbClr val="213555"/>
    <a:srgbClr val="229698"/>
    <a:srgbClr val="DDCFBB"/>
    <a:srgbClr val="156082"/>
    <a:srgbClr val="FFF0DC"/>
    <a:srgbClr val="F0BB78"/>
    <a:srgbClr val="578E7E"/>
    <a:srgbClr val="F5EC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033" autoAdjust="0"/>
  </p:normalViewPr>
  <p:slideViewPr>
    <p:cSldViewPr snapToGrid="0">
      <p:cViewPr varScale="1">
        <p:scale>
          <a:sx n="101" d="100"/>
          <a:sy n="101" d="100"/>
        </p:scale>
        <p:origin x="15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0038FD-24EE-465E-91E2-AA6BE37B498A}" type="datetimeFigureOut">
              <a:rPr lang="en-US" smtClean="0"/>
              <a:t>11/01/2025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F3465-0647-45E9-8856-CDE9C66FB538}" type="slidenum">
              <a:rPr lang="en-US" smtClean="0"/>
              <a:t>‹#›</a:t>
            </a:fld>
            <a:endParaRPr lang="en-US"/>
          </a:p>
        </p:txBody>
      </p:sp>
    </p:spTree>
    <p:extLst>
      <p:ext uri="{BB962C8B-B14F-4D97-AF65-F5344CB8AC3E}">
        <p14:creationId xmlns:p14="http://schemas.microsoft.com/office/powerpoint/2010/main" val="317826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2F3465-0647-45E9-8856-CDE9C66FB538}" type="slidenum">
              <a:rPr lang="en-US" smtClean="0"/>
              <a:t>1</a:t>
            </a:fld>
            <a:endParaRPr lang="en-US"/>
          </a:p>
        </p:txBody>
      </p:sp>
    </p:spTree>
    <p:extLst>
      <p:ext uri="{BB962C8B-B14F-4D97-AF65-F5344CB8AC3E}">
        <p14:creationId xmlns:p14="http://schemas.microsoft.com/office/powerpoint/2010/main" val="3197965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 dụ ông ơi</a:t>
            </a:r>
          </a:p>
        </p:txBody>
      </p:sp>
      <p:sp>
        <p:nvSpPr>
          <p:cNvPr id="4" name="Slide Number Placeholder 3"/>
          <p:cNvSpPr>
            <a:spLocks noGrp="1"/>
          </p:cNvSpPr>
          <p:nvPr>
            <p:ph type="sldNum" sz="quarter" idx="5"/>
          </p:nvPr>
        </p:nvSpPr>
        <p:spPr/>
        <p:txBody>
          <a:bodyPr/>
          <a:lstStyle/>
          <a:p>
            <a:fld id="{082F3465-0647-45E9-8856-CDE9C66FB538}" type="slidenum">
              <a:rPr lang="en-US" smtClean="0"/>
              <a:t>22</a:t>
            </a:fld>
            <a:endParaRPr lang="en-US"/>
          </a:p>
        </p:txBody>
      </p:sp>
    </p:spTree>
    <p:extLst>
      <p:ext uri="{BB962C8B-B14F-4D97-AF65-F5344CB8AC3E}">
        <p14:creationId xmlns:p14="http://schemas.microsoft.com/office/powerpoint/2010/main" val="3544446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F4D93-F8C4-8D97-78F8-BB7A76E68A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BE7EC8-CF81-807A-6291-1DEFD28B1D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E78AF7-C2BE-2C4D-E6E7-F32EDE761A8B}"/>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8FD8D716-112E-95CA-BC9A-EE6F4609B1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848CD5-9510-1DB2-0CF7-7247B193BB91}"/>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1379600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1819-8FED-B434-3384-2DEFD58E6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04932F-0E3A-A3BA-1731-9F7C19D5D4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159245-5044-9A37-DC70-E9B64A5E37D1}"/>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56CA170D-6A83-DE9B-A9BB-B1E7C650D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887A6-24A0-CB8C-3F79-E49AE37101C7}"/>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41411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0FD4-98A3-F2C4-FE66-C92CB4DF1B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44CEF8-D13F-80E8-5DEE-D79A05E1EA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B2B601-F3ED-A608-20CF-EB10AB53DCD5}"/>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988C38CF-B8E4-4B90-7CF6-9FF3A06D0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6ECFC-93AB-5808-DA9E-5DA7F47A71BD}"/>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4291479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2687-80AE-0705-DB24-35283A52CF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9554A5-0017-3FCD-282F-934387FAFF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4CADDA-E98C-1615-1FA8-408D819042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40A543-314A-7E96-552F-40F87A055CCC}"/>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6" name="Footer Placeholder 5">
            <a:extLst>
              <a:ext uri="{FF2B5EF4-FFF2-40B4-BE49-F238E27FC236}">
                <a16:creationId xmlns:a16="http://schemas.microsoft.com/office/drawing/2014/main" id="{06B0DB2A-D5B5-E02F-8A51-5368194681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09ABF6-327B-81D9-60CE-5AB5E8AA629E}"/>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1048982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B9B7-AD96-510D-EF66-604529B6E7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43D5E5-DE6E-2E33-9985-FC088106F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23957F-2D64-273F-372D-46DBEFDED3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74D22-6983-64F5-76D5-FE392A5A99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5E9FEC-1C5C-2C98-F83D-717558F603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384880-EB53-E34D-7A5E-2A28021B1D12}"/>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8" name="Footer Placeholder 7">
            <a:extLst>
              <a:ext uri="{FF2B5EF4-FFF2-40B4-BE49-F238E27FC236}">
                <a16:creationId xmlns:a16="http://schemas.microsoft.com/office/drawing/2014/main" id="{7DCA2050-CC17-BCEF-B081-21E97F9EB2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B1036A-9B8E-E79E-0060-F69865547F6A}"/>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248642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CF48A-462C-99A0-D64A-9DA1D22216A2}"/>
              </a:ext>
            </a:extLst>
          </p:cNvPr>
          <p:cNvSpPr>
            <a:spLocks noGrp="1"/>
          </p:cNvSpPr>
          <p:nvPr>
            <p:ph type="title"/>
          </p:nvPr>
        </p:nvSpPr>
        <p:spPr>
          <a:xfrm>
            <a:off x="838200" y="0"/>
            <a:ext cx="10515600" cy="1325563"/>
          </a:xfrm>
        </p:spPr>
        <p:txBody>
          <a:bodyPr/>
          <a:lstStyle>
            <a:lvl1pPr algn="ctr">
              <a:defRPr>
                <a:latin typeface="Lobster" panose="00000500000000000000" pitchFamily="2" charset="0"/>
              </a:defRPr>
            </a:lvl1pPr>
          </a:lstStyle>
          <a:p>
            <a:r>
              <a:rPr lang="en-US"/>
              <a:t>Click to edit Master title style</a:t>
            </a:r>
          </a:p>
        </p:txBody>
      </p:sp>
      <p:sp>
        <p:nvSpPr>
          <p:cNvPr id="3" name="Date Placeholder 2">
            <a:extLst>
              <a:ext uri="{FF2B5EF4-FFF2-40B4-BE49-F238E27FC236}">
                <a16:creationId xmlns:a16="http://schemas.microsoft.com/office/drawing/2014/main" id="{3CEC2605-31ED-E0D8-FCC6-D58EB1E8E84D}"/>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4" name="Footer Placeholder 3">
            <a:extLst>
              <a:ext uri="{FF2B5EF4-FFF2-40B4-BE49-F238E27FC236}">
                <a16:creationId xmlns:a16="http://schemas.microsoft.com/office/drawing/2014/main" id="{CF0E27E3-2271-1537-F778-019F3050E2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716441-C94E-8C25-37D5-519D32BC6FF4}"/>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3491058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1FCDDE-69B7-F5BC-2BCD-583502C197F6}"/>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3" name="Footer Placeholder 2">
            <a:extLst>
              <a:ext uri="{FF2B5EF4-FFF2-40B4-BE49-F238E27FC236}">
                <a16:creationId xmlns:a16="http://schemas.microsoft.com/office/drawing/2014/main" id="{78611526-7DBC-1765-8CB5-E8F45D298B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79BE73-C1C4-DE7C-F5D2-BABC960180D5}"/>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3870485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72B7B-4654-D28A-B1A9-63AA077A0F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31DCC6-4F34-84C7-AAA5-5B7D4A84FB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626B4E-C275-3DE4-7D50-B9877D8C8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9C3E8-08DF-18B4-37F9-3B08412D0C7A}"/>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6" name="Footer Placeholder 5">
            <a:extLst>
              <a:ext uri="{FF2B5EF4-FFF2-40B4-BE49-F238E27FC236}">
                <a16:creationId xmlns:a16="http://schemas.microsoft.com/office/drawing/2014/main" id="{ECC9D84A-3EF0-F4F0-EC4D-BF8C4AB121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F32CA-499D-E6F2-546D-2479B95B3BB6}"/>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334759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CD3D5-F5D3-40DC-7D62-7476324B08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B6E07B-ABFD-06C0-02EE-58873BF064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E817E8-8335-F2DF-976F-E8B99B08D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EF1FF9-EA0B-4DC9-7F44-B69F9D2C6186}"/>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6" name="Footer Placeholder 5">
            <a:extLst>
              <a:ext uri="{FF2B5EF4-FFF2-40B4-BE49-F238E27FC236}">
                <a16:creationId xmlns:a16="http://schemas.microsoft.com/office/drawing/2014/main" id="{D8BCC0B9-544E-9A37-C931-B3A58738E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E022B9-D5BF-5CF9-D126-D52013D0DA63}"/>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1759299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AEDE-7EAC-52AB-F6F9-8E3BBAF46F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779100-AA37-3583-64D7-558D2186E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53651-4230-F14C-64CA-DF78E61A3C35}"/>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1ED802B4-2DE1-91AB-51DF-1968E86D39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03BC1-0443-5F2B-B367-B24C39B04E2C}"/>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962117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E1B3D0-A5C2-E012-4E23-2720ABA7A0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5620B7-2045-4FE8-4BD8-55DF6A9707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9E3BC4-6665-1758-D070-2BC01B06EDF4}"/>
              </a:ext>
            </a:extLst>
          </p:cNvPr>
          <p:cNvSpPr>
            <a:spLocks noGrp="1"/>
          </p:cNvSpPr>
          <p:nvPr>
            <p:ph type="dt" sz="half" idx="10"/>
          </p:nvPr>
        </p:nvSpPr>
        <p:spPr/>
        <p:txBody>
          <a:body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BE0E622A-7379-F706-7923-CBCA279A9B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52714-4B3B-B04C-936D-F549373A4D7C}"/>
              </a:ext>
            </a:extLst>
          </p:cNvPr>
          <p:cNvSpPr>
            <a:spLocks noGrp="1"/>
          </p:cNvSpPr>
          <p:nvPr>
            <p:ph type="sldNum" sz="quarter" idx="12"/>
          </p:nvPr>
        </p:nvSpPr>
        <p:spPr/>
        <p:txBody>
          <a:bodyPr/>
          <a:lstStyle/>
          <a:p>
            <a:fld id="{CE7211F5-02D3-4D97-9B13-682887E1F750}" type="slidenum">
              <a:rPr lang="en-US" smtClean="0"/>
              <a:t>‹#›</a:t>
            </a:fld>
            <a:endParaRPr lang="en-US"/>
          </a:p>
        </p:txBody>
      </p:sp>
    </p:spTree>
    <p:extLst>
      <p:ext uri="{BB962C8B-B14F-4D97-AF65-F5344CB8AC3E}">
        <p14:creationId xmlns:p14="http://schemas.microsoft.com/office/powerpoint/2010/main" val="46486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5E6977-6D14-41EA-FB7B-DB2C271778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2C71FF-2B04-1B26-9F81-6004623DF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206F3A01-5C69-4F13-FC00-32DE7E292E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B1475-8FB3-4E62-84D6-EF43931BD52E}" type="datetimeFigureOut">
              <a:rPr lang="en-US" smtClean="0"/>
              <a:t>11/01/2025</a:t>
            </a:fld>
            <a:endParaRPr lang="en-US"/>
          </a:p>
        </p:txBody>
      </p:sp>
      <p:sp>
        <p:nvSpPr>
          <p:cNvPr id="5" name="Footer Placeholder 4">
            <a:extLst>
              <a:ext uri="{FF2B5EF4-FFF2-40B4-BE49-F238E27FC236}">
                <a16:creationId xmlns:a16="http://schemas.microsoft.com/office/drawing/2014/main" id="{63F44C48-DF8B-7C32-621C-877B5D1C3C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9749F9-3C51-73AB-24E4-7BC239242F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7211F5-02D3-4D97-9B13-682887E1F750}" type="slidenum">
              <a:rPr lang="en-US" smtClean="0"/>
              <a:t>‹#›</a:t>
            </a:fld>
            <a:endParaRPr lang="en-US"/>
          </a:p>
        </p:txBody>
      </p:sp>
    </p:spTree>
    <p:extLst>
      <p:ext uri="{BB962C8B-B14F-4D97-AF65-F5344CB8AC3E}">
        <p14:creationId xmlns:p14="http://schemas.microsoft.com/office/powerpoint/2010/main" val="3875184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sv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sv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4E6DD9-35E7-F506-CB3D-35752D286B5A}"/>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E5CE37D-B55A-379C-B468-A5D8812B561B}"/>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Đại </a:t>
            </a:r>
            <a:r>
              <a:rPr lang="en-US" sz="3600" dirty="0">
                <a:solidFill>
                  <a:srgbClr val="131010"/>
                </a:solidFill>
                <a:latin typeface="Lobster" panose="00000500000000000000" pitchFamily="2" charset="-93"/>
              </a:rPr>
              <a:t>H</a:t>
            </a:r>
            <a:r>
              <a:rPr lang="vi-VN" sz="3600">
                <a:solidFill>
                  <a:srgbClr val="131010"/>
                </a:solidFill>
                <a:latin typeface="Lobster" panose="00000500000000000000" pitchFamily="2" charset="-93"/>
              </a:rPr>
              <a:t>ọc Công </a:t>
            </a:r>
            <a:r>
              <a:rPr lang="en-US" sz="3600" dirty="0">
                <a:solidFill>
                  <a:srgbClr val="131010"/>
                </a:solidFill>
                <a:latin typeface="Lobster" panose="00000500000000000000" pitchFamily="2" charset="-93"/>
              </a:rPr>
              <a:t>N</a:t>
            </a:r>
            <a:r>
              <a:rPr lang="vi-VN" sz="3600">
                <a:solidFill>
                  <a:srgbClr val="131010"/>
                </a:solidFill>
                <a:latin typeface="Lobster" panose="00000500000000000000" pitchFamily="2" charset="-93"/>
              </a:rPr>
              <a:t>ghiệp </a:t>
            </a:r>
            <a:r>
              <a:rPr lang="vi-VN" sz="3600" dirty="0">
                <a:solidFill>
                  <a:srgbClr val="131010"/>
                </a:solidFill>
                <a:latin typeface="Lobster" panose="00000500000000000000" pitchFamily="2" charset="-93"/>
              </a:rPr>
              <a:t>TP.HCM</a:t>
            </a:r>
          </a:p>
        </p:txBody>
      </p:sp>
      <p:sp>
        <p:nvSpPr>
          <p:cNvPr id="8" name="Oval 7">
            <a:extLst>
              <a:ext uri="{FF2B5EF4-FFF2-40B4-BE49-F238E27FC236}">
                <a16:creationId xmlns:a16="http://schemas.microsoft.com/office/drawing/2014/main" id="{582B35E8-44B1-CCD0-1877-D20FD22A1CD7}"/>
              </a:ext>
            </a:extLst>
          </p:cNvPr>
          <p:cNvSpPr/>
          <p:nvPr/>
        </p:nvSpPr>
        <p:spPr>
          <a:xfrm>
            <a:off x="1318012" y="2376945"/>
            <a:ext cx="2489200" cy="2438400"/>
          </a:xfrm>
          <a:prstGeom prst="ellipse">
            <a:avLst/>
          </a:prstGeom>
          <a:solidFill>
            <a:srgbClr val="3E58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53262D15-B577-E9BB-B3BF-E2BF4DE4616D}"/>
              </a:ext>
            </a:extLst>
          </p:cNvPr>
          <p:cNvSpPr txBox="1"/>
          <p:nvPr/>
        </p:nvSpPr>
        <p:spPr>
          <a:xfrm>
            <a:off x="1810772" y="3303758"/>
            <a:ext cx="1828800" cy="584775"/>
          </a:xfrm>
          <a:prstGeom prst="rect">
            <a:avLst/>
          </a:prstGeom>
          <a:noFill/>
        </p:spPr>
        <p:txBody>
          <a:bodyPr wrap="square" rtlCol="0">
            <a:spAutoFit/>
          </a:bodyPr>
          <a:lstStyle/>
          <a:p>
            <a:r>
              <a:rPr lang="en-US" sz="3200" dirty="0" err="1">
                <a:solidFill>
                  <a:srgbClr val="FFFFFF"/>
                </a:solidFill>
                <a:latin typeface="Lobster" panose="00000500000000000000" pitchFamily="2" charset="0"/>
                <a:cs typeface="Gelasio Semi Bold" panose="020B0604020202020204" charset="0"/>
              </a:rPr>
              <a:t>Nhóm</a:t>
            </a:r>
            <a:r>
              <a:rPr lang="en-US" sz="3200">
                <a:solidFill>
                  <a:srgbClr val="FFFFFF"/>
                </a:solidFill>
                <a:latin typeface="Lobster" panose="00000500000000000000" pitchFamily="2" charset="0"/>
                <a:cs typeface="Gelasio Semi Bold" panose="020B0604020202020204" charset="0"/>
              </a:rPr>
              <a:t> 15</a:t>
            </a:r>
          </a:p>
        </p:txBody>
      </p:sp>
      <p:sp>
        <p:nvSpPr>
          <p:cNvPr id="16" name="Rectangle 15">
            <a:extLst>
              <a:ext uri="{FF2B5EF4-FFF2-40B4-BE49-F238E27FC236}">
                <a16:creationId xmlns:a16="http://schemas.microsoft.com/office/drawing/2014/main" id="{F5B4945F-A9F9-6766-FCE5-E8FD4B4DC1AC}"/>
              </a:ext>
            </a:extLst>
          </p:cNvPr>
          <p:cNvSpPr/>
          <p:nvPr/>
        </p:nvSpPr>
        <p:spPr>
          <a:xfrm>
            <a:off x="5125224" y="2376946"/>
            <a:ext cx="5748764" cy="2438400"/>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289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499FB9-0C78-AB79-9DD6-6E663F1D9475}"/>
              </a:ext>
            </a:extLst>
          </p:cNvPr>
          <p:cNvPicPr>
            <a:picLocks noChangeAspect="1"/>
          </p:cNvPicPr>
          <p:nvPr/>
        </p:nvPicPr>
        <p:blipFill>
          <a:blip r:embed="rId2"/>
          <a:stretch>
            <a:fillRect/>
          </a:stretch>
        </p:blipFill>
        <p:spPr>
          <a:xfrm>
            <a:off x="745391" y="1003694"/>
            <a:ext cx="6849431" cy="3886742"/>
          </a:xfrm>
          <a:prstGeom prst="rect">
            <a:avLst/>
          </a:prstGeom>
        </p:spPr>
      </p:pic>
      <p:pic>
        <p:nvPicPr>
          <p:cNvPr id="10" name="Picture 9">
            <a:extLst>
              <a:ext uri="{FF2B5EF4-FFF2-40B4-BE49-F238E27FC236}">
                <a16:creationId xmlns:a16="http://schemas.microsoft.com/office/drawing/2014/main" id="{D2F96EE7-09D5-ADFA-066C-FFD1830CB552}"/>
              </a:ext>
            </a:extLst>
          </p:cNvPr>
          <p:cNvPicPr>
            <a:picLocks noChangeAspect="1"/>
          </p:cNvPicPr>
          <p:nvPr/>
        </p:nvPicPr>
        <p:blipFill>
          <a:blip r:embed="rId3"/>
          <a:stretch>
            <a:fillRect/>
          </a:stretch>
        </p:blipFill>
        <p:spPr>
          <a:xfrm>
            <a:off x="7912632" y="879409"/>
            <a:ext cx="3858955" cy="4867954"/>
          </a:xfrm>
          <a:prstGeom prst="rect">
            <a:avLst/>
          </a:prstGeom>
        </p:spPr>
      </p:pic>
      <p:sp>
        <p:nvSpPr>
          <p:cNvPr id="2" name="Rectangle 1">
            <a:extLst>
              <a:ext uri="{FF2B5EF4-FFF2-40B4-BE49-F238E27FC236}">
                <a16:creationId xmlns:a16="http://schemas.microsoft.com/office/drawing/2014/main" id="{A1752207-FF25-9331-0490-5A8E83685330}"/>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rgbClr val="453F34"/>
              </a:solidFill>
              <a:latin typeface="Lobster" panose="00000500000000000000" pitchFamily="2" charset="0"/>
            </a:endParaRPr>
          </a:p>
        </p:txBody>
      </p:sp>
      <p:sp>
        <p:nvSpPr>
          <p:cNvPr id="12" name="TextBox 11">
            <a:extLst>
              <a:ext uri="{FF2B5EF4-FFF2-40B4-BE49-F238E27FC236}">
                <a16:creationId xmlns:a16="http://schemas.microsoft.com/office/drawing/2014/main" id="{7A050209-A4A0-96ED-B9B0-6D2C7A5E03A2}"/>
              </a:ext>
            </a:extLst>
          </p:cNvPr>
          <p:cNvSpPr txBox="1"/>
          <p:nvPr/>
        </p:nvSpPr>
        <p:spPr>
          <a:xfrm>
            <a:off x="-2223964" y="2038412"/>
            <a:ext cx="11202420" cy="646331"/>
          </a:xfrm>
          <a:prstGeom prst="rect">
            <a:avLst/>
          </a:prstGeom>
          <a:noFill/>
        </p:spPr>
        <p:txBody>
          <a:bodyPr wrap="square" rtlCol="0">
            <a:spAutoFit/>
          </a:bodyPr>
          <a:lstStyle/>
          <a:p>
            <a:pPr algn="ctr"/>
            <a:r>
              <a:rPr lang="en-US" sz="3600">
                <a:solidFill>
                  <a:srgbClr val="FF0000"/>
                </a:solidFill>
                <a:latin typeface="Lobster" panose="00000500000000000000" pitchFamily="2" charset="0"/>
              </a:rPr>
              <a:t>Tìm hiểu kỹ thuật Agile Method</a:t>
            </a:r>
          </a:p>
        </p:txBody>
      </p:sp>
      <p:sp>
        <p:nvSpPr>
          <p:cNvPr id="15" name="TextBox 14">
            <a:extLst>
              <a:ext uri="{FF2B5EF4-FFF2-40B4-BE49-F238E27FC236}">
                <a16:creationId xmlns:a16="http://schemas.microsoft.com/office/drawing/2014/main" id="{A818BDD6-8364-153C-2720-C2BFFF791336}"/>
              </a:ext>
            </a:extLst>
          </p:cNvPr>
          <p:cNvSpPr txBox="1"/>
          <p:nvPr/>
        </p:nvSpPr>
        <p:spPr>
          <a:xfrm>
            <a:off x="-1454436" y="4173257"/>
            <a:ext cx="8994711" cy="1355564"/>
          </a:xfrm>
          <a:prstGeom prst="rect">
            <a:avLst/>
          </a:prstGeom>
          <a:noFill/>
        </p:spPr>
        <p:txBody>
          <a:bodyPr wrap="square" rtlCol="0">
            <a:spAutoFit/>
          </a:bodyPr>
          <a:lstStyle/>
          <a:p>
            <a:pPr algn="ctr">
              <a:lnSpc>
                <a:spcPct val="107000"/>
              </a:lnSpc>
              <a:spcAft>
                <a:spcPts val="800"/>
              </a:spcAft>
              <a:tabLst>
                <a:tab pos="365760" algn="l"/>
              </a:tabLst>
            </a:pPr>
            <a:r>
              <a:rPr lang="en-US" sz="2400" kern="100">
                <a:solidFill>
                  <a:srgbClr val="543A14"/>
                </a:solidFill>
                <a:effectLst/>
                <a:latin typeface="+mj-lt"/>
                <a:ea typeface="Aptos" panose="020B0004020202020204" pitchFamily="34" charset="0"/>
                <a:cs typeface="Times New Roman" panose="02020603050405020304" pitchFamily="18" charset="0"/>
              </a:rPr>
              <a:t>Lớp DHHTTT19A </a:t>
            </a:r>
          </a:p>
          <a:p>
            <a:pPr algn="ctr">
              <a:lnSpc>
                <a:spcPct val="107000"/>
              </a:lnSpc>
              <a:spcAft>
                <a:spcPts val="800"/>
              </a:spcAft>
              <a:tabLst>
                <a:tab pos="365760" algn="l"/>
              </a:tabLst>
            </a:pPr>
            <a:r>
              <a:rPr lang="en-US" sz="2400" kern="100">
                <a:solidFill>
                  <a:srgbClr val="543A14"/>
                </a:solidFill>
                <a:latin typeface="+mj-lt"/>
                <a:ea typeface="Aptos" panose="020B0004020202020204" pitchFamily="34" charset="0"/>
                <a:cs typeface="Times New Roman" panose="02020603050405020304" pitchFamily="18" charset="0"/>
              </a:rPr>
              <a:t>Nhóm 15</a:t>
            </a:r>
            <a:br>
              <a:rPr lang="en-US" sz="2400" kern="100">
                <a:solidFill>
                  <a:srgbClr val="543A14"/>
                </a:solidFill>
                <a:latin typeface="+mj-lt"/>
                <a:ea typeface="Aptos" panose="020B0004020202020204" pitchFamily="34" charset="0"/>
                <a:cs typeface="Times New Roman" panose="02020603050405020304" pitchFamily="18" charset="0"/>
              </a:rPr>
            </a:br>
            <a:r>
              <a:rPr lang="en-US" sz="2400" kern="100">
                <a:solidFill>
                  <a:srgbClr val="543A14"/>
                </a:solidFill>
                <a:latin typeface="+mj-lt"/>
                <a:ea typeface="Aptos" panose="020B0004020202020204" pitchFamily="34" charset="0"/>
                <a:cs typeface="Times New Roman" panose="02020603050405020304" pitchFamily="18" charset="0"/>
              </a:rPr>
              <a:t>GVHD: ThS Lê Thị Ánh Tuyết</a:t>
            </a:r>
            <a:endParaRPr lang="en-US" sz="2400" kern="100">
              <a:solidFill>
                <a:srgbClr val="543A14"/>
              </a:solidFill>
              <a:effectLst/>
              <a:latin typeface="+mj-lt"/>
              <a:ea typeface="Aptos" panose="020B000402020202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06650D5C-4529-7328-A1DB-00462632F008}"/>
              </a:ext>
            </a:extLst>
          </p:cNvPr>
          <p:cNvSpPr txBox="1"/>
          <p:nvPr/>
        </p:nvSpPr>
        <p:spPr>
          <a:xfrm>
            <a:off x="-226903" y="1011196"/>
            <a:ext cx="7208298" cy="523220"/>
          </a:xfrm>
          <a:prstGeom prst="rect">
            <a:avLst/>
          </a:prstGeom>
          <a:noFill/>
        </p:spPr>
        <p:txBody>
          <a:bodyPr wrap="square" rtlCol="0">
            <a:spAutoFit/>
          </a:bodyPr>
          <a:lstStyle/>
          <a:p>
            <a:pPr algn="ctr"/>
            <a:r>
              <a:rPr lang="en-US" sz="2800">
                <a:solidFill>
                  <a:srgbClr val="131010"/>
                </a:solidFill>
                <a:latin typeface="Lobster" panose="00000500000000000000" pitchFamily="2" charset="-93"/>
              </a:rPr>
              <a:t>Phân Tích &amp; Quản Lý Yêu Cầu</a:t>
            </a:r>
            <a:endParaRPr lang="vi-VN" sz="2800" dirty="0">
              <a:solidFill>
                <a:srgbClr val="131010"/>
              </a:solidFill>
              <a:latin typeface="Lobster" panose="00000500000000000000" pitchFamily="2" charset="-93"/>
            </a:endParaRPr>
          </a:p>
        </p:txBody>
      </p:sp>
      <p:sp>
        <p:nvSpPr>
          <p:cNvPr id="25" name="TextBox 24">
            <a:extLst>
              <a:ext uri="{FF2B5EF4-FFF2-40B4-BE49-F238E27FC236}">
                <a16:creationId xmlns:a16="http://schemas.microsoft.com/office/drawing/2014/main" id="{18883CB3-378A-A23F-2887-74FF78943968}"/>
              </a:ext>
            </a:extLst>
          </p:cNvPr>
          <p:cNvSpPr txBox="1"/>
          <p:nvPr/>
        </p:nvSpPr>
        <p:spPr>
          <a:xfrm>
            <a:off x="3042920" y="3244334"/>
            <a:ext cx="6106160" cy="369332"/>
          </a:xfrm>
          <a:prstGeom prst="rect">
            <a:avLst/>
          </a:prstGeom>
          <a:noFill/>
        </p:spPr>
        <p:txBody>
          <a:bodyPr wrap="square">
            <a:spAutoFit/>
          </a:bodyPr>
          <a:lstStyle/>
          <a:p>
            <a:endParaRPr lang="en-US"/>
          </a:p>
        </p:txBody>
      </p:sp>
      <p:sp>
        <p:nvSpPr>
          <p:cNvPr id="26" name="Rectangle 25">
            <a:extLst>
              <a:ext uri="{FF2B5EF4-FFF2-40B4-BE49-F238E27FC236}">
                <a16:creationId xmlns:a16="http://schemas.microsoft.com/office/drawing/2014/main" id="{206AA8A5-8C72-B174-3ED6-0F758F3D46E7}"/>
              </a:ext>
            </a:extLst>
          </p:cNvPr>
          <p:cNvSpPr/>
          <p:nvPr/>
        </p:nvSpPr>
        <p:spPr>
          <a:xfrm>
            <a:off x="6644640" y="0"/>
            <a:ext cx="5623420" cy="6858000"/>
          </a:xfrm>
          <a:prstGeom prst="rect">
            <a:avLst/>
          </a:pr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994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C54858-19A3-1E41-346C-C8518376D3C9}"/>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Users with solid fill">
            <a:extLst>
              <a:ext uri="{FF2B5EF4-FFF2-40B4-BE49-F238E27FC236}">
                <a16:creationId xmlns:a16="http://schemas.microsoft.com/office/drawing/2014/main" id="{BB2BDB3E-E809-C552-F6B6-06FC78D9D4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95043" y="989693"/>
            <a:ext cx="801911" cy="801911"/>
          </a:xfrm>
          <a:prstGeom prst="rect">
            <a:avLst/>
          </a:prstGeom>
          <a:effectLst>
            <a:outerShdw blurRad="50800" dist="38100" dir="16200000" rotWithShape="0">
              <a:prstClr val="black">
                <a:alpha val="40000"/>
              </a:prstClr>
            </a:outerShdw>
          </a:effectLst>
        </p:spPr>
      </p:pic>
      <p:sp>
        <p:nvSpPr>
          <p:cNvPr id="17" name="TextBox 16">
            <a:extLst>
              <a:ext uri="{FF2B5EF4-FFF2-40B4-BE49-F238E27FC236}">
                <a16:creationId xmlns:a16="http://schemas.microsoft.com/office/drawing/2014/main" id="{0D68D093-0090-2161-1678-87906C383F1C}"/>
              </a:ext>
            </a:extLst>
          </p:cNvPr>
          <p:cNvSpPr txBox="1"/>
          <p:nvPr/>
        </p:nvSpPr>
        <p:spPr>
          <a:xfrm>
            <a:off x="2491850" y="343362"/>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Thành Viên Trong Nhóm</a:t>
            </a:r>
            <a:endParaRPr lang="vi-VN" sz="3600" dirty="0">
              <a:solidFill>
                <a:srgbClr val="131010"/>
              </a:solidFill>
              <a:latin typeface="Lobster" panose="00000500000000000000" pitchFamily="2" charset="-93"/>
            </a:endParaRPr>
          </a:p>
        </p:txBody>
      </p:sp>
      <p:graphicFrame>
        <p:nvGraphicFramePr>
          <p:cNvPr id="2" name="Table 1">
            <a:extLst>
              <a:ext uri="{FF2B5EF4-FFF2-40B4-BE49-F238E27FC236}">
                <a16:creationId xmlns:a16="http://schemas.microsoft.com/office/drawing/2014/main" id="{4A3FDD83-8F79-4833-BAF7-BB31AAAA0A8B}"/>
              </a:ext>
            </a:extLst>
          </p:cNvPr>
          <p:cNvGraphicFramePr>
            <a:graphicFrameLocks noGrp="1"/>
          </p:cNvGraphicFramePr>
          <p:nvPr>
            <p:extLst>
              <p:ext uri="{D42A27DB-BD31-4B8C-83A1-F6EECF244321}">
                <p14:modId xmlns:p14="http://schemas.microsoft.com/office/powerpoint/2010/main" val="132456864"/>
              </p:ext>
            </p:extLst>
          </p:nvPr>
        </p:nvGraphicFramePr>
        <p:xfrm>
          <a:off x="718553" y="1912563"/>
          <a:ext cx="10754889" cy="4412241"/>
        </p:xfrm>
        <a:graphic>
          <a:graphicData uri="http://schemas.openxmlformats.org/drawingml/2006/table">
            <a:tbl>
              <a:tblPr>
                <a:tableStyleId>{793D81CF-94F2-401A-BA57-92F5A7B2D0C5}</a:tableStyleId>
              </a:tblPr>
              <a:tblGrid>
                <a:gridCol w="761408">
                  <a:extLst>
                    <a:ext uri="{9D8B030D-6E8A-4147-A177-3AD203B41FA5}">
                      <a16:colId xmlns:a16="http://schemas.microsoft.com/office/drawing/2014/main" val="1554418187"/>
                    </a:ext>
                  </a:extLst>
                </a:gridCol>
                <a:gridCol w="1332465">
                  <a:extLst>
                    <a:ext uri="{9D8B030D-6E8A-4147-A177-3AD203B41FA5}">
                      <a16:colId xmlns:a16="http://schemas.microsoft.com/office/drawing/2014/main" val="1663182127"/>
                    </a:ext>
                  </a:extLst>
                </a:gridCol>
                <a:gridCol w="2567637">
                  <a:extLst>
                    <a:ext uri="{9D8B030D-6E8A-4147-A177-3AD203B41FA5}">
                      <a16:colId xmlns:a16="http://schemas.microsoft.com/office/drawing/2014/main" val="651463698"/>
                    </a:ext>
                  </a:extLst>
                </a:gridCol>
                <a:gridCol w="1817862">
                  <a:extLst>
                    <a:ext uri="{9D8B030D-6E8A-4147-A177-3AD203B41FA5}">
                      <a16:colId xmlns:a16="http://schemas.microsoft.com/office/drawing/2014/main" val="2164209233"/>
                    </a:ext>
                  </a:extLst>
                </a:gridCol>
                <a:gridCol w="4275517">
                  <a:extLst>
                    <a:ext uri="{9D8B030D-6E8A-4147-A177-3AD203B41FA5}">
                      <a16:colId xmlns:a16="http://schemas.microsoft.com/office/drawing/2014/main" val="1163811531"/>
                    </a:ext>
                  </a:extLst>
                </a:gridCol>
              </a:tblGrid>
              <a:tr h="699671">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STT</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MaSV</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Họ và tên</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Lớp</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Công việc</a:t>
                      </a:r>
                      <a:endParaRPr lang="en-US"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2748263763"/>
                  </a:ext>
                </a:extLst>
              </a:tr>
              <a:tr h="699671">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15</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21108281</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Nguyễn Tuấn Hoàng</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DHCNTT17B</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nSpc>
                          <a:spcPct val="107000"/>
                        </a:lnSpc>
                        <a:spcAft>
                          <a:spcPts val="800"/>
                        </a:spcAft>
                      </a:pPr>
                      <a:r>
                        <a:rPr lang="en-US" sz="2000" kern="100">
                          <a:effectLst/>
                          <a:latin typeface="Arial" panose="020B0604020202020204" pitchFamily="34" charset="0"/>
                          <a:cs typeface="Arial" panose="020B0604020202020204" pitchFamily="34" charset="0"/>
                        </a:rPr>
                        <a:t>Cách thức tiến hành</a:t>
                      </a:r>
                      <a:endParaRPr lang="en-US"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1298177264"/>
                  </a:ext>
                </a:extLst>
              </a:tr>
              <a:tr h="699671">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58</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23687021</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Huỳnh Công Thoại</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DHCNTT19A</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nSpc>
                          <a:spcPct val="107000"/>
                        </a:lnSpc>
                        <a:spcAft>
                          <a:spcPts val="800"/>
                        </a:spcAft>
                      </a:pPr>
                      <a:r>
                        <a:rPr lang="vi-VN" sz="2000" kern="100">
                          <a:effectLst/>
                          <a:latin typeface="Arial" panose="020B0604020202020204" pitchFamily="34" charset="0"/>
                          <a:cs typeface="Arial" panose="020B0604020202020204" pitchFamily="34" charset="0"/>
                        </a:rPr>
                        <a:t>Các trường hợp sử dụng</a:t>
                      </a:r>
                      <a:r>
                        <a:rPr lang="en-US" sz="2000" kern="100">
                          <a:effectLst/>
                          <a:latin typeface="Arial" panose="020B0604020202020204" pitchFamily="34" charset="0"/>
                          <a:cs typeface="Arial" panose="020B0604020202020204" pitchFamily="34" charset="0"/>
                        </a:rPr>
                        <a:t>, tóm tắt</a:t>
                      </a:r>
                      <a:endParaRPr lang="vi-VN"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205017948"/>
                  </a:ext>
                </a:extLst>
              </a:tr>
              <a:tr h="758131">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64</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22659061</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Châu Quang Tính</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DHHTTT18B</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nSpc>
                          <a:spcPct val="107000"/>
                        </a:lnSpc>
                        <a:spcAft>
                          <a:spcPts val="800"/>
                        </a:spcAft>
                      </a:pPr>
                      <a:r>
                        <a:rPr lang="vi-VN" sz="2000" kern="100">
                          <a:effectLst/>
                          <a:latin typeface="Arial" panose="020B0604020202020204" pitchFamily="34" charset="0"/>
                          <a:cs typeface="Arial" panose="020B0604020202020204" pitchFamily="34" charset="0"/>
                        </a:rPr>
                        <a:t>Ưu điểm và nhược điểm</a:t>
                      </a:r>
                      <a:r>
                        <a:rPr lang="en-US" sz="2000" kern="100">
                          <a:effectLst/>
                          <a:latin typeface="Arial" panose="020B0604020202020204" pitchFamily="34" charset="0"/>
                          <a:cs typeface="Arial" panose="020B0604020202020204" pitchFamily="34" charset="0"/>
                        </a:rPr>
                        <a:t>, hình ảnh</a:t>
                      </a:r>
                      <a:endParaRPr lang="vi-VN"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2719785288"/>
                  </a:ext>
                </a:extLst>
              </a:tr>
              <a:tr h="835070">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67</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23691831</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vi-VN" sz="2000" kern="100">
                          <a:effectLst/>
                          <a:latin typeface="Arial" panose="020B0604020202020204" pitchFamily="34" charset="0"/>
                          <a:cs typeface="Arial" panose="020B0604020202020204" pitchFamily="34" charset="0"/>
                        </a:rPr>
                        <a:t>Nguyễn Trọng Trí (Nhóm trưởng)</a:t>
                      </a:r>
                      <a:endParaRPr lang="vi-VN"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DHHTTT19B</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nSpc>
                          <a:spcPct val="107000"/>
                        </a:lnSpc>
                        <a:spcAft>
                          <a:spcPts val="800"/>
                        </a:spcAft>
                      </a:pPr>
                      <a:r>
                        <a:rPr lang="en-US" sz="2000" kern="100">
                          <a:effectLst/>
                          <a:latin typeface="Arial" panose="020B0604020202020204" pitchFamily="34" charset="0"/>
                          <a:cs typeface="Arial" panose="020B0604020202020204" pitchFamily="34" charset="0"/>
                        </a:rPr>
                        <a:t>Phân công, tổng hợp, tóm tắt và các nội dung còn lại trong bài</a:t>
                      </a:r>
                      <a:endParaRPr lang="en-US"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4262541932"/>
                  </a:ext>
                </a:extLst>
              </a:tr>
              <a:tr h="699671">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75</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23686281</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Nguyễn Trọng Vũ</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gn="ctr">
                        <a:lnSpc>
                          <a:spcPct val="107000"/>
                        </a:lnSpc>
                        <a:spcAft>
                          <a:spcPts val="800"/>
                        </a:spcAft>
                      </a:pPr>
                      <a:r>
                        <a:rPr lang="en-US" sz="2000" kern="100">
                          <a:effectLst/>
                          <a:latin typeface="Arial" panose="020B0604020202020204" pitchFamily="34" charset="0"/>
                          <a:cs typeface="Arial" panose="020B0604020202020204" pitchFamily="34" charset="0"/>
                        </a:rPr>
                        <a:t>DHCNTT19A</a:t>
                      </a:r>
                      <a:endParaRPr lang="en-US" sz="1800" kern="100">
                        <a:effectLst/>
                        <a:latin typeface="Arial" panose="020B0604020202020204" pitchFamily="34" charset="0"/>
                        <a:cs typeface="Arial" panose="020B0604020202020204" pitchFamily="34" charset="0"/>
                      </a:endParaRPr>
                    </a:p>
                  </a:txBody>
                  <a:tcPr marL="68580" marR="68580" anchor="ctr">
                    <a:noFill/>
                  </a:tcPr>
                </a:tc>
                <a:tc>
                  <a:txBody>
                    <a:bodyPr/>
                    <a:lstStyle/>
                    <a:p>
                      <a:pPr>
                        <a:lnSpc>
                          <a:spcPct val="107000"/>
                        </a:lnSpc>
                        <a:spcAft>
                          <a:spcPts val="800"/>
                        </a:spcAft>
                      </a:pPr>
                      <a:r>
                        <a:rPr lang="vi-VN" sz="2000" kern="100">
                          <a:effectLst/>
                          <a:latin typeface="Arial" panose="020B0604020202020204" pitchFamily="34" charset="0"/>
                          <a:cs typeface="Arial" panose="020B0604020202020204" pitchFamily="34" charset="0"/>
                        </a:rPr>
                        <a:t>Đặc trưng kỹ thuật</a:t>
                      </a:r>
                      <a:r>
                        <a:rPr lang="en-US" sz="2000" kern="100">
                          <a:effectLst/>
                          <a:latin typeface="Arial" panose="020B0604020202020204" pitchFamily="34" charset="0"/>
                          <a:cs typeface="Arial" panose="020B0604020202020204" pitchFamily="34" charset="0"/>
                        </a:rPr>
                        <a:t>, thiết kế trình chiếu</a:t>
                      </a:r>
                      <a:endParaRPr lang="vi-VN" sz="1800" kern="100">
                        <a:effectLst/>
                        <a:latin typeface="Arial" panose="020B0604020202020204" pitchFamily="34" charset="0"/>
                        <a:cs typeface="Arial" panose="020B0604020202020204" pitchFamily="34" charset="0"/>
                      </a:endParaRPr>
                    </a:p>
                  </a:txBody>
                  <a:tcPr marL="68580" marR="68580" anchor="ctr">
                    <a:noFill/>
                  </a:tcPr>
                </a:tc>
                <a:extLst>
                  <a:ext uri="{0D108BD9-81ED-4DB2-BD59-A6C34878D82A}">
                    <a16:rowId xmlns:a16="http://schemas.microsoft.com/office/drawing/2014/main" val="1535037988"/>
                  </a:ext>
                </a:extLst>
              </a:tr>
            </a:tbl>
          </a:graphicData>
        </a:graphic>
      </p:graphicFrame>
    </p:spTree>
    <p:extLst>
      <p:ext uri="{BB962C8B-B14F-4D97-AF65-F5344CB8AC3E}">
        <p14:creationId xmlns:p14="http://schemas.microsoft.com/office/powerpoint/2010/main" val="455563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7F736-9E04-18BC-9F8F-6AE34C444BE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64C71D9-868D-B2E3-12C1-8F1B69B3C13E}"/>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FC58A1-88D0-9D9B-3A8A-F929D0D3D4F8}"/>
              </a:ext>
            </a:extLst>
          </p:cNvPr>
          <p:cNvSpPr txBox="1"/>
          <p:nvPr/>
        </p:nvSpPr>
        <p:spPr>
          <a:xfrm>
            <a:off x="2491851" y="636656"/>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Nội Dung Chính</a:t>
            </a:r>
            <a:endParaRPr lang="vi-VN" sz="3600" dirty="0">
              <a:solidFill>
                <a:srgbClr val="131010"/>
              </a:solidFill>
              <a:latin typeface="Lobster" panose="00000500000000000000" pitchFamily="2" charset="-93"/>
            </a:endParaRPr>
          </a:p>
        </p:txBody>
      </p:sp>
      <p:sp>
        <p:nvSpPr>
          <p:cNvPr id="6" name="TextBox 5">
            <a:extLst>
              <a:ext uri="{FF2B5EF4-FFF2-40B4-BE49-F238E27FC236}">
                <a16:creationId xmlns:a16="http://schemas.microsoft.com/office/drawing/2014/main" id="{358A220A-FB50-1098-801E-489EBF7337DC}"/>
              </a:ext>
            </a:extLst>
          </p:cNvPr>
          <p:cNvSpPr txBox="1"/>
          <p:nvPr/>
        </p:nvSpPr>
        <p:spPr>
          <a:xfrm>
            <a:off x="1193801" y="1915161"/>
            <a:ext cx="45719" cy="369332"/>
          </a:xfrm>
          <a:prstGeom prst="rect">
            <a:avLst/>
          </a:prstGeom>
          <a:noFill/>
        </p:spPr>
        <p:txBody>
          <a:bodyPr wrap="square" rtlCol="0">
            <a:spAutoFit/>
          </a:bodyPr>
          <a:lstStyle/>
          <a:p>
            <a:endParaRPr lang="en-US"/>
          </a:p>
        </p:txBody>
      </p:sp>
      <p:sp>
        <p:nvSpPr>
          <p:cNvPr id="7" name="TextBox 6">
            <a:extLst>
              <a:ext uri="{FF2B5EF4-FFF2-40B4-BE49-F238E27FC236}">
                <a16:creationId xmlns:a16="http://schemas.microsoft.com/office/drawing/2014/main" id="{80098281-9474-DC3C-ACB6-C1A965A63FF3}"/>
              </a:ext>
            </a:extLst>
          </p:cNvPr>
          <p:cNvSpPr txBox="1"/>
          <p:nvPr/>
        </p:nvSpPr>
        <p:spPr>
          <a:xfrm>
            <a:off x="1874515" y="1915161"/>
            <a:ext cx="9428484" cy="3662541"/>
          </a:xfrm>
          <a:prstGeom prst="rect">
            <a:avLst/>
          </a:prstGeom>
          <a:noFill/>
        </p:spPr>
        <p:txBody>
          <a:bodyPr wrap="square" rtlCol="0">
            <a:spAutoFit/>
          </a:bodyPr>
          <a:lstStyle/>
          <a:p>
            <a:r>
              <a:rPr lang="en-US" sz="2800">
                <a:solidFill>
                  <a:srgbClr val="543A14"/>
                </a:solidFill>
              </a:rPr>
              <a:t>1.Định nghĩa Agile</a:t>
            </a:r>
          </a:p>
          <a:p>
            <a:r>
              <a:rPr lang="en-US" sz="2800">
                <a:solidFill>
                  <a:srgbClr val="543A14"/>
                </a:solidFill>
              </a:rPr>
              <a:t>2.Bốn tôn chỉ và 12 nguyên tắc trong phương pháp Agile</a:t>
            </a:r>
          </a:p>
          <a:p>
            <a:r>
              <a:rPr lang="en-US" sz="2800">
                <a:solidFill>
                  <a:srgbClr val="543A14"/>
                </a:solidFill>
              </a:rPr>
              <a:t>3.Đặc trưng kỹ thuật</a:t>
            </a:r>
          </a:p>
          <a:p>
            <a:r>
              <a:rPr lang="en-US" sz="2800">
                <a:solidFill>
                  <a:srgbClr val="543A14"/>
                </a:solidFill>
              </a:rPr>
              <a:t>4.Các phương pháp Agile phổ biến</a:t>
            </a:r>
          </a:p>
          <a:p>
            <a:r>
              <a:rPr lang="en-US" sz="2800">
                <a:solidFill>
                  <a:srgbClr val="543A14"/>
                </a:solidFill>
              </a:rPr>
              <a:t>5.Các trường hợp sử dụng</a:t>
            </a:r>
          </a:p>
          <a:p>
            <a:r>
              <a:rPr lang="en-US" sz="2800">
                <a:solidFill>
                  <a:srgbClr val="543A14"/>
                </a:solidFill>
              </a:rPr>
              <a:t>6.Cách thức tiến hành</a:t>
            </a:r>
          </a:p>
          <a:p>
            <a:r>
              <a:rPr lang="en-US" sz="2800">
                <a:solidFill>
                  <a:srgbClr val="543A14"/>
                </a:solidFill>
              </a:rPr>
              <a:t>7.Ưu điểm và nhược điểm so với các phương pháp khác</a:t>
            </a:r>
          </a:p>
          <a:p>
            <a:endParaRPr lang="en-US" sz="3600"/>
          </a:p>
        </p:txBody>
      </p:sp>
      <p:sp>
        <p:nvSpPr>
          <p:cNvPr id="8" name="Rectangle: Rounded Corners 7">
            <a:extLst>
              <a:ext uri="{FF2B5EF4-FFF2-40B4-BE49-F238E27FC236}">
                <a16:creationId xmlns:a16="http://schemas.microsoft.com/office/drawing/2014/main" id="{E94C4DB6-DDC5-45BB-1588-35486DCB3D82}"/>
              </a:ext>
            </a:extLst>
          </p:cNvPr>
          <p:cNvSpPr/>
          <p:nvPr/>
        </p:nvSpPr>
        <p:spPr>
          <a:xfrm>
            <a:off x="10200640" y="142240"/>
            <a:ext cx="1828800" cy="140609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44348A5-470F-BDDB-94AC-78B6116D7E24}"/>
              </a:ext>
            </a:extLst>
          </p:cNvPr>
          <p:cNvSpPr/>
          <p:nvPr/>
        </p:nvSpPr>
        <p:spPr>
          <a:xfrm>
            <a:off x="144778" y="5344160"/>
            <a:ext cx="1412240" cy="1361440"/>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945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FE67-AC50-AA5F-963E-77CA7267923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10804D3-97FF-6141-F904-DFDC4176C16D}"/>
              </a:ext>
            </a:extLst>
          </p:cNvPr>
          <p:cNvSpPr/>
          <p:nvPr/>
        </p:nvSpPr>
        <p:spPr>
          <a:xfrm>
            <a:off x="0" y="-7653"/>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455D39F-0A75-DDA9-6AFC-6425DFC8AA3F}"/>
              </a:ext>
            </a:extLst>
          </p:cNvPr>
          <p:cNvSpPr txBox="1"/>
          <p:nvPr/>
        </p:nvSpPr>
        <p:spPr>
          <a:xfrm>
            <a:off x="-386476" y="533619"/>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Định Nghĩa Agile</a:t>
            </a:r>
            <a:endParaRPr lang="vi-VN" sz="3600" dirty="0">
              <a:solidFill>
                <a:srgbClr val="131010"/>
              </a:solidFill>
              <a:latin typeface="Lobster" panose="00000500000000000000" pitchFamily="2" charset="-93"/>
            </a:endParaRPr>
          </a:p>
        </p:txBody>
      </p:sp>
      <p:sp>
        <p:nvSpPr>
          <p:cNvPr id="19" name="Text 1">
            <a:extLst>
              <a:ext uri="{FF2B5EF4-FFF2-40B4-BE49-F238E27FC236}">
                <a16:creationId xmlns:a16="http://schemas.microsoft.com/office/drawing/2014/main" id="{464C397F-9B9A-66E7-65AF-45D6FA0128B5}"/>
              </a:ext>
            </a:extLst>
          </p:cNvPr>
          <p:cNvSpPr/>
          <p:nvPr/>
        </p:nvSpPr>
        <p:spPr>
          <a:xfrm>
            <a:off x="-189301" y="1341634"/>
            <a:ext cx="3608070" cy="748427"/>
          </a:xfrm>
          <a:prstGeom prst="rect">
            <a:avLst/>
          </a:prstGeom>
          <a:noFill/>
          <a:ln/>
        </p:spPr>
        <p:txBody>
          <a:bodyPr wrap="none" lIns="0" tIns="0" rIns="0" bIns="0" rtlCol="0" anchor="t"/>
          <a:lstStyle/>
          <a:p>
            <a:pPr marL="0" indent="0" algn="ctr">
              <a:lnSpc>
                <a:spcPts val="5850"/>
              </a:lnSpc>
              <a:buNone/>
            </a:pPr>
            <a:r>
              <a:rPr lang="en-US" sz="5850" dirty="0">
                <a:solidFill>
                  <a:srgbClr val="746558"/>
                </a:solidFill>
                <a:latin typeface="Gelasio Semi Bold" pitchFamily="34" charset="0"/>
                <a:ea typeface="Gelasio Semi Bold" pitchFamily="34" charset="-122"/>
                <a:cs typeface="Gelasio Semi Bold" pitchFamily="34" charset="-120"/>
              </a:rPr>
              <a:t>1</a:t>
            </a:r>
            <a:endParaRPr lang="en-US" sz="5850" dirty="0"/>
          </a:p>
        </p:txBody>
      </p:sp>
      <p:sp>
        <p:nvSpPr>
          <p:cNvPr id="20" name="Text 2">
            <a:extLst>
              <a:ext uri="{FF2B5EF4-FFF2-40B4-BE49-F238E27FC236}">
                <a16:creationId xmlns:a16="http://schemas.microsoft.com/office/drawing/2014/main" id="{7A05B523-4219-CE00-95D3-046764EE0632}"/>
              </a:ext>
            </a:extLst>
          </p:cNvPr>
          <p:cNvSpPr/>
          <p:nvPr/>
        </p:nvSpPr>
        <p:spPr>
          <a:xfrm>
            <a:off x="197057" y="2333773"/>
            <a:ext cx="2835235" cy="354330"/>
          </a:xfrm>
          <a:prstGeom prst="rect">
            <a:avLst/>
          </a:prstGeom>
          <a:noFill/>
          <a:ln/>
        </p:spPr>
        <p:txBody>
          <a:bodyPr wrap="none" lIns="0" tIns="0" rIns="0" bIns="0" rtlCol="0" anchor="t"/>
          <a:lstStyle/>
          <a:p>
            <a:pPr algn="ctr"/>
            <a:r>
              <a:rPr lang="en-US" sz="2400">
                <a:solidFill>
                  <a:srgbClr val="543A14"/>
                </a:solidFill>
              </a:rPr>
              <a:t>Khái niệm</a:t>
            </a:r>
          </a:p>
        </p:txBody>
      </p:sp>
      <p:sp>
        <p:nvSpPr>
          <p:cNvPr id="21" name="Text 3">
            <a:extLst>
              <a:ext uri="{FF2B5EF4-FFF2-40B4-BE49-F238E27FC236}">
                <a16:creationId xmlns:a16="http://schemas.microsoft.com/office/drawing/2014/main" id="{D5FCE84D-0782-77D5-B36A-777226491930}"/>
              </a:ext>
            </a:extLst>
          </p:cNvPr>
          <p:cNvSpPr/>
          <p:nvPr/>
        </p:nvSpPr>
        <p:spPr>
          <a:xfrm>
            <a:off x="323026" y="2873849"/>
            <a:ext cx="2583295" cy="725805"/>
          </a:xfrm>
          <a:prstGeom prst="rect">
            <a:avLst/>
          </a:prstGeom>
          <a:noFill/>
          <a:ln/>
        </p:spPr>
        <p:txBody>
          <a:bodyPr wrap="square" lIns="0" tIns="0" rIns="0" bIns="0" rtlCol="0" anchor="t"/>
          <a:lstStyle/>
          <a:p>
            <a:pPr algn="ctr"/>
            <a:r>
              <a:rPr lang="en-US" sz="1800">
                <a:solidFill>
                  <a:srgbClr val="543A14"/>
                </a:solidFill>
              </a:rPr>
              <a:t>L</a:t>
            </a:r>
            <a:r>
              <a:rPr lang="vi-VN" sz="1800">
                <a:solidFill>
                  <a:srgbClr val="543A14"/>
                </a:solidFill>
              </a:rPr>
              <a:t>à phương thức phát triển phần mềm linh hoạt</a:t>
            </a:r>
            <a:r>
              <a:rPr lang="en-US" sz="1800">
                <a:solidFill>
                  <a:srgbClr val="543A14"/>
                </a:solidFill>
              </a:rPr>
              <a:t>. </a:t>
            </a:r>
          </a:p>
        </p:txBody>
      </p:sp>
      <p:sp>
        <p:nvSpPr>
          <p:cNvPr id="23" name="Text 4">
            <a:extLst>
              <a:ext uri="{FF2B5EF4-FFF2-40B4-BE49-F238E27FC236}">
                <a16:creationId xmlns:a16="http://schemas.microsoft.com/office/drawing/2014/main" id="{C3434AE0-F120-4F35-5FFC-B3B5818E403B}"/>
              </a:ext>
            </a:extLst>
          </p:cNvPr>
          <p:cNvSpPr/>
          <p:nvPr/>
        </p:nvSpPr>
        <p:spPr>
          <a:xfrm>
            <a:off x="3032292" y="1341633"/>
            <a:ext cx="3608189" cy="748427"/>
          </a:xfrm>
          <a:prstGeom prst="rect">
            <a:avLst/>
          </a:prstGeom>
          <a:noFill/>
          <a:ln/>
        </p:spPr>
        <p:txBody>
          <a:bodyPr wrap="none" lIns="0" tIns="0" rIns="0" bIns="0" rtlCol="0" anchor="t"/>
          <a:lstStyle/>
          <a:p>
            <a:pPr marL="0" indent="0" algn="ctr">
              <a:lnSpc>
                <a:spcPts val="5850"/>
              </a:lnSpc>
              <a:buNone/>
            </a:pPr>
            <a:r>
              <a:rPr lang="en-US" sz="5850" dirty="0">
                <a:solidFill>
                  <a:srgbClr val="746558"/>
                </a:solidFill>
                <a:latin typeface="Gelasio Semi Bold" pitchFamily="34" charset="0"/>
                <a:ea typeface="Gelasio Semi Bold" pitchFamily="34" charset="-122"/>
                <a:cs typeface="Gelasio Semi Bold" pitchFamily="34" charset="-120"/>
              </a:rPr>
              <a:t>2</a:t>
            </a:r>
            <a:endParaRPr lang="en-US" sz="5850" dirty="0"/>
          </a:p>
        </p:txBody>
      </p:sp>
      <p:sp>
        <p:nvSpPr>
          <p:cNvPr id="24" name="Text 5">
            <a:extLst>
              <a:ext uri="{FF2B5EF4-FFF2-40B4-BE49-F238E27FC236}">
                <a16:creationId xmlns:a16="http://schemas.microsoft.com/office/drawing/2014/main" id="{A2D16B83-7143-F396-36C9-C4CBDCFA67C3}"/>
              </a:ext>
            </a:extLst>
          </p:cNvPr>
          <p:cNvSpPr/>
          <p:nvPr/>
        </p:nvSpPr>
        <p:spPr>
          <a:xfrm>
            <a:off x="3418768" y="2339687"/>
            <a:ext cx="2835235" cy="354330"/>
          </a:xfrm>
          <a:prstGeom prst="rect">
            <a:avLst/>
          </a:prstGeom>
          <a:noFill/>
          <a:ln/>
        </p:spPr>
        <p:txBody>
          <a:bodyPr wrap="none" lIns="0" tIns="0" rIns="0" bIns="0" rtlCol="0" anchor="t"/>
          <a:lstStyle/>
          <a:p>
            <a:pPr algn="ctr"/>
            <a:r>
              <a:rPr lang="en-US" sz="2400">
                <a:solidFill>
                  <a:srgbClr val="543A14"/>
                </a:solidFill>
              </a:rPr>
              <a:t>Mục tiêu</a:t>
            </a:r>
          </a:p>
        </p:txBody>
      </p:sp>
      <p:sp>
        <p:nvSpPr>
          <p:cNvPr id="25" name="Text 6">
            <a:extLst>
              <a:ext uri="{FF2B5EF4-FFF2-40B4-BE49-F238E27FC236}">
                <a16:creationId xmlns:a16="http://schemas.microsoft.com/office/drawing/2014/main" id="{D7D3A08D-12B8-C880-F370-6C6034278C78}"/>
              </a:ext>
            </a:extLst>
          </p:cNvPr>
          <p:cNvSpPr/>
          <p:nvPr/>
        </p:nvSpPr>
        <p:spPr>
          <a:xfrm>
            <a:off x="3217673" y="2834061"/>
            <a:ext cx="3113668" cy="590996"/>
          </a:xfrm>
          <a:prstGeom prst="rect">
            <a:avLst/>
          </a:prstGeom>
          <a:noFill/>
          <a:ln/>
        </p:spPr>
        <p:txBody>
          <a:bodyPr wrap="none" lIns="0" tIns="0" rIns="0" bIns="0" rtlCol="0" anchor="t"/>
          <a:lstStyle/>
          <a:p>
            <a:pPr algn="ctr"/>
            <a:r>
              <a:rPr lang="en-US" sz="1800">
                <a:solidFill>
                  <a:srgbClr val="543A14"/>
                </a:solidFill>
              </a:rPr>
              <a:t>Rút ngắn thời gian </a:t>
            </a:r>
            <a:br>
              <a:rPr lang="en-US" sz="1800">
                <a:solidFill>
                  <a:srgbClr val="543A14"/>
                </a:solidFill>
              </a:rPr>
            </a:br>
            <a:r>
              <a:rPr lang="en-US" sz="1800">
                <a:solidFill>
                  <a:srgbClr val="543A14"/>
                </a:solidFill>
              </a:rPr>
              <a:t>phát triển sản phẩm.</a:t>
            </a:r>
          </a:p>
        </p:txBody>
      </p:sp>
      <p:sp>
        <p:nvSpPr>
          <p:cNvPr id="26" name="Text 7">
            <a:extLst>
              <a:ext uri="{FF2B5EF4-FFF2-40B4-BE49-F238E27FC236}">
                <a16:creationId xmlns:a16="http://schemas.microsoft.com/office/drawing/2014/main" id="{A0909061-2D6C-FB9D-57E1-A7C2012FF2A7}"/>
              </a:ext>
            </a:extLst>
          </p:cNvPr>
          <p:cNvSpPr/>
          <p:nvPr/>
        </p:nvSpPr>
        <p:spPr>
          <a:xfrm>
            <a:off x="-189301" y="4383442"/>
            <a:ext cx="3608070" cy="748427"/>
          </a:xfrm>
          <a:prstGeom prst="rect">
            <a:avLst/>
          </a:prstGeom>
          <a:noFill/>
          <a:ln/>
        </p:spPr>
        <p:txBody>
          <a:bodyPr wrap="none" lIns="0" tIns="0" rIns="0" bIns="0" rtlCol="0" anchor="t"/>
          <a:lstStyle/>
          <a:p>
            <a:pPr marL="0" indent="0" algn="ctr">
              <a:lnSpc>
                <a:spcPts val="5850"/>
              </a:lnSpc>
              <a:buNone/>
            </a:pPr>
            <a:r>
              <a:rPr lang="en-US" sz="5850" dirty="0">
                <a:solidFill>
                  <a:srgbClr val="746558"/>
                </a:solidFill>
                <a:latin typeface="Gelasio Semi Bold" pitchFamily="34" charset="0"/>
                <a:ea typeface="Gelasio Semi Bold" pitchFamily="34" charset="-122"/>
                <a:cs typeface="Gelasio Semi Bold" pitchFamily="34" charset="-120"/>
              </a:rPr>
              <a:t>3</a:t>
            </a:r>
            <a:endParaRPr lang="en-US" sz="5850" dirty="0"/>
          </a:p>
        </p:txBody>
      </p:sp>
      <p:sp>
        <p:nvSpPr>
          <p:cNvPr id="27" name="Text 8">
            <a:extLst>
              <a:ext uri="{FF2B5EF4-FFF2-40B4-BE49-F238E27FC236}">
                <a16:creationId xmlns:a16="http://schemas.microsoft.com/office/drawing/2014/main" id="{CCA98CC7-D191-1D4D-9538-EB75ACC44B7E}"/>
              </a:ext>
            </a:extLst>
          </p:cNvPr>
          <p:cNvSpPr/>
          <p:nvPr/>
        </p:nvSpPr>
        <p:spPr>
          <a:xfrm>
            <a:off x="197057" y="5358711"/>
            <a:ext cx="2835235" cy="354330"/>
          </a:xfrm>
          <a:prstGeom prst="rect">
            <a:avLst/>
          </a:prstGeom>
          <a:noFill/>
          <a:ln/>
        </p:spPr>
        <p:txBody>
          <a:bodyPr wrap="none" lIns="0" tIns="0" rIns="0" bIns="0" rtlCol="0" anchor="t"/>
          <a:lstStyle/>
          <a:p>
            <a:pPr algn="ctr"/>
            <a:r>
              <a:rPr lang="en-US" sz="2400">
                <a:solidFill>
                  <a:srgbClr val="543A14"/>
                </a:solidFill>
              </a:rPr>
              <a:t>Nguyên tắc hoạt động</a:t>
            </a:r>
          </a:p>
        </p:txBody>
      </p:sp>
      <p:sp>
        <p:nvSpPr>
          <p:cNvPr id="28" name="Text 9">
            <a:extLst>
              <a:ext uri="{FF2B5EF4-FFF2-40B4-BE49-F238E27FC236}">
                <a16:creationId xmlns:a16="http://schemas.microsoft.com/office/drawing/2014/main" id="{07395B8E-DAB9-B721-F845-164CB1F757C6}"/>
              </a:ext>
            </a:extLst>
          </p:cNvPr>
          <p:cNvSpPr/>
          <p:nvPr/>
        </p:nvSpPr>
        <p:spPr>
          <a:xfrm>
            <a:off x="-180143" y="5939883"/>
            <a:ext cx="3397816" cy="725805"/>
          </a:xfrm>
          <a:prstGeom prst="rect">
            <a:avLst/>
          </a:prstGeom>
          <a:noFill/>
          <a:ln/>
        </p:spPr>
        <p:txBody>
          <a:bodyPr wrap="square" lIns="0" tIns="0" rIns="0" bIns="0" rtlCol="0" anchor="t"/>
          <a:lstStyle/>
          <a:p>
            <a:pPr algn="ctr"/>
            <a:r>
              <a:rPr lang="en-US" sz="1800">
                <a:solidFill>
                  <a:srgbClr val="543A14"/>
                </a:solidFill>
              </a:rPr>
              <a:t>Phân đoạn vòng </a:t>
            </a:r>
            <a:br>
              <a:rPr lang="en-US" sz="1800">
                <a:solidFill>
                  <a:srgbClr val="543A14"/>
                </a:solidFill>
              </a:rPr>
            </a:br>
            <a:r>
              <a:rPr lang="en-US" sz="1800">
                <a:solidFill>
                  <a:srgbClr val="543A14"/>
                </a:solidFill>
              </a:rPr>
              <a:t>lặp và tăng cường.</a:t>
            </a:r>
          </a:p>
        </p:txBody>
      </p:sp>
      <p:sp>
        <p:nvSpPr>
          <p:cNvPr id="29" name="Text 10">
            <a:extLst>
              <a:ext uri="{FF2B5EF4-FFF2-40B4-BE49-F238E27FC236}">
                <a16:creationId xmlns:a16="http://schemas.microsoft.com/office/drawing/2014/main" id="{A59A94F7-D17A-1F79-0EF6-7C1061117EA6}"/>
              </a:ext>
            </a:extLst>
          </p:cNvPr>
          <p:cNvSpPr/>
          <p:nvPr/>
        </p:nvSpPr>
        <p:spPr>
          <a:xfrm>
            <a:off x="3032292" y="4349700"/>
            <a:ext cx="3608189" cy="748427"/>
          </a:xfrm>
          <a:prstGeom prst="rect">
            <a:avLst/>
          </a:prstGeom>
          <a:noFill/>
          <a:ln/>
        </p:spPr>
        <p:txBody>
          <a:bodyPr wrap="none" lIns="0" tIns="0" rIns="0" bIns="0" rtlCol="0" anchor="t"/>
          <a:lstStyle/>
          <a:p>
            <a:pPr marL="0" indent="0" algn="ctr">
              <a:lnSpc>
                <a:spcPts val="5850"/>
              </a:lnSpc>
              <a:buNone/>
            </a:pPr>
            <a:r>
              <a:rPr lang="en-US" sz="5850" dirty="0">
                <a:solidFill>
                  <a:srgbClr val="746558"/>
                </a:solidFill>
                <a:latin typeface="Gelasio Semi Bold" pitchFamily="34" charset="0"/>
                <a:ea typeface="Gelasio Semi Bold" pitchFamily="34" charset="-122"/>
                <a:cs typeface="Gelasio Semi Bold" pitchFamily="34" charset="-120"/>
              </a:rPr>
              <a:t>4</a:t>
            </a:r>
            <a:endParaRPr lang="en-US" sz="5850" dirty="0"/>
          </a:p>
        </p:txBody>
      </p:sp>
      <p:sp>
        <p:nvSpPr>
          <p:cNvPr id="30" name="Text 11">
            <a:extLst>
              <a:ext uri="{FF2B5EF4-FFF2-40B4-BE49-F238E27FC236}">
                <a16:creationId xmlns:a16="http://schemas.microsoft.com/office/drawing/2014/main" id="{86209EC4-9007-5CB9-1616-B10D592CAA14}"/>
              </a:ext>
            </a:extLst>
          </p:cNvPr>
          <p:cNvSpPr/>
          <p:nvPr/>
        </p:nvSpPr>
        <p:spPr>
          <a:xfrm>
            <a:off x="3418768" y="5358711"/>
            <a:ext cx="2835235" cy="354330"/>
          </a:xfrm>
          <a:prstGeom prst="rect">
            <a:avLst/>
          </a:prstGeom>
          <a:noFill/>
          <a:ln/>
        </p:spPr>
        <p:txBody>
          <a:bodyPr wrap="none" lIns="0" tIns="0" rIns="0" bIns="0" rtlCol="0" anchor="t"/>
          <a:lstStyle/>
          <a:p>
            <a:pPr algn="ctr"/>
            <a:r>
              <a:rPr lang="en-US" sz="2400">
                <a:solidFill>
                  <a:srgbClr val="543A14"/>
                </a:solidFill>
              </a:rPr>
              <a:t>Ứng dụng</a:t>
            </a:r>
          </a:p>
        </p:txBody>
      </p:sp>
      <p:sp>
        <p:nvSpPr>
          <p:cNvPr id="31" name="Text 12">
            <a:extLst>
              <a:ext uri="{FF2B5EF4-FFF2-40B4-BE49-F238E27FC236}">
                <a16:creationId xmlns:a16="http://schemas.microsoft.com/office/drawing/2014/main" id="{52E20806-0B60-10D8-3BBA-72618C988453}"/>
              </a:ext>
            </a:extLst>
          </p:cNvPr>
          <p:cNvSpPr/>
          <p:nvPr/>
        </p:nvSpPr>
        <p:spPr>
          <a:xfrm>
            <a:off x="3056735" y="5939883"/>
            <a:ext cx="3608189" cy="725805"/>
          </a:xfrm>
          <a:prstGeom prst="rect">
            <a:avLst/>
          </a:prstGeom>
          <a:noFill/>
          <a:ln/>
        </p:spPr>
        <p:txBody>
          <a:bodyPr wrap="square" lIns="0" tIns="0" rIns="0" bIns="0" rtlCol="0" anchor="t"/>
          <a:lstStyle/>
          <a:p>
            <a:pPr algn="ctr"/>
            <a:r>
              <a:rPr lang="en-US" sz="1800">
                <a:solidFill>
                  <a:srgbClr val="543A14"/>
                </a:solidFill>
              </a:rPr>
              <a:t>Đóng góp sự thay đổi trong </a:t>
            </a:r>
            <a:br>
              <a:rPr lang="en-US" sz="1800">
                <a:solidFill>
                  <a:srgbClr val="543A14"/>
                </a:solidFill>
              </a:rPr>
            </a:br>
            <a:r>
              <a:rPr lang="en-US" sz="1800">
                <a:solidFill>
                  <a:srgbClr val="543A14"/>
                </a:solidFill>
              </a:rPr>
              <a:t>cách thức làm việc.</a:t>
            </a:r>
          </a:p>
        </p:txBody>
      </p:sp>
      <p:sp>
        <p:nvSpPr>
          <p:cNvPr id="33" name="Rectangle 32">
            <a:extLst>
              <a:ext uri="{FF2B5EF4-FFF2-40B4-BE49-F238E27FC236}">
                <a16:creationId xmlns:a16="http://schemas.microsoft.com/office/drawing/2014/main" id="{CA4A51E6-E014-AFEA-A073-AC90A92FFC5F}"/>
              </a:ext>
            </a:extLst>
          </p:cNvPr>
          <p:cNvSpPr/>
          <p:nvPr/>
        </p:nvSpPr>
        <p:spPr>
          <a:xfrm>
            <a:off x="6274408" y="0"/>
            <a:ext cx="6304068"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86438-BEBC-7EAA-4082-A5DF972237A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1A99DBB-D5A1-CFF1-06F9-841490C982C0}"/>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2AADC3B-6C8B-5294-6DA2-D5D89B90EBEE}"/>
              </a:ext>
            </a:extLst>
          </p:cNvPr>
          <p:cNvSpPr txBox="1"/>
          <p:nvPr/>
        </p:nvSpPr>
        <p:spPr>
          <a:xfrm>
            <a:off x="711200" y="833120"/>
            <a:ext cx="6065520" cy="646331"/>
          </a:xfrm>
          <a:prstGeom prst="rect">
            <a:avLst/>
          </a:prstGeom>
          <a:noFill/>
        </p:spPr>
        <p:txBody>
          <a:bodyPr wrap="square" rtlCol="0">
            <a:spAutoFit/>
          </a:bodyPr>
          <a:lstStyle/>
          <a:p>
            <a:r>
              <a:rPr lang="en-US" sz="3600"/>
              <a:t>Bốn tôn chỉ cần tuân thủ</a:t>
            </a:r>
          </a:p>
        </p:txBody>
      </p:sp>
      <p:sp>
        <p:nvSpPr>
          <p:cNvPr id="4" name="Shape 1">
            <a:extLst>
              <a:ext uri="{FF2B5EF4-FFF2-40B4-BE49-F238E27FC236}">
                <a16:creationId xmlns:a16="http://schemas.microsoft.com/office/drawing/2014/main" id="{5E145B08-A28F-08D7-0E03-BA086D142E01}"/>
              </a:ext>
            </a:extLst>
          </p:cNvPr>
          <p:cNvSpPr/>
          <p:nvPr/>
        </p:nvSpPr>
        <p:spPr>
          <a:xfrm>
            <a:off x="711200" y="1917382"/>
            <a:ext cx="510302" cy="510302"/>
          </a:xfrm>
          <a:prstGeom prst="roundRect">
            <a:avLst>
              <a:gd name="adj" fmla="val 6667"/>
            </a:avLst>
          </a:prstGeom>
          <a:solidFill>
            <a:srgbClr val="EEE8DD"/>
          </a:solidFill>
          <a:ln/>
        </p:spPr>
        <p:txBody>
          <a:bodyPr/>
          <a:lstStyle/>
          <a:p>
            <a:pPr algn="ctr"/>
            <a:r>
              <a:rPr lang="en-US" sz="3200">
                <a:solidFill>
                  <a:srgbClr val="543A14"/>
                </a:solidFill>
              </a:rPr>
              <a:t>1</a:t>
            </a:r>
          </a:p>
        </p:txBody>
      </p:sp>
      <p:sp>
        <p:nvSpPr>
          <p:cNvPr id="6" name="Shape 1">
            <a:extLst>
              <a:ext uri="{FF2B5EF4-FFF2-40B4-BE49-F238E27FC236}">
                <a16:creationId xmlns:a16="http://schemas.microsoft.com/office/drawing/2014/main" id="{8CE86570-3BA7-1CCF-E467-7B347E535538}"/>
              </a:ext>
            </a:extLst>
          </p:cNvPr>
          <p:cNvSpPr/>
          <p:nvPr/>
        </p:nvSpPr>
        <p:spPr>
          <a:xfrm>
            <a:off x="711200" y="3017921"/>
            <a:ext cx="510302" cy="510302"/>
          </a:xfrm>
          <a:prstGeom prst="roundRect">
            <a:avLst>
              <a:gd name="adj" fmla="val 6667"/>
            </a:avLst>
          </a:prstGeom>
          <a:solidFill>
            <a:srgbClr val="EEE8DD"/>
          </a:solidFill>
          <a:ln/>
        </p:spPr>
        <p:txBody>
          <a:bodyPr/>
          <a:lstStyle/>
          <a:p>
            <a:pPr algn="ctr"/>
            <a:r>
              <a:rPr lang="en-US" sz="3200">
                <a:solidFill>
                  <a:srgbClr val="543A14"/>
                </a:solidFill>
              </a:rPr>
              <a:t>2</a:t>
            </a:r>
          </a:p>
        </p:txBody>
      </p:sp>
      <p:sp>
        <p:nvSpPr>
          <p:cNvPr id="8" name="Shape 1">
            <a:extLst>
              <a:ext uri="{FF2B5EF4-FFF2-40B4-BE49-F238E27FC236}">
                <a16:creationId xmlns:a16="http://schemas.microsoft.com/office/drawing/2014/main" id="{C52ABA0A-1811-80E7-BC9C-858145B561E5}"/>
              </a:ext>
            </a:extLst>
          </p:cNvPr>
          <p:cNvSpPr/>
          <p:nvPr/>
        </p:nvSpPr>
        <p:spPr>
          <a:xfrm>
            <a:off x="711200" y="5219001"/>
            <a:ext cx="510302" cy="510302"/>
          </a:xfrm>
          <a:prstGeom prst="roundRect">
            <a:avLst>
              <a:gd name="adj" fmla="val 6667"/>
            </a:avLst>
          </a:prstGeom>
          <a:solidFill>
            <a:srgbClr val="EEE8DD"/>
          </a:solidFill>
          <a:ln/>
        </p:spPr>
        <p:txBody>
          <a:bodyPr/>
          <a:lstStyle/>
          <a:p>
            <a:pPr algn="ctr"/>
            <a:r>
              <a:rPr lang="en-US" sz="3200">
                <a:solidFill>
                  <a:srgbClr val="543A14"/>
                </a:solidFill>
              </a:rPr>
              <a:t>4</a:t>
            </a:r>
          </a:p>
        </p:txBody>
      </p:sp>
      <p:sp>
        <p:nvSpPr>
          <p:cNvPr id="9" name="Shape 1">
            <a:extLst>
              <a:ext uri="{FF2B5EF4-FFF2-40B4-BE49-F238E27FC236}">
                <a16:creationId xmlns:a16="http://schemas.microsoft.com/office/drawing/2014/main" id="{A0A53419-7880-E5EF-60B3-EFD6FBC3E744}"/>
              </a:ext>
            </a:extLst>
          </p:cNvPr>
          <p:cNvSpPr/>
          <p:nvPr/>
        </p:nvSpPr>
        <p:spPr>
          <a:xfrm>
            <a:off x="711200" y="4118461"/>
            <a:ext cx="510302" cy="510302"/>
          </a:xfrm>
          <a:prstGeom prst="roundRect">
            <a:avLst>
              <a:gd name="adj" fmla="val 6667"/>
            </a:avLst>
          </a:prstGeom>
          <a:solidFill>
            <a:srgbClr val="EEE8DD"/>
          </a:solidFill>
          <a:ln/>
        </p:spPr>
        <p:txBody>
          <a:bodyPr/>
          <a:lstStyle/>
          <a:p>
            <a:pPr algn="ctr"/>
            <a:r>
              <a:rPr lang="en-US" sz="3200">
                <a:solidFill>
                  <a:srgbClr val="543A14"/>
                </a:solidFill>
              </a:rPr>
              <a:t>3</a:t>
            </a:r>
          </a:p>
        </p:txBody>
      </p:sp>
      <p:sp>
        <p:nvSpPr>
          <p:cNvPr id="10" name="TextBox 9">
            <a:extLst>
              <a:ext uri="{FF2B5EF4-FFF2-40B4-BE49-F238E27FC236}">
                <a16:creationId xmlns:a16="http://schemas.microsoft.com/office/drawing/2014/main" id="{1F2E2548-4161-44DF-F12E-3795A122CB36}"/>
              </a:ext>
            </a:extLst>
          </p:cNvPr>
          <p:cNvSpPr txBox="1"/>
          <p:nvPr/>
        </p:nvSpPr>
        <p:spPr>
          <a:xfrm>
            <a:off x="1391920" y="1917382"/>
            <a:ext cx="3891280" cy="523220"/>
          </a:xfrm>
          <a:prstGeom prst="rect">
            <a:avLst/>
          </a:prstGeom>
          <a:noFill/>
        </p:spPr>
        <p:txBody>
          <a:bodyPr wrap="square" rtlCol="0">
            <a:spAutoFit/>
          </a:bodyPr>
          <a:lstStyle/>
          <a:p>
            <a:r>
              <a:rPr lang="en-US" sz="2800">
                <a:solidFill>
                  <a:srgbClr val="543A14"/>
                </a:solidFill>
              </a:rPr>
              <a:t>Cá nhân và tương tác</a:t>
            </a:r>
          </a:p>
        </p:txBody>
      </p:sp>
      <p:sp>
        <p:nvSpPr>
          <p:cNvPr id="11" name="TextBox 10">
            <a:extLst>
              <a:ext uri="{FF2B5EF4-FFF2-40B4-BE49-F238E27FC236}">
                <a16:creationId xmlns:a16="http://schemas.microsoft.com/office/drawing/2014/main" id="{9FEBA867-0639-BA0F-01E6-35CEE1AB3DC8}"/>
              </a:ext>
            </a:extLst>
          </p:cNvPr>
          <p:cNvSpPr txBox="1"/>
          <p:nvPr/>
        </p:nvSpPr>
        <p:spPr>
          <a:xfrm>
            <a:off x="1391920" y="3017866"/>
            <a:ext cx="5029200" cy="523220"/>
          </a:xfrm>
          <a:prstGeom prst="rect">
            <a:avLst/>
          </a:prstGeom>
          <a:noFill/>
        </p:spPr>
        <p:txBody>
          <a:bodyPr wrap="square" rtlCol="0">
            <a:spAutoFit/>
          </a:bodyPr>
          <a:lstStyle/>
          <a:p>
            <a:r>
              <a:rPr lang="en-US" sz="2800">
                <a:solidFill>
                  <a:srgbClr val="543A14"/>
                </a:solidFill>
              </a:rPr>
              <a:t>Đáp ứng nhu cầu khách hàng</a:t>
            </a:r>
          </a:p>
        </p:txBody>
      </p:sp>
      <p:sp>
        <p:nvSpPr>
          <p:cNvPr id="12" name="TextBox 11">
            <a:extLst>
              <a:ext uri="{FF2B5EF4-FFF2-40B4-BE49-F238E27FC236}">
                <a16:creationId xmlns:a16="http://schemas.microsoft.com/office/drawing/2014/main" id="{03767ACE-8AEB-BDD0-08F4-93E33EC188F3}"/>
              </a:ext>
            </a:extLst>
          </p:cNvPr>
          <p:cNvSpPr txBox="1"/>
          <p:nvPr/>
        </p:nvSpPr>
        <p:spPr>
          <a:xfrm>
            <a:off x="1391920" y="4118461"/>
            <a:ext cx="3891280" cy="523220"/>
          </a:xfrm>
          <a:prstGeom prst="rect">
            <a:avLst/>
          </a:prstGeom>
          <a:noFill/>
        </p:spPr>
        <p:txBody>
          <a:bodyPr wrap="square" rtlCol="0">
            <a:spAutoFit/>
          </a:bodyPr>
          <a:lstStyle/>
          <a:p>
            <a:r>
              <a:rPr lang="en-US" sz="2800">
                <a:solidFill>
                  <a:srgbClr val="543A14"/>
                </a:solidFill>
              </a:rPr>
              <a:t>Hợp tác với khách hàng</a:t>
            </a:r>
          </a:p>
        </p:txBody>
      </p:sp>
      <p:sp>
        <p:nvSpPr>
          <p:cNvPr id="13" name="TextBox 12">
            <a:extLst>
              <a:ext uri="{FF2B5EF4-FFF2-40B4-BE49-F238E27FC236}">
                <a16:creationId xmlns:a16="http://schemas.microsoft.com/office/drawing/2014/main" id="{67E19276-A43E-6E23-DE6B-133C477527C6}"/>
              </a:ext>
            </a:extLst>
          </p:cNvPr>
          <p:cNvSpPr txBox="1"/>
          <p:nvPr/>
        </p:nvSpPr>
        <p:spPr>
          <a:xfrm>
            <a:off x="1391920" y="5219001"/>
            <a:ext cx="3891280" cy="523220"/>
          </a:xfrm>
          <a:prstGeom prst="rect">
            <a:avLst/>
          </a:prstGeom>
          <a:noFill/>
        </p:spPr>
        <p:txBody>
          <a:bodyPr wrap="square" rtlCol="0">
            <a:spAutoFit/>
          </a:bodyPr>
          <a:lstStyle/>
          <a:p>
            <a:r>
              <a:rPr lang="en-US" sz="2800">
                <a:solidFill>
                  <a:srgbClr val="543A14"/>
                </a:solidFill>
              </a:rPr>
              <a:t>Khuyến khích sự thay đổi</a:t>
            </a:r>
          </a:p>
        </p:txBody>
      </p:sp>
      <p:sp>
        <p:nvSpPr>
          <p:cNvPr id="14" name="Rectangle 13">
            <a:extLst>
              <a:ext uri="{FF2B5EF4-FFF2-40B4-BE49-F238E27FC236}">
                <a16:creationId xmlns:a16="http://schemas.microsoft.com/office/drawing/2014/main" id="{7997DCA5-0A98-F0EF-CB1A-F40C5CD10FF3}"/>
              </a:ext>
            </a:extLst>
          </p:cNvPr>
          <p:cNvSpPr/>
          <p:nvPr/>
        </p:nvSpPr>
        <p:spPr>
          <a:xfrm>
            <a:off x="5801360" y="0"/>
            <a:ext cx="639064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6579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247F-4948-0486-833E-FE99A3F0D8D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89CEBC9-8A3D-0055-261C-EA6854A599CB}"/>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1">
            <a:extLst>
              <a:ext uri="{FF2B5EF4-FFF2-40B4-BE49-F238E27FC236}">
                <a16:creationId xmlns:a16="http://schemas.microsoft.com/office/drawing/2014/main" id="{862A19EA-5698-D70D-3E3F-92FB2CECDDE0}"/>
              </a:ext>
            </a:extLst>
          </p:cNvPr>
          <p:cNvSpPr/>
          <p:nvPr/>
        </p:nvSpPr>
        <p:spPr>
          <a:xfrm>
            <a:off x="299352" y="1356535"/>
            <a:ext cx="3664863" cy="2395657"/>
          </a:xfrm>
          <a:prstGeom prst="roundRect">
            <a:avLst>
              <a:gd name="adj" fmla="val 1420"/>
            </a:avLst>
          </a:prstGeom>
          <a:solidFill>
            <a:srgbClr val="EEE8DD"/>
          </a:solidFill>
          <a:ln/>
        </p:spPr>
        <p:txBody>
          <a:bodyPr/>
          <a:lstStyle/>
          <a:p>
            <a:r>
              <a:rPr lang="en-US" sz="2550"/>
              <a:t>N</a:t>
            </a:r>
            <a:r>
              <a:rPr lang="vi-VN" sz="2550"/>
              <a:t>hu cầu khách hàng</a:t>
            </a:r>
            <a:endParaRPr lang="en-US" sz="2550"/>
          </a:p>
          <a:p>
            <a:r>
              <a:rPr lang="en-US" sz="2350">
                <a:solidFill>
                  <a:srgbClr val="543A14"/>
                </a:solidFill>
              </a:rPr>
              <a:t>Liên tục chuyển giao sản phẩm nhanh chóng và hiệu quả.</a:t>
            </a:r>
          </a:p>
        </p:txBody>
      </p:sp>
      <p:sp>
        <p:nvSpPr>
          <p:cNvPr id="7" name="Shape 1">
            <a:extLst>
              <a:ext uri="{FF2B5EF4-FFF2-40B4-BE49-F238E27FC236}">
                <a16:creationId xmlns:a16="http://schemas.microsoft.com/office/drawing/2014/main" id="{F4B900FD-E36D-C769-573F-CA730AAF52A8}"/>
              </a:ext>
            </a:extLst>
          </p:cNvPr>
          <p:cNvSpPr/>
          <p:nvPr/>
        </p:nvSpPr>
        <p:spPr>
          <a:xfrm>
            <a:off x="8292525" y="4135994"/>
            <a:ext cx="3664863" cy="2395657"/>
          </a:xfrm>
          <a:prstGeom prst="roundRect">
            <a:avLst>
              <a:gd name="adj" fmla="val 1420"/>
            </a:avLst>
          </a:prstGeom>
          <a:solidFill>
            <a:srgbClr val="EEE8DD"/>
          </a:solidFill>
          <a:ln/>
        </p:spPr>
        <p:txBody>
          <a:bodyPr/>
          <a:lstStyle/>
          <a:p>
            <a:r>
              <a:rPr lang="vi-VN" sz="2550"/>
              <a:t>Tương tác trực tiếp</a:t>
            </a:r>
            <a:endParaRPr lang="en-US" sz="2550"/>
          </a:p>
          <a:p>
            <a:r>
              <a:rPr lang="en-US" sz="2350">
                <a:solidFill>
                  <a:srgbClr val="543A14"/>
                </a:solidFill>
              </a:rPr>
              <a:t>Là cách giao tiếp hiệu quả nhất trong nhóm.</a:t>
            </a:r>
          </a:p>
        </p:txBody>
      </p:sp>
      <p:sp>
        <p:nvSpPr>
          <p:cNvPr id="8" name="Shape 1">
            <a:extLst>
              <a:ext uri="{FF2B5EF4-FFF2-40B4-BE49-F238E27FC236}">
                <a16:creationId xmlns:a16="http://schemas.microsoft.com/office/drawing/2014/main" id="{DC7023CC-1445-A75B-605C-5159EA24D98A}"/>
              </a:ext>
            </a:extLst>
          </p:cNvPr>
          <p:cNvSpPr/>
          <p:nvPr/>
        </p:nvSpPr>
        <p:spPr>
          <a:xfrm>
            <a:off x="4263568" y="1356535"/>
            <a:ext cx="3664863" cy="2395657"/>
          </a:xfrm>
          <a:prstGeom prst="roundRect">
            <a:avLst>
              <a:gd name="adj" fmla="val 1420"/>
            </a:avLst>
          </a:prstGeom>
          <a:solidFill>
            <a:srgbClr val="EEE8DD"/>
          </a:solidFill>
          <a:ln/>
        </p:spPr>
        <p:txBody>
          <a:bodyPr/>
          <a:lstStyle/>
          <a:p>
            <a:r>
              <a:rPr lang="en-US" sz="2550"/>
              <a:t>Chấp nhận thay đổi</a:t>
            </a:r>
          </a:p>
          <a:p>
            <a:r>
              <a:rPr lang="en-US" sz="2350">
                <a:solidFill>
                  <a:srgbClr val="543A14"/>
                </a:solidFill>
              </a:rPr>
              <a:t>Linh hoạt điều chỉnh, kể cả ở giai đoạn cuối của dự án.</a:t>
            </a:r>
          </a:p>
        </p:txBody>
      </p:sp>
      <p:sp>
        <p:nvSpPr>
          <p:cNvPr id="9" name="Shape 1">
            <a:extLst>
              <a:ext uri="{FF2B5EF4-FFF2-40B4-BE49-F238E27FC236}">
                <a16:creationId xmlns:a16="http://schemas.microsoft.com/office/drawing/2014/main" id="{D623AFC2-95DB-C35D-9619-6F0547E5B3DE}"/>
              </a:ext>
            </a:extLst>
          </p:cNvPr>
          <p:cNvSpPr/>
          <p:nvPr/>
        </p:nvSpPr>
        <p:spPr>
          <a:xfrm>
            <a:off x="299353" y="4107266"/>
            <a:ext cx="3664863" cy="2395657"/>
          </a:xfrm>
          <a:prstGeom prst="roundRect">
            <a:avLst>
              <a:gd name="adj" fmla="val 1420"/>
            </a:avLst>
          </a:prstGeom>
          <a:solidFill>
            <a:srgbClr val="EEE8DD"/>
          </a:solidFill>
          <a:ln/>
        </p:spPr>
        <p:txBody>
          <a:bodyPr/>
          <a:lstStyle/>
          <a:p>
            <a:r>
              <a:rPr lang="vi-VN" sz="2550"/>
              <a:t>Tương tác hàng ngày</a:t>
            </a:r>
            <a:endParaRPr lang="en-US" sz="2550"/>
          </a:p>
          <a:p>
            <a:r>
              <a:rPr lang="en-US" sz="2350">
                <a:solidFill>
                  <a:srgbClr val="543A14"/>
                </a:solidFill>
              </a:rPr>
              <a:t>Giữa nhóm phát triển và chuyên gia kinh doanh.</a:t>
            </a:r>
          </a:p>
        </p:txBody>
      </p:sp>
      <p:sp>
        <p:nvSpPr>
          <p:cNvPr id="10" name="Shape 1">
            <a:extLst>
              <a:ext uri="{FF2B5EF4-FFF2-40B4-BE49-F238E27FC236}">
                <a16:creationId xmlns:a16="http://schemas.microsoft.com/office/drawing/2014/main" id="{87E3BB01-5594-BD0B-394A-E86A9A95840A}"/>
              </a:ext>
            </a:extLst>
          </p:cNvPr>
          <p:cNvSpPr/>
          <p:nvPr/>
        </p:nvSpPr>
        <p:spPr>
          <a:xfrm>
            <a:off x="4263568" y="4107267"/>
            <a:ext cx="3664863" cy="2395657"/>
          </a:xfrm>
          <a:prstGeom prst="roundRect">
            <a:avLst>
              <a:gd name="adj" fmla="val 1420"/>
            </a:avLst>
          </a:prstGeom>
          <a:solidFill>
            <a:srgbClr val="EEE8DD"/>
          </a:solidFill>
          <a:ln/>
        </p:spPr>
        <p:txBody>
          <a:bodyPr/>
          <a:lstStyle/>
          <a:p>
            <a:r>
              <a:rPr lang="vi-VN" sz="2550"/>
              <a:t>Môi trường hỗ trợ tốt</a:t>
            </a:r>
            <a:endParaRPr lang="en-US" sz="2550"/>
          </a:p>
          <a:p>
            <a:r>
              <a:rPr lang="vi-VN" sz="2350">
                <a:solidFill>
                  <a:srgbClr val="543A14"/>
                </a:solidFill>
              </a:rPr>
              <a:t>Giúp các cá nhân làm việc hiệu quả hơn.</a:t>
            </a:r>
            <a:endParaRPr lang="en-US" sz="2350">
              <a:solidFill>
                <a:srgbClr val="543A14"/>
              </a:solidFill>
            </a:endParaRPr>
          </a:p>
        </p:txBody>
      </p:sp>
      <p:sp>
        <p:nvSpPr>
          <p:cNvPr id="11" name="Shape 1">
            <a:extLst>
              <a:ext uri="{FF2B5EF4-FFF2-40B4-BE49-F238E27FC236}">
                <a16:creationId xmlns:a16="http://schemas.microsoft.com/office/drawing/2014/main" id="{A6D6B605-2391-A513-C14C-E98158C71432}"/>
              </a:ext>
            </a:extLst>
          </p:cNvPr>
          <p:cNvSpPr/>
          <p:nvPr/>
        </p:nvSpPr>
        <p:spPr>
          <a:xfrm>
            <a:off x="8292526" y="1356535"/>
            <a:ext cx="3664863" cy="2395657"/>
          </a:xfrm>
          <a:prstGeom prst="roundRect">
            <a:avLst>
              <a:gd name="adj" fmla="val 1420"/>
            </a:avLst>
          </a:prstGeom>
          <a:solidFill>
            <a:srgbClr val="EEE8DD"/>
          </a:solidFill>
          <a:ln/>
        </p:spPr>
        <p:txBody>
          <a:bodyPr/>
          <a:lstStyle/>
          <a:p>
            <a:r>
              <a:rPr lang="en-US" sz="2550"/>
              <a:t>Khung thời gian ngắn</a:t>
            </a:r>
          </a:p>
          <a:p>
            <a:r>
              <a:rPr lang="vi-VN" sz="2350">
                <a:solidFill>
                  <a:srgbClr val="543A14"/>
                </a:solidFill>
              </a:rPr>
              <a:t>Ưu tiên các đợt chuyển giao công việc ngắn để cải tiến liên tục.</a:t>
            </a:r>
          </a:p>
          <a:p>
            <a:endParaRPr lang="en-US" sz="2550"/>
          </a:p>
        </p:txBody>
      </p:sp>
      <p:sp>
        <p:nvSpPr>
          <p:cNvPr id="2" name="TextBox 1">
            <a:extLst>
              <a:ext uri="{FF2B5EF4-FFF2-40B4-BE49-F238E27FC236}">
                <a16:creationId xmlns:a16="http://schemas.microsoft.com/office/drawing/2014/main" id="{EC0D1997-0E40-3BEE-A136-94CFA46211AE}"/>
              </a:ext>
            </a:extLst>
          </p:cNvPr>
          <p:cNvSpPr txBox="1"/>
          <p:nvPr/>
        </p:nvSpPr>
        <p:spPr>
          <a:xfrm>
            <a:off x="2491850" y="383855"/>
            <a:ext cx="7208298" cy="646331"/>
          </a:xfrm>
          <a:prstGeom prst="rect">
            <a:avLst/>
          </a:prstGeom>
          <a:noFill/>
        </p:spPr>
        <p:txBody>
          <a:bodyPr wrap="square" rtlCol="0">
            <a:spAutoFit/>
          </a:bodyPr>
          <a:lstStyle/>
          <a:p>
            <a:pPr algn="ctr"/>
            <a:r>
              <a:rPr lang="en-US" sz="3600" dirty="0">
                <a:solidFill>
                  <a:srgbClr val="131010"/>
                </a:solidFill>
                <a:latin typeface="Lobster" panose="00000500000000000000" pitchFamily="2" charset="-93"/>
              </a:rPr>
              <a:t>12 </a:t>
            </a:r>
            <a:r>
              <a:rPr lang="en-US" sz="3600" dirty="0" err="1">
                <a:solidFill>
                  <a:srgbClr val="131010"/>
                </a:solidFill>
                <a:latin typeface="Lobster" panose="00000500000000000000" pitchFamily="2" charset="-93"/>
              </a:rPr>
              <a:t>Nguyên</a:t>
            </a:r>
            <a:r>
              <a:rPr lang="en-US" sz="3600" dirty="0">
                <a:solidFill>
                  <a:srgbClr val="131010"/>
                </a:solidFill>
                <a:latin typeface="Lobster" panose="00000500000000000000" pitchFamily="2" charset="-93"/>
              </a:rPr>
              <a:t> </a:t>
            </a:r>
            <a:r>
              <a:rPr lang="en-US" sz="3600" dirty="0" err="1">
                <a:solidFill>
                  <a:srgbClr val="131010"/>
                </a:solidFill>
                <a:latin typeface="Lobster" panose="00000500000000000000" pitchFamily="2" charset="-93"/>
              </a:rPr>
              <a:t>Tắc</a:t>
            </a:r>
            <a:r>
              <a:rPr lang="en-US" sz="3600" dirty="0">
                <a:solidFill>
                  <a:srgbClr val="131010"/>
                </a:solidFill>
                <a:latin typeface="Lobster" panose="00000500000000000000" pitchFamily="2" charset="-93"/>
              </a:rPr>
              <a:t> Quan </a:t>
            </a:r>
            <a:r>
              <a:rPr lang="en-US" sz="3600" dirty="0" err="1">
                <a:solidFill>
                  <a:srgbClr val="131010"/>
                </a:solidFill>
                <a:latin typeface="Lobster" panose="00000500000000000000" pitchFamily="2" charset="-93"/>
              </a:rPr>
              <a:t>Trọng</a:t>
            </a:r>
            <a:endParaRPr lang="vi-VN" sz="3600" dirty="0">
              <a:solidFill>
                <a:srgbClr val="131010"/>
              </a:solidFill>
              <a:latin typeface="Lobster" panose="00000500000000000000" pitchFamily="2" charset="-93"/>
            </a:endParaRPr>
          </a:p>
        </p:txBody>
      </p:sp>
    </p:spTree>
    <p:extLst>
      <p:ext uri="{BB962C8B-B14F-4D97-AF65-F5344CB8AC3E}">
        <p14:creationId xmlns:p14="http://schemas.microsoft.com/office/powerpoint/2010/main" val="387187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E139A-55E7-5496-ED60-167A0B6B813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704689-F335-ADF8-C876-BA36D9BA412E}"/>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1">
            <a:extLst>
              <a:ext uri="{FF2B5EF4-FFF2-40B4-BE49-F238E27FC236}">
                <a16:creationId xmlns:a16="http://schemas.microsoft.com/office/drawing/2014/main" id="{FE4D3ED5-4B52-904B-24B1-6A252FC0BC5F}"/>
              </a:ext>
            </a:extLst>
          </p:cNvPr>
          <p:cNvSpPr/>
          <p:nvPr/>
        </p:nvSpPr>
        <p:spPr>
          <a:xfrm>
            <a:off x="299352" y="1356535"/>
            <a:ext cx="3664863" cy="2395657"/>
          </a:xfrm>
          <a:prstGeom prst="roundRect">
            <a:avLst>
              <a:gd name="adj" fmla="val 1420"/>
            </a:avLst>
          </a:prstGeom>
          <a:solidFill>
            <a:srgbClr val="EEE8DD"/>
          </a:solidFill>
          <a:ln/>
        </p:spPr>
        <p:txBody>
          <a:bodyPr/>
          <a:lstStyle/>
          <a:p>
            <a:r>
              <a:rPr lang="en-US" sz="2550"/>
              <a:t>Hoàn thành đúng tiến độ</a:t>
            </a:r>
          </a:p>
          <a:p>
            <a:r>
              <a:rPr lang="vi-VN" sz="2350">
                <a:solidFill>
                  <a:srgbClr val="543A14"/>
                </a:solidFill>
              </a:rPr>
              <a:t>Đảm bảo công việc được thực hiện theo kế hoạch.</a:t>
            </a:r>
            <a:endParaRPr lang="en-US" sz="2350">
              <a:solidFill>
                <a:srgbClr val="543A14"/>
              </a:solidFill>
            </a:endParaRPr>
          </a:p>
        </p:txBody>
      </p:sp>
      <p:sp>
        <p:nvSpPr>
          <p:cNvPr id="11" name="Shape 1">
            <a:extLst>
              <a:ext uri="{FF2B5EF4-FFF2-40B4-BE49-F238E27FC236}">
                <a16:creationId xmlns:a16="http://schemas.microsoft.com/office/drawing/2014/main" id="{5AF7A9F5-8B5E-5B78-2A8E-CDCC2DD379FD}"/>
              </a:ext>
            </a:extLst>
          </p:cNvPr>
          <p:cNvSpPr/>
          <p:nvPr/>
        </p:nvSpPr>
        <p:spPr>
          <a:xfrm>
            <a:off x="8292525" y="4135994"/>
            <a:ext cx="3664863" cy="2395657"/>
          </a:xfrm>
          <a:prstGeom prst="roundRect">
            <a:avLst>
              <a:gd name="adj" fmla="val 1420"/>
            </a:avLst>
          </a:prstGeom>
          <a:solidFill>
            <a:srgbClr val="EEE8DD"/>
          </a:solidFill>
          <a:ln/>
        </p:spPr>
        <p:txBody>
          <a:bodyPr/>
          <a:lstStyle/>
          <a:p>
            <a:r>
              <a:rPr lang="vi-VN" sz="2550"/>
              <a:t>Đánh giá định kỳ</a:t>
            </a:r>
            <a:endParaRPr lang="en-US" sz="2550"/>
          </a:p>
          <a:p>
            <a:r>
              <a:rPr lang="vi-VN" sz="2350">
                <a:solidFill>
                  <a:srgbClr val="543A14"/>
                </a:solidFill>
              </a:rPr>
              <a:t>Để cải thiện và điều chỉnh các phương pháp làm việc hiệu quả.</a:t>
            </a:r>
            <a:endParaRPr lang="en-US" sz="2350">
              <a:solidFill>
                <a:srgbClr val="543A14"/>
              </a:solidFill>
            </a:endParaRPr>
          </a:p>
        </p:txBody>
      </p:sp>
      <p:sp>
        <p:nvSpPr>
          <p:cNvPr id="12" name="Shape 1">
            <a:extLst>
              <a:ext uri="{FF2B5EF4-FFF2-40B4-BE49-F238E27FC236}">
                <a16:creationId xmlns:a16="http://schemas.microsoft.com/office/drawing/2014/main" id="{DDA32840-732C-94B3-730C-1FF799EEDCC3}"/>
              </a:ext>
            </a:extLst>
          </p:cNvPr>
          <p:cNvSpPr/>
          <p:nvPr/>
        </p:nvSpPr>
        <p:spPr>
          <a:xfrm>
            <a:off x="4263568" y="1356535"/>
            <a:ext cx="3664863" cy="2395657"/>
          </a:xfrm>
          <a:prstGeom prst="roundRect">
            <a:avLst>
              <a:gd name="adj" fmla="val 1420"/>
            </a:avLst>
          </a:prstGeom>
          <a:solidFill>
            <a:srgbClr val="EEE8DD"/>
          </a:solidFill>
          <a:ln/>
        </p:spPr>
        <p:txBody>
          <a:bodyPr/>
          <a:lstStyle/>
          <a:p>
            <a:r>
              <a:rPr lang="en-US" sz="2550"/>
              <a:t>Phát triển bền vững</a:t>
            </a:r>
          </a:p>
          <a:p>
            <a:r>
              <a:rPr lang="en-US" sz="2350">
                <a:solidFill>
                  <a:srgbClr val="543A14"/>
                </a:solidFill>
              </a:rPr>
              <a:t>Khuyến khích sự ổn định và duy trì trong thời gian dài.</a:t>
            </a:r>
          </a:p>
        </p:txBody>
      </p:sp>
      <p:sp>
        <p:nvSpPr>
          <p:cNvPr id="13" name="Shape 1">
            <a:extLst>
              <a:ext uri="{FF2B5EF4-FFF2-40B4-BE49-F238E27FC236}">
                <a16:creationId xmlns:a16="http://schemas.microsoft.com/office/drawing/2014/main" id="{30FA22E9-C0BB-8082-9B13-808EA071A85F}"/>
              </a:ext>
            </a:extLst>
          </p:cNvPr>
          <p:cNvSpPr/>
          <p:nvPr/>
        </p:nvSpPr>
        <p:spPr>
          <a:xfrm>
            <a:off x="299353" y="4107266"/>
            <a:ext cx="3664863" cy="2395657"/>
          </a:xfrm>
          <a:prstGeom prst="roundRect">
            <a:avLst>
              <a:gd name="adj" fmla="val 1420"/>
            </a:avLst>
          </a:prstGeom>
          <a:solidFill>
            <a:srgbClr val="EEE8DD"/>
          </a:solidFill>
          <a:ln/>
        </p:spPr>
        <p:txBody>
          <a:bodyPr/>
          <a:lstStyle/>
          <a:p>
            <a:r>
              <a:rPr lang="vi-VN" sz="2550"/>
              <a:t>Tính đơn giản</a:t>
            </a:r>
            <a:endParaRPr lang="en-US" sz="2550"/>
          </a:p>
          <a:p>
            <a:r>
              <a:rPr lang="vi-VN" sz="2350">
                <a:solidFill>
                  <a:srgbClr val="543A14"/>
                </a:solidFill>
              </a:rPr>
              <a:t>Tối ưu hóa lượng công việc hiện tại.</a:t>
            </a:r>
            <a:endParaRPr lang="en-US" sz="2350">
              <a:solidFill>
                <a:srgbClr val="543A14"/>
              </a:solidFill>
            </a:endParaRPr>
          </a:p>
        </p:txBody>
      </p:sp>
      <p:sp>
        <p:nvSpPr>
          <p:cNvPr id="14" name="Shape 1">
            <a:extLst>
              <a:ext uri="{FF2B5EF4-FFF2-40B4-BE49-F238E27FC236}">
                <a16:creationId xmlns:a16="http://schemas.microsoft.com/office/drawing/2014/main" id="{016BB6B6-DC0E-98C8-A861-6F7B097D90B0}"/>
              </a:ext>
            </a:extLst>
          </p:cNvPr>
          <p:cNvSpPr/>
          <p:nvPr/>
        </p:nvSpPr>
        <p:spPr>
          <a:xfrm>
            <a:off x="4263568" y="4107267"/>
            <a:ext cx="3664863" cy="2395657"/>
          </a:xfrm>
          <a:prstGeom prst="roundRect">
            <a:avLst>
              <a:gd name="adj" fmla="val 1420"/>
            </a:avLst>
          </a:prstGeom>
          <a:solidFill>
            <a:srgbClr val="EEE8DD"/>
          </a:solidFill>
          <a:ln/>
        </p:spPr>
        <p:txBody>
          <a:bodyPr/>
          <a:lstStyle/>
          <a:p>
            <a:r>
              <a:rPr lang="vi-VN" sz="2550"/>
              <a:t>Nhóm tự tổ chức</a:t>
            </a:r>
            <a:endParaRPr lang="en-US" sz="2550"/>
          </a:p>
          <a:p>
            <a:r>
              <a:rPr lang="vi-VN" sz="2350">
                <a:solidFill>
                  <a:srgbClr val="543A14"/>
                </a:solidFill>
              </a:rPr>
              <a:t>Tạo ra kiến trúc, yêu cầu và thiết kế tốt nhất.</a:t>
            </a:r>
            <a:endParaRPr lang="en-US" sz="2350">
              <a:solidFill>
                <a:srgbClr val="543A14"/>
              </a:solidFill>
            </a:endParaRPr>
          </a:p>
        </p:txBody>
      </p:sp>
      <p:sp>
        <p:nvSpPr>
          <p:cNvPr id="15" name="Shape 1">
            <a:extLst>
              <a:ext uri="{FF2B5EF4-FFF2-40B4-BE49-F238E27FC236}">
                <a16:creationId xmlns:a16="http://schemas.microsoft.com/office/drawing/2014/main" id="{61CF749E-FADF-775C-2BCC-187B83948322}"/>
              </a:ext>
            </a:extLst>
          </p:cNvPr>
          <p:cNvSpPr/>
          <p:nvPr/>
        </p:nvSpPr>
        <p:spPr>
          <a:xfrm>
            <a:off x="8292526" y="1356535"/>
            <a:ext cx="3664863" cy="2395657"/>
          </a:xfrm>
          <a:prstGeom prst="roundRect">
            <a:avLst>
              <a:gd name="adj" fmla="val 1420"/>
            </a:avLst>
          </a:prstGeom>
          <a:solidFill>
            <a:srgbClr val="EEE8DD"/>
          </a:solidFill>
          <a:ln/>
        </p:spPr>
        <p:txBody>
          <a:bodyPr/>
          <a:lstStyle/>
          <a:p>
            <a:r>
              <a:rPr lang="en-US" sz="2550"/>
              <a:t>Theo dõi kỹ thuật xuất sắc</a:t>
            </a:r>
          </a:p>
          <a:p>
            <a:r>
              <a:rPr lang="vi-VN" sz="2350">
                <a:solidFill>
                  <a:srgbClr val="543A14"/>
                </a:solidFill>
              </a:rPr>
              <a:t>Thúc đẩy chất lượng và sự nhanh nhẹn.</a:t>
            </a:r>
          </a:p>
          <a:p>
            <a:endParaRPr lang="en-US" sz="2550"/>
          </a:p>
        </p:txBody>
      </p:sp>
      <p:sp>
        <p:nvSpPr>
          <p:cNvPr id="2" name="TextBox 1">
            <a:extLst>
              <a:ext uri="{FF2B5EF4-FFF2-40B4-BE49-F238E27FC236}">
                <a16:creationId xmlns:a16="http://schemas.microsoft.com/office/drawing/2014/main" id="{ECBFA355-5EA3-83F9-EC0C-61503638B1E7}"/>
              </a:ext>
            </a:extLst>
          </p:cNvPr>
          <p:cNvSpPr txBox="1"/>
          <p:nvPr/>
        </p:nvSpPr>
        <p:spPr>
          <a:xfrm>
            <a:off x="2491850" y="383855"/>
            <a:ext cx="7208298" cy="646331"/>
          </a:xfrm>
          <a:prstGeom prst="rect">
            <a:avLst/>
          </a:prstGeom>
          <a:noFill/>
        </p:spPr>
        <p:txBody>
          <a:bodyPr wrap="square" rtlCol="0">
            <a:spAutoFit/>
          </a:bodyPr>
          <a:lstStyle/>
          <a:p>
            <a:pPr algn="ctr"/>
            <a:r>
              <a:rPr lang="en-US" sz="3600" dirty="0">
                <a:solidFill>
                  <a:srgbClr val="131010"/>
                </a:solidFill>
                <a:latin typeface="Lobster" panose="00000500000000000000" pitchFamily="2" charset="-93"/>
              </a:rPr>
              <a:t>12 </a:t>
            </a:r>
            <a:r>
              <a:rPr lang="en-US" sz="3600" dirty="0" err="1">
                <a:solidFill>
                  <a:srgbClr val="131010"/>
                </a:solidFill>
                <a:latin typeface="Lobster" panose="00000500000000000000" pitchFamily="2" charset="-93"/>
              </a:rPr>
              <a:t>Nguyên</a:t>
            </a:r>
            <a:r>
              <a:rPr lang="en-US" sz="3600" dirty="0">
                <a:solidFill>
                  <a:srgbClr val="131010"/>
                </a:solidFill>
                <a:latin typeface="Lobster" panose="00000500000000000000" pitchFamily="2" charset="-93"/>
              </a:rPr>
              <a:t> </a:t>
            </a:r>
            <a:r>
              <a:rPr lang="en-US" sz="3600" dirty="0" err="1">
                <a:solidFill>
                  <a:srgbClr val="131010"/>
                </a:solidFill>
                <a:latin typeface="Lobster" panose="00000500000000000000" pitchFamily="2" charset="-93"/>
              </a:rPr>
              <a:t>Tắc</a:t>
            </a:r>
            <a:r>
              <a:rPr lang="en-US" sz="3600" dirty="0">
                <a:solidFill>
                  <a:srgbClr val="131010"/>
                </a:solidFill>
                <a:latin typeface="Lobster" panose="00000500000000000000" pitchFamily="2" charset="-93"/>
              </a:rPr>
              <a:t> Quan </a:t>
            </a:r>
            <a:r>
              <a:rPr lang="en-US" sz="3600" dirty="0" err="1">
                <a:solidFill>
                  <a:srgbClr val="131010"/>
                </a:solidFill>
                <a:latin typeface="Lobster" panose="00000500000000000000" pitchFamily="2" charset="-93"/>
              </a:rPr>
              <a:t>Trọng</a:t>
            </a:r>
            <a:endParaRPr lang="vi-VN" sz="3600" dirty="0">
              <a:solidFill>
                <a:srgbClr val="131010"/>
              </a:solidFill>
              <a:latin typeface="Lobster" panose="00000500000000000000" pitchFamily="2" charset="-93"/>
            </a:endParaRPr>
          </a:p>
        </p:txBody>
      </p:sp>
    </p:spTree>
    <p:extLst>
      <p:ext uri="{BB962C8B-B14F-4D97-AF65-F5344CB8AC3E}">
        <p14:creationId xmlns:p14="http://schemas.microsoft.com/office/powerpoint/2010/main" val="303551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4901F-ECDF-A96A-54EA-388FC7591F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94F6A0A-49B9-416F-4CFD-AA68CDE32B45}"/>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2D465F4-B25A-D42E-B97A-FA99E2234389}"/>
              </a:ext>
            </a:extLst>
          </p:cNvPr>
          <p:cNvSpPr txBox="1"/>
          <p:nvPr/>
        </p:nvSpPr>
        <p:spPr>
          <a:xfrm>
            <a:off x="593271" y="1489875"/>
            <a:ext cx="11005457" cy="4893647"/>
          </a:xfrm>
          <a:prstGeom prst="rect">
            <a:avLst/>
          </a:prstGeom>
          <a:noFill/>
        </p:spPr>
        <p:txBody>
          <a:bodyPr wrap="square" rtlCol="0">
            <a:spAutoFit/>
          </a:bodyPr>
          <a:lstStyle/>
          <a:p>
            <a:r>
              <a:rPr lang="en-US" sz="2400" dirty="0">
                <a:solidFill>
                  <a:srgbClr val="578E7E"/>
                </a:solidFill>
              </a:rPr>
              <a:t>- </a:t>
            </a:r>
            <a:r>
              <a:rPr lang="vi-VN" sz="2400" dirty="0">
                <a:solidFill>
                  <a:srgbClr val="578E7E"/>
                </a:solidFill>
              </a:rPr>
              <a:t>Tính lặp: </a:t>
            </a:r>
            <a:r>
              <a:rPr lang="vi-VN" sz="2400" dirty="0">
                <a:solidFill>
                  <a:srgbClr val="543A14"/>
                </a:solidFill>
              </a:rPr>
              <a:t>Chia dự án thành các phần nhỏ và thực hiện lặp lại theo khung thời gian cố định.</a:t>
            </a:r>
          </a:p>
          <a:p>
            <a:r>
              <a:rPr lang="en-US" sz="2400" dirty="0">
                <a:solidFill>
                  <a:srgbClr val="578E7E"/>
                </a:solidFill>
              </a:rPr>
              <a:t>- </a:t>
            </a:r>
            <a:r>
              <a:rPr lang="vi-VN" sz="2400" dirty="0">
                <a:solidFill>
                  <a:srgbClr val="578E7E"/>
                </a:solidFill>
              </a:rPr>
              <a:t>Tính tiệm tiến và tiến hóa: </a:t>
            </a:r>
            <a:r>
              <a:rPr lang="vi-VN" sz="2400" dirty="0">
                <a:solidFill>
                  <a:srgbClr val="543A14"/>
                </a:solidFill>
              </a:rPr>
              <a:t>Sản phẩm phát triển theo từng phân đoạn, đáp ứng dần nhu cầu khách hàng.</a:t>
            </a:r>
          </a:p>
          <a:p>
            <a:r>
              <a:rPr lang="en-US" sz="2400" dirty="0">
                <a:solidFill>
                  <a:srgbClr val="578E7E"/>
                </a:solidFill>
              </a:rPr>
              <a:t>- </a:t>
            </a:r>
            <a:r>
              <a:rPr lang="vi-VN" sz="2400" dirty="0">
                <a:solidFill>
                  <a:srgbClr val="578E7E"/>
                </a:solidFill>
              </a:rPr>
              <a:t>Tính thích ứng: </a:t>
            </a:r>
            <a:r>
              <a:rPr lang="vi-VN" sz="2400" dirty="0">
                <a:solidFill>
                  <a:srgbClr val="543A14"/>
                </a:solidFill>
              </a:rPr>
              <a:t>Kế hoạch ngắn hạn, linh hoạt thay đổi theo yêu cầu.</a:t>
            </a:r>
          </a:p>
          <a:p>
            <a:r>
              <a:rPr lang="en-US" sz="2400" dirty="0">
                <a:solidFill>
                  <a:srgbClr val="578E7E"/>
                </a:solidFill>
              </a:rPr>
              <a:t>- </a:t>
            </a:r>
            <a:r>
              <a:rPr lang="vi-VN" sz="2400" dirty="0">
                <a:solidFill>
                  <a:srgbClr val="578E7E"/>
                </a:solidFill>
              </a:rPr>
              <a:t>Nhóm tự tổ chức: </a:t>
            </a:r>
            <a:r>
              <a:rPr lang="vi-VN" sz="2400" dirty="0">
                <a:solidFill>
                  <a:srgbClr val="543A14"/>
                </a:solidFill>
              </a:rPr>
              <a:t>Thành viên tự quản lý, làm việc hiệu quả mà không phụ thuộc vào sự phân quyền.</a:t>
            </a:r>
          </a:p>
          <a:p>
            <a:r>
              <a:rPr lang="en-US" sz="2400" dirty="0">
                <a:solidFill>
                  <a:srgbClr val="578E7E"/>
                </a:solidFill>
              </a:rPr>
              <a:t>- </a:t>
            </a:r>
            <a:r>
              <a:rPr lang="vi-VN" sz="2400" dirty="0">
                <a:solidFill>
                  <a:srgbClr val="578E7E"/>
                </a:solidFill>
              </a:rPr>
              <a:t>Kiểm soát tiến trình thực tiễn: </a:t>
            </a:r>
            <a:r>
              <a:rPr lang="vi-VN" sz="2400" dirty="0">
                <a:solidFill>
                  <a:srgbClr val="543A14"/>
                </a:solidFill>
              </a:rPr>
              <a:t>Quyết định dựa trên dữ liệu thực tế, giúp dự án chính xác hơn.</a:t>
            </a:r>
          </a:p>
          <a:p>
            <a:r>
              <a:rPr lang="en-US" sz="2400" dirty="0">
                <a:solidFill>
                  <a:srgbClr val="578E7E"/>
                </a:solidFill>
              </a:rPr>
              <a:t>- </a:t>
            </a:r>
            <a:r>
              <a:rPr lang="vi-VN" sz="2400" dirty="0">
                <a:solidFill>
                  <a:srgbClr val="578E7E"/>
                </a:solidFill>
              </a:rPr>
              <a:t>Giao tiếp trực diện: </a:t>
            </a:r>
            <a:r>
              <a:rPr lang="vi-VN" sz="2400" dirty="0">
                <a:solidFill>
                  <a:srgbClr val="543A14"/>
                </a:solidFill>
              </a:rPr>
              <a:t>Đặt giao tiếp làm giá trị cốt lõi để hiểu rõ nhu cầu khách hàng và nhóm phát triển.</a:t>
            </a:r>
          </a:p>
          <a:p>
            <a:r>
              <a:rPr lang="en-US" sz="2400" dirty="0">
                <a:solidFill>
                  <a:srgbClr val="578E7E"/>
                </a:solidFill>
              </a:rPr>
              <a:t>- </a:t>
            </a:r>
            <a:r>
              <a:rPr lang="vi-VN" sz="2400" dirty="0">
                <a:solidFill>
                  <a:srgbClr val="578E7E"/>
                </a:solidFill>
              </a:rPr>
              <a:t>Phát triển dựa trên giá trị: </a:t>
            </a:r>
            <a:r>
              <a:rPr lang="vi-VN" sz="2400" dirty="0">
                <a:solidFill>
                  <a:srgbClr val="543A14"/>
                </a:solidFill>
              </a:rPr>
              <a:t>Tập trung vào công việc mang lại giá trị cao, loại bỏ những công việc không cần thiết.</a:t>
            </a:r>
            <a:endParaRPr lang="en-US" sz="2400" dirty="0">
              <a:solidFill>
                <a:srgbClr val="543A14"/>
              </a:solidFill>
            </a:endParaRPr>
          </a:p>
        </p:txBody>
      </p:sp>
      <p:sp>
        <p:nvSpPr>
          <p:cNvPr id="4" name="Shape 2">
            <a:extLst>
              <a:ext uri="{FF2B5EF4-FFF2-40B4-BE49-F238E27FC236}">
                <a16:creationId xmlns:a16="http://schemas.microsoft.com/office/drawing/2014/main" id="{48BB2627-CEFC-9853-6E97-123DDE2371AA}"/>
              </a:ext>
            </a:extLst>
          </p:cNvPr>
          <p:cNvSpPr/>
          <p:nvPr/>
        </p:nvSpPr>
        <p:spPr>
          <a:xfrm>
            <a:off x="6688395" y="1931075"/>
            <a:ext cx="699968" cy="22860"/>
          </a:xfrm>
          <a:prstGeom prst="roundRect">
            <a:avLst>
              <a:gd name="adj" fmla="val 131229"/>
            </a:avLst>
          </a:prstGeom>
          <a:solidFill>
            <a:srgbClr val="D4CEC3"/>
          </a:solidFill>
          <a:ln/>
        </p:spPr>
        <p:txBody>
          <a:bodyPr/>
          <a:lstStyle/>
          <a:p>
            <a:endParaRPr lang="en-US"/>
          </a:p>
        </p:txBody>
      </p:sp>
      <p:sp>
        <p:nvSpPr>
          <p:cNvPr id="9" name="Shape 7">
            <a:extLst>
              <a:ext uri="{FF2B5EF4-FFF2-40B4-BE49-F238E27FC236}">
                <a16:creationId xmlns:a16="http://schemas.microsoft.com/office/drawing/2014/main" id="{B5DCD673-C372-0B49-3D06-ADE44EF7BAFB}"/>
              </a:ext>
            </a:extLst>
          </p:cNvPr>
          <p:cNvSpPr/>
          <p:nvPr/>
        </p:nvSpPr>
        <p:spPr>
          <a:xfrm>
            <a:off x="6688395" y="3283268"/>
            <a:ext cx="699968" cy="22860"/>
          </a:xfrm>
          <a:prstGeom prst="roundRect">
            <a:avLst>
              <a:gd name="adj" fmla="val 131229"/>
            </a:avLst>
          </a:prstGeom>
          <a:solidFill>
            <a:srgbClr val="D4CEC3"/>
          </a:solidFill>
          <a:ln/>
        </p:spPr>
        <p:txBody>
          <a:bodyPr/>
          <a:lstStyle/>
          <a:p>
            <a:endParaRPr lang="en-US"/>
          </a:p>
        </p:txBody>
      </p:sp>
      <p:sp>
        <p:nvSpPr>
          <p:cNvPr id="13" name="Shape 12">
            <a:extLst>
              <a:ext uri="{FF2B5EF4-FFF2-40B4-BE49-F238E27FC236}">
                <a16:creationId xmlns:a16="http://schemas.microsoft.com/office/drawing/2014/main" id="{9253DE00-31BA-CA22-7828-A44FC97A4DCF}"/>
              </a:ext>
            </a:extLst>
          </p:cNvPr>
          <p:cNvSpPr/>
          <p:nvPr/>
        </p:nvSpPr>
        <p:spPr>
          <a:xfrm>
            <a:off x="6688395" y="4955500"/>
            <a:ext cx="699968" cy="22860"/>
          </a:xfrm>
          <a:prstGeom prst="roundRect">
            <a:avLst>
              <a:gd name="adj" fmla="val 131229"/>
            </a:avLst>
          </a:prstGeom>
          <a:solidFill>
            <a:srgbClr val="D4CEC3"/>
          </a:solidFill>
          <a:ln/>
        </p:spPr>
        <p:txBody>
          <a:bodyPr/>
          <a:lstStyle/>
          <a:p>
            <a:endParaRPr lang="en-US"/>
          </a:p>
        </p:txBody>
      </p:sp>
      <p:sp>
        <p:nvSpPr>
          <p:cNvPr id="17" name="Shape 17">
            <a:extLst>
              <a:ext uri="{FF2B5EF4-FFF2-40B4-BE49-F238E27FC236}">
                <a16:creationId xmlns:a16="http://schemas.microsoft.com/office/drawing/2014/main" id="{D958591E-F335-EE31-C157-57D0FC68007C}"/>
              </a:ext>
            </a:extLst>
          </p:cNvPr>
          <p:cNvSpPr/>
          <p:nvPr/>
        </p:nvSpPr>
        <p:spPr>
          <a:xfrm>
            <a:off x="6688395" y="6627733"/>
            <a:ext cx="699968" cy="22860"/>
          </a:xfrm>
          <a:prstGeom prst="roundRect">
            <a:avLst>
              <a:gd name="adj" fmla="val 131229"/>
            </a:avLst>
          </a:prstGeom>
          <a:solidFill>
            <a:srgbClr val="D4CEC3"/>
          </a:solidFill>
          <a:ln/>
        </p:spPr>
        <p:txBody>
          <a:bodyPr/>
          <a:lstStyle/>
          <a:p>
            <a:endParaRPr lang="en-US"/>
          </a:p>
        </p:txBody>
      </p:sp>
      <p:sp>
        <p:nvSpPr>
          <p:cNvPr id="22" name="TextBox 21">
            <a:extLst>
              <a:ext uri="{FF2B5EF4-FFF2-40B4-BE49-F238E27FC236}">
                <a16:creationId xmlns:a16="http://schemas.microsoft.com/office/drawing/2014/main" id="{2DA5D73A-2DC7-2279-1CE7-2B1A16A6B425}"/>
              </a:ext>
            </a:extLst>
          </p:cNvPr>
          <p:cNvSpPr txBox="1"/>
          <p:nvPr/>
        </p:nvSpPr>
        <p:spPr>
          <a:xfrm>
            <a:off x="2491851" y="636656"/>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Đặc Trưng Kỹ Thuật</a:t>
            </a:r>
            <a:endParaRPr lang="vi-VN" sz="3600" dirty="0">
              <a:solidFill>
                <a:srgbClr val="131010"/>
              </a:solidFill>
              <a:latin typeface="Lobster" panose="00000500000000000000" pitchFamily="2" charset="-93"/>
            </a:endParaRPr>
          </a:p>
        </p:txBody>
      </p:sp>
    </p:spTree>
    <p:extLst>
      <p:ext uri="{BB962C8B-B14F-4D97-AF65-F5344CB8AC3E}">
        <p14:creationId xmlns:p14="http://schemas.microsoft.com/office/powerpoint/2010/main" val="273378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B3CF1-FB65-5AFC-62BD-37A19AD8FE5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ED0447B-C7A2-A924-33F4-25E79C2CCDA6}"/>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DAEC05F-0119-CCAB-FC01-6C832D9CCDEA}"/>
              </a:ext>
            </a:extLst>
          </p:cNvPr>
          <p:cNvSpPr txBox="1"/>
          <p:nvPr/>
        </p:nvSpPr>
        <p:spPr>
          <a:xfrm>
            <a:off x="2491851" y="636656"/>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Các Phương Pháp Agile Phổ Biến</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50D04B71-9C76-D5A3-6544-EEF148676E99}"/>
              </a:ext>
            </a:extLst>
          </p:cNvPr>
          <p:cNvSpPr txBox="1"/>
          <p:nvPr/>
        </p:nvSpPr>
        <p:spPr>
          <a:xfrm>
            <a:off x="1813541" y="2155936"/>
            <a:ext cx="7352522" cy="3330464"/>
          </a:xfrm>
          <a:prstGeom prst="rect">
            <a:avLst/>
          </a:prstGeom>
          <a:noFill/>
        </p:spPr>
        <p:txBody>
          <a:bodyPr wrap="square" rtlCol="0">
            <a:spAutoFit/>
          </a:bodyPr>
          <a:lstStyle/>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Scrum </a:t>
            </a:r>
          </a:p>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Extreme Programming (XP) </a:t>
            </a:r>
          </a:p>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Adaptive Software Development (ASD) </a:t>
            </a:r>
          </a:p>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Dynamic Software Development Method (DSDM) </a:t>
            </a:r>
          </a:p>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Feature Driven Development (FDD) </a:t>
            </a:r>
          </a:p>
          <a:p>
            <a:pPr marL="342900" lvl="0" indent="-342900" algn="just">
              <a:lnSpc>
                <a:spcPct val="107000"/>
              </a:lnSpc>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Kanban </a:t>
            </a:r>
          </a:p>
          <a:p>
            <a:pPr marL="342900" lvl="0" indent="-342900" algn="just">
              <a:lnSpc>
                <a:spcPct val="107000"/>
              </a:lnSpc>
              <a:spcAft>
                <a:spcPts val="800"/>
              </a:spcAft>
              <a:buFont typeface="Wingdings" panose="05000000000000000000" pitchFamily="2" charset="2"/>
              <a:buChar char=""/>
              <a:tabLst>
                <a:tab pos="365760" algn="l"/>
              </a:tabLst>
            </a:pPr>
            <a:r>
              <a:rPr lang="en-US" sz="2400" kern="100">
                <a:effectLst/>
                <a:latin typeface="+mj-lt"/>
                <a:ea typeface="Aptos" panose="020B0004020202020204" pitchFamily="34" charset="0"/>
                <a:cs typeface="Times New Roman" panose="02020603050405020304" pitchFamily="18" charset="0"/>
              </a:rPr>
              <a:t>Behavior Driven Development (BDD) </a:t>
            </a:r>
          </a:p>
          <a:p>
            <a:endParaRPr lang="en-US" sz="2400">
              <a:latin typeface="+mj-lt"/>
            </a:endParaRPr>
          </a:p>
        </p:txBody>
      </p:sp>
      <p:sp>
        <p:nvSpPr>
          <p:cNvPr id="4" name="Rectangle: Rounded Corners 3">
            <a:extLst>
              <a:ext uri="{FF2B5EF4-FFF2-40B4-BE49-F238E27FC236}">
                <a16:creationId xmlns:a16="http://schemas.microsoft.com/office/drawing/2014/main" id="{A6D5763C-A4B7-C9AB-F710-F52EF6EF421B}"/>
              </a:ext>
            </a:extLst>
          </p:cNvPr>
          <p:cNvSpPr/>
          <p:nvPr/>
        </p:nvSpPr>
        <p:spPr>
          <a:xfrm>
            <a:off x="10506658" y="102637"/>
            <a:ext cx="1562099" cy="128298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8933757-FBD6-F9C9-48A3-A043D11DFF4E}"/>
              </a:ext>
            </a:extLst>
          </p:cNvPr>
          <p:cNvSpPr/>
          <p:nvPr/>
        </p:nvSpPr>
        <p:spPr>
          <a:xfrm>
            <a:off x="108566" y="5486400"/>
            <a:ext cx="1704975" cy="1371600"/>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0432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E8A6-B9FA-BA95-2E02-4B0861C3BA8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CC60173-E941-2862-5986-E43A35D7FD51}"/>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205AE10-D08E-F1E5-3C6A-BF86985DDA50}"/>
              </a:ext>
            </a:extLst>
          </p:cNvPr>
          <p:cNvSpPr txBox="1"/>
          <p:nvPr/>
        </p:nvSpPr>
        <p:spPr>
          <a:xfrm>
            <a:off x="2491851" y="140928"/>
            <a:ext cx="7208298" cy="646331"/>
          </a:xfrm>
          <a:prstGeom prst="rect">
            <a:avLst/>
          </a:prstGeom>
          <a:noFill/>
        </p:spPr>
        <p:txBody>
          <a:bodyPr wrap="square" rtlCol="0">
            <a:spAutoFit/>
          </a:bodyPr>
          <a:lstStyle/>
          <a:p>
            <a:pPr algn="ctr"/>
            <a:r>
              <a:rPr lang="en-US" sz="3600" dirty="0" err="1">
                <a:solidFill>
                  <a:srgbClr val="131010"/>
                </a:solidFill>
                <a:latin typeface="Lobster" panose="00000500000000000000" pitchFamily="2" charset="-93"/>
              </a:rPr>
              <a:t>Phương</a:t>
            </a:r>
            <a:r>
              <a:rPr lang="en-US" sz="3600" dirty="0">
                <a:solidFill>
                  <a:srgbClr val="131010"/>
                </a:solidFill>
                <a:latin typeface="Lobster" panose="00000500000000000000" pitchFamily="2" charset="-93"/>
              </a:rPr>
              <a:t> </a:t>
            </a:r>
            <a:r>
              <a:rPr lang="en-US" sz="3600" dirty="0" err="1">
                <a:solidFill>
                  <a:srgbClr val="131010"/>
                </a:solidFill>
                <a:latin typeface="Lobster" panose="00000500000000000000" pitchFamily="2" charset="-93"/>
              </a:rPr>
              <a:t>Pháp</a:t>
            </a:r>
            <a:r>
              <a:rPr lang="en-US" sz="3600" dirty="0">
                <a:solidFill>
                  <a:srgbClr val="131010"/>
                </a:solidFill>
                <a:latin typeface="Lobster" panose="00000500000000000000" pitchFamily="2" charset="-93"/>
              </a:rPr>
              <a:t> Scrum</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A9F6869A-142C-E0E3-7DC0-A0F8B3D55E6B}"/>
              </a:ext>
            </a:extLst>
          </p:cNvPr>
          <p:cNvSpPr txBox="1"/>
          <p:nvPr/>
        </p:nvSpPr>
        <p:spPr>
          <a:xfrm>
            <a:off x="201869" y="759767"/>
            <a:ext cx="2672643" cy="523220"/>
          </a:xfrm>
          <a:prstGeom prst="rect">
            <a:avLst/>
          </a:prstGeom>
          <a:noFill/>
        </p:spPr>
        <p:txBody>
          <a:bodyPr wrap="square" rtlCol="0">
            <a:spAutoFit/>
          </a:bodyPr>
          <a:lstStyle/>
          <a:p>
            <a:r>
              <a:rPr lang="en-US" sz="2800" dirty="0">
                <a:solidFill>
                  <a:srgbClr val="578E7E"/>
                </a:solidFill>
              </a:rPr>
              <a:t>Chu </a:t>
            </a:r>
            <a:r>
              <a:rPr lang="en-US" sz="2800" dirty="0" err="1">
                <a:solidFill>
                  <a:srgbClr val="578E7E"/>
                </a:solidFill>
              </a:rPr>
              <a:t>Kì</a:t>
            </a:r>
            <a:r>
              <a:rPr lang="en-US" sz="2800" dirty="0">
                <a:solidFill>
                  <a:srgbClr val="578E7E"/>
                </a:solidFill>
              </a:rPr>
              <a:t> </a:t>
            </a:r>
            <a:r>
              <a:rPr lang="en-US" sz="2800" dirty="0" err="1">
                <a:solidFill>
                  <a:srgbClr val="578E7E"/>
                </a:solidFill>
              </a:rPr>
              <a:t>và</a:t>
            </a:r>
            <a:r>
              <a:rPr lang="en-US" sz="2800" dirty="0">
                <a:solidFill>
                  <a:srgbClr val="578E7E"/>
                </a:solidFill>
              </a:rPr>
              <a:t> Sprint</a:t>
            </a:r>
          </a:p>
        </p:txBody>
      </p:sp>
      <p:sp>
        <p:nvSpPr>
          <p:cNvPr id="4" name="TextBox 3">
            <a:extLst>
              <a:ext uri="{FF2B5EF4-FFF2-40B4-BE49-F238E27FC236}">
                <a16:creationId xmlns:a16="http://schemas.microsoft.com/office/drawing/2014/main" id="{EBA488A4-97F9-1E70-774B-94CA0FFF3946}"/>
              </a:ext>
            </a:extLst>
          </p:cNvPr>
          <p:cNvSpPr txBox="1"/>
          <p:nvPr/>
        </p:nvSpPr>
        <p:spPr>
          <a:xfrm>
            <a:off x="255668" y="3649033"/>
            <a:ext cx="2401075" cy="523220"/>
          </a:xfrm>
          <a:prstGeom prst="rect">
            <a:avLst/>
          </a:prstGeom>
          <a:noFill/>
        </p:spPr>
        <p:txBody>
          <a:bodyPr wrap="square" rtlCol="0">
            <a:spAutoFit/>
          </a:bodyPr>
          <a:lstStyle/>
          <a:p>
            <a:r>
              <a:rPr lang="en-US" sz="2800" dirty="0" err="1">
                <a:solidFill>
                  <a:srgbClr val="578E7E"/>
                </a:solidFill>
              </a:rPr>
              <a:t>Nhóm</a:t>
            </a:r>
            <a:r>
              <a:rPr lang="en-US" sz="2800" dirty="0">
                <a:solidFill>
                  <a:srgbClr val="578E7E"/>
                </a:solidFill>
              </a:rPr>
              <a:t> Scrum</a:t>
            </a:r>
          </a:p>
        </p:txBody>
      </p:sp>
      <p:sp>
        <p:nvSpPr>
          <p:cNvPr id="6" name="TextBox 5">
            <a:extLst>
              <a:ext uri="{FF2B5EF4-FFF2-40B4-BE49-F238E27FC236}">
                <a16:creationId xmlns:a16="http://schemas.microsoft.com/office/drawing/2014/main" id="{3C7BC40E-6793-B702-B795-05D648D14053}"/>
              </a:ext>
            </a:extLst>
          </p:cNvPr>
          <p:cNvSpPr txBox="1"/>
          <p:nvPr/>
        </p:nvSpPr>
        <p:spPr>
          <a:xfrm>
            <a:off x="4488425" y="814502"/>
            <a:ext cx="2843369" cy="523220"/>
          </a:xfrm>
          <a:prstGeom prst="rect">
            <a:avLst/>
          </a:prstGeom>
          <a:noFill/>
        </p:spPr>
        <p:txBody>
          <a:bodyPr wrap="square" rtlCol="0">
            <a:spAutoFit/>
          </a:bodyPr>
          <a:lstStyle/>
          <a:p>
            <a:r>
              <a:rPr lang="en-US" sz="2800" dirty="0" err="1">
                <a:solidFill>
                  <a:srgbClr val="578E7E"/>
                </a:solidFill>
              </a:rPr>
              <a:t>Hoạt</a:t>
            </a:r>
            <a:r>
              <a:rPr lang="en-US" sz="2800" dirty="0">
                <a:solidFill>
                  <a:srgbClr val="578E7E"/>
                </a:solidFill>
              </a:rPr>
              <a:t> </a:t>
            </a:r>
            <a:r>
              <a:rPr lang="en-US" sz="2800" dirty="0" err="1">
                <a:solidFill>
                  <a:srgbClr val="578E7E"/>
                </a:solidFill>
              </a:rPr>
              <a:t>động</a:t>
            </a:r>
            <a:r>
              <a:rPr lang="en-US" sz="2800" dirty="0">
                <a:solidFill>
                  <a:srgbClr val="578E7E"/>
                </a:solidFill>
              </a:rPr>
              <a:t> Scrum</a:t>
            </a:r>
          </a:p>
        </p:txBody>
      </p:sp>
      <p:sp>
        <p:nvSpPr>
          <p:cNvPr id="12" name="Rectangle: Rounded Corners 11">
            <a:extLst>
              <a:ext uri="{FF2B5EF4-FFF2-40B4-BE49-F238E27FC236}">
                <a16:creationId xmlns:a16="http://schemas.microsoft.com/office/drawing/2014/main" id="{27F12D55-6620-FF11-9CF8-65D9BE746758}"/>
              </a:ext>
            </a:extLst>
          </p:cNvPr>
          <p:cNvSpPr/>
          <p:nvPr/>
        </p:nvSpPr>
        <p:spPr>
          <a:xfrm>
            <a:off x="10534650" y="0"/>
            <a:ext cx="1562100" cy="128298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8388DD-B8E4-7A0D-1A13-06C6F559CE0D}"/>
              </a:ext>
            </a:extLst>
          </p:cNvPr>
          <p:cNvSpPr txBox="1"/>
          <p:nvPr/>
        </p:nvSpPr>
        <p:spPr>
          <a:xfrm>
            <a:off x="201869" y="1284147"/>
            <a:ext cx="3927071" cy="2308324"/>
          </a:xfrm>
          <a:prstGeom prst="rect">
            <a:avLst/>
          </a:prstGeom>
          <a:noFill/>
        </p:spPr>
        <p:txBody>
          <a:bodyPr wrap="square" rtlCol="0">
            <a:spAutoFit/>
          </a:bodyPr>
          <a:lstStyle/>
          <a:p>
            <a:r>
              <a:rPr lang="vi-VN" sz="2400" dirty="0">
                <a:solidFill>
                  <a:srgbClr val="543A14"/>
                </a:solidFill>
              </a:rPr>
              <a:t>Scrum là một phần của phương pháp phát triển phần mềm Agile, sử dụng các chu kỳ lặp lại gọi là Sprint (thường kéo dài 2-3 tuần) để phát triển các tính năng của sản phẩm.</a:t>
            </a:r>
            <a:endParaRPr lang="en-US" sz="2400" dirty="0">
              <a:solidFill>
                <a:srgbClr val="543A14"/>
              </a:solidFill>
            </a:endParaRPr>
          </a:p>
        </p:txBody>
      </p:sp>
      <p:sp>
        <p:nvSpPr>
          <p:cNvPr id="16" name="TextBox 15">
            <a:extLst>
              <a:ext uri="{FF2B5EF4-FFF2-40B4-BE49-F238E27FC236}">
                <a16:creationId xmlns:a16="http://schemas.microsoft.com/office/drawing/2014/main" id="{DD356DBF-B548-5821-A681-271CDFEF1E17}"/>
              </a:ext>
            </a:extLst>
          </p:cNvPr>
          <p:cNvSpPr txBox="1"/>
          <p:nvPr/>
        </p:nvSpPr>
        <p:spPr>
          <a:xfrm>
            <a:off x="154733" y="4106921"/>
            <a:ext cx="3927071" cy="2677656"/>
          </a:xfrm>
          <a:prstGeom prst="rect">
            <a:avLst/>
          </a:prstGeom>
          <a:noFill/>
        </p:spPr>
        <p:txBody>
          <a:bodyPr wrap="square" rtlCol="0">
            <a:spAutoFit/>
          </a:bodyPr>
          <a:lstStyle/>
          <a:p>
            <a:r>
              <a:rPr lang="vi-VN" sz="2400" dirty="0">
                <a:solidFill>
                  <a:srgbClr val="543A14"/>
                </a:solidFill>
              </a:rPr>
              <a:t>Một nhóm Scrum thường gồm 7-9 người, bao gồm một Scrum Master và một Product Owner. Product Owner chia nhỏ chức năng sản phẩm thành các Stories để thực hiện trong mỗi Sprint.</a:t>
            </a:r>
            <a:endParaRPr lang="en-US" sz="2400" dirty="0">
              <a:solidFill>
                <a:srgbClr val="543A14"/>
              </a:solidFill>
            </a:endParaRPr>
          </a:p>
        </p:txBody>
      </p:sp>
      <p:sp>
        <p:nvSpPr>
          <p:cNvPr id="17" name="TextBox 16">
            <a:extLst>
              <a:ext uri="{FF2B5EF4-FFF2-40B4-BE49-F238E27FC236}">
                <a16:creationId xmlns:a16="http://schemas.microsoft.com/office/drawing/2014/main" id="{0B1F2119-957C-29E1-FF65-AE45E0216EAE}"/>
              </a:ext>
            </a:extLst>
          </p:cNvPr>
          <p:cNvSpPr txBox="1"/>
          <p:nvPr/>
        </p:nvSpPr>
        <p:spPr>
          <a:xfrm>
            <a:off x="4431742" y="1282987"/>
            <a:ext cx="2672643" cy="3785652"/>
          </a:xfrm>
          <a:prstGeom prst="rect">
            <a:avLst/>
          </a:prstGeom>
          <a:noFill/>
        </p:spPr>
        <p:txBody>
          <a:bodyPr wrap="square" rtlCol="0">
            <a:spAutoFit/>
          </a:bodyPr>
          <a:lstStyle/>
          <a:p>
            <a:r>
              <a:rPr lang="vi-VN" sz="2400" dirty="0">
                <a:solidFill>
                  <a:srgbClr val="543A14"/>
                </a:solidFill>
              </a:rPr>
              <a:t>Các </a:t>
            </a:r>
            <a:r>
              <a:rPr lang="en-US" sz="2400" dirty="0" err="1">
                <a:solidFill>
                  <a:srgbClr val="543A14"/>
                </a:solidFill>
              </a:rPr>
              <a:t>hoạt</a:t>
            </a:r>
            <a:r>
              <a:rPr lang="en-US" sz="2400" dirty="0">
                <a:solidFill>
                  <a:srgbClr val="543A14"/>
                </a:solidFill>
              </a:rPr>
              <a:t> </a:t>
            </a:r>
            <a:r>
              <a:rPr lang="en-US" sz="2400" dirty="0" err="1">
                <a:solidFill>
                  <a:srgbClr val="543A14"/>
                </a:solidFill>
              </a:rPr>
              <a:t>động</a:t>
            </a:r>
            <a:r>
              <a:rPr lang="en-US" sz="2400" dirty="0">
                <a:solidFill>
                  <a:srgbClr val="543A14"/>
                </a:solidFill>
              </a:rPr>
              <a:t> </a:t>
            </a:r>
            <a:r>
              <a:rPr lang="vi-VN" sz="2400" dirty="0">
                <a:solidFill>
                  <a:srgbClr val="543A14"/>
                </a:solidFill>
              </a:rPr>
              <a:t>quan trọng trong Scrum bao gồm Daily Standup, Sprint Review, Demo cho Product Owner, và Sprint Retrospective, giúp nhóm hợp tác và đánh giá tiến độ phát triển.</a:t>
            </a:r>
            <a:endParaRPr lang="en-US" sz="2400" dirty="0">
              <a:solidFill>
                <a:srgbClr val="543A14"/>
              </a:solidFill>
            </a:endParaRPr>
          </a:p>
        </p:txBody>
      </p:sp>
      <p:pic>
        <p:nvPicPr>
          <p:cNvPr id="9" name="Picture 2" descr="September | 2014 | Pragya Rana's Blog">
            <a:extLst>
              <a:ext uri="{FF2B5EF4-FFF2-40B4-BE49-F238E27FC236}">
                <a16:creationId xmlns:a16="http://schemas.microsoft.com/office/drawing/2014/main" id="{FBDC0900-18C4-49A3-E2C0-149D9416B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1794" y="1423915"/>
            <a:ext cx="4641391" cy="5118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53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ED33-DFD8-C83C-9EE6-37C1C9759C0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99F9FF-52F2-1A1B-5D43-A622EDA35810}"/>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5E993D1-DC07-42DE-E44C-A63CCD14E94D}"/>
              </a:ext>
            </a:extLst>
          </p:cNvPr>
          <p:cNvSpPr txBox="1"/>
          <p:nvPr/>
        </p:nvSpPr>
        <p:spPr>
          <a:xfrm>
            <a:off x="2491851" y="495251"/>
            <a:ext cx="7208298" cy="646331"/>
          </a:xfrm>
          <a:prstGeom prst="rect">
            <a:avLst/>
          </a:prstGeom>
          <a:noFill/>
        </p:spPr>
        <p:txBody>
          <a:bodyPr wrap="square" rtlCol="0">
            <a:spAutoFit/>
          </a:bodyPr>
          <a:lstStyle/>
          <a:p>
            <a:pPr algn="ctr"/>
            <a:r>
              <a:rPr lang="en-US" sz="3600" dirty="0">
                <a:solidFill>
                  <a:srgbClr val="131010"/>
                </a:solidFill>
                <a:latin typeface="Lobster" panose="00000500000000000000" pitchFamily="2" charset="-93"/>
              </a:rPr>
              <a:t>Extreme Programming (XP) </a:t>
            </a:r>
            <a:endParaRPr lang="vi-VN" sz="3600" dirty="0">
              <a:solidFill>
                <a:srgbClr val="131010"/>
              </a:solidFill>
              <a:latin typeface="Lobster" panose="00000500000000000000" pitchFamily="2" charset="-93"/>
            </a:endParaRPr>
          </a:p>
        </p:txBody>
      </p:sp>
      <p:sp>
        <p:nvSpPr>
          <p:cNvPr id="6" name="TextBox 5">
            <a:extLst>
              <a:ext uri="{FF2B5EF4-FFF2-40B4-BE49-F238E27FC236}">
                <a16:creationId xmlns:a16="http://schemas.microsoft.com/office/drawing/2014/main" id="{E1FA4628-7A23-C340-8670-B86B9015C386}"/>
              </a:ext>
            </a:extLst>
          </p:cNvPr>
          <p:cNvSpPr txBox="1"/>
          <p:nvPr/>
        </p:nvSpPr>
        <p:spPr>
          <a:xfrm>
            <a:off x="126051" y="1170805"/>
            <a:ext cx="5793981" cy="6124754"/>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Tăng cường quan hệ và làm việc nhóm</a:t>
            </a:r>
            <a:r>
              <a:rPr lang="en-US" sz="2800" dirty="0">
                <a:solidFill>
                  <a:srgbClr val="578E7E"/>
                </a:solidFill>
              </a:rPr>
              <a:t>: </a:t>
            </a:r>
            <a:r>
              <a:rPr lang="vi-VN" sz="2800" dirty="0">
                <a:solidFill>
                  <a:srgbClr val="543A14"/>
                </a:solidFill>
              </a:rPr>
              <a:t>XP tập trung vào việc cải thiện mối quan hệ giữa các cá nhân và thúc đẩy làm việc nhóm. Các nhà phát triển thường làm việc theo cặp, luân phiên vai trò lập trình và quan sát để nâng cao chất lượng mã và khả năng của nhà phát triển.</a:t>
            </a:r>
            <a:br>
              <a:rPr lang="en-US" sz="2800" dirty="0">
                <a:solidFill>
                  <a:srgbClr val="543A14"/>
                </a:solidFill>
              </a:rPr>
            </a:br>
            <a:r>
              <a:rPr lang="en-US" sz="2800" dirty="0">
                <a:solidFill>
                  <a:srgbClr val="578E7E"/>
                </a:solidFill>
              </a:rPr>
              <a:t>- </a:t>
            </a:r>
            <a:r>
              <a:rPr lang="en-US" sz="2800" dirty="0" err="1">
                <a:solidFill>
                  <a:srgbClr val="578E7E"/>
                </a:solidFill>
              </a:rPr>
              <a:t>Phản</a:t>
            </a:r>
            <a:r>
              <a:rPr lang="en-US" sz="2800" dirty="0">
                <a:solidFill>
                  <a:srgbClr val="578E7E"/>
                </a:solidFill>
              </a:rPr>
              <a:t> </a:t>
            </a:r>
            <a:r>
              <a:rPr lang="en-US" sz="2800" dirty="0" err="1">
                <a:solidFill>
                  <a:srgbClr val="578E7E"/>
                </a:solidFill>
              </a:rPr>
              <a:t>hồi</a:t>
            </a:r>
            <a:r>
              <a:rPr lang="en-US" sz="2800" dirty="0">
                <a:solidFill>
                  <a:srgbClr val="578E7E"/>
                </a:solidFill>
              </a:rPr>
              <a:t> </a:t>
            </a:r>
            <a:r>
              <a:rPr lang="en-US" sz="2800" dirty="0" err="1">
                <a:solidFill>
                  <a:srgbClr val="578E7E"/>
                </a:solidFill>
              </a:rPr>
              <a:t>liên</a:t>
            </a:r>
            <a:r>
              <a:rPr lang="en-US" sz="2800" dirty="0">
                <a:solidFill>
                  <a:srgbClr val="578E7E"/>
                </a:solidFill>
              </a:rPr>
              <a:t> </a:t>
            </a:r>
            <a:r>
              <a:rPr lang="en-US" sz="2800" dirty="0" err="1">
                <a:solidFill>
                  <a:srgbClr val="578E7E"/>
                </a:solidFill>
              </a:rPr>
              <a:t>tục</a:t>
            </a:r>
            <a:r>
              <a:rPr lang="en-US" sz="2800" dirty="0">
                <a:solidFill>
                  <a:srgbClr val="578E7E"/>
                </a:solidFill>
              </a:rPr>
              <a:t> </a:t>
            </a:r>
            <a:r>
              <a:rPr lang="en-US" sz="2800" dirty="0" err="1">
                <a:solidFill>
                  <a:srgbClr val="578E7E"/>
                </a:solidFill>
              </a:rPr>
              <a:t>và</a:t>
            </a:r>
            <a:r>
              <a:rPr lang="en-US" sz="2800" dirty="0">
                <a:solidFill>
                  <a:srgbClr val="578E7E"/>
                </a:solidFill>
              </a:rPr>
              <a:t> </a:t>
            </a:r>
            <a:r>
              <a:rPr lang="en-US" sz="2800" dirty="0" err="1">
                <a:solidFill>
                  <a:srgbClr val="578E7E"/>
                </a:solidFill>
              </a:rPr>
              <a:t>giao</a:t>
            </a:r>
            <a:r>
              <a:rPr lang="en-US" sz="2800" dirty="0">
                <a:solidFill>
                  <a:srgbClr val="578E7E"/>
                </a:solidFill>
              </a:rPr>
              <a:t> </a:t>
            </a:r>
            <a:r>
              <a:rPr lang="en-US" sz="2800" dirty="0" err="1">
                <a:solidFill>
                  <a:srgbClr val="578E7E"/>
                </a:solidFill>
              </a:rPr>
              <a:t>tiếp</a:t>
            </a:r>
            <a:r>
              <a:rPr lang="en-US" sz="2800" dirty="0">
                <a:solidFill>
                  <a:srgbClr val="578E7E"/>
                </a:solidFill>
              </a:rPr>
              <a:t>: </a:t>
            </a:r>
            <a:r>
              <a:rPr lang="en-US" sz="2800" dirty="0">
                <a:solidFill>
                  <a:srgbClr val="543A14"/>
                </a:solidFill>
              </a:rPr>
              <a:t>XP </a:t>
            </a:r>
            <a:r>
              <a:rPr lang="en-US" sz="2800" dirty="0" err="1">
                <a:solidFill>
                  <a:srgbClr val="543A14"/>
                </a:solidFill>
              </a:rPr>
              <a:t>phản</a:t>
            </a:r>
            <a:r>
              <a:rPr lang="en-US" sz="2800" dirty="0">
                <a:solidFill>
                  <a:srgbClr val="543A14"/>
                </a:solidFill>
              </a:rPr>
              <a:t> </a:t>
            </a:r>
            <a:r>
              <a:rPr lang="en-US" sz="2800" dirty="0" err="1">
                <a:solidFill>
                  <a:srgbClr val="543A14"/>
                </a:solidFill>
              </a:rPr>
              <a:t>hồi</a:t>
            </a:r>
            <a:r>
              <a:rPr lang="en-US" sz="2800" dirty="0">
                <a:solidFill>
                  <a:srgbClr val="543A14"/>
                </a:solidFill>
              </a:rPr>
              <a:t> </a:t>
            </a:r>
            <a:r>
              <a:rPr lang="en-US" sz="2800" dirty="0" err="1">
                <a:solidFill>
                  <a:srgbClr val="543A14"/>
                </a:solidFill>
              </a:rPr>
              <a:t>liên</a:t>
            </a:r>
            <a:r>
              <a:rPr lang="en-US" sz="2800" dirty="0">
                <a:solidFill>
                  <a:srgbClr val="543A14"/>
                </a:solidFill>
              </a:rPr>
              <a:t> </a:t>
            </a:r>
            <a:r>
              <a:rPr lang="en-US" sz="2800" dirty="0" err="1">
                <a:solidFill>
                  <a:srgbClr val="543A14"/>
                </a:solidFill>
              </a:rPr>
              <a:t>tục</a:t>
            </a:r>
            <a:r>
              <a:rPr lang="en-US" sz="2800" dirty="0">
                <a:solidFill>
                  <a:srgbClr val="543A14"/>
                </a:solidFill>
              </a:rPr>
              <a:t> </a:t>
            </a:r>
            <a:r>
              <a:rPr lang="en-US" sz="2800" dirty="0" err="1">
                <a:solidFill>
                  <a:srgbClr val="543A14"/>
                </a:solidFill>
              </a:rPr>
              <a:t>giữa</a:t>
            </a:r>
            <a:r>
              <a:rPr lang="en-US" sz="2800" dirty="0">
                <a:solidFill>
                  <a:srgbClr val="543A14"/>
                </a:solidFill>
              </a:rPr>
              <a:t> </a:t>
            </a:r>
            <a:r>
              <a:rPr lang="en-US" sz="2800" dirty="0" err="1">
                <a:solidFill>
                  <a:srgbClr val="543A14"/>
                </a:solidFill>
              </a:rPr>
              <a:t>khách</a:t>
            </a:r>
            <a:r>
              <a:rPr lang="en-US" sz="2800" dirty="0">
                <a:solidFill>
                  <a:srgbClr val="543A14"/>
                </a:solidFill>
              </a:rPr>
              <a:t> </a:t>
            </a:r>
            <a:r>
              <a:rPr lang="en-US" sz="2800" dirty="0" err="1">
                <a:solidFill>
                  <a:srgbClr val="543A14"/>
                </a:solidFill>
              </a:rPr>
              <a:t>hàng</a:t>
            </a:r>
            <a:r>
              <a:rPr lang="en-US" sz="2800" dirty="0">
                <a:solidFill>
                  <a:srgbClr val="543A14"/>
                </a:solidFill>
              </a:rPr>
              <a:t> </a:t>
            </a:r>
            <a:r>
              <a:rPr lang="en-US" sz="2800" dirty="0" err="1">
                <a:solidFill>
                  <a:srgbClr val="543A14"/>
                </a:solidFill>
              </a:rPr>
              <a:t>và</a:t>
            </a:r>
            <a:r>
              <a:rPr lang="en-US" sz="2800" dirty="0">
                <a:solidFill>
                  <a:srgbClr val="543A14"/>
                </a:solidFill>
              </a:rPr>
              <a:t> </a:t>
            </a:r>
            <a:r>
              <a:rPr lang="en-US" sz="2800" dirty="0" err="1">
                <a:solidFill>
                  <a:srgbClr val="543A14"/>
                </a:solidFill>
              </a:rPr>
              <a:t>nhóm</a:t>
            </a:r>
            <a:r>
              <a:rPr lang="en-US" sz="2800" dirty="0">
                <a:solidFill>
                  <a:srgbClr val="543A14"/>
                </a:solidFill>
              </a:rPr>
              <a:t> </a:t>
            </a:r>
            <a:r>
              <a:rPr lang="en-US" sz="2800" dirty="0" err="1">
                <a:solidFill>
                  <a:srgbClr val="543A14"/>
                </a:solidFill>
              </a:rPr>
              <a:t>phát</a:t>
            </a:r>
            <a:r>
              <a:rPr lang="en-US" sz="2800" dirty="0">
                <a:solidFill>
                  <a:srgbClr val="543A14"/>
                </a:solidFill>
              </a:rPr>
              <a:t> </a:t>
            </a:r>
            <a:r>
              <a:rPr lang="en-US" sz="2800" dirty="0" err="1">
                <a:solidFill>
                  <a:srgbClr val="543A14"/>
                </a:solidFill>
              </a:rPr>
              <a:t>triển</a:t>
            </a:r>
            <a:r>
              <a:rPr lang="en-US" sz="2800" dirty="0">
                <a:solidFill>
                  <a:srgbClr val="543A14"/>
                </a:solidFill>
              </a:rPr>
              <a:t>, </a:t>
            </a:r>
            <a:r>
              <a:rPr lang="en-US" sz="2800" dirty="0" err="1">
                <a:solidFill>
                  <a:srgbClr val="543A14"/>
                </a:solidFill>
              </a:rPr>
              <a:t>đảm</a:t>
            </a:r>
            <a:r>
              <a:rPr lang="en-US" sz="2800" dirty="0">
                <a:solidFill>
                  <a:srgbClr val="543A14"/>
                </a:solidFill>
              </a:rPr>
              <a:t> </a:t>
            </a:r>
            <a:r>
              <a:rPr lang="en-US" sz="2800" dirty="0" err="1">
                <a:solidFill>
                  <a:srgbClr val="543A14"/>
                </a:solidFill>
              </a:rPr>
              <a:t>bảo</a:t>
            </a:r>
            <a:r>
              <a:rPr lang="en-US" sz="2800" dirty="0">
                <a:solidFill>
                  <a:srgbClr val="543A14"/>
                </a:solidFill>
              </a:rPr>
              <a:t> </a:t>
            </a:r>
            <a:r>
              <a:rPr lang="en-US" sz="2800" dirty="0" err="1">
                <a:solidFill>
                  <a:srgbClr val="543A14"/>
                </a:solidFill>
              </a:rPr>
              <a:t>giao</a:t>
            </a:r>
            <a:r>
              <a:rPr lang="en-US" sz="2800" dirty="0">
                <a:solidFill>
                  <a:srgbClr val="543A14"/>
                </a:solidFill>
              </a:rPr>
              <a:t> </a:t>
            </a:r>
            <a:r>
              <a:rPr lang="en-US" sz="2800" dirty="0" err="1">
                <a:solidFill>
                  <a:srgbClr val="543A14"/>
                </a:solidFill>
              </a:rPr>
              <a:t>tiếp</a:t>
            </a:r>
            <a:r>
              <a:rPr lang="en-US" sz="2800" dirty="0">
                <a:solidFill>
                  <a:srgbClr val="543A14"/>
                </a:solidFill>
              </a:rPr>
              <a:t> </a:t>
            </a:r>
            <a:r>
              <a:rPr lang="en-US" sz="2800" dirty="0" err="1">
                <a:solidFill>
                  <a:srgbClr val="543A14"/>
                </a:solidFill>
              </a:rPr>
              <a:t>trôi</a:t>
            </a:r>
            <a:r>
              <a:rPr lang="en-US" sz="2800" dirty="0">
                <a:solidFill>
                  <a:srgbClr val="543A14"/>
                </a:solidFill>
              </a:rPr>
              <a:t> </a:t>
            </a:r>
            <a:r>
              <a:rPr lang="en-US" sz="2800" dirty="0" err="1">
                <a:solidFill>
                  <a:srgbClr val="543A14"/>
                </a:solidFill>
              </a:rPr>
              <a:t>chảy</a:t>
            </a:r>
            <a:r>
              <a:rPr lang="en-US" sz="2800" dirty="0">
                <a:solidFill>
                  <a:srgbClr val="543A14"/>
                </a:solidFill>
              </a:rPr>
              <a:t> </a:t>
            </a:r>
            <a:r>
              <a:rPr lang="en-US" sz="2800" dirty="0" err="1">
                <a:solidFill>
                  <a:srgbClr val="543A14"/>
                </a:solidFill>
              </a:rPr>
              <a:t>và</a:t>
            </a:r>
            <a:r>
              <a:rPr lang="en-US" sz="2800" dirty="0">
                <a:solidFill>
                  <a:srgbClr val="543A14"/>
                </a:solidFill>
              </a:rPr>
              <a:t> </a:t>
            </a:r>
            <a:r>
              <a:rPr lang="en-US" sz="2800" dirty="0" err="1">
                <a:solidFill>
                  <a:srgbClr val="543A14"/>
                </a:solidFill>
              </a:rPr>
              <a:t>sẵn</a:t>
            </a:r>
            <a:r>
              <a:rPr lang="en-US" sz="2800" dirty="0">
                <a:solidFill>
                  <a:srgbClr val="543A14"/>
                </a:solidFill>
              </a:rPr>
              <a:t> </a:t>
            </a:r>
            <a:r>
              <a:rPr lang="en-US" sz="2800" dirty="0" err="1">
                <a:solidFill>
                  <a:srgbClr val="543A14"/>
                </a:solidFill>
              </a:rPr>
              <a:t>sàng</a:t>
            </a:r>
            <a:r>
              <a:rPr lang="en-US" sz="2800" dirty="0">
                <a:solidFill>
                  <a:srgbClr val="543A14"/>
                </a:solidFill>
              </a:rPr>
              <a:t> </a:t>
            </a:r>
            <a:r>
              <a:rPr lang="en-US" sz="2800" dirty="0" err="1">
                <a:solidFill>
                  <a:srgbClr val="543A14"/>
                </a:solidFill>
              </a:rPr>
              <a:t>đối</a:t>
            </a:r>
            <a:r>
              <a:rPr lang="en-US" sz="2800" dirty="0">
                <a:solidFill>
                  <a:srgbClr val="543A14"/>
                </a:solidFill>
              </a:rPr>
              <a:t> </a:t>
            </a:r>
            <a:r>
              <a:rPr lang="en-US" sz="2800" dirty="0" err="1">
                <a:solidFill>
                  <a:srgbClr val="543A14"/>
                </a:solidFill>
              </a:rPr>
              <a:t>mặt</a:t>
            </a:r>
            <a:r>
              <a:rPr lang="en-US" sz="2800" dirty="0">
                <a:solidFill>
                  <a:srgbClr val="543A14"/>
                </a:solidFill>
              </a:rPr>
              <a:t> </a:t>
            </a:r>
            <a:r>
              <a:rPr lang="en-US" sz="2800" dirty="0" err="1">
                <a:solidFill>
                  <a:srgbClr val="543A14"/>
                </a:solidFill>
              </a:rPr>
              <a:t>với</a:t>
            </a:r>
            <a:r>
              <a:rPr lang="en-US" sz="2800" dirty="0">
                <a:solidFill>
                  <a:srgbClr val="543A14"/>
                </a:solidFill>
              </a:rPr>
              <a:t> </a:t>
            </a:r>
            <a:r>
              <a:rPr lang="en-US" sz="2800" dirty="0" err="1">
                <a:solidFill>
                  <a:srgbClr val="543A14"/>
                </a:solidFill>
              </a:rPr>
              <a:t>những</a:t>
            </a:r>
            <a:r>
              <a:rPr lang="en-US" sz="2800" dirty="0">
                <a:solidFill>
                  <a:srgbClr val="543A14"/>
                </a:solidFill>
              </a:rPr>
              <a:t> </a:t>
            </a:r>
            <a:r>
              <a:rPr lang="en-US" sz="2800" dirty="0" err="1">
                <a:solidFill>
                  <a:srgbClr val="543A14"/>
                </a:solidFill>
              </a:rPr>
              <a:t>thay</a:t>
            </a:r>
            <a:r>
              <a:rPr lang="en-US" sz="2800" dirty="0">
                <a:solidFill>
                  <a:srgbClr val="543A14"/>
                </a:solidFill>
              </a:rPr>
              <a:t> </a:t>
            </a:r>
            <a:r>
              <a:rPr lang="en-US" sz="2800" dirty="0" err="1">
                <a:solidFill>
                  <a:srgbClr val="543A14"/>
                </a:solidFill>
              </a:rPr>
              <a:t>đổi</a:t>
            </a:r>
            <a:r>
              <a:rPr lang="en-US" sz="2800" dirty="0">
                <a:solidFill>
                  <a:srgbClr val="543A14"/>
                </a:solidFill>
              </a:rPr>
              <a:t> </a:t>
            </a:r>
            <a:r>
              <a:rPr lang="en-US" sz="2800" dirty="0" err="1">
                <a:solidFill>
                  <a:srgbClr val="543A14"/>
                </a:solidFill>
              </a:rPr>
              <a:t>trong</a:t>
            </a:r>
            <a:r>
              <a:rPr lang="en-US" sz="2800" dirty="0">
                <a:solidFill>
                  <a:srgbClr val="543A14"/>
                </a:solidFill>
              </a:rPr>
              <a:t> </a:t>
            </a:r>
            <a:r>
              <a:rPr lang="en-US" sz="2800" dirty="0" err="1">
                <a:solidFill>
                  <a:srgbClr val="543A14"/>
                </a:solidFill>
              </a:rPr>
              <a:t>dự</a:t>
            </a:r>
            <a:r>
              <a:rPr lang="en-US" sz="2800" dirty="0">
                <a:solidFill>
                  <a:srgbClr val="543A14"/>
                </a:solidFill>
              </a:rPr>
              <a:t> </a:t>
            </a:r>
            <a:r>
              <a:rPr lang="en-US" sz="2800" dirty="0" err="1">
                <a:solidFill>
                  <a:srgbClr val="543A14"/>
                </a:solidFill>
              </a:rPr>
              <a:t>án</a:t>
            </a:r>
            <a:r>
              <a:rPr lang="en-US" sz="2800" dirty="0">
                <a:solidFill>
                  <a:srgbClr val="543A14"/>
                </a:solidFill>
              </a:rPr>
              <a:t>.</a:t>
            </a:r>
          </a:p>
          <a:p>
            <a:r>
              <a:rPr lang="en-US" sz="2800" dirty="0">
                <a:solidFill>
                  <a:srgbClr val="578E7E"/>
                </a:solidFill>
              </a:rPr>
              <a:t> </a:t>
            </a:r>
          </a:p>
        </p:txBody>
      </p:sp>
      <p:sp>
        <p:nvSpPr>
          <p:cNvPr id="11" name="Rectangle: Rounded Corners 10">
            <a:extLst>
              <a:ext uri="{FF2B5EF4-FFF2-40B4-BE49-F238E27FC236}">
                <a16:creationId xmlns:a16="http://schemas.microsoft.com/office/drawing/2014/main" id="{1313A531-670A-CA80-25BB-B4C1CD1B4C95}"/>
              </a:ext>
            </a:extLst>
          </p:cNvPr>
          <p:cNvSpPr/>
          <p:nvPr/>
        </p:nvSpPr>
        <p:spPr>
          <a:xfrm>
            <a:off x="10179698" y="0"/>
            <a:ext cx="2012302" cy="1599545"/>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Extreme Programming PowerPoint Presentation - PPTUniverse">
            <a:extLst>
              <a:ext uri="{FF2B5EF4-FFF2-40B4-BE49-F238E27FC236}">
                <a16:creationId xmlns:a16="http://schemas.microsoft.com/office/drawing/2014/main" id="{2FCE5809-A1AA-1A27-811D-20268E2E7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6083" y="1599545"/>
            <a:ext cx="6079930" cy="5159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59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F9B6F-AFA7-A3D6-A21E-48306B0EFDD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3720F73-D727-6271-5293-82EE9ED35A06}"/>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CBCBA9D-7560-2364-45D0-CFEA9991C51C}"/>
              </a:ext>
            </a:extLst>
          </p:cNvPr>
          <p:cNvSpPr txBox="1"/>
          <p:nvPr/>
        </p:nvSpPr>
        <p:spPr>
          <a:xfrm>
            <a:off x="2491851" y="418148"/>
            <a:ext cx="7208298" cy="646331"/>
          </a:xfrm>
          <a:prstGeom prst="rect">
            <a:avLst/>
          </a:prstGeom>
          <a:noFill/>
        </p:spPr>
        <p:txBody>
          <a:bodyPr wrap="square" rtlCol="0">
            <a:spAutoFit/>
          </a:bodyPr>
          <a:lstStyle/>
          <a:p>
            <a:pPr algn="ctr"/>
            <a:r>
              <a:rPr lang="en-US" sz="3600" dirty="0">
                <a:solidFill>
                  <a:srgbClr val="131010"/>
                </a:solidFill>
                <a:latin typeface="Lobster" panose="00000500000000000000" pitchFamily="2" charset="-93"/>
              </a:rPr>
              <a:t>Adaptive Software Development (ASD) </a:t>
            </a:r>
            <a:endParaRPr lang="vi-VN" sz="3600" dirty="0">
              <a:solidFill>
                <a:srgbClr val="131010"/>
              </a:solidFill>
              <a:latin typeface="Lobster" panose="00000500000000000000" pitchFamily="2" charset="-93"/>
            </a:endParaRPr>
          </a:p>
        </p:txBody>
      </p:sp>
      <p:sp>
        <p:nvSpPr>
          <p:cNvPr id="22" name="Shape 5">
            <a:extLst>
              <a:ext uri="{FF2B5EF4-FFF2-40B4-BE49-F238E27FC236}">
                <a16:creationId xmlns:a16="http://schemas.microsoft.com/office/drawing/2014/main" id="{3D7D8E38-4231-4103-3C2F-B0EE945841FB}"/>
              </a:ext>
            </a:extLst>
          </p:cNvPr>
          <p:cNvSpPr/>
          <p:nvPr/>
        </p:nvSpPr>
        <p:spPr>
          <a:xfrm>
            <a:off x="2725261" y="2984538"/>
            <a:ext cx="10642402" cy="15240"/>
          </a:xfrm>
          <a:prstGeom prst="roundRect">
            <a:avLst>
              <a:gd name="adj" fmla="val 223256"/>
            </a:avLst>
          </a:prstGeom>
          <a:solidFill>
            <a:srgbClr val="D4CEC3"/>
          </a:solidFill>
          <a:ln/>
        </p:spPr>
        <p:txBody>
          <a:bodyPr/>
          <a:lstStyle/>
          <a:p>
            <a:endParaRPr lang="en-US"/>
          </a:p>
        </p:txBody>
      </p:sp>
      <p:sp>
        <p:nvSpPr>
          <p:cNvPr id="25" name="Shape 10">
            <a:extLst>
              <a:ext uri="{FF2B5EF4-FFF2-40B4-BE49-F238E27FC236}">
                <a16:creationId xmlns:a16="http://schemas.microsoft.com/office/drawing/2014/main" id="{C7C1B26C-267F-76D5-5EDC-81FBFF1143ED}"/>
              </a:ext>
            </a:extLst>
          </p:cNvPr>
          <p:cNvSpPr/>
          <p:nvPr/>
        </p:nvSpPr>
        <p:spPr>
          <a:xfrm>
            <a:off x="4899104" y="4404834"/>
            <a:ext cx="8468558" cy="15240"/>
          </a:xfrm>
          <a:prstGeom prst="roundRect">
            <a:avLst>
              <a:gd name="adj" fmla="val 223256"/>
            </a:avLst>
          </a:prstGeom>
          <a:solidFill>
            <a:srgbClr val="D4CEC3"/>
          </a:solidFill>
          <a:ln/>
        </p:spPr>
        <p:txBody>
          <a:bodyPr/>
          <a:lstStyle/>
          <a:p>
            <a:endParaRPr lang="en-US"/>
          </a:p>
        </p:txBody>
      </p:sp>
      <p:sp>
        <p:nvSpPr>
          <p:cNvPr id="33" name="TextBox 32">
            <a:extLst>
              <a:ext uri="{FF2B5EF4-FFF2-40B4-BE49-F238E27FC236}">
                <a16:creationId xmlns:a16="http://schemas.microsoft.com/office/drawing/2014/main" id="{A6B65790-B220-3695-646A-22F97A7C6EFA}"/>
              </a:ext>
            </a:extLst>
          </p:cNvPr>
          <p:cNvSpPr txBox="1"/>
          <p:nvPr/>
        </p:nvSpPr>
        <p:spPr>
          <a:xfrm>
            <a:off x="531404" y="1156142"/>
            <a:ext cx="6585833" cy="5693866"/>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Thích ứng liên tục: </a:t>
            </a:r>
            <a:r>
              <a:rPr lang="vi-VN" sz="2800" dirty="0">
                <a:solidFill>
                  <a:srgbClr val="543A14"/>
                </a:solidFill>
              </a:rPr>
              <a:t>ASD nhấn mạnh việc thích ứng với sự thay đổi thông qua chu trình Speculate, Collaborate, và Learn, thay vì chống lại nó. Điều này giúp duy trì sự hợp tác chặt chẽ giữa các nhà phát triển và khách hàng.</a:t>
            </a:r>
          </a:p>
          <a:p>
            <a:r>
              <a:rPr lang="vi-VN" sz="2800" dirty="0">
                <a:solidFill>
                  <a:srgbClr val="578E7E"/>
                </a:solidFill>
              </a:rPr>
              <a:t>- Chu trình phát triển động: </a:t>
            </a:r>
            <a:r>
              <a:rPr lang="vi-VN" sz="2800" dirty="0">
                <a:solidFill>
                  <a:srgbClr val="543A14"/>
                </a:solidFill>
              </a:rPr>
              <a:t>ASD sử dụng vòng đời lặp lại phi tuyến tính, cho phép các chu kỳ được lặp lại và sửa đổi đồng thời, tập trung vào phát triển nhanh chóng để tạo ra sản phẩm chất lượng cao.</a:t>
            </a:r>
          </a:p>
          <a:p>
            <a:r>
              <a:rPr lang="vi-VN" sz="2800" dirty="0">
                <a:solidFill>
                  <a:srgbClr val="578E7E"/>
                </a:solidFill>
              </a:rPr>
              <a:t>- Học tập và hợp tác: </a:t>
            </a:r>
            <a:r>
              <a:rPr lang="vi-VN" sz="2800" dirty="0">
                <a:solidFill>
                  <a:srgbClr val="543A14"/>
                </a:solidFill>
              </a:rPr>
              <a:t>Các giai đoạn chính bao gồm Suy đoán</a:t>
            </a:r>
            <a:r>
              <a:rPr lang="en-US" sz="2800" dirty="0">
                <a:solidFill>
                  <a:srgbClr val="543A14"/>
                </a:solidFill>
              </a:rPr>
              <a:t>,</a:t>
            </a:r>
            <a:r>
              <a:rPr lang="vi-VN" sz="2800" dirty="0">
                <a:solidFill>
                  <a:srgbClr val="543A14"/>
                </a:solidFill>
              </a:rPr>
              <a:t> Hợp tác và Học</a:t>
            </a:r>
            <a:r>
              <a:rPr lang="en-US" sz="2800" dirty="0">
                <a:solidFill>
                  <a:srgbClr val="543A14"/>
                </a:solidFill>
              </a:rPr>
              <a:t>.</a:t>
            </a:r>
          </a:p>
        </p:txBody>
      </p:sp>
      <p:sp>
        <p:nvSpPr>
          <p:cNvPr id="35" name="Rectangle: Rounded Corners 34">
            <a:extLst>
              <a:ext uri="{FF2B5EF4-FFF2-40B4-BE49-F238E27FC236}">
                <a16:creationId xmlns:a16="http://schemas.microsoft.com/office/drawing/2014/main" id="{3D3195BD-71BA-0559-920F-D3F3718CE87C}"/>
              </a:ext>
            </a:extLst>
          </p:cNvPr>
          <p:cNvSpPr/>
          <p:nvPr/>
        </p:nvSpPr>
        <p:spPr>
          <a:xfrm>
            <a:off x="10617199" y="0"/>
            <a:ext cx="1493520" cy="125250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Adaptive software development asd methodology Vector Image">
            <a:extLst>
              <a:ext uri="{FF2B5EF4-FFF2-40B4-BE49-F238E27FC236}">
                <a16:creationId xmlns:a16="http://schemas.microsoft.com/office/drawing/2014/main" id="{7FE42F57-064E-DCFD-A05C-D325AEFB22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540"/>
          <a:stretch/>
        </p:blipFill>
        <p:spPr bwMode="auto">
          <a:xfrm>
            <a:off x="7448319" y="1844066"/>
            <a:ext cx="4503659" cy="4318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96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3D26-2C89-D632-42D7-F5040F983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CF60FC9-A393-1405-351C-CDE3CBE33390}"/>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262E64F-E27E-6C34-9731-051D5672738A}"/>
              </a:ext>
            </a:extLst>
          </p:cNvPr>
          <p:cNvSpPr txBox="1"/>
          <p:nvPr/>
        </p:nvSpPr>
        <p:spPr>
          <a:xfrm>
            <a:off x="2491851" y="636656"/>
            <a:ext cx="7208298" cy="1200329"/>
          </a:xfrm>
          <a:prstGeom prst="rect">
            <a:avLst/>
          </a:prstGeom>
          <a:noFill/>
        </p:spPr>
        <p:txBody>
          <a:bodyPr wrap="square" rtlCol="0">
            <a:spAutoFit/>
          </a:bodyPr>
          <a:lstStyle/>
          <a:p>
            <a:pPr algn="ctr"/>
            <a:r>
              <a:rPr lang="en-US" sz="3600" dirty="0">
                <a:solidFill>
                  <a:srgbClr val="131010"/>
                </a:solidFill>
                <a:latin typeface="Lobster" panose="00000500000000000000" pitchFamily="2" charset="-93"/>
              </a:rPr>
              <a:t>Dynamic Software Development Method (DSDM) </a:t>
            </a:r>
            <a:endParaRPr lang="vi-VN" sz="3600" dirty="0">
              <a:solidFill>
                <a:srgbClr val="131010"/>
              </a:solidFill>
              <a:latin typeface="Lobster" panose="00000500000000000000" pitchFamily="2" charset="-93"/>
            </a:endParaRPr>
          </a:p>
        </p:txBody>
      </p:sp>
      <p:sp>
        <p:nvSpPr>
          <p:cNvPr id="22" name="Shape 5">
            <a:extLst>
              <a:ext uri="{FF2B5EF4-FFF2-40B4-BE49-F238E27FC236}">
                <a16:creationId xmlns:a16="http://schemas.microsoft.com/office/drawing/2014/main" id="{8CA7D0C0-CA0D-41DF-2D0B-10571FBF2AD5}"/>
              </a:ext>
            </a:extLst>
          </p:cNvPr>
          <p:cNvSpPr/>
          <p:nvPr/>
        </p:nvSpPr>
        <p:spPr>
          <a:xfrm>
            <a:off x="2725261" y="2984538"/>
            <a:ext cx="10642402" cy="15240"/>
          </a:xfrm>
          <a:prstGeom prst="roundRect">
            <a:avLst>
              <a:gd name="adj" fmla="val 223256"/>
            </a:avLst>
          </a:prstGeom>
          <a:solidFill>
            <a:srgbClr val="D4CEC3"/>
          </a:solidFill>
          <a:ln/>
        </p:spPr>
        <p:txBody>
          <a:bodyPr/>
          <a:lstStyle/>
          <a:p>
            <a:endParaRPr lang="en-US"/>
          </a:p>
        </p:txBody>
      </p:sp>
      <p:sp>
        <p:nvSpPr>
          <p:cNvPr id="25" name="Shape 10">
            <a:extLst>
              <a:ext uri="{FF2B5EF4-FFF2-40B4-BE49-F238E27FC236}">
                <a16:creationId xmlns:a16="http://schemas.microsoft.com/office/drawing/2014/main" id="{19B93CEA-A18C-8497-E5D3-2344E8E4B021}"/>
              </a:ext>
            </a:extLst>
          </p:cNvPr>
          <p:cNvSpPr/>
          <p:nvPr/>
        </p:nvSpPr>
        <p:spPr>
          <a:xfrm>
            <a:off x="4899104" y="4404834"/>
            <a:ext cx="8468558" cy="15240"/>
          </a:xfrm>
          <a:prstGeom prst="roundRect">
            <a:avLst>
              <a:gd name="adj" fmla="val 223256"/>
            </a:avLst>
          </a:prstGeom>
          <a:solidFill>
            <a:srgbClr val="D4CEC3"/>
          </a:solidFill>
          <a:ln/>
        </p:spPr>
        <p:txBody>
          <a:bodyPr/>
          <a:lstStyle/>
          <a:p>
            <a:endParaRPr lang="en-US"/>
          </a:p>
        </p:txBody>
      </p:sp>
      <p:sp>
        <p:nvSpPr>
          <p:cNvPr id="33" name="TextBox 32">
            <a:extLst>
              <a:ext uri="{FF2B5EF4-FFF2-40B4-BE49-F238E27FC236}">
                <a16:creationId xmlns:a16="http://schemas.microsoft.com/office/drawing/2014/main" id="{B7AD8715-0BBD-F749-56BD-7FDC2A224361}"/>
              </a:ext>
            </a:extLst>
          </p:cNvPr>
          <p:cNvSpPr txBox="1"/>
          <p:nvPr/>
        </p:nvSpPr>
        <p:spPr>
          <a:xfrm>
            <a:off x="154332" y="1836985"/>
            <a:ext cx="8292084" cy="4832092"/>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Ngân sách và lịch trình chặt chẽ:</a:t>
            </a:r>
            <a:r>
              <a:rPr lang="en-US" sz="2800" dirty="0">
                <a:solidFill>
                  <a:srgbClr val="578E7E"/>
                </a:solidFill>
              </a:rPr>
              <a:t> </a:t>
            </a:r>
            <a:r>
              <a:rPr lang="vi-VN" sz="2800" dirty="0">
                <a:solidFill>
                  <a:srgbClr val="543A14"/>
                </a:solidFill>
              </a:rPr>
              <a:t>DSDM tập trung vào phát triển phần mềm với ngân sách và lịch trình rõ ràng, cung cấp sản phẩm theo chu kỳ lặp đi lặp lại và gia tăng.</a:t>
            </a:r>
            <a:endParaRPr lang="en-US" sz="2800" dirty="0">
              <a:solidFill>
                <a:srgbClr val="543A14"/>
              </a:solidFill>
            </a:endParaRPr>
          </a:p>
          <a:p>
            <a:r>
              <a:rPr lang="vi-VN" sz="2800" dirty="0">
                <a:solidFill>
                  <a:srgbClr val="578E7E"/>
                </a:solidFill>
              </a:rPr>
              <a:t>- Cung cấp sớm và liên tục:</a:t>
            </a:r>
            <a:r>
              <a:rPr lang="en-US" sz="2800" dirty="0">
                <a:solidFill>
                  <a:srgbClr val="578E7E"/>
                </a:solidFill>
              </a:rPr>
              <a:t> </a:t>
            </a:r>
            <a:r>
              <a:rPr lang="vi-VN" sz="2800" dirty="0">
                <a:solidFill>
                  <a:srgbClr val="543A14"/>
                </a:solidFill>
              </a:rPr>
              <a:t>Phương pháp này cho phép thiết kế lộ trình cung cấp sớm, triển khai giải pháp gia tăng, và điều chỉnh từ phản hồi để đảm bảo các lợi ích mong đợi được đáp ứng.</a:t>
            </a:r>
            <a:endParaRPr lang="en-US" sz="2800" dirty="0">
              <a:solidFill>
                <a:srgbClr val="543A14"/>
              </a:solidFill>
            </a:endParaRPr>
          </a:p>
          <a:p>
            <a:r>
              <a:rPr lang="vi-VN" sz="2800" dirty="0">
                <a:solidFill>
                  <a:srgbClr val="578E7E"/>
                </a:solidFill>
              </a:rPr>
              <a:t>- Nâng cao giá trị và tốc độ:</a:t>
            </a:r>
            <a:r>
              <a:rPr lang="en-US" sz="2800" dirty="0">
                <a:solidFill>
                  <a:srgbClr val="543A14"/>
                </a:solidFill>
              </a:rPr>
              <a:t> </a:t>
            </a:r>
            <a:r>
              <a:rPr lang="vi-VN" sz="2800" dirty="0">
                <a:solidFill>
                  <a:srgbClr val="543A14"/>
                </a:solidFill>
              </a:rPr>
              <a:t>DSDM giúp các tổ chức thay đổi tư duy và cách làm việc để nâng cao khả năng mang lại giá trị và rút ngắn thời gian đưa sản phẩm ra thị trường.</a:t>
            </a:r>
            <a:endParaRPr lang="en-US" sz="2800" dirty="0">
              <a:solidFill>
                <a:srgbClr val="543A14"/>
              </a:solidFill>
            </a:endParaRPr>
          </a:p>
        </p:txBody>
      </p:sp>
      <p:sp>
        <p:nvSpPr>
          <p:cNvPr id="35" name="Rectangle: Rounded Corners 34">
            <a:extLst>
              <a:ext uri="{FF2B5EF4-FFF2-40B4-BE49-F238E27FC236}">
                <a16:creationId xmlns:a16="http://schemas.microsoft.com/office/drawing/2014/main" id="{76920161-D6D2-5607-2901-40719D6424DD}"/>
              </a:ext>
            </a:extLst>
          </p:cNvPr>
          <p:cNvSpPr/>
          <p:nvPr/>
        </p:nvSpPr>
        <p:spPr>
          <a:xfrm>
            <a:off x="10617200" y="10402"/>
            <a:ext cx="1493520" cy="125250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Dynamic systems development method - Wikipedia">
            <a:extLst>
              <a:ext uri="{FF2B5EF4-FFF2-40B4-BE49-F238E27FC236}">
                <a16:creationId xmlns:a16="http://schemas.microsoft.com/office/drawing/2014/main" id="{E9B3D2C6-008E-C990-3548-5827689F5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1002" y="1551809"/>
            <a:ext cx="3739718" cy="4909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460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88E9-04D6-0857-3050-0339DF9C84A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D126482-83F1-84BD-66A4-12F7EECA0D5C}"/>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76610C6-C549-E7F9-319B-03AB061DBFBD}"/>
              </a:ext>
            </a:extLst>
          </p:cNvPr>
          <p:cNvSpPr txBox="1"/>
          <p:nvPr/>
        </p:nvSpPr>
        <p:spPr>
          <a:xfrm>
            <a:off x="2491851" y="636656"/>
            <a:ext cx="7208298" cy="646331"/>
          </a:xfrm>
          <a:prstGeom prst="rect">
            <a:avLst/>
          </a:prstGeom>
          <a:noFill/>
        </p:spPr>
        <p:txBody>
          <a:bodyPr wrap="square" rtlCol="0">
            <a:spAutoFit/>
          </a:bodyPr>
          <a:lstStyle/>
          <a:p>
            <a:pPr algn="ctr"/>
            <a:r>
              <a:rPr lang="en-US" sz="3600">
                <a:solidFill>
                  <a:srgbClr val="131010"/>
                </a:solidFill>
                <a:latin typeface="Lobster" panose="00000500000000000000" pitchFamily="2" charset="-93"/>
              </a:rPr>
              <a:t>Feature Driven Development (FDD)</a:t>
            </a:r>
            <a:endParaRPr lang="vi-VN" sz="3600" dirty="0">
              <a:solidFill>
                <a:srgbClr val="131010"/>
              </a:solidFill>
              <a:latin typeface="Lobster" panose="00000500000000000000" pitchFamily="2" charset="-93"/>
            </a:endParaRPr>
          </a:p>
        </p:txBody>
      </p:sp>
      <p:sp>
        <p:nvSpPr>
          <p:cNvPr id="22" name="Shape 5">
            <a:extLst>
              <a:ext uri="{FF2B5EF4-FFF2-40B4-BE49-F238E27FC236}">
                <a16:creationId xmlns:a16="http://schemas.microsoft.com/office/drawing/2014/main" id="{AAB728F4-38AA-6CC6-F9F9-EAAA8AD09C76}"/>
              </a:ext>
            </a:extLst>
          </p:cNvPr>
          <p:cNvSpPr/>
          <p:nvPr/>
        </p:nvSpPr>
        <p:spPr>
          <a:xfrm>
            <a:off x="2725261" y="2984538"/>
            <a:ext cx="10642402" cy="15240"/>
          </a:xfrm>
          <a:prstGeom prst="roundRect">
            <a:avLst>
              <a:gd name="adj" fmla="val 223256"/>
            </a:avLst>
          </a:prstGeom>
          <a:solidFill>
            <a:srgbClr val="D4CEC3"/>
          </a:solidFill>
          <a:ln/>
        </p:spPr>
        <p:txBody>
          <a:bodyPr/>
          <a:lstStyle/>
          <a:p>
            <a:endParaRPr lang="en-US"/>
          </a:p>
        </p:txBody>
      </p:sp>
      <p:sp>
        <p:nvSpPr>
          <p:cNvPr id="25" name="Shape 10">
            <a:extLst>
              <a:ext uri="{FF2B5EF4-FFF2-40B4-BE49-F238E27FC236}">
                <a16:creationId xmlns:a16="http://schemas.microsoft.com/office/drawing/2014/main" id="{4F897D31-E69C-176B-B2A3-0A94F2A98C2C}"/>
              </a:ext>
            </a:extLst>
          </p:cNvPr>
          <p:cNvSpPr/>
          <p:nvPr/>
        </p:nvSpPr>
        <p:spPr>
          <a:xfrm>
            <a:off x="4899104" y="4404834"/>
            <a:ext cx="8468558" cy="15240"/>
          </a:xfrm>
          <a:prstGeom prst="roundRect">
            <a:avLst>
              <a:gd name="adj" fmla="val 223256"/>
            </a:avLst>
          </a:prstGeom>
          <a:solidFill>
            <a:srgbClr val="D4CEC3"/>
          </a:solidFill>
          <a:ln/>
        </p:spPr>
        <p:txBody>
          <a:bodyPr/>
          <a:lstStyle/>
          <a:p>
            <a:endParaRPr lang="en-US"/>
          </a:p>
        </p:txBody>
      </p:sp>
      <p:sp>
        <p:nvSpPr>
          <p:cNvPr id="33" name="TextBox 32">
            <a:extLst>
              <a:ext uri="{FF2B5EF4-FFF2-40B4-BE49-F238E27FC236}">
                <a16:creationId xmlns:a16="http://schemas.microsoft.com/office/drawing/2014/main" id="{D75EE2D7-D440-6217-57E5-56B12F115C48}"/>
              </a:ext>
            </a:extLst>
          </p:cNvPr>
          <p:cNvSpPr txBox="1"/>
          <p:nvPr/>
        </p:nvSpPr>
        <p:spPr>
          <a:xfrm>
            <a:off x="983891" y="1476583"/>
            <a:ext cx="5530031" cy="4832092"/>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Nhóm lớn và lặp lại ngắn:</a:t>
            </a:r>
            <a:r>
              <a:rPr lang="en-US" sz="2800" dirty="0">
                <a:solidFill>
                  <a:srgbClr val="578E7E"/>
                </a:solidFill>
              </a:rPr>
              <a:t> </a:t>
            </a:r>
            <a:r>
              <a:rPr lang="vi-VN" sz="2800" dirty="0">
                <a:solidFill>
                  <a:srgbClr val="543A14"/>
                </a:solidFill>
              </a:rPr>
              <a:t>FDD hướng đến các nhóm lớn hơn, tập trung vào các lần lặp lại ngắn (khoảng 2 tuần) để giao sản phẩm hữu hình nhanh chóng.</a:t>
            </a:r>
            <a:endParaRPr lang="en-US" sz="2800" dirty="0">
              <a:solidFill>
                <a:srgbClr val="543A14"/>
              </a:solidFill>
            </a:endParaRPr>
          </a:p>
          <a:p>
            <a:r>
              <a:rPr lang="vi-VN" sz="2800" dirty="0">
                <a:solidFill>
                  <a:srgbClr val="578E7E"/>
                </a:solidFill>
              </a:rPr>
              <a:t>- Quy trình 5 giai đoạn:</a:t>
            </a:r>
            <a:r>
              <a:rPr lang="en-US" sz="2800" dirty="0">
                <a:solidFill>
                  <a:srgbClr val="578E7E"/>
                </a:solidFill>
              </a:rPr>
              <a:t> </a:t>
            </a:r>
            <a:r>
              <a:rPr lang="vi-VN" sz="2800" dirty="0">
                <a:solidFill>
                  <a:srgbClr val="543A14"/>
                </a:solidFill>
              </a:rPr>
              <a:t>FDD bao gồm 5 giai đoạn, trong đó 3 giai đoạn đầu tiên là tuần tự và 2 giai đoạn cuối là lặp lại, giúp giải quyết thách thức về giao tiếp và phối hợp trong các dự án phức tạp.</a:t>
            </a:r>
          </a:p>
        </p:txBody>
      </p:sp>
      <p:sp>
        <p:nvSpPr>
          <p:cNvPr id="35" name="Rectangle: Rounded Corners 34">
            <a:extLst>
              <a:ext uri="{FF2B5EF4-FFF2-40B4-BE49-F238E27FC236}">
                <a16:creationId xmlns:a16="http://schemas.microsoft.com/office/drawing/2014/main" id="{32CDF6FC-539F-2152-9B2D-85D1EB6DACD6}"/>
              </a:ext>
            </a:extLst>
          </p:cNvPr>
          <p:cNvSpPr/>
          <p:nvPr/>
        </p:nvSpPr>
        <p:spPr>
          <a:xfrm>
            <a:off x="10617200" y="30480"/>
            <a:ext cx="1493520" cy="125250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Feature-Driven Development Guide: What is FDD in Agile?">
            <a:extLst>
              <a:ext uri="{FF2B5EF4-FFF2-40B4-BE49-F238E27FC236}">
                <a16:creationId xmlns:a16="http://schemas.microsoft.com/office/drawing/2014/main" id="{4E68159A-4594-037C-113B-C639E121D2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80" r="3760"/>
          <a:stretch/>
        </p:blipFill>
        <p:spPr bwMode="auto">
          <a:xfrm>
            <a:off x="6758127" y="1798203"/>
            <a:ext cx="4798244" cy="4188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544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8F0A5-AA4C-3FF5-5BB4-2C92CACB866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B920CD8-602E-2E24-0554-088F2088F191}"/>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A6F6DD7-B1F1-C7A6-31C4-B38795FF4BFC}"/>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 Phương pháp Kanban</a:t>
            </a:r>
            <a:endParaRPr lang="vi-VN" sz="3600" dirty="0">
              <a:solidFill>
                <a:srgbClr val="131010"/>
              </a:solidFill>
              <a:latin typeface="Lobster" panose="00000500000000000000" pitchFamily="2" charset="-93"/>
            </a:endParaRPr>
          </a:p>
        </p:txBody>
      </p:sp>
      <p:sp>
        <p:nvSpPr>
          <p:cNvPr id="22" name="Shape 5">
            <a:extLst>
              <a:ext uri="{FF2B5EF4-FFF2-40B4-BE49-F238E27FC236}">
                <a16:creationId xmlns:a16="http://schemas.microsoft.com/office/drawing/2014/main" id="{5F42271D-8F43-B727-1F43-76DCE28C9CC8}"/>
              </a:ext>
            </a:extLst>
          </p:cNvPr>
          <p:cNvSpPr/>
          <p:nvPr/>
        </p:nvSpPr>
        <p:spPr>
          <a:xfrm>
            <a:off x="2725261" y="2984538"/>
            <a:ext cx="10642402" cy="15240"/>
          </a:xfrm>
          <a:prstGeom prst="roundRect">
            <a:avLst>
              <a:gd name="adj" fmla="val 223256"/>
            </a:avLst>
          </a:prstGeom>
          <a:solidFill>
            <a:srgbClr val="D4CEC3"/>
          </a:solidFill>
          <a:ln/>
        </p:spPr>
        <p:txBody>
          <a:bodyPr/>
          <a:lstStyle/>
          <a:p>
            <a:endParaRPr lang="en-US"/>
          </a:p>
        </p:txBody>
      </p:sp>
      <p:sp>
        <p:nvSpPr>
          <p:cNvPr id="25" name="Shape 10">
            <a:extLst>
              <a:ext uri="{FF2B5EF4-FFF2-40B4-BE49-F238E27FC236}">
                <a16:creationId xmlns:a16="http://schemas.microsoft.com/office/drawing/2014/main" id="{FD1B0612-9ACD-9A5E-CAAD-E24BAE057890}"/>
              </a:ext>
            </a:extLst>
          </p:cNvPr>
          <p:cNvSpPr/>
          <p:nvPr/>
        </p:nvSpPr>
        <p:spPr>
          <a:xfrm>
            <a:off x="4899104" y="4404834"/>
            <a:ext cx="8468558" cy="15240"/>
          </a:xfrm>
          <a:prstGeom prst="roundRect">
            <a:avLst>
              <a:gd name="adj" fmla="val 223256"/>
            </a:avLst>
          </a:prstGeom>
          <a:solidFill>
            <a:srgbClr val="D4CEC3"/>
          </a:solidFill>
          <a:ln/>
        </p:spPr>
        <p:txBody>
          <a:bodyPr/>
          <a:lstStyle/>
          <a:p>
            <a:endParaRPr lang="en-US"/>
          </a:p>
        </p:txBody>
      </p:sp>
      <p:sp>
        <p:nvSpPr>
          <p:cNvPr id="33" name="TextBox 32">
            <a:extLst>
              <a:ext uri="{FF2B5EF4-FFF2-40B4-BE49-F238E27FC236}">
                <a16:creationId xmlns:a16="http://schemas.microsoft.com/office/drawing/2014/main" id="{925F94EB-CEE9-F3CA-4C43-08FD29B222FE}"/>
              </a:ext>
            </a:extLst>
          </p:cNvPr>
          <p:cNvSpPr txBox="1"/>
          <p:nvPr/>
        </p:nvSpPr>
        <p:spPr>
          <a:xfrm>
            <a:off x="229747" y="1514291"/>
            <a:ext cx="6698954" cy="5262979"/>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Cải tiến không gián đoạn:</a:t>
            </a:r>
            <a:r>
              <a:rPr lang="en-US" sz="2800" dirty="0">
                <a:solidFill>
                  <a:srgbClr val="578E7E"/>
                </a:solidFill>
              </a:rPr>
              <a:t> </a:t>
            </a:r>
            <a:r>
              <a:rPr lang="vi-VN" sz="2800" dirty="0">
                <a:solidFill>
                  <a:srgbClr val="543A14"/>
                </a:solidFill>
              </a:rPr>
              <a:t>Kanban giúp các nhóm phân phối liên tục, nhận phản hồi nhanh hơn và giảm thời gian chờ, khắc phục nhược điểm của Scrum và mô hình thác nước.</a:t>
            </a:r>
            <a:endParaRPr lang="en-US" sz="2800" dirty="0">
              <a:solidFill>
                <a:srgbClr val="543A14"/>
              </a:solidFill>
            </a:endParaRPr>
          </a:p>
          <a:p>
            <a:r>
              <a:rPr lang="vi-VN" sz="2800" dirty="0">
                <a:solidFill>
                  <a:srgbClr val="578E7E"/>
                </a:solidFill>
              </a:rPr>
              <a:t>- Hệ thống trực quan:</a:t>
            </a:r>
            <a:r>
              <a:rPr lang="en-US" sz="2800" dirty="0">
                <a:solidFill>
                  <a:srgbClr val="578E7E"/>
                </a:solidFill>
              </a:rPr>
              <a:t> </a:t>
            </a:r>
            <a:r>
              <a:rPr lang="vi-VN" sz="2800" dirty="0">
                <a:solidFill>
                  <a:srgbClr val="543A14"/>
                </a:solidFill>
              </a:rPr>
              <a:t>Kanban sử dụng hệ thống trực quan để quản lý công việc, xác định và khắc phục các nút thắt cổ chai trong quy trình, tối ưu hóa tốc độ và thông lượng.</a:t>
            </a:r>
          </a:p>
          <a:p>
            <a:r>
              <a:rPr lang="vi-VN" sz="2800" dirty="0">
                <a:solidFill>
                  <a:srgbClr val="578E7E"/>
                </a:solidFill>
              </a:rPr>
              <a:t>- Nguồn gốc từ JIT:</a:t>
            </a:r>
            <a:r>
              <a:rPr lang="en-US" sz="2800" dirty="0">
                <a:solidFill>
                  <a:srgbClr val="578E7E"/>
                </a:solidFill>
              </a:rPr>
              <a:t> </a:t>
            </a:r>
            <a:r>
              <a:rPr lang="vi-VN" sz="2800" dirty="0">
                <a:solidFill>
                  <a:srgbClr val="543A14"/>
                </a:solidFill>
              </a:rPr>
              <a:t>Phương pháp Kanban bắt nguồn từ quy trình sản xuất "just-in-time" của Toyota, sử dụng thẻ để xác định nhu cầu vật liệu trong chuỗi sản xuất.</a:t>
            </a:r>
          </a:p>
        </p:txBody>
      </p:sp>
      <p:sp>
        <p:nvSpPr>
          <p:cNvPr id="35" name="Rectangle: Rounded Corners 34">
            <a:extLst>
              <a:ext uri="{FF2B5EF4-FFF2-40B4-BE49-F238E27FC236}">
                <a16:creationId xmlns:a16="http://schemas.microsoft.com/office/drawing/2014/main" id="{913D7683-CA3D-2605-FE49-0CFED0355693}"/>
              </a:ext>
            </a:extLst>
          </p:cNvPr>
          <p:cNvSpPr/>
          <p:nvPr/>
        </p:nvSpPr>
        <p:spPr>
          <a:xfrm>
            <a:off x="10617200" y="134688"/>
            <a:ext cx="1493520" cy="125250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Bảng Kanban Với Giấy Ghi Chú Dính Trống Để Viết Nhiệm Vụ Quản Lý Dự Án Linh Hoạt Lập Kế Hoạch Nhiệm Vụ Và Danh Sách Việc Cần Làm Hình minh họa Sẵn có - Tải xuống Hình ảnh Ngay bây giờ - iStock">
            <a:extLst>
              <a:ext uri="{FF2B5EF4-FFF2-40B4-BE49-F238E27FC236}">
                <a16:creationId xmlns:a16="http://schemas.microsoft.com/office/drawing/2014/main" id="{318A4F1A-F5DD-8023-942A-9C23DE449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925" y="2023851"/>
            <a:ext cx="4514850"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277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DEEE0-AEB1-53F2-44AE-6893BE9AE6B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0074CDB-EC3B-E1F9-6AAF-40E4A9FD9500}"/>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7C394B-B0A5-CF9A-1587-6FDBD8487921}"/>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Behavior Driven Development (BDD)</a:t>
            </a:r>
            <a:endParaRPr lang="vi-VN" sz="3600" dirty="0">
              <a:solidFill>
                <a:srgbClr val="131010"/>
              </a:solidFill>
              <a:latin typeface="Lobster" panose="00000500000000000000" pitchFamily="2" charset="-93"/>
            </a:endParaRPr>
          </a:p>
        </p:txBody>
      </p:sp>
      <p:sp>
        <p:nvSpPr>
          <p:cNvPr id="22" name="Shape 5">
            <a:extLst>
              <a:ext uri="{FF2B5EF4-FFF2-40B4-BE49-F238E27FC236}">
                <a16:creationId xmlns:a16="http://schemas.microsoft.com/office/drawing/2014/main" id="{AC88D662-D790-0FB9-7FD8-2BF15B78CDA9}"/>
              </a:ext>
            </a:extLst>
          </p:cNvPr>
          <p:cNvSpPr/>
          <p:nvPr/>
        </p:nvSpPr>
        <p:spPr>
          <a:xfrm>
            <a:off x="2725261" y="2984538"/>
            <a:ext cx="10642402" cy="15240"/>
          </a:xfrm>
          <a:prstGeom prst="roundRect">
            <a:avLst>
              <a:gd name="adj" fmla="val 223256"/>
            </a:avLst>
          </a:prstGeom>
          <a:solidFill>
            <a:srgbClr val="D4CEC3"/>
          </a:solidFill>
          <a:ln/>
        </p:spPr>
        <p:txBody>
          <a:bodyPr/>
          <a:lstStyle/>
          <a:p>
            <a:endParaRPr lang="en-US"/>
          </a:p>
        </p:txBody>
      </p:sp>
      <p:sp>
        <p:nvSpPr>
          <p:cNvPr id="25" name="Shape 10">
            <a:extLst>
              <a:ext uri="{FF2B5EF4-FFF2-40B4-BE49-F238E27FC236}">
                <a16:creationId xmlns:a16="http://schemas.microsoft.com/office/drawing/2014/main" id="{67EC3E14-938A-7CA8-C958-C0A3643ED5E2}"/>
              </a:ext>
            </a:extLst>
          </p:cNvPr>
          <p:cNvSpPr/>
          <p:nvPr/>
        </p:nvSpPr>
        <p:spPr>
          <a:xfrm>
            <a:off x="4899104" y="4404834"/>
            <a:ext cx="8468558" cy="15240"/>
          </a:xfrm>
          <a:prstGeom prst="roundRect">
            <a:avLst>
              <a:gd name="adj" fmla="val 223256"/>
            </a:avLst>
          </a:prstGeom>
          <a:solidFill>
            <a:srgbClr val="D4CEC3"/>
          </a:solidFill>
          <a:ln/>
        </p:spPr>
        <p:txBody>
          <a:bodyPr/>
          <a:lstStyle/>
          <a:p>
            <a:endParaRPr lang="en-US"/>
          </a:p>
        </p:txBody>
      </p:sp>
      <p:sp>
        <p:nvSpPr>
          <p:cNvPr id="33" name="TextBox 32">
            <a:extLst>
              <a:ext uri="{FF2B5EF4-FFF2-40B4-BE49-F238E27FC236}">
                <a16:creationId xmlns:a16="http://schemas.microsoft.com/office/drawing/2014/main" id="{C624C5A5-6303-49E1-3643-81AA5569B630}"/>
              </a:ext>
            </a:extLst>
          </p:cNvPr>
          <p:cNvSpPr txBox="1"/>
          <p:nvPr/>
        </p:nvSpPr>
        <p:spPr>
          <a:xfrm>
            <a:off x="144905" y="1551998"/>
            <a:ext cx="7142015" cy="5262979"/>
          </a:xfrm>
          <a:prstGeom prst="rect">
            <a:avLst/>
          </a:prstGeom>
          <a:noFill/>
        </p:spPr>
        <p:txBody>
          <a:bodyPr wrap="square" rtlCol="0">
            <a:spAutoFit/>
          </a:bodyPr>
          <a:lstStyle/>
          <a:p>
            <a:r>
              <a:rPr lang="en-US" sz="2800" dirty="0">
                <a:solidFill>
                  <a:srgbClr val="578E7E"/>
                </a:solidFill>
              </a:rPr>
              <a:t>- </a:t>
            </a:r>
            <a:r>
              <a:rPr lang="vi-VN" sz="2800" dirty="0">
                <a:solidFill>
                  <a:srgbClr val="578E7E"/>
                </a:solidFill>
              </a:rPr>
              <a:t>Hợp tác đa lĩnh vực:</a:t>
            </a:r>
            <a:r>
              <a:rPr lang="en-US" sz="2800" dirty="0">
                <a:solidFill>
                  <a:srgbClr val="578E7E"/>
                </a:solidFill>
              </a:rPr>
              <a:t> </a:t>
            </a:r>
            <a:r>
              <a:rPr lang="vi-VN" sz="2800" dirty="0">
                <a:solidFill>
                  <a:srgbClr val="543A14"/>
                </a:solidFill>
              </a:rPr>
              <a:t>BDD tập trung vào việc kết nối những người không chuyên về kỹ thuật với quá trình phát triển phần mềm, sử dụng ngôn ngữ chung để khuyến khích sự hợp tác.</a:t>
            </a:r>
          </a:p>
          <a:p>
            <a:r>
              <a:rPr lang="vi-VN" sz="2800" dirty="0">
                <a:solidFill>
                  <a:srgbClr val="578E7E"/>
                </a:solidFill>
              </a:rPr>
              <a:t>- Kịch bản thử nghiệm và tính năng:</a:t>
            </a:r>
            <a:r>
              <a:rPr lang="en-US" sz="2800" dirty="0">
                <a:solidFill>
                  <a:srgbClr val="578E7E"/>
                </a:solidFill>
              </a:rPr>
              <a:t> </a:t>
            </a:r>
            <a:r>
              <a:rPr lang="vi-VN" sz="2800" dirty="0">
                <a:solidFill>
                  <a:srgbClr val="543A14"/>
                </a:solidFill>
              </a:rPr>
              <a:t>BDD dựa trên việc viết các kịch bản thử nghiệm và tính năng, chứa các yêu cầu và tiêu chí chấp nhận cho hành vi của hệ thống, giúp truyền đạt yêu cầu chính xác hơn.</a:t>
            </a:r>
            <a:endParaRPr lang="en-US" sz="2800" dirty="0">
              <a:solidFill>
                <a:srgbClr val="543A14"/>
              </a:solidFill>
            </a:endParaRPr>
          </a:p>
          <a:p>
            <a:r>
              <a:rPr lang="vi-VN" sz="2800" dirty="0">
                <a:solidFill>
                  <a:srgbClr val="578E7E"/>
                </a:solidFill>
              </a:rPr>
              <a:t>- Phát hiện lỗi sớm:</a:t>
            </a:r>
            <a:r>
              <a:rPr lang="en-US" sz="2800" dirty="0">
                <a:solidFill>
                  <a:srgbClr val="578E7E"/>
                </a:solidFill>
              </a:rPr>
              <a:t> </a:t>
            </a:r>
            <a:r>
              <a:rPr lang="vi-VN" sz="2800" dirty="0">
                <a:solidFill>
                  <a:srgbClr val="543A14"/>
                </a:solidFill>
              </a:rPr>
              <a:t>BDD giúp phát hiện lỗi sớm và xây dựng phần mềm có thể duy trì lâu dài, cải thiện chất lượng và hiệu quả của dự án.</a:t>
            </a:r>
          </a:p>
        </p:txBody>
      </p:sp>
      <p:sp>
        <p:nvSpPr>
          <p:cNvPr id="35" name="Rectangle: Rounded Corners 34">
            <a:extLst>
              <a:ext uri="{FF2B5EF4-FFF2-40B4-BE49-F238E27FC236}">
                <a16:creationId xmlns:a16="http://schemas.microsoft.com/office/drawing/2014/main" id="{508FD2C7-24E7-6297-F171-254B29D557BA}"/>
              </a:ext>
            </a:extLst>
          </p:cNvPr>
          <p:cNvSpPr/>
          <p:nvPr/>
        </p:nvSpPr>
        <p:spPr>
          <a:xfrm>
            <a:off x="10617200" y="30480"/>
            <a:ext cx="1493520" cy="1252507"/>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Behavior-Driven Development (BDD)">
            <a:extLst>
              <a:ext uri="{FF2B5EF4-FFF2-40B4-BE49-F238E27FC236}">
                <a16:creationId xmlns:a16="http://schemas.microsoft.com/office/drawing/2014/main" id="{42612243-7D62-B366-7908-4F4D68DC56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6118" y="1804349"/>
            <a:ext cx="42862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926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503B-900C-132F-1E35-69AB0C2E543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E950F26-B25C-932D-278D-A69C740C580B}"/>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4475FE1-06EE-6942-FA78-B287F19A43A9}"/>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Các Trường Hợp Sử Dụng</a:t>
            </a:r>
            <a:endParaRPr lang="vi-VN" sz="3600" dirty="0">
              <a:solidFill>
                <a:srgbClr val="131010"/>
              </a:solidFill>
              <a:latin typeface="Lobster" panose="00000500000000000000" pitchFamily="2" charset="-93"/>
            </a:endParaRPr>
          </a:p>
        </p:txBody>
      </p:sp>
      <p:sp>
        <p:nvSpPr>
          <p:cNvPr id="66" name="TextBox 65">
            <a:extLst>
              <a:ext uri="{FF2B5EF4-FFF2-40B4-BE49-F238E27FC236}">
                <a16:creationId xmlns:a16="http://schemas.microsoft.com/office/drawing/2014/main" id="{074CB52D-AAED-C11D-62D8-4AB1E8976E08}"/>
              </a:ext>
            </a:extLst>
          </p:cNvPr>
          <p:cNvSpPr txBox="1"/>
          <p:nvPr/>
        </p:nvSpPr>
        <p:spPr>
          <a:xfrm>
            <a:off x="3134360" y="1412240"/>
            <a:ext cx="5923280" cy="523220"/>
          </a:xfrm>
          <a:prstGeom prst="rect">
            <a:avLst/>
          </a:prstGeom>
          <a:noFill/>
        </p:spPr>
        <p:txBody>
          <a:bodyPr wrap="square" rtlCol="0">
            <a:spAutoFit/>
          </a:bodyPr>
          <a:lstStyle/>
          <a:p>
            <a:pPr algn="ctr"/>
            <a:r>
              <a:rPr lang="en-US" sz="2800"/>
              <a:t>Phát Triển Phần Mềm</a:t>
            </a:r>
          </a:p>
        </p:txBody>
      </p:sp>
      <p:sp>
        <p:nvSpPr>
          <p:cNvPr id="67" name="Shape 1">
            <a:extLst>
              <a:ext uri="{FF2B5EF4-FFF2-40B4-BE49-F238E27FC236}">
                <a16:creationId xmlns:a16="http://schemas.microsoft.com/office/drawing/2014/main" id="{F210BB6E-E854-15E7-3A28-1C7E81881E5D}"/>
              </a:ext>
            </a:extLst>
          </p:cNvPr>
          <p:cNvSpPr/>
          <p:nvPr/>
        </p:nvSpPr>
        <p:spPr>
          <a:xfrm>
            <a:off x="1516428" y="1919643"/>
            <a:ext cx="45719" cy="4290056"/>
          </a:xfrm>
          <a:prstGeom prst="roundRect">
            <a:avLst>
              <a:gd name="adj" fmla="val 137413"/>
            </a:avLst>
          </a:prstGeom>
          <a:solidFill>
            <a:srgbClr val="3E5879"/>
          </a:solidFill>
          <a:ln/>
        </p:spPr>
        <p:txBody>
          <a:bodyPr/>
          <a:lstStyle/>
          <a:p>
            <a:endParaRPr lang="en-US"/>
          </a:p>
        </p:txBody>
      </p:sp>
      <p:sp>
        <p:nvSpPr>
          <p:cNvPr id="68" name="Shape 2">
            <a:extLst>
              <a:ext uri="{FF2B5EF4-FFF2-40B4-BE49-F238E27FC236}">
                <a16:creationId xmlns:a16="http://schemas.microsoft.com/office/drawing/2014/main" id="{5FCB0114-CE60-0089-B74B-E856D2668E22}"/>
              </a:ext>
            </a:extLst>
          </p:cNvPr>
          <p:cNvSpPr/>
          <p:nvPr/>
        </p:nvSpPr>
        <p:spPr>
          <a:xfrm>
            <a:off x="1740564" y="2562379"/>
            <a:ext cx="732949" cy="22860"/>
          </a:xfrm>
          <a:prstGeom prst="roundRect">
            <a:avLst>
              <a:gd name="adj" fmla="val 137413"/>
            </a:avLst>
          </a:prstGeom>
          <a:solidFill>
            <a:srgbClr val="3E5879"/>
          </a:solidFill>
          <a:ln/>
        </p:spPr>
        <p:txBody>
          <a:bodyPr/>
          <a:lstStyle/>
          <a:p>
            <a:endParaRPr lang="en-US"/>
          </a:p>
        </p:txBody>
      </p:sp>
      <p:sp>
        <p:nvSpPr>
          <p:cNvPr id="69" name="Shape 3">
            <a:extLst>
              <a:ext uri="{FF2B5EF4-FFF2-40B4-BE49-F238E27FC236}">
                <a16:creationId xmlns:a16="http://schemas.microsoft.com/office/drawing/2014/main" id="{DAE55609-9FC3-ED30-F62F-543E9EE7FC02}"/>
              </a:ext>
            </a:extLst>
          </p:cNvPr>
          <p:cNvSpPr/>
          <p:nvPr/>
        </p:nvSpPr>
        <p:spPr>
          <a:xfrm>
            <a:off x="1292293" y="2338244"/>
            <a:ext cx="471130" cy="471130"/>
          </a:xfrm>
          <a:prstGeom prst="roundRect">
            <a:avLst>
              <a:gd name="adj" fmla="val 6667"/>
            </a:avLst>
          </a:prstGeom>
          <a:solidFill>
            <a:srgbClr val="3E5879"/>
          </a:solidFill>
          <a:ln/>
        </p:spPr>
        <p:txBody>
          <a:bodyPr/>
          <a:lstStyle/>
          <a:p>
            <a:r>
              <a:rPr lang="en-US" sz="2800"/>
              <a:t>1</a:t>
            </a:r>
          </a:p>
        </p:txBody>
      </p:sp>
      <p:sp>
        <p:nvSpPr>
          <p:cNvPr id="70" name="Shape 7">
            <a:extLst>
              <a:ext uri="{FF2B5EF4-FFF2-40B4-BE49-F238E27FC236}">
                <a16:creationId xmlns:a16="http://schemas.microsoft.com/office/drawing/2014/main" id="{54837270-74A2-2FE4-A872-B2EF0AACB350}"/>
              </a:ext>
            </a:extLst>
          </p:cNvPr>
          <p:cNvSpPr/>
          <p:nvPr/>
        </p:nvSpPr>
        <p:spPr>
          <a:xfrm>
            <a:off x="1740564" y="3531028"/>
            <a:ext cx="732949" cy="22860"/>
          </a:xfrm>
          <a:prstGeom prst="roundRect">
            <a:avLst>
              <a:gd name="adj" fmla="val 137413"/>
            </a:avLst>
          </a:prstGeom>
          <a:solidFill>
            <a:srgbClr val="3E5879"/>
          </a:solidFill>
          <a:ln/>
        </p:spPr>
        <p:txBody>
          <a:bodyPr/>
          <a:lstStyle/>
          <a:p>
            <a:endParaRPr lang="en-US"/>
          </a:p>
        </p:txBody>
      </p:sp>
      <p:sp>
        <p:nvSpPr>
          <p:cNvPr id="71" name="Shape 8">
            <a:extLst>
              <a:ext uri="{FF2B5EF4-FFF2-40B4-BE49-F238E27FC236}">
                <a16:creationId xmlns:a16="http://schemas.microsoft.com/office/drawing/2014/main" id="{2A3D55C3-FD63-C684-280E-4920A0BF85DE}"/>
              </a:ext>
            </a:extLst>
          </p:cNvPr>
          <p:cNvSpPr/>
          <p:nvPr/>
        </p:nvSpPr>
        <p:spPr>
          <a:xfrm>
            <a:off x="1303724" y="3317897"/>
            <a:ext cx="471130" cy="471130"/>
          </a:xfrm>
          <a:prstGeom prst="roundRect">
            <a:avLst>
              <a:gd name="adj" fmla="val 6667"/>
            </a:avLst>
          </a:prstGeom>
          <a:solidFill>
            <a:srgbClr val="3E5879"/>
          </a:solidFill>
          <a:ln/>
        </p:spPr>
        <p:txBody>
          <a:bodyPr/>
          <a:lstStyle/>
          <a:p>
            <a:r>
              <a:rPr lang="en-US" sz="2800"/>
              <a:t>2</a:t>
            </a:r>
          </a:p>
        </p:txBody>
      </p:sp>
      <p:sp>
        <p:nvSpPr>
          <p:cNvPr id="72" name="Shape 12">
            <a:extLst>
              <a:ext uri="{FF2B5EF4-FFF2-40B4-BE49-F238E27FC236}">
                <a16:creationId xmlns:a16="http://schemas.microsoft.com/office/drawing/2014/main" id="{592E7DC7-0B2E-9752-FAA5-D6B789398E34}"/>
              </a:ext>
            </a:extLst>
          </p:cNvPr>
          <p:cNvSpPr/>
          <p:nvPr/>
        </p:nvSpPr>
        <p:spPr>
          <a:xfrm>
            <a:off x="1722593" y="4532263"/>
            <a:ext cx="732949" cy="22860"/>
          </a:xfrm>
          <a:prstGeom prst="roundRect">
            <a:avLst>
              <a:gd name="adj" fmla="val 137413"/>
            </a:avLst>
          </a:prstGeom>
          <a:solidFill>
            <a:srgbClr val="3E5879"/>
          </a:solidFill>
          <a:ln/>
        </p:spPr>
        <p:txBody>
          <a:bodyPr/>
          <a:lstStyle/>
          <a:p>
            <a:endParaRPr lang="en-US"/>
          </a:p>
        </p:txBody>
      </p:sp>
      <p:sp>
        <p:nvSpPr>
          <p:cNvPr id="73" name="Shape 13">
            <a:extLst>
              <a:ext uri="{FF2B5EF4-FFF2-40B4-BE49-F238E27FC236}">
                <a16:creationId xmlns:a16="http://schemas.microsoft.com/office/drawing/2014/main" id="{C67D0073-9509-5A5A-9B08-48FE90C9EB5A}"/>
              </a:ext>
            </a:extLst>
          </p:cNvPr>
          <p:cNvSpPr/>
          <p:nvPr/>
        </p:nvSpPr>
        <p:spPr>
          <a:xfrm>
            <a:off x="1303724" y="4297550"/>
            <a:ext cx="471130" cy="471130"/>
          </a:xfrm>
          <a:prstGeom prst="roundRect">
            <a:avLst>
              <a:gd name="adj" fmla="val 6667"/>
            </a:avLst>
          </a:prstGeom>
          <a:solidFill>
            <a:srgbClr val="3E5879"/>
          </a:solidFill>
          <a:ln/>
        </p:spPr>
        <p:txBody>
          <a:bodyPr/>
          <a:lstStyle/>
          <a:p>
            <a:r>
              <a:rPr lang="en-US" sz="2800"/>
              <a:t>3</a:t>
            </a:r>
          </a:p>
        </p:txBody>
      </p:sp>
      <p:sp>
        <p:nvSpPr>
          <p:cNvPr id="74" name="Shape 17">
            <a:extLst>
              <a:ext uri="{FF2B5EF4-FFF2-40B4-BE49-F238E27FC236}">
                <a16:creationId xmlns:a16="http://schemas.microsoft.com/office/drawing/2014/main" id="{7DD0DA45-3A1E-16FC-51E0-E83BD5B985E2}"/>
              </a:ext>
            </a:extLst>
          </p:cNvPr>
          <p:cNvSpPr/>
          <p:nvPr/>
        </p:nvSpPr>
        <p:spPr>
          <a:xfrm>
            <a:off x="1758902" y="5500912"/>
            <a:ext cx="732949" cy="22860"/>
          </a:xfrm>
          <a:prstGeom prst="roundRect">
            <a:avLst>
              <a:gd name="adj" fmla="val 137413"/>
            </a:avLst>
          </a:prstGeom>
          <a:solidFill>
            <a:srgbClr val="3E5879"/>
          </a:solidFill>
          <a:ln/>
        </p:spPr>
        <p:txBody>
          <a:bodyPr/>
          <a:lstStyle/>
          <a:p>
            <a:endParaRPr lang="en-US"/>
          </a:p>
        </p:txBody>
      </p:sp>
      <p:sp>
        <p:nvSpPr>
          <p:cNvPr id="75" name="Shape 18">
            <a:extLst>
              <a:ext uri="{FF2B5EF4-FFF2-40B4-BE49-F238E27FC236}">
                <a16:creationId xmlns:a16="http://schemas.microsoft.com/office/drawing/2014/main" id="{8120A760-4D4A-77C5-2727-86241F903B31}"/>
              </a:ext>
            </a:extLst>
          </p:cNvPr>
          <p:cNvSpPr/>
          <p:nvPr/>
        </p:nvSpPr>
        <p:spPr>
          <a:xfrm>
            <a:off x="1321348" y="5276777"/>
            <a:ext cx="471130" cy="471130"/>
          </a:xfrm>
          <a:prstGeom prst="roundRect">
            <a:avLst>
              <a:gd name="adj" fmla="val 6667"/>
            </a:avLst>
          </a:prstGeom>
          <a:solidFill>
            <a:srgbClr val="3E5879"/>
          </a:solidFill>
          <a:ln/>
        </p:spPr>
        <p:txBody>
          <a:bodyPr/>
          <a:lstStyle/>
          <a:p>
            <a:r>
              <a:rPr lang="en-US" sz="2800"/>
              <a:t>4</a:t>
            </a:r>
          </a:p>
        </p:txBody>
      </p:sp>
      <p:sp>
        <p:nvSpPr>
          <p:cNvPr id="76" name="TextBox 75">
            <a:extLst>
              <a:ext uri="{FF2B5EF4-FFF2-40B4-BE49-F238E27FC236}">
                <a16:creationId xmlns:a16="http://schemas.microsoft.com/office/drawing/2014/main" id="{E5F5EE94-14FB-4610-8A2C-AD8DD5928334}"/>
              </a:ext>
            </a:extLst>
          </p:cNvPr>
          <p:cNvSpPr txBox="1"/>
          <p:nvPr/>
        </p:nvSpPr>
        <p:spPr>
          <a:xfrm>
            <a:off x="2702559" y="2331546"/>
            <a:ext cx="4099561" cy="461665"/>
          </a:xfrm>
          <a:prstGeom prst="rect">
            <a:avLst/>
          </a:prstGeom>
          <a:noFill/>
        </p:spPr>
        <p:txBody>
          <a:bodyPr wrap="square" rtlCol="0">
            <a:spAutoFit/>
          </a:bodyPr>
          <a:lstStyle/>
          <a:p>
            <a:r>
              <a:rPr lang="en-US" sz="2400">
                <a:solidFill>
                  <a:srgbClr val="543A14"/>
                </a:solidFill>
              </a:rPr>
              <a:t>Dự án khởi nghiệp</a:t>
            </a:r>
          </a:p>
        </p:txBody>
      </p:sp>
      <p:sp>
        <p:nvSpPr>
          <p:cNvPr id="78" name="TextBox 77">
            <a:extLst>
              <a:ext uri="{FF2B5EF4-FFF2-40B4-BE49-F238E27FC236}">
                <a16:creationId xmlns:a16="http://schemas.microsoft.com/office/drawing/2014/main" id="{82DE4A44-E088-EF67-0AD5-557B2B9F7998}"/>
              </a:ext>
            </a:extLst>
          </p:cNvPr>
          <p:cNvSpPr txBox="1"/>
          <p:nvPr/>
        </p:nvSpPr>
        <p:spPr>
          <a:xfrm>
            <a:off x="2702559" y="3300195"/>
            <a:ext cx="4099561" cy="461665"/>
          </a:xfrm>
          <a:prstGeom prst="rect">
            <a:avLst/>
          </a:prstGeom>
          <a:noFill/>
        </p:spPr>
        <p:txBody>
          <a:bodyPr wrap="square" rtlCol="0">
            <a:spAutoFit/>
          </a:bodyPr>
          <a:lstStyle/>
          <a:p>
            <a:r>
              <a:rPr lang="en-US" sz="2400">
                <a:solidFill>
                  <a:srgbClr val="543A14"/>
                </a:solidFill>
              </a:rPr>
              <a:t>Phát triển ứng dụng di động</a:t>
            </a:r>
          </a:p>
        </p:txBody>
      </p:sp>
      <p:sp>
        <p:nvSpPr>
          <p:cNvPr id="79" name="TextBox 78">
            <a:extLst>
              <a:ext uri="{FF2B5EF4-FFF2-40B4-BE49-F238E27FC236}">
                <a16:creationId xmlns:a16="http://schemas.microsoft.com/office/drawing/2014/main" id="{A1645E26-6D76-2AFC-79CA-127B33206955}"/>
              </a:ext>
            </a:extLst>
          </p:cNvPr>
          <p:cNvSpPr txBox="1"/>
          <p:nvPr/>
        </p:nvSpPr>
        <p:spPr>
          <a:xfrm>
            <a:off x="2702559" y="4324290"/>
            <a:ext cx="5557521" cy="461665"/>
          </a:xfrm>
          <a:prstGeom prst="rect">
            <a:avLst/>
          </a:prstGeom>
          <a:noFill/>
        </p:spPr>
        <p:txBody>
          <a:bodyPr wrap="square" rtlCol="0">
            <a:spAutoFit/>
          </a:bodyPr>
          <a:lstStyle/>
          <a:p>
            <a:r>
              <a:rPr lang="vi-VN" sz="2400">
                <a:solidFill>
                  <a:srgbClr val="543A14"/>
                </a:solidFill>
              </a:rPr>
              <a:t>Phát triển phần mềm thương mại điện tử</a:t>
            </a:r>
            <a:endParaRPr lang="en-US" sz="2400">
              <a:solidFill>
                <a:srgbClr val="543A14"/>
              </a:solidFill>
            </a:endParaRPr>
          </a:p>
        </p:txBody>
      </p:sp>
      <p:sp>
        <p:nvSpPr>
          <p:cNvPr id="80" name="TextBox 79">
            <a:extLst>
              <a:ext uri="{FF2B5EF4-FFF2-40B4-BE49-F238E27FC236}">
                <a16:creationId xmlns:a16="http://schemas.microsoft.com/office/drawing/2014/main" id="{EE27E1CA-4180-64DF-260B-75447349D351}"/>
              </a:ext>
            </a:extLst>
          </p:cNvPr>
          <p:cNvSpPr txBox="1"/>
          <p:nvPr/>
        </p:nvSpPr>
        <p:spPr>
          <a:xfrm>
            <a:off x="2702559" y="5270079"/>
            <a:ext cx="4099561" cy="461665"/>
          </a:xfrm>
          <a:prstGeom prst="rect">
            <a:avLst/>
          </a:prstGeom>
          <a:noFill/>
        </p:spPr>
        <p:txBody>
          <a:bodyPr wrap="square" rtlCol="0">
            <a:spAutoFit/>
          </a:bodyPr>
          <a:lstStyle/>
          <a:p>
            <a:r>
              <a:rPr lang="en-US" sz="2400">
                <a:solidFill>
                  <a:srgbClr val="543A14"/>
                </a:solidFill>
              </a:rPr>
              <a:t>Phát triển phần mềm nội bộ</a:t>
            </a:r>
          </a:p>
        </p:txBody>
      </p:sp>
      <p:pic>
        <p:nvPicPr>
          <p:cNvPr id="8204" name="Picture 12" descr="Software Development - Is it possible to keep up with the rate of change?">
            <a:extLst>
              <a:ext uri="{FF2B5EF4-FFF2-40B4-BE49-F238E27FC236}">
                <a16:creationId xmlns:a16="http://schemas.microsoft.com/office/drawing/2014/main" id="{EFC63AA5-DA50-AF70-41EC-F7547434E8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2678" y="2611163"/>
            <a:ext cx="3744948" cy="303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295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DEF36-C08F-6E2A-1895-08C77B75B12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FC8AA1-D1BB-11E5-E75B-2F49A05BD3A3}"/>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hape 1">
            <a:extLst>
              <a:ext uri="{FF2B5EF4-FFF2-40B4-BE49-F238E27FC236}">
                <a16:creationId xmlns:a16="http://schemas.microsoft.com/office/drawing/2014/main" id="{C024A579-31B2-FC82-03C4-44F5E084F851}"/>
              </a:ext>
            </a:extLst>
          </p:cNvPr>
          <p:cNvSpPr/>
          <p:nvPr/>
        </p:nvSpPr>
        <p:spPr>
          <a:xfrm>
            <a:off x="1280160" y="2511360"/>
            <a:ext cx="510302" cy="510302"/>
          </a:xfrm>
          <a:prstGeom prst="roundRect">
            <a:avLst>
              <a:gd name="adj" fmla="val 6667"/>
            </a:avLst>
          </a:prstGeom>
          <a:solidFill>
            <a:srgbClr val="EEE8DD"/>
          </a:solidFill>
          <a:ln/>
        </p:spPr>
        <p:txBody>
          <a:bodyPr/>
          <a:lstStyle/>
          <a:p>
            <a:pPr algn="ctr"/>
            <a:r>
              <a:rPr lang="en-US" sz="3200"/>
              <a:t>1</a:t>
            </a:r>
          </a:p>
        </p:txBody>
      </p:sp>
      <p:sp>
        <p:nvSpPr>
          <p:cNvPr id="4" name="Shape 1">
            <a:extLst>
              <a:ext uri="{FF2B5EF4-FFF2-40B4-BE49-F238E27FC236}">
                <a16:creationId xmlns:a16="http://schemas.microsoft.com/office/drawing/2014/main" id="{CE825177-61C7-6D59-1D2A-8DB364172AC2}"/>
              </a:ext>
            </a:extLst>
          </p:cNvPr>
          <p:cNvSpPr/>
          <p:nvPr/>
        </p:nvSpPr>
        <p:spPr>
          <a:xfrm>
            <a:off x="1280160" y="3611899"/>
            <a:ext cx="510302" cy="510302"/>
          </a:xfrm>
          <a:prstGeom prst="roundRect">
            <a:avLst>
              <a:gd name="adj" fmla="val 6667"/>
            </a:avLst>
          </a:prstGeom>
          <a:solidFill>
            <a:srgbClr val="EEE8DD"/>
          </a:solidFill>
          <a:ln/>
        </p:spPr>
        <p:txBody>
          <a:bodyPr/>
          <a:lstStyle/>
          <a:p>
            <a:pPr algn="ctr"/>
            <a:r>
              <a:rPr lang="en-US" sz="3200"/>
              <a:t>2</a:t>
            </a:r>
          </a:p>
        </p:txBody>
      </p:sp>
      <p:sp>
        <p:nvSpPr>
          <p:cNvPr id="6" name="Shape 1">
            <a:extLst>
              <a:ext uri="{FF2B5EF4-FFF2-40B4-BE49-F238E27FC236}">
                <a16:creationId xmlns:a16="http://schemas.microsoft.com/office/drawing/2014/main" id="{03A01AFD-062B-910C-DE6A-E9EDEE16702B}"/>
              </a:ext>
            </a:extLst>
          </p:cNvPr>
          <p:cNvSpPr/>
          <p:nvPr/>
        </p:nvSpPr>
        <p:spPr>
          <a:xfrm>
            <a:off x="1280160" y="4712439"/>
            <a:ext cx="510302" cy="510302"/>
          </a:xfrm>
          <a:prstGeom prst="roundRect">
            <a:avLst>
              <a:gd name="adj" fmla="val 6667"/>
            </a:avLst>
          </a:prstGeom>
          <a:solidFill>
            <a:srgbClr val="EEE8DD"/>
          </a:solidFill>
          <a:ln/>
        </p:spPr>
        <p:txBody>
          <a:bodyPr/>
          <a:lstStyle/>
          <a:p>
            <a:pPr algn="ctr"/>
            <a:r>
              <a:rPr lang="en-US" sz="3200"/>
              <a:t>3</a:t>
            </a:r>
          </a:p>
        </p:txBody>
      </p:sp>
      <p:sp>
        <p:nvSpPr>
          <p:cNvPr id="7" name="TextBox 6">
            <a:extLst>
              <a:ext uri="{FF2B5EF4-FFF2-40B4-BE49-F238E27FC236}">
                <a16:creationId xmlns:a16="http://schemas.microsoft.com/office/drawing/2014/main" id="{0FCC8982-E368-AF23-FBE7-3FB4A7FAF361}"/>
              </a:ext>
            </a:extLst>
          </p:cNvPr>
          <p:cNvSpPr txBox="1"/>
          <p:nvPr/>
        </p:nvSpPr>
        <p:spPr>
          <a:xfrm>
            <a:off x="1960880" y="2511360"/>
            <a:ext cx="7274560" cy="523220"/>
          </a:xfrm>
          <a:prstGeom prst="rect">
            <a:avLst/>
          </a:prstGeom>
          <a:noFill/>
        </p:spPr>
        <p:txBody>
          <a:bodyPr wrap="square" rtlCol="0">
            <a:spAutoFit/>
          </a:bodyPr>
          <a:lstStyle/>
          <a:p>
            <a:r>
              <a:rPr lang="vi-VN" sz="2800">
                <a:solidFill>
                  <a:srgbClr val="543A14"/>
                </a:solidFill>
              </a:rPr>
              <a:t>Dự án có yêu cầu thay đổi thường xuyên</a:t>
            </a:r>
            <a:endParaRPr lang="en-US" sz="2800">
              <a:solidFill>
                <a:srgbClr val="543A14"/>
              </a:solidFill>
            </a:endParaRPr>
          </a:p>
        </p:txBody>
      </p:sp>
      <p:sp>
        <p:nvSpPr>
          <p:cNvPr id="8" name="TextBox 7">
            <a:extLst>
              <a:ext uri="{FF2B5EF4-FFF2-40B4-BE49-F238E27FC236}">
                <a16:creationId xmlns:a16="http://schemas.microsoft.com/office/drawing/2014/main" id="{DB3A0A75-9F9C-F8D2-59B9-F9B0DA478CBC}"/>
              </a:ext>
            </a:extLst>
          </p:cNvPr>
          <p:cNvSpPr txBox="1"/>
          <p:nvPr/>
        </p:nvSpPr>
        <p:spPr>
          <a:xfrm>
            <a:off x="1962031" y="3610480"/>
            <a:ext cx="5029200" cy="523220"/>
          </a:xfrm>
          <a:prstGeom prst="rect">
            <a:avLst/>
          </a:prstGeom>
          <a:noFill/>
        </p:spPr>
        <p:txBody>
          <a:bodyPr wrap="square" rtlCol="0">
            <a:spAutoFit/>
          </a:bodyPr>
          <a:lstStyle/>
          <a:p>
            <a:r>
              <a:rPr lang="en-US" sz="2800">
                <a:solidFill>
                  <a:srgbClr val="543A14"/>
                </a:solidFill>
              </a:rPr>
              <a:t>Dự án có tính sáng tạo cao</a:t>
            </a:r>
          </a:p>
        </p:txBody>
      </p:sp>
      <p:sp>
        <p:nvSpPr>
          <p:cNvPr id="9" name="TextBox 8">
            <a:extLst>
              <a:ext uri="{FF2B5EF4-FFF2-40B4-BE49-F238E27FC236}">
                <a16:creationId xmlns:a16="http://schemas.microsoft.com/office/drawing/2014/main" id="{EEB066F3-3D10-9C58-54C5-D238F68317A4}"/>
              </a:ext>
            </a:extLst>
          </p:cNvPr>
          <p:cNvSpPr txBox="1"/>
          <p:nvPr/>
        </p:nvSpPr>
        <p:spPr>
          <a:xfrm>
            <a:off x="1960880" y="4686060"/>
            <a:ext cx="6004560" cy="523220"/>
          </a:xfrm>
          <a:prstGeom prst="rect">
            <a:avLst/>
          </a:prstGeom>
          <a:noFill/>
        </p:spPr>
        <p:txBody>
          <a:bodyPr wrap="square" rtlCol="0">
            <a:spAutoFit/>
          </a:bodyPr>
          <a:lstStyle/>
          <a:p>
            <a:r>
              <a:rPr lang="en-US" sz="2800">
                <a:solidFill>
                  <a:srgbClr val="543A14"/>
                </a:solidFill>
              </a:rPr>
              <a:t>Dự án có quy mô nhỏ và trung bình</a:t>
            </a:r>
          </a:p>
        </p:txBody>
      </p:sp>
      <p:sp>
        <p:nvSpPr>
          <p:cNvPr id="10" name="Rectangle: Rounded Corners 9">
            <a:extLst>
              <a:ext uri="{FF2B5EF4-FFF2-40B4-BE49-F238E27FC236}">
                <a16:creationId xmlns:a16="http://schemas.microsoft.com/office/drawing/2014/main" id="{2554C234-0443-2351-C80F-0E500CCB248B}"/>
              </a:ext>
            </a:extLst>
          </p:cNvPr>
          <p:cNvSpPr/>
          <p:nvPr/>
        </p:nvSpPr>
        <p:spPr>
          <a:xfrm>
            <a:off x="10170160" y="167620"/>
            <a:ext cx="1859280" cy="150623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A90973-1D2E-6B7F-50CA-FB05F80011CB}"/>
              </a:ext>
            </a:extLst>
          </p:cNvPr>
          <p:cNvSpPr txBox="1"/>
          <p:nvPr/>
        </p:nvSpPr>
        <p:spPr>
          <a:xfrm>
            <a:off x="2491851" y="636656"/>
            <a:ext cx="7208298" cy="646331"/>
          </a:xfrm>
          <a:prstGeom prst="rect">
            <a:avLst/>
          </a:prstGeom>
          <a:noFill/>
        </p:spPr>
        <p:txBody>
          <a:bodyPr wrap="square" rtlCol="0">
            <a:spAutoFit/>
          </a:bodyPr>
          <a:lstStyle/>
          <a:p>
            <a:pPr algn="ctr"/>
            <a:r>
              <a:rPr lang="en-US" sz="3600"/>
              <a:t>Quản Lý Dự Án</a:t>
            </a:r>
          </a:p>
        </p:txBody>
      </p:sp>
      <p:pic>
        <p:nvPicPr>
          <p:cNvPr id="9218" name="Picture 2" descr="The Future of Project Management: Key Skills Every Professional Needs to  Succeed">
            <a:extLst>
              <a:ext uri="{FF2B5EF4-FFF2-40B4-BE49-F238E27FC236}">
                <a16:creationId xmlns:a16="http://schemas.microsoft.com/office/drawing/2014/main" id="{F52D7455-20DF-59BC-54CF-FF18B271E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6874" y="2302018"/>
            <a:ext cx="4262566" cy="3788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09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06BB4-0F79-084A-372A-0D049836295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F99EDD9-BB6F-0170-0753-1B1526DD98F6}"/>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AFB26A3-C875-481C-BBF4-019448151D7C}"/>
              </a:ext>
            </a:extLst>
          </p:cNvPr>
          <p:cNvSpPr txBox="1"/>
          <p:nvPr/>
        </p:nvSpPr>
        <p:spPr>
          <a:xfrm>
            <a:off x="3921760" y="711200"/>
            <a:ext cx="6065520" cy="646331"/>
          </a:xfrm>
          <a:prstGeom prst="rect">
            <a:avLst/>
          </a:prstGeom>
          <a:noFill/>
        </p:spPr>
        <p:txBody>
          <a:bodyPr wrap="square" rtlCol="0">
            <a:spAutoFit/>
          </a:bodyPr>
          <a:lstStyle/>
          <a:p>
            <a:r>
              <a:rPr lang="en-US" sz="3600"/>
              <a:t>Các Lĩnh Vực Khác</a:t>
            </a:r>
          </a:p>
        </p:txBody>
      </p:sp>
      <p:sp>
        <p:nvSpPr>
          <p:cNvPr id="4" name="Shape 1">
            <a:extLst>
              <a:ext uri="{FF2B5EF4-FFF2-40B4-BE49-F238E27FC236}">
                <a16:creationId xmlns:a16="http://schemas.microsoft.com/office/drawing/2014/main" id="{2C9244E5-052B-46B5-4F63-EBAD355A2F18}"/>
              </a:ext>
            </a:extLst>
          </p:cNvPr>
          <p:cNvSpPr/>
          <p:nvPr/>
        </p:nvSpPr>
        <p:spPr>
          <a:xfrm>
            <a:off x="3921760" y="1933736"/>
            <a:ext cx="510302" cy="510302"/>
          </a:xfrm>
          <a:prstGeom prst="roundRect">
            <a:avLst>
              <a:gd name="adj" fmla="val 6667"/>
            </a:avLst>
          </a:prstGeom>
          <a:solidFill>
            <a:srgbClr val="EEE8DD"/>
          </a:solidFill>
          <a:ln/>
        </p:spPr>
        <p:txBody>
          <a:bodyPr/>
          <a:lstStyle/>
          <a:p>
            <a:pPr algn="ctr"/>
            <a:r>
              <a:rPr lang="en-US" sz="3200">
                <a:solidFill>
                  <a:srgbClr val="543A14"/>
                </a:solidFill>
              </a:rPr>
              <a:t>1</a:t>
            </a:r>
          </a:p>
        </p:txBody>
      </p:sp>
      <p:sp>
        <p:nvSpPr>
          <p:cNvPr id="6" name="Shape 1">
            <a:extLst>
              <a:ext uri="{FF2B5EF4-FFF2-40B4-BE49-F238E27FC236}">
                <a16:creationId xmlns:a16="http://schemas.microsoft.com/office/drawing/2014/main" id="{BA2D2A9D-0EDF-2483-5087-1554E9B39567}"/>
              </a:ext>
            </a:extLst>
          </p:cNvPr>
          <p:cNvSpPr/>
          <p:nvPr/>
        </p:nvSpPr>
        <p:spPr>
          <a:xfrm>
            <a:off x="3921760" y="3034275"/>
            <a:ext cx="510302" cy="510302"/>
          </a:xfrm>
          <a:prstGeom prst="roundRect">
            <a:avLst>
              <a:gd name="adj" fmla="val 6667"/>
            </a:avLst>
          </a:prstGeom>
          <a:solidFill>
            <a:srgbClr val="EEE8DD"/>
          </a:solidFill>
          <a:ln/>
        </p:spPr>
        <p:txBody>
          <a:bodyPr/>
          <a:lstStyle/>
          <a:p>
            <a:pPr algn="ctr"/>
            <a:r>
              <a:rPr lang="en-US" sz="3200">
                <a:solidFill>
                  <a:srgbClr val="543A14"/>
                </a:solidFill>
              </a:rPr>
              <a:t>2</a:t>
            </a:r>
          </a:p>
        </p:txBody>
      </p:sp>
      <p:sp>
        <p:nvSpPr>
          <p:cNvPr id="8" name="Shape 1">
            <a:extLst>
              <a:ext uri="{FF2B5EF4-FFF2-40B4-BE49-F238E27FC236}">
                <a16:creationId xmlns:a16="http://schemas.microsoft.com/office/drawing/2014/main" id="{6BEA7828-29D2-E89A-2C56-DA0ADE9968F5}"/>
              </a:ext>
            </a:extLst>
          </p:cNvPr>
          <p:cNvSpPr/>
          <p:nvPr/>
        </p:nvSpPr>
        <p:spPr>
          <a:xfrm>
            <a:off x="3921760" y="5235355"/>
            <a:ext cx="510302" cy="510302"/>
          </a:xfrm>
          <a:prstGeom prst="roundRect">
            <a:avLst>
              <a:gd name="adj" fmla="val 6667"/>
            </a:avLst>
          </a:prstGeom>
          <a:solidFill>
            <a:srgbClr val="EEE8DD"/>
          </a:solidFill>
          <a:ln/>
        </p:spPr>
        <p:txBody>
          <a:bodyPr/>
          <a:lstStyle/>
          <a:p>
            <a:pPr algn="ctr"/>
            <a:r>
              <a:rPr lang="en-US" sz="3200">
                <a:solidFill>
                  <a:srgbClr val="543A14"/>
                </a:solidFill>
              </a:rPr>
              <a:t>4</a:t>
            </a:r>
          </a:p>
        </p:txBody>
      </p:sp>
      <p:sp>
        <p:nvSpPr>
          <p:cNvPr id="9" name="Shape 1">
            <a:extLst>
              <a:ext uri="{FF2B5EF4-FFF2-40B4-BE49-F238E27FC236}">
                <a16:creationId xmlns:a16="http://schemas.microsoft.com/office/drawing/2014/main" id="{8E4984CC-4F94-844E-0EFE-E8B738BA2460}"/>
              </a:ext>
            </a:extLst>
          </p:cNvPr>
          <p:cNvSpPr/>
          <p:nvPr/>
        </p:nvSpPr>
        <p:spPr>
          <a:xfrm>
            <a:off x="3921760" y="4134815"/>
            <a:ext cx="510302" cy="510302"/>
          </a:xfrm>
          <a:prstGeom prst="roundRect">
            <a:avLst>
              <a:gd name="adj" fmla="val 6667"/>
            </a:avLst>
          </a:prstGeom>
          <a:solidFill>
            <a:srgbClr val="EEE8DD"/>
          </a:solidFill>
          <a:ln/>
        </p:spPr>
        <p:txBody>
          <a:bodyPr/>
          <a:lstStyle/>
          <a:p>
            <a:pPr algn="ctr"/>
            <a:r>
              <a:rPr lang="en-US" sz="3200">
                <a:solidFill>
                  <a:srgbClr val="543A14"/>
                </a:solidFill>
              </a:rPr>
              <a:t>3</a:t>
            </a:r>
          </a:p>
        </p:txBody>
      </p:sp>
      <p:sp>
        <p:nvSpPr>
          <p:cNvPr id="10" name="TextBox 9">
            <a:extLst>
              <a:ext uri="{FF2B5EF4-FFF2-40B4-BE49-F238E27FC236}">
                <a16:creationId xmlns:a16="http://schemas.microsoft.com/office/drawing/2014/main" id="{8B19D72D-759F-6FB5-25AA-25F711778F39}"/>
              </a:ext>
            </a:extLst>
          </p:cNvPr>
          <p:cNvSpPr txBox="1"/>
          <p:nvPr/>
        </p:nvSpPr>
        <p:spPr>
          <a:xfrm>
            <a:off x="4602480" y="1933736"/>
            <a:ext cx="3891280" cy="523220"/>
          </a:xfrm>
          <a:prstGeom prst="rect">
            <a:avLst/>
          </a:prstGeom>
          <a:noFill/>
        </p:spPr>
        <p:txBody>
          <a:bodyPr wrap="square" rtlCol="0">
            <a:spAutoFit/>
          </a:bodyPr>
          <a:lstStyle/>
          <a:p>
            <a:r>
              <a:rPr lang="en-US" sz="2800">
                <a:solidFill>
                  <a:srgbClr val="543A14"/>
                </a:solidFill>
              </a:rPr>
              <a:t>Marketing</a:t>
            </a:r>
          </a:p>
        </p:txBody>
      </p:sp>
      <p:sp>
        <p:nvSpPr>
          <p:cNvPr id="11" name="TextBox 10">
            <a:extLst>
              <a:ext uri="{FF2B5EF4-FFF2-40B4-BE49-F238E27FC236}">
                <a16:creationId xmlns:a16="http://schemas.microsoft.com/office/drawing/2014/main" id="{9A773F79-7309-7A70-7571-989DC8353035}"/>
              </a:ext>
            </a:extLst>
          </p:cNvPr>
          <p:cNvSpPr txBox="1"/>
          <p:nvPr/>
        </p:nvSpPr>
        <p:spPr>
          <a:xfrm>
            <a:off x="4602480" y="3034220"/>
            <a:ext cx="5029200" cy="523220"/>
          </a:xfrm>
          <a:prstGeom prst="rect">
            <a:avLst/>
          </a:prstGeom>
          <a:noFill/>
        </p:spPr>
        <p:txBody>
          <a:bodyPr wrap="square" rtlCol="0">
            <a:spAutoFit/>
          </a:bodyPr>
          <a:lstStyle/>
          <a:p>
            <a:r>
              <a:rPr lang="en-US" sz="2800">
                <a:solidFill>
                  <a:srgbClr val="543A14"/>
                </a:solidFill>
              </a:rPr>
              <a:t>Thiết kế</a:t>
            </a:r>
          </a:p>
        </p:txBody>
      </p:sp>
      <p:sp>
        <p:nvSpPr>
          <p:cNvPr id="12" name="TextBox 11">
            <a:extLst>
              <a:ext uri="{FF2B5EF4-FFF2-40B4-BE49-F238E27FC236}">
                <a16:creationId xmlns:a16="http://schemas.microsoft.com/office/drawing/2014/main" id="{27F847EE-03DA-B2B8-6AF6-E615018FEA59}"/>
              </a:ext>
            </a:extLst>
          </p:cNvPr>
          <p:cNvSpPr txBox="1"/>
          <p:nvPr/>
        </p:nvSpPr>
        <p:spPr>
          <a:xfrm>
            <a:off x="4602480" y="4134815"/>
            <a:ext cx="3891280" cy="523220"/>
          </a:xfrm>
          <a:prstGeom prst="rect">
            <a:avLst/>
          </a:prstGeom>
          <a:noFill/>
        </p:spPr>
        <p:txBody>
          <a:bodyPr wrap="square" rtlCol="0">
            <a:spAutoFit/>
          </a:bodyPr>
          <a:lstStyle/>
          <a:p>
            <a:r>
              <a:rPr lang="en-US" sz="2800">
                <a:solidFill>
                  <a:srgbClr val="543A14"/>
                </a:solidFill>
              </a:rPr>
              <a:t>Quản lý sản phẩm</a:t>
            </a:r>
          </a:p>
        </p:txBody>
      </p:sp>
      <p:sp>
        <p:nvSpPr>
          <p:cNvPr id="13" name="TextBox 12">
            <a:extLst>
              <a:ext uri="{FF2B5EF4-FFF2-40B4-BE49-F238E27FC236}">
                <a16:creationId xmlns:a16="http://schemas.microsoft.com/office/drawing/2014/main" id="{207F3C2C-16B0-739B-8EC1-7A8913CD71FD}"/>
              </a:ext>
            </a:extLst>
          </p:cNvPr>
          <p:cNvSpPr txBox="1"/>
          <p:nvPr/>
        </p:nvSpPr>
        <p:spPr>
          <a:xfrm>
            <a:off x="4602480" y="5235355"/>
            <a:ext cx="4183301" cy="523220"/>
          </a:xfrm>
          <a:prstGeom prst="rect">
            <a:avLst/>
          </a:prstGeom>
          <a:noFill/>
        </p:spPr>
        <p:txBody>
          <a:bodyPr wrap="square" rtlCol="0">
            <a:spAutoFit/>
          </a:bodyPr>
          <a:lstStyle/>
          <a:p>
            <a:r>
              <a:rPr lang="en-US" sz="2800" dirty="0" err="1">
                <a:solidFill>
                  <a:srgbClr val="543A14"/>
                </a:solidFill>
              </a:rPr>
              <a:t>Quản</a:t>
            </a:r>
            <a:r>
              <a:rPr lang="en-US" sz="2800" dirty="0">
                <a:solidFill>
                  <a:srgbClr val="543A14"/>
                </a:solidFill>
              </a:rPr>
              <a:t> </a:t>
            </a:r>
            <a:r>
              <a:rPr lang="en-US" sz="2800" dirty="0" err="1">
                <a:solidFill>
                  <a:srgbClr val="543A14"/>
                </a:solidFill>
              </a:rPr>
              <a:t>lý</a:t>
            </a:r>
            <a:r>
              <a:rPr lang="en-US" sz="2800" dirty="0">
                <a:solidFill>
                  <a:srgbClr val="543A14"/>
                </a:solidFill>
              </a:rPr>
              <a:t> </a:t>
            </a:r>
            <a:r>
              <a:rPr lang="en-US" sz="2800" dirty="0" err="1">
                <a:solidFill>
                  <a:srgbClr val="543A14"/>
                </a:solidFill>
              </a:rPr>
              <a:t>dịch</a:t>
            </a:r>
            <a:r>
              <a:rPr lang="en-US" sz="2800" dirty="0">
                <a:solidFill>
                  <a:srgbClr val="543A14"/>
                </a:solidFill>
              </a:rPr>
              <a:t> </a:t>
            </a:r>
            <a:r>
              <a:rPr lang="en-US" sz="2800" dirty="0" err="1">
                <a:solidFill>
                  <a:srgbClr val="543A14"/>
                </a:solidFill>
              </a:rPr>
              <a:t>vụ</a:t>
            </a:r>
            <a:r>
              <a:rPr lang="en-US" sz="2800" dirty="0">
                <a:solidFill>
                  <a:srgbClr val="543A14"/>
                </a:solidFill>
              </a:rPr>
              <a:t> </a:t>
            </a:r>
            <a:r>
              <a:rPr lang="en-US" sz="2800" dirty="0" err="1">
                <a:solidFill>
                  <a:srgbClr val="543A14"/>
                </a:solidFill>
              </a:rPr>
              <a:t>khách</a:t>
            </a:r>
            <a:r>
              <a:rPr lang="en-US" sz="2800" dirty="0">
                <a:solidFill>
                  <a:srgbClr val="543A14"/>
                </a:solidFill>
              </a:rPr>
              <a:t> </a:t>
            </a:r>
            <a:r>
              <a:rPr lang="en-US" sz="2800" dirty="0" err="1">
                <a:solidFill>
                  <a:srgbClr val="543A14"/>
                </a:solidFill>
              </a:rPr>
              <a:t>hàng</a:t>
            </a:r>
            <a:endParaRPr lang="en-US" sz="2800" dirty="0">
              <a:solidFill>
                <a:srgbClr val="543A14"/>
              </a:solidFill>
            </a:endParaRPr>
          </a:p>
        </p:txBody>
      </p:sp>
      <p:sp>
        <p:nvSpPr>
          <p:cNvPr id="3" name="Rectangle: Rounded Corners 2">
            <a:extLst>
              <a:ext uri="{FF2B5EF4-FFF2-40B4-BE49-F238E27FC236}">
                <a16:creationId xmlns:a16="http://schemas.microsoft.com/office/drawing/2014/main" id="{3F6D59AC-C1C7-141A-A4F3-005A60EA801B}"/>
              </a:ext>
            </a:extLst>
          </p:cNvPr>
          <p:cNvSpPr/>
          <p:nvPr/>
        </p:nvSpPr>
        <p:spPr>
          <a:xfrm>
            <a:off x="10158102" y="5041395"/>
            <a:ext cx="1944547" cy="1585859"/>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ADC2397-DC47-0E7A-63FB-83F71DA2DFBB}"/>
              </a:ext>
            </a:extLst>
          </p:cNvPr>
          <p:cNvSpPr/>
          <p:nvPr/>
        </p:nvSpPr>
        <p:spPr>
          <a:xfrm>
            <a:off x="258374" y="4889895"/>
            <a:ext cx="1611066" cy="1737359"/>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Học Ngành Marketing Có Dễ Xin Việc Không?">
            <a:extLst>
              <a:ext uri="{FF2B5EF4-FFF2-40B4-BE49-F238E27FC236}">
                <a16:creationId xmlns:a16="http://schemas.microsoft.com/office/drawing/2014/main" id="{814EE9C4-E9B1-01C6-FC44-AA1C936F0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93" y="591022"/>
            <a:ext cx="3208442" cy="296641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Sự khác biệt thiết kế đồ họa và thiết kế quảng cáo - LANA Digital">
            <a:extLst>
              <a:ext uri="{FF2B5EF4-FFF2-40B4-BE49-F238E27FC236}">
                <a16:creationId xmlns:a16="http://schemas.microsoft.com/office/drawing/2014/main" id="{F266D7C3-E731-C33B-C98C-26E06CC424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947" y="1357531"/>
            <a:ext cx="3316868" cy="239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562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7A955-27E9-31FA-B9C5-44945D8E0EB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894E9F7-95C2-3F22-5E9D-405532514A3B}"/>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FBD496D-0DA0-5E6A-F508-06E142F1CB20}"/>
              </a:ext>
            </a:extLst>
          </p:cNvPr>
          <p:cNvSpPr txBox="1"/>
          <p:nvPr/>
        </p:nvSpPr>
        <p:spPr>
          <a:xfrm>
            <a:off x="132080" y="392876"/>
            <a:ext cx="12192000" cy="1200329"/>
          </a:xfrm>
          <a:prstGeom prst="rect">
            <a:avLst/>
          </a:prstGeom>
          <a:noFill/>
        </p:spPr>
        <p:txBody>
          <a:bodyPr wrap="square" rtlCol="0">
            <a:spAutoFit/>
          </a:bodyPr>
          <a:lstStyle/>
          <a:p>
            <a:r>
              <a:rPr lang="vi-VN" sz="3600"/>
              <a:t>Các Lý Do Để Agile Method Lại Phù Hợp Với Các Trường Hợp Trên? </a:t>
            </a:r>
          </a:p>
          <a:p>
            <a:endParaRPr lang="vi-VN" sz="3600"/>
          </a:p>
        </p:txBody>
      </p:sp>
      <p:pic>
        <p:nvPicPr>
          <p:cNvPr id="11" name="Image 0" descr="preencoded.png">
            <a:extLst>
              <a:ext uri="{FF2B5EF4-FFF2-40B4-BE49-F238E27FC236}">
                <a16:creationId xmlns:a16="http://schemas.microsoft.com/office/drawing/2014/main" id="{768B8B85-E90A-84A9-F621-B28B5C5ED295}"/>
              </a:ext>
            </a:extLst>
          </p:cNvPr>
          <p:cNvPicPr>
            <a:picLocks noChangeAspect="1"/>
          </p:cNvPicPr>
          <p:nvPr/>
        </p:nvPicPr>
        <p:blipFill>
          <a:blip r:embed="rId2"/>
          <a:stretch>
            <a:fillRect/>
          </a:stretch>
        </p:blipFill>
        <p:spPr>
          <a:xfrm>
            <a:off x="2203796" y="1750352"/>
            <a:ext cx="1307306" cy="1172528"/>
          </a:xfrm>
          <a:prstGeom prst="rect">
            <a:avLst/>
          </a:prstGeom>
          <a:noFill/>
        </p:spPr>
      </p:pic>
      <p:sp>
        <p:nvSpPr>
          <p:cNvPr id="12" name="Text 1">
            <a:extLst>
              <a:ext uri="{FF2B5EF4-FFF2-40B4-BE49-F238E27FC236}">
                <a16:creationId xmlns:a16="http://schemas.microsoft.com/office/drawing/2014/main" id="{1ABBCA51-65F4-1D14-27BE-DE17816DDF63}"/>
              </a:ext>
            </a:extLst>
          </p:cNvPr>
          <p:cNvSpPr/>
          <p:nvPr/>
        </p:nvSpPr>
        <p:spPr>
          <a:xfrm>
            <a:off x="2797501" y="2251130"/>
            <a:ext cx="120015" cy="407075"/>
          </a:xfrm>
          <a:prstGeom prst="rect">
            <a:avLst/>
          </a:prstGeom>
          <a:noFill/>
          <a:ln/>
        </p:spPr>
        <p:txBody>
          <a:bodyPr wrap="none" lIns="0" tIns="0" rIns="0" bIns="0" rtlCol="0" anchor="t"/>
          <a:lstStyle/>
          <a:p>
            <a:pPr marL="0" indent="0" algn="ctr">
              <a:lnSpc>
                <a:spcPts val="3200"/>
              </a:lnSpc>
              <a:buNone/>
            </a:pPr>
            <a:r>
              <a:rPr lang="en-US" sz="2400" dirty="0">
                <a:solidFill>
                  <a:srgbClr val="543A14"/>
                </a:solidFill>
                <a:latin typeface="Gelasio Semi Bold" pitchFamily="34" charset="0"/>
                <a:ea typeface="Gelasio Semi Bold" pitchFamily="34" charset="-122"/>
                <a:cs typeface="Gelasio Semi Bold" pitchFamily="34" charset="-120"/>
              </a:rPr>
              <a:t>1</a:t>
            </a:r>
            <a:endParaRPr lang="en-US" sz="2400" dirty="0">
              <a:solidFill>
                <a:srgbClr val="543A14"/>
              </a:solidFill>
            </a:endParaRPr>
          </a:p>
        </p:txBody>
      </p:sp>
      <p:sp>
        <p:nvSpPr>
          <p:cNvPr id="13" name="Text 2">
            <a:extLst>
              <a:ext uri="{FF2B5EF4-FFF2-40B4-BE49-F238E27FC236}">
                <a16:creationId xmlns:a16="http://schemas.microsoft.com/office/drawing/2014/main" id="{53AEB056-0674-5EFB-B581-2279E3C46156}"/>
              </a:ext>
            </a:extLst>
          </p:cNvPr>
          <p:cNvSpPr/>
          <p:nvPr/>
        </p:nvSpPr>
        <p:spPr>
          <a:xfrm>
            <a:off x="3743358" y="2289886"/>
            <a:ext cx="2738795" cy="318016"/>
          </a:xfrm>
          <a:prstGeom prst="rect">
            <a:avLst/>
          </a:prstGeom>
          <a:noFill/>
          <a:ln/>
        </p:spPr>
        <p:txBody>
          <a:bodyPr wrap="none" lIns="0" tIns="0" rIns="0" bIns="0" rtlCol="0" anchor="t"/>
          <a:lstStyle/>
          <a:p>
            <a:pPr marL="0" indent="0" algn="l">
              <a:lnSpc>
                <a:spcPts val="2500"/>
              </a:lnSpc>
              <a:buNone/>
            </a:pPr>
            <a:r>
              <a:rPr lang="en-US" sz="2400" kern="100">
                <a:solidFill>
                  <a:srgbClr val="543A14"/>
                </a:solidFill>
                <a:effectLst/>
                <a:latin typeface="+mj-lt"/>
                <a:ea typeface="Aptos" panose="020B0004020202020204" pitchFamily="34" charset="0"/>
                <a:cs typeface="Times New Roman" panose="02020603050405020304" pitchFamily="18" charset="0"/>
              </a:rPr>
              <a:t>Linh hoạt</a:t>
            </a:r>
            <a:endParaRPr lang="en-US" sz="2400" dirty="0"/>
          </a:p>
        </p:txBody>
      </p:sp>
      <p:pic>
        <p:nvPicPr>
          <p:cNvPr id="15" name="Image 1" descr="preencoded.png">
            <a:extLst>
              <a:ext uri="{FF2B5EF4-FFF2-40B4-BE49-F238E27FC236}">
                <a16:creationId xmlns:a16="http://schemas.microsoft.com/office/drawing/2014/main" id="{AAF18F27-4020-6EE7-DFA1-3EF662044392}"/>
              </a:ext>
            </a:extLst>
          </p:cNvPr>
          <p:cNvPicPr>
            <a:picLocks noChangeAspect="1"/>
          </p:cNvPicPr>
          <p:nvPr/>
        </p:nvPicPr>
        <p:blipFill>
          <a:blip r:embed="rId3"/>
          <a:stretch>
            <a:fillRect/>
          </a:stretch>
        </p:blipFill>
        <p:spPr>
          <a:xfrm>
            <a:off x="1550203" y="2946455"/>
            <a:ext cx="2614732" cy="1172528"/>
          </a:xfrm>
          <a:prstGeom prst="rect">
            <a:avLst/>
          </a:prstGeom>
          <a:noFill/>
        </p:spPr>
      </p:pic>
      <p:sp>
        <p:nvSpPr>
          <p:cNvPr id="16" name="Text 5">
            <a:extLst>
              <a:ext uri="{FF2B5EF4-FFF2-40B4-BE49-F238E27FC236}">
                <a16:creationId xmlns:a16="http://schemas.microsoft.com/office/drawing/2014/main" id="{7AD26A73-6D4B-24C8-7DDD-784A76D7433F}"/>
              </a:ext>
            </a:extLst>
          </p:cNvPr>
          <p:cNvSpPr/>
          <p:nvPr/>
        </p:nvSpPr>
        <p:spPr>
          <a:xfrm>
            <a:off x="2780356" y="3329122"/>
            <a:ext cx="154186" cy="407075"/>
          </a:xfrm>
          <a:prstGeom prst="rect">
            <a:avLst/>
          </a:prstGeom>
          <a:noFill/>
          <a:ln/>
        </p:spPr>
        <p:txBody>
          <a:bodyPr wrap="none" lIns="0" tIns="0" rIns="0" bIns="0" rtlCol="0" anchor="t"/>
          <a:lstStyle/>
          <a:p>
            <a:pPr marL="0" indent="0" algn="ctr">
              <a:lnSpc>
                <a:spcPts val="3200"/>
              </a:lnSpc>
              <a:buNone/>
            </a:pPr>
            <a:r>
              <a:rPr lang="en-US" sz="2400" dirty="0">
                <a:solidFill>
                  <a:srgbClr val="543A14"/>
                </a:solidFill>
                <a:latin typeface="Gelasio Semi Bold" pitchFamily="34" charset="0"/>
                <a:ea typeface="Gelasio Semi Bold" pitchFamily="34" charset="-122"/>
                <a:cs typeface="Gelasio Semi Bold" pitchFamily="34" charset="-120"/>
              </a:rPr>
              <a:t>2</a:t>
            </a:r>
            <a:endParaRPr lang="en-US" sz="2400" dirty="0">
              <a:solidFill>
                <a:srgbClr val="543A14"/>
              </a:solidFill>
            </a:endParaRPr>
          </a:p>
        </p:txBody>
      </p:sp>
      <p:sp>
        <p:nvSpPr>
          <p:cNvPr id="17" name="Text 6">
            <a:extLst>
              <a:ext uri="{FF2B5EF4-FFF2-40B4-BE49-F238E27FC236}">
                <a16:creationId xmlns:a16="http://schemas.microsoft.com/office/drawing/2014/main" id="{44ED8A48-9793-BBE1-D9B2-5F5B2B52632E}"/>
              </a:ext>
            </a:extLst>
          </p:cNvPr>
          <p:cNvSpPr/>
          <p:nvPr/>
        </p:nvSpPr>
        <p:spPr>
          <a:xfrm>
            <a:off x="4373780" y="3373651"/>
            <a:ext cx="2544008" cy="318016"/>
          </a:xfrm>
          <a:prstGeom prst="rect">
            <a:avLst/>
          </a:prstGeom>
          <a:noFill/>
          <a:ln/>
        </p:spPr>
        <p:txBody>
          <a:bodyPr wrap="none" lIns="0" tIns="0" rIns="0" bIns="0" rtlCol="0" anchor="t"/>
          <a:lstStyle/>
          <a:p>
            <a:pPr algn="just">
              <a:lnSpc>
                <a:spcPct val="107000"/>
              </a:lnSpc>
              <a:spcAft>
                <a:spcPts val="800"/>
              </a:spcAft>
              <a:tabLst>
                <a:tab pos="365760" algn="l"/>
              </a:tabLst>
            </a:pPr>
            <a:r>
              <a:rPr lang="en-US" sz="2400" kern="100">
                <a:solidFill>
                  <a:srgbClr val="543A14"/>
                </a:solidFill>
                <a:effectLst/>
                <a:latin typeface="+mj-lt"/>
                <a:ea typeface="Aptos" panose="020B0004020202020204" pitchFamily="34" charset="0"/>
                <a:cs typeface="Times New Roman" panose="02020603050405020304" pitchFamily="18" charset="0"/>
              </a:rPr>
              <a:t>Tốc độ</a:t>
            </a:r>
          </a:p>
        </p:txBody>
      </p:sp>
      <p:sp>
        <p:nvSpPr>
          <p:cNvPr id="18" name="Shape 8">
            <a:extLst>
              <a:ext uri="{FF2B5EF4-FFF2-40B4-BE49-F238E27FC236}">
                <a16:creationId xmlns:a16="http://schemas.microsoft.com/office/drawing/2014/main" id="{B8B88CE1-4441-1B08-63BB-544F2671014A}"/>
              </a:ext>
            </a:extLst>
          </p:cNvPr>
          <p:cNvSpPr/>
          <p:nvPr/>
        </p:nvSpPr>
        <p:spPr>
          <a:xfrm>
            <a:off x="4194274" y="4106902"/>
            <a:ext cx="6924977" cy="45719"/>
          </a:xfrm>
          <a:prstGeom prst="roundRect">
            <a:avLst>
              <a:gd name="adj" fmla="val 267096"/>
            </a:avLst>
          </a:prstGeom>
          <a:solidFill>
            <a:srgbClr val="213555"/>
          </a:solidFill>
          <a:ln/>
        </p:spPr>
        <p:txBody>
          <a:bodyPr/>
          <a:lstStyle/>
          <a:p>
            <a:endParaRPr lang="en-US"/>
          </a:p>
        </p:txBody>
      </p:sp>
      <p:pic>
        <p:nvPicPr>
          <p:cNvPr id="19" name="Image 2" descr="preencoded.png">
            <a:extLst>
              <a:ext uri="{FF2B5EF4-FFF2-40B4-BE49-F238E27FC236}">
                <a16:creationId xmlns:a16="http://schemas.microsoft.com/office/drawing/2014/main" id="{CCCB2074-4CC8-D960-9046-5202306F0FDA}"/>
              </a:ext>
            </a:extLst>
          </p:cNvPr>
          <p:cNvPicPr>
            <a:picLocks noChangeAspect="1"/>
          </p:cNvPicPr>
          <p:nvPr/>
        </p:nvPicPr>
        <p:blipFill>
          <a:blip r:embed="rId4"/>
          <a:stretch>
            <a:fillRect/>
          </a:stretch>
        </p:blipFill>
        <p:spPr>
          <a:xfrm>
            <a:off x="904155" y="4142558"/>
            <a:ext cx="3922157" cy="1172528"/>
          </a:xfrm>
          <a:prstGeom prst="rect">
            <a:avLst/>
          </a:prstGeom>
          <a:noFill/>
        </p:spPr>
      </p:pic>
      <p:sp>
        <p:nvSpPr>
          <p:cNvPr id="20" name="Text 9">
            <a:extLst>
              <a:ext uri="{FF2B5EF4-FFF2-40B4-BE49-F238E27FC236}">
                <a16:creationId xmlns:a16="http://schemas.microsoft.com/office/drawing/2014/main" id="{1E61D070-EE65-5063-0DFB-7E276B079A96}"/>
              </a:ext>
            </a:extLst>
          </p:cNvPr>
          <p:cNvSpPr/>
          <p:nvPr/>
        </p:nvSpPr>
        <p:spPr>
          <a:xfrm>
            <a:off x="2780833" y="4552489"/>
            <a:ext cx="153353" cy="407075"/>
          </a:xfrm>
          <a:prstGeom prst="rect">
            <a:avLst/>
          </a:prstGeom>
          <a:noFill/>
          <a:ln/>
        </p:spPr>
        <p:txBody>
          <a:bodyPr wrap="none" lIns="0" tIns="0" rIns="0" bIns="0" rtlCol="0" anchor="t"/>
          <a:lstStyle/>
          <a:p>
            <a:pPr marL="0" indent="0" algn="ctr">
              <a:lnSpc>
                <a:spcPts val="3200"/>
              </a:lnSpc>
              <a:buNone/>
            </a:pPr>
            <a:r>
              <a:rPr lang="en-US" sz="2400" dirty="0">
                <a:solidFill>
                  <a:srgbClr val="543A14"/>
                </a:solidFill>
                <a:latin typeface="Gelasio Semi Bold" pitchFamily="34" charset="0"/>
                <a:ea typeface="Gelasio Semi Bold" pitchFamily="34" charset="-122"/>
                <a:cs typeface="Gelasio Semi Bold" pitchFamily="34" charset="-120"/>
              </a:rPr>
              <a:t>3</a:t>
            </a:r>
            <a:endParaRPr lang="en-US" sz="2400" dirty="0">
              <a:solidFill>
                <a:srgbClr val="543A14"/>
              </a:solidFill>
            </a:endParaRPr>
          </a:p>
        </p:txBody>
      </p:sp>
      <p:sp>
        <p:nvSpPr>
          <p:cNvPr id="21" name="Text 10">
            <a:extLst>
              <a:ext uri="{FF2B5EF4-FFF2-40B4-BE49-F238E27FC236}">
                <a16:creationId xmlns:a16="http://schemas.microsoft.com/office/drawing/2014/main" id="{E3E7DC03-60D8-2BB9-D44F-A141365E4FF2}"/>
              </a:ext>
            </a:extLst>
          </p:cNvPr>
          <p:cNvSpPr/>
          <p:nvPr/>
        </p:nvSpPr>
        <p:spPr>
          <a:xfrm>
            <a:off x="5112755" y="4565144"/>
            <a:ext cx="2544008" cy="318016"/>
          </a:xfrm>
          <a:prstGeom prst="rect">
            <a:avLst/>
          </a:prstGeom>
          <a:noFill/>
          <a:ln/>
        </p:spPr>
        <p:txBody>
          <a:bodyPr wrap="none" lIns="0" tIns="0" rIns="0" bIns="0" rtlCol="0" anchor="t"/>
          <a:lstStyle/>
          <a:p>
            <a:pPr marL="0" indent="0" algn="l">
              <a:lnSpc>
                <a:spcPts val="2500"/>
              </a:lnSpc>
              <a:buNone/>
            </a:pPr>
            <a:r>
              <a:rPr lang="en-US" sz="2400" kern="100">
                <a:solidFill>
                  <a:srgbClr val="543A14"/>
                </a:solidFill>
                <a:effectLst/>
                <a:latin typeface="+mj-lt"/>
                <a:ea typeface="Aptos" panose="020B0004020202020204" pitchFamily="34" charset="0"/>
                <a:cs typeface="Times New Roman" panose="02020603050405020304" pitchFamily="18" charset="0"/>
              </a:rPr>
              <a:t>Chất lượng</a:t>
            </a:r>
            <a:endParaRPr lang="en-US" sz="2400" dirty="0"/>
          </a:p>
        </p:txBody>
      </p:sp>
      <p:pic>
        <p:nvPicPr>
          <p:cNvPr id="23" name="Image 3" descr="preencoded.png">
            <a:extLst>
              <a:ext uri="{FF2B5EF4-FFF2-40B4-BE49-F238E27FC236}">
                <a16:creationId xmlns:a16="http://schemas.microsoft.com/office/drawing/2014/main" id="{D9D2748C-BC53-8AA6-04F0-A6AF5F0050EA}"/>
              </a:ext>
            </a:extLst>
          </p:cNvPr>
          <p:cNvPicPr>
            <a:picLocks noChangeAspect="1"/>
          </p:cNvPicPr>
          <p:nvPr/>
        </p:nvPicPr>
        <p:blipFill>
          <a:blip r:embed="rId5"/>
          <a:stretch>
            <a:fillRect/>
          </a:stretch>
        </p:blipFill>
        <p:spPr>
          <a:xfrm>
            <a:off x="242717" y="5357164"/>
            <a:ext cx="5229463" cy="1172528"/>
          </a:xfrm>
          <a:prstGeom prst="rect">
            <a:avLst/>
          </a:prstGeom>
          <a:noFill/>
        </p:spPr>
      </p:pic>
      <p:sp>
        <p:nvSpPr>
          <p:cNvPr id="24" name="Text 13">
            <a:extLst>
              <a:ext uri="{FF2B5EF4-FFF2-40B4-BE49-F238E27FC236}">
                <a16:creationId xmlns:a16="http://schemas.microsoft.com/office/drawing/2014/main" id="{D3308DF0-01FE-D12B-464E-490F3D7ECC67}"/>
              </a:ext>
            </a:extLst>
          </p:cNvPr>
          <p:cNvSpPr/>
          <p:nvPr/>
        </p:nvSpPr>
        <p:spPr>
          <a:xfrm>
            <a:off x="2778213" y="5775856"/>
            <a:ext cx="158591" cy="407075"/>
          </a:xfrm>
          <a:prstGeom prst="rect">
            <a:avLst/>
          </a:prstGeom>
          <a:noFill/>
          <a:ln/>
        </p:spPr>
        <p:txBody>
          <a:bodyPr wrap="none" lIns="0" tIns="0" rIns="0" bIns="0" rtlCol="0" anchor="t"/>
          <a:lstStyle/>
          <a:p>
            <a:pPr marL="0" indent="0" algn="ctr">
              <a:lnSpc>
                <a:spcPts val="3200"/>
              </a:lnSpc>
              <a:buNone/>
            </a:pPr>
            <a:r>
              <a:rPr lang="en-US" sz="2400" dirty="0">
                <a:solidFill>
                  <a:srgbClr val="746558"/>
                </a:solidFill>
                <a:latin typeface="Gelasio Semi Bold" pitchFamily="34" charset="0"/>
                <a:ea typeface="Gelasio Semi Bold" pitchFamily="34" charset="-122"/>
                <a:cs typeface="Gelasio Semi Bold" pitchFamily="34" charset="-120"/>
              </a:rPr>
              <a:t>4</a:t>
            </a:r>
            <a:endParaRPr lang="en-US" sz="2400" dirty="0"/>
          </a:p>
        </p:txBody>
      </p:sp>
      <p:sp>
        <p:nvSpPr>
          <p:cNvPr id="25" name="Text 14">
            <a:extLst>
              <a:ext uri="{FF2B5EF4-FFF2-40B4-BE49-F238E27FC236}">
                <a16:creationId xmlns:a16="http://schemas.microsoft.com/office/drawing/2014/main" id="{B98BE90B-1420-E022-185C-7EFF948EFB7B}"/>
              </a:ext>
            </a:extLst>
          </p:cNvPr>
          <p:cNvSpPr/>
          <p:nvPr/>
        </p:nvSpPr>
        <p:spPr>
          <a:xfrm>
            <a:off x="5675718" y="5820385"/>
            <a:ext cx="2544008" cy="318016"/>
          </a:xfrm>
          <a:prstGeom prst="rect">
            <a:avLst/>
          </a:prstGeom>
          <a:noFill/>
          <a:ln/>
        </p:spPr>
        <p:txBody>
          <a:bodyPr wrap="none" lIns="0" tIns="0" rIns="0" bIns="0" rtlCol="0" anchor="t"/>
          <a:lstStyle/>
          <a:p>
            <a:pPr marL="0" indent="0" algn="l">
              <a:lnSpc>
                <a:spcPts val="2500"/>
              </a:lnSpc>
              <a:buNone/>
            </a:pPr>
            <a:r>
              <a:rPr lang="en-US" sz="2400" kern="100">
                <a:solidFill>
                  <a:srgbClr val="543A14"/>
                </a:solidFill>
                <a:effectLst/>
                <a:latin typeface="+mj-lt"/>
                <a:ea typeface="Aptos" panose="020B0004020202020204" pitchFamily="34" charset="0"/>
                <a:cs typeface="Times New Roman" panose="02020603050405020304" pitchFamily="18" charset="0"/>
              </a:rPr>
              <a:t>Sự hài lòng của khách hàng</a:t>
            </a:r>
            <a:endParaRPr lang="en-US" sz="2400" dirty="0"/>
          </a:p>
        </p:txBody>
      </p:sp>
      <p:sp>
        <p:nvSpPr>
          <p:cNvPr id="29" name="Shape 8">
            <a:extLst>
              <a:ext uri="{FF2B5EF4-FFF2-40B4-BE49-F238E27FC236}">
                <a16:creationId xmlns:a16="http://schemas.microsoft.com/office/drawing/2014/main" id="{16DDFCBF-2CE0-B2C2-231D-8AC65C0EB2F8}"/>
              </a:ext>
            </a:extLst>
          </p:cNvPr>
          <p:cNvSpPr/>
          <p:nvPr/>
        </p:nvSpPr>
        <p:spPr>
          <a:xfrm>
            <a:off x="3522845" y="2896865"/>
            <a:ext cx="7596406" cy="45719"/>
          </a:xfrm>
          <a:prstGeom prst="roundRect">
            <a:avLst>
              <a:gd name="adj" fmla="val 267096"/>
            </a:avLst>
          </a:prstGeom>
          <a:solidFill>
            <a:srgbClr val="213555"/>
          </a:solidFill>
          <a:ln/>
        </p:spPr>
        <p:txBody>
          <a:bodyPr/>
          <a:lstStyle/>
          <a:p>
            <a:endParaRPr lang="en-US"/>
          </a:p>
        </p:txBody>
      </p:sp>
      <p:sp>
        <p:nvSpPr>
          <p:cNvPr id="30" name="Shape 8">
            <a:extLst>
              <a:ext uri="{FF2B5EF4-FFF2-40B4-BE49-F238E27FC236}">
                <a16:creationId xmlns:a16="http://schemas.microsoft.com/office/drawing/2014/main" id="{4AF5D314-E290-0339-0BF0-DA948586BB9B}"/>
              </a:ext>
            </a:extLst>
          </p:cNvPr>
          <p:cNvSpPr/>
          <p:nvPr/>
        </p:nvSpPr>
        <p:spPr>
          <a:xfrm>
            <a:off x="4826312" y="5292942"/>
            <a:ext cx="6292939" cy="45719"/>
          </a:xfrm>
          <a:prstGeom prst="roundRect">
            <a:avLst>
              <a:gd name="adj" fmla="val 267096"/>
            </a:avLst>
          </a:prstGeom>
          <a:solidFill>
            <a:srgbClr val="213555"/>
          </a:solidFill>
          <a:ln/>
        </p:spPr>
        <p:txBody>
          <a:bodyPr/>
          <a:lstStyle/>
          <a:p>
            <a:endParaRPr lang="en-US"/>
          </a:p>
        </p:txBody>
      </p:sp>
      <p:sp>
        <p:nvSpPr>
          <p:cNvPr id="31" name="Shape 8">
            <a:extLst>
              <a:ext uri="{FF2B5EF4-FFF2-40B4-BE49-F238E27FC236}">
                <a16:creationId xmlns:a16="http://schemas.microsoft.com/office/drawing/2014/main" id="{98EC7123-400C-F951-445B-D4199C09583D}"/>
              </a:ext>
            </a:extLst>
          </p:cNvPr>
          <p:cNvSpPr/>
          <p:nvPr/>
        </p:nvSpPr>
        <p:spPr>
          <a:xfrm>
            <a:off x="5490162" y="6486416"/>
            <a:ext cx="5629089" cy="45719"/>
          </a:xfrm>
          <a:prstGeom prst="roundRect">
            <a:avLst>
              <a:gd name="adj" fmla="val 267096"/>
            </a:avLst>
          </a:prstGeom>
          <a:solidFill>
            <a:srgbClr val="213555"/>
          </a:solidFill>
          <a:ln/>
        </p:spPr>
        <p:txBody>
          <a:bodyPr/>
          <a:lstStyle/>
          <a:p>
            <a:endParaRPr lang="en-US"/>
          </a:p>
        </p:txBody>
      </p:sp>
    </p:spTree>
    <p:extLst>
      <p:ext uri="{BB962C8B-B14F-4D97-AF65-F5344CB8AC3E}">
        <p14:creationId xmlns:p14="http://schemas.microsoft.com/office/powerpoint/2010/main" val="2491684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F89C7-B127-0CFE-77AD-9720D117E01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D7A7E0A-A726-7A93-D454-39304D48CC41}"/>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ED1DDFC-FF0E-165F-0A6D-8F142C3522FC}"/>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Phát Triển Một Ứng Dụng Đặt Thức Ăn</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DB8FDE96-7B43-6D8A-637A-6E600024A11E}"/>
              </a:ext>
            </a:extLst>
          </p:cNvPr>
          <p:cNvSpPr txBox="1"/>
          <p:nvPr/>
        </p:nvSpPr>
        <p:spPr>
          <a:xfrm>
            <a:off x="983891" y="1919643"/>
            <a:ext cx="10224218" cy="3970318"/>
          </a:xfrm>
          <a:prstGeom prst="rect">
            <a:avLst/>
          </a:prstGeom>
          <a:noFill/>
        </p:spPr>
        <p:txBody>
          <a:bodyPr wrap="square" rtlCol="0">
            <a:spAutoFit/>
          </a:bodyPr>
          <a:lstStyle/>
          <a:p>
            <a:r>
              <a:rPr lang="en-US" sz="2800">
                <a:solidFill>
                  <a:srgbClr val="578E7E"/>
                </a:solidFill>
              </a:rPr>
              <a:t>- </a:t>
            </a:r>
            <a:r>
              <a:rPr lang="vi-VN" sz="2800">
                <a:solidFill>
                  <a:srgbClr val="578E7E"/>
                </a:solidFill>
              </a:rPr>
              <a:t>Sử dụng Agile:</a:t>
            </a:r>
            <a:r>
              <a:rPr lang="en-US" sz="2800">
                <a:solidFill>
                  <a:srgbClr val="578E7E"/>
                </a:solidFill>
              </a:rPr>
              <a:t> </a:t>
            </a:r>
            <a:r>
              <a:rPr lang="vi-VN" sz="2800">
                <a:solidFill>
                  <a:srgbClr val="543A14"/>
                </a:solidFill>
              </a:rPr>
              <a:t>Đội ngũ phát triển có thể bắt đầu bằng việc xây dựng một phiên bản đơn giản của ứng dụng, sau đó liên tục cập nhật và cải tiến dựa trên phản hồi của người dùng. Ví dụ, nếu người dùng phàn nàn về giao diện khó sử dụng, đội ngũ có thể nhanh chóng cập nhật giao diện để cải thiện trải nghiệm người dùng.</a:t>
            </a:r>
            <a:endParaRPr lang="en-US" sz="2800">
              <a:solidFill>
                <a:srgbClr val="543A14"/>
              </a:solidFill>
            </a:endParaRPr>
          </a:p>
          <a:p>
            <a:r>
              <a:rPr lang="vi-VN" sz="2800">
                <a:solidFill>
                  <a:srgbClr val="578E7E"/>
                </a:solidFill>
              </a:rPr>
              <a:t>- Không sử dụng Agile:</a:t>
            </a:r>
            <a:r>
              <a:rPr lang="en-US" sz="2800">
                <a:solidFill>
                  <a:srgbClr val="578E7E"/>
                </a:solidFill>
              </a:rPr>
              <a:t> </a:t>
            </a:r>
            <a:r>
              <a:rPr lang="vi-VN" sz="2800">
                <a:solidFill>
                  <a:srgbClr val="543A14"/>
                </a:solidFill>
              </a:rPr>
              <a:t>Nếu sử dụng phương pháp truyền thống, đội ngũ phát triển sẽ phải mất nhiều thời gian hơn để hoàn thành toàn bộ ứng dụng trước khi đưa ra thị trường, và có thể không đáp ứng được những thay đổi trong nhu cầu của người dùng.</a:t>
            </a:r>
            <a:endParaRPr lang="en-US" sz="2800">
              <a:solidFill>
                <a:srgbClr val="543A14"/>
              </a:solidFill>
            </a:endParaRPr>
          </a:p>
        </p:txBody>
      </p:sp>
      <p:sp>
        <p:nvSpPr>
          <p:cNvPr id="4" name="Rectangle: Rounded Corners 3">
            <a:extLst>
              <a:ext uri="{FF2B5EF4-FFF2-40B4-BE49-F238E27FC236}">
                <a16:creationId xmlns:a16="http://schemas.microsoft.com/office/drawing/2014/main" id="{348E7965-81FB-3CAE-0682-1487CEC3D662}"/>
              </a:ext>
            </a:extLst>
          </p:cNvPr>
          <p:cNvSpPr/>
          <p:nvPr/>
        </p:nvSpPr>
        <p:spPr>
          <a:xfrm>
            <a:off x="10366932" y="80425"/>
            <a:ext cx="1825068" cy="1520890"/>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6029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71551-6BB1-2645-5A0C-758D9723C6B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C11CC19-D390-FBAA-E1ED-CF64D31E0B64}"/>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01AC8B-2BB2-1CA0-9FA3-4E5D5A609B5C}"/>
              </a:ext>
            </a:extLst>
          </p:cNvPr>
          <p:cNvSpPr txBox="1"/>
          <p:nvPr/>
        </p:nvSpPr>
        <p:spPr>
          <a:xfrm>
            <a:off x="2804160" y="1305831"/>
            <a:ext cx="5923280" cy="523220"/>
          </a:xfrm>
          <a:prstGeom prst="rect">
            <a:avLst/>
          </a:prstGeom>
          <a:noFill/>
        </p:spPr>
        <p:txBody>
          <a:bodyPr wrap="square" rtlCol="0">
            <a:spAutoFit/>
          </a:bodyPr>
          <a:lstStyle/>
          <a:p>
            <a:pPr algn="ctr"/>
            <a:r>
              <a:rPr lang="en-US" sz="2800"/>
              <a:t>JIRA Software </a:t>
            </a:r>
          </a:p>
        </p:txBody>
      </p:sp>
      <p:sp>
        <p:nvSpPr>
          <p:cNvPr id="11" name="TextBox 10">
            <a:extLst>
              <a:ext uri="{FF2B5EF4-FFF2-40B4-BE49-F238E27FC236}">
                <a16:creationId xmlns:a16="http://schemas.microsoft.com/office/drawing/2014/main" id="{9727664E-7E91-76C2-FF60-E00CD8C5107E}"/>
              </a:ext>
            </a:extLst>
          </p:cNvPr>
          <p:cNvSpPr txBox="1"/>
          <p:nvPr/>
        </p:nvSpPr>
        <p:spPr>
          <a:xfrm>
            <a:off x="2491850" y="636656"/>
            <a:ext cx="8176149"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Một Số Công Cụ Quản Lý Dự Án Theo Agile</a:t>
            </a:r>
            <a:endParaRPr lang="vi-VN" sz="3600" dirty="0">
              <a:solidFill>
                <a:srgbClr val="131010"/>
              </a:solidFill>
              <a:latin typeface="Lobster" panose="00000500000000000000" pitchFamily="2" charset="-93"/>
            </a:endParaRPr>
          </a:p>
        </p:txBody>
      </p:sp>
      <p:sp>
        <p:nvSpPr>
          <p:cNvPr id="12" name="TextBox 11">
            <a:extLst>
              <a:ext uri="{FF2B5EF4-FFF2-40B4-BE49-F238E27FC236}">
                <a16:creationId xmlns:a16="http://schemas.microsoft.com/office/drawing/2014/main" id="{1D91362B-60C5-649C-236F-833A43E8EE5B}"/>
              </a:ext>
            </a:extLst>
          </p:cNvPr>
          <p:cNvSpPr txBox="1"/>
          <p:nvPr/>
        </p:nvSpPr>
        <p:spPr>
          <a:xfrm>
            <a:off x="983891" y="1919643"/>
            <a:ext cx="10224218" cy="2677656"/>
          </a:xfrm>
          <a:prstGeom prst="rect">
            <a:avLst/>
          </a:prstGeom>
          <a:noFill/>
        </p:spPr>
        <p:txBody>
          <a:bodyPr wrap="square" rtlCol="0">
            <a:spAutoFit/>
          </a:bodyPr>
          <a:lstStyle/>
          <a:p>
            <a:r>
              <a:rPr lang="en-US" sz="2800">
                <a:solidFill>
                  <a:srgbClr val="578E7E"/>
                </a:solidFill>
              </a:rPr>
              <a:t>- </a:t>
            </a:r>
            <a:r>
              <a:rPr lang="vi-VN" sz="2800">
                <a:solidFill>
                  <a:srgbClr val="578E7E"/>
                </a:solidFill>
              </a:rPr>
              <a:t>Lập kế hoạch</a:t>
            </a:r>
            <a:r>
              <a:rPr lang="en-US" sz="2800">
                <a:solidFill>
                  <a:srgbClr val="578E7E"/>
                </a:solidFill>
              </a:rPr>
              <a:t>: </a:t>
            </a:r>
            <a:r>
              <a:rPr lang="vi-VN" sz="2800">
                <a:solidFill>
                  <a:srgbClr val="543A14"/>
                </a:solidFill>
              </a:rPr>
              <a:t>JIRA giúp các nhóm lập kế hoạch Sprint, quản lý Product Backlog và Issue, hỗ trợ quản lý dự án theo phương pháp Agile.</a:t>
            </a:r>
            <a:endParaRPr lang="en-US" sz="2800">
              <a:solidFill>
                <a:srgbClr val="543A14"/>
              </a:solidFill>
            </a:endParaRPr>
          </a:p>
          <a:p>
            <a:r>
              <a:rPr lang="vi-VN" sz="2800">
                <a:solidFill>
                  <a:srgbClr val="578E7E"/>
                </a:solidFill>
              </a:rPr>
              <a:t>- Theo dõi tiến độ:</a:t>
            </a:r>
            <a:r>
              <a:rPr lang="en-US" sz="2800">
                <a:solidFill>
                  <a:srgbClr val="578E7E"/>
                </a:solidFill>
              </a:rPr>
              <a:t> </a:t>
            </a:r>
            <a:r>
              <a:rPr lang="vi-VN" sz="2800">
                <a:solidFill>
                  <a:srgbClr val="543A14"/>
                </a:solidFill>
              </a:rPr>
              <a:t>Công cụ này cho phép theo dõi tiến độ, quản lý Backlog, phát hành phần mềm và quản lý lỗi hiệu quả.</a:t>
            </a:r>
            <a:endParaRPr lang="en-US" sz="2800">
              <a:solidFill>
                <a:srgbClr val="543A14"/>
              </a:solidFill>
            </a:endParaRPr>
          </a:p>
          <a:p>
            <a:r>
              <a:rPr lang="vi-VN" sz="2800">
                <a:solidFill>
                  <a:srgbClr val="578E7E"/>
                </a:solidFill>
              </a:rPr>
              <a:t>- Báo cáo và hoàn thiện:</a:t>
            </a:r>
            <a:r>
              <a:rPr lang="en-US" sz="2800">
                <a:solidFill>
                  <a:srgbClr val="578E7E"/>
                </a:solidFill>
              </a:rPr>
              <a:t> </a:t>
            </a:r>
            <a:r>
              <a:rPr lang="vi-VN" sz="2800">
                <a:solidFill>
                  <a:srgbClr val="543A14"/>
                </a:solidFill>
              </a:rPr>
              <a:t>JIRA cung cấp các báo cáo về tiến độ và hiệu quả dự án, giúp hoàn thiện sản phẩm một cách tối ưu.</a:t>
            </a:r>
            <a:endParaRPr lang="en-US" sz="2800">
              <a:solidFill>
                <a:srgbClr val="543A14"/>
              </a:solidFill>
            </a:endParaRPr>
          </a:p>
        </p:txBody>
      </p:sp>
      <p:sp>
        <p:nvSpPr>
          <p:cNvPr id="13" name="Rectangle: Rounded Corners 12">
            <a:extLst>
              <a:ext uri="{FF2B5EF4-FFF2-40B4-BE49-F238E27FC236}">
                <a16:creationId xmlns:a16="http://schemas.microsoft.com/office/drawing/2014/main" id="{6CA19BFC-EEA4-4D06-E5FE-64609623A71C}"/>
              </a:ext>
            </a:extLst>
          </p:cNvPr>
          <p:cNvSpPr/>
          <p:nvPr/>
        </p:nvSpPr>
        <p:spPr>
          <a:xfrm>
            <a:off x="676780" y="4869129"/>
            <a:ext cx="2127380" cy="171704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3238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CC85C-795A-1642-1B2C-C3F4A3F1B7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043BE0-727D-465A-515A-6212D934FF1C}"/>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50CF5E-EFFE-1E43-0AD6-1EF4F82BF0A0}"/>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 Trello</a:t>
            </a:r>
            <a:endParaRPr lang="vi-VN" sz="3600" dirty="0">
              <a:solidFill>
                <a:srgbClr val="131010"/>
              </a:solidFill>
              <a:latin typeface="Lobster" panose="00000500000000000000" pitchFamily="2" charset="-93"/>
            </a:endParaRPr>
          </a:p>
        </p:txBody>
      </p:sp>
      <p:sp>
        <p:nvSpPr>
          <p:cNvPr id="7" name="TextBox 6">
            <a:extLst>
              <a:ext uri="{FF2B5EF4-FFF2-40B4-BE49-F238E27FC236}">
                <a16:creationId xmlns:a16="http://schemas.microsoft.com/office/drawing/2014/main" id="{4BFC927E-7DB7-5FC6-F8BF-FF3C35E93651}"/>
              </a:ext>
            </a:extLst>
          </p:cNvPr>
          <p:cNvSpPr txBox="1"/>
          <p:nvPr/>
        </p:nvSpPr>
        <p:spPr>
          <a:xfrm>
            <a:off x="983891" y="1919643"/>
            <a:ext cx="10224218" cy="3970318"/>
          </a:xfrm>
          <a:prstGeom prst="rect">
            <a:avLst/>
          </a:prstGeom>
          <a:noFill/>
        </p:spPr>
        <p:txBody>
          <a:bodyPr wrap="square" rtlCol="0">
            <a:spAutoFit/>
          </a:bodyPr>
          <a:lstStyle/>
          <a:p>
            <a:r>
              <a:rPr lang="en-US" sz="2800">
                <a:solidFill>
                  <a:srgbClr val="578E7E"/>
                </a:solidFill>
              </a:rPr>
              <a:t>- </a:t>
            </a:r>
            <a:r>
              <a:rPr lang="vi-VN" sz="2800">
                <a:solidFill>
                  <a:srgbClr val="578E7E"/>
                </a:solidFill>
              </a:rPr>
              <a:t>Quản lý công việc trực quan:</a:t>
            </a:r>
            <a:r>
              <a:rPr lang="en-US" sz="2800">
                <a:solidFill>
                  <a:srgbClr val="578E7E"/>
                </a:solidFill>
              </a:rPr>
              <a:t> </a:t>
            </a:r>
            <a:r>
              <a:rPr lang="vi-VN" sz="2800">
                <a:solidFill>
                  <a:srgbClr val="543A14"/>
                </a:solidFill>
              </a:rPr>
              <a:t>Trello sử dụng bảng thông tin, danh sách và thẻ để tạo ra các bảng trực quan về nhiệm vụ, lấy cảm hứng từ phương pháp Kanban và áp dụng nguyên tắc Agile.</a:t>
            </a:r>
          </a:p>
          <a:p>
            <a:r>
              <a:rPr lang="vi-VN" sz="2800">
                <a:solidFill>
                  <a:srgbClr val="578E7E"/>
                </a:solidFill>
              </a:rPr>
              <a:t>- Phù hợp cho nhóm nhỏ:</a:t>
            </a:r>
            <a:r>
              <a:rPr lang="en-US" sz="2800">
                <a:solidFill>
                  <a:srgbClr val="578E7E"/>
                </a:solidFill>
              </a:rPr>
              <a:t> </a:t>
            </a:r>
            <a:r>
              <a:rPr lang="vi-VN" sz="2800">
                <a:solidFill>
                  <a:srgbClr val="543A14"/>
                </a:solidFill>
              </a:rPr>
              <a:t>Trello đặc biệt phù hợp cho các nhóm Agile nhỏ (3-10 người) với khối lượng công việc không quá nhiều, giúp theo dõi tiến độ và đảm bảo hoàn thành đúng thời hạn.</a:t>
            </a:r>
            <a:endParaRPr lang="en-US" sz="2800">
              <a:solidFill>
                <a:srgbClr val="543A14"/>
              </a:solidFill>
            </a:endParaRPr>
          </a:p>
          <a:p>
            <a:r>
              <a:rPr lang="vi-VN" sz="2800">
                <a:solidFill>
                  <a:srgbClr val="578E7E"/>
                </a:solidFill>
              </a:rPr>
              <a:t>- Cộng tác thời gian thực:</a:t>
            </a:r>
            <a:r>
              <a:rPr lang="en-US" sz="2800">
                <a:solidFill>
                  <a:srgbClr val="578E7E"/>
                </a:solidFill>
              </a:rPr>
              <a:t> </a:t>
            </a:r>
            <a:r>
              <a:rPr lang="vi-VN" sz="2800">
                <a:solidFill>
                  <a:srgbClr val="543A14"/>
                </a:solidFill>
              </a:rPr>
              <a:t>Trello cho phép cộng tác theo thời gian thực, giao diện đơn giản và dễ sử dụng, cùng với gói miễn phí phù hợp cho nhóm nhỏ và ngân sách hạn hẹp.</a:t>
            </a:r>
          </a:p>
        </p:txBody>
      </p:sp>
      <p:sp>
        <p:nvSpPr>
          <p:cNvPr id="9" name="Rectangle: Rounded Corners 8">
            <a:extLst>
              <a:ext uri="{FF2B5EF4-FFF2-40B4-BE49-F238E27FC236}">
                <a16:creationId xmlns:a16="http://schemas.microsoft.com/office/drawing/2014/main" id="{29344070-F464-A744-C77D-E9FB4206AA1B}"/>
              </a:ext>
            </a:extLst>
          </p:cNvPr>
          <p:cNvSpPr/>
          <p:nvPr/>
        </p:nvSpPr>
        <p:spPr>
          <a:xfrm>
            <a:off x="10184052" y="0"/>
            <a:ext cx="183522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093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41F15-30A3-4567-A76D-324E2037B2B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F09000A-8A81-F74E-40DF-08EDB40DF40C}"/>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ED249E9-20E2-FF41-7867-02FFB8135B1B}"/>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Base Wework</a:t>
            </a:r>
            <a:endParaRPr lang="vi-VN" sz="3600" dirty="0">
              <a:solidFill>
                <a:srgbClr val="131010"/>
              </a:solidFill>
              <a:latin typeface="Lobster" panose="00000500000000000000" pitchFamily="2" charset="-93"/>
            </a:endParaRPr>
          </a:p>
        </p:txBody>
      </p:sp>
      <p:sp>
        <p:nvSpPr>
          <p:cNvPr id="7" name="TextBox 6">
            <a:extLst>
              <a:ext uri="{FF2B5EF4-FFF2-40B4-BE49-F238E27FC236}">
                <a16:creationId xmlns:a16="http://schemas.microsoft.com/office/drawing/2014/main" id="{0DC337EB-B037-A92A-596D-40780A5378FE}"/>
              </a:ext>
            </a:extLst>
          </p:cNvPr>
          <p:cNvSpPr txBox="1"/>
          <p:nvPr/>
        </p:nvSpPr>
        <p:spPr>
          <a:xfrm>
            <a:off x="994288" y="1919643"/>
            <a:ext cx="10224218" cy="3970318"/>
          </a:xfrm>
          <a:prstGeom prst="rect">
            <a:avLst/>
          </a:prstGeom>
          <a:noFill/>
        </p:spPr>
        <p:txBody>
          <a:bodyPr wrap="square" rtlCol="0">
            <a:spAutoFit/>
          </a:bodyPr>
          <a:lstStyle/>
          <a:p>
            <a:r>
              <a:rPr lang="en-US" sz="2800">
                <a:solidFill>
                  <a:srgbClr val="578E7E"/>
                </a:solidFill>
              </a:rPr>
              <a:t>- </a:t>
            </a:r>
            <a:r>
              <a:rPr lang="vi-VN" sz="2800">
                <a:solidFill>
                  <a:srgbClr val="578E7E"/>
                </a:solidFill>
              </a:rPr>
              <a:t>Quản lý dự án toàn diện:</a:t>
            </a:r>
            <a:r>
              <a:rPr lang="en-US" sz="2800">
                <a:solidFill>
                  <a:srgbClr val="578E7E"/>
                </a:solidFill>
              </a:rPr>
              <a:t> </a:t>
            </a:r>
            <a:r>
              <a:rPr lang="vi-VN" sz="2800">
                <a:solidFill>
                  <a:srgbClr val="543A14"/>
                </a:solidFill>
              </a:rPr>
              <a:t>Base Wework cung cấp đầy đủ tính năng để theo dõi danh sách nhiệm vụ, thời hạn, tiến độ và nguồn lực dự án, cho phép xem tổng quan hoặc chi tiết từng nhóm công việc và sub-task.</a:t>
            </a:r>
            <a:endParaRPr lang="en-US" sz="2800">
              <a:solidFill>
                <a:srgbClr val="543A14"/>
              </a:solidFill>
            </a:endParaRPr>
          </a:p>
          <a:p>
            <a:r>
              <a:rPr lang="vi-VN" sz="2800">
                <a:solidFill>
                  <a:srgbClr val="578E7E"/>
                </a:solidFill>
              </a:rPr>
              <a:t>- Linh hoạt theo nhiều mô hình:</a:t>
            </a:r>
            <a:r>
              <a:rPr lang="en-US" sz="2800">
                <a:solidFill>
                  <a:srgbClr val="578E7E"/>
                </a:solidFill>
              </a:rPr>
              <a:t> </a:t>
            </a:r>
            <a:r>
              <a:rPr lang="vi-VN" sz="2800">
                <a:solidFill>
                  <a:srgbClr val="543A14"/>
                </a:solidFill>
              </a:rPr>
              <a:t>Phần mềm hỗ trợ quản lý dự án theo nhiều mô hình như Kanban, To-do list, Lịch biểu, và sơ đồ Gantt, phù hợp với nhiều phương pháp quản lý khác nhau.</a:t>
            </a:r>
            <a:endParaRPr lang="en-US" sz="2800">
              <a:solidFill>
                <a:srgbClr val="543A14"/>
              </a:solidFill>
            </a:endParaRPr>
          </a:p>
          <a:p>
            <a:r>
              <a:rPr lang="vi-VN" sz="2800">
                <a:solidFill>
                  <a:srgbClr val="578E7E"/>
                </a:solidFill>
              </a:rPr>
              <a:t>- Theo dõi trạng thái công việc:</a:t>
            </a:r>
            <a:r>
              <a:rPr lang="en-US" sz="2800">
                <a:solidFill>
                  <a:srgbClr val="578E7E"/>
                </a:solidFill>
              </a:rPr>
              <a:t> </a:t>
            </a:r>
            <a:r>
              <a:rPr lang="vi-VN" sz="2800">
                <a:solidFill>
                  <a:srgbClr val="543A14"/>
                </a:solidFill>
              </a:rPr>
              <a:t>Base Wework quản lý các yếu tố như Product, Sprint, Backlog, Task, và trạng thái công việc (to-do, doing, done) để đảm bảo tiến độ và hiệu quả dự án.</a:t>
            </a:r>
          </a:p>
        </p:txBody>
      </p:sp>
      <p:sp>
        <p:nvSpPr>
          <p:cNvPr id="2" name="Rectangle: Rounded Corners 1">
            <a:extLst>
              <a:ext uri="{FF2B5EF4-FFF2-40B4-BE49-F238E27FC236}">
                <a16:creationId xmlns:a16="http://schemas.microsoft.com/office/drawing/2014/main" id="{B1965281-035C-738C-0251-E16C2C67C0B8}"/>
              </a:ext>
            </a:extLst>
          </p:cNvPr>
          <p:cNvSpPr/>
          <p:nvPr/>
        </p:nvSpPr>
        <p:spPr>
          <a:xfrm>
            <a:off x="10265332" y="143456"/>
            <a:ext cx="1743788" cy="1616295"/>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8944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80506-DE20-11B8-0007-1249612F35D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C9F3DDF-CE5F-4C48-1CEE-6453940FBC22}"/>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8B81633-0B96-FFBA-FC64-3A767B81AE03}"/>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Cách Thức Tiến Hành</a:t>
            </a:r>
            <a:endParaRPr lang="vi-VN" sz="3600" dirty="0">
              <a:solidFill>
                <a:srgbClr val="131010"/>
              </a:solidFill>
              <a:latin typeface="Lobster" panose="00000500000000000000" pitchFamily="2" charset="-93"/>
            </a:endParaRPr>
          </a:p>
        </p:txBody>
      </p:sp>
      <p:sp>
        <p:nvSpPr>
          <p:cNvPr id="4" name="TextBox 3">
            <a:extLst>
              <a:ext uri="{FF2B5EF4-FFF2-40B4-BE49-F238E27FC236}">
                <a16:creationId xmlns:a16="http://schemas.microsoft.com/office/drawing/2014/main" id="{DB7B6EDC-C063-976D-C090-7A7AE0225784}"/>
              </a:ext>
            </a:extLst>
          </p:cNvPr>
          <p:cNvSpPr txBox="1"/>
          <p:nvPr/>
        </p:nvSpPr>
        <p:spPr>
          <a:xfrm>
            <a:off x="1750683" y="1412778"/>
            <a:ext cx="8350898" cy="3108543"/>
          </a:xfrm>
          <a:prstGeom prst="rect">
            <a:avLst/>
          </a:prstGeom>
          <a:noFill/>
        </p:spPr>
        <p:txBody>
          <a:bodyPr wrap="square" rtlCol="0">
            <a:spAutoFit/>
          </a:bodyPr>
          <a:lstStyle/>
          <a:p>
            <a:r>
              <a:rPr lang="vi-VN" sz="2800" dirty="0">
                <a:solidFill>
                  <a:srgbClr val="543A14"/>
                </a:solidFill>
              </a:rPr>
              <a:t>Bước 1: Xác định tầm nhìn dự án. </a:t>
            </a:r>
          </a:p>
          <a:p>
            <a:r>
              <a:rPr lang="vi-VN" sz="2800" dirty="0">
                <a:solidFill>
                  <a:srgbClr val="543A14"/>
                </a:solidFill>
              </a:rPr>
              <a:t>Bước 2: Xây dựng lộ trình chung để thực hiện dự án.</a:t>
            </a:r>
          </a:p>
          <a:p>
            <a:r>
              <a:rPr lang="vi-VN" sz="2800" dirty="0">
                <a:solidFill>
                  <a:srgbClr val="543A14"/>
                </a:solidFill>
              </a:rPr>
              <a:t>Bước 3: Tiến hành lập kế hoạch từng giai đoạn. </a:t>
            </a:r>
          </a:p>
          <a:p>
            <a:r>
              <a:rPr lang="vi-VN" sz="2800" dirty="0">
                <a:solidFill>
                  <a:srgbClr val="543A14"/>
                </a:solidFill>
              </a:rPr>
              <a:t>Bước 4: Phân tích các yêu cầu trong quá trình thực hiện. </a:t>
            </a:r>
          </a:p>
          <a:p>
            <a:r>
              <a:rPr lang="vi-VN" sz="2800" dirty="0">
                <a:solidFill>
                  <a:srgbClr val="543A14"/>
                </a:solidFill>
              </a:rPr>
              <a:t>Bước 5: nhóm phát triển triển khai dự án. </a:t>
            </a:r>
          </a:p>
          <a:p>
            <a:r>
              <a:rPr lang="vi-VN" sz="2800" dirty="0">
                <a:solidFill>
                  <a:srgbClr val="543A14"/>
                </a:solidFill>
              </a:rPr>
              <a:t>Bước 6: Kiểm thử các vấn đề có thể phát sinh. </a:t>
            </a:r>
          </a:p>
          <a:p>
            <a:r>
              <a:rPr lang="vi-VN" sz="2800" dirty="0">
                <a:solidFill>
                  <a:srgbClr val="543A14"/>
                </a:solidFill>
              </a:rPr>
              <a:t>Bước 7: Bàn giao dự án cho khách hàng.</a:t>
            </a:r>
            <a:endParaRPr lang="en-US" sz="2800" dirty="0">
              <a:solidFill>
                <a:srgbClr val="543A14"/>
              </a:solidFill>
            </a:endParaRPr>
          </a:p>
        </p:txBody>
      </p:sp>
      <p:sp>
        <p:nvSpPr>
          <p:cNvPr id="7" name="Rectangle: Rounded Corners 6">
            <a:extLst>
              <a:ext uri="{FF2B5EF4-FFF2-40B4-BE49-F238E27FC236}">
                <a16:creationId xmlns:a16="http://schemas.microsoft.com/office/drawing/2014/main" id="{ADB3C9B1-3E08-D654-BAD6-7A4AA445EAC8}"/>
              </a:ext>
            </a:extLst>
          </p:cNvPr>
          <p:cNvSpPr/>
          <p:nvPr/>
        </p:nvSpPr>
        <p:spPr>
          <a:xfrm>
            <a:off x="10275492" y="80425"/>
            <a:ext cx="184538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130502B-7BFA-C9E1-A5B9-BCFAEBF7F44A}"/>
              </a:ext>
            </a:extLst>
          </p:cNvPr>
          <p:cNvSpPr/>
          <p:nvPr/>
        </p:nvSpPr>
        <p:spPr>
          <a:xfrm>
            <a:off x="81280" y="5277187"/>
            <a:ext cx="1788160" cy="1418253"/>
          </a:xfrm>
          <a:prstGeom prst="roundRect">
            <a:avLst/>
          </a:prstGeom>
          <a:blipFill>
            <a:blip r:embed="rId3">
              <a:extLst>
                <a:ext uri="{96DAC541-7B7A-43D3-8B79-37D633B846F1}">
                  <asvg:svgBlip xmlns:asvg="http://schemas.microsoft.com/office/drawing/2016/SVG/main" r:embed="rId4"/>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descr="Top 3 quy trình phát triển phần mềm phổ biến hiện nay">
            <a:extLst>
              <a:ext uri="{FF2B5EF4-FFF2-40B4-BE49-F238E27FC236}">
                <a16:creationId xmlns:a16="http://schemas.microsoft.com/office/drawing/2014/main" id="{85F9F8A6-CF3C-42C8-C410-E6EE432CD6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6734" y="3271101"/>
            <a:ext cx="3741355" cy="3506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039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60D5-0F7E-BFE0-8ED5-998EAF2EDF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E06CD2-38D6-9A89-2079-3E98F93435A7}"/>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C9ACC5E-3418-295F-02A4-9CF3145CCDA2}"/>
              </a:ext>
            </a:extLst>
          </p:cNvPr>
          <p:cNvSpPr txBox="1"/>
          <p:nvPr/>
        </p:nvSpPr>
        <p:spPr>
          <a:xfrm>
            <a:off x="1371600" y="709974"/>
            <a:ext cx="8900160"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Nguyên Tắc Cốt Lõi Của Agile Method</a:t>
            </a:r>
            <a:endParaRPr lang="vi-VN" sz="3600" dirty="0">
              <a:solidFill>
                <a:srgbClr val="131010"/>
              </a:solidFill>
              <a:latin typeface="Lobster" panose="00000500000000000000" pitchFamily="2" charset="-93"/>
            </a:endParaRPr>
          </a:p>
        </p:txBody>
      </p:sp>
      <p:sp>
        <p:nvSpPr>
          <p:cNvPr id="4" name="Shape 1">
            <a:extLst>
              <a:ext uri="{FF2B5EF4-FFF2-40B4-BE49-F238E27FC236}">
                <a16:creationId xmlns:a16="http://schemas.microsoft.com/office/drawing/2014/main" id="{76EA9770-62E5-5513-5CE8-6835FABA52C9}"/>
              </a:ext>
            </a:extLst>
          </p:cNvPr>
          <p:cNvSpPr/>
          <p:nvPr/>
        </p:nvSpPr>
        <p:spPr>
          <a:xfrm>
            <a:off x="3921760" y="1933736"/>
            <a:ext cx="510302" cy="510302"/>
          </a:xfrm>
          <a:prstGeom prst="roundRect">
            <a:avLst>
              <a:gd name="adj" fmla="val 6667"/>
            </a:avLst>
          </a:prstGeom>
          <a:solidFill>
            <a:srgbClr val="EEE8DD"/>
          </a:solidFill>
          <a:ln/>
        </p:spPr>
        <p:txBody>
          <a:bodyPr/>
          <a:lstStyle/>
          <a:p>
            <a:pPr algn="ctr"/>
            <a:r>
              <a:rPr lang="en-US" sz="3200">
                <a:solidFill>
                  <a:srgbClr val="543A14"/>
                </a:solidFill>
              </a:rPr>
              <a:t>1</a:t>
            </a:r>
          </a:p>
        </p:txBody>
      </p:sp>
      <p:sp>
        <p:nvSpPr>
          <p:cNvPr id="6" name="Shape 1">
            <a:extLst>
              <a:ext uri="{FF2B5EF4-FFF2-40B4-BE49-F238E27FC236}">
                <a16:creationId xmlns:a16="http://schemas.microsoft.com/office/drawing/2014/main" id="{0955ADBD-AA77-2815-C5F8-B50EFE77C4E1}"/>
              </a:ext>
            </a:extLst>
          </p:cNvPr>
          <p:cNvSpPr/>
          <p:nvPr/>
        </p:nvSpPr>
        <p:spPr>
          <a:xfrm>
            <a:off x="3921760" y="3034275"/>
            <a:ext cx="510302" cy="510302"/>
          </a:xfrm>
          <a:prstGeom prst="roundRect">
            <a:avLst>
              <a:gd name="adj" fmla="val 6667"/>
            </a:avLst>
          </a:prstGeom>
          <a:solidFill>
            <a:srgbClr val="EEE8DD"/>
          </a:solidFill>
          <a:ln/>
        </p:spPr>
        <p:txBody>
          <a:bodyPr/>
          <a:lstStyle/>
          <a:p>
            <a:pPr algn="ctr"/>
            <a:r>
              <a:rPr lang="en-US" sz="3200">
                <a:solidFill>
                  <a:srgbClr val="543A14"/>
                </a:solidFill>
              </a:rPr>
              <a:t>2</a:t>
            </a:r>
          </a:p>
        </p:txBody>
      </p:sp>
      <p:sp>
        <p:nvSpPr>
          <p:cNvPr id="8" name="Shape 1">
            <a:extLst>
              <a:ext uri="{FF2B5EF4-FFF2-40B4-BE49-F238E27FC236}">
                <a16:creationId xmlns:a16="http://schemas.microsoft.com/office/drawing/2014/main" id="{E525218F-DA2D-1C1C-68BE-BEBF0C61AE9D}"/>
              </a:ext>
            </a:extLst>
          </p:cNvPr>
          <p:cNvSpPr/>
          <p:nvPr/>
        </p:nvSpPr>
        <p:spPr>
          <a:xfrm>
            <a:off x="3921760" y="5235355"/>
            <a:ext cx="510302" cy="510302"/>
          </a:xfrm>
          <a:prstGeom prst="roundRect">
            <a:avLst>
              <a:gd name="adj" fmla="val 6667"/>
            </a:avLst>
          </a:prstGeom>
          <a:solidFill>
            <a:srgbClr val="EEE8DD"/>
          </a:solidFill>
          <a:ln/>
        </p:spPr>
        <p:txBody>
          <a:bodyPr/>
          <a:lstStyle/>
          <a:p>
            <a:pPr algn="ctr"/>
            <a:r>
              <a:rPr lang="en-US" sz="3200">
                <a:solidFill>
                  <a:srgbClr val="543A14"/>
                </a:solidFill>
              </a:rPr>
              <a:t>4</a:t>
            </a:r>
          </a:p>
        </p:txBody>
      </p:sp>
      <p:sp>
        <p:nvSpPr>
          <p:cNvPr id="9" name="Shape 1">
            <a:extLst>
              <a:ext uri="{FF2B5EF4-FFF2-40B4-BE49-F238E27FC236}">
                <a16:creationId xmlns:a16="http://schemas.microsoft.com/office/drawing/2014/main" id="{1B28CCB8-B05E-6C47-E7BB-972008AD048B}"/>
              </a:ext>
            </a:extLst>
          </p:cNvPr>
          <p:cNvSpPr/>
          <p:nvPr/>
        </p:nvSpPr>
        <p:spPr>
          <a:xfrm>
            <a:off x="3921760" y="4134815"/>
            <a:ext cx="510302" cy="510302"/>
          </a:xfrm>
          <a:prstGeom prst="roundRect">
            <a:avLst>
              <a:gd name="adj" fmla="val 6667"/>
            </a:avLst>
          </a:prstGeom>
          <a:solidFill>
            <a:srgbClr val="EEE8DD"/>
          </a:solidFill>
          <a:ln/>
        </p:spPr>
        <p:txBody>
          <a:bodyPr/>
          <a:lstStyle/>
          <a:p>
            <a:pPr algn="ctr"/>
            <a:r>
              <a:rPr lang="en-US" sz="3200">
                <a:solidFill>
                  <a:srgbClr val="543A14"/>
                </a:solidFill>
              </a:rPr>
              <a:t>3</a:t>
            </a:r>
          </a:p>
        </p:txBody>
      </p:sp>
      <p:sp>
        <p:nvSpPr>
          <p:cNvPr id="10" name="TextBox 9">
            <a:extLst>
              <a:ext uri="{FF2B5EF4-FFF2-40B4-BE49-F238E27FC236}">
                <a16:creationId xmlns:a16="http://schemas.microsoft.com/office/drawing/2014/main" id="{2027F9FD-8F95-A1ED-7C93-99197C845A74}"/>
              </a:ext>
            </a:extLst>
          </p:cNvPr>
          <p:cNvSpPr txBox="1"/>
          <p:nvPr/>
        </p:nvSpPr>
        <p:spPr>
          <a:xfrm>
            <a:off x="4602480" y="1933736"/>
            <a:ext cx="3891280" cy="523220"/>
          </a:xfrm>
          <a:prstGeom prst="rect">
            <a:avLst/>
          </a:prstGeom>
          <a:noFill/>
        </p:spPr>
        <p:txBody>
          <a:bodyPr wrap="square" rtlCol="0">
            <a:spAutoFit/>
          </a:bodyPr>
          <a:lstStyle/>
          <a:p>
            <a:r>
              <a:rPr lang="vi-VN" sz="2800">
                <a:solidFill>
                  <a:srgbClr val="543A14"/>
                </a:solidFill>
              </a:rPr>
              <a:t>Cộng tác</a:t>
            </a:r>
            <a:endParaRPr lang="en-US" sz="2800">
              <a:solidFill>
                <a:srgbClr val="543A14"/>
              </a:solidFill>
            </a:endParaRPr>
          </a:p>
        </p:txBody>
      </p:sp>
      <p:sp>
        <p:nvSpPr>
          <p:cNvPr id="11" name="TextBox 10">
            <a:extLst>
              <a:ext uri="{FF2B5EF4-FFF2-40B4-BE49-F238E27FC236}">
                <a16:creationId xmlns:a16="http://schemas.microsoft.com/office/drawing/2014/main" id="{CDA17B31-5C9F-5E77-A96A-A2C6D26CCDA7}"/>
              </a:ext>
            </a:extLst>
          </p:cNvPr>
          <p:cNvSpPr txBox="1"/>
          <p:nvPr/>
        </p:nvSpPr>
        <p:spPr>
          <a:xfrm>
            <a:off x="4602480" y="3034220"/>
            <a:ext cx="5029200" cy="523220"/>
          </a:xfrm>
          <a:prstGeom prst="rect">
            <a:avLst/>
          </a:prstGeom>
          <a:noFill/>
        </p:spPr>
        <p:txBody>
          <a:bodyPr wrap="square" rtlCol="0">
            <a:spAutoFit/>
          </a:bodyPr>
          <a:lstStyle/>
          <a:p>
            <a:r>
              <a:rPr lang="vi-VN" sz="2800">
                <a:solidFill>
                  <a:srgbClr val="543A14"/>
                </a:solidFill>
              </a:rPr>
              <a:t>Phát hành nhanh chóng</a:t>
            </a:r>
            <a:endParaRPr lang="en-US" sz="2800">
              <a:solidFill>
                <a:srgbClr val="543A14"/>
              </a:solidFill>
            </a:endParaRPr>
          </a:p>
        </p:txBody>
      </p:sp>
      <p:sp>
        <p:nvSpPr>
          <p:cNvPr id="12" name="TextBox 11">
            <a:extLst>
              <a:ext uri="{FF2B5EF4-FFF2-40B4-BE49-F238E27FC236}">
                <a16:creationId xmlns:a16="http://schemas.microsoft.com/office/drawing/2014/main" id="{1333D5AF-32A2-5244-71A2-3C50C7F872B0}"/>
              </a:ext>
            </a:extLst>
          </p:cNvPr>
          <p:cNvSpPr txBox="1"/>
          <p:nvPr/>
        </p:nvSpPr>
        <p:spPr>
          <a:xfrm>
            <a:off x="4602480" y="4134815"/>
            <a:ext cx="3891280" cy="523220"/>
          </a:xfrm>
          <a:prstGeom prst="rect">
            <a:avLst/>
          </a:prstGeom>
          <a:noFill/>
        </p:spPr>
        <p:txBody>
          <a:bodyPr wrap="square" rtlCol="0">
            <a:spAutoFit/>
          </a:bodyPr>
          <a:lstStyle/>
          <a:p>
            <a:r>
              <a:rPr lang="vi-VN" sz="2800">
                <a:solidFill>
                  <a:srgbClr val="543A14"/>
                </a:solidFill>
              </a:rPr>
              <a:t>Thích ứng linh hoạt</a:t>
            </a:r>
          </a:p>
        </p:txBody>
      </p:sp>
      <p:sp>
        <p:nvSpPr>
          <p:cNvPr id="13" name="TextBox 12">
            <a:extLst>
              <a:ext uri="{FF2B5EF4-FFF2-40B4-BE49-F238E27FC236}">
                <a16:creationId xmlns:a16="http://schemas.microsoft.com/office/drawing/2014/main" id="{86B4C45C-4112-64A2-F0CB-CA6C76AD80CC}"/>
              </a:ext>
            </a:extLst>
          </p:cNvPr>
          <p:cNvSpPr txBox="1"/>
          <p:nvPr/>
        </p:nvSpPr>
        <p:spPr>
          <a:xfrm>
            <a:off x="4602480" y="5235355"/>
            <a:ext cx="4409440" cy="523220"/>
          </a:xfrm>
          <a:prstGeom prst="rect">
            <a:avLst/>
          </a:prstGeom>
          <a:noFill/>
        </p:spPr>
        <p:txBody>
          <a:bodyPr wrap="square" rtlCol="0">
            <a:spAutoFit/>
          </a:bodyPr>
          <a:lstStyle/>
          <a:p>
            <a:r>
              <a:rPr lang="vi-VN" sz="2800">
                <a:solidFill>
                  <a:srgbClr val="543A14"/>
                </a:solidFill>
              </a:rPr>
              <a:t>Tập trung vào con người</a:t>
            </a:r>
            <a:endParaRPr lang="en-US" sz="2800">
              <a:solidFill>
                <a:srgbClr val="543A14"/>
              </a:solidFill>
            </a:endParaRPr>
          </a:p>
        </p:txBody>
      </p:sp>
      <p:sp>
        <p:nvSpPr>
          <p:cNvPr id="14" name="Rectangle: Rounded Corners 13">
            <a:extLst>
              <a:ext uri="{FF2B5EF4-FFF2-40B4-BE49-F238E27FC236}">
                <a16:creationId xmlns:a16="http://schemas.microsoft.com/office/drawing/2014/main" id="{80CD7C81-0F5C-DE95-9D74-958BA8869E60}"/>
              </a:ext>
            </a:extLst>
          </p:cNvPr>
          <p:cNvSpPr/>
          <p:nvPr/>
        </p:nvSpPr>
        <p:spPr>
          <a:xfrm>
            <a:off x="10549812" y="121920"/>
            <a:ext cx="156090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5A55214-8CDA-9D02-4217-E7B583DC1DC3}"/>
              </a:ext>
            </a:extLst>
          </p:cNvPr>
          <p:cNvSpPr/>
          <p:nvPr/>
        </p:nvSpPr>
        <p:spPr>
          <a:xfrm>
            <a:off x="187960" y="5349533"/>
            <a:ext cx="1336040" cy="1418253"/>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8755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FD3A7-DCC6-9FDE-4730-BACCC36CEDB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B4EBA34-5F6A-FF56-58A9-2308DDD97232}"/>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6CA3DF2-5962-5100-30A0-7351F4095148}"/>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Ưu Điểm Của Agile Method</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B63A5C98-C341-6AF8-92A0-81896D09C44D}"/>
              </a:ext>
            </a:extLst>
          </p:cNvPr>
          <p:cNvSpPr txBox="1"/>
          <p:nvPr/>
        </p:nvSpPr>
        <p:spPr>
          <a:xfrm>
            <a:off x="2227901" y="1622490"/>
            <a:ext cx="8350898" cy="2246769"/>
          </a:xfrm>
          <a:prstGeom prst="rect">
            <a:avLst/>
          </a:prstGeom>
          <a:noFill/>
        </p:spPr>
        <p:txBody>
          <a:bodyPr wrap="square" rtlCol="0">
            <a:spAutoFit/>
          </a:bodyPr>
          <a:lstStyle/>
          <a:p>
            <a:r>
              <a:rPr lang="vi-VN" sz="2800" dirty="0">
                <a:solidFill>
                  <a:srgbClr val="543A14"/>
                </a:solidFill>
              </a:rPr>
              <a:t>- Tính linh hoạt cao</a:t>
            </a:r>
          </a:p>
          <a:p>
            <a:r>
              <a:rPr lang="vi-VN" sz="2800" dirty="0">
                <a:solidFill>
                  <a:srgbClr val="543A14"/>
                </a:solidFill>
              </a:rPr>
              <a:t>- Tăng cường cộng tác với khách hàng</a:t>
            </a:r>
          </a:p>
          <a:p>
            <a:r>
              <a:rPr lang="vi-VN" sz="2800" dirty="0">
                <a:solidFill>
                  <a:srgbClr val="543A14"/>
                </a:solidFill>
              </a:rPr>
              <a:t>- Quản lý rủi ro tốt hơn</a:t>
            </a:r>
          </a:p>
          <a:p>
            <a:r>
              <a:rPr lang="vi-VN" sz="2800" dirty="0">
                <a:solidFill>
                  <a:srgbClr val="543A14"/>
                </a:solidFill>
              </a:rPr>
              <a:t>- Cải thiện chất lượng sản phẩm</a:t>
            </a:r>
          </a:p>
          <a:p>
            <a:r>
              <a:rPr lang="vi-VN" sz="2800" dirty="0">
                <a:solidFill>
                  <a:srgbClr val="543A14"/>
                </a:solidFill>
              </a:rPr>
              <a:t>- Tăng cường phối hợp nhóm</a:t>
            </a:r>
            <a:endParaRPr lang="en-US" sz="2800" dirty="0">
              <a:solidFill>
                <a:srgbClr val="543A14"/>
              </a:solidFill>
            </a:endParaRPr>
          </a:p>
        </p:txBody>
      </p:sp>
      <p:sp>
        <p:nvSpPr>
          <p:cNvPr id="4" name="Rectangle: Rounded Corners 3">
            <a:extLst>
              <a:ext uri="{FF2B5EF4-FFF2-40B4-BE49-F238E27FC236}">
                <a16:creationId xmlns:a16="http://schemas.microsoft.com/office/drawing/2014/main" id="{C6114529-FD19-ABC8-8A77-8F75630E7309}"/>
              </a:ext>
            </a:extLst>
          </p:cNvPr>
          <p:cNvSpPr/>
          <p:nvPr/>
        </p:nvSpPr>
        <p:spPr>
          <a:xfrm>
            <a:off x="10438052" y="101600"/>
            <a:ext cx="159138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EC3C915-6AFA-93A4-348F-8381B9EE88BC}"/>
              </a:ext>
            </a:extLst>
          </p:cNvPr>
          <p:cNvSpPr/>
          <p:nvPr/>
        </p:nvSpPr>
        <p:spPr>
          <a:xfrm>
            <a:off x="243840" y="5368627"/>
            <a:ext cx="1239520" cy="1418253"/>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22" name="Picture 10" descr="Agile và Scrum: đâu là điểm khác biệt?">
            <a:extLst>
              <a:ext uri="{FF2B5EF4-FFF2-40B4-BE49-F238E27FC236}">
                <a16:creationId xmlns:a16="http://schemas.microsoft.com/office/drawing/2014/main" id="{42AC11D8-344F-05A2-932B-843A87ACC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6940" y="2905477"/>
            <a:ext cx="4762500" cy="3700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244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47F8-260D-387E-5136-DA1930356C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D542030-3E25-F4E4-641D-971C2E2D042E}"/>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A70E7C13-D8B5-1EC3-5817-257E44DC6C5F}"/>
              </a:ext>
            </a:extLst>
          </p:cNvPr>
          <p:cNvSpPr txBox="1"/>
          <p:nvPr/>
        </p:nvSpPr>
        <p:spPr>
          <a:xfrm>
            <a:off x="2491851" y="636656"/>
            <a:ext cx="7208298" cy="646331"/>
          </a:xfrm>
          <a:prstGeom prst="rect">
            <a:avLst/>
          </a:prstGeom>
          <a:noFill/>
        </p:spPr>
        <p:txBody>
          <a:bodyPr wrap="square" rtlCol="0">
            <a:spAutoFit/>
          </a:bodyPr>
          <a:lstStyle/>
          <a:p>
            <a:pPr algn="ctr"/>
            <a:r>
              <a:rPr lang="vi-VN" sz="3600">
                <a:solidFill>
                  <a:srgbClr val="131010"/>
                </a:solidFill>
                <a:latin typeface="Lobster" panose="00000500000000000000" pitchFamily="2" charset="-93"/>
              </a:rPr>
              <a:t>Nhược Điểm Của Agile Method</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7CFEA058-C582-EF7A-5399-13F2754608D3}"/>
              </a:ext>
            </a:extLst>
          </p:cNvPr>
          <p:cNvSpPr txBox="1"/>
          <p:nvPr/>
        </p:nvSpPr>
        <p:spPr>
          <a:xfrm>
            <a:off x="2491851" y="2157546"/>
            <a:ext cx="8350898" cy="2246769"/>
          </a:xfrm>
          <a:prstGeom prst="rect">
            <a:avLst/>
          </a:prstGeom>
          <a:noFill/>
        </p:spPr>
        <p:txBody>
          <a:bodyPr wrap="square" rtlCol="0">
            <a:spAutoFit/>
          </a:bodyPr>
          <a:lstStyle/>
          <a:p>
            <a:r>
              <a:rPr lang="vi-VN" sz="2800">
                <a:solidFill>
                  <a:srgbClr val="543A14"/>
                </a:solidFill>
              </a:rPr>
              <a:t>- Thiếu tài liệu chi tiết</a:t>
            </a:r>
          </a:p>
          <a:p>
            <a:r>
              <a:rPr lang="vi-VN" sz="2800">
                <a:solidFill>
                  <a:srgbClr val="543A14"/>
                </a:solidFill>
              </a:rPr>
              <a:t>- Khó dự đoán chi phí và thời gian</a:t>
            </a:r>
          </a:p>
          <a:p>
            <a:r>
              <a:rPr lang="vi-VN" sz="2800">
                <a:solidFill>
                  <a:srgbClr val="543A14"/>
                </a:solidFill>
              </a:rPr>
              <a:t>- Phụ thuộc nhiều vào khách hàng</a:t>
            </a:r>
          </a:p>
          <a:p>
            <a:r>
              <a:rPr lang="vi-VN" sz="2800">
                <a:solidFill>
                  <a:srgbClr val="543A14"/>
                </a:solidFill>
              </a:rPr>
              <a:t>- Khó áp dụng cho dự án lớn hoặc phức tạp</a:t>
            </a:r>
          </a:p>
          <a:p>
            <a:r>
              <a:rPr lang="vi-VN" sz="2800">
                <a:solidFill>
                  <a:srgbClr val="543A14"/>
                </a:solidFill>
              </a:rPr>
              <a:t>- Phụ thuộc vào đội ngũ giàu kinh nghiệm có tay nghề cao</a:t>
            </a:r>
            <a:endParaRPr lang="en-US" sz="2800" dirty="0">
              <a:solidFill>
                <a:srgbClr val="543A14"/>
              </a:solidFill>
            </a:endParaRPr>
          </a:p>
        </p:txBody>
      </p:sp>
      <p:sp>
        <p:nvSpPr>
          <p:cNvPr id="4" name="Rectangle: Rounded Corners 3">
            <a:extLst>
              <a:ext uri="{FF2B5EF4-FFF2-40B4-BE49-F238E27FC236}">
                <a16:creationId xmlns:a16="http://schemas.microsoft.com/office/drawing/2014/main" id="{FB196DF1-0502-CAA1-43D2-ADE9B147DE74}"/>
              </a:ext>
            </a:extLst>
          </p:cNvPr>
          <p:cNvSpPr/>
          <p:nvPr/>
        </p:nvSpPr>
        <p:spPr>
          <a:xfrm>
            <a:off x="10570132" y="0"/>
            <a:ext cx="162186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BFA5B88D-A60C-99C6-7D49-BCA9261A918F}"/>
              </a:ext>
            </a:extLst>
          </p:cNvPr>
          <p:cNvSpPr/>
          <p:nvPr/>
        </p:nvSpPr>
        <p:spPr>
          <a:xfrm>
            <a:off x="233680" y="5317827"/>
            <a:ext cx="1330960" cy="1418253"/>
          </a:xfrm>
          <a:prstGeom prst="roundRect">
            <a:avLst/>
          </a:prstGeom>
          <a:blipFill>
            <a:blip r:embed="rId3">
              <a:extLst>
                <a:ext uri="{96DAC541-7B7A-43D3-8B79-37D633B846F1}">
                  <asvg:svgBlip xmlns:asvg="http://schemas.microsoft.com/office/drawing/2016/SVG/main" r:embed="rId4"/>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4212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D08D3-D86F-9440-7293-35ACDDC2D5E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6A2771-355D-575A-13DC-35803934222F}"/>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0EFF0AD-E331-6954-A1C6-7408E654938D}"/>
              </a:ext>
            </a:extLst>
          </p:cNvPr>
          <p:cNvSpPr txBox="1"/>
          <p:nvPr/>
        </p:nvSpPr>
        <p:spPr>
          <a:xfrm>
            <a:off x="2491851" y="636656"/>
            <a:ext cx="7208298" cy="646331"/>
          </a:xfrm>
          <a:prstGeom prst="rect">
            <a:avLst/>
          </a:prstGeom>
          <a:noFill/>
        </p:spPr>
        <p:txBody>
          <a:bodyPr wrap="square" rtlCol="0">
            <a:spAutoFit/>
          </a:bodyPr>
          <a:lstStyle/>
          <a:p>
            <a:pPr algn="ctr"/>
            <a:r>
              <a:rPr lang="en-US" sz="3600" dirty="0" err="1">
                <a:solidFill>
                  <a:srgbClr val="131010"/>
                </a:solidFill>
                <a:latin typeface="Lobster" panose="00000500000000000000" pitchFamily="2" charset="-93"/>
              </a:rPr>
              <a:t>Tài</a:t>
            </a:r>
            <a:r>
              <a:rPr lang="en-US" sz="3600" dirty="0">
                <a:solidFill>
                  <a:srgbClr val="131010"/>
                </a:solidFill>
                <a:latin typeface="Lobster" panose="00000500000000000000" pitchFamily="2" charset="-93"/>
              </a:rPr>
              <a:t> </a:t>
            </a:r>
            <a:r>
              <a:rPr lang="en-US" sz="3600" dirty="0" err="1">
                <a:solidFill>
                  <a:srgbClr val="131010"/>
                </a:solidFill>
                <a:latin typeface="Lobster" panose="00000500000000000000" pitchFamily="2" charset="-93"/>
              </a:rPr>
              <a:t>Liệu</a:t>
            </a:r>
            <a:r>
              <a:rPr lang="en-US" sz="3600" dirty="0">
                <a:solidFill>
                  <a:srgbClr val="131010"/>
                </a:solidFill>
                <a:latin typeface="Lobster" panose="00000500000000000000" pitchFamily="2" charset="-93"/>
              </a:rPr>
              <a:t> Tham </a:t>
            </a:r>
            <a:r>
              <a:rPr lang="en-US" sz="3600" dirty="0" err="1">
                <a:solidFill>
                  <a:srgbClr val="131010"/>
                </a:solidFill>
                <a:latin typeface="Lobster" panose="00000500000000000000" pitchFamily="2" charset="-93"/>
              </a:rPr>
              <a:t>Khảo</a:t>
            </a:r>
            <a:endParaRPr lang="vi-VN" sz="3600" dirty="0">
              <a:solidFill>
                <a:srgbClr val="131010"/>
              </a:solidFill>
              <a:latin typeface="Lobster" panose="00000500000000000000" pitchFamily="2" charset="-93"/>
            </a:endParaRPr>
          </a:p>
        </p:txBody>
      </p:sp>
      <p:sp>
        <p:nvSpPr>
          <p:cNvPr id="3" name="TextBox 2">
            <a:extLst>
              <a:ext uri="{FF2B5EF4-FFF2-40B4-BE49-F238E27FC236}">
                <a16:creationId xmlns:a16="http://schemas.microsoft.com/office/drawing/2014/main" id="{A9C157FF-56F9-2EC1-B6D1-33D02E6D6785}"/>
              </a:ext>
            </a:extLst>
          </p:cNvPr>
          <p:cNvSpPr txBox="1"/>
          <p:nvPr/>
        </p:nvSpPr>
        <p:spPr>
          <a:xfrm>
            <a:off x="2491851" y="2157546"/>
            <a:ext cx="8350898" cy="3108543"/>
          </a:xfrm>
          <a:prstGeom prst="rect">
            <a:avLst/>
          </a:prstGeom>
          <a:noFill/>
        </p:spPr>
        <p:txBody>
          <a:bodyPr wrap="square" rtlCol="0">
            <a:spAutoFit/>
          </a:bodyPr>
          <a:lstStyle/>
          <a:p>
            <a:r>
              <a:rPr lang="vi-VN" sz="2800">
                <a:solidFill>
                  <a:srgbClr val="543A14"/>
                </a:solidFill>
              </a:rPr>
              <a:t>1. https://base.vn/blog/agile-la-gi/</a:t>
            </a:r>
          </a:p>
          <a:p>
            <a:r>
              <a:rPr lang="vi-VN" sz="2800">
                <a:solidFill>
                  <a:srgbClr val="543A14"/>
                </a:solidFill>
              </a:rPr>
              <a:t>2. https://viblo.asia/p/tong-quan-ve-nguyen-tac-agile-va-cach-ap-dung-agile-trong-quan-ly-du-an-Qbq5Qm8L5D8</a:t>
            </a:r>
          </a:p>
          <a:p>
            <a:r>
              <a:rPr lang="vi-VN" sz="2800">
                <a:solidFill>
                  <a:srgbClr val="543A14"/>
                </a:solidFill>
              </a:rPr>
              <a:t>3. https://testerpro.vn/uu-va-nhuoc-diem-cua-phuong-phap-agile/ </a:t>
            </a:r>
          </a:p>
          <a:p>
            <a:r>
              <a:rPr lang="vi-VN" sz="2800">
                <a:solidFill>
                  <a:srgbClr val="543A14"/>
                </a:solidFill>
              </a:rPr>
              <a:t>4. https://fmit.vn/tin-tuc/agile-la-gi/</a:t>
            </a:r>
          </a:p>
          <a:p>
            <a:r>
              <a:rPr lang="vi-VN" sz="2800">
                <a:solidFill>
                  <a:srgbClr val="543A14"/>
                </a:solidFill>
              </a:rPr>
              <a:t>5. https://www.nimblework.com/agile/agile-methodology/</a:t>
            </a:r>
            <a:endParaRPr lang="en-US" sz="2800">
              <a:solidFill>
                <a:srgbClr val="543A14"/>
              </a:solidFill>
            </a:endParaRPr>
          </a:p>
        </p:txBody>
      </p:sp>
      <p:sp>
        <p:nvSpPr>
          <p:cNvPr id="7" name="Rectangle: Rounded Corners 6">
            <a:extLst>
              <a:ext uri="{FF2B5EF4-FFF2-40B4-BE49-F238E27FC236}">
                <a16:creationId xmlns:a16="http://schemas.microsoft.com/office/drawing/2014/main" id="{B4B18E49-B4DD-B858-4E53-9D3EA7E90064}"/>
              </a:ext>
            </a:extLst>
          </p:cNvPr>
          <p:cNvSpPr/>
          <p:nvPr/>
        </p:nvSpPr>
        <p:spPr>
          <a:xfrm>
            <a:off x="10661572" y="103000"/>
            <a:ext cx="1449148" cy="1520890"/>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9400507-A3BC-702C-7688-1C17235943AD}"/>
              </a:ext>
            </a:extLst>
          </p:cNvPr>
          <p:cNvSpPr/>
          <p:nvPr/>
        </p:nvSpPr>
        <p:spPr>
          <a:xfrm>
            <a:off x="274320" y="5266089"/>
            <a:ext cx="1320800" cy="1418253"/>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0518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4167-3BBC-C624-B1F6-84132EFDFA4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C33E50D-299D-5F42-DCF2-58802E7DE095}"/>
              </a:ext>
            </a:extLst>
          </p:cNvPr>
          <p:cNvSpPr/>
          <p:nvPr/>
        </p:nvSpPr>
        <p:spPr>
          <a:xfrm>
            <a:off x="0" y="0"/>
            <a:ext cx="12192000" cy="6858000"/>
          </a:xfrm>
          <a:prstGeom prst="rect">
            <a:avLst/>
          </a:prstGeom>
          <a:solidFill>
            <a:srgbClr val="DDCFBB"/>
          </a:solidFill>
          <a:ln>
            <a:solidFill>
              <a:srgbClr val="DDCF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5568022-544B-57E0-3A15-BBCED40C2FFA}"/>
              </a:ext>
            </a:extLst>
          </p:cNvPr>
          <p:cNvSpPr/>
          <p:nvPr/>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2879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3">
      <a:majorFont>
        <a:latin typeface="Lobster"/>
        <a:ea typeface=""/>
        <a:cs typeface=""/>
      </a:majorFont>
      <a:minorFont>
        <a:latin typeface="Lobs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727</TotalTime>
  <Words>2456</Words>
  <Application>Microsoft Office PowerPoint</Application>
  <PresentationFormat>Widescreen</PresentationFormat>
  <Paragraphs>227</Paragraphs>
  <Slides>31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Gelasio Semi Bold</vt:lpstr>
      <vt:lpstr>Lobster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Trọng Vũ</dc:creator>
  <cp:lastModifiedBy>Trì Nguyên</cp:lastModifiedBy>
  <cp:revision>23</cp:revision>
  <dcterms:created xsi:type="dcterms:W3CDTF">2025-01-08T13:32:21Z</dcterms:created>
  <dcterms:modified xsi:type="dcterms:W3CDTF">2025-01-10T17:44:42Z</dcterms:modified>
</cp:coreProperties>
</file>