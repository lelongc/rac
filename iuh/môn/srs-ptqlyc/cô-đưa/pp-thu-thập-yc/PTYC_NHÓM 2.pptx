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ancing Script Bold" panose="020B0604020202020204" charset="0"/>
      <p:regular r:id="rId11"/>
    </p:embeddedFont>
    <p:embeddedFont>
      <p:font typeface="Muli" panose="020B0604020202020204" charset="0"/>
      <p:regular r:id="rId12"/>
    </p:embeddedFont>
    <p:embeddedFont>
      <p:font typeface="Muli Bold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16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2.png"/><Relationship Id="rId5" Type="http://schemas.openxmlformats.org/officeDocument/2006/relationships/image" Target="../media/image10.png"/><Relationship Id="rId10" Type="http://schemas.openxmlformats.org/officeDocument/2006/relationships/image" Target="../media/image22.svg"/><Relationship Id="rId4" Type="http://schemas.openxmlformats.org/officeDocument/2006/relationships/image" Target="../media/image18.sv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798475"/>
            <a:ext cx="9009410" cy="6082798"/>
            <a:chOff x="0" y="0"/>
            <a:chExt cx="3286657" cy="221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6657" cy="2219021"/>
            </a:xfrm>
            <a:custGeom>
              <a:avLst/>
              <a:gdLst/>
              <a:ahLst/>
              <a:cxnLst/>
              <a:rect l="l" t="t" r="r" b="b"/>
              <a:pathLst>
                <a:path w="3286657" h="2219021">
                  <a:moveTo>
                    <a:pt x="0" y="0"/>
                  </a:moveTo>
                  <a:lnTo>
                    <a:pt x="3286657" y="0"/>
                  </a:lnTo>
                  <a:lnTo>
                    <a:pt x="3286657" y="2219021"/>
                  </a:lnTo>
                  <a:lnTo>
                    <a:pt x="0" y="221902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 flipH="1">
            <a:off x="-2156129" y="8872350"/>
            <a:ext cx="6662470" cy="1611106"/>
          </a:xfrm>
          <a:custGeom>
            <a:avLst/>
            <a:gdLst/>
            <a:ahLst/>
            <a:cxnLst/>
            <a:rect l="l" t="t" r="r" b="b"/>
            <a:pathLst>
              <a:path w="6662470" h="1611106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791434" y="-196457"/>
            <a:ext cx="5652695" cy="1366924"/>
          </a:xfrm>
          <a:custGeom>
            <a:avLst/>
            <a:gdLst/>
            <a:ahLst/>
            <a:cxnLst/>
            <a:rect l="l" t="t" r="r" b="b"/>
            <a:pathLst>
              <a:path w="5652695" h="1366924">
                <a:moveTo>
                  <a:pt x="5652695" y="0"/>
                </a:moveTo>
                <a:lnTo>
                  <a:pt x="0" y="0"/>
                </a:lnTo>
                <a:lnTo>
                  <a:pt x="0" y="1366925"/>
                </a:lnTo>
                <a:lnTo>
                  <a:pt x="5652695" y="1366925"/>
                </a:lnTo>
                <a:lnTo>
                  <a:pt x="56526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61150" y="1315441"/>
            <a:ext cx="7087021" cy="7701883"/>
            <a:chOff x="0" y="0"/>
            <a:chExt cx="2585364" cy="28096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5364" cy="2809668"/>
            </a:xfrm>
            <a:custGeom>
              <a:avLst/>
              <a:gdLst/>
              <a:ahLst/>
              <a:cxnLst/>
              <a:rect l="l" t="t" r="r" b="b"/>
              <a:pathLst>
                <a:path w="2585364" h="2809668">
                  <a:moveTo>
                    <a:pt x="0" y="0"/>
                  </a:moveTo>
                  <a:lnTo>
                    <a:pt x="2585364" y="0"/>
                  </a:lnTo>
                  <a:lnTo>
                    <a:pt x="2585364" y="2809668"/>
                  </a:lnTo>
                  <a:lnTo>
                    <a:pt x="0" y="2809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0692016" y="4401714"/>
            <a:ext cx="6225288" cy="3893634"/>
          </a:xfrm>
          <a:custGeom>
            <a:avLst/>
            <a:gdLst/>
            <a:ahLst/>
            <a:cxnLst/>
            <a:rect l="l" t="t" r="r" b="b"/>
            <a:pathLst>
              <a:path w="6225288" h="3893634">
                <a:moveTo>
                  <a:pt x="0" y="0"/>
                </a:moveTo>
                <a:lnTo>
                  <a:pt x="6225288" y="0"/>
                </a:lnTo>
                <a:lnTo>
                  <a:pt x="6225288" y="3893634"/>
                </a:lnTo>
                <a:lnTo>
                  <a:pt x="0" y="38936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100246" y="3001723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03414">
            <a:off x="11173930" y="3499519"/>
            <a:ext cx="321948" cy="461574"/>
          </a:xfrm>
          <a:custGeom>
            <a:avLst/>
            <a:gdLst/>
            <a:ahLst/>
            <a:cxnLst/>
            <a:rect l="l" t="t" r="r" b="b"/>
            <a:pathLst>
              <a:path w="321948" h="461574">
                <a:moveTo>
                  <a:pt x="0" y="0"/>
                </a:moveTo>
                <a:lnTo>
                  <a:pt x="321948" y="0"/>
                </a:lnTo>
                <a:lnTo>
                  <a:pt x="321948" y="461574"/>
                </a:lnTo>
                <a:lnTo>
                  <a:pt x="0" y="461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690344" y="1991652"/>
            <a:ext cx="2228632" cy="1815322"/>
          </a:xfrm>
          <a:custGeom>
            <a:avLst/>
            <a:gdLst/>
            <a:ahLst/>
            <a:cxnLst/>
            <a:rect l="l" t="t" r="r" b="b"/>
            <a:pathLst>
              <a:path w="2228632" h="1815322">
                <a:moveTo>
                  <a:pt x="0" y="0"/>
                </a:moveTo>
                <a:lnTo>
                  <a:pt x="2228632" y="0"/>
                </a:lnTo>
                <a:lnTo>
                  <a:pt x="2228632" y="1815322"/>
                </a:lnTo>
                <a:lnTo>
                  <a:pt x="0" y="18153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929288" y="3520756"/>
            <a:ext cx="7682310" cy="2829119"/>
            <a:chOff x="0" y="0"/>
            <a:chExt cx="10243080" cy="377215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0"/>
              <a:ext cx="10243080" cy="2298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589"/>
                </a:lnSpc>
              </a:pPr>
              <a:r>
                <a:rPr lang="en-US" sz="11324" b="1" spc="-169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NHÓM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597409"/>
              <a:ext cx="10243080" cy="1174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CCC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TRƯỜNG ĐẠI HỌC CÔNG NGHIỆP TP. HCM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CCC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KHOA CÔNG NGHỆ THÔNG TIN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44025" y="1997960"/>
            <a:ext cx="16999951" cy="7777159"/>
            <a:chOff x="0" y="0"/>
            <a:chExt cx="5762066" cy="26360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2636037"/>
            </a:xfrm>
            <a:custGeom>
              <a:avLst/>
              <a:gdLst/>
              <a:ahLst/>
              <a:cxnLst/>
              <a:rect l="l" t="t" r="r" b="b"/>
              <a:pathLst>
                <a:path w="5762066" h="2636037">
                  <a:moveTo>
                    <a:pt x="0" y="0"/>
                  </a:moveTo>
                  <a:lnTo>
                    <a:pt x="5762066" y="0"/>
                  </a:lnTo>
                  <a:lnTo>
                    <a:pt x="5762066" y="2636037"/>
                  </a:lnTo>
                  <a:lnTo>
                    <a:pt x="0" y="263603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4503173" y="239679"/>
            <a:ext cx="9749825" cy="1283844"/>
            <a:chOff x="0" y="0"/>
            <a:chExt cx="4371666" cy="5756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1666" cy="575655"/>
            </a:xfrm>
            <a:custGeom>
              <a:avLst/>
              <a:gdLst/>
              <a:ahLst/>
              <a:cxnLst/>
              <a:rect l="l" t="t" r="r" b="b"/>
              <a:pathLst>
                <a:path w="4371666" h="575655">
                  <a:moveTo>
                    <a:pt x="0" y="0"/>
                  </a:moveTo>
                  <a:lnTo>
                    <a:pt x="4371666" y="0"/>
                  </a:lnTo>
                  <a:lnTo>
                    <a:pt x="4371666" y="575655"/>
                  </a:lnTo>
                  <a:lnTo>
                    <a:pt x="0" y="57565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03414">
            <a:off x="17286340" y="458033"/>
            <a:ext cx="651301" cy="933765"/>
          </a:xfrm>
          <a:custGeom>
            <a:avLst/>
            <a:gdLst/>
            <a:ahLst/>
            <a:cxnLst/>
            <a:rect l="l" t="t" r="r" b="b"/>
            <a:pathLst>
              <a:path w="651301" h="933765">
                <a:moveTo>
                  <a:pt x="0" y="0"/>
                </a:moveTo>
                <a:lnTo>
                  <a:pt x="651301" y="0"/>
                </a:lnTo>
                <a:lnTo>
                  <a:pt x="651301" y="933765"/>
                </a:lnTo>
                <a:lnTo>
                  <a:pt x="0" y="9337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515624"/>
              </p:ext>
            </p:extLst>
          </p:nvPr>
        </p:nvGraphicFramePr>
        <p:xfrm>
          <a:off x="644025" y="1905089"/>
          <a:ext cx="16999950" cy="7962899"/>
        </p:xfrm>
        <a:graphic>
          <a:graphicData uri="http://schemas.openxmlformats.org/drawingml/2006/table">
            <a:tbl>
              <a:tblPr/>
              <a:tblGrid>
                <a:gridCol w="3255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77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0767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STT(trong ds điểm danh)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MaSV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Họ và tên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Lớp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Công việc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767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04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23646931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Lâm Gia Bảo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DHHTTT19A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Dịch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tóm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tắt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tìm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nội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dung</a:t>
                      </a:r>
                      <a:endParaRPr lang="en-US" sz="1100" dirty="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9064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23651321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Phan Đại Dương(Nhóm Trưởng)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DHHTTT19A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Dịch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tóm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tắt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tìm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nội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dung,làm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báo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cáo</a:t>
                      </a:r>
                      <a:endParaRPr lang="en-US" sz="1100" dirty="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767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23641681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Cao Xuân Nguyên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DHHTTT19A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Dịch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tóm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tắt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tìm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nội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dung</a:t>
                      </a:r>
                      <a:endParaRPr lang="en-US" sz="1100" dirty="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0767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23655581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Lê Thảo Uyên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DHHTTT19A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Dịch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tóm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tắt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tìm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nội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dung</a:t>
                      </a:r>
                      <a:endParaRPr lang="en-US" sz="1100" dirty="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0767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23655901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Lê Hoàng Yến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DHHTTT19A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Dịch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tóm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tắt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tìm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nội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dung</a:t>
                      </a:r>
                      <a:endParaRPr lang="en-US" sz="1100" dirty="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3683996" y="362489"/>
            <a:ext cx="1083971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003EA8"/>
                </a:solidFill>
                <a:latin typeface="Muli"/>
                <a:ea typeface="Muli"/>
                <a:cs typeface="Muli"/>
                <a:sym typeface="Muli"/>
              </a:rPr>
              <a:t>THÀNH VIÊN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9294" y="4536975"/>
            <a:ext cx="15795020" cy="3535020"/>
            <a:chOff x="0" y="0"/>
            <a:chExt cx="5762066" cy="12895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1289585"/>
            </a:xfrm>
            <a:custGeom>
              <a:avLst/>
              <a:gdLst/>
              <a:ahLst/>
              <a:cxnLst/>
              <a:rect l="l" t="t" r="r" b="b"/>
              <a:pathLst>
                <a:path w="5762066" h="1289585">
                  <a:moveTo>
                    <a:pt x="0" y="0"/>
                  </a:moveTo>
                  <a:lnTo>
                    <a:pt x="5762066" y="0"/>
                  </a:lnTo>
                  <a:lnTo>
                    <a:pt x="5762066" y="1289585"/>
                  </a:lnTo>
                  <a:lnTo>
                    <a:pt x="0" y="128958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19294" y="657204"/>
            <a:ext cx="15795020" cy="3535020"/>
            <a:chOff x="0" y="0"/>
            <a:chExt cx="5762066" cy="12895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62066" cy="1289585"/>
            </a:xfrm>
            <a:custGeom>
              <a:avLst/>
              <a:gdLst/>
              <a:ahLst/>
              <a:cxnLst/>
              <a:rect l="l" t="t" r="r" b="b"/>
              <a:pathLst>
                <a:path w="5762066" h="1289585">
                  <a:moveTo>
                    <a:pt x="0" y="0"/>
                  </a:moveTo>
                  <a:lnTo>
                    <a:pt x="5762066" y="0"/>
                  </a:lnTo>
                  <a:lnTo>
                    <a:pt x="5762066" y="1289585"/>
                  </a:lnTo>
                  <a:lnTo>
                    <a:pt x="0" y="128958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flipH="1">
            <a:off x="14972495" y="7296334"/>
            <a:ext cx="5533751" cy="1961966"/>
          </a:xfrm>
          <a:custGeom>
            <a:avLst/>
            <a:gdLst/>
            <a:ahLst/>
            <a:cxnLst/>
            <a:rect l="l" t="t" r="r" b="b"/>
            <a:pathLst>
              <a:path w="5533751" h="1961966">
                <a:moveTo>
                  <a:pt x="5533751" y="0"/>
                </a:moveTo>
                <a:lnTo>
                  <a:pt x="0" y="0"/>
                </a:lnTo>
                <a:lnTo>
                  <a:pt x="0" y="1961966"/>
                </a:lnTo>
                <a:lnTo>
                  <a:pt x="5533751" y="1961966"/>
                </a:lnTo>
                <a:lnTo>
                  <a:pt x="553375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218246" y="7296334"/>
            <a:ext cx="5533751" cy="1961966"/>
          </a:xfrm>
          <a:custGeom>
            <a:avLst/>
            <a:gdLst/>
            <a:ahLst/>
            <a:cxnLst/>
            <a:rect l="l" t="t" r="r" b="b"/>
            <a:pathLst>
              <a:path w="5533751" h="1961966">
                <a:moveTo>
                  <a:pt x="0" y="0"/>
                </a:moveTo>
                <a:lnTo>
                  <a:pt x="5533751" y="0"/>
                </a:lnTo>
                <a:lnTo>
                  <a:pt x="5533751" y="1961966"/>
                </a:lnTo>
                <a:lnTo>
                  <a:pt x="0" y="1961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92555" y="4779500"/>
            <a:ext cx="12875068" cy="281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38"/>
              </a:lnSpc>
            </a:pPr>
            <a:r>
              <a:rPr lang="en-US" sz="81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Kỹ thuật JAD (Joint Application Development)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70659" y="1510806"/>
            <a:ext cx="15064462" cy="1803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39"/>
              </a:lnSpc>
            </a:pPr>
            <a:r>
              <a:rPr lang="en-US" sz="10843" b="1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NỘI DUNG  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793505" y="3742304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09650" y="1281714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72990" y="832415"/>
            <a:ext cx="8876680" cy="1249626"/>
            <a:chOff x="0" y="0"/>
            <a:chExt cx="3286657" cy="4626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6657" cy="462683"/>
            </a:xfrm>
            <a:custGeom>
              <a:avLst/>
              <a:gdLst/>
              <a:ahLst/>
              <a:cxnLst/>
              <a:rect l="l" t="t" r="r" b="b"/>
              <a:pathLst>
                <a:path w="3286657" h="462683">
                  <a:moveTo>
                    <a:pt x="0" y="0"/>
                  </a:moveTo>
                  <a:lnTo>
                    <a:pt x="3286657" y="0"/>
                  </a:lnTo>
                  <a:lnTo>
                    <a:pt x="3286657" y="462683"/>
                  </a:lnTo>
                  <a:lnTo>
                    <a:pt x="0" y="4626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05495" y="2915205"/>
            <a:ext cx="8692355" cy="4993462"/>
            <a:chOff x="0" y="0"/>
            <a:chExt cx="3286657" cy="18880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86657" cy="1888073"/>
            </a:xfrm>
            <a:custGeom>
              <a:avLst/>
              <a:gdLst/>
              <a:ahLst/>
              <a:cxnLst/>
              <a:rect l="l" t="t" r="r" b="b"/>
              <a:pathLst>
                <a:path w="3286657" h="1888073">
                  <a:moveTo>
                    <a:pt x="0" y="0"/>
                  </a:moveTo>
                  <a:lnTo>
                    <a:pt x="3286657" y="0"/>
                  </a:lnTo>
                  <a:lnTo>
                    <a:pt x="3286657" y="1888073"/>
                  </a:lnTo>
                  <a:lnTo>
                    <a:pt x="0" y="18880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261150" y="657204"/>
            <a:ext cx="7087021" cy="8045795"/>
            <a:chOff x="0" y="0"/>
            <a:chExt cx="2585364" cy="29351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5364" cy="2935128"/>
            </a:xfrm>
            <a:custGeom>
              <a:avLst/>
              <a:gdLst/>
              <a:ahLst/>
              <a:cxnLst/>
              <a:rect l="l" t="t" r="r" b="b"/>
              <a:pathLst>
                <a:path w="2585364" h="2935128">
                  <a:moveTo>
                    <a:pt x="0" y="0"/>
                  </a:moveTo>
                  <a:lnTo>
                    <a:pt x="2585364" y="0"/>
                  </a:lnTo>
                  <a:lnTo>
                    <a:pt x="2585364" y="2935128"/>
                  </a:lnTo>
                  <a:lnTo>
                    <a:pt x="0" y="2935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626673" y="1011978"/>
            <a:ext cx="6355975" cy="7351955"/>
            <a:chOff x="0" y="0"/>
            <a:chExt cx="8474633" cy="9802607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/>
            <a:srcRect t="11443" b="11443"/>
            <a:stretch>
              <a:fillRect/>
            </a:stretch>
          </p:blipFill>
          <p:spPr>
            <a:xfrm>
              <a:off x="0" y="0"/>
              <a:ext cx="8474633" cy="9802607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957573" y="914303"/>
            <a:ext cx="8886205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9"/>
              </a:lnSpc>
              <a:spcBef>
                <a:spcPct val="0"/>
              </a:spcBef>
            </a:pPr>
            <a:r>
              <a:rPr lang="en-US" sz="7299" b="1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Giới thiệu về JAD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301511" y="-207276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>
                <a:moveTo>
                  <a:pt x="0" y="0"/>
                </a:moveTo>
                <a:lnTo>
                  <a:pt x="4876558" y="0"/>
                </a:lnTo>
                <a:lnTo>
                  <a:pt x="4876558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0800000">
            <a:off x="8469322" y="9150674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>
                <a:moveTo>
                  <a:pt x="0" y="0"/>
                </a:moveTo>
                <a:lnTo>
                  <a:pt x="4876557" y="0"/>
                </a:lnTo>
                <a:lnTo>
                  <a:pt x="4876557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05495" y="2996581"/>
            <a:ext cx="8815077" cy="47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Kỹ thuật JAD (Joint Application Development) được phát triển bởi IBM vào cuối những năm 1970.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Là phương pháp thu thập thông tin để xác định yêu cầu hệ thống thông qua sự hợp tác giữa nhóm dự án, người dùng và quản lý.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5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Tăng hiệu quả giao tiếp và giảm phạm vi mở rộng (scope creep) trong dự án.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657204"/>
            <a:ext cx="16445245" cy="1906519"/>
            <a:chOff x="0" y="0"/>
            <a:chExt cx="5999270" cy="6955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625957" y="2915205"/>
            <a:ext cx="7724783" cy="5768744"/>
            <a:chOff x="0" y="0"/>
            <a:chExt cx="2818022" cy="21044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8022" cy="2104453"/>
            </a:xfrm>
            <a:custGeom>
              <a:avLst/>
              <a:gdLst/>
              <a:ahLst/>
              <a:cxnLst/>
              <a:rect l="l" t="t" r="r" b="b"/>
              <a:pathLst>
                <a:path w="2818022" h="2104453">
                  <a:moveTo>
                    <a:pt x="0" y="0"/>
                  </a:moveTo>
                  <a:lnTo>
                    <a:pt x="2818022" y="0"/>
                  </a:lnTo>
                  <a:lnTo>
                    <a:pt x="2818022" y="2104453"/>
                  </a:lnTo>
                  <a:lnTo>
                    <a:pt x="0" y="21044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26069" y="2915205"/>
            <a:ext cx="8358265" cy="5768744"/>
            <a:chOff x="0" y="0"/>
            <a:chExt cx="3049118" cy="21044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9118" cy="2104453"/>
            </a:xfrm>
            <a:custGeom>
              <a:avLst/>
              <a:gdLst/>
              <a:ahLst/>
              <a:cxnLst/>
              <a:rect l="l" t="t" r="r" b="b"/>
              <a:pathLst>
                <a:path w="3049118" h="2104453">
                  <a:moveTo>
                    <a:pt x="0" y="0"/>
                  </a:moveTo>
                  <a:lnTo>
                    <a:pt x="3049118" y="0"/>
                  </a:lnTo>
                  <a:lnTo>
                    <a:pt x="3049118" y="2104453"/>
                  </a:lnTo>
                  <a:lnTo>
                    <a:pt x="0" y="21044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0231960" y="3545972"/>
            <a:ext cx="5778474" cy="4507210"/>
          </a:xfrm>
          <a:custGeom>
            <a:avLst/>
            <a:gdLst/>
            <a:ahLst/>
            <a:cxnLst/>
            <a:rect l="l" t="t" r="r" b="b"/>
            <a:pathLst>
              <a:path w="5778474" h="4507210">
                <a:moveTo>
                  <a:pt x="0" y="0"/>
                </a:moveTo>
                <a:lnTo>
                  <a:pt x="5778474" y="0"/>
                </a:lnTo>
                <a:lnTo>
                  <a:pt x="5778474" y="4507210"/>
                </a:lnTo>
                <a:lnTo>
                  <a:pt x="0" y="4507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03414">
            <a:off x="16137868" y="4585735"/>
            <a:ext cx="417336" cy="598331"/>
          </a:xfrm>
          <a:custGeom>
            <a:avLst/>
            <a:gdLst/>
            <a:ahLst/>
            <a:cxnLst/>
            <a:rect l="l" t="t" r="r" b="b"/>
            <a:pathLst>
              <a:path w="417336" h="598331">
                <a:moveTo>
                  <a:pt x="0" y="0"/>
                </a:moveTo>
                <a:lnTo>
                  <a:pt x="417336" y="0"/>
                </a:lnTo>
                <a:lnTo>
                  <a:pt x="417336" y="598330"/>
                </a:lnTo>
                <a:lnTo>
                  <a:pt x="0" y="598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908900" y="3235000"/>
            <a:ext cx="121908" cy="121908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055579" y="7995212"/>
            <a:ext cx="121908" cy="121908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3343782" y="924697"/>
            <a:ext cx="1160043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Đặc trưng của JAD</a:t>
            </a:r>
          </a:p>
        </p:txBody>
      </p:sp>
      <p:sp>
        <p:nvSpPr>
          <p:cNvPr id="16" name="Freeform 16"/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203414">
            <a:off x="11489227" y="4583034"/>
            <a:ext cx="321948" cy="461574"/>
          </a:xfrm>
          <a:custGeom>
            <a:avLst/>
            <a:gdLst/>
            <a:ahLst/>
            <a:cxnLst/>
            <a:rect l="l" t="t" r="r" b="b"/>
            <a:pathLst>
              <a:path w="321948" h="461574">
                <a:moveTo>
                  <a:pt x="0" y="0"/>
                </a:moveTo>
                <a:lnTo>
                  <a:pt x="321948" y="0"/>
                </a:lnTo>
                <a:lnTo>
                  <a:pt x="321948" y="461575"/>
                </a:lnTo>
                <a:lnTo>
                  <a:pt x="0" y="461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278358">
            <a:off x="13186236" y="8430575"/>
            <a:ext cx="5868613" cy="1845945"/>
          </a:xfrm>
          <a:custGeom>
            <a:avLst/>
            <a:gdLst/>
            <a:ahLst/>
            <a:cxnLst/>
            <a:rect l="l" t="t" r="r" b="b"/>
            <a:pathLst>
              <a:path w="5868613" h="1845945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83013" y="2864395"/>
            <a:ext cx="8245104" cy="581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Quy trình có cấu trúc, lặp lại được, thường do một người điều phối dẫn dắt.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Sử dụng phương pháp thảo luận mở và các công cụ CASE để tăng năng suất.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Hỗ trợ thu thập thông tin và tạo sản phẩm phân tích như mô hình quy trình, tài liệu yêu cầu.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657204"/>
            <a:ext cx="16436355" cy="1907038"/>
            <a:chOff x="0" y="0"/>
            <a:chExt cx="5996027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96027" cy="695693"/>
            </a:xfrm>
            <a:custGeom>
              <a:avLst/>
              <a:gdLst/>
              <a:ahLst/>
              <a:cxnLst/>
              <a:rect l="l" t="t" r="r" b="b"/>
              <a:pathLst>
                <a:path w="5996027" h="695693">
                  <a:moveTo>
                    <a:pt x="0" y="0"/>
                  </a:moveTo>
                  <a:lnTo>
                    <a:pt x="5996027" y="0"/>
                  </a:lnTo>
                  <a:lnTo>
                    <a:pt x="5996027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05495" y="2924154"/>
            <a:ext cx="16611369" cy="5387355"/>
            <a:chOff x="0" y="0"/>
            <a:chExt cx="5996027" cy="19446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96027" cy="1944615"/>
            </a:xfrm>
            <a:custGeom>
              <a:avLst/>
              <a:gdLst/>
              <a:ahLst/>
              <a:cxnLst/>
              <a:rect l="l" t="t" r="r" b="b"/>
              <a:pathLst>
                <a:path w="5996027" h="1944615">
                  <a:moveTo>
                    <a:pt x="0" y="0"/>
                  </a:moveTo>
                  <a:lnTo>
                    <a:pt x="5996027" y="0"/>
                  </a:lnTo>
                  <a:lnTo>
                    <a:pt x="5996027" y="1944615"/>
                  </a:lnTo>
                  <a:lnTo>
                    <a:pt x="0" y="194461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391317" y="1086848"/>
            <a:ext cx="1350536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750" b="1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Ứng dụng của JAD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15484919" y="8123782"/>
            <a:ext cx="4585506" cy="1625770"/>
          </a:xfrm>
          <a:custGeom>
            <a:avLst/>
            <a:gdLst/>
            <a:ahLst/>
            <a:cxnLst/>
            <a:rect l="l" t="t" r="r" b="b"/>
            <a:pathLst>
              <a:path w="4585506" h="1625770">
                <a:moveTo>
                  <a:pt x="4585506" y="0"/>
                </a:moveTo>
                <a:lnTo>
                  <a:pt x="0" y="0"/>
                </a:lnTo>
                <a:lnTo>
                  <a:pt x="0" y="1625770"/>
                </a:lnTo>
                <a:lnTo>
                  <a:pt x="4585506" y="1625770"/>
                </a:lnTo>
                <a:lnTo>
                  <a:pt x="45855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782425" y="8123782"/>
            <a:ext cx="4585506" cy="1625770"/>
          </a:xfrm>
          <a:custGeom>
            <a:avLst/>
            <a:gdLst/>
            <a:ahLst/>
            <a:cxnLst/>
            <a:rect l="l" t="t" r="r" b="b"/>
            <a:pathLst>
              <a:path w="4585506" h="1625770">
                <a:moveTo>
                  <a:pt x="0" y="0"/>
                </a:moveTo>
                <a:lnTo>
                  <a:pt x="4585506" y="0"/>
                </a:lnTo>
                <a:lnTo>
                  <a:pt x="4585506" y="1625770"/>
                </a:lnTo>
                <a:lnTo>
                  <a:pt x="0" y="1625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641794">
            <a:off x="8923192" y="-17882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44528" y="2979302"/>
            <a:ext cx="16572336" cy="514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9"/>
              </a:lnSpc>
              <a:spcBef>
                <a:spcPct val="0"/>
              </a:spcBef>
            </a:pPr>
            <a:r>
              <a:rPr lang="en-US" sz="44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Thiết kế phiên họp JAD: Các buổi họp kéo dài từ 1-10 ngày, thu thập thông tin và tạo ra sản phẩm như mô hình quy trình, định nghĩa yêu cầu.</a:t>
            </a:r>
          </a:p>
          <a:p>
            <a:pPr algn="l">
              <a:lnSpc>
                <a:spcPts val="5749"/>
              </a:lnSpc>
              <a:spcBef>
                <a:spcPct val="0"/>
              </a:spcBef>
            </a:pPr>
            <a:r>
              <a:rPr lang="en-US" sz="44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Tạo môi trường thảo luận mở, thay vì chỉ thu thập ý kiến qua câu hỏi đóng.</a:t>
            </a:r>
          </a:p>
          <a:p>
            <a:pPr algn="l">
              <a:lnSpc>
                <a:spcPts val="5749"/>
              </a:lnSpc>
              <a:spcBef>
                <a:spcPct val="0"/>
              </a:spcBef>
            </a:pPr>
            <a:r>
              <a:rPr lang="en-US" sz="44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Lựa chọn người tham gia: Chọn người xuất sắc, đại diện các cấp độ tổ chức để đảm bảo sự ủng hộ và tính đa dạng.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910432" y="2376356"/>
          <a:ext cx="16674344" cy="7613124"/>
        </p:xfrm>
        <a:graphic>
          <a:graphicData uri="http://schemas.openxmlformats.org/drawingml/2006/table">
            <a:tbl>
              <a:tblPr/>
              <a:tblGrid>
                <a:gridCol w="365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9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0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3525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3EA8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Lên kế  hoạch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3EA8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Chuẩn bị phiên họp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3EA8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Tiến hành phiên họp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3EA8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Theo dõi sau phiên họp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9599"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Xác định phạm vi, mục tiêu, lợi ích và rủi ro dự kiến.</a:t>
                      </a:r>
                      <a:endParaRPr lang="en-US" sz="1100"/>
                    </a:p>
                    <a:p>
                      <a:pPr algn="l">
                        <a:lnSpc>
                          <a:spcPts val="4900"/>
                        </a:lnSpc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Bổ nhiệm nhà tài trợ và người điều phối.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Người tham gia nắm rõ mục tiêu và tài liệu cần thiết.</a:t>
                      </a:r>
                      <a:endParaRPr lang="en-US" sz="1100"/>
                    </a:p>
                    <a:p>
                      <a:pPr algn="l">
                        <a:lnSpc>
                          <a:spcPts val="4900"/>
                        </a:lnSpc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- Chuẩn bị các công cụ hỗ trợ như CASE hoặc phần mềm cộng tác.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Thảo luận mở, tuân thủ chương trình nghị sự và quy tắc cơ bản.</a:t>
                      </a:r>
                      <a:endParaRPr lang="en-US" sz="1100"/>
                    </a:p>
                    <a:p>
                      <a:pPr algn="l">
                        <a:lnSpc>
                          <a:spcPts val="4900"/>
                        </a:lnSpc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- Xác định yêu cầu, phát triển nguyên mẫu, lập tài liệu.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 Chuẩn bị và phát hành cho những người tham dự phiên họp(1-2 tuần).</a:t>
                      </a:r>
                      <a:endParaRPr lang="en-US" sz="1100"/>
                    </a:p>
                    <a:p>
                      <a:pPr algn="l">
                        <a:lnSpc>
                          <a:spcPts val="4900"/>
                        </a:lnSpc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Giải quyết các vấn đề từ phiên họp trước và tiếp tục cải tiến.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7374448" y="9044945"/>
            <a:ext cx="3539104" cy="617207"/>
            <a:chOff x="0" y="0"/>
            <a:chExt cx="1291075" cy="2251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1075" cy="225159"/>
            </a:xfrm>
            <a:custGeom>
              <a:avLst/>
              <a:gdLst/>
              <a:ahLst/>
              <a:cxnLst/>
              <a:rect l="l" t="t" r="r" b="b"/>
              <a:pathLst>
                <a:path w="1291075" h="225159">
                  <a:moveTo>
                    <a:pt x="0" y="0"/>
                  </a:moveTo>
                  <a:lnTo>
                    <a:pt x="1291075" y="0"/>
                  </a:lnTo>
                  <a:lnTo>
                    <a:pt x="1291075" y="225159"/>
                  </a:lnTo>
                  <a:lnTo>
                    <a:pt x="0" y="22515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 rot="-278358">
            <a:off x="15635548" y="9310068"/>
            <a:ext cx="2756025" cy="866895"/>
          </a:xfrm>
          <a:custGeom>
            <a:avLst/>
            <a:gdLst/>
            <a:ahLst/>
            <a:cxnLst/>
            <a:rect l="l" t="t" r="r" b="b"/>
            <a:pathLst>
              <a:path w="2756025" h="866895">
                <a:moveTo>
                  <a:pt x="0" y="0"/>
                </a:moveTo>
                <a:lnTo>
                  <a:pt x="2756025" y="0"/>
                </a:lnTo>
                <a:lnTo>
                  <a:pt x="2756025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64834" y="9653859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84196" y="-309867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186241" y="622471"/>
            <a:ext cx="13901232" cy="1618074"/>
            <a:chOff x="0" y="0"/>
            <a:chExt cx="5195465" cy="6047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95465" cy="604741"/>
            </a:xfrm>
            <a:custGeom>
              <a:avLst/>
              <a:gdLst/>
              <a:ahLst/>
              <a:cxnLst/>
              <a:rect l="l" t="t" r="r" b="b"/>
              <a:pathLst>
                <a:path w="5195465" h="604741">
                  <a:moveTo>
                    <a:pt x="0" y="0"/>
                  </a:moveTo>
                  <a:lnTo>
                    <a:pt x="5195465" y="0"/>
                  </a:lnTo>
                  <a:lnTo>
                    <a:pt x="5195465" y="604741"/>
                  </a:lnTo>
                  <a:lnTo>
                    <a:pt x="0" y="60474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2361787" y="724443"/>
            <a:ext cx="1391551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QUY TRÌNH THỰC HIỆN</a:t>
            </a:r>
          </a:p>
        </p:txBody>
      </p:sp>
      <p:sp>
        <p:nvSpPr>
          <p:cNvPr id="12" name="Freeform 12"/>
          <p:cNvSpPr/>
          <p:nvPr/>
        </p:nvSpPr>
        <p:spPr>
          <a:xfrm rot="-278358">
            <a:off x="-187185" y="433311"/>
            <a:ext cx="2756025" cy="866895"/>
          </a:xfrm>
          <a:custGeom>
            <a:avLst/>
            <a:gdLst/>
            <a:ahLst/>
            <a:cxnLst/>
            <a:rect l="l" t="t" r="r" b="b"/>
            <a:pathLst>
              <a:path w="2756025" h="866895">
                <a:moveTo>
                  <a:pt x="0" y="0"/>
                </a:moveTo>
                <a:lnTo>
                  <a:pt x="2756025" y="0"/>
                </a:lnTo>
                <a:lnTo>
                  <a:pt x="2756025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34458" y="680808"/>
            <a:ext cx="14224207" cy="1933555"/>
            <a:chOff x="0" y="0"/>
            <a:chExt cx="5075135" cy="6898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75135" cy="689884"/>
            </a:xfrm>
            <a:custGeom>
              <a:avLst/>
              <a:gdLst/>
              <a:ahLst/>
              <a:cxnLst/>
              <a:rect l="l" t="t" r="r" b="b"/>
              <a:pathLst>
                <a:path w="5075135" h="689884">
                  <a:moveTo>
                    <a:pt x="0" y="0"/>
                  </a:moveTo>
                  <a:lnTo>
                    <a:pt x="5075135" y="0"/>
                  </a:lnTo>
                  <a:lnTo>
                    <a:pt x="5075135" y="689884"/>
                  </a:lnTo>
                  <a:lnTo>
                    <a:pt x="0" y="6898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95970" y="3820419"/>
          <a:ext cx="16439375" cy="5026800"/>
        </p:xfrm>
        <a:graphic>
          <a:graphicData uri="http://schemas.openxmlformats.org/drawingml/2006/table">
            <a:tbl>
              <a:tblPr/>
              <a:tblGrid>
                <a:gridCol w="1643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64425">
                <a:tc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Ngành ngân hàng:  Phát triển hệ thống quản lý tài khoản khách hàng.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0">
                <a:tc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Công nghệ thông tin: Tạo ứng dụng quản lý dự án với sự hợp tác giữa kỹ thuật và kinh doanh.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6425">
                <a:tc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Sản xuất: Thiết kế hệ thống quản lý chuỗi cung ứng với đầu vào từ nhiều bộ phận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11989663" y="8797919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02764" y="8942224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8" y="0"/>
                </a:lnTo>
                <a:lnTo>
                  <a:pt x="573798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318882" y="-411324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8" y="0"/>
                </a:lnTo>
                <a:lnTo>
                  <a:pt x="573798" y="822648"/>
                </a:lnTo>
                <a:lnTo>
                  <a:pt x="0" y="8226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608297" y="158885"/>
            <a:ext cx="3927179" cy="1392364"/>
          </a:xfrm>
          <a:custGeom>
            <a:avLst/>
            <a:gdLst/>
            <a:ahLst/>
            <a:cxnLst/>
            <a:rect l="l" t="t" r="r" b="b"/>
            <a:pathLst>
              <a:path w="3927179" h="1392364">
                <a:moveTo>
                  <a:pt x="0" y="0"/>
                </a:moveTo>
                <a:lnTo>
                  <a:pt x="3927179" y="0"/>
                </a:lnTo>
                <a:lnTo>
                  <a:pt x="3927179" y="1392363"/>
                </a:lnTo>
                <a:lnTo>
                  <a:pt x="0" y="1392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665522" y="1033223"/>
            <a:ext cx="1339556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MỘT SỐ VÍ DỤ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9294" y="1600202"/>
            <a:ext cx="16335797" cy="7086595"/>
            <a:chOff x="0" y="0"/>
            <a:chExt cx="3817940" cy="1656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17940" cy="1656252"/>
            </a:xfrm>
            <a:custGeom>
              <a:avLst/>
              <a:gdLst/>
              <a:ahLst/>
              <a:cxnLst/>
              <a:rect l="l" t="t" r="r" b="b"/>
              <a:pathLst>
                <a:path w="3817940" h="1656252">
                  <a:moveTo>
                    <a:pt x="0" y="0"/>
                  </a:moveTo>
                  <a:lnTo>
                    <a:pt x="3817940" y="0"/>
                  </a:lnTo>
                  <a:lnTo>
                    <a:pt x="3817940" y="1656252"/>
                  </a:lnTo>
                  <a:lnTo>
                    <a:pt x="0" y="16562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144615" y="2041036"/>
            <a:ext cx="15114685" cy="676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691"/>
              </a:lnSpc>
              <a:spcBef>
                <a:spcPct val="0"/>
              </a:spcBef>
            </a:pPr>
            <a:r>
              <a:rPr lang="en-US" sz="22242" b="1">
                <a:solidFill>
                  <a:srgbClr val="003EA8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THANK YOU!</a:t>
            </a:r>
          </a:p>
        </p:txBody>
      </p:sp>
      <p:sp>
        <p:nvSpPr>
          <p:cNvPr id="6" name="Freeform 6"/>
          <p:cNvSpPr/>
          <p:nvPr/>
        </p:nvSpPr>
        <p:spPr>
          <a:xfrm>
            <a:off x="103111" y="5271750"/>
            <a:ext cx="5746641" cy="5015250"/>
          </a:xfrm>
          <a:custGeom>
            <a:avLst/>
            <a:gdLst/>
            <a:ahLst/>
            <a:cxnLst/>
            <a:rect l="l" t="t" r="r" b="b"/>
            <a:pathLst>
              <a:path w="5746641" h="5015250">
                <a:moveTo>
                  <a:pt x="0" y="0"/>
                </a:moveTo>
                <a:lnTo>
                  <a:pt x="5746641" y="0"/>
                </a:lnTo>
                <a:lnTo>
                  <a:pt x="5746641" y="5015250"/>
                </a:lnTo>
                <a:lnTo>
                  <a:pt x="0" y="5015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419232" y="8067857"/>
            <a:ext cx="7055078" cy="2219143"/>
          </a:xfrm>
          <a:custGeom>
            <a:avLst/>
            <a:gdLst/>
            <a:ahLst/>
            <a:cxnLst/>
            <a:rect l="l" t="t" r="r" b="b"/>
            <a:pathLst>
              <a:path w="7055078" h="2219143">
                <a:moveTo>
                  <a:pt x="0" y="0"/>
                </a:moveTo>
                <a:lnTo>
                  <a:pt x="7055078" y="0"/>
                </a:lnTo>
                <a:lnTo>
                  <a:pt x="7055078" y="2219143"/>
                </a:lnTo>
                <a:lnTo>
                  <a:pt x="0" y="2219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040" y="3822726"/>
            <a:ext cx="5026805" cy="1252131"/>
          </a:xfrm>
          <a:custGeom>
            <a:avLst/>
            <a:gdLst/>
            <a:ahLst/>
            <a:cxnLst/>
            <a:rect l="l" t="t" r="r" b="b"/>
            <a:pathLst>
              <a:path w="5026805" h="1252131">
                <a:moveTo>
                  <a:pt x="0" y="0"/>
                </a:moveTo>
                <a:lnTo>
                  <a:pt x="5026805" y="0"/>
                </a:lnTo>
                <a:lnTo>
                  <a:pt x="5026805" y="1252132"/>
                </a:lnTo>
                <a:lnTo>
                  <a:pt x="0" y="12521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34334" y="156708"/>
            <a:ext cx="1858014" cy="2333123"/>
          </a:xfrm>
          <a:custGeom>
            <a:avLst/>
            <a:gdLst/>
            <a:ahLst/>
            <a:cxnLst/>
            <a:rect l="l" t="t" r="r" b="b"/>
            <a:pathLst>
              <a:path w="1858014" h="2333123">
                <a:moveTo>
                  <a:pt x="0" y="0"/>
                </a:moveTo>
                <a:lnTo>
                  <a:pt x="1858015" y="0"/>
                </a:lnTo>
                <a:lnTo>
                  <a:pt x="1858015" y="2333123"/>
                </a:lnTo>
                <a:lnTo>
                  <a:pt x="0" y="2333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7401"/>
            <a:ext cx="5759604" cy="1392777"/>
          </a:xfrm>
          <a:custGeom>
            <a:avLst/>
            <a:gdLst/>
            <a:ahLst/>
            <a:cxnLst/>
            <a:rect l="l" t="t" r="r" b="b"/>
            <a:pathLst>
              <a:path w="5759604" h="1392777">
                <a:moveTo>
                  <a:pt x="0" y="0"/>
                </a:moveTo>
                <a:lnTo>
                  <a:pt x="5759604" y="0"/>
                </a:lnTo>
                <a:lnTo>
                  <a:pt x="5759604" y="1392776"/>
                </a:lnTo>
                <a:lnTo>
                  <a:pt x="0" y="13927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563</Words>
  <Application>Microsoft Office PowerPoint</Application>
  <PresentationFormat>Custom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 Bold</vt:lpstr>
      <vt:lpstr>Muli</vt:lpstr>
      <vt:lpstr>Calibri</vt:lpstr>
      <vt:lpstr>Dancing Script Bold</vt:lpstr>
      <vt:lpstr>Muli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Xanh hải quân Trắng Đen Vẽ nguệch ngoạc Kế hoạch Kinh doanh Bản thuyết trình Kinh doanh</dc:title>
  <dc:creator>DELL</dc:creator>
  <cp:lastModifiedBy>Cao Xuân Nguyên</cp:lastModifiedBy>
  <cp:revision>2</cp:revision>
  <dcterms:created xsi:type="dcterms:W3CDTF">2006-08-16T00:00:00Z</dcterms:created>
  <dcterms:modified xsi:type="dcterms:W3CDTF">2025-01-09T14:54:25Z</dcterms:modified>
  <dc:identifier>DAGbtMD12Yc</dc:identifier>
</cp:coreProperties>
</file>