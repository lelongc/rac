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Barlow Bold" charset="1" panose="00000800000000000000"/>
      <p:regular r:id="rId27"/>
    </p:embeddedFont>
    <p:embeddedFont>
      <p:font typeface="Montserrat Bold" charset="1" panose="00000800000000000000"/>
      <p:regular r:id="rId28"/>
    </p:embeddedFont>
    <p:embeddedFont>
      <p:font typeface="Barlow" charset="1" panose="00000500000000000000"/>
      <p:regular r:id="rId29"/>
    </p:embeddedFont>
    <p:embeddedFont>
      <p:font typeface="Montserrat" charset="1" panose="000005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4.jpeg" Type="http://schemas.openxmlformats.org/officeDocument/2006/relationships/image"/><Relationship Id="rId5" Target="../media/image1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16.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6.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grpSp>
        <p:nvGrpSpPr>
          <p:cNvPr name="Group 3" id="3"/>
          <p:cNvGrpSpPr/>
          <p:nvPr/>
        </p:nvGrpSpPr>
        <p:grpSpPr>
          <a:xfrm rot="0">
            <a:off x="8326451" y="4155585"/>
            <a:ext cx="5253409" cy="4549216"/>
            <a:chOff x="0" y="0"/>
            <a:chExt cx="4282440" cy="3708400"/>
          </a:xfrm>
        </p:grpSpPr>
        <p:sp>
          <p:nvSpPr>
            <p:cNvPr name="Freeform 4" id="4"/>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3"/>
              <a:stretch>
                <a:fillRect l="-14987" t="0" r="-14987" b="0"/>
              </a:stretch>
            </a:blipFill>
            <a:ln w="180975" cap="sq">
              <a:solidFill>
                <a:srgbClr val="FFFFFF"/>
              </a:solidFill>
              <a:prstDash val="solid"/>
              <a:miter/>
            </a:ln>
          </p:spPr>
        </p:sp>
      </p:grpSp>
      <p:sp>
        <p:nvSpPr>
          <p:cNvPr name="TextBox 5" id="5"/>
          <p:cNvSpPr txBox="true"/>
          <p:nvPr/>
        </p:nvSpPr>
        <p:spPr>
          <a:xfrm rot="0">
            <a:off x="1028700" y="2182060"/>
            <a:ext cx="9924456" cy="3366593"/>
          </a:xfrm>
          <a:prstGeom prst="rect">
            <a:avLst/>
          </a:prstGeom>
        </p:spPr>
        <p:txBody>
          <a:bodyPr anchor="t" rtlCol="false" tIns="0" lIns="0" bIns="0" rIns="0">
            <a:spAutoFit/>
          </a:bodyPr>
          <a:lstStyle/>
          <a:p>
            <a:pPr algn="l">
              <a:lnSpc>
                <a:spcPts val="8666"/>
              </a:lnSpc>
            </a:pPr>
            <a:r>
              <a:rPr lang="en-US" sz="9738" b="true">
                <a:solidFill>
                  <a:srgbClr val="FFFFFF"/>
                </a:solidFill>
                <a:latin typeface="Barlow Bold"/>
                <a:ea typeface="Barlow Bold"/>
                <a:cs typeface="Barlow Bold"/>
                <a:sym typeface="Barlow Bold"/>
              </a:rPr>
              <a:t>QUESTIONNAIRES &amp; </a:t>
            </a:r>
          </a:p>
          <a:p>
            <a:pPr algn="l">
              <a:lnSpc>
                <a:spcPts val="8666"/>
              </a:lnSpc>
            </a:pPr>
            <a:r>
              <a:rPr lang="en-US" sz="9738" b="true">
                <a:solidFill>
                  <a:srgbClr val="FFFFFF"/>
                </a:solidFill>
                <a:latin typeface="Barlow Bold"/>
                <a:ea typeface="Barlow Bold"/>
                <a:cs typeface="Barlow Bold"/>
                <a:sym typeface="Barlow Bold"/>
              </a:rPr>
              <a:t>SURVEYS</a:t>
            </a:r>
          </a:p>
        </p:txBody>
      </p:sp>
      <p:grpSp>
        <p:nvGrpSpPr>
          <p:cNvPr name="Group 6" id="6"/>
          <p:cNvGrpSpPr/>
          <p:nvPr/>
        </p:nvGrpSpPr>
        <p:grpSpPr>
          <a:xfrm rot="0">
            <a:off x="13599870" y="1028700"/>
            <a:ext cx="3265883" cy="2828107"/>
            <a:chOff x="0" y="0"/>
            <a:chExt cx="4282440" cy="3708400"/>
          </a:xfrm>
        </p:grpSpPr>
        <p:sp>
          <p:nvSpPr>
            <p:cNvPr name="Freeform 7" id="7"/>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4"/>
              <a:stretch>
                <a:fillRect l="-14987" t="0" r="-14987" b="0"/>
              </a:stretch>
            </a:blipFill>
            <a:ln w="85725" cap="sq">
              <a:solidFill>
                <a:srgbClr val="FFFFFF"/>
              </a:solidFill>
              <a:prstDash val="solid"/>
              <a:miter/>
            </a:ln>
          </p:spPr>
        </p:sp>
      </p:grpSp>
      <p:grpSp>
        <p:nvGrpSpPr>
          <p:cNvPr name="Group 8" id="8"/>
          <p:cNvGrpSpPr/>
          <p:nvPr/>
        </p:nvGrpSpPr>
        <p:grpSpPr>
          <a:xfrm rot="0">
            <a:off x="1750714" y="6430193"/>
            <a:ext cx="3265883" cy="2828107"/>
            <a:chOff x="0" y="0"/>
            <a:chExt cx="4282440" cy="3708400"/>
          </a:xfrm>
        </p:grpSpPr>
        <p:sp>
          <p:nvSpPr>
            <p:cNvPr name="Freeform 9" id="9"/>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5"/>
              <a:stretch>
                <a:fillRect l="-14987" t="0" r="-14987" b="0"/>
              </a:stretch>
            </a:blipFill>
            <a:ln w="85725" cap="sq">
              <a:solidFill>
                <a:srgbClr val="FFFFFF"/>
              </a:solidFill>
              <a:prstDash val="solid"/>
              <a:miter/>
            </a:ln>
          </p:spPr>
        </p:sp>
      </p:grpSp>
      <p:sp>
        <p:nvSpPr>
          <p:cNvPr name="TextBox 10" id="10"/>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sp>
        <p:nvSpPr>
          <p:cNvPr name="TextBox 2" id="2"/>
          <p:cNvSpPr txBox="true"/>
          <p:nvPr/>
        </p:nvSpPr>
        <p:spPr>
          <a:xfrm rot="0">
            <a:off x="3778898" y="2191618"/>
            <a:ext cx="10499368" cy="991236"/>
          </a:xfrm>
          <a:prstGeom prst="rect">
            <a:avLst/>
          </a:prstGeom>
        </p:spPr>
        <p:txBody>
          <a:bodyPr anchor="t" rtlCol="false" tIns="0" lIns="0" bIns="0" rIns="0">
            <a:spAutoFit/>
          </a:bodyPr>
          <a:lstStyle/>
          <a:p>
            <a:pPr algn="ctr">
              <a:lnSpc>
                <a:spcPts val="7120"/>
              </a:lnSpc>
            </a:pPr>
            <a:r>
              <a:rPr lang="en-US" b="true" sz="8000">
                <a:solidFill>
                  <a:srgbClr val="FFFFFF"/>
                </a:solidFill>
                <a:latin typeface="Barlow Bold"/>
                <a:ea typeface="Barlow Bold"/>
                <a:cs typeface="Barlow Bold"/>
                <a:sym typeface="Barlow Bold"/>
              </a:rPr>
              <a:t>THÀNH VIÊN NHÓM</a:t>
            </a:r>
          </a:p>
        </p:txBody>
      </p:sp>
      <p:grpSp>
        <p:nvGrpSpPr>
          <p:cNvPr name="Group 3" id="3"/>
          <p:cNvGrpSpPr/>
          <p:nvPr/>
        </p:nvGrpSpPr>
        <p:grpSpPr>
          <a:xfrm rot="0">
            <a:off x="493890" y="5296219"/>
            <a:ext cx="8023859" cy="937154"/>
            <a:chOff x="0" y="0"/>
            <a:chExt cx="2113280" cy="246822"/>
          </a:xfrm>
        </p:grpSpPr>
        <p:sp>
          <p:nvSpPr>
            <p:cNvPr name="Freeform 4" id="4"/>
            <p:cNvSpPr/>
            <p:nvPr/>
          </p:nvSpPr>
          <p:spPr>
            <a:xfrm flipH="false" flipV="false" rot="0">
              <a:off x="0" y="0"/>
              <a:ext cx="2113280" cy="246822"/>
            </a:xfrm>
            <a:custGeom>
              <a:avLst/>
              <a:gdLst/>
              <a:ahLst/>
              <a:cxnLst/>
              <a:rect r="r" b="b" t="t" l="l"/>
              <a:pathLst>
                <a:path h="246822" w="2113280">
                  <a:moveTo>
                    <a:pt x="0" y="0"/>
                  </a:moveTo>
                  <a:lnTo>
                    <a:pt x="2113280" y="0"/>
                  </a:lnTo>
                  <a:lnTo>
                    <a:pt x="2113280" y="246822"/>
                  </a:lnTo>
                  <a:lnTo>
                    <a:pt x="0" y="246822"/>
                  </a:lnTo>
                  <a:close/>
                </a:path>
              </a:pathLst>
            </a:custGeom>
            <a:solidFill>
              <a:srgbClr val="FFFFFF"/>
            </a:solidFill>
          </p:spPr>
        </p:sp>
        <p:sp>
          <p:nvSpPr>
            <p:cNvPr name="TextBox 5" id="5"/>
            <p:cNvSpPr txBox="true"/>
            <p:nvPr/>
          </p:nvSpPr>
          <p:spPr>
            <a:xfrm>
              <a:off x="0" y="47625"/>
              <a:ext cx="2113280" cy="199197"/>
            </a:xfrm>
            <a:prstGeom prst="rect">
              <a:avLst/>
            </a:prstGeom>
          </p:spPr>
          <p:txBody>
            <a:bodyPr anchor="ctr" rtlCol="false" tIns="50800" lIns="50800" bIns="50800" rIns="50800"/>
            <a:lstStyle/>
            <a:p>
              <a:pPr algn="ctr">
                <a:lnSpc>
                  <a:spcPts val="1508"/>
                </a:lnSpc>
              </a:pPr>
            </a:p>
          </p:txBody>
        </p:sp>
      </p:grpSp>
      <p:sp>
        <p:nvSpPr>
          <p:cNvPr name="Freeform 6" id="6"/>
          <p:cNvSpPr/>
          <p:nvPr/>
        </p:nvSpPr>
        <p:spPr>
          <a:xfrm flipH="false" flipV="false" rot="0">
            <a:off x="-432037" y="9280018"/>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1324240" y="390677"/>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grpSp>
        <p:nvGrpSpPr>
          <p:cNvPr name="Group 9" id="9"/>
          <p:cNvGrpSpPr/>
          <p:nvPr/>
        </p:nvGrpSpPr>
        <p:grpSpPr>
          <a:xfrm rot="0">
            <a:off x="9028582" y="3878179"/>
            <a:ext cx="8023859" cy="937154"/>
            <a:chOff x="0" y="0"/>
            <a:chExt cx="2113280" cy="246822"/>
          </a:xfrm>
        </p:grpSpPr>
        <p:sp>
          <p:nvSpPr>
            <p:cNvPr name="Freeform 10" id="10"/>
            <p:cNvSpPr/>
            <p:nvPr/>
          </p:nvSpPr>
          <p:spPr>
            <a:xfrm flipH="false" flipV="false" rot="0">
              <a:off x="0" y="0"/>
              <a:ext cx="2113280" cy="246822"/>
            </a:xfrm>
            <a:custGeom>
              <a:avLst/>
              <a:gdLst/>
              <a:ahLst/>
              <a:cxnLst/>
              <a:rect r="r" b="b" t="t" l="l"/>
              <a:pathLst>
                <a:path h="246822" w="2113280">
                  <a:moveTo>
                    <a:pt x="0" y="0"/>
                  </a:moveTo>
                  <a:lnTo>
                    <a:pt x="2113280" y="0"/>
                  </a:lnTo>
                  <a:lnTo>
                    <a:pt x="2113280" y="246822"/>
                  </a:lnTo>
                  <a:lnTo>
                    <a:pt x="0" y="246822"/>
                  </a:lnTo>
                  <a:close/>
                </a:path>
              </a:pathLst>
            </a:custGeom>
            <a:solidFill>
              <a:srgbClr val="FFFFFF"/>
            </a:solidFill>
          </p:spPr>
        </p:sp>
        <p:sp>
          <p:nvSpPr>
            <p:cNvPr name="TextBox 11" id="11"/>
            <p:cNvSpPr txBox="true"/>
            <p:nvPr/>
          </p:nvSpPr>
          <p:spPr>
            <a:xfrm>
              <a:off x="0" y="47625"/>
              <a:ext cx="2113280" cy="199197"/>
            </a:xfrm>
            <a:prstGeom prst="rect">
              <a:avLst/>
            </a:prstGeom>
          </p:spPr>
          <p:txBody>
            <a:bodyPr anchor="ctr" rtlCol="false" tIns="50800" lIns="50800" bIns="50800" rIns="50800"/>
            <a:lstStyle/>
            <a:p>
              <a:pPr algn="ctr">
                <a:lnSpc>
                  <a:spcPts val="1508"/>
                </a:lnSpc>
              </a:pPr>
            </a:p>
          </p:txBody>
        </p:sp>
      </p:grpSp>
      <p:grpSp>
        <p:nvGrpSpPr>
          <p:cNvPr name="Group 12" id="12"/>
          <p:cNvGrpSpPr/>
          <p:nvPr/>
        </p:nvGrpSpPr>
        <p:grpSpPr>
          <a:xfrm rot="0">
            <a:off x="493890" y="6709622"/>
            <a:ext cx="8023859" cy="937154"/>
            <a:chOff x="0" y="0"/>
            <a:chExt cx="2113280" cy="246822"/>
          </a:xfrm>
        </p:grpSpPr>
        <p:sp>
          <p:nvSpPr>
            <p:cNvPr name="Freeform 13" id="13"/>
            <p:cNvSpPr/>
            <p:nvPr/>
          </p:nvSpPr>
          <p:spPr>
            <a:xfrm flipH="false" flipV="false" rot="0">
              <a:off x="0" y="0"/>
              <a:ext cx="2113280" cy="246822"/>
            </a:xfrm>
            <a:custGeom>
              <a:avLst/>
              <a:gdLst/>
              <a:ahLst/>
              <a:cxnLst/>
              <a:rect r="r" b="b" t="t" l="l"/>
              <a:pathLst>
                <a:path h="246822" w="2113280">
                  <a:moveTo>
                    <a:pt x="0" y="0"/>
                  </a:moveTo>
                  <a:lnTo>
                    <a:pt x="2113280" y="0"/>
                  </a:lnTo>
                  <a:lnTo>
                    <a:pt x="2113280" y="246822"/>
                  </a:lnTo>
                  <a:lnTo>
                    <a:pt x="0" y="246822"/>
                  </a:lnTo>
                  <a:close/>
                </a:path>
              </a:pathLst>
            </a:custGeom>
            <a:solidFill>
              <a:srgbClr val="FFFFFF"/>
            </a:solidFill>
          </p:spPr>
        </p:sp>
        <p:sp>
          <p:nvSpPr>
            <p:cNvPr name="TextBox 14" id="14"/>
            <p:cNvSpPr txBox="true"/>
            <p:nvPr/>
          </p:nvSpPr>
          <p:spPr>
            <a:xfrm>
              <a:off x="0" y="47625"/>
              <a:ext cx="2113280" cy="199197"/>
            </a:xfrm>
            <a:prstGeom prst="rect">
              <a:avLst/>
            </a:prstGeom>
          </p:spPr>
          <p:txBody>
            <a:bodyPr anchor="ctr" rtlCol="false" tIns="50800" lIns="50800" bIns="50800" rIns="50800"/>
            <a:lstStyle/>
            <a:p>
              <a:pPr algn="ctr">
                <a:lnSpc>
                  <a:spcPts val="1508"/>
                </a:lnSpc>
              </a:pPr>
            </a:p>
          </p:txBody>
        </p:sp>
      </p:grpSp>
      <p:grpSp>
        <p:nvGrpSpPr>
          <p:cNvPr name="Group 15" id="15"/>
          <p:cNvGrpSpPr/>
          <p:nvPr/>
        </p:nvGrpSpPr>
        <p:grpSpPr>
          <a:xfrm rot="0">
            <a:off x="493890" y="3878179"/>
            <a:ext cx="8023859" cy="937154"/>
            <a:chOff x="0" y="0"/>
            <a:chExt cx="2113280" cy="246822"/>
          </a:xfrm>
        </p:grpSpPr>
        <p:sp>
          <p:nvSpPr>
            <p:cNvPr name="Freeform 16" id="16"/>
            <p:cNvSpPr/>
            <p:nvPr/>
          </p:nvSpPr>
          <p:spPr>
            <a:xfrm flipH="false" flipV="false" rot="0">
              <a:off x="0" y="0"/>
              <a:ext cx="2113280" cy="246822"/>
            </a:xfrm>
            <a:custGeom>
              <a:avLst/>
              <a:gdLst/>
              <a:ahLst/>
              <a:cxnLst/>
              <a:rect r="r" b="b" t="t" l="l"/>
              <a:pathLst>
                <a:path h="246822" w="2113280">
                  <a:moveTo>
                    <a:pt x="0" y="0"/>
                  </a:moveTo>
                  <a:lnTo>
                    <a:pt x="2113280" y="0"/>
                  </a:lnTo>
                  <a:lnTo>
                    <a:pt x="2113280" y="246822"/>
                  </a:lnTo>
                  <a:lnTo>
                    <a:pt x="0" y="246822"/>
                  </a:lnTo>
                  <a:close/>
                </a:path>
              </a:pathLst>
            </a:custGeom>
            <a:solidFill>
              <a:srgbClr val="FFFFFF"/>
            </a:solidFill>
          </p:spPr>
        </p:sp>
        <p:sp>
          <p:nvSpPr>
            <p:cNvPr name="TextBox 17" id="17"/>
            <p:cNvSpPr txBox="true"/>
            <p:nvPr/>
          </p:nvSpPr>
          <p:spPr>
            <a:xfrm>
              <a:off x="0" y="47625"/>
              <a:ext cx="2113280" cy="199197"/>
            </a:xfrm>
            <a:prstGeom prst="rect">
              <a:avLst/>
            </a:prstGeom>
          </p:spPr>
          <p:txBody>
            <a:bodyPr anchor="ctr" rtlCol="false" tIns="50800" lIns="50800" bIns="50800" rIns="50800"/>
            <a:lstStyle/>
            <a:p>
              <a:pPr algn="ctr">
                <a:lnSpc>
                  <a:spcPts val="1508"/>
                </a:lnSpc>
              </a:pPr>
            </a:p>
          </p:txBody>
        </p:sp>
      </p:grpSp>
      <p:sp>
        <p:nvSpPr>
          <p:cNvPr name="TextBox 18" id="18"/>
          <p:cNvSpPr txBox="true"/>
          <p:nvPr/>
        </p:nvSpPr>
        <p:spPr>
          <a:xfrm rot="0">
            <a:off x="168977" y="3962004"/>
            <a:ext cx="8348772" cy="669925"/>
          </a:xfrm>
          <a:prstGeom prst="rect">
            <a:avLst/>
          </a:prstGeom>
        </p:spPr>
        <p:txBody>
          <a:bodyPr anchor="t" rtlCol="false" tIns="0" lIns="0" bIns="0" rIns="0">
            <a:spAutoFit/>
          </a:bodyPr>
          <a:lstStyle/>
          <a:p>
            <a:pPr algn="ctr">
              <a:lnSpc>
                <a:spcPts val="5599"/>
              </a:lnSpc>
            </a:pPr>
            <a:r>
              <a:rPr lang="en-US" b="true" sz="3999" spc="143">
                <a:solidFill>
                  <a:srgbClr val="011442"/>
                </a:solidFill>
                <a:latin typeface="Montserrat Bold"/>
                <a:ea typeface="Montserrat Bold"/>
                <a:cs typeface="Montserrat Bold"/>
                <a:sym typeface="Montserrat Bold"/>
              </a:rPr>
              <a:t>Nguyễn Minh Trường</a:t>
            </a:r>
          </a:p>
        </p:txBody>
      </p:sp>
      <p:grpSp>
        <p:nvGrpSpPr>
          <p:cNvPr name="Group 19" id="19"/>
          <p:cNvGrpSpPr/>
          <p:nvPr/>
        </p:nvGrpSpPr>
        <p:grpSpPr>
          <a:xfrm rot="0">
            <a:off x="9028582" y="5296219"/>
            <a:ext cx="8023859" cy="937154"/>
            <a:chOff x="0" y="0"/>
            <a:chExt cx="2113280" cy="246822"/>
          </a:xfrm>
        </p:grpSpPr>
        <p:sp>
          <p:nvSpPr>
            <p:cNvPr name="Freeform 20" id="20"/>
            <p:cNvSpPr/>
            <p:nvPr/>
          </p:nvSpPr>
          <p:spPr>
            <a:xfrm flipH="false" flipV="false" rot="0">
              <a:off x="0" y="0"/>
              <a:ext cx="2113280" cy="246822"/>
            </a:xfrm>
            <a:custGeom>
              <a:avLst/>
              <a:gdLst/>
              <a:ahLst/>
              <a:cxnLst/>
              <a:rect r="r" b="b" t="t" l="l"/>
              <a:pathLst>
                <a:path h="246822" w="2113280">
                  <a:moveTo>
                    <a:pt x="0" y="0"/>
                  </a:moveTo>
                  <a:lnTo>
                    <a:pt x="2113280" y="0"/>
                  </a:lnTo>
                  <a:lnTo>
                    <a:pt x="2113280" y="246822"/>
                  </a:lnTo>
                  <a:lnTo>
                    <a:pt x="0" y="246822"/>
                  </a:lnTo>
                  <a:close/>
                </a:path>
              </a:pathLst>
            </a:custGeom>
            <a:solidFill>
              <a:srgbClr val="FFFFFF"/>
            </a:solidFill>
          </p:spPr>
        </p:sp>
        <p:sp>
          <p:nvSpPr>
            <p:cNvPr name="TextBox 21" id="21"/>
            <p:cNvSpPr txBox="true"/>
            <p:nvPr/>
          </p:nvSpPr>
          <p:spPr>
            <a:xfrm>
              <a:off x="0" y="47625"/>
              <a:ext cx="2113280" cy="199197"/>
            </a:xfrm>
            <a:prstGeom prst="rect">
              <a:avLst/>
            </a:prstGeom>
          </p:spPr>
          <p:txBody>
            <a:bodyPr anchor="ctr" rtlCol="false" tIns="50800" lIns="50800" bIns="50800" rIns="50800"/>
            <a:lstStyle/>
            <a:p>
              <a:pPr algn="ctr">
                <a:lnSpc>
                  <a:spcPts val="1508"/>
                </a:lnSpc>
              </a:pPr>
            </a:p>
          </p:txBody>
        </p:sp>
      </p:grpSp>
      <p:sp>
        <p:nvSpPr>
          <p:cNvPr name="TextBox 22" id="22"/>
          <p:cNvSpPr txBox="true"/>
          <p:nvPr/>
        </p:nvSpPr>
        <p:spPr>
          <a:xfrm rot="0">
            <a:off x="168977" y="5394177"/>
            <a:ext cx="8348772" cy="669925"/>
          </a:xfrm>
          <a:prstGeom prst="rect">
            <a:avLst/>
          </a:prstGeom>
        </p:spPr>
        <p:txBody>
          <a:bodyPr anchor="t" rtlCol="false" tIns="0" lIns="0" bIns="0" rIns="0">
            <a:spAutoFit/>
          </a:bodyPr>
          <a:lstStyle/>
          <a:p>
            <a:pPr algn="ctr">
              <a:lnSpc>
                <a:spcPts val="5599"/>
              </a:lnSpc>
            </a:pPr>
            <a:r>
              <a:rPr lang="en-US" b="true" sz="3999" spc="143">
                <a:solidFill>
                  <a:srgbClr val="011442"/>
                </a:solidFill>
                <a:latin typeface="Montserrat Bold"/>
                <a:ea typeface="Montserrat Bold"/>
                <a:cs typeface="Montserrat Bold"/>
                <a:sym typeface="Montserrat Bold"/>
              </a:rPr>
              <a:t>Nguyễn Thành Nghĩa</a:t>
            </a:r>
          </a:p>
        </p:txBody>
      </p:sp>
      <p:sp>
        <p:nvSpPr>
          <p:cNvPr name="TextBox 23" id="23"/>
          <p:cNvSpPr txBox="true"/>
          <p:nvPr/>
        </p:nvSpPr>
        <p:spPr>
          <a:xfrm rot="0">
            <a:off x="0" y="6809899"/>
            <a:ext cx="8348772" cy="669925"/>
          </a:xfrm>
          <a:prstGeom prst="rect">
            <a:avLst/>
          </a:prstGeom>
        </p:spPr>
        <p:txBody>
          <a:bodyPr anchor="t" rtlCol="false" tIns="0" lIns="0" bIns="0" rIns="0">
            <a:spAutoFit/>
          </a:bodyPr>
          <a:lstStyle/>
          <a:p>
            <a:pPr algn="ctr">
              <a:lnSpc>
                <a:spcPts val="5599"/>
              </a:lnSpc>
            </a:pPr>
            <a:r>
              <a:rPr lang="en-US" b="true" sz="3999" spc="143">
                <a:solidFill>
                  <a:srgbClr val="011442"/>
                </a:solidFill>
                <a:latin typeface="Montserrat Bold"/>
                <a:ea typeface="Montserrat Bold"/>
                <a:cs typeface="Montserrat Bold"/>
                <a:sym typeface="Montserrat Bold"/>
              </a:rPr>
              <a:t>Ngụy Đình Kỳ</a:t>
            </a:r>
          </a:p>
        </p:txBody>
      </p:sp>
      <p:sp>
        <p:nvSpPr>
          <p:cNvPr name="TextBox 24" id="24"/>
          <p:cNvSpPr txBox="true"/>
          <p:nvPr/>
        </p:nvSpPr>
        <p:spPr>
          <a:xfrm rot="0">
            <a:off x="8517749" y="3978455"/>
            <a:ext cx="8348772" cy="669925"/>
          </a:xfrm>
          <a:prstGeom prst="rect">
            <a:avLst/>
          </a:prstGeom>
        </p:spPr>
        <p:txBody>
          <a:bodyPr anchor="t" rtlCol="false" tIns="0" lIns="0" bIns="0" rIns="0">
            <a:spAutoFit/>
          </a:bodyPr>
          <a:lstStyle/>
          <a:p>
            <a:pPr algn="ctr">
              <a:lnSpc>
                <a:spcPts val="5599"/>
              </a:lnSpc>
            </a:pPr>
            <a:r>
              <a:rPr lang="en-US" b="true" sz="3999" spc="143">
                <a:solidFill>
                  <a:srgbClr val="011442"/>
                </a:solidFill>
                <a:latin typeface="Montserrat Bold"/>
                <a:ea typeface="Montserrat Bold"/>
                <a:cs typeface="Montserrat Bold"/>
                <a:sym typeface="Montserrat Bold"/>
              </a:rPr>
              <a:t>Trần Lê Kha</a:t>
            </a:r>
          </a:p>
        </p:txBody>
      </p:sp>
      <p:sp>
        <p:nvSpPr>
          <p:cNvPr name="TextBox 25" id="25"/>
          <p:cNvSpPr txBox="true"/>
          <p:nvPr/>
        </p:nvSpPr>
        <p:spPr>
          <a:xfrm rot="0">
            <a:off x="8517749" y="5394177"/>
            <a:ext cx="8348772" cy="669925"/>
          </a:xfrm>
          <a:prstGeom prst="rect">
            <a:avLst/>
          </a:prstGeom>
        </p:spPr>
        <p:txBody>
          <a:bodyPr anchor="t" rtlCol="false" tIns="0" lIns="0" bIns="0" rIns="0">
            <a:spAutoFit/>
          </a:bodyPr>
          <a:lstStyle/>
          <a:p>
            <a:pPr algn="ctr">
              <a:lnSpc>
                <a:spcPts val="5599"/>
              </a:lnSpc>
            </a:pPr>
            <a:r>
              <a:rPr lang="en-US" b="true" sz="3999" spc="143">
                <a:solidFill>
                  <a:srgbClr val="011442"/>
                </a:solidFill>
                <a:latin typeface="Montserrat Bold"/>
                <a:ea typeface="Montserrat Bold"/>
                <a:cs typeface="Montserrat Bold"/>
                <a:sym typeface="Montserrat Bold"/>
              </a:rPr>
              <a:t>Lê Đặng Gia Bảo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grpSp>
        <p:nvGrpSpPr>
          <p:cNvPr name="Group 2" id="2"/>
          <p:cNvGrpSpPr/>
          <p:nvPr/>
        </p:nvGrpSpPr>
        <p:grpSpPr>
          <a:xfrm rot="0">
            <a:off x="10122337" y="2053356"/>
            <a:ext cx="7136963" cy="6180288"/>
            <a:chOff x="0" y="0"/>
            <a:chExt cx="4282440" cy="3708400"/>
          </a:xfrm>
        </p:grpSpPr>
        <p:sp>
          <p:nvSpPr>
            <p:cNvPr name="Freeform 3" id="3"/>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2"/>
              <a:stretch>
                <a:fillRect l="-10556" t="0" r="-10556" b="0"/>
              </a:stretch>
            </a:blipFill>
            <a:ln w="180975" cap="sq">
              <a:solidFill>
                <a:srgbClr val="FFFFFF"/>
              </a:solidFill>
              <a:prstDash val="solid"/>
              <a:miter/>
            </a:ln>
          </p:spPr>
        </p:sp>
      </p:grpSp>
      <p:sp>
        <p:nvSpPr>
          <p:cNvPr name="Freeform 4" id="4"/>
          <p:cNvSpPr/>
          <p:nvPr/>
        </p:nvSpPr>
        <p:spPr>
          <a:xfrm flipH="false" flipV="false" rot="0">
            <a:off x="-432037" y="8653250"/>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2088642" y="390677"/>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sp>
        <p:nvSpPr>
          <p:cNvPr name="TextBox 7" id="7"/>
          <p:cNvSpPr txBox="true"/>
          <p:nvPr/>
        </p:nvSpPr>
        <p:spPr>
          <a:xfrm rot="0">
            <a:off x="1028700" y="1564691"/>
            <a:ext cx="9093637" cy="6605270"/>
          </a:xfrm>
          <a:prstGeom prst="rect">
            <a:avLst/>
          </a:prstGeom>
        </p:spPr>
        <p:txBody>
          <a:bodyPr anchor="t" rtlCol="false" tIns="0" lIns="0" bIns="0" rIns="0">
            <a:spAutoFit/>
          </a:bodyPr>
          <a:lstStyle/>
          <a:p>
            <a:pPr algn="l">
              <a:lnSpc>
                <a:spcPts val="6580"/>
              </a:lnSpc>
              <a:spcBef>
                <a:spcPct val="0"/>
              </a:spcBef>
            </a:pPr>
            <a:r>
              <a:rPr lang="en-US" sz="4700" spc="-258">
                <a:solidFill>
                  <a:srgbClr val="FFFFFF"/>
                </a:solidFill>
                <a:latin typeface="Barlow"/>
                <a:ea typeface="Barlow"/>
                <a:cs typeface="Barlow"/>
                <a:sym typeface="Barlow"/>
              </a:rPr>
              <a:t>TRONG CÁC DỰ ÁN CẦN THU THẬP Ý KIẾN TỪ NHIỀU NGƯỜI, BẢNG CÂU HỎI CÓ THỂ LÀ MỘT CÔNG CỤ CỰC KỲ HỮU ÍCH. BẢNG CÂU HỎI, HAY CÒN GỌI LÀ KHẢO SÁT, LÀ MỘT TÀI LIỆU BAO GỒM MỘT LOẠT CÁC CÂU HỎI TIÊU CHUẨN, CÓ THỂ ĐƯỢC GỬI ĐẾN NHIỀU CÁ NHÂN.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sp>
        <p:nvSpPr>
          <p:cNvPr name="TextBox 2" id="2"/>
          <p:cNvSpPr txBox="true"/>
          <p:nvPr/>
        </p:nvSpPr>
        <p:spPr>
          <a:xfrm rot="0">
            <a:off x="3778898" y="2191618"/>
            <a:ext cx="10499368" cy="991236"/>
          </a:xfrm>
          <a:prstGeom prst="rect">
            <a:avLst/>
          </a:prstGeom>
        </p:spPr>
        <p:txBody>
          <a:bodyPr anchor="t" rtlCol="false" tIns="0" lIns="0" bIns="0" rIns="0">
            <a:spAutoFit/>
          </a:bodyPr>
          <a:lstStyle/>
          <a:p>
            <a:pPr algn="ctr">
              <a:lnSpc>
                <a:spcPts val="7120"/>
              </a:lnSpc>
            </a:pPr>
            <a:r>
              <a:rPr lang="en-US" b="true" sz="8000">
                <a:solidFill>
                  <a:srgbClr val="FFFFFF"/>
                </a:solidFill>
                <a:latin typeface="Barlow Bold"/>
                <a:ea typeface="Barlow Bold"/>
                <a:cs typeface="Barlow Bold"/>
                <a:sym typeface="Barlow Bold"/>
              </a:rPr>
              <a:t>ĐẶC TRƯNG KỸ THUẬT</a:t>
            </a:r>
          </a:p>
        </p:txBody>
      </p:sp>
      <p:grpSp>
        <p:nvGrpSpPr>
          <p:cNvPr name="Group 3" id="3"/>
          <p:cNvGrpSpPr/>
          <p:nvPr/>
        </p:nvGrpSpPr>
        <p:grpSpPr>
          <a:xfrm rot="0">
            <a:off x="9028582" y="6500139"/>
            <a:ext cx="8023859" cy="937154"/>
            <a:chOff x="0" y="0"/>
            <a:chExt cx="2113280" cy="246822"/>
          </a:xfrm>
        </p:grpSpPr>
        <p:sp>
          <p:nvSpPr>
            <p:cNvPr name="Freeform 4" id="4"/>
            <p:cNvSpPr/>
            <p:nvPr/>
          </p:nvSpPr>
          <p:spPr>
            <a:xfrm flipH="false" flipV="false" rot="0">
              <a:off x="0" y="0"/>
              <a:ext cx="2113280" cy="246822"/>
            </a:xfrm>
            <a:custGeom>
              <a:avLst/>
              <a:gdLst/>
              <a:ahLst/>
              <a:cxnLst/>
              <a:rect r="r" b="b" t="t" l="l"/>
              <a:pathLst>
                <a:path h="246822" w="2113280">
                  <a:moveTo>
                    <a:pt x="0" y="0"/>
                  </a:moveTo>
                  <a:lnTo>
                    <a:pt x="2113280" y="0"/>
                  </a:lnTo>
                  <a:lnTo>
                    <a:pt x="2113280" y="246822"/>
                  </a:lnTo>
                  <a:lnTo>
                    <a:pt x="0" y="246822"/>
                  </a:lnTo>
                  <a:close/>
                </a:path>
              </a:pathLst>
            </a:custGeom>
            <a:solidFill>
              <a:srgbClr val="FFFFFF"/>
            </a:solidFill>
          </p:spPr>
        </p:sp>
        <p:sp>
          <p:nvSpPr>
            <p:cNvPr name="TextBox 5" id="5"/>
            <p:cNvSpPr txBox="true"/>
            <p:nvPr/>
          </p:nvSpPr>
          <p:spPr>
            <a:xfrm>
              <a:off x="0" y="47625"/>
              <a:ext cx="2113280" cy="199197"/>
            </a:xfrm>
            <a:prstGeom prst="rect">
              <a:avLst/>
            </a:prstGeom>
          </p:spPr>
          <p:txBody>
            <a:bodyPr anchor="ctr" rtlCol="false" tIns="50800" lIns="50800" bIns="50800" rIns="50800"/>
            <a:lstStyle/>
            <a:p>
              <a:pPr algn="ctr">
                <a:lnSpc>
                  <a:spcPts val="1508"/>
                </a:lnSpc>
              </a:pPr>
            </a:p>
          </p:txBody>
        </p:sp>
      </p:grpSp>
      <p:sp>
        <p:nvSpPr>
          <p:cNvPr name="TextBox 6" id="6"/>
          <p:cNvSpPr txBox="true"/>
          <p:nvPr/>
        </p:nvSpPr>
        <p:spPr>
          <a:xfrm rot="0">
            <a:off x="8866126" y="6588961"/>
            <a:ext cx="8348772" cy="669925"/>
          </a:xfrm>
          <a:prstGeom prst="rect">
            <a:avLst/>
          </a:prstGeom>
        </p:spPr>
        <p:txBody>
          <a:bodyPr anchor="t" rtlCol="false" tIns="0" lIns="0" bIns="0" rIns="0">
            <a:spAutoFit/>
          </a:bodyPr>
          <a:lstStyle/>
          <a:p>
            <a:pPr algn="ctr">
              <a:lnSpc>
                <a:spcPts val="5599"/>
              </a:lnSpc>
            </a:pPr>
            <a:r>
              <a:rPr lang="en-US" b="true" sz="3999" spc="143">
                <a:solidFill>
                  <a:srgbClr val="011442"/>
                </a:solidFill>
                <a:latin typeface="Montserrat Bold"/>
                <a:ea typeface="Montserrat Bold"/>
                <a:cs typeface="Montserrat Bold"/>
                <a:sym typeface="Montserrat Bold"/>
              </a:rPr>
              <a:t>Tính định lượng - định tính</a:t>
            </a:r>
          </a:p>
        </p:txBody>
      </p:sp>
      <p:sp>
        <p:nvSpPr>
          <p:cNvPr name="Freeform 7" id="7"/>
          <p:cNvSpPr/>
          <p:nvPr/>
        </p:nvSpPr>
        <p:spPr>
          <a:xfrm flipH="false" flipV="false" rot="0">
            <a:off x="-432037" y="9280018"/>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1324240" y="390677"/>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grpSp>
        <p:nvGrpSpPr>
          <p:cNvPr name="Group 10" id="10"/>
          <p:cNvGrpSpPr/>
          <p:nvPr/>
        </p:nvGrpSpPr>
        <p:grpSpPr>
          <a:xfrm rot="0">
            <a:off x="9028582" y="3861727"/>
            <a:ext cx="8023859" cy="937154"/>
            <a:chOff x="0" y="0"/>
            <a:chExt cx="2113280" cy="246822"/>
          </a:xfrm>
        </p:grpSpPr>
        <p:sp>
          <p:nvSpPr>
            <p:cNvPr name="Freeform 11" id="11"/>
            <p:cNvSpPr/>
            <p:nvPr/>
          </p:nvSpPr>
          <p:spPr>
            <a:xfrm flipH="false" flipV="false" rot="0">
              <a:off x="0" y="0"/>
              <a:ext cx="2113280" cy="246822"/>
            </a:xfrm>
            <a:custGeom>
              <a:avLst/>
              <a:gdLst/>
              <a:ahLst/>
              <a:cxnLst/>
              <a:rect r="r" b="b" t="t" l="l"/>
              <a:pathLst>
                <a:path h="246822" w="2113280">
                  <a:moveTo>
                    <a:pt x="0" y="0"/>
                  </a:moveTo>
                  <a:lnTo>
                    <a:pt x="2113280" y="0"/>
                  </a:lnTo>
                  <a:lnTo>
                    <a:pt x="2113280" y="246822"/>
                  </a:lnTo>
                  <a:lnTo>
                    <a:pt x="0" y="246822"/>
                  </a:lnTo>
                  <a:close/>
                </a:path>
              </a:pathLst>
            </a:custGeom>
            <a:solidFill>
              <a:srgbClr val="FFFFFF"/>
            </a:solidFill>
          </p:spPr>
        </p:sp>
        <p:sp>
          <p:nvSpPr>
            <p:cNvPr name="TextBox 12" id="12"/>
            <p:cNvSpPr txBox="true"/>
            <p:nvPr/>
          </p:nvSpPr>
          <p:spPr>
            <a:xfrm>
              <a:off x="0" y="47625"/>
              <a:ext cx="2113280" cy="199197"/>
            </a:xfrm>
            <a:prstGeom prst="rect">
              <a:avLst/>
            </a:prstGeom>
          </p:spPr>
          <p:txBody>
            <a:bodyPr anchor="ctr" rtlCol="false" tIns="50800" lIns="50800" bIns="50800" rIns="50800"/>
            <a:lstStyle/>
            <a:p>
              <a:pPr algn="ctr">
                <a:lnSpc>
                  <a:spcPts val="1508"/>
                </a:lnSpc>
              </a:pPr>
            </a:p>
          </p:txBody>
        </p:sp>
      </p:grpSp>
      <p:grpSp>
        <p:nvGrpSpPr>
          <p:cNvPr name="Group 13" id="13"/>
          <p:cNvGrpSpPr/>
          <p:nvPr/>
        </p:nvGrpSpPr>
        <p:grpSpPr>
          <a:xfrm rot="0">
            <a:off x="493890" y="6500139"/>
            <a:ext cx="8023859" cy="937154"/>
            <a:chOff x="0" y="0"/>
            <a:chExt cx="2113280" cy="246822"/>
          </a:xfrm>
        </p:grpSpPr>
        <p:sp>
          <p:nvSpPr>
            <p:cNvPr name="Freeform 14" id="14"/>
            <p:cNvSpPr/>
            <p:nvPr/>
          </p:nvSpPr>
          <p:spPr>
            <a:xfrm flipH="false" flipV="false" rot="0">
              <a:off x="0" y="0"/>
              <a:ext cx="2113280" cy="246822"/>
            </a:xfrm>
            <a:custGeom>
              <a:avLst/>
              <a:gdLst/>
              <a:ahLst/>
              <a:cxnLst/>
              <a:rect r="r" b="b" t="t" l="l"/>
              <a:pathLst>
                <a:path h="246822" w="2113280">
                  <a:moveTo>
                    <a:pt x="0" y="0"/>
                  </a:moveTo>
                  <a:lnTo>
                    <a:pt x="2113280" y="0"/>
                  </a:lnTo>
                  <a:lnTo>
                    <a:pt x="2113280" y="246822"/>
                  </a:lnTo>
                  <a:lnTo>
                    <a:pt x="0" y="246822"/>
                  </a:lnTo>
                  <a:close/>
                </a:path>
              </a:pathLst>
            </a:custGeom>
            <a:solidFill>
              <a:srgbClr val="FFFFFF"/>
            </a:solidFill>
          </p:spPr>
        </p:sp>
        <p:sp>
          <p:nvSpPr>
            <p:cNvPr name="TextBox 15" id="15"/>
            <p:cNvSpPr txBox="true"/>
            <p:nvPr/>
          </p:nvSpPr>
          <p:spPr>
            <a:xfrm>
              <a:off x="0" y="47625"/>
              <a:ext cx="2113280" cy="199197"/>
            </a:xfrm>
            <a:prstGeom prst="rect">
              <a:avLst/>
            </a:prstGeom>
          </p:spPr>
          <p:txBody>
            <a:bodyPr anchor="ctr" rtlCol="false" tIns="50800" lIns="50800" bIns="50800" rIns="50800"/>
            <a:lstStyle/>
            <a:p>
              <a:pPr algn="ctr">
                <a:lnSpc>
                  <a:spcPts val="1508"/>
                </a:lnSpc>
              </a:pPr>
            </a:p>
          </p:txBody>
        </p:sp>
      </p:grpSp>
      <p:grpSp>
        <p:nvGrpSpPr>
          <p:cNvPr name="Group 16" id="16"/>
          <p:cNvGrpSpPr/>
          <p:nvPr/>
        </p:nvGrpSpPr>
        <p:grpSpPr>
          <a:xfrm rot="0">
            <a:off x="493890" y="3878179"/>
            <a:ext cx="8023859" cy="937154"/>
            <a:chOff x="0" y="0"/>
            <a:chExt cx="2113280" cy="246822"/>
          </a:xfrm>
        </p:grpSpPr>
        <p:sp>
          <p:nvSpPr>
            <p:cNvPr name="Freeform 17" id="17"/>
            <p:cNvSpPr/>
            <p:nvPr/>
          </p:nvSpPr>
          <p:spPr>
            <a:xfrm flipH="false" flipV="false" rot="0">
              <a:off x="0" y="0"/>
              <a:ext cx="2113280" cy="246822"/>
            </a:xfrm>
            <a:custGeom>
              <a:avLst/>
              <a:gdLst/>
              <a:ahLst/>
              <a:cxnLst/>
              <a:rect r="r" b="b" t="t" l="l"/>
              <a:pathLst>
                <a:path h="246822" w="2113280">
                  <a:moveTo>
                    <a:pt x="0" y="0"/>
                  </a:moveTo>
                  <a:lnTo>
                    <a:pt x="2113280" y="0"/>
                  </a:lnTo>
                  <a:lnTo>
                    <a:pt x="2113280" y="246822"/>
                  </a:lnTo>
                  <a:lnTo>
                    <a:pt x="0" y="246822"/>
                  </a:lnTo>
                  <a:close/>
                </a:path>
              </a:pathLst>
            </a:custGeom>
            <a:solidFill>
              <a:srgbClr val="FFFFFF"/>
            </a:solidFill>
          </p:spPr>
        </p:sp>
        <p:sp>
          <p:nvSpPr>
            <p:cNvPr name="TextBox 18" id="18"/>
            <p:cNvSpPr txBox="true"/>
            <p:nvPr/>
          </p:nvSpPr>
          <p:spPr>
            <a:xfrm>
              <a:off x="0" y="47625"/>
              <a:ext cx="2113280" cy="199197"/>
            </a:xfrm>
            <a:prstGeom prst="rect">
              <a:avLst/>
            </a:prstGeom>
          </p:spPr>
          <p:txBody>
            <a:bodyPr anchor="ctr" rtlCol="false" tIns="50800" lIns="50800" bIns="50800" rIns="50800"/>
            <a:lstStyle/>
            <a:p>
              <a:pPr algn="ctr">
                <a:lnSpc>
                  <a:spcPts val="1508"/>
                </a:lnSpc>
              </a:pPr>
            </a:p>
          </p:txBody>
        </p:sp>
      </p:grpSp>
      <p:sp>
        <p:nvSpPr>
          <p:cNvPr name="TextBox 19" id="19"/>
          <p:cNvSpPr txBox="true"/>
          <p:nvPr/>
        </p:nvSpPr>
        <p:spPr>
          <a:xfrm rot="0">
            <a:off x="331433" y="6600416"/>
            <a:ext cx="8348772" cy="669925"/>
          </a:xfrm>
          <a:prstGeom prst="rect">
            <a:avLst/>
          </a:prstGeom>
        </p:spPr>
        <p:txBody>
          <a:bodyPr anchor="t" rtlCol="false" tIns="0" lIns="0" bIns="0" rIns="0">
            <a:spAutoFit/>
          </a:bodyPr>
          <a:lstStyle/>
          <a:p>
            <a:pPr algn="ctr">
              <a:lnSpc>
                <a:spcPts val="5599"/>
              </a:lnSpc>
            </a:pPr>
            <a:r>
              <a:rPr lang="en-US" b="true" sz="3999" spc="143">
                <a:solidFill>
                  <a:srgbClr val="011442"/>
                </a:solidFill>
                <a:latin typeface="Montserrat Bold"/>
                <a:ea typeface="Montserrat Bold"/>
                <a:cs typeface="Montserrat Bold"/>
                <a:sym typeface="Montserrat Bold"/>
              </a:rPr>
              <a:t>Tính linh hoạt</a:t>
            </a:r>
          </a:p>
        </p:txBody>
      </p:sp>
      <p:sp>
        <p:nvSpPr>
          <p:cNvPr name="TextBox 20" id="20"/>
          <p:cNvSpPr txBox="true"/>
          <p:nvPr/>
        </p:nvSpPr>
        <p:spPr>
          <a:xfrm rot="0">
            <a:off x="168977" y="3962004"/>
            <a:ext cx="8348772" cy="669925"/>
          </a:xfrm>
          <a:prstGeom prst="rect">
            <a:avLst/>
          </a:prstGeom>
        </p:spPr>
        <p:txBody>
          <a:bodyPr anchor="t" rtlCol="false" tIns="0" lIns="0" bIns="0" rIns="0">
            <a:spAutoFit/>
          </a:bodyPr>
          <a:lstStyle/>
          <a:p>
            <a:pPr algn="ctr">
              <a:lnSpc>
                <a:spcPts val="5599"/>
              </a:lnSpc>
            </a:pPr>
            <a:r>
              <a:rPr lang="en-US" b="true" sz="3999" spc="143">
                <a:solidFill>
                  <a:srgbClr val="011442"/>
                </a:solidFill>
                <a:latin typeface="Montserrat Bold"/>
                <a:ea typeface="Montserrat Bold"/>
                <a:cs typeface="Montserrat Bold"/>
                <a:sym typeface="Montserrat Bold"/>
              </a:rPr>
              <a:t>Tính tiêu chuẩn hóa</a:t>
            </a:r>
          </a:p>
        </p:txBody>
      </p:sp>
      <p:sp>
        <p:nvSpPr>
          <p:cNvPr name="TextBox 21" id="21"/>
          <p:cNvSpPr txBox="true"/>
          <p:nvPr/>
        </p:nvSpPr>
        <p:spPr>
          <a:xfrm rot="0">
            <a:off x="8910528" y="3978455"/>
            <a:ext cx="8348772" cy="669925"/>
          </a:xfrm>
          <a:prstGeom prst="rect">
            <a:avLst/>
          </a:prstGeom>
        </p:spPr>
        <p:txBody>
          <a:bodyPr anchor="t" rtlCol="false" tIns="0" lIns="0" bIns="0" rIns="0">
            <a:spAutoFit/>
          </a:bodyPr>
          <a:lstStyle/>
          <a:p>
            <a:pPr algn="ctr">
              <a:lnSpc>
                <a:spcPts val="5599"/>
              </a:lnSpc>
            </a:pPr>
            <a:r>
              <a:rPr lang="en-US" b="true" sz="3999" spc="143">
                <a:solidFill>
                  <a:srgbClr val="011442"/>
                </a:solidFill>
                <a:latin typeface="Montserrat Bold"/>
                <a:ea typeface="Montserrat Bold"/>
                <a:cs typeface="Montserrat Bold"/>
                <a:sym typeface="Montserrat Bold"/>
              </a:rPr>
              <a:t>Tính khách quan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grpSp>
        <p:nvGrpSpPr>
          <p:cNvPr name="Group 2" id="2"/>
          <p:cNvGrpSpPr/>
          <p:nvPr/>
        </p:nvGrpSpPr>
        <p:grpSpPr>
          <a:xfrm rot="0">
            <a:off x="0" y="2084857"/>
            <a:ext cx="6419044" cy="641904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2"/>
              <a:stretch>
                <a:fillRect l="-25046" t="0" r="-25046" b="0"/>
              </a:stretch>
            </a:blipFill>
            <a:ln w="180975" cap="sq">
              <a:solidFill>
                <a:srgbClr val="FFFFFF"/>
              </a:solidFill>
              <a:prstDash val="solid"/>
              <a:miter/>
            </a:ln>
          </p:spPr>
        </p:sp>
      </p:grpSp>
      <p:grpSp>
        <p:nvGrpSpPr>
          <p:cNvPr name="Group 4" id="4"/>
          <p:cNvGrpSpPr/>
          <p:nvPr/>
        </p:nvGrpSpPr>
        <p:grpSpPr>
          <a:xfrm rot="0">
            <a:off x="2929352" y="1453751"/>
            <a:ext cx="3689749" cy="368974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3"/>
              <a:stretch>
                <a:fillRect l="-25046" t="0" r="-25046" b="0"/>
              </a:stretch>
            </a:blipFill>
            <a:ln w="180975" cap="sq">
              <a:solidFill>
                <a:srgbClr val="FFFFFF"/>
              </a:solidFill>
              <a:prstDash val="solid"/>
              <a:miter/>
            </a:ln>
          </p:spPr>
        </p:sp>
      </p:grpSp>
      <p:sp>
        <p:nvSpPr>
          <p:cNvPr name="Freeform 6" id="6"/>
          <p:cNvSpPr/>
          <p:nvPr/>
        </p:nvSpPr>
        <p:spPr>
          <a:xfrm flipH="false" flipV="false" rot="0">
            <a:off x="12088642" y="451672"/>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32037" y="8846147"/>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6783180" y="2303932"/>
            <a:ext cx="10610924" cy="991236"/>
          </a:xfrm>
          <a:prstGeom prst="rect">
            <a:avLst/>
          </a:prstGeom>
        </p:spPr>
        <p:txBody>
          <a:bodyPr anchor="t" rtlCol="false" tIns="0" lIns="0" bIns="0" rIns="0">
            <a:spAutoFit/>
          </a:bodyPr>
          <a:lstStyle/>
          <a:p>
            <a:pPr algn="l">
              <a:lnSpc>
                <a:spcPts val="7120"/>
              </a:lnSpc>
            </a:pPr>
            <a:r>
              <a:rPr lang="en-US" sz="8000" b="true">
                <a:solidFill>
                  <a:srgbClr val="FFFFFF"/>
                </a:solidFill>
                <a:latin typeface="Barlow Bold"/>
                <a:ea typeface="Barlow Bold"/>
                <a:cs typeface="Barlow Bold"/>
                <a:sym typeface="Barlow Bold"/>
              </a:rPr>
              <a:t>TÍNH TIÊU CHUẨN HÓA</a:t>
            </a:r>
          </a:p>
        </p:txBody>
      </p:sp>
      <p:sp>
        <p:nvSpPr>
          <p:cNvPr name="TextBox 9" id="9"/>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sp>
        <p:nvSpPr>
          <p:cNvPr name="TextBox 10" id="10"/>
          <p:cNvSpPr txBox="true"/>
          <p:nvPr/>
        </p:nvSpPr>
        <p:spPr>
          <a:xfrm rot="0">
            <a:off x="6979432" y="3475685"/>
            <a:ext cx="8172883" cy="2233865"/>
          </a:xfrm>
          <a:prstGeom prst="rect">
            <a:avLst/>
          </a:prstGeom>
        </p:spPr>
        <p:txBody>
          <a:bodyPr anchor="t" rtlCol="false" tIns="0" lIns="0" bIns="0" rIns="0">
            <a:spAutoFit/>
          </a:bodyPr>
          <a:lstStyle/>
          <a:p>
            <a:pPr algn="just" marL="686039" indent="-343019" lvl="1">
              <a:lnSpc>
                <a:spcPts val="4448"/>
              </a:lnSpc>
              <a:buFont typeface="Arial"/>
              <a:buChar char="•"/>
            </a:pPr>
            <a:r>
              <a:rPr lang="en-US" sz="3177" spc="-174">
                <a:solidFill>
                  <a:srgbClr val="FFFFFF"/>
                </a:solidFill>
                <a:latin typeface="Montserrat"/>
                <a:ea typeface="Montserrat"/>
                <a:cs typeface="Montserrat"/>
                <a:sym typeface="Montserrat"/>
              </a:rPr>
              <a:t>CÁC CÂU HỎI ĐƯỢC THIẾT KẾ CHUẨN HÓA THEO MỘT CẤU TRÚC CỐ ĐỊNH, QUA ĐÓ TÍNH ĐỒNG NHẤT CỦA CÁC CÂU HỎI ĐƯỢC GIỮ NGUYÊN  </a:t>
            </a:r>
          </a:p>
        </p:txBody>
      </p:sp>
      <p:sp>
        <p:nvSpPr>
          <p:cNvPr name="TextBox 11" id="11"/>
          <p:cNvSpPr txBox="true"/>
          <p:nvPr/>
        </p:nvSpPr>
        <p:spPr>
          <a:xfrm rot="0">
            <a:off x="6979432" y="6061975"/>
            <a:ext cx="8172883" cy="1671828"/>
          </a:xfrm>
          <a:prstGeom prst="rect">
            <a:avLst/>
          </a:prstGeom>
        </p:spPr>
        <p:txBody>
          <a:bodyPr anchor="t" rtlCol="false" tIns="0" lIns="0" bIns="0" rIns="0">
            <a:spAutoFit/>
          </a:bodyPr>
          <a:lstStyle/>
          <a:p>
            <a:pPr algn="l" marL="686562" indent="-343281" lvl="1">
              <a:lnSpc>
                <a:spcPts val="4452"/>
              </a:lnSpc>
              <a:buFont typeface="Arial"/>
              <a:buChar char="•"/>
            </a:pPr>
            <a:r>
              <a:rPr lang="en-US" sz="3179" spc="-174">
                <a:solidFill>
                  <a:srgbClr val="FFFFFF"/>
                </a:solidFill>
                <a:latin typeface="Montserrat"/>
                <a:ea typeface="Montserrat"/>
                <a:cs typeface="Montserrat"/>
                <a:sym typeface="Montserrat"/>
              </a:rPr>
              <a:t>DỮ LIỆU ĐƯỢC THU THẬP SẼ DỄ DÀNG PHÂN TÍCH, SO SÁNH VÀ THỐNG NHẤT VỚI NHAU </a:t>
            </a:r>
          </a:p>
        </p:txBody>
      </p:sp>
      <p:sp>
        <p:nvSpPr>
          <p:cNvPr name="TextBox 12" id="12"/>
          <p:cNvSpPr txBox="true"/>
          <p:nvPr/>
        </p:nvSpPr>
        <p:spPr>
          <a:xfrm rot="0">
            <a:off x="6979432" y="8086228"/>
            <a:ext cx="8172883" cy="1109853"/>
          </a:xfrm>
          <a:prstGeom prst="rect">
            <a:avLst/>
          </a:prstGeom>
        </p:spPr>
        <p:txBody>
          <a:bodyPr anchor="t" rtlCol="false" tIns="0" lIns="0" bIns="0" rIns="0">
            <a:spAutoFit/>
          </a:bodyPr>
          <a:lstStyle/>
          <a:p>
            <a:pPr algn="l" marL="686562" indent="-343281" lvl="1">
              <a:lnSpc>
                <a:spcPts val="4452"/>
              </a:lnSpc>
              <a:buFont typeface="Arial"/>
              <a:buChar char="•"/>
            </a:pPr>
            <a:r>
              <a:rPr lang="en-US" sz="3179" spc="-174">
                <a:solidFill>
                  <a:srgbClr val="FFFFFF"/>
                </a:solidFill>
                <a:latin typeface="Montserrat"/>
                <a:ea typeface="Montserrat"/>
                <a:cs typeface="Montserrat"/>
                <a:sym typeface="Montserrat"/>
              </a:rPr>
              <a:t>KẾT QUẢ KHẢO SÁT CÓ TÍNH BAO HÀM VÀ ĐÁNG TIN CẬY HƠN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grpSp>
        <p:nvGrpSpPr>
          <p:cNvPr name="Group 2" id="2"/>
          <p:cNvGrpSpPr/>
          <p:nvPr/>
        </p:nvGrpSpPr>
        <p:grpSpPr>
          <a:xfrm rot="0">
            <a:off x="569376" y="1933978"/>
            <a:ext cx="6419044" cy="641904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2"/>
              <a:stretch>
                <a:fillRect l="-25046" t="0" r="-25046" b="0"/>
              </a:stretch>
            </a:blipFill>
            <a:ln w="85725" cap="sq">
              <a:solidFill>
                <a:srgbClr val="FFFFFF"/>
              </a:solidFill>
              <a:prstDash val="solid"/>
              <a:miter/>
            </a:ln>
          </p:spPr>
        </p:sp>
      </p:grpSp>
      <p:grpSp>
        <p:nvGrpSpPr>
          <p:cNvPr name="Group 4" id="4"/>
          <p:cNvGrpSpPr/>
          <p:nvPr/>
        </p:nvGrpSpPr>
        <p:grpSpPr>
          <a:xfrm rot="0">
            <a:off x="1181100" y="5448300"/>
            <a:ext cx="3057122" cy="305712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3"/>
              <a:stretch>
                <a:fillRect l="-25046" t="0" r="-25046" b="0"/>
              </a:stretch>
            </a:blipFill>
            <a:ln w="85725" cap="sq">
              <a:solidFill>
                <a:srgbClr val="FFFFFF"/>
              </a:solidFill>
              <a:prstDash val="solid"/>
              <a:miter/>
            </a:ln>
          </p:spPr>
        </p:sp>
      </p:grpSp>
      <p:sp>
        <p:nvSpPr>
          <p:cNvPr name="Freeform 6" id="6"/>
          <p:cNvSpPr/>
          <p:nvPr/>
        </p:nvSpPr>
        <p:spPr>
          <a:xfrm flipH="false" flipV="false" rot="0">
            <a:off x="11249180" y="240194"/>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01741" y="8653250"/>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sp>
        <p:nvSpPr>
          <p:cNvPr name="TextBox 9" id="9"/>
          <p:cNvSpPr txBox="true"/>
          <p:nvPr/>
        </p:nvSpPr>
        <p:spPr>
          <a:xfrm rot="0">
            <a:off x="6783180" y="2303932"/>
            <a:ext cx="10610924" cy="991236"/>
          </a:xfrm>
          <a:prstGeom prst="rect">
            <a:avLst/>
          </a:prstGeom>
        </p:spPr>
        <p:txBody>
          <a:bodyPr anchor="t" rtlCol="false" tIns="0" lIns="0" bIns="0" rIns="0">
            <a:spAutoFit/>
          </a:bodyPr>
          <a:lstStyle/>
          <a:p>
            <a:pPr algn="l">
              <a:lnSpc>
                <a:spcPts val="7120"/>
              </a:lnSpc>
            </a:pPr>
            <a:r>
              <a:rPr lang="en-US" sz="8000" b="true">
                <a:solidFill>
                  <a:srgbClr val="FFFFFF"/>
                </a:solidFill>
                <a:latin typeface="Barlow Bold"/>
                <a:ea typeface="Barlow Bold"/>
                <a:cs typeface="Barlow Bold"/>
                <a:sym typeface="Barlow Bold"/>
              </a:rPr>
              <a:t>TÍNH KHÁCH QUAN</a:t>
            </a:r>
          </a:p>
        </p:txBody>
      </p:sp>
      <p:sp>
        <p:nvSpPr>
          <p:cNvPr name="TextBox 10" id="10"/>
          <p:cNvSpPr txBox="true"/>
          <p:nvPr/>
        </p:nvSpPr>
        <p:spPr>
          <a:xfrm rot="0">
            <a:off x="6783180" y="3566824"/>
            <a:ext cx="9428795" cy="2233803"/>
          </a:xfrm>
          <a:prstGeom prst="rect">
            <a:avLst/>
          </a:prstGeom>
        </p:spPr>
        <p:txBody>
          <a:bodyPr anchor="t" rtlCol="false" tIns="0" lIns="0" bIns="0" rIns="0">
            <a:spAutoFit/>
          </a:bodyPr>
          <a:lstStyle/>
          <a:p>
            <a:pPr algn="l" marL="686562" indent="-343281" lvl="1">
              <a:lnSpc>
                <a:spcPts val="4452"/>
              </a:lnSpc>
              <a:buFont typeface="Arial"/>
              <a:buChar char="•"/>
            </a:pPr>
            <a:r>
              <a:rPr lang="en-US" sz="3179" spc="-174">
                <a:solidFill>
                  <a:srgbClr val="FFFFFF"/>
                </a:solidFill>
                <a:latin typeface="Montserrat"/>
                <a:ea typeface="Montserrat"/>
                <a:cs typeface="Montserrat"/>
                <a:sym typeface="Montserrat"/>
              </a:rPr>
              <a:t>VIỆC THU THẬP DỮ LIỆU BẰNG BẢNG CÂU HỎI ĐƯỢC THIẾT KẾ TRUNG LẬP, ĐẢM BẢO TÍNH KHÁCH QUAN</a:t>
            </a:r>
          </a:p>
          <a:p>
            <a:pPr algn="l">
              <a:lnSpc>
                <a:spcPts val="4452"/>
              </a:lnSpc>
            </a:pPr>
          </a:p>
        </p:txBody>
      </p:sp>
      <p:sp>
        <p:nvSpPr>
          <p:cNvPr name="TextBox 11" id="11"/>
          <p:cNvSpPr txBox="true"/>
          <p:nvPr/>
        </p:nvSpPr>
        <p:spPr>
          <a:xfrm rot="0">
            <a:off x="6783180" y="5381625"/>
            <a:ext cx="9634034" cy="2233803"/>
          </a:xfrm>
          <a:prstGeom prst="rect">
            <a:avLst/>
          </a:prstGeom>
        </p:spPr>
        <p:txBody>
          <a:bodyPr anchor="t" rtlCol="false" tIns="0" lIns="0" bIns="0" rIns="0">
            <a:spAutoFit/>
          </a:bodyPr>
          <a:lstStyle/>
          <a:p>
            <a:pPr algn="l" marL="686562" indent="-343281" lvl="1">
              <a:lnSpc>
                <a:spcPts val="4452"/>
              </a:lnSpc>
              <a:buFont typeface="Arial"/>
              <a:buChar char="•"/>
            </a:pPr>
            <a:r>
              <a:rPr lang="en-US" sz="3179" spc="-174">
                <a:solidFill>
                  <a:srgbClr val="FFFFFF"/>
                </a:solidFill>
                <a:latin typeface="Montserrat"/>
                <a:ea typeface="Montserrat"/>
                <a:cs typeface="Montserrat"/>
                <a:sym typeface="Montserrat"/>
              </a:rPr>
              <a:t>GIÚP NGƯỜI THAM GIA CÓ THỂ ĐƯA RA CÂU TRẢ LỜI DỰA TRÊN CẢM NHẬN VÀ QUAN ĐIỂM CÁ NHÂN MÀ KHÔNG BỊ ẢNH HƯỞNG BỞI CÁC YẾU TỐ BÊN NGOÀI</a:t>
            </a:r>
          </a:p>
        </p:txBody>
      </p:sp>
      <p:sp>
        <p:nvSpPr>
          <p:cNvPr name="TextBox 12" id="12"/>
          <p:cNvSpPr txBox="true"/>
          <p:nvPr/>
        </p:nvSpPr>
        <p:spPr>
          <a:xfrm rot="0">
            <a:off x="6783180" y="7917158"/>
            <a:ext cx="9634034" cy="1671828"/>
          </a:xfrm>
          <a:prstGeom prst="rect">
            <a:avLst/>
          </a:prstGeom>
        </p:spPr>
        <p:txBody>
          <a:bodyPr anchor="t" rtlCol="false" tIns="0" lIns="0" bIns="0" rIns="0">
            <a:spAutoFit/>
          </a:bodyPr>
          <a:lstStyle/>
          <a:p>
            <a:pPr algn="l" marL="686562" indent="-343281" lvl="1">
              <a:lnSpc>
                <a:spcPts val="4452"/>
              </a:lnSpc>
              <a:buFont typeface="Arial"/>
              <a:buChar char="•"/>
            </a:pPr>
            <a:r>
              <a:rPr lang="en-US" sz="3179" spc="-174">
                <a:solidFill>
                  <a:srgbClr val="FFFFFF"/>
                </a:solidFill>
                <a:latin typeface="Montserrat"/>
                <a:ea typeface="Montserrat"/>
                <a:cs typeface="Montserrat"/>
                <a:sym typeface="Montserrat"/>
              </a:rPr>
              <a:t>GIÚP THÔNG TIN ĐƯỢC THU THẬP ĐƯỢC TỰ NHIÊN, PHẢN ẢNH ĐÚNG CẢM NHẬN THẬT SỰ CỦA NGƯỜI TRẢ LỜI.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grpSp>
        <p:nvGrpSpPr>
          <p:cNvPr name="Group 2" id="2"/>
          <p:cNvGrpSpPr/>
          <p:nvPr/>
        </p:nvGrpSpPr>
        <p:grpSpPr>
          <a:xfrm rot="0">
            <a:off x="290399" y="1956726"/>
            <a:ext cx="6373549" cy="637354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2"/>
              <a:stretch>
                <a:fillRect l="-25046" t="0" r="-25046" b="0"/>
              </a:stretch>
            </a:blipFill>
            <a:ln w="85725" cap="sq">
              <a:solidFill>
                <a:srgbClr val="FFFFFF"/>
              </a:solidFill>
              <a:prstDash val="solid"/>
              <a:miter/>
            </a:ln>
          </p:spPr>
        </p:sp>
      </p:grpSp>
      <p:grpSp>
        <p:nvGrpSpPr>
          <p:cNvPr name="Group 4" id="4"/>
          <p:cNvGrpSpPr/>
          <p:nvPr/>
        </p:nvGrpSpPr>
        <p:grpSpPr>
          <a:xfrm rot="0">
            <a:off x="50130" y="1444118"/>
            <a:ext cx="3728767" cy="372876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3"/>
              <a:stretch>
                <a:fillRect l="-38888" t="0" r="-38888" b="0"/>
              </a:stretch>
            </a:blipFill>
            <a:ln w="85725" cap="sq">
              <a:solidFill>
                <a:srgbClr val="FFFFFF"/>
              </a:solidFill>
              <a:prstDash val="solid"/>
              <a:miter/>
            </a:ln>
          </p:spPr>
        </p:sp>
      </p:grpSp>
      <p:sp>
        <p:nvSpPr>
          <p:cNvPr name="Freeform 6" id="6"/>
          <p:cNvSpPr/>
          <p:nvPr/>
        </p:nvSpPr>
        <p:spPr>
          <a:xfrm flipH="false" flipV="false" rot="0">
            <a:off x="-432037" y="8653250"/>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sp>
        <p:nvSpPr>
          <p:cNvPr name="TextBox 8" id="8"/>
          <p:cNvSpPr txBox="true"/>
          <p:nvPr/>
        </p:nvSpPr>
        <p:spPr>
          <a:xfrm rot="0">
            <a:off x="6783180" y="2065807"/>
            <a:ext cx="10805632" cy="2466340"/>
          </a:xfrm>
          <a:prstGeom prst="rect">
            <a:avLst/>
          </a:prstGeom>
        </p:spPr>
        <p:txBody>
          <a:bodyPr anchor="t" rtlCol="false" tIns="0" lIns="0" bIns="0" rIns="0">
            <a:spAutoFit/>
          </a:bodyPr>
          <a:lstStyle/>
          <a:p>
            <a:pPr algn="l">
              <a:lnSpc>
                <a:spcPts val="9680"/>
              </a:lnSpc>
            </a:pPr>
            <a:r>
              <a:rPr lang="en-US" sz="8000" b="true">
                <a:solidFill>
                  <a:srgbClr val="FFFFFF"/>
                </a:solidFill>
                <a:latin typeface="Barlow Bold"/>
                <a:ea typeface="Barlow Bold"/>
                <a:cs typeface="Barlow Bold"/>
                <a:sym typeface="Barlow Bold"/>
              </a:rPr>
              <a:t>TÍNH ĐỊNH LƯỢNG &amp; </a:t>
            </a:r>
          </a:p>
          <a:p>
            <a:pPr algn="l">
              <a:lnSpc>
                <a:spcPts val="9680"/>
              </a:lnSpc>
            </a:pPr>
            <a:r>
              <a:rPr lang="en-US" sz="8000" b="true">
                <a:solidFill>
                  <a:srgbClr val="FFFFFF"/>
                </a:solidFill>
                <a:latin typeface="Barlow Bold"/>
                <a:ea typeface="Barlow Bold"/>
                <a:cs typeface="Barlow Bold"/>
                <a:sym typeface="Barlow Bold"/>
              </a:rPr>
              <a:t>ĐỊNH TÍNH</a:t>
            </a:r>
          </a:p>
        </p:txBody>
      </p:sp>
      <p:sp>
        <p:nvSpPr>
          <p:cNvPr name="TextBox 9" id="9"/>
          <p:cNvSpPr txBox="true"/>
          <p:nvPr/>
        </p:nvSpPr>
        <p:spPr>
          <a:xfrm rot="0">
            <a:off x="6947936" y="5106211"/>
            <a:ext cx="10476120" cy="1671828"/>
          </a:xfrm>
          <a:prstGeom prst="rect">
            <a:avLst/>
          </a:prstGeom>
        </p:spPr>
        <p:txBody>
          <a:bodyPr anchor="t" rtlCol="false" tIns="0" lIns="0" bIns="0" rIns="0">
            <a:spAutoFit/>
          </a:bodyPr>
          <a:lstStyle/>
          <a:p>
            <a:pPr algn="l">
              <a:lnSpc>
                <a:spcPts val="4452"/>
              </a:lnSpc>
              <a:spcBef>
                <a:spcPct val="0"/>
              </a:spcBef>
            </a:pPr>
            <a:r>
              <a:rPr lang="en-US" sz="3179">
                <a:solidFill>
                  <a:srgbClr val="FFFFFF"/>
                </a:solidFill>
                <a:latin typeface="Barlow"/>
                <a:ea typeface="Barlow"/>
                <a:cs typeface="Barlow"/>
                <a:sym typeface="Barlow"/>
              </a:rPr>
              <a:t>KỸ THUẬT QUESTIONNAIRE CÓ MỘT ƯU ĐIỂM VƯỢT TRỘI LÀ CÓ KHẢ NĂNG THU THẬP CẢ DỮ LIỆU ĐỊNH LƯỢNG VÀ ĐỊNH TÍNH</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grpSp>
        <p:nvGrpSpPr>
          <p:cNvPr name="Group 2" id="2"/>
          <p:cNvGrpSpPr/>
          <p:nvPr/>
        </p:nvGrpSpPr>
        <p:grpSpPr>
          <a:xfrm rot="0">
            <a:off x="290399" y="1956726"/>
            <a:ext cx="6373549" cy="637354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2"/>
              <a:stretch>
                <a:fillRect l="-25046" t="0" r="-25046" b="0"/>
              </a:stretch>
            </a:blipFill>
            <a:ln w="85725" cap="sq">
              <a:solidFill>
                <a:srgbClr val="FFFFFF"/>
              </a:solidFill>
              <a:prstDash val="solid"/>
              <a:miter/>
            </a:ln>
          </p:spPr>
        </p:sp>
      </p:grpSp>
      <p:grpSp>
        <p:nvGrpSpPr>
          <p:cNvPr name="Group 4" id="4"/>
          <p:cNvGrpSpPr/>
          <p:nvPr/>
        </p:nvGrpSpPr>
        <p:grpSpPr>
          <a:xfrm rot="0">
            <a:off x="50130" y="1444118"/>
            <a:ext cx="3728767" cy="372876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3"/>
              <a:stretch>
                <a:fillRect l="-38888" t="0" r="-38888" b="0"/>
              </a:stretch>
            </a:blipFill>
            <a:ln w="85725" cap="sq">
              <a:solidFill>
                <a:srgbClr val="FFFFFF"/>
              </a:solidFill>
              <a:prstDash val="solid"/>
              <a:miter/>
            </a:ln>
          </p:spPr>
        </p:sp>
      </p:grpSp>
      <p:sp>
        <p:nvSpPr>
          <p:cNvPr name="Freeform 6" id="6"/>
          <p:cNvSpPr/>
          <p:nvPr/>
        </p:nvSpPr>
        <p:spPr>
          <a:xfrm flipH="false" flipV="false" rot="0">
            <a:off x="-432037" y="8653250"/>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sp>
        <p:nvSpPr>
          <p:cNvPr name="TextBox 8" id="8"/>
          <p:cNvSpPr txBox="true"/>
          <p:nvPr/>
        </p:nvSpPr>
        <p:spPr>
          <a:xfrm rot="0">
            <a:off x="6783180" y="2065807"/>
            <a:ext cx="10805632" cy="2466340"/>
          </a:xfrm>
          <a:prstGeom prst="rect">
            <a:avLst/>
          </a:prstGeom>
        </p:spPr>
        <p:txBody>
          <a:bodyPr anchor="t" rtlCol="false" tIns="0" lIns="0" bIns="0" rIns="0">
            <a:spAutoFit/>
          </a:bodyPr>
          <a:lstStyle/>
          <a:p>
            <a:pPr algn="l">
              <a:lnSpc>
                <a:spcPts val="9680"/>
              </a:lnSpc>
            </a:pPr>
            <a:r>
              <a:rPr lang="en-US" sz="8000" b="true">
                <a:solidFill>
                  <a:srgbClr val="FFFFFF"/>
                </a:solidFill>
                <a:latin typeface="Barlow Bold"/>
                <a:ea typeface="Barlow Bold"/>
                <a:cs typeface="Barlow Bold"/>
                <a:sym typeface="Barlow Bold"/>
              </a:rPr>
              <a:t>TÍNH ĐỊNH LƯỢNG &amp; </a:t>
            </a:r>
          </a:p>
          <a:p>
            <a:pPr algn="l">
              <a:lnSpc>
                <a:spcPts val="9680"/>
              </a:lnSpc>
            </a:pPr>
            <a:r>
              <a:rPr lang="en-US" sz="8000" b="true">
                <a:solidFill>
                  <a:srgbClr val="FFFFFF"/>
                </a:solidFill>
                <a:latin typeface="Barlow Bold"/>
                <a:ea typeface="Barlow Bold"/>
                <a:cs typeface="Barlow Bold"/>
                <a:sym typeface="Barlow Bold"/>
              </a:rPr>
              <a:t>ĐỊNH TÍNH</a:t>
            </a:r>
          </a:p>
        </p:txBody>
      </p:sp>
      <p:sp>
        <p:nvSpPr>
          <p:cNvPr name="TextBox 9" id="9"/>
          <p:cNvSpPr txBox="true"/>
          <p:nvPr/>
        </p:nvSpPr>
        <p:spPr>
          <a:xfrm rot="0">
            <a:off x="6947936" y="5106211"/>
            <a:ext cx="10476120" cy="1671828"/>
          </a:xfrm>
          <a:prstGeom prst="rect">
            <a:avLst/>
          </a:prstGeom>
        </p:spPr>
        <p:txBody>
          <a:bodyPr anchor="t" rtlCol="false" tIns="0" lIns="0" bIns="0" rIns="0">
            <a:spAutoFit/>
          </a:bodyPr>
          <a:lstStyle/>
          <a:p>
            <a:pPr algn="l">
              <a:lnSpc>
                <a:spcPts val="4452"/>
              </a:lnSpc>
              <a:spcBef>
                <a:spcPct val="0"/>
              </a:spcBef>
            </a:pPr>
            <a:r>
              <a:rPr lang="en-US" sz="3179">
                <a:solidFill>
                  <a:srgbClr val="FFFFFF"/>
                </a:solidFill>
                <a:latin typeface="Barlow"/>
                <a:ea typeface="Barlow"/>
                <a:cs typeface="Barlow"/>
                <a:sym typeface="Barlow"/>
              </a:rPr>
              <a:t>CÁC YẾU TỐ ĐO LƯỜNG ĐƯỢC NHƯ TẦN SUÂT SỬ DỤNG, MỨC ĐỘ HÀI LÒNG, CÓ THỂ XÁC ĐỊNH BẰNG CÁC CÂU HỎI TỶ LỆ, THANG ĐO LIKERT</a:t>
            </a:r>
          </a:p>
        </p:txBody>
      </p:sp>
      <p:sp>
        <p:nvSpPr>
          <p:cNvPr name="TextBox 10" id="10"/>
          <p:cNvSpPr txBox="true"/>
          <p:nvPr/>
        </p:nvSpPr>
        <p:spPr>
          <a:xfrm rot="0">
            <a:off x="6947936" y="6981422"/>
            <a:ext cx="10476120" cy="2233803"/>
          </a:xfrm>
          <a:prstGeom prst="rect">
            <a:avLst/>
          </a:prstGeom>
        </p:spPr>
        <p:txBody>
          <a:bodyPr anchor="t" rtlCol="false" tIns="0" lIns="0" bIns="0" rIns="0">
            <a:spAutoFit/>
          </a:bodyPr>
          <a:lstStyle/>
          <a:p>
            <a:pPr algn="l">
              <a:lnSpc>
                <a:spcPts val="4452"/>
              </a:lnSpc>
              <a:spcBef>
                <a:spcPct val="0"/>
              </a:spcBef>
            </a:pPr>
            <a:r>
              <a:rPr lang="en-US" sz="3179">
                <a:solidFill>
                  <a:srgbClr val="FFFFFF"/>
                </a:solidFill>
                <a:latin typeface="Barlow"/>
                <a:ea typeface="Barlow"/>
                <a:cs typeface="Barlow"/>
                <a:sym typeface="Barlow"/>
              </a:rPr>
              <a:t>DỰ LIỆU ĐỊNH TÍNH LẠI CHO CÁI NHÌN SÂU SẮC VỀ NHỮNG Ý KIẾN, QUAN ĐIỂM CỦA NGƯỜI THAM GIA, CHO PHÉP HỌ CÓ THỂ TRÌNH BÀY SUY NGHĨ CỦA BẢN THÂN MỘT CÁCH ĐA DẠNG VÀ TỰ DO HƠN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grpSp>
        <p:nvGrpSpPr>
          <p:cNvPr name="Group 2" id="2"/>
          <p:cNvGrpSpPr/>
          <p:nvPr/>
        </p:nvGrpSpPr>
        <p:grpSpPr>
          <a:xfrm rot="0">
            <a:off x="290399" y="1956726"/>
            <a:ext cx="6373549" cy="6373549"/>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2"/>
              <a:stretch>
                <a:fillRect l="-25046" t="0" r="-25046" b="0"/>
              </a:stretch>
            </a:blipFill>
            <a:ln w="85725" cap="sq">
              <a:solidFill>
                <a:srgbClr val="FFFFFF"/>
              </a:solidFill>
              <a:prstDash val="solid"/>
              <a:miter/>
            </a:ln>
          </p:spPr>
        </p:sp>
      </p:grpSp>
      <p:grpSp>
        <p:nvGrpSpPr>
          <p:cNvPr name="Group 4" id="4"/>
          <p:cNvGrpSpPr/>
          <p:nvPr/>
        </p:nvGrpSpPr>
        <p:grpSpPr>
          <a:xfrm rot="0">
            <a:off x="50130" y="1444118"/>
            <a:ext cx="3728767" cy="372876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3"/>
              <a:stretch>
                <a:fillRect l="-38888" t="0" r="-38888" b="0"/>
              </a:stretch>
            </a:blipFill>
            <a:ln w="85725" cap="sq">
              <a:solidFill>
                <a:srgbClr val="FFFFFF"/>
              </a:solidFill>
              <a:prstDash val="solid"/>
              <a:miter/>
            </a:ln>
          </p:spPr>
        </p:sp>
      </p:grpSp>
      <p:sp>
        <p:nvSpPr>
          <p:cNvPr name="Freeform 6" id="6"/>
          <p:cNvSpPr/>
          <p:nvPr/>
        </p:nvSpPr>
        <p:spPr>
          <a:xfrm flipH="false" flipV="false" rot="0">
            <a:off x="-432037" y="8653250"/>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sp>
        <p:nvSpPr>
          <p:cNvPr name="TextBox 8" id="8"/>
          <p:cNvSpPr txBox="true"/>
          <p:nvPr/>
        </p:nvSpPr>
        <p:spPr>
          <a:xfrm rot="0">
            <a:off x="6783180" y="2065807"/>
            <a:ext cx="10805632" cy="2466340"/>
          </a:xfrm>
          <a:prstGeom prst="rect">
            <a:avLst/>
          </a:prstGeom>
        </p:spPr>
        <p:txBody>
          <a:bodyPr anchor="t" rtlCol="false" tIns="0" lIns="0" bIns="0" rIns="0">
            <a:spAutoFit/>
          </a:bodyPr>
          <a:lstStyle/>
          <a:p>
            <a:pPr algn="l">
              <a:lnSpc>
                <a:spcPts val="9680"/>
              </a:lnSpc>
            </a:pPr>
            <a:r>
              <a:rPr lang="en-US" sz="8000" b="true">
                <a:solidFill>
                  <a:srgbClr val="FFFFFF"/>
                </a:solidFill>
                <a:latin typeface="Barlow Bold"/>
                <a:ea typeface="Barlow Bold"/>
                <a:cs typeface="Barlow Bold"/>
                <a:sym typeface="Barlow Bold"/>
              </a:rPr>
              <a:t>TÍNH ĐỊNH LƯỢNG &amp; </a:t>
            </a:r>
          </a:p>
          <a:p>
            <a:pPr algn="l">
              <a:lnSpc>
                <a:spcPts val="9680"/>
              </a:lnSpc>
            </a:pPr>
            <a:r>
              <a:rPr lang="en-US" sz="8000" b="true">
                <a:solidFill>
                  <a:srgbClr val="FFFFFF"/>
                </a:solidFill>
                <a:latin typeface="Barlow Bold"/>
                <a:ea typeface="Barlow Bold"/>
                <a:cs typeface="Barlow Bold"/>
                <a:sym typeface="Barlow Bold"/>
              </a:rPr>
              <a:t>ĐỊNH TÍNH</a:t>
            </a:r>
          </a:p>
        </p:txBody>
      </p:sp>
      <p:sp>
        <p:nvSpPr>
          <p:cNvPr name="TextBox 9" id="9"/>
          <p:cNvSpPr txBox="true"/>
          <p:nvPr/>
        </p:nvSpPr>
        <p:spPr>
          <a:xfrm rot="0">
            <a:off x="6947936" y="5106211"/>
            <a:ext cx="10476120" cy="2233803"/>
          </a:xfrm>
          <a:prstGeom prst="rect">
            <a:avLst/>
          </a:prstGeom>
        </p:spPr>
        <p:txBody>
          <a:bodyPr anchor="t" rtlCol="false" tIns="0" lIns="0" bIns="0" rIns="0">
            <a:spAutoFit/>
          </a:bodyPr>
          <a:lstStyle/>
          <a:p>
            <a:pPr algn="l">
              <a:lnSpc>
                <a:spcPts val="4452"/>
              </a:lnSpc>
              <a:spcBef>
                <a:spcPct val="0"/>
              </a:spcBef>
            </a:pPr>
            <a:r>
              <a:rPr lang="en-US" sz="3179">
                <a:solidFill>
                  <a:srgbClr val="FFFFFF"/>
                </a:solidFill>
                <a:latin typeface="Barlow"/>
                <a:ea typeface="Barlow"/>
                <a:cs typeface="Barlow"/>
                <a:sym typeface="Barlow"/>
              </a:rPr>
              <a:t>NHỜ SỰ KẾT HỢP GIỮA DỮ LIỆU ĐỊNH LƯỢNG VÀ ĐỊNH TÍNH, VẤN ĐỀ SẼ ĐƯỢC XÁC ĐỊNH RÕ HƠN VÀ NHỜ ĐÓ NHỮNG GIẢI PHÁP ĐƯA RA SẼ CÓ NHIỀU CƠ SỞ VÀ ĐẠT ĐƯỢC ĐỘ CHÍNH XÁC CAO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sp>
        <p:nvSpPr>
          <p:cNvPr name="Freeform 2" id="2"/>
          <p:cNvSpPr/>
          <p:nvPr/>
        </p:nvSpPr>
        <p:spPr>
          <a:xfrm flipH="false" flipV="false" rot="0">
            <a:off x="11249180" y="240194"/>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01741" y="8653250"/>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sp>
        <p:nvSpPr>
          <p:cNvPr name="TextBox 5" id="5"/>
          <p:cNvSpPr txBox="true"/>
          <p:nvPr/>
        </p:nvSpPr>
        <p:spPr>
          <a:xfrm rot="0">
            <a:off x="6783180" y="2303932"/>
            <a:ext cx="10610924" cy="991236"/>
          </a:xfrm>
          <a:prstGeom prst="rect">
            <a:avLst/>
          </a:prstGeom>
        </p:spPr>
        <p:txBody>
          <a:bodyPr anchor="t" rtlCol="false" tIns="0" lIns="0" bIns="0" rIns="0">
            <a:spAutoFit/>
          </a:bodyPr>
          <a:lstStyle/>
          <a:p>
            <a:pPr algn="l">
              <a:lnSpc>
                <a:spcPts val="7120"/>
              </a:lnSpc>
            </a:pPr>
            <a:r>
              <a:rPr lang="en-US" sz="8000" b="true">
                <a:solidFill>
                  <a:srgbClr val="FFFFFF"/>
                </a:solidFill>
                <a:latin typeface="Barlow Bold"/>
                <a:ea typeface="Barlow Bold"/>
                <a:cs typeface="Barlow Bold"/>
                <a:sym typeface="Barlow Bold"/>
              </a:rPr>
              <a:t>TÍNH LINH HOẠT</a:t>
            </a:r>
          </a:p>
        </p:txBody>
      </p:sp>
      <p:sp>
        <p:nvSpPr>
          <p:cNvPr name="TextBox 6" id="6"/>
          <p:cNvSpPr txBox="true"/>
          <p:nvPr/>
        </p:nvSpPr>
        <p:spPr>
          <a:xfrm rot="0">
            <a:off x="6783180" y="3566824"/>
            <a:ext cx="9428795" cy="2233803"/>
          </a:xfrm>
          <a:prstGeom prst="rect">
            <a:avLst/>
          </a:prstGeom>
        </p:spPr>
        <p:txBody>
          <a:bodyPr anchor="t" rtlCol="false" tIns="0" lIns="0" bIns="0" rIns="0">
            <a:spAutoFit/>
          </a:bodyPr>
          <a:lstStyle/>
          <a:p>
            <a:pPr algn="l" marL="686562" indent="-343281" lvl="1">
              <a:lnSpc>
                <a:spcPts val="4452"/>
              </a:lnSpc>
              <a:buFont typeface="Arial"/>
              <a:buChar char="•"/>
            </a:pPr>
            <a:r>
              <a:rPr lang="en-US" sz="3179" spc="-174">
                <a:solidFill>
                  <a:srgbClr val="FFFFFF"/>
                </a:solidFill>
                <a:latin typeface="Montserrat"/>
                <a:ea typeface="Montserrat"/>
                <a:cs typeface="Montserrat"/>
                <a:sym typeface="Montserrat"/>
              </a:rPr>
              <a:t>DỄ DÀNG ĐIỀU CHỈNH CẤU TRÚC CÂU HỎI VÀ THANG ĐO DỰA THEO MỤC TIÊU CỦA KHẢO SÁT, DO ĐÓ DỮ LIỆU THU THẬP TỪ CÁC ĐỐI TƯỢNG SẼ ĐA DẠNG</a:t>
            </a:r>
          </a:p>
        </p:txBody>
      </p:sp>
      <p:sp>
        <p:nvSpPr>
          <p:cNvPr name="TextBox 7" id="7"/>
          <p:cNvSpPr txBox="true"/>
          <p:nvPr/>
        </p:nvSpPr>
        <p:spPr>
          <a:xfrm rot="0">
            <a:off x="6783180" y="6076852"/>
            <a:ext cx="9634034" cy="3357753"/>
          </a:xfrm>
          <a:prstGeom prst="rect">
            <a:avLst/>
          </a:prstGeom>
        </p:spPr>
        <p:txBody>
          <a:bodyPr anchor="t" rtlCol="false" tIns="0" lIns="0" bIns="0" rIns="0">
            <a:spAutoFit/>
          </a:bodyPr>
          <a:lstStyle/>
          <a:p>
            <a:pPr algn="l" marL="686562" indent="-343281" lvl="1">
              <a:lnSpc>
                <a:spcPts val="4452"/>
              </a:lnSpc>
              <a:buFont typeface="Arial"/>
              <a:buChar char="•"/>
            </a:pPr>
            <a:r>
              <a:rPr lang="en-US" sz="3179" spc="-174">
                <a:solidFill>
                  <a:srgbClr val="FFFFFF"/>
                </a:solidFill>
                <a:latin typeface="Montserrat"/>
                <a:ea typeface="Montserrat"/>
                <a:cs typeface="Montserrat"/>
                <a:sym typeface="Montserrat"/>
              </a:rPr>
              <a:t>THÊM VÀO ĐÓ, BẢNG CÂU HỎI CÓ THỂ ĐƯỢC THỰC HIỆN THÔNG QUA NHIỀU HÌNH THỨC KHÁC NHAU NHƯ KHẢO SÁT TRỰC TIẾP, TRỰC TUYẾN, EMAIL, GIÚP CHO VIỆC TIẾP CẬN ĐẾN NHIỀU NGƯỜI THAM GIA MÀ KHÔNG CẢN TRỞ BỞI ĐỊA LÝ HAY THỜI GIAN</a:t>
            </a:r>
          </a:p>
        </p:txBody>
      </p:sp>
      <p:grpSp>
        <p:nvGrpSpPr>
          <p:cNvPr name="Group 8" id="8"/>
          <p:cNvGrpSpPr/>
          <p:nvPr/>
        </p:nvGrpSpPr>
        <p:grpSpPr>
          <a:xfrm rot="0">
            <a:off x="478307" y="1966110"/>
            <a:ext cx="3850984" cy="3334779"/>
            <a:chOff x="0" y="0"/>
            <a:chExt cx="4282440" cy="3708400"/>
          </a:xfrm>
        </p:grpSpPr>
        <p:sp>
          <p:nvSpPr>
            <p:cNvPr name="Freeform 9" id="9"/>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4"/>
              <a:stretch>
                <a:fillRect l="-14987" t="0" r="-14987" b="0"/>
              </a:stretch>
            </a:blipFill>
            <a:ln w="180975" cap="sq">
              <a:solidFill>
                <a:srgbClr val="FFFFFF"/>
              </a:solidFill>
              <a:prstDash val="solid"/>
              <a:miter/>
            </a:ln>
          </p:spPr>
        </p:sp>
      </p:grpSp>
      <p:grpSp>
        <p:nvGrpSpPr>
          <p:cNvPr name="Group 10" id="10"/>
          <p:cNvGrpSpPr/>
          <p:nvPr/>
        </p:nvGrpSpPr>
        <p:grpSpPr>
          <a:xfrm rot="0">
            <a:off x="2067142" y="4649054"/>
            <a:ext cx="3850984" cy="3334779"/>
            <a:chOff x="0" y="0"/>
            <a:chExt cx="4282440" cy="3708400"/>
          </a:xfrm>
        </p:grpSpPr>
        <p:sp>
          <p:nvSpPr>
            <p:cNvPr name="Freeform 11" id="11"/>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5"/>
              <a:stretch>
                <a:fillRect l="-14987" t="0" r="-14987" b="0"/>
              </a:stretch>
            </a:blipFill>
            <a:ln w="180975" cap="sq">
              <a:solidFill>
                <a:srgbClr val="FFFFFF"/>
              </a:solidFill>
              <a:prstDash val="solid"/>
              <a:miter/>
            </a:ln>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sp>
        <p:nvSpPr>
          <p:cNvPr name="TextBox 2" id="2"/>
          <p:cNvSpPr txBox="true"/>
          <p:nvPr/>
        </p:nvSpPr>
        <p:spPr>
          <a:xfrm rot="0">
            <a:off x="1028700" y="1606347"/>
            <a:ext cx="11362846" cy="991236"/>
          </a:xfrm>
          <a:prstGeom prst="rect">
            <a:avLst/>
          </a:prstGeom>
        </p:spPr>
        <p:txBody>
          <a:bodyPr anchor="t" rtlCol="false" tIns="0" lIns="0" bIns="0" rIns="0">
            <a:spAutoFit/>
          </a:bodyPr>
          <a:lstStyle/>
          <a:p>
            <a:pPr algn="l">
              <a:lnSpc>
                <a:spcPts val="7120"/>
              </a:lnSpc>
            </a:pPr>
            <a:r>
              <a:rPr lang="en-US" sz="8000" b="true">
                <a:solidFill>
                  <a:srgbClr val="FFFFFF"/>
                </a:solidFill>
                <a:latin typeface="Barlow Bold"/>
                <a:ea typeface="Barlow Bold"/>
                <a:cs typeface="Barlow Bold"/>
                <a:sym typeface="Barlow Bold"/>
              </a:rPr>
              <a:t>TRƯỜNG HỢP SỬ DỤNG</a:t>
            </a:r>
          </a:p>
        </p:txBody>
      </p:sp>
      <p:sp>
        <p:nvSpPr>
          <p:cNvPr name="TextBox 3" id="3"/>
          <p:cNvSpPr txBox="true"/>
          <p:nvPr/>
        </p:nvSpPr>
        <p:spPr>
          <a:xfrm rot="0">
            <a:off x="790575" y="2673783"/>
            <a:ext cx="7047662" cy="1544803"/>
          </a:xfrm>
          <a:prstGeom prst="rect">
            <a:avLst/>
          </a:prstGeom>
        </p:spPr>
        <p:txBody>
          <a:bodyPr anchor="t" rtlCol="false" tIns="0" lIns="0" bIns="0" rIns="0">
            <a:spAutoFit/>
          </a:bodyPr>
          <a:lstStyle/>
          <a:p>
            <a:pPr algn="just" marL="686562" indent="-343281" lvl="1">
              <a:lnSpc>
                <a:spcPts val="4102"/>
              </a:lnSpc>
              <a:buFont typeface="Arial"/>
              <a:buChar char="•"/>
            </a:pPr>
            <a:r>
              <a:rPr lang="en-US" sz="3179" spc="-174">
                <a:solidFill>
                  <a:srgbClr val="FFFFFF"/>
                </a:solidFill>
                <a:latin typeface="Montserrat"/>
                <a:ea typeface="Montserrat"/>
                <a:cs typeface="Montserrat"/>
                <a:sym typeface="Montserrat"/>
              </a:rPr>
              <a:t>Khi một dự án, đề tài nghiên cứu cần thu thập thông tin về nhiều chủ đề khác nhau. </a:t>
            </a:r>
          </a:p>
        </p:txBody>
      </p:sp>
      <p:sp>
        <p:nvSpPr>
          <p:cNvPr name="Freeform 4" id="4"/>
          <p:cNvSpPr/>
          <p:nvPr/>
        </p:nvSpPr>
        <p:spPr>
          <a:xfrm flipH="false" flipV="false" rot="0">
            <a:off x="417509" y="8653250"/>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grpSp>
        <p:nvGrpSpPr>
          <p:cNvPr name="Group 6" id="6"/>
          <p:cNvGrpSpPr/>
          <p:nvPr/>
        </p:nvGrpSpPr>
        <p:grpSpPr>
          <a:xfrm rot="0">
            <a:off x="12391546" y="5460979"/>
            <a:ext cx="5083834" cy="4402371"/>
            <a:chOff x="0" y="0"/>
            <a:chExt cx="4282440" cy="3708400"/>
          </a:xfrm>
        </p:grpSpPr>
        <p:sp>
          <p:nvSpPr>
            <p:cNvPr name="Freeform 7" id="7"/>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4"/>
              <a:stretch>
                <a:fillRect l="-14987" t="0" r="-14987" b="0"/>
              </a:stretch>
            </a:blipFill>
            <a:ln w="57150" cap="sq">
              <a:solidFill>
                <a:srgbClr val="FFFFFF"/>
              </a:solidFill>
              <a:prstDash val="solid"/>
              <a:miter/>
            </a:ln>
          </p:spPr>
        </p:sp>
      </p:grpSp>
      <p:sp>
        <p:nvSpPr>
          <p:cNvPr name="Freeform 8" id="8"/>
          <p:cNvSpPr/>
          <p:nvPr/>
        </p:nvSpPr>
        <p:spPr>
          <a:xfrm flipH="false" flipV="false" rot="0">
            <a:off x="11013416" y="177172"/>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790575" y="4815639"/>
            <a:ext cx="7047662" cy="3087853"/>
          </a:xfrm>
          <a:prstGeom prst="rect">
            <a:avLst/>
          </a:prstGeom>
        </p:spPr>
        <p:txBody>
          <a:bodyPr anchor="t" rtlCol="false" tIns="0" lIns="0" bIns="0" rIns="0">
            <a:spAutoFit/>
          </a:bodyPr>
          <a:lstStyle/>
          <a:p>
            <a:pPr algn="just" marL="686562" indent="-343281" lvl="1">
              <a:lnSpc>
                <a:spcPts val="4102"/>
              </a:lnSpc>
              <a:buFont typeface="Arial"/>
              <a:buChar char="•"/>
            </a:pPr>
            <a:r>
              <a:rPr lang="en-US" sz="3179" spc="-174">
                <a:solidFill>
                  <a:srgbClr val="FFFFFF"/>
                </a:solidFill>
                <a:latin typeface="Montserrat"/>
                <a:ea typeface="Montserrat"/>
                <a:cs typeface="Montserrat"/>
                <a:sym typeface="Montserrat"/>
              </a:rPr>
              <a:t>Chẳng hạn như khối lượng công việc, các báo cáo nhận được, số lượng giao dịch xử lý, nhiệm vụ công việc, khó khăn gặp phải, cũng như ý kiến về cách cải thiện hoặc nâng cao hiệu quả công việc</a:t>
            </a:r>
          </a:p>
        </p:txBody>
      </p:sp>
      <p:sp>
        <p:nvSpPr>
          <p:cNvPr name="TextBox 10" id="10"/>
          <p:cNvSpPr txBox="true"/>
          <p:nvPr/>
        </p:nvSpPr>
        <p:spPr>
          <a:xfrm rot="0">
            <a:off x="7838237" y="2673783"/>
            <a:ext cx="7047662" cy="2573503"/>
          </a:xfrm>
          <a:prstGeom prst="rect">
            <a:avLst/>
          </a:prstGeom>
        </p:spPr>
        <p:txBody>
          <a:bodyPr anchor="t" rtlCol="false" tIns="0" lIns="0" bIns="0" rIns="0">
            <a:spAutoFit/>
          </a:bodyPr>
          <a:lstStyle/>
          <a:p>
            <a:pPr algn="just" marL="686562" indent="-343281" lvl="1">
              <a:lnSpc>
                <a:spcPts val="4102"/>
              </a:lnSpc>
              <a:buFont typeface="Arial"/>
              <a:buChar char="•"/>
            </a:pPr>
            <a:r>
              <a:rPr lang="en-US" sz="3179" spc="-174">
                <a:solidFill>
                  <a:srgbClr val="FFFFFF"/>
                </a:solidFill>
                <a:latin typeface="Montserrat"/>
                <a:ea typeface="Montserrat"/>
                <a:cs typeface="Montserrat"/>
                <a:sym typeface="Montserrat"/>
              </a:rPr>
              <a:t>Đặc biệt, phương pháp này rất thích hợp trong các trường hợp cần tiết kiệm thời gian và chi phí, và cần một số lượng lớn người tham gia thực hiện khảo sát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sp>
        <p:nvSpPr>
          <p:cNvPr name="TextBox 2" id="2"/>
          <p:cNvSpPr txBox="true"/>
          <p:nvPr/>
        </p:nvSpPr>
        <p:spPr>
          <a:xfrm rot="0">
            <a:off x="4809306" y="3028040"/>
            <a:ext cx="8669388" cy="1273175"/>
          </a:xfrm>
          <a:prstGeom prst="rect">
            <a:avLst/>
          </a:prstGeom>
        </p:spPr>
        <p:txBody>
          <a:bodyPr anchor="t" rtlCol="false" tIns="0" lIns="0" bIns="0" rIns="0">
            <a:spAutoFit/>
          </a:bodyPr>
          <a:lstStyle/>
          <a:p>
            <a:pPr algn="ctr">
              <a:lnSpc>
                <a:spcPts val="10000"/>
              </a:lnSpc>
            </a:pPr>
            <a:r>
              <a:rPr lang="en-US" b="true" sz="8000" spc="-264">
                <a:solidFill>
                  <a:srgbClr val="FFFFFF"/>
                </a:solidFill>
                <a:latin typeface="Barlow Bold"/>
                <a:ea typeface="Barlow Bold"/>
                <a:cs typeface="Barlow Bold"/>
                <a:sym typeface="Barlow Bold"/>
              </a:rPr>
              <a:t>CÁCH TIẾN HÀNH</a:t>
            </a:r>
          </a:p>
        </p:txBody>
      </p:sp>
      <p:grpSp>
        <p:nvGrpSpPr>
          <p:cNvPr name="Group 3" id="3"/>
          <p:cNvGrpSpPr/>
          <p:nvPr/>
        </p:nvGrpSpPr>
        <p:grpSpPr>
          <a:xfrm rot="0">
            <a:off x="13408316" y="1860468"/>
            <a:ext cx="3850984" cy="3334779"/>
            <a:chOff x="0" y="0"/>
            <a:chExt cx="4282440" cy="3708400"/>
          </a:xfrm>
        </p:grpSpPr>
        <p:sp>
          <p:nvSpPr>
            <p:cNvPr name="Freeform 4" id="4"/>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2"/>
              <a:stretch>
                <a:fillRect l="-14987" t="0" r="-14987" b="0"/>
              </a:stretch>
            </a:blipFill>
            <a:ln w="180975" cap="sq">
              <a:solidFill>
                <a:srgbClr val="FFFFFF"/>
              </a:solidFill>
              <a:prstDash val="solid"/>
              <a:miter/>
            </a:ln>
          </p:spPr>
        </p:sp>
      </p:grpSp>
      <p:grpSp>
        <p:nvGrpSpPr>
          <p:cNvPr name="Group 5" id="5"/>
          <p:cNvGrpSpPr/>
          <p:nvPr/>
        </p:nvGrpSpPr>
        <p:grpSpPr>
          <a:xfrm rot="0">
            <a:off x="1028700" y="1808721"/>
            <a:ext cx="3850984" cy="3334779"/>
            <a:chOff x="0" y="0"/>
            <a:chExt cx="4282440" cy="3708400"/>
          </a:xfrm>
        </p:grpSpPr>
        <p:sp>
          <p:nvSpPr>
            <p:cNvPr name="Freeform 6" id="6"/>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3"/>
              <a:stretch>
                <a:fillRect l="-14987" t="0" r="-14987" b="0"/>
              </a:stretch>
            </a:blipFill>
            <a:ln w="180975" cap="sq">
              <a:solidFill>
                <a:srgbClr val="FFFFFF"/>
              </a:solidFill>
              <a:prstDash val="solid"/>
              <a:miter/>
            </a:ln>
          </p:spPr>
        </p:sp>
      </p:grpSp>
      <p:sp>
        <p:nvSpPr>
          <p:cNvPr name="Freeform 7" id="7"/>
          <p:cNvSpPr/>
          <p:nvPr/>
        </p:nvSpPr>
        <p:spPr>
          <a:xfrm flipH="false" flipV="false" rot="0">
            <a:off x="-432037" y="8653250"/>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1972419" y="8653250"/>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grpSp>
        <p:nvGrpSpPr>
          <p:cNvPr name="Group 2" id="2"/>
          <p:cNvGrpSpPr/>
          <p:nvPr/>
        </p:nvGrpSpPr>
        <p:grpSpPr>
          <a:xfrm rot="0">
            <a:off x="14257864" y="782222"/>
            <a:ext cx="3850984" cy="3334779"/>
            <a:chOff x="0" y="0"/>
            <a:chExt cx="4282440" cy="3708400"/>
          </a:xfrm>
        </p:grpSpPr>
        <p:sp>
          <p:nvSpPr>
            <p:cNvPr name="Freeform 3" id="3"/>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2"/>
              <a:stretch>
                <a:fillRect l="-14987" t="0" r="-14987" b="0"/>
              </a:stretch>
            </a:blipFill>
            <a:ln w="180975" cap="sq">
              <a:solidFill>
                <a:srgbClr val="FFFFFF"/>
              </a:solidFill>
              <a:prstDash val="solid"/>
              <a:miter/>
            </a:ln>
          </p:spPr>
        </p:sp>
      </p:grpSp>
      <p:grpSp>
        <p:nvGrpSpPr>
          <p:cNvPr name="Group 4" id="4"/>
          <p:cNvGrpSpPr/>
          <p:nvPr/>
        </p:nvGrpSpPr>
        <p:grpSpPr>
          <a:xfrm rot="0">
            <a:off x="1028700" y="4885046"/>
            <a:ext cx="3850984" cy="3334779"/>
            <a:chOff x="0" y="0"/>
            <a:chExt cx="4282440" cy="3708400"/>
          </a:xfrm>
        </p:grpSpPr>
        <p:sp>
          <p:nvSpPr>
            <p:cNvPr name="Freeform 5" id="5"/>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3"/>
              <a:stretch>
                <a:fillRect l="-14987" t="0" r="-14987" b="0"/>
              </a:stretch>
            </a:blipFill>
            <a:ln w="180975" cap="sq">
              <a:solidFill>
                <a:srgbClr val="FFFFFF"/>
              </a:solidFill>
              <a:prstDash val="solid"/>
              <a:miter/>
            </a:ln>
          </p:spPr>
        </p:sp>
      </p:grpSp>
      <p:sp>
        <p:nvSpPr>
          <p:cNvPr name="Freeform 6" id="6"/>
          <p:cNvSpPr/>
          <p:nvPr/>
        </p:nvSpPr>
        <p:spPr>
          <a:xfrm flipH="false" flipV="false" rot="0">
            <a:off x="-432037" y="8653250"/>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386070" y="8219825"/>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sp>
        <p:nvSpPr>
          <p:cNvPr name="TextBox 9" id="9"/>
          <p:cNvSpPr txBox="true"/>
          <p:nvPr/>
        </p:nvSpPr>
        <p:spPr>
          <a:xfrm rot="0">
            <a:off x="1028700" y="1299373"/>
            <a:ext cx="12907528" cy="2795778"/>
          </a:xfrm>
          <a:prstGeom prst="rect">
            <a:avLst/>
          </a:prstGeom>
        </p:spPr>
        <p:txBody>
          <a:bodyPr anchor="t" rtlCol="false" tIns="0" lIns="0" bIns="0" rIns="0">
            <a:spAutoFit/>
          </a:bodyPr>
          <a:lstStyle/>
          <a:p>
            <a:pPr algn="l">
              <a:lnSpc>
                <a:spcPts val="4452"/>
              </a:lnSpc>
              <a:spcBef>
                <a:spcPct val="0"/>
              </a:spcBef>
            </a:pPr>
            <a:r>
              <a:rPr lang="en-US" b="true" sz="3179">
                <a:solidFill>
                  <a:srgbClr val="FFFFFF"/>
                </a:solidFill>
                <a:latin typeface="Montserrat Bold"/>
                <a:ea typeface="Montserrat Bold"/>
                <a:cs typeface="Montserrat Bold"/>
                <a:sym typeface="Montserrat Bold"/>
              </a:rPr>
              <a:t>1. XÁC ĐỊNH MỤC TIÊU NGHIÊN CỨU </a:t>
            </a:r>
          </a:p>
          <a:p>
            <a:pPr algn="l">
              <a:lnSpc>
                <a:spcPts val="4452"/>
              </a:lnSpc>
              <a:spcBef>
                <a:spcPct val="0"/>
              </a:spcBef>
            </a:pPr>
            <a:r>
              <a:rPr lang="en-US" sz="3179">
                <a:solidFill>
                  <a:srgbClr val="FFFFFF"/>
                </a:solidFill>
                <a:latin typeface="Montserrat"/>
                <a:ea typeface="Montserrat"/>
                <a:cs typeface="Montserrat"/>
                <a:sym typeface="Montserrat"/>
              </a:rPr>
              <a:t>BƯỚC ĐẦU TIÊN VÀ QUAN TRỌNG TRONG VIỆC PHÁT TRIỂN BẢNG CÂU HỎI LÀ XÁC ĐỊNH CHÍNH XÁC THÔNG TIN CẦN THIẾT TỪ NGƯỜI TRẢ LỜI ĐỂ HOÀN THÀNH MỤC TIÊU CỦA CUỘC KHẢO SÁT</a:t>
            </a:r>
          </a:p>
        </p:txBody>
      </p:sp>
      <p:sp>
        <p:nvSpPr>
          <p:cNvPr name="TextBox 10" id="10"/>
          <p:cNvSpPr txBox="true"/>
          <p:nvPr/>
        </p:nvSpPr>
        <p:spPr>
          <a:xfrm rot="0">
            <a:off x="5190429" y="4318633"/>
            <a:ext cx="9557031" cy="2233803"/>
          </a:xfrm>
          <a:prstGeom prst="rect">
            <a:avLst/>
          </a:prstGeom>
        </p:spPr>
        <p:txBody>
          <a:bodyPr anchor="t" rtlCol="false" tIns="0" lIns="0" bIns="0" rIns="0">
            <a:spAutoFit/>
          </a:bodyPr>
          <a:lstStyle/>
          <a:p>
            <a:pPr algn="l">
              <a:lnSpc>
                <a:spcPts val="4452"/>
              </a:lnSpc>
              <a:spcBef>
                <a:spcPct val="0"/>
              </a:spcBef>
            </a:pPr>
            <a:r>
              <a:rPr lang="en-US" sz="3179">
                <a:solidFill>
                  <a:srgbClr val="FFFFFF"/>
                </a:solidFill>
                <a:latin typeface="Montserrat"/>
                <a:ea typeface="Montserrat"/>
                <a:cs typeface="Montserrat"/>
                <a:sym typeface="Montserrat"/>
              </a:rPr>
              <a:t>ĐÁNH GIÁ CẨN THẬN MỌI KHÍA CẠNH CỦA CHỦ ĐỀ ĐANG ĐƯỢC ĐIỀU TRA, NHẤN MẠNH CÁC YẾU TỐ NHƯ GIẢ THUYẾT, CÂU HỎI VÀ DỮ LIỆU CẦN THIẾT.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grpSp>
        <p:nvGrpSpPr>
          <p:cNvPr name="Group 2" id="2"/>
          <p:cNvGrpSpPr/>
          <p:nvPr/>
        </p:nvGrpSpPr>
        <p:grpSpPr>
          <a:xfrm rot="0">
            <a:off x="14257864" y="782222"/>
            <a:ext cx="3850984" cy="3334779"/>
            <a:chOff x="0" y="0"/>
            <a:chExt cx="4282440" cy="3708400"/>
          </a:xfrm>
        </p:grpSpPr>
        <p:sp>
          <p:nvSpPr>
            <p:cNvPr name="Freeform 3" id="3"/>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2"/>
              <a:stretch>
                <a:fillRect l="-14987" t="0" r="-14987" b="0"/>
              </a:stretch>
            </a:blipFill>
            <a:ln w="180975" cap="sq">
              <a:solidFill>
                <a:srgbClr val="FFFFFF"/>
              </a:solidFill>
              <a:prstDash val="solid"/>
              <a:miter/>
            </a:ln>
          </p:spPr>
        </p:sp>
      </p:grpSp>
      <p:grpSp>
        <p:nvGrpSpPr>
          <p:cNvPr name="Group 4" id="4"/>
          <p:cNvGrpSpPr/>
          <p:nvPr/>
        </p:nvGrpSpPr>
        <p:grpSpPr>
          <a:xfrm rot="0">
            <a:off x="1028700" y="4885046"/>
            <a:ext cx="3850984" cy="3334779"/>
            <a:chOff x="0" y="0"/>
            <a:chExt cx="4282440" cy="3708400"/>
          </a:xfrm>
        </p:grpSpPr>
        <p:sp>
          <p:nvSpPr>
            <p:cNvPr name="Freeform 5" id="5"/>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3"/>
              <a:stretch>
                <a:fillRect l="-14987" t="0" r="-14987" b="0"/>
              </a:stretch>
            </a:blipFill>
            <a:ln w="180975" cap="sq">
              <a:solidFill>
                <a:srgbClr val="FFFFFF"/>
              </a:solidFill>
              <a:prstDash val="solid"/>
              <a:miter/>
            </a:ln>
          </p:spPr>
        </p:sp>
      </p:grpSp>
      <p:sp>
        <p:nvSpPr>
          <p:cNvPr name="Freeform 6" id="6"/>
          <p:cNvSpPr/>
          <p:nvPr/>
        </p:nvSpPr>
        <p:spPr>
          <a:xfrm flipH="false" flipV="false" rot="0">
            <a:off x="-432037" y="8653250"/>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386070" y="8219825"/>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sp>
        <p:nvSpPr>
          <p:cNvPr name="TextBox 9" id="9"/>
          <p:cNvSpPr txBox="true"/>
          <p:nvPr/>
        </p:nvSpPr>
        <p:spPr>
          <a:xfrm rot="0">
            <a:off x="1028700" y="1299373"/>
            <a:ext cx="12907528" cy="2233803"/>
          </a:xfrm>
          <a:prstGeom prst="rect">
            <a:avLst/>
          </a:prstGeom>
        </p:spPr>
        <p:txBody>
          <a:bodyPr anchor="t" rtlCol="false" tIns="0" lIns="0" bIns="0" rIns="0">
            <a:spAutoFit/>
          </a:bodyPr>
          <a:lstStyle/>
          <a:p>
            <a:pPr algn="l">
              <a:lnSpc>
                <a:spcPts val="4452"/>
              </a:lnSpc>
            </a:pPr>
            <a:r>
              <a:rPr lang="en-US" sz="3179" b="true">
                <a:solidFill>
                  <a:srgbClr val="FFFFFF"/>
                </a:solidFill>
                <a:latin typeface="Montserrat Bold"/>
                <a:ea typeface="Montserrat Bold"/>
                <a:cs typeface="Montserrat Bold"/>
                <a:sym typeface="Montserrat Bold"/>
              </a:rPr>
              <a:t>2. XÁC ĐỊNH NGƯỜI THAM GIA</a:t>
            </a:r>
          </a:p>
          <a:p>
            <a:pPr algn="l">
              <a:lnSpc>
                <a:spcPts val="4452"/>
              </a:lnSpc>
              <a:spcBef>
                <a:spcPct val="0"/>
              </a:spcBef>
            </a:pPr>
            <a:r>
              <a:rPr lang="en-US" sz="3179">
                <a:solidFill>
                  <a:srgbClr val="FFFFFF"/>
                </a:solidFill>
                <a:latin typeface="Montserrat"/>
                <a:ea typeface="Montserrat"/>
                <a:cs typeface="Montserrat"/>
                <a:sym typeface="Montserrat"/>
              </a:rPr>
              <a:t>Phải xác định rõ những cá nhân cụ thể mà dữ liệu sẽ được thu thập. Các câu hỏi nên được thiết kế để phù hợp với đặc điểm của những người tham gia.</a:t>
            </a:r>
          </a:p>
        </p:txBody>
      </p:sp>
      <p:sp>
        <p:nvSpPr>
          <p:cNvPr name="TextBox 10" id="10"/>
          <p:cNvSpPr txBox="true"/>
          <p:nvPr/>
        </p:nvSpPr>
        <p:spPr>
          <a:xfrm rot="0">
            <a:off x="5190429" y="4318633"/>
            <a:ext cx="9557031" cy="2233803"/>
          </a:xfrm>
          <a:prstGeom prst="rect">
            <a:avLst/>
          </a:prstGeom>
        </p:spPr>
        <p:txBody>
          <a:bodyPr anchor="t" rtlCol="false" tIns="0" lIns="0" bIns="0" rIns="0">
            <a:spAutoFit/>
          </a:bodyPr>
          <a:lstStyle/>
          <a:p>
            <a:pPr algn="l">
              <a:lnSpc>
                <a:spcPts val="4452"/>
              </a:lnSpc>
              <a:spcBef>
                <a:spcPct val="0"/>
              </a:spcBef>
            </a:pPr>
            <a:r>
              <a:rPr lang="en-US" sz="3179">
                <a:solidFill>
                  <a:srgbClr val="FFFFFF"/>
                </a:solidFill>
                <a:latin typeface="Montserrat"/>
                <a:ea typeface="Montserrat"/>
                <a:cs typeface="Montserrat"/>
                <a:sym typeface="Montserrat"/>
              </a:rPr>
              <a:t>NÊN LỰA CHỌN MỘT NHÓM NGƯỜI TRẢ LỜI ĐỒNG NHẤT HƠN, VÌ VIỆC TẠO RA MỘT BẢNG CÂU HỎI PHÙ HỢP VỚI MỘT NHÓM CÓ TÍNH ĐA DẠNG CAO CÓ THỂ GÂY RA KHÓ KHĂN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grpSp>
        <p:nvGrpSpPr>
          <p:cNvPr name="Group 2" id="2"/>
          <p:cNvGrpSpPr/>
          <p:nvPr/>
        </p:nvGrpSpPr>
        <p:grpSpPr>
          <a:xfrm rot="0">
            <a:off x="13054904" y="-558302"/>
            <a:ext cx="4736144" cy="4101287"/>
            <a:chOff x="0" y="0"/>
            <a:chExt cx="4282440" cy="3708400"/>
          </a:xfrm>
        </p:grpSpPr>
        <p:sp>
          <p:nvSpPr>
            <p:cNvPr name="Freeform 3" id="3"/>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2"/>
              <a:stretch>
                <a:fillRect l="0" t="-36663" r="0" b="-36663"/>
              </a:stretch>
            </a:blipFill>
            <a:ln w="57150" cap="sq">
              <a:solidFill>
                <a:srgbClr val="FFFFFF"/>
              </a:solidFill>
              <a:prstDash val="solid"/>
              <a:miter/>
            </a:ln>
          </p:spPr>
        </p:sp>
      </p:grpSp>
      <p:grpSp>
        <p:nvGrpSpPr>
          <p:cNvPr name="Group 4" id="4"/>
          <p:cNvGrpSpPr/>
          <p:nvPr/>
        </p:nvGrpSpPr>
        <p:grpSpPr>
          <a:xfrm rot="0">
            <a:off x="-912832" y="6528386"/>
            <a:ext cx="5083834" cy="4402371"/>
            <a:chOff x="0" y="0"/>
            <a:chExt cx="4282440" cy="3708400"/>
          </a:xfrm>
        </p:grpSpPr>
        <p:sp>
          <p:nvSpPr>
            <p:cNvPr name="Freeform 5" id="5"/>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3"/>
              <a:stretch>
                <a:fillRect l="-14987" t="0" r="-14987" b="0"/>
              </a:stretch>
            </a:blipFill>
            <a:ln w="57150" cap="sq">
              <a:solidFill>
                <a:srgbClr val="FFFFFF"/>
              </a:solidFill>
              <a:prstDash val="solid"/>
              <a:miter/>
            </a:ln>
          </p:spPr>
        </p:sp>
      </p:grpSp>
      <p:sp>
        <p:nvSpPr>
          <p:cNvPr name="TextBox 6" id="6"/>
          <p:cNvSpPr txBox="true"/>
          <p:nvPr/>
        </p:nvSpPr>
        <p:spPr>
          <a:xfrm rot="0">
            <a:off x="1028700" y="1435192"/>
            <a:ext cx="11803116" cy="3347974"/>
          </a:xfrm>
          <a:prstGeom prst="rect">
            <a:avLst/>
          </a:prstGeom>
        </p:spPr>
        <p:txBody>
          <a:bodyPr anchor="t" rtlCol="false" tIns="0" lIns="0" bIns="0" rIns="0">
            <a:spAutoFit/>
          </a:bodyPr>
          <a:lstStyle/>
          <a:p>
            <a:pPr algn="l">
              <a:lnSpc>
                <a:spcPts val="4465"/>
              </a:lnSpc>
              <a:spcBef>
                <a:spcPct val="0"/>
              </a:spcBef>
            </a:pPr>
            <a:r>
              <a:rPr lang="en-US" b="true" sz="3189" spc="-175">
                <a:solidFill>
                  <a:srgbClr val="FFFFFF"/>
                </a:solidFill>
                <a:latin typeface="Montserrat Bold"/>
                <a:ea typeface="Montserrat Bold"/>
                <a:cs typeface="Montserrat Bold"/>
                <a:sym typeface="Montserrat Bold"/>
              </a:rPr>
              <a:t>3. SỬ DỤNG PHƯƠNG PHÁP LẤY MẪU</a:t>
            </a:r>
          </a:p>
          <a:p>
            <a:pPr algn="l">
              <a:lnSpc>
                <a:spcPts val="4465"/>
              </a:lnSpc>
              <a:spcBef>
                <a:spcPct val="0"/>
              </a:spcBef>
            </a:pPr>
            <a:r>
              <a:rPr lang="en-US" sz="3189" spc="-175">
                <a:solidFill>
                  <a:srgbClr val="FFFFFF"/>
                </a:solidFill>
                <a:latin typeface="Montserrat"/>
                <a:ea typeface="Montserrat"/>
                <a:cs typeface="Montserrat"/>
                <a:sym typeface="Montserrat"/>
              </a:rPr>
              <a:t>CÁC KỸ THUẬT LẤY MẪU PHỔ BIẾN:</a:t>
            </a:r>
          </a:p>
          <a:p>
            <a:pPr algn="l">
              <a:lnSpc>
                <a:spcPts val="4465"/>
              </a:lnSpc>
              <a:spcBef>
                <a:spcPct val="0"/>
              </a:spcBef>
            </a:pPr>
            <a:r>
              <a:rPr lang="en-US" sz="3189" spc="-175">
                <a:solidFill>
                  <a:srgbClr val="FFFFFF"/>
                </a:solidFill>
                <a:latin typeface="Montserrat"/>
                <a:ea typeface="Montserrat"/>
                <a:cs typeface="Montserrat"/>
                <a:sym typeface="Montserrat"/>
              </a:rPr>
              <a:t>1) LẤY MẪU HỆ THỐNG (SYSTEMATIC SAMPLING): CHỌN MỘT MẪU THEO KHOẢNG CÁCH ĐỀU TRONG DANH SÁCH.</a:t>
            </a:r>
          </a:p>
          <a:p>
            <a:pPr algn="l">
              <a:lnSpc>
                <a:spcPts val="4465"/>
              </a:lnSpc>
              <a:spcBef>
                <a:spcPct val="0"/>
              </a:spcBef>
            </a:pPr>
          </a:p>
          <a:p>
            <a:pPr algn="l">
              <a:lnSpc>
                <a:spcPts val="4465"/>
              </a:lnSpc>
              <a:spcBef>
                <a:spcPct val="0"/>
              </a:spcBef>
            </a:pPr>
          </a:p>
        </p:txBody>
      </p:sp>
      <p:sp>
        <p:nvSpPr>
          <p:cNvPr name="TextBox 7" id="7"/>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sp>
        <p:nvSpPr>
          <p:cNvPr name="TextBox 8" id="8"/>
          <p:cNvSpPr txBox="true"/>
          <p:nvPr/>
        </p:nvSpPr>
        <p:spPr>
          <a:xfrm rot="0">
            <a:off x="3413136" y="4478662"/>
            <a:ext cx="11803116" cy="2785999"/>
          </a:xfrm>
          <a:prstGeom prst="rect">
            <a:avLst/>
          </a:prstGeom>
        </p:spPr>
        <p:txBody>
          <a:bodyPr anchor="t" rtlCol="false" tIns="0" lIns="0" bIns="0" rIns="0">
            <a:spAutoFit/>
          </a:bodyPr>
          <a:lstStyle/>
          <a:p>
            <a:pPr algn="l">
              <a:lnSpc>
                <a:spcPts val="4465"/>
              </a:lnSpc>
              <a:spcBef>
                <a:spcPct val="0"/>
              </a:spcBef>
            </a:pPr>
            <a:r>
              <a:rPr lang="en-US" sz="3189" spc="-175">
                <a:solidFill>
                  <a:srgbClr val="FFFFFF"/>
                </a:solidFill>
                <a:latin typeface="Montserrat"/>
                <a:ea typeface="Montserrat"/>
                <a:cs typeface="Montserrat"/>
                <a:sym typeface="Montserrat"/>
              </a:rPr>
              <a:t>2) LẤY MẪU PHÂN TẦNG (STRATIFIED SAMPLING): CHIA TẬP DỮ LIỆU THÀNH CÁC NHÓM (TẦNG) VÀ CHỌN MẪU TỪ MỖI NHÓM ĐỂ ĐẢM BẢO SỰ CÂN BẰNG</a:t>
            </a:r>
          </a:p>
          <a:p>
            <a:pPr algn="l">
              <a:lnSpc>
                <a:spcPts val="4465"/>
              </a:lnSpc>
              <a:spcBef>
                <a:spcPct val="0"/>
              </a:spcBef>
            </a:pPr>
          </a:p>
          <a:p>
            <a:pPr algn="l">
              <a:lnSpc>
                <a:spcPts val="4465"/>
              </a:lnSpc>
              <a:spcBef>
                <a:spcPct val="0"/>
              </a:spcBef>
            </a:pPr>
          </a:p>
        </p:txBody>
      </p:sp>
      <p:sp>
        <p:nvSpPr>
          <p:cNvPr name="TextBox 9" id="9"/>
          <p:cNvSpPr txBox="true"/>
          <p:nvPr/>
        </p:nvSpPr>
        <p:spPr>
          <a:xfrm rot="0">
            <a:off x="5456184" y="7067523"/>
            <a:ext cx="11803116" cy="1662049"/>
          </a:xfrm>
          <a:prstGeom prst="rect">
            <a:avLst/>
          </a:prstGeom>
        </p:spPr>
        <p:txBody>
          <a:bodyPr anchor="t" rtlCol="false" tIns="0" lIns="0" bIns="0" rIns="0">
            <a:spAutoFit/>
          </a:bodyPr>
          <a:lstStyle/>
          <a:p>
            <a:pPr algn="l">
              <a:lnSpc>
                <a:spcPts val="4465"/>
              </a:lnSpc>
            </a:pPr>
            <a:r>
              <a:rPr lang="en-US" sz="3189" spc="-175">
                <a:solidFill>
                  <a:srgbClr val="FFFFFF"/>
                </a:solidFill>
                <a:latin typeface="Montserrat"/>
                <a:ea typeface="Montserrat"/>
                <a:cs typeface="Montserrat"/>
                <a:sym typeface="Montserrat"/>
              </a:rPr>
              <a:t>3)  LẤY MẪU NGẪU NHIÊN (RANDOM SAMPLING): CHỌN MẪU MỘT CÁCH HOÀN TOÀN NGẪU NHIÊN.</a:t>
            </a:r>
          </a:p>
          <a:p>
            <a:pPr algn="l">
              <a:lnSpc>
                <a:spcPts val="4465"/>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sp>
        <p:nvSpPr>
          <p:cNvPr name="Freeform 2" id="2"/>
          <p:cNvSpPr/>
          <p:nvPr/>
        </p:nvSpPr>
        <p:spPr>
          <a:xfrm flipH="false" flipV="false" rot="0">
            <a:off x="-432037" y="8653250"/>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565222" y="423650"/>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sp>
        <p:nvSpPr>
          <p:cNvPr name="TextBox 5" id="5"/>
          <p:cNvSpPr txBox="true"/>
          <p:nvPr/>
        </p:nvSpPr>
        <p:spPr>
          <a:xfrm rot="0">
            <a:off x="1028700" y="1299373"/>
            <a:ext cx="12907528" cy="1671828"/>
          </a:xfrm>
          <a:prstGeom prst="rect">
            <a:avLst/>
          </a:prstGeom>
        </p:spPr>
        <p:txBody>
          <a:bodyPr anchor="t" rtlCol="false" tIns="0" lIns="0" bIns="0" rIns="0">
            <a:spAutoFit/>
          </a:bodyPr>
          <a:lstStyle/>
          <a:p>
            <a:pPr algn="l">
              <a:lnSpc>
                <a:spcPts val="4452"/>
              </a:lnSpc>
            </a:pPr>
            <a:r>
              <a:rPr lang="en-US" sz="3179" b="true">
                <a:solidFill>
                  <a:srgbClr val="FFFFFF"/>
                </a:solidFill>
                <a:latin typeface="Montserrat Bold"/>
                <a:ea typeface="Montserrat Bold"/>
                <a:cs typeface="Montserrat Bold"/>
                <a:sym typeface="Montserrat Bold"/>
              </a:rPr>
              <a:t>4. THIẾT KẾ BẢNG CÂU HỎI</a:t>
            </a:r>
          </a:p>
          <a:p>
            <a:pPr algn="l">
              <a:lnSpc>
                <a:spcPts val="4452"/>
              </a:lnSpc>
              <a:spcBef>
                <a:spcPct val="0"/>
              </a:spcBef>
            </a:pPr>
          </a:p>
          <a:p>
            <a:pPr algn="l">
              <a:lnSpc>
                <a:spcPts val="4452"/>
              </a:lnSpc>
              <a:spcBef>
                <a:spcPct val="0"/>
              </a:spcBef>
            </a:pPr>
          </a:p>
        </p:txBody>
      </p:sp>
      <p:sp>
        <p:nvSpPr>
          <p:cNvPr name="TextBox 6" id="6"/>
          <p:cNvSpPr txBox="true"/>
          <p:nvPr/>
        </p:nvSpPr>
        <p:spPr>
          <a:xfrm rot="0">
            <a:off x="1028700" y="2128050"/>
            <a:ext cx="9557031" cy="5605653"/>
          </a:xfrm>
          <a:prstGeom prst="rect">
            <a:avLst/>
          </a:prstGeom>
        </p:spPr>
        <p:txBody>
          <a:bodyPr anchor="t" rtlCol="false" tIns="0" lIns="0" bIns="0" rIns="0">
            <a:spAutoFit/>
          </a:bodyPr>
          <a:lstStyle/>
          <a:p>
            <a:pPr algn="l">
              <a:lnSpc>
                <a:spcPts val="4452"/>
              </a:lnSpc>
            </a:pPr>
            <a:r>
              <a:rPr lang="en-US" sz="3179">
                <a:solidFill>
                  <a:srgbClr val="FFFFFF"/>
                </a:solidFill>
                <a:latin typeface="Montserrat"/>
                <a:ea typeface="Montserrat"/>
                <a:cs typeface="Montserrat"/>
                <a:sym typeface="Montserrat"/>
              </a:rPr>
              <a:t>MỘT BẢNG CÂU HỎI TIÊU CHUẨN THƯỜNG BẮT ĐẦU BẰNG PHẦN TIÊU ĐỀ, BAO GỒM:</a:t>
            </a:r>
          </a:p>
          <a:p>
            <a:pPr algn="l" marL="686562" indent="-343281" lvl="1">
              <a:lnSpc>
                <a:spcPts val="4452"/>
              </a:lnSpc>
              <a:buFont typeface="Arial"/>
              <a:buChar char="•"/>
            </a:pPr>
            <a:r>
              <a:rPr lang="en-US" sz="3179">
                <a:solidFill>
                  <a:srgbClr val="FFFFFF"/>
                </a:solidFill>
                <a:latin typeface="Montserrat"/>
                <a:ea typeface="Montserrat"/>
                <a:cs typeface="Montserrat"/>
                <a:sym typeface="Montserrat"/>
              </a:rPr>
              <a:t>TÊN BẢNG CÂU HỎI</a:t>
            </a:r>
          </a:p>
          <a:p>
            <a:pPr algn="l" marL="686562" indent="-343281" lvl="1">
              <a:lnSpc>
                <a:spcPts val="4452"/>
              </a:lnSpc>
              <a:buFont typeface="Arial"/>
              <a:buChar char="•"/>
            </a:pPr>
            <a:r>
              <a:rPr lang="en-US" sz="3179">
                <a:solidFill>
                  <a:srgbClr val="FFFFFF"/>
                </a:solidFill>
                <a:latin typeface="Montserrat"/>
                <a:ea typeface="Montserrat"/>
                <a:cs typeface="Montserrat"/>
                <a:sym typeface="Montserrat"/>
              </a:rPr>
              <a:t>MỤC ĐÍCH NGẮN GỌN</a:t>
            </a:r>
          </a:p>
          <a:p>
            <a:pPr algn="l" marL="686562" indent="-343281" lvl="1">
              <a:lnSpc>
                <a:spcPts val="4452"/>
              </a:lnSpc>
              <a:buFont typeface="Arial"/>
              <a:buChar char="•"/>
            </a:pPr>
            <a:r>
              <a:rPr lang="en-US" sz="3179">
                <a:solidFill>
                  <a:srgbClr val="FFFFFF"/>
                </a:solidFill>
                <a:latin typeface="Montserrat"/>
                <a:ea typeface="Montserrat"/>
                <a:cs typeface="Montserrat"/>
                <a:sym typeface="Montserrat"/>
              </a:rPr>
              <a:t>TÊN VÀ SỐ ĐIỆN THOẠI CỦA NGƯỜI LIÊN HỆ</a:t>
            </a:r>
          </a:p>
          <a:p>
            <a:pPr algn="l" marL="686562" indent="-343281" lvl="1">
              <a:lnSpc>
                <a:spcPts val="4452"/>
              </a:lnSpc>
              <a:buFont typeface="Arial"/>
              <a:buChar char="•"/>
            </a:pPr>
            <a:r>
              <a:rPr lang="en-US" sz="3179">
                <a:solidFill>
                  <a:srgbClr val="FFFFFF"/>
                </a:solidFill>
                <a:latin typeface="Montserrat"/>
                <a:ea typeface="Montserrat"/>
                <a:cs typeface="Montserrat"/>
                <a:sym typeface="Montserrat"/>
              </a:rPr>
              <a:t>HẠN CHÓT HOÀN THÀNH</a:t>
            </a:r>
          </a:p>
          <a:p>
            <a:pPr algn="l" marL="686562" indent="-343281" lvl="1">
              <a:lnSpc>
                <a:spcPts val="4452"/>
              </a:lnSpc>
              <a:buFont typeface="Arial"/>
              <a:buChar char="•"/>
            </a:pPr>
            <a:r>
              <a:rPr lang="en-US" sz="3179">
                <a:solidFill>
                  <a:srgbClr val="FFFFFF"/>
                </a:solidFill>
                <a:latin typeface="Montserrat"/>
                <a:ea typeface="Montserrat"/>
                <a:cs typeface="Montserrat"/>
                <a:sym typeface="Montserrat"/>
              </a:rPr>
              <a:t>CÁCH THỨC VÀ NƠI GỬI LẠI BẢNG CÂU HỎI</a:t>
            </a:r>
          </a:p>
          <a:p>
            <a:pPr algn="l">
              <a:lnSpc>
                <a:spcPts val="4452"/>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sp>
        <p:nvSpPr>
          <p:cNvPr name="Freeform 2" id="2"/>
          <p:cNvSpPr/>
          <p:nvPr/>
        </p:nvSpPr>
        <p:spPr>
          <a:xfrm flipH="false" flipV="false" rot="0">
            <a:off x="11565222" y="423650"/>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sp>
        <p:nvSpPr>
          <p:cNvPr name="TextBox 4" id="4"/>
          <p:cNvSpPr txBox="true"/>
          <p:nvPr/>
        </p:nvSpPr>
        <p:spPr>
          <a:xfrm rot="0">
            <a:off x="1028700" y="1299373"/>
            <a:ext cx="12907528" cy="547878"/>
          </a:xfrm>
          <a:prstGeom prst="rect">
            <a:avLst/>
          </a:prstGeom>
        </p:spPr>
        <p:txBody>
          <a:bodyPr anchor="t" rtlCol="false" tIns="0" lIns="0" bIns="0" rIns="0">
            <a:spAutoFit/>
          </a:bodyPr>
          <a:lstStyle/>
          <a:p>
            <a:pPr algn="l">
              <a:lnSpc>
                <a:spcPts val="4452"/>
              </a:lnSpc>
              <a:spcBef>
                <a:spcPct val="0"/>
              </a:spcBef>
            </a:pPr>
            <a:r>
              <a:rPr lang="en-US" sz="3179">
                <a:solidFill>
                  <a:srgbClr val="FFFFFF"/>
                </a:solidFill>
                <a:latin typeface="Montserrat"/>
                <a:ea typeface="Montserrat"/>
                <a:cs typeface="Montserrat"/>
                <a:sym typeface="Montserrat"/>
              </a:rPr>
              <a:t>MỘT SỐ NGUYÊN TẮC QUAN TRỌNG CẦN LƯU Ý:</a:t>
            </a:r>
          </a:p>
        </p:txBody>
      </p:sp>
      <p:sp>
        <p:nvSpPr>
          <p:cNvPr name="TextBox 5" id="5"/>
          <p:cNvSpPr txBox="true"/>
          <p:nvPr/>
        </p:nvSpPr>
        <p:spPr>
          <a:xfrm rot="0">
            <a:off x="660562" y="2128050"/>
            <a:ext cx="7713379" cy="8415528"/>
          </a:xfrm>
          <a:prstGeom prst="rect">
            <a:avLst/>
          </a:prstGeom>
        </p:spPr>
        <p:txBody>
          <a:bodyPr anchor="t" rtlCol="false" tIns="0" lIns="0" bIns="0" rIns="0">
            <a:spAutoFit/>
          </a:bodyPr>
          <a:lstStyle/>
          <a:p>
            <a:pPr algn="l" marL="686562" indent="-343281" lvl="1">
              <a:lnSpc>
                <a:spcPts val="4452"/>
              </a:lnSpc>
              <a:buFont typeface="Arial"/>
              <a:buChar char="•"/>
            </a:pPr>
            <a:r>
              <a:rPr lang="en-US" sz="3179">
                <a:solidFill>
                  <a:srgbClr val="FFFFFF"/>
                </a:solidFill>
                <a:latin typeface="Montserrat"/>
                <a:ea typeface="Montserrat"/>
                <a:cs typeface="Montserrat"/>
                <a:sym typeface="Montserrat"/>
              </a:rPr>
              <a:t>GIỮ BẢNG CÂU HỎI NGẮN GỌN VÀ DỄ SỬ DỤNG</a:t>
            </a:r>
          </a:p>
          <a:p>
            <a:pPr algn="l" marL="686562" indent="-343281" lvl="1">
              <a:lnSpc>
                <a:spcPts val="4452"/>
              </a:lnSpc>
              <a:buFont typeface="Arial"/>
              <a:buChar char="•"/>
            </a:pPr>
            <a:r>
              <a:rPr lang="en-US" sz="3179">
                <a:solidFill>
                  <a:srgbClr val="FFFFFF"/>
                </a:solidFill>
                <a:latin typeface="Montserrat"/>
                <a:ea typeface="Montserrat"/>
                <a:cs typeface="Montserrat"/>
                <a:sym typeface="Montserrat"/>
              </a:rPr>
              <a:t>Cung cấp hướng dẫn rõ ràng để trả lời tất cả các câu hỏi</a:t>
            </a:r>
          </a:p>
          <a:p>
            <a:pPr algn="l" marL="686562" indent="-343281" lvl="1">
              <a:lnSpc>
                <a:spcPts val="4452"/>
              </a:lnSpc>
              <a:buFont typeface="Arial"/>
              <a:buChar char="•"/>
            </a:pPr>
            <a:r>
              <a:rPr lang="en-US" sz="3179">
                <a:solidFill>
                  <a:srgbClr val="FFFFFF"/>
                </a:solidFill>
                <a:latin typeface="Montserrat"/>
                <a:ea typeface="Montserrat"/>
                <a:cs typeface="Montserrat"/>
                <a:sym typeface="Montserrat"/>
              </a:rPr>
              <a:t>Sắp xếp câu hỏi theo thứ tự logic, từ đơn giản đến phức tạp</a:t>
            </a:r>
          </a:p>
          <a:p>
            <a:pPr algn="l" marL="686562" indent="-343281" lvl="1">
              <a:lnSpc>
                <a:spcPts val="4452"/>
              </a:lnSpc>
              <a:buFont typeface="Arial"/>
              <a:buChar char="•"/>
            </a:pPr>
            <a:r>
              <a:rPr lang="en-US" sz="3179">
                <a:solidFill>
                  <a:srgbClr val="FFFFFF"/>
                </a:solidFill>
                <a:latin typeface="Montserrat"/>
                <a:ea typeface="Montserrat"/>
                <a:cs typeface="Montserrat"/>
                <a:sym typeface="Montserrat"/>
              </a:rPr>
              <a:t>Sử dụng ngôn từ đơn giản, dễ hiểu để tránh hiểu nhầm.</a:t>
            </a:r>
          </a:p>
          <a:p>
            <a:pPr algn="l" marL="686562" indent="-343281" lvl="1">
              <a:lnSpc>
                <a:spcPts val="4452"/>
              </a:lnSpc>
              <a:buFont typeface="Arial"/>
              <a:buChar char="•"/>
            </a:pPr>
            <a:r>
              <a:rPr lang="en-US" sz="3179">
                <a:solidFill>
                  <a:srgbClr val="FFFFFF"/>
                </a:solidFill>
                <a:latin typeface="Montserrat"/>
                <a:ea typeface="Montserrat"/>
                <a:cs typeface="Montserrat"/>
                <a:sym typeface="Montserrat"/>
              </a:rPr>
              <a:t>Tránh gợi ý câu trả lời hoặc đặt câu hỏi có thể ảnh hưởng đến ý kiến người trả lời</a:t>
            </a:r>
          </a:p>
          <a:p>
            <a:pPr algn="l">
              <a:lnSpc>
                <a:spcPts val="4452"/>
              </a:lnSpc>
              <a:spcBef>
                <a:spcPct val="0"/>
              </a:spcBef>
            </a:pPr>
          </a:p>
        </p:txBody>
      </p:sp>
      <p:sp>
        <p:nvSpPr>
          <p:cNvPr name="TextBox 6" id="6"/>
          <p:cNvSpPr txBox="true"/>
          <p:nvPr/>
        </p:nvSpPr>
        <p:spPr>
          <a:xfrm rot="0">
            <a:off x="8204031" y="2128050"/>
            <a:ext cx="9557031" cy="5605653"/>
          </a:xfrm>
          <a:prstGeom prst="rect">
            <a:avLst/>
          </a:prstGeom>
        </p:spPr>
        <p:txBody>
          <a:bodyPr anchor="t" rtlCol="false" tIns="0" lIns="0" bIns="0" rIns="0">
            <a:spAutoFit/>
          </a:bodyPr>
          <a:lstStyle/>
          <a:p>
            <a:pPr algn="l" marL="686562" indent="-343281" lvl="1">
              <a:lnSpc>
                <a:spcPts val="4452"/>
              </a:lnSpc>
              <a:buFont typeface="Arial"/>
              <a:buChar char="•"/>
            </a:pPr>
            <a:r>
              <a:rPr lang="en-US" sz="3179">
                <a:solidFill>
                  <a:srgbClr val="FFFFFF"/>
                </a:solidFill>
                <a:latin typeface="Montserrat"/>
                <a:ea typeface="Montserrat"/>
                <a:cs typeface="Montserrat"/>
                <a:sym typeface="Montserrat"/>
              </a:rPr>
              <a:t>HẠN CHẾ CÂU HỎI MỞ KHÓ TỔNG HỢP VÀ PHÂN TÍCH</a:t>
            </a:r>
          </a:p>
          <a:p>
            <a:pPr algn="l" marL="686562" indent="-343281" lvl="1">
              <a:lnSpc>
                <a:spcPts val="4452"/>
              </a:lnSpc>
              <a:buFont typeface="Arial"/>
              <a:buChar char="•"/>
            </a:pPr>
            <a:r>
              <a:rPr lang="en-US" sz="3179">
                <a:solidFill>
                  <a:srgbClr val="FFFFFF"/>
                </a:solidFill>
                <a:latin typeface="Montserrat"/>
                <a:ea typeface="Montserrat"/>
                <a:cs typeface="Montserrat"/>
                <a:sym typeface="Montserrat"/>
              </a:rPr>
              <a:t>Hạn chế các câu hỏi dễ gây lo ngại về bảo mật công việc hoặc các vấn đề tiêu cực khác</a:t>
            </a:r>
          </a:p>
          <a:p>
            <a:pPr algn="l" marL="686562" indent="-343281" lvl="1">
              <a:lnSpc>
                <a:spcPts val="4452"/>
              </a:lnSpc>
              <a:buFont typeface="Arial"/>
              <a:buChar char="•"/>
            </a:pPr>
            <a:r>
              <a:rPr lang="en-US" sz="3179">
                <a:solidFill>
                  <a:srgbClr val="FFFFFF"/>
                </a:solidFill>
                <a:latin typeface="Montserrat"/>
                <a:ea typeface="Montserrat"/>
                <a:cs typeface="Montserrat"/>
                <a:sym typeface="Montserrat"/>
              </a:rPr>
              <a:t>Thêm phần cuối để người tham gia góp ý chung</a:t>
            </a:r>
          </a:p>
          <a:p>
            <a:pPr algn="l" marL="686562" indent="-343281" lvl="1">
              <a:lnSpc>
                <a:spcPts val="4452"/>
              </a:lnSpc>
              <a:buFont typeface="Arial"/>
              <a:buChar char="•"/>
            </a:pPr>
            <a:r>
              <a:rPr lang="en-US" sz="3179">
                <a:solidFill>
                  <a:srgbClr val="FFFFFF"/>
                </a:solidFill>
                <a:latin typeface="Montserrat"/>
                <a:ea typeface="Montserrat"/>
                <a:cs typeface="Montserrat"/>
                <a:sym typeface="Montserrat"/>
              </a:rPr>
              <a:t>Thử nghiệm bảng câu hỏi với một nhóm nhỏ trước khi phát hành rộng rãi</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grpSp>
        <p:nvGrpSpPr>
          <p:cNvPr name="Group 2" id="2"/>
          <p:cNvGrpSpPr/>
          <p:nvPr/>
        </p:nvGrpSpPr>
        <p:grpSpPr>
          <a:xfrm rot="0">
            <a:off x="0" y="2084857"/>
            <a:ext cx="6419044" cy="641904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2"/>
              <a:stretch>
                <a:fillRect l="-25046" t="0" r="-25046" b="0"/>
              </a:stretch>
            </a:blipFill>
            <a:ln w="180975" cap="sq">
              <a:solidFill>
                <a:srgbClr val="FFFFFF"/>
              </a:solidFill>
              <a:prstDash val="solid"/>
              <a:miter/>
            </a:ln>
          </p:spPr>
        </p:sp>
      </p:grpSp>
      <p:grpSp>
        <p:nvGrpSpPr>
          <p:cNvPr name="Group 4" id="4"/>
          <p:cNvGrpSpPr/>
          <p:nvPr/>
        </p:nvGrpSpPr>
        <p:grpSpPr>
          <a:xfrm rot="0">
            <a:off x="2929352" y="1453751"/>
            <a:ext cx="3689749" cy="368974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3"/>
              <a:stretch>
                <a:fillRect l="-25046" t="0" r="-25046" b="0"/>
              </a:stretch>
            </a:blipFill>
            <a:ln w="180975" cap="sq">
              <a:solidFill>
                <a:srgbClr val="FFFFFF"/>
              </a:solidFill>
              <a:prstDash val="solid"/>
              <a:miter/>
            </a:ln>
          </p:spPr>
        </p:sp>
      </p:grpSp>
      <p:sp>
        <p:nvSpPr>
          <p:cNvPr name="Freeform 6" id="6"/>
          <p:cNvSpPr/>
          <p:nvPr/>
        </p:nvSpPr>
        <p:spPr>
          <a:xfrm flipH="false" flipV="false" rot="0">
            <a:off x="12088642" y="451672"/>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32037" y="8846147"/>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6783180" y="2303932"/>
            <a:ext cx="10610924" cy="991236"/>
          </a:xfrm>
          <a:prstGeom prst="rect">
            <a:avLst/>
          </a:prstGeom>
        </p:spPr>
        <p:txBody>
          <a:bodyPr anchor="t" rtlCol="false" tIns="0" lIns="0" bIns="0" rIns="0">
            <a:spAutoFit/>
          </a:bodyPr>
          <a:lstStyle/>
          <a:p>
            <a:pPr algn="l">
              <a:lnSpc>
                <a:spcPts val="7120"/>
              </a:lnSpc>
            </a:pPr>
            <a:r>
              <a:rPr lang="en-US" sz="8000" b="true">
                <a:solidFill>
                  <a:srgbClr val="FFFFFF"/>
                </a:solidFill>
                <a:latin typeface="Barlow Bold"/>
                <a:ea typeface="Barlow Bold"/>
                <a:cs typeface="Barlow Bold"/>
                <a:sym typeface="Barlow Bold"/>
              </a:rPr>
              <a:t>ƯU VÀ NHƯỢC ĐIỂM</a:t>
            </a:r>
          </a:p>
        </p:txBody>
      </p:sp>
      <p:sp>
        <p:nvSpPr>
          <p:cNvPr name="TextBox 9" id="9"/>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grpSp>
        <p:nvGrpSpPr>
          <p:cNvPr name="Group 2" id="2"/>
          <p:cNvGrpSpPr/>
          <p:nvPr/>
        </p:nvGrpSpPr>
        <p:grpSpPr>
          <a:xfrm rot="0">
            <a:off x="569376" y="1933978"/>
            <a:ext cx="6419044" cy="641904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2"/>
              <a:stretch>
                <a:fillRect l="-25046" t="0" r="-25046" b="0"/>
              </a:stretch>
            </a:blipFill>
            <a:ln w="85725" cap="sq">
              <a:solidFill>
                <a:srgbClr val="FFFFFF"/>
              </a:solidFill>
              <a:prstDash val="solid"/>
              <a:miter/>
            </a:ln>
          </p:spPr>
        </p:sp>
      </p:grpSp>
      <p:grpSp>
        <p:nvGrpSpPr>
          <p:cNvPr name="Group 4" id="4"/>
          <p:cNvGrpSpPr/>
          <p:nvPr/>
        </p:nvGrpSpPr>
        <p:grpSpPr>
          <a:xfrm rot="0">
            <a:off x="1181100" y="5448300"/>
            <a:ext cx="3057122" cy="305712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3"/>
              <a:stretch>
                <a:fillRect l="-25046" t="0" r="-25046" b="0"/>
              </a:stretch>
            </a:blipFill>
            <a:ln w="85725" cap="sq">
              <a:solidFill>
                <a:srgbClr val="FFFFFF"/>
              </a:solidFill>
              <a:prstDash val="solid"/>
              <a:miter/>
            </a:ln>
          </p:spPr>
        </p:sp>
      </p:grpSp>
      <p:sp>
        <p:nvSpPr>
          <p:cNvPr name="Freeform 6" id="6"/>
          <p:cNvSpPr/>
          <p:nvPr/>
        </p:nvSpPr>
        <p:spPr>
          <a:xfrm flipH="false" flipV="false" rot="0">
            <a:off x="11249180" y="240194"/>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01741" y="8653250"/>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sp>
        <p:nvSpPr>
          <p:cNvPr name="TextBox 9" id="9"/>
          <p:cNvSpPr txBox="true"/>
          <p:nvPr/>
        </p:nvSpPr>
        <p:spPr>
          <a:xfrm rot="0">
            <a:off x="6783180" y="2303932"/>
            <a:ext cx="10610924" cy="991236"/>
          </a:xfrm>
          <a:prstGeom prst="rect">
            <a:avLst/>
          </a:prstGeom>
        </p:spPr>
        <p:txBody>
          <a:bodyPr anchor="t" rtlCol="false" tIns="0" lIns="0" bIns="0" rIns="0">
            <a:spAutoFit/>
          </a:bodyPr>
          <a:lstStyle/>
          <a:p>
            <a:pPr algn="l">
              <a:lnSpc>
                <a:spcPts val="7120"/>
              </a:lnSpc>
            </a:pPr>
            <a:r>
              <a:rPr lang="en-US" sz="8000" b="true">
                <a:solidFill>
                  <a:srgbClr val="FFFFFF"/>
                </a:solidFill>
                <a:latin typeface="Barlow Bold"/>
                <a:ea typeface="Barlow Bold"/>
                <a:cs typeface="Barlow Bold"/>
                <a:sym typeface="Barlow Bold"/>
              </a:rPr>
              <a:t>ƯU ĐIỂM</a:t>
            </a:r>
          </a:p>
        </p:txBody>
      </p:sp>
      <p:sp>
        <p:nvSpPr>
          <p:cNvPr name="TextBox 10" id="10"/>
          <p:cNvSpPr txBox="true"/>
          <p:nvPr/>
        </p:nvSpPr>
        <p:spPr>
          <a:xfrm rot="0">
            <a:off x="6783180" y="3566824"/>
            <a:ext cx="9428795" cy="547878"/>
          </a:xfrm>
          <a:prstGeom prst="rect">
            <a:avLst/>
          </a:prstGeom>
        </p:spPr>
        <p:txBody>
          <a:bodyPr anchor="t" rtlCol="false" tIns="0" lIns="0" bIns="0" rIns="0">
            <a:spAutoFit/>
          </a:bodyPr>
          <a:lstStyle/>
          <a:p>
            <a:pPr algn="l" marL="686562" indent="-343281" lvl="1">
              <a:lnSpc>
                <a:spcPts val="4452"/>
              </a:lnSpc>
              <a:buFont typeface="Arial"/>
              <a:buChar char="•"/>
            </a:pPr>
            <a:r>
              <a:rPr lang="en-US" sz="3179" spc="-174">
                <a:solidFill>
                  <a:srgbClr val="FFFFFF"/>
                </a:solidFill>
                <a:latin typeface="Montserrat"/>
                <a:ea typeface="Montserrat"/>
                <a:cs typeface="Montserrat"/>
                <a:sym typeface="Montserrat"/>
              </a:rPr>
              <a:t>TÍNH ẨN DANH</a:t>
            </a:r>
          </a:p>
        </p:txBody>
      </p:sp>
      <p:sp>
        <p:nvSpPr>
          <p:cNvPr name="TextBox 11" id="11"/>
          <p:cNvSpPr txBox="true"/>
          <p:nvPr/>
        </p:nvSpPr>
        <p:spPr>
          <a:xfrm rot="0">
            <a:off x="6783180" y="4390927"/>
            <a:ext cx="9634034" cy="547878"/>
          </a:xfrm>
          <a:prstGeom prst="rect">
            <a:avLst/>
          </a:prstGeom>
        </p:spPr>
        <p:txBody>
          <a:bodyPr anchor="t" rtlCol="false" tIns="0" lIns="0" bIns="0" rIns="0">
            <a:spAutoFit/>
          </a:bodyPr>
          <a:lstStyle/>
          <a:p>
            <a:pPr algn="l" marL="686562" indent="-343281" lvl="1">
              <a:lnSpc>
                <a:spcPts val="4452"/>
              </a:lnSpc>
              <a:buFont typeface="Arial"/>
              <a:buChar char="•"/>
            </a:pPr>
            <a:r>
              <a:rPr lang="en-US" sz="3179" spc="-174">
                <a:solidFill>
                  <a:srgbClr val="FFFFFF"/>
                </a:solidFill>
                <a:latin typeface="Montserrat"/>
                <a:ea typeface="Montserrat"/>
                <a:cs typeface="Montserrat"/>
                <a:sym typeface="Montserrat"/>
              </a:rPr>
              <a:t>TỐC ĐỘ</a:t>
            </a:r>
          </a:p>
        </p:txBody>
      </p:sp>
      <p:sp>
        <p:nvSpPr>
          <p:cNvPr name="TextBox 12" id="12"/>
          <p:cNvSpPr txBox="true"/>
          <p:nvPr/>
        </p:nvSpPr>
        <p:spPr>
          <a:xfrm rot="0">
            <a:off x="6783180" y="5215030"/>
            <a:ext cx="9634034" cy="547878"/>
          </a:xfrm>
          <a:prstGeom prst="rect">
            <a:avLst/>
          </a:prstGeom>
        </p:spPr>
        <p:txBody>
          <a:bodyPr anchor="t" rtlCol="false" tIns="0" lIns="0" bIns="0" rIns="0">
            <a:spAutoFit/>
          </a:bodyPr>
          <a:lstStyle/>
          <a:p>
            <a:pPr algn="l" marL="686562" indent="-343281" lvl="1">
              <a:lnSpc>
                <a:spcPts val="4452"/>
              </a:lnSpc>
              <a:buFont typeface="Arial"/>
              <a:buChar char="•"/>
            </a:pPr>
            <a:r>
              <a:rPr lang="en-US" sz="3179" spc="-174">
                <a:solidFill>
                  <a:srgbClr val="FFFFFF"/>
                </a:solidFill>
                <a:latin typeface="Montserrat"/>
                <a:ea typeface="Montserrat"/>
                <a:cs typeface="Montserrat"/>
                <a:sym typeface="Montserrat"/>
              </a:rPr>
              <a:t>TÍNH ĐỒNG NHẤT</a:t>
            </a:r>
          </a:p>
        </p:txBody>
      </p:sp>
      <p:sp>
        <p:nvSpPr>
          <p:cNvPr name="TextBox 13" id="13"/>
          <p:cNvSpPr txBox="true"/>
          <p:nvPr/>
        </p:nvSpPr>
        <p:spPr>
          <a:xfrm rot="0">
            <a:off x="6783180" y="6039133"/>
            <a:ext cx="9634034" cy="547878"/>
          </a:xfrm>
          <a:prstGeom prst="rect">
            <a:avLst/>
          </a:prstGeom>
        </p:spPr>
        <p:txBody>
          <a:bodyPr anchor="t" rtlCol="false" tIns="0" lIns="0" bIns="0" rIns="0">
            <a:spAutoFit/>
          </a:bodyPr>
          <a:lstStyle/>
          <a:p>
            <a:pPr algn="l" marL="686562" indent="-343281" lvl="1">
              <a:lnSpc>
                <a:spcPts val="4452"/>
              </a:lnSpc>
              <a:buFont typeface="Arial"/>
              <a:buChar char="•"/>
            </a:pPr>
            <a:r>
              <a:rPr lang="en-US" sz="3179" spc="-174">
                <a:solidFill>
                  <a:srgbClr val="FFFFFF"/>
                </a:solidFill>
                <a:latin typeface="Montserrat"/>
                <a:ea typeface="Montserrat"/>
                <a:cs typeface="Montserrat"/>
                <a:sym typeface="Montserrat"/>
              </a:rPr>
              <a:t>CHI PHÍ THẤP</a:t>
            </a:r>
          </a:p>
        </p:txBody>
      </p:sp>
      <p:sp>
        <p:nvSpPr>
          <p:cNvPr name="TextBox 14" id="14"/>
          <p:cNvSpPr txBox="true"/>
          <p:nvPr/>
        </p:nvSpPr>
        <p:spPr>
          <a:xfrm rot="0">
            <a:off x="6783180" y="6863236"/>
            <a:ext cx="9634034" cy="547878"/>
          </a:xfrm>
          <a:prstGeom prst="rect">
            <a:avLst/>
          </a:prstGeom>
        </p:spPr>
        <p:txBody>
          <a:bodyPr anchor="t" rtlCol="false" tIns="0" lIns="0" bIns="0" rIns="0">
            <a:spAutoFit/>
          </a:bodyPr>
          <a:lstStyle/>
          <a:p>
            <a:pPr algn="l" marL="686562" indent="-343281" lvl="1">
              <a:lnSpc>
                <a:spcPts val="4452"/>
              </a:lnSpc>
              <a:buFont typeface="Arial"/>
              <a:buChar char="•"/>
            </a:pPr>
            <a:r>
              <a:rPr lang="en-US" sz="3179" spc="-174">
                <a:solidFill>
                  <a:srgbClr val="FFFFFF"/>
                </a:solidFill>
                <a:latin typeface="Montserrat"/>
                <a:ea typeface="Montserrat"/>
                <a:cs typeface="Montserrat"/>
                <a:sym typeface="Montserrat"/>
              </a:rPr>
              <a:t>LINH HOẠT</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11442"/>
        </a:solidFill>
      </p:bgPr>
    </p:bg>
    <p:spTree>
      <p:nvGrpSpPr>
        <p:cNvPr id="1" name=""/>
        <p:cNvGrpSpPr/>
        <p:nvPr/>
      </p:nvGrpSpPr>
      <p:grpSpPr>
        <a:xfrm>
          <a:off x="0" y="0"/>
          <a:ext cx="0" cy="0"/>
          <a:chOff x="0" y="0"/>
          <a:chExt cx="0" cy="0"/>
        </a:xfrm>
      </p:grpSpPr>
      <p:sp>
        <p:nvSpPr>
          <p:cNvPr name="TextBox 2" id="2"/>
          <p:cNvSpPr txBox="true"/>
          <p:nvPr/>
        </p:nvSpPr>
        <p:spPr>
          <a:xfrm rot="0">
            <a:off x="1028700" y="1606347"/>
            <a:ext cx="11362846" cy="991236"/>
          </a:xfrm>
          <a:prstGeom prst="rect">
            <a:avLst/>
          </a:prstGeom>
        </p:spPr>
        <p:txBody>
          <a:bodyPr anchor="t" rtlCol="false" tIns="0" lIns="0" bIns="0" rIns="0">
            <a:spAutoFit/>
          </a:bodyPr>
          <a:lstStyle/>
          <a:p>
            <a:pPr algn="l">
              <a:lnSpc>
                <a:spcPts val="7120"/>
              </a:lnSpc>
            </a:pPr>
            <a:r>
              <a:rPr lang="en-US" sz="8000" b="true">
                <a:solidFill>
                  <a:srgbClr val="FFFFFF"/>
                </a:solidFill>
                <a:latin typeface="Barlow Bold"/>
                <a:ea typeface="Barlow Bold"/>
                <a:cs typeface="Barlow Bold"/>
                <a:sym typeface="Barlow Bold"/>
              </a:rPr>
              <a:t>NHƯỢC ĐIỂM</a:t>
            </a:r>
          </a:p>
        </p:txBody>
      </p:sp>
      <p:sp>
        <p:nvSpPr>
          <p:cNvPr name="Freeform 3" id="3"/>
          <p:cNvSpPr/>
          <p:nvPr/>
        </p:nvSpPr>
        <p:spPr>
          <a:xfrm flipH="false" flipV="false" rot="0">
            <a:off x="417509" y="8653250"/>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grpSp>
        <p:nvGrpSpPr>
          <p:cNvPr name="Group 5" id="5"/>
          <p:cNvGrpSpPr/>
          <p:nvPr/>
        </p:nvGrpSpPr>
        <p:grpSpPr>
          <a:xfrm rot="0">
            <a:off x="12391546" y="5460979"/>
            <a:ext cx="5083834" cy="4402371"/>
            <a:chOff x="0" y="0"/>
            <a:chExt cx="4282440" cy="3708400"/>
          </a:xfrm>
        </p:grpSpPr>
        <p:sp>
          <p:nvSpPr>
            <p:cNvPr name="Freeform 6" id="6"/>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4"/>
              <a:stretch>
                <a:fillRect l="-14987" t="0" r="-14987" b="0"/>
              </a:stretch>
            </a:blipFill>
            <a:ln w="57150" cap="sq">
              <a:solidFill>
                <a:srgbClr val="FFFFFF"/>
              </a:solidFill>
              <a:prstDash val="solid"/>
              <a:miter/>
            </a:ln>
          </p:spPr>
        </p:sp>
      </p:grpSp>
      <p:sp>
        <p:nvSpPr>
          <p:cNvPr name="Freeform 7" id="7"/>
          <p:cNvSpPr/>
          <p:nvPr/>
        </p:nvSpPr>
        <p:spPr>
          <a:xfrm flipH="false" flipV="false" rot="0">
            <a:off x="11013416" y="177172"/>
            <a:ext cx="6722778" cy="1210100"/>
          </a:xfrm>
          <a:custGeom>
            <a:avLst/>
            <a:gdLst/>
            <a:ahLst/>
            <a:cxnLst/>
            <a:rect r="r" b="b" t="t" l="l"/>
            <a:pathLst>
              <a:path h="1210100" w="6722778">
                <a:moveTo>
                  <a:pt x="0" y="0"/>
                </a:moveTo>
                <a:lnTo>
                  <a:pt x="6722778" y="0"/>
                </a:lnTo>
                <a:lnTo>
                  <a:pt x="6722778" y="1210100"/>
                </a:lnTo>
                <a:lnTo>
                  <a:pt x="0" y="1210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028700" y="2887186"/>
            <a:ext cx="9428795" cy="547878"/>
          </a:xfrm>
          <a:prstGeom prst="rect">
            <a:avLst/>
          </a:prstGeom>
        </p:spPr>
        <p:txBody>
          <a:bodyPr anchor="t" rtlCol="false" tIns="0" lIns="0" bIns="0" rIns="0">
            <a:spAutoFit/>
          </a:bodyPr>
          <a:lstStyle/>
          <a:p>
            <a:pPr algn="l" marL="686562" indent="-343281" lvl="1">
              <a:lnSpc>
                <a:spcPts val="4452"/>
              </a:lnSpc>
              <a:buFont typeface="Arial"/>
              <a:buChar char="•"/>
            </a:pPr>
            <a:r>
              <a:rPr lang="en-US" sz="3179" spc="-174">
                <a:solidFill>
                  <a:srgbClr val="FFFFFF"/>
                </a:solidFill>
                <a:latin typeface="Montserrat"/>
                <a:ea typeface="Montserrat"/>
                <a:cs typeface="Montserrat"/>
                <a:sym typeface="Montserrat"/>
              </a:rPr>
              <a:t>THIẾU CHUYÊN SÂU</a:t>
            </a:r>
          </a:p>
        </p:txBody>
      </p:sp>
      <p:sp>
        <p:nvSpPr>
          <p:cNvPr name="TextBox 9" id="9"/>
          <p:cNvSpPr txBox="true"/>
          <p:nvPr/>
        </p:nvSpPr>
        <p:spPr>
          <a:xfrm rot="0">
            <a:off x="1028700" y="4382801"/>
            <a:ext cx="9428795" cy="547878"/>
          </a:xfrm>
          <a:prstGeom prst="rect">
            <a:avLst/>
          </a:prstGeom>
        </p:spPr>
        <p:txBody>
          <a:bodyPr anchor="t" rtlCol="false" tIns="0" lIns="0" bIns="0" rIns="0">
            <a:spAutoFit/>
          </a:bodyPr>
          <a:lstStyle/>
          <a:p>
            <a:pPr algn="l" marL="686562" indent="-343281" lvl="1">
              <a:lnSpc>
                <a:spcPts val="4452"/>
              </a:lnSpc>
              <a:buFont typeface="Arial"/>
              <a:buChar char="•"/>
            </a:pPr>
            <a:r>
              <a:rPr lang="en-US" sz="3179" spc="-174">
                <a:solidFill>
                  <a:srgbClr val="FFFFFF"/>
                </a:solidFill>
                <a:latin typeface="Montserrat"/>
                <a:ea typeface="Montserrat"/>
                <a:cs typeface="Montserrat"/>
                <a:sym typeface="Montserrat"/>
              </a:rPr>
              <a:t>TỶ LỆ PHẢN HỒI THẤP</a:t>
            </a:r>
          </a:p>
        </p:txBody>
      </p:sp>
      <p:sp>
        <p:nvSpPr>
          <p:cNvPr name="TextBox 10" id="10"/>
          <p:cNvSpPr txBox="true"/>
          <p:nvPr/>
        </p:nvSpPr>
        <p:spPr>
          <a:xfrm rot="0">
            <a:off x="1028700" y="5878417"/>
            <a:ext cx="9428795" cy="547878"/>
          </a:xfrm>
          <a:prstGeom prst="rect">
            <a:avLst/>
          </a:prstGeom>
        </p:spPr>
        <p:txBody>
          <a:bodyPr anchor="t" rtlCol="false" tIns="0" lIns="0" bIns="0" rIns="0">
            <a:spAutoFit/>
          </a:bodyPr>
          <a:lstStyle/>
          <a:p>
            <a:pPr algn="l" marL="686562" indent="-343281" lvl="1">
              <a:lnSpc>
                <a:spcPts val="4452"/>
              </a:lnSpc>
              <a:buFont typeface="Arial"/>
              <a:buChar char="•"/>
            </a:pPr>
            <a:r>
              <a:rPr lang="en-US" sz="3179" spc="-174">
                <a:solidFill>
                  <a:srgbClr val="FFFFFF"/>
                </a:solidFill>
                <a:latin typeface="Montserrat"/>
                <a:ea typeface="Montserrat"/>
                <a:cs typeface="Montserrat"/>
                <a:sym typeface="Montserrat"/>
              </a:rPr>
              <a:t>KHÔNG PHÙ HỢP VỚI CÁC VẤN ĐỀ TẾ NHỊ</a:t>
            </a:r>
          </a:p>
        </p:txBody>
      </p:sp>
      <p:sp>
        <p:nvSpPr>
          <p:cNvPr name="TextBox 11" id="11"/>
          <p:cNvSpPr txBox="true"/>
          <p:nvPr/>
        </p:nvSpPr>
        <p:spPr>
          <a:xfrm rot="0">
            <a:off x="1028700" y="7378795"/>
            <a:ext cx="9428795" cy="547878"/>
          </a:xfrm>
          <a:prstGeom prst="rect">
            <a:avLst/>
          </a:prstGeom>
        </p:spPr>
        <p:txBody>
          <a:bodyPr anchor="t" rtlCol="false" tIns="0" lIns="0" bIns="0" rIns="0">
            <a:spAutoFit/>
          </a:bodyPr>
          <a:lstStyle/>
          <a:p>
            <a:pPr algn="l" marL="686562" indent="-343281" lvl="1">
              <a:lnSpc>
                <a:spcPts val="4452"/>
              </a:lnSpc>
              <a:buFont typeface="Arial"/>
              <a:buChar char="•"/>
            </a:pPr>
            <a:r>
              <a:rPr lang="en-US" sz="3179" spc="-174">
                <a:solidFill>
                  <a:srgbClr val="FFFFFF"/>
                </a:solidFill>
                <a:latin typeface="Montserrat"/>
                <a:ea typeface="Montserrat"/>
                <a:cs typeface="Montserrat"/>
                <a:sym typeface="Montserrat"/>
              </a:rPr>
              <a:t>THIẾU SỰ TIN CẬY</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4" r="0" b="-814"/>
            </a:stretch>
          </a:blipFill>
        </p:spPr>
      </p:sp>
      <p:sp>
        <p:nvSpPr>
          <p:cNvPr name="TextBox 3" id="3"/>
          <p:cNvSpPr txBox="true"/>
          <p:nvPr/>
        </p:nvSpPr>
        <p:spPr>
          <a:xfrm rot="0">
            <a:off x="1028700" y="896522"/>
            <a:ext cx="2750198" cy="378655"/>
          </a:xfrm>
          <a:prstGeom prst="rect">
            <a:avLst/>
          </a:prstGeom>
        </p:spPr>
        <p:txBody>
          <a:bodyPr anchor="t" rtlCol="false" tIns="0" lIns="0" bIns="0" rIns="0">
            <a:spAutoFit/>
          </a:bodyPr>
          <a:lstStyle/>
          <a:p>
            <a:pPr algn="l" marL="0" indent="0" lvl="1">
              <a:lnSpc>
                <a:spcPts val="2798"/>
              </a:lnSpc>
            </a:pPr>
            <a:r>
              <a:rPr lang="en-US" b="true" sz="3254" spc="-178">
                <a:solidFill>
                  <a:srgbClr val="FFFFFF"/>
                </a:solidFill>
                <a:latin typeface="Montserrat Bold"/>
                <a:ea typeface="Montserrat Bold"/>
                <a:cs typeface="Montserrat Bold"/>
                <a:sym typeface="Montserrat Bold"/>
              </a:rPr>
              <a:t>NHÓM 3</a:t>
            </a:r>
          </a:p>
        </p:txBody>
      </p:sp>
      <p:sp>
        <p:nvSpPr>
          <p:cNvPr name="TextBox 4" id="4"/>
          <p:cNvSpPr txBox="true"/>
          <p:nvPr/>
        </p:nvSpPr>
        <p:spPr>
          <a:xfrm rot="0">
            <a:off x="1332361" y="4304766"/>
            <a:ext cx="15623279" cy="1349785"/>
          </a:xfrm>
          <a:prstGeom prst="rect">
            <a:avLst/>
          </a:prstGeom>
        </p:spPr>
        <p:txBody>
          <a:bodyPr anchor="t" rtlCol="false" tIns="0" lIns="0" bIns="0" rIns="0">
            <a:spAutoFit/>
          </a:bodyPr>
          <a:lstStyle/>
          <a:p>
            <a:pPr algn="ctr">
              <a:lnSpc>
                <a:spcPts val="9789"/>
              </a:lnSpc>
            </a:pPr>
            <a:r>
              <a:rPr lang="en-US" b="true" sz="10999">
                <a:solidFill>
                  <a:srgbClr val="FFFFFF"/>
                </a:solidFill>
                <a:latin typeface="Barlow Bold"/>
                <a:ea typeface="Barlow Bold"/>
                <a:cs typeface="Barlow Bold"/>
                <a:sym typeface="Barlow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DAGb21wKbDo</dc:identifier>
  <dcterms:modified xsi:type="dcterms:W3CDTF">2011-08-01T06:04:30Z</dcterms:modified>
  <cp:revision>1</cp:revision>
  <dc:title>Questionnaire and survey</dc:title>
</cp:coreProperties>
</file>