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60" r:id="rId3"/>
    <p:sldId id="257" r:id="rId4"/>
    <p:sldId id="258" r:id="rId5"/>
    <p:sldId id="259" r:id="rId6"/>
    <p:sldId id="275" r:id="rId7"/>
    <p:sldId id="261" r:id="rId8"/>
    <p:sldId id="262" r:id="rId9"/>
    <p:sldId id="263" r:id="rId10"/>
    <p:sldId id="264" r:id="rId11"/>
    <p:sldId id="274" r:id="rId12"/>
  </p:sldIdLst>
  <p:sldSz cx="18288000" cy="10287000"/>
  <p:notesSz cx="6858000" cy="9144000"/>
  <p:embeddedFontLst>
    <p:embeddedFont>
      <p:font typeface="Cabin" panose="020B0604020202020204" charset="0"/>
      <p:regular r:id="rId14"/>
    </p:embeddedFont>
    <p:embeddedFont>
      <p:font typeface="SimSun" panose="02010600030101010101" pitchFamily="2" charset="-122"/>
      <p:regular r:id="rId15"/>
    </p:embeddedFont>
    <p:embeddedFont>
      <p:font typeface="Calibri" panose="020F0502020204030204" pitchFamily="34" charset="0"/>
      <p:regular r:id="rId16"/>
      <p:bold r:id="rId17"/>
      <p:italic r:id="rId18"/>
      <p:boldItalic r:id="rId19"/>
    </p:embeddedFont>
    <p:embeddedFont>
      <p:font typeface="Cabin Medium"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extLst>
      <p:ext uri="{19B8F6BF-5375-455C-9EA6-DF929625EA0E}">
        <p15:presenceInfo xmlns:p15="http://schemas.microsoft.com/office/powerpoint/2012/main" userId="104e58e8f5a9188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3" d="100"/>
          <a:sy n="63" d="100"/>
        </p:scale>
        <p:origin x="77"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91C35A-5D95-4E15-995A-075AFD0208F0}" type="datetimeFigureOut">
              <a:rPr lang="en-US" smtClean="0"/>
              <a:t>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522EFD-0261-407A-81EC-6657ED6440D9}" type="slidenum">
              <a:rPr lang="en-US" smtClean="0"/>
              <a:t>‹#›</a:t>
            </a:fld>
            <a:endParaRPr lang="en-US"/>
          </a:p>
        </p:txBody>
      </p:sp>
    </p:spTree>
    <p:extLst>
      <p:ext uri="{BB962C8B-B14F-4D97-AF65-F5344CB8AC3E}">
        <p14:creationId xmlns:p14="http://schemas.microsoft.com/office/powerpoint/2010/main" val="1289420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522EFD-0261-407A-81EC-6657ED6440D9}" type="slidenum">
              <a:rPr lang="en-US" smtClean="0"/>
              <a:t>2</a:t>
            </a:fld>
            <a:endParaRPr lang="en-US"/>
          </a:p>
        </p:txBody>
      </p:sp>
    </p:spTree>
    <p:extLst>
      <p:ext uri="{BB962C8B-B14F-4D97-AF65-F5344CB8AC3E}">
        <p14:creationId xmlns:p14="http://schemas.microsoft.com/office/powerpoint/2010/main" val="1362331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522EFD-0261-407A-81EC-6657ED6440D9}" type="slidenum">
              <a:rPr lang="en-US" smtClean="0"/>
              <a:t>7</a:t>
            </a:fld>
            <a:endParaRPr lang="en-US"/>
          </a:p>
        </p:txBody>
      </p:sp>
    </p:spTree>
    <p:extLst>
      <p:ext uri="{BB962C8B-B14F-4D97-AF65-F5344CB8AC3E}">
        <p14:creationId xmlns:p14="http://schemas.microsoft.com/office/powerpoint/2010/main" val="1144082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10.jpeg"/><Relationship Id="rId7"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240" y="0"/>
            <a:ext cx="18272760" cy="10287000"/>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dirty="0"/>
          </a:p>
        </p:txBody>
      </p:sp>
      <p:sp>
        <p:nvSpPr>
          <p:cNvPr id="6" name="TextBox 6"/>
          <p:cNvSpPr txBox="1"/>
          <p:nvPr/>
        </p:nvSpPr>
        <p:spPr>
          <a:xfrm>
            <a:off x="5128297" y="3696489"/>
            <a:ext cx="6898824" cy="1382623"/>
          </a:xfrm>
          <a:prstGeom prst="rect">
            <a:avLst/>
          </a:prstGeom>
        </p:spPr>
        <p:txBody>
          <a:bodyPr lIns="0" tIns="0" rIns="0" bIns="0" rtlCol="0" anchor="t">
            <a:spAutoFit/>
          </a:bodyPr>
          <a:lstStyle/>
          <a:p>
            <a:pPr algn="ctr">
              <a:lnSpc>
                <a:spcPts val="12416"/>
              </a:lnSpc>
              <a:spcBef>
                <a:spcPct val="0"/>
              </a:spcBef>
            </a:pPr>
            <a:r>
              <a:rPr lang="en-US" sz="6000" b="1" dirty="0">
                <a:solidFill>
                  <a:srgbClr val="3C3C3D"/>
                </a:solidFill>
                <a:latin typeface="Cabin Medium"/>
                <a:ea typeface="Cabin Medium"/>
                <a:cs typeface="Cabin Medium"/>
                <a:sym typeface="Cabin Medium"/>
              </a:rPr>
              <a:t>BÀI BÁO CÁO</a:t>
            </a:r>
          </a:p>
        </p:txBody>
      </p:sp>
      <p:sp>
        <p:nvSpPr>
          <p:cNvPr id="8" name="Freeform 8"/>
          <p:cNvSpPr/>
          <p:nvPr/>
        </p:nvSpPr>
        <p:spPr>
          <a:xfrm>
            <a:off x="16241448" y="904869"/>
            <a:ext cx="2895048" cy="3421643"/>
          </a:xfrm>
          <a:custGeom>
            <a:avLst/>
            <a:gdLst/>
            <a:ahLst/>
            <a:cxnLst/>
            <a:rect l="l" t="t" r="r" b="b"/>
            <a:pathLst>
              <a:path w="2895048" h="3421643">
                <a:moveTo>
                  <a:pt x="0" y="0"/>
                </a:moveTo>
                <a:lnTo>
                  <a:pt x="2895048" y="0"/>
                </a:lnTo>
                <a:lnTo>
                  <a:pt x="2895048" y="3421643"/>
                </a:lnTo>
                <a:lnTo>
                  <a:pt x="0" y="3421643"/>
                </a:lnTo>
                <a:lnTo>
                  <a:pt x="0" y="0"/>
                </a:lnTo>
                <a:close/>
              </a:path>
            </a:pathLst>
          </a:custGeom>
          <a:blipFill>
            <a:blip r:embed="rId4">
              <a:alphaModFix amt="81000"/>
            </a:blip>
            <a:stretch>
              <a:fillRect/>
            </a:stretch>
          </a:blipFill>
        </p:spPr>
      </p:sp>
      <p:sp>
        <p:nvSpPr>
          <p:cNvPr id="10" name="TextBox 10"/>
          <p:cNvSpPr txBox="1"/>
          <p:nvPr/>
        </p:nvSpPr>
        <p:spPr>
          <a:xfrm>
            <a:off x="1676400" y="5359115"/>
            <a:ext cx="14713633" cy="2333972"/>
          </a:xfrm>
          <a:prstGeom prst="rect">
            <a:avLst/>
          </a:prstGeom>
        </p:spPr>
        <p:txBody>
          <a:bodyPr wrap="square" lIns="0" tIns="0" rIns="0" bIns="0" rtlCol="0" anchor="t">
            <a:spAutoFit/>
          </a:bodyPr>
          <a:lstStyle/>
          <a:p>
            <a:pPr algn="ctr">
              <a:lnSpc>
                <a:spcPts val="9121"/>
              </a:lnSpc>
            </a:pPr>
            <a:r>
              <a:rPr lang="en-US" sz="6600" b="1" spc="-145" dirty="0" smtClean="0">
                <a:solidFill>
                  <a:srgbClr val="3C3C3D"/>
                </a:solidFill>
                <a:latin typeface="Cabin Medium"/>
                <a:ea typeface="Cabin Medium"/>
                <a:cs typeface="Cabin Medium"/>
                <a:sym typeface="Cabin Medium"/>
              </a:rPr>
              <a:t>CHỦ ĐỀ: </a:t>
            </a:r>
            <a:r>
              <a:rPr lang="en-US" sz="6600" b="1" spc="-145" dirty="0">
                <a:solidFill>
                  <a:srgbClr val="3C3C3D"/>
                </a:solidFill>
                <a:latin typeface="Cabin Medium"/>
                <a:ea typeface="Cabin Medium"/>
                <a:cs typeface="Cabin Medium"/>
                <a:sym typeface="Cabin Medium"/>
              </a:rPr>
              <a:t> </a:t>
            </a:r>
            <a:r>
              <a:rPr lang="en-US" sz="6600" b="1" spc="-145" dirty="0" smtClean="0">
                <a:solidFill>
                  <a:srgbClr val="3C3C3D"/>
                </a:solidFill>
                <a:latin typeface="Cabin Medium"/>
                <a:ea typeface="Cabin Medium"/>
                <a:cs typeface="Cabin Medium"/>
                <a:sym typeface="Cabin Medium"/>
              </a:rPr>
              <a:t>JOINT </a:t>
            </a:r>
            <a:r>
              <a:rPr lang="en-US" sz="6600" b="1" spc="-145" dirty="0">
                <a:solidFill>
                  <a:srgbClr val="3C3C3D"/>
                </a:solidFill>
                <a:latin typeface="Cabin Medium"/>
                <a:ea typeface="Cabin Medium"/>
                <a:cs typeface="Cabin Medium"/>
                <a:sym typeface="Cabin Medium"/>
              </a:rPr>
              <a:t>APPLICATION DEVELOPMENT </a:t>
            </a:r>
          </a:p>
        </p:txBody>
      </p:sp>
      <p:sp>
        <p:nvSpPr>
          <p:cNvPr id="11" name="TextBox 10"/>
          <p:cNvSpPr txBox="1"/>
          <p:nvPr/>
        </p:nvSpPr>
        <p:spPr>
          <a:xfrm>
            <a:off x="15232407" y="9279807"/>
            <a:ext cx="3638543" cy="1015663"/>
          </a:xfrm>
          <a:prstGeom prst="rect">
            <a:avLst/>
          </a:prstGeom>
          <a:noFill/>
        </p:spPr>
        <p:txBody>
          <a:bodyPr wrap="square" rtlCol="0">
            <a:spAutoFit/>
          </a:bodyPr>
          <a:lstStyle/>
          <a:p>
            <a:r>
              <a:rPr lang="en-US" sz="6000" dirty="0" smtClean="0"/>
              <a:t>NHÓM 5</a:t>
            </a:r>
            <a:endParaRPr lang="en-US" sz="6000" dirty="0"/>
          </a:p>
        </p:txBody>
      </p:sp>
      <p:sp>
        <p:nvSpPr>
          <p:cNvPr id="12" name="TextBox 11"/>
          <p:cNvSpPr txBox="1"/>
          <p:nvPr/>
        </p:nvSpPr>
        <p:spPr>
          <a:xfrm>
            <a:off x="4009032" y="278051"/>
            <a:ext cx="11154372" cy="1015663"/>
          </a:xfrm>
          <a:prstGeom prst="rect">
            <a:avLst/>
          </a:prstGeom>
          <a:noFill/>
        </p:spPr>
        <p:txBody>
          <a:bodyPr wrap="square" rtlCol="0">
            <a:spAutoFit/>
          </a:bodyPr>
          <a:lstStyle/>
          <a:p>
            <a:r>
              <a:rPr lang="en-US" sz="6000" dirty="0" smtClean="0"/>
              <a:t>PHÂN TÍCH VÀ QUẢN LÝ YÊU CẦU</a:t>
            </a:r>
            <a:endParaRPr lang="en-US" sz="6000" dirty="0"/>
          </a:p>
        </p:txBody>
      </p:sp>
      <p:sp>
        <p:nvSpPr>
          <p:cNvPr id="13" name="TextBox 12"/>
          <p:cNvSpPr txBox="1"/>
          <p:nvPr/>
        </p:nvSpPr>
        <p:spPr>
          <a:xfrm>
            <a:off x="6217920" y="1342668"/>
            <a:ext cx="5867400" cy="646331"/>
          </a:xfrm>
          <a:prstGeom prst="rect">
            <a:avLst/>
          </a:prstGeom>
          <a:noFill/>
        </p:spPr>
        <p:txBody>
          <a:bodyPr wrap="square" rtlCol="0">
            <a:spAutoFit/>
          </a:bodyPr>
          <a:lstStyle/>
          <a:p>
            <a:r>
              <a:rPr lang="en-US" sz="3600" dirty="0" err="1" smtClean="0"/>
              <a:t>Giảng</a:t>
            </a:r>
            <a:r>
              <a:rPr lang="en-US" sz="3600" dirty="0" smtClean="0"/>
              <a:t> </a:t>
            </a:r>
            <a:r>
              <a:rPr lang="en-US" sz="3600" dirty="0" err="1" smtClean="0"/>
              <a:t>viên</a:t>
            </a:r>
            <a:r>
              <a:rPr lang="en-US" sz="3600" dirty="0" smtClean="0"/>
              <a:t>: </a:t>
            </a:r>
            <a:r>
              <a:rPr lang="en-US" sz="3600" dirty="0"/>
              <a:t> </a:t>
            </a:r>
            <a:r>
              <a:rPr lang="en-US" sz="3600" dirty="0" err="1"/>
              <a:t>Lê</a:t>
            </a:r>
            <a:r>
              <a:rPr lang="en-US" sz="3600" dirty="0"/>
              <a:t> </a:t>
            </a:r>
            <a:r>
              <a:rPr lang="en-US" sz="3600" dirty="0" err="1"/>
              <a:t>Thị</a:t>
            </a:r>
            <a:r>
              <a:rPr lang="en-US" sz="3600" dirty="0"/>
              <a:t> </a:t>
            </a:r>
            <a:r>
              <a:rPr lang="en-US" sz="3600" dirty="0" err="1"/>
              <a:t>Ánh</a:t>
            </a:r>
            <a:r>
              <a:rPr lang="en-US" sz="3600" dirty="0"/>
              <a:t> </a:t>
            </a:r>
            <a:r>
              <a:rPr lang="en-US" sz="3600" dirty="0" err="1"/>
              <a:t>Tuyết</a:t>
            </a:r>
            <a:endParaRPr lang="en-US" sz="3600" dirty="0"/>
          </a:p>
        </p:txBody>
      </p:sp>
      <p:sp>
        <p:nvSpPr>
          <p:cNvPr id="14" name="TextBox 13"/>
          <p:cNvSpPr txBox="1"/>
          <p:nvPr/>
        </p:nvSpPr>
        <p:spPr>
          <a:xfrm>
            <a:off x="6217920" y="2015093"/>
            <a:ext cx="6172200" cy="646331"/>
          </a:xfrm>
          <a:prstGeom prst="rect">
            <a:avLst/>
          </a:prstGeom>
          <a:noFill/>
        </p:spPr>
        <p:txBody>
          <a:bodyPr wrap="square" rtlCol="0">
            <a:spAutoFit/>
          </a:bodyPr>
          <a:lstStyle/>
          <a:p>
            <a:r>
              <a:rPr lang="en-US" sz="3600" dirty="0" err="1" smtClean="0"/>
              <a:t>Lớp</a:t>
            </a:r>
            <a:r>
              <a:rPr lang="en-US" sz="3600" dirty="0" smtClean="0"/>
              <a:t> </a:t>
            </a:r>
            <a:r>
              <a:rPr lang="en-US" sz="3600" dirty="0" err="1" smtClean="0"/>
              <a:t>học</a:t>
            </a:r>
            <a:r>
              <a:rPr lang="en-US" sz="3600" dirty="0" smtClean="0"/>
              <a:t> </a:t>
            </a:r>
            <a:r>
              <a:rPr lang="en-US" sz="3600" dirty="0" err="1" smtClean="0"/>
              <a:t>phần</a:t>
            </a:r>
            <a:r>
              <a:rPr lang="en-US" sz="3600" dirty="0" smtClean="0"/>
              <a:t>: </a:t>
            </a:r>
            <a:r>
              <a:rPr lang="en-US" sz="3600" dirty="0"/>
              <a:t>DHHTTT19A</a:t>
            </a: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5" name="Freeform 5"/>
          <p:cNvSpPr/>
          <p:nvPr/>
        </p:nvSpPr>
        <p:spPr>
          <a:xfrm rot="-1747344">
            <a:off x="11731227" y="5934226"/>
            <a:ext cx="2694527" cy="3729450"/>
          </a:xfrm>
          <a:custGeom>
            <a:avLst/>
            <a:gdLst/>
            <a:ahLst/>
            <a:cxnLst/>
            <a:rect l="l" t="t" r="r" b="b"/>
            <a:pathLst>
              <a:path w="2694527" h="3729450">
                <a:moveTo>
                  <a:pt x="0" y="0"/>
                </a:moveTo>
                <a:lnTo>
                  <a:pt x="2694528" y="0"/>
                </a:lnTo>
                <a:lnTo>
                  <a:pt x="2694528" y="3729449"/>
                </a:lnTo>
                <a:lnTo>
                  <a:pt x="0" y="3729449"/>
                </a:lnTo>
                <a:lnTo>
                  <a:pt x="0" y="0"/>
                </a:lnTo>
                <a:close/>
              </a:path>
            </a:pathLst>
          </a:custGeom>
          <a:blipFill>
            <a:blip r:embed="rId3">
              <a:alphaModFix amt="71000"/>
            </a:blip>
            <a:stretch>
              <a:fillRect/>
            </a:stretch>
          </a:blipFill>
        </p:spPr>
      </p:sp>
      <p:sp>
        <p:nvSpPr>
          <p:cNvPr id="9" name="Freeform 9"/>
          <p:cNvSpPr/>
          <p:nvPr/>
        </p:nvSpPr>
        <p:spPr>
          <a:xfrm rot="-5400000">
            <a:off x="13697798" y="882777"/>
            <a:ext cx="2024790" cy="2802477"/>
          </a:xfrm>
          <a:custGeom>
            <a:avLst/>
            <a:gdLst/>
            <a:ahLst/>
            <a:cxnLst/>
            <a:rect l="l" t="t" r="r" b="b"/>
            <a:pathLst>
              <a:path w="2024790" h="2802477">
                <a:moveTo>
                  <a:pt x="0" y="0"/>
                </a:moveTo>
                <a:lnTo>
                  <a:pt x="2024790" y="0"/>
                </a:lnTo>
                <a:lnTo>
                  <a:pt x="2024790" y="2802477"/>
                </a:lnTo>
                <a:lnTo>
                  <a:pt x="0" y="2802477"/>
                </a:lnTo>
                <a:lnTo>
                  <a:pt x="0" y="0"/>
                </a:lnTo>
                <a:close/>
              </a:path>
            </a:pathLst>
          </a:custGeom>
          <a:blipFill>
            <a:blip r:embed="rId4"/>
            <a:stretch>
              <a:fillRect/>
            </a:stretch>
          </a:blipFill>
        </p:spPr>
      </p:sp>
      <p:sp>
        <p:nvSpPr>
          <p:cNvPr id="10" name="Freeform 10"/>
          <p:cNvSpPr/>
          <p:nvPr/>
        </p:nvSpPr>
        <p:spPr>
          <a:xfrm rot="-5142229">
            <a:off x="14562254" y="7639309"/>
            <a:ext cx="3532033" cy="4888628"/>
          </a:xfrm>
          <a:custGeom>
            <a:avLst/>
            <a:gdLst/>
            <a:ahLst/>
            <a:cxnLst/>
            <a:rect l="l" t="t" r="r" b="b"/>
            <a:pathLst>
              <a:path w="3532033" h="4888628">
                <a:moveTo>
                  <a:pt x="0" y="0"/>
                </a:moveTo>
                <a:lnTo>
                  <a:pt x="3532034" y="0"/>
                </a:lnTo>
                <a:lnTo>
                  <a:pt x="3532034" y="4888628"/>
                </a:lnTo>
                <a:lnTo>
                  <a:pt x="0" y="4888628"/>
                </a:lnTo>
                <a:lnTo>
                  <a:pt x="0" y="0"/>
                </a:lnTo>
                <a:close/>
              </a:path>
            </a:pathLst>
          </a:custGeom>
          <a:blipFill>
            <a:blip r:embed="rId4"/>
            <a:stretch>
              <a:fillRect/>
            </a:stretch>
          </a:blipFill>
        </p:spPr>
      </p:sp>
      <p:sp>
        <p:nvSpPr>
          <p:cNvPr id="20" name="TextBox 20"/>
          <p:cNvSpPr txBox="1"/>
          <p:nvPr/>
        </p:nvSpPr>
        <p:spPr>
          <a:xfrm>
            <a:off x="838200" y="2122212"/>
            <a:ext cx="10371865" cy="1384995"/>
          </a:xfrm>
          <a:prstGeom prst="rect">
            <a:avLst/>
          </a:prstGeom>
        </p:spPr>
        <p:txBody>
          <a:bodyPr lIns="0" tIns="0" rIns="0" bIns="0" rtlCol="0" anchor="t">
            <a:spAutoFit/>
          </a:bodyPr>
          <a:lstStyle/>
          <a:p>
            <a:pPr marL="0" lvl="0" indent="0" algn="l">
              <a:lnSpc>
                <a:spcPts val="10800"/>
              </a:lnSpc>
              <a:spcBef>
                <a:spcPct val="0"/>
              </a:spcBef>
            </a:pPr>
            <a:r>
              <a:rPr lang="en-US" sz="5000" spc="-179" dirty="0" err="1" smtClean="0">
                <a:solidFill>
                  <a:srgbClr val="3C3C3D"/>
                </a:solidFill>
                <a:latin typeface="Cabin"/>
                <a:ea typeface="Cabin"/>
                <a:cs typeface="Cabin"/>
                <a:sym typeface="Cabin"/>
              </a:rPr>
              <a:t>Danh</a:t>
            </a:r>
            <a:r>
              <a:rPr lang="en-US" sz="5000" spc="-179" dirty="0" smtClean="0">
                <a:solidFill>
                  <a:srgbClr val="3C3C3D"/>
                </a:solidFill>
                <a:latin typeface="Cabin"/>
                <a:ea typeface="Cabin"/>
                <a:cs typeface="Cabin"/>
                <a:sym typeface="Cabin"/>
              </a:rPr>
              <a:t> </a:t>
            </a:r>
            <a:r>
              <a:rPr lang="en-US" sz="5000" spc="-179" dirty="0" err="1" smtClean="0">
                <a:solidFill>
                  <a:srgbClr val="3C3C3D"/>
                </a:solidFill>
                <a:latin typeface="Cabin"/>
                <a:ea typeface="Cabin"/>
                <a:cs typeface="Cabin"/>
                <a:sym typeface="Cabin"/>
              </a:rPr>
              <a:t>sách</a:t>
            </a:r>
            <a:r>
              <a:rPr lang="en-US" sz="5000" spc="-179" dirty="0" smtClean="0">
                <a:solidFill>
                  <a:srgbClr val="3C3C3D"/>
                </a:solidFill>
                <a:latin typeface="Cabin"/>
                <a:ea typeface="Cabin"/>
                <a:cs typeface="Cabin"/>
                <a:sym typeface="Cabin"/>
              </a:rPr>
              <a:t> </a:t>
            </a:r>
            <a:r>
              <a:rPr lang="en-US" sz="5000" spc="-179" dirty="0" err="1" smtClean="0">
                <a:solidFill>
                  <a:srgbClr val="3C3C3D"/>
                </a:solidFill>
                <a:latin typeface="Cabin"/>
                <a:ea typeface="Cabin"/>
                <a:cs typeface="Cabin"/>
                <a:sym typeface="Cabin"/>
              </a:rPr>
              <a:t>thành</a:t>
            </a:r>
            <a:r>
              <a:rPr lang="en-US" sz="5000" spc="-179" dirty="0" smtClean="0">
                <a:solidFill>
                  <a:srgbClr val="3C3C3D"/>
                </a:solidFill>
                <a:latin typeface="Cabin"/>
                <a:ea typeface="Cabin"/>
                <a:cs typeface="Cabin"/>
                <a:sym typeface="Cabin"/>
              </a:rPr>
              <a:t> </a:t>
            </a:r>
            <a:r>
              <a:rPr lang="en-US" sz="5000" spc="-179" dirty="0" err="1" smtClean="0">
                <a:solidFill>
                  <a:srgbClr val="3C3C3D"/>
                </a:solidFill>
                <a:latin typeface="Cabin"/>
                <a:ea typeface="Cabin"/>
                <a:cs typeface="Cabin"/>
                <a:sym typeface="Cabin"/>
              </a:rPr>
              <a:t>viên</a:t>
            </a:r>
            <a:r>
              <a:rPr lang="en-US" sz="5000" spc="-179" dirty="0">
                <a:solidFill>
                  <a:srgbClr val="3C3C3D"/>
                </a:solidFill>
                <a:latin typeface="Cabin"/>
                <a:ea typeface="Cabin"/>
                <a:cs typeface="Cabin"/>
                <a:sym typeface="Cabin"/>
              </a:rPr>
              <a:t> </a:t>
            </a:r>
            <a:r>
              <a:rPr lang="en-US" sz="5000" spc="-179" dirty="0" err="1" smtClean="0">
                <a:solidFill>
                  <a:srgbClr val="3C3C3D"/>
                </a:solidFill>
                <a:latin typeface="Cabin"/>
                <a:ea typeface="Cabin"/>
                <a:cs typeface="Cabin"/>
                <a:sym typeface="Cabin"/>
              </a:rPr>
              <a:t>trong</a:t>
            </a:r>
            <a:r>
              <a:rPr lang="en-US" sz="5000" spc="-179" dirty="0" smtClean="0">
                <a:solidFill>
                  <a:srgbClr val="3C3C3D"/>
                </a:solidFill>
                <a:latin typeface="Cabin"/>
                <a:ea typeface="Cabin"/>
                <a:cs typeface="Cabin"/>
                <a:sym typeface="Cabin"/>
              </a:rPr>
              <a:t> </a:t>
            </a:r>
            <a:r>
              <a:rPr lang="en-US" sz="5000" spc="-179" dirty="0" err="1" smtClean="0">
                <a:solidFill>
                  <a:srgbClr val="3C3C3D"/>
                </a:solidFill>
                <a:latin typeface="Cabin"/>
                <a:ea typeface="Cabin"/>
                <a:cs typeface="Cabin"/>
                <a:sym typeface="Cabin"/>
              </a:rPr>
              <a:t>nhóm</a:t>
            </a:r>
            <a:r>
              <a:rPr lang="en-US" sz="5000" spc="-179" dirty="0" smtClean="0">
                <a:solidFill>
                  <a:srgbClr val="3C3C3D"/>
                </a:solidFill>
                <a:latin typeface="Cabin"/>
                <a:ea typeface="Cabin"/>
                <a:cs typeface="Cabin"/>
                <a:sym typeface="Cabin"/>
              </a:rPr>
              <a:t>:</a:t>
            </a:r>
            <a:endParaRPr lang="en-US" sz="5000" spc="-179" dirty="0">
              <a:solidFill>
                <a:srgbClr val="3C3C3D"/>
              </a:solidFill>
              <a:latin typeface="Cabin"/>
              <a:ea typeface="Cabin"/>
              <a:cs typeface="Cabin"/>
              <a:sym typeface="Cabin"/>
            </a:endParaRPr>
          </a:p>
        </p:txBody>
      </p:sp>
      <p:sp>
        <p:nvSpPr>
          <p:cNvPr id="27" name="Freeform 27"/>
          <p:cNvSpPr/>
          <p:nvPr/>
        </p:nvSpPr>
        <p:spPr>
          <a:xfrm rot="-1443184">
            <a:off x="15609094" y="-1293732"/>
            <a:ext cx="1869442" cy="2587463"/>
          </a:xfrm>
          <a:custGeom>
            <a:avLst/>
            <a:gdLst/>
            <a:ahLst/>
            <a:cxnLst/>
            <a:rect l="l" t="t" r="r" b="b"/>
            <a:pathLst>
              <a:path w="1869442" h="2587463">
                <a:moveTo>
                  <a:pt x="0" y="0"/>
                </a:moveTo>
                <a:lnTo>
                  <a:pt x="1869442" y="0"/>
                </a:lnTo>
                <a:lnTo>
                  <a:pt x="1869442" y="2587464"/>
                </a:lnTo>
                <a:lnTo>
                  <a:pt x="0" y="2587464"/>
                </a:lnTo>
                <a:lnTo>
                  <a:pt x="0" y="0"/>
                </a:lnTo>
                <a:close/>
              </a:path>
            </a:pathLst>
          </a:custGeom>
          <a:blipFill>
            <a:blip r:embed="rId3">
              <a:alphaModFix amt="64000"/>
            </a:blip>
            <a:stretch>
              <a:fillRect/>
            </a:stretch>
          </a:blipFill>
        </p:spPr>
      </p:sp>
      <p:sp>
        <p:nvSpPr>
          <p:cNvPr id="28" name="TextBox 27"/>
          <p:cNvSpPr txBox="1"/>
          <p:nvPr/>
        </p:nvSpPr>
        <p:spPr>
          <a:xfrm>
            <a:off x="685800" y="1131484"/>
            <a:ext cx="11349819" cy="861774"/>
          </a:xfrm>
          <a:prstGeom prst="rect">
            <a:avLst/>
          </a:prstGeom>
          <a:noFill/>
        </p:spPr>
        <p:txBody>
          <a:bodyPr wrap="square" rtlCol="0">
            <a:spAutoFit/>
          </a:bodyPr>
          <a:lstStyle/>
          <a:p>
            <a:r>
              <a:rPr lang="en-US" sz="5000" dirty="0" err="1"/>
              <a:t>Nhóm</a:t>
            </a:r>
            <a:r>
              <a:rPr lang="en-US" sz="5000" dirty="0"/>
              <a:t> </a:t>
            </a:r>
            <a:r>
              <a:rPr lang="en-US" sz="5000" dirty="0" err="1"/>
              <a:t>trưởng</a:t>
            </a:r>
            <a:r>
              <a:rPr lang="en-US" sz="5000" dirty="0"/>
              <a:t>: 23637531 – </a:t>
            </a:r>
            <a:r>
              <a:rPr lang="en-US" sz="5000" dirty="0" err="1"/>
              <a:t>Trần</a:t>
            </a:r>
            <a:r>
              <a:rPr lang="en-US" sz="5000" dirty="0"/>
              <a:t> </a:t>
            </a:r>
            <a:r>
              <a:rPr lang="en-US" sz="5000" dirty="0" err="1"/>
              <a:t>Quốc</a:t>
            </a:r>
            <a:r>
              <a:rPr lang="en-US" sz="5000" dirty="0"/>
              <a:t> </a:t>
            </a:r>
            <a:r>
              <a:rPr lang="en-US" sz="5000" dirty="0" err="1"/>
              <a:t>Thái</a:t>
            </a:r>
            <a:endParaRPr lang="en-US" sz="5000" dirty="0"/>
          </a:p>
        </p:txBody>
      </p:sp>
      <p:graphicFrame>
        <p:nvGraphicFramePr>
          <p:cNvPr id="29" name="Table 28"/>
          <p:cNvGraphicFramePr>
            <a:graphicFrameLocks noGrp="1"/>
          </p:cNvGraphicFramePr>
          <p:nvPr>
            <p:extLst>
              <p:ext uri="{D42A27DB-BD31-4B8C-83A1-F6EECF244321}">
                <p14:modId xmlns:p14="http://schemas.microsoft.com/office/powerpoint/2010/main" val="710838480"/>
              </p:ext>
            </p:extLst>
          </p:nvPr>
        </p:nvGraphicFramePr>
        <p:xfrm>
          <a:off x="838200" y="4000329"/>
          <a:ext cx="14478000" cy="5638972"/>
        </p:xfrm>
        <a:graphic>
          <a:graphicData uri="http://schemas.openxmlformats.org/drawingml/2006/table">
            <a:tbl>
              <a:tblPr>
                <a:tableStyleId>{E8034E78-7F5D-4C2E-B375-FC64B27BC917}</a:tableStyleId>
              </a:tblPr>
              <a:tblGrid>
                <a:gridCol w="1180272">
                  <a:extLst>
                    <a:ext uri="{9D8B030D-6E8A-4147-A177-3AD203B41FA5}">
                      <a16:colId xmlns:a16="http://schemas.microsoft.com/office/drawing/2014/main" val="652515825"/>
                    </a:ext>
                  </a:extLst>
                </a:gridCol>
                <a:gridCol w="2360543">
                  <a:extLst>
                    <a:ext uri="{9D8B030D-6E8A-4147-A177-3AD203B41FA5}">
                      <a16:colId xmlns:a16="http://schemas.microsoft.com/office/drawing/2014/main" val="4055160160"/>
                    </a:ext>
                  </a:extLst>
                </a:gridCol>
                <a:gridCol w="3776870">
                  <a:extLst>
                    <a:ext uri="{9D8B030D-6E8A-4147-A177-3AD203B41FA5}">
                      <a16:colId xmlns:a16="http://schemas.microsoft.com/office/drawing/2014/main" val="1228161013"/>
                    </a:ext>
                  </a:extLst>
                </a:gridCol>
                <a:gridCol w="2439228">
                  <a:extLst>
                    <a:ext uri="{9D8B030D-6E8A-4147-A177-3AD203B41FA5}">
                      <a16:colId xmlns:a16="http://schemas.microsoft.com/office/drawing/2014/main" val="2089004934"/>
                    </a:ext>
                  </a:extLst>
                </a:gridCol>
                <a:gridCol w="4721087">
                  <a:extLst>
                    <a:ext uri="{9D8B030D-6E8A-4147-A177-3AD203B41FA5}">
                      <a16:colId xmlns:a16="http://schemas.microsoft.com/office/drawing/2014/main" val="2035683063"/>
                    </a:ext>
                  </a:extLst>
                </a:gridCol>
              </a:tblGrid>
              <a:tr h="820926">
                <a:tc>
                  <a:txBody>
                    <a:bodyPr/>
                    <a:lstStyle/>
                    <a:p>
                      <a:pPr algn="ctr"/>
                      <a:r>
                        <a:rPr lang="en-US" sz="2400" dirty="0" smtClean="0">
                          <a:solidFill>
                            <a:sysClr val="windowText" lastClr="000000"/>
                          </a:solidFill>
                        </a:rPr>
                        <a:t>STT</a:t>
                      </a:r>
                      <a:endParaRPr 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ysClr val="windowText" lastClr="000000"/>
                          </a:solidFill>
                        </a:rPr>
                        <a:t>MSSV</a:t>
                      </a:r>
                      <a:endParaRPr 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kern="1200" dirty="0" err="1" smtClean="0">
                          <a:solidFill>
                            <a:sysClr val="windowText" lastClr="000000"/>
                          </a:solidFill>
                          <a:effectLst/>
                          <a:latin typeface="+mn-lt"/>
                          <a:ea typeface="+mn-ea"/>
                          <a:cs typeface="+mn-cs"/>
                        </a:rPr>
                        <a:t>Họ</a:t>
                      </a:r>
                      <a:r>
                        <a:rPr lang="en-US" sz="2400" kern="1200" dirty="0" smtClean="0">
                          <a:solidFill>
                            <a:sysClr val="windowText" lastClr="000000"/>
                          </a:solidFill>
                          <a:effectLst/>
                          <a:latin typeface="+mn-lt"/>
                          <a:ea typeface="+mn-ea"/>
                          <a:cs typeface="+mn-cs"/>
                        </a:rPr>
                        <a:t> </a:t>
                      </a:r>
                      <a:r>
                        <a:rPr lang="en-US" sz="2400" kern="1200" dirty="0" err="1" smtClean="0">
                          <a:solidFill>
                            <a:sysClr val="windowText" lastClr="000000"/>
                          </a:solidFill>
                          <a:effectLst/>
                          <a:latin typeface="+mn-lt"/>
                          <a:ea typeface="+mn-ea"/>
                          <a:cs typeface="+mn-cs"/>
                        </a:rPr>
                        <a:t>và</a:t>
                      </a:r>
                      <a:r>
                        <a:rPr lang="en-US" sz="2400" kern="1200" dirty="0" smtClean="0">
                          <a:solidFill>
                            <a:sysClr val="windowText" lastClr="000000"/>
                          </a:solidFill>
                          <a:effectLst/>
                          <a:latin typeface="+mn-lt"/>
                          <a:ea typeface="+mn-ea"/>
                          <a:cs typeface="+mn-cs"/>
                        </a:rPr>
                        <a:t> </a:t>
                      </a:r>
                      <a:r>
                        <a:rPr lang="en-US" sz="2400" kern="1200" dirty="0" err="1" smtClean="0">
                          <a:solidFill>
                            <a:sysClr val="windowText" lastClr="000000"/>
                          </a:solidFill>
                          <a:effectLst/>
                          <a:latin typeface="+mn-lt"/>
                          <a:ea typeface="+mn-ea"/>
                          <a:cs typeface="+mn-cs"/>
                        </a:rPr>
                        <a:t>tên</a:t>
                      </a:r>
                      <a:endParaRPr 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kern="1200" dirty="0" err="1" smtClean="0">
                          <a:solidFill>
                            <a:sysClr val="windowText" lastClr="000000"/>
                          </a:solidFill>
                          <a:effectLst/>
                          <a:latin typeface="+mn-lt"/>
                          <a:ea typeface="+mn-ea"/>
                          <a:cs typeface="+mn-cs"/>
                        </a:rPr>
                        <a:t>Lớp</a:t>
                      </a:r>
                      <a:endParaRPr 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kern="1200" dirty="0" err="1" smtClean="0">
                          <a:solidFill>
                            <a:sysClr val="windowText" lastClr="000000"/>
                          </a:solidFill>
                          <a:effectLst/>
                          <a:latin typeface="+mn-lt"/>
                          <a:ea typeface="+mn-ea"/>
                          <a:cs typeface="+mn-cs"/>
                        </a:rPr>
                        <a:t>Công</a:t>
                      </a:r>
                      <a:r>
                        <a:rPr lang="en-US" sz="2400" kern="1200" dirty="0" smtClean="0">
                          <a:solidFill>
                            <a:sysClr val="windowText" lastClr="000000"/>
                          </a:solidFill>
                          <a:effectLst/>
                          <a:latin typeface="+mn-lt"/>
                          <a:ea typeface="+mn-ea"/>
                          <a:cs typeface="+mn-cs"/>
                        </a:rPr>
                        <a:t> </a:t>
                      </a:r>
                      <a:r>
                        <a:rPr lang="en-US" sz="2400" kern="1200" dirty="0" err="1" smtClean="0">
                          <a:solidFill>
                            <a:sysClr val="windowText" lastClr="000000"/>
                          </a:solidFill>
                          <a:effectLst/>
                          <a:latin typeface="+mn-lt"/>
                          <a:ea typeface="+mn-ea"/>
                          <a:cs typeface="+mn-cs"/>
                        </a:rPr>
                        <a:t>việc</a:t>
                      </a:r>
                      <a:endParaRPr 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5098426"/>
                  </a:ext>
                </a:extLst>
              </a:tr>
              <a:tr h="1109452">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23688931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err="1" smtClean="0">
                          <a:solidFill>
                            <a:schemeClr val="tx1"/>
                          </a:solidFill>
                        </a:rPr>
                        <a:t>Nguyễn</a:t>
                      </a:r>
                      <a:r>
                        <a:rPr lang="en-US" sz="2400" dirty="0" smtClean="0">
                          <a:solidFill>
                            <a:schemeClr val="tx1"/>
                          </a:solidFill>
                        </a:rPr>
                        <a:t> </a:t>
                      </a:r>
                      <a:r>
                        <a:rPr lang="en-US" sz="2400" dirty="0" err="1" smtClean="0">
                          <a:solidFill>
                            <a:schemeClr val="tx1"/>
                          </a:solidFill>
                        </a:rPr>
                        <a:t>Tấn</a:t>
                      </a:r>
                      <a:r>
                        <a:rPr lang="en-US" sz="2400" dirty="0" smtClean="0">
                          <a:solidFill>
                            <a:schemeClr val="tx1"/>
                          </a:solidFill>
                        </a:rPr>
                        <a:t> </a:t>
                      </a:r>
                      <a:r>
                        <a:rPr lang="en-US" sz="2400" dirty="0" err="1" smtClean="0">
                          <a:solidFill>
                            <a:schemeClr val="tx1"/>
                          </a:solidFill>
                        </a:rPr>
                        <a:t>Đạt</a:t>
                      </a:r>
                      <a:r>
                        <a:rPr lang="en-US" sz="2400" dirty="0" smtClean="0">
                          <a:solidFill>
                            <a:schemeClr val="tx1"/>
                          </a:solidFill>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smtClean="0">
                          <a:solidFill>
                            <a:schemeClr val="tx1"/>
                          </a:solidFill>
                        </a:rPr>
                        <a:t>DHHTTT19B</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err="1" smtClean="0">
                          <a:solidFill>
                            <a:schemeClr val="tx1"/>
                          </a:solidFill>
                        </a:rPr>
                        <a:t>Tóm</a:t>
                      </a:r>
                      <a:r>
                        <a:rPr lang="en-US" sz="2400" baseline="0" dirty="0" smtClean="0">
                          <a:solidFill>
                            <a:schemeClr val="tx1"/>
                          </a:solidFill>
                        </a:rPr>
                        <a:t> </a:t>
                      </a:r>
                      <a:r>
                        <a:rPr lang="en-US" sz="2400" baseline="0" dirty="0" err="1" smtClean="0">
                          <a:solidFill>
                            <a:schemeClr val="tx1"/>
                          </a:solidFill>
                        </a:rPr>
                        <a:t>tắt</a:t>
                      </a:r>
                      <a:r>
                        <a:rPr lang="en-US" sz="2400" baseline="0" dirty="0" smtClean="0">
                          <a:solidFill>
                            <a:schemeClr val="tx1"/>
                          </a:solidFill>
                        </a:rPr>
                        <a:t> </a:t>
                      </a:r>
                      <a:r>
                        <a:rPr lang="en-US" sz="2400" baseline="0" dirty="0" err="1" smtClean="0">
                          <a:solidFill>
                            <a:schemeClr val="tx1"/>
                          </a:solidFill>
                        </a:rPr>
                        <a:t>nội</a:t>
                      </a:r>
                      <a:r>
                        <a:rPr lang="en-US" sz="2400" baseline="0" dirty="0" smtClean="0">
                          <a:solidFill>
                            <a:schemeClr val="tx1"/>
                          </a:solidFill>
                        </a:rPr>
                        <a:t> dung </a:t>
                      </a:r>
                      <a:r>
                        <a:rPr lang="en-US" sz="2400" b="0" i="0" kern="1200" dirty="0" err="1" smtClean="0">
                          <a:solidFill>
                            <a:schemeClr val="tx1"/>
                          </a:solidFill>
                          <a:effectLst/>
                          <a:latin typeface="+mn-lt"/>
                          <a:ea typeface="+mn-ea"/>
                          <a:cs typeface="+mn-cs"/>
                        </a:rPr>
                        <a:t>cách</a:t>
                      </a:r>
                      <a:r>
                        <a:rPr lang="en-US" sz="2400" b="0" i="0" kern="1200" dirty="0" smtClean="0">
                          <a:solidFill>
                            <a:schemeClr val="tx1"/>
                          </a:solidFill>
                          <a:effectLst/>
                          <a:latin typeface="+mn-lt"/>
                          <a:ea typeface="+mn-ea"/>
                          <a:cs typeface="+mn-cs"/>
                        </a:rPr>
                        <a:t> </a:t>
                      </a:r>
                      <a:r>
                        <a:rPr lang="en-US" sz="2400" b="0" i="0" kern="1200" dirty="0" err="1" smtClean="0">
                          <a:solidFill>
                            <a:schemeClr val="tx1"/>
                          </a:solidFill>
                          <a:effectLst/>
                          <a:latin typeface="+mn-lt"/>
                          <a:ea typeface="+mn-ea"/>
                          <a:cs typeface="+mn-cs"/>
                        </a:rPr>
                        <a:t>tiến</a:t>
                      </a:r>
                      <a:r>
                        <a:rPr lang="en-US" sz="2400" b="0" i="0" kern="1200" dirty="0" smtClean="0">
                          <a:solidFill>
                            <a:schemeClr val="tx1"/>
                          </a:solidFill>
                          <a:effectLst/>
                          <a:latin typeface="+mn-lt"/>
                          <a:ea typeface="+mn-ea"/>
                          <a:cs typeface="+mn-cs"/>
                        </a:rPr>
                        <a:t> </a:t>
                      </a:r>
                      <a:r>
                        <a:rPr lang="en-US" sz="2400" b="0" i="0" kern="1200" dirty="0" err="1" smtClean="0">
                          <a:solidFill>
                            <a:schemeClr val="tx1"/>
                          </a:solidFill>
                          <a:effectLst/>
                          <a:latin typeface="+mn-lt"/>
                          <a:ea typeface="+mn-ea"/>
                          <a:cs typeface="+mn-cs"/>
                        </a:rPr>
                        <a:t>hành</a:t>
                      </a:r>
                      <a:r>
                        <a:rPr lang="en-US" sz="2400" b="0" i="0" kern="1200" dirty="0" smtClean="0">
                          <a:solidFill>
                            <a:schemeClr val="tx1"/>
                          </a:solidFill>
                          <a:effectLst/>
                          <a:latin typeface="+mn-lt"/>
                          <a:ea typeface="+mn-ea"/>
                          <a:cs typeface="+mn-cs"/>
                        </a:rPr>
                        <a:t> </a:t>
                      </a:r>
                      <a:r>
                        <a:rPr lang="en-US" sz="2400" b="0" i="0" kern="1200" dirty="0" err="1" smtClean="0">
                          <a:solidFill>
                            <a:schemeClr val="tx1"/>
                          </a:solidFill>
                          <a:effectLst/>
                          <a:latin typeface="+mn-lt"/>
                          <a:ea typeface="+mn-ea"/>
                          <a:cs typeface="+mn-cs"/>
                        </a:rPr>
                        <a:t>của</a:t>
                      </a:r>
                      <a:r>
                        <a:rPr lang="en-US" sz="2400" b="0" i="0" kern="1200" baseline="0" dirty="0" smtClean="0">
                          <a:solidFill>
                            <a:schemeClr val="tx1"/>
                          </a:solidFill>
                          <a:effectLst/>
                          <a:latin typeface="+mn-lt"/>
                          <a:ea typeface="+mn-ea"/>
                          <a:cs typeface="+mn-cs"/>
                        </a:rPr>
                        <a:t> </a:t>
                      </a:r>
                      <a:r>
                        <a:rPr lang="en-US" sz="2400" b="0" i="0" kern="1200" baseline="0" dirty="0" err="1" smtClean="0">
                          <a:solidFill>
                            <a:schemeClr val="tx1"/>
                          </a:solidFill>
                          <a:effectLst/>
                          <a:latin typeface="+mn-lt"/>
                          <a:ea typeface="+mn-ea"/>
                          <a:cs typeface="+mn-cs"/>
                        </a:rPr>
                        <a:t>kỹ</a:t>
                      </a:r>
                      <a:r>
                        <a:rPr lang="en-US" sz="2400" b="0" i="0" kern="1200" baseline="0" dirty="0" smtClean="0">
                          <a:solidFill>
                            <a:schemeClr val="tx1"/>
                          </a:solidFill>
                          <a:effectLst/>
                          <a:latin typeface="+mn-lt"/>
                          <a:ea typeface="+mn-ea"/>
                          <a:cs typeface="+mn-cs"/>
                        </a:rPr>
                        <a:t> </a:t>
                      </a:r>
                      <a:r>
                        <a:rPr lang="en-US" sz="2400" b="0" i="0" kern="1200" baseline="0" dirty="0" err="1" smtClean="0">
                          <a:solidFill>
                            <a:schemeClr val="tx1"/>
                          </a:solidFill>
                          <a:effectLst/>
                          <a:latin typeface="+mn-lt"/>
                          <a:ea typeface="+mn-ea"/>
                          <a:cs typeface="+mn-cs"/>
                        </a:rPr>
                        <a:t>thuật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2732974"/>
                  </a:ext>
                </a:extLst>
              </a:tr>
              <a:tr h="1087599">
                <a:tc>
                  <a:txBody>
                    <a:bodyPr/>
                    <a:lstStyle/>
                    <a:p>
                      <a:pPr algn="ctr"/>
                      <a:r>
                        <a:rPr lang="en-US" sz="2400" dirty="0" smtClean="0">
                          <a:solidFill>
                            <a:schemeClr val="tx1"/>
                          </a:solidFill>
                        </a:rPr>
                        <a:t>11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23644451</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err="1" smtClean="0">
                          <a:solidFill>
                            <a:schemeClr val="tx1"/>
                          </a:solidFill>
                        </a:rPr>
                        <a:t>Lê</a:t>
                      </a:r>
                      <a:r>
                        <a:rPr lang="en-US" sz="2400" dirty="0" smtClean="0">
                          <a:solidFill>
                            <a:schemeClr val="tx1"/>
                          </a:solidFill>
                        </a:rPr>
                        <a:t> </a:t>
                      </a:r>
                      <a:r>
                        <a:rPr lang="en-US" sz="2400" dirty="0" err="1" smtClean="0">
                          <a:solidFill>
                            <a:schemeClr val="tx1"/>
                          </a:solidFill>
                        </a:rPr>
                        <a:t>Khánh</a:t>
                      </a:r>
                      <a:r>
                        <a:rPr lang="en-US" sz="2400" dirty="0" smtClean="0">
                          <a:solidFill>
                            <a:schemeClr val="tx1"/>
                          </a:solidFill>
                        </a:rPr>
                        <a:t> </a:t>
                      </a:r>
                      <a:r>
                        <a:rPr lang="en-US" sz="2400" dirty="0" err="1" smtClean="0">
                          <a:solidFill>
                            <a:schemeClr val="tx1"/>
                          </a:solidFill>
                        </a:rPr>
                        <a:t>Duy</a:t>
                      </a:r>
                      <a:r>
                        <a:rPr lang="en-US" sz="2400" dirty="0" smtClean="0">
                          <a:solidFill>
                            <a:schemeClr val="tx1"/>
                          </a:solidFill>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DHHTTT19A</a:t>
                      </a:r>
                    </a:p>
                    <a:p>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smtClean="0">
                          <a:solidFill>
                            <a:schemeClr val="tx1"/>
                          </a:solidFill>
                        </a:rPr>
                        <a:t>Dịch</a:t>
                      </a:r>
                      <a:r>
                        <a:rPr lang="en-US" sz="2400" baseline="0" dirty="0" smtClean="0">
                          <a:solidFill>
                            <a:schemeClr val="tx1"/>
                          </a:solidFill>
                        </a:rPr>
                        <a:t> </a:t>
                      </a:r>
                      <a:r>
                        <a:rPr lang="en-US" sz="2400" baseline="0" dirty="0" err="1" smtClean="0">
                          <a:solidFill>
                            <a:schemeClr val="tx1"/>
                          </a:solidFill>
                        </a:rPr>
                        <a:t>tài</a:t>
                      </a:r>
                      <a:r>
                        <a:rPr lang="en-US" sz="2400" baseline="0" dirty="0" smtClean="0">
                          <a:solidFill>
                            <a:schemeClr val="tx1"/>
                          </a:solidFill>
                        </a:rPr>
                        <a:t> </a:t>
                      </a:r>
                      <a:r>
                        <a:rPr lang="en-US" sz="2400" baseline="0" dirty="0" err="1" smtClean="0">
                          <a:solidFill>
                            <a:schemeClr val="tx1"/>
                          </a:solidFill>
                        </a:rPr>
                        <a:t>liệu</a:t>
                      </a:r>
                      <a:endParaRPr lang="en-US" sz="2400" dirty="0" smtClean="0">
                        <a:solidFill>
                          <a:schemeClr val="tx1"/>
                        </a:solidFill>
                      </a:endParaRPr>
                    </a:p>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75449065"/>
                  </a:ext>
                </a:extLst>
              </a:tr>
              <a:tr h="1533396">
                <a:tc>
                  <a:txBody>
                    <a:bodyPr/>
                    <a:lstStyle/>
                    <a:p>
                      <a:pPr algn="ctr"/>
                      <a:r>
                        <a:rPr lang="en-US" sz="2400" dirty="0" smtClean="0">
                          <a:solidFill>
                            <a:schemeClr val="tx1"/>
                          </a:solidFill>
                        </a:rPr>
                        <a:t>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23640801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err="1" smtClean="0">
                          <a:solidFill>
                            <a:schemeClr val="tx1"/>
                          </a:solidFill>
                        </a:rPr>
                        <a:t>Nguyễn</a:t>
                      </a:r>
                      <a:r>
                        <a:rPr lang="en-US" sz="2400" dirty="0" smtClean="0">
                          <a:solidFill>
                            <a:schemeClr val="tx1"/>
                          </a:solidFill>
                        </a:rPr>
                        <a:t> </a:t>
                      </a:r>
                      <a:r>
                        <a:rPr lang="en-US" sz="2400" dirty="0" err="1" smtClean="0">
                          <a:solidFill>
                            <a:schemeClr val="tx1"/>
                          </a:solidFill>
                        </a:rPr>
                        <a:t>Văn</a:t>
                      </a:r>
                      <a:r>
                        <a:rPr lang="en-US" sz="2400" dirty="0" smtClean="0">
                          <a:solidFill>
                            <a:schemeClr val="tx1"/>
                          </a:solidFill>
                        </a:rPr>
                        <a:t> </a:t>
                      </a:r>
                      <a:r>
                        <a:rPr lang="en-US" sz="2400" dirty="0" err="1" smtClean="0">
                          <a:solidFill>
                            <a:schemeClr val="tx1"/>
                          </a:solidFill>
                        </a:rPr>
                        <a:t>Sáng</a:t>
                      </a:r>
                      <a:r>
                        <a:rPr lang="en-US" sz="2400" dirty="0" smtClean="0">
                          <a:solidFill>
                            <a:schemeClr val="tx1"/>
                          </a:solidFill>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DHHTTT19A</a:t>
                      </a:r>
                    </a:p>
                    <a:p>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err="1" smtClean="0">
                          <a:solidFill>
                            <a:schemeClr val="tx1"/>
                          </a:solidFill>
                          <a:latin typeface="+mn-lt"/>
                        </a:rPr>
                        <a:t>Tóm</a:t>
                      </a:r>
                      <a:r>
                        <a:rPr lang="en-US" sz="2400" baseline="0" dirty="0" smtClean="0">
                          <a:solidFill>
                            <a:schemeClr val="tx1"/>
                          </a:solidFill>
                          <a:latin typeface="+mn-lt"/>
                        </a:rPr>
                        <a:t> </a:t>
                      </a:r>
                      <a:r>
                        <a:rPr lang="en-US" sz="2400" baseline="0" dirty="0" err="1" smtClean="0">
                          <a:solidFill>
                            <a:schemeClr val="tx1"/>
                          </a:solidFill>
                          <a:latin typeface="+mn-lt"/>
                        </a:rPr>
                        <a:t>tắt</a:t>
                      </a:r>
                      <a:r>
                        <a:rPr lang="en-US" sz="2400" baseline="0" dirty="0" smtClean="0">
                          <a:solidFill>
                            <a:schemeClr val="tx1"/>
                          </a:solidFill>
                          <a:latin typeface="+mn-lt"/>
                        </a:rPr>
                        <a:t> </a:t>
                      </a:r>
                      <a:r>
                        <a:rPr lang="en-US" sz="2400" baseline="0" dirty="0" err="1" smtClean="0">
                          <a:solidFill>
                            <a:schemeClr val="tx1"/>
                          </a:solidFill>
                          <a:latin typeface="+mn-lt"/>
                        </a:rPr>
                        <a:t>nội</a:t>
                      </a:r>
                      <a:r>
                        <a:rPr lang="en-US" sz="2400" baseline="0" dirty="0" smtClean="0">
                          <a:solidFill>
                            <a:schemeClr val="tx1"/>
                          </a:solidFill>
                          <a:latin typeface="+mn-lt"/>
                        </a:rPr>
                        <a:t> dung </a:t>
                      </a:r>
                      <a:r>
                        <a:rPr lang="en-US" sz="2400" b="0" i="0" kern="1200" baseline="0" dirty="0" smtClean="0">
                          <a:solidFill>
                            <a:schemeClr val="tx1"/>
                          </a:solidFill>
                          <a:effectLst/>
                          <a:latin typeface="+mn-lt"/>
                          <a:ea typeface="+mn-ea"/>
                          <a:cs typeface="+mn-cs"/>
                        </a:rPr>
                        <a:t> </a:t>
                      </a:r>
                      <a:r>
                        <a:rPr lang="en-US" sz="2400" b="0" i="0" kern="1200" baseline="0" dirty="0" err="1" smtClean="0">
                          <a:solidFill>
                            <a:schemeClr val="tx1"/>
                          </a:solidFill>
                          <a:effectLst/>
                          <a:latin typeface="+mn-lt"/>
                          <a:ea typeface="+mn-ea"/>
                          <a:cs typeface="+mn-cs"/>
                        </a:rPr>
                        <a:t>cách</a:t>
                      </a:r>
                      <a:r>
                        <a:rPr lang="en-US" sz="2400" b="0" i="0" kern="1200" baseline="0" dirty="0" smtClean="0">
                          <a:solidFill>
                            <a:schemeClr val="tx1"/>
                          </a:solidFill>
                          <a:effectLst/>
                          <a:latin typeface="+mn-lt"/>
                          <a:ea typeface="+mn-ea"/>
                          <a:cs typeface="+mn-cs"/>
                        </a:rPr>
                        <a:t> </a:t>
                      </a:r>
                      <a:r>
                        <a:rPr lang="en-US" sz="2400" b="0" i="0" kern="1200" baseline="0" dirty="0" err="1" smtClean="0">
                          <a:solidFill>
                            <a:schemeClr val="tx1"/>
                          </a:solidFill>
                          <a:effectLst/>
                          <a:latin typeface="+mn-lt"/>
                          <a:ea typeface="+mn-ea"/>
                          <a:cs typeface="+mn-cs"/>
                        </a:rPr>
                        <a:t>dùng</a:t>
                      </a:r>
                      <a:r>
                        <a:rPr lang="en-US" sz="2400" b="0" i="0" kern="1200" baseline="0" dirty="0" smtClean="0">
                          <a:solidFill>
                            <a:schemeClr val="tx1"/>
                          </a:solidFill>
                          <a:effectLst/>
                          <a:latin typeface="+mn-lt"/>
                          <a:ea typeface="+mn-ea"/>
                          <a:cs typeface="+mn-cs"/>
                        </a:rPr>
                        <a:t> </a:t>
                      </a:r>
                      <a:r>
                        <a:rPr lang="en-US" sz="2400" b="0" i="0" kern="1200" baseline="0" dirty="0" err="1" smtClean="0">
                          <a:solidFill>
                            <a:schemeClr val="tx1"/>
                          </a:solidFill>
                          <a:effectLst/>
                          <a:latin typeface="+mn-lt"/>
                          <a:ea typeface="+mn-ea"/>
                          <a:cs typeface="+mn-cs"/>
                        </a:rPr>
                        <a:t>kỹ</a:t>
                      </a:r>
                      <a:r>
                        <a:rPr lang="en-US" sz="2400" b="0" i="0" kern="1200" baseline="0" dirty="0" smtClean="0">
                          <a:solidFill>
                            <a:schemeClr val="tx1"/>
                          </a:solidFill>
                          <a:effectLst/>
                          <a:latin typeface="+mn-lt"/>
                          <a:ea typeface="+mn-ea"/>
                          <a:cs typeface="+mn-cs"/>
                        </a:rPr>
                        <a:t> </a:t>
                      </a:r>
                      <a:r>
                        <a:rPr lang="en-US" sz="2400" b="0" i="0" kern="1200" baseline="0" dirty="0" err="1" smtClean="0">
                          <a:solidFill>
                            <a:schemeClr val="tx1"/>
                          </a:solidFill>
                          <a:effectLst/>
                          <a:latin typeface="+mn-lt"/>
                          <a:ea typeface="+mn-ea"/>
                          <a:cs typeface="+mn-cs"/>
                        </a:rPr>
                        <a:t>thuật</a:t>
                      </a:r>
                      <a:endParaRPr lang="en-US" sz="2400" b="0" i="0" kern="1200" dirty="0" smtClean="0">
                        <a:solidFill>
                          <a:schemeClr val="tx1"/>
                        </a:solidFill>
                        <a:effectLst/>
                        <a:latin typeface="Calibri (Body)"/>
                        <a:ea typeface="+mn-ea"/>
                        <a:cs typeface="+mn-cs"/>
                      </a:endParaRPr>
                    </a:p>
                    <a:p>
                      <a:endParaRPr lang="en-US" sz="2400" dirty="0">
                        <a:solidFill>
                          <a:schemeClr val="tx1"/>
                        </a:solidFill>
                        <a:latin typeface="Calibri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6960513"/>
                  </a:ext>
                </a:extLst>
              </a:tr>
              <a:tr h="1087599">
                <a:tc>
                  <a:txBody>
                    <a:bodyPr/>
                    <a:lstStyle/>
                    <a:p>
                      <a:pPr algn="ctr"/>
                      <a:r>
                        <a:rPr lang="en-US" sz="2400" dirty="0" smtClean="0">
                          <a:solidFill>
                            <a:schemeClr val="tx1"/>
                          </a:solidFill>
                        </a:rPr>
                        <a:t>63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23641051</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dirty="0" err="1" smtClean="0">
                          <a:solidFill>
                            <a:schemeClr val="tx1"/>
                          </a:solidFill>
                        </a:rPr>
                        <a:t>Trần</a:t>
                      </a:r>
                      <a:r>
                        <a:rPr lang="en-US" sz="2400" dirty="0" smtClean="0">
                          <a:solidFill>
                            <a:schemeClr val="tx1"/>
                          </a:solidFill>
                        </a:rPr>
                        <a:t> </a:t>
                      </a:r>
                      <a:r>
                        <a:rPr lang="en-US" sz="2400" dirty="0" err="1" smtClean="0">
                          <a:solidFill>
                            <a:schemeClr val="tx1"/>
                          </a:solidFill>
                        </a:rPr>
                        <a:t>Trọng</a:t>
                      </a:r>
                      <a:r>
                        <a:rPr lang="en-US" sz="2400" dirty="0" smtClean="0">
                          <a:solidFill>
                            <a:schemeClr val="tx1"/>
                          </a:solidFill>
                        </a:rPr>
                        <a:t> </a:t>
                      </a:r>
                      <a:r>
                        <a:rPr lang="en-US" sz="2400" dirty="0" err="1" smtClean="0">
                          <a:solidFill>
                            <a:schemeClr val="tx1"/>
                          </a:solidFill>
                        </a:rPr>
                        <a:t>Duy</a:t>
                      </a:r>
                      <a:r>
                        <a:rPr lang="en-US" sz="2400" dirty="0" smtClean="0">
                          <a:solidFill>
                            <a:schemeClr val="tx1"/>
                          </a:solidFill>
                        </a:rPr>
                        <a:t> </a:t>
                      </a:r>
                      <a:r>
                        <a:rPr lang="en-US" sz="2400" dirty="0" err="1" smtClean="0">
                          <a:solidFill>
                            <a:schemeClr val="tx1"/>
                          </a:solidFill>
                        </a:rPr>
                        <a:t>Thức</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DHHTTT19A</a:t>
                      </a:r>
                    </a:p>
                    <a:p>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smtClean="0">
                          <a:solidFill>
                            <a:schemeClr val="tx1"/>
                          </a:solidFill>
                          <a:latin typeface="+mn-lt"/>
                        </a:rPr>
                        <a:t>Tóm</a:t>
                      </a:r>
                      <a:r>
                        <a:rPr lang="en-US" sz="2400" baseline="0" dirty="0" smtClean="0">
                          <a:solidFill>
                            <a:schemeClr val="tx1"/>
                          </a:solidFill>
                          <a:latin typeface="+mn-lt"/>
                        </a:rPr>
                        <a:t> </a:t>
                      </a:r>
                      <a:r>
                        <a:rPr lang="en-US" sz="2400" baseline="0" dirty="0" err="1" smtClean="0">
                          <a:solidFill>
                            <a:schemeClr val="tx1"/>
                          </a:solidFill>
                          <a:latin typeface="+mn-lt"/>
                        </a:rPr>
                        <a:t>tắt</a:t>
                      </a:r>
                      <a:r>
                        <a:rPr lang="en-US" sz="2400" baseline="0" dirty="0" smtClean="0">
                          <a:solidFill>
                            <a:schemeClr val="tx1"/>
                          </a:solidFill>
                          <a:latin typeface="+mn-lt"/>
                        </a:rPr>
                        <a:t> </a:t>
                      </a:r>
                      <a:r>
                        <a:rPr lang="en-US" sz="2400" baseline="0" dirty="0" err="1" smtClean="0">
                          <a:solidFill>
                            <a:schemeClr val="tx1"/>
                          </a:solidFill>
                          <a:latin typeface="+mn-lt"/>
                        </a:rPr>
                        <a:t>đặc</a:t>
                      </a:r>
                      <a:r>
                        <a:rPr lang="en-US" sz="2400" baseline="0" dirty="0" smtClean="0">
                          <a:solidFill>
                            <a:schemeClr val="tx1"/>
                          </a:solidFill>
                          <a:latin typeface="+mn-lt"/>
                        </a:rPr>
                        <a:t> </a:t>
                      </a:r>
                      <a:r>
                        <a:rPr lang="en-US" sz="2400" baseline="0" dirty="0" err="1" smtClean="0">
                          <a:solidFill>
                            <a:schemeClr val="tx1"/>
                          </a:solidFill>
                          <a:latin typeface="+mn-lt"/>
                        </a:rPr>
                        <a:t>trưng</a:t>
                      </a:r>
                      <a:r>
                        <a:rPr lang="en-US" sz="2400" baseline="0" dirty="0" smtClean="0">
                          <a:solidFill>
                            <a:schemeClr val="tx1"/>
                          </a:solidFill>
                          <a:latin typeface="+mn-lt"/>
                        </a:rPr>
                        <a:t> </a:t>
                      </a:r>
                      <a:r>
                        <a:rPr lang="en-US" sz="2400" baseline="0" dirty="0" err="1" smtClean="0">
                          <a:solidFill>
                            <a:schemeClr val="tx1"/>
                          </a:solidFill>
                          <a:latin typeface="+mn-lt"/>
                        </a:rPr>
                        <a:t>của</a:t>
                      </a:r>
                      <a:r>
                        <a:rPr lang="en-US" sz="2400" baseline="0" dirty="0" smtClean="0">
                          <a:solidFill>
                            <a:schemeClr val="tx1"/>
                          </a:solidFill>
                          <a:latin typeface="+mn-lt"/>
                        </a:rPr>
                        <a:t> </a:t>
                      </a:r>
                      <a:r>
                        <a:rPr lang="en-US" sz="2400" baseline="0" dirty="0" err="1" smtClean="0">
                          <a:solidFill>
                            <a:schemeClr val="tx1"/>
                          </a:solidFill>
                          <a:latin typeface="+mn-lt"/>
                        </a:rPr>
                        <a:t>kỹ</a:t>
                      </a:r>
                      <a:r>
                        <a:rPr lang="en-US" sz="2400" baseline="0" dirty="0" smtClean="0">
                          <a:solidFill>
                            <a:schemeClr val="tx1"/>
                          </a:solidFill>
                          <a:latin typeface="+mn-lt"/>
                        </a:rPr>
                        <a:t> </a:t>
                      </a:r>
                      <a:r>
                        <a:rPr lang="en-US" sz="2400" baseline="0" dirty="0" err="1" smtClean="0">
                          <a:solidFill>
                            <a:schemeClr val="tx1"/>
                          </a:solidFill>
                          <a:latin typeface="+mn-lt"/>
                        </a:rPr>
                        <a:t>thuật</a:t>
                      </a:r>
                      <a:endParaRPr lang="en-US" sz="2400" dirty="0" smtClean="0">
                        <a:solidFill>
                          <a:schemeClr val="tx1"/>
                        </a:solidFill>
                        <a:latin typeface="Calibri (Body)"/>
                      </a:endParaRPr>
                    </a:p>
                    <a:p>
                      <a:endParaRPr lang="en-US" sz="24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0275794"/>
                  </a:ext>
                </a:extLst>
              </a:tr>
            </a:tbl>
          </a:graphicData>
        </a:graphic>
      </p:graphicFrame>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rot="-8240435">
            <a:off x="7901825" y="2769008"/>
            <a:ext cx="4049653" cy="4039529"/>
          </a:xfrm>
          <a:custGeom>
            <a:avLst/>
            <a:gdLst/>
            <a:ahLst/>
            <a:cxnLst/>
            <a:rect l="l" t="t" r="r" b="b"/>
            <a:pathLst>
              <a:path w="4049653" h="4039529">
                <a:moveTo>
                  <a:pt x="0" y="0"/>
                </a:moveTo>
                <a:lnTo>
                  <a:pt x="4049654" y="0"/>
                </a:lnTo>
                <a:lnTo>
                  <a:pt x="4049654" y="4039530"/>
                </a:lnTo>
                <a:lnTo>
                  <a:pt x="0" y="4039530"/>
                </a:lnTo>
                <a:lnTo>
                  <a:pt x="0" y="0"/>
                </a:lnTo>
                <a:close/>
              </a:path>
            </a:pathLst>
          </a:custGeom>
          <a:blipFill>
            <a:blip r:embed="rId2"/>
            <a:stretch>
              <a:fillRect/>
            </a:stretch>
          </a:blipFill>
        </p:spPr>
      </p:sp>
      <p:grpSp>
        <p:nvGrpSpPr>
          <p:cNvPr id="3" name="Group 3"/>
          <p:cNvGrpSpPr/>
          <p:nvPr/>
        </p:nvGrpSpPr>
        <p:grpSpPr>
          <a:xfrm>
            <a:off x="10034559" y="0"/>
            <a:ext cx="8391970" cy="10287000"/>
            <a:chOff x="0" y="0"/>
            <a:chExt cx="2210231" cy="2709333"/>
          </a:xfrm>
        </p:grpSpPr>
        <p:sp>
          <p:nvSpPr>
            <p:cNvPr id="4" name="Freeform 4"/>
            <p:cNvSpPr/>
            <p:nvPr/>
          </p:nvSpPr>
          <p:spPr>
            <a:xfrm>
              <a:off x="0" y="0"/>
              <a:ext cx="2210231" cy="2709333"/>
            </a:xfrm>
            <a:custGeom>
              <a:avLst/>
              <a:gdLst/>
              <a:ahLst/>
              <a:cxnLst/>
              <a:rect l="l" t="t" r="r" b="b"/>
              <a:pathLst>
                <a:path w="2210231" h="2709333">
                  <a:moveTo>
                    <a:pt x="0" y="0"/>
                  </a:moveTo>
                  <a:lnTo>
                    <a:pt x="2210231" y="0"/>
                  </a:lnTo>
                  <a:lnTo>
                    <a:pt x="2210231" y="2709333"/>
                  </a:lnTo>
                  <a:lnTo>
                    <a:pt x="0" y="2709333"/>
                  </a:lnTo>
                  <a:close/>
                </a:path>
              </a:pathLst>
            </a:custGeom>
            <a:solidFill>
              <a:srgbClr val="FFD8EE"/>
            </a:solidFill>
          </p:spPr>
        </p:sp>
        <p:sp>
          <p:nvSpPr>
            <p:cNvPr id="5" name="TextBox 5"/>
            <p:cNvSpPr txBox="1"/>
            <p:nvPr/>
          </p:nvSpPr>
          <p:spPr>
            <a:xfrm>
              <a:off x="0" y="-38100"/>
              <a:ext cx="2210231" cy="2747433"/>
            </a:xfrm>
            <a:prstGeom prst="rect">
              <a:avLst/>
            </a:prstGeom>
          </p:spPr>
          <p:txBody>
            <a:bodyPr lIns="50800" tIns="50800" rIns="50800" bIns="50800" rtlCol="0" anchor="ctr"/>
            <a:lstStyle/>
            <a:p>
              <a:pPr algn="ctr">
                <a:lnSpc>
                  <a:spcPts val="3499"/>
                </a:lnSpc>
              </a:pPr>
              <a:endParaRPr/>
            </a:p>
          </p:txBody>
        </p:sp>
      </p:grpSp>
      <p:sp>
        <p:nvSpPr>
          <p:cNvPr id="6" name="TextBox 6"/>
          <p:cNvSpPr txBox="1"/>
          <p:nvPr/>
        </p:nvSpPr>
        <p:spPr>
          <a:xfrm>
            <a:off x="-1143000" y="281999"/>
            <a:ext cx="7543444" cy="1239057"/>
          </a:xfrm>
          <a:prstGeom prst="rect">
            <a:avLst/>
          </a:prstGeom>
        </p:spPr>
        <p:txBody>
          <a:bodyPr lIns="0" tIns="0" rIns="0" bIns="0" rtlCol="0" anchor="t">
            <a:spAutoFit/>
          </a:bodyPr>
          <a:lstStyle/>
          <a:p>
            <a:pPr lvl="0" algn="ctr">
              <a:lnSpc>
                <a:spcPts val="10800"/>
              </a:lnSpc>
              <a:spcBef>
                <a:spcPct val="0"/>
              </a:spcBef>
            </a:pPr>
            <a:r>
              <a:rPr lang="en-US" sz="6000" dirty="0" err="1"/>
              <a:t>Nội</a:t>
            </a:r>
            <a:r>
              <a:rPr lang="en-US" sz="6000" dirty="0"/>
              <a:t> </a:t>
            </a:r>
            <a:r>
              <a:rPr lang="en-US" sz="6000" dirty="0" smtClean="0"/>
              <a:t>dung: </a:t>
            </a:r>
            <a:endParaRPr lang="en-US" sz="6000" spc="-179" dirty="0">
              <a:solidFill>
                <a:srgbClr val="3C3C3D"/>
              </a:solidFill>
              <a:latin typeface="Cabin"/>
              <a:ea typeface="Cabin"/>
              <a:cs typeface="Cabin"/>
              <a:sym typeface="Cabin"/>
            </a:endParaRPr>
          </a:p>
        </p:txBody>
      </p:sp>
      <p:sp>
        <p:nvSpPr>
          <p:cNvPr id="19" name="Freeform 19"/>
          <p:cNvSpPr/>
          <p:nvPr/>
        </p:nvSpPr>
        <p:spPr>
          <a:xfrm rot="-5920162">
            <a:off x="2348784" y="4266731"/>
            <a:ext cx="4672813" cy="4661131"/>
          </a:xfrm>
          <a:custGeom>
            <a:avLst/>
            <a:gdLst/>
            <a:ahLst/>
            <a:cxnLst/>
            <a:rect l="l" t="t" r="r" b="b"/>
            <a:pathLst>
              <a:path w="4672813" h="4661131">
                <a:moveTo>
                  <a:pt x="0" y="0"/>
                </a:moveTo>
                <a:lnTo>
                  <a:pt x="4672812" y="0"/>
                </a:lnTo>
                <a:lnTo>
                  <a:pt x="4672812" y="4661130"/>
                </a:lnTo>
                <a:lnTo>
                  <a:pt x="0" y="4661130"/>
                </a:lnTo>
                <a:lnTo>
                  <a:pt x="0" y="0"/>
                </a:lnTo>
                <a:close/>
              </a:path>
            </a:pathLst>
          </a:custGeom>
          <a:blipFill>
            <a:blip r:embed="rId2">
              <a:alphaModFix amt="90000"/>
            </a:blip>
            <a:stretch>
              <a:fillRect/>
            </a:stretch>
          </a:blipFill>
        </p:spPr>
      </p:sp>
      <p:sp>
        <p:nvSpPr>
          <p:cNvPr id="20" name="Freeform 20"/>
          <p:cNvSpPr/>
          <p:nvPr/>
        </p:nvSpPr>
        <p:spPr>
          <a:xfrm rot="-8956620">
            <a:off x="-1881434" y="7956435"/>
            <a:ext cx="4672813" cy="4661131"/>
          </a:xfrm>
          <a:custGeom>
            <a:avLst/>
            <a:gdLst/>
            <a:ahLst/>
            <a:cxnLst/>
            <a:rect l="l" t="t" r="r" b="b"/>
            <a:pathLst>
              <a:path w="4672813" h="4661131">
                <a:moveTo>
                  <a:pt x="0" y="0"/>
                </a:moveTo>
                <a:lnTo>
                  <a:pt x="4672813" y="0"/>
                </a:lnTo>
                <a:lnTo>
                  <a:pt x="4672813" y="4661130"/>
                </a:lnTo>
                <a:lnTo>
                  <a:pt x="0" y="4661130"/>
                </a:lnTo>
                <a:lnTo>
                  <a:pt x="0" y="0"/>
                </a:lnTo>
                <a:close/>
              </a:path>
            </a:pathLst>
          </a:custGeom>
          <a:blipFill>
            <a:blip r:embed="rId2"/>
            <a:stretch>
              <a:fillRect/>
            </a:stretch>
          </a:blipFill>
        </p:spPr>
      </p:sp>
      <p:sp>
        <p:nvSpPr>
          <p:cNvPr id="24" name="TextBox 23"/>
          <p:cNvSpPr txBox="1"/>
          <p:nvPr/>
        </p:nvSpPr>
        <p:spPr>
          <a:xfrm>
            <a:off x="10306927" y="2621016"/>
            <a:ext cx="7142873" cy="3600986"/>
          </a:xfrm>
          <a:prstGeom prst="rect">
            <a:avLst/>
          </a:prstGeom>
          <a:noFill/>
        </p:spPr>
        <p:txBody>
          <a:bodyPr wrap="square" rtlCol="0">
            <a:spAutoFit/>
          </a:bodyPr>
          <a:lstStyle/>
          <a:p>
            <a:r>
              <a:rPr lang="en-US" sz="4000" b="1" dirty="0" smtClean="0"/>
              <a:t>I.</a:t>
            </a:r>
            <a:r>
              <a:rPr lang="vi-VN" sz="4000" b="1" dirty="0" smtClean="0"/>
              <a:t>Đặc </a:t>
            </a:r>
            <a:r>
              <a:rPr lang="vi-VN" sz="4000" b="1" dirty="0"/>
              <a:t>trưng của kỹ thuật</a:t>
            </a:r>
          </a:p>
          <a:p>
            <a:r>
              <a:rPr lang="en-US" sz="4000" b="1" dirty="0" smtClean="0"/>
              <a:t>II.</a:t>
            </a:r>
            <a:r>
              <a:rPr lang="vi-VN" sz="4000" b="1" dirty="0" smtClean="0"/>
              <a:t>Cách </a:t>
            </a:r>
            <a:r>
              <a:rPr lang="vi-VN" sz="4000" b="1" dirty="0"/>
              <a:t>dùng kỹ thuật</a:t>
            </a:r>
          </a:p>
          <a:p>
            <a:r>
              <a:rPr lang="en-US" sz="4000" b="1" dirty="0" smtClean="0"/>
              <a:t>III.</a:t>
            </a:r>
            <a:r>
              <a:rPr lang="vi-VN" sz="4000" b="1" dirty="0" smtClean="0"/>
              <a:t>Cách </a:t>
            </a:r>
            <a:r>
              <a:rPr lang="vi-VN" sz="4000" b="1" dirty="0"/>
              <a:t>tiến hành kỹ thuật</a:t>
            </a:r>
          </a:p>
          <a:p>
            <a:r>
              <a:rPr lang="en-US" sz="4000" b="1" dirty="0" smtClean="0"/>
              <a:t>IV.</a:t>
            </a:r>
            <a:r>
              <a:rPr lang="vi-VN" sz="4000" b="1" dirty="0" smtClean="0"/>
              <a:t>Ưu </a:t>
            </a:r>
            <a:r>
              <a:rPr lang="vi-VN" sz="4000" b="1" dirty="0"/>
              <a:t>điểm và nhược điểm của kỹ thuật</a:t>
            </a:r>
          </a:p>
          <a:p>
            <a:endParaRPr lang="vi-VN" sz="2800" dirty="0"/>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rot="3267645">
            <a:off x="16268526" y="8518601"/>
            <a:ext cx="3886547" cy="4069682"/>
          </a:xfrm>
          <a:custGeom>
            <a:avLst/>
            <a:gdLst/>
            <a:ahLst/>
            <a:cxnLst/>
            <a:rect l="l" t="t" r="r" b="b"/>
            <a:pathLst>
              <a:path w="3886547" h="4069682">
                <a:moveTo>
                  <a:pt x="0" y="0"/>
                </a:moveTo>
                <a:lnTo>
                  <a:pt x="3886547" y="0"/>
                </a:lnTo>
                <a:lnTo>
                  <a:pt x="3886547" y="4069682"/>
                </a:lnTo>
                <a:lnTo>
                  <a:pt x="0" y="4069682"/>
                </a:lnTo>
                <a:lnTo>
                  <a:pt x="0" y="0"/>
                </a:lnTo>
                <a:close/>
              </a:path>
            </a:pathLst>
          </a:custGeom>
          <a:blipFill>
            <a:blip r:embed="rId2"/>
            <a:stretch>
              <a:fillRect/>
            </a:stretch>
          </a:blipFill>
        </p:spPr>
      </p:sp>
      <p:grpSp>
        <p:nvGrpSpPr>
          <p:cNvPr id="6" name="Group 6"/>
          <p:cNvGrpSpPr/>
          <p:nvPr/>
        </p:nvGrpSpPr>
        <p:grpSpPr>
          <a:xfrm>
            <a:off x="-64585" y="0"/>
            <a:ext cx="7204780" cy="10287000"/>
            <a:chOff x="0" y="0"/>
            <a:chExt cx="1897555" cy="2709333"/>
          </a:xfrm>
        </p:grpSpPr>
        <p:sp>
          <p:nvSpPr>
            <p:cNvPr id="7" name="Freeform 7"/>
            <p:cNvSpPr/>
            <p:nvPr/>
          </p:nvSpPr>
          <p:spPr>
            <a:xfrm>
              <a:off x="0" y="0"/>
              <a:ext cx="1897555" cy="2709333"/>
            </a:xfrm>
            <a:custGeom>
              <a:avLst/>
              <a:gdLst/>
              <a:ahLst/>
              <a:cxnLst/>
              <a:rect l="l" t="t" r="r" b="b"/>
              <a:pathLst>
                <a:path w="1897555" h="2709333">
                  <a:moveTo>
                    <a:pt x="0" y="0"/>
                  </a:moveTo>
                  <a:lnTo>
                    <a:pt x="1897555" y="0"/>
                  </a:lnTo>
                  <a:lnTo>
                    <a:pt x="1897555" y="2709333"/>
                  </a:lnTo>
                  <a:lnTo>
                    <a:pt x="0" y="2709333"/>
                  </a:lnTo>
                  <a:close/>
                </a:path>
              </a:pathLst>
            </a:custGeom>
            <a:solidFill>
              <a:srgbClr val="B2E6E6"/>
            </a:solidFill>
          </p:spPr>
        </p:sp>
        <p:sp>
          <p:nvSpPr>
            <p:cNvPr id="8" name="TextBox 8"/>
            <p:cNvSpPr txBox="1"/>
            <p:nvPr/>
          </p:nvSpPr>
          <p:spPr>
            <a:xfrm>
              <a:off x="0" y="-38100"/>
              <a:ext cx="1897555" cy="2747433"/>
            </a:xfrm>
            <a:prstGeom prst="rect">
              <a:avLst/>
            </a:prstGeom>
          </p:spPr>
          <p:txBody>
            <a:bodyPr lIns="50800" tIns="50800" rIns="50800" bIns="50800" rtlCol="0" anchor="ctr"/>
            <a:lstStyle/>
            <a:p>
              <a:pPr algn="ctr">
                <a:lnSpc>
                  <a:spcPts val="3499"/>
                </a:lnSpc>
              </a:pPr>
              <a:endParaRPr/>
            </a:p>
          </p:txBody>
        </p:sp>
      </p:grpSp>
      <p:sp>
        <p:nvSpPr>
          <p:cNvPr id="9" name="TextBox 9"/>
          <p:cNvSpPr txBox="1"/>
          <p:nvPr/>
        </p:nvSpPr>
        <p:spPr>
          <a:xfrm>
            <a:off x="304800" y="241632"/>
            <a:ext cx="5335942" cy="1821011"/>
          </a:xfrm>
          <a:prstGeom prst="rect">
            <a:avLst/>
          </a:prstGeom>
        </p:spPr>
        <p:txBody>
          <a:bodyPr lIns="0" tIns="0" rIns="0" bIns="0" rtlCol="0" anchor="t">
            <a:spAutoFit/>
          </a:bodyPr>
          <a:lstStyle/>
          <a:p>
            <a:pPr marL="0" lvl="0" indent="0" algn="l">
              <a:lnSpc>
                <a:spcPts val="7080"/>
              </a:lnSpc>
              <a:spcBef>
                <a:spcPct val="0"/>
              </a:spcBef>
            </a:pPr>
            <a:r>
              <a:rPr lang="en-US" sz="6000" spc="-118" dirty="0" err="1" smtClean="0">
                <a:solidFill>
                  <a:srgbClr val="3C3C3D"/>
                </a:solidFill>
                <a:latin typeface="Cabin"/>
                <a:ea typeface="Cabin"/>
                <a:cs typeface="Cabin"/>
                <a:sym typeface="Cabin"/>
              </a:rPr>
              <a:t>I.Đặc</a:t>
            </a:r>
            <a:r>
              <a:rPr lang="en-US" sz="6000" spc="-118" dirty="0" smtClean="0">
                <a:solidFill>
                  <a:srgbClr val="3C3C3D"/>
                </a:solidFill>
                <a:latin typeface="Cabin"/>
                <a:ea typeface="Cabin"/>
                <a:cs typeface="Cabin"/>
                <a:sym typeface="Cabin"/>
              </a:rPr>
              <a:t> </a:t>
            </a:r>
            <a:r>
              <a:rPr lang="en-US" sz="6000" spc="-118" dirty="0" err="1" smtClean="0">
                <a:solidFill>
                  <a:srgbClr val="3C3C3D"/>
                </a:solidFill>
                <a:latin typeface="Cabin"/>
                <a:ea typeface="Cabin"/>
                <a:cs typeface="Cabin"/>
                <a:sym typeface="Cabin"/>
              </a:rPr>
              <a:t>trưng</a:t>
            </a:r>
            <a:r>
              <a:rPr lang="en-US" sz="6000" spc="-118" dirty="0" smtClean="0">
                <a:solidFill>
                  <a:srgbClr val="3C3C3D"/>
                </a:solidFill>
                <a:latin typeface="Cabin"/>
                <a:ea typeface="Cabin"/>
                <a:cs typeface="Cabin"/>
                <a:sym typeface="Cabin"/>
              </a:rPr>
              <a:t> </a:t>
            </a:r>
            <a:r>
              <a:rPr lang="en-US" sz="6000" spc="-118" dirty="0" err="1" smtClean="0">
                <a:solidFill>
                  <a:srgbClr val="3C3C3D"/>
                </a:solidFill>
                <a:latin typeface="Cabin"/>
                <a:ea typeface="Cabin"/>
                <a:cs typeface="Cabin"/>
                <a:sym typeface="Cabin"/>
              </a:rPr>
              <a:t>của</a:t>
            </a:r>
            <a:r>
              <a:rPr lang="en-US" sz="6000" spc="-118" dirty="0" smtClean="0">
                <a:solidFill>
                  <a:srgbClr val="3C3C3D"/>
                </a:solidFill>
                <a:latin typeface="Cabin"/>
                <a:ea typeface="Cabin"/>
                <a:cs typeface="Cabin"/>
                <a:sym typeface="Cabin"/>
              </a:rPr>
              <a:t> </a:t>
            </a:r>
            <a:r>
              <a:rPr lang="en-US" sz="6000" spc="-118" dirty="0" err="1" smtClean="0">
                <a:solidFill>
                  <a:srgbClr val="3C3C3D"/>
                </a:solidFill>
                <a:latin typeface="Cabin"/>
                <a:ea typeface="Cabin"/>
                <a:cs typeface="Cabin"/>
                <a:sym typeface="Cabin"/>
              </a:rPr>
              <a:t>kỹ</a:t>
            </a:r>
            <a:r>
              <a:rPr lang="en-US" sz="6000" spc="-118" dirty="0" smtClean="0">
                <a:solidFill>
                  <a:srgbClr val="3C3C3D"/>
                </a:solidFill>
                <a:latin typeface="Cabin"/>
                <a:ea typeface="Cabin"/>
                <a:cs typeface="Cabin"/>
                <a:sym typeface="Cabin"/>
              </a:rPr>
              <a:t> </a:t>
            </a:r>
            <a:r>
              <a:rPr lang="en-US" sz="6000" spc="-118" dirty="0" err="1" smtClean="0">
                <a:solidFill>
                  <a:srgbClr val="3C3C3D"/>
                </a:solidFill>
                <a:latin typeface="Cabin"/>
                <a:ea typeface="Cabin"/>
                <a:cs typeface="Cabin"/>
                <a:sym typeface="Cabin"/>
              </a:rPr>
              <a:t>thuật</a:t>
            </a:r>
            <a:endParaRPr lang="en-US" sz="6000" spc="-118" dirty="0">
              <a:solidFill>
                <a:srgbClr val="3C3C3D"/>
              </a:solidFill>
              <a:latin typeface="Cabin"/>
              <a:ea typeface="Cabin"/>
              <a:cs typeface="Cabin"/>
              <a:sym typeface="Cabin"/>
            </a:endParaRPr>
          </a:p>
        </p:txBody>
      </p:sp>
      <p:sp>
        <p:nvSpPr>
          <p:cNvPr id="13" name="TextBox 12"/>
          <p:cNvSpPr txBox="1"/>
          <p:nvPr/>
        </p:nvSpPr>
        <p:spPr>
          <a:xfrm>
            <a:off x="7173332" y="571500"/>
            <a:ext cx="11038468" cy="2388229"/>
          </a:xfrm>
          <a:prstGeom prst="rect">
            <a:avLst/>
          </a:prstGeom>
          <a:noFill/>
        </p:spPr>
        <p:txBody>
          <a:bodyPr wrap="square" rtlCol="0">
            <a:spAutoFit/>
          </a:bodyPr>
          <a:lstStyle/>
          <a:p>
            <a:r>
              <a:rPr lang="en-US" sz="2400" b="1" i="1" dirty="0" err="1"/>
              <a:t>Phát</a:t>
            </a:r>
            <a:r>
              <a:rPr lang="en-US" sz="2400" b="1" i="1" dirty="0"/>
              <a:t> </a:t>
            </a:r>
            <a:r>
              <a:rPr lang="en-US" sz="2400" b="1" i="1" dirty="0" err="1"/>
              <a:t>triển</a:t>
            </a:r>
            <a:r>
              <a:rPr lang="en-US" sz="2400" b="1" i="1" dirty="0"/>
              <a:t> </a:t>
            </a:r>
            <a:r>
              <a:rPr lang="en-US" sz="2400" b="1" i="1" dirty="0" err="1"/>
              <a:t>ứng</a:t>
            </a:r>
            <a:r>
              <a:rPr lang="en-US" sz="2400" b="1" i="1" dirty="0"/>
              <a:t> </a:t>
            </a:r>
            <a:r>
              <a:rPr lang="en-US" sz="2400" b="1" i="1" dirty="0" err="1"/>
              <a:t>dụng</a:t>
            </a:r>
            <a:r>
              <a:rPr lang="en-US" sz="2400" b="1" i="1" dirty="0"/>
              <a:t> </a:t>
            </a:r>
            <a:r>
              <a:rPr lang="en-US" sz="2400" b="1" i="1" dirty="0" err="1"/>
              <a:t>chung</a:t>
            </a:r>
            <a:r>
              <a:rPr lang="en-US" sz="2400" b="1" i="1" dirty="0"/>
              <a:t> (Joint Application Development - JAD)</a:t>
            </a:r>
            <a:r>
              <a:rPr lang="en-US" sz="2400" dirty="0"/>
              <a:t> </a:t>
            </a:r>
            <a:r>
              <a:rPr lang="en-US" sz="2400" dirty="0" err="1"/>
              <a:t>là</a:t>
            </a:r>
            <a:r>
              <a:rPr lang="en-US" sz="2400" dirty="0"/>
              <a:t> </a:t>
            </a:r>
            <a:r>
              <a:rPr lang="en-US" sz="2400" dirty="0" err="1"/>
              <a:t>một</a:t>
            </a:r>
            <a:r>
              <a:rPr lang="en-US" sz="2400" dirty="0"/>
              <a:t> </a:t>
            </a:r>
            <a:r>
              <a:rPr lang="en-US" sz="2400" dirty="0" err="1"/>
              <a:t>kỹ</a:t>
            </a:r>
            <a:r>
              <a:rPr lang="en-US" sz="2400" dirty="0"/>
              <a:t> </a:t>
            </a:r>
            <a:r>
              <a:rPr lang="en-US" sz="2400" dirty="0" err="1"/>
              <a:t>thuật</a:t>
            </a:r>
            <a:r>
              <a:rPr lang="en-US" sz="2400" dirty="0"/>
              <a:t> </a:t>
            </a:r>
            <a:r>
              <a:rPr lang="en-US" sz="2400" dirty="0" err="1"/>
              <a:t>thu</a:t>
            </a:r>
            <a:r>
              <a:rPr lang="en-US" sz="2400" dirty="0"/>
              <a:t> </a:t>
            </a:r>
            <a:r>
              <a:rPr lang="en-US" sz="2400" dirty="0" err="1"/>
              <a:t>thập</a:t>
            </a:r>
            <a:r>
              <a:rPr lang="en-US" sz="2400" dirty="0"/>
              <a:t> </a:t>
            </a:r>
            <a:r>
              <a:rPr lang="en-US" sz="2400" dirty="0" err="1"/>
              <a:t>thông</a:t>
            </a:r>
            <a:r>
              <a:rPr lang="en-US" sz="2400" dirty="0"/>
              <a:t> tin </a:t>
            </a:r>
            <a:r>
              <a:rPr lang="en-US" sz="2400" dirty="0" err="1"/>
              <a:t>thực</a:t>
            </a:r>
            <a:r>
              <a:rPr lang="en-US" sz="2400" dirty="0"/>
              <a:t> </a:t>
            </a:r>
            <a:r>
              <a:rPr lang="en-US" sz="2400" dirty="0" err="1"/>
              <a:t>tế</a:t>
            </a:r>
            <a:r>
              <a:rPr lang="en-US" sz="2400" dirty="0"/>
              <a:t> </a:t>
            </a:r>
            <a:r>
              <a:rPr lang="en-US" sz="2400" dirty="0" err="1"/>
              <a:t>phổ</a:t>
            </a:r>
            <a:r>
              <a:rPr lang="en-US" sz="2400" dirty="0"/>
              <a:t> </a:t>
            </a:r>
            <a:r>
              <a:rPr lang="en-US" sz="2400" dirty="0" err="1"/>
              <a:t>biến</a:t>
            </a:r>
            <a:r>
              <a:rPr lang="en-US" sz="2400" dirty="0"/>
              <a:t>, </a:t>
            </a:r>
            <a:r>
              <a:rPr lang="en-US" sz="2400" dirty="0" err="1"/>
              <a:t>đưa</a:t>
            </a:r>
            <a:r>
              <a:rPr lang="en-US" sz="2400" dirty="0"/>
              <a:t> </a:t>
            </a:r>
            <a:r>
              <a:rPr lang="en-US" sz="2400" dirty="0" err="1"/>
              <a:t>người</a:t>
            </a:r>
            <a:r>
              <a:rPr lang="en-US" sz="2400" dirty="0"/>
              <a:t> </a:t>
            </a:r>
            <a:r>
              <a:rPr lang="en-US" sz="2400" dirty="0" err="1"/>
              <a:t>dùng</a:t>
            </a:r>
            <a:r>
              <a:rPr lang="en-US" sz="2400" dirty="0"/>
              <a:t> </a:t>
            </a:r>
            <a:r>
              <a:rPr lang="en-US" sz="2400" dirty="0" err="1"/>
              <a:t>tham</a:t>
            </a:r>
            <a:r>
              <a:rPr lang="en-US" sz="2400" dirty="0"/>
              <a:t> </a:t>
            </a:r>
            <a:r>
              <a:rPr lang="en-US" sz="2400" dirty="0" err="1"/>
              <a:t>gia</a:t>
            </a:r>
            <a:r>
              <a:rPr lang="en-US" sz="2400" dirty="0"/>
              <a:t> </a:t>
            </a:r>
            <a:r>
              <a:rPr lang="en-US" sz="2400" dirty="0" err="1"/>
              <a:t>trực</a:t>
            </a:r>
            <a:r>
              <a:rPr lang="en-US" sz="2400" dirty="0"/>
              <a:t> </a:t>
            </a:r>
            <a:r>
              <a:rPr lang="en-US" sz="2400" dirty="0" err="1"/>
              <a:t>tiếp</a:t>
            </a:r>
            <a:r>
              <a:rPr lang="en-US" sz="2400" dirty="0"/>
              <a:t> </a:t>
            </a:r>
            <a:r>
              <a:rPr lang="en-US" sz="2400" dirty="0" err="1"/>
              <a:t>vào</a:t>
            </a:r>
            <a:r>
              <a:rPr lang="en-US" sz="2400" dirty="0"/>
              <a:t> </a:t>
            </a:r>
            <a:r>
              <a:rPr lang="en-US" sz="2400" dirty="0" err="1"/>
              <a:t>quá</a:t>
            </a:r>
            <a:r>
              <a:rPr lang="en-US" sz="2400" dirty="0"/>
              <a:t> </a:t>
            </a:r>
            <a:r>
              <a:rPr lang="en-US" sz="2400" dirty="0" err="1"/>
              <a:t>trình</a:t>
            </a:r>
            <a:r>
              <a:rPr lang="en-US" sz="2400" dirty="0"/>
              <a:t> </a:t>
            </a:r>
            <a:r>
              <a:rPr lang="en-US" sz="2400" dirty="0" err="1"/>
              <a:t>phát</a:t>
            </a:r>
            <a:r>
              <a:rPr lang="en-US" sz="2400" dirty="0"/>
              <a:t> </a:t>
            </a:r>
            <a:r>
              <a:rPr lang="en-US" sz="2400" dirty="0" err="1"/>
              <a:t>triển</a:t>
            </a:r>
            <a:r>
              <a:rPr lang="en-US" sz="2400" dirty="0"/>
              <a:t> </a:t>
            </a:r>
            <a:r>
              <a:rPr lang="en-US" sz="2400" dirty="0" err="1"/>
              <a:t>với</a:t>
            </a:r>
            <a:r>
              <a:rPr lang="en-US" sz="2400" dirty="0"/>
              <a:t> </a:t>
            </a:r>
            <a:r>
              <a:rPr lang="en-US" sz="2400" dirty="0" err="1"/>
              <a:t>vai</a:t>
            </a:r>
            <a:r>
              <a:rPr lang="en-US" sz="2400" dirty="0"/>
              <a:t> </a:t>
            </a:r>
            <a:r>
              <a:rPr lang="en-US" sz="2400" dirty="0" err="1"/>
              <a:t>trò</a:t>
            </a:r>
            <a:r>
              <a:rPr lang="en-US" sz="2400" dirty="0"/>
              <a:t> </a:t>
            </a:r>
            <a:r>
              <a:rPr lang="en-US" sz="2400" dirty="0" err="1"/>
              <a:t>là</a:t>
            </a:r>
            <a:r>
              <a:rPr lang="en-US" sz="2400" dirty="0"/>
              <a:t> </a:t>
            </a:r>
            <a:r>
              <a:rPr lang="en-US" sz="2400" dirty="0" err="1"/>
              <a:t>những</a:t>
            </a:r>
            <a:r>
              <a:rPr lang="en-US" sz="2400" dirty="0"/>
              <a:t> </a:t>
            </a:r>
            <a:r>
              <a:rPr lang="en-US" sz="2400" dirty="0" err="1"/>
              <a:t>người</a:t>
            </a:r>
            <a:r>
              <a:rPr lang="en-US" sz="2400" dirty="0"/>
              <a:t> </a:t>
            </a:r>
            <a:r>
              <a:rPr lang="en-US" sz="2400" dirty="0" err="1"/>
              <a:t>tham</a:t>
            </a:r>
            <a:r>
              <a:rPr lang="en-US" sz="2400" dirty="0"/>
              <a:t> </a:t>
            </a:r>
            <a:r>
              <a:rPr lang="en-US" sz="2400" dirty="0" err="1"/>
              <a:t>gia</a:t>
            </a:r>
            <a:r>
              <a:rPr lang="en-US" sz="2400" dirty="0"/>
              <a:t> </a:t>
            </a:r>
            <a:r>
              <a:rPr lang="en-US" sz="2400" dirty="0" err="1"/>
              <a:t>tích</a:t>
            </a:r>
            <a:r>
              <a:rPr lang="en-US" sz="2400" dirty="0"/>
              <a:t> </a:t>
            </a:r>
            <a:r>
              <a:rPr lang="en-US" sz="2400" dirty="0" err="1"/>
              <a:t>cực</a:t>
            </a:r>
            <a:r>
              <a:rPr lang="en-US" sz="2400" dirty="0"/>
              <a:t>. </a:t>
            </a:r>
            <a:r>
              <a:rPr lang="en-US" sz="2400" dirty="0" err="1"/>
              <a:t>Mục</a:t>
            </a:r>
            <a:r>
              <a:rPr lang="en-US" sz="2400" dirty="0"/>
              <a:t> </a:t>
            </a:r>
            <a:r>
              <a:rPr lang="en-US" sz="2400" dirty="0" err="1"/>
              <a:t>đích</a:t>
            </a:r>
            <a:r>
              <a:rPr lang="en-US" sz="2400" dirty="0"/>
              <a:t> </a:t>
            </a:r>
            <a:r>
              <a:rPr lang="en-US" sz="2400" dirty="0" err="1"/>
              <a:t>của</a:t>
            </a:r>
            <a:r>
              <a:rPr lang="en-US" sz="2400" dirty="0"/>
              <a:t> </a:t>
            </a:r>
            <a:r>
              <a:rPr lang="en-US" sz="2400" dirty="0" err="1"/>
              <a:t>nó</a:t>
            </a:r>
            <a:r>
              <a:rPr lang="en-US" sz="2400" dirty="0"/>
              <a:t> </a:t>
            </a:r>
            <a:r>
              <a:rPr lang="en-US" sz="2400" dirty="0" err="1"/>
              <a:t>liên</a:t>
            </a:r>
            <a:r>
              <a:rPr lang="en-US" sz="2400" dirty="0"/>
              <a:t> </a:t>
            </a:r>
            <a:r>
              <a:rPr lang="en-US" sz="2400" dirty="0" err="1"/>
              <a:t>quan</a:t>
            </a:r>
            <a:r>
              <a:rPr lang="en-US" sz="2400" dirty="0"/>
              <a:t> </a:t>
            </a:r>
            <a:r>
              <a:rPr lang="en-US" sz="2400" dirty="0" err="1"/>
              <a:t>đến</a:t>
            </a:r>
            <a:r>
              <a:rPr lang="en-US" sz="2400" dirty="0"/>
              <a:t> </a:t>
            </a:r>
            <a:r>
              <a:rPr lang="en-US" sz="2400" dirty="0" err="1"/>
              <a:t>khách</a:t>
            </a:r>
            <a:r>
              <a:rPr lang="en-US" sz="2400" dirty="0"/>
              <a:t> </a:t>
            </a:r>
            <a:r>
              <a:rPr lang="en-US" sz="2400" dirty="0" err="1"/>
              <a:t>hàng</a:t>
            </a:r>
            <a:r>
              <a:rPr lang="en-US" sz="2400" dirty="0"/>
              <a:t> </a:t>
            </a:r>
            <a:r>
              <a:rPr lang="en-US" sz="2400" dirty="0" err="1"/>
              <a:t>hoặc</a:t>
            </a:r>
            <a:r>
              <a:rPr lang="en-US" sz="2400" dirty="0"/>
              <a:t> </a:t>
            </a:r>
            <a:r>
              <a:rPr lang="en-US" sz="2400" dirty="0" err="1"/>
              <a:t>người</a:t>
            </a:r>
            <a:r>
              <a:rPr lang="en-US" sz="2400" dirty="0"/>
              <a:t> </a:t>
            </a:r>
            <a:r>
              <a:rPr lang="en-US" sz="2400" dirty="0" err="1"/>
              <a:t>dùng</a:t>
            </a:r>
            <a:r>
              <a:rPr lang="en-US" sz="2400" dirty="0"/>
              <a:t> </a:t>
            </a:r>
            <a:r>
              <a:rPr lang="en-US" sz="2400" dirty="0" err="1"/>
              <a:t>cuối</a:t>
            </a:r>
            <a:r>
              <a:rPr lang="en-US" sz="2400" dirty="0"/>
              <a:t> </a:t>
            </a:r>
            <a:r>
              <a:rPr lang="en-US" sz="2400" dirty="0" err="1"/>
              <a:t>trong</a:t>
            </a:r>
            <a:r>
              <a:rPr lang="en-US" sz="2400" dirty="0"/>
              <a:t> </a:t>
            </a:r>
            <a:r>
              <a:rPr lang="en-US" sz="2400" dirty="0" err="1"/>
              <a:t>việc</a:t>
            </a:r>
            <a:r>
              <a:rPr lang="en-US" sz="2400" dirty="0"/>
              <a:t> </a:t>
            </a:r>
            <a:r>
              <a:rPr lang="en-US" sz="2400" dirty="0" err="1"/>
              <a:t>xác</a:t>
            </a:r>
            <a:r>
              <a:rPr lang="en-US" sz="2400" dirty="0"/>
              <a:t> </a:t>
            </a:r>
            <a:r>
              <a:rPr lang="en-US" sz="2400" dirty="0" err="1"/>
              <a:t>định</a:t>
            </a:r>
            <a:r>
              <a:rPr lang="en-US" sz="2400" dirty="0"/>
              <a:t> </a:t>
            </a:r>
            <a:r>
              <a:rPr lang="en-US" sz="2400" dirty="0" err="1"/>
              <a:t>nhu</a:t>
            </a:r>
            <a:r>
              <a:rPr lang="en-US" sz="2400" dirty="0"/>
              <a:t> </a:t>
            </a:r>
            <a:r>
              <a:rPr lang="en-US" sz="2400" dirty="0" err="1"/>
              <a:t>cầu</a:t>
            </a:r>
            <a:r>
              <a:rPr lang="en-US" sz="2400" dirty="0"/>
              <a:t> </a:t>
            </a:r>
            <a:r>
              <a:rPr lang="en-US" sz="2400" dirty="0" err="1"/>
              <a:t>kinh</a:t>
            </a:r>
            <a:r>
              <a:rPr lang="en-US" sz="2400" dirty="0"/>
              <a:t> </a:t>
            </a:r>
            <a:r>
              <a:rPr lang="en-US" sz="2400" dirty="0" err="1"/>
              <a:t>doanh</a:t>
            </a:r>
            <a:r>
              <a:rPr lang="en-US" sz="2400" dirty="0"/>
              <a:t> </a:t>
            </a:r>
            <a:r>
              <a:rPr lang="en-US" sz="2400" dirty="0" err="1"/>
              <a:t>và</a:t>
            </a:r>
            <a:r>
              <a:rPr lang="en-US" sz="2400" dirty="0"/>
              <a:t> </a:t>
            </a:r>
            <a:r>
              <a:rPr lang="en-US" sz="2400" dirty="0" err="1"/>
              <a:t>phát</a:t>
            </a:r>
            <a:r>
              <a:rPr lang="en-US" sz="2400" dirty="0"/>
              <a:t> </a:t>
            </a:r>
            <a:r>
              <a:rPr lang="en-US" sz="2400" dirty="0" err="1"/>
              <a:t>triển</a:t>
            </a:r>
            <a:r>
              <a:rPr lang="en-US" sz="2400" dirty="0"/>
              <a:t> </a:t>
            </a:r>
            <a:r>
              <a:rPr lang="en-US" sz="2400" dirty="0" err="1"/>
              <a:t>giải</a:t>
            </a:r>
            <a:r>
              <a:rPr lang="en-US" sz="2400" dirty="0"/>
              <a:t> </a:t>
            </a:r>
            <a:r>
              <a:rPr lang="en-US" sz="2400" dirty="0" err="1"/>
              <a:t>pháp</a:t>
            </a:r>
            <a:r>
              <a:rPr lang="en-US" sz="2400" dirty="0"/>
              <a:t> </a:t>
            </a:r>
            <a:r>
              <a:rPr lang="en-US" sz="2400" dirty="0" err="1"/>
              <a:t>dựa</a:t>
            </a:r>
            <a:r>
              <a:rPr lang="en-US" sz="2400" dirty="0"/>
              <a:t> </a:t>
            </a:r>
            <a:r>
              <a:rPr lang="en-US" sz="2400" dirty="0" err="1"/>
              <a:t>trên</a:t>
            </a:r>
            <a:r>
              <a:rPr lang="en-US" sz="2400" dirty="0"/>
              <a:t> </a:t>
            </a:r>
            <a:r>
              <a:rPr lang="en-US" sz="2400" dirty="0" err="1"/>
              <a:t>nhu</a:t>
            </a:r>
            <a:r>
              <a:rPr lang="en-US" sz="2400" dirty="0"/>
              <a:t> </a:t>
            </a:r>
            <a:r>
              <a:rPr lang="en-US" sz="2400" dirty="0" err="1"/>
              <a:t>cầu</a:t>
            </a:r>
            <a:r>
              <a:rPr lang="en-US" sz="2400" dirty="0"/>
              <a:t> </a:t>
            </a:r>
            <a:r>
              <a:rPr lang="en-US" sz="2400" dirty="0" err="1"/>
              <a:t>của</a:t>
            </a:r>
            <a:r>
              <a:rPr lang="en-US" sz="2400" dirty="0"/>
              <a:t> </a:t>
            </a:r>
            <a:r>
              <a:rPr lang="en-US" sz="2400" dirty="0" err="1"/>
              <a:t>họ</a:t>
            </a:r>
            <a:r>
              <a:rPr lang="en-US" sz="2400" dirty="0"/>
              <a:t>. </a:t>
            </a:r>
            <a:r>
              <a:rPr lang="en-US" sz="2400" dirty="0" err="1"/>
              <a:t>Khách</a:t>
            </a:r>
            <a:r>
              <a:rPr lang="en-US" sz="2400" dirty="0"/>
              <a:t> </a:t>
            </a:r>
            <a:r>
              <a:rPr lang="en-US" sz="2400" dirty="0" err="1"/>
              <a:t>hàng</a:t>
            </a:r>
            <a:r>
              <a:rPr lang="en-US" sz="2400" dirty="0"/>
              <a:t>, </a:t>
            </a:r>
            <a:r>
              <a:rPr lang="en-US" sz="2400" dirty="0" err="1"/>
              <a:t>người</a:t>
            </a:r>
            <a:r>
              <a:rPr lang="en-US" sz="2400" dirty="0"/>
              <a:t> </a:t>
            </a:r>
            <a:r>
              <a:rPr lang="en-US" sz="2400" dirty="0" err="1"/>
              <a:t>dùng</a:t>
            </a:r>
            <a:r>
              <a:rPr lang="en-US" sz="2400" dirty="0"/>
              <a:t> </a:t>
            </a:r>
            <a:r>
              <a:rPr lang="en-US" sz="2400" dirty="0" err="1"/>
              <a:t>hoặc</a:t>
            </a:r>
            <a:r>
              <a:rPr lang="en-US" sz="2400" dirty="0"/>
              <a:t> </a:t>
            </a:r>
            <a:r>
              <a:rPr lang="en-US" sz="2400" dirty="0" err="1"/>
              <a:t>người</a:t>
            </a:r>
            <a:r>
              <a:rPr lang="en-US" sz="2400" dirty="0"/>
              <a:t> </a:t>
            </a:r>
            <a:r>
              <a:rPr lang="en-US" sz="2400" dirty="0" err="1"/>
              <a:t>dùng</a:t>
            </a:r>
            <a:r>
              <a:rPr lang="en-US" sz="2400" dirty="0"/>
              <a:t> </a:t>
            </a:r>
            <a:r>
              <a:rPr lang="en-US" sz="2400" dirty="0" err="1"/>
              <a:t>cuối</a:t>
            </a:r>
            <a:r>
              <a:rPr lang="en-US" sz="2400" dirty="0"/>
              <a:t> </a:t>
            </a:r>
            <a:r>
              <a:rPr lang="en-US" sz="2400" dirty="0" err="1"/>
              <a:t>tham</a:t>
            </a:r>
            <a:r>
              <a:rPr lang="en-US" sz="2400" dirty="0"/>
              <a:t> </a:t>
            </a:r>
            <a:r>
              <a:rPr lang="en-US" sz="2400" dirty="0" err="1"/>
              <a:t>gia</a:t>
            </a:r>
            <a:r>
              <a:rPr lang="en-US" sz="2400" dirty="0"/>
              <a:t> </a:t>
            </a:r>
            <a:r>
              <a:rPr lang="en-US" sz="2400" dirty="0" err="1"/>
              <a:t>trong</a:t>
            </a:r>
            <a:r>
              <a:rPr lang="en-US" sz="2400" dirty="0"/>
              <a:t> </a:t>
            </a:r>
            <a:r>
              <a:rPr lang="en-US" sz="2400" dirty="0" err="1"/>
              <a:t>suốt</a:t>
            </a:r>
            <a:r>
              <a:rPr lang="en-US" sz="2400" dirty="0"/>
              <a:t> </a:t>
            </a:r>
            <a:r>
              <a:rPr lang="en-US" sz="2400" dirty="0" err="1"/>
              <a:t>vòng</a:t>
            </a:r>
            <a:r>
              <a:rPr lang="en-US" sz="2400" dirty="0"/>
              <a:t> </a:t>
            </a:r>
            <a:r>
              <a:rPr lang="en-US" sz="2400" dirty="0" err="1"/>
              <a:t>đời</a:t>
            </a:r>
            <a:r>
              <a:rPr lang="en-US" sz="2400" dirty="0"/>
              <a:t> </a:t>
            </a:r>
            <a:r>
              <a:rPr lang="en-US" sz="2400" dirty="0" err="1"/>
              <a:t>thiết</a:t>
            </a:r>
            <a:r>
              <a:rPr lang="en-US" sz="2400" dirty="0"/>
              <a:t> </a:t>
            </a:r>
            <a:r>
              <a:rPr lang="en-US" sz="2400" dirty="0" err="1"/>
              <a:t>kế</a:t>
            </a:r>
            <a:r>
              <a:rPr lang="en-US" sz="2400" dirty="0"/>
              <a:t> </a:t>
            </a:r>
            <a:r>
              <a:rPr lang="en-US" sz="2400" dirty="0" err="1"/>
              <a:t>và</a:t>
            </a:r>
            <a:r>
              <a:rPr lang="en-US" sz="2400" dirty="0"/>
              <a:t> </a:t>
            </a:r>
            <a:r>
              <a:rPr lang="en-US" sz="2400" dirty="0" err="1"/>
              <a:t>phát</a:t>
            </a:r>
            <a:r>
              <a:rPr lang="en-US" sz="2400" dirty="0"/>
              <a:t> </a:t>
            </a:r>
            <a:r>
              <a:rPr lang="en-US" sz="2400" dirty="0" err="1"/>
              <a:t>triển</a:t>
            </a:r>
            <a:r>
              <a:rPr lang="en-US" sz="2400" dirty="0"/>
              <a:t> </a:t>
            </a:r>
            <a:r>
              <a:rPr lang="en-US" sz="2400" dirty="0" err="1"/>
              <a:t>sản</a:t>
            </a:r>
            <a:r>
              <a:rPr lang="en-US" sz="2400" dirty="0"/>
              <a:t> </a:t>
            </a:r>
            <a:r>
              <a:rPr lang="en-US" sz="2400" dirty="0" err="1"/>
              <a:t>phẩm</a:t>
            </a:r>
            <a:r>
              <a:rPr lang="en-US" sz="2400" dirty="0"/>
              <a:t>.</a:t>
            </a:r>
          </a:p>
        </p:txBody>
      </p:sp>
      <p:sp>
        <p:nvSpPr>
          <p:cNvPr id="18" name="TextBox 17"/>
          <p:cNvSpPr txBox="1"/>
          <p:nvPr/>
        </p:nvSpPr>
        <p:spPr>
          <a:xfrm>
            <a:off x="7164847" y="3104390"/>
            <a:ext cx="8176005" cy="1569660"/>
          </a:xfrm>
          <a:prstGeom prst="rect">
            <a:avLst/>
          </a:prstGeom>
          <a:noFill/>
        </p:spPr>
        <p:txBody>
          <a:bodyPr wrap="square" rtlCol="0">
            <a:spAutoFit/>
          </a:bodyPr>
          <a:lstStyle/>
          <a:p>
            <a:r>
              <a:rPr lang="en-US" sz="2400" dirty="0" err="1"/>
              <a:t>Nhóm</a:t>
            </a:r>
            <a:r>
              <a:rPr lang="en-US" sz="2400" dirty="0"/>
              <a:t> </a:t>
            </a:r>
            <a:r>
              <a:rPr lang="en-US" sz="2400" dirty="0" err="1"/>
              <a:t>phát</a:t>
            </a:r>
            <a:r>
              <a:rPr lang="en-US" sz="2400" dirty="0"/>
              <a:t> </a:t>
            </a:r>
            <a:r>
              <a:rPr lang="en-US" sz="2400" dirty="0" err="1"/>
              <a:t>triển</a:t>
            </a:r>
            <a:r>
              <a:rPr lang="en-US" sz="2400" dirty="0"/>
              <a:t> </a:t>
            </a:r>
            <a:r>
              <a:rPr lang="en-US" sz="2400" dirty="0" err="1"/>
              <a:t>áp</a:t>
            </a:r>
            <a:r>
              <a:rPr lang="en-US" sz="2400" dirty="0"/>
              <a:t> </a:t>
            </a:r>
            <a:r>
              <a:rPr lang="en-US" sz="2400" dirty="0" err="1"/>
              <a:t>dụng</a:t>
            </a:r>
            <a:r>
              <a:rPr lang="en-US" sz="2400" dirty="0"/>
              <a:t> JAD </a:t>
            </a:r>
            <a:r>
              <a:rPr lang="en-US" sz="2400" dirty="0" err="1"/>
              <a:t>tổ</a:t>
            </a:r>
            <a:r>
              <a:rPr lang="en-US" sz="2400" dirty="0"/>
              <a:t> </a:t>
            </a:r>
            <a:r>
              <a:rPr lang="en-US" sz="2400" dirty="0" err="1"/>
              <a:t>chức</a:t>
            </a:r>
            <a:r>
              <a:rPr lang="en-US" sz="2400" dirty="0"/>
              <a:t> </a:t>
            </a:r>
            <a:r>
              <a:rPr lang="en-US" sz="2400" dirty="0" err="1"/>
              <a:t>các</a:t>
            </a:r>
            <a:r>
              <a:rPr lang="en-US" sz="2400" dirty="0"/>
              <a:t> </a:t>
            </a:r>
            <a:r>
              <a:rPr lang="en-US" sz="2400" dirty="0" err="1"/>
              <a:t>hội</a:t>
            </a:r>
            <a:r>
              <a:rPr lang="en-US" sz="2400" dirty="0"/>
              <a:t> </a:t>
            </a:r>
            <a:r>
              <a:rPr lang="en-US" sz="2400" dirty="0" err="1"/>
              <a:t>thảo</a:t>
            </a:r>
            <a:r>
              <a:rPr lang="en-US" sz="2400" dirty="0"/>
              <a:t> </a:t>
            </a:r>
            <a:r>
              <a:rPr lang="en-US" sz="2400" dirty="0" err="1"/>
              <a:t>và</a:t>
            </a:r>
            <a:r>
              <a:rPr lang="en-US" sz="2400" dirty="0"/>
              <a:t> </a:t>
            </a:r>
            <a:r>
              <a:rPr lang="en-US" sz="2400" dirty="0" err="1"/>
              <a:t>phiên</a:t>
            </a:r>
            <a:r>
              <a:rPr lang="en-US" sz="2400" dirty="0"/>
              <a:t> </a:t>
            </a:r>
            <a:r>
              <a:rPr lang="en-US" sz="2400" dirty="0" err="1"/>
              <a:t>họp</a:t>
            </a:r>
            <a:r>
              <a:rPr lang="en-US" sz="2400" dirty="0"/>
              <a:t> </a:t>
            </a:r>
            <a:r>
              <a:rPr lang="en-US" sz="2400" dirty="0" err="1"/>
              <a:t>có</a:t>
            </a:r>
            <a:r>
              <a:rPr lang="en-US" sz="2400" dirty="0"/>
              <a:t> </a:t>
            </a:r>
            <a:r>
              <a:rPr lang="en-US" sz="2400" dirty="0" err="1"/>
              <a:t>sự</a:t>
            </a:r>
            <a:r>
              <a:rPr lang="en-US" sz="2400" dirty="0"/>
              <a:t> </a:t>
            </a:r>
            <a:r>
              <a:rPr lang="en-US" sz="2400" dirty="0" err="1"/>
              <a:t>hỗ</a:t>
            </a:r>
            <a:r>
              <a:rPr lang="en-US" sz="2400" dirty="0"/>
              <a:t> </a:t>
            </a:r>
            <a:r>
              <a:rPr lang="en-US" sz="2400" dirty="0" err="1"/>
              <a:t>trợ</a:t>
            </a:r>
            <a:r>
              <a:rPr lang="en-US" sz="2400" dirty="0"/>
              <a:t> </a:t>
            </a:r>
            <a:r>
              <a:rPr lang="en-US" sz="2400" dirty="0" err="1"/>
              <a:t>của</a:t>
            </a:r>
            <a:r>
              <a:rPr lang="en-US" sz="2400" dirty="0"/>
              <a:t> </a:t>
            </a:r>
            <a:r>
              <a:rPr lang="en-US" sz="2400" dirty="0" err="1"/>
              <a:t>người</a:t>
            </a:r>
            <a:r>
              <a:rPr lang="en-US" sz="2400" dirty="0"/>
              <a:t> </a:t>
            </a:r>
            <a:r>
              <a:rPr lang="en-US" sz="2400" dirty="0" err="1"/>
              <a:t>dùng</a:t>
            </a:r>
            <a:r>
              <a:rPr lang="en-US" sz="2400" dirty="0"/>
              <a:t> </a:t>
            </a:r>
            <a:r>
              <a:rPr lang="en-US" sz="2400" dirty="0" err="1"/>
              <a:t>cuối</a:t>
            </a:r>
            <a:r>
              <a:rPr lang="en-US" sz="2400" dirty="0"/>
              <a:t>.  </a:t>
            </a:r>
            <a:r>
              <a:rPr lang="en-US" sz="2400" dirty="0" err="1"/>
              <a:t>Nhờ</a:t>
            </a:r>
            <a:r>
              <a:rPr lang="en-US" sz="2400" dirty="0"/>
              <a:t> </a:t>
            </a:r>
            <a:r>
              <a:rPr lang="en-US" sz="2400" dirty="0" err="1"/>
              <a:t>đó</a:t>
            </a:r>
            <a:r>
              <a:rPr lang="en-US" sz="2400" dirty="0"/>
              <a:t> </a:t>
            </a:r>
            <a:r>
              <a:rPr lang="en-US" sz="2400" dirty="0" err="1"/>
              <a:t>thúc</a:t>
            </a:r>
            <a:r>
              <a:rPr lang="en-US" sz="2400" dirty="0"/>
              <a:t> </a:t>
            </a:r>
            <a:r>
              <a:rPr lang="en-US" sz="2400" dirty="0" err="1"/>
              <a:t>đẩy</a:t>
            </a:r>
            <a:r>
              <a:rPr lang="en-US" sz="2400" dirty="0"/>
              <a:t> </a:t>
            </a:r>
            <a:r>
              <a:rPr lang="en-US" sz="2400" dirty="0" err="1"/>
              <a:t>tinh</a:t>
            </a:r>
            <a:r>
              <a:rPr lang="en-US" sz="2400" dirty="0"/>
              <a:t> </a:t>
            </a:r>
            <a:r>
              <a:rPr lang="en-US" sz="2400" dirty="0" err="1"/>
              <a:t>thần</a:t>
            </a:r>
            <a:r>
              <a:rPr lang="en-US" sz="2400" dirty="0"/>
              <a:t> </a:t>
            </a:r>
            <a:r>
              <a:rPr lang="en-US" sz="2400" dirty="0" err="1"/>
              <a:t>hợp</a:t>
            </a:r>
            <a:r>
              <a:rPr lang="en-US" sz="2400" dirty="0"/>
              <a:t> </a:t>
            </a:r>
            <a:r>
              <a:rPr lang="en-US" sz="2400" dirty="0" err="1"/>
              <a:t>tác</a:t>
            </a:r>
            <a:r>
              <a:rPr lang="en-US" sz="2400" dirty="0"/>
              <a:t> </a:t>
            </a:r>
            <a:r>
              <a:rPr lang="en-US" sz="2400" dirty="0" err="1"/>
              <a:t>và</a:t>
            </a:r>
            <a:r>
              <a:rPr lang="en-US" sz="2400" dirty="0"/>
              <a:t> </a:t>
            </a:r>
            <a:r>
              <a:rPr lang="en-US" sz="2400" dirty="0" err="1"/>
              <a:t>cộng</a:t>
            </a:r>
            <a:r>
              <a:rPr lang="en-US" sz="2400" dirty="0"/>
              <a:t> </a:t>
            </a:r>
            <a:r>
              <a:rPr lang="en-US" sz="2400" dirty="0" err="1"/>
              <a:t>tác</a:t>
            </a:r>
            <a:r>
              <a:rPr lang="en-US" sz="2400" dirty="0"/>
              <a:t>, </a:t>
            </a:r>
            <a:r>
              <a:rPr lang="en-US" sz="2400" dirty="0" err="1"/>
              <a:t>các</a:t>
            </a:r>
            <a:r>
              <a:rPr lang="en-US" sz="2400" dirty="0"/>
              <a:t> </a:t>
            </a:r>
            <a:r>
              <a:rPr lang="en-US" sz="2400" dirty="0" err="1"/>
              <a:t>yêu</a:t>
            </a:r>
            <a:r>
              <a:rPr lang="en-US" sz="2400" dirty="0"/>
              <a:t> </a:t>
            </a:r>
            <a:r>
              <a:rPr lang="en-US" sz="2400" dirty="0" err="1"/>
              <a:t>cầu</a:t>
            </a:r>
            <a:r>
              <a:rPr lang="en-US" sz="2400" dirty="0"/>
              <a:t> </a:t>
            </a:r>
            <a:r>
              <a:rPr lang="en-US" sz="2400" dirty="0" err="1"/>
              <a:t>được</a:t>
            </a:r>
            <a:r>
              <a:rPr lang="en-US" sz="2400" dirty="0"/>
              <a:t> </a:t>
            </a:r>
            <a:r>
              <a:rPr lang="en-US" sz="2400" dirty="0" err="1"/>
              <a:t>ghi</a:t>
            </a:r>
            <a:r>
              <a:rPr lang="en-US" sz="2400" dirty="0"/>
              <a:t> </a:t>
            </a:r>
            <a:r>
              <a:rPr lang="en-US" sz="2400" dirty="0" err="1"/>
              <a:t>chép</a:t>
            </a:r>
            <a:r>
              <a:rPr lang="en-US" sz="2400" dirty="0"/>
              <a:t> </a:t>
            </a:r>
            <a:r>
              <a:rPr lang="en-US" sz="2400" dirty="0" err="1"/>
              <a:t>nhanh</a:t>
            </a:r>
            <a:r>
              <a:rPr lang="en-US" sz="2400" dirty="0"/>
              <a:t> </a:t>
            </a:r>
            <a:r>
              <a:rPr lang="en-US" sz="2400" dirty="0" err="1"/>
              <a:t>hơn</a:t>
            </a:r>
            <a:r>
              <a:rPr lang="en-US" sz="2400" dirty="0"/>
              <a:t> </a:t>
            </a:r>
            <a:r>
              <a:rPr lang="en-US" sz="2400" dirty="0" err="1"/>
              <a:t>và</a:t>
            </a:r>
            <a:r>
              <a:rPr lang="en-US" sz="2400" dirty="0"/>
              <a:t> </a:t>
            </a:r>
            <a:r>
              <a:rPr lang="en-US" sz="2400" dirty="0" err="1"/>
              <a:t>chính</a:t>
            </a:r>
            <a:r>
              <a:rPr lang="en-US" sz="2400" dirty="0"/>
              <a:t> </a:t>
            </a:r>
            <a:r>
              <a:rPr lang="en-US" sz="2400" dirty="0" err="1"/>
              <a:t>xác</a:t>
            </a:r>
            <a:r>
              <a:rPr lang="en-US" sz="2400" dirty="0"/>
              <a:t> </a:t>
            </a:r>
            <a:r>
              <a:rPr lang="en-US" sz="2400" dirty="0" err="1"/>
              <a:t>hơn</a:t>
            </a:r>
            <a:r>
              <a:rPr lang="en-US" sz="2400" dirty="0"/>
              <a:t> so </a:t>
            </a:r>
            <a:r>
              <a:rPr lang="en-US" sz="2400" dirty="0" err="1"/>
              <a:t>với</a:t>
            </a:r>
            <a:r>
              <a:rPr lang="en-US" sz="2400" dirty="0"/>
              <a:t> </a:t>
            </a:r>
            <a:r>
              <a:rPr lang="en-US" sz="2400" dirty="0" err="1"/>
              <a:t>các</a:t>
            </a:r>
            <a:r>
              <a:rPr lang="en-US" sz="2400" dirty="0"/>
              <a:t> </a:t>
            </a:r>
            <a:r>
              <a:rPr lang="en-US" sz="2400" dirty="0" err="1"/>
              <a:t>phương</a:t>
            </a:r>
            <a:r>
              <a:rPr lang="en-US" sz="2400" dirty="0"/>
              <a:t> </a:t>
            </a:r>
            <a:r>
              <a:rPr lang="en-US" sz="2400" dirty="0" err="1"/>
              <a:t>pháp</a:t>
            </a:r>
            <a:r>
              <a:rPr lang="en-US" sz="2400" dirty="0"/>
              <a:t> </a:t>
            </a:r>
            <a:r>
              <a:rPr lang="en-US" sz="2400" dirty="0" err="1"/>
              <a:t>thu</a:t>
            </a:r>
            <a:r>
              <a:rPr lang="en-US" sz="2400" dirty="0"/>
              <a:t> </a:t>
            </a:r>
            <a:r>
              <a:rPr lang="en-US" sz="2400" dirty="0" err="1"/>
              <a:t>thập</a:t>
            </a:r>
            <a:r>
              <a:rPr lang="en-US" sz="2400" dirty="0"/>
              <a:t> </a:t>
            </a:r>
            <a:r>
              <a:rPr lang="en-US" sz="2400" dirty="0" err="1"/>
              <a:t>truyền</a:t>
            </a:r>
            <a:r>
              <a:rPr lang="en-US" sz="2400" dirty="0"/>
              <a:t> </a:t>
            </a:r>
            <a:r>
              <a:rPr lang="en-US" sz="2400" dirty="0" err="1"/>
              <a:t>thống</a:t>
            </a:r>
            <a:r>
              <a:rPr lang="en-US" sz="2400" dirty="0"/>
              <a:t>.</a:t>
            </a:r>
          </a:p>
        </p:txBody>
      </p:sp>
      <p:sp>
        <p:nvSpPr>
          <p:cNvPr id="20" name="TextBox 19"/>
          <p:cNvSpPr txBox="1"/>
          <p:nvPr/>
        </p:nvSpPr>
        <p:spPr>
          <a:xfrm>
            <a:off x="7173332" y="4818711"/>
            <a:ext cx="8656320" cy="1200329"/>
          </a:xfrm>
          <a:prstGeom prst="rect">
            <a:avLst/>
          </a:prstGeom>
          <a:noFill/>
        </p:spPr>
        <p:txBody>
          <a:bodyPr wrap="square" rtlCol="0">
            <a:spAutoFit/>
          </a:bodyPr>
          <a:lstStyle/>
          <a:p>
            <a:r>
              <a:rPr lang="en-US" sz="2400" dirty="0"/>
              <a:t>JAD </a:t>
            </a:r>
            <a:r>
              <a:rPr lang="en-US" sz="2400" dirty="0" err="1"/>
              <a:t>giúp</a:t>
            </a:r>
            <a:r>
              <a:rPr lang="en-US" sz="2400" dirty="0"/>
              <a:t> </a:t>
            </a:r>
            <a:r>
              <a:rPr lang="en-US" sz="2400" dirty="0" err="1"/>
              <a:t>điều</a:t>
            </a:r>
            <a:r>
              <a:rPr lang="en-US" sz="2400" dirty="0"/>
              <a:t> </a:t>
            </a:r>
            <a:r>
              <a:rPr lang="en-US" sz="2400" dirty="0" err="1"/>
              <a:t>chỉnh</a:t>
            </a:r>
            <a:r>
              <a:rPr lang="en-US" sz="2400" dirty="0"/>
              <a:t> </a:t>
            </a:r>
            <a:r>
              <a:rPr lang="en-US" sz="2400" dirty="0" err="1"/>
              <a:t>linh</a:t>
            </a:r>
            <a:r>
              <a:rPr lang="en-US" sz="2400" dirty="0"/>
              <a:t> </a:t>
            </a:r>
            <a:r>
              <a:rPr lang="en-US" sz="2400" dirty="0" err="1"/>
              <a:t>hoạt</a:t>
            </a:r>
            <a:r>
              <a:rPr lang="en-US" sz="2400" dirty="0"/>
              <a:t> </a:t>
            </a:r>
            <a:r>
              <a:rPr lang="en-US" sz="2400" dirty="0" err="1"/>
              <a:t>trong</a:t>
            </a:r>
            <a:r>
              <a:rPr lang="en-US" sz="2400" dirty="0"/>
              <a:t> </a:t>
            </a:r>
            <a:r>
              <a:rPr lang="en-US" sz="2400" dirty="0" err="1"/>
              <a:t>quá</a:t>
            </a:r>
            <a:r>
              <a:rPr lang="en-US" sz="2400" dirty="0"/>
              <a:t> </a:t>
            </a:r>
            <a:r>
              <a:rPr lang="en-US" sz="2400" dirty="0" err="1"/>
              <a:t>trình</a:t>
            </a:r>
            <a:r>
              <a:rPr lang="en-US" sz="2400" dirty="0"/>
              <a:t> </a:t>
            </a:r>
            <a:r>
              <a:rPr lang="en-US" sz="2400" dirty="0" err="1"/>
              <a:t>làm</a:t>
            </a:r>
            <a:r>
              <a:rPr lang="en-US" sz="2400" dirty="0"/>
              <a:t> </a:t>
            </a:r>
            <a:r>
              <a:rPr lang="en-US" sz="2400" dirty="0" err="1"/>
              <a:t>việc</a:t>
            </a:r>
            <a:r>
              <a:rPr lang="en-US" sz="2400" dirty="0"/>
              <a:t>, </a:t>
            </a:r>
            <a:r>
              <a:rPr lang="en-US" sz="2400" dirty="0" err="1"/>
              <a:t>nhóm</a:t>
            </a:r>
            <a:r>
              <a:rPr lang="en-US" sz="2400" dirty="0"/>
              <a:t> </a:t>
            </a:r>
            <a:r>
              <a:rPr lang="en-US" sz="2400" dirty="0" err="1"/>
              <a:t>phát</a:t>
            </a:r>
            <a:r>
              <a:rPr lang="en-US" sz="2400" dirty="0"/>
              <a:t> </a:t>
            </a:r>
            <a:r>
              <a:rPr lang="en-US" sz="2400" dirty="0" err="1"/>
              <a:t>triển</a:t>
            </a:r>
            <a:r>
              <a:rPr lang="en-US" sz="2400" dirty="0"/>
              <a:t> </a:t>
            </a:r>
            <a:r>
              <a:rPr lang="en-US" sz="2400" dirty="0" err="1"/>
              <a:t>có</a:t>
            </a:r>
            <a:r>
              <a:rPr lang="en-US" sz="2400" dirty="0"/>
              <a:t> </a:t>
            </a:r>
            <a:r>
              <a:rPr lang="en-US" sz="2400" dirty="0" err="1"/>
              <a:t>thể</a:t>
            </a:r>
            <a:r>
              <a:rPr lang="en-US" sz="2400" dirty="0"/>
              <a:t> </a:t>
            </a:r>
            <a:r>
              <a:rPr lang="en-US" sz="2400" dirty="0" err="1"/>
              <a:t>điều</a:t>
            </a:r>
            <a:r>
              <a:rPr lang="en-US" sz="2400" dirty="0"/>
              <a:t> </a:t>
            </a:r>
            <a:r>
              <a:rPr lang="en-US" sz="2400" dirty="0" err="1"/>
              <a:t>chỉnh</a:t>
            </a:r>
            <a:r>
              <a:rPr lang="en-US" sz="2400" dirty="0"/>
              <a:t> </a:t>
            </a:r>
            <a:r>
              <a:rPr lang="en-US" sz="2400" dirty="0" err="1"/>
              <a:t>các</a:t>
            </a:r>
            <a:r>
              <a:rPr lang="en-US" sz="2400" dirty="0"/>
              <a:t> </a:t>
            </a:r>
            <a:r>
              <a:rPr lang="en-US" sz="2400" dirty="0" err="1"/>
              <a:t>giải</a:t>
            </a:r>
            <a:r>
              <a:rPr lang="en-US" sz="2400" dirty="0"/>
              <a:t> </a:t>
            </a:r>
            <a:r>
              <a:rPr lang="en-US" sz="2400" dirty="0" err="1"/>
              <a:t>pháp</a:t>
            </a:r>
            <a:r>
              <a:rPr lang="en-US" sz="2400" dirty="0"/>
              <a:t> </a:t>
            </a:r>
            <a:r>
              <a:rPr lang="en-US" sz="2400" dirty="0" err="1"/>
              <a:t>dựa</a:t>
            </a:r>
            <a:r>
              <a:rPr lang="en-US" sz="2400" dirty="0"/>
              <a:t> </a:t>
            </a:r>
            <a:r>
              <a:rPr lang="en-US" sz="2400" dirty="0" err="1"/>
              <a:t>trên</a:t>
            </a:r>
            <a:r>
              <a:rPr lang="en-US" sz="2400" dirty="0"/>
              <a:t> </a:t>
            </a:r>
            <a:r>
              <a:rPr lang="en-US" sz="2400" dirty="0" err="1"/>
              <a:t>phản</a:t>
            </a:r>
            <a:r>
              <a:rPr lang="en-US" sz="2400" dirty="0"/>
              <a:t> </a:t>
            </a:r>
            <a:r>
              <a:rPr lang="en-US" sz="2400" dirty="0" err="1"/>
              <a:t>hồi</a:t>
            </a:r>
            <a:r>
              <a:rPr lang="en-US" sz="2400" dirty="0"/>
              <a:t> </a:t>
            </a:r>
            <a:r>
              <a:rPr lang="en-US" sz="2400" dirty="0" err="1"/>
              <a:t>trực</a:t>
            </a:r>
            <a:r>
              <a:rPr lang="en-US" sz="2400" dirty="0"/>
              <a:t> </a:t>
            </a:r>
            <a:r>
              <a:rPr lang="en-US" sz="2400" dirty="0" err="1"/>
              <a:t>tiếp</a:t>
            </a:r>
            <a:r>
              <a:rPr lang="en-US" sz="2400" dirty="0"/>
              <a:t> </a:t>
            </a:r>
            <a:r>
              <a:rPr lang="en-US" sz="2400" dirty="0" err="1"/>
              <a:t>từ</a:t>
            </a:r>
            <a:r>
              <a:rPr lang="en-US" sz="2400" dirty="0"/>
              <a:t> </a:t>
            </a:r>
            <a:r>
              <a:rPr lang="en-US" sz="2400" dirty="0" err="1"/>
              <a:t>khách</a:t>
            </a:r>
            <a:r>
              <a:rPr lang="en-US" sz="2400" dirty="0"/>
              <a:t> </a:t>
            </a:r>
            <a:r>
              <a:rPr lang="en-US" sz="2400" dirty="0" err="1"/>
              <a:t>hàng</a:t>
            </a:r>
            <a:r>
              <a:rPr lang="en-US" sz="2400" dirty="0"/>
              <a:t> </a:t>
            </a:r>
            <a:r>
              <a:rPr lang="en-US" sz="2400" dirty="0" err="1"/>
              <a:t>hoặc</a:t>
            </a:r>
            <a:r>
              <a:rPr lang="en-US" sz="2400" dirty="0"/>
              <a:t> </a:t>
            </a:r>
            <a:r>
              <a:rPr lang="en-US" sz="2400" dirty="0" err="1"/>
              <a:t>người</a:t>
            </a:r>
            <a:r>
              <a:rPr lang="en-US" sz="2400" dirty="0"/>
              <a:t> </a:t>
            </a:r>
            <a:r>
              <a:rPr lang="en-US" sz="2400" dirty="0" err="1"/>
              <a:t>dùng</a:t>
            </a:r>
            <a:r>
              <a:rPr lang="en-US" sz="2400" dirty="0"/>
              <a:t> </a:t>
            </a:r>
            <a:r>
              <a:rPr lang="en-US" sz="2400" dirty="0" err="1"/>
              <a:t>cuối</a:t>
            </a:r>
            <a:r>
              <a:rPr lang="en-US" sz="2400" dirty="0"/>
              <a:t>. </a:t>
            </a:r>
          </a:p>
        </p:txBody>
      </p:sp>
      <p:sp>
        <p:nvSpPr>
          <p:cNvPr id="21" name="TextBox 20"/>
          <p:cNvSpPr txBox="1"/>
          <p:nvPr/>
        </p:nvSpPr>
        <p:spPr>
          <a:xfrm>
            <a:off x="7140195" y="6163701"/>
            <a:ext cx="11147805" cy="1200329"/>
          </a:xfrm>
          <a:prstGeom prst="rect">
            <a:avLst/>
          </a:prstGeom>
          <a:noFill/>
        </p:spPr>
        <p:txBody>
          <a:bodyPr wrap="square" rtlCol="0">
            <a:spAutoFit/>
          </a:bodyPr>
          <a:lstStyle/>
          <a:p>
            <a:r>
              <a:rPr lang="en-US" sz="2400" dirty="0"/>
              <a:t>JAD </a:t>
            </a:r>
            <a:r>
              <a:rPr lang="en-US" sz="2400" dirty="0" err="1"/>
              <a:t>giúp</a:t>
            </a:r>
            <a:r>
              <a:rPr lang="en-US" sz="2400" dirty="0"/>
              <a:t> </a:t>
            </a:r>
            <a:r>
              <a:rPr lang="en-US" sz="2400" dirty="0" err="1"/>
              <a:t>giảm</a:t>
            </a:r>
            <a:r>
              <a:rPr lang="en-US" sz="2400" dirty="0"/>
              <a:t> </a:t>
            </a:r>
            <a:r>
              <a:rPr lang="en-US" sz="2400" dirty="0" err="1"/>
              <a:t>thiểu</a:t>
            </a:r>
            <a:r>
              <a:rPr lang="en-US" sz="2400" dirty="0"/>
              <a:t> </a:t>
            </a:r>
            <a:r>
              <a:rPr lang="en-US" sz="2400" dirty="0" err="1"/>
              <a:t>thời</a:t>
            </a:r>
            <a:r>
              <a:rPr lang="en-US" sz="2400" dirty="0"/>
              <a:t> </a:t>
            </a:r>
            <a:r>
              <a:rPr lang="en-US" sz="2400" dirty="0" err="1"/>
              <a:t>gian</a:t>
            </a:r>
            <a:r>
              <a:rPr lang="en-US" sz="2400" dirty="0"/>
              <a:t> </a:t>
            </a:r>
            <a:r>
              <a:rPr lang="en-US" sz="2400" dirty="0" err="1"/>
              <a:t>và</a:t>
            </a:r>
            <a:r>
              <a:rPr lang="en-US" sz="2400" dirty="0"/>
              <a:t> chi </a:t>
            </a:r>
            <a:r>
              <a:rPr lang="en-US" sz="2400" dirty="0" err="1"/>
              <a:t>phí</a:t>
            </a:r>
            <a:r>
              <a:rPr lang="en-US" sz="2400" dirty="0"/>
              <a:t> </a:t>
            </a:r>
            <a:r>
              <a:rPr lang="en-US" sz="2400" dirty="0" err="1"/>
              <a:t>trong</a:t>
            </a:r>
            <a:r>
              <a:rPr lang="en-US" sz="2400" dirty="0"/>
              <a:t> </a:t>
            </a:r>
            <a:r>
              <a:rPr lang="en-US" sz="2400" dirty="0" err="1"/>
              <a:t>quá</a:t>
            </a:r>
            <a:r>
              <a:rPr lang="en-US" sz="2400" dirty="0"/>
              <a:t> </a:t>
            </a:r>
            <a:r>
              <a:rPr lang="en-US" sz="2400" dirty="0" err="1"/>
              <a:t>trình</a:t>
            </a:r>
            <a:r>
              <a:rPr lang="en-US" sz="2400" dirty="0"/>
              <a:t> </a:t>
            </a:r>
            <a:r>
              <a:rPr lang="en-US" sz="2400" dirty="0" err="1"/>
              <a:t>thu</a:t>
            </a:r>
            <a:r>
              <a:rPr lang="en-US" sz="2400" dirty="0"/>
              <a:t> </a:t>
            </a:r>
            <a:r>
              <a:rPr lang="en-US" sz="2400" dirty="0" err="1"/>
              <a:t>thập</a:t>
            </a:r>
            <a:r>
              <a:rPr lang="en-US" sz="2400" dirty="0"/>
              <a:t> </a:t>
            </a:r>
            <a:r>
              <a:rPr lang="en-US" sz="2400" dirty="0" err="1"/>
              <a:t>yêu</a:t>
            </a:r>
            <a:r>
              <a:rPr lang="en-US" sz="2400" dirty="0"/>
              <a:t> </a:t>
            </a:r>
            <a:r>
              <a:rPr lang="en-US" sz="2400" dirty="0" err="1"/>
              <a:t>cầu</a:t>
            </a:r>
            <a:r>
              <a:rPr lang="en-US" sz="2400" dirty="0"/>
              <a:t> </a:t>
            </a:r>
            <a:r>
              <a:rPr lang="en-US" sz="2400" dirty="0" err="1"/>
              <a:t>nhờ</a:t>
            </a:r>
            <a:r>
              <a:rPr lang="en-US" sz="2400" dirty="0"/>
              <a:t> </a:t>
            </a:r>
            <a:r>
              <a:rPr lang="en-US" sz="2400" dirty="0" err="1"/>
              <a:t>vào</a:t>
            </a:r>
            <a:r>
              <a:rPr lang="en-US" sz="2400" dirty="0"/>
              <a:t> </a:t>
            </a:r>
            <a:r>
              <a:rPr lang="en-US" sz="2400" dirty="0" err="1"/>
              <a:t>các</a:t>
            </a:r>
            <a:r>
              <a:rPr lang="en-US" sz="2400" dirty="0"/>
              <a:t> </a:t>
            </a:r>
            <a:r>
              <a:rPr lang="en-US" sz="2400" dirty="0" err="1"/>
              <a:t>phiên</a:t>
            </a:r>
            <a:r>
              <a:rPr lang="en-US" sz="2400" dirty="0"/>
              <a:t> </a:t>
            </a:r>
            <a:r>
              <a:rPr lang="en-US" sz="2400" dirty="0" err="1"/>
              <a:t>hợp</a:t>
            </a:r>
            <a:r>
              <a:rPr lang="en-US" sz="2400" dirty="0"/>
              <a:t> </a:t>
            </a:r>
            <a:r>
              <a:rPr lang="en-US" sz="2400" dirty="0" err="1"/>
              <a:t>để</a:t>
            </a:r>
            <a:r>
              <a:rPr lang="en-US" sz="2400" dirty="0"/>
              <a:t> </a:t>
            </a:r>
            <a:r>
              <a:rPr lang="en-US" sz="2400" dirty="0" err="1"/>
              <a:t>các</a:t>
            </a:r>
            <a:r>
              <a:rPr lang="en-US" sz="2400" dirty="0"/>
              <a:t> </a:t>
            </a:r>
            <a:r>
              <a:rPr lang="en-US" sz="2400" dirty="0" err="1"/>
              <a:t>bên</a:t>
            </a:r>
            <a:r>
              <a:rPr lang="en-US" sz="2400" dirty="0"/>
              <a:t> </a:t>
            </a:r>
            <a:r>
              <a:rPr lang="en-US" sz="2400" dirty="0" err="1"/>
              <a:t>liên</a:t>
            </a:r>
            <a:r>
              <a:rPr lang="en-US" sz="2400" dirty="0"/>
              <a:t> </a:t>
            </a:r>
            <a:r>
              <a:rPr lang="en-US" sz="2400" dirty="0" err="1"/>
              <a:t>quan</a:t>
            </a:r>
            <a:r>
              <a:rPr lang="en-US" sz="2400" dirty="0"/>
              <a:t> </a:t>
            </a:r>
            <a:r>
              <a:rPr lang="en-US" sz="2400" dirty="0" err="1"/>
              <a:t>đưa</a:t>
            </a:r>
            <a:r>
              <a:rPr lang="en-US" sz="2400" dirty="0"/>
              <a:t> </a:t>
            </a:r>
            <a:r>
              <a:rPr lang="en-US" sz="2400" dirty="0" err="1"/>
              <a:t>ra</a:t>
            </a:r>
            <a:r>
              <a:rPr lang="en-US" sz="2400" dirty="0"/>
              <a:t> ý </a:t>
            </a:r>
            <a:r>
              <a:rPr lang="en-US" sz="2400" dirty="0" err="1"/>
              <a:t>kiến</a:t>
            </a:r>
            <a:r>
              <a:rPr lang="en-US" sz="2400" dirty="0"/>
              <a:t> </a:t>
            </a:r>
            <a:r>
              <a:rPr lang="en-US" sz="2400" dirty="0" err="1"/>
              <a:t>trực</a:t>
            </a:r>
            <a:r>
              <a:rPr lang="en-US" sz="2400" dirty="0"/>
              <a:t> </a:t>
            </a:r>
            <a:r>
              <a:rPr lang="en-US" sz="2400" dirty="0" err="1"/>
              <a:t>tiếp</a:t>
            </a:r>
            <a:r>
              <a:rPr lang="en-US" sz="2400" dirty="0"/>
              <a:t>.</a:t>
            </a:r>
          </a:p>
          <a:p>
            <a:endParaRPr lang="en-US" sz="2400" dirty="0"/>
          </a:p>
        </p:txBody>
      </p:sp>
      <p:sp>
        <p:nvSpPr>
          <p:cNvPr id="22" name="TextBox 21"/>
          <p:cNvSpPr txBox="1"/>
          <p:nvPr/>
        </p:nvSpPr>
        <p:spPr>
          <a:xfrm>
            <a:off x="7140195" y="7189228"/>
            <a:ext cx="9198909" cy="1200329"/>
          </a:xfrm>
          <a:prstGeom prst="rect">
            <a:avLst/>
          </a:prstGeom>
          <a:noFill/>
        </p:spPr>
        <p:txBody>
          <a:bodyPr wrap="square" rtlCol="0">
            <a:spAutoFit/>
          </a:bodyPr>
          <a:lstStyle/>
          <a:p>
            <a:r>
              <a:rPr lang="en-US" sz="2400" dirty="0"/>
              <a:t>JAD </a:t>
            </a:r>
            <a:r>
              <a:rPr lang="en-US" sz="2400" dirty="0" err="1"/>
              <a:t>kết</a:t>
            </a:r>
            <a:r>
              <a:rPr lang="en-US" sz="2400" dirty="0"/>
              <a:t> </a:t>
            </a:r>
            <a:r>
              <a:rPr lang="en-US" sz="2400" dirty="0" err="1"/>
              <a:t>hợp</a:t>
            </a:r>
            <a:r>
              <a:rPr lang="en-US" sz="2400" dirty="0"/>
              <a:t> </a:t>
            </a:r>
            <a:r>
              <a:rPr lang="en-US" sz="2400" dirty="0" err="1"/>
              <a:t>các</a:t>
            </a:r>
            <a:r>
              <a:rPr lang="en-US" sz="2400" dirty="0"/>
              <a:t> </a:t>
            </a:r>
            <a:r>
              <a:rPr lang="en-US" sz="2400" dirty="0" err="1"/>
              <a:t>kỹ</a:t>
            </a:r>
            <a:r>
              <a:rPr lang="en-US" sz="2400" dirty="0"/>
              <a:t> </a:t>
            </a:r>
            <a:r>
              <a:rPr lang="en-US" sz="2400" dirty="0" err="1"/>
              <a:t>thuật</a:t>
            </a:r>
            <a:r>
              <a:rPr lang="en-US" sz="2400" dirty="0"/>
              <a:t> </a:t>
            </a:r>
            <a:r>
              <a:rPr lang="en-US" sz="2400" dirty="0" err="1"/>
              <a:t>phát</a:t>
            </a:r>
            <a:r>
              <a:rPr lang="en-US" sz="2400" dirty="0"/>
              <a:t> </a:t>
            </a:r>
            <a:r>
              <a:rPr lang="en-US" sz="2400" dirty="0" err="1"/>
              <a:t>triển</a:t>
            </a:r>
            <a:r>
              <a:rPr lang="en-US" sz="2400" dirty="0"/>
              <a:t> </a:t>
            </a:r>
            <a:r>
              <a:rPr lang="en-US" sz="2400" dirty="0" err="1"/>
              <a:t>phần</a:t>
            </a:r>
            <a:r>
              <a:rPr lang="en-US" sz="2400" dirty="0"/>
              <a:t> </a:t>
            </a:r>
            <a:r>
              <a:rPr lang="en-US" sz="2400" dirty="0" err="1"/>
              <a:t>mềm</a:t>
            </a:r>
            <a:r>
              <a:rPr lang="en-US" sz="2400" dirty="0"/>
              <a:t> </a:t>
            </a:r>
            <a:r>
              <a:rPr lang="en-US" sz="2400" dirty="0" err="1"/>
              <a:t>và</a:t>
            </a:r>
            <a:r>
              <a:rPr lang="en-US" sz="2400" dirty="0"/>
              <a:t> </a:t>
            </a:r>
            <a:r>
              <a:rPr lang="en-US" sz="2400" dirty="0" err="1"/>
              <a:t>kinh</a:t>
            </a:r>
            <a:r>
              <a:rPr lang="en-US" sz="2400" dirty="0"/>
              <a:t> </a:t>
            </a:r>
            <a:r>
              <a:rPr lang="en-US" sz="2400" dirty="0" err="1"/>
              <a:t>nghiệm</a:t>
            </a:r>
            <a:r>
              <a:rPr lang="en-US" sz="2400" dirty="0"/>
              <a:t> </a:t>
            </a:r>
            <a:r>
              <a:rPr lang="en-US" sz="2400" dirty="0" err="1"/>
              <a:t>của</a:t>
            </a:r>
            <a:r>
              <a:rPr lang="en-US" sz="2400" dirty="0"/>
              <a:t> </a:t>
            </a:r>
            <a:r>
              <a:rPr lang="en-US" sz="2400" dirty="0" err="1"/>
              <a:t>người</a:t>
            </a:r>
            <a:r>
              <a:rPr lang="en-US" sz="2400" dirty="0"/>
              <a:t> </a:t>
            </a:r>
            <a:r>
              <a:rPr lang="en-US" sz="2400" dirty="0" err="1"/>
              <a:t>dùng</a:t>
            </a:r>
            <a:r>
              <a:rPr lang="en-US" sz="2400" dirty="0"/>
              <a:t> </a:t>
            </a:r>
            <a:r>
              <a:rPr lang="en-US" sz="2400" dirty="0" err="1"/>
              <a:t>cuối</a:t>
            </a:r>
            <a:r>
              <a:rPr lang="en-US" sz="2400" dirty="0"/>
              <a:t> </a:t>
            </a:r>
            <a:r>
              <a:rPr lang="en-US" sz="2400" dirty="0" err="1"/>
              <a:t>để</a:t>
            </a:r>
            <a:r>
              <a:rPr lang="en-US" sz="2400" dirty="0"/>
              <a:t> </a:t>
            </a:r>
            <a:r>
              <a:rPr lang="en-US" sz="2400" dirty="0" err="1"/>
              <a:t>tạo</a:t>
            </a:r>
            <a:r>
              <a:rPr lang="en-US" sz="2400" dirty="0"/>
              <a:t> </a:t>
            </a:r>
            <a:r>
              <a:rPr lang="en-US" sz="2400" dirty="0" err="1"/>
              <a:t>ra</a:t>
            </a:r>
            <a:r>
              <a:rPr lang="en-US" sz="2400" dirty="0"/>
              <a:t> </a:t>
            </a:r>
            <a:r>
              <a:rPr lang="en-US" sz="2400" dirty="0" err="1"/>
              <a:t>các</a:t>
            </a:r>
            <a:r>
              <a:rPr lang="en-US" sz="2400" dirty="0"/>
              <a:t> </a:t>
            </a:r>
            <a:r>
              <a:rPr lang="en-US" sz="2400" dirty="0" err="1"/>
              <a:t>yêu</a:t>
            </a:r>
            <a:r>
              <a:rPr lang="en-US" sz="2400" dirty="0"/>
              <a:t> </a:t>
            </a:r>
            <a:r>
              <a:rPr lang="en-US" sz="2400" dirty="0" err="1"/>
              <a:t>cầu</a:t>
            </a:r>
            <a:r>
              <a:rPr lang="en-US" sz="2400" dirty="0"/>
              <a:t> </a:t>
            </a:r>
            <a:r>
              <a:rPr lang="en-US" sz="2400" dirty="0" err="1"/>
              <a:t>thực</a:t>
            </a:r>
            <a:r>
              <a:rPr lang="en-US" sz="2400" dirty="0"/>
              <a:t> </a:t>
            </a:r>
            <a:r>
              <a:rPr lang="en-US" sz="2400" dirty="0" err="1"/>
              <a:t>tiễn</a:t>
            </a:r>
            <a:r>
              <a:rPr lang="en-US" sz="2400" dirty="0"/>
              <a:t>, </a:t>
            </a:r>
            <a:r>
              <a:rPr lang="en-US" sz="2400" dirty="0" err="1"/>
              <a:t>dễ</a:t>
            </a:r>
            <a:r>
              <a:rPr lang="en-US" sz="2400" dirty="0"/>
              <a:t> </a:t>
            </a:r>
            <a:r>
              <a:rPr lang="en-US" sz="2400" dirty="0" err="1"/>
              <a:t>triển</a:t>
            </a:r>
            <a:r>
              <a:rPr lang="en-US" sz="2400" dirty="0"/>
              <a:t> </a:t>
            </a:r>
            <a:r>
              <a:rPr lang="en-US" sz="2400" dirty="0" err="1"/>
              <a:t>khai</a:t>
            </a:r>
            <a:r>
              <a:rPr lang="en-US" sz="2400" dirty="0"/>
              <a:t>.</a:t>
            </a:r>
          </a:p>
          <a:p>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500" fill="hold"/>
                                        <p:tgtEl>
                                          <p:spTgt spid="20"/>
                                        </p:tgtEl>
                                        <p:attrNameLst>
                                          <p:attrName>ppt_x</p:attrName>
                                        </p:attrNameLst>
                                      </p:cBhvr>
                                      <p:tavLst>
                                        <p:tav tm="0">
                                          <p:val>
                                            <p:strVal val="#ppt_x"/>
                                          </p:val>
                                        </p:tav>
                                        <p:tav tm="100000">
                                          <p:val>
                                            <p:strVal val="#ppt_x"/>
                                          </p:val>
                                        </p:tav>
                                      </p:tavLst>
                                    </p:anim>
                                    <p:anim calcmode="lin" valueType="num">
                                      <p:cBhvr additive="base">
                                        <p:cTn id="1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ppt_x"/>
                                          </p:val>
                                        </p:tav>
                                        <p:tav tm="100000">
                                          <p:val>
                                            <p:strVal val="#ppt_x"/>
                                          </p:val>
                                        </p:tav>
                                      </p:tavLst>
                                    </p:anim>
                                    <p:anim calcmode="lin" valueType="num">
                                      <p:cBhvr additive="base">
                                        <p:cTn id="2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ppt_x"/>
                                          </p:val>
                                        </p:tav>
                                        <p:tav tm="100000">
                                          <p:val>
                                            <p:strVal val="#ppt_x"/>
                                          </p:val>
                                        </p:tav>
                                      </p:tavLst>
                                    </p:anim>
                                    <p:anim calcmode="lin" valueType="num">
                                      <p:cBhvr additive="base">
                                        <p:cTn id="2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2089" y="0"/>
            <a:ext cx="9522911" cy="1333500"/>
            <a:chOff x="0" y="0"/>
            <a:chExt cx="4274726" cy="584846"/>
          </a:xfrm>
        </p:grpSpPr>
        <p:sp>
          <p:nvSpPr>
            <p:cNvPr id="4" name="Freeform 4"/>
            <p:cNvSpPr/>
            <p:nvPr/>
          </p:nvSpPr>
          <p:spPr>
            <a:xfrm>
              <a:off x="0" y="0"/>
              <a:ext cx="4274726" cy="584846"/>
            </a:xfrm>
            <a:custGeom>
              <a:avLst/>
              <a:gdLst/>
              <a:ahLst/>
              <a:cxnLst/>
              <a:rect l="l" t="t" r="r" b="b"/>
              <a:pathLst>
                <a:path w="4274726" h="584846">
                  <a:moveTo>
                    <a:pt x="14787" y="0"/>
                  </a:moveTo>
                  <a:lnTo>
                    <a:pt x="4259939" y="0"/>
                  </a:lnTo>
                  <a:cubicBezTo>
                    <a:pt x="4268106" y="0"/>
                    <a:pt x="4274726" y="6620"/>
                    <a:pt x="4274726" y="14787"/>
                  </a:cubicBezTo>
                  <a:lnTo>
                    <a:pt x="4274726" y="570059"/>
                  </a:lnTo>
                  <a:cubicBezTo>
                    <a:pt x="4274726" y="573981"/>
                    <a:pt x="4273168" y="577742"/>
                    <a:pt x="4270395" y="580515"/>
                  </a:cubicBezTo>
                  <a:cubicBezTo>
                    <a:pt x="4267622" y="583288"/>
                    <a:pt x="4263861" y="584846"/>
                    <a:pt x="4259939" y="584846"/>
                  </a:cubicBezTo>
                  <a:lnTo>
                    <a:pt x="14787" y="584846"/>
                  </a:lnTo>
                  <a:cubicBezTo>
                    <a:pt x="6620" y="584846"/>
                    <a:pt x="0" y="578226"/>
                    <a:pt x="0" y="570059"/>
                  </a:cubicBezTo>
                  <a:lnTo>
                    <a:pt x="0" y="14787"/>
                  </a:lnTo>
                  <a:cubicBezTo>
                    <a:pt x="0" y="6620"/>
                    <a:pt x="6620" y="0"/>
                    <a:pt x="14787" y="0"/>
                  </a:cubicBezTo>
                  <a:close/>
                </a:path>
              </a:pathLst>
            </a:custGeom>
            <a:solidFill>
              <a:srgbClr val="F8F8F8">
                <a:alpha val="67843"/>
              </a:srgbClr>
            </a:solidFill>
          </p:spPr>
        </p:sp>
        <p:sp>
          <p:nvSpPr>
            <p:cNvPr id="5" name="TextBox 5"/>
            <p:cNvSpPr txBox="1"/>
            <p:nvPr/>
          </p:nvSpPr>
          <p:spPr>
            <a:xfrm>
              <a:off x="0" y="-38100"/>
              <a:ext cx="4274726" cy="622946"/>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228600" y="205085"/>
            <a:ext cx="11461331" cy="923330"/>
          </a:xfrm>
          <a:prstGeom prst="rect">
            <a:avLst/>
          </a:prstGeom>
        </p:spPr>
        <p:txBody>
          <a:bodyPr lIns="0" tIns="0" rIns="0" bIns="0" rtlCol="0" anchor="t">
            <a:spAutoFit/>
          </a:bodyPr>
          <a:lstStyle/>
          <a:p>
            <a:r>
              <a:rPr lang="en-US" sz="6000" b="1" dirty="0"/>
              <a:t>II.</a:t>
            </a:r>
            <a:r>
              <a:rPr lang="vi-VN" sz="6000" b="1" dirty="0"/>
              <a:t>Cách dùng kỹ thuật</a:t>
            </a:r>
          </a:p>
        </p:txBody>
      </p:sp>
      <p:sp>
        <p:nvSpPr>
          <p:cNvPr id="6" name="TextBox 5"/>
          <p:cNvSpPr txBox="1"/>
          <p:nvPr/>
        </p:nvSpPr>
        <p:spPr>
          <a:xfrm>
            <a:off x="457200" y="2171701"/>
            <a:ext cx="13639800" cy="1012824"/>
          </a:xfrm>
          <a:prstGeom prst="rect">
            <a:avLst/>
          </a:prstGeom>
          <a:noFill/>
        </p:spPr>
        <p:txBody>
          <a:bodyPr wrap="square" rtlCol="0">
            <a:spAutoFit/>
          </a:bodyPr>
          <a:lstStyle/>
          <a:p>
            <a:r>
              <a:rPr lang="vi-VN" sz="3000" dirty="0"/>
              <a:t>Phát triển ứng dụng chung (JAD) thường được áp dụng trong các trường hợp sau:</a:t>
            </a:r>
            <a:endParaRPr lang="en-US" sz="3000" dirty="0"/>
          </a:p>
        </p:txBody>
      </p:sp>
      <p:sp>
        <p:nvSpPr>
          <p:cNvPr id="7" name="TextBox 6"/>
          <p:cNvSpPr txBox="1"/>
          <p:nvPr/>
        </p:nvSpPr>
        <p:spPr>
          <a:xfrm>
            <a:off x="914399" y="3394621"/>
            <a:ext cx="13182601" cy="1261884"/>
          </a:xfrm>
          <a:prstGeom prst="rect">
            <a:avLst/>
          </a:prstGeom>
          <a:noFill/>
        </p:spPr>
        <p:txBody>
          <a:bodyPr wrap="square" rtlCol="0">
            <a:spAutoFit/>
          </a:bodyPr>
          <a:lstStyle/>
          <a:p>
            <a:r>
              <a:rPr lang="vi-VN" sz="2800" b="1" dirty="0"/>
              <a:t>1. Dự án yêu cầu sự cộng tác cao giữa các bên liên </a:t>
            </a:r>
            <a:r>
              <a:rPr lang="vi-VN" sz="2800" b="1" dirty="0" smtClean="0"/>
              <a:t>quan</a:t>
            </a:r>
            <a:r>
              <a:rPr lang="en-US" sz="2800" b="1" dirty="0" smtClean="0"/>
              <a:t>:</a:t>
            </a:r>
            <a:endParaRPr lang="vi-VN" dirty="0"/>
          </a:p>
          <a:p>
            <a:r>
              <a:rPr lang="vi-VN" sz="2400" dirty="0" smtClean="0"/>
              <a:t>Khi </a:t>
            </a:r>
            <a:r>
              <a:rPr lang="vi-VN" sz="2400" dirty="0"/>
              <a:t>cần sự tham gia tích cực của khách hàng, người dùng cuối, và các bên liên quan để đảm bảo yêu cầu được hiểu đúng và chi tiết.</a:t>
            </a:r>
            <a:endParaRPr lang="en-US" sz="2400" dirty="0"/>
          </a:p>
        </p:txBody>
      </p:sp>
      <p:sp>
        <p:nvSpPr>
          <p:cNvPr id="16" name="TextBox 15"/>
          <p:cNvSpPr txBox="1"/>
          <p:nvPr/>
        </p:nvSpPr>
        <p:spPr>
          <a:xfrm>
            <a:off x="887260" y="4743376"/>
            <a:ext cx="13176337" cy="1261884"/>
          </a:xfrm>
          <a:prstGeom prst="rect">
            <a:avLst/>
          </a:prstGeom>
          <a:noFill/>
        </p:spPr>
        <p:txBody>
          <a:bodyPr wrap="square" rtlCol="0">
            <a:spAutoFit/>
          </a:bodyPr>
          <a:lstStyle/>
          <a:p>
            <a:r>
              <a:rPr lang="vi-VN" sz="2800" b="1" dirty="0"/>
              <a:t>2. Dự án có yêu cầu phức tạp hoặc không rõ </a:t>
            </a:r>
            <a:r>
              <a:rPr lang="vi-VN" sz="2800" b="1" dirty="0" smtClean="0"/>
              <a:t>rang</a:t>
            </a:r>
            <a:r>
              <a:rPr lang="en-US" sz="2800" b="1" dirty="0" smtClean="0"/>
              <a:t>:</a:t>
            </a:r>
            <a:endParaRPr lang="vi-VN" dirty="0"/>
          </a:p>
          <a:p>
            <a:r>
              <a:rPr lang="vi-VN" sz="2400" dirty="0"/>
              <a:t>Khi các yêu cầu ban đầu chưa được xác định rõ ràng, JAD giúp làm sáng tỏ các chi tiết thông qua các phiên họp và thảo luận.</a:t>
            </a:r>
            <a:endParaRPr lang="en-US" sz="2400" dirty="0"/>
          </a:p>
        </p:txBody>
      </p:sp>
      <p:sp>
        <p:nvSpPr>
          <p:cNvPr id="17" name="TextBox 16"/>
          <p:cNvSpPr txBox="1"/>
          <p:nvPr/>
        </p:nvSpPr>
        <p:spPr>
          <a:xfrm>
            <a:off x="880997" y="6092131"/>
            <a:ext cx="13182600" cy="1261884"/>
          </a:xfrm>
          <a:prstGeom prst="rect">
            <a:avLst/>
          </a:prstGeom>
          <a:noFill/>
        </p:spPr>
        <p:txBody>
          <a:bodyPr wrap="square" rtlCol="0">
            <a:spAutoFit/>
          </a:bodyPr>
          <a:lstStyle/>
          <a:p>
            <a:r>
              <a:rPr lang="vi-VN" sz="2800" b="1" dirty="0"/>
              <a:t>3. Phát triển các hệ thống lớn hoặc quan </a:t>
            </a:r>
            <a:r>
              <a:rPr lang="vi-VN" sz="2800" b="1" dirty="0" smtClean="0"/>
              <a:t>trọng</a:t>
            </a:r>
            <a:r>
              <a:rPr lang="en-US" sz="2800" b="1" dirty="0" smtClean="0"/>
              <a:t>:</a:t>
            </a:r>
            <a:endParaRPr lang="vi-VN" dirty="0"/>
          </a:p>
          <a:p>
            <a:r>
              <a:rPr lang="vi-VN" sz="2400" dirty="0"/>
              <a:t>Các hệ thống có ảnh hưởng lớn đến hoạt động kinh doanh cần đảm bảo rằng sản phẩm cuối cùng đáp ứng chính xác nhu cầu thực tế</a:t>
            </a:r>
            <a:r>
              <a:rPr lang="vi-VN" dirty="0"/>
              <a:t>.</a:t>
            </a:r>
            <a:endParaRPr lang="en-US" dirty="0"/>
          </a:p>
        </p:txBody>
      </p:sp>
      <p:sp>
        <p:nvSpPr>
          <p:cNvPr id="18" name="TextBox 17"/>
          <p:cNvSpPr txBox="1"/>
          <p:nvPr/>
        </p:nvSpPr>
        <p:spPr>
          <a:xfrm>
            <a:off x="914400" y="7558623"/>
            <a:ext cx="13182600" cy="1261884"/>
          </a:xfrm>
          <a:prstGeom prst="rect">
            <a:avLst/>
          </a:prstGeom>
          <a:noFill/>
        </p:spPr>
        <p:txBody>
          <a:bodyPr wrap="square" rtlCol="0">
            <a:spAutoFit/>
          </a:bodyPr>
          <a:lstStyle/>
          <a:p>
            <a:r>
              <a:rPr lang="en-US" sz="2800" b="1" dirty="0"/>
              <a:t>4. </a:t>
            </a:r>
            <a:r>
              <a:rPr lang="en-US" sz="2800" b="1" dirty="0" err="1"/>
              <a:t>Khi</a:t>
            </a:r>
            <a:r>
              <a:rPr lang="en-US" sz="2800" b="1" dirty="0"/>
              <a:t> </a:t>
            </a:r>
            <a:r>
              <a:rPr lang="en-US" sz="2800" b="1" dirty="0" err="1"/>
              <a:t>thời</a:t>
            </a:r>
            <a:r>
              <a:rPr lang="en-US" sz="2800" b="1" dirty="0"/>
              <a:t> </a:t>
            </a:r>
            <a:r>
              <a:rPr lang="en-US" sz="2800" b="1" dirty="0" err="1"/>
              <a:t>gian</a:t>
            </a:r>
            <a:r>
              <a:rPr lang="en-US" sz="2800" b="1" dirty="0"/>
              <a:t> </a:t>
            </a:r>
            <a:r>
              <a:rPr lang="en-US" sz="2800" b="1" dirty="0" err="1"/>
              <a:t>và</a:t>
            </a:r>
            <a:r>
              <a:rPr lang="en-US" sz="2800" b="1" dirty="0"/>
              <a:t> chi </a:t>
            </a:r>
            <a:r>
              <a:rPr lang="en-US" sz="2800" b="1" dirty="0" err="1"/>
              <a:t>phí</a:t>
            </a:r>
            <a:r>
              <a:rPr lang="en-US" sz="2800" b="1" dirty="0"/>
              <a:t> </a:t>
            </a:r>
            <a:r>
              <a:rPr lang="en-US" sz="2800" b="1" dirty="0" err="1"/>
              <a:t>hạn</a:t>
            </a:r>
            <a:r>
              <a:rPr lang="en-US" sz="2800" b="1" dirty="0"/>
              <a:t> </a:t>
            </a:r>
            <a:r>
              <a:rPr lang="en-US" sz="2800" b="1" dirty="0" err="1" smtClean="0"/>
              <a:t>chế</a:t>
            </a:r>
            <a:r>
              <a:rPr lang="en-US" sz="2800" b="1" dirty="0" smtClean="0"/>
              <a:t>:</a:t>
            </a:r>
            <a:endParaRPr lang="en-US" sz="2400" dirty="0"/>
          </a:p>
          <a:p>
            <a:r>
              <a:rPr lang="en-US" sz="2400" dirty="0"/>
              <a:t>JAD </a:t>
            </a:r>
            <a:r>
              <a:rPr lang="en-US" sz="2400" dirty="0" err="1"/>
              <a:t>giúp</a:t>
            </a:r>
            <a:r>
              <a:rPr lang="en-US" sz="2400" dirty="0"/>
              <a:t> </a:t>
            </a:r>
            <a:r>
              <a:rPr lang="en-US" sz="2400" dirty="0" err="1"/>
              <a:t>giảm</a:t>
            </a:r>
            <a:r>
              <a:rPr lang="en-US" sz="2400" dirty="0"/>
              <a:t> </a:t>
            </a:r>
            <a:r>
              <a:rPr lang="en-US" sz="2400" dirty="0" err="1"/>
              <a:t>thiểu</a:t>
            </a:r>
            <a:r>
              <a:rPr lang="en-US" sz="2400" dirty="0"/>
              <a:t> </a:t>
            </a:r>
            <a:r>
              <a:rPr lang="en-US" sz="2400" dirty="0" err="1"/>
              <a:t>thời</a:t>
            </a:r>
            <a:r>
              <a:rPr lang="en-US" sz="2400" dirty="0"/>
              <a:t> </a:t>
            </a:r>
            <a:r>
              <a:rPr lang="en-US" sz="2400" dirty="0" err="1"/>
              <a:t>gian</a:t>
            </a:r>
            <a:r>
              <a:rPr lang="en-US" sz="2400" dirty="0"/>
              <a:t> </a:t>
            </a:r>
            <a:r>
              <a:rPr lang="en-US" sz="2400" dirty="0" err="1"/>
              <a:t>thu</a:t>
            </a:r>
            <a:r>
              <a:rPr lang="en-US" sz="2400" dirty="0"/>
              <a:t> </a:t>
            </a:r>
            <a:r>
              <a:rPr lang="en-US" sz="2400" dirty="0" err="1"/>
              <a:t>thập</a:t>
            </a:r>
            <a:r>
              <a:rPr lang="en-US" sz="2400" dirty="0"/>
              <a:t> </a:t>
            </a:r>
            <a:r>
              <a:rPr lang="en-US" sz="2400" dirty="0" err="1"/>
              <a:t>yêu</a:t>
            </a:r>
            <a:r>
              <a:rPr lang="en-US" sz="2400" dirty="0"/>
              <a:t> </a:t>
            </a:r>
            <a:r>
              <a:rPr lang="en-US" sz="2400" dirty="0" err="1"/>
              <a:t>cầu</a:t>
            </a:r>
            <a:r>
              <a:rPr lang="en-US" sz="2400" dirty="0"/>
              <a:t> </a:t>
            </a:r>
            <a:r>
              <a:rPr lang="en-US" sz="2400" dirty="0" err="1"/>
              <a:t>thông</a:t>
            </a:r>
            <a:r>
              <a:rPr lang="en-US" sz="2400" dirty="0"/>
              <a:t> qua </a:t>
            </a:r>
            <a:r>
              <a:rPr lang="en-US" sz="2400" dirty="0" err="1"/>
              <a:t>các</a:t>
            </a:r>
            <a:r>
              <a:rPr lang="en-US" sz="2400" dirty="0"/>
              <a:t> </a:t>
            </a:r>
            <a:r>
              <a:rPr lang="en-US" sz="2400" dirty="0" err="1"/>
              <a:t>phiên</a:t>
            </a:r>
            <a:r>
              <a:rPr lang="en-US" sz="2400" dirty="0"/>
              <a:t> </a:t>
            </a:r>
            <a:r>
              <a:rPr lang="en-US" sz="2400" dirty="0" err="1"/>
              <a:t>hợp</a:t>
            </a:r>
            <a:r>
              <a:rPr lang="en-US" sz="2400" dirty="0"/>
              <a:t> </a:t>
            </a:r>
            <a:r>
              <a:rPr lang="en-US" sz="2400" dirty="0" err="1"/>
              <a:t>tác</a:t>
            </a:r>
            <a:r>
              <a:rPr lang="en-US" sz="2400" dirty="0"/>
              <a:t> </a:t>
            </a:r>
            <a:r>
              <a:rPr lang="en-US" sz="2400" dirty="0" err="1"/>
              <a:t>trực</a:t>
            </a:r>
            <a:r>
              <a:rPr lang="en-US" sz="2400" dirty="0"/>
              <a:t> </a:t>
            </a:r>
            <a:r>
              <a:rPr lang="en-US" sz="2400" dirty="0" err="1"/>
              <a:t>tiếp</a:t>
            </a:r>
            <a:r>
              <a:rPr lang="en-US" sz="2400" dirty="0"/>
              <a:t>, </a:t>
            </a:r>
            <a:r>
              <a:rPr lang="en-US" sz="2400" dirty="0" err="1"/>
              <a:t>thay</a:t>
            </a:r>
            <a:r>
              <a:rPr lang="en-US" sz="2400" dirty="0"/>
              <a:t> </a:t>
            </a:r>
            <a:r>
              <a:rPr lang="en-US" sz="2400" dirty="0" err="1"/>
              <a:t>vì</a:t>
            </a:r>
            <a:r>
              <a:rPr lang="en-US" sz="2400" dirty="0"/>
              <a:t> </a:t>
            </a:r>
            <a:r>
              <a:rPr lang="en-US" sz="2400" dirty="0" err="1"/>
              <a:t>nhiều</a:t>
            </a:r>
            <a:r>
              <a:rPr lang="en-US" sz="2400" dirty="0"/>
              <a:t> </a:t>
            </a:r>
            <a:r>
              <a:rPr lang="en-US" sz="2400" dirty="0" err="1"/>
              <a:t>vòng</a:t>
            </a:r>
            <a:r>
              <a:rPr lang="en-US" sz="2400" dirty="0"/>
              <a:t> </a:t>
            </a:r>
            <a:r>
              <a:rPr lang="en-US" sz="2400" dirty="0" err="1"/>
              <a:t>trao</a:t>
            </a:r>
            <a:r>
              <a:rPr lang="en-US" sz="2400" dirty="0"/>
              <a:t> </a:t>
            </a:r>
            <a:r>
              <a:rPr lang="en-US" sz="2400" dirty="0" err="1"/>
              <a:t>đổi</a:t>
            </a:r>
            <a:r>
              <a:rPr lang="en-US" sz="2400" dirty="0"/>
              <a:t> qua </a:t>
            </a:r>
            <a:r>
              <a:rPr lang="en-US" sz="2400" dirty="0" err="1"/>
              <a:t>tài</a:t>
            </a:r>
            <a:r>
              <a:rPr lang="en-US" sz="2400" dirty="0"/>
              <a:t> </a:t>
            </a:r>
            <a:r>
              <a:rPr lang="en-US" sz="2400" dirty="0" err="1"/>
              <a:t>liệu</a:t>
            </a:r>
            <a:r>
              <a:rPr lang="en-US" dirty="0"/>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Vertic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arn(inVertical)">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arn(inVertical)">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6"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2089" y="0"/>
            <a:ext cx="9522911" cy="1333500"/>
            <a:chOff x="0" y="0"/>
            <a:chExt cx="4274726" cy="584846"/>
          </a:xfrm>
        </p:grpSpPr>
        <p:sp>
          <p:nvSpPr>
            <p:cNvPr id="4" name="Freeform 4"/>
            <p:cNvSpPr/>
            <p:nvPr/>
          </p:nvSpPr>
          <p:spPr>
            <a:xfrm>
              <a:off x="0" y="0"/>
              <a:ext cx="4274726" cy="584846"/>
            </a:xfrm>
            <a:custGeom>
              <a:avLst/>
              <a:gdLst/>
              <a:ahLst/>
              <a:cxnLst/>
              <a:rect l="l" t="t" r="r" b="b"/>
              <a:pathLst>
                <a:path w="4274726" h="584846">
                  <a:moveTo>
                    <a:pt x="14787" y="0"/>
                  </a:moveTo>
                  <a:lnTo>
                    <a:pt x="4259939" y="0"/>
                  </a:lnTo>
                  <a:cubicBezTo>
                    <a:pt x="4268106" y="0"/>
                    <a:pt x="4274726" y="6620"/>
                    <a:pt x="4274726" y="14787"/>
                  </a:cubicBezTo>
                  <a:lnTo>
                    <a:pt x="4274726" y="570059"/>
                  </a:lnTo>
                  <a:cubicBezTo>
                    <a:pt x="4274726" y="573981"/>
                    <a:pt x="4273168" y="577742"/>
                    <a:pt x="4270395" y="580515"/>
                  </a:cubicBezTo>
                  <a:cubicBezTo>
                    <a:pt x="4267622" y="583288"/>
                    <a:pt x="4263861" y="584846"/>
                    <a:pt x="4259939" y="584846"/>
                  </a:cubicBezTo>
                  <a:lnTo>
                    <a:pt x="14787" y="584846"/>
                  </a:lnTo>
                  <a:cubicBezTo>
                    <a:pt x="6620" y="584846"/>
                    <a:pt x="0" y="578226"/>
                    <a:pt x="0" y="570059"/>
                  </a:cubicBezTo>
                  <a:lnTo>
                    <a:pt x="0" y="14787"/>
                  </a:lnTo>
                  <a:cubicBezTo>
                    <a:pt x="0" y="6620"/>
                    <a:pt x="6620" y="0"/>
                    <a:pt x="14787" y="0"/>
                  </a:cubicBezTo>
                  <a:close/>
                </a:path>
              </a:pathLst>
            </a:custGeom>
            <a:solidFill>
              <a:srgbClr val="F8F8F8">
                <a:alpha val="67843"/>
              </a:srgbClr>
            </a:solidFill>
          </p:spPr>
        </p:sp>
        <p:sp>
          <p:nvSpPr>
            <p:cNvPr id="5" name="TextBox 5"/>
            <p:cNvSpPr txBox="1"/>
            <p:nvPr/>
          </p:nvSpPr>
          <p:spPr>
            <a:xfrm>
              <a:off x="0" y="-38100"/>
              <a:ext cx="4274726" cy="622946"/>
            </a:xfrm>
            <a:prstGeom prst="rect">
              <a:avLst/>
            </a:prstGeom>
          </p:spPr>
          <p:txBody>
            <a:bodyPr lIns="50800" tIns="50800" rIns="50800" bIns="50800" rtlCol="0" anchor="ctr"/>
            <a:lstStyle/>
            <a:p>
              <a:pPr algn="ctr">
                <a:lnSpc>
                  <a:spcPts val="3499"/>
                </a:lnSpc>
              </a:pPr>
              <a:endParaRPr/>
            </a:p>
          </p:txBody>
        </p:sp>
      </p:grpSp>
      <p:sp>
        <p:nvSpPr>
          <p:cNvPr id="6" name="Rectangle 5"/>
          <p:cNvSpPr/>
          <p:nvPr/>
        </p:nvSpPr>
        <p:spPr>
          <a:xfrm>
            <a:off x="228600" y="115482"/>
            <a:ext cx="7936788" cy="1015663"/>
          </a:xfrm>
          <a:prstGeom prst="rect">
            <a:avLst/>
          </a:prstGeom>
        </p:spPr>
        <p:txBody>
          <a:bodyPr wrap="none">
            <a:spAutoFit/>
          </a:bodyPr>
          <a:lstStyle/>
          <a:p>
            <a:r>
              <a:rPr lang="en-US" sz="6000" b="1" dirty="0"/>
              <a:t>II.</a:t>
            </a:r>
            <a:r>
              <a:rPr lang="vi-VN" sz="6000" b="1" dirty="0"/>
              <a:t>Cách dùng kỹ thuật</a:t>
            </a:r>
            <a:endParaRPr lang="vi-VN" sz="6000" b="1" dirty="0"/>
          </a:p>
        </p:txBody>
      </p:sp>
      <p:sp>
        <p:nvSpPr>
          <p:cNvPr id="7" name="TextBox 6"/>
          <p:cNvSpPr txBox="1"/>
          <p:nvPr/>
        </p:nvSpPr>
        <p:spPr>
          <a:xfrm>
            <a:off x="1066800" y="1887787"/>
            <a:ext cx="14667625" cy="892552"/>
          </a:xfrm>
          <a:prstGeom prst="rect">
            <a:avLst/>
          </a:prstGeom>
          <a:noFill/>
        </p:spPr>
        <p:txBody>
          <a:bodyPr wrap="square" rtlCol="0">
            <a:spAutoFit/>
          </a:bodyPr>
          <a:lstStyle/>
          <a:p>
            <a:r>
              <a:rPr lang="vi-VN" sz="2800" b="1" dirty="0"/>
              <a:t>5. Dự án yêu cầu khả năng tùy chỉnh </a:t>
            </a:r>
            <a:r>
              <a:rPr lang="vi-VN" sz="2800" b="1" dirty="0" smtClean="0"/>
              <a:t>cao</a:t>
            </a:r>
            <a:r>
              <a:rPr lang="en-US" sz="2800" b="1" dirty="0" smtClean="0"/>
              <a:t>:</a:t>
            </a:r>
            <a:endParaRPr lang="vi-VN" dirty="0"/>
          </a:p>
          <a:p>
            <a:r>
              <a:rPr lang="vi-VN" sz="2400" dirty="0"/>
              <a:t>Khi sản phẩm cần được điều chỉnh dựa trên phản hồi của người dùng cuối trong suốt vòng đời phát triển.</a:t>
            </a:r>
            <a:endParaRPr lang="en-US" sz="2400" dirty="0"/>
          </a:p>
        </p:txBody>
      </p:sp>
      <p:sp>
        <p:nvSpPr>
          <p:cNvPr id="8" name="TextBox 7"/>
          <p:cNvSpPr txBox="1"/>
          <p:nvPr/>
        </p:nvSpPr>
        <p:spPr>
          <a:xfrm>
            <a:off x="1042655" y="2892930"/>
            <a:ext cx="14665536" cy="1169551"/>
          </a:xfrm>
          <a:prstGeom prst="rect">
            <a:avLst/>
          </a:prstGeom>
          <a:noFill/>
        </p:spPr>
        <p:txBody>
          <a:bodyPr wrap="square" rtlCol="0">
            <a:spAutoFit/>
          </a:bodyPr>
          <a:lstStyle/>
          <a:p>
            <a:r>
              <a:rPr lang="vi-VN" sz="2800" b="1" dirty="0" smtClean="0"/>
              <a:t>6. Môi trường có sự xung đột hoặc thiếu đồng thuận giữa các bên liên quan</a:t>
            </a:r>
            <a:r>
              <a:rPr lang="en-US" sz="2800" b="1" dirty="0" smtClean="0"/>
              <a:t>:</a:t>
            </a:r>
            <a:endParaRPr lang="vi-VN" dirty="0"/>
          </a:p>
          <a:p>
            <a:r>
              <a:rPr lang="vi-VN" sz="2400" dirty="0"/>
              <a:t>JAD tạo ra môi trường hợp tác, giúp các bên liên quan cùng nhau thảo luận và đạt được sự thống nhất.</a:t>
            </a:r>
          </a:p>
          <a:p>
            <a:endParaRPr lang="en-US" dirty="0"/>
          </a:p>
        </p:txBody>
      </p:sp>
      <p:sp>
        <p:nvSpPr>
          <p:cNvPr id="9" name="TextBox 8"/>
          <p:cNvSpPr txBox="1"/>
          <p:nvPr/>
        </p:nvSpPr>
        <p:spPr>
          <a:xfrm>
            <a:off x="1136424" y="3882684"/>
            <a:ext cx="14667624" cy="1261884"/>
          </a:xfrm>
          <a:prstGeom prst="rect">
            <a:avLst/>
          </a:prstGeom>
          <a:noFill/>
        </p:spPr>
        <p:txBody>
          <a:bodyPr wrap="square" rtlCol="0">
            <a:spAutoFit/>
          </a:bodyPr>
          <a:lstStyle/>
          <a:p>
            <a:r>
              <a:rPr lang="vi-VN" sz="2800" b="1" dirty="0"/>
              <a:t>7. Khi cần cải thiện chất lượng yêu </a:t>
            </a:r>
            <a:r>
              <a:rPr lang="vi-VN" sz="2800" b="1" dirty="0" smtClean="0"/>
              <a:t>cầu</a:t>
            </a:r>
            <a:r>
              <a:rPr lang="en-US" sz="2800" b="1" dirty="0" smtClean="0"/>
              <a:t>:</a:t>
            </a:r>
            <a:endParaRPr lang="vi-VN" sz="2800" b="1" dirty="0"/>
          </a:p>
          <a:p>
            <a:r>
              <a:rPr lang="vi-VN" sz="2400" dirty="0"/>
              <a:t>Sự tham gia của người dùng cuối và chuyên gia giúp ghi chép các yêu cầu chính xác hơn, giảm thiểu sai sót hoặc hiểu nhầm trong quá trình phát triển.</a:t>
            </a:r>
          </a:p>
        </p:txBody>
      </p:sp>
      <p:sp>
        <p:nvSpPr>
          <p:cNvPr id="10" name="TextBox 9"/>
          <p:cNvSpPr txBox="1"/>
          <p:nvPr/>
        </p:nvSpPr>
        <p:spPr>
          <a:xfrm>
            <a:off x="1136424" y="5143500"/>
            <a:ext cx="14706599" cy="1261884"/>
          </a:xfrm>
          <a:prstGeom prst="rect">
            <a:avLst/>
          </a:prstGeom>
          <a:noFill/>
        </p:spPr>
        <p:txBody>
          <a:bodyPr wrap="square" rtlCol="0">
            <a:spAutoFit/>
          </a:bodyPr>
          <a:lstStyle/>
          <a:p>
            <a:r>
              <a:rPr lang="vi-VN" sz="2800" b="1" dirty="0"/>
              <a:t>8. Dự án phát triển theo hướng Agile hoặc </a:t>
            </a:r>
            <a:r>
              <a:rPr lang="vi-VN" sz="2800" b="1" dirty="0" smtClean="0"/>
              <a:t>Lean</a:t>
            </a:r>
            <a:r>
              <a:rPr lang="en-US" sz="2800" b="1" dirty="0" smtClean="0"/>
              <a:t>:</a:t>
            </a:r>
            <a:endParaRPr lang="vi-VN" sz="2800" b="1" dirty="0"/>
          </a:p>
          <a:p>
            <a:r>
              <a:rPr lang="vi-VN" sz="2400" dirty="0" smtClean="0"/>
              <a:t>JAD phù hợp với các phương pháp phát triển linh hoạt, nơi phản hồi nhanh chóng và điều chỉnh liên tục là yếu tố cốt lõi.</a:t>
            </a:r>
            <a:endParaRPr lang="en-US" sz="2400" dirty="0"/>
          </a:p>
        </p:txBody>
      </p:sp>
      <p:sp>
        <p:nvSpPr>
          <p:cNvPr id="11" name="TextBox 10"/>
          <p:cNvSpPr txBox="1"/>
          <p:nvPr/>
        </p:nvSpPr>
        <p:spPr>
          <a:xfrm>
            <a:off x="1244234" y="6527307"/>
            <a:ext cx="14477999" cy="830997"/>
          </a:xfrm>
          <a:prstGeom prst="rect">
            <a:avLst/>
          </a:prstGeom>
          <a:noFill/>
        </p:spPr>
        <p:txBody>
          <a:bodyPr wrap="square" rtlCol="0">
            <a:spAutoFit/>
          </a:bodyPr>
          <a:lstStyle/>
          <a:p>
            <a:r>
              <a:rPr lang="vi-VN" sz="2400" dirty="0"/>
              <a:t>Tóm lại, JAD đặc biệt hữu ích trong các dự án yêu cầu sự hợp tác chặt chẽ giữa nhóm phát triển và người dùng cuối để đảm bảo sản phẩm đáp ứng tốt nhất nhu cầu thực tế.</a:t>
            </a:r>
            <a:endParaRPr lang="en-US" sz="2400" dirty="0"/>
          </a:p>
        </p:txBody>
      </p:sp>
    </p:spTree>
    <p:extLst>
      <p:ext uri="{BB962C8B-B14F-4D97-AF65-F5344CB8AC3E}">
        <p14:creationId xmlns:p14="http://schemas.microsoft.com/office/powerpoint/2010/main" val="3726871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anim calcmode="lin" valueType="num">
                                      <p:cBhvr>
                                        <p:cTn id="31" dur="1000" fill="hold"/>
                                        <p:tgtEl>
                                          <p:spTgt spid="11"/>
                                        </p:tgtEl>
                                        <p:attrNameLst>
                                          <p:attrName>ppt_x</p:attrName>
                                        </p:attrNameLst>
                                      </p:cBhvr>
                                      <p:tavLst>
                                        <p:tav tm="0">
                                          <p:val>
                                            <p:strVal val="#ppt_x"/>
                                          </p:val>
                                        </p:tav>
                                        <p:tav tm="100000">
                                          <p:val>
                                            <p:strVal val="#ppt_x"/>
                                          </p:val>
                                        </p:tav>
                                      </p:tavLst>
                                    </p:anim>
                                    <p:anim calcmode="lin" valueType="num">
                                      <p:cBhvr>
                                        <p:cTn id="3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rot="5106703">
            <a:off x="575536" y="8432387"/>
            <a:ext cx="2957802" cy="2880160"/>
          </a:xfrm>
          <a:custGeom>
            <a:avLst/>
            <a:gdLst/>
            <a:ahLst/>
            <a:cxnLst/>
            <a:rect l="l" t="t" r="r" b="b"/>
            <a:pathLst>
              <a:path w="2957802" h="2880160">
                <a:moveTo>
                  <a:pt x="0" y="0"/>
                </a:moveTo>
                <a:lnTo>
                  <a:pt x="2957802" y="0"/>
                </a:lnTo>
                <a:lnTo>
                  <a:pt x="2957802" y="2880160"/>
                </a:lnTo>
                <a:lnTo>
                  <a:pt x="0" y="2880160"/>
                </a:lnTo>
                <a:lnTo>
                  <a:pt x="0" y="0"/>
                </a:lnTo>
                <a:close/>
              </a:path>
            </a:pathLst>
          </a:custGeom>
          <a:blipFill>
            <a:blip r:embed="rId5">
              <a:alphaModFix amt="67000"/>
            </a:blip>
            <a:stretch>
              <a:fillRect/>
            </a:stretch>
          </a:blipFill>
        </p:spPr>
      </p:sp>
      <p:sp>
        <p:nvSpPr>
          <p:cNvPr id="8" name="Freeform 8"/>
          <p:cNvSpPr/>
          <p:nvPr/>
        </p:nvSpPr>
        <p:spPr>
          <a:xfrm rot="584447">
            <a:off x="16808589" y="8467681"/>
            <a:ext cx="2479566" cy="2539889"/>
          </a:xfrm>
          <a:custGeom>
            <a:avLst/>
            <a:gdLst/>
            <a:ahLst/>
            <a:cxnLst/>
            <a:rect l="l" t="t" r="r" b="b"/>
            <a:pathLst>
              <a:path w="2479566" h="2539889">
                <a:moveTo>
                  <a:pt x="0" y="0"/>
                </a:moveTo>
                <a:lnTo>
                  <a:pt x="2479567" y="0"/>
                </a:lnTo>
                <a:lnTo>
                  <a:pt x="2479567" y="2539889"/>
                </a:lnTo>
                <a:lnTo>
                  <a:pt x="0" y="2539889"/>
                </a:lnTo>
                <a:lnTo>
                  <a:pt x="0" y="0"/>
                </a:lnTo>
                <a:close/>
              </a:path>
            </a:pathLst>
          </a:custGeom>
          <a:blipFill>
            <a:blip r:embed="rId6"/>
            <a:stretch>
              <a:fillRect/>
            </a:stretch>
          </a:blipFill>
        </p:spPr>
      </p:sp>
      <p:sp>
        <p:nvSpPr>
          <p:cNvPr id="15" name="TextBox 15"/>
          <p:cNvSpPr txBox="1"/>
          <p:nvPr/>
        </p:nvSpPr>
        <p:spPr>
          <a:xfrm>
            <a:off x="228600" y="190500"/>
            <a:ext cx="9717227" cy="923330"/>
          </a:xfrm>
          <a:prstGeom prst="rect">
            <a:avLst/>
          </a:prstGeom>
        </p:spPr>
        <p:txBody>
          <a:bodyPr wrap="square" lIns="0" tIns="0" rIns="0" bIns="0" rtlCol="0" anchor="t">
            <a:spAutoFit/>
          </a:bodyPr>
          <a:lstStyle/>
          <a:p>
            <a:r>
              <a:rPr lang="en-US" sz="6000" b="1" dirty="0"/>
              <a:t>III.</a:t>
            </a:r>
            <a:r>
              <a:rPr lang="vi-VN" sz="6000" b="1" dirty="0"/>
              <a:t>Cách tiến hành kỹ thuật</a:t>
            </a:r>
          </a:p>
        </p:txBody>
      </p:sp>
      <p:sp>
        <p:nvSpPr>
          <p:cNvPr id="20" name="TextBox 19"/>
          <p:cNvSpPr txBox="1"/>
          <p:nvPr/>
        </p:nvSpPr>
        <p:spPr>
          <a:xfrm>
            <a:off x="493573" y="2251728"/>
            <a:ext cx="4724400" cy="6494085"/>
          </a:xfrm>
          <a:prstGeom prst="rect">
            <a:avLst/>
          </a:prstGeom>
          <a:noFill/>
        </p:spPr>
        <p:txBody>
          <a:bodyPr wrap="square" rtlCol="0">
            <a:spAutoFit/>
          </a:bodyPr>
          <a:lstStyle/>
          <a:p>
            <a:r>
              <a:rPr lang="en-US" sz="2800" b="1" u="sng" dirty="0"/>
              <a:t>1. </a:t>
            </a:r>
            <a:r>
              <a:rPr lang="en-US" sz="2800" b="1" u="sng" dirty="0" err="1"/>
              <a:t>Chuẩn</a:t>
            </a:r>
            <a:r>
              <a:rPr lang="en-US" sz="2800" b="1" u="sng" dirty="0"/>
              <a:t> </a:t>
            </a:r>
            <a:r>
              <a:rPr lang="en-US" sz="2800" b="1" u="sng" dirty="0" err="1"/>
              <a:t>bị</a:t>
            </a:r>
            <a:r>
              <a:rPr lang="en-US" sz="2800" b="1" u="sng" dirty="0"/>
              <a:t> </a:t>
            </a:r>
            <a:r>
              <a:rPr lang="en-US" sz="2800" b="1" u="sng" dirty="0" err="1"/>
              <a:t>và</a:t>
            </a:r>
            <a:r>
              <a:rPr lang="en-US" sz="2800" b="1" u="sng" dirty="0"/>
              <a:t> </a:t>
            </a:r>
            <a:r>
              <a:rPr lang="en-US" sz="2800" b="1" u="sng" dirty="0" err="1"/>
              <a:t>khởi</a:t>
            </a:r>
            <a:r>
              <a:rPr lang="en-US" sz="2800" b="1" u="sng" dirty="0"/>
              <a:t> </a:t>
            </a:r>
            <a:r>
              <a:rPr lang="en-US" sz="2800" b="1" u="sng" dirty="0" err="1"/>
              <a:t>động</a:t>
            </a:r>
            <a:r>
              <a:rPr lang="en-US" sz="2800" b="1" u="sng" dirty="0"/>
              <a:t> </a:t>
            </a:r>
            <a:r>
              <a:rPr lang="en-US" sz="2800" b="1" u="sng" dirty="0" err="1"/>
              <a:t>phiên</a:t>
            </a:r>
            <a:r>
              <a:rPr lang="en-US" sz="2800" b="1" u="sng" dirty="0"/>
              <a:t> JAD</a:t>
            </a:r>
          </a:p>
          <a:p>
            <a:r>
              <a:rPr lang="en-US" sz="2400" b="1" dirty="0" err="1"/>
              <a:t>Vai</a:t>
            </a:r>
            <a:r>
              <a:rPr lang="en-US" sz="2400" b="1" dirty="0"/>
              <a:t> </a:t>
            </a:r>
            <a:r>
              <a:rPr lang="en-US" sz="2400" b="1" dirty="0" err="1"/>
              <a:t>trò</a:t>
            </a:r>
            <a:r>
              <a:rPr lang="en-US" sz="2400" b="1" dirty="0"/>
              <a:t> </a:t>
            </a:r>
            <a:r>
              <a:rPr lang="en-US" sz="2400" b="1" dirty="0" err="1"/>
              <a:t>chính</a:t>
            </a:r>
            <a:r>
              <a:rPr lang="en-US" sz="2400" b="1" dirty="0"/>
              <a:t>: Project Leader (</a:t>
            </a:r>
            <a:r>
              <a:rPr lang="en-US" sz="2400" b="1" dirty="0" err="1"/>
              <a:t>Người</a:t>
            </a:r>
            <a:r>
              <a:rPr lang="en-US" sz="2400" b="1" dirty="0"/>
              <a:t> </a:t>
            </a:r>
            <a:r>
              <a:rPr lang="en-US" sz="2400" b="1" dirty="0" err="1"/>
              <a:t>lãnh</a:t>
            </a:r>
            <a:r>
              <a:rPr lang="en-US" sz="2400" b="1" dirty="0"/>
              <a:t> </a:t>
            </a:r>
            <a:r>
              <a:rPr lang="en-US" sz="2400" b="1" dirty="0" err="1"/>
              <a:t>đạo</a:t>
            </a:r>
            <a:r>
              <a:rPr lang="en-US" sz="2400" b="1" dirty="0"/>
              <a:t> </a:t>
            </a:r>
            <a:r>
              <a:rPr lang="en-US" sz="2400" b="1" dirty="0" err="1"/>
              <a:t>dự</a:t>
            </a:r>
            <a:r>
              <a:rPr lang="en-US" sz="2400" b="1" dirty="0"/>
              <a:t> </a:t>
            </a:r>
            <a:r>
              <a:rPr lang="en-US" sz="2400" b="1" dirty="0" err="1"/>
              <a:t>án</a:t>
            </a:r>
            <a:r>
              <a:rPr lang="en-US" sz="2400" b="1" dirty="0"/>
              <a:t>)</a:t>
            </a:r>
            <a:r>
              <a:rPr lang="en-US" sz="2400" dirty="0"/>
              <a:t>.</a:t>
            </a:r>
          </a:p>
          <a:p>
            <a:r>
              <a:rPr lang="en-US" sz="2400" b="1" dirty="0" err="1"/>
              <a:t>Hoạt</a:t>
            </a:r>
            <a:r>
              <a:rPr lang="en-US" sz="2400" b="1" dirty="0"/>
              <a:t> </a:t>
            </a:r>
            <a:r>
              <a:rPr lang="en-US" sz="2400" b="1" dirty="0" err="1"/>
              <a:t>động</a:t>
            </a:r>
            <a:r>
              <a:rPr lang="en-US" sz="2400" dirty="0"/>
              <a:t>:</a:t>
            </a:r>
          </a:p>
          <a:p>
            <a:r>
              <a:rPr lang="en-US" sz="2400" dirty="0" smtClean="0"/>
              <a:t>-</a:t>
            </a:r>
            <a:r>
              <a:rPr lang="en-US" sz="2400" dirty="0" err="1" smtClean="0"/>
              <a:t>Giới</a:t>
            </a:r>
            <a:r>
              <a:rPr lang="en-US" sz="2400" dirty="0" smtClean="0"/>
              <a:t> </a:t>
            </a:r>
            <a:r>
              <a:rPr lang="en-US" sz="2400" dirty="0" err="1"/>
              <a:t>thiệu</a:t>
            </a:r>
            <a:r>
              <a:rPr lang="en-US" sz="2400" dirty="0"/>
              <a:t> </a:t>
            </a: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thành</a:t>
            </a:r>
            <a:r>
              <a:rPr lang="en-US" sz="2400" dirty="0"/>
              <a:t> </a:t>
            </a:r>
            <a:r>
              <a:rPr lang="en-US" sz="2400" dirty="0" err="1"/>
              <a:t>viên</a:t>
            </a:r>
            <a:r>
              <a:rPr lang="en-US" sz="2400" dirty="0"/>
              <a:t> </a:t>
            </a:r>
            <a:r>
              <a:rPr lang="en-US" sz="2400" dirty="0" err="1"/>
              <a:t>tham</a:t>
            </a:r>
            <a:r>
              <a:rPr lang="en-US" sz="2400" dirty="0"/>
              <a:t> </a:t>
            </a:r>
            <a:r>
              <a:rPr lang="en-US" sz="2400" dirty="0" err="1"/>
              <a:t>gia</a:t>
            </a:r>
            <a:r>
              <a:rPr lang="en-US" sz="2400" dirty="0"/>
              <a:t> </a:t>
            </a:r>
            <a:r>
              <a:rPr lang="en-US" sz="2400" dirty="0" err="1"/>
              <a:t>nhóm</a:t>
            </a:r>
            <a:r>
              <a:rPr lang="en-US" sz="2400" dirty="0"/>
              <a:t> JAD.</a:t>
            </a:r>
          </a:p>
          <a:p>
            <a:r>
              <a:rPr lang="en-US" sz="2400" dirty="0" smtClean="0"/>
              <a:t>-</a:t>
            </a:r>
            <a:r>
              <a:rPr lang="en-US" sz="2400" dirty="0" err="1" smtClean="0"/>
              <a:t>Thảo</a:t>
            </a:r>
            <a:r>
              <a:rPr lang="en-US" sz="2400" dirty="0" smtClean="0"/>
              <a:t> </a:t>
            </a:r>
            <a:r>
              <a:rPr lang="en-US" sz="2400" dirty="0" err="1"/>
              <a:t>luận</a:t>
            </a:r>
            <a:r>
              <a:rPr lang="en-US" sz="2400" dirty="0"/>
              <a:t> </a:t>
            </a:r>
            <a:r>
              <a:rPr lang="en-US" sz="2400" dirty="0" err="1"/>
              <a:t>các</a:t>
            </a:r>
            <a:r>
              <a:rPr lang="en-US" sz="2400" dirty="0"/>
              <a:t> </a:t>
            </a:r>
            <a:r>
              <a:rPr lang="en-US" sz="2400" dirty="0" err="1"/>
              <a:t>quy</a:t>
            </a:r>
            <a:r>
              <a:rPr lang="en-US" sz="2400" dirty="0"/>
              <a:t> </a:t>
            </a:r>
            <a:r>
              <a:rPr lang="en-US" sz="2400" dirty="0" err="1"/>
              <a:t>tắc</a:t>
            </a:r>
            <a:r>
              <a:rPr lang="en-US" sz="2400" dirty="0"/>
              <a:t> </a:t>
            </a:r>
            <a:r>
              <a:rPr lang="en-US" sz="2400" dirty="0" err="1"/>
              <a:t>cơ</a:t>
            </a:r>
            <a:r>
              <a:rPr lang="en-US" sz="2400" dirty="0"/>
              <a:t> </a:t>
            </a:r>
            <a:r>
              <a:rPr lang="en-US" sz="2400" dirty="0" err="1"/>
              <a:t>bản</a:t>
            </a:r>
            <a:r>
              <a:rPr lang="en-US" sz="2400" dirty="0"/>
              <a:t>, </a:t>
            </a:r>
            <a:r>
              <a:rPr lang="en-US" sz="2400" dirty="0" err="1"/>
              <a:t>mục</a:t>
            </a:r>
            <a:r>
              <a:rPr lang="en-US" sz="2400" dirty="0"/>
              <a:t> </a:t>
            </a:r>
            <a:r>
              <a:rPr lang="en-US" sz="2400" dirty="0" err="1"/>
              <a:t>tiêu</a:t>
            </a:r>
            <a:r>
              <a:rPr lang="en-US" sz="2400" dirty="0"/>
              <a:t>, </a:t>
            </a:r>
            <a:r>
              <a:rPr lang="en-US" sz="2400" dirty="0" err="1"/>
              <a:t>và</a:t>
            </a:r>
            <a:r>
              <a:rPr lang="en-US" sz="2400" dirty="0"/>
              <a:t> </a:t>
            </a:r>
            <a:r>
              <a:rPr lang="en-US" sz="2400" dirty="0" err="1"/>
              <a:t>phạm</a:t>
            </a:r>
            <a:r>
              <a:rPr lang="en-US" sz="2400" dirty="0"/>
              <a:t> vi </a:t>
            </a:r>
            <a:r>
              <a:rPr lang="en-US" sz="2400" dirty="0" err="1"/>
              <a:t>của</a:t>
            </a:r>
            <a:r>
              <a:rPr lang="en-US" sz="2400" dirty="0"/>
              <a:t> </a:t>
            </a:r>
            <a:r>
              <a:rPr lang="en-US" sz="2400" dirty="0" err="1"/>
              <a:t>phiên</a:t>
            </a:r>
            <a:r>
              <a:rPr lang="en-US" sz="2400" dirty="0"/>
              <a:t> JAD.</a:t>
            </a:r>
          </a:p>
          <a:p>
            <a:r>
              <a:rPr lang="en-US" sz="2400" dirty="0" smtClean="0"/>
              <a:t>-</a:t>
            </a:r>
            <a:r>
              <a:rPr lang="en-US" sz="2400" dirty="0" err="1" smtClean="0"/>
              <a:t>Giải</a:t>
            </a:r>
            <a:r>
              <a:rPr lang="en-US" sz="2400" dirty="0" smtClean="0"/>
              <a:t> </a:t>
            </a:r>
            <a:r>
              <a:rPr lang="en-US" sz="2400" dirty="0" err="1"/>
              <a:t>thích</a:t>
            </a:r>
            <a:r>
              <a:rPr lang="en-US" sz="2400" dirty="0"/>
              <a:t> </a:t>
            </a:r>
            <a:r>
              <a:rPr lang="en-US" sz="2400" dirty="0" err="1"/>
              <a:t>cách</a:t>
            </a:r>
            <a:r>
              <a:rPr lang="en-US" sz="2400" dirty="0"/>
              <a:t> </a:t>
            </a:r>
            <a:r>
              <a:rPr lang="en-US" sz="2400" dirty="0" err="1"/>
              <a:t>ghi</a:t>
            </a:r>
            <a:r>
              <a:rPr lang="en-US" sz="2400" dirty="0"/>
              <a:t> </a:t>
            </a:r>
            <a:r>
              <a:rPr lang="en-US" sz="2400" dirty="0" err="1"/>
              <a:t>chép</a:t>
            </a:r>
            <a:r>
              <a:rPr lang="en-US" sz="2400" dirty="0"/>
              <a:t> </a:t>
            </a:r>
            <a:r>
              <a:rPr lang="en-US" sz="2400" dirty="0" err="1"/>
              <a:t>tài</a:t>
            </a:r>
            <a:r>
              <a:rPr lang="en-US" sz="2400" dirty="0"/>
              <a:t> </a:t>
            </a:r>
            <a:r>
              <a:rPr lang="en-US" sz="2400" dirty="0" err="1"/>
              <a:t>liệu</a:t>
            </a:r>
            <a:r>
              <a:rPr lang="en-US" sz="2400" dirty="0"/>
              <a:t> </a:t>
            </a:r>
            <a:r>
              <a:rPr lang="en-US" sz="2400" dirty="0" err="1"/>
              <a:t>và</a:t>
            </a:r>
            <a:r>
              <a:rPr lang="en-US" sz="2400" dirty="0"/>
              <a:t> </a:t>
            </a:r>
            <a:r>
              <a:rPr lang="en-US" sz="2400" dirty="0" err="1"/>
              <a:t>sử</a:t>
            </a:r>
            <a:r>
              <a:rPr lang="en-US" sz="2400" dirty="0"/>
              <a:t> </a:t>
            </a:r>
            <a:r>
              <a:rPr lang="en-US" sz="2400" dirty="0" err="1"/>
              <a:t>dụng</a:t>
            </a:r>
            <a:r>
              <a:rPr lang="en-US" sz="2400" dirty="0"/>
              <a:t> </a:t>
            </a:r>
            <a:r>
              <a:rPr lang="en-US" sz="2400" dirty="0" err="1"/>
              <a:t>các</a:t>
            </a:r>
            <a:r>
              <a:rPr lang="en-US" sz="2400" dirty="0"/>
              <a:t> </a:t>
            </a:r>
            <a:r>
              <a:rPr lang="en-US" sz="2400" dirty="0" err="1"/>
              <a:t>công</a:t>
            </a:r>
            <a:r>
              <a:rPr lang="en-US" sz="2400" dirty="0"/>
              <a:t> </a:t>
            </a:r>
            <a:r>
              <a:rPr lang="en-US" sz="2400" dirty="0" err="1"/>
              <a:t>cụ</a:t>
            </a:r>
            <a:r>
              <a:rPr lang="en-US" sz="2400" dirty="0"/>
              <a:t> </a:t>
            </a:r>
            <a:r>
              <a:rPr lang="en-US" sz="2400" dirty="0" err="1"/>
              <a:t>hỗ</a:t>
            </a:r>
            <a:r>
              <a:rPr lang="en-US" sz="2400" dirty="0"/>
              <a:t> </a:t>
            </a:r>
            <a:r>
              <a:rPr lang="en-US" sz="2400" dirty="0" err="1"/>
              <a:t>trợ</a:t>
            </a:r>
            <a:r>
              <a:rPr lang="en-US" sz="2400" dirty="0"/>
              <a:t> (CASE tools, </a:t>
            </a:r>
            <a:r>
              <a:rPr lang="en-US" sz="2400" dirty="0" err="1"/>
              <a:t>nếu</a:t>
            </a:r>
            <a:r>
              <a:rPr lang="en-US" sz="2400" dirty="0"/>
              <a:t> </a:t>
            </a:r>
            <a:r>
              <a:rPr lang="en-US" sz="2400" dirty="0" err="1"/>
              <a:t>có</a:t>
            </a:r>
            <a:r>
              <a:rPr lang="en-US" sz="2400" dirty="0"/>
              <a:t>).</a:t>
            </a:r>
          </a:p>
          <a:p>
            <a:r>
              <a:rPr lang="en-US" sz="2400" b="1" dirty="0" err="1"/>
              <a:t>Vai</a:t>
            </a:r>
            <a:r>
              <a:rPr lang="en-US" sz="2400" b="1" dirty="0"/>
              <a:t> </a:t>
            </a:r>
            <a:r>
              <a:rPr lang="en-US" sz="2400" b="1" dirty="0" err="1"/>
              <a:t>trò</a:t>
            </a:r>
            <a:r>
              <a:rPr lang="en-US" sz="2400" b="1" dirty="0"/>
              <a:t> </a:t>
            </a:r>
            <a:r>
              <a:rPr lang="en-US" sz="2400" b="1" dirty="0" err="1"/>
              <a:t>của</a:t>
            </a:r>
            <a:r>
              <a:rPr lang="en-US" sz="2400" b="1" dirty="0"/>
              <a:t> Top Management (</a:t>
            </a:r>
            <a:r>
              <a:rPr lang="en-US" sz="2400" b="1" dirty="0" err="1"/>
              <a:t>Quản</a:t>
            </a:r>
            <a:r>
              <a:rPr lang="en-US" sz="2400" b="1" dirty="0"/>
              <a:t> </a:t>
            </a:r>
            <a:r>
              <a:rPr lang="en-US" sz="2400" b="1" dirty="0" err="1"/>
              <a:t>lý</a:t>
            </a:r>
            <a:r>
              <a:rPr lang="en-US" sz="2400" b="1" dirty="0"/>
              <a:t> </a:t>
            </a:r>
            <a:r>
              <a:rPr lang="en-US" sz="2400" b="1" dirty="0" err="1"/>
              <a:t>cấp</a:t>
            </a:r>
            <a:r>
              <a:rPr lang="en-US" sz="2400" b="1" dirty="0"/>
              <a:t> </a:t>
            </a:r>
            <a:r>
              <a:rPr lang="en-US" sz="2400" b="1" dirty="0" err="1"/>
              <a:t>cao</a:t>
            </a:r>
            <a:r>
              <a:rPr lang="en-US" sz="2400" b="1" dirty="0"/>
              <a:t>)</a:t>
            </a:r>
            <a:r>
              <a:rPr lang="en-US" sz="2400" dirty="0"/>
              <a:t>:</a:t>
            </a:r>
          </a:p>
          <a:p>
            <a:r>
              <a:rPr lang="en-US" sz="2400" dirty="0" smtClean="0"/>
              <a:t>-</a:t>
            </a:r>
            <a:r>
              <a:rPr lang="en-US" sz="2400" dirty="0" err="1" smtClean="0"/>
              <a:t>Trình</a:t>
            </a:r>
            <a:r>
              <a:rPr lang="en-US" sz="2400" dirty="0" smtClean="0"/>
              <a:t> </a:t>
            </a:r>
            <a:r>
              <a:rPr lang="en-US" sz="2400" dirty="0" err="1"/>
              <a:t>bày</a:t>
            </a:r>
            <a:r>
              <a:rPr lang="en-US" sz="2400" dirty="0"/>
              <a:t> </a:t>
            </a:r>
            <a:r>
              <a:rPr lang="en-US" sz="2400" dirty="0" err="1"/>
              <a:t>lý</a:t>
            </a:r>
            <a:r>
              <a:rPr lang="en-US" sz="2400" dirty="0"/>
              <a:t> do </a:t>
            </a:r>
            <a:r>
              <a:rPr lang="en-US" sz="2400" dirty="0" err="1"/>
              <a:t>thực</a:t>
            </a:r>
            <a:r>
              <a:rPr lang="en-US" sz="2400" dirty="0"/>
              <a:t> </a:t>
            </a:r>
            <a:r>
              <a:rPr lang="en-US" sz="2400" dirty="0" err="1"/>
              <a:t>hiện</a:t>
            </a:r>
            <a:r>
              <a:rPr lang="en-US" sz="2400" dirty="0"/>
              <a:t> </a:t>
            </a:r>
            <a:r>
              <a:rPr lang="en-US" sz="2400" dirty="0" err="1"/>
              <a:t>dự</a:t>
            </a:r>
            <a:r>
              <a:rPr lang="en-US" sz="2400" dirty="0"/>
              <a:t> </a:t>
            </a:r>
            <a:r>
              <a:rPr lang="en-US" sz="2400" dirty="0" err="1"/>
              <a:t>án</a:t>
            </a:r>
            <a:r>
              <a:rPr lang="en-US" sz="2400" dirty="0"/>
              <a:t>.</a:t>
            </a:r>
          </a:p>
          <a:p>
            <a:r>
              <a:rPr lang="en-US" sz="2400" dirty="0" smtClean="0"/>
              <a:t>-</a:t>
            </a:r>
            <a:r>
              <a:rPr lang="en-US" sz="2400" dirty="0" err="1" smtClean="0"/>
              <a:t>Bày</a:t>
            </a:r>
            <a:r>
              <a:rPr lang="en-US" sz="2400" dirty="0" smtClean="0"/>
              <a:t> </a:t>
            </a:r>
            <a:r>
              <a:rPr lang="en-US" sz="2400" dirty="0" err="1"/>
              <a:t>tỏ</a:t>
            </a:r>
            <a:r>
              <a:rPr lang="en-US" sz="2400" dirty="0"/>
              <a:t> </a:t>
            </a:r>
            <a:r>
              <a:rPr lang="en-US" sz="2400" dirty="0" err="1"/>
              <a:t>sự</a:t>
            </a:r>
            <a:r>
              <a:rPr lang="en-US" sz="2400" dirty="0"/>
              <a:t> </a:t>
            </a:r>
            <a:r>
              <a:rPr lang="en-US" sz="2400" dirty="0" err="1"/>
              <a:t>ủng</a:t>
            </a:r>
            <a:r>
              <a:rPr lang="en-US" sz="2400" dirty="0"/>
              <a:t> </a:t>
            </a:r>
            <a:r>
              <a:rPr lang="en-US" sz="2400" dirty="0" err="1"/>
              <a:t>hộ</a:t>
            </a:r>
            <a:r>
              <a:rPr lang="en-US" sz="2400" dirty="0"/>
              <a:t> </a:t>
            </a:r>
            <a:r>
              <a:rPr lang="en-US" sz="2400" dirty="0" err="1"/>
              <a:t>từ</a:t>
            </a:r>
            <a:r>
              <a:rPr lang="en-US" sz="2400" dirty="0"/>
              <a:t> </a:t>
            </a:r>
            <a:r>
              <a:rPr lang="en-US" sz="2400" dirty="0" err="1"/>
              <a:t>cấp</a:t>
            </a:r>
            <a:r>
              <a:rPr lang="en-US" sz="2400" dirty="0"/>
              <a:t> </a:t>
            </a:r>
            <a:r>
              <a:rPr lang="en-US" sz="2400" dirty="0" err="1"/>
              <a:t>quản</a:t>
            </a:r>
            <a:r>
              <a:rPr lang="en-US" sz="2400" dirty="0"/>
              <a:t> </a:t>
            </a:r>
            <a:r>
              <a:rPr lang="en-US" sz="2400" dirty="0" err="1"/>
              <a:t>lý</a:t>
            </a:r>
            <a:r>
              <a:rPr lang="en-US" sz="2400" dirty="0"/>
              <a:t> </a:t>
            </a:r>
            <a:r>
              <a:rPr lang="en-US" sz="2400" dirty="0" err="1"/>
              <a:t>và</a:t>
            </a:r>
            <a:r>
              <a:rPr lang="en-US" sz="2400" dirty="0"/>
              <a:t> </a:t>
            </a:r>
            <a:r>
              <a:rPr lang="en-US" sz="2400" dirty="0" err="1"/>
              <a:t>đảm</a:t>
            </a:r>
            <a:r>
              <a:rPr lang="en-US" sz="2400" dirty="0"/>
              <a:t> </a:t>
            </a:r>
            <a:r>
              <a:rPr lang="en-US" sz="2400" dirty="0" err="1"/>
              <a:t>bảo</a:t>
            </a:r>
            <a:r>
              <a:rPr lang="en-US" sz="2400" dirty="0"/>
              <a:t> </a:t>
            </a:r>
            <a:r>
              <a:rPr lang="en-US" sz="2400" dirty="0" err="1"/>
              <a:t>sự</a:t>
            </a:r>
            <a:r>
              <a:rPr lang="en-US" sz="2400" dirty="0"/>
              <a:t> </a:t>
            </a:r>
            <a:r>
              <a:rPr lang="en-US" sz="2400" dirty="0" err="1"/>
              <a:t>phê</a:t>
            </a:r>
            <a:r>
              <a:rPr lang="en-US" sz="2400" dirty="0"/>
              <a:t> </a:t>
            </a:r>
            <a:r>
              <a:rPr lang="en-US" sz="2400" dirty="0" err="1"/>
              <a:t>duyệt</a:t>
            </a:r>
            <a:r>
              <a:rPr lang="en-US" sz="2400" dirty="0"/>
              <a:t> </a:t>
            </a:r>
            <a:r>
              <a:rPr lang="en-US" sz="2400" dirty="0" err="1"/>
              <a:t>chính</a:t>
            </a:r>
            <a:r>
              <a:rPr lang="en-US" sz="2400" dirty="0"/>
              <a:t> </a:t>
            </a:r>
            <a:r>
              <a:rPr lang="en-US" sz="2400" dirty="0" err="1"/>
              <a:t>thức</a:t>
            </a:r>
            <a:r>
              <a:rPr lang="en-US" dirty="0"/>
              <a:t>.</a:t>
            </a:r>
          </a:p>
        </p:txBody>
      </p:sp>
      <p:sp>
        <p:nvSpPr>
          <p:cNvPr id="21" name="TextBox 20"/>
          <p:cNvSpPr txBox="1"/>
          <p:nvPr/>
        </p:nvSpPr>
        <p:spPr>
          <a:xfrm>
            <a:off x="5692852" y="2284095"/>
            <a:ext cx="4495800" cy="3539430"/>
          </a:xfrm>
          <a:prstGeom prst="rect">
            <a:avLst/>
          </a:prstGeom>
          <a:noFill/>
        </p:spPr>
        <p:txBody>
          <a:bodyPr wrap="square" rtlCol="0">
            <a:spAutoFit/>
          </a:bodyPr>
          <a:lstStyle/>
          <a:p>
            <a:r>
              <a:rPr lang="en-US" sz="2800" b="1" u="sng" dirty="0"/>
              <a:t>2. </a:t>
            </a:r>
            <a:r>
              <a:rPr lang="en-US" sz="2800" b="1" u="sng" dirty="0" err="1"/>
              <a:t>Đưa</a:t>
            </a:r>
            <a:r>
              <a:rPr lang="en-US" sz="2800" b="1" u="sng" dirty="0"/>
              <a:t> </a:t>
            </a:r>
            <a:r>
              <a:rPr lang="en-US" sz="2800" b="1" u="sng" dirty="0" err="1"/>
              <a:t>ra</a:t>
            </a:r>
            <a:r>
              <a:rPr lang="en-US" sz="2800" b="1" u="sng" dirty="0"/>
              <a:t> </a:t>
            </a:r>
            <a:r>
              <a:rPr lang="en-US" sz="2800" b="1" u="sng" dirty="0" err="1"/>
              <a:t>thông</a:t>
            </a:r>
            <a:r>
              <a:rPr lang="en-US" sz="2800" b="1" u="sng" dirty="0"/>
              <a:t> tin </a:t>
            </a:r>
            <a:r>
              <a:rPr lang="en-US" sz="2800" b="1" u="sng" dirty="0" err="1"/>
              <a:t>tổng</a:t>
            </a:r>
            <a:r>
              <a:rPr lang="en-US" sz="2800" b="1" u="sng" dirty="0"/>
              <a:t> </a:t>
            </a:r>
            <a:r>
              <a:rPr lang="en-US" sz="2800" b="1" u="sng" dirty="0" err="1"/>
              <a:t>quan</a:t>
            </a:r>
            <a:r>
              <a:rPr lang="en-US" sz="2800" b="1" u="sng" dirty="0"/>
              <a:t> </a:t>
            </a:r>
            <a:r>
              <a:rPr lang="en-US" sz="2800" b="1" u="sng" dirty="0" err="1"/>
              <a:t>và</a:t>
            </a:r>
            <a:r>
              <a:rPr lang="en-US" sz="2800" b="1" u="sng" dirty="0"/>
              <a:t> </a:t>
            </a:r>
            <a:r>
              <a:rPr lang="en-US" sz="2800" b="1" u="sng" dirty="0" err="1"/>
              <a:t>định</a:t>
            </a:r>
            <a:r>
              <a:rPr lang="en-US" sz="2800" b="1" u="sng" dirty="0"/>
              <a:t> </a:t>
            </a:r>
            <a:r>
              <a:rPr lang="en-US" sz="2800" b="1" u="sng" dirty="0" err="1"/>
              <a:t>hướng</a:t>
            </a:r>
            <a:endParaRPr lang="en-US" sz="2800" b="1" u="sng" dirty="0"/>
          </a:p>
          <a:p>
            <a:r>
              <a:rPr lang="en-US" sz="2400" b="1" dirty="0" err="1"/>
              <a:t>Vai</a:t>
            </a:r>
            <a:r>
              <a:rPr lang="en-US" sz="2400" b="1" dirty="0"/>
              <a:t> </a:t>
            </a:r>
            <a:r>
              <a:rPr lang="en-US" sz="2400" b="1" dirty="0" err="1"/>
              <a:t>trò</a:t>
            </a:r>
            <a:r>
              <a:rPr lang="en-US" sz="2400" b="1" dirty="0"/>
              <a:t> </a:t>
            </a:r>
            <a:r>
              <a:rPr lang="en-US" sz="2400" b="1" dirty="0" err="1"/>
              <a:t>chính</a:t>
            </a:r>
            <a:r>
              <a:rPr lang="en-US" sz="2400" b="1" dirty="0"/>
              <a:t>: Project Leader</a:t>
            </a:r>
            <a:r>
              <a:rPr lang="en-US" sz="2400" dirty="0"/>
              <a:t>.</a:t>
            </a:r>
          </a:p>
          <a:p>
            <a:r>
              <a:rPr lang="en-US" sz="2400" b="1" dirty="0" err="1"/>
              <a:t>Hoạt</a:t>
            </a:r>
            <a:r>
              <a:rPr lang="en-US" sz="2400" b="1" dirty="0"/>
              <a:t> </a:t>
            </a:r>
            <a:r>
              <a:rPr lang="en-US" sz="2400" b="1" dirty="0" err="1"/>
              <a:t>động</a:t>
            </a:r>
            <a:r>
              <a:rPr lang="en-US" sz="2400" dirty="0"/>
              <a:t>:</a:t>
            </a:r>
          </a:p>
          <a:p>
            <a:r>
              <a:rPr lang="en-US" sz="2400" dirty="0" smtClean="0"/>
              <a:t>-</a:t>
            </a:r>
            <a:r>
              <a:rPr lang="en-US" sz="2400" dirty="0" err="1" smtClean="0"/>
              <a:t>Trình</a:t>
            </a:r>
            <a:r>
              <a:rPr lang="en-US" sz="2400" dirty="0" smtClean="0"/>
              <a:t> </a:t>
            </a:r>
            <a:r>
              <a:rPr lang="en-US" sz="2400" dirty="0" err="1"/>
              <a:t>bày</a:t>
            </a:r>
            <a:r>
              <a:rPr lang="en-US" sz="2400" dirty="0"/>
              <a:t> </a:t>
            </a:r>
            <a:r>
              <a:rPr lang="en-US" sz="2400" dirty="0" err="1"/>
              <a:t>tổng</a:t>
            </a:r>
            <a:r>
              <a:rPr lang="en-US" sz="2400" dirty="0"/>
              <a:t> </a:t>
            </a:r>
            <a:r>
              <a:rPr lang="en-US" sz="2400" dirty="0" err="1"/>
              <a:t>quan</a:t>
            </a:r>
            <a:r>
              <a:rPr lang="en-US" sz="2400" dirty="0"/>
              <a:t> </a:t>
            </a:r>
            <a:r>
              <a:rPr lang="en-US" sz="2400" dirty="0" err="1"/>
              <a:t>về</a:t>
            </a:r>
            <a:r>
              <a:rPr lang="en-US" sz="2400" dirty="0"/>
              <a:t> </a:t>
            </a:r>
            <a:r>
              <a:rPr lang="en-US" sz="2400" dirty="0" err="1"/>
              <a:t>hệ</a:t>
            </a:r>
            <a:r>
              <a:rPr lang="en-US" sz="2400" dirty="0"/>
              <a:t> </a:t>
            </a:r>
            <a:r>
              <a:rPr lang="en-US" sz="2400" dirty="0" err="1"/>
              <a:t>thống</a:t>
            </a:r>
            <a:r>
              <a:rPr lang="en-US" sz="2400" dirty="0"/>
              <a:t> </a:t>
            </a:r>
            <a:r>
              <a:rPr lang="en-US" sz="2400" dirty="0" err="1"/>
              <a:t>hiện</a:t>
            </a:r>
            <a:r>
              <a:rPr lang="en-US" sz="2400" dirty="0"/>
              <a:t> </a:t>
            </a:r>
            <a:r>
              <a:rPr lang="en-US" sz="2400" dirty="0" err="1"/>
              <a:t>tại</a:t>
            </a:r>
            <a:r>
              <a:rPr lang="en-US" sz="2400" dirty="0"/>
              <a:t> </a:t>
            </a:r>
            <a:r>
              <a:rPr lang="en-US" sz="2400" dirty="0" err="1"/>
              <a:t>và</a:t>
            </a:r>
            <a:r>
              <a:rPr lang="en-US" sz="2400" dirty="0"/>
              <a:t> </a:t>
            </a:r>
            <a:r>
              <a:rPr lang="en-US" sz="2400" dirty="0" err="1"/>
              <a:t>phạm</a:t>
            </a:r>
            <a:r>
              <a:rPr lang="en-US" sz="2400" dirty="0"/>
              <a:t> vi </a:t>
            </a:r>
            <a:r>
              <a:rPr lang="en-US" sz="2400" dirty="0" err="1"/>
              <a:t>dự</a:t>
            </a:r>
            <a:r>
              <a:rPr lang="en-US" sz="2400" dirty="0"/>
              <a:t> </a:t>
            </a:r>
            <a:r>
              <a:rPr lang="en-US" sz="2400" dirty="0" err="1"/>
              <a:t>án</a:t>
            </a:r>
            <a:r>
              <a:rPr lang="en-US" sz="2400" dirty="0"/>
              <a:t> </a:t>
            </a:r>
            <a:r>
              <a:rPr lang="en-US" sz="2400" dirty="0" err="1"/>
              <a:t>được</a:t>
            </a:r>
            <a:r>
              <a:rPr lang="en-US" sz="2400" dirty="0"/>
              <a:t> </a:t>
            </a:r>
            <a:r>
              <a:rPr lang="en-US" sz="2400" dirty="0" err="1"/>
              <a:t>đề</a:t>
            </a:r>
            <a:r>
              <a:rPr lang="en-US" sz="2400" dirty="0"/>
              <a:t> </a:t>
            </a:r>
            <a:r>
              <a:rPr lang="en-US" sz="2400" dirty="0" err="1"/>
              <a:t>xuất</a:t>
            </a:r>
            <a:r>
              <a:rPr lang="en-US" sz="2400" dirty="0"/>
              <a:t>.</a:t>
            </a:r>
          </a:p>
          <a:p>
            <a:r>
              <a:rPr lang="en-US" sz="2400" dirty="0" smtClean="0"/>
              <a:t>-</a:t>
            </a:r>
            <a:r>
              <a:rPr lang="en-US" sz="2400" dirty="0" err="1" smtClean="0"/>
              <a:t>Đưa</a:t>
            </a:r>
            <a:r>
              <a:rPr lang="en-US" sz="2400" dirty="0" smtClean="0"/>
              <a:t> </a:t>
            </a:r>
            <a:r>
              <a:rPr lang="en-US" sz="2400" dirty="0" err="1"/>
              <a:t>ra</a:t>
            </a:r>
            <a:r>
              <a:rPr lang="en-US" sz="2400" dirty="0"/>
              <a:t> </a:t>
            </a:r>
            <a:r>
              <a:rPr lang="en-US" sz="2400" dirty="0" err="1"/>
              <a:t>danh</a:t>
            </a:r>
            <a:r>
              <a:rPr lang="en-US" sz="2400" dirty="0"/>
              <a:t> </a:t>
            </a:r>
            <a:r>
              <a:rPr lang="en-US" sz="2400" dirty="0" err="1"/>
              <a:t>mục</a:t>
            </a:r>
            <a:r>
              <a:rPr lang="en-US" sz="2400" dirty="0"/>
              <a:t> </a:t>
            </a:r>
            <a:r>
              <a:rPr lang="en-US" sz="2400" dirty="0" err="1"/>
              <a:t>các</a:t>
            </a:r>
            <a:r>
              <a:rPr lang="en-US" sz="2400" dirty="0"/>
              <a:t> </a:t>
            </a:r>
            <a:r>
              <a:rPr lang="en-US" sz="2400" dirty="0" err="1"/>
              <a:t>chủ</a:t>
            </a:r>
            <a:r>
              <a:rPr lang="en-US" sz="2400" dirty="0"/>
              <a:t> </a:t>
            </a:r>
            <a:r>
              <a:rPr lang="en-US" sz="2400" dirty="0" err="1"/>
              <a:t>đề</a:t>
            </a:r>
            <a:r>
              <a:rPr lang="en-US" sz="2400" dirty="0"/>
              <a:t> </a:t>
            </a:r>
            <a:r>
              <a:rPr lang="en-US" sz="2400" dirty="0" err="1"/>
              <a:t>và</a:t>
            </a:r>
            <a:r>
              <a:rPr lang="en-US" sz="2400" dirty="0"/>
              <a:t> </a:t>
            </a:r>
            <a:r>
              <a:rPr lang="en-US" sz="2400" dirty="0" err="1"/>
              <a:t>vấn</a:t>
            </a:r>
            <a:r>
              <a:rPr lang="en-US" sz="2400" dirty="0"/>
              <a:t> </a:t>
            </a:r>
            <a:r>
              <a:rPr lang="en-US" sz="2400" dirty="0" err="1"/>
              <a:t>đề</a:t>
            </a:r>
            <a:r>
              <a:rPr lang="en-US" sz="2400" dirty="0"/>
              <a:t> </a:t>
            </a:r>
            <a:r>
              <a:rPr lang="en-US" sz="2400" dirty="0" err="1"/>
              <a:t>cần</a:t>
            </a:r>
            <a:r>
              <a:rPr lang="en-US" sz="2400" dirty="0"/>
              <a:t> </a:t>
            </a:r>
            <a:r>
              <a:rPr lang="en-US" sz="2400" dirty="0" err="1"/>
              <a:t>điều</a:t>
            </a:r>
            <a:r>
              <a:rPr lang="en-US" sz="2400" dirty="0"/>
              <a:t> </a:t>
            </a:r>
            <a:r>
              <a:rPr lang="en-US" sz="2400" dirty="0" err="1"/>
              <a:t>tra</a:t>
            </a:r>
            <a:r>
              <a:rPr lang="en-US" sz="2400" dirty="0"/>
              <a:t>.</a:t>
            </a:r>
          </a:p>
        </p:txBody>
      </p:sp>
      <p:sp>
        <p:nvSpPr>
          <p:cNvPr id="22" name="TextBox 21"/>
          <p:cNvSpPr txBox="1"/>
          <p:nvPr/>
        </p:nvSpPr>
        <p:spPr>
          <a:xfrm>
            <a:off x="10663531" y="2251728"/>
            <a:ext cx="6707327" cy="4647426"/>
          </a:xfrm>
          <a:prstGeom prst="rect">
            <a:avLst/>
          </a:prstGeom>
          <a:noFill/>
        </p:spPr>
        <p:txBody>
          <a:bodyPr wrap="square" rtlCol="0">
            <a:spAutoFit/>
          </a:bodyPr>
          <a:lstStyle/>
          <a:p>
            <a:r>
              <a:rPr lang="en-US" sz="2800" b="1" u="sng" dirty="0"/>
              <a:t>3. </a:t>
            </a:r>
            <a:r>
              <a:rPr lang="en-US" sz="2800" b="1" u="sng" dirty="0" err="1"/>
              <a:t>Thảo</a:t>
            </a:r>
            <a:r>
              <a:rPr lang="en-US" sz="2800" b="1" u="sng" dirty="0"/>
              <a:t> </a:t>
            </a:r>
            <a:r>
              <a:rPr lang="en-US" sz="2800" b="1" u="sng" dirty="0" err="1"/>
              <a:t>luận</a:t>
            </a:r>
            <a:r>
              <a:rPr lang="en-US" sz="2800" b="1" u="sng" dirty="0"/>
              <a:t> </a:t>
            </a:r>
            <a:r>
              <a:rPr lang="en-US" sz="2800" b="1" u="sng" dirty="0" err="1"/>
              <a:t>mở</a:t>
            </a:r>
            <a:r>
              <a:rPr lang="en-US" sz="2800" b="1" u="sng" dirty="0"/>
              <a:t> ban </a:t>
            </a:r>
            <a:r>
              <a:rPr lang="en-US" sz="2800" b="1" u="sng" dirty="0" err="1"/>
              <a:t>đầu</a:t>
            </a:r>
            <a:r>
              <a:rPr lang="en-US" sz="2800" b="1" u="sng" dirty="0"/>
              <a:t> (Open Discussion Session)</a:t>
            </a:r>
          </a:p>
          <a:p>
            <a:r>
              <a:rPr lang="en-US" sz="2400" b="1" dirty="0" err="1"/>
              <a:t>Điều</a:t>
            </a:r>
            <a:r>
              <a:rPr lang="en-US" sz="2400" b="1" dirty="0"/>
              <a:t> </a:t>
            </a:r>
            <a:r>
              <a:rPr lang="en-US" sz="2400" b="1" dirty="0" err="1"/>
              <a:t>phối</a:t>
            </a:r>
            <a:r>
              <a:rPr lang="en-US" sz="2400" b="1" dirty="0"/>
              <a:t>: Project Leader</a:t>
            </a:r>
            <a:r>
              <a:rPr lang="en-US" sz="2400" dirty="0"/>
              <a:t>.</a:t>
            </a:r>
          </a:p>
          <a:p>
            <a:r>
              <a:rPr lang="en-US" sz="2400" b="1" dirty="0" err="1"/>
              <a:t>Hoạt</a:t>
            </a:r>
            <a:r>
              <a:rPr lang="en-US" sz="2400" b="1" dirty="0"/>
              <a:t> </a:t>
            </a:r>
            <a:r>
              <a:rPr lang="en-US" sz="2400" b="1" dirty="0" err="1"/>
              <a:t>động</a:t>
            </a:r>
            <a:r>
              <a:rPr lang="en-US" sz="2400" dirty="0"/>
              <a:t>:</a:t>
            </a:r>
          </a:p>
          <a:p>
            <a:r>
              <a:rPr lang="en-US" sz="2400" dirty="0" smtClean="0"/>
              <a:t>-</a:t>
            </a:r>
            <a:r>
              <a:rPr lang="en-US" sz="2400" dirty="0" err="1" smtClean="0"/>
              <a:t>Đánh</a:t>
            </a:r>
            <a:r>
              <a:rPr lang="en-US" sz="2400" dirty="0" smtClean="0"/>
              <a:t> </a:t>
            </a:r>
            <a:r>
              <a:rPr lang="en-US" sz="2400" dirty="0" err="1"/>
              <a:t>giá</a:t>
            </a:r>
            <a:r>
              <a:rPr lang="en-US" sz="2400" dirty="0"/>
              <a:t> </a:t>
            </a:r>
            <a:r>
              <a:rPr lang="en-US" sz="2400" dirty="0" err="1"/>
              <a:t>quy</a:t>
            </a:r>
            <a:r>
              <a:rPr lang="en-US" sz="2400" dirty="0"/>
              <a:t> </a:t>
            </a:r>
            <a:r>
              <a:rPr lang="en-US" sz="2400" dirty="0" err="1"/>
              <a:t>trình</a:t>
            </a:r>
            <a:r>
              <a:rPr lang="en-US" sz="2400" dirty="0"/>
              <a:t> </a:t>
            </a:r>
            <a:r>
              <a:rPr lang="en-US" sz="2400" dirty="0" err="1"/>
              <a:t>kinh</a:t>
            </a:r>
            <a:r>
              <a:rPr lang="en-US" sz="2400" dirty="0"/>
              <a:t> </a:t>
            </a:r>
            <a:r>
              <a:rPr lang="en-US" sz="2400" dirty="0" err="1"/>
              <a:t>doanh</a:t>
            </a:r>
            <a:r>
              <a:rPr lang="en-US" sz="2400" dirty="0"/>
              <a:t> </a:t>
            </a:r>
            <a:r>
              <a:rPr lang="en-US" sz="2400" dirty="0" err="1"/>
              <a:t>chính</a:t>
            </a:r>
            <a:r>
              <a:rPr lang="en-US" sz="2400" dirty="0"/>
              <a:t>, </a:t>
            </a:r>
            <a:r>
              <a:rPr lang="en-US" sz="2400" dirty="0" err="1"/>
              <a:t>nhiệm</a:t>
            </a:r>
            <a:r>
              <a:rPr lang="en-US" sz="2400" dirty="0"/>
              <a:t> </a:t>
            </a:r>
            <a:r>
              <a:rPr lang="en-US" sz="2400" dirty="0" err="1"/>
              <a:t>vụ</a:t>
            </a:r>
            <a:r>
              <a:rPr lang="en-US" sz="2400" dirty="0"/>
              <a:t>, </a:t>
            </a:r>
            <a:r>
              <a:rPr lang="en-US" sz="2400" dirty="0" err="1"/>
              <a:t>vai</a:t>
            </a:r>
            <a:r>
              <a:rPr lang="en-US" sz="2400" dirty="0"/>
              <a:t> </a:t>
            </a:r>
            <a:r>
              <a:rPr lang="en-US" sz="2400" dirty="0" err="1"/>
              <a:t>trò</a:t>
            </a:r>
            <a:r>
              <a:rPr lang="en-US" sz="2400" dirty="0"/>
              <a:t> </a:t>
            </a:r>
            <a:r>
              <a:rPr lang="en-US" sz="2400" dirty="0" err="1"/>
              <a:t>người</a:t>
            </a:r>
            <a:r>
              <a:rPr lang="en-US" sz="2400" dirty="0"/>
              <a:t> </a:t>
            </a:r>
            <a:r>
              <a:rPr lang="en-US" sz="2400" dirty="0" err="1"/>
              <a:t>dùng</a:t>
            </a:r>
            <a:r>
              <a:rPr lang="en-US" sz="2400" dirty="0"/>
              <a:t>, </a:t>
            </a:r>
            <a:r>
              <a:rPr lang="en-US" sz="2400" dirty="0" err="1"/>
              <a:t>và</a:t>
            </a:r>
            <a:r>
              <a:rPr lang="en-US" sz="2400" dirty="0"/>
              <a:t> </a:t>
            </a:r>
            <a:r>
              <a:rPr lang="en-US" sz="2400" dirty="0" err="1"/>
              <a:t>đầu</a:t>
            </a:r>
            <a:r>
              <a:rPr lang="en-US" sz="2400" dirty="0"/>
              <a:t> </a:t>
            </a:r>
            <a:r>
              <a:rPr lang="en-US" sz="2400" dirty="0" err="1"/>
              <a:t>ra.</a:t>
            </a:r>
            <a:endParaRPr lang="en-US" sz="2400" dirty="0"/>
          </a:p>
          <a:p>
            <a:r>
              <a:rPr lang="en-US" sz="2400" dirty="0" smtClean="0"/>
              <a:t>-</a:t>
            </a:r>
            <a:r>
              <a:rPr lang="en-US" sz="2400" dirty="0" err="1" smtClean="0"/>
              <a:t>Xác</a:t>
            </a:r>
            <a:r>
              <a:rPr lang="en-US" sz="2400" dirty="0" smtClean="0"/>
              <a:t> </a:t>
            </a:r>
            <a:r>
              <a:rPr lang="en-US" sz="2400" dirty="0" err="1"/>
              <a:t>định</a:t>
            </a:r>
            <a:r>
              <a:rPr lang="en-US" sz="2400" dirty="0"/>
              <a:t> </a:t>
            </a:r>
            <a:r>
              <a:rPr lang="en-US" sz="2400" dirty="0" err="1"/>
              <a:t>các</a:t>
            </a:r>
            <a:r>
              <a:rPr lang="en-US" sz="2400" dirty="0"/>
              <a:t> </a:t>
            </a:r>
            <a:r>
              <a:rPr lang="en-US" sz="2400" dirty="0" err="1"/>
              <a:t>khu</a:t>
            </a:r>
            <a:r>
              <a:rPr lang="en-US" sz="2400" dirty="0"/>
              <a:t> </a:t>
            </a:r>
            <a:r>
              <a:rPr lang="en-US" sz="2400" dirty="0" err="1"/>
              <a:t>vực</a:t>
            </a:r>
            <a:r>
              <a:rPr lang="en-US" sz="2400" dirty="0"/>
              <a:t> </a:t>
            </a:r>
            <a:r>
              <a:rPr lang="en-US" sz="2400" dirty="0" err="1"/>
              <a:t>có</a:t>
            </a:r>
            <a:r>
              <a:rPr lang="en-US" sz="2400" dirty="0"/>
              <a:t> </a:t>
            </a:r>
            <a:r>
              <a:rPr lang="en-US" sz="2400" dirty="0" err="1"/>
              <a:t>sự</a:t>
            </a:r>
            <a:r>
              <a:rPr lang="en-US" sz="2400" dirty="0"/>
              <a:t> </a:t>
            </a:r>
            <a:r>
              <a:rPr lang="en-US" sz="2400" dirty="0" err="1"/>
              <a:t>đồng</a:t>
            </a:r>
            <a:r>
              <a:rPr lang="en-US" sz="2400" dirty="0"/>
              <a:t> </a:t>
            </a:r>
            <a:r>
              <a:rPr lang="en-US" sz="2400" dirty="0" err="1"/>
              <a:t>thuận</a:t>
            </a:r>
            <a:r>
              <a:rPr lang="en-US" sz="2400" dirty="0"/>
              <a:t> </a:t>
            </a:r>
            <a:r>
              <a:rPr lang="en-US" sz="2400" dirty="0" err="1"/>
              <a:t>hoặc</a:t>
            </a:r>
            <a:r>
              <a:rPr lang="en-US" sz="2400" dirty="0"/>
              <a:t> </a:t>
            </a:r>
            <a:r>
              <a:rPr lang="en-US" sz="2400" dirty="0" err="1"/>
              <a:t>bất</a:t>
            </a:r>
            <a:r>
              <a:rPr lang="en-US" sz="2400" dirty="0"/>
              <a:t> </a:t>
            </a:r>
            <a:r>
              <a:rPr lang="en-US" sz="2400" dirty="0" err="1"/>
              <a:t>đồng</a:t>
            </a:r>
            <a:r>
              <a:rPr lang="en-US" sz="2400" dirty="0"/>
              <a:t>.</a:t>
            </a:r>
          </a:p>
          <a:p>
            <a:r>
              <a:rPr lang="en-US" sz="2400" dirty="0" smtClean="0"/>
              <a:t>-Chia </a:t>
            </a:r>
            <a:r>
              <a:rPr lang="en-US" sz="2400" dirty="0" err="1"/>
              <a:t>nhóm</a:t>
            </a:r>
            <a:r>
              <a:rPr lang="en-US" sz="2400" dirty="0"/>
              <a:t> </a:t>
            </a:r>
            <a:r>
              <a:rPr lang="en-US" sz="2400" dirty="0" err="1"/>
              <a:t>nhỏ</a:t>
            </a:r>
            <a:r>
              <a:rPr lang="en-US" sz="2400" dirty="0"/>
              <a:t> </a:t>
            </a:r>
            <a:r>
              <a:rPr lang="en-US" sz="2400" dirty="0" err="1"/>
              <a:t>để</a:t>
            </a:r>
            <a:r>
              <a:rPr lang="en-US" sz="2400" dirty="0"/>
              <a:t> </a:t>
            </a:r>
            <a:r>
              <a:rPr lang="en-US" sz="2400" dirty="0" err="1"/>
              <a:t>nghiên</a:t>
            </a:r>
            <a:r>
              <a:rPr lang="en-US" sz="2400" dirty="0"/>
              <a:t> </a:t>
            </a:r>
            <a:r>
              <a:rPr lang="en-US" sz="2400" dirty="0" err="1"/>
              <a:t>cứu</a:t>
            </a:r>
            <a:r>
              <a:rPr lang="en-US" sz="2400" dirty="0"/>
              <a:t> chi </a:t>
            </a:r>
            <a:r>
              <a:rPr lang="en-US" sz="2400" dirty="0" err="1"/>
              <a:t>tiết</a:t>
            </a:r>
            <a:r>
              <a:rPr lang="en-US" sz="2400" dirty="0"/>
              <a:t> </a:t>
            </a:r>
            <a:r>
              <a:rPr lang="en-US" sz="2400" dirty="0" err="1"/>
              <a:t>từng</a:t>
            </a:r>
            <a:r>
              <a:rPr lang="en-US" sz="2400" dirty="0"/>
              <a:t> </a:t>
            </a:r>
            <a:r>
              <a:rPr lang="en-US" sz="2400" dirty="0" err="1"/>
              <a:t>vấn</a:t>
            </a:r>
            <a:r>
              <a:rPr lang="en-US" sz="2400" dirty="0"/>
              <a:t> </a:t>
            </a:r>
            <a:r>
              <a:rPr lang="en-US" sz="2400" dirty="0" err="1"/>
              <a:t>đề</a:t>
            </a:r>
            <a:r>
              <a:rPr lang="en-US" sz="2400" dirty="0"/>
              <a:t> </a:t>
            </a:r>
            <a:r>
              <a:rPr lang="en-US" sz="2400" dirty="0" err="1"/>
              <a:t>cụ</a:t>
            </a:r>
            <a:r>
              <a:rPr lang="en-US" sz="2400" dirty="0"/>
              <a:t> </a:t>
            </a:r>
            <a:r>
              <a:rPr lang="en-US" sz="2400" dirty="0" err="1"/>
              <a:t>thể</a:t>
            </a:r>
            <a:r>
              <a:rPr lang="en-US" sz="2400" dirty="0"/>
              <a:t>.</a:t>
            </a:r>
          </a:p>
          <a:p>
            <a:r>
              <a:rPr lang="en-US" sz="2400" dirty="0" smtClean="0"/>
              <a:t>-</a:t>
            </a:r>
            <a:r>
              <a:rPr lang="en-US" sz="2400" dirty="0" err="1" smtClean="0"/>
              <a:t>Phân</a:t>
            </a:r>
            <a:r>
              <a:rPr lang="en-US" sz="2400" dirty="0" smtClean="0"/>
              <a:t> </a:t>
            </a:r>
            <a:r>
              <a:rPr lang="en-US" sz="2400" dirty="0" err="1"/>
              <a:t>công</a:t>
            </a:r>
            <a:r>
              <a:rPr lang="en-US" sz="2400" dirty="0"/>
              <a:t> </a:t>
            </a:r>
            <a:r>
              <a:rPr lang="en-US" sz="2400" dirty="0" err="1"/>
              <a:t>trưởng</a:t>
            </a:r>
            <a:r>
              <a:rPr lang="en-US" sz="2400" dirty="0"/>
              <a:t> </a:t>
            </a:r>
            <a:r>
              <a:rPr lang="en-US" sz="2400" dirty="0" err="1"/>
              <a:t>nhóm</a:t>
            </a:r>
            <a:r>
              <a:rPr lang="en-US" sz="2400" dirty="0"/>
              <a:t> (Group Leaders) </a:t>
            </a:r>
            <a:r>
              <a:rPr lang="en-US" sz="2400" dirty="0" err="1"/>
              <a:t>cho</a:t>
            </a:r>
            <a:r>
              <a:rPr lang="en-US" sz="2400" dirty="0"/>
              <a:t> </a:t>
            </a:r>
            <a:r>
              <a:rPr lang="en-US" sz="2400" dirty="0" err="1"/>
              <a:t>các</a:t>
            </a:r>
            <a:r>
              <a:rPr lang="en-US" sz="2400" dirty="0"/>
              <a:t> </a:t>
            </a:r>
            <a:r>
              <a:rPr lang="en-US" sz="2400" dirty="0" err="1"/>
              <a:t>nhóm</a:t>
            </a:r>
            <a:r>
              <a:rPr lang="en-US" sz="2400" dirty="0"/>
              <a:t> </a:t>
            </a:r>
            <a:r>
              <a:rPr lang="en-US" sz="2400" dirty="0" err="1"/>
              <a:t>nhỏ</a:t>
            </a:r>
            <a:r>
              <a:rPr lang="en-US" sz="2400" dirty="0"/>
              <a: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ircle(in)">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ircle(in)">
                                      <p:cBhvr>
                                        <p:cTn id="12" dur="2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circle(in)">
                                      <p:cBhvr>
                                        <p:cTn id="1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2877377"/>
          <a:ext cx="16230600" cy="5577969"/>
        </p:xfrm>
        <a:graphic>
          <a:graphicData uri="http://schemas.openxmlformats.org/drawingml/2006/table">
            <a:tbl>
              <a:tblPr/>
              <a:tblGrid>
                <a:gridCol w="4057650">
                  <a:extLst>
                    <a:ext uri="{9D8B030D-6E8A-4147-A177-3AD203B41FA5}">
                      <a16:colId xmlns:a16="http://schemas.microsoft.com/office/drawing/2014/main" val="20000"/>
                    </a:ext>
                  </a:extLst>
                </a:gridCol>
                <a:gridCol w="4057650">
                  <a:extLst>
                    <a:ext uri="{9D8B030D-6E8A-4147-A177-3AD203B41FA5}">
                      <a16:colId xmlns:a16="http://schemas.microsoft.com/office/drawing/2014/main" val="20001"/>
                    </a:ext>
                  </a:extLst>
                </a:gridCol>
                <a:gridCol w="4057650">
                  <a:extLst>
                    <a:ext uri="{9D8B030D-6E8A-4147-A177-3AD203B41FA5}">
                      <a16:colId xmlns:a16="http://schemas.microsoft.com/office/drawing/2014/main" val="20002"/>
                    </a:ext>
                  </a:extLst>
                </a:gridCol>
                <a:gridCol w="4057650">
                  <a:extLst>
                    <a:ext uri="{9D8B030D-6E8A-4147-A177-3AD203B41FA5}">
                      <a16:colId xmlns:a16="http://schemas.microsoft.com/office/drawing/2014/main" val="20003"/>
                    </a:ext>
                  </a:extLst>
                </a:gridCol>
              </a:tblGrid>
              <a:tr h="1039176">
                <a:tc>
                  <a:txBody>
                    <a:bodyPr/>
                    <a:lstStyle/>
                    <a:p>
                      <a:pPr algn="ctr">
                        <a:lnSpc>
                          <a:spcPts val="3920"/>
                        </a:lnSpc>
                        <a:defRPr/>
                      </a:pPr>
                      <a:r>
                        <a:rPr lang="en-US" sz="2800" b="1">
                          <a:solidFill>
                            <a:srgbClr val="3C3C3D"/>
                          </a:solidFill>
                          <a:latin typeface="Cabin Medium"/>
                          <a:ea typeface="Cabin Medium"/>
                          <a:cs typeface="Cabin Medium"/>
                          <a:sym typeface="Cabin Medium"/>
                        </a:rPr>
                        <a:t>Điểm mạnh</a:t>
                      </a:r>
                      <a:endParaRPr lang="en-US" sz="1100"/>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B2E6E6"/>
                    </a:solidFill>
                  </a:tcPr>
                </a:tc>
                <a:tc>
                  <a:txBody>
                    <a:bodyPr/>
                    <a:lstStyle/>
                    <a:p>
                      <a:pPr algn="ctr">
                        <a:lnSpc>
                          <a:spcPts val="3920"/>
                        </a:lnSpc>
                        <a:defRPr/>
                      </a:pPr>
                      <a:r>
                        <a:rPr lang="en-US" sz="2800" b="1">
                          <a:solidFill>
                            <a:srgbClr val="3C3C3D"/>
                          </a:solidFill>
                          <a:latin typeface="Cabin Medium"/>
                          <a:ea typeface="Cabin Medium"/>
                          <a:cs typeface="Cabin Medium"/>
                          <a:sym typeface="Cabin Medium"/>
                        </a:rPr>
                        <a:t>Điểm yếu</a:t>
                      </a:r>
                      <a:endParaRPr lang="en-US" sz="1100"/>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FFD8EE"/>
                    </a:solidFill>
                  </a:tcPr>
                </a:tc>
                <a:tc>
                  <a:txBody>
                    <a:bodyPr/>
                    <a:lstStyle/>
                    <a:p>
                      <a:pPr algn="ctr">
                        <a:lnSpc>
                          <a:spcPts val="3920"/>
                        </a:lnSpc>
                        <a:defRPr/>
                      </a:pPr>
                      <a:r>
                        <a:rPr lang="en-US" sz="2800" b="1">
                          <a:solidFill>
                            <a:srgbClr val="3C3C3D"/>
                          </a:solidFill>
                          <a:latin typeface="Cabin Medium"/>
                          <a:ea typeface="Cabin Medium"/>
                          <a:cs typeface="Cabin Medium"/>
                          <a:sym typeface="Cabin Medium"/>
                        </a:rPr>
                        <a:t>Cơ hội</a:t>
                      </a:r>
                      <a:endParaRPr lang="en-US" sz="1100"/>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B2E6E6"/>
                    </a:solidFill>
                  </a:tcPr>
                </a:tc>
                <a:tc>
                  <a:txBody>
                    <a:bodyPr/>
                    <a:lstStyle/>
                    <a:p>
                      <a:pPr algn="ctr">
                        <a:lnSpc>
                          <a:spcPts val="3920"/>
                        </a:lnSpc>
                        <a:defRPr/>
                      </a:pPr>
                      <a:r>
                        <a:rPr lang="en-US" sz="2800" b="1">
                          <a:solidFill>
                            <a:srgbClr val="3C3C3D"/>
                          </a:solidFill>
                          <a:latin typeface="Cabin Medium"/>
                          <a:ea typeface="Cabin Medium"/>
                          <a:cs typeface="Cabin Medium"/>
                          <a:sym typeface="Cabin Medium"/>
                        </a:rPr>
                        <a:t>Thách thức</a:t>
                      </a:r>
                      <a:endParaRPr lang="en-US" sz="1100"/>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FFD8EE"/>
                    </a:solidFill>
                  </a:tcPr>
                </a:tc>
                <a:extLst>
                  <a:ext uri="{0D108BD9-81ED-4DB2-BD59-A6C34878D82A}">
                    <a16:rowId xmlns:a16="http://schemas.microsoft.com/office/drawing/2014/main" val="10000"/>
                  </a:ext>
                </a:extLst>
              </a:tr>
              <a:tr h="4538793">
                <a:tc>
                  <a:txBody>
                    <a:bodyPr/>
                    <a:lstStyle/>
                    <a:p>
                      <a:pPr marL="453392" lvl="1" indent="-226696" algn="l">
                        <a:lnSpc>
                          <a:spcPts val="2940"/>
                        </a:lnSpc>
                        <a:buFont typeface="Arial"/>
                        <a:buChar char="•"/>
                        <a:defRPr/>
                      </a:pPr>
                      <a:r>
                        <a:rPr lang="en-US" sz="2100">
                          <a:solidFill>
                            <a:srgbClr val="3C3C3D"/>
                          </a:solidFill>
                          <a:latin typeface="Cabin"/>
                          <a:ea typeface="Cabin"/>
                          <a:cs typeface="Cabin"/>
                          <a:sym typeface="Cabin"/>
                        </a:rPr>
                        <a:t>Công ty của bạn có những giá trị độc nhất nào mà các đối thủ không có?</a:t>
                      </a:r>
                      <a:endParaRPr lang="en-US" sz="1100"/>
                    </a:p>
                    <a:p>
                      <a:pPr marL="453392" lvl="1" indent="-226696" algn="l">
                        <a:lnSpc>
                          <a:spcPts val="2940"/>
                        </a:lnSpc>
                        <a:buFont typeface="Arial"/>
                        <a:buChar char="•"/>
                      </a:pPr>
                      <a:r>
                        <a:rPr lang="en-US" sz="2100">
                          <a:solidFill>
                            <a:srgbClr val="3C3C3D"/>
                          </a:solidFill>
                          <a:latin typeface="Cabin"/>
                          <a:ea typeface="Cabin"/>
                          <a:cs typeface="Cabin"/>
                          <a:sym typeface="Cabin"/>
                        </a:rPr>
                        <a:t>Những ưu điểm mạnh nhất của công ty bạn là gì?</a:t>
                      </a:r>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F8F8F8"/>
                    </a:solidFill>
                  </a:tcPr>
                </a:tc>
                <a:tc>
                  <a:txBody>
                    <a:bodyPr/>
                    <a:lstStyle/>
                    <a:p>
                      <a:pPr marL="453392" lvl="1" indent="-226696" algn="l">
                        <a:lnSpc>
                          <a:spcPts val="2940"/>
                        </a:lnSpc>
                        <a:buFont typeface="Arial"/>
                        <a:buChar char="•"/>
                        <a:defRPr/>
                      </a:pPr>
                      <a:r>
                        <a:rPr lang="en-US" sz="2100">
                          <a:solidFill>
                            <a:srgbClr val="3C3C3D"/>
                          </a:solidFill>
                          <a:latin typeface="Cabin"/>
                          <a:ea typeface="Cabin"/>
                          <a:cs typeface="Cabin"/>
                          <a:sym typeface="Cabin"/>
                        </a:rPr>
                        <a:t>Những yếu tố nội bộ nào có thể tác động đến công ty?</a:t>
                      </a:r>
                      <a:endParaRPr lang="en-US" sz="1100"/>
                    </a:p>
                    <a:p>
                      <a:pPr marL="453392" lvl="1" indent="-226696" algn="l">
                        <a:lnSpc>
                          <a:spcPts val="2940"/>
                        </a:lnSpc>
                        <a:buFont typeface="Arial"/>
                        <a:buChar char="•"/>
                      </a:pPr>
                      <a:r>
                        <a:rPr lang="en-US" sz="2100">
                          <a:solidFill>
                            <a:srgbClr val="3C3C3D"/>
                          </a:solidFill>
                          <a:latin typeface="Cabin"/>
                          <a:ea typeface="Cabin"/>
                          <a:cs typeface="Cabin"/>
                          <a:sym typeface="Cabin"/>
                        </a:rPr>
                        <a:t>Những lĩnh vực nào công ty cần củng cố?</a:t>
                      </a:r>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F8F8F8"/>
                    </a:solidFill>
                  </a:tcPr>
                </a:tc>
                <a:tc>
                  <a:txBody>
                    <a:bodyPr/>
                    <a:lstStyle/>
                    <a:p>
                      <a:pPr marL="453392" lvl="1" indent="-226696" algn="l">
                        <a:lnSpc>
                          <a:spcPts val="2940"/>
                        </a:lnSpc>
                        <a:buFont typeface="Arial"/>
                        <a:buChar char="•"/>
                        <a:defRPr/>
                      </a:pPr>
                      <a:r>
                        <a:rPr lang="en-US" sz="2100">
                          <a:solidFill>
                            <a:srgbClr val="3C3C3D"/>
                          </a:solidFill>
                          <a:latin typeface="Cabin"/>
                          <a:ea typeface="Cabin"/>
                          <a:cs typeface="Cabin"/>
                          <a:sym typeface="Cabin"/>
                        </a:rPr>
                        <a:t>Công ty bạn có thể khai thác công nghệ mới nào?</a:t>
                      </a:r>
                      <a:endParaRPr lang="en-US" sz="1100"/>
                    </a:p>
                    <a:p>
                      <a:pPr marL="453392" lvl="1" indent="-226696" algn="l">
                        <a:lnSpc>
                          <a:spcPts val="2940"/>
                        </a:lnSpc>
                        <a:buFont typeface="Arial"/>
                        <a:buChar char="•"/>
                      </a:pPr>
                      <a:r>
                        <a:rPr lang="en-US" sz="2100">
                          <a:solidFill>
                            <a:srgbClr val="3C3C3D"/>
                          </a:solidFill>
                          <a:latin typeface="Cabin"/>
                          <a:ea typeface="Cabin"/>
                          <a:cs typeface="Cabin"/>
                          <a:sym typeface="Cabin"/>
                        </a:rPr>
                        <a:t>Công ty bạn có thể đáp ứng những xu hướng và nhu cầu nào của thị trường?</a:t>
                      </a:r>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F8F8F8"/>
                    </a:solidFill>
                  </a:tcPr>
                </a:tc>
                <a:tc>
                  <a:txBody>
                    <a:bodyPr/>
                    <a:lstStyle/>
                    <a:p>
                      <a:pPr marL="453392" lvl="1" indent="-226696" algn="l">
                        <a:lnSpc>
                          <a:spcPts val="2940"/>
                        </a:lnSpc>
                        <a:buFont typeface="Arial"/>
                        <a:buChar char="•"/>
                        <a:defRPr/>
                      </a:pPr>
                      <a:r>
                        <a:rPr lang="en-US" sz="2100">
                          <a:solidFill>
                            <a:srgbClr val="3C3C3D"/>
                          </a:solidFill>
                          <a:latin typeface="Cabin"/>
                          <a:ea typeface="Cabin"/>
                          <a:cs typeface="Cabin"/>
                          <a:sym typeface="Cabin"/>
                        </a:rPr>
                        <a:t>Các yếu tố bên ngoài nào có thể tác động đến doanh nghiệp của bạn?</a:t>
                      </a:r>
                      <a:endParaRPr lang="en-US" sz="1100"/>
                    </a:p>
                    <a:p>
                      <a:pPr marL="453392" lvl="1" indent="-226696" algn="l">
                        <a:lnSpc>
                          <a:spcPts val="2940"/>
                        </a:lnSpc>
                        <a:buFont typeface="Arial"/>
                        <a:buChar char="•"/>
                      </a:pPr>
                      <a:r>
                        <a:rPr lang="en-US" sz="2100">
                          <a:solidFill>
                            <a:srgbClr val="3C3C3D"/>
                          </a:solidFill>
                          <a:latin typeface="Cabin"/>
                          <a:ea typeface="Cabin"/>
                          <a:cs typeface="Cabin"/>
                          <a:sym typeface="Cabin"/>
                        </a:rPr>
                        <a:t>Những công ty nào có thể trở thành đối thủ cạnh tranh?</a:t>
                      </a:r>
                    </a:p>
                  </a:txBody>
                  <a:tcPr marL="190500" marR="190500" marT="190500" marB="190500" anchor="ctr">
                    <a:lnL w="9525" cap="flat" cmpd="sng" algn="ctr">
                      <a:solidFill>
                        <a:srgbClr val="3C3C3D"/>
                      </a:solidFill>
                      <a:prstDash val="solid"/>
                      <a:round/>
                      <a:headEnd type="none" w="med" len="med"/>
                      <a:tailEnd type="none" w="med" len="med"/>
                    </a:lnL>
                    <a:lnR w="9525" cap="flat" cmpd="sng" algn="ctr">
                      <a:solidFill>
                        <a:srgbClr val="3C3C3D"/>
                      </a:solidFill>
                      <a:prstDash val="solid"/>
                      <a:round/>
                      <a:headEnd type="none" w="med" len="med"/>
                      <a:tailEnd type="none" w="med" len="med"/>
                    </a:lnR>
                    <a:lnT w="9525" cap="flat" cmpd="sng" algn="ctr">
                      <a:solidFill>
                        <a:srgbClr val="3C3C3D"/>
                      </a:solidFill>
                      <a:prstDash val="solid"/>
                      <a:round/>
                      <a:headEnd type="none" w="med" len="med"/>
                      <a:tailEnd type="none" w="med" len="med"/>
                    </a:lnT>
                    <a:lnB w="9525" cap="flat" cmpd="sng" algn="ctr">
                      <a:solidFill>
                        <a:srgbClr val="3C3C3D"/>
                      </a:solidFill>
                      <a:prstDash val="solid"/>
                      <a:round/>
                      <a:headEnd type="none" w="med" len="med"/>
                      <a:tailEnd type="none" w="med" len="med"/>
                    </a:lnB>
                    <a:solidFill>
                      <a:srgbClr val="F8F8F8"/>
                    </a:solidFill>
                  </a:tcPr>
                </a:tc>
                <a:extLst>
                  <a:ext uri="{0D108BD9-81ED-4DB2-BD59-A6C34878D82A}">
                    <a16:rowId xmlns:a16="http://schemas.microsoft.com/office/drawing/2014/main" val="10001"/>
                  </a:ext>
                </a:extLst>
              </a:tr>
            </a:tbl>
          </a:graphicData>
        </a:graphic>
      </p:graphicFrame>
      <p:sp>
        <p:nvSpPr>
          <p:cNvPr id="3" name="Freeform 3"/>
          <p:cNvSpPr/>
          <p:nvPr/>
        </p:nvSpPr>
        <p:spPr>
          <a:xfrm rot="584447">
            <a:off x="6477236" y="1084364"/>
            <a:ext cx="1389549" cy="1423353"/>
          </a:xfrm>
          <a:custGeom>
            <a:avLst/>
            <a:gdLst/>
            <a:ahLst/>
            <a:cxnLst/>
            <a:rect l="l" t="t" r="r" b="b"/>
            <a:pathLst>
              <a:path w="1389549" h="1423353">
                <a:moveTo>
                  <a:pt x="0" y="0"/>
                </a:moveTo>
                <a:lnTo>
                  <a:pt x="1389549" y="0"/>
                </a:lnTo>
                <a:lnTo>
                  <a:pt x="1389549" y="1423354"/>
                </a:lnTo>
                <a:lnTo>
                  <a:pt x="0" y="1423354"/>
                </a:lnTo>
                <a:lnTo>
                  <a:pt x="0" y="0"/>
                </a:lnTo>
                <a:close/>
              </a:path>
            </a:pathLst>
          </a:custGeom>
          <a:blipFill>
            <a:blip r:embed="rId2"/>
            <a:stretch>
              <a:fillRect/>
            </a:stretch>
          </a:blipFill>
        </p:spPr>
      </p:sp>
      <p:sp>
        <p:nvSpPr>
          <p:cNvPr id="4" name="Freeform 4"/>
          <p:cNvSpPr/>
          <p:nvPr/>
        </p:nvSpPr>
        <p:spPr>
          <a:xfrm>
            <a:off x="2366736" y="1052239"/>
            <a:ext cx="1446745" cy="1408768"/>
          </a:xfrm>
          <a:custGeom>
            <a:avLst/>
            <a:gdLst/>
            <a:ahLst/>
            <a:cxnLst/>
            <a:rect l="l" t="t" r="r" b="b"/>
            <a:pathLst>
              <a:path w="1446745" h="1408768">
                <a:moveTo>
                  <a:pt x="0" y="0"/>
                </a:moveTo>
                <a:lnTo>
                  <a:pt x="1446745" y="0"/>
                </a:lnTo>
                <a:lnTo>
                  <a:pt x="1446745" y="1408769"/>
                </a:lnTo>
                <a:lnTo>
                  <a:pt x="0" y="1408769"/>
                </a:lnTo>
                <a:lnTo>
                  <a:pt x="0" y="0"/>
                </a:lnTo>
                <a:close/>
              </a:path>
            </a:pathLst>
          </a:custGeom>
          <a:blipFill>
            <a:blip r:embed="rId3"/>
            <a:stretch>
              <a:fillRect/>
            </a:stretch>
          </a:blipFill>
        </p:spPr>
      </p:sp>
      <p:sp>
        <p:nvSpPr>
          <p:cNvPr id="5" name="Freeform 5"/>
          <p:cNvSpPr/>
          <p:nvPr/>
        </p:nvSpPr>
        <p:spPr>
          <a:xfrm rot="-5400000">
            <a:off x="10229694" y="1019049"/>
            <a:ext cx="1408768" cy="1475150"/>
          </a:xfrm>
          <a:custGeom>
            <a:avLst/>
            <a:gdLst/>
            <a:ahLst/>
            <a:cxnLst/>
            <a:rect l="l" t="t" r="r" b="b"/>
            <a:pathLst>
              <a:path w="1408768" h="1475150">
                <a:moveTo>
                  <a:pt x="0" y="0"/>
                </a:moveTo>
                <a:lnTo>
                  <a:pt x="1408768" y="0"/>
                </a:lnTo>
                <a:lnTo>
                  <a:pt x="1408768" y="1475149"/>
                </a:lnTo>
                <a:lnTo>
                  <a:pt x="0" y="1475149"/>
                </a:lnTo>
                <a:lnTo>
                  <a:pt x="0" y="0"/>
                </a:lnTo>
                <a:close/>
              </a:path>
            </a:pathLst>
          </a:custGeom>
          <a:blipFill>
            <a:blip r:embed="rId4"/>
            <a:stretch>
              <a:fillRect/>
            </a:stretch>
          </a:blipFill>
        </p:spPr>
      </p:sp>
      <p:sp>
        <p:nvSpPr>
          <p:cNvPr id="6" name="Freeform 6"/>
          <p:cNvSpPr/>
          <p:nvPr/>
        </p:nvSpPr>
        <p:spPr>
          <a:xfrm rot="3799212">
            <a:off x="14186967" y="966589"/>
            <a:ext cx="1721967" cy="1717662"/>
          </a:xfrm>
          <a:custGeom>
            <a:avLst/>
            <a:gdLst/>
            <a:ahLst/>
            <a:cxnLst/>
            <a:rect l="l" t="t" r="r" b="b"/>
            <a:pathLst>
              <a:path w="1721967" h="1717662">
                <a:moveTo>
                  <a:pt x="0" y="0"/>
                </a:moveTo>
                <a:lnTo>
                  <a:pt x="1721967" y="0"/>
                </a:lnTo>
                <a:lnTo>
                  <a:pt x="1721967" y="1717662"/>
                </a:lnTo>
                <a:lnTo>
                  <a:pt x="0" y="1717662"/>
                </a:lnTo>
                <a:lnTo>
                  <a:pt x="0" y="0"/>
                </a:lnTo>
                <a:close/>
              </a:path>
            </a:pathLst>
          </a:custGeom>
          <a:blipFill>
            <a:blip r:embed="rId5"/>
            <a:stretch>
              <a:fillRect/>
            </a:stretch>
          </a:blipFill>
        </p:spPr>
      </p:sp>
      <p:sp>
        <p:nvSpPr>
          <p:cNvPr id="10" name="Freeform 2"/>
          <p:cNvSpPr/>
          <p:nvPr/>
        </p:nvSpPr>
        <p:spPr>
          <a:xfrm>
            <a:off x="-152402" y="0"/>
            <a:ext cx="18440401" cy="10287000"/>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1" name="TextBox 10"/>
          <p:cNvSpPr txBox="1"/>
          <p:nvPr/>
        </p:nvSpPr>
        <p:spPr>
          <a:xfrm>
            <a:off x="0" y="128037"/>
            <a:ext cx="12217574" cy="1015663"/>
          </a:xfrm>
          <a:prstGeom prst="rect">
            <a:avLst/>
          </a:prstGeom>
          <a:noFill/>
        </p:spPr>
        <p:txBody>
          <a:bodyPr wrap="square" rtlCol="0">
            <a:spAutoFit/>
          </a:bodyPr>
          <a:lstStyle/>
          <a:p>
            <a:r>
              <a:rPr lang="en-US" sz="6000" b="1" dirty="0"/>
              <a:t>III.</a:t>
            </a:r>
            <a:r>
              <a:rPr lang="vi-VN" sz="6000" b="1" dirty="0"/>
              <a:t>Cách tiến hành kỹ thuật</a:t>
            </a:r>
          </a:p>
        </p:txBody>
      </p:sp>
      <p:sp>
        <p:nvSpPr>
          <p:cNvPr id="12" name="TextBox 11"/>
          <p:cNvSpPr txBox="1"/>
          <p:nvPr/>
        </p:nvSpPr>
        <p:spPr>
          <a:xfrm>
            <a:off x="443336" y="1943100"/>
            <a:ext cx="3887543" cy="4185761"/>
          </a:xfrm>
          <a:prstGeom prst="rect">
            <a:avLst/>
          </a:prstGeom>
          <a:noFill/>
        </p:spPr>
        <p:txBody>
          <a:bodyPr wrap="square" rtlCol="0">
            <a:spAutoFit/>
          </a:bodyPr>
          <a:lstStyle/>
          <a:p>
            <a:r>
              <a:rPr lang="en-US" sz="2800" b="1" u="sng" dirty="0"/>
              <a:t>4. </a:t>
            </a:r>
            <a:r>
              <a:rPr lang="en-US" sz="2800" b="1" u="sng" dirty="0" err="1"/>
              <a:t>Làm</a:t>
            </a:r>
            <a:r>
              <a:rPr lang="en-US" sz="2800" b="1" u="sng" dirty="0"/>
              <a:t> </a:t>
            </a:r>
            <a:r>
              <a:rPr lang="en-US" sz="2800" b="1" u="sng" dirty="0" err="1"/>
              <a:t>việc</a:t>
            </a:r>
            <a:r>
              <a:rPr lang="en-US" sz="2800" b="1" u="sng" dirty="0"/>
              <a:t> </a:t>
            </a:r>
            <a:r>
              <a:rPr lang="en-US" sz="2800" b="1" u="sng" dirty="0" err="1"/>
              <a:t>trong</a:t>
            </a:r>
            <a:r>
              <a:rPr lang="en-US" sz="2800" b="1" u="sng" dirty="0"/>
              <a:t> </a:t>
            </a:r>
            <a:r>
              <a:rPr lang="en-US" sz="2800" b="1" u="sng" dirty="0" err="1"/>
              <a:t>các</a:t>
            </a:r>
            <a:r>
              <a:rPr lang="en-US" sz="2800" b="1" u="sng" dirty="0"/>
              <a:t> </a:t>
            </a:r>
            <a:r>
              <a:rPr lang="en-US" sz="2800" b="1" u="sng" dirty="0" err="1"/>
              <a:t>nhóm</a:t>
            </a:r>
            <a:r>
              <a:rPr lang="en-US" sz="2800" b="1" u="sng" dirty="0"/>
              <a:t> </a:t>
            </a:r>
            <a:r>
              <a:rPr lang="en-US" sz="2800" b="1" u="sng" dirty="0" err="1"/>
              <a:t>nhỏ</a:t>
            </a:r>
            <a:endParaRPr lang="en-US" sz="2800" b="1" u="sng" dirty="0"/>
          </a:p>
          <a:p>
            <a:r>
              <a:rPr lang="en-US" sz="2400" b="1" dirty="0" err="1"/>
              <a:t>Thành</a:t>
            </a:r>
            <a:r>
              <a:rPr lang="en-US" sz="2400" b="1" dirty="0"/>
              <a:t> </a:t>
            </a:r>
            <a:r>
              <a:rPr lang="en-US" sz="2400" b="1" dirty="0" err="1"/>
              <a:t>phần</a:t>
            </a:r>
            <a:r>
              <a:rPr lang="en-US" sz="2400" b="1" dirty="0"/>
              <a:t>: </a:t>
            </a:r>
            <a:r>
              <a:rPr lang="en-US" sz="2400" b="1" dirty="0" err="1"/>
              <a:t>Các</a:t>
            </a:r>
            <a:r>
              <a:rPr lang="en-US" sz="2400" b="1" dirty="0"/>
              <a:t> </a:t>
            </a:r>
            <a:r>
              <a:rPr lang="en-US" sz="2400" b="1" dirty="0" err="1"/>
              <a:t>nhóm</a:t>
            </a:r>
            <a:r>
              <a:rPr lang="en-US" sz="2400" b="1" dirty="0"/>
              <a:t> JAD </a:t>
            </a:r>
            <a:r>
              <a:rPr lang="en-US" sz="2400" b="1" dirty="0" err="1"/>
              <a:t>nhỏ</a:t>
            </a:r>
            <a:r>
              <a:rPr lang="en-US" sz="2400" b="1" dirty="0"/>
              <a:t>, </a:t>
            </a:r>
            <a:r>
              <a:rPr lang="en-US" sz="2400" b="1" dirty="0" err="1"/>
              <a:t>hỗ</a:t>
            </a:r>
            <a:r>
              <a:rPr lang="en-US" sz="2400" b="1" dirty="0"/>
              <a:t> </a:t>
            </a:r>
            <a:r>
              <a:rPr lang="en-US" sz="2400" b="1" dirty="0" err="1"/>
              <a:t>trợ</a:t>
            </a:r>
            <a:r>
              <a:rPr lang="en-US" sz="2400" b="1" dirty="0"/>
              <a:t> </a:t>
            </a:r>
            <a:r>
              <a:rPr lang="en-US" sz="2400" b="1" dirty="0" err="1"/>
              <a:t>bởi</a:t>
            </a:r>
            <a:r>
              <a:rPr lang="en-US" sz="2400" b="1" dirty="0"/>
              <a:t> </a:t>
            </a:r>
            <a:r>
              <a:rPr lang="en-US" sz="2400" b="1" dirty="0" err="1"/>
              <a:t>nhân</a:t>
            </a:r>
            <a:r>
              <a:rPr lang="en-US" sz="2400" b="1" dirty="0"/>
              <a:t> </a:t>
            </a:r>
            <a:r>
              <a:rPr lang="en-US" sz="2400" b="1" dirty="0" err="1"/>
              <a:t>viên</a:t>
            </a:r>
            <a:r>
              <a:rPr lang="en-US" sz="2400" b="1" dirty="0"/>
              <a:t> IT (IT staff)</a:t>
            </a:r>
            <a:r>
              <a:rPr lang="en-US" sz="2400" dirty="0"/>
              <a:t>.</a:t>
            </a:r>
          </a:p>
          <a:p>
            <a:r>
              <a:rPr lang="en-US" sz="2400" b="1" dirty="0" err="1"/>
              <a:t>Hoạt</a:t>
            </a:r>
            <a:r>
              <a:rPr lang="en-US" sz="2400" b="1" dirty="0"/>
              <a:t> </a:t>
            </a:r>
            <a:r>
              <a:rPr lang="en-US" sz="2400" b="1" dirty="0" err="1"/>
              <a:t>động</a:t>
            </a:r>
            <a:r>
              <a:rPr lang="en-US" sz="2400" dirty="0"/>
              <a:t>:</a:t>
            </a:r>
          </a:p>
          <a:p>
            <a:r>
              <a:rPr lang="en-US" sz="2400" dirty="0" smtClean="0"/>
              <a:t>-</a:t>
            </a:r>
            <a:r>
              <a:rPr lang="en-US" sz="2400" dirty="0" err="1" smtClean="0"/>
              <a:t>Thảo</a:t>
            </a:r>
            <a:r>
              <a:rPr lang="en-US" sz="2400" dirty="0" smtClean="0"/>
              <a:t> </a:t>
            </a:r>
            <a:r>
              <a:rPr lang="en-US" sz="2400" dirty="0" err="1"/>
              <a:t>luận</a:t>
            </a:r>
            <a:r>
              <a:rPr lang="en-US" sz="2400" dirty="0"/>
              <a:t> </a:t>
            </a:r>
            <a:r>
              <a:rPr lang="en-US" sz="2400" dirty="0" err="1"/>
              <a:t>và</a:t>
            </a:r>
            <a:r>
              <a:rPr lang="en-US" sz="2400" dirty="0"/>
              <a:t> </a:t>
            </a:r>
            <a:r>
              <a:rPr lang="en-US" sz="2400" dirty="0" err="1"/>
              <a:t>ghi</a:t>
            </a:r>
            <a:r>
              <a:rPr lang="en-US" sz="2400" dirty="0"/>
              <a:t> </a:t>
            </a:r>
            <a:r>
              <a:rPr lang="en-US" sz="2400" dirty="0" err="1"/>
              <a:t>lại</a:t>
            </a:r>
            <a:r>
              <a:rPr lang="en-US" sz="2400" dirty="0"/>
              <a:t> </a:t>
            </a: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yêu</a:t>
            </a:r>
            <a:r>
              <a:rPr lang="en-US" sz="2400" dirty="0"/>
              <a:t> </a:t>
            </a:r>
            <a:r>
              <a:rPr lang="en-US" sz="2400" dirty="0" err="1"/>
              <a:t>cầu</a:t>
            </a:r>
            <a:r>
              <a:rPr lang="en-US" sz="2400" dirty="0"/>
              <a:t> </a:t>
            </a:r>
            <a:r>
              <a:rPr lang="en-US" sz="2400" dirty="0" err="1"/>
              <a:t>hệ</a:t>
            </a:r>
            <a:r>
              <a:rPr lang="en-US" sz="2400" dirty="0"/>
              <a:t> </a:t>
            </a:r>
            <a:r>
              <a:rPr lang="en-US" sz="2400" dirty="0" err="1"/>
              <a:t>thống</a:t>
            </a:r>
            <a:r>
              <a:rPr lang="en-US" sz="2400" dirty="0"/>
              <a:t>.</a:t>
            </a:r>
          </a:p>
          <a:p>
            <a:r>
              <a:rPr lang="en-US" sz="2400" dirty="0" smtClean="0"/>
              <a:t>-</a:t>
            </a:r>
            <a:r>
              <a:rPr lang="en-US" sz="2400" dirty="0" err="1" smtClean="0"/>
              <a:t>Phát</a:t>
            </a:r>
            <a:r>
              <a:rPr lang="en-US" sz="2400" dirty="0" smtClean="0"/>
              <a:t> </a:t>
            </a:r>
            <a:r>
              <a:rPr lang="en-US" sz="2400" dirty="0" err="1"/>
              <a:t>triển</a:t>
            </a:r>
            <a:r>
              <a:rPr lang="en-US" sz="2400" dirty="0"/>
              <a:t> </a:t>
            </a:r>
            <a:r>
              <a:rPr lang="en-US" sz="2400" dirty="0" err="1"/>
              <a:t>các</a:t>
            </a:r>
            <a:r>
              <a:rPr lang="en-US" sz="2400" dirty="0"/>
              <a:t> </a:t>
            </a:r>
            <a:r>
              <a:rPr lang="en-US" sz="2400" dirty="0" err="1"/>
              <a:t>mô</a:t>
            </a:r>
            <a:r>
              <a:rPr lang="en-US" sz="2400" dirty="0"/>
              <a:t> </a:t>
            </a:r>
            <a:r>
              <a:rPr lang="en-US" sz="2400" dirty="0" err="1"/>
              <a:t>hình</a:t>
            </a:r>
            <a:r>
              <a:rPr lang="en-US" sz="2400" dirty="0"/>
              <a:t> </a:t>
            </a:r>
            <a:r>
              <a:rPr lang="en-US" sz="2400" dirty="0" err="1"/>
              <a:t>hoặc</a:t>
            </a:r>
            <a:r>
              <a:rPr lang="en-US" sz="2400" dirty="0"/>
              <a:t> </a:t>
            </a:r>
            <a:r>
              <a:rPr lang="en-US" sz="2400" dirty="0" err="1"/>
              <a:t>nguyên</a:t>
            </a:r>
            <a:r>
              <a:rPr lang="en-US" sz="2400" dirty="0"/>
              <a:t> </a:t>
            </a:r>
            <a:r>
              <a:rPr lang="en-US" sz="2400" dirty="0" err="1"/>
              <a:t>mẫu</a:t>
            </a:r>
            <a:r>
              <a:rPr lang="en-US" sz="2400" dirty="0"/>
              <a:t> minh </a:t>
            </a:r>
            <a:r>
              <a:rPr lang="en-US" sz="2400" dirty="0" err="1"/>
              <a:t>họa</a:t>
            </a:r>
            <a:r>
              <a:rPr lang="en-US" sz="2400" dirty="0"/>
              <a:t>.</a:t>
            </a:r>
          </a:p>
          <a:p>
            <a:endParaRPr lang="en-US" dirty="0"/>
          </a:p>
        </p:txBody>
      </p:sp>
      <p:sp>
        <p:nvSpPr>
          <p:cNvPr id="14" name="TextBox 13"/>
          <p:cNvSpPr txBox="1"/>
          <p:nvPr/>
        </p:nvSpPr>
        <p:spPr>
          <a:xfrm>
            <a:off x="4903289" y="1943100"/>
            <a:ext cx="3266228" cy="4278094"/>
          </a:xfrm>
          <a:prstGeom prst="rect">
            <a:avLst/>
          </a:prstGeom>
          <a:noFill/>
        </p:spPr>
        <p:txBody>
          <a:bodyPr wrap="square" rtlCol="0">
            <a:spAutoFit/>
          </a:bodyPr>
          <a:lstStyle/>
          <a:p>
            <a:r>
              <a:rPr lang="en-US" sz="2800" b="1" u="sng" dirty="0"/>
              <a:t>5. </a:t>
            </a:r>
            <a:r>
              <a:rPr lang="en-US" sz="2800" b="1" u="sng" dirty="0" err="1"/>
              <a:t>Báo</a:t>
            </a:r>
            <a:r>
              <a:rPr lang="en-US" sz="2800" b="1" u="sng" dirty="0"/>
              <a:t> </a:t>
            </a:r>
            <a:r>
              <a:rPr lang="en-US" sz="2800" b="1" u="sng" dirty="0" err="1"/>
              <a:t>cáo</a:t>
            </a:r>
            <a:r>
              <a:rPr lang="en-US" sz="2800" b="1" u="sng" dirty="0"/>
              <a:t> </a:t>
            </a:r>
            <a:r>
              <a:rPr lang="en-US" sz="2800" b="1" u="sng" dirty="0" err="1"/>
              <a:t>kết</a:t>
            </a:r>
            <a:r>
              <a:rPr lang="en-US" sz="2800" b="1" u="sng" dirty="0"/>
              <a:t> </a:t>
            </a:r>
            <a:r>
              <a:rPr lang="en-US" sz="2800" b="1" u="sng" dirty="0" err="1"/>
              <a:t>quả</a:t>
            </a:r>
            <a:r>
              <a:rPr lang="en-US" sz="2800" b="1" u="sng" dirty="0"/>
              <a:t> </a:t>
            </a:r>
            <a:r>
              <a:rPr lang="en-US" sz="2800" b="1" u="sng" dirty="0" err="1"/>
              <a:t>từ</a:t>
            </a:r>
            <a:r>
              <a:rPr lang="en-US" sz="2800" b="1" u="sng" dirty="0"/>
              <a:t> </a:t>
            </a:r>
            <a:r>
              <a:rPr lang="en-US" sz="2800" b="1" u="sng" dirty="0" err="1"/>
              <a:t>nhóm</a:t>
            </a:r>
            <a:r>
              <a:rPr lang="en-US" sz="2800" b="1" u="sng" dirty="0"/>
              <a:t> </a:t>
            </a:r>
            <a:r>
              <a:rPr lang="en-US" sz="2800" b="1" u="sng" dirty="0" err="1"/>
              <a:t>nhỏ</a:t>
            </a:r>
            <a:endParaRPr lang="en-US" sz="2800" b="1" u="sng" dirty="0"/>
          </a:p>
          <a:p>
            <a:r>
              <a:rPr lang="en-US" sz="2400" b="1" dirty="0" err="1"/>
              <a:t>Vai</a:t>
            </a:r>
            <a:r>
              <a:rPr lang="en-US" sz="2400" b="1" dirty="0"/>
              <a:t> </a:t>
            </a:r>
            <a:r>
              <a:rPr lang="en-US" sz="2400" b="1" dirty="0" err="1"/>
              <a:t>trò</a:t>
            </a:r>
            <a:r>
              <a:rPr lang="en-US" sz="2400" b="1" dirty="0"/>
              <a:t> </a:t>
            </a:r>
            <a:r>
              <a:rPr lang="en-US" sz="2400" b="1" dirty="0" err="1"/>
              <a:t>chính</a:t>
            </a:r>
            <a:r>
              <a:rPr lang="en-US" sz="2400" b="1" dirty="0"/>
              <a:t>: Group Leaders (</a:t>
            </a:r>
            <a:r>
              <a:rPr lang="en-US" sz="2400" b="1" dirty="0" err="1"/>
              <a:t>Trưởng</a:t>
            </a:r>
            <a:r>
              <a:rPr lang="en-US" sz="2400" b="1" dirty="0"/>
              <a:t> </a:t>
            </a:r>
            <a:r>
              <a:rPr lang="en-US" sz="2400" b="1" dirty="0" err="1"/>
              <a:t>nhóm</a:t>
            </a:r>
            <a:r>
              <a:rPr lang="en-US" sz="2400" b="1" dirty="0"/>
              <a:t>)</a:t>
            </a:r>
            <a:r>
              <a:rPr lang="en-US" sz="2400" dirty="0"/>
              <a:t>.</a:t>
            </a:r>
          </a:p>
          <a:p>
            <a:r>
              <a:rPr lang="en-US" sz="2400" b="1" dirty="0" err="1"/>
              <a:t>Hoạt</a:t>
            </a:r>
            <a:r>
              <a:rPr lang="en-US" sz="2400" b="1" dirty="0"/>
              <a:t> </a:t>
            </a:r>
            <a:r>
              <a:rPr lang="en-US" sz="2400" b="1" dirty="0" err="1"/>
              <a:t>động</a:t>
            </a:r>
            <a:r>
              <a:rPr lang="en-US" sz="2400" dirty="0"/>
              <a:t>:</a:t>
            </a:r>
          </a:p>
          <a:p>
            <a:r>
              <a:rPr lang="en-US" sz="2400" dirty="0" smtClean="0"/>
              <a:t>-</a:t>
            </a:r>
            <a:r>
              <a:rPr lang="en-US" sz="2400" dirty="0" err="1" smtClean="0"/>
              <a:t>Báo</a:t>
            </a:r>
            <a:r>
              <a:rPr lang="en-US" sz="2400" dirty="0" smtClean="0"/>
              <a:t> </a:t>
            </a:r>
            <a:r>
              <a:rPr lang="en-US" sz="2400" dirty="0" err="1"/>
              <a:t>cáo</a:t>
            </a:r>
            <a:r>
              <a:rPr lang="en-US" sz="2400" dirty="0"/>
              <a:t> </a:t>
            </a:r>
            <a:r>
              <a:rPr lang="en-US" sz="2400" dirty="0" err="1"/>
              <a:t>kết</a:t>
            </a:r>
            <a:r>
              <a:rPr lang="en-US" sz="2400" dirty="0"/>
              <a:t> </a:t>
            </a:r>
            <a:r>
              <a:rPr lang="en-US" sz="2400" dirty="0" err="1"/>
              <a:t>quả</a:t>
            </a:r>
            <a:r>
              <a:rPr lang="en-US" sz="2400" dirty="0"/>
              <a:t> </a:t>
            </a:r>
            <a:r>
              <a:rPr lang="en-US" sz="2400" dirty="0" err="1"/>
              <a:t>của</a:t>
            </a:r>
            <a:r>
              <a:rPr lang="en-US" sz="2400" dirty="0"/>
              <a:t> </a:t>
            </a:r>
            <a:r>
              <a:rPr lang="en-US" sz="2400" dirty="0" err="1"/>
              <a:t>các</a:t>
            </a:r>
            <a:r>
              <a:rPr lang="en-US" sz="2400" dirty="0"/>
              <a:t> </a:t>
            </a:r>
            <a:r>
              <a:rPr lang="en-US" sz="2400" dirty="0" err="1"/>
              <a:t>nhiệm</a:t>
            </a:r>
            <a:r>
              <a:rPr lang="en-US" sz="2400" dirty="0"/>
              <a:t> </a:t>
            </a:r>
            <a:r>
              <a:rPr lang="en-US" sz="2400" dirty="0" err="1"/>
              <a:t>vụ</a:t>
            </a:r>
            <a:r>
              <a:rPr lang="en-US" sz="2400" dirty="0"/>
              <a:t> </a:t>
            </a:r>
            <a:r>
              <a:rPr lang="en-US" sz="2400" dirty="0" err="1"/>
              <a:t>và</a:t>
            </a:r>
            <a:r>
              <a:rPr lang="en-US" sz="2400" dirty="0"/>
              <a:t> </a:t>
            </a:r>
            <a:r>
              <a:rPr lang="en-US" sz="2400" dirty="0" err="1"/>
              <a:t>chủ</a:t>
            </a:r>
            <a:r>
              <a:rPr lang="en-US" sz="2400" dirty="0"/>
              <a:t> </a:t>
            </a:r>
            <a:r>
              <a:rPr lang="en-US" sz="2400" dirty="0" err="1"/>
              <a:t>đề</a:t>
            </a:r>
            <a:r>
              <a:rPr lang="en-US" sz="2400" dirty="0"/>
              <a:t> </a:t>
            </a:r>
            <a:r>
              <a:rPr lang="en-US" sz="2400" dirty="0" err="1"/>
              <a:t>đã</a:t>
            </a:r>
            <a:r>
              <a:rPr lang="en-US" sz="2400" dirty="0"/>
              <a:t> </a:t>
            </a:r>
            <a:r>
              <a:rPr lang="en-US" sz="2400" dirty="0" err="1"/>
              <a:t>được</a:t>
            </a:r>
            <a:r>
              <a:rPr lang="en-US" sz="2400" dirty="0"/>
              <a:t> </a:t>
            </a:r>
            <a:r>
              <a:rPr lang="en-US" sz="2400" dirty="0" err="1"/>
              <a:t>phân</a:t>
            </a:r>
            <a:r>
              <a:rPr lang="en-US" sz="2400" dirty="0"/>
              <a:t> </a:t>
            </a:r>
            <a:r>
              <a:rPr lang="en-US" sz="2400" dirty="0" err="1"/>
              <a:t>công</a:t>
            </a:r>
            <a:r>
              <a:rPr lang="en-US" sz="2400" dirty="0"/>
              <a:t>.</a:t>
            </a:r>
          </a:p>
          <a:p>
            <a:r>
              <a:rPr lang="en-US" sz="2400" dirty="0" smtClean="0"/>
              <a:t>-</a:t>
            </a:r>
            <a:r>
              <a:rPr lang="en-US" sz="2400" dirty="0" err="1" smtClean="0"/>
              <a:t>Trình</a:t>
            </a:r>
            <a:r>
              <a:rPr lang="en-US" sz="2400" dirty="0" smtClean="0"/>
              <a:t> </a:t>
            </a:r>
            <a:r>
              <a:rPr lang="en-US" sz="2400" dirty="0" err="1"/>
              <a:t>bày</a:t>
            </a:r>
            <a:r>
              <a:rPr lang="en-US" sz="2400" dirty="0"/>
              <a:t> </a:t>
            </a:r>
            <a:r>
              <a:rPr lang="en-US" sz="2400" dirty="0" err="1"/>
              <a:t>các</a:t>
            </a:r>
            <a:r>
              <a:rPr lang="en-US" sz="2400" dirty="0"/>
              <a:t> </a:t>
            </a:r>
            <a:r>
              <a:rPr lang="en-US" sz="2400" dirty="0" err="1"/>
              <a:t>vấn</a:t>
            </a:r>
            <a:r>
              <a:rPr lang="en-US" sz="2400" dirty="0"/>
              <a:t> </a:t>
            </a:r>
            <a:r>
              <a:rPr lang="en-US" sz="2400" dirty="0" err="1"/>
              <a:t>đề</a:t>
            </a:r>
            <a:r>
              <a:rPr lang="en-US" sz="2400" dirty="0"/>
              <a:t> </a:t>
            </a:r>
            <a:r>
              <a:rPr lang="en-US" sz="2400" dirty="0" err="1"/>
              <a:t>cần</a:t>
            </a:r>
            <a:r>
              <a:rPr lang="en-US" sz="2400" dirty="0"/>
              <a:t> </a:t>
            </a:r>
            <a:r>
              <a:rPr lang="en-US" sz="2400" dirty="0" err="1"/>
              <a:t>được</a:t>
            </a:r>
            <a:r>
              <a:rPr lang="en-US" sz="2400" dirty="0"/>
              <a:t> </a:t>
            </a:r>
            <a:r>
              <a:rPr lang="en-US" sz="2400" dirty="0" err="1"/>
              <a:t>giải</a:t>
            </a:r>
            <a:r>
              <a:rPr lang="en-US" sz="2400" dirty="0"/>
              <a:t> </a:t>
            </a:r>
            <a:r>
              <a:rPr lang="en-US" sz="2400" dirty="0" err="1"/>
              <a:t>quyết</a:t>
            </a:r>
            <a:r>
              <a:rPr lang="en-US" sz="2400" dirty="0"/>
              <a:t> </a:t>
            </a:r>
            <a:r>
              <a:rPr lang="en-US" sz="2400" dirty="0" err="1"/>
              <a:t>trong</a:t>
            </a:r>
            <a:r>
              <a:rPr lang="en-US" sz="2400" dirty="0"/>
              <a:t> </a:t>
            </a:r>
            <a:r>
              <a:rPr lang="en-US" sz="2400" dirty="0" err="1"/>
              <a:t>nhóm</a:t>
            </a:r>
            <a:r>
              <a:rPr lang="en-US" sz="2400" dirty="0"/>
              <a:t> JAD </a:t>
            </a:r>
            <a:r>
              <a:rPr lang="en-US" sz="2400" dirty="0" err="1"/>
              <a:t>lớn</a:t>
            </a:r>
            <a:r>
              <a:rPr lang="en-US" sz="2400" dirty="0"/>
              <a:t>.</a:t>
            </a:r>
          </a:p>
        </p:txBody>
      </p:sp>
      <p:sp>
        <p:nvSpPr>
          <p:cNvPr id="15" name="TextBox 14"/>
          <p:cNvSpPr txBox="1"/>
          <p:nvPr/>
        </p:nvSpPr>
        <p:spPr>
          <a:xfrm>
            <a:off x="8739341" y="2011729"/>
            <a:ext cx="3909859" cy="5078313"/>
          </a:xfrm>
          <a:prstGeom prst="rect">
            <a:avLst/>
          </a:prstGeom>
          <a:noFill/>
        </p:spPr>
        <p:txBody>
          <a:bodyPr wrap="square" rtlCol="0">
            <a:spAutoFit/>
          </a:bodyPr>
          <a:lstStyle/>
          <a:p>
            <a:r>
              <a:rPr lang="en-US" sz="2800" b="1" u="sng" dirty="0" smtClean="0"/>
              <a:t>6. </a:t>
            </a:r>
            <a:r>
              <a:rPr lang="en-US" sz="2800" b="1" u="sng" dirty="0" err="1" smtClean="0"/>
              <a:t>Thảo</a:t>
            </a:r>
            <a:r>
              <a:rPr lang="en-US" sz="2800" b="1" u="sng" dirty="0" smtClean="0"/>
              <a:t> </a:t>
            </a:r>
            <a:r>
              <a:rPr lang="en-US" sz="2800" b="1" u="sng" dirty="0" err="1" smtClean="0"/>
              <a:t>luận</a:t>
            </a:r>
            <a:r>
              <a:rPr lang="en-US" sz="2800" b="1" u="sng" dirty="0" smtClean="0"/>
              <a:t> </a:t>
            </a:r>
            <a:r>
              <a:rPr lang="en-US" sz="2800" b="1" u="sng" dirty="0" err="1" smtClean="0"/>
              <a:t>mở</a:t>
            </a:r>
            <a:r>
              <a:rPr lang="en-US" sz="2800" b="1" u="sng" dirty="0" smtClean="0"/>
              <a:t> </a:t>
            </a:r>
            <a:r>
              <a:rPr lang="en-US" sz="2800" b="1" u="sng" dirty="0" err="1" smtClean="0"/>
              <a:t>lần</a:t>
            </a:r>
            <a:r>
              <a:rPr lang="en-US" sz="2800" b="1" u="sng" dirty="0" smtClean="0"/>
              <a:t> </a:t>
            </a:r>
            <a:r>
              <a:rPr lang="en-US" sz="2800" b="1" u="sng" dirty="0" err="1" smtClean="0"/>
              <a:t>thứ</a:t>
            </a:r>
            <a:r>
              <a:rPr lang="en-US" sz="2800" b="1" u="sng" dirty="0" smtClean="0"/>
              <a:t> </a:t>
            </a:r>
            <a:r>
              <a:rPr lang="en-US" sz="2800" b="1" u="sng" dirty="0" err="1" smtClean="0"/>
              <a:t>hai</a:t>
            </a:r>
            <a:r>
              <a:rPr lang="en-US" sz="2800" b="1" u="sng" dirty="0" smtClean="0"/>
              <a:t> (Second Open Discussion Session)</a:t>
            </a:r>
          </a:p>
          <a:p>
            <a:r>
              <a:rPr lang="en-US" sz="2400" b="1" dirty="0" err="1" smtClean="0"/>
              <a:t>Điều</a:t>
            </a:r>
            <a:r>
              <a:rPr lang="en-US" sz="2400" b="1" dirty="0" smtClean="0"/>
              <a:t> </a:t>
            </a:r>
            <a:r>
              <a:rPr lang="en-US" sz="2400" b="1" dirty="0" err="1" smtClean="0"/>
              <a:t>phối</a:t>
            </a:r>
            <a:r>
              <a:rPr lang="en-US" sz="2400" b="1" dirty="0" smtClean="0"/>
              <a:t>: Project Leader</a:t>
            </a:r>
            <a:r>
              <a:rPr lang="en-US" sz="2400" dirty="0" smtClean="0"/>
              <a:t>.</a:t>
            </a:r>
          </a:p>
          <a:p>
            <a:r>
              <a:rPr lang="en-US" sz="2400" b="1" dirty="0" err="1" smtClean="0"/>
              <a:t>Hoạt</a:t>
            </a:r>
            <a:r>
              <a:rPr lang="en-US" sz="2400" b="1" dirty="0" smtClean="0"/>
              <a:t> </a:t>
            </a:r>
            <a:r>
              <a:rPr lang="en-US" sz="2400" b="1" dirty="0" err="1" smtClean="0"/>
              <a:t>động</a:t>
            </a:r>
            <a:r>
              <a:rPr lang="en-US" sz="2400" dirty="0" smtClean="0"/>
              <a:t>:</a:t>
            </a:r>
          </a:p>
          <a:p>
            <a:r>
              <a:rPr lang="en-US" sz="2400" dirty="0" smtClean="0"/>
              <a:t>-</a:t>
            </a:r>
            <a:r>
              <a:rPr lang="en-US" sz="2400" dirty="0" err="1" smtClean="0"/>
              <a:t>Xem</a:t>
            </a:r>
            <a:r>
              <a:rPr lang="en-US" sz="2400" dirty="0" smtClean="0"/>
              <a:t> </a:t>
            </a:r>
            <a:r>
              <a:rPr lang="en-US" sz="2400" dirty="0" err="1" smtClean="0"/>
              <a:t>xét</a:t>
            </a:r>
            <a:r>
              <a:rPr lang="en-US" sz="2400" dirty="0" smtClean="0"/>
              <a:t> </a:t>
            </a:r>
            <a:r>
              <a:rPr lang="en-US" sz="2400" dirty="0" err="1" smtClean="0"/>
              <a:t>các</a:t>
            </a:r>
            <a:r>
              <a:rPr lang="en-US" sz="2400" dirty="0" smtClean="0"/>
              <a:t> </a:t>
            </a:r>
            <a:r>
              <a:rPr lang="en-US" sz="2400" dirty="0" err="1" smtClean="0"/>
              <a:t>báo</a:t>
            </a:r>
            <a:r>
              <a:rPr lang="en-US" sz="2400" dirty="0" smtClean="0"/>
              <a:t> </a:t>
            </a:r>
            <a:r>
              <a:rPr lang="en-US" sz="2400" dirty="0" err="1" smtClean="0"/>
              <a:t>cáo</a:t>
            </a:r>
            <a:r>
              <a:rPr lang="en-US" sz="2400" dirty="0" smtClean="0"/>
              <a:t> </a:t>
            </a:r>
            <a:r>
              <a:rPr lang="en-US" sz="2400" dirty="0" err="1" smtClean="0"/>
              <a:t>từ</a:t>
            </a:r>
            <a:r>
              <a:rPr lang="en-US" sz="2400" dirty="0" smtClean="0"/>
              <a:t> </a:t>
            </a:r>
            <a:r>
              <a:rPr lang="en-US" sz="2400" dirty="0" err="1" smtClean="0"/>
              <a:t>nhóm</a:t>
            </a:r>
            <a:r>
              <a:rPr lang="en-US" sz="2400" dirty="0" smtClean="0"/>
              <a:t> </a:t>
            </a:r>
            <a:r>
              <a:rPr lang="en-US" sz="2400" dirty="0" err="1" smtClean="0"/>
              <a:t>nhỏ</a:t>
            </a:r>
            <a:r>
              <a:rPr lang="en-US" sz="2400" dirty="0" smtClean="0"/>
              <a:t>.</a:t>
            </a:r>
          </a:p>
          <a:p>
            <a:r>
              <a:rPr lang="en-US" sz="2400" dirty="0" smtClean="0"/>
              <a:t>-</a:t>
            </a:r>
            <a:r>
              <a:rPr lang="en-US" sz="2400" dirty="0" err="1" smtClean="0"/>
              <a:t>Thảo</a:t>
            </a:r>
            <a:r>
              <a:rPr lang="en-US" sz="2400" dirty="0" smtClean="0"/>
              <a:t> </a:t>
            </a:r>
            <a:r>
              <a:rPr lang="en-US" sz="2400" dirty="0" err="1" smtClean="0"/>
              <a:t>luận</a:t>
            </a:r>
            <a:r>
              <a:rPr lang="en-US" sz="2400" dirty="0" smtClean="0"/>
              <a:t> </a:t>
            </a:r>
            <a:r>
              <a:rPr lang="en-US" sz="2400" dirty="0" err="1" smtClean="0"/>
              <a:t>để</a:t>
            </a:r>
            <a:r>
              <a:rPr lang="en-US" sz="2400" dirty="0" smtClean="0"/>
              <a:t> </a:t>
            </a:r>
            <a:r>
              <a:rPr lang="en-US" sz="2400" dirty="0" err="1" smtClean="0"/>
              <a:t>đạt</a:t>
            </a:r>
            <a:r>
              <a:rPr lang="en-US" sz="2400" dirty="0" smtClean="0"/>
              <a:t> </a:t>
            </a:r>
            <a:r>
              <a:rPr lang="en-US" sz="2400" dirty="0" err="1" smtClean="0"/>
              <a:t>được</a:t>
            </a:r>
            <a:r>
              <a:rPr lang="en-US" sz="2400" dirty="0" smtClean="0"/>
              <a:t> </a:t>
            </a:r>
            <a:r>
              <a:rPr lang="en-US" sz="2400" dirty="0" err="1" smtClean="0"/>
              <a:t>sự</a:t>
            </a:r>
            <a:r>
              <a:rPr lang="en-US" sz="2400" dirty="0" smtClean="0"/>
              <a:t> </a:t>
            </a:r>
            <a:r>
              <a:rPr lang="en-US" sz="2400" dirty="0" err="1" smtClean="0"/>
              <a:t>đồng</a:t>
            </a:r>
            <a:r>
              <a:rPr lang="en-US" sz="2400" dirty="0" smtClean="0"/>
              <a:t> </a:t>
            </a:r>
            <a:r>
              <a:rPr lang="en-US" sz="2400" dirty="0" err="1" smtClean="0"/>
              <a:t>thuận</a:t>
            </a:r>
            <a:r>
              <a:rPr lang="en-US" sz="2400" dirty="0" smtClean="0"/>
              <a:t> </a:t>
            </a:r>
            <a:r>
              <a:rPr lang="en-US" sz="2400" dirty="0" err="1" smtClean="0"/>
              <a:t>về</a:t>
            </a:r>
            <a:r>
              <a:rPr lang="en-US" sz="2400" dirty="0" smtClean="0"/>
              <a:t> </a:t>
            </a:r>
            <a:r>
              <a:rPr lang="en-US" sz="2400" dirty="0" err="1" smtClean="0"/>
              <a:t>các</a:t>
            </a:r>
            <a:r>
              <a:rPr lang="en-US" sz="2400" dirty="0" smtClean="0"/>
              <a:t> </a:t>
            </a:r>
            <a:r>
              <a:rPr lang="en-US" sz="2400" dirty="0" err="1" smtClean="0"/>
              <a:t>vấn</a:t>
            </a:r>
            <a:r>
              <a:rPr lang="en-US" sz="2400" dirty="0" smtClean="0"/>
              <a:t> </a:t>
            </a:r>
            <a:r>
              <a:rPr lang="en-US" sz="2400" dirty="0" err="1" smtClean="0"/>
              <a:t>đề</a:t>
            </a:r>
            <a:r>
              <a:rPr lang="en-US" sz="2400" dirty="0" smtClean="0"/>
              <a:t> </a:t>
            </a:r>
            <a:r>
              <a:rPr lang="en-US" sz="2400" dirty="0" err="1" smtClean="0"/>
              <a:t>chính</a:t>
            </a:r>
            <a:r>
              <a:rPr lang="en-US" sz="2400" dirty="0" smtClean="0"/>
              <a:t>.</a:t>
            </a:r>
          </a:p>
          <a:p>
            <a:r>
              <a:rPr lang="en-US" sz="2400" dirty="0" smtClean="0"/>
              <a:t>-</a:t>
            </a:r>
            <a:r>
              <a:rPr lang="en-US" sz="2400" dirty="0" err="1" smtClean="0"/>
              <a:t>Ghi</a:t>
            </a:r>
            <a:r>
              <a:rPr lang="en-US" sz="2400" dirty="0" smtClean="0"/>
              <a:t> </a:t>
            </a:r>
            <a:r>
              <a:rPr lang="en-US" sz="2400" dirty="0" err="1" smtClean="0"/>
              <a:t>chép</a:t>
            </a:r>
            <a:r>
              <a:rPr lang="en-US" sz="2400" dirty="0" smtClean="0"/>
              <a:t> </a:t>
            </a:r>
            <a:r>
              <a:rPr lang="en-US" sz="2400" dirty="0" err="1" smtClean="0"/>
              <a:t>và</a:t>
            </a:r>
            <a:r>
              <a:rPr lang="en-US" sz="2400" dirty="0" smtClean="0"/>
              <a:t> </a:t>
            </a:r>
            <a:r>
              <a:rPr lang="en-US" sz="2400" dirty="0" err="1" smtClean="0"/>
              <a:t>hoàn</a:t>
            </a:r>
            <a:r>
              <a:rPr lang="en-US" sz="2400" dirty="0" smtClean="0"/>
              <a:t> </a:t>
            </a:r>
            <a:r>
              <a:rPr lang="en-US" sz="2400" dirty="0" err="1" smtClean="0"/>
              <a:t>thiện</a:t>
            </a:r>
            <a:r>
              <a:rPr lang="en-US" sz="2400" dirty="0" smtClean="0"/>
              <a:t> </a:t>
            </a:r>
            <a:r>
              <a:rPr lang="en-US" sz="2400" dirty="0" err="1" smtClean="0"/>
              <a:t>tất</a:t>
            </a:r>
            <a:r>
              <a:rPr lang="en-US" sz="2400" dirty="0" smtClean="0"/>
              <a:t> </a:t>
            </a:r>
            <a:r>
              <a:rPr lang="en-US" sz="2400" dirty="0" err="1" smtClean="0"/>
              <a:t>cả</a:t>
            </a:r>
            <a:r>
              <a:rPr lang="en-US" sz="2400" dirty="0" smtClean="0"/>
              <a:t> </a:t>
            </a:r>
            <a:r>
              <a:rPr lang="en-US" sz="2400" dirty="0" err="1" smtClean="0"/>
              <a:t>các</a:t>
            </a:r>
            <a:r>
              <a:rPr lang="en-US" sz="2400" dirty="0" smtClean="0"/>
              <a:t> </a:t>
            </a:r>
            <a:r>
              <a:rPr lang="en-US" sz="2400" dirty="0" err="1" smtClean="0"/>
              <a:t>chủ</a:t>
            </a:r>
            <a:r>
              <a:rPr lang="en-US" sz="2400" dirty="0" smtClean="0"/>
              <a:t> </a:t>
            </a:r>
            <a:r>
              <a:rPr lang="en-US" sz="2400" dirty="0" err="1" smtClean="0"/>
              <a:t>đề</a:t>
            </a:r>
            <a:r>
              <a:rPr lang="en-US" sz="2400" dirty="0" smtClean="0"/>
              <a:t> </a:t>
            </a:r>
            <a:r>
              <a:rPr lang="en-US" sz="2400" dirty="0" err="1" smtClean="0"/>
              <a:t>được</a:t>
            </a:r>
            <a:r>
              <a:rPr lang="en-US" sz="2400" dirty="0" smtClean="0"/>
              <a:t> </a:t>
            </a:r>
            <a:r>
              <a:rPr lang="en-US" sz="2400" dirty="0" err="1" smtClean="0"/>
              <a:t>thống</a:t>
            </a:r>
            <a:r>
              <a:rPr lang="en-US" sz="2400" dirty="0" smtClean="0"/>
              <a:t> </a:t>
            </a:r>
            <a:r>
              <a:rPr lang="en-US" sz="2400" dirty="0" err="1" smtClean="0"/>
              <a:t>nhất</a:t>
            </a:r>
            <a:r>
              <a:rPr lang="en-US" sz="2400" dirty="0" smtClean="0"/>
              <a:t>.</a:t>
            </a:r>
          </a:p>
          <a:p>
            <a:endParaRPr lang="en-US" sz="2400" dirty="0"/>
          </a:p>
        </p:txBody>
      </p:sp>
      <p:sp>
        <p:nvSpPr>
          <p:cNvPr id="16" name="TextBox 15"/>
          <p:cNvSpPr txBox="1"/>
          <p:nvPr/>
        </p:nvSpPr>
        <p:spPr>
          <a:xfrm>
            <a:off x="13219024" y="2011728"/>
            <a:ext cx="4916575" cy="3477875"/>
          </a:xfrm>
          <a:prstGeom prst="rect">
            <a:avLst/>
          </a:prstGeom>
          <a:noFill/>
        </p:spPr>
        <p:txBody>
          <a:bodyPr wrap="square" rtlCol="0">
            <a:spAutoFit/>
          </a:bodyPr>
          <a:lstStyle/>
          <a:p>
            <a:r>
              <a:rPr lang="en-US" sz="2800" b="1" u="sng" dirty="0"/>
              <a:t>7. </a:t>
            </a:r>
            <a:r>
              <a:rPr lang="en-US" sz="2800" b="1" u="sng" dirty="0" err="1"/>
              <a:t>Kết</a:t>
            </a:r>
            <a:r>
              <a:rPr lang="en-US" sz="2800" b="1" u="sng" dirty="0"/>
              <a:t> </a:t>
            </a:r>
            <a:r>
              <a:rPr lang="en-US" sz="2800" b="1" u="sng" dirty="0" err="1"/>
              <a:t>thúc</a:t>
            </a:r>
            <a:r>
              <a:rPr lang="en-US" sz="2800" b="1" u="sng" dirty="0"/>
              <a:t> </a:t>
            </a:r>
            <a:r>
              <a:rPr lang="en-US" sz="2800" b="1" u="sng" dirty="0" err="1"/>
              <a:t>phiên</a:t>
            </a:r>
            <a:r>
              <a:rPr lang="en-US" sz="2800" b="1" u="sng" dirty="0"/>
              <a:t> JAD</a:t>
            </a:r>
          </a:p>
          <a:p>
            <a:r>
              <a:rPr lang="en-US" sz="2400" b="1" dirty="0" err="1"/>
              <a:t>Vai</a:t>
            </a:r>
            <a:r>
              <a:rPr lang="en-US" sz="2400" b="1" dirty="0"/>
              <a:t> </a:t>
            </a:r>
            <a:r>
              <a:rPr lang="en-US" sz="2400" b="1" dirty="0" err="1"/>
              <a:t>trò</a:t>
            </a:r>
            <a:r>
              <a:rPr lang="en-US" sz="2400" b="1" dirty="0"/>
              <a:t> </a:t>
            </a:r>
            <a:r>
              <a:rPr lang="en-US" sz="2400" b="1" dirty="0" err="1"/>
              <a:t>chính</a:t>
            </a:r>
            <a:r>
              <a:rPr lang="en-US" sz="2400" b="1" dirty="0"/>
              <a:t>: Project Leader</a:t>
            </a:r>
            <a:r>
              <a:rPr lang="en-US" sz="2400" dirty="0"/>
              <a:t>.</a:t>
            </a:r>
          </a:p>
          <a:p>
            <a:r>
              <a:rPr lang="en-US" sz="2400" b="1" dirty="0" err="1"/>
              <a:t>Hoạt</a:t>
            </a:r>
            <a:r>
              <a:rPr lang="en-US" sz="2400" b="1" dirty="0"/>
              <a:t> </a:t>
            </a:r>
            <a:r>
              <a:rPr lang="en-US" sz="2400" b="1" dirty="0" err="1"/>
              <a:t>động</a:t>
            </a:r>
            <a:r>
              <a:rPr lang="en-US" sz="2400" dirty="0"/>
              <a:t>:</a:t>
            </a:r>
          </a:p>
          <a:p>
            <a:r>
              <a:rPr lang="en-US" sz="2400" dirty="0" err="1"/>
              <a:t>Tóm</a:t>
            </a:r>
            <a:r>
              <a:rPr lang="en-US" sz="2400" dirty="0"/>
              <a:t> </a:t>
            </a:r>
            <a:r>
              <a:rPr lang="en-US" sz="2400" dirty="0" err="1"/>
              <a:t>tắt</a:t>
            </a:r>
            <a:r>
              <a:rPr lang="en-US" sz="2400" dirty="0"/>
              <a:t> </a:t>
            </a:r>
            <a:r>
              <a:rPr lang="en-US" sz="2400" dirty="0" err="1"/>
              <a:t>toàn</a:t>
            </a:r>
            <a:r>
              <a:rPr lang="en-US" sz="2400" dirty="0"/>
              <a:t> </a:t>
            </a:r>
            <a:r>
              <a:rPr lang="en-US" sz="2400" dirty="0" err="1"/>
              <a:t>bộ</a:t>
            </a:r>
            <a:r>
              <a:rPr lang="en-US" sz="2400" dirty="0"/>
              <a:t> </a:t>
            </a:r>
            <a:r>
              <a:rPr lang="en-US" sz="2400" dirty="0" err="1"/>
              <a:t>kết</a:t>
            </a:r>
            <a:r>
              <a:rPr lang="en-US" sz="2400" dirty="0"/>
              <a:t> </a:t>
            </a:r>
            <a:r>
              <a:rPr lang="en-US" sz="2400" dirty="0" err="1"/>
              <a:t>quả</a:t>
            </a:r>
            <a:r>
              <a:rPr lang="en-US" sz="2400" dirty="0"/>
              <a:t> </a:t>
            </a:r>
            <a:r>
              <a:rPr lang="en-US" sz="2400" dirty="0" err="1"/>
              <a:t>của</a:t>
            </a:r>
            <a:r>
              <a:rPr lang="en-US" sz="2400" dirty="0"/>
              <a:t> </a:t>
            </a:r>
            <a:r>
              <a:rPr lang="en-US" sz="2400" dirty="0" err="1"/>
              <a:t>phiên</a:t>
            </a:r>
            <a:r>
              <a:rPr lang="en-US" sz="2400" dirty="0"/>
              <a:t> JAD.</a:t>
            </a:r>
          </a:p>
          <a:p>
            <a:r>
              <a:rPr lang="en-US" sz="2400" dirty="0" smtClean="0"/>
              <a:t>-</a:t>
            </a:r>
            <a:r>
              <a:rPr lang="en-US" sz="2400" dirty="0" err="1" smtClean="0"/>
              <a:t>Chuẩn</a:t>
            </a:r>
            <a:r>
              <a:rPr lang="en-US" sz="2400" dirty="0" smtClean="0"/>
              <a:t> </a:t>
            </a:r>
            <a:r>
              <a:rPr lang="en-US" sz="2400" dirty="0" err="1"/>
              <a:t>bị</a:t>
            </a:r>
            <a:r>
              <a:rPr lang="en-US" sz="2400" dirty="0"/>
              <a:t> </a:t>
            </a:r>
            <a:r>
              <a:rPr lang="en-US" sz="2400" dirty="0" err="1"/>
              <a:t>báo</a:t>
            </a:r>
            <a:r>
              <a:rPr lang="en-US" sz="2400" dirty="0"/>
              <a:t> </a:t>
            </a:r>
            <a:r>
              <a:rPr lang="en-US" sz="2400" dirty="0" err="1"/>
              <a:t>cáo</a:t>
            </a:r>
            <a:r>
              <a:rPr lang="en-US" sz="2400" dirty="0"/>
              <a:t> </a:t>
            </a:r>
            <a:r>
              <a:rPr lang="en-US" sz="2400" dirty="0" err="1"/>
              <a:t>chính</a:t>
            </a:r>
            <a:r>
              <a:rPr lang="en-US" sz="2400" dirty="0"/>
              <a:t> </a:t>
            </a:r>
            <a:r>
              <a:rPr lang="en-US" sz="2400" dirty="0" err="1"/>
              <a:t>thức</a:t>
            </a:r>
            <a:r>
              <a:rPr lang="en-US" sz="2400" dirty="0"/>
              <a:t> </a:t>
            </a:r>
            <a:r>
              <a:rPr lang="en-US" sz="2400" dirty="0" err="1"/>
              <a:t>và</a:t>
            </a:r>
            <a:r>
              <a:rPr lang="en-US" sz="2400" dirty="0"/>
              <a:t> </a:t>
            </a:r>
            <a:r>
              <a:rPr lang="en-US" sz="2400" dirty="0" err="1"/>
              <a:t>gửi</a:t>
            </a:r>
            <a:r>
              <a:rPr lang="en-US" sz="2400" dirty="0"/>
              <a:t> </a:t>
            </a:r>
            <a:r>
              <a:rPr lang="en-US" sz="2400" dirty="0" err="1"/>
              <a:t>đến</a:t>
            </a:r>
            <a:r>
              <a:rPr lang="en-US" sz="2400" dirty="0"/>
              <a:t> </a:t>
            </a: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thành</a:t>
            </a:r>
            <a:r>
              <a:rPr lang="en-US" sz="2400" dirty="0"/>
              <a:t> </a:t>
            </a:r>
            <a:r>
              <a:rPr lang="en-US" sz="2400" dirty="0" err="1"/>
              <a:t>viên</a:t>
            </a:r>
            <a:r>
              <a:rPr lang="en-US" sz="2400" dirty="0"/>
              <a:t> </a:t>
            </a:r>
            <a:r>
              <a:rPr lang="en-US" sz="2400" dirty="0" err="1"/>
              <a:t>của</a:t>
            </a:r>
            <a:r>
              <a:rPr lang="en-US" sz="2400" dirty="0"/>
              <a:t> </a:t>
            </a:r>
            <a:r>
              <a:rPr lang="en-US" sz="2400" dirty="0" err="1"/>
              <a:t>nhóm</a:t>
            </a:r>
            <a:r>
              <a:rPr lang="en-US" sz="2400" dirty="0"/>
              <a:t> JAD.</a:t>
            </a:r>
          </a:p>
          <a:p>
            <a:endParaRPr lang="en-US" sz="2400" dirty="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heel(1)">
                                      <p:cBhvr>
                                        <p:cTn id="17" dur="20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heel(1)">
                                      <p:cBhvr>
                                        <p:cTn id="2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2400" y="-190500"/>
            <a:ext cx="19352465" cy="10872567"/>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9" name="TextBox 9"/>
          <p:cNvSpPr txBox="1"/>
          <p:nvPr/>
        </p:nvSpPr>
        <p:spPr>
          <a:xfrm>
            <a:off x="0" y="209870"/>
            <a:ext cx="14869185" cy="923330"/>
          </a:xfrm>
          <a:prstGeom prst="rect">
            <a:avLst/>
          </a:prstGeom>
        </p:spPr>
        <p:txBody>
          <a:bodyPr wrap="square" lIns="0" tIns="0" rIns="0" bIns="0" rtlCol="0" anchor="t">
            <a:spAutoFit/>
          </a:bodyPr>
          <a:lstStyle/>
          <a:p>
            <a:r>
              <a:rPr lang="en-US" sz="6000" b="1" dirty="0"/>
              <a:t>IV.</a:t>
            </a:r>
            <a:r>
              <a:rPr lang="vi-VN" sz="6000" b="1" dirty="0"/>
              <a:t>Ưu điểm và nhược điểm của kỹ thuật</a:t>
            </a:r>
          </a:p>
        </p:txBody>
      </p:sp>
      <p:sp>
        <p:nvSpPr>
          <p:cNvPr id="31" name="TextBox 30"/>
          <p:cNvSpPr txBox="1"/>
          <p:nvPr/>
        </p:nvSpPr>
        <p:spPr>
          <a:xfrm>
            <a:off x="838200" y="2171700"/>
            <a:ext cx="2554033" cy="707886"/>
          </a:xfrm>
          <a:prstGeom prst="rect">
            <a:avLst/>
          </a:prstGeom>
          <a:noFill/>
        </p:spPr>
        <p:txBody>
          <a:bodyPr wrap="none" rtlCol="0">
            <a:spAutoFit/>
          </a:bodyPr>
          <a:lstStyle/>
          <a:p>
            <a:r>
              <a:rPr lang="en-US" sz="4000" b="1" dirty="0" smtClean="0"/>
              <a:t>* </a:t>
            </a:r>
            <a:r>
              <a:rPr lang="en-US" sz="4000" b="1" dirty="0" err="1" smtClean="0"/>
              <a:t>Ưu</a:t>
            </a:r>
            <a:r>
              <a:rPr lang="en-US" sz="4000" b="1" dirty="0" smtClean="0"/>
              <a:t> </a:t>
            </a:r>
            <a:r>
              <a:rPr lang="en-US" sz="4000" b="1" dirty="0" err="1" smtClean="0"/>
              <a:t>điểm</a:t>
            </a:r>
            <a:r>
              <a:rPr lang="en-US" sz="4000" b="1" dirty="0" smtClean="0"/>
              <a:t>:</a:t>
            </a:r>
            <a:endParaRPr lang="en-US" sz="4000" b="1" dirty="0"/>
          </a:p>
        </p:txBody>
      </p:sp>
      <p:sp>
        <p:nvSpPr>
          <p:cNvPr id="32" name="TextBox 31"/>
          <p:cNvSpPr txBox="1"/>
          <p:nvPr/>
        </p:nvSpPr>
        <p:spPr>
          <a:xfrm>
            <a:off x="1295400" y="3214458"/>
            <a:ext cx="14470885" cy="2677656"/>
          </a:xfrm>
          <a:prstGeom prst="rect">
            <a:avLst/>
          </a:prstGeom>
          <a:noFill/>
        </p:spPr>
        <p:txBody>
          <a:bodyPr wrap="none" rtlCol="0">
            <a:spAutoFit/>
          </a:bodyPr>
          <a:lstStyle/>
          <a:p>
            <a:pPr lvl="0"/>
            <a:r>
              <a:rPr lang="en-US" sz="2400" b="1" dirty="0" smtClean="0"/>
              <a:t>-</a:t>
            </a:r>
            <a:r>
              <a:rPr lang="en-US" sz="2400" b="1" dirty="0" err="1" smtClean="0"/>
              <a:t>Tăng</a:t>
            </a:r>
            <a:r>
              <a:rPr lang="en-US" sz="2400" b="1" dirty="0" smtClean="0"/>
              <a:t> </a:t>
            </a:r>
            <a:r>
              <a:rPr lang="en-US" sz="2400" b="1" dirty="0" err="1"/>
              <a:t>cường</a:t>
            </a:r>
            <a:r>
              <a:rPr lang="en-US" sz="2400" b="1" dirty="0"/>
              <a:t> </a:t>
            </a:r>
            <a:r>
              <a:rPr lang="en-US" sz="2400" b="1" dirty="0" err="1"/>
              <a:t>sự</a:t>
            </a:r>
            <a:r>
              <a:rPr lang="en-US" sz="2400" b="1" dirty="0"/>
              <a:t> </a:t>
            </a:r>
            <a:r>
              <a:rPr lang="en-US" sz="2400" b="1" dirty="0" err="1"/>
              <a:t>tham</a:t>
            </a:r>
            <a:r>
              <a:rPr lang="en-US" sz="2400" b="1" dirty="0"/>
              <a:t> </a:t>
            </a:r>
            <a:r>
              <a:rPr lang="en-US" sz="2400" b="1" dirty="0" err="1"/>
              <a:t>gia</a:t>
            </a:r>
            <a:r>
              <a:rPr lang="en-US" sz="2400" dirty="0"/>
              <a:t>: </a:t>
            </a: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bên</a:t>
            </a:r>
            <a:r>
              <a:rPr lang="en-US" sz="2400" dirty="0"/>
              <a:t> </a:t>
            </a:r>
            <a:r>
              <a:rPr lang="en-US" sz="2400" dirty="0" err="1"/>
              <a:t>liên</a:t>
            </a:r>
            <a:r>
              <a:rPr lang="en-US" sz="2400" dirty="0"/>
              <a:t> </a:t>
            </a:r>
            <a:r>
              <a:rPr lang="en-US" sz="2400" dirty="0" err="1"/>
              <a:t>quan</a:t>
            </a:r>
            <a:r>
              <a:rPr lang="en-US" sz="2400" dirty="0"/>
              <a:t> </a:t>
            </a:r>
            <a:r>
              <a:rPr lang="en-US" sz="2400" dirty="0" err="1"/>
              <a:t>tham</a:t>
            </a:r>
            <a:r>
              <a:rPr lang="en-US" sz="2400" dirty="0"/>
              <a:t> </a:t>
            </a:r>
            <a:r>
              <a:rPr lang="en-US" sz="2400" dirty="0" err="1"/>
              <a:t>gia</a:t>
            </a:r>
            <a:r>
              <a:rPr lang="en-US" sz="2400" dirty="0"/>
              <a:t> </a:t>
            </a:r>
            <a:r>
              <a:rPr lang="en-US" sz="2400" dirty="0" err="1"/>
              <a:t>vào</a:t>
            </a:r>
            <a:r>
              <a:rPr lang="en-US" sz="2400" dirty="0"/>
              <a:t> </a:t>
            </a:r>
            <a:r>
              <a:rPr lang="en-US" sz="2400" dirty="0" err="1"/>
              <a:t>quá</a:t>
            </a:r>
            <a:r>
              <a:rPr lang="en-US" sz="2400" dirty="0"/>
              <a:t> </a:t>
            </a:r>
            <a:r>
              <a:rPr lang="en-US" sz="2400" dirty="0" err="1"/>
              <a:t>trình</a:t>
            </a:r>
            <a:r>
              <a:rPr lang="en-US" sz="2400" dirty="0"/>
              <a:t> </a:t>
            </a:r>
            <a:r>
              <a:rPr lang="en-US" sz="2400" dirty="0" err="1"/>
              <a:t>thu</a:t>
            </a:r>
            <a:r>
              <a:rPr lang="en-US" sz="2400" dirty="0"/>
              <a:t> </a:t>
            </a:r>
            <a:r>
              <a:rPr lang="en-US" sz="2400" dirty="0" err="1"/>
              <a:t>thập</a:t>
            </a:r>
            <a:r>
              <a:rPr lang="en-US" sz="2400" dirty="0"/>
              <a:t> </a:t>
            </a:r>
            <a:r>
              <a:rPr lang="en-US" sz="2400" dirty="0" err="1"/>
              <a:t>yêu</a:t>
            </a:r>
            <a:r>
              <a:rPr lang="en-US" sz="2400" dirty="0"/>
              <a:t> </a:t>
            </a:r>
            <a:r>
              <a:rPr lang="en-US" sz="2400" dirty="0" err="1"/>
              <a:t>cầu</a:t>
            </a:r>
            <a:r>
              <a:rPr lang="en-US" sz="2400" dirty="0"/>
              <a:t>, </a:t>
            </a:r>
            <a:r>
              <a:rPr lang="en-US" sz="2400" dirty="0" err="1"/>
              <a:t>đảm</a:t>
            </a:r>
            <a:r>
              <a:rPr lang="en-US" sz="2400" dirty="0"/>
              <a:t> </a:t>
            </a:r>
            <a:r>
              <a:rPr lang="en-US" sz="2400" dirty="0" err="1"/>
              <a:t>bảo</a:t>
            </a:r>
            <a:r>
              <a:rPr lang="en-US" sz="2400" dirty="0"/>
              <a:t> </a:t>
            </a:r>
            <a:r>
              <a:rPr lang="en-US" sz="2400" dirty="0" err="1"/>
              <a:t>đầy</a:t>
            </a:r>
            <a:r>
              <a:rPr lang="en-US" sz="2400" dirty="0"/>
              <a:t> </a:t>
            </a:r>
            <a:r>
              <a:rPr lang="en-US" sz="2400" dirty="0" err="1"/>
              <a:t>đủ</a:t>
            </a:r>
            <a:r>
              <a:rPr lang="en-US" sz="2400" dirty="0"/>
              <a:t> ý </a:t>
            </a:r>
            <a:r>
              <a:rPr lang="en-US" sz="2400" dirty="0" err="1"/>
              <a:t>kiến</a:t>
            </a:r>
            <a:r>
              <a:rPr lang="en-US" sz="2400" dirty="0"/>
              <a:t>.</a:t>
            </a:r>
          </a:p>
          <a:p>
            <a:pPr lvl="0"/>
            <a:r>
              <a:rPr lang="en-US" sz="2400" b="1" dirty="0" smtClean="0"/>
              <a:t>-Thu </a:t>
            </a:r>
            <a:r>
              <a:rPr lang="en-US" sz="2400" b="1" dirty="0" err="1"/>
              <a:t>thập</a:t>
            </a:r>
            <a:r>
              <a:rPr lang="en-US" sz="2400" b="1" dirty="0"/>
              <a:t> </a:t>
            </a:r>
            <a:r>
              <a:rPr lang="en-US" sz="2400" b="1" dirty="0" err="1"/>
              <a:t>yêu</a:t>
            </a:r>
            <a:r>
              <a:rPr lang="en-US" sz="2400" b="1" dirty="0"/>
              <a:t> </a:t>
            </a:r>
            <a:r>
              <a:rPr lang="en-US" sz="2400" b="1" dirty="0" err="1"/>
              <a:t>cầu</a:t>
            </a:r>
            <a:r>
              <a:rPr lang="en-US" sz="2400" b="1" dirty="0"/>
              <a:t> </a:t>
            </a:r>
            <a:r>
              <a:rPr lang="en-US" sz="2400" b="1" dirty="0" err="1"/>
              <a:t>chính</a:t>
            </a:r>
            <a:r>
              <a:rPr lang="en-US" sz="2400" b="1" dirty="0"/>
              <a:t> </a:t>
            </a:r>
            <a:r>
              <a:rPr lang="en-US" sz="2400" b="1" dirty="0" err="1"/>
              <a:t>xác</a:t>
            </a:r>
            <a:r>
              <a:rPr lang="en-US" sz="2400" dirty="0"/>
              <a:t>: </a:t>
            </a:r>
            <a:r>
              <a:rPr lang="en-US" sz="2400" dirty="0" err="1"/>
              <a:t>Giảm</a:t>
            </a:r>
            <a:r>
              <a:rPr lang="en-US" sz="2400" dirty="0"/>
              <a:t> </a:t>
            </a:r>
            <a:r>
              <a:rPr lang="en-US" sz="2400" dirty="0" err="1"/>
              <a:t>rủi</a:t>
            </a:r>
            <a:r>
              <a:rPr lang="en-US" sz="2400" dirty="0"/>
              <a:t> </a:t>
            </a:r>
            <a:r>
              <a:rPr lang="en-US" sz="2400" dirty="0" err="1"/>
              <a:t>ro</a:t>
            </a:r>
            <a:r>
              <a:rPr lang="en-US" sz="2400" dirty="0"/>
              <a:t> </a:t>
            </a:r>
            <a:r>
              <a:rPr lang="en-US" sz="2400" dirty="0" err="1"/>
              <a:t>hiểu</a:t>
            </a:r>
            <a:r>
              <a:rPr lang="en-US" sz="2400" dirty="0"/>
              <a:t> </a:t>
            </a:r>
            <a:r>
              <a:rPr lang="en-US" sz="2400" dirty="0" err="1"/>
              <a:t>sai</a:t>
            </a:r>
            <a:r>
              <a:rPr lang="en-US" sz="2400" dirty="0"/>
              <a:t> </a:t>
            </a:r>
            <a:r>
              <a:rPr lang="en-US" sz="2400" dirty="0" err="1"/>
              <a:t>và</a:t>
            </a:r>
            <a:r>
              <a:rPr lang="en-US" sz="2400" dirty="0"/>
              <a:t> </a:t>
            </a:r>
            <a:r>
              <a:rPr lang="en-US" sz="2400" dirty="0" err="1"/>
              <a:t>thiếu</a:t>
            </a:r>
            <a:r>
              <a:rPr lang="en-US" sz="2400" dirty="0"/>
              <a:t> </a:t>
            </a:r>
            <a:r>
              <a:rPr lang="en-US" sz="2400" dirty="0" err="1"/>
              <a:t>sót</a:t>
            </a:r>
            <a:r>
              <a:rPr lang="en-US" sz="2400" dirty="0"/>
              <a:t> </a:t>
            </a:r>
            <a:r>
              <a:rPr lang="en-US" sz="2400" dirty="0" err="1"/>
              <a:t>trong</a:t>
            </a:r>
            <a:r>
              <a:rPr lang="en-US" sz="2400" dirty="0"/>
              <a:t> </a:t>
            </a:r>
            <a:r>
              <a:rPr lang="en-US" sz="2400" dirty="0" err="1"/>
              <a:t>yêu</a:t>
            </a:r>
            <a:r>
              <a:rPr lang="en-US" sz="2400" dirty="0"/>
              <a:t> </a:t>
            </a:r>
            <a:r>
              <a:rPr lang="en-US" sz="2400" dirty="0" err="1"/>
              <a:t>cầu</a:t>
            </a:r>
            <a:r>
              <a:rPr lang="en-US" sz="2400" dirty="0"/>
              <a:t>.</a:t>
            </a:r>
          </a:p>
          <a:p>
            <a:pPr lvl="0"/>
            <a:r>
              <a:rPr lang="en-US" sz="2400" b="1" dirty="0" smtClean="0"/>
              <a:t>-</a:t>
            </a:r>
            <a:r>
              <a:rPr lang="en-US" sz="2400" b="1" dirty="0" err="1" smtClean="0"/>
              <a:t>Rút</a:t>
            </a:r>
            <a:r>
              <a:rPr lang="en-US" sz="2400" b="1" dirty="0" smtClean="0"/>
              <a:t> </a:t>
            </a:r>
            <a:r>
              <a:rPr lang="en-US" sz="2400" b="1" dirty="0" err="1"/>
              <a:t>ngắn</a:t>
            </a:r>
            <a:r>
              <a:rPr lang="en-US" sz="2400" b="1" dirty="0"/>
              <a:t> </a:t>
            </a:r>
            <a:r>
              <a:rPr lang="en-US" sz="2400" b="1" dirty="0" err="1"/>
              <a:t>thời</a:t>
            </a:r>
            <a:r>
              <a:rPr lang="en-US" sz="2400" b="1" dirty="0"/>
              <a:t> </a:t>
            </a:r>
            <a:r>
              <a:rPr lang="en-US" sz="2400" b="1" dirty="0" err="1"/>
              <a:t>gian</a:t>
            </a:r>
            <a:r>
              <a:rPr lang="en-US" sz="2400" b="1" dirty="0"/>
              <a:t> </a:t>
            </a:r>
            <a:r>
              <a:rPr lang="en-US" sz="2400" b="1" dirty="0" err="1"/>
              <a:t>xác</a:t>
            </a:r>
            <a:r>
              <a:rPr lang="en-US" sz="2400" b="1" dirty="0"/>
              <a:t> </a:t>
            </a:r>
            <a:r>
              <a:rPr lang="en-US" sz="2400" b="1" dirty="0" err="1"/>
              <a:t>định</a:t>
            </a:r>
            <a:r>
              <a:rPr lang="en-US" sz="2400" b="1" dirty="0"/>
              <a:t> </a:t>
            </a:r>
            <a:r>
              <a:rPr lang="en-US" sz="2400" b="1" dirty="0" err="1"/>
              <a:t>yêu</a:t>
            </a:r>
            <a:r>
              <a:rPr lang="en-US" sz="2400" b="1" dirty="0"/>
              <a:t> </a:t>
            </a:r>
            <a:r>
              <a:rPr lang="en-US" sz="2400" b="1" dirty="0" err="1"/>
              <a:t>cầu</a:t>
            </a:r>
            <a:r>
              <a:rPr lang="en-US" sz="2400" dirty="0"/>
              <a:t>: </a:t>
            </a:r>
            <a:r>
              <a:rPr lang="en-US" sz="2400" dirty="0" err="1"/>
              <a:t>Tập</a:t>
            </a:r>
            <a:r>
              <a:rPr lang="en-US" sz="2400" dirty="0"/>
              <a:t> </a:t>
            </a:r>
            <a:r>
              <a:rPr lang="en-US" sz="2400" dirty="0" err="1"/>
              <a:t>trung</a:t>
            </a:r>
            <a:r>
              <a:rPr lang="en-US" sz="2400" dirty="0"/>
              <a:t> </a:t>
            </a:r>
            <a:r>
              <a:rPr lang="en-US" sz="2400" dirty="0" err="1"/>
              <a:t>vào</a:t>
            </a:r>
            <a:r>
              <a:rPr lang="en-US" sz="2400" dirty="0"/>
              <a:t> </a:t>
            </a:r>
            <a:r>
              <a:rPr lang="en-US" sz="2400" dirty="0" err="1"/>
              <a:t>các</a:t>
            </a:r>
            <a:r>
              <a:rPr lang="en-US" sz="2400" dirty="0"/>
              <a:t> </a:t>
            </a:r>
            <a:r>
              <a:rPr lang="en-US" sz="2400" dirty="0" err="1"/>
              <a:t>cuộc</a:t>
            </a:r>
            <a:r>
              <a:rPr lang="en-US" sz="2400" dirty="0"/>
              <a:t> </a:t>
            </a:r>
            <a:r>
              <a:rPr lang="en-US" sz="2400" dirty="0" err="1"/>
              <a:t>họp</a:t>
            </a:r>
            <a:r>
              <a:rPr lang="en-US" sz="2400" dirty="0"/>
              <a:t> </a:t>
            </a:r>
            <a:r>
              <a:rPr lang="en-US" sz="2400" dirty="0" err="1"/>
              <a:t>để</a:t>
            </a:r>
            <a:r>
              <a:rPr lang="en-US" sz="2400" dirty="0"/>
              <a:t> </a:t>
            </a:r>
            <a:r>
              <a:rPr lang="en-US" sz="2400" dirty="0" err="1"/>
              <a:t>đẩy</a:t>
            </a:r>
            <a:r>
              <a:rPr lang="en-US" sz="2400" dirty="0"/>
              <a:t> </a:t>
            </a:r>
            <a:r>
              <a:rPr lang="en-US" sz="2400" dirty="0" err="1"/>
              <a:t>nhanh</a:t>
            </a:r>
            <a:r>
              <a:rPr lang="en-US" sz="2400" dirty="0"/>
              <a:t> </a:t>
            </a:r>
            <a:r>
              <a:rPr lang="en-US" sz="2400" dirty="0" err="1"/>
              <a:t>quá</a:t>
            </a:r>
            <a:r>
              <a:rPr lang="en-US" sz="2400" dirty="0"/>
              <a:t> </a:t>
            </a:r>
            <a:r>
              <a:rPr lang="en-US" sz="2400" dirty="0" err="1"/>
              <a:t>trình</a:t>
            </a:r>
            <a:r>
              <a:rPr lang="en-US" sz="2400" dirty="0"/>
              <a:t>.</a:t>
            </a:r>
          </a:p>
          <a:p>
            <a:pPr lvl="0"/>
            <a:r>
              <a:rPr lang="en-US" sz="2400" b="1" dirty="0" smtClean="0"/>
              <a:t>-</a:t>
            </a:r>
            <a:r>
              <a:rPr lang="en-US" sz="2400" b="1" dirty="0" err="1" smtClean="0"/>
              <a:t>Tăng</a:t>
            </a:r>
            <a:r>
              <a:rPr lang="en-US" sz="2400" b="1" dirty="0" smtClean="0"/>
              <a:t> </a:t>
            </a:r>
            <a:r>
              <a:rPr lang="en-US" sz="2400" b="1" dirty="0" err="1"/>
              <a:t>cường</a:t>
            </a:r>
            <a:r>
              <a:rPr lang="en-US" sz="2400" b="1" dirty="0"/>
              <a:t> </a:t>
            </a:r>
            <a:r>
              <a:rPr lang="en-US" sz="2400" b="1" dirty="0" err="1"/>
              <a:t>đồng</a:t>
            </a:r>
            <a:r>
              <a:rPr lang="en-US" sz="2400" b="1" dirty="0"/>
              <a:t> </a:t>
            </a:r>
            <a:r>
              <a:rPr lang="en-US" sz="2400" b="1" dirty="0" err="1"/>
              <a:t>thuận</a:t>
            </a:r>
            <a:r>
              <a:rPr lang="en-US" sz="2400" dirty="0"/>
              <a:t>: </a:t>
            </a:r>
            <a:r>
              <a:rPr lang="en-US" sz="2400" dirty="0" err="1"/>
              <a:t>Thúc</a:t>
            </a:r>
            <a:r>
              <a:rPr lang="en-US" sz="2400" dirty="0"/>
              <a:t> </a:t>
            </a:r>
            <a:r>
              <a:rPr lang="en-US" sz="2400" dirty="0" err="1"/>
              <a:t>đẩy</a:t>
            </a:r>
            <a:r>
              <a:rPr lang="en-US" sz="2400" dirty="0"/>
              <a:t> </a:t>
            </a:r>
            <a:r>
              <a:rPr lang="en-US" sz="2400" dirty="0" err="1"/>
              <a:t>sự</a:t>
            </a:r>
            <a:r>
              <a:rPr lang="en-US" sz="2400" dirty="0"/>
              <a:t> </a:t>
            </a:r>
            <a:r>
              <a:rPr lang="en-US" sz="2400" dirty="0" err="1"/>
              <a:t>đồng</a:t>
            </a:r>
            <a:r>
              <a:rPr lang="en-US" sz="2400" dirty="0"/>
              <a:t> </a:t>
            </a:r>
            <a:r>
              <a:rPr lang="en-US" sz="2400" dirty="0" err="1"/>
              <a:t>thuận</a:t>
            </a:r>
            <a:r>
              <a:rPr lang="en-US" sz="2400" dirty="0"/>
              <a:t> </a:t>
            </a:r>
            <a:r>
              <a:rPr lang="en-US" sz="2400" dirty="0" err="1"/>
              <a:t>giữa</a:t>
            </a:r>
            <a:r>
              <a:rPr lang="en-US" sz="2400" dirty="0"/>
              <a:t> </a:t>
            </a:r>
            <a:r>
              <a:rPr lang="en-US" sz="2400" dirty="0" err="1"/>
              <a:t>các</a:t>
            </a:r>
            <a:r>
              <a:rPr lang="en-US" sz="2400" dirty="0"/>
              <a:t> </a:t>
            </a:r>
            <a:r>
              <a:rPr lang="en-US" sz="2400" dirty="0" err="1"/>
              <a:t>bên</a:t>
            </a:r>
            <a:r>
              <a:rPr lang="en-US" sz="2400" dirty="0"/>
              <a:t> </a:t>
            </a:r>
            <a:r>
              <a:rPr lang="en-US" sz="2400" dirty="0" err="1"/>
              <a:t>liên</a:t>
            </a:r>
            <a:r>
              <a:rPr lang="en-US" sz="2400" dirty="0"/>
              <a:t> </a:t>
            </a:r>
            <a:r>
              <a:rPr lang="en-US" sz="2400" dirty="0" err="1"/>
              <a:t>quan</a:t>
            </a:r>
            <a:r>
              <a:rPr lang="en-US" sz="2400" dirty="0"/>
              <a:t> </a:t>
            </a:r>
            <a:r>
              <a:rPr lang="en-US" sz="2400" dirty="0" err="1"/>
              <a:t>về</a:t>
            </a:r>
            <a:r>
              <a:rPr lang="en-US" sz="2400" dirty="0"/>
              <a:t> </a:t>
            </a:r>
            <a:r>
              <a:rPr lang="en-US" sz="2400" dirty="0" err="1"/>
              <a:t>mục</a:t>
            </a:r>
            <a:r>
              <a:rPr lang="en-US" sz="2400" dirty="0"/>
              <a:t> </a:t>
            </a:r>
            <a:r>
              <a:rPr lang="en-US" sz="2400" dirty="0" err="1"/>
              <a:t>tiêu</a:t>
            </a:r>
            <a:r>
              <a:rPr lang="en-US" sz="2400" dirty="0"/>
              <a:t> </a:t>
            </a:r>
            <a:r>
              <a:rPr lang="en-US" sz="2400" dirty="0" err="1"/>
              <a:t>và</a:t>
            </a:r>
            <a:r>
              <a:rPr lang="en-US" sz="2400" dirty="0"/>
              <a:t> </a:t>
            </a:r>
            <a:r>
              <a:rPr lang="en-US" sz="2400" dirty="0" err="1"/>
              <a:t>yêu</a:t>
            </a:r>
            <a:r>
              <a:rPr lang="en-US" sz="2400" dirty="0"/>
              <a:t> </a:t>
            </a:r>
            <a:r>
              <a:rPr lang="en-US" sz="2400" dirty="0" err="1"/>
              <a:t>cầu</a:t>
            </a:r>
            <a:r>
              <a:rPr lang="en-US" sz="2400" dirty="0"/>
              <a:t>.</a:t>
            </a:r>
          </a:p>
          <a:p>
            <a:pPr lvl="0"/>
            <a:r>
              <a:rPr lang="en-US" sz="2400" b="1" dirty="0" smtClean="0"/>
              <a:t>-</a:t>
            </a:r>
            <a:r>
              <a:rPr lang="en-US" sz="2400" b="1" dirty="0" err="1" smtClean="0"/>
              <a:t>Phát</a:t>
            </a:r>
            <a:r>
              <a:rPr lang="en-US" sz="2400" b="1" dirty="0" smtClean="0"/>
              <a:t> </a:t>
            </a:r>
            <a:r>
              <a:rPr lang="en-US" sz="2400" b="1" dirty="0" err="1"/>
              <a:t>hiện</a:t>
            </a:r>
            <a:r>
              <a:rPr lang="en-US" sz="2400" b="1" dirty="0"/>
              <a:t> </a:t>
            </a:r>
            <a:r>
              <a:rPr lang="en-US" sz="2400" b="1" dirty="0" err="1"/>
              <a:t>vấn</a:t>
            </a:r>
            <a:r>
              <a:rPr lang="en-US" sz="2400" b="1" dirty="0"/>
              <a:t> </a:t>
            </a:r>
            <a:r>
              <a:rPr lang="en-US" sz="2400" b="1" dirty="0" err="1"/>
              <a:t>đề</a:t>
            </a:r>
            <a:r>
              <a:rPr lang="en-US" sz="2400" b="1" dirty="0"/>
              <a:t> </a:t>
            </a:r>
            <a:r>
              <a:rPr lang="en-US" sz="2400" b="1" dirty="0" err="1"/>
              <a:t>sớm</a:t>
            </a:r>
            <a:r>
              <a:rPr lang="en-US" sz="2400" dirty="0"/>
              <a:t>: </a:t>
            </a:r>
            <a:r>
              <a:rPr lang="en-US" sz="2400" dirty="0" err="1"/>
              <a:t>Dễ</a:t>
            </a:r>
            <a:r>
              <a:rPr lang="en-US" sz="2400" dirty="0"/>
              <a:t> </a:t>
            </a:r>
            <a:r>
              <a:rPr lang="en-US" sz="2400" dirty="0" err="1"/>
              <a:t>dàng</a:t>
            </a:r>
            <a:r>
              <a:rPr lang="en-US" sz="2400" dirty="0"/>
              <a:t> </a:t>
            </a:r>
            <a:r>
              <a:rPr lang="en-US" sz="2400" dirty="0" err="1"/>
              <a:t>phát</a:t>
            </a:r>
            <a:r>
              <a:rPr lang="en-US" sz="2400" dirty="0"/>
              <a:t> </a:t>
            </a:r>
            <a:r>
              <a:rPr lang="en-US" sz="2400" dirty="0" err="1"/>
              <a:t>hiện</a:t>
            </a:r>
            <a:r>
              <a:rPr lang="en-US" sz="2400" dirty="0"/>
              <a:t> </a:t>
            </a:r>
            <a:r>
              <a:rPr lang="en-US" sz="2400" dirty="0" err="1"/>
              <a:t>và</a:t>
            </a:r>
            <a:r>
              <a:rPr lang="en-US" sz="2400" dirty="0"/>
              <a:t> </a:t>
            </a:r>
            <a:r>
              <a:rPr lang="en-US" sz="2400" dirty="0" err="1"/>
              <a:t>xử</a:t>
            </a:r>
            <a:r>
              <a:rPr lang="en-US" sz="2400" dirty="0"/>
              <a:t> </a:t>
            </a:r>
            <a:r>
              <a:rPr lang="en-US" sz="2400" dirty="0" err="1"/>
              <a:t>lý</a:t>
            </a:r>
            <a:r>
              <a:rPr lang="en-US" sz="2400" dirty="0"/>
              <a:t> </a:t>
            </a:r>
            <a:r>
              <a:rPr lang="en-US" sz="2400" dirty="0" err="1"/>
              <a:t>các</a:t>
            </a:r>
            <a:r>
              <a:rPr lang="en-US" sz="2400" dirty="0"/>
              <a:t> </a:t>
            </a:r>
            <a:r>
              <a:rPr lang="en-US" sz="2400" dirty="0" err="1"/>
              <a:t>mâu</a:t>
            </a:r>
            <a:r>
              <a:rPr lang="en-US" sz="2400" dirty="0"/>
              <a:t> </a:t>
            </a:r>
            <a:r>
              <a:rPr lang="en-US" sz="2400" dirty="0" err="1"/>
              <a:t>thuẫn</a:t>
            </a:r>
            <a:r>
              <a:rPr lang="en-US" sz="2400" dirty="0"/>
              <a:t> </a:t>
            </a:r>
            <a:r>
              <a:rPr lang="en-US" sz="2400" dirty="0" err="1"/>
              <a:t>ngay</a:t>
            </a:r>
            <a:r>
              <a:rPr lang="en-US" sz="2400" dirty="0"/>
              <a:t> </a:t>
            </a:r>
            <a:r>
              <a:rPr lang="en-US" sz="2400" dirty="0" err="1"/>
              <a:t>từ</a:t>
            </a:r>
            <a:r>
              <a:rPr lang="en-US" sz="2400" dirty="0"/>
              <a:t> </a:t>
            </a:r>
            <a:r>
              <a:rPr lang="en-US" sz="2400" dirty="0" err="1"/>
              <a:t>đầu</a:t>
            </a:r>
            <a:r>
              <a:rPr lang="en-US" sz="2400" dirty="0"/>
              <a:t>.</a:t>
            </a:r>
          </a:p>
          <a:p>
            <a:pPr lvl="0"/>
            <a:r>
              <a:rPr lang="en-US" sz="2400" b="1" dirty="0" smtClean="0"/>
              <a:t>-</a:t>
            </a:r>
            <a:r>
              <a:rPr lang="en-US" sz="2400" b="1" dirty="0" err="1" smtClean="0"/>
              <a:t>Cải</a:t>
            </a:r>
            <a:r>
              <a:rPr lang="en-US" sz="2400" b="1" dirty="0" smtClean="0"/>
              <a:t> </a:t>
            </a:r>
            <a:r>
              <a:rPr lang="en-US" sz="2400" b="1" dirty="0" err="1"/>
              <a:t>thiện</a:t>
            </a:r>
            <a:r>
              <a:rPr lang="en-US" sz="2400" b="1" dirty="0"/>
              <a:t> </a:t>
            </a:r>
            <a:r>
              <a:rPr lang="en-US" sz="2400" b="1" dirty="0" err="1"/>
              <a:t>chất</a:t>
            </a:r>
            <a:r>
              <a:rPr lang="en-US" sz="2400" b="1" dirty="0"/>
              <a:t> </a:t>
            </a:r>
            <a:r>
              <a:rPr lang="en-US" sz="2400" b="1" dirty="0" err="1"/>
              <a:t>lượng</a:t>
            </a:r>
            <a:r>
              <a:rPr lang="en-US" sz="2400" b="1" dirty="0"/>
              <a:t> </a:t>
            </a:r>
            <a:r>
              <a:rPr lang="en-US" sz="2400" b="1" dirty="0" err="1"/>
              <a:t>hệ</a:t>
            </a:r>
            <a:r>
              <a:rPr lang="en-US" sz="2400" b="1" dirty="0"/>
              <a:t> </a:t>
            </a:r>
            <a:r>
              <a:rPr lang="en-US" sz="2400" b="1" dirty="0" err="1"/>
              <a:t>thống</a:t>
            </a:r>
            <a:r>
              <a:rPr lang="en-US" sz="2400" dirty="0"/>
              <a:t>: </a:t>
            </a:r>
            <a:r>
              <a:rPr lang="en-US" sz="2400" dirty="0" err="1"/>
              <a:t>Hệ</a:t>
            </a:r>
            <a:r>
              <a:rPr lang="en-US" sz="2400" dirty="0"/>
              <a:t> </a:t>
            </a:r>
            <a:r>
              <a:rPr lang="en-US" sz="2400" dirty="0" err="1"/>
              <a:t>thống</a:t>
            </a:r>
            <a:r>
              <a:rPr lang="en-US" sz="2400" dirty="0"/>
              <a:t> </a:t>
            </a:r>
            <a:r>
              <a:rPr lang="en-US" sz="2400" dirty="0" err="1"/>
              <a:t>đáp</a:t>
            </a:r>
            <a:r>
              <a:rPr lang="en-US" sz="2400" dirty="0"/>
              <a:t> </a:t>
            </a:r>
            <a:r>
              <a:rPr lang="en-US" sz="2400" dirty="0" err="1"/>
              <a:t>ứng</a:t>
            </a:r>
            <a:r>
              <a:rPr lang="en-US" sz="2400" dirty="0"/>
              <a:t> </a:t>
            </a:r>
            <a:r>
              <a:rPr lang="en-US" sz="2400" dirty="0" err="1"/>
              <a:t>đúng</a:t>
            </a:r>
            <a:r>
              <a:rPr lang="en-US" sz="2400" dirty="0"/>
              <a:t> </a:t>
            </a:r>
            <a:r>
              <a:rPr lang="en-US" sz="2400" dirty="0" err="1"/>
              <a:t>nhu</a:t>
            </a:r>
            <a:r>
              <a:rPr lang="en-US" sz="2400" dirty="0"/>
              <a:t> </a:t>
            </a:r>
            <a:r>
              <a:rPr lang="en-US" sz="2400" dirty="0" err="1"/>
              <a:t>cầu</a:t>
            </a:r>
            <a:r>
              <a:rPr lang="en-US" sz="2400" dirty="0"/>
              <a:t> </a:t>
            </a:r>
            <a:r>
              <a:rPr lang="en-US" sz="2400" dirty="0" err="1"/>
              <a:t>của</a:t>
            </a:r>
            <a:r>
              <a:rPr lang="en-US" sz="2400" dirty="0"/>
              <a:t> </a:t>
            </a:r>
            <a:r>
              <a:rPr lang="en-US" sz="2400" dirty="0" err="1"/>
              <a:t>người</a:t>
            </a:r>
            <a:r>
              <a:rPr lang="en-US" sz="2400" dirty="0"/>
              <a:t> </a:t>
            </a:r>
            <a:r>
              <a:rPr lang="en-US" sz="2400" dirty="0" err="1"/>
              <a:t>dùng</a:t>
            </a:r>
            <a:r>
              <a:rPr lang="en-US" sz="2400" dirty="0"/>
              <a:t>.</a:t>
            </a:r>
          </a:p>
          <a:p>
            <a:endParaRPr lang="en-US" sz="2400" dirty="0"/>
          </a:p>
        </p:txBody>
      </p:sp>
      <p:sp>
        <p:nvSpPr>
          <p:cNvPr id="33" name="TextBox 32"/>
          <p:cNvSpPr txBox="1"/>
          <p:nvPr/>
        </p:nvSpPr>
        <p:spPr>
          <a:xfrm>
            <a:off x="838200" y="5718997"/>
            <a:ext cx="3390672" cy="707886"/>
          </a:xfrm>
          <a:prstGeom prst="rect">
            <a:avLst/>
          </a:prstGeom>
          <a:noFill/>
        </p:spPr>
        <p:txBody>
          <a:bodyPr wrap="none" rtlCol="0">
            <a:spAutoFit/>
          </a:bodyPr>
          <a:lstStyle/>
          <a:p>
            <a:r>
              <a:rPr lang="en-US" sz="4000" b="1" dirty="0" smtClean="0"/>
              <a:t>* </a:t>
            </a:r>
            <a:r>
              <a:rPr lang="en-US" sz="4000" b="1" dirty="0" err="1" smtClean="0"/>
              <a:t>Nhược</a:t>
            </a:r>
            <a:r>
              <a:rPr lang="en-US" sz="4000" b="1" dirty="0" smtClean="0"/>
              <a:t> </a:t>
            </a:r>
            <a:r>
              <a:rPr lang="en-US" sz="4000" b="1" dirty="0" err="1" smtClean="0"/>
              <a:t>điểm</a:t>
            </a:r>
            <a:r>
              <a:rPr lang="en-US" sz="4000" b="1" dirty="0" smtClean="0"/>
              <a:t>:</a:t>
            </a:r>
            <a:endParaRPr lang="en-US" sz="4000" b="1" dirty="0"/>
          </a:p>
        </p:txBody>
      </p:sp>
      <p:sp>
        <p:nvSpPr>
          <p:cNvPr id="34" name="TextBox 33"/>
          <p:cNvSpPr txBox="1"/>
          <p:nvPr/>
        </p:nvSpPr>
        <p:spPr>
          <a:xfrm>
            <a:off x="1295400" y="6892477"/>
            <a:ext cx="14169135" cy="2677656"/>
          </a:xfrm>
          <a:prstGeom prst="rect">
            <a:avLst/>
          </a:prstGeom>
          <a:noFill/>
        </p:spPr>
        <p:txBody>
          <a:bodyPr wrap="none" rtlCol="0">
            <a:spAutoFit/>
          </a:bodyPr>
          <a:lstStyle/>
          <a:p>
            <a:pPr lvl="0"/>
            <a:r>
              <a:rPr lang="en-US" sz="2400" b="1" dirty="0" smtClean="0"/>
              <a:t>-</a:t>
            </a:r>
            <a:r>
              <a:rPr lang="en-US" sz="2400" b="1" dirty="0" err="1" smtClean="0"/>
              <a:t>Tốn</a:t>
            </a:r>
            <a:r>
              <a:rPr lang="en-US" sz="2400" b="1" dirty="0" smtClean="0"/>
              <a:t> </a:t>
            </a:r>
            <a:r>
              <a:rPr lang="en-US" sz="2400" b="1" dirty="0" err="1"/>
              <a:t>nhiều</a:t>
            </a:r>
            <a:r>
              <a:rPr lang="en-US" sz="2400" b="1" dirty="0"/>
              <a:t> </a:t>
            </a:r>
            <a:r>
              <a:rPr lang="en-US" sz="2400" b="1" dirty="0" err="1"/>
              <a:t>nguồn</a:t>
            </a:r>
            <a:r>
              <a:rPr lang="en-US" sz="2400" b="1" dirty="0"/>
              <a:t> </a:t>
            </a:r>
            <a:r>
              <a:rPr lang="en-US" sz="2400" b="1" dirty="0" err="1"/>
              <a:t>lực</a:t>
            </a:r>
            <a:r>
              <a:rPr lang="en-US" sz="2400" dirty="0"/>
              <a:t>: </a:t>
            </a:r>
            <a:r>
              <a:rPr lang="en-US" sz="2400" dirty="0" err="1"/>
              <a:t>Cần</a:t>
            </a:r>
            <a:r>
              <a:rPr lang="en-US" sz="2400" dirty="0"/>
              <a:t> </a:t>
            </a:r>
            <a:r>
              <a:rPr lang="en-US" sz="2400" dirty="0" err="1"/>
              <a:t>sự</a:t>
            </a:r>
            <a:r>
              <a:rPr lang="en-US" sz="2400" dirty="0"/>
              <a:t> </a:t>
            </a:r>
            <a:r>
              <a:rPr lang="en-US" sz="2400" dirty="0" err="1"/>
              <a:t>tham</a:t>
            </a:r>
            <a:r>
              <a:rPr lang="en-US" sz="2400" dirty="0"/>
              <a:t> </a:t>
            </a:r>
            <a:r>
              <a:rPr lang="en-US" sz="2400" dirty="0" err="1"/>
              <a:t>gia</a:t>
            </a:r>
            <a:r>
              <a:rPr lang="en-US" sz="2400" dirty="0"/>
              <a:t> </a:t>
            </a:r>
            <a:r>
              <a:rPr lang="en-US" sz="2400" dirty="0" err="1"/>
              <a:t>liên</a:t>
            </a:r>
            <a:r>
              <a:rPr lang="en-US" sz="2400" dirty="0"/>
              <a:t> </a:t>
            </a:r>
            <a:r>
              <a:rPr lang="en-US" sz="2400" dirty="0" err="1"/>
              <a:t>tục</a:t>
            </a:r>
            <a:r>
              <a:rPr lang="en-US" sz="2400" dirty="0"/>
              <a:t> </a:t>
            </a:r>
            <a:r>
              <a:rPr lang="en-US" sz="2400" dirty="0" err="1"/>
              <a:t>của</a:t>
            </a:r>
            <a:r>
              <a:rPr lang="en-US" sz="2400" dirty="0"/>
              <a:t> </a:t>
            </a:r>
            <a:r>
              <a:rPr lang="en-US" sz="2400" dirty="0" err="1"/>
              <a:t>nhiều</a:t>
            </a:r>
            <a:r>
              <a:rPr lang="en-US" sz="2400" dirty="0"/>
              <a:t> </a:t>
            </a:r>
            <a:r>
              <a:rPr lang="en-US" sz="2400" dirty="0" err="1"/>
              <a:t>bên</a:t>
            </a:r>
            <a:r>
              <a:rPr lang="en-US" sz="2400" dirty="0"/>
              <a:t> </a:t>
            </a:r>
            <a:r>
              <a:rPr lang="en-US" sz="2400" dirty="0" err="1"/>
              <a:t>liên</a:t>
            </a:r>
            <a:r>
              <a:rPr lang="en-US" sz="2400" dirty="0"/>
              <a:t> </a:t>
            </a:r>
            <a:r>
              <a:rPr lang="en-US" sz="2400" dirty="0" err="1"/>
              <a:t>quan</a:t>
            </a:r>
            <a:r>
              <a:rPr lang="en-US" sz="2400" dirty="0"/>
              <a:t>, </a:t>
            </a:r>
            <a:r>
              <a:rPr lang="en-US" sz="2400" dirty="0" err="1"/>
              <a:t>gây</a:t>
            </a:r>
            <a:r>
              <a:rPr lang="en-US" sz="2400" dirty="0"/>
              <a:t> </a:t>
            </a:r>
            <a:r>
              <a:rPr lang="en-US" sz="2400" dirty="0" err="1"/>
              <a:t>ảnh</a:t>
            </a:r>
            <a:r>
              <a:rPr lang="en-US" sz="2400" dirty="0"/>
              <a:t> </a:t>
            </a:r>
            <a:r>
              <a:rPr lang="en-US" sz="2400" dirty="0" err="1"/>
              <a:t>hưởng</a:t>
            </a:r>
            <a:r>
              <a:rPr lang="en-US" sz="2400" dirty="0"/>
              <a:t> </a:t>
            </a:r>
            <a:r>
              <a:rPr lang="en-US" sz="2400" dirty="0" err="1"/>
              <a:t>đến</a:t>
            </a:r>
            <a:r>
              <a:rPr lang="en-US" sz="2400" dirty="0"/>
              <a:t> </a:t>
            </a:r>
            <a:r>
              <a:rPr lang="en-US" sz="2400" dirty="0" err="1"/>
              <a:t>công</a:t>
            </a:r>
            <a:r>
              <a:rPr lang="en-US" sz="2400" dirty="0"/>
              <a:t> </a:t>
            </a:r>
            <a:r>
              <a:rPr lang="en-US" sz="2400" dirty="0" err="1"/>
              <a:t>việc</a:t>
            </a:r>
            <a:r>
              <a:rPr lang="en-US" sz="2400" dirty="0"/>
              <a:t> </a:t>
            </a:r>
            <a:r>
              <a:rPr lang="en-US" sz="2400" dirty="0" err="1"/>
              <a:t>hàng</a:t>
            </a:r>
            <a:r>
              <a:rPr lang="en-US" sz="2400" dirty="0"/>
              <a:t> </a:t>
            </a:r>
            <a:r>
              <a:rPr lang="en-US" sz="2400" dirty="0" err="1"/>
              <a:t>ngày</a:t>
            </a:r>
            <a:r>
              <a:rPr lang="en-US" sz="2400" dirty="0"/>
              <a:t>.</a:t>
            </a:r>
          </a:p>
          <a:p>
            <a:pPr lvl="0"/>
            <a:r>
              <a:rPr lang="en-US" sz="2400" b="1" dirty="0" smtClean="0"/>
              <a:t>-</a:t>
            </a:r>
            <a:r>
              <a:rPr lang="en-US" sz="2400" b="1" dirty="0" err="1" smtClean="0"/>
              <a:t>Khó</a:t>
            </a:r>
            <a:r>
              <a:rPr lang="en-US" sz="2400" b="1" dirty="0" smtClean="0"/>
              <a:t> </a:t>
            </a:r>
            <a:r>
              <a:rPr lang="en-US" sz="2400" b="1" dirty="0" err="1"/>
              <a:t>tổ</a:t>
            </a:r>
            <a:r>
              <a:rPr lang="en-US" sz="2400" b="1" dirty="0"/>
              <a:t> </a:t>
            </a:r>
            <a:r>
              <a:rPr lang="en-US" sz="2400" b="1" dirty="0" err="1"/>
              <a:t>chức</a:t>
            </a:r>
            <a:r>
              <a:rPr lang="en-US" sz="2400" dirty="0"/>
              <a:t>: </a:t>
            </a:r>
            <a:r>
              <a:rPr lang="en-US" sz="2400" dirty="0" err="1"/>
              <a:t>Khó</a:t>
            </a:r>
            <a:r>
              <a:rPr lang="en-US" sz="2400" dirty="0"/>
              <a:t> </a:t>
            </a:r>
            <a:r>
              <a:rPr lang="en-US" sz="2400" dirty="0" err="1"/>
              <a:t>sắp</a:t>
            </a:r>
            <a:r>
              <a:rPr lang="en-US" sz="2400" dirty="0"/>
              <a:t> </a:t>
            </a:r>
            <a:r>
              <a:rPr lang="en-US" sz="2400" dirty="0" err="1"/>
              <a:t>xếp</a:t>
            </a:r>
            <a:r>
              <a:rPr lang="en-US" sz="2400" dirty="0"/>
              <a:t> </a:t>
            </a:r>
            <a:r>
              <a:rPr lang="en-US" sz="2400" dirty="0" err="1"/>
              <a:t>thời</a:t>
            </a:r>
            <a:r>
              <a:rPr lang="en-US" sz="2400" dirty="0"/>
              <a:t> </a:t>
            </a:r>
            <a:r>
              <a:rPr lang="en-US" sz="2400" dirty="0" err="1"/>
              <a:t>gian</a:t>
            </a:r>
            <a:r>
              <a:rPr lang="en-US" sz="2400" dirty="0"/>
              <a:t> </a:t>
            </a:r>
            <a:r>
              <a:rPr lang="en-US" sz="2400" dirty="0" err="1"/>
              <a:t>và</a:t>
            </a:r>
            <a:r>
              <a:rPr lang="en-US" sz="2400" dirty="0"/>
              <a:t> </a:t>
            </a:r>
            <a:r>
              <a:rPr lang="en-US" sz="2400" dirty="0" err="1"/>
              <a:t>sự</a:t>
            </a:r>
            <a:r>
              <a:rPr lang="en-US" sz="2400" dirty="0"/>
              <a:t> </a:t>
            </a:r>
            <a:r>
              <a:rPr lang="en-US" sz="2400" dirty="0" err="1"/>
              <a:t>tham</a:t>
            </a:r>
            <a:r>
              <a:rPr lang="en-US" sz="2400" dirty="0"/>
              <a:t> </a:t>
            </a:r>
            <a:r>
              <a:rPr lang="en-US" sz="2400" dirty="0" err="1"/>
              <a:t>gia</a:t>
            </a:r>
            <a:r>
              <a:rPr lang="en-US" sz="2400" dirty="0"/>
              <a:t> </a:t>
            </a:r>
            <a:r>
              <a:rPr lang="en-US" sz="2400" dirty="0" err="1"/>
              <a:t>đầy</a:t>
            </a:r>
            <a:r>
              <a:rPr lang="en-US" sz="2400" dirty="0"/>
              <a:t> </a:t>
            </a:r>
            <a:r>
              <a:rPr lang="en-US" sz="2400" dirty="0" err="1"/>
              <a:t>đủ</a:t>
            </a:r>
            <a:r>
              <a:rPr lang="en-US" sz="2400" dirty="0"/>
              <a:t> </a:t>
            </a:r>
            <a:r>
              <a:rPr lang="en-US" sz="2400" dirty="0" err="1"/>
              <a:t>của</a:t>
            </a:r>
            <a:r>
              <a:rPr lang="en-US" sz="2400" dirty="0"/>
              <a:t> </a:t>
            </a:r>
            <a:r>
              <a:rPr lang="en-US" sz="2400" dirty="0" err="1"/>
              <a:t>các</a:t>
            </a:r>
            <a:r>
              <a:rPr lang="en-US" sz="2400" dirty="0"/>
              <a:t> </a:t>
            </a:r>
            <a:r>
              <a:rPr lang="en-US" sz="2400" dirty="0" err="1"/>
              <a:t>bên</a:t>
            </a:r>
            <a:r>
              <a:rPr lang="en-US" sz="2400" dirty="0"/>
              <a:t> </a:t>
            </a:r>
            <a:r>
              <a:rPr lang="en-US" sz="2400" dirty="0" err="1"/>
              <a:t>liên</a:t>
            </a:r>
            <a:r>
              <a:rPr lang="en-US" sz="2400" dirty="0"/>
              <a:t> </a:t>
            </a:r>
            <a:r>
              <a:rPr lang="en-US" sz="2400" dirty="0" err="1"/>
              <a:t>quan</a:t>
            </a:r>
            <a:r>
              <a:rPr lang="en-US" sz="2400" dirty="0"/>
              <a:t>.</a:t>
            </a:r>
          </a:p>
          <a:p>
            <a:pPr lvl="0"/>
            <a:r>
              <a:rPr lang="en-US" sz="2400" b="1" dirty="0" smtClean="0"/>
              <a:t>-Chi </a:t>
            </a:r>
            <a:r>
              <a:rPr lang="en-US" sz="2400" b="1" dirty="0" err="1"/>
              <a:t>phí</a:t>
            </a:r>
            <a:r>
              <a:rPr lang="en-US" sz="2400" b="1" dirty="0"/>
              <a:t> </a:t>
            </a:r>
            <a:r>
              <a:rPr lang="en-US" sz="2400" b="1" dirty="0" err="1"/>
              <a:t>cao</a:t>
            </a:r>
            <a:r>
              <a:rPr lang="en-US" sz="2400" dirty="0"/>
              <a:t>: </a:t>
            </a:r>
            <a:r>
              <a:rPr lang="en-US" sz="2400" dirty="0" err="1"/>
              <a:t>Đòi</a:t>
            </a:r>
            <a:r>
              <a:rPr lang="en-US" sz="2400" dirty="0"/>
              <a:t> </a:t>
            </a:r>
            <a:r>
              <a:rPr lang="en-US" sz="2400" dirty="0" err="1"/>
              <a:t>hỏi</a:t>
            </a:r>
            <a:r>
              <a:rPr lang="en-US" sz="2400" dirty="0"/>
              <a:t> chi </a:t>
            </a:r>
            <a:r>
              <a:rPr lang="en-US" sz="2400" dirty="0" err="1"/>
              <a:t>phí</a:t>
            </a:r>
            <a:r>
              <a:rPr lang="en-US" sz="2400" dirty="0"/>
              <a:t> </a:t>
            </a:r>
            <a:r>
              <a:rPr lang="en-US" sz="2400" dirty="0" err="1"/>
              <a:t>tổ</a:t>
            </a:r>
            <a:r>
              <a:rPr lang="en-US" sz="2400" dirty="0"/>
              <a:t> </a:t>
            </a:r>
            <a:r>
              <a:rPr lang="en-US" sz="2400" dirty="0" err="1"/>
              <a:t>chức</a:t>
            </a:r>
            <a:r>
              <a:rPr lang="en-US" sz="2400" dirty="0"/>
              <a:t> </a:t>
            </a:r>
            <a:r>
              <a:rPr lang="en-US" sz="2400" dirty="0" err="1"/>
              <a:t>và</a:t>
            </a:r>
            <a:r>
              <a:rPr lang="en-US" sz="2400" dirty="0"/>
              <a:t> </a:t>
            </a:r>
            <a:r>
              <a:rPr lang="en-US" sz="2400" dirty="0" err="1"/>
              <a:t>công</a:t>
            </a:r>
            <a:r>
              <a:rPr lang="en-US" sz="2400" dirty="0"/>
              <a:t> </a:t>
            </a:r>
            <a:r>
              <a:rPr lang="en-US" sz="2400" dirty="0" err="1"/>
              <a:t>cụ</a:t>
            </a:r>
            <a:r>
              <a:rPr lang="en-US" sz="2400" dirty="0"/>
              <a:t> </a:t>
            </a:r>
            <a:r>
              <a:rPr lang="en-US" sz="2400" dirty="0" err="1"/>
              <a:t>hỗ</a:t>
            </a:r>
            <a:r>
              <a:rPr lang="en-US" sz="2400" dirty="0"/>
              <a:t> </a:t>
            </a:r>
            <a:r>
              <a:rPr lang="en-US" sz="2400" dirty="0" err="1"/>
              <a:t>trợ</a:t>
            </a:r>
            <a:r>
              <a:rPr lang="en-US" sz="2400" dirty="0"/>
              <a:t> (CASE tools).</a:t>
            </a:r>
          </a:p>
          <a:p>
            <a:pPr lvl="0"/>
            <a:r>
              <a:rPr lang="en-US" sz="2400" b="1" dirty="0" smtClean="0"/>
              <a:t>-</a:t>
            </a:r>
            <a:r>
              <a:rPr lang="en-US" sz="2400" b="1" dirty="0" err="1" smtClean="0"/>
              <a:t>Phụ</a:t>
            </a:r>
            <a:r>
              <a:rPr lang="en-US" sz="2400" b="1" dirty="0" smtClean="0"/>
              <a:t> </a:t>
            </a:r>
            <a:r>
              <a:rPr lang="en-US" sz="2400" b="1" dirty="0" err="1"/>
              <a:t>thuộc</a:t>
            </a:r>
            <a:r>
              <a:rPr lang="en-US" sz="2400" b="1" dirty="0"/>
              <a:t> </a:t>
            </a:r>
            <a:r>
              <a:rPr lang="en-US" sz="2400" b="1" dirty="0" err="1"/>
              <a:t>vào</a:t>
            </a:r>
            <a:r>
              <a:rPr lang="en-US" sz="2400" b="1" dirty="0"/>
              <a:t> </a:t>
            </a:r>
            <a:r>
              <a:rPr lang="en-US" sz="2400" b="1" dirty="0" err="1"/>
              <a:t>người</a:t>
            </a:r>
            <a:r>
              <a:rPr lang="en-US" sz="2400" b="1" dirty="0"/>
              <a:t> </a:t>
            </a:r>
            <a:r>
              <a:rPr lang="en-US" sz="2400" b="1" dirty="0" err="1"/>
              <a:t>điều</a:t>
            </a:r>
            <a:r>
              <a:rPr lang="en-US" sz="2400" b="1" dirty="0"/>
              <a:t> </a:t>
            </a:r>
            <a:r>
              <a:rPr lang="en-US" sz="2400" b="1" dirty="0" err="1"/>
              <a:t>phối</a:t>
            </a:r>
            <a:r>
              <a:rPr lang="en-US" sz="2400" dirty="0"/>
              <a:t>: </a:t>
            </a:r>
            <a:r>
              <a:rPr lang="en-US" sz="2400" dirty="0" err="1"/>
              <a:t>Chất</a:t>
            </a:r>
            <a:r>
              <a:rPr lang="en-US" sz="2400" dirty="0"/>
              <a:t> </a:t>
            </a:r>
            <a:r>
              <a:rPr lang="en-US" sz="2400" dirty="0" err="1"/>
              <a:t>lượng</a:t>
            </a:r>
            <a:r>
              <a:rPr lang="en-US" sz="2400" dirty="0"/>
              <a:t> </a:t>
            </a:r>
            <a:r>
              <a:rPr lang="en-US" sz="2400" dirty="0" err="1"/>
              <a:t>phụ</a:t>
            </a:r>
            <a:r>
              <a:rPr lang="en-US" sz="2400" dirty="0"/>
              <a:t> </a:t>
            </a:r>
            <a:r>
              <a:rPr lang="en-US" sz="2400" dirty="0" err="1"/>
              <a:t>thuộc</a:t>
            </a:r>
            <a:r>
              <a:rPr lang="en-US" sz="2400" dirty="0"/>
              <a:t> </a:t>
            </a:r>
            <a:r>
              <a:rPr lang="en-US" sz="2400" dirty="0" err="1"/>
              <a:t>lớn</a:t>
            </a:r>
            <a:r>
              <a:rPr lang="en-US" sz="2400" dirty="0"/>
              <a:t> </a:t>
            </a:r>
            <a:r>
              <a:rPr lang="en-US" sz="2400" dirty="0" err="1"/>
              <a:t>vào</a:t>
            </a:r>
            <a:r>
              <a:rPr lang="en-US" sz="2400" dirty="0"/>
              <a:t> </a:t>
            </a:r>
            <a:r>
              <a:rPr lang="en-US" sz="2400" dirty="0" err="1"/>
              <a:t>kỹ</a:t>
            </a:r>
            <a:r>
              <a:rPr lang="en-US" sz="2400" dirty="0"/>
              <a:t> </a:t>
            </a:r>
            <a:r>
              <a:rPr lang="en-US" sz="2400" dirty="0" err="1"/>
              <a:t>năng</a:t>
            </a:r>
            <a:r>
              <a:rPr lang="en-US" sz="2400" dirty="0"/>
              <a:t> </a:t>
            </a:r>
            <a:r>
              <a:rPr lang="en-US" sz="2400" dirty="0" err="1"/>
              <a:t>của</a:t>
            </a:r>
            <a:r>
              <a:rPr lang="en-US" sz="2400" dirty="0"/>
              <a:t> </a:t>
            </a:r>
            <a:r>
              <a:rPr lang="en-US" sz="2400" dirty="0" err="1"/>
              <a:t>người</a:t>
            </a:r>
            <a:r>
              <a:rPr lang="en-US" sz="2400" dirty="0"/>
              <a:t> </a:t>
            </a:r>
            <a:r>
              <a:rPr lang="en-US" sz="2400" dirty="0" err="1"/>
              <a:t>điều</a:t>
            </a:r>
            <a:r>
              <a:rPr lang="en-US" sz="2400" dirty="0"/>
              <a:t> </a:t>
            </a:r>
            <a:r>
              <a:rPr lang="en-US" sz="2400" dirty="0" err="1"/>
              <a:t>phối</a:t>
            </a:r>
            <a:r>
              <a:rPr lang="en-US" sz="2400" dirty="0"/>
              <a:t> (facilitator).</a:t>
            </a:r>
          </a:p>
          <a:p>
            <a:pPr lvl="0"/>
            <a:r>
              <a:rPr lang="en-US" sz="2400" b="1" dirty="0" smtClean="0"/>
              <a:t>-</a:t>
            </a:r>
            <a:r>
              <a:rPr lang="en-US" sz="2400" b="1" dirty="0" err="1" smtClean="0"/>
              <a:t>Xung</a:t>
            </a:r>
            <a:r>
              <a:rPr lang="en-US" sz="2400" b="1" dirty="0" smtClean="0"/>
              <a:t> </a:t>
            </a:r>
            <a:r>
              <a:rPr lang="en-US" sz="2400" b="1" dirty="0" err="1"/>
              <a:t>đột</a:t>
            </a:r>
            <a:r>
              <a:rPr lang="en-US" sz="2400" b="1" dirty="0"/>
              <a:t> </a:t>
            </a:r>
            <a:r>
              <a:rPr lang="en-US" sz="2400" b="1" dirty="0" err="1"/>
              <a:t>giữa</a:t>
            </a:r>
            <a:r>
              <a:rPr lang="en-US" sz="2400" b="1" dirty="0"/>
              <a:t> </a:t>
            </a:r>
            <a:r>
              <a:rPr lang="en-US" sz="2400" b="1" dirty="0" err="1"/>
              <a:t>các</a:t>
            </a:r>
            <a:r>
              <a:rPr lang="en-US" sz="2400" b="1" dirty="0"/>
              <a:t> </a:t>
            </a:r>
            <a:r>
              <a:rPr lang="en-US" sz="2400" b="1" dirty="0" err="1"/>
              <a:t>bên</a:t>
            </a:r>
            <a:r>
              <a:rPr lang="en-US" sz="2400" dirty="0"/>
              <a:t>: </a:t>
            </a:r>
            <a:r>
              <a:rPr lang="en-US" sz="2400" dirty="0" err="1"/>
              <a:t>Quan</a:t>
            </a:r>
            <a:r>
              <a:rPr lang="en-US" sz="2400" dirty="0"/>
              <a:t> </a:t>
            </a:r>
            <a:r>
              <a:rPr lang="en-US" sz="2400" dirty="0" err="1"/>
              <a:t>điểm</a:t>
            </a:r>
            <a:r>
              <a:rPr lang="en-US" sz="2400" dirty="0"/>
              <a:t> </a:t>
            </a:r>
            <a:r>
              <a:rPr lang="en-US" sz="2400" dirty="0" err="1"/>
              <a:t>khác</a:t>
            </a:r>
            <a:r>
              <a:rPr lang="en-US" sz="2400" dirty="0"/>
              <a:t> </a:t>
            </a:r>
            <a:r>
              <a:rPr lang="en-US" sz="2400" dirty="0" err="1"/>
              <a:t>nhau</a:t>
            </a:r>
            <a:r>
              <a:rPr lang="en-US" sz="2400" dirty="0"/>
              <a:t> </a:t>
            </a:r>
            <a:r>
              <a:rPr lang="en-US" sz="2400" dirty="0" err="1"/>
              <a:t>có</a:t>
            </a:r>
            <a:r>
              <a:rPr lang="en-US" sz="2400" dirty="0"/>
              <a:t> </a:t>
            </a:r>
            <a:r>
              <a:rPr lang="en-US" sz="2400" dirty="0" err="1"/>
              <a:t>thể</a:t>
            </a:r>
            <a:r>
              <a:rPr lang="en-US" sz="2400" dirty="0"/>
              <a:t> </a:t>
            </a:r>
            <a:r>
              <a:rPr lang="en-US" sz="2400" dirty="0" err="1"/>
              <a:t>gây</a:t>
            </a:r>
            <a:r>
              <a:rPr lang="en-US" sz="2400" dirty="0"/>
              <a:t> </a:t>
            </a:r>
            <a:r>
              <a:rPr lang="en-US" sz="2400" dirty="0" err="1"/>
              <a:t>xung</a:t>
            </a:r>
            <a:r>
              <a:rPr lang="en-US" sz="2400" dirty="0"/>
              <a:t> </a:t>
            </a:r>
            <a:r>
              <a:rPr lang="en-US" sz="2400" dirty="0" err="1"/>
              <a:t>đột</a:t>
            </a:r>
            <a:r>
              <a:rPr lang="en-US" sz="2400" dirty="0"/>
              <a:t>, </a:t>
            </a:r>
            <a:r>
              <a:rPr lang="en-US" sz="2400" dirty="0" err="1"/>
              <a:t>làm</a:t>
            </a:r>
            <a:r>
              <a:rPr lang="en-US" sz="2400" dirty="0"/>
              <a:t> </a:t>
            </a:r>
            <a:r>
              <a:rPr lang="en-US" sz="2400" dirty="0" err="1"/>
              <a:t>chậm</a:t>
            </a:r>
            <a:r>
              <a:rPr lang="en-US" sz="2400" dirty="0"/>
              <a:t> </a:t>
            </a:r>
            <a:r>
              <a:rPr lang="en-US" sz="2400" dirty="0" err="1"/>
              <a:t>quá</a:t>
            </a:r>
            <a:r>
              <a:rPr lang="en-US" sz="2400" dirty="0"/>
              <a:t> </a:t>
            </a:r>
            <a:r>
              <a:rPr lang="en-US" sz="2400" dirty="0" err="1"/>
              <a:t>trình</a:t>
            </a:r>
            <a:r>
              <a:rPr lang="en-US" sz="2400" dirty="0"/>
              <a:t>.</a:t>
            </a:r>
          </a:p>
          <a:p>
            <a:pPr lvl="0"/>
            <a:r>
              <a:rPr lang="en-US" sz="2400" b="1" dirty="0" smtClean="0"/>
              <a:t>-</a:t>
            </a:r>
            <a:r>
              <a:rPr lang="en-US" sz="2400" b="1" dirty="0" err="1" smtClean="0"/>
              <a:t>Không</a:t>
            </a:r>
            <a:r>
              <a:rPr lang="en-US" sz="2400" b="1" dirty="0" smtClean="0"/>
              <a:t> </a:t>
            </a:r>
            <a:r>
              <a:rPr lang="en-US" sz="2400" b="1" dirty="0" err="1"/>
              <a:t>phù</a:t>
            </a:r>
            <a:r>
              <a:rPr lang="en-US" sz="2400" b="1" dirty="0"/>
              <a:t> </a:t>
            </a:r>
            <a:r>
              <a:rPr lang="en-US" sz="2400" b="1" dirty="0" err="1"/>
              <a:t>hợp</a:t>
            </a:r>
            <a:r>
              <a:rPr lang="en-US" sz="2400" b="1" dirty="0"/>
              <a:t> </a:t>
            </a:r>
            <a:r>
              <a:rPr lang="en-US" sz="2400" b="1" dirty="0" err="1"/>
              <a:t>với</a:t>
            </a:r>
            <a:r>
              <a:rPr lang="en-US" sz="2400" b="1" dirty="0"/>
              <a:t> </a:t>
            </a:r>
            <a:r>
              <a:rPr lang="en-US" sz="2400" b="1" dirty="0" err="1"/>
              <a:t>dự</a:t>
            </a:r>
            <a:r>
              <a:rPr lang="en-US" sz="2400" b="1" dirty="0"/>
              <a:t> </a:t>
            </a:r>
            <a:r>
              <a:rPr lang="en-US" sz="2400" b="1" dirty="0" err="1"/>
              <a:t>án</a:t>
            </a:r>
            <a:r>
              <a:rPr lang="en-US" sz="2400" b="1" dirty="0"/>
              <a:t> </a:t>
            </a:r>
            <a:r>
              <a:rPr lang="en-US" sz="2400" b="1" dirty="0" err="1"/>
              <a:t>nhỏ</a:t>
            </a:r>
            <a:r>
              <a:rPr lang="en-US" sz="2400" dirty="0"/>
              <a:t>: </a:t>
            </a:r>
            <a:r>
              <a:rPr lang="en-US" sz="2400" dirty="0" err="1"/>
              <a:t>Với</a:t>
            </a:r>
            <a:r>
              <a:rPr lang="en-US" sz="2400" dirty="0"/>
              <a:t> </a:t>
            </a:r>
            <a:r>
              <a:rPr lang="en-US" sz="2400" dirty="0" err="1"/>
              <a:t>các</a:t>
            </a:r>
            <a:r>
              <a:rPr lang="en-US" sz="2400" dirty="0"/>
              <a:t> </a:t>
            </a:r>
            <a:r>
              <a:rPr lang="en-US" sz="2400" dirty="0" err="1"/>
              <a:t>dự</a:t>
            </a:r>
            <a:r>
              <a:rPr lang="en-US" sz="2400" dirty="0"/>
              <a:t> </a:t>
            </a:r>
            <a:r>
              <a:rPr lang="en-US" sz="2400" dirty="0" err="1"/>
              <a:t>án</a:t>
            </a:r>
            <a:r>
              <a:rPr lang="en-US" sz="2400" dirty="0"/>
              <a:t> </a:t>
            </a:r>
            <a:r>
              <a:rPr lang="en-US" sz="2400" dirty="0" err="1"/>
              <a:t>nhỏ</a:t>
            </a:r>
            <a:r>
              <a:rPr lang="en-US" sz="2400" dirty="0"/>
              <a:t> </a:t>
            </a:r>
            <a:r>
              <a:rPr lang="en-US" sz="2400" dirty="0" err="1"/>
              <a:t>hoặc</a:t>
            </a:r>
            <a:r>
              <a:rPr lang="en-US" sz="2400" dirty="0"/>
              <a:t> </a:t>
            </a:r>
            <a:r>
              <a:rPr lang="en-US" sz="2400" dirty="0" err="1"/>
              <a:t>đơn</a:t>
            </a:r>
            <a:r>
              <a:rPr lang="en-US" sz="2400" dirty="0"/>
              <a:t> </a:t>
            </a:r>
            <a:r>
              <a:rPr lang="en-US" sz="2400" dirty="0" err="1"/>
              <a:t>giản</a:t>
            </a:r>
            <a:r>
              <a:rPr lang="en-US" sz="2400" dirty="0"/>
              <a:t>, JAD </a:t>
            </a:r>
            <a:r>
              <a:rPr lang="en-US" sz="2400" dirty="0" err="1"/>
              <a:t>có</a:t>
            </a:r>
            <a:r>
              <a:rPr lang="en-US" sz="2400" dirty="0"/>
              <a:t> </a:t>
            </a:r>
            <a:r>
              <a:rPr lang="en-US" sz="2400" dirty="0" err="1"/>
              <a:t>thể</a:t>
            </a:r>
            <a:r>
              <a:rPr lang="en-US" sz="2400" dirty="0"/>
              <a:t> </a:t>
            </a:r>
            <a:r>
              <a:rPr lang="en-US" sz="2400" dirty="0" err="1"/>
              <a:t>không</a:t>
            </a:r>
            <a:r>
              <a:rPr lang="en-US" sz="2400" dirty="0"/>
              <a:t> </a:t>
            </a:r>
            <a:r>
              <a:rPr lang="en-US" sz="2400" dirty="0" err="1"/>
              <a:t>cần</a:t>
            </a:r>
            <a:r>
              <a:rPr lang="en-US" sz="2400" dirty="0"/>
              <a:t> </a:t>
            </a:r>
            <a:r>
              <a:rPr lang="en-US" sz="2400" dirty="0" err="1"/>
              <a:t>thiết</a:t>
            </a:r>
            <a:r>
              <a:rPr lang="en-US" sz="2400" dirty="0"/>
              <a:t>.</a:t>
            </a:r>
          </a:p>
          <a:p>
            <a:endParaRPr lang="en-US" sz="2400" dirty="0"/>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barn(inVertical)">
                                      <p:cBhvr>
                                        <p:cTn id="14" dur="500"/>
                                        <p:tgtEl>
                                          <p:spTgt spid="3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1000"/>
                                        <p:tgtEl>
                                          <p:spTgt spid="33"/>
                                        </p:tgtEl>
                                      </p:cBhvr>
                                    </p:animEffect>
                                    <p:anim calcmode="lin" valueType="num">
                                      <p:cBhvr>
                                        <p:cTn id="20" dur="1000" fill="hold"/>
                                        <p:tgtEl>
                                          <p:spTgt spid="33"/>
                                        </p:tgtEl>
                                        <p:attrNameLst>
                                          <p:attrName>ppt_x</p:attrName>
                                        </p:attrNameLst>
                                      </p:cBhvr>
                                      <p:tavLst>
                                        <p:tav tm="0">
                                          <p:val>
                                            <p:strVal val="#ppt_x"/>
                                          </p:val>
                                        </p:tav>
                                        <p:tav tm="100000">
                                          <p:val>
                                            <p:strVal val="#ppt_x"/>
                                          </p:val>
                                        </p:tav>
                                      </p:tavLst>
                                    </p:anim>
                                    <p:anim calcmode="lin" valueType="num">
                                      <p:cBhvr>
                                        <p:cTn id="21"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barn(inVertical)">
                                      <p:cBhvr>
                                        <p:cTn id="2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452699" cy="10287000"/>
            <a:chOff x="0" y="0"/>
            <a:chExt cx="1699476" cy="2709333"/>
          </a:xfrm>
        </p:grpSpPr>
        <p:sp>
          <p:nvSpPr>
            <p:cNvPr id="3" name="Freeform 3"/>
            <p:cNvSpPr/>
            <p:nvPr/>
          </p:nvSpPr>
          <p:spPr>
            <a:xfrm>
              <a:off x="0" y="0"/>
              <a:ext cx="1699476" cy="2709333"/>
            </a:xfrm>
            <a:custGeom>
              <a:avLst/>
              <a:gdLst/>
              <a:ahLst/>
              <a:cxnLst/>
              <a:rect l="l" t="t" r="r" b="b"/>
              <a:pathLst>
                <a:path w="1699476" h="2709333">
                  <a:moveTo>
                    <a:pt x="0" y="0"/>
                  </a:moveTo>
                  <a:lnTo>
                    <a:pt x="1699476" y="0"/>
                  </a:lnTo>
                  <a:lnTo>
                    <a:pt x="1699476" y="2709333"/>
                  </a:lnTo>
                  <a:lnTo>
                    <a:pt x="0" y="2709333"/>
                  </a:lnTo>
                  <a:close/>
                </a:path>
              </a:pathLst>
            </a:custGeom>
            <a:solidFill>
              <a:srgbClr val="B2E6E6"/>
            </a:solidFill>
          </p:spPr>
        </p:sp>
        <p:sp>
          <p:nvSpPr>
            <p:cNvPr id="4" name="TextBox 4"/>
            <p:cNvSpPr txBox="1"/>
            <p:nvPr/>
          </p:nvSpPr>
          <p:spPr>
            <a:xfrm>
              <a:off x="0" y="-38100"/>
              <a:ext cx="1699476" cy="2747433"/>
            </a:xfrm>
            <a:prstGeom prst="rect">
              <a:avLst/>
            </a:prstGeom>
          </p:spPr>
          <p:txBody>
            <a:bodyPr lIns="50800" tIns="50800" rIns="50800" bIns="50800" rtlCol="0" anchor="ctr"/>
            <a:lstStyle/>
            <a:p>
              <a:pPr algn="ctr">
                <a:lnSpc>
                  <a:spcPts val="3499"/>
                </a:lnSpc>
              </a:pPr>
              <a:endParaRPr/>
            </a:p>
          </p:txBody>
        </p:sp>
      </p:grpSp>
      <p:sp>
        <p:nvSpPr>
          <p:cNvPr id="5" name="Freeform 5"/>
          <p:cNvSpPr/>
          <p:nvPr/>
        </p:nvSpPr>
        <p:spPr>
          <a:xfrm rot="-9157943">
            <a:off x="5601400" y="-1528807"/>
            <a:ext cx="3140040" cy="3057614"/>
          </a:xfrm>
          <a:custGeom>
            <a:avLst/>
            <a:gdLst/>
            <a:ahLst/>
            <a:cxnLst/>
            <a:rect l="l" t="t" r="r" b="b"/>
            <a:pathLst>
              <a:path w="3140040" h="3057614">
                <a:moveTo>
                  <a:pt x="0" y="0"/>
                </a:moveTo>
                <a:lnTo>
                  <a:pt x="3140040" y="0"/>
                </a:lnTo>
                <a:lnTo>
                  <a:pt x="3140040" y="3057614"/>
                </a:lnTo>
                <a:lnTo>
                  <a:pt x="0" y="3057614"/>
                </a:lnTo>
                <a:lnTo>
                  <a:pt x="0" y="0"/>
                </a:lnTo>
                <a:close/>
              </a:path>
            </a:pathLst>
          </a:custGeom>
          <a:blipFill>
            <a:blip r:embed="rId2"/>
            <a:stretch>
              <a:fillRect/>
            </a:stretch>
          </a:blipFill>
        </p:spPr>
      </p:sp>
      <p:sp>
        <p:nvSpPr>
          <p:cNvPr id="9" name="Freeform 9"/>
          <p:cNvSpPr/>
          <p:nvPr/>
        </p:nvSpPr>
        <p:spPr>
          <a:xfrm rot="128118">
            <a:off x="11188102" y="529181"/>
            <a:ext cx="2759174" cy="2686746"/>
          </a:xfrm>
          <a:custGeom>
            <a:avLst/>
            <a:gdLst/>
            <a:ahLst/>
            <a:cxnLst/>
            <a:rect l="l" t="t" r="r" b="b"/>
            <a:pathLst>
              <a:path w="2759174" h="2686746">
                <a:moveTo>
                  <a:pt x="0" y="0"/>
                </a:moveTo>
                <a:lnTo>
                  <a:pt x="2759174" y="0"/>
                </a:lnTo>
                <a:lnTo>
                  <a:pt x="2759174" y="2686745"/>
                </a:lnTo>
                <a:lnTo>
                  <a:pt x="0" y="2686745"/>
                </a:lnTo>
                <a:lnTo>
                  <a:pt x="0" y="0"/>
                </a:lnTo>
                <a:close/>
              </a:path>
            </a:pathLst>
          </a:custGeom>
          <a:blipFill>
            <a:blip r:embed="rId2">
              <a:alphaModFix amt="84000"/>
            </a:blip>
            <a:stretch>
              <a:fillRect/>
            </a:stretch>
          </a:blipFill>
        </p:spPr>
      </p:sp>
      <p:sp>
        <p:nvSpPr>
          <p:cNvPr id="10" name="Freeform 10"/>
          <p:cNvSpPr/>
          <p:nvPr/>
        </p:nvSpPr>
        <p:spPr>
          <a:xfrm rot="-5743415">
            <a:off x="15335282" y="-895540"/>
            <a:ext cx="2124421" cy="2068655"/>
          </a:xfrm>
          <a:custGeom>
            <a:avLst/>
            <a:gdLst/>
            <a:ahLst/>
            <a:cxnLst/>
            <a:rect l="l" t="t" r="r" b="b"/>
            <a:pathLst>
              <a:path w="2124421" h="2068655">
                <a:moveTo>
                  <a:pt x="0" y="0"/>
                </a:moveTo>
                <a:lnTo>
                  <a:pt x="2124421" y="0"/>
                </a:lnTo>
                <a:lnTo>
                  <a:pt x="2124421" y="2068656"/>
                </a:lnTo>
                <a:lnTo>
                  <a:pt x="0" y="2068656"/>
                </a:lnTo>
                <a:lnTo>
                  <a:pt x="0" y="0"/>
                </a:lnTo>
                <a:close/>
              </a:path>
            </a:pathLst>
          </a:custGeom>
          <a:blipFill>
            <a:blip r:embed="rId2">
              <a:alphaModFix amt="82000"/>
            </a:blip>
            <a:stretch>
              <a:fillRect/>
            </a:stretch>
          </a:blipFill>
        </p:spPr>
      </p:sp>
      <p:grpSp>
        <p:nvGrpSpPr>
          <p:cNvPr id="11" name="Group 11"/>
          <p:cNvGrpSpPr/>
          <p:nvPr/>
        </p:nvGrpSpPr>
        <p:grpSpPr>
          <a:xfrm>
            <a:off x="7434771" y="2079431"/>
            <a:ext cx="9824529" cy="3929812"/>
            <a:chOff x="0" y="0"/>
            <a:chExt cx="6350000" cy="2540000"/>
          </a:xfrm>
        </p:grpSpPr>
        <p:sp>
          <p:nvSpPr>
            <p:cNvPr id="12" name="Freeform 12"/>
            <p:cNvSpPr/>
            <p:nvPr/>
          </p:nvSpPr>
          <p:spPr>
            <a:xfrm>
              <a:off x="0" y="0"/>
              <a:ext cx="6350000" cy="2540000"/>
            </a:xfrm>
            <a:custGeom>
              <a:avLst/>
              <a:gdLst/>
              <a:ahLst/>
              <a:cxnLst/>
              <a:rect l="l" t="t" r="r" b="b"/>
              <a:pathLst>
                <a:path w="6350000" h="2540000">
                  <a:moveTo>
                    <a:pt x="0" y="2159000"/>
                  </a:moveTo>
                  <a:lnTo>
                    <a:pt x="0" y="381000"/>
                  </a:lnTo>
                  <a:cubicBezTo>
                    <a:pt x="0" y="170180"/>
                    <a:pt x="170180" y="0"/>
                    <a:pt x="381000" y="0"/>
                  </a:cubicBezTo>
                  <a:lnTo>
                    <a:pt x="5969000" y="0"/>
                  </a:lnTo>
                  <a:cubicBezTo>
                    <a:pt x="6179820" y="0"/>
                    <a:pt x="6350000" y="170180"/>
                    <a:pt x="6350000" y="381000"/>
                  </a:cubicBezTo>
                  <a:lnTo>
                    <a:pt x="6350000" y="2159000"/>
                  </a:lnTo>
                  <a:cubicBezTo>
                    <a:pt x="6350000" y="2369820"/>
                    <a:pt x="6179820" y="2540000"/>
                    <a:pt x="5969000" y="2540000"/>
                  </a:cubicBezTo>
                  <a:lnTo>
                    <a:pt x="381000" y="2540000"/>
                  </a:lnTo>
                  <a:cubicBezTo>
                    <a:pt x="170180" y="2540000"/>
                    <a:pt x="0" y="2369820"/>
                    <a:pt x="0" y="2159000"/>
                  </a:cubicBezTo>
                  <a:close/>
                </a:path>
              </a:pathLst>
            </a:custGeom>
            <a:blipFill>
              <a:blip r:embed="rId3"/>
              <a:stretch>
                <a:fillRect t="-27904" b="-38762"/>
              </a:stretch>
            </a:blipFill>
          </p:spPr>
        </p:sp>
      </p:grpSp>
      <p:sp>
        <p:nvSpPr>
          <p:cNvPr id="13" name="TextBox 13"/>
          <p:cNvSpPr txBox="1"/>
          <p:nvPr/>
        </p:nvSpPr>
        <p:spPr>
          <a:xfrm>
            <a:off x="1127521" y="4454656"/>
            <a:ext cx="4197656" cy="1095375"/>
          </a:xfrm>
          <a:prstGeom prst="rect">
            <a:avLst/>
          </a:prstGeom>
        </p:spPr>
        <p:txBody>
          <a:bodyPr lIns="0" tIns="0" rIns="0" bIns="0" rtlCol="0" anchor="t">
            <a:spAutoFit/>
          </a:bodyPr>
          <a:lstStyle/>
          <a:p>
            <a:pPr marL="0" lvl="0" indent="0" algn="ctr">
              <a:lnSpc>
                <a:spcPts val="8640"/>
              </a:lnSpc>
              <a:spcBef>
                <a:spcPct val="0"/>
              </a:spcBef>
            </a:pPr>
            <a:r>
              <a:rPr lang="en-US" sz="7200" spc="-144">
                <a:solidFill>
                  <a:srgbClr val="3C3C3D"/>
                </a:solidFill>
                <a:latin typeface="Cabin"/>
                <a:ea typeface="Cabin"/>
                <a:cs typeface="Cabin"/>
                <a:sym typeface="Cabin"/>
              </a:rPr>
              <a:t>Các Kênh</a:t>
            </a:r>
          </a:p>
        </p:txBody>
      </p:sp>
      <p:grpSp>
        <p:nvGrpSpPr>
          <p:cNvPr id="14" name="Group 14"/>
          <p:cNvGrpSpPr/>
          <p:nvPr/>
        </p:nvGrpSpPr>
        <p:grpSpPr>
          <a:xfrm>
            <a:off x="2094288" y="1028700"/>
            <a:ext cx="2980047" cy="540312"/>
            <a:chOff x="0" y="0"/>
            <a:chExt cx="3973396" cy="720416"/>
          </a:xfrm>
        </p:grpSpPr>
        <p:sp>
          <p:nvSpPr>
            <p:cNvPr id="15" name="Freeform 15"/>
            <p:cNvSpPr/>
            <p:nvPr/>
          </p:nvSpPr>
          <p:spPr>
            <a:xfrm>
              <a:off x="0" y="0"/>
              <a:ext cx="615628" cy="720416"/>
            </a:xfrm>
            <a:custGeom>
              <a:avLst/>
              <a:gdLst/>
              <a:ahLst/>
              <a:cxnLst/>
              <a:rect l="l" t="t" r="r" b="b"/>
              <a:pathLst>
                <a:path w="615628" h="720416">
                  <a:moveTo>
                    <a:pt x="0" y="0"/>
                  </a:moveTo>
                  <a:lnTo>
                    <a:pt x="615628" y="0"/>
                  </a:lnTo>
                  <a:lnTo>
                    <a:pt x="615628" y="720416"/>
                  </a:lnTo>
                  <a:lnTo>
                    <a:pt x="0" y="720416"/>
                  </a:lnTo>
                  <a:lnTo>
                    <a:pt x="0" y="0"/>
                  </a:lnTo>
                  <a:close/>
                </a:path>
              </a:pathLst>
            </a:custGeom>
            <a:blipFill>
              <a:blip r:embed="rId4">
                <a:extLst>
                  <a:ext uri="{96DAC541-7B7A-43D3-8B79-37D633B846F1}">
                    <asvg:svgBlip xmlns="" xmlns:asvg="http://schemas.microsoft.com/office/drawing/2016/SVG/main" r:embed="rId6"/>
                  </a:ext>
                </a:extLst>
              </a:blip>
              <a:stretch>
                <a:fillRect/>
              </a:stretch>
            </a:blipFill>
          </p:spPr>
        </p:sp>
        <p:sp>
          <p:nvSpPr>
            <p:cNvPr id="16" name="TextBox 16"/>
            <p:cNvSpPr txBox="1"/>
            <p:nvPr/>
          </p:nvSpPr>
          <p:spPr>
            <a:xfrm>
              <a:off x="858683" y="190260"/>
              <a:ext cx="3114713" cy="311321"/>
            </a:xfrm>
            <a:prstGeom prst="rect">
              <a:avLst/>
            </a:prstGeom>
          </p:spPr>
          <p:txBody>
            <a:bodyPr lIns="0" tIns="0" rIns="0" bIns="0" rtlCol="0" anchor="t">
              <a:spAutoFit/>
            </a:bodyPr>
            <a:lstStyle/>
            <a:p>
              <a:pPr algn="l">
                <a:lnSpc>
                  <a:spcPts val="1961"/>
                </a:lnSpc>
                <a:spcBef>
                  <a:spcPct val="0"/>
                </a:spcBef>
              </a:pPr>
              <a:r>
                <a:rPr lang="en-US" sz="1401" b="1">
                  <a:solidFill>
                    <a:srgbClr val="3C3C3D"/>
                  </a:solidFill>
                  <a:latin typeface="Cabin Medium"/>
                  <a:ea typeface="Cabin Medium"/>
                  <a:cs typeface="Cabin Medium"/>
                  <a:sym typeface="Cabin Medium"/>
                </a:rPr>
                <a:t>THÊM TÊN CÔNG TY</a:t>
              </a:r>
            </a:p>
          </p:txBody>
        </p:sp>
      </p:grpSp>
      <p:grpSp>
        <p:nvGrpSpPr>
          <p:cNvPr id="17" name="Group 17"/>
          <p:cNvGrpSpPr/>
          <p:nvPr/>
        </p:nvGrpSpPr>
        <p:grpSpPr>
          <a:xfrm>
            <a:off x="7434771" y="6716231"/>
            <a:ext cx="2973448" cy="1716747"/>
            <a:chOff x="0" y="0"/>
            <a:chExt cx="3964598" cy="2288996"/>
          </a:xfrm>
        </p:grpSpPr>
        <p:sp>
          <p:nvSpPr>
            <p:cNvPr id="18" name="TextBox 18"/>
            <p:cNvSpPr txBox="1"/>
            <p:nvPr/>
          </p:nvSpPr>
          <p:spPr>
            <a:xfrm>
              <a:off x="0" y="1473656"/>
              <a:ext cx="3964598" cy="815340"/>
            </a:xfrm>
            <a:prstGeom prst="rect">
              <a:avLst/>
            </a:prstGeom>
          </p:spPr>
          <p:txBody>
            <a:bodyPr lIns="0" tIns="0" rIns="0" bIns="0" rtlCol="0" anchor="t">
              <a:spAutoFit/>
            </a:bodyPr>
            <a:lstStyle/>
            <a:p>
              <a:pPr algn="l">
                <a:lnSpc>
                  <a:spcPts val="2520"/>
                </a:lnSpc>
              </a:pPr>
              <a:r>
                <a:rPr lang="en-US" sz="1800">
                  <a:solidFill>
                    <a:srgbClr val="3C3C3D"/>
                  </a:solidFill>
                  <a:latin typeface="Cabin"/>
                  <a:ea typeface="Cabin"/>
                  <a:cs typeface="Cabin"/>
                  <a:sym typeface="Cabin"/>
                </a:rPr>
                <a:t>Bạn sẽ tiếp cận khách hàng mục tiêu như thế nào?</a:t>
              </a:r>
            </a:p>
          </p:txBody>
        </p:sp>
        <p:sp>
          <p:nvSpPr>
            <p:cNvPr id="19" name="TextBox 19"/>
            <p:cNvSpPr txBox="1"/>
            <p:nvPr/>
          </p:nvSpPr>
          <p:spPr>
            <a:xfrm>
              <a:off x="0" y="0"/>
              <a:ext cx="3964598" cy="1117600"/>
            </a:xfrm>
            <a:prstGeom prst="rect">
              <a:avLst/>
            </a:prstGeom>
          </p:spPr>
          <p:txBody>
            <a:bodyPr lIns="0" tIns="0" rIns="0" bIns="0" rtlCol="0" anchor="t">
              <a:spAutoFit/>
            </a:bodyPr>
            <a:lstStyle/>
            <a:p>
              <a:pPr algn="l">
                <a:lnSpc>
                  <a:spcPts val="3359"/>
                </a:lnSpc>
              </a:pPr>
              <a:r>
                <a:rPr lang="en-US" sz="2799" b="1">
                  <a:solidFill>
                    <a:srgbClr val="3C3C3D"/>
                  </a:solidFill>
                  <a:latin typeface="Cabin Medium"/>
                  <a:ea typeface="Cabin Medium"/>
                  <a:cs typeface="Cabin Medium"/>
                  <a:sym typeface="Cabin Medium"/>
                </a:rPr>
                <a:t>Kênh</a:t>
              </a:r>
            </a:p>
            <a:p>
              <a:pPr algn="l">
                <a:lnSpc>
                  <a:spcPts val="3359"/>
                </a:lnSpc>
              </a:pPr>
              <a:r>
                <a:rPr lang="en-US" sz="2799" b="1">
                  <a:solidFill>
                    <a:srgbClr val="3C3C3D"/>
                  </a:solidFill>
                  <a:latin typeface="Cabin Medium"/>
                  <a:ea typeface="Cabin Medium"/>
                  <a:cs typeface="Cabin Medium"/>
                  <a:sym typeface="Cabin Medium"/>
                </a:rPr>
                <a:t>Tiếp thị 1</a:t>
              </a:r>
            </a:p>
          </p:txBody>
        </p:sp>
      </p:grpSp>
      <p:grpSp>
        <p:nvGrpSpPr>
          <p:cNvPr id="20" name="Group 20"/>
          <p:cNvGrpSpPr/>
          <p:nvPr/>
        </p:nvGrpSpPr>
        <p:grpSpPr>
          <a:xfrm>
            <a:off x="10860311" y="6716231"/>
            <a:ext cx="2973448" cy="1716747"/>
            <a:chOff x="0" y="0"/>
            <a:chExt cx="3964598" cy="2288996"/>
          </a:xfrm>
        </p:grpSpPr>
        <p:sp>
          <p:nvSpPr>
            <p:cNvPr id="21" name="TextBox 21"/>
            <p:cNvSpPr txBox="1"/>
            <p:nvPr/>
          </p:nvSpPr>
          <p:spPr>
            <a:xfrm>
              <a:off x="0" y="1473656"/>
              <a:ext cx="3964598" cy="815340"/>
            </a:xfrm>
            <a:prstGeom prst="rect">
              <a:avLst/>
            </a:prstGeom>
          </p:spPr>
          <p:txBody>
            <a:bodyPr lIns="0" tIns="0" rIns="0" bIns="0" rtlCol="0" anchor="t">
              <a:spAutoFit/>
            </a:bodyPr>
            <a:lstStyle/>
            <a:p>
              <a:pPr algn="l">
                <a:lnSpc>
                  <a:spcPts val="2520"/>
                </a:lnSpc>
              </a:pPr>
              <a:r>
                <a:rPr lang="en-US" sz="1800">
                  <a:solidFill>
                    <a:srgbClr val="3C3C3D"/>
                  </a:solidFill>
                  <a:latin typeface="Cabin"/>
                  <a:ea typeface="Cabin"/>
                  <a:cs typeface="Cabin"/>
                  <a:sym typeface="Cabin"/>
                </a:rPr>
                <a:t>Bạn sẽ tiếp cận khách hàng mục tiêu như thế nào?</a:t>
              </a:r>
            </a:p>
          </p:txBody>
        </p:sp>
        <p:sp>
          <p:nvSpPr>
            <p:cNvPr id="22" name="TextBox 22"/>
            <p:cNvSpPr txBox="1"/>
            <p:nvPr/>
          </p:nvSpPr>
          <p:spPr>
            <a:xfrm>
              <a:off x="0" y="0"/>
              <a:ext cx="3964598" cy="1117600"/>
            </a:xfrm>
            <a:prstGeom prst="rect">
              <a:avLst/>
            </a:prstGeom>
          </p:spPr>
          <p:txBody>
            <a:bodyPr lIns="0" tIns="0" rIns="0" bIns="0" rtlCol="0" anchor="t">
              <a:spAutoFit/>
            </a:bodyPr>
            <a:lstStyle/>
            <a:p>
              <a:pPr algn="l">
                <a:lnSpc>
                  <a:spcPts val="3359"/>
                </a:lnSpc>
              </a:pPr>
              <a:r>
                <a:rPr lang="en-US" sz="2799" b="1">
                  <a:solidFill>
                    <a:srgbClr val="3C3C3D"/>
                  </a:solidFill>
                  <a:latin typeface="Cabin Medium"/>
                  <a:ea typeface="Cabin Medium"/>
                  <a:cs typeface="Cabin Medium"/>
                  <a:sym typeface="Cabin Medium"/>
                </a:rPr>
                <a:t>Kênh</a:t>
              </a:r>
            </a:p>
            <a:p>
              <a:pPr algn="l">
                <a:lnSpc>
                  <a:spcPts val="3359"/>
                </a:lnSpc>
              </a:pPr>
              <a:r>
                <a:rPr lang="en-US" sz="2799" b="1">
                  <a:solidFill>
                    <a:srgbClr val="3C3C3D"/>
                  </a:solidFill>
                  <a:latin typeface="Cabin Medium"/>
                  <a:ea typeface="Cabin Medium"/>
                  <a:cs typeface="Cabin Medium"/>
                  <a:sym typeface="Cabin Medium"/>
                </a:rPr>
                <a:t>Tiếp thị 2</a:t>
              </a:r>
            </a:p>
          </p:txBody>
        </p:sp>
      </p:grpSp>
      <p:grpSp>
        <p:nvGrpSpPr>
          <p:cNvPr id="23" name="Group 23"/>
          <p:cNvGrpSpPr/>
          <p:nvPr/>
        </p:nvGrpSpPr>
        <p:grpSpPr>
          <a:xfrm>
            <a:off x="14285852" y="6716231"/>
            <a:ext cx="2973448" cy="1716747"/>
            <a:chOff x="0" y="0"/>
            <a:chExt cx="3964598" cy="2288996"/>
          </a:xfrm>
        </p:grpSpPr>
        <p:sp>
          <p:nvSpPr>
            <p:cNvPr id="24" name="TextBox 24"/>
            <p:cNvSpPr txBox="1"/>
            <p:nvPr/>
          </p:nvSpPr>
          <p:spPr>
            <a:xfrm>
              <a:off x="0" y="1473656"/>
              <a:ext cx="3964598" cy="815340"/>
            </a:xfrm>
            <a:prstGeom prst="rect">
              <a:avLst/>
            </a:prstGeom>
          </p:spPr>
          <p:txBody>
            <a:bodyPr lIns="0" tIns="0" rIns="0" bIns="0" rtlCol="0" anchor="t">
              <a:spAutoFit/>
            </a:bodyPr>
            <a:lstStyle/>
            <a:p>
              <a:pPr algn="l">
                <a:lnSpc>
                  <a:spcPts val="2520"/>
                </a:lnSpc>
              </a:pPr>
              <a:r>
                <a:rPr lang="en-US" sz="1800">
                  <a:solidFill>
                    <a:srgbClr val="3C3C3D"/>
                  </a:solidFill>
                  <a:latin typeface="Cabin"/>
                  <a:ea typeface="Cabin"/>
                  <a:cs typeface="Cabin"/>
                  <a:sym typeface="Cabin"/>
                </a:rPr>
                <a:t>Bạn sẽ tiếp cận khách hàng mục tiêu như thế nào?</a:t>
              </a:r>
            </a:p>
          </p:txBody>
        </p:sp>
        <p:sp>
          <p:nvSpPr>
            <p:cNvPr id="25" name="TextBox 25"/>
            <p:cNvSpPr txBox="1"/>
            <p:nvPr/>
          </p:nvSpPr>
          <p:spPr>
            <a:xfrm>
              <a:off x="0" y="0"/>
              <a:ext cx="3964598" cy="1117600"/>
            </a:xfrm>
            <a:prstGeom prst="rect">
              <a:avLst/>
            </a:prstGeom>
          </p:spPr>
          <p:txBody>
            <a:bodyPr lIns="0" tIns="0" rIns="0" bIns="0" rtlCol="0" anchor="t">
              <a:spAutoFit/>
            </a:bodyPr>
            <a:lstStyle/>
            <a:p>
              <a:pPr algn="l">
                <a:lnSpc>
                  <a:spcPts val="3359"/>
                </a:lnSpc>
              </a:pPr>
              <a:r>
                <a:rPr lang="en-US" sz="2799" b="1">
                  <a:solidFill>
                    <a:srgbClr val="3C3C3D"/>
                  </a:solidFill>
                  <a:latin typeface="Cabin Medium"/>
                  <a:ea typeface="Cabin Medium"/>
                  <a:cs typeface="Cabin Medium"/>
                  <a:sym typeface="Cabin Medium"/>
                </a:rPr>
                <a:t>Kênh</a:t>
              </a:r>
            </a:p>
            <a:p>
              <a:pPr algn="l">
                <a:lnSpc>
                  <a:spcPts val="3359"/>
                </a:lnSpc>
              </a:pPr>
              <a:r>
                <a:rPr lang="en-US" sz="2799" b="1">
                  <a:solidFill>
                    <a:srgbClr val="3C3C3D"/>
                  </a:solidFill>
                  <a:latin typeface="Cabin Medium"/>
                  <a:ea typeface="Cabin Medium"/>
                  <a:cs typeface="Cabin Medium"/>
                  <a:sym typeface="Cabin Medium"/>
                </a:rPr>
                <a:t>Tiếp thị 3</a:t>
              </a:r>
            </a:p>
          </p:txBody>
        </p:sp>
      </p:grpSp>
      <p:sp>
        <p:nvSpPr>
          <p:cNvPr id="26" name="Freeform 2"/>
          <p:cNvSpPr/>
          <p:nvPr/>
        </p:nvSpPr>
        <p:spPr>
          <a:xfrm>
            <a:off x="0" y="-72331"/>
            <a:ext cx="18288000" cy="10359331"/>
          </a:xfrm>
          <a:custGeom>
            <a:avLst/>
            <a:gdLst/>
            <a:ahLst/>
            <a:cxnLst/>
            <a:rect l="l" t="t" r="r" b="b"/>
            <a:pathLst>
              <a:path w="19352465" h="10872567">
                <a:moveTo>
                  <a:pt x="0" y="0"/>
                </a:moveTo>
                <a:lnTo>
                  <a:pt x="19352465" y="0"/>
                </a:lnTo>
                <a:lnTo>
                  <a:pt x="19352465" y="10872567"/>
                </a:lnTo>
                <a:lnTo>
                  <a:pt x="0" y="1087256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7" name="TextBox 26"/>
          <p:cNvSpPr txBox="1"/>
          <p:nvPr/>
        </p:nvSpPr>
        <p:spPr>
          <a:xfrm>
            <a:off x="439895" y="376806"/>
            <a:ext cx="14557640" cy="1938992"/>
          </a:xfrm>
          <a:prstGeom prst="rect">
            <a:avLst/>
          </a:prstGeom>
          <a:noFill/>
        </p:spPr>
        <p:txBody>
          <a:bodyPr wrap="none" rtlCol="0">
            <a:spAutoFit/>
          </a:bodyPr>
          <a:lstStyle/>
          <a:p>
            <a:r>
              <a:rPr lang="en-US" sz="6000" b="1" dirty="0"/>
              <a:t>IV.</a:t>
            </a:r>
            <a:r>
              <a:rPr lang="vi-VN" sz="6000" b="1" dirty="0"/>
              <a:t>Ưu điểm và nhược điểm của kỹ thuật</a:t>
            </a:r>
          </a:p>
          <a:p>
            <a:endParaRPr lang="en-US" sz="6000" dirty="0"/>
          </a:p>
        </p:txBody>
      </p:sp>
      <p:sp>
        <p:nvSpPr>
          <p:cNvPr id="28" name="TextBox 27"/>
          <p:cNvSpPr txBox="1"/>
          <p:nvPr/>
        </p:nvSpPr>
        <p:spPr>
          <a:xfrm>
            <a:off x="838200" y="2146200"/>
            <a:ext cx="5312673" cy="1323439"/>
          </a:xfrm>
          <a:prstGeom prst="rect">
            <a:avLst/>
          </a:prstGeom>
          <a:noFill/>
        </p:spPr>
        <p:txBody>
          <a:bodyPr wrap="none" rtlCol="0">
            <a:spAutoFit/>
          </a:bodyPr>
          <a:lstStyle/>
          <a:p>
            <a:r>
              <a:rPr lang="vi-VN" sz="4000" b="1" dirty="0"/>
              <a:t>So sánh JAD và RAD</a:t>
            </a:r>
            <a:endParaRPr lang="en-US" sz="4000" b="1" dirty="0"/>
          </a:p>
          <a:p>
            <a:endParaRPr lang="en-US" sz="4000" dirty="0"/>
          </a:p>
        </p:txBody>
      </p:sp>
      <p:graphicFrame>
        <p:nvGraphicFramePr>
          <p:cNvPr id="30" name="Table 29"/>
          <p:cNvGraphicFramePr>
            <a:graphicFrameLocks noGrp="1"/>
          </p:cNvGraphicFramePr>
          <p:nvPr>
            <p:extLst>
              <p:ext uri="{D42A27DB-BD31-4B8C-83A1-F6EECF244321}">
                <p14:modId xmlns:p14="http://schemas.microsoft.com/office/powerpoint/2010/main" val="795057384"/>
              </p:ext>
            </p:extLst>
          </p:nvPr>
        </p:nvGraphicFramePr>
        <p:xfrm>
          <a:off x="2094288" y="3104601"/>
          <a:ext cx="13983912" cy="3216663"/>
        </p:xfrm>
        <a:graphic>
          <a:graphicData uri="http://schemas.openxmlformats.org/drawingml/2006/table">
            <a:tbl>
              <a:tblPr firstRow="1" bandRow="1">
                <a:tableStyleId>{5940675A-B579-460E-94D1-54222C63F5DA}</a:tableStyleId>
              </a:tblPr>
              <a:tblGrid>
                <a:gridCol w="2401512">
                  <a:extLst>
                    <a:ext uri="{9D8B030D-6E8A-4147-A177-3AD203B41FA5}">
                      <a16:colId xmlns:a16="http://schemas.microsoft.com/office/drawing/2014/main" val="1318510533"/>
                    </a:ext>
                  </a:extLst>
                </a:gridCol>
                <a:gridCol w="6921096">
                  <a:extLst>
                    <a:ext uri="{9D8B030D-6E8A-4147-A177-3AD203B41FA5}">
                      <a16:colId xmlns:a16="http://schemas.microsoft.com/office/drawing/2014/main" val="3211199286"/>
                    </a:ext>
                  </a:extLst>
                </a:gridCol>
                <a:gridCol w="4661304">
                  <a:extLst>
                    <a:ext uri="{9D8B030D-6E8A-4147-A177-3AD203B41FA5}">
                      <a16:colId xmlns:a16="http://schemas.microsoft.com/office/drawing/2014/main" val="175954796"/>
                    </a:ext>
                  </a:extLst>
                </a:gridCol>
              </a:tblGrid>
              <a:tr h="526624">
                <a:tc>
                  <a:txBody>
                    <a:bodyPr/>
                    <a:lstStyle/>
                    <a:p>
                      <a:pPr marL="0" marR="0" algn="ctr">
                        <a:lnSpc>
                          <a:spcPct val="107000"/>
                        </a:lnSpc>
                        <a:spcBef>
                          <a:spcPts val="0"/>
                        </a:spcBef>
                        <a:spcAft>
                          <a:spcPts val="0"/>
                        </a:spcAft>
                      </a:pP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Tiêu</a:t>
                      </a:r>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chí</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JAD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RAD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84366332"/>
                  </a:ext>
                </a:extLst>
              </a:tr>
              <a:tr h="1359875">
                <a:tc>
                  <a:txBody>
                    <a:bodyPr/>
                    <a:lstStyle/>
                    <a:p>
                      <a:pPr marL="0" marR="0" algn="ctr">
                        <a:lnSpc>
                          <a:spcPct val="107000"/>
                        </a:lnSpc>
                        <a:spcBef>
                          <a:spcPts val="0"/>
                        </a:spcBef>
                        <a:spcAft>
                          <a:spcPts val="0"/>
                        </a:spcAft>
                      </a:pP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Ưu</a:t>
                      </a:r>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điểm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07000"/>
                        </a:lnSpc>
                        <a:spcBef>
                          <a:spcPts val="0"/>
                        </a:spcBef>
                        <a:spcAft>
                          <a:spcPts val="0"/>
                        </a:spcAft>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Đảm</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bảo</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yêu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cầu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rõ</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ràng</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chính</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xác</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br>
                        <a:rPr lang="en-US" sz="2400" dirty="0">
                          <a:effectLst/>
                          <a:latin typeface="Times New Roman" panose="02020603050405020304" pitchFamily="18" charset="0"/>
                          <a:ea typeface="SimSun" panose="02010600030101010101" pitchFamily="2" charset="-122"/>
                          <a:cs typeface="Times New Roman" panose="02020603050405020304" pitchFamily="18" charset="0"/>
                        </a:rPr>
                      </a:b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Giảm</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rủi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ro</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hiểu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sai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07000"/>
                        </a:lnSpc>
                        <a:spcBef>
                          <a:spcPts val="0"/>
                        </a:spcBef>
                        <a:spcAft>
                          <a:spcPts val="0"/>
                        </a:spcAft>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Tốc</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độ</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phát</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triển</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nhanh</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br>
                        <a:rPr lang="en-US" sz="2400" dirty="0">
                          <a:effectLst/>
                          <a:latin typeface="Times New Roman" panose="02020603050405020304" pitchFamily="18" charset="0"/>
                          <a:ea typeface="SimSun" panose="02010600030101010101" pitchFamily="2" charset="-122"/>
                          <a:cs typeface="Times New Roman" panose="02020603050405020304" pitchFamily="18" charset="0"/>
                        </a:rPr>
                      </a:b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Thích</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ứng</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với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thay</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đổi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linh</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hoạt</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4751440"/>
                  </a:ext>
                </a:extLst>
              </a:tr>
              <a:tr h="1330164">
                <a:tc>
                  <a:txBody>
                    <a:bodyPr/>
                    <a:lstStyle/>
                    <a:p>
                      <a:pPr marL="0" marR="0" algn="ctr">
                        <a:lnSpc>
                          <a:spcPct val="107000"/>
                        </a:lnSpc>
                        <a:spcBef>
                          <a:spcPts val="0"/>
                        </a:spcBef>
                        <a:spcAft>
                          <a:spcPts val="0"/>
                        </a:spcAft>
                      </a:pP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Nhược</a:t>
                      </a:r>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điểm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07000"/>
                        </a:lnSpc>
                        <a:spcBef>
                          <a:spcPts val="0"/>
                        </a:spcBef>
                        <a:spcAft>
                          <a:spcPts val="0"/>
                        </a:spcAft>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Tốn</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thời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gian</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và</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nguồn</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lực</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trong</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giai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đoạn</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đầu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07000"/>
                        </a:lnSpc>
                        <a:spcBef>
                          <a:spcPts val="0"/>
                        </a:spcBef>
                        <a:spcAft>
                          <a:spcPts val="0"/>
                        </a:spcAft>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Phụ</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thuộc</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vào</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công</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cụ</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và</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tài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nguyên</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br>
                        <a:rPr lang="en-US" sz="2400" dirty="0">
                          <a:effectLst/>
                          <a:latin typeface="Times New Roman" panose="02020603050405020304" pitchFamily="18" charset="0"/>
                          <a:ea typeface="SimSun" panose="02010600030101010101" pitchFamily="2" charset="-122"/>
                          <a:cs typeface="Times New Roman" panose="02020603050405020304" pitchFamily="18" charset="0"/>
                        </a:rPr>
                      </a:b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Có</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thể</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thiếu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chiều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sâu</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40488854"/>
                  </a:ext>
                </a:extLst>
              </a:tr>
            </a:tbl>
          </a:graphicData>
        </a:graphic>
      </p:graphicFrame>
      <p:sp>
        <p:nvSpPr>
          <p:cNvPr id="31" name="TextBox 30"/>
          <p:cNvSpPr txBox="1"/>
          <p:nvPr/>
        </p:nvSpPr>
        <p:spPr>
          <a:xfrm>
            <a:off x="843975" y="6952338"/>
            <a:ext cx="1935145" cy="707886"/>
          </a:xfrm>
          <a:prstGeom prst="rect">
            <a:avLst/>
          </a:prstGeom>
          <a:noFill/>
        </p:spPr>
        <p:txBody>
          <a:bodyPr wrap="none" rtlCol="0">
            <a:spAutoFit/>
          </a:bodyPr>
          <a:lstStyle/>
          <a:p>
            <a:r>
              <a:rPr lang="en-US" sz="4000" b="1" dirty="0" err="1" smtClean="0"/>
              <a:t>Kết</a:t>
            </a:r>
            <a:r>
              <a:rPr lang="en-US" sz="4000" b="1" dirty="0" smtClean="0"/>
              <a:t> </a:t>
            </a:r>
            <a:r>
              <a:rPr lang="en-US" sz="4000" b="1" dirty="0" err="1" smtClean="0"/>
              <a:t>luận</a:t>
            </a:r>
            <a:endParaRPr lang="en-US" sz="4000" b="1" dirty="0"/>
          </a:p>
        </p:txBody>
      </p:sp>
      <p:sp>
        <p:nvSpPr>
          <p:cNvPr id="32" name="TextBox 31"/>
          <p:cNvSpPr txBox="1"/>
          <p:nvPr/>
        </p:nvSpPr>
        <p:spPr>
          <a:xfrm>
            <a:off x="2094287" y="7805442"/>
            <a:ext cx="12903247" cy="1200329"/>
          </a:xfrm>
          <a:prstGeom prst="rect">
            <a:avLst/>
          </a:prstGeom>
          <a:noFill/>
        </p:spPr>
        <p:txBody>
          <a:bodyPr wrap="square" rtlCol="0">
            <a:spAutoFit/>
          </a:bodyPr>
          <a:lstStyle/>
          <a:p>
            <a:r>
              <a:rPr lang="en-US" sz="2400" b="1" dirty="0"/>
              <a:t>JAD</a:t>
            </a:r>
            <a:r>
              <a:rPr lang="en-US" sz="2400" dirty="0"/>
              <a:t>: </a:t>
            </a:r>
            <a:r>
              <a:rPr lang="en-US" sz="2400" dirty="0" err="1"/>
              <a:t>Tập</a:t>
            </a:r>
            <a:r>
              <a:rPr lang="en-US" sz="2400" dirty="0"/>
              <a:t> </a:t>
            </a:r>
            <a:r>
              <a:rPr lang="en-US" sz="2400" dirty="0" err="1"/>
              <a:t>trung</a:t>
            </a:r>
            <a:r>
              <a:rPr lang="en-US" sz="2400" dirty="0"/>
              <a:t> </a:t>
            </a:r>
            <a:r>
              <a:rPr lang="en-US" sz="2400" dirty="0" err="1"/>
              <a:t>vào</a:t>
            </a:r>
            <a:r>
              <a:rPr lang="en-US" sz="2400" dirty="0"/>
              <a:t> </a:t>
            </a:r>
            <a:r>
              <a:rPr lang="en-US" sz="2400" dirty="0" err="1"/>
              <a:t>việc</a:t>
            </a:r>
            <a:r>
              <a:rPr lang="en-US" sz="2400" dirty="0"/>
              <a:t> </a:t>
            </a:r>
            <a:r>
              <a:rPr lang="en-US" sz="2400" dirty="0" err="1"/>
              <a:t>thu</a:t>
            </a:r>
            <a:r>
              <a:rPr lang="en-US" sz="2400" dirty="0"/>
              <a:t> </a:t>
            </a:r>
            <a:r>
              <a:rPr lang="en-US" sz="2400" dirty="0" err="1"/>
              <a:t>thập</a:t>
            </a:r>
            <a:r>
              <a:rPr lang="en-US" sz="2400" dirty="0"/>
              <a:t> </a:t>
            </a:r>
            <a:r>
              <a:rPr lang="en-US" sz="2400" dirty="0" err="1"/>
              <a:t>yêu</a:t>
            </a:r>
            <a:r>
              <a:rPr lang="en-US" sz="2400" dirty="0"/>
              <a:t> </a:t>
            </a:r>
            <a:r>
              <a:rPr lang="en-US" sz="2400" dirty="0" err="1"/>
              <a:t>cầu</a:t>
            </a:r>
            <a:r>
              <a:rPr lang="en-US" sz="2400" dirty="0"/>
              <a:t> </a:t>
            </a:r>
            <a:r>
              <a:rPr lang="en-US" sz="2400" dirty="0" err="1"/>
              <a:t>với</a:t>
            </a:r>
            <a:r>
              <a:rPr lang="en-US" sz="2400" dirty="0"/>
              <a:t> </a:t>
            </a:r>
            <a:r>
              <a:rPr lang="en-US" sz="2400" dirty="0" err="1"/>
              <a:t>độ</a:t>
            </a:r>
            <a:r>
              <a:rPr lang="en-US" sz="2400" dirty="0"/>
              <a:t> </a:t>
            </a:r>
            <a:r>
              <a:rPr lang="en-US" sz="2400" dirty="0" err="1"/>
              <a:t>chính</a:t>
            </a:r>
            <a:r>
              <a:rPr lang="en-US" sz="2400" dirty="0"/>
              <a:t> </a:t>
            </a:r>
            <a:r>
              <a:rPr lang="en-US" sz="2400" dirty="0" err="1"/>
              <a:t>xác</a:t>
            </a:r>
            <a:r>
              <a:rPr lang="en-US" sz="2400" dirty="0"/>
              <a:t> </a:t>
            </a:r>
            <a:r>
              <a:rPr lang="en-US" sz="2400" dirty="0" err="1"/>
              <a:t>cao</a:t>
            </a:r>
            <a:r>
              <a:rPr lang="en-US" sz="2400" dirty="0"/>
              <a:t> </a:t>
            </a:r>
            <a:r>
              <a:rPr lang="en-US" sz="2400" dirty="0" err="1"/>
              <a:t>thông</a:t>
            </a:r>
            <a:r>
              <a:rPr lang="en-US" sz="2400" dirty="0"/>
              <a:t> qua </a:t>
            </a:r>
            <a:r>
              <a:rPr lang="en-US" sz="2400" dirty="0" err="1"/>
              <a:t>sự</a:t>
            </a:r>
            <a:r>
              <a:rPr lang="en-US" sz="2400" dirty="0"/>
              <a:t> </a:t>
            </a:r>
            <a:r>
              <a:rPr lang="en-US" sz="2400" dirty="0" err="1"/>
              <a:t>hợp</a:t>
            </a:r>
            <a:r>
              <a:rPr lang="en-US" sz="2400" dirty="0"/>
              <a:t> </a:t>
            </a:r>
            <a:r>
              <a:rPr lang="en-US" sz="2400" dirty="0" err="1"/>
              <a:t>tác</a:t>
            </a:r>
            <a:r>
              <a:rPr lang="en-US" sz="2400" dirty="0"/>
              <a:t> </a:t>
            </a:r>
            <a:r>
              <a:rPr lang="en-US" sz="2400" dirty="0" err="1"/>
              <a:t>chặt</a:t>
            </a:r>
            <a:r>
              <a:rPr lang="en-US" sz="2400" dirty="0"/>
              <a:t> </a:t>
            </a:r>
            <a:r>
              <a:rPr lang="en-US" sz="2400" dirty="0" err="1"/>
              <a:t>chẽ</a:t>
            </a:r>
            <a:r>
              <a:rPr lang="en-US" sz="2400" dirty="0"/>
              <a:t> </a:t>
            </a:r>
            <a:r>
              <a:rPr lang="en-US" sz="2400" dirty="0" err="1"/>
              <a:t>của</a:t>
            </a:r>
            <a:r>
              <a:rPr lang="en-US" sz="2400" dirty="0"/>
              <a:t> </a:t>
            </a:r>
            <a:r>
              <a:rPr lang="en-US" sz="2400" dirty="0" err="1"/>
              <a:t>các</a:t>
            </a:r>
            <a:r>
              <a:rPr lang="en-US" sz="2400" dirty="0"/>
              <a:t> </a:t>
            </a:r>
            <a:r>
              <a:rPr lang="en-US" sz="2400" dirty="0" err="1"/>
              <a:t>bên</a:t>
            </a:r>
            <a:r>
              <a:rPr lang="en-US" sz="2400" dirty="0"/>
              <a:t> </a:t>
            </a:r>
            <a:r>
              <a:rPr lang="en-US" sz="2400" dirty="0" err="1"/>
              <a:t>liên</a:t>
            </a:r>
            <a:r>
              <a:rPr lang="en-US" sz="2400" dirty="0"/>
              <a:t> </a:t>
            </a:r>
            <a:r>
              <a:rPr lang="en-US" sz="2400" dirty="0" err="1"/>
              <a:t>quan</a:t>
            </a:r>
            <a:r>
              <a:rPr lang="en-US" sz="2400" dirty="0"/>
              <a:t>. </a:t>
            </a:r>
            <a:r>
              <a:rPr lang="en-US" sz="2400" dirty="0" err="1"/>
              <a:t>Phù</a:t>
            </a:r>
            <a:r>
              <a:rPr lang="en-US" sz="2400" dirty="0"/>
              <a:t> </a:t>
            </a:r>
            <a:r>
              <a:rPr lang="en-US" sz="2400" dirty="0" err="1"/>
              <a:t>hợp</a:t>
            </a:r>
            <a:r>
              <a:rPr lang="en-US" sz="2400" dirty="0"/>
              <a:t> </a:t>
            </a:r>
            <a:r>
              <a:rPr lang="en-US" sz="2400" dirty="0" err="1"/>
              <a:t>với</a:t>
            </a:r>
            <a:r>
              <a:rPr lang="en-US" sz="2400" dirty="0"/>
              <a:t> </a:t>
            </a:r>
            <a:r>
              <a:rPr lang="en-US" sz="2400" dirty="0" err="1"/>
              <a:t>dự</a:t>
            </a:r>
            <a:r>
              <a:rPr lang="en-US" sz="2400" dirty="0"/>
              <a:t> </a:t>
            </a:r>
            <a:r>
              <a:rPr lang="en-US" sz="2400" dirty="0" err="1"/>
              <a:t>án</a:t>
            </a:r>
            <a:r>
              <a:rPr lang="en-US" sz="2400" dirty="0"/>
              <a:t> </a:t>
            </a:r>
            <a:r>
              <a:rPr lang="en-US" sz="2400" dirty="0" err="1"/>
              <a:t>yêu</a:t>
            </a:r>
            <a:r>
              <a:rPr lang="en-US" sz="2400" dirty="0"/>
              <a:t> </a:t>
            </a:r>
            <a:r>
              <a:rPr lang="en-US" sz="2400" dirty="0" err="1"/>
              <a:t>cầu</a:t>
            </a:r>
            <a:r>
              <a:rPr lang="en-US" sz="2400" dirty="0"/>
              <a:t> </a:t>
            </a:r>
            <a:r>
              <a:rPr lang="en-US" sz="2400" dirty="0" err="1"/>
              <a:t>rõ</a:t>
            </a:r>
            <a:r>
              <a:rPr lang="en-US" sz="2400" dirty="0"/>
              <a:t> </a:t>
            </a:r>
            <a:r>
              <a:rPr lang="en-US" sz="2400" dirty="0" err="1"/>
              <a:t>ràng</a:t>
            </a:r>
            <a:r>
              <a:rPr lang="en-US" sz="2400" dirty="0"/>
              <a:t>, </a:t>
            </a:r>
            <a:r>
              <a:rPr lang="en-US" sz="2400" dirty="0" err="1"/>
              <a:t>ít</a:t>
            </a:r>
            <a:r>
              <a:rPr lang="en-US" sz="2400" dirty="0"/>
              <a:t> </a:t>
            </a:r>
            <a:r>
              <a:rPr lang="en-US" sz="2400" dirty="0" err="1"/>
              <a:t>thay</a:t>
            </a:r>
            <a:r>
              <a:rPr lang="en-US" sz="2400" dirty="0"/>
              <a:t> </a:t>
            </a:r>
            <a:r>
              <a:rPr lang="en-US" sz="2400" dirty="0" err="1"/>
              <a:t>đổi</a:t>
            </a:r>
            <a:r>
              <a:rPr lang="en-US" sz="2400" dirty="0"/>
              <a:t>.</a:t>
            </a:r>
          </a:p>
          <a:p>
            <a:endParaRPr lang="en-US" sz="2400" dirty="0"/>
          </a:p>
        </p:txBody>
      </p:sp>
      <p:sp>
        <p:nvSpPr>
          <p:cNvPr id="33" name="TextBox 32"/>
          <p:cNvSpPr txBox="1"/>
          <p:nvPr/>
        </p:nvSpPr>
        <p:spPr>
          <a:xfrm>
            <a:off x="2094287" y="8759824"/>
            <a:ext cx="12903245" cy="1200329"/>
          </a:xfrm>
          <a:prstGeom prst="rect">
            <a:avLst/>
          </a:prstGeom>
          <a:noFill/>
        </p:spPr>
        <p:txBody>
          <a:bodyPr wrap="square" rtlCol="0">
            <a:spAutoFit/>
          </a:bodyPr>
          <a:lstStyle/>
          <a:p>
            <a:r>
              <a:rPr lang="en-US" sz="2400" b="1" dirty="0"/>
              <a:t>RAD</a:t>
            </a:r>
            <a:r>
              <a:rPr lang="en-US" sz="2400" dirty="0"/>
              <a:t>: </a:t>
            </a:r>
            <a:r>
              <a:rPr lang="en-US" sz="2400" dirty="0" err="1"/>
              <a:t>Nhấn</a:t>
            </a:r>
            <a:r>
              <a:rPr lang="en-US" sz="2400" dirty="0"/>
              <a:t> </a:t>
            </a:r>
            <a:r>
              <a:rPr lang="en-US" sz="2400" dirty="0" err="1"/>
              <a:t>mạnh</a:t>
            </a:r>
            <a:r>
              <a:rPr lang="en-US" sz="2400" dirty="0"/>
              <a:t> </a:t>
            </a:r>
            <a:r>
              <a:rPr lang="en-US" sz="2400" dirty="0" err="1"/>
              <a:t>tốc</a:t>
            </a:r>
            <a:r>
              <a:rPr lang="en-US" sz="2400" dirty="0"/>
              <a:t> </a:t>
            </a:r>
            <a:r>
              <a:rPr lang="en-US" sz="2400" dirty="0" err="1"/>
              <a:t>độ</a:t>
            </a:r>
            <a:r>
              <a:rPr lang="en-US" sz="2400" dirty="0"/>
              <a:t> </a:t>
            </a:r>
            <a:r>
              <a:rPr lang="en-US" sz="2400" dirty="0" err="1"/>
              <a:t>phát</a:t>
            </a:r>
            <a:r>
              <a:rPr lang="en-US" sz="2400" dirty="0"/>
              <a:t> </a:t>
            </a:r>
            <a:r>
              <a:rPr lang="en-US" sz="2400" dirty="0" err="1"/>
              <a:t>triển</a:t>
            </a:r>
            <a:r>
              <a:rPr lang="en-US" sz="2400" dirty="0"/>
              <a:t> </a:t>
            </a:r>
            <a:r>
              <a:rPr lang="en-US" sz="2400" dirty="0" err="1"/>
              <a:t>và</a:t>
            </a:r>
            <a:r>
              <a:rPr lang="en-US" sz="2400" dirty="0"/>
              <a:t> </a:t>
            </a:r>
            <a:r>
              <a:rPr lang="en-US" sz="2400" dirty="0" err="1"/>
              <a:t>linh</a:t>
            </a:r>
            <a:r>
              <a:rPr lang="en-US" sz="2400" dirty="0"/>
              <a:t> </a:t>
            </a:r>
            <a:r>
              <a:rPr lang="en-US" sz="2400" dirty="0" err="1"/>
              <a:t>hoạt</a:t>
            </a:r>
            <a:r>
              <a:rPr lang="en-US" sz="2400" dirty="0"/>
              <a:t> </a:t>
            </a:r>
            <a:r>
              <a:rPr lang="en-US" sz="2400" dirty="0" err="1"/>
              <a:t>trong</a:t>
            </a:r>
            <a:r>
              <a:rPr lang="en-US" sz="2400" dirty="0"/>
              <a:t> </a:t>
            </a:r>
            <a:r>
              <a:rPr lang="en-US" sz="2400" dirty="0" err="1"/>
              <a:t>việc</a:t>
            </a:r>
            <a:r>
              <a:rPr lang="en-US" sz="2400" dirty="0"/>
              <a:t> </a:t>
            </a:r>
            <a:r>
              <a:rPr lang="en-US" sz="2400" dirty="0" err="1"/>
              <a:t>thay</a:t>
            </a:r>
            <a:r>
              <a:rPr lang="en-US" sz="2400" dirty="0"/>
              <a:t> </a:t>
            </a:r>
            <a:r>
              <a:rPr lang="en-US" sz="2400" dirty="0" err="1"/>
              <a:t>đổi</a:t>
            </a:r>
            <a:r>
              <a:rPr lang="en-US" sz="2400" dirty="0"/>
              <a:t> </a:t>
            </a:r>
            <a:r>
              <a:rPr lang="en-US" sz="2400" dirty="0" err="1"/>
              <a:t>yêu</a:t>
            </a:r>
            <a:r>
              <a:rPr lang="en-US" sz="2400" dirty="0"/>
              <a:t> </a:t>
            </a:r>
            <a:r>
              <a:rPr lang="en-US" sz="2400" dirty="0" err="1"/>
              <a:t>cầu</a:t>
            </a:r>
            <a:r>
              <a:rPr lang="en-US" sz="2400" dirty="0"/>
              <a:t>. </a:t>
            </a:r>
            <a:r>
              <a:rPr lang="en-US" sz="2400" dirty="0" err="1"/>
              <a:t>Phù</a:t>
            </a:r>
            <a:r>
              <a:rPr lang="en-US" sz="2400" dirty="0"/>
              <a:t> </a:t>
            </a:r>
            <a:r>
              <a:rPr lang="en-US" sz="2400" dirty="0" err="1"/>
              <a:t>hợp</a:t>
            </a:r>
            <a:r>
              <a:rPr lang="en-US" sz="2400" dirty="0"/>
              <a:t> </a:t>
            </a:r>
            <a:r>
              <a:rPr lang="en-US" sz="2400" dirty="0" err="1"/>
              <a:t>với</a:t>
            </a:r>
            <a:r>
              <a:rPr lang="en-US" sz="2400" dirty="0"/>
              <a:t> </a:t>
            </a:r>
            <a:r>
              <a:rPr lang="en-US" sz="2400" dirty="0" err="1"/>
              <a:t>dự</a:t>
            </a:r>
            <a:r>
              <a:rPr lang="en-US" sz="2400" dirty="0"/>
              <a:t> </a:t>
            </a:r>
            <a:r>
              <a:rPr lang="en-US" sz="2400" dirty="0" err="1"/>
              <a:t>án</a:t>
            </a:r>
            <a:r>
              <a:rPr lang="en-US" sz="2400" dirty="0"/>
              <a:t> </a:t>
            </a:r>
            <a:r>
              <a:rPr lang="en-US" sz="2400" dirty="0" err="1"/>
              <a:t>cần</a:t>
            </a:r>
            <a:r>
              <a:rPr lang="en-US" sz="2400" dirty="0"/>
              <a:t> </a:t>
            </a:r>
            <a:r>
              <a:rPr lang="en-US" sz="2400" dirty="0" err="1"/>
              <a:t>sản</a:t>
            </a:r>
            <a:r>
              <a:rPr lang="en-US" sz="2400" dirty="0"/>
              <a:t> </a:t>
            </a:r>
            <a:r>
              <a:rPr lang="en-US" sz="2400" dirty="0" err="1"/>
              <a:t>phẩm</a:t>
            </a:r>
            <a:r>
              <a:rPr lang="en-US" sz="2400" dirty="0"/>
              <a:t> </a:t>
            </a:r>
            <a:r>
              <a:rPr lang="en-US" sz="2400" dirty="0" err="1"/>
              <a:t>nhanh</a:t>
            </a:r>
            <a:r>
              <a:rPr lang="en-US" sz="2400" dirty="0"/>
              <a:t> </a:t>
            </a:r>
            <a:r>
              <a:rPr lang="en-US" sz="2400" dirty="0" err="1"/>
              <a:t>chóng</a:t>
            </a:r>
            <a:r>
              <a:rPr lang="en-US" sz="2400" dirty="0"/>
              <a:t> </a:t>
            </a:r>
            <a:r>
              <a:rPr lang="en-US" sz="2400" dirty="0" err="1"/>
              <a:t>và</a:t>
            </a:r>
            <a:r>
              <a:rPr lang="en-US" sz="2400" dirty="0"/>
              <a:t> </a:t>
            </a:r>
            <a:r>
              <a:rPr lang="en-US" sz="2400" dirty="0" err="1"/>
              <a:t>có</a:t>
            </a:r>
            <a:r>
              <a:rPr lang="en-US" sz="2400" dirty="0"/>
              <a:t> </a:t>
            </a:r>
            <a:r>
              <a:rPr lang="en-US" sz="2400" dirty="0" err="1"/>
              <a:t>thể</a:t>
            </a:r>
            <a:r>
              <a:rPr lang="en-US" sz="2400" dirty="0"/>
              <a:t> </a:t>
            </a:r>
            <a:r>
              <a:rPr lang="en-US" sz="2400" dirty="0" err="1"/>
              <a:t>thay</a:t>
            </a:r>
            <a:r>
              <a:rPr lang="en-US" sz="2400" dirty="0"/>
              <a:t> </a:t>
            </a:r>
            <a:r>
              <a:rPr lang="en-US" sz="2400" dirty="0" err="1"/>
              <a:t>đổi</a:t>
            </a:r>
            <a:r>
              <a:rPr lang="en-US" sz="2400" dirty="0"/>
              <a:t> </a:t>
            </a:r>
            <a:r>
              <a:rPr lang="en-US" sz="2400" dirty="0" err="1"/>
              <a:t>trong</a:t>
            </a:r>
            <a:r>
              <a:rPr lang="en-US" sz="2400" dirty="0"/>
              <a:t> </a:t>
            </a:r>
            <a:r>
              <a:rPr lang="en-US" sz="2400" dirty="0" err="1"/>
              <a:t>quá</a:t>
            </a:r>
            <a:r>
              <a:rPr lang="en-US" sz="2400" dirty="0"/>
              <a:t> </a:t>
            </a:r>
            <a:r>
              <a:rPr lang="en-US" sz="2400" dirty="0" err="1"/>
              <a:t>trình</a:t>
            </a:r>
            <a:r>
              <a:rPr lang="en-US" sz="2400" dirty="0"/>
              <a:t> </a:t>
            </a:r>
            <a:r>
              <a:rPr lang="en-US" sz="2400" dirty="0" err="1"/>
              <a:t>phát</a:t>
            </a:r>
            <a:r>
              <a:rPr lang="en-US" sz="2400" dirty="0"/>
              <a:t> </a:t>
            </a:r>
            <a:r>
              <a:rPr lang="en-US" sz="2400" dirty="0" err="1"/>
              <a:t>triển</a:t>
            </a:r>
            <a:r>
              <a:rPr lang="en-US" sz="2400" dirty="0"/>
              <a:t>.</a:t>
            </a:r>
          </a:p>
          <a:p>
            <a:endParaRPr lang="en-US" sz="24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circle(in)">
                                      <p:cBhvr>
                                        <p:cTn id="14" dur="20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1000"/>
                                        <p:tgtEl>
                                          <p:spTgt spid="32"/>
                                        </p:tgtEl>
                                      </p:cBhvr>
                                    </p:animEffect>
                                    <p:anim calcmode="lin" valueType="num">
                                      <p:cBhvr>
                                        <p:cTn id="27" dur="1000" fill="hold"/>
                                        <p:tgtEl>
                                          <p:spTgt spid="32"/>
                                        </p:tgtEl>
                                        <p:attrNameLst>
                                          <p:attrName>ppt_x</p:attrName>
                                        </p:attrNameLst>
                                      </p:cBhvr>
                                      <p:tavLst>
                                        <p:tav tm="0">
                                          <p:val>
                                            <p:strVal val="#ppt_x"/>
                                          </p:val>
                                        </p:tav>
                                        <p:tav tm="100000">
                                          <p:val>
                                            <p:strVal val="#ppt_x"/>
                                          </p:val>
                                        </p:tav>
                                      </p:tavLst>
                                    </p:anim>
                                    <p:anim calcmode="lin" valueType="num">
                                      <p:cBhvr>
                                        <p:cTn id="28" dur="1000" fill="hold"/>
                                        <p:tgtEl>
                                          <p:spTgt spid="3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2" grpId="0"/>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7999" cy="10287000"/>
          </a:xfrm>
          <a:custGeom>
            <a:avLst/>
            <a:gdLst/>
            <a:ahLst/>
            <a:cxnLst/>
            <a:rect l="l" t="t" r="r" b="b"/>
            <a:pathLst>
              <a:path w="7516570" h="10872567">
                <a:moveTo>
                  <a:pt x="0" y="0"/>
                </a:moveTo>
                <a:lnTo>
                  <a:pt x="7516570" y="0"/>
                </a:lnTo>
                <a:lnTo>
                  <a:pt x="7516570" y="10872567"/>
                </a:lnTo>
                <a:lnTo>
                  <a:pt x="0" y="10872567"/>
                </a:lnTo>
                <a:lnTo>
                  <a:pt x="0" y="0"/>
                </a:lnTo>
                <a:close/>
              </a:path>
            </a:pathLst>
          </a:custGeom>
          <a:blipFill>
            <a:blip r:embed="rId2">
              <a:extLst>
                <a:ext uri="{96DAC541-7B7A-43D3-8B79-37D633B846F1}">
                  <asvg:svgBlip xmlns="" xmlns:asvg="http://schemas.microsoft.com/office/drawing/2016/SVG/main" r:embed="rId3"/>
                </a:ext>
              </a:extLst>
            </a:blip>
            <a:stretch>
              <a:fillRect r="-157464"/>
            </a:stretch>
          </a:blipFill>
        </p:spPr>
      </p:sp>
      <p:sp>
        <p:nvSpPr>
          <p:cNvPr id="30" name="TextBox 29"/>
          <p:cNvSpPr txBox="1"/>
          <p:nvPr/>
        </p:nvSpPr>
        <p:spPr>
          <a:xfrm>
            <a:off x="685799" y="4481780"/>
            <a:ext cx="17602200" cy="1323439"/>
          </a:xfrm>
          <a:prstGeom prst="rect">
            <a:avLst/>
          </a:prstGeom>
          <a:noFill/>
        </p:spPr>
        <p:txBody>
          <a:bodyPr wrap="square" rtlCol="0">
            <a:spAutoFit/>
          </a:bodyPr>
          <a:lstStyle/>
          <a:p>
            <a:r>
              <a:rPr lang="en-US" sz="8000" dirty="0" smtClean="0"/>
              <a:t>CẢM ƠN CÔ VÀ CÁC BẠN ĐÃ LẮNG NGHE</a:t>
            </a:r>
            <a:endParaRPr lang="en-US" sz="8000" dirty="0"/>
          </a:p>
        </p:txBody>
      </p:sp>
    </p:spTree>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1909</Words>
  <Application>Microsoft Office PowerPoint</Application>
  <PresentationFormat>Custom</PresentationFormat>
  <Paragraphs>163</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Calibri (Body)</vt:lpstr>
      <vt:lpstr>Arial</vt:lpstr>
      <vt:lpstr>Times New Roman</vt:lpstr>
      <vt:lpstr>Cabin</vt:lpstr>
      <vt:lpstr>SimSun</vt:lpstr>
      <vt:lpstr>Calibri</vt:lpstr>
      <vt:lpstr>Cabin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Kế hoạch kinh doanh</dc:title>
  <cp:lastModifiedBy>admin</cp:lastModifiedBy>
  <cp:revision>15</cp:revision>
  <dcterms:created xsi:type="dcterms:W3CDTF">2006-08-16T00:00:00Z</dcterms:created>
  <dcterms:modified xsi:type="dcterms:W3CDTF">2025-01-08T10:03:13Z</dcterms:modified>
  <dc:identifier>DAGbhobWJsc</dc:identifier>
</cp:coreProperties>
</file>