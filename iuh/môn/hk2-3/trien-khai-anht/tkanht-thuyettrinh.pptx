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18288000" cy="10287000"/>
  <p:notesSz cx="6858000" cy="9144000"/>
  <p:embeddedFontLst>
    <p:embeddedFont>
      <p:font typeface="Arimo" panose="020B0604020202020204" charset="0"/>
      <p:regular r:id="rId28"/>
    </p:embeddedFont>
    <p:embeddedFont>
      <p:font typeface="Fira Sans" panose="020B0503050000020004" pitchFamily="34" charset="0"/>
      <p:regular r:id="rId29"/>
    </p:embeddedFont>
    <p:embeddedFont>
      <p:font typeface="Fira Sans Bold" panose="020B0803050000020004"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6" d="100"/>
          <a:sy n="46" d="100"/>
        </p:scale>
        <p:origin x="738" y="5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3.fntdata"/><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9.svg"/><Relationship Id="rId2" Type="http://schemas.openxmlformats.org/officeDocument/2006/relationships/image" Target="../media/image28.png"/><Relationship Id="rId1" Type="http://schemas.openxmlformats.org/officeDocument/2006/relationships/slideLayout" Target="../slideLayouts/slideLayout7.xml"/><Relationship Id="rId5" Type="http://schemas.openxmlformats.org/officeDocument/2006/relationships/image" Target="../media/image31.svg"/><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2"/>
              <a:stretch>
                <a:fillRect/>
              </a:stretch>
            </a:blipFill>
          </p:spPr>
        </p:sp>
      </p:grpSp>
      <p:sp>
        <p:nvSpPr>
          <p:cNvPr id="9" name="TextBox 9"/>
          <p:cNvSpPr txBox="1"/>
          <p:nvPr/>
        </p:nvSpPr>
        <p:spPr>
          <a:xfrm>
            <a:off x="7850238" y="3876675"/>
            <a:ext cx="9445523" cy="2038019"/>
          </a:xfrm>
          <a:prstGeom prst="rect">
            <a:avLst/>
          </a:prstGeom>
        </p:spPr>
        <p:txBody>
          <a:bodyPr lIns="0" tIns="0" rIns="0" bIns="0" rtlCol="0" anchor="t">
            <a:spAutoFit/>
          </a:bodyPr>
          <a:lstStyle/>
          <a:p>
            <a:pPr algn="l">
              <a:lnSpc>
                <a:spcPts val="7982"/>
              </a:lnSpc>
            </a:pPr>
            <a:r>
              <a:rPr lang="en-US" sz="6399">
                <a:solidFill>
                  <a:srgbClr val="FBF3FA"/>
                </a:solidFill>
                <a:latin typeface="Arimo"/>
                <a:ea typeface="Arimo"/>
                <a:cs typeface="Arimo"/>
                <a:sym typeface="Arimo"/>
              </a:rPr>
              <a:t>Module 16: Chống IDS, Firewall Và Honeypot</a:t>
            </a:r>
          </a:p>
        </p:txBody>
      </p:sp>
      <p:grpSp>
        <p:nvGrpSpPr>
          <p:cNvPr id="10" name="Group 10"/>
          <p:cNvGrpSpPr/>
          <p:nvPr/>
        </p:nvGrpSpPr>
        <p:grpSpPr>
          <a:xfrm>
            <a:off x="7850238" y="6272698"/>
            <a:ext cx="9445523" cy="44948"/>
            <a:chOff x="0" y="0"/>
            <a:chExt cx="12594031" cy="59931"/>
          </a:xfrm>
        </p:grpSpPr>
        <p:sp>
          <p:nvSpPr>
            <p:cNvPr id="11" name="Freeform 11"/>
            <p:cNvSpPr/>
            <p:nvPr/>
          </p:nvSpPr>
          <p:spPr>
            <a:xfrm>
              <a:off x="0" y="0"/>
              <a:ext cx="12594082" cy="59944"/>
            </a:xfrm>
            <a:custGeom>
              <a:avLst/>
              <a:gdLst/>
              <a:ahLst/>
              <a:cxnLst/>
              <a:rect l="l" t="t" r="r" b="b"/>
              <a:pathLst>
                <a:path w="12594082" h="59944">
                  <a:moveTo>
                    <a:pt x="0" y="0"/>
                  </a:moveTo>
                  <a:lnTo>
                    <a:pt x="12594082" y="0"/>
                  </a:lnTo>
                  <a:lnTo>
                    <a:pt x="12594082" y="59944"/>
                  </a:lnTo>
                  <a:lnTo>
                    <a:pt x="0" y="59944"/>
                  </a:lnTo>
                  <a:close/>
                </a:path>
              </a:pathLst>
            </a:custGeom>
            <a:solidFill>
              <a:srgbClr val="E0D6DE">
                <a:alpha val="24706"/>
              </a:srgbClr>
            </a:solidFill>
          </p:spPr>
        </p:sp>
      </p:grpSp>
      <p:sp>
        <p:nvSpPr>
          <p:cNvPr id="12" name="TextBox 12"/>
          <p:cNvSpPr txBox="1"/>
          <p:nvPr/>
        </p:nvSpPr>
        <p:spPr>
          <a:xfrm>
            <a:off x="7850238" y="6531769"/>
            <a:ext cx="9445523" cy="1050867"/>
          </a:xfrm>
          <a:prstGeom prst="rect">
            <a:avLst/>
          </a:prstGeom>
        </p:spPr>
        <p:txBody>
          <a:bodyPr lIns="0" tIns="0" rIns="0" bIns="0" rtlCol="0" anchor="t">
            <a:spAutoFit/>
          </a:bodyPr>
          <a:lstStyle/>
          <a:p>
            <a:pPr algn="l">
              <a:lnSpc>
                <a:spcPts val="4339"/>
              </a:lnSpc>
            </a:pPr>
            <a:r>
              <a:rPr lang="en-US" sz="2699">
                <a:solidFill>
                  <a:srgbClr val="E0D6DE"/>
                </a:solidFill>
                <a:latin typeface="Fira Sans"/>
                <a:ea typeface="Fira Sans"/>
                <a:cs typeface="Fira Sans"/>
                <a:sym typeface="Fira Sans"/>
              </a:rPr>
              <a:t>Phân tích cơ chế hoạt động, kiến trúc mạng và kỹ thuật che giấu của Hacker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sp>
        <p:nvSpPr>
          <p:cNvPr id="6" name="TextBox 6"/>
          <p:cNvSpPr txBox="1"/>
          <p:nvPr/>
        </p:nvSpPr>
        <p:spPr>
          <a:xfrm>
            <a:off x="1028700" y="710801"/>
            <a:ext cx="5968938"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Các Chủ Đề Chính</a:t>
            </a:r>
          </a:p>
        </p:txBody>
      </p:sp>
      <p:sp>
        <p:nvSpPr>
          <p:cNvPr id="7" name="TextBox 7"/>
          <p:cNvSpPr txBox="1"/>
          <p:nvPr/>
        </p:nvSpPr>
        <p:spPr>
          <a:xfrm>
            <a:off x="1028700" y="1879439"/>
            <a:ext cx="325003" cy="455876"/>
          </a:xfrm>
          <a:prstGeom prst="rect">
            <a:avLst/>
          </a:prstGeom>
        </p:spPr>
        <p:txBody>
          <a:bodyPr lIns="0" tIns="0" rIns="0" bIns="0" rtlCol="0" anchor="t">
            <a:spAutoFit/>
          </a:bodyPr>
          <a:lstStyle/>
          <a:p>
            <a:pPr algn="l">
              <a:lnSpc>
                <a:spcPts val="3745"/>
              </a:lnSpc>
            </a:pPr>
            <a:r>
              <a:rPr lang="en-US" sz="2300">
                <a:solidFill>
                  <a:srgbClr val="E0D6DE"/>
                </a:solidFill>
                <a:latin typeface="Arimo"/>
                <a:ea typeface="Arimo"/>
                <a:cs typeface="Arimo"/>
                <a:sym typeface="Arimo"/>
              </a:rPr>
              <a:t>01</a:t>
            </a:r>
          </a:p>
        </p:txBody>
      </p:sp>
      <p:grpSp>
        <p:nvGrpSpPr>
          <p:cNvPr id="8" name="Group 8"/>
          <p:cNvGrpSpPr/>
          <p:nvPr/>
        </p:nvGrpSpPr>
        <p:grpSpPr>
          <a:xfrm>
            <a:off x="1028700" y="2437547"/>
            <a:ext cx="5245446" cy="38100"/>
            <a:chOff x="0" y="0"/>
            <a:chExt cx="6993928" cy="50800"/>
          </a:xfrm>
        </p:grpSpPr>
        <p:sp>
          <p:nvSpPr>
            <p:cNvPr id="9" name="Freeform 9"/>
            <p:cNvSpPr/>
            <p:nvPr/>
          </p:nvSpPr>
          <p:spPr>
            <a:xfrm>
              <a:off x="0" y="0"/>
              <a:ext cx="6993890" cy="50800"/>
            </a:xfrm>
            <a:custGeom>
              <a:avLst/>
              <a:gdLst/>
              <a:ahLst/>
              <a:cxnLst/>
              <a:rect l="l" t="t" r="r" b="b"/>
              <a:pathLst>
                <a:path w="6993890" h="50800">
                  <a:moveTo>
                    <a:pt x="0" y="0"/>
                  </a:moveTo>
                  <a:lnTo>
                    <a:pt x="6993890" y="0"/>
                  </a:lnTo>
                  <a:lnTo>
                    <a:pt x="6993890" y="50800"/>
                  </a:lnTo>
                  <a:lnTo>
                    <a:pt x="0" y="50800"/>
                  </a:lnTo>
                  <a:close/>
                </a:path>
              </a:pathLst>
            </a:custGeom>
            <a:solidFill>
              <a:srgbClr val="FF6BD8"/>
            </a:solidFill>
          </p:spPr>
        </p:sp>
      </p:grpSp>
      <p:sp>
        <p:nvSpPr>
          <p:cNvPr id="10" name="TextBox 10"/>
          <p:cNvSpPr txBox="1"/>
          <p:nvPr/>
        </p:nvSpPr>
        <p:spPr>
          <a:xfrm>
            <a:off x="1028700" y="2607806"/>
            <a:ext cx="4345409"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Các Loại IDS &amp; Snort</a:t>
            </a:r>
          </a:p>
        </p:txBody>
      </p:sp>
      <p:sp>
        <p:nvSpPr>
          <p:cNvPr id="11" name="TextBox 11"/>
          <p:cNvSpPr txBox="1"/>
          <p:nvPr/>
        </p:nvSpPr>
        <p:spPr>
          <a:xfrm>
            <a:off x="1028700" y="3173210"/>
            <a:ext cx="5245446" cy="942628"/>
          </a:xfrm>
          <a:prstGeom prst="rect">
            <a:avLst/>
          </a:prstGeom>
        </p:spPr>
        <p:txBody>
          <a:bodyPr lIns="0" tIns="0" rIns="0" bIns="0" rtlCol="0" anchor="t">
            <a:spAutoFit/>
          </a:bodyPr>
          <a:lstStyle/>
          <a:p>
            <a:pPr algn="l">
              <a:lnSpc>
                <a:spcPts val="3857"/>
              </a:lnSpc>
            </a:pPr>
            <a:r>
              <a:rPr lang="en-US" sz="2400">
                <a:solidFill>
                  <a:srgbClr val="E0D6DE"/>
                </a:solidFill>
                <a:latin typeface="Fira Sans"/>
                <a:ea typeface="Fira Sans"/>
                <a:cs typeface="Fira Sans"/>
                <a:sym typeface="Fira Sans"/>
              </a:rPr>
              <a:t>Hệ thống dò tìm xâm phạm và công cụ IDS mã nguồn mở mạnh mẽ</a:t>
            </a:r>
          </a:p>
        </p:txBody>
      </p:sp>
      <p:sp>
        <p:nvSpPr>
          <p:cNvPr id="12" name="TextBox 12"/>
          <p:cNvSpPr txBox="1"/>
          <p:nvPr/>
        </p:nvSpPr>
        <p:spPr>
          <a:xfrm>
            <a:off x="1028700" y="4261547"/>
            <a:ext cx="325003" cy="455876"/>
          </a:xfrm>
          <a:prstGeom prst="rect">
            <a:avLst/>
          </a:prstGeom>
        </p:spPr>
        <p:txBody>
          <a:bodyPr lIns="0" tIns="0" rIns="0" bIns="0" rtlCol="0" anchor="t">
            <a:spAutoFit/>
          </a:bodyPr>
          <a:lstStyle/>
          <a:p>
            <a:pPr algn="l">
              <a:lnSpc>
                <a:spcPts val="3745"/>
              </a:lnSpc>
            </a:pPr>
            <a:r>
              <a:rPr lang="en-US" sz="2300">
                <a:solidFill>
                  <a:srgbClr val="E0D6DE"/>
                </a:solidFill>
                <a:latin typeface="Arimo"/>
                <a:ea typeface="Arimo"/>
                <a:cs typeface="Arimo"/>
                <a:sym typeface="Arimo"/>
              </a:rPr>
              <a:t>02</a:t>
            </a:r>
          </a:p>
        </p:txBody>
      </p:sp>
      <p:grpSp>
        <p:nvGrpSpPr>
          <p:cNvPr id="13" name="Group 13"/>
          <p:cNvGrpSpPr/>
          <p:nvPr/>
        </p:nvGrpSpPr>
        <p:grpSpPr>
          <a:xfrm>
            <a:off x="1028700" y="4819655"/>
            <a:ext cx="5245446" cy="38100"/>
            <a:chOff x="0" y="0"/>
            <a:chExt cx="6993928" cy="50800"/>
          </a:xfrm>
        </p:grpSpPr>
        <p:sp>
          <p:nvSpPr>
            <p:cNvPr id="14" name="Freeform 14"/>
            <p:cNvSpPr/>
            <p:nvPr/>
          </p:nvSpPr>
          <p:spPr>
            <a:xfrm>
              <a:off x="0" y="0"/>
              <a:ext cx="6993890" cy="50800"/>
            </a:xfrm>
            <a:custGeom>
              <a:avLst/>
              <a:gdLst/>
              <a:ahLst/>
              <a:cxnLst/>
              <a:rect l="l" t="t" r="r" b="b"/>
              <a:pathLst>
                <a:path w="6993890" h="50800">
                  <a:moveTo>
                    <a:pt x="0" y="0"/>
                  </a:moveTo>
                  <a:lnTo>
                    <a:pt x="6993890" y="0"/>
                  </a:lnTo>
                  <a:lnTo>
                    <a:pt x="6993890" y="50800"/>
                  </a:lnTo>
                  <a:lnTo>
                    <a:pt x="0" y="50800"/>
                  </a:lnTo>
                  <a:close/>
                </a:path>
              </a:pathLst>
            </a:custGeom>
            <a:solidFill>
              <a:srgbClr val="FF6BD8"/>
            </a:solidFill>
          </p:spPr>
        </p:sp>
      </p:grpSp>
      <p:sp>
        <p:nvSpPr>
          <p:cNvPr id="15" name="TextBox 15"/>
          <p:cNvSpPr txBox="1"/>
          <p:nvPr/>
        </p:nvSpPr>
        <p:spPr>
          <a:xfrm>
            <a:off x="1028700" y="4989914"/>
            <a:ext cx="5310374"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Kỹ Thuật Tránh Bị Dò Tìm</a:t>
            </a:r>
          </a:p>
        </p:txBody>
      </p:sp>
      <p:sp>
        <p:nvSpPr>
          <p:cNvPr id="16" name="TextBox 16"/>
          <p:cNvSpPr txBox="1"/>
          <p:nvPr/>
        </p:nvSpPr>
        <p:spPr>
          <a:xfrm>
            <a:off x="1028700" y="5555318"/>
            <a:ext cx="5245446" cy="456891"/>
          </a:xfrm>
          <a:prstGeom prst="rect">
            <a:avLst/>
          </a:prstGeom>
        </p:spPr>
        <p:txBody>
          <a:bodyPr lIns="0" tIns="0" rIns="0" bIns="0" rtlCol="0" anchor="t">
            <a:spAutoFit/>
          </a:bodyPr>
          <a:lstStyle/>
          <a:p>
            <a:pPr algn="l">
              <a:lnSpc>
                <a:spcPts val="3857"/>
              </a:lnSpc>
            </a:pPr>
            <a:r>
              <a:rPr lang="en-US" sz="2400">
                <a:solidFill>
                  <a:srgbClr val="E0D6DE"/>
                </a:solidFill>
                <a:latin typeface="Fira Sans"/>
                <a:ea typeface="Fira Sans"/>
                <a:cs typeface="Fira Sans"/>
                <a:sym typeface="Fira Sans"/>
              </a:rPr>
              <a:t>Tuyệt chiêu vượt qua IDS của Hacker</a:t>
            </a:r>
          </a:p>
        </p:txBody>
      </p:sp>
      <p:sp>
        <p:nvSpPr>
          <p:cNvPr id="17" name="TextBox 17"/>
          <p:cNvSpPr txBox="1"/>
          <p:nvPr/>
        </p:nvSpPr>
        <p:spPr>
          <a:xfrm>
            <a:off x="1061164" y="6288434"/>
            <a:ext cx="325003" cy="455876"/>
          </a:xfrm>
          <a:prstGeom prst="rect">
            <a:avLst/>
          </a:prstGeom>
        </p:spPr>
        <p:txBody>
          <a:bodyPr lIns="0" tIns="0" rIns="0" bIns="0" rtlCol="0" anchor="t">
            <a:spAutoFit/>
          </a:bodyPr>
          <a:lstStyle/>
          <a:p>
            <a:pPr algn="l">
              <a:lnSpc>
                <a:spcPts val="3745"/>
              </a:lnSpc>
            </a:pPr>
            <a:r>
              <a:rPr lang="en-US" sz="2300">
                <a:solidFill>
                  <a:srgbClr val="E0D6DE"/>
                </a:solidFill>
                <a:latin typeface="Arimo"/>
                <a:ea typeface="Arimo"/>
                <a:cs typeface="Arimo"/>
                <a:sym typeface="Arimo"/>
              </a:rPr>
              <a:t>03</a:t>
            </a:r>
          </a:p>
        </p:txBody>
      </p:sp>
      <p:grpSp>
        <p:nvGrpSpPr>
          <p:cNvPr id="18" name="Group 18"/>
          <p:cNvGrpSpPr/>
          <p:nvPr/>
        </p:nvGrpSpPr>
        <p:grpSpPr>
          <a:xfrm>
            <a:off x="1061164" y="6846541"/>
            <a:ext cx="5245446" cy="38100"/>
            <a:chOff x="0" y="0"/>
            <a:chExt cx="6993928" cy="50800"/>
          </a:xfrm>
        </p:grpSpPr>
        <p:sp>
          <p:nvSpPr>
            <p:cNvPr id="19" name="Freeform 19"/>
            <p:cNvSpPr/>
            <p:nvPr/>
          </p:nvSpPr>
          <p:spPr>
            <a:xfrm>
              <a:off x="0" y="0"/>
              <a:ext cx="6993890" cy="50800"/>
            </a:xfrm>
            <a:custGeom>
              <a:avLst/>
              <a:gdLst/>
              <a:ahLst/>
              <a:cxnLst/>
              <a:rect l="l" t="t" r="r" b="b"/>
              <a:pathLst>
                <a:path w="6993890" h="50800">
                  <a:moveTo>
                    <a:pt x="0" y="0"/>
                  </a:moveTo>
                  <a:lnTo>
                    <a:pt x="6993890" y="0"/>
                  </a:lnTo>
                  <a:lnTo>
                    <a:pt x="6993890" y="50800"/>
                  </a:lnTo>
                  <a:lnTo>
                    <a:pt x="0" y="50800"/>
                  </a:lnTo>
                  <a:close/>
                </a:path>
              </a:pathLst>
            </a:custGeom>
            <a:solidFill>
              <a:srgbClr val="FF6BD8"/>
            </a:solidFill>
          </p:spPr>
        </p:sp>
      </p:grpSp>
      <p:sp>
        <p:nvSpPr>
          <p:cNvPr id="20" name="TextBox 20"/>
          <p:cNvSpPr txBox="1"/>
          <p:nvPr/>
        </p:nvSpPr>
        <p:spPr>
          <a:xfrm>
            <a:off x="1061164" y="7016801"/>
            <a:ext cx="4369966"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Các Mô Hình Firewall</a:t>
            </a:r>
          </a:p>
        </p:txBody>
      </p:sp>
      <p:sp>
        <p:nvSpPr>
          <p:cNvPr id="21" name="TextBox 21"/>
          <p:cNvSpPr txBox="1"/>
          <p:nvPr/>
        </p:nvSpPr>
        <p:spPr>
          <a:xfrm>
            <a:off x="1061164" y="7582205"/>
            <a:ext cx="5245446" cy="456891"/>
          </a:xfrm>
          <a:prstGeom prst="rect">
            <a:avLst/>
          </a:prstGeom>
        </p:spPr>
        <p:txBody>
          <a:bodyPr lIns="0" tIns="0" rIns="0" bIns="0" rtlCol="0" anchor="t">
            <a:spAutoFit/>
          </a:bodyPr>
          <a:lstStyle/>
          <a:p>
            <a:pPr algn="l">
              <a:lnSpc>
                <a:spcPts val="3857"/>
              </a:lnSpc>
            </a:pPr>
            <a:r>
              <a:rPr lang="en-US" sz="2400">
                <a:solidFill>
                  <a:srgbClr val="E0D6DE"/>
                </a:solidFill>
                <a:latin typeface="Fira Sans"/>
                <a:ea typeface="Fira Sans"/>
                <a:cs typeface="Fira Sans"/>
                <a:sym typeface="Fira Sans"/>
              </a:rPr>
              <a:t>Bastion Host, DMZ, và kiến trúc đa lớp</a:t>
            </a:r>
          </a:p>
        </p:txBody>
      </p:sp>
      <p:sp>
        <p:nvSpPr>
          <p:cNvPr id="22" name="TextBox 22"/>
          <p:cNvSpPr txBox="1"/>
          <p:nvPr/>
        </p:nvSpPr>
        <p:spPr>
          <a:xfrm>
            <a:off x="9144000" y="1879439"/>
            <a:ext cx="325003" cy="455876"/>
          </a:xfrm>
          <a:prstGeom prst="rect">
            <a:avLst/>
          </a:prstGeom>
        </p:spPr>
        <p:txBody>
          <a:bodyPr lIns="0" tIns="0" rIns="0" bIns="0" rtlCol="0" anchor="t">
            <a:spAutoFit/>
          </a:bodyPr>
          <a:lstStyle/>
          <a:p>
            <a:pPr algn="l">
              <a:lnSpc>
                <a:spcPts val="3745"/>
              </a:lnSpc>
            </a:pPr>
            <a:r>
              <a:rPr lang="en-US" sz="2300">
                <a:solidFill>
                  <a:srgbClr val="E0D6DE"/>
                </a:solidFill>
                <a:latin typeface="Arimo"/>
                <a:ea typeface="Arimo"/>
                <a:cs typeface="Arimo"/>
                <a:sym typeface="Arimo"/>
              </a:rPr>
              <a:t>04</a:t>
            </a:r>
          </a:p>
        </p:txBody>
      </p:sp>
      <p:grpSp>
        <p:nvGrpSpPr>
          <p:cNvPr id="23" name="Group 23"/>
          <p:cNvGrpSpPr/>
          <p:nvPr/>
        </p:nvGrpSpPr>
        <p:grpSpPr>
          <a:xfrm>
            <a:off x="9144000" y="2437547"/>
            <a:ext cx="8009934" cy="38100"/>
            <a:chOff x="0" y="0"/>
            <a:chExt cx="10679913" cy="50800"/>
          </a:xfrm>
        </p:grpSpPr>
        <p:sp>
          <p:nvSpPr>
            <p:cNvPr id="24" name="Freeform 24"/>
            <p:cNvSpPr/>
            <p:nvPr/>
          </p:nvSpPr>
          <p:spPr>
            <a:xfrm>
              <a:off x="0" y="0"/>
              <a:ext cx="10679938" cy="50800"/>
            </a:xfrm>
            <a:custGeom>
              <a:avLst/>
              <a:gdLst/>
              <a:ahLst/>
              <a:cxnLst/>
              <a:rect l="l" t="t" r="r" b="b"/>
              <a:pathLst>
                <a:path w="10679938" h="50800">
                  <a:moveTo>
                    <a:pt x="0" y="0"/>
                  </a:moveTo>
                  <a:lnTo>
                    <a:pt x="10679938" y="0"/>
                  </a:lnTo>
                  <a:lnTo>
                    <a:pt x="10679938" y="50800"/>
                  </a:lnTo>
                  <a:lnTo>
                    <a:pt x="0" y="50800"/>
                  </a:lnTo>
                  <a:close/>
                </a:path>
              </a:pathLst>
            </a:custGeom>
            <a:solidFill>
              <a:srgbClr val="FF6BD8"/>
            </a:solidFill>
          </p:spPr>
        </p:sp>
      </p:grpSp>
      <p:sp>
        <p:nvSpPr>
          <p:cNvPr id="25" name="TextBox 25"/>
          <p:cNvSpPr txBox="1"/>
          <p:nvPr/>
        </p:nvSpPr>
        <p:spPr>
          <a:xfrm>
            <a:off x="9144000" y="2607806"/>
            <a:ext cx="2007877"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HoneyPot</a:t>
            </a:r>
          </a:p>
        </p:txBody>
      </p:sp>
      <p:sp>
        <p:nvSpPr>
          <p:cNvPr id="26" name="TextBox 26"/>
          <p:cNvSpPr txBox="1"/>
          <p:nvPr/>
        </p:nvSpPr>
        <p:spPr>
          <a:xfrm>
            <a:off x="9144000" y="3173200"/>
            <a:ext cx="8009934" cy="456891"/>
          </a:xfrm>
          <a:prstGeom prst="rect">
            <a:avLst/>
          </a:prstGeom>
        </p:spPr>
        <p:txBody>
          <a:bodyPr lIns="0" tIns="0" rIns="0" bIns="0" rtlCol="0" anchor="t">
            <a:spAutoFit/>
          </a:bodyPr>
          <a:lstStyle/>
          <a:p>
            <a:pPr algn="l">
              <a:lnSpc>
                <a:spcPts val="3857"/>
              </a:lnSpc>
            </a:pPr>
            <a:r>
              <a:rPr lang="en-US" sz="2400">
                <a:solidFill>
                  <a:srgbClr val="E0D6DE"/>
                </a:solidFill>
                <a:latin typeface="Fira Sans"/>
                <a:ea typeface="Fira Sans"/>
                <a:cs typeface="Fira Sans"/>
                <a:sym typeface="Fira Sans"/>
              </a:rPr>
              <a:t>Hệ thống đánh lừa và bẫy Hacker</a:t>
            </a:r>
          </a:p>
        </p:txBody>
      </p:sp>
      <p:sp>
        <p:nvSpPr>
          <p:cNvPr id="27" name="TextBox 27"/>
          <p:cNvSpPr txBox="1"/>
          <p:nvPr/>
        </p:nvSpPr>
        <p:spPr>
          <a:xfrm>
            <a:off x="9144000" y="4261556"/>
            <a:ext cx="325003" cy="455876"/>
          </a:xfrm>
          <a:prstGeom prst="rect">
            <a:avLst/>
          </a:prstGeom>
        </p:spPr>
        <p:txBody>
          <a:bodyPr lIns="0" tIns="0" rIns="0" bIns="0" rtlCol="0" anchor="t">
            <a:spAutoFit/>
          </a:bodyPr>
          <a:lstStyle/>
          <a:p>
            <a:pPr algn="l">
              <a:lnSpc>
                <a:spcPts val="3745"/>
              </a:lnSpc>
            </a:pPr>
            <a:r>
              <a:rPr lang="en-US" sz="2300">
                <a:solidFill>
                  <a:srgbClr val="E0D6DE"/>
                </a:solidFill>
                <a:latin typeface="Arimo"/>
                <a:ea typeface="Arimo"/>
                <a:cs typeface="Arimo"/>
                <a:sym typeface="Arimo"/>
              </a:rPr>
              <a:t>05</a:t>
            </a:r>
          </a:p>
        </p:txBody>
      </p:sp>
      <p:grpSp>
        <p:nvGrpSpPr>
          <p:cNvPr id="28" name="Group 28"/>
          <p:cNvGrpSpPr/>
          <p:nvPr/>
        </p:nvGrpSpPr>
        <p:grpSpPr>
          <a:xfrm>
            <a:off x="9144000" y="4819664"/>
            <a:ext cx="8009934" cy="38100"/>
            <a:chOff x="0" y="0"/>
            <a:chExt cx="10679913" cy="50800"/>
          </a:xfrm>
        </p:grpSpPr>
        <p:sp>
          <p:nvSpPr>
            <p:cNvPr id="29" name="Freeform 29"/>
            <p:cNvSpPr/>
            <p:nvPr/>
          </p:nvSpPr>
          <p:spPr>
            <a:xfrm>
              <a:off x="0" y="0"/>
              <a:ext cx="10679938" cy="50800"/>
            </a:xfrm>
            <a:custGeom>
              <a:avLst/>
              <a:gdLst/>
              <a:ahLst/>
              <a:cxnLst/>
              <a:rect l="l" t="t" r="r" b="b"/>
              <a:pathLst>
                <a:path w="10679938" h="50800">
                  <a:moveTo>
                    <a:pt x="0" y="0"/>
                  </a:moveTo>
                  <a:lnTo>
                    <a:pt x="10679938" y="0"/>
                  </a:lnTo>
                  <a:lnTo>
                    <a:pt x="10679938" y="50800"/>
                  </a:lnTo>
                  <a:lnTo>
                    <a:pt x="0" y="50800"/>
                  </a:lnTo>
                  <a:close/>
                </a:path>
              </a:pathLst>
            </a:custGeom>
            <a:solidFill>
              <a:srgbClr val="FF6BD8"/>
            </a:solidFill>
          </p:spPr>
        </p:sp>
      </p:grpSp>
      <p:sp>
        <p:nvSpPr>
          <p:cNvPr id="30" name="TextBox 30"/>
          <p:cNvSpPr txBox="1"/>
          <p:nvPr/>
        </p:nvSpPr>
        <p:spPr>
          <a:xfrm>
            <a:off x="9144000" y="4989923"/>
            <a:ext cx="4696644"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Kỹ Thuật Vượt Firewall</a:t>
            </a:r>
          </a:p>
        </p:txBody>
      </p:sp>
      <p:sp>
        <p:nvSpPr>
          <p:cNvPr id="31" name="TextBox 31"/>
          <p:cNvSpPr txBox="1"/>
          <p:nvPr/>
        </p:nvSpPr>
        <p:spPr>
          <a:xfrm>
            <a:off x="9144000" y="5555318"/>
            <a:ext cx="8009934" cy="456891"/>
          </a:xfrm>
          <a:prstGeom prst="rect">
            <a:avLst/>
          </a:prstGeom>
        </p:spPr>
        <p:txBody>
          <a:bodyPr lIns="0" tIns="0" rIns="0" bIns="0" rtlCol="0" anchor="t">
            <a:spAutoFit/>
          </a:bodyPr>
          <a:lstStyle/>
          <a:p>
            <a:pPr algn="l">
              <a:lnSpc>
                <a:spcPts val="3857"/>
              </a:lnSpc>
            </a:pPr>
            <a:r>
              <a:rPr lang="en-US" sz="2400">
                <a:solidFill>
                  <a:srgbClr val="E0D6DE"/>
                </a:solidFill>
                <a:latin typeface="Fira Sans"/>
                <a:ea typeface="Fira Sans"/>
                <a:cs typeface="Fira Sans"/>
                <a:sym typeface="Fira Sans"/>
              </a:rPr>
              <a:t>SSH Tunneling và các phương pháp ẩn danh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sp>
        <p:nvSpPr>
          <p:cNvPr id="6" name="TextBox 6"/>
          <p:cNvSpPr txBox="1"/>
          <p:nvPr/>
        </p:nvSpPr>
        <p:spPr>
          <a:xfrm>
            <a:off x="992238" y="2181377"/>
            <a:ext cx="9409472"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Tổng Quan Hệ Thống Bảo Vệ</a:t>
            </a:r>
          </a:p>
        </p:txBody>
      </p:sp>
      <p:sp>
        <p:nvSpPr>
          <p:cNvPr id="7" name="TextBox 7"/>
          <p:cNvSpPr txBox="1"/>
          <p:nvPr/>
        </p:nvSpPr>
        <p:spPr>
          <a:xfrm>
            <a:off x="992238" y="3596278"/>
            <a:ext cx="16303523" cy="456891"/>
          </a:xfrm>
          <a:prstGeom prst="rect">
            <a:avLst/>
          </a:prstGeom>
        </p:spPr>
        <p:txBody>
          <a:bodyPr lIns="0" tIns="0" rIns="0" bIns="0" rtlCol="0" anchor="t">
            <a:spAutoFit/>
          </a:bodyPr>
          <a:lstStyle/>
          <a:p>
            <a:pPr algn="l">
              <a:lnSpc>
                <a:spcPts val="3857"/>
              </a:lnSpc>
            </a:pPr>
            <a:r>
              <a:rPr lang="en-US" sz="2400">
                <a:solidFill>
                  <a:srgbClr val="E0D6DE"/>
                </a:solidFill>
                <a:latin typeface="Fira Sans"/>
                <a:ea typeface="Fira Sans"/>
                <a:cs typeface="Fira Sans"/>
                <a:sym typeface="Fira Sans"/>
              </a:rPr>
              <a:t>Ba thành phần bảo vệ mạng tạo thành "kiềng ba chân" phòng chống và dò tìm hacker hiệu quả nhất</a:t>
            </a:r>
          </a:p>
        </p:txBody>
      </p:sp>
      <p:grpSp>
        <p:nvGrpSpPr>
          <p:cNvPr id="8" name="Group 8"/>
          <p:cNvGrpSpPr/>
          <p:nvPr/>
        </p:nvGrpSpPr>
        <p:grpSpPr>
          <a:xfrm>
            <a:off x="992238" y="4373318"/>
            <a:ext cx="5245446" cy="3675012"/>
            <a:chOff x="0" y="0"/>
            <a:chExt cx="6993928" cy="4900016"/>
          </a:xfrm>
        </p:grpSpPr>
        <p:sp>
          <p:nvSpPr>
            <p:cNvPr id="9" name="Freeform 9"/>
            <p:cNvSpPr/>
            <p:nvPr/>
          </p:nvSpPr>
          <p:spPr>
            <a:xfrm>
              <a:off x="0" y="0"/>
              <a:ext cx="6993890" cy="4899914"/>
            </a:xfrm>
            <a:custGeom>
              <a:avLst/>
              <a:gdLst/>
              <a:ahLst/>
              <a:cxnLst/>
              <a:rect l="l" t="t" r="r" b="b"/>
              <a:pathLst>
                <a:path w="6993890" h="4899914">
                  <a:moveTo>
                    <a:pt x="0" y="56642"/>
                  </a:moveTo>
                  <a:cubicBezTo>
                    <a:pt x="0" y="25400"/>
                    <a:pt x="25400" y="0"/>
                    <a:pt x="56642" y="0"/>
                  </a:cubicBezTo>
                  <a:lnTo>
                    <a:pt x="6937248" y="0"/>
                  </a:lnTo>
                  <a:cubicBezTo>
                    <a:pt x="6968617" y="0"/>
                    <a:pt x="6993890" y="25400"/>
                    <a:pt x="6993890" y="56642"/>
                  </a:cubicBezTo>
                  <a:lnTo>
                    <a:pt x="6993890" y="4843272"/>
                  </a:lnTo>
                  <a:cubicBezTo>
                    <a:pt x="6993890" y="4874641"/>
                    <a:pt x="6968490" y="4899914"/>
                    <a:pt x="6937248" y="4899914"/>
                  </a:cubicBezTo>
                  <a:lnTo>
                    <a:pt x="56642" y="4899914"/>
                  </a:lnTo>
                  <a:cubicBezTo>
                    <a:pt x="25273" y="4899914"/>
                    <a:pt x="0" y="4874514"/>
                    <a:pt x="0" y="4843272"/>
                  </a:cubicBezTo>
                  <a:close/>
                </a:path>
              </a:pathLst>
            </a:custGeom>
            <a:solidFill>
              <a:srgbClr val="2E2E2F"/>
            </a:solidFill>
          </p:spPr>
        </p:sp>
      </p:grpSp>
      <p:grpSp>
        <p:nvGrpSpPr>
          <p:cNvPr id="10" name="Group 10"/>
          <p:cNvGrpSpPr/>
          <p:nvPr/>
        </p:nvGrpSpPr>
        <p:grpSpPr>
          <a:xfrm>
            <a:off x="1275759" y="4656830"/>
            <a:ext cx="850554" cy="850554"/>
            <a:chOff x="0" y="0"/>
            <a:chExt cx="1134072" cy="1134072"/>
          </a:xfrm>
        </p:grpSpPr>
        <p:sp>
          <p:nvSpPr>
            <p:cNvPr id="11" name="Freeform 11"/>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FF6BD8"/>
            </a:solidFill>
          </p:spPr>
        </p:sp>
      </p:grpSp>
      <p:sp>
        <p:nvSpPr>
          <p:cNvPr id="12" name="Freeform 12" descr="preencoded.png"/>
          <p:cNvSpPr/>
          <p:nvPr/>
        </p:nvSpPr>
        <p:spPr>
          <a:xfrm>
            <a:off x="1509712" y="4890640"/>
            <a:ext cx="382638" cy="382638"/>
          </a:xfrm>
          <a:custGeom>
            <a:avLst/>
            <a:gdLst/>
            <a:ahLst/>
            <a:cxnLst/>
            <a:rect l="l" t="t" r="r" b="b"/>
            <a:pathLst>
              <a:path w="382638" h="382638">
                <a:moveTo>
                  <a:pt x="0" y="0"/>
                </a:moveTo>
                <a:lnTo>
                  <a:pt x="382639" y="0"/>
                </a:lnTo>
                <a:lnTo>
                  <a:pt x="382639" y="382638"/>
                </a:lnTo>
                <a:lnTo>
                  <a:pt x="0" y="38263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1275759" y="5743280"/>
            <a:ext cx="1626133"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IDS/IPS</a:t>
            </a:r>
          </a:p>
        </p:txBody>
      </p:sp>
      <p:sp>
        <p:nvSpPr>
          <p:cNvPr id="14" name="TextBox 14"/>
          <p:cNvSpPr txBox="1"/>
          <p:nvPr/>
        </p:nvSpPr>
        <p:spPr>
          <a:xfrm>
            <a:off x="1275759" y="6299149"/>
            <a:ext cx="4678413" cy="1459823"/>
          </a:xfrm>
          <a:prstGeom prst="rect">
            <a:avLst/>
          </a:prstGeom>
        </p:spPr>
        <p:txBody>
          <a:bodyPr lIns="0" tIns="0" rIns="0" bIns="0" rtlCol="0" anchor="t">
            <a:spAutoFit/>
          </a:bodyPr>
          <a:lstStyle/>
          <a:p>
            <a:pPr algn="l">
              <a:lnSpc>
                <a:spcPts val="3908"/>
              </a:lnSpc>
            </a:pPr>
            <a:r>
              <a:rPr lang="en-US" sz="2400">
                <a:solidFill>
                  <a:srgbClr val="E0D6DE"/>
                </a:solidFill>
                <a:latin typeface="Fira Sans"/>
                <a:ea typeface="Fira Sans"/>
                <a:cs typeface="Fira Sans"/>
                <a:sym typeface="Fira Sans"/>
              </a:rPr>
              <a:t>Thiết bị giám sát luồng dữ liệu, cảnh báo như chuông báo động khi phát hiện xâm nhập trái phép</a:t>
            </a:r>
          </a:p>
        </p:txBody>
      </p:sp>
      <p:grpSp>
        <p:nvGrpSpPr>
          <p:cNvPr id="15" name="Group 15"/>
          <p:cNvGrpSpPr/>
          <p:nvPr/>
        </p:nvGrpSpPr>
        <p:grpSpPr>
          <a:xfrm>
            <a:off x="6521206" y="4373318"/>
            <a:ext cx="5245446" cy="3675012"/>
            <a:chOff x="0" y="0"/>
            <a:chExt cx="6993928" cy="4900016"/>
          </a:xfrm>
        </p:grpSpPr>
        <p:sp>
          <p:nvSpPr>
            <p:cNvPr id="16" name="Freeform 16"/>
            <p:cNvSpPr/>
            <p:nvPr/>
          </p:nvSpPr>
          <p:spPr>
            <a:xfrm>
              <a:off x="0" y="0"/>
              <a:ext cx="6993890" cy="4899914"/>
            </a:xfrm>
            <a:custGeom>
              <a:avLst/>
              <a:gdLst/>
              <a:ahLst/>
              <a:cxnLst/>
              <a:rect l="l" t="t" r="r" b="b"/>
              <a:pathLst>
                <a:path w="6993890" h="4899914">
                  <a:moveTo>
                    <a:pt x="0" y="56642"/>
                  </a:moveTo>
                  <a:cubicBezTo>
                    <a:pt x="0" y="25400"/>
                    <a:pt x="25400" y="0"/>
                    <a:pt x="56642" y="0"/>
                  </a:cubicBezTo>
                  <a:lnTo>
                    <a:pt x="6937248" y="0"/>
                  </a:lnTo>
                  <a:cubicBezTo>
                    <a:pt x="6968617" y="0"/>
                    <a:pt x="6993890" y="25400"/>
                    <a:pt x="6993890" y="56642"/>
                  </a:cubicBezTo>
                  <a:lnTo>
                    <a:pt x="6993890" y="4843272"/>
                  </a:lnTo>
                  <a:cubicBezTo>
                    <a:pt x="6993890" y="4874641"/>
                    <a:pt x="6968490" y="4899914"/>
                    <a:pt x="6937248" y="4899914"/>
                  </a:cubicBezTo>
                  <a:lnTo>
                    <a:pt x="56642" y="4899914"/>
                  </a:lnTo>
                  <a:cubicBezTo>
                    <a:pt x="25273" y="4899914"/>
                    <a:pt x="0" y="4874514"/>
                    <a:pt x="0" y="4843272"/>
                  </a:cubicBezTo>
                  <a:close/>
                </a:path>
              </a:pathLst>
            </a:custGeom>
            <a:solidFill>
              <a:srgbClr val="2E2E2F"/>
            </a:solidFill>
          </p:spPr>
        </p:sp>
      </p:grpSp>
      <p:grpSp>
        <p:nvGrpSpPr>
          <p:cNvPr id="17" name="Group 17"/>
          <p:cNvGrpSpPr/>
          <p:nvPr/>
        </p:nvGrpSpPr>
        <p:grpSpPr>
          <a:xfrm>
            <a:off x="6804717" y="4656830"/>
            <a:ext cx="850554" cy="850554"/>
            <a:chOff x="0" y="0"/>
            <a:chExt cx="1134072" cy="1134072"/>
          </a:xfrm>
        </p:grpSpPr>
        <p:sp>
          <p:nvSpPr>
            <p:cNvPr id="18" name="Freeform 18"/>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FF6BD8"/>
            </a:solidFill>
          </p:spPr>
        </p:sp>
      </p:grpSp>
      <p:sp>
        <p:nvSpPr>
          <p:cNvPr id="19" name="Freeform 19" descr="preencoded.png"/>
          <p:cNvSpPr/>
          <p:nvPr/>
        </p:nvSpPr>
        <p:spPr>
          <a:xfrm>
            <a:off x="7038680" y="4890640"/>
            <a:ext cx="382638" cy="382638"/>
          </a:xfrm>
          <a:custGeom>
            <a:avLst/>
            <a:gdLst/>
            <a:ahLst/>
            <a:cxnLst/>
            <a:rect l="l" t="t" r="r" b="b"/>
            <a:pathLst>
              <a:path w="382638" h="382638">
                <a:moveTo>
                  <a:pt x="0" y="0"/>
                </a:moveTo>
                <a:lnTo>
                  <a:pt x="382638" y="0"/>
                </a:lnTo>
                <a:lnTo>
                  <a:pt x="382638" y="382638"/>
                </a:lnTo>
                <a:lnTo>
                  <a:pt x="0" y="382638"/>
                </a:lnTo>
                <a:lnTo>
                  <a:pt x="0" y="0"/>
                </a:lnTo>
                <a:close/>
              </a:path>
            </a:pathLst>
          </a:custGeom>
          <a:blipFill>
            <a:blip r:embed="rId4">
              <a:extLst>
                <a:ext uri="{96DAC541-7B7A-43D3-8B79-37D633B846F1}">
                  <asvg:svgBlip xmlns:asvg="http://schemas.microsoft.com/office/drawing/2016/SVG/main" r:embed="rId5"/>
                </a:ext>
              </a:extLst>
            </a:blip>
            <a:stretch>
              <a:fillRect t="-8535" b="-8538"/>
            </a:stretch>
          </a:blipFill>
        </p:spPr>
      </p:sp>
      <p:sp>
        <p:nvSpPr>
          <p:cNvPr id="20" name="TextBox 20"/>
          <p:cNvSpPr txBox="1"/>
          <p:nvPr/>
        </p:nvSpPr>
        <p:spPr>
          <a:xfrm>
            <a:off x="6804717" y="5743280"/>
            <a:ext cx="1574974"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Firewall</a:t>
            </a:r>
          </a:p>
        </p:txBody>
      </p:sp>
      <p:sp>
        <p:nvSpPr>
          <p:cNvPr id="21" name="TextBox 21"/>
          <p:cNvSpPr txBox="1"/>
          <p:nvPr/>
        </p:nvSpPr>
        <p:spPr>
          <a:xfrm>
            <a:off x="6804717" y="6299149"/>
            <a:ext cx="4678413" cy="1459823"/>
          </a:xfrm>
          <a:prstGeom prst="rect">
            <a:avLst/>
          </a:prstGeom>
        </p:spPr>
        <p:txBody>
          <a:bodyPr lIns="0" tIns="0" rIns="0" bIns="0" rtlCol="0" anchor="t">
            <a:spAutoFit/>
          </a:bodyPr>
          <a:lstStyle/>
          <a:p>
            <a:pPr algn="l">
              <a:lnSpc>
                <a:spcPts val="3908"/>
              </a:lnSpc>
            </a:pPr>
            <a:r>
              <a:rPr lang="en-US" sz="2400">
                <a:solidFill>
                  <a:srgbClr val="E0D6DE"/>
                </a:solidFill>
                <a:latin typeface="Fira Sans"/>
                <a:ea typeface="Fira Sans"/>
                <a:cs typeface="Fira Sans"/>
                <a:sym typeface="Fira Sans"/>
              </a:rPr>
              <a:t>Bộ lọc thiết yếu, kiểm soát dữ liệu ra/vào dựa trên quy tắc được định nghĩa</a:t>
            </a:r>
          </a:p>
        </p:txBody>
      </p:sp>
      <p:grpSp>
        <p:nvGrpSpPr>
          <p:cNvPr id="22" name="Group 22"/>
          <p:cNvGrpSpPr/>
          <p:nvPr/>
        </p:nvGrpSpPr>
        <p:grpSpPr>
          <a:xfrm>
            <a:off x="12050163" y="4373318"/>
            <a:ext cx="5245446" cy="3675012"/>
            <a:chOff x="0" y="0"/>
            <a:chExt cx="6993928" cy="4900016"/>
          </a:xfrm>
        </p:grpSpPr>
        <p:sp>
          <p:nvSpPr>
            <p:cNvPr id="23" name="Freeform 23"/>
            <p:cNvSpPr/>
            <p:nvPr/>
          </p:nvSpPr>
          <p:spPr>
            <a:xfrm>
              <a:off x="0" y="0"/>
              <a:ext cx="6993890" cy="4899914"/>
            </a:xfrm>
            <a:custGeom>
              <a:avLst/>
              <a:gdLst/>
              <a:ahLst/>
              <a:cxnLst/>
              <a:rect l="l" t="t" r="r" b="b"/>
              <a:pathLst>
                <a:path w="6993890" h="4899914">
                  <a:moveTo>
                    <a:pt x="0" y="56642"/>
                  </a:moveTo>
                  <a:cubicBezTo>
                    <a:pt x="0" y="25400"/>
                    <a:pt x="25400" y="0"/>
                    <a:pt x="56642" y="0"/>
                  </a:cubicBezTo>
                  <a:lnTo>
                    <a:pt x="6937248" y="0"/>
                  </a:lnTo>
                  <a:cubicBezTo>
                    <a:pt x="6968617" y="0"/>
                    <a:pt x="6993890" y="25400"/>
                    <a:pt x="6993890" y="56642"/>
                  </a:cubicBezTo>
                  <a:lnTo>
                    <a:pt x="6993890" y="4843272"/>
                  </a:lnTo>
                  <a:cubicBezTo>
                    <a:pt x="6993890" y="4874641"/>
                    <a:pt x="6968490" y="4899914"/>
                    <a:pt x="6937248" y="4899914"/>
                  </a:cubicBezTo>
                  <a:lnTo>
                    <a:pt x="56642" y="4899914"/>
                  </a:lnTo>
                  <a:cubicBezTo>
                    <a:pt x="25273" y="4899914"/>
                    <a:pt x="0" y="4874514"/>
                    <a:pt x="0" y="4843272"/>
                  </a:cubicBezTo>
                  <a:close/>
                </a:path>
              </a:pathLst>
            </a:custGeom>
            <a:solidFill>
              <a:srgbClr val="2E2E2F"/>
            </a:solidFill>
          </p:spPr>
        </p:sp>
      </p:grpSp>
      <p:grpSp>
        <p:nvGrpSpPr>
          <p:cNvPr id="24" name="Group 24"/>
          <p:cNvGrpSpPr/>
          <p:nvPr/>
        </p:nvGrpSpPr>
        <p:grpSpPr>
          <a:xfrm>
            <a:off x="12333684" y="4656830"/>
            <a:ext cx="850554" cy="850554"/>
            <a:chOff x="0" y="0"/>
            <a:chExt cx="1134072" cy="1134072"/>
          </a:xfrm>
        </p:grpSpPr>
        <p:sp>
          <p:nvSpPr>
            <p:cNvPr id="25" name="Freeform 25"/>
            <p:cNvSpPr/>
            <p:nvPr/>
          </p:nvSpPr>
          <p:spPr>
            <a:xfrm>
              <a:off x="0" y="0"/>
              <a:ext cx="1134110" cy="1134110"/>
            </a:xfrm>
            <a:custGeom>
              <a:avLst/>
              <a:gdLst/>
              <a:ahLst/>
              <a:cxnLst/>
              <a:rect l="l" t="t" r="r" b="b"/>
              <a:pathLst>
                <a:path w="1134110" h="1134110">
                  <a:moveTo>
                    <a:pt x="0" y="567055"/>
                  </a:moveTo>
                  <a:cubicBezTo>
                    <a:pt x="0" y="253873"/>
                    <a:pt x="253873" y="0"/>
                    <a:pt x="567055" y="0"/>
                  </a:cubicBezTo>
                  <a:cubicBezTo>
                    <a:pt x="880237" y="0"/>
                    <a:pt x="1134110" y="253873"/>
                    <a:pt x="1134110" y="567055"/>
                  </a:cubicBezTo>
                  <a:cubicBezTo>
                    <a:pt x="1134110" y="880237"/>
                    <a:pt x="880237" y="1134110"/>
                    <a:pt x="567055" y="1134110"/>
                  </a:cubicBezTo>
                  <a:cubicBezTo>
                    <a:pt x="253873" y="1134110"/>
                    <a:pt x="0" y="880237"/>
                    <a:pt x="0" y="567055"/>
                  </a:cubicBezTo>
                  <a:close/>
                </a:path>
              </a:pathLst>
            </a:custGeom>
            <a:solidFill>
              <a:srgbClr val="FF6BD8"/>
            </a:solidFill>
          </p:spPr>
        </p:sp>
      </p:grpSp>
      <p:sp>
        <p:nvSpPr>
          <p:cNvPr id="26" name="Freeform 26" descr="preencoded.png"/>
          <p:cNvSpPr/>
          <p:nvPr/>
        </p:nvSpPr>
        <p:spPr>
          <a:xfrm>
            <a:off x="12567647" y="4890640"/>
            <a:ext cx="382638" cy="382638"/>
          </a:xfrm>
          <a:custGeom>
            <a:avLst/>
            <a:gdLst/>
            <a:ahLst/>
            <a:cxnLst/>
            <a:rect l="l" t="t" r="r" b="b"/>
            <a:pathLst>
              <a:path w="382638" h="382638">
                <a:moveTo>
                  <a:pt x="0" y="0"/>
                </a:moveTo>
                <a:lnTo>
                  <a:pt x="382638" y="0"/>
                </a:lnTo>
                <a:lnTo>
                  <a:pt x="382638" y="382638"/>
                </a:lnTo>
                <a:lnTo>
                  <a:pt x="0" y="382638"/>
                </a:lnTo>
                <a:lnTo>
                  <a:pt x="0" y="0"/>
                </a:lnTo>
                <a:close/>
              </a:path>
            </a:pathLst>
          </a:custGeom>
          <a:blipFill>
            <a:blip r:embed="rId6">
              <a:extLst>
                <a:ext uri="{96DAC541-7B7A-43D3-8B79-37D633B846F1}">
                  <asvg:svgBlip xmlns:asvg="http://schemas.microsoft.com/office/drawing/2016/SVG/main" r:embed="rId7"/>
                </a:ext>
              </a:extLst>
            </a:blip>
            <a:stretch>
              <a:fillRect l="-3659" r="-3656"/>
            </a:stretch>
          </a:blipFill>
        </p:spPr>
      </p:sp>
      <p:sp>
        <p:nvSpPr>
          <p:cNvPr id="27" name="TextBox 27"/>
          <p:cNvSpPr txBox="1"/>
          <p:nvPr/>
        </p:nvSpPr>
        <p:spPr>
          <a:xfrm>
            <a:off x="12333684" y="5743280"/>
            <a:ext cx="1957276"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Honeypot</a:t>
            </a:r>
          </a:p>
        </p:txBody>
      </p:sp>
      <p:sp>
        <p:nvSpPr>
          <p:cNvPr id="28" name="TextBox 28"/>
          <p:cNvSpPr txBox="1"/>
          <p:nvPr/>
        </p:nvSpPr>
        <p:spPr>
          <a:xfrm>
            <a:off x="12333684" y="6299149"/>
            <a:ext cx="4678413" cy="1459823"/>
          </a:xfrm>
          <a:prstGeom prst="rect">
            <a:avLst/>
          </a:prstGeom>
        </p:spPr>
        <p:txBody>
          <a:bodyPr lIns="0" tIns="0" rIns="0" bIns="0" rtlCol="0" anchor="t">
            <a:spAutoFit/>
          </a:bodyPr>
          <a:lstStyle/>
          <a:p>
            <a:pPr algn="l">
              <a:lnSpc>
                <a:spcPts val="3908"/>
              </a:lnSpc>
            </a:pPr>
            <a:r>
              <a:rPr lang="en-US" sz="2400">
                <a:solidFill>
                  <a:srgbClr val="E0D6DE"/>
                </a:solidFill>
                <a:latin typeface="Fira Sans"/>
                <a:ea typeface="Fira Sans"/>
                <a:cs typeface="Fira Sans"/>
                <a:sym typeface="Fira Sans"/>
              </a:rPr>
              <a:t>Máy chủ mồi nhử, tạo lỗ hổng để bẫy Hacker và lưu vết cho các cuộc điều tra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sp>
        <p:nvSpPr>
          <p:cNvPr id="6" name="TextBox 6"/>
          <p:cNvSpPr txBox="1"/>
          <p:nvPr/>
        </p:nvSpPr>
        <p:spPr>
          <a:xfrm>
            <a:off x="992238" y="1222029"/>
            <a:ext cx="9602577" cy="836704"/>
          </a:xfrm>
          <a:prstGeom prst="rect">
            <a:avLst/>
          </a:prstGeom>
        </p:spPr>
        <p:txBody>
          <a:bodyPr lIns="0" tIns="0" rIns="0" bIns="0" rtlCol="0" anchor="t">
            <a:spAutoFit/>
          </a:bodyPr>
          <a:lstStyle/>
          <a:p>
            <a:pPr algn="l">
              <a:lnSpc>
                <a:spcPts val="6984"/>
              </a:lnSpc>
            </a:pPr>
            <a:r>
              <a:rPr lang="vi-VN" sz="5600" dirty="0">
                <a:solidFill>
                  <a:srgbClr val="FBF3FA"/>
                </a:solidFill>
                <a:latin typeface="Arimo"/>
                <a:ea typeface="Arimo"/>
                <a:cs typeface="Arimo"/>
                <a:sym typeface="Arimo"/>
              </a:rPr>
              <a:t>Các Loại </a:t>
            </a:r>
            <a:r>
              <a:rPr lang="en-US" sz="5600" dirty="0">
                <a:solidFill>
                  <a:srgbClr val="FBF3FA"/>
                </a:solidFill>
                <a:latin typeface="Arimo"/>
                <a:ea typeface="Arimo"/>
                <a:cs typeface="Arimo"/>
                <a:sym typeface="Arimo"/>
              </a:rPr>
              <a:t>IDS</a:t>
            </a:r>
          </a:p>
        </p:txBody>
      </p:sp>
      <p:sp>
        <p:nvSpPr>
          <p:cNvPr id="7" name="TextBox 7"/>
          <p:cNvSpPr txBox="1"/>
          <p:nvPr/>
        </p:nvSpPr>
        <p:spPr>
          <a:xfrm>
            <a:off x="992238" y="3478854"/>
            <a:ext cx="3481338" cy="596265"/>
          </a:xfrm>
          <a:prstGeom prst="rect">
            <a:avLst/>
          </a:prstGeom>
        </p:spPr>
        <p:txBody>
          <a:bodyPr lIns="0" tIns="0" rIns="0" bIns="0" rtlCol="0" anchor="t">
            <a:spAutoFit/>
          </a:bodyPr>
          <a:lstStyle/>
          <a:p>
            <a:pPr algn="l">
              <a:lnSpc>
                <a:spcPts val="4500"/>
              </a:lnSpc>
            </a:pPr>
            <a:r>
              <a:rPr lang="en-US" sz="3600">
                <a:solidFill>
                  <a:srgbClr val="FBF3FA"/>
                </a:solidFill>
                <a:latin typeface="Arimo"/>
                <a:ea typeface="Arimo"/>
                <a:cs typeface="Arimo"/>
                <a:sym typeface="Arimo"/>
              </a:rPr>
              <a:t>Phân Loại IDS</a:t>
            </a:r>
          </a:p>
        </p:txBody>
      </p:sp>
      <p:sp>
        <p:nvSpPr>
          <p:cNvPr id="8" name="TextBox 8"/>
          <p:cNvSpPr txBox="1"/>
          <p:nvPr/>
        </p:nvSpPr>
        <p:spPr>
          <a:xfrm>
            <a:off x="992238" y="4157662"/>
            <a:ext cx="6206438" cy="942628"/>
          </a:xfrm>
          <a:prstGeom prst="rect">
            <a:avLst/>
          </a:prstGeom>
        </p:spPr>
        <p:txBody>
          <a:bodyPr lIns="0" tIns="0" rIns="0" bIns="0" rtlCol="0" anchor="t">
            <a:spAutoFit/>
          </a:bodyPr>
          <a:lstStyle/>
          <a:p>
            <a:pPr algn="l">
              <a:lnSpc>
                <a:spcPts val="3857"/>
              </a:lnSpc>
            </a:pPr>
            <a:r>
              <a:rPr lang="en-US" sz="2400" b="1">
                <a:solidFill>
                  <a:srgbClr val="E0D6DE"/>
                </a:solidFill>
                <a:latin typeface="Fira Sans Bold"/>
                <a:ea typeface="Fira Sans Bold"/>
                <a:cs typeface="Fira Sans Bold"/>
                <a:sym typeface="Fira Sans Bold"/>
              </a:rPr>
              <a:t>HIDS (Host-based):</a:t>
            </a:r>
            <a:r>
              <a:rPr lang="en-US" sz="2400">
                <a:solidFill>
                  <a:srgbClr val="E0D6DE"/>
                </a:solidFill>
                <a:latin typeface="Fira Sans"/>
                <a:ea typeface="Fira Sans"/>
                <a:cs typeface="Fira Sans"/>
                <a:sym typeface="Fira Sans"/>
              </a:rPr>
              <a:t> Cài trên 1 máy tính duy nhất, bảo vệ cục bộ</a:t>
            </a:r>
          </a:p>
        </p:txBody>
      </p:sp>
      <p:sp>
        <p:nvSpPr>
          <p:cNvPr id="9" name="TextBox 9"/>
          <p:cNvSpPr txBox="1"/>
          <p:nvPr/>
        </p:nvSpPr>
        <p:spPr>
          <a:xfrm>
            <a:off x="992238" y="5138442"/>
            <a:ext cx="6206438" cy="942628"/>
          </a:xfrm>
          <a:prstGeom prst="rect">
            <a:avLst/>
          </a:prstGeom>
        </p:spPr>
        <p:txBody>
          <a:bodyPr lIns="0" tIns="0" rIns="0" bIns="0" rtlCol="0" anchor="t">
            <a:spAutoFit/>
          </a:bodyPr>
          <a:lstStyle/>
          <a:p>
            <a:pPr algn="l">
              <a:lnSpc>
                <a:spcPts val="3857"/>
              </a:lnSpc>
            </a:pPr>
            <a:r>
              <a:rPr lang="en-US" sz="2400" b="1" dirty="0">
                <a:solidFill>
                  <a:srgbClr val="E0D6DE"/>
                </a:solidFill>
                <a:latin typeface="Fira Sans Bold"/>
                <a:ea typeface="Fira Sans Bold"/>
                <a:cs typeface="Fira Sans Bold"/>
                <a:sym typeface="Fira Sans Bold"/>
              </a:rPr>
              <a:t>NIDS (Network-based):</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Đứng</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vòng</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ngoài</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giám</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sát</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toàn</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mạng</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như</a:t>
            </a:r>
            <a:r>
              <a:rPr lang="en-US" sz="2400" dirty="0">
                <a:solidFill>
                  <a:srgbClr val="E0D6DE"/>
                </a:solidFill>
                <a:latin typeface="Fira Sans"/>
                <a:ea typeface="Fira Sans"/>
                <a:cs typeface="Fira Sans"/>
                <a:sym typeface="Fira Sans"/>
              </a:rPr>
              <a:t> Passive sniffer</a:t>
            </a:r>
          </a:p>
        </p:txBody>
      </p:sp>
      <p:sp>
        <p:nvSpPr>
          <p:cNvPr id="10" name="TextBox 10"/>
          <p:cNvSpPr txBox="1"/>
          <p:nvPr/>
        </p:nvSpPr>
        <p:spPr>
          <a:xfrm>
            <a:off x="992238" y="6195270"/>
            <a:ext cx="3521096" cy="596265"/>
          </a:xfrm>
          <a:prstGeom prst="rect">
            <a:avLst/>
          </a:prstGeom>
        </p:spPr>
        <p:txBody>
          <a:bodyPr lIns="0" tIns="0" rIns="0" bIns="0" rtlCol="0" anchor="t">
            <a:spAutoFit/>
          </a:bodyPr>
          <a:lstStyle/>
          <a:p>
            <a:pPr algn="l">
              <a:lnSpc>
                <a:spcPts val="4500"/>
              </a:lnSpc>
            </a:pPr>
            <a:r>
              <a:rPr lang="en-US" sz="3600">
                <a:solidFill>
                  <a:srgbClr val="FBF3FA"/>
                </a:solidFill>
                <a:latin typeface="Arimo"/>
                <a:ea typeface="Arimo"/>
                <a:cs typeface="Arimo"/>
                <a:sym typeface="Arimo"/>
              </a:rPr>
              <a:t>Ưu điểm NIDS</a:t>
            </a:r>
          </a:p>
        </p:txBody>
      </p:sp>
      <p:sp>
        <p:nvSpPr>
          <p:cNvPr id="11" name="TextBox 11"/>
          <p:cNvSpPr txBox="1"/>
          <p:nvPr/>
        </p:nvSpPr>
        <p:spPr>
          <a:xfrm>
            <a:off x="992238" y="6864553"/>
            <a:ext cx="6206438" cy="1459823"/>
          </a:xfrm>
          <a:prstGeom prst="rect">
            <a:avLst/>
          </a:prstGeom>
        </p:spPr>
        <p:txBody>
          <a:bodyPr lIns="0" tIns="0" rIns="0" bIns="0" rtlCol="0" anchor="t">
            <a:spAutoFit/>
          </a:bodyPr>
          <a:lstStyle/>
          <a:p>
            <a:pPr marL="361950" lvl="1" indent="-180975" algn="l">
              <a:lnSpc>
                <a:spcPts val="3908"/>
              </a:lnSpc>
              <a:buFont typeface="Arial"/>
              <a:buChar char="•"/>
            </a:pPr>
            <a:r>
              <a:rPr lang="en-US" sz="2400" dirty="0" err="1">
                <a:solidFill>
                  <a:srgbClr val="E0D6DE"/>
                </a:solidFill>
                <a:latin typeface="Fira Sans"/>
                <a:ea typeface="Fira Sans"/>
                <a:cs typeface="Fira Sans"/>
                <a:sym typeface="Fira Sans"/>
              </a:rPr>
              <a:t>Bắt</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được</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lỗi</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leo</a:t>
            </a:r>
            <a:r>
              <a:rPr lang="en-US" sz="2400" dirty="0">
                <a:solidFill>
                  <a:srgbClr val="E0D6DE"/>
                </a:solidFill>
                <a:latin typeface="Fira Sans"/>
                <a:ea typeface="Fira Sans"/>
                <a:cs typeface="Fira Sans"/>
                <a:sym typeface="Fira Sans"/>
              </a:rPr>
              <a:t> thang </a:t>
            </a:r>
            <a:r>
              <a:rPr lang="en-US" sz="2400" dirty="0" err="1">
                <a:solidFill>
                  <a:srgbClr val="E0D6DE"/>
                </a:solidFill>
                <a:latin typeface="Fira Sans"/>
                <a:ea typeface="Fira Sans"/>
                <a:cs typeface="Fira Sans"/>
                <a:sym typeface="Fira Sans"/>
              </a:rPr>
              <a:t>đặc</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quyền</a:t>
            </a:r>
            <a:endParaRPr lang="en-US" sz="2400" dirty="0">
              <a:solidFill>
                <a:srgbClr val="E0D6DE"/>
              </a:solidFill>
              <a:latin typeface="Fira Sans"/>
              <a:ea typeface="Fira Sans"/>
              <a:cs typeface="Fira Sans"/>
              <a:sym typeface="Fira Sans"/>
            </a:endParaRPr>
          </a:p>
          <a:p>
            <a:pPr marL="361950" lvl="1" indent="-180975" algn="l">
              <a:lnSpc>
                <a:spcPts val="3908"/>
              </a:lnSpc>
              <a:buFont typeface="Arial"/>
              <a:buChar char="•"/>
            </a:pPr>
            <a:r>
              <a:rPr lang="en-US" sz="2400" dirty="0" err="1">
                <a:solidFill>
                  <a:srgbClr val="E0D6DE"/>
                </a:solidFill>
                <a:latin typeface="Fira Sans"/>
                <a:ea typeface="Fira Sans"/>
                <a:cs typeface="Fira Sans"/>
                <a:sym typeface="Fira Sans"/>
              </a:rPr>
              <a:t>Dò</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quét</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cổng</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và</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mã</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độc</a:t>
            </a:r>
            <a:endParaRPr lang="en-US" sz="2400" dirty="0">
              <a:solidFill>
                <a:srgbClr val="E0D6DE"/>
              </a:solidFill>
              <a:latin typeface="Fira Sans"/>
              <a:ea typeface="Fira Sans"/>
              <a:cs typeface="Fira Sans"/>
              <a:sym typeface="Fira Sans"/>
            </a:endParaRPr>
          </a:p>
          <a:p>
            <a:pPr marL="361950" lvl="1" indent="-180975" algn="l">
              <a:lnSpc>
                <a:spcPts val="3908"/>
              </a:lnSpc>
              <a:buFont typeface="Arial"/>
              <a:buChar char="•"/>
            </a:pPr>
            <a:r>
              <a:rPr lang="en-US" sz="2400" dirty="0" err="1">
                <a:solidFill>
                  <a:srgbClr val="E0D6DE"/>
                </a:solidFill>
                <a:latin typeface="Fira Sans"/>
                <a:ea typeface="Fira Sans"/>
                <a:cs typeface="Fira Sans"/>
                <a:sym typeface="Fira Sans"/>
              </a:rPr>
              <a:t>Phát</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hiện</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tấn</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công</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mà</a:t>
            </a:r>
            <a:r>
              <a:rPr lang="en-US" sz="2400" dirty="0">
                <a:solidFill>
                  <a:srgbClr val="E0D6DE"/>
                </a:solidFill>
                <a:latin typeface="Fira Sans"/>
                <a:ea typeface="Fira Sans"/>
                <a:cs typeface="Fira Sans"/>
                <a:sym typeface="Fira Sans"/>
              </a:rPr>
              <a:t> Firewall </a:t>
            </a:r>
            <a:r>
              <a:rPr lang="en-US" sz="2400" dirty="0" err="1">
                <a:solidFill>
                  <a:srgbClr val="E0D6DE"/>
                </a:solidFill>
                <a:latin typeface="Fira Sans"/>
                <a:ea typeface="Fira Sans"/>
                <a:cs typeface="Fira Sans"/>
                <a:sym typeface="Fira Sans"/>
              </a:rPr>
              <a:t>bỏ</a:t>
            </a:r>
            <a:r>
              <a:rPr lang="en-US" sz="2400" dirty="0">
                <a:solidFill>
                  <a:srgbClr val="E0D6DE"/>
                </a:solidFill>
                <a:latin typeface="Fira Sans"/>
                <a:ea typeface="Fira Sans"/>
                <a:cs typeface="Fira Sans"/>
                <a:sym typeface="Fira Sans"/>
              </a:rPr>
              <a:t> </a:t>
            </a:r>
            <a:r>
              <a:rPr lang="en-US" sz="2400" dirty="0" err="1">
                <a:solidFill>
                  <a:srgbClr val="E0D6DE"/>
                </a:solidFill>
                <a:latin typeface="Fira Sans"/>
                <a:ea typeface="Fira Sans"/>
                <a:cs typeface="Fira Sans"/>
                <a:sym typeface="Fira Sans"/>
              </a:rPr>
              <a:t>sót</a:t>
            </a:r>
            <a:endParaRPr lang="en-US" sz="2400" dirty="0">
              <a:solidFill>
                <a:srgbClr val="E0D6DE"/>
              </a:solidFill>
              <a:latin typeface="Fira Sans"/>
              <a:ea typeface="Fira Sans"/>
              <a:cs typeface="Fira Sans"/>
              <a:sym typeface="Fira Sans"/>
            </a:endParaRPr>
          </a:p>
        </p:txBody>
      </p:sp>
      <p:grpSp>
        <p:nvGrpSpPr>
          <p:cNvPr id="12" name="Group 12"/>
          <p:cNvGrpSpPr/>
          <p:nvPr/>
        </p:nvGrpSpPr>
        <p:grpSpPr>
          <a:xfrm>
            <a:off x="7697342" y="2378696"/>
            <a:ext cx="9561958" cy="6557370"/>
            <a:chOff x="0" y="0"/>
            <a:chExt cx="13806881" cy="9468440"/>
          </a:xfrm>
        </p:grpSpPr>
        <p:sp>
          <p:nvSpPr>
            <p:cNvPr id="13" name="Freeform 13"/>
            <p:cNvSpPr/>
            <p:nvPr/>
          </p:nvSpPr>
          <p:spPr>
            <a:xfrm>
              <a:off x="0" y="0"/>
              <a:ext cx="13806932" cy="9468424"/>
            </a:xfrm>
            <a:custGeom>
              <a:avLst/>
              <a:gdLst/>
              <a:ahLst/>
              <a:cxnLst/>
              <a:rect l="l" t="t" r="r" b="b"/>
              <a:pathLst>
                <a:path w="13806932" h="9468424">
                  <a:moveTo>
                    <a:pt x="0" y="0"/>
                  </a:moveTo>
                  <a:lnTo>
                    <a:pt x="13806932" y="0"/>
                  </a:lnTo>
                  <a:lnTo>
                    <a:pt x="13806932" y="9468424"/>
                  </a:lnTo>
                  <a:lnTo>
                    <a:pt x="0" y="9468424"/>
                  </a:lnTo>
                  <a:lnTo>
                    <a:pt x="0" y="0"/>
                  </a:lnTo>
                  <a:close/>
                </a:path>
              </a:pathLst>
            </a:custGeom>
            <a:blipFill>
              <a:blip r:embed="rId2"/>
              <a:stretch>
                <a:fillRect t="-4616" b="-4616"/>
              </a:stretch>
            </a:blipFill>
          </p:spPr>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2"/>
              <a:stretch>
                <a:fillRect/>
              </a:stretch>
            </a:blipFill>
          </p:spPr>
        </p:sp>
      </p:grpSp>
      <p:sp>
        <p:nvSpPr>
          <p:cNvPr id="8" name="TextBox 8"/>
          <p:cNvSpPr txBox="1"/>
          <p:nvPr/>
        </p:nvSpPr>
        <p:spPr>
          <a:xfrm>
            <a:off x="7490968" y="544423"/>
            <a:ext cx="8616032" cy="915390"/>
          </a:xfrm>
          <a:prstGeom prst="rect">
            <a:avLst/>
          </a:prstGeom>
        </p:spPr>
        <p:txBody>
          <a:bodyPr lIns="0" tIns="0" rIns="0" bIns="0" rtlCol="0" anchor="t">
            <a:spAutoFit/>
          </a:bodyPr>
          <a:lstStyle/>
          <a:p>
            <a:pPr algn="l">
              <a:lnSpc>
                <a:spcPts val="7087"/>
              </a:lnSpc>
            </a:pPr>
            <a:r>
              <a:rPr lang="en-US" sz="5600">
                <a:solidFill>
                  <a:srgbClr val="FBF3FA"/>
                </a:solidFill>
                <a:latin typeface="Arimo"/>
                <a:ea typeface="Arimo"/>
                <a:cs typeface="Arimo"/>
                <a:sym typeface="Arimo"/>
              </a:rPr>
              <a:t>Công Cụ Dò Tìm Snort IDS</a:t>
            </a:r>
          </a:p>
        </p:txBody>
      </p:sp>
      <p:sp>
        <p:nvSpPr>
          <p:cNvPr id="9" name="TextBox 9"/>
          <p:cNvSpPr txBox="1"/>
          <p:nvPr/>
        </p:nvSpPr>
        <p:spPr>
          <a:xfrm>
            <a:off x="7490968" y="1697938"/>
            <a:ext cx="2186285" cy="596265"/>
          </a:xfrm>
          <a:prstGeom prst="rect">
            <a:avLst/>
          </a:prstGeom>
        </p:spPr>
        <p:txBody>
          <a:bodyPr lIns="0" tIns="0" rIns="0" bIns="0" rtlCol="0" anchor="t">
            <a:spAutoFit/>
          </a:bodyPr>
          <a:lstStyle/>
          <a:p>
            <a:pPr algn="l">
              <a:lnSpc>
                <a:spcPts val="4500"/>
              </a:lnSpc>
            </a:pPr>
            <a:r>
              <a:rPr lang="en-US" sz="3600">
                <a:solidFill>
                  <a:srgbClr val="FBF3FA"/>
                </a:solidFill>
                <a:latin typeface="Arimo"/>
                <a:ea typeface="Arimo"/>
                <a:cs typeface="Arimo"/>
                <a:sym typeface="Arimo"/>
              </a:rPr>
              <a:t>Tổng quan</a:t>
            </a:r>
          </a:p>
        </p:txBody>
      </p:sp>
      <p:sp>
        <p:nvSpPr>
          <p:cNvPr id="10" name="TextBox 10"/>
          <p:cNvSpPr txBox="1"/>
          <p:nvPr/>
        </p:nvSpPr>
        <p:spPr>
          <a:xfrm>
            <a:off x="7608684" y="2351353"/>
            <a:ext cx="9985772" cy="824939"/>
          </a:xfrm>
          <a:prstGeom prst="rect">
            <a:avLst/>
          </a:prstGeom>
        </p:spPr>
        <p:txBody>
          <a:bodyPr lIns="0" tIns="0" rIns="0" bIns="0" rtlCol="0" anchor="t">
            <a:spAutoFit/>
          </a:bodyPr>
          <a:lstStyle/>
          <a:p>
            <a:pPr algn="l">
              <a:lnSpc>
                <a:spcPts val="3359"/>
              </a:lnSpc>
            </a:pPr>
            <a:r>
              <a:rPr lang="en-US" sz="2400">
                <a:solidFill>
                  <a:srgbClr val="E0D6DE"/>
                </a:solidFill>
                <a:latin typeface="Fira Sans"/>
                <a:ea typeface="Fira Sans"/>
                <a:cs typeface="Fira Sans"/>
                <a:sym typeface="Fira Sans"/>
              </a:rPr>
              <a:t>Phần mềm IDS mã nguồn mở mạnh mẽ nhất, có khả năng hoạt động cả HIDS và NIDS</a:t>
            </a:r>
          </a:p>
        </p:txBody>
      </p:sp>
      <p:grpSp>
        <p:nvGrpSpPr>
          <p:cNvPr id="11" name="Group 11"/>
          <p:cNvGrpSpPr/>
          <p:nvPr/>
        </p:nvGrpSpPr>
        <p:grpSpPr>
          <a:xfrm>
            <a:off x="7565822" y="3281067"/>
            <a:ext cx="10363604" cy="1357754"/>
            <a:chOff x="0" y="0"/>
            <a:chExt cx="13818139" cy="1810338"/>
          </a:xfrm>
        </p:grpSpPr>
        <p:sp>
          <p:nvSpPr>
            <p:cNvPr id="12" name="Freeform 12"/>
            <p:cNvSpPr/>
            <p:nvPr/>
          </p:nvSpPr>
          <p:spPr>
            <a:xfrm>
              <a:off x="19714" y="20422"/>
              <a:ext cx="13778646" cy="1769508"/>
            </a:xfrm>
            <a:custGeom>
              <a:avLst/>
              <a:gdLst/>
              <a:ahLst/>
              <a:cxnLst/>
              <a:rect l="l" t="t" r="r" b="b"/>
              <a:pathLst>
                <a:path w="13778646" h="1769508">
                  <a:moveTo>
                    <a:pt x="0" y="44248"/>
                  </a:moveTo>
                  <a:cubicBezTo>
                    <a:pt x="0" y="19741"/>
                    <a:pt x="19452" y="0"/>
                    <a:pt x="43503" y="0"/>
                  </a:cubicBezTo>
                  <a:lnTo>
                    <a:pt x="13735143" y="0"/>
                  </a:lnTo>
                  <a:cubicBezTo>
                    <a:pt x="13759194" y="0"/>
                    <a:pt x="13778647" y="19741"/>
                    <a:pt x="13778647" y="44248"/>
                  </a:cubicBezTo>
                  <a:lnTo>
                    <a:pt x="13778647" y="1725260"/>
                  </a:lnTo>
                  <a:cubicBezTo>
                    <a:pt x="13778647" y="1749630"/>
                    <a:pt x="13759194" y="1769508"/>
                    <a:pt x="13735143" y="1769508"/>
                  </a:cubicBezTo>
                  <a:lnTo>
                    <a:pt x="43503" y="1769508"/>
                  </a:lnTo>
                  <a:cubicBezTo>
                    <a:pt x="19452" y="1769508"/>
                    <a:pt x="0" y="1749766"/>
                    <a:pt x="0" y="1725260"/>
                  </a:cubicBezTo>
                  <a:close/>
                </a:path>
              </a:pathLst>
            </a:custGeom>
            <a:solidFill>
              <a:srgbClr val="0F0F10"/>
            </a:solidFill>
          </p:spPr>
        </p:sp>
        <p:sp>
          <p:nvSpPr>
            <p:cNvPr id="13" name="Freeform 13"/>
            <p:cNvSpPr/>
            <p:nvPr/>
          </p:nvSpPr>
          <p:spPr>
            <a:xfrm>
              <a:off x="0" y="0"/>
              <a:ext cx="13818074" cy="1810351"/>
            </a:xfrm>
            <a:custGeom>
              <a:avLst/>
              <a:gdLst/>
              <a:ahLst/>
              <a:cxnLst/>
              <a:rect l="l" t="t" r="r" b="b"/>
              <a:pathLst>
                <a:path w="13818074" h="1810351">
                  <a:moveTo>
                    <a:pt x="0" y="64670"/>
                  </a:moveTo>
                  <a:cubicBezTo>
                    <a:pt x="0" y="28591"/>
                    <a:pt x="28652" y="0"/>
                    <a:pt x="63217" y="0"/>
                  </a:cubicBezTo>
                  <a:lnTo>
                    <a:pt x="13754857" y="0"/>
                  </a:lnTo>
                  <a:lnTo>
                    <a:pt x="13754857" y="20422"/>
                  </a:lnTo>
                  <a:lnTo>
                    <a:pt x="13754857" y="0"/>
                  </a:lnTo>
                  <a:cubicBezTo>
                    <a:pt x="13789423" y="0"/>
                    <a:pt x="13818074" y="28591"/>
                    <a:pt x="13818074" y="64670"/>
                  </a:cubicBezTo>
                  <a:lnTo>
                    <a:pt x="13798361" y="64670"/>
                  </a:lnTo>
                  <a:lnTo>
                    <a:pt x="13818074" y="64670"/>
                  </a:lnTo>
                  <a:lnTo>
                    <a:pt x="13818074" y="1745682"/>
                  </a:lnTo>
                  <a:lnTo>
                    <a:pt x="13798361" y="1745682"/>
                  </a:lnTo>
                  <a:lnTo>
                    <a:pt x="13818074" y="1745682"/>
                  </a:lnTo>
                  <a:cubicBezTo>
                    <a:pt x="13818074" y="1781761"/>
                    <a:pt x="13789423" y="1810351"/>
                    <a:pt x="13754857" y="1810351"/>
                  </a:cubicBezTo>
                  <a:lnTo>
                    <a:pt x="13754857" y="1789930"/>
                  </a:lnTo>
                  <a:lnTo>
                    <a:pt x="13754857" y="1810351"/>
                  </a:lnTo>
                  <a:lnTo>
                    <a:pt x="63217" y="1810351"/>
                  </a:lnTo>
                  <a:lnTo>
                    <a:pt x="63217" y="1789930"/>
                  </a:lnTo>
                  <a:lnTo>
                    <a:pt x="63217" y="1810351"/>
                  </a:lnTo>
                  <a:cubicBezTo>
                    <a:pt x="28652" y="1810351"/>
                    <a:pt x="0" y="1781761"/>
                    <a:pt x="0" y="1745682"/>
                  </a:cubicBezTo>
                  <a:lnTo>
                    <a:pt x="0" y="64670"/>
                  </a:lnTo>
                  <a:lnTo>
                    <a:pt x="19714" y="64670"/>
                  </a:lnTo>
                  <a:lnTo>
                    <a:pt x="0" y="64670"/>
                  </a:lnTo>
                  <a:moveTo>
                    <a:pt x="39429" y="64670"/>
                  </a:moveTo>
                  <a:lnTo>
                    <a:pt x="39429" y="1745682"/>
                  </a:lnTo>
                  <a:lnTo>
                    <a:pt x="19714" y="1745682"/>
                  </a:lnTo>
                  <a:lnTo>
                    <a:pt x="39429" y="1745682"/>
                  </a:lnTo>
                  <a:cubicBezTo>
                    <a:pt x="39429" y="1758480"/>
                    <a:pt x="49680" y="1769507"/>
                    <a:pt x="63217" y="1769507"/>
                  </a:cubicBezTo>
                  <a:lnTo>
                    <a:pt x="13754857" y="1769507"/>
                  </a:lnTo>
                  <a:cubicBezTo>
                    <a:pt x="13768395" y="1769507"/>
                    <a:pt x="13778646" y="1758480"/>
                    <a:pt x="13778646" y="1745682"/>
                  </a:cubicBezTo>
                  <a:lnTo>
                    <a:pt x="13778646" y="64670"/>
                  </a:lnTo>
                  <a:cubicBezTo>
                    <a:pt x="13778646" y="51872"/>
                    <a:pt x="13768395" y="40844"/>
                    <a:pt x="13754857" y="40844"/>
                  </a:cubicBezTo>
                  <a:lnTo>
                    <a:pt x="63217" y="40844"/>
                  </a:lnTo>
                  <a:lnTo>
                    <a:pt x="63217" y="20422"/>
                  </a:lnTo>
                  <a:lnTo>
                    <a:pt x="63217" y="40844"/>
                  </a:lnTo>
                  <a:cubicBezTo>
                    <a:pt x="49680" y="40844"/>
                    <a:pt x="39429" y="51872"/>
                    <a:pt x="39429" y="64670"/>
                  </a:cubicBezTo>
                  <a:close/>
                </a:path>
              </a:pathLst>
            </a:custGeom>
            <a:solidFill>
              <a:srgbClr val="474748"/>
            </a:solidFill>
          </p:spPr>
        </p:sp>
      </p:grpSp>
      <p:grpSp>
        <p:nvGrpSpPr>
          <p:cNvPr id="14" name="Group 14"/>
          <p:cNvGrpSpPr/>
          <p:nvPr/>
        </p:nvGrpSpPr>
        <p:grpSpPr>
          <a:xfrm>
            <a:off x="7644630" y="3361331"/>
            <a:ext cx="825256" cy="1180805"/>
            <a:chOff x="0" y="0"/>
            <a:chExt cx="1100341" cy="1574406"/>
          </a:xfrm>
        </p:grpSpPr>
        <p:sp>
          <p:nvSpPr>
            <p:cNvPr id="15" name="Freeform 15"/>
            <p:cNvSpPr/>
            <p:nvPr/>
          </p:nvSpPr>
          <p:spPr>
            <a:xfrm>
              <a:off x="0" y="0"/>
              <a:ext cx="1100328" cy="1574419"/>
            </a:xfrm>
            <a:custGeom>
              <a:avLst/>
              <a:gdLst/>
              <a:ahLst/>
              <a:cxnLst/>
              <a:rect l="l" t="t" r="r" b="b"/>
              <a:pathLst>
                <a:path w="1100328" h="1574419">
                  <a:moveTo>
                    <a:pt x="0" y="0"/>
                  </a:moveTo>
                  <a:lnTo>
                    <a:pt x="1100328" y="0"/>
                  </a:lnTo>
                  <a:lnTo>
                    <a:pt x="1100328" y="1574419"/>
                  </a:lnTo>
                  <a:lnTo>
                    <a:pt x="0" y="1574419"/>
                  </a:lnTo>
                  <a:close/>
                </a:path>
              </a:pathLst>
            </a:custGeom>
            <a:solidFill>
              <a:srgbClr val="2E2E2F"/>
            </a:solidFill>
          </p:spPr>
        </p:sp>
      </p:grpSp>
      <p:sp>
        <p:nvSpPr>
          <p:cNvPr id="16" name="TextBox 16"/>
          <p:cNvSpPr txBox="1"/>
          <p:nvPr/>
        </p:nvSpPr>
        <p:spPr>
          <a:xfrm>
            <a:off x="7902557" y="3796357"/>
            <a:ext cx="309410" cy="348701"/>
          </a:xfrm>
          <a:prstGeom prst="rect">
            <a:avLst/>
          </a:prstGeom>
        </p:spPr>
        <p:txBody>
          <a:bodyPr lIns="0" tIns="0" rIns="0" bIns="0" rtlCol="0" anchor="t">
            <a:spAutoFit/>
          </a:bodyPr>
          <a:lstStyle/>
          <a:p>
            <a:pPr algn="l">
              <a:lnSpc>
                <a:spcPts val="2375"/>
              </a:lnSpc>
            </a:pPr>
            <a:r>
              <a:rPr lang="en-US" sz="2375">
                <a:solidFill>
                  <a:srgbClr val="E0D6DE"/>
                </a:solidFill>
                <a:latin typeface="Arimo"/>
                <a:ea typeface="Arimo"/>
                <a:cs typeface="Arimo"/>
                <a:sym typeface="Arimo"/>
              </a:rPr>
              <a:t>1</a:t>
            </a:r>
          </a:p>
        </p:txBody>
      </p:sp>
      <p:sp>
        <p:nvSpPr>
          <p:cNvPr id="17" name="TextBox 17"/>
          <p:cNvSpPr txBox="1"/>
          <p:nvPr/>
        </p:nvSpPr>
        <p:spPr>
          <a:xfrm>
            <a:off x="8620057" y="3363679"/>
            <a:ext cx="2592214"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Sniffer Mode</a:t>
            </a:r>
          </a:p>
        </p:txBody>
      </p:sp>
      <p:sp>
        <p:nvSpPr>
          <p:cNvPr id="18" name="TextBox 18"/>
          <p:cNvSpPr txBox="1"/>
          <p:nvPr/>
        </p:nvSpPr>
        <p:spPr>
          <a:xfrm>
            <a:off x="8620057" y="3897363"/>
            <a:ext cx="9205612" cy="737309"/>
          </a:xfrm>
          <a:prstGeom prst="rect">
            <a:avLst/>
          </a:prstGeom>
        </p:spPr>
        <p:txBody>
          <a:bodyPr lIns="0" tIns="0" rIns="0" bIns="0" rtlCol="0" anchor="t">
            <a:spAutoFit/>
          </a:bodyPr>
          <a:lstStyle/>
          <a:p>
            <a:pPr algn="l">
              <a:lnSpc>
                <a:spcPts val="2940"/>
              </a:lnSpc>
            </a:pPr>
            <a:r>
              <a:rPr lang="en-US" sz="2100">
                <a:solidFill>
                  <a:srgbClr val="E0D6DE"/>
                </a:solidFill>
                <a:latin typeface="Fira Sans"/>
                <a:ea typeface="Fira Sans"/>
                <a:cs typeface="Fira Sans"/>
                <a:sym typeface="Fira Sans"/>
              </a:rPr>
              <a:t>Lắng nghe và đọc các gói tin trên mạng, trình bày kết quả trên giao diện hiển thị</a:t>
            </a:r>
          </a:p>
        </p:txBody>
      </p:sp>
      <p:grpSp>
        <p:nvGrpSpPr>
          <p:cNvPr id="19" name="Group 19"/>
          <p:cNvGrpSpPr/>
          <p:nvPr/>
        </p:nvGrpSpPr>
        <p:grpSpPr>
          <a:xfrm>
            <a:off x="7565822" y="4769165"/>
            <a:ext cx="10363604" cy="1357754"/>
            <a:chOff x="0" y="0"/>
            <a:chExt cx="13818139" cy="1810338"/>
          </a:xfrm>
        </p:grpSpPr>
        <p:sp>
          <p:nvSpPr>
            <p:cNvPr id="20" name="Freeform 20"/>
            <p:cNvSpPr/>
            <p:nvPr/>
          </p:nvSpPr>
          <p:spPr>
            <a:xfrm>
              <a:off x="19714" y="20422"/>
              <a:ext cx="13778646" cy="1769508"/>
            </a:xfrm>
            <a:custGeom>
              <a:avLst/>
              <a:gdLst/>
              <a:ahLst/>
              <a:cxnLst/>
              <a:rect l="l" t="t" r="r" b="b"/>
              <a:pathLst>
                <a:path w="13778646" h="1769508">
                  <a:moveTo>
                    <a:pt x="0" y="44248"/>
                  </a:moveTo>
                  <a:cubicBezTo>
                    <a:pt x="0" y="19741"/>
                    <a:pt x="19452" y="0"/>
                    <a:pt x="43503" y="0"/>
                  </a:cubicBezTo>
                  <a:lnTo>
                    <a:pt x="13735143" y="0"/>
                  </a:lnTo>
                  <a:cubicBezTo>
                    <a:pt x="13759194" y="0"/>
                    <a:pt x="13778647" y="19741"/>
                    <a:pt x="13778647" y="44248"/>
                  </a:cubicBezTo>
                  <a:lnTo>
                    <a:pt x="13778647" y="1725260"/>
                  </a:lnTo>
                  <a:cubicBezTo>
                    <a:pt x="13778647" y="1749630"/>
                    <a:pt x="13759194" y="1769508"/>
                    <a:pt x="13735143" y="1769508"/>
                  </a:cubicBezTo>
                  <a:lnTo>
                    <a:pt x="43503" y="1769508"/>
                  </a:lnTo>
                  <a:cubicBezTo>
                    <a:pt x="19452" y="1769508"/>
                    <a:pt x="0" y="1749766"/>
                    <a:pt x="0" y="1725260"/>
                  </a:cubicBezTo>
                  <a:close/>
                </a:path>
              </a:pathLst>
            </a:custGeom>
            <a:solidFill>
              <a:srgbClr val="0F0F10"/>
            </a:solidFill>
          </p:spPr>
        </p:sp>
        <p:sp>
          <p:nvSpPr>
            <p:cNvPr id="21" name="Freeform 21"/>
            <p:cNvSpPr/>
            <p:nvPr/>
          </p:nvSpPr>
          <p:spPr>
            <a:xfrm>
              <a:off x="0" y="0"/>
              <a:ext cx="13818074" cy="1810351"/>
            </a:xfrm>
            <a:custGeom>
              <a:avLst/>
              <a:gdLst/>
              <a:ahLst/>
              <a:cxnLst/>
              <a:rect l="l" t="t" r="r" b="b"/>
              <a:pathLst>
                <a:path w="13818074" h="1810351">
                  <a:moveTo>
                    <a:pt x="0" y="64670"/>
                  </a:moveTo>
                  <a:cubicBezTo>
                    <a:pt x="0" y="28591"/>
                    <a:pt x="28652" y="0"/>
                    <a:pt x="63217" y="0"/>
                  </a:cubicBezTo>
                  <a:lnTo>
                    <a:pt x="13754857" y="0"/>
                  </a:lnTo>
                  <a:lnTo>
                    <a:pt x="13754857" y="20422"/>
                  </a:lnTo>
                  <a:lnTo>
                    <a:pt x="13754857" y="0"/>
                  </a:lnTo>
                  <a:cubicBezTo>
                    <a:pt x="13789423" y="0"/>
                    <a:pt x="13818074" y="28591"/>
                    <a:pt x="13818074" y="64670"/>
                  </a:cubicBezTo>
                  <a:lnTo>
                    <a:pt x="13798361" y="64670"/>
                  </a:lnTo>
                  <a:lnTo>
                    <a:pt x="13818074" y="64670"/>
                  </a:lnTo>
                  <a:lnTo>
                    <a:pt x="13818074" y="1745682"/>
                  </a:lnTo>
                  <a:lnTo>
                    <a:pt x="13798361" y="1745682"/>
                  </a:lnTo>
                  <a:lnTo>
                    <a:pt x="13818074" y="1745682"/>
                  </a:lnTo>
                  <a:cubicBezTo>
                    <a:pt x="13818074" y="1781761"/>
                    <a:pt x="13789423" y="1810351"/>
                    <a:pt x="13754857" y="1810351"/>
                  </a:cubicBezTo>
                  <a:lnTo>
                    <a:pt x="13754857" y="1789930"/>
                  </a:lnTo>
                  <a:lnTo>
                    <a:pt x="13754857" y="1810351"/>
                  </a:lnTo>
                  <a:lnTo>
                    <a:pt x="63217" y="1810351"/>
                  </a:lnTo>
                  <a:lnTo>
                    <a:pt x="63217" y="1789930"/>
                  </a:lnTo>
                  <a:lnTo>
                    <a:pt x="63217" y="1810351"/>
                  </a:lnTo>
                  <a:cubicBezTo>
                    <a:pt x="28652" y="1810351"/>
                    <a:pt x="0" y="1781761"/>
                    <a:pt x="0" y="1745682"/>
                  </a:cubicBezTo>
                  <a:lnTo>
                    <a:pt x="0" y="64670"/>
                  </a:lnTo>
                  <a:lnTo>
                    <a:pt x="19714" y="64670"/>
                  </a:lnTo>
                  <a:lnTo>
                    <a:pt x="0" y="64670"/>
                  </a:lnTo>
                  <a:moveTo>
                    <a:pt x="39429" y="64670"/>
                  </a:moveTo>
                  <a:lnTo>
                    <a:pt x="39429" y="1745682"/>
                  </a:lnTo>
                  <a:lnTo>
                    <a:pt x="19714" y="1745682"/>
                  </a:lnTo>
                  <a:lnTo>
                    <a:pt x="39429" y="1745682"/>
                  </a:lnTo>
                  <a:cubicBezTo>
                    <a:pt x="39429" y="1758480"/>
                    <a:pt x="49680" y="1769507"/>
                    <a:pt x="63217" y="1769507"/>
                  </a:cubicBezTo>
                  <a:lnTo>
                    <a:pt x="13754857" y="1769507"/>
                  </a:lnTo>
                  <a:cubicBezTo>
                    <a:pt x="13768395" y="1769507"/>
                    <a:pt x="13778646" y="1758480"/>
                    <a:pt x="13778646" y="1745682"/>
                  </a:cubicBezTo>
                  <a:lnTo>
                    <a:pt x="13778646" y="64670"/>
                  </a:lnTo>
                  <a:cubicBezTo>
                    <a:pt x="13778646" y="51872"/>
                    <a:pt x="13768395" y="40844"/>
                    <a:pt x="13754857" y="40844"/>
                  </a:cubicBezTo>
                  <a:lnTo>
                    <a:pt x="63217" y="40844"/>
                  </a:lnTo>
                  <a:lnTo>
                    <a:pt x="63217" y="20422"/>
                  </a:lnTo>
                  <a:lnTo>
                    <a:pt x="63217" y="40844"/>
                  </a:lnTo>
                  <a:cubicBezTo>
                    <a:pt x="49680" y="40844"/>
                    <a:pt x="39429" y="51872"/>
                    <a:pt x="39429" y="64670"/>
                  </a:cubicBezTo>
                  <a:close/>
                </a:path>
              </a:pathLst>
            </a:custGeom>
            <a:solidFill>
              <a:srgbClr val="474748"/>
            </a:solidFill>
          </p:spPr>
        </p:sp>
      </p:grpSp>
      <p:grpSp>
        <p:nvGrpSpPr>
          <p:cNvPr id="22" name="Group 22"/>
          <p:cNvGrpSpPr/>
          <p:nvPr/>
        </p:nvGrpSpPr>
        <p:grpSpPr>
          <a:xfrm>
            <a:off x="7644630" y="4836538"/>
            <a:ext cx="825256" cy="1180805"/>
            <a:chOff x="0" y="0"/>
            <a:chExt cx="1100341" cy="1574406"/>
          </a:xfrm>
        </p:grpSpPr>
        <p:sp>
          <p:nvSpPr>
            <p:cNvPr id="23" name="Freeform 23"/>
            <p:cNvSpPr/>
            <p:nvPr/>
          </p:nvSpPr>
          <p:spPr>
            <a:xfrm>
              <a:off x="0" y="0"/>
              <a:ext cx="1100328" cy="1574419"/>
            </a:xfrm>
            <a:custGeom>
              <a:avLst/>
              <a:gdLst/>
              <a:ahLst/>
              <a:cxnLst/>
              <a:rect l="l" t="t" r="r" b="b"/>
              <a:pathLst>
                <a:path w="1100328" h="1574419">
                  <a:moveTo>
                    <a:pt x="0" y="0"/>
                  </a:moveTo>
                  <a:lnTo>
                    <a:pt x="1100328" y="0"/>
                  </a:lnTo>
                  <a:lnTo>
                    <a:pt x="1100328" y="1574419"/>
                  </a:lnTo>
                  <a:lnTo>
                    <a:pt x="0" y="1574419"/>
                  </a:lnTo>
                  <a:close/>
                </a:path>
              </a:pathLst>
            </a:custGeom>
            <a:solidFill>
              <a:srgbClr val="2E2E2F"/>
            </a:solidFill>
          </p:spPr>
        </p:sp>
      </p:grpSp>
      <p:sp>
        <p:nvSpPr>
          <p:cNvPr id="24" name="TextBox 24"/>
          <p:cNvSpPr txBox="1"/>
          <p:nvPr/>
        </p:nvSpPr>
        <p:spPr>
          <a:xfrm>
            <a:off x="7902557" y="5271564"/>
            <a:ext cx="309410" cy="348701"/>
          </a:xfrm>
          <a:prstGeom prst="rect">
            <a:avLst/>
          </a:prstGeom>
        </p:spPr>
        <p:txBody>
          <a:bodyPr lIns="0" tIns="0" rIns="0" bIns="0" rtlCol="0" anchor="t">
            <a:spAutoFit/>
          </a:bodyPr>
          <a:lstStyle/>
          <a:p>
            <a:pPr algn="l">
              <a:lnSpc>
                <a:spcPts val="2375"/>
              </a:lnSpc>
            </a:pPr>
            <a:r>
              <a:rPr lang="en-US" sz="2375">
                <a:solidFill>
                  <a:srgbClr val="E0D6DE"/>
                </a:solidFill>
                <a:latin typeface="Arimo"/>
                <a:ea typeface="Arimo"/>
                <a:cs typeface="Arimo"/>
                <a:sym typeface="Arimo"/>
              </a:rPr>
              <a:t>2</a:t>
            </a:r>
          </a:p>
        </p:txBody>
      </p:sp>
      <p:sp>
        <p:nvSpPr>
          <p:cNvPr id="25" name="TextBox 25"/>
          <p:cNvSpPr txBox="1"/>
          <p:nvPr/>
        </p:nvSpPr>
        <p:spPr>
          <a:xfrm>
            <a:off x="8620057" y="4851777"/>
            <a:ext cx="2948471"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Packet Logger</a:t>
            </a:r>
          </a:p>
        </p:txBody>
      </p:sp>
      <p:sp>
        <p:nvSpPr>
          <p:cNvPr id="26" name="TextBox 26"/>
          <p:cNvSpPr txBox="1"/>
          <p:nvPr/>
        </p:nvSpPr>
        <p:spPr>
          <a:xfrm>
            <a:off x="8620057" y="5407590"/>
            <a:ext cx="8746922" cy="365797"/>
          </a:xfrm>
          <a:prstGeom prst="rect">
            <a:avLst/>
          </a:prstGeom>
        </p:spPr>
        <p:txBody>
          <a:bodyPr lIns="0" tIns="0" rIns="0" bIns="0" rtlCol="0" anchor="t">
            <a:spAutoFit/>
          </a:bodyPr>
          <a:lstStyle/>
          <a:p>
            <a:pPr algn="l">
              <a:lnSpc>
                <a:spcPts val="2940"/>
              </a:lnSpc>
            </a:pPr>
            <a:r>
              <a:rPr lang="en-US" sz="2100">
                <a:solidFill>
                  <a:srgbClr val="E0D6DE"/>
                </a:solidFill>
                <a:latin typeface="Fira Sans"/>
                <a:ea typeface="Fira Sans"/>
                <a:cs typeface="Fira Sans"/>
                <a:sym typeface="Fira Sans"/>
              </a:rPr>
              <a:t>Lưu trữ các gói tin vào tập tin log để phân tích sau này</a:t>
            </a:r>
          </a:p>
        </p:txBody>
      </p:sp>
      <p:grpSp>
        <p:nvGrpSpPr>
          <p:cNvPr id="27" name="Group 27"/>
          <p:cNvGrpSpPr/>
          <p:nvPr/>
        </p:nvGrpSpPr>
        <p:grpSpPr>
          <a:xfrm>
            <a:off x="7565822" y="6257273"/>
            <a:ext cx="10363604" cy="1357754"/>
            <a:chOff x="0" y="0"/>
            <a:chExt cx="13818139" cy="1810338"/>
          </a:xfrm>
        </p:grpSpPr>
        <p:sp>
          <p:nvSpPr>
            <p:cNvPr id="28" name="Freeform 28"/>
            <p:cNvSpPr/>
            <p:nvPr/>
          </p:nvSpPr>
          <p:spPr>
            <a:xfrm>
              <a:off x="19714" y="20422"/>
              <a:ext cx="13778646" cy="1769508"/>
            </a:xfrm>
            <a:custGeom>
              <a:avLst/>
              <a:gdLst/>
              <a:ahLst/>
              <a:cxnLst/>
              <a:rect l="l" t="t" r="r" b="b"/>
              <a:pathLst>
                <a:path w="13778646" h="1769508">
                  <a:moveTo>
                    <a:pt x="0" y="44248"/>
                  </a:moveTo>
                  <a:cubicBezTo>
                    <a:pt x="0" y="19741"/>
                    <a:pt x="19452" y="0"/>
                    <a:pt x="43503" y="0"/>
                  </a:cubicBezTo>
                  <a:lnTo>
                    <a:pt x="13735143" y="0"/>
                  </a:lnTo>
                  <a:cubicBezTo>
                    <a:pt x="13759194" y="0"/>
                    <a:pt x="13778647" y="19741"/>
                    <a:pt x="13778647" y="44248"/>
                  </a:cubicBezTo>
                  <a:lnTo>
                    <a:pt x="13778647" y="1725260"/>
                  </a:lnTo>
                  <a:cubicBezTo>
                    <a:pt x="13778647" y="1749630"/>
                    <a:pt x="13759194" y="1769508"/>
                    <a:pt x="13735143" y="1769508"/>
                  </a:cubicBezTo>
                  <a:lnTo>
                    <a:pt x="43503" y="1769508"/>
                  </a:lnTo>
                  <a:cubicBezTo>
                    <a:pt x="19452" y="1769508"/>
                    <a:pt x="0" y="1749766"/>
                    <a:pt x="0" y="1725260"/>
                  </a:cubicBezTo>
                  <a:close/>
                </a:path>
              </a:pathLst>
            </a:custGeom>
            <a:solidFill>
              <a:srgbClr val="0F0F10"/>
            </a:solidFill>
          </p:spPr>
        </p:sp>
        <p:sp>
          <p:nvSpPr>
            <p:cNvPr id="29" name="Freeform 29"/>
            <p:cNvSpPr/>
            <p:nvPr/>
          </p:nvSpPr>
          <p:spPr>
            <a:xfrm>
              <a:off x="0" y="0"/>
              <a:ext cx="13818074" cy="1810351"/>
            </a:xfrm>
            <a:custGeom>
              <a:avLst/>
              <a:gdLst/>
              <a:ahLst/>
              <a:cxnLst/>
              <a:rect l="l" t="t" r="r" b="b"/>
              <a:pathLst>
                <a:path w="13818074" h="1810351">
                  <a:moveTo>
                    <a:pt x="0" y="64670"/>
                  </a:moveTo>
                  <a:cubicBezTo>
                    <a:pt x="0" y="28591"/>
                    <a:pt x="28652" y="0"/>
                    <a:pt x="63217" y="0"/>
                  </a:cubicBezTo>
                  <a:lnTo>
                    <a:pt x="13754857" y="0"/>
                  </a:lnTo>
                  <a:lnTo>
                    <a:pt x="13754857" y="20422"/>
                  </a:lnTo>
                  <a:lnTo>
                    <a:pt x="13754857" y="0"/>
                  </a:lnTo>
                  <a:cubicBezTo>
                    <a:pt x="13789423" y="0"/>
                    <a:pt x="13818074" y="28591"/>
                    <a:pt x="13818074" y="64670"/>
                  </a:cubicBezTo>
                  <a:lnTo>
                    <a:pt x="13798361" y="64670"/>
                  </a:lnTo>
                  <a:lnTo>
                    <a:pt x="13818074" y="64670"/>
                  </a:lnTo>
                  <a:lnTo>
                    <a:pt x="13818074" y="1745682"/>
                  </a:lnTo>
                  <a:lnTo>
                    <a:pt x="13798361" y="1745682"/>
                  </a:lnTo>
                  <a:lnTo>
                    <a:pt x="13818074" y="1745682"/>
                  </a:lnTo>
                  <a:cubicBezTo>
                    <a:pt x="13818074" y="1781761"/>
                    <a:pt x="13789423" y="1810351"/>
                    <a:pt x="13754857" y="1810351"/>
                  </a:cubicBezTo>
                  <a:lnTo>
                    <a:pt x="13754857" y="1789930"/>
                  </a:lnTo>
                  <a:lnTo>
                    <a:pt x="13754857" y="1810351"/>
                  </a:lnTo>
                  <a:lnTo>
                    <a:pt x="63217" y="1810351"/>
                  </a:lnTo>
                  <a:lnTo>
                    <a:pt x="63217" y="1789930"/>
                  </a:lnTo>
                  <a:lnTo>
                    <a:pt x="63217" y="1810351"/>
                  </a:lnTo>
                  <a:cubicBezTo>
                    <a:pt x="28652" y="1810351"/>
                    <a:pt x="0" y="1781761"/>
                    <a:pt x="0" y="1745682"/>
                  </a:cubicBezTo>
                  <a:lnTo>
                    <a:pt x="0" y="64670"/>
                  </a:lnTo>
                  <a:lnTo>
                    <a:pt x="19714" y="64670"/>
                  </a:lnTo>
                  <a:lnTo>
                    <a:pt x="0" y="64670"/>
                  </a:lnTo>
                  <a:moveTo>
                    <a:pt x="39429" y="64670"/>
                  </a:moveTo>
                  <a:lnTo>
                    <a:pt x="39429" y="1745682"/>
                  </a:lnTo>
                  <a:lnTo>
                    <a:pt x="19714" y="1745682"/>
                  </a:lnTo>
                  <a:lnTo>
                    <a:pt x="39429" y="1745682"/>
                  </a:lnTo>
                  <a:cubicBezTo>
                    <a:pt x="39429" y="1758480"/>
                    <a:pt x="49680" y="1769507"/>
                    <a:pt x="63217" y="1769507"/>
                  </a:cubicBezTo>
                  <a:lnTo>
                    <a:pt x="13754857" y="1769507"/>
                  </a:lnTo>
                  <a:cubicBezTo>
                    <a:pt x="13768395" y="1769507"/>
                    <a:pt x="13778646" y="1758480"/>
                    <a:pt x="13778646" y="1745682"/>
                  </a:cubicBezTo>
                  <a:lnTo>
                    <a:pt x="13778646" y="64670"/>
                  </a:lnTo>
                  <a:cubicBezTo>
                    <a:pt x="13778646" y="51872"/>
                    <a:pt x="13768395" y="40844"/>
                    <a:pt x="13754857" y="40844"/>
                  </a:cubicBezTo>
                  <a:lnTo>
                    <a:pt x="63217" y="40844"/>
                  </a:lnTo>
                  <a:lnTo>
                    <a:pt x="63217" y="20422"/>
                  </a:lnTo>
                  <a:lnTo>
                    <a:pt x="63217" y="40844"/>
                  </a:lnTo>
                  <a:cubicBezTo>
                    <a:pt x="49680" y="40844"/>
                    <a:pt x="39429" y="51872"/>
                    <a:pt x="39429" y="64670"/>
                  </a:cubicBezTo>
                  <a:close/>
                </a:path>
              </a:pathLst>
            </a:custGeom>
            <a:solidFill>
              <a:srgbClr val="474748"/>
            </a:solidFill>
          </p:spPr>
        </p:sp>
      </p:grpSp>
      <p:grpSp>
        <p:nvGrpSpPr>
          <p:cNvPr id="30" name="Group 30"/>
          <p:cNvGrpSpPr/>
          <p:nvPr/>
        </p:nvGrpSpPr>
        <p:grpSpPr>
          <a:xfrm>
            <a:off x="7644630" y="6336468"/>
            <a:ext cx="825256" cy="1180805"/>
            <a:chOff x="0" y="0"/>
            <a:chExt cx="1100341" cy="1574406"/>
          </a:xfrm>
        </p:grpSpPr>
        <p:sp>
          <p:nvSpPr>
            <p:cNvPr id="31" name="Freeform 31"/>
            <p:cNvSpPr/>
            <p:nvPr/>
          </p:nvSpPr>
          <p:spPr>
            <a:xfrm>
              <a:off x="0" y="0"/>
              <a:ext cx="1100328" cy="1574419"/>
            </a:xfrm>
            <a:custGeom>
              <a:avLst/>
              <a:gdLst/>
              <a:ahLst/>
              <a:cxnLst/>
              <a:rect l="l" t="t" r="r" b="b"/>
              <a:pathLst>
                <a:path w="1100328" h="1574419">
                  <a:moveTo>
                    <a:pt x="0" y="0"/>
                  </a:moveTo>
                  <a:lnTo>
                    <a:pt x="1100328" y="0"/>
                  </a:lnTo>
                  <a:lnTo>
                    <a:pt x="1100328" y="1574419"/>
                  </a:lnTo>
                  <a:lnTo>
                    <a:pt x="0" y="1574419"/>
                  </a:lnTo>
                  <a:close/>
                </a:path>
              </a:pathLst>
            </a:custGeom>
            <a:solidFill>
              <a:srgbClr val="2E2E2F"/>
            </a:solidFill>
          </p:spPr>
        </p:sp>
      </p:grpSp>
      <p:sp>
        <p:nvSpPr>
          <p:cNvPr id="32" name="TextBox 32"/>
          <p:cNvSpPr txBox="1"/>
          <p:nvPr/>
        </p:nvSpPr>
        <p:spPr>
          <a:xfrm>
            <a:off x="7902557" y="6771485"/>
            <a:ext cx="309410" cy="348701"/>
          </a:xfrm>
          <a:prstGeom prst="rect">
            <a:avLst/>
          </a:prstGeom>
        </p:spPr>
        <p:txBody>
          <a:bodyPr lIns="0" tIns="0" rIns="0" bIns="0" rtlCol="0" anchor="t">
            <a:spAutoFit/>
          </a:bodyPr>
          <a:lstStyle/>
          <a:p>
            <a:pPr algn="l">
              <a:lnSpc>
                <a:spcPts val="2375"/>
              </a:lnSpc>
            </a:pPr>
            <a:r>
              <a:rPr lang="en-US" sz="2375">
                <a:solidFill>
                  <a:srgbClr val="E0D6DE"/>
                </a:solidFill>
                <a:latin typeface="Arimo"/>
                <a:ea typeface="Arimo"/>
                <a:cs typeface="Arimo"/>
                <a:sym typeface="Arimo"/>
              </a:rPr>
              <a:t>3</a:t>
            </a:r>
          </a:p>
        </p:txBody>
      </p:sp>
      <p:sp>
        <p:nvSpPr>
          <p:cNvPr id="33" name="TextBox 33"/>
          <p:cNvSpPr txBox="1"/>
          <p:nvPr/>
        </p:nvSpPr>
        <p:spPr>
          <a:xfrm>
            <a:off x="8620057" y="6411440"/>
            <a:ext cx="2363019"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NIDS Mode</a:t>
            </a:r>
          </a:p>
        </p:txBody>
      </p:sp>
      <p:sp>
        <p:nvSpPr>
          <p:cNvPr id="34" name="TextBox 34"/>
          <p:cNvSpPr txBox="1"/>
          <p:nvPr/>
        </p:nvSpPr>
        <p:spPr>
          <a:xfrm>
            <a:off x="8620057" y="6907521"/>
            <a:ext cx="9487348" cy="365797"/>
          </a:xfrm>
          <a:prstGeom prst="rect">
            <a:avLst/>
          </a:prstGeom>
        </p:spPr>
        <p:txBody>
          <a:bodyPr lIns="0" tIns="0" rIns="0" bIns="0" rtlCol="0" anchor="t">
            <a:spAutoFit/>
          </a:bodyPr>
          <a:lstStyle/>
          <a:p>
            <a:pPr algn="l">
              <a:lnSpc>
                <a:spcPts val="2940"/>
              </a:lnSpc>
            </a:pPr>
            <a:r>
              <a:rPr lang="en-US" sz="2100">
                <a:solidFill>
                  <a:srgbClr val="E0D6DE"/>
                </a:solidFill>
                <a:latin typeface="Fira Sans"/>
                <a:ea typeface="Fira Sans"/>
                <a:cs typeface="Fira Sans"/>
                <a:sym typeface="Fira Sans"/>
              </a:rPr>
              <a:t>Phân tích và so sánh với Rule, mạnh nhất và được áp dụng nhiều nhất</a:t>
            </a:r>
          </a:p>
        </p:txBody>
      </p:sp>
      <p:grpSp>
        <p:nvGrpSpPr>
          <p:cNvPr id="35" name="Group 35"/>
          <p:cNvGrpSpPr/>
          <p:nvPr/>
        </p:nvGrpSpPr>
        <p:grpSpPr>
          <a:xfrm>
            <a:off x="7565822" y="7745370"/>
            <a:ext cx="10363604" cy="1357754"/>
            <a:chOff x="0" y="0"/>
            <a:chExt cx="13818139" cy="1810338"/>
          </a:xfrm>
        </p:grpSpPr>
        <p:sp>
          <p:nvSpPr>
            <p:cNvPr id="36" name="Freeform 36"/>
            <p:cNvSpPr/>
            <p:nvPr/>
          </p:nvSpPr>
          <p:spPr>
            <a:xfrm>
              <a:off x="19714" y="20422"/>
              <a:ext cx="13778646" cy="1769508"/>
            </a:xfrm>
            <a:custGeom>
              <a:avLst/>
              <a:gdLst/>
              <a:ahLst/>
              <a:cxnLst/>
              <a:rect l="l" t="t" r="r" b="b"/>
              <a:pathLst>
                <a:path w="13778646" h="1769508">
                  <a:moveTo>
                    <a:pt x="0" y="44248"/>
                  </a:moveTo>
                  <a:cubicBezTo>
                    <a:pt x="0" y="19741"/>
                    <a:pt x="19452" y="0"/>
                    <a:pt x="43503" y="0"/>
                  </a:cubicBezTo>
                  <a:lnTo>
                    <a:pt x="13735143" y="0"/>
                  </a:lnTo>
                  <a:cubicBezTo>
                    <a:pt x="13759194" y="0"/>
                    <a:pt x="13778647" y="19741"/>
                    <a:pt x="13778647" y="44248"/>
                  </a:cubicBezTo>
                  <a:lnTo>
                    <a:pt x="13778647" y="1725260"/>
                  </a:lnTo>
                  <a:cubicBezTo>
                    <a:pt x="13778647" y="1749630"/>
                    <a:pt x="13759194" y="1769508"/>
                    <a:pt x="13735143" y="1769508"/>
                  </a:cubicBezTo>
                  <a:lnTo>
                    <a:pt x="43503" y="1769508"/>
                  </a:lnTo>
                  <a:cubicBezTo>
                    <a:pt x="19452" y="1769508"/>
                    <a:pt x="0" y="1749766"/>
                    <a:pt x="0" y="1725260"/>
                  </a:cubicBezTo>
                  <a:close/>
                </a:path>
              </a:pathLst>
            </a:custGeom>
            <a:solidFill>
              <a:srgbClr val="0F0F10"/>
            </a:solidFill>
          </p:spPr>
        </p:sp>
        <p:sp>
          <p:nvSpPr>
            <p:cNvPr id="37" name="Freeform 37"/>
            <p:cNvSpPr/>
            <p:nvPr/>
          </p:nvSpPr>
          <p:spPr>
            <a:xfrm>
              <a:off x="0" y="0"/>
              <a:ext cx="13818074" cy="1810351"/>
            </a:xfrm>
            <a:custGeom>
              <a:avLst/>
              <a:gdLst/>
              <a:ahLst/>
              <a:cxnLst/>
              <a:rect l="l" t="t" r="r" b="b"/>
              <a:pathLst>
                <a:path w="13818074" h="1810351">
                  <a:moveTo>
                    <a:pt x="0" y="64670"/>
                  </a:moveTo>
                  <a:cubicBezTo>
                    <a:pt x="0" y="28591"/>
                    <a:pt x="28652" y="0"/>
                    <a:pt x="63217" y="0"/>
                  </a:cubicBezTo>
                  <a:lnTo>
                    <a:pt x="13754857" y="0"/>
                  </a:lnTo>
                  <a:lnTo>
                    <a:pt x="13754857" y="20422"/>
                  </a:lnTo>
                  <a:lnTo>
                    <a:pt x="13754857" y="0"/>
                  </a:lnTo>
                  <a:cubicBezTo>
                    <a:pt x="13789423" y="0"/>
                    <a:pt x="13818074" y="28591"/>
                    <a:pt x="13818074" y="64670"/>
                  </a:cubicBezTo>
                  <a:lnTo>
                    <a:pt x="13798361" y="64670"/>
                  </a:lnTo>
                  <a:lnTo>
                    <a:pt x="13818074" y="64670"/>
                  </a:lnTo>
                  <a:lnTo>
                    <a:pt x="13818074" y="1745682"/>
                  </a:lnTo>
                  <a:lnTo>
                    <a:pt x="13798361" y="1745682"/>
                  </a:lnTo>
                  <a:lnTo>
                    <a:pt x="13818074" y="1745682"/>
                  </a:lnTo>
                  <a:cubicBezTo>
                    <a:pt x="13818074" y="1781761"/>
                    <a:pt x="13789423" y="1810351"/>
                    <a:pt x="13754857" y="1810351"/>
                  </a:cubicBezTo>
                  <a:lnTo>
                    <a:pt x="13754857" y="1789930"/>
                  </a:lnTo>
                  <a:lnTo>
                    <a:pt x="13754857" y="1810351"/>
                  </a:lnTo>
                  <a:lnTo>
                    <a:pt x="63217" y="1810351"/>
                  </a:lnTo>
                  <a:lnTo>
                    <a:pt x="63217" y="1789930"/>
                  </a:lnTo>
                  <a:lnTo>
                    <a:pt x="63217" y="1810351"/>
                  </a:lnTo>
                  <a:cubicBezTo>
                    <a:pt x="28652" y="1810351"/>
                    <a:pt x="0" y="1781761"/>
                    <a:pt x="0" y="1745682"/>
                  </a:cubicBezTo>
                  <a:lnTo>
                    <a:pt x="0" y="64670"/>
                  </a:lnTo>
                  <a:lnTo>
                    <a:pt x="19714" y="64670"/>
                  </a:lnTo>
                  <a:lnTo>
                    <a:pt x="0" y="64670"/>
                  </a:lnTo>
                  <a:moveTo>
                    <a:pt x="39429" y="64670"/>
                  </a:moveTo>
                  <a:lnTo>
                    <a:pt x="39429" y="1745682"/>
                  </a:lnTo>
                  <a:lnTo>
                    <a:pt x="19714" y="1745682"/>
                  </a:lnTo>
                  <a:lnTo>
                    <a:pt x="39429" y="1745682"/>
                  </a:lnTo>
                  <a:cubicBezTo>
                    <a:pt x="39429" y="1758480"/>
                    <a:pt x="49680" y="1769507"/>
                    <a:pt x="63217" y="1769507"/>
                  </a:cubicBezTo>
                  <a:lnTo>
                    <a:pt x="13754857" y="1769507"/>
                  </a:lnTo>
                  <a:cubicBezTo>
                    <a:pt x="13768395" y="1769507"/>
                    <a:pt x="13778646" y="1758480"/>
                    <a:pt x="13778646" y="1745682"/>
                  </a:cubicBezTo>
                  <a:lnTo>
                    <a:pt x="13778646" y="64670"/>
                  </a:lnTo>
                  <a:cubicBezTo>
                    <a:pt x="13778646" y="51872"/>
                    <a:pt x="13768395" y="40844"/>
                    <a:pt x="13754857" y="40844"/>
                  </a:cubicBezTo>
                  <a:lnTo>
                    <a:pt x="63217" y="40844"/>
                  </a:lnTo>
                  <a:lnTo>
                    <a:pt x="63217" y="20422"/>
                  </a:lnTo>
                  <a:lnTo>
                    <a:pt x="63217" y="40844"/>
                  </a:lnTo>
                  <a:cubicBezTo>
                    <a:pt x="49680" y="40844"/>
                    <a:pt x="39429" y="51872"/>
                    <a:pt x="39429" y="64670"/>
                  </a:cubicBezTo>
                  <a:close/>
                </a:path>
              </a:pathLst>
            </a:custGeom>
            <a:solidFill>
              <a:srgbClr val="474748"/>
            </a:solidFill>
          </p:spPr>
        </p:sp>
      </p:grpSp>
      <p:grpSp>
        <p:nvGrpSpPr>
          <p:cNvPr id="38" name="Group 38"/>
          <p:cNvGrpSpPr/>
          <p:nvPr/>
        </p:nvGrpSpPr>
        <p:grpSpPr>
          <a:xfrm>
            <a:off x="7644630" y="7824576"/>
            <a:ext cx="825256" cy="1180805"/>
            <a:chOff x="0" y="0"/>
            <a:chExt cx="1100341" cy="1574406"/>
          </a:xfrm>
        </p:grpSpPr>
        <p:sp>
          <p:nvSpPr>
            <p:cNvPr id="39" name="Freeform 39"/>
            <p:cNvSpPr/>
            <p:nvPr/>
          </p:nvSpPr>
          <p:spPr>
            <a:xfrm>
              <a:off x="0" y="0"/>
              <a:ext cx="1100328" cy="1574419"/>
            </a:xfrm>
            <a:custGeom>
              <a:avLst/>
              <a:gdLst/>
              <a:ahLst/>
              <a:cxnLst/>
              <a:rect l="l" t="t" r="r" b="b"/>
              <a:pathLst>
                <a:path w="1100328" h="1574419">
                  <a:moveTo>
                    <a:pt x="0" y="0"/>
                  </a:moveTo>
                  <a:lnTo>
                    <a:pt x="1100328" y="0"/>
                  </a:lnTo>
                  <a:lnTo>
                    <a:pt x="1100328" y="1574419"/>
                  </a:lnTo>
                  <a:lnTo>
                    <a:pt x="0" y="1574419"/>
                  </a:lnTo>
                  <a:close/>
                </a:path>
              </a:pathLst>
            </a:custGeom>
            <a:solidFill>
              <a:srgbClr val="2E2E2F"/>
            </a:solidFill>
          </p:spPr>
        </p:sp>
      </p:grpSp>
      <p:sp>
        <p:nvSpPr>
          <p:cNvPr id="40" name="TextBox 40"/>
          <p:cNvSpPr txBox="1"/>
          <p:nvPr/>
        </p:nvSpPr>
        <p:spPr>
          <a:xfrm>
            <a:off x="7902557" y="8259602"/>
            <a:ext cx="309410" cy="348701"/>
          </a:xfrm>
          <a:prstGeom prst="rect">
            <a:avLst/>
          </a:prstGeom>
        </p:spPr>
        <p:txBody>
          <a:bodyPr lIns="0" tIns="0" rIns="0" bIns="0" rtlCol="0" anchor="t">
            <a:spAutoFit/>
          </a:bodyPr>
          <a:lstStyle/>
          <a:p>
            <a:pPr algn="l">
              <a:lnSpc>
                <a:spcPts val="2375"/>
              </a:lnSpc>
            </a:pPr>
            <a:r>
              <a:rPr lang="en-US" sz="2375">
                <a:solidFill>
                  <a:srgbClr val="E0D6DE"/>
                </a:solidFill>
                <a:latin typeface="Arimo"/>
                <a:ea typeface="Arimo"/>
                <a:cs typeface="Arimo"/>
                <a:sym typeface="Arimo"/>
              </a:rPr>
              <a:t>4</a:t>
            </a:r>
          </a:p>
        </p:txBody>
      </p:sp>
      <p:sp>
        <p:nvSpPr>
          <p:cNvPr id="41" name="TextBox 41"/>
          <p:cNvSpPr txBox="1"/>
          <p:nvPr/>
        </p:nvSpPr>
        <p:spPr>
          <a:xfrm>
            <a:off x="8583367" y="7843626"/>
            <a:ext cx="2363763"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Inline Mode</a:t>
            </a:r>
          </a:p>
        </p:txBody>
      </p:sp>
      <p:sp>
        <p:nvSpPr>
          <p:cNvPr id="42" name="TextBox 42"/>
          <p:cNvSpPr txBox="1"/>
          <p:nvPr/>
        </p:nvSpPr>
        <p:spPr>
          <a:xfrm>
            <a:off x="8584111" y="8442379"/>
            <a:ext cx="8746922" cy="365797"/>
          </a:xfrm>
          <a:prstGeom prst="rect">
            <a:avLst/>
          </a:prstGeom>
        </p:spPr>
        <p:txBody>
          <a:bodyPr lIns="0" tIns="0" rIns="0" bIns="0" rtlCol="0" anchor="t">
            <a:spAutoFit/>
          </a:bodyPr>
          <a:lstStyle/>
          <a:p>
            <a:pPr algn="l">
              <a:lnSpc>
                <a:spcPts val="2940"/>
              </a:lnSpc>
            </a:pPr>
            <a:r>
              <a:rPr lang="en-US" sz="2100">
                <a:solidFill>
                  <a:srgbClr val="E0D6DE"/>
                </a:solidFill>
                <a:latin typeface="Fira Sans"/>
                <a:ea typeface="Fira Sans"/>
                <a:cs typeface="Fira Sans"/>
                <a:sym typeface="Fira Sans"/>
              </a:rPr>
              <a:t>Kết hợp Iptables để chặn IP trực tiếp khi phát hiện tấn công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grpSp>
        <p:nvGrpSpPr>
          <p:cNvPr id="6" name="Group 6"/>
          <p:cNvGrpSpPr/>
          <p:nvPr/>
        </p:nvGrpSpPr>
        <p:grpSpPr>
          <a:xfrm>
            <a:off x="0" y="0"/>
            <a:ext cx="6858000" cy="10287000"/>
            <a:chOff x="0" y="0"/>
            <a:chExt cx="9144000" cy="13716000"/>
          </a:xfrm>
        </p:grpSpPr>
        <p:sp>
          <p:nvSpPr>
            <p:cNvPr id="7" name="Freeform 7" descr="preencoded.png"/>
            <p:cNvSpPr/>
            <p:nvPr/>
          </p:nvSpPr>
          <p:spPr>
            <a:xfrm>
              <a:off x="0" y="0"/>
              <a:ext cx="9144000" cy="13716000"/>
            </a:xfrm>
            <a:custGeom>
              <a:avLst/>
              <a:gdLst/>
              <a:ahLst/>
              <a:cxnLst/>
              <a:rect l="l" t="t" r="r" b="b"/>
              <a:pathLst>
                <a:path w="9144000" h="13716000">
                  <a:moveTo>
                    <a:pt x="0" y="0"/>
                  </a:moveTo>
                  <a:lnTo>
                    <a:pt x="9144000" y="0"/>
                  </a:lnTo>
                  <a:lnTo>
                    <a:pt x="9144000" y="13716000"/>
                  </a:lnTo>
                  <a:lnTo>
                    <a:pt x="0" y="13716000"/>
                  </a:lnTo>
                  <a:lnTo>
                    <a:pt x="0" y="0"/>
                  </a:lnTo>
                  <a:close/>
                </a:path>
              </a:pathLst>
            </a:custGeom>
            <a:blipFill>
              <a:blip r:embed="rId2"/>
              <a:stretch>
                <a:fillRect/>
              </a:stretch>
            </a:blipFill>
          </p:spPr>
        </p:sp>
      </p:grpSp>
      <p:sp>
        <p:nvSpPr>
          <p:cNvPr id="8" name="TextBox 8"/>
          <p:cNvSpPr txBox="1"/>
          <p:nvPr/>
        </p:nvSpPr>
        <p:spPr>
          <a:xfrm>
            <a:off x="7850238" y="1434551"/>
            <a:ext cx="9445523" cy="1829095"/>
          </a:xfrm>
          <a:prstGeom prst="rect">
            <a:avLst/>
          </a:prstGeom>
        </p:spPr>
        <p:txBody>
          <a:bodyPr lIns="0" tIns="0" rIns="0" bIns="0" rtlCol="0" anchor="t">
            <a:spAutoFit/>
          </a:bodyPr>
          <a:lstStyle/>
          <a:p>
            <a:pPr algn="l">
              <a:lnSpc>
                <a:spcPts val="6937"/>
              </a:lnSpc>
            </a:pPr>
            <a:r>
              <a:rPr lang="en-US" sz="5562">
                <a:solidFill>
                  <a:srgbClr val="FBF3FA"/>
                </a:solidFill>
                <a:latin typeface="Arimo"/>
                <a:ea typeface="Arimo"/>
                <a:cs typeface="Arimo"/>
                <a:sym typeface="Arimo"/>
              </a:rPr>
              <a:t>Tuyệt Chiêu Xuyên Thủng IDS Của Hacker</a:t>
            </a:r>
          </a:p>
        </p:txBody>
      </p:sp>
      <p:sp>
        <p:nvSpPr>
          <p:cNvPr id="9" name="Freeform 9" descr="preencoded.png"/>
          <p:cNvSpPr/>
          <p:nvPr/>
        </p:nvSpPr>
        <p:spPr>
          <a:xfrm>
            <a:off x="7850238" y="4370632"/>
            <a:ext cx="708717" cy="708717"/>
          </a:xfrm>
          <a:custGeom>
            <a:avLst/>
            <a:gdLst/>
            <a:ahLst/>
            <a:cxnLst/>
            <a:rect l="l" t="t" r="r" b="b"/>
            <a:pathLst>
              <a:path w="708717" h="708717">
                <a:moveTo>
                  <a:pt x="0" y="0"/>
                </a:moveTo>
                <a:lnTo>
                  <a:pt x="708717" y="0"/>
                </a:lnTo>
                <a:lnTo>
                  <a:pt x="708717" y="708717"/>
                </a:lnTo>
                <a:lnTo>
                  <a:pt x="0" y="708717"/>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0" name="TextBox 10"/>
          <p:cNvSpPr txBox="1"/>
          <p:nvPr/>
        </p:nvSpPr>
        <p:spPr>
          <a:xfrm>
            <a:off x="8913314" y="4323007"/>
            <a:ext cx="4955791"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Lách Anomaly Detection</a:t>
            </a:r>
          </a:p>
        </p:txBody>
      </p:sp>
      <p:sp>
        <p:nvSpPr>
          <p:cNvPr id="11" name="TextBox 11"/>
          <p:cNvSpPr txBox="1"/>
          <p:nvPr/>
        </p:nvSpPr>
        <p:spPr>
          <a:xfrm>
            <a:off x="8913314" y="4888411"/>
            <a:ext cx="8382448" cy="942628"/>
          </a:xfrm>
          <a:prstGeom prst="rect">
            <a:avLst/>
          </a:prstGeom>
        </p:spPr>
        <p:txBody>
          <a:bodyPr lIns="0" tIns="0" rIns="0" bIns="0" rtlCol="0" anchor="t">
            <a:spAutoFit/>
          </a:bodyPr>
          <a:lstStyle/>
          <a:p>
            <a:pPr algn="l">
              <a:lnSpc>
                <a:spcPts val="3857"/>
              </a:lnSpc>
            </a:pPr>
            <a:r>
              <a:rPr lang="en-US" sz="2400">
                <a:solidFill>
                  <a:srgbClr val="E0D6DE"/>
                </a:solidFill>
                <a:latin typeface="Fira Sans"/>
                <a:ea typeface="Fira Sans"/>
                <a:cs typeface="Fira Sans"/>
                <a:sym typeface="Fira Sans"/>
              </a:rPr>
              <a:t>Hoạt động thật chậm, giữ CPU và băng thông dưới ngưỡng báo động để tránh phát hiện</a:t>
            </a:r>
          </a:p>
        </p:txBody>
      </p:sp>
      <p:sp>
        <p:nvSpPr>
          <p:cNvPr id="12" name="Freeform 12" descr="preencoded.png"/>
          <p:cNvSpPr/>
          <p:nvPr/>
        </p:nvSpPr>
        <p:spPr>
          <a:xfrm>
            <a:off x="7850238" y="6276384"/>
            <a:ext cx="708717" cy="708717"/>
          </a:xfrm>
          <a:custGeom>
            <a:avLst/>
            <a:gdLst/>
            <a:ahLst/>
            <a:cxnLst/>
            <a:rect l="l" t="t" r="r" b="b"/>
            <a:pathLst>
              <a:path w="708717" h="708717">
                <a:moveTo>
                  <a:pt x="0" y="0"/>
                </a:moveTo>
                <a:lnTo>
                  <a:pt x="708717" y="0"/>
                </a:lnTo>
                <a:lnTo>
                  <a:pt x="708717" y="708718"/>
                </a:lnTo>
                <a:lnTo>
                  <a:pt x="0" y="708718"/>
                </a:lnTo>
                <a:lnTo>
                  <a:pt x="0" y="0"/>
                </a:lnTo>
                <a:close/>
              </a:path>
            </a:pathLst>
          </a:custGeom>
          <a:blipFill>
            <a:blip r:embed="rId5">
              <a:extLst>
                <a:ext uri="{96DAC541-7B7A-43D3-8B79-37D633B846F1}">
                  <asvg:svgBlip xmlns:asvg="http://schemas.microsoft.com/office/drawing/2016/SVG/main" r:embed="rId6"/>
                </a:ext>
              </a:extLst>
            </a:blip>
            <a:stretch>
              <a:fillRect t="-10667" b="-10667"/>
            </a:stretch>
          </a:blipFill>
        </p:spPr>
      </p:sp>
      <p:sp>
        <p:nvSpPr>
          <p:cNvPr id="13" name="TextBox 13"/>
          <p:cNvSpPr txBox="1"/>
          <p:nvPr/>
        </p:nvSpPr>
        <p:spPr>
          <a:xfrm>
            <a:off x="8913314" y="6228759"/>
            <a:ext cx="4117516"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Thay Đổi Giao Thức</a:t>
            </a:r>
          </a:p>
        </p:txBody>
      </p:sp>
      <p:sp>
        <p:nvSpPr>
          <p:cNvPr id="14" name="TextBox 14"/>
          <p:cNvSpPr txBox="1"/>
          <p:nvPr/>
        </p:nvSpPr>
        <p:spPr>
          <a:xfrm>
            <a:off x="8913314" y="6794154"/>
            <a:ext cx="8382448" cy="942628"/>
          </a:xfrm>
          <a:prstGeom prst="rect">
            <a:avLst/>
          </a:prstGeom>
        </p:spPr>
        <p:txBody>
          <a:bodyPr lIns="0" tIns="0" rIns="0" bIns="0" rtlCol="0" anchor="t">
            <a:spAutoFit/>
          </a:bodyPr>
          <a:lstStyle/>
          <a:p>
            <a:pPr algn="l">
              <a:lnSpc>
                <a:spcPts val="3857"/>
              </a:lnSpc>
            </a:pPr>
            <a:r>
              <a:rPr lang="en-US" sz="2400">
                <a:solidFill>
                  <a:srgbClr val="E0D6DE"/>
                </a:solidFill>
                <a:latin typeface="Fira Sans"/>
                <a:ea typeface="Fira Sans"/>
                <a:cs typeface="Fira Sans"/>
                <a:sym typeface="Fira Sans"/>
              </a:rPr>
              <a:t>Dùng UDP thay TCP, hoặc HTTP thay ICMP để không khớp với Signature nhận dạng</a:t>
            </a:r>
          </a:p>
        </p:txBody>
      </p:sp>
      <p:sp>
        <p:nvSpPr>
          <p:cNvPr id="15" name="Freeform 15" descr="preencoded.png"/>
          <p:cNvSpPr/>
          <p:nvPr/>
        </p:nvSpPr>
        <p:spPr>
          <a:xfrm>
            <a:off x="7850238" y="7819282"/>
            <a:ext cx="708717" cy="708717"/>
          </a:xfrm>
          <a:custGeom>
            <a:avLst/>
            <a:gdLst/>
            <a:ahLst/>
            <a:cxnLst/>
            <a:rect l="l" t="t" r="r" b="b"/>
            <a:pathLst>
              <a:path w="708717" h="708717">
                <a:moveTo>
                  <a:pt x="0" y="0"/>
                </a:moveTo>
                <a:lnTo>
                  <a:pt x="708717" y="0"/>
                </a:lnTo>
                <a:lnTo>
                  <a:pt x="708717" y="708717"/>
                </a:lnTo>
                <a:lnTo>
                  <a:pt x="0" y="708717"/>
                </a:lnTo>
                <a:lnTo>
                  <a:pt x="0" y="0"/>
                </a:lnTo>
                <a:close/>
              </a:path>
            </a:pathLst>
          </a:custGeom>
          <a:blipFill>
            <a:blip r:embed="rId7">
              <a:extLst>
                <a:ext uri="{96DAC541-7B7A-43D3-8B79-37D633B846F1}">
                  <asvg:svgBlip xmlns:asvg="http://schemas.microsoft.com/office/drawing/2016/SVG/main" r:embed="rId8"/>
                </a:ext>
              </a:extLst>
            </a:blip>
            <a:stretch>
              <a:fillRect t="-12000" b="-12000"/>
            </a:stretch>
          </a:blipFill>
        </p:spPr>
      </p:sp>
      <p:sp>
        <p:nvSpPr>
          <p:cNvPr id="16" name="TextBox 16"/>
          <p:cNvSpPr txBox="1"/>
          <p:nvPr/>
        </p:nvSpPr>
        <p:spPr>
          <a:xfrm>
            <a:off x="8913314" y="7771657"/>
            <a:ext cx="3354772"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Session Splicing</a:t>
            </a:r>
          </a:p>
        </p:txBody>
      </p:sp>
      <p:sp>
        <p:nvSpPr>
          <p:cNvPr id="17" name="TextBox 17"/>
          <p:cNvSpPr txBox="1"/>
          <p:nvPr/>
        </p:nvSpPr>
        <p:spPr>
          <a:xfrm>
            <a:off x="8913314" y="8337052"/>
            <a:ext cx="8382448" cy="942628"/>
          </a:xfrm>
          <a:prstGeom prst="rect">
            <a:avLst/>
          </a:prstGeom>
        </p:spPr>
        <p:txBody>
          <a:bodyPr lIns="0" tIns="0" rIns="0" bIns="0" rtlCol="0" anchor="t">
            <a:spAutoFit/>
          </a:bodyPr>
          <a:lstStyle/>
          <a:p>
            <a:pPr algn="l">
              <a:lnSpc>
                <a:spcPts val="3857"/>
              </a:lnSpc>
            </a:pPr>
            <a:r>
              <a:rPr lang="en-US" sz="2400">
                <a:solidFill>
                  <a:srgbClr val="E0D6DE"/>
                </a:solidFill>
                <a:latin typeface="Fira Sans"/>
                <a:ea typeface="Fira Sans"/>
                <a:cs typeface="Fira Sans"/>
                <a:sym typeface="Fira Sans"/>
              </a:rPr>
              <a:t>Băm nhỏ gói tin độc hại để IDS không nhận ra, tổng hợp lại tại máy đích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sp>
        <p:nvSpPr>
          <p:cNvPr id="6" name="TextBox 6"/>
          <p:cNvSpPr txBox="1"/>
          <p:nvPr/>
        </p:nvSpPr>
        <p:spPr>
          <a:xfrm>
            <a:off x="992238" y="1703041"/>
            <a:ext cx="9762195"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Mô Hình Firewall: Bastion Host</a:t>
            </a:r>
          </a:p>
        </p:txBody>
      </p:sp>
      <p:sp>
        <p:nvSpPr>
          <p:cNvPr id="7" name="TextBox 7"/>
          <p:cNvSpPr txBox="1"/>
          <p:nvPr/>
        </p:nvSpPr>
        <p:spPr>
          <a:xfrm>
            <a:off x="992238" y="3307261"/>
            <a:ext cx="2185913" cy="596265"/>
          </a:xfrm>
          <a:prstGeom prst="rect">
            <a:avLst/>
          </a:prstGeom>
        </p:spPr>
        <p:txBody>
          <a:bodyPr lIns="0" tIns="0" rIns="0" bIns="0" rtlCol="0" anchor="t">
            <a:spAutoFit/>
          </a:bodyPr>
          <a:lstStyle/>
          <a:p>
            <a:pPr algn="l">
              <a:lnSpc>
                <a:spcPts val="4500"/>
              </a:lnSpc>
            </a:pPr>
            <a:r>
              <a:rPr lang="en-US" sz="3600">
                <a:solidFill>
                  <a:srgbClr val="FBF3FA"/>
                </a:solidFill>
                <a:latin typeface="Arimo"/>
                <a:ea typeface="Arimo"/>
                <a:cs typeface="Arimo"/>
                <a:sym typeface="Arimo"/>
              </a:rPr>
              <a:t>Nguyên Lý</a:t>
            </a:r>
          </a:p>
        </p:txBody>
      </p:sp>
      <p:sp>
        <p:nvSpPr>
          <p:cNvPr id="8" name="TextBox 8"/>
          <p:cNvSpPr txBox="1"/>
          <p:nvPr/>
        </p:nvSpPr>
        <p:spPr>
          <a:xfrm>
            <a:off x="992238" y="3986060"/>
            <a:ext cx="5577774" cy="942628"/>
          </a:xfrm>
          <a:prstGeom prst="rect">
            <a:avLst/>
          </a:prstGeom>
        </p:spPr>
        <p:txBody>
          <a:bodyPr lIns="0" tIns="0" rIns="0" bIns="0" rtlCol="0" anchor="t">
            <a:spAutoFit/>
          </a:bodyPr>
          <a:lstStyle/>
          <a:p>
            <a:pPr algn="l">
              <a:lnSpc>
                <a:spcPts val="3857"/>
              </a:lnSpc>
            </a:pPr>
            <a:r>
              <a:rPr lang="en-US" sz="2400">
                <a:solidFill>
                  <a:srgbClr val="E0D6DE"/>
                </a:solidFill>
                <a:latin typeface="Fira Sans"/>
                <a:ea typeface="Fira Sans"/>
                <a:cs typeface="Fira Sans"/>
                <a:sym typeface="Fira Sans"/>
              </a:rPr>
              <a:t>Firewall đặt tại ranh giới giữa hai môi trường</a:t>
            </a:r>
          </a:p>
        </p:txBody>
      </p:sp>
      <p:grpSp>
        <p:nvGrpSpPr>
          <p:cNvPr id="9" name="Group 9"/>
          <p:cNvGrpSpPr/>
          <p:nvPr/>
        </p:nvGrpSpPr>
        <p:grpSpPr>
          <a:xfrm>
            <a:off x="992238" y="5121026"/>
            <a:ext cx="5256457" cy="44948"/>
            <a:chOff x="0" y="0"/>
            <a:chExt cx="7008609" cy="59931"/>
          </a:xfrm>
        </p:grpSpPr>
        <p:sp>
          <p:nvSpPr>
            <p:cNvPr id="10" name="Freeform 10"/>
            <p:cNvSpPr/>
            <p:nvPr/>
          </p:nvSpPr>
          <p:spPr>
            <a:xfrm>
              <a:off x="0" y="0"/>
              <a:ext cx="7008622" cy="59944"/>
            </a:xfrm>
            <a:custGeom>
              <a:avLst/>
              <a:gdLst/>
              <a:ahLst/>
              <a:cxnLst/>
              <a:rect l="l" t="t" r="r" b="b"/>
              <a:pathLst>
                <a:path w="7008622" h="59944">
                  <a:moveTo>
                    <a:pt x="0" y="0"/>
                  </a:moveTo>
                  <a:lnTo>
                    <a:pt x="7008622" y="0"/>
                  </a:lnTo>
                  <a:lnTo>
                    <a:pt x="7008622" y="59944"/>
                  </a:lnTo>
                  <a:lnTo>
                    <a:pt x="0" y="59944"/>
                  </a:lnTo>
                  <a:close/>
                </a:path>
              </a:pathLst>
            </a:custGeom>
            <a:solidFill>
              <a:srgbClr val="E0D6DE">
                <a:alpha val="24706"/>
              </a:srgbClr>
            </a:solidFill>
          </p:spPr>
        </p:sp>
      </p:grpSp>
      <p:sp>
        <p:nvSpPr>
          <p:cNvPr id="11" name="TextBox 11"/>
          <p:cNvSpPr txBox="1"/>
          <p:nvPr/>
        </p:nvSpPr>
        <p:spPr>
          <a:xfrm>
            <a:off x="992238" y="5361491"/>
            <a:ext cx="2770063" cy="596265"/>
          </a:xfrm>
          <a:prstGeom prst="rect">
            <a:avLst/>
          </a:prstGeom>
        </p:spPr>
        <p:txBody>
          <a:bodyPr lIns="0" tIns="0" rIns="0" bIns="0" rtlCol="0" anchor="t">
            <a:spAutoFit/>
          </a:bodyPr>
          <a:lstStyle/>
          <a:p>
            <a:pPr algn="l">
              <a:lnSpc>
                <a:spcPts val="4500"/>
              </a:lnSpc>
            </a:pPr>
            <a:r>
              <a:rPr lang="en-US" sz="3600">
                <a:solidFill>
                  <a:srgbClr val="FBF3FA"/>
                </a:solidFill>
                <a:latin typeface="Arimo"/>
                <a:ea typeface="Arimo"/>
                <a:cs typeface="Arimo"/>
                <a:sym typeface="Arimo"/>
              </a:rPr>
              <a:t>Vùng Tin Cậy</a:t>
            </a:r>
          </a:p>
        </p:txBody>
      </p:sp>
      <p:sp>
        <p:nvSpPr>
          <p:cNvPr id="12" name="TextBox 12"/>
          <p:cNvSpPr txBox="1"/>
          <p:nvPr/>
        </p:nvSpPr>
        <p:spPr>
          <a:xfrm>
            <a:off x="992238" y="6040291"/>
            <a:ext cx="5577774" cy="456891"/>
          </a:xfrm>
          <a:prstGeom prst="rect">
            <a:avLst/>
          </a:prstGeom>
        </p:spPr>
        <p:txBody>
          <a:bodyPr lIns="0" tIns="0" rIns="0" bIns="0" rtlCol="0" anchor="t">
            <a:spAutoFit/>
          </a:bodyPr>
          <a:lstStyle/>
          <a:p>
            <a:pPr algn="l">
              <a:lnSpc>
                <a:spcPts val="3857"/>
              </a:lnSpc>
            </a:pPr>
            <a:r>
              <a:rPr lang="en-US" sz="2400">
                <a:solidFill>
                  <a:srgbClr val="FF6BD8"/>
                </a:solidFill>
                <a:latin typeface="Fira Sans"/>
                <a:ea typeface="Fira Sans"/>
                <a:cs typeface="Fira Sans"/>
                <a:sym typeface="Fira Sans"/>
              </a:rPr>
              <a:t>Trusted-zone:</a:t>
            </a:r>
            <a:r>
              <a:rPr lang="en-US" sz="2400">
                <a:solidFill>
                  <a:srgbClr val="E0D6DE"/>
                </a:solidFill>
                <a:latin typeface="Fira Sans"/>
                <a:ea typeface="Fira Sans"/>
                <a:cs typeface="Fira Sans"/>
                <a:sym typeface="Fira Sans"/>
              </a:rPr>
              <a:t> Mạng nội bộ an toàn</a:t>
            </a:r>
          </a:p>
        </p:txBody>
      </p:sp>
      <p:grpSp>
        <p:nvGrpSpPr>
          <p:cNvPr id="13" name="Group 13"/>
          <p:cNvGrpSpPr/>
          <p:nvPr/>
        </p:nvGrpSpPr>
        <p:grpSpPr>
          <a:xfrm>
            <a:off x="992238" y="6818605"/>
            <a:ext cx="5256457" cy="44948"/>
            <a:chOff x="0" y="0"/>
            <a:chExt cx="7008609" cy="59931"/>
          </a:xfrm>
        </p:grpSpPr>
        <p:sp>
          <p:nvSpPr>
            <p:cNvPr id="14" name="Freeform 14"/>
            <p:cNvSpPr/>
            <p:nvPr/>
          </p:nvSpPr>
          <p:spPr>
            <a:xfrm>
              <a:off x="0" y="0"/>
              <a:ext cx="7008622" cy="59944"/>
            </a:xfrm>
            <a:custGeom>
              <a:avLst/>
              <a:gdLst/>
              <a:ahLst/>
              <a:cxnLst/>
              <a:rect l="l" t="t" r="r" b="b"/>
              <a:pathLst>
                <a:path w="7008622" h="59944">
                  <a:moveTo>
                    <a:pt x="0" y="0"/>
                  </a:moveTo>
                  <a:lnTo>
                    <a:pt x="7008622" y="0"/>
                  </a:lnTo>
                  <a:lnTo>
                    <a:pt x="7008622" y="59944"/>
                  </a:lnTo>
                  <a:lnTo>
                    <a:pt x="0" y="59944"/>
                  </a:lnTo>
                  <a:close/>
                </a:path>
              </a:pathLst>
            </a:custGeom>
            <a:solidFill>
              <a:srgbClr val="E0D6DE">
                <a:alpha val="24706"/>
              </a:srgbClr>
            </a:solidFill>
          </p:spPr>
        </p:sp>
      </p:grpSp>
      <p:sp>
        <p:nvSpPr>
          <p:cNvPr id="15" name="TextBox 15"/>
          <p:cNvSpPr txBox="1"/>
          <p:nvPr/>
        </p:nvSpPr>
        <p:spPr>
          <a:xfrm>
            <a:off x="992238" y="7134816"/>
            <a:ext cx="4219091" cy="596265"/>
          </a:xfrm>
          <a:prstGeom prst="rect">
            <a:avLst/>
          </a:prstGeom>
        </p:spPr>
        <p:txBody>
          <a:bodyPr lIns="0" tIns="0" rIns="0" bIns="0" rtlCol="0" anchor="t">
            <a:spAutoFit/>
          </a:bodyPr>
          <a:lstStyle/>
          <a:p>
            <a:pPr algn="l">
              <a:lnSpc>
                <a:spcPts val="4500"/>
              </a:lnSpc>
            </a:pPr>
            <a:r>
              <a:rPr lang="en-US" sz="3600">
                <a:solidFill>
                  <a:srgbClr val="FBF3FA"/>
                </a:solidFill>
                <a:latin typeface="Arimo"/>
                <a:ea typeface="Arimo"/>
                <a:cs typeface="Arimo"/>
                <a:sym typeface="Arimo"/>
              </a:rPr>
              <a:t>Vùng Không Tin Cậy</a:t>
            </a:r>
          </a:p>
        </p:txBody>
      </p:sp>
      <p:sp>
        <p:nvSpPr>
          <p:cNvPr id="16" name="TextBox 16"/>
          <p:cNvSpPr txBox="1"/>
          <p:nvPr/>
        </p:nvSpPr>
        <p:spPr>
          <a:xfrm>
            <a:off x="992238" y="7813624"/>
            <a:ext cx="5577774" cy="942628"/>
          </a:xfrm>
          <a:prstGeom prst="rect">
            <a:avLst/>
          </a:prstGeom>
        </p:spPr>
        <p:txBody>
          <a:bodyPr lIns="0" tIns="0" rIns="0" bIns="0" rtlCol="0" anchor="t">
            <a:spAutoFit/>
          </a:bodyPr>
          <a:lstStyle/>
          <a:p>
            <a:pPr algn="l">
              <a:lnSpc>
                <a:spcPts val="3857"/>
              </a:lnSpc>
            </a:pPr>
            <a:r>
              <a:rPr lang="en-US" sz="2400">
                <a:solidFill>
                  <a:srgbClr val="F44444"/>
                </a:solidFill>
                <a:latin typeface="Fira Sans"/>
                <a:ea typeface="Fira Sans"/>
                <a:cs typeface="Fira Sans"/>
                <a:sym typeface="Fira Sans"/>
              </a:rPr>
              <a:t>Untrusted-zone:</a:t>
            </a:r>
            <a:r>
              <a:rPr lang="en-US" sz="2400">
                <a:solidFill>
                  <a:srgbClr val="E0D6DE"/>
                </a:solidFill>
                <a:latin typeface="Fira Sans"/>
                <a:ea typeface="Fira Sans"/>
                <a:cs typeface="Fira Sans"/>
                <a:sym typeface="Fira Sans"/>
              </a:rPr>
              <a:t> Mạng Internet nguy hiểm</a:t>
            </a:r>
          </a:p>
        </p:txBody>
      </p:sp>
      <p:grpSp>
        <p:nvGrpSpPr>
          <p:cNvPr id="17" name="Group 17"/>
          <p:cNvGrpSpPr/>
          <p:nvPr/>
        </p:nvGrpSpPr>
        <p:grpSpPr>
          <a:xfrm>
            <a:off x="6949973" y="3390309"/>
            <a:ext cx="10355161" cy="5652979"/>
            <a:chOff x="0" y="0"/>
            <a:chExt cx="13806881" cy="7537305"/>
          </a:xfrm>
        </p:grpSpPr>
        <p:sp>
          <p:nvSpPr>
            <p:cNvPr id="18" name="Freeform 18"/>
            <p:cNvSpPr/>
            <p:nvPr/>
          </p:nvSpPr>
          <p:spPr>
            <a:xfrm>
              <a:off x="0" y="0"/>
              <a:ext cx="13806804" cy="7537191"/>
            </a:xfrm>
            <a:custGeom>
              <a:avLst/>
              <a:gdLst/>
              <a:ahLst/>
              <a:cxnLst/>
              <a:rect l="l" t="t" r="r" b="b"/>
              <a:pathLst>
                <a:path w="13806804" h="7537191">
                  <a:moveTo>
                    <a:pt x="0" y="72520"/>
                  </a:moveTo>
                  <a:cubicBezTo>
                    <a:pt x="0" y="32520"/>
                    <a:pt x="25400" y="0"/>
                    <a:pt x="56642" y="0"/>
                  </a:cubicBezTo>
                  <a:lnTo>
                    <a:pt x="13750162" y="0"/>
                  </a:lnTo>
                  <a:cubicBezTo>
                    <a:pt x="13781531" y="0"/>
                    <a:pt x="13806804" y="32520"/>
                    <a:pt x="13806804" y="72520"/>
                  </a:cubicBezTo>
                  <a:lnTo>
                    <a:pt x="13806804" y="7464671"/>
                  </a:lnTo>
                  <a:cubicBezTo>
                    <a:pt x="13806804" y="7504833"/>
                    <a:pt x="13781404" y="7537191"/>
                    <a:pt x="13750162" y="7537191"/>
                  </a:cubicBezTo>
                  <a:lnTo>
                    <a:pt x="56642" y="7537191"/>
                  </a:lnTo>
                  <a:cubicBezTo>
                    <a:pt x="25273" y="7537191"/>
                    <a:pt x="0" y="7504671"/>
                    <a:pt x="0" y="7464671"/>
                  </a:cubicBezTo>
                  <a:close/>
                </a:path>
              </a:pathLst>
            </a:custGeom>
            <a:solidFill>
              <a:srgbClr val="4D0038"/>
            </a:solidFill>
          </p:spPr>
        </p:sp>
      </p:grpSp>
      <p:grpSp>
        <p:nvGrpSpPr>
          <p:cNvPr id="19" name="Group 19"/>
          <p:cNvGrpSpPr/>
          <p:nvPr/>
        </p:nvGrpSpPr>
        <p:grpSpPr>
          <a:xfrm>
            <a:off x="7233495" y="3810895"/>
            <a:ext cx="354359" cy="283521"/>
            <a:chOff x="0" y="0"/>
            <a:chExt cx="472478" cy="378028"/>
          </a:xfrm>
        </p:grpSpPr>
        <p:sp>
          <p:nvSpPr>
            <p:cNvPr id="20" name="Freeform 20" descr="preencoded.png"/>
            <p:cNvSpPr/>
            <p:nvPr/>
          </p:nvSpPr>
          <p:spPr>
            <a:xfrm>
              <a:off x="0" y="0"/>
              <a:ext cx="472440" cy="378079"/>
            </a:xfrm>
            <a:custGeom>
              <a:avLst/>
              <a:gdLst/>
              <a:ahLst/>
              <a:cxnLst/>
              <a:rect l="l" t="t" r="r" b="b"/>
              <a:pathLst>
                <a:path w="472440" h="378079">
                  <a:moveTo>
                    <a:pt x="0" y="0"/>
                  </a:moveTo>
                  <a:lnTo>
                    <a:pt x="472440" y="0"/>
                  </a:lnTo>
                  <a:lnTo>
                    <a:pt x="472440" y="378079"/>
                  </a:lnTo>
                  <a:lnTo>
                    <a:pt x="0" y="378079"/>
                  </a:lnTo>
                  <a:lnTo>
                    <a:pt x="0" y="0"/>
                  </a:lnTo>
                  <a:close/>
                </a:path>
              </a:pathLst>
            </a:custGeom>
            <a:blipFill>
              <a:blip r:embed="rId2"/>
              <a:stretch>
                <a:fillRect t="-671" r="-8" b="-655"/>
              </a:stretch>
            </a:blipFill>
          </p:spPr>
        </p:sp>
      </p:grpSp>
      <p:grpSp>
        <p:nvGrpSpPr>
          <p:cNvPr id="21" name="Group 21"/>
          <p:cNvGrpSpPr/>
          <p:nvPr/>
        </p:nvGrpSpPr>
        <p:grpSpPr>
          <a:xfrm>
            <a:off x="7233495" y="4343766"/>
            <a:ext cx="9788128" cy="3565108"/>
            <a:chOff x="0" y="0"/>
            <a:chExt cx="10585247" cy="3855441"/>
          </a:xfrm>
        </p:grpSpPr>
        <p:sp>
          <p:nvSpPr>
            <p:cNvPr id="22" name="Freeform 22" descr="preencoded.png"/>
            <p:cNvSpPr/>
            <p:nvPr/>
          </p:nvSpPr>
          <p:spPr>
            <a:xfrm>
              <a:off x="0" y="0"/>
              <a:ext cx="10585196" cy="3855466"/>
            </a:xfrm>
            <a:custGeom>
              <a:avLst/>
              <a:gdLst/>
              <a:ahLst/>
              <a:cxnLst/>
              <a:rect l="l" t="t" r="r" b="b"/>
              <a:pathLst>
                <a:path w="10585196" h="3855466">
                  <a:moveTo>
                    <a:pt x="0" y="0"/>
                  </a:moveTo>
                  <a:lnTo>
                    <a:pt x="10585196" y="0"/>
                  </a:lnTo>
                  <a:lnTo>
                    <a:pt x="10585196" y="3855466"/>
                  </a:lnTo>
                  <a:lnTo>
                    <a:pt x="0" y="3855466"/>
                  </a:lnTo>
                  <a:lnTo>
                    <a:pt x="0" y="0"/>
                  </a:lnTo>
                  <a:close/>
                </a:path>
              </a:pathLst>
            </a:custGeom>
            <a:blipFill>
              <a:blip r:embed="rId3"/>
              <a:stretch>
                <a:fillRect t="-98" b="-98"/>
              </a:stretch>
            </a:blipFill>
          </p:spPr>
        </p:sp>
      </p:grpSp>
      <p:sp>
        <p:nvSpPr>
          <p:cNvPr id="23" name="TextBox 23"/>
          <p:cNvSpPr txBox="1"/>
          <p:nvPr/>
        </p:nvSpPr>
        <p:spPr>
          <a:xfrm>
            <a:off x="7729344" y="8281478"/>
            <a:ext cx="9150248" cy="533400"/>
          </a:xfrm>
          <a:prstGeom prst="rect">
            <a:avLst/>
          </a:prstGeom>
        </p:spPr>
        <p:txBody>
          <a:bodyPr lIns="0" tIns="0" rIns="0" bIns="0" rtlCol="0" anchor="t">
            <a:spAutoFit/>
          </a:bodyPr>
          <a:lstStyle/>
          <a:p>
            <a:pPr algn="ctr">
              <a:lnSpc>
                <a:spcPts val="4559"/>
              </a:lnSpc>
            </a:pPr>
            <a:r>
              <a:rPr lang="en-US" sz="2799">
                <a:solidFill>
                  <a:srgbClr val="FFFFFF"/>
                </a:solidFill>
                <a:latin typeface="Fira Sans"/>
                <a:ea typeface="Fira Sans"/>
                <a:cs typeface="Fira Sans"/>
                <a:sym typeface="Fira Sans"/>
              </a:rPr>
              <a:t>Kiến trúc một firewall (bastion host)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sp>
        <p:nvSpPr>
          <p:cNvPr id="6" name="TextBox 6"/>
          <p:cNvSpPr txBox="1"/>
          <p:nvPr/>
        </p:nvSpPr>
        <p:spPr>
          <a:xfrm>
            <a:off x="992238" y="1158773"/>
            <a:ext cx="9129117"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Mô Hình Firewall: Vùng DMZ</a:t>
            </a:r>
          </a:p>
        </p:txBody>
      </p:sp>
      <p:sp>
        <p:nvSpPr>
          <p:cNvPr id="7" name="TextBox 7"/>
          <p:cNvSpPr txBox="1"/>
          <p:nvPr/>
        </p:nvSpPr>
        <p:spPr>
          <a:xfrm>
            <a:off x="1028700" y="2627973"/>
            <a:ext cx="3533366" cy="596265"/>
          </a:xfrm>
          <a:prstGeom prst="rect">
            <a:avLst/>
          </a:prstGeom>
        </p:spPr>
        <p:txBody>
          <a:bodyPr lIns="0" tIns="0" rIns="0" bIns="0" rtlCol="0" anchor="t">
            <a:spAutoFit/>
          </a:bodyPr>
          <a:lstStyle/>
          <a:p>
            <a:pPr algn="l">
              <a:lnSpc>
                <a:spcPts val="4500"/>
              </a:lnSpc>
            </a:pPr>
            <a:r>
              <a:rPr lang="en-US" sz="3600">
                <a:solidFill>
                  <a:srgbClr val="FBF3FA"/>
                </a:solidFill>
                <a:latin typeface="Arimo"/>
                <a:ea typeface="Arimo"/>
                <a:cs typeface="Arimo"/>
                <a:sym typeface="Arimo"/>
              </a:rPr>
              <a:t>Screened Subnet</a:t>
            </a:r>
          </a:p>
        </p:txBody>
      </p:sp>
      <p:sp>
        <p:nvSpPr>
          <p:cNvPr id="8" name="TextBox 8"/>
          <p:cNvSpPr txBox="1"/>
          <p:nvPr/>
        </p:nvSpPr>
        <p:spPr>
          <a:xfrm>
            <a:off x="992238" y="3451327"/>
            <a:ext cx="5256457" cy="900323"/>
          </a:xfrm>
          <a:prstGeom prst="rect">
            <a:avLst/>
          </a:prstGeom>
        </p:spPr>
        <p:txBody>
          <a:bodyPr lIns="0" tIns="0" rIns="0" bIns="0" rtlCol="0" anchor="t">
            <a:spAutoFit/>
          </a:bodyPr>
          <a:lstStyle/>
          <a:p>
            <a:pPr algn="l">
              <a:lnSpc>
                <a:spcPts val="3696"/>
              </a:lnSpc>
            </a:pPr>
            <a:r>
              <a:rPr lang="en-US" sz="2299" dirty="0" err="1">
                <a:solidFill>
                  <a:srgbClr val="E0D6DE"/>
                </a:solidFill>
                <a:latin typeface="Fira Sans"/>
                <a:ea typeface="Fira Sans"/>
                <a:cs typeface="Fira Sans"/>
                <a:sym typeface="Fira Sans"/>
              </a:rPr>
              <a:t>Kiến</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trúc</a:t>
            </a:r>
            <a:r>
              <a:rPr lang="en-US" sz="2299" dirty="0">
                <a:solidFill>
                  <a:srgbClr val="E0D6DE"/>
                </a:solidFill>
                <a:latin typeface="Fira Sans"/>
                <a:ea typeface="Fira Sans"/>
                <a:cs typeface="Fira Sans"/>
                <a:sym typeface="Fira Sans"/>
              </a:rPr>
              <a:t> firewall </a:t>
            </a:r>
            <a:r>
              <a:rPr lang="en-US" sz="2299" dirty="0" err="1">
                <a:solidFill>
                  <a:srgbClr val="E0D6DE"/>
                </a:solidFill>
                <a:latin typeface="Fira Sans"/>
                <a:ea typeface="Fira Sans"/>
                <a:cs typeface="Fira Sans"/>
                <a:sym typeface="Fira Sans"/>
              </a:rPr>
              <a:t>với</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vùng</a:t>
            </a:r>
            <a:r>
              <a:rPr lang="en-US" sz="2299" dirty="0">
                <a:solidFill>
                  <a:srgbClr val="E0D6DE"/>
                </a:solidFill>
                <a:latin typeface="Fira Sans"/>
                <a:ea typeface="Fira Sans"/>
                <a:cs typeface="Fira Sans"/>
                <a:sym typeface="Fira Sans"/>
              </a:rPr>
              <a:t> </a:t>
            </a:r>
            <a:r>
              <a:rPr lang="vi-VN" sz="2299" dirty="0">
                <a:solidFill>
                  <a:srgbClr val="E0D6DE"/>
                </a:solidFill>
                <a:latin typeface="Fira Sans"/>
                <a:ea typeface="Fira Sans"/>
                <a:cs typeface="Fira Sans"/>
                <a:sym typeface="Fira Sans"/>
              </a:rPr>
              <a:t>DMZ </a:t>
            </a:r>
            <a:r>
              <a:rPr lang="en-US" sz="2299" dirty="0" err="1">
                <a:solidFill>
                  <a:srgbClr val="E0D6DE"/>
                </a:solidFill>
                <a:latin typeface="Fira Sans"/>
                <a:ea typeface="Fira Sans"/>
                <a:cs typeface="Fira Sans"/>
                <a:sym typeface="Fira Sans"/>
              </a:rPr>
              <a:t>để</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bảo</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vệ</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máy</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chủ</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công</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khai</a:t>
            </a:r>
            <a:endParaRPr lang="en-US" sz="2299" dirty="0">
              <a:solidFill>
                <a:srgbClr val="E0D6DE"/>
              </a:solidFill>
              <a:latin typeface="Fira Sans"/>
              <a:ea typeface="Fira Sans"/>
              <a:cs typeface="Fira Sans"/>
              <a:sym typeface="Fira Sans"/>
            </a:endParaRPr>
          </a:p>
        </p:txBody>
      </p:sp>
      <p:grpSp>
        <p:nvGrpSpPr>
          <p:cNvPr id="9" name="Group 9"/>
          <p:cNvGrpSpPr/>
          <p:nvPr/>
        </p:nvGrpSpPr>
        <p:grpSpPr>
          <a:xfrm>
            <a:off x="992238" y="4723400"/>
            <a:ext cx="5256457" cy="44948"/>
            <a:chOff x="0" y="0"/>
            <a:chExt cx="7008609" cy="59931"/>
          </a:xfrm>
        </p:grpSpPr>
        <p:sp>
          <p:nvSpPr>
            <p:cNvPr id="10" name="Freeform 10"/>
            <p:cNvSpPr/>
            <p:nvPr/>
          </p:nvSpPr>
          <p:spPr>
            <a:xfrm>
              <a:off x="0" y="0"/>
              <a:ext cx="7008622" cy="59944"/>
            </a:xfrm>
            <a:custGeom>
              <a:avLst/>
              <a:gdLst/>
              <a:ahLst/>
              <a:cxnLst/>
              <a:rect l="l" t="t" r="r" b="b"/>
              <a:pathLst>
                <a:path w="7008622" h="59944">
                  <a:moveTo>
                    <a:pt x="0" y="0"/>
                  </a:moveTo>
                  <a:lnTo>
                    <a:pt x="7008622" y="0"/>
                  </a:lnTo>
                  <a:lnTo>
                    <a:pt x="7008622" y="59944"/>
                  </a:lnTo>
                  <a:lnTo>
                    <a:pt x="0" y="59944"/>
                  </a:lnTo>
                  <a:close/>
                </a:path>
              </a:pathLst>
            </a:custGeom>
            <a:solidFill>
              <a:srgbClr val="E0D6DE">
                <a:alpha val="24706"/>
              </a:srgbClr>
            </a:solidFill>
          </p:spPr>
        </p:sp>
      </p:grpSp>
      <p:sp>
        <p:nvSpPr>
          <p:cNvPr id="11" name="TextBox 11"/>
          <p:cNvSpPr txBox="1"/>
          <p:nvPr/>
        </p:nvSpPr>
        <p:spPr>
          <a:xfrm>
            <a:off x="1028700" y="4904601"/>
            <a:ext cx="2185169" cy="596265"/>
          </a:xfrm>
          <a:prstGeom prst="rect">
            <a:avLst/>
          </a:prstGeom>
        </p:spPr>
        <p:txBody>
          <a:bodyPr lIns="0" tIns="0" rIns="0" bIns="0" rtlCol="0" anchor="t">
            <a:spAutoFit/>
          </a:bodyPr>
          <a:lstStyle/>
          <a:p>
            <a:pPr algn="l">
              <a:lnSpc>
                <a:spcPts val="4500"/>
              </a:lnSpc>
            </a:pPr>
            <a:r>
              <a:rPr lang="en-US" sz="3600">
                <a:solidFill>
                  <a:srgbClr val="FBF3FA"/>
                </a:solidFill>
                <a:latin typeface="Arimo"/>
                <a:ea typeface="Arimo"/>
                <a:cs typeface="Arimo"/>
                <a:sym typeface="Arimo"/>
              </a:rPr>
              <a:t>Vùng DMZ</a:t>
            </a:r>
          </a:p>
        </p:txBody>
      </p:sp>
      <p:sp>
        <p:nvSpPr>
          <p:cNvPr id="12" name="TextBox 12"/>
          <p:cNvSpPr txBox="1"/>
          <p:nvPr/>
        </p:nvSpPr>
        <p:spPr>
          <a:xfrm>
            <a:off x="992238" y="5727944"/>
            <a:ext cx="5256457" cy="900323"/>
          </a:xfrm>
          <a:prstGeom prst="rect">
            <a:avLst/>
          </a:prstGeom>
        </p:spPr>
        <p:txBody>
          <a:bodyPr lIns="0" tIns="0" rIns="0" bIns="0" rtlCol="0" anchor="t">
            <a:spAutoFit/>
          </a:bodyPr>
          <a:lstStyle/>
          <a:p>
            <a:pPr algn="l">
              <a:lnSpc>
                <a:spcPts val="3696"/>
              </a:lnSpc>
            </a:pPr>
            <a:r>
              <a:rPr lang="en-US" sz="2299" dirty="0" err="1">
                <a:solidFill>
                  <a:srgbClr val="E0D6DE"/>
                </a:solidFill>
                <a:latin typeface="Fira Sans"/>
                <a:ea typeface="Fira Sans"/>
                <a:cs typeface="Fira Sans"/>
                <a:sym typeface="Fira Sans"/>
              </a:rPr>
              <a:t>Nơi</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đặt</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các</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máy</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chủ</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công</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khai</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như</a:t>
            </a:r>
            <a:r>
              <a:rPr lang="en-US" sz="2299" dirty="0">
                <a:solidFill>
                  <a:srgbClr val="E0D6DE"/>
                </a:solidFill>
                <a:latin typeface="Fira Sans"/>
                <a:ea typeface="Fira Sans"/>
                <a:cs typeface="Fira Sans"/>
                <a:sym typeface="Fira Sans"/>
              </a:rPr>
              <a:t> Web, Mail, Database</a:t>
            </a:r>
          </a:p>
        </p:txBody>
      </p:sp>
      <p:grpSp>
        <p:nvGrpSpPr>
          <p:cNvPr id="13" name="Group 13"/>
          <p:cNvGrpSpPr/>
          <p:nvPr/>
        </p:nvGrpSpPr>
        <p:grpSpPr>
          <a:xfrm>
            <a:off x="992238" y="7000027"/>
            <a:ext cx="5256457" cy="44948"/>
            <a:chOff x="0" y="0"/>
            <a:chExt cx="7008609" cy="59931"/>
          </a:xfrm>
        </p:grpSpPr>
        <p:sp>
          <p:nvSpPr>
            <p:cNvPr id="14" name="Freeform 14"/>
            <p:cNvSpPr/>
            <p:nvPr/>
          </p:nvSpPr>
          <p:spPr>
            <a:xfrm>
              <a:off x="0" y="0"/>
              <a:ext cx="7008622" cy="59944"/>
            </a:xfrm>
            <a:custGeom>
              <a:avLst/>
              <a:gdLst/>
              <a:ahLst/>
              <a:cxnLst/>
              <a:rect l="l" t="t" r="r" b="b"/>
              <a:pathLst>
                <a:path w="7008622" h="59944">
                  <a:moveTo>
                    <a:pt x="0" y="0"/>
                  </a:moveTo>
                  <a:lnTo>
                    <a:pt x="7008622" y="0"/>
                  </a:lnTo>
                  <a:lnTo>
                    <a:pt x="7008622" y="59944"/>
                  </a:lnTo>
                  <a:lnTo>
                    <a:pt x="0" y="59944"/>
                  </a:lnTo>
                  <a:close/>
                </a:path>
              </a:pathLst>
            </a:custGeom>
            <a:solidFill>
              <a:srgbClr val="E0D6DE">
                <a:alpha val="24706"/>
              </a:srgbClr>
            </a:solidFill>
          </p:spPr>
        </p:sp>
      </p:grpSp>
      <p:sp>
        <p:nvSpPr>
          <p:cNvPr id="15" name="TextBox 15"/>
          <p:cNvSpPr txBox="1"/>
          <p:nvPr/>
        </p:nvSpPr>
        <p:spPr>
          <a:xfrm>
            <a:off x="1028700" y="7181219"/>
            <a:ext cx="2339206" cy="596265"/>
          </a:xfrm>
          <a:prstGeom prst="rect">
            <a:avLst/>
          </a:prstGeom>
        </p:spPr>
        <p:txBody>
          <a:bodyPr lIns="0" tIns="0" rIns="0" bIns="0" rtlCol="0" anchor="t">
            <a:spAutoFit/>
          </a:bodyPr>
          <a:lstStyle/>
          <a:p>
            <a:pPr algn="l">
              <a:lnSpc>
                <a:spcPts val="4500"/>
              </a:lnSpc>
            </a:pPr>
            <a:r>
              <a:rPr lang="en-US" sz="3600">
                <a:solidFill>
                  <a:srgbClr val="FBF3FA"/>
                </a:solidFill>
                <a:latin typeface="Arimo"/>
                <a:ea typeface="Arimo"/>
                <a:cs typeface="Arimo"/>
                <a:sym typeface="Arimo"/>
              </a:rPr>
              <a:t>Chức Năng</a:t>
            </a:r>
          </a:p>
        </p:txBody>
      </p:sp>
      <p:sp>
        <p:nvSpPr>
          <p:cNvPr id="16" name="TextBox 16"/>
          <p:cNvSpPr txBox="1"/>
          <p:nvPr/>
        </p:nvSpPr>
        <p:spPr>
          <a:xfrm>
            <a:off x="992238" y="8004572"/>
            <a:ext cx="5256457" cy="900323"/>
          </a:xfrm>
          <a:prstGeom prst="rect">
            <a:avLst/>
          </a:prstGeom>
        </p:spPr>
        <p:txBody>
          <a:bodyPr lIns="0" tIns="0" rIns="0" bIns="0" rtlCol="0" anchor="t">
            <a:spAutoFit/>
          </a:bodyPr>
          <a:lstStyle/>
          <a:p>
            <a:pPr algn="l">
              <a:lnSpc>
                <a:spcPts val="3696"/>
              </a:lnSpc>
            </a:pPr>
            <a:r>
              <a:rPr lang="en-US" sz="2299" dirty="0" err="1">
                <a:solidFill>
                  <a:srgbClr val="E0D6DE"/>
                </a:solidFill>
                <a:latin typeface="Fira Sans"/>
                <a:ea typeface="Fira Sans"/>
                <a:cs typeface="Fira Sans"/>
                <a:sym typeface="Fira Sans"/>
              </a:rPr>
              <a:t>Ngăn</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chặn</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tương</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tác</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trực</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tiếp</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từ</a:t>
            </a:r>
            <a:r>
              <a:rPr lang="en-US" sz="2299" dirty="0">
                <a:solidFill>
                  <a:srgbClr val="E0D6DE"/>
                </a:solidFill>
                <a:latin typeface="Fira Sans"/>
                <a:ea typeface="Fira Sans"/>
                <a:cs typeface="Fira Sans"/>
                <a:sym typeface="Fira Sans"/>
              </a:rPr>
              <a:t> Internet </a:t>
            </a:r>
            <a:r>
              <a:rPr lang="en-US" sz="2299" dirty="0" err="1">
                <a:solidFill>
                  <a:srgbClr val="E0D6DE"/>
                </a:solidFill>
                <a:latin typeface="Fira Sans"/>
                <a:ea typeface="Fira Sans"/>
                <a:cs typeface="Fira Sans"/>
                <a:sym typeface="Fira Sans"/>
              </a:rPr>
              <a:t>vào</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mạng</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nội</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bộ</a:t>
            </a:r>
            <a:endParaRPr lang="en-US" sz="2299" dirty="0">
              <a:solidFill>
                <a:srgbClr val="E0D6DE"/>
              </a:solidFill>
              <a:latin typeface="Fira Sans"/>
              <a:ea typeface="Fira Sans"/>
              <a:cs typeface="Fira Sans"/>
              <a:sym typeface="Fira Sans"/>
            </a:endParaRPr>
          </a:p>
        </p:txBody>
      </p:sp>
      <p:grpSp>
        <p:nvGrpSpPr>
          <p:cNvPr id="17" name="Group 17"/>
          <p:cNvGrpSpPr/>
          <p:nvPr/>
        </p:nvGrpSpPr>
        <p:grpSpPr>
          <a:xfrm>
            <a:off x="6949973" y="2846041"/>
            <a:ext cx="10355161" cy="5307359"/>
            <a:chOff x="0" y="0"/>
            <a:chExt cx="13806881" cy="7076478"/>
          </a:xfrm>
        </p:grpSpPr>
        <p:sp>
          <p:nvSpPr>
            <p:cNvPr id="18" name="Freeform 18"/>
            <p:cNvSpPr/>
            <p:nvPr/>
          </p:nvSpPr>
          <p:spPr>
            <a:xfrm>
              <a:off x="0" y="0"/>
              <a:ext cx="13806804" cy="7076440"/>
            </a:xfrm>
            <a:custGeom>
              <a:avLst/>
              <a:gdLst/>
              <a:ahLst/>
              <a:cxnLst/>
              <a:rect l="l" t="t" r="r" b="b"/>
              <a:pathLst>
                <a:path w="13806804" h="7076440">
                  <a:moveTo>
                    <a:pt x="0" y="56642"/>
                  </a:moveTo>
                  <a:cubicBezTo>
                    <a:pt x="0" y="25400"/>
                    <a:pt x="25400" y="0"/>
                    <a:pt x="56642" y="0"/>
                  </a:cubicBezTo>
                  <a:lnTo>
                    <a:pt x="13750162" y="0"/>
                  </a:lnTo>
                  <a:cubicBezTo>
                    <a:pt x="13781404" y="0"/>
                    <a:pt x="13806804" y="25400"/>
                    <a:pt x="13806804" y="56642"/>
                  </a:cubicBezTo>
                  <a:lnTo>
                    <a:pt x="13806804" y="7019798"/>
                  </a:lnTo>
                  <a:cubicBezTo>
                    <a:pt x="13806804" y="7051040"/>
                    <a:pt x="13781404" y="7076440"/>
                    <a:pt x="13750162" y="7076440"/>
                  </a:cubicBezTo>
                  <a:lnTo>
                    <a:pt x="56642" y="7076440"/>
                  </a:lnTo>
                  <a:cubicBezTo>
                    <a:pt x="25400" y="7076440"/>
                    <a:pt x="0" y="7051040"/>
                    <a:pt x="0" y="7019798"/>
                  </a:cubicBezTo>
                  <a:close/>
                </a:path>
              </a:pathLst>
            </a:custGeom>
            <a:solidFill>
              <a:srgbClr val="4D0038"/>
            </a:solidFill>
          </p:spPr>
        </p:sp>
      </p:grpSp>
      <p:grpSp>
        <p:nvGrpSpPr>
          <p:cNvPr id="19" name="Group 19"/>
          <p:cNvGrpSpPr/>
          <p:nvPr/>
        </p:nvGrpSpPr>
        <p:grpSpPr>
          <a:xfrm>
            <a:off x="7233495" y="3266627"/>
            <a:ext cx="354359" cy="283521"/>
            <a:chOff x="0" y="0"/>
            <a:chExt cx="472478" cy="378028"/>
          </a:xfrm>
        </p:grpSpPr>
        <p:sp>
          <p:nvSpPr>
            <p:cNvPr id="20" name="Freeform 20" descr="preencoded.png"/>
            <p:cNvSpPr/>
            <p:nvPr/>
          </p:nvSpPr>
          <p:spPr>
            <a:xfrm>
              <a:off x="0" y="0"/>
              <a:ext cx="472440" cy="378079"/>
            </a:xfrm>
            <a:custGeom>
              <a:avLst/>
              <a:gdLst/>
              <a:ahLst/>
              <a:cxnLst/>
              <a:rect l="l" t="t" r="r" b="b"/>
              <a:pathLst>
                <a:path w="472440" h="378079">
                  <a:moveTo>
                    <a:pt x="0" y="0"/>
                  </a:moveTo>
                  <a:lnTo>
                    <a:pt x="472440" y="0"/>
                  </a:lnTo>
                  <a:lnTo>
                    <a:pt x="472440" y="378079"/>
                  </a:lnTo>
                  <a:lnTo>
                    <a:pt x="0" y="378079"/>
                  </a:lnTo>
                  <a:lnTo>
                    <a:pt x="0" y="0"/>
                  </a:lnTo>
                  <a:close/>
                </a:path>
              </a:pathLst>
            </a:custGeom>
            <a:blipFill>
              <a:blip r:embed="rId2"/>
              <a:stretch>
                <a:fillRect t="-671" r="-8" b="-655"/>
              </a:stretch>
            </a:blipFill>
          </p:spPr>
        </p:sp>
      </p:grpSp>
      <p:grpSp>
        <p:nvGrpSpPr>
          <p:cNvPr id="21" name="Group 21"/>
          <p:cNvGrpSpPr/>
          <p:nvPr/>
        </p:nvGrpSpPr>
        <p:grpSpPr>
          <a:xfrm>
            <a:off x="7375250" y="3773859"/>
            <a:ext cx="9504607" cy="3451724"/>
            <a:chOff x="0" y="0"/>
            <a:chExt cx="12200331" cy="4430712"/>
          </a:xfrm>
        </p:grpSpPr>
        <p:sp>
          <p:nvSpPr>
            <p:cNvPr id="22" name="Freeform 22" descr="preencoded.png"/>
            <p:cNvSpPr/>
            <p:nvPr/>
          </p:nvSpPr>
          <p:spPr>
            <a:xfrm>
              <a:off x="0" y="0"/>
              <a:ext cx="12200382" cy="4430776"/>
            </a:xfrm>
            <a:custGeom>
              <a:avLst/>
              <a:gdLst/>
              <a:ahLst/>
              <a:cxnLst/>
              <a:rect l="l" t="t" r="r" b="b"/>
              <a:pathLst>
                <a:path w="12200382" h="4430776">
                  <a:moveTo>
                    <a:pt x="0" y="0"/>
                  </a:moveTo>
                  <a:lnTo>
                    <a:pt x="12200382" y="0"/>
                  </a:lnTo>
                  <a:lnTo>
                    <a:pt x="12200382" y="4430776"/>
                  </a:lnTo>
                  <a:lnTo>
                    <a:pt x="0" y="4430776"/>
                  </a:lnTo>
                  <a:lnTo>
                    <a:pt x="0" y="0"/>
                  </a:lnTo>
                  <a:close/>
                </a:path>
              </a:pathLst>
            </a:custGeom>
            <a:blipFill>
              <a:blip r:embed="rId3"/>
              <a:stretch>
                <a:fillRect b="1"/>
              </a:stretch>
            </a:blipFill>
          </p:spPr>
        </p:sp>
      </p:grpSp>
      <p:sp>
        <p:nvSpPr>
          <p:cNvPr id="23" name="TextBox 23"/>
          <p:cNvSpPr txBox="1"/>
          <p:nvPr/>
        </p:nvSpPr>
        <p:spPr>
          <a:xfrm>
            <a:off x="7552430" y="7538742"/>
            <a:ext cx="9150248" cy="448908"/>
          </a:xfrm>
          <a:prstGeom prst="rect">
            <a:avLst/>
          </a:prstGeom>
        </p:spPr>
        <p:txBody>
          <a:bodyPr lIns="0" tIns="0" rIns="0" bIns="0" rtlCol="0" anchor="t">
            <a:spAutoFit/>
          </a:bodyPr>
          <a:lstStyle/>
          <a:p>
            <a:pPr algn="ctr">
              <a:lnSpc>
                <a:spcPts val="3499"/>
              </a:lnSpc>
            </a:pPr>
            <a:r>
              <a:rPr lang="en-US" sz="2799">
                <a:solidFill>
                  <a:srgbClr val="FFFFFF"/>
                </a:solidFill>
                <a:latin typeface="Arimo"/>
                <a:ea typeface="Arimo"/>
                <a:cs typeface="Arimo"/>
                <a:sym typeface="Arimo"/>
              </a:rPr>
              <a:t>Kiến trúc một firewall (screened sunnet) với vùng DMZ</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sp>
        <p:nvSpPr>
          <p:cNvPr id="6" name="TextBox 6"/>
          <p:cNvSpPr txBox="1"/>
          <p:nvPr/>
        </p:nvSpPr>
        <p:spPr>
          <a:xfrm>
            <a:off x="992238" y="1486938"/>
            <a:ext cx="9880327"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Mô Hình: Back-to-back Firewall</a:t>
            </a:r>
          </a:p>
        </p:txBody>
      </p:sp>
      <p:sp>
        <p:nvSpPr>
          <p:cNvPr id="7" name="TextBox 7"/>
          <p:cNvSpPr txBox="1"/>
          <p:nvPr/>
        </p:nvSpPr>
        <p:spPr>
          <a:xfrm>
            <a:off x="992238" y="3264194"/>
            <a:ext cx="3321286" cy="614119"/>
          </a:xfrm>
          <a:prstGeom prst="rect">
            <a:avLst/>
          </a:prstGeom>
        </p:spPr>
        <p:txBody>
          <a:bodyPr lIns="0" tIns="0" rIns="0" bIns="0" rtlCol="0" anchor="t">
            <a:spAutoFit/>
          </a:bodyPr>
          <a:lstStyle/>
          <a:p>
            <a:pPr algn="l">
              <a:lnSpc>
                <a:spcPts val="4749"/>
              </a:lnSpc>
            </a:pPr>
            <a:r>
              <a:rPr lang="en-US" sz="3799">
                <a:solidFill>
                  <a:srgbClr val="FBF3FA"/>
                </a:solidFill>
                <a:latin typeface="Arimo"/>
                <a:ea typeface="Arimo"/>
                <a:cs typeface="Arimo"/>
                <a:sym typeface="Arimo"/>
              </a:rPr>
              <a:t>Bảo Vệ Đa Lớp</a:t>
            </a:r>
          </a:p>
        </p:txBody>
      </p:sp>
      <p:sp>
        <p:nvSpPr>
          <p:cNvPr id="8" name="TextBox 8"/>
          <p:cNvSpPr txBox="1"/>
          <p:nvPr/>
        </p:nvSpPr>
        <p:spPr>
          <a:xfrm>
            <a:off x="992238" y="4110917"/>
            <a:ext cx="5605715" cy="900323"/>
          </a:xfrm>
          <a:prstGeom prst="rect">
            <a:avLst/>
          </a:prstGeom>
        </p:spPr>
        <p:txBody>
          <a:bodyPr lIns="0" tIns="0" rIns="0" bIns="0" rtlCol="0" anchor="t">
            <a:spAutoFit/>
          </a:bodyPr>
          <a:lstStyle/>
          <a:p>
            <a:pPr algn="l">
              <a:lnSpc>
                <a:spcPts val="3696"/>
              </a:lnSpc>
            </a:pPr>
            <a:r>
              <a:rPr lang="en-US" sz="2299">
                <a:solidFill>
                  <a:srgbClr val="E0D6DE"/>
                </a:solidFill>
                <a:latin typeface="Fira Sans"/>
                <a:ea typeface="Fira Sans"/>
                <a:cs typeface="Fira Sans"/>
                <a:sym typeface="Fira Sans"/>
              </a:rPr>
              <a:t>Hệ thống dùng 2 Firewall xếp chồng để tăng cường bảo mật</a:t>
            </a:r>
          </a:p>
        </p:txBody>
      </p:sp>
      <p:sp>
        <p:nvSpPr>
          <p:cNvPr id="9" name="TextBox 9"/>
          <p:cNvSpPr txBox="1"/>
          <p:nvPr/>
        </p:nvSpPr>
        <p:spPr>
          <a:xfrm>
            <a:off x="1028700" y="5382118"/>
            <a:ext cx="2248235" cy="614119"/>
          </a:xfrm>
          <a:prstGeom prst="rect">
            <a:avLst/>
          </a:prstGeom>
        </p:spPr>
        <p:txBody>
          <a:bodyPr lIns="0" tIns="0" rIns="0" bIns="0" rtlCol="0" anchor="t">
            <a:spAutoFit/>
          </a:bodyPr>
          <a:lstStyle/>
          <a:p>
            <a:pPr algn="l">
              <a:lnSpc>
                <a:spcPts val="4749"/>
              </a:lnSpc>
            </a:pPr>
            <a:r>
              <a:rPr lang="en-US" sz="3799">
                <a:solidFill>
                  <a:srgbClr val="FBF3FA"/>
                </a:solidFill>
                <a:latin typeface="Arimo"/>
                <a:ea typeface="Arimo"/>
                <a:cs typeface="Arimo"/>
                <a:sym typeface="Arimo"/>
              </a:rPr>
              <a:t>Lớp Ngoài</a:t>
            </a:r>
          </a:p>
        </p:txBody>
      </p:sp>
      <p:sp>
        <p:nvSpPr>
          <p:cNvPr id="10" name="TextBox 10"/>
          <p:cNvSpPr txBox="1"/>
          <p:nvPr/>
        </p:nvSpPr>
        <p:spPr>
          <a:xfrm>
            <a:off x="1028700" y="6189554"/>
            <a:ext cx="5605715" cy="433561"/>
          </a:xfrm>
          <a:prstGeom prst="rect">
            <a:avLst/>
          </a:prstGeom>
        </p:spPr>
        <p:txBody>
          <a:bodyPr lIns="0" tIns="0" rIns="0" bIns="0" rtlCol="0" anchor="t">
            <a:spAutoFit/>
          </a:bodyPr>
          <a:lstStyle/>
          <a:p>
            <a:pPr algn="l">
              <a:lnSpc>
                <a:spcPts val="3696"/>
              </a:lnSpc>
            </a:pPr>
            <a:r>
              <a:rPr lang="en-US" sz="2299">
                <a:solidFill>
                  <a:srgbClr val="E0D6DE"/>
                </a:solidFill>
                <a:latin typeface="Fira Sans"/>
                <a:ea typeface="Fira Sans"/>
                <a:cs typeface="Fira Sans"/>
                <a:sym typeface="Fira Sans"/>
              </a:rPr>
              <a:t>Firewall phần cứng, lọc gói tin tốc độ cao</a:t>
            </a:r>
          </a:p>
        </p:txBody>
      </p:sp>
      <p:sp>
        <p:nvSpPr>
          <p:cNvPr id="11" name="TextBox 11"/>
          <p:cNvSpPr txBox="1"/>
          <p:nvPr/>
        </p:nvSpPr>
        <p:spPr>
          <a:xfrm>
            <a:off x="1028700" y="7085214"/>
            <a:ext cx="2248049" cy="614119"/>
          </a:xfrm>
          <a:prstGeom prst="rect">
            <a:avLst/>
          </a:prstGeom>
        </p:spPr>
        <p:txBody>
          <a:bodyPr lIns="0" tIns="0" rIns="0" bIns="0" rtlCol="0" anchor="t">
            <a:spAutoFit/>
          </a:bodyPr>
          <a:lstStyle/>
          <a:p>
            <a:pPr algn="l">
              <a:lnSpc>
                <a:spcPts val="4749"/>
              </a:lnSpc>
            </a:pPr>
            <a:r>
              <a:rPr lang="en-US" sz="3799">
                <a:solidFill>
                  <a:srgbClr val="FBF3FA"/>
                </a:solidFill>
                <a:latin typeface="Arimo"/>
                <a:ea typeface="Arimo"/>
                <a:cs typeface="Arimo"/>
                <a:sym typeface="Arimo"/>
              </a:rPr>
              <a:t>Lớp Trong</a:t>
            </a:r>
          </a:p>
        </p:txBody>
      </p:sp>
      <p:sp>
        <p:nvSpPr>
          <p:cNvPr id="12" name="TextBox 12"/>
          <p:cNvSpPr txBox="1"/>
          <p:nvPr/>
        </p:nvSpPr>
        <p:spPr>
          <a:xfrm>
            <a:off x="992238" y="7823775"/>
            <a:ext cx="5605715" cy="900323"/>
          </a:xfrm>
          <a:prstGeom prst="rect">
            <a:avLst/>
          </a:prstGeom>
        </p:spPr>
        <p:txBody>
          <a:bodyPr lIns="0" tIns="0" rIns="0" bIns="0" rtlCol="0" anchor="t">
            <a:spAutoFit/>
          </a:bodyPr>
          <a:lstStyle/>
          <a:p>
            <a:pPr algn="l">
              <a:lnSpc>
                <a:spcPts val="3696"/>
              </a:lnSpc>
            </a:pPr>
            <a:r>
              <a:rPr lang="en-US" sz="2299" dirty="0">
                <a:solidFill>
                  <a:srgbClr val="E0D6DE"/>
                </a:solidFill>
                <a:latin typeface="Fira Sans"/>
                <a:ea typeface="Fira Sans"/>
                <a:cs typeface="Fira Sans"/>
                <a:sym typeface="Fira Sans"/>
              </a:rPr>
              <a:t>Application Firewall, </a:t>
            </a:r>
            <a:r>
              <a:rPr lang="en-US" sz="2299" dirty="0" err="1">
                <a:solidFill>
                  <a:srgbClr val="E0D6DE"/>
                </a:solidFill>
                <a:latin typeface="Fira Sans"/>
                <a:ea typeface="Fira Sans"/>
                <a:cs typeface="Fira Sans"/>
                <a:sym typeface="Fira Sans"/>
              </a:rPr>
              <a:t>phân</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tích</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sâu</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nội</a:t>
            </a:r>
            <a:r>
              <a:rPr lang="en-US" sz="2299" dirty="0">
                <a:solidFill>
                  <a:srgbClr val="E0D6DE"/>
                </a:solidFill>
                <a:latin typeface="Fira Sans"/>
                <a:ea typeface="Fira Sans"/>
                <a:cs typeface="Fira Sans"/>
                <a:sym typeface="Fira Sans"/>
              </a:rPr>
              <a:t> dung </a:t>
            </a:r>
            <a:r>
              <a:rPr lang="en-US" sz="2299" dirty="0" err="1">
                <a:solidFill>
                  <a:srgbClr val="E0D6DE"/>
                </a:solidFill>
                <a:latin typeface="Fira Sans"/>
                <a:ea typeface="Fira Sans"/>
                <a:cs typeface="Fira Sans"/>
                <a:sym typeface="Fira Sans"/>
              </a:rPr>
              <a:t>và</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tích</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hợp</a:t>
            </a:r>
            <a:r>
              <a:rPr lang="en-US" sz="2299" dirty="0">
                <a:solidFill>
                  <a:srgbClr val="E0D6DE"/>
                </a:solidFill>
                <a:latin typeface="Fira Sans"/>
                <a:ea typeface="Fira Sans"/>
                <a:cs typeface="Fira Sans"/>
                <a:sym typeface="Fira Sans"/>
              </a:rPr>
              <a:t> Active Directory</a:t>
            </a:r>
          </a:p>
        </p:txBody>
      </p:sp>
      <p:grpSp>
        <p:nvGrpSpPr>
          <p:cNvPr id="13" name="Group 13"/>
          <p:cNvGrpSpPr/>
          <p:nvPr/>
        </p:nvGrpSpPr>
        <p:grpSpPr>
          <a:xfrm>
            <a:off x="6949973" y="3174206"/>
            <a:ext cx="10355161" cy="5249761"/>
            <a:chOff x="0" y="0"/>
            <a:chExt cx="13806881" cy="6999681"/>
          </a:xfrm>
        </p:grpSpPr>
        <p:sp>
          <p:nvSpPr>
            <p:cNvPr id="14" name="Freeform 14"/>
            <p:cNvSpPr/>
            <p:nvPr/>
          </p:nvSpPr>
          <p:spPr>
            <a:xfrm>
              <a:off x="0" y="0"/>
              <a:ext cx="13806804" cy="6999605"/>
            </a:xfrm>
            <a:custGeom>
              <a:avLst/>
              <a:gdLst/>
              <a:ahLst/>
              <a:cxnLst/>
              <a:rect l="l" t="t" r="r" b="b"/>
              <a:pathLst>
                <a:path w="13806804" h="6999605">
                  <a:moveTo>
                    <a:pt x="0" y="56642"/>
                  </a:moveTo>
                  <a:cubicBezTo>
                    <a:pt x="0" y="25400"/>
                    <a:pt x="25400" y="0"/>
                    <a:pt x="56642" y="0"/>
                  </a:cubicBezTo>
                  <a:lnTo>
                    <a:pt x="13750162" y="0"/>
                  </a:lnTo>
                  <a:cubicBezTo>
                    <a:pt x="13781531" y="0"/>
                    <a:pt x="13806804" y="25400"/>
                    <a:pt x="13806804" y="56642"/>
                  </a:cubicBezTo>
                  <a:lnTo>
                    <a:pt x="13806804" y="6942963"/>
                  </a:lnTo>
                  <a:cubicBezTo>
                    <a:pt x="13806804" y="6974332"/>
                    <a:pt x="13781404" y="6999605"/>
                    <a:pt x="13750162" y="6999605"/>
                  </a:cubicBezTo>
                  <a:lnTo>
                    <a:pt x="56642" y="6999605"/>
                  </a:lnTo>
                  <a:cubicBezTo>
                    <a:pt x="25273" y="6999605"/>
                    <a:pt x="0" y="6974205"/>
                    <a:pt x="0" y="6942963"/>
                  </a:cubicBezTo>
                  <a:close/>
                </a:path>
              </a:pathLst>
            </a:custGeom>
            <a:solidFill>
              <a:srgbClr val="4D0038"/>
            </a:solidFill>
          </p:spPr>
        </p:sp>
      </p:grpSp>
      <p:grpSp>
        <p:nvGrpSpPr>
          <p:cNvPr id="15" name="Group 15"/>
          <p:cNvGrpSpPr/>
          <p:nvPr/>
        </p:nvGrpSpPr>
        <p:grpSpPr>
          <a:xfrm>
            <a:off x="7233495" y="3594792"/>
            <a:ext cx="354359" cy="283521"/>
            <a:chOff x="0" y="0"/>
            <a:chExt cx="472478" cy="378028"/>
          </a:xfrm>
        </p:grpSpPr>
        <p:sp>
          <p:nvSpPr>
            <p:cNvPr id="16" name="Freeform 16" descr="preencoded.png"/>
            <p:cNvSpPr/>
            <p:nvPr/>
          </p:nvSpPr>
          <p:spPr>
            <a:xfrm>
              <a:off x="0" y="0"/>
              <a:ext cx="472440" cy="378079"/>
            </a:xfrm>
            <a:custGeom>
              <a:avLst/>
              <a:gdLst/>
              <a:ahLst/>
              <a:cxnLst/>
              <a:rect l="l" t="t" r="r" b="b"/>
              <a:pathLst>
                <a:path w="472440" h="378079">
                  <a:moveTo>
                    <a:pt x="0" y="0"/>
                  </a:moveTo>
                  <a:lnTo>
                    <a:pt x="472440" y="0"/>
                  </a:lnTo>
                  <a:lnTo>
                    <a:pt x="472440" y="378079"/>
                  </a:lnTo>
                  <a:lnTo>
                    <a:pt x="0" y="378079"/>
                  </a:lnTo>
                  <a:lnTo>
                    <a:pt x="0" y="0"/>
                  </a:lnTo>
                  <a:close/>
                </a:path>
              </a:pathLst>
            </a:custGeom>
            <a:blipFill>
              <a:blip r:embed="rId2"/>
              <a:stretch>
                <a:fillRect t="-671" r="-8" b="-655"/>
              </a:stretch>
            </a:blipFill>
          </p:spPr>
        </p:sp>
      </p:grpSp>
      <p:grpSp>
        <p:nvGrpSpPr>
          <p:cNvPr id="17" name="Group 17"/>
          <p:cNvGrpSpPr/>
          <p:nvPr/>
        </p:nvGrpSpPr>
        <p:grpSpPr>
          <a:xfrm>
            <a:off x="7370712" y="3974682"/>
            <a:ext cx="9521425" cy="3467090"/>
            <a:chOff x="0" y="0"/>
            <a:chExt cx="11956851" cy="4353916"/>
          </a:xfrm>
        </p:grpSpPr>
        <p:sp>
          <p:nvSpPr>
            <p:cNvPr id="18" name="Freeform 18" descr="preencoded.png"/>
            <p:cNvSpPr/>
            <p:nvPr/>
          </p:nvSpPr>
          <p:spPr>
            <a:xfrm>
              <a:off x="0" y="0"/>
              <a:ext cx="11956901" cy="4353941"/>
            </a:xfrm>
            <a:custGeom>
              <a:avLst/>
              <a:gdLst/>
              <a:ahLst/>
              <a:cxnLst/>
              <a:rect l="l" t="t" r="r" b="b"/>
              <a:pathLst>
                <a:path w="11956901" h="4353941">
                  <a:moveTo>
                    <a:pt x="0" y="0"/>
                  </a:moveTo>
                  <a:lnTo>
                    <a:pt x="11956901" y="0"/>
                  </a:lnTo>
                  <a:lnTo>
                    <a:pt x="11956901" y="4353941"/>
                  </a:lnTo>
                  <a:lnTo>
                    <a:pt x="0" y="4353941"/>
                  </a:lnTo>
                  <a:lnTo>
                    <a:pt x="0" y="0"/>
                  </a:lnTo>
                  <a:close/>
                </a:path>
              </a:pathLst>
            </a:custGeom>
            <a:blipFill>
              <a:blip r:embed="rId3"/>
              <a:stretch>
                <a:fillRect l="-1011" r="-1011"/>
              </a:stretch>
            </a:blipFill>
          </p:spPr>
        </p:sp>
      </p:grpSp>
      <p:sp>
        <p:nvSpPr>
          <p:cNvPr id="19" name="TextBox 19"/>
          <p:cNvSpPr txBox="1"/>
          <p:nvPr/>
        </p:nvSpPr>
        <p:spPr>
          <a:xfrm>
            <a:off x="7556300" y="7670759"/>
            <a:ext cx="9150248" cy="448908"/>
          </a:xfrm>
          <a:prstGeom prst="rect">
            <a:avLst/>
          </a:prstGeom>
        </p:spPr>
        <p:txBody>
          <a:bodyPr lIns="0" tIns="0" rIns="0" bIns="0" rtlCol="0" anchor="t">
            <a:spAutoFit/>
          </a:bodyPr>
          <a:lstStyle/>
          <a:p>
            <a:pPr algn="ctr">
              <a:lnSpc>
                <a:spcPts val="3499"/>
              </a:lnSpc>
            </a:pPr>
            <a:r>
              <a:rPr lang="en-US" sz="2799">
                <a:solidFill>
                  <a:srgbClr val="FFFFFF"/>
                </a:solidFill>
                <a:latin typeface="Arimo"/>
                <a:ea typeface="Arimo"/>
                <a:cs typeface="Arimo"/>
                <a:sym typeface="Arimo"/>
              </a:rPr>
              <a:t>Hệ thống back-to-back firewall hay multi-homed firewall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sp>
        <p:nvSpPr>
          <p:cNvPr id="6" name="TextBox 6"/>
          <p:cNvSpPr txBox="1"/>
          <p:nvPr/>
        </p:nvSpPr>
        <p:spPr>
          <a:xfrm>
            <a:off x="992238" y="1377848"/>
            <a:ext cx="11809362" cy="836704"/>
          </a:xfrm>
          <a:prstGeom prst="rect">
            <a:avLst/>
          </a:prstGeom>
        </p:spPr>
        <p:txBody>
          <a:bodyPr wrap="square" lIns="0" tIns="0" rIns="0" bIns="0" rtlCol="0" anchor="t">
            <a:spAutoFit/>
          </a:bodyPr>
          <a:lstStyle/>
          <a:p>
            <a:pPr algn="l">
              <a:lnSpc>
                <a:spcPts val="6984"/>
              </a:lnSpc>
            </a:pPr>
            <a:r>
              <a:rPr lang="en-US" sz="5600" dirty="0">
                <a:solidFill>
                  <a:srgbClr val="FBF3FA"/>
                </a:solidFill>
                <a:latin typeface="Arimo"/>
                <a:ea typeface="Arimo"/>
                <a:cs typeface="Arimo"/>
                <a:sym typeface="Arimo"/>
              </a:rPr>
              <a:t>Các </a:t>
            </a:r>
            <a:r>
              <a:rPr lang="en-US" sz="5600" dirty="0" err="1">
                <a:solidFill>
                  <a:srgbClr val="FBF3FA"/>
                </a:solidFill>
                <a:latin typeface="Arimo"/>
                <a:ea typeface="Arimo"/>
                <a:cs typeface="Arimo"/>
                <a:sym typeface="Arimo"/>
              </a:rPr>
              <a:t>Loại</a:t>
            </a:r>
            <a:r>
              <a:rPr lang="en-US" sz="5600" dirty="0">
                <a:solidFill>
                  <a:srgbClr val="FBF3FA"/>
                </a:solidFill>
                <a:latin typeface="Arimo"/>
                <a:ea typeface="Arimo"/>
                <a:cs typeface="Arimo"/>
                <a:sym typeface="Arimo"/>
              </a:rPr>
              <a:t> Firewall: Packet Filtering</a:t>
            </a:r>
          </a:p>
        </p:txBody>
      </p:sp>
      <p:sp>
        <p:nvSpPr>
          <p:cNvPr id="7" name="TextBox 7"/>
          <p:cNvSpPr txBox="1"/>
          <p:nvPr/>
        </p:nvSpPr>
        <p:spPr>
          <a:xfrm>
            <a:off x="992238" y="2856198"/>
            <a:ext cx="5536592" cy="605118"/>
          </a:xfrm>
          <a:prstGeom prst="rect">
            <a:avLst/>
          </a:prstGeom>
        </p:spPr>
        <p:txBody>
          <a:bodyPr lIns="0" tIns="0" rIns="0" bIns="0" rtlCol="0" anchor="t">
            <a:spAutoFit/>
          </a:bodyPr>
          <a:lstStyle/>
          <a:p>
            <a:pPr algn="l">
              <a:lnSpc>
                <a:spcPts val="4624"/>
              </a:lnSpc>
            </a:pPr>
            <a:r>
              <a:rPr lang="en-US" sz="3699">
                <a:solidFill>
                  <a:srgbClr val="FBF3FA"/>
                </a:solidFill>
                <a:latin typeface="Arimo"/>
                <a:ea typeface="Arimo"/>
                <a:cs typeface="Arimo"/>
                <a:sym typeface="Arimo"/>
              </a:rPr>
              <a:t>Hoạt Động Tại Tầng Mạng</a:t>
            </a:r>
          </a:p>
        </p:txBody>
      </p:sp>
      <p:sp>
        <p:nvSpPr>
          <p:cNvPr id="8" name="TextBox 8"/>
          <p:cNvSpPr txBox="1"/>
          <p:nvPr/>
        </p:nvSpPr>
        <p:spPr>
          <a:xfrm>
            <a:off x="992238" y="3660877"/>
            <a:ext cx="5256457" cy="903589"/>
          </a:xfrm>
          <a:prstGeom prst="rect">
            <a:avLst/>
          </a:prstGeom>
        </p:spPr>
        <p:txBody>
          <a:bodyPr lIns="0" tIns="0" rIns="0" bIns="0" rtlCol="0" anchor="t">
            <a:spAutoFit/>
          </a:bodyPr>
          <a:lstStyle/>
          <a:p>
            <a:pPr algn="l">
              <a:lnSpc>
                <a:spcPts val="3745"/>
              </a:lnSpc>
            </a:pPr>
            <a:r>
              <a:rPr lang="en-US" sz="2299">
                <a:solidFill>
                  <a:srgbClr val="E0D6DE"/>
                </a:solidFill>
                <a:latin typeface="Fira Sans"/>
                <a:ea typeface="Fira Sans"/>
                <a:cs typeface="Fira Sans"/>
                <a:sym typeface="Fira Sans"/>
              </a:rPr>
              <a:t>Hoạt động tại Layer 3 - Network Layer của mô hình OSI</a:t>
            </a:r>
          </a:p>
        </p:txBody>
      </p:sp>
      <p:sp>
        <p:nvSpPr>
          <p:cNvPr id="9" name="TextBox 9"/>
          <p:cNvSpPr txBox="1"/>
          <p:nvPr/>
        </p:nvSpPr>
        <p:spPr>
          <a:xfrm>
            <a:off x="992238" y="4773399"/>
            <a:ext cx="4646562" cy="550407"/>
          </a:xfrm>
          <a:prstGeom prst="rect">
            <a:avLst/>
          </a:prstGeom>
        </p:spPr>
        <p:txBody>
          <a:bodyPr wrap="square" lIns="0" tIns="0" rIns="0" bIns="0" rtlCol="0" anchor="t">
            <a:spAutoFit/>
          </a:bodyPr>
          <a:lstStyle/>
          <a:p>
            <a:pPr algn="l">
              <a:lnSpc>
                <a:spcPts val="4624"/>
              </a:lnSpc>
            </a:pPr>
            <a:r>
              <a:rPr lang="en-US" sz="3699" dirty="0" err="1">
                <a:solidFill>
                  <a:srgbClr val="FBF3FA"/>
                </a:solidFill>
                <a:latin typeface="Arimo"/>
                <a:ea typeface="Arimo"/>
                <a:cs typeface="Arimo"/>
                <a:sym typeface="Arimo"/>
              </a:rPr>
              <a:t>Cơ</a:t>
            </a:r>
            <a:r>
              <a:rPr lang="en-US" sz="3699" dirty="0">
                <a:solidFill>
                  <a:srgbClr val="FBF3FA"/>
                </a:solidFill>
                <a:latin typeface="Arimo"/>
                <a:ea typeface="Arimo"/>
                <a:cs typeface="Arimo"/>
                <a:sym typeface="Arimo"/>
              </a:rPr>
              <a:t> </a:t>
            </a:r>
            <a:r>
              <a:rPr lang="en-US" sz="3699" dirty="0" err="1">
                <a:solidFill>
                  <a:srgbClr val="FBF3FA"/>
                </a:solidFill>
                <a:latin typeface="Arimo"/>
                <a:ea typeface="Arimo"/>
                <a:cs typeface="Arimo"/>
                <a:sym typeface="Arimo"/>
              </a:rPr>
              <a:t>Chế</a:t>
            </a:r>
            <a:r>
              <a:rPr lang="en-US" sz="3699" dirty="0">
                <a:solidFill>
                  <a:srgbClr val="FBF3FA"/>
                </a:solidFill>
                <a:latin typeface="Arimo"/>
                <a:ea typeface="Arimo"/>
                <a:cs typeface="Arimo"/>
                <a:sym typeface="Arimo"/>
              </a:rPr>
              <a:t> </a:t>
            </a:r>
            <a:r>
              <a:rPr lang="en-US" sz="3699" dirty="0" err="1">
                <a:solidFill>
                  <a:srgbClr val="FBF3FA"/>
                </a:solidFill>
                <a:latin typeface="Arimo"/>
                <a:ea typeface="Arimo"/>
                <a:cs typeface="Arimo"/>
                <a:sym typeface="Arimo"/>
              </a:rPr>
              <a:t>Kiểm</a:t>
            </a:r>
            <a:r>
              <a:rPr lang="en-US" sz="3699" dirty="0">
                <a:solidFill>
                  <a:srgbClr val="FBF3FA"/>
                </a:solidFill>
                <a:latin typeface="Arimo"/>
                <a:ea typeface="Arimo"/>
                <a:cs typeface="Arimo"/>
                <a:sym typeface="Arimo"/>
              </a:rPr>
              <a:t> Soát</a:t>
            </a:r>
          </a:p>
        </p:txBody>
      </p:sp>
      <p:sp>
        <p:nvSpPr>
          <p:cNvPr id="10" name="TextBox 10"/>
          <p:cNvSpPr txBox="1"/>
          <p:nvPr/>
        </p:nvSpPr>
        <p:spPr>
          <a:xfrm>
            <a:off x="992238" y="5578078"/>
            <a:ext cx="5256457" cy="903589"/>
          </a:xfrm>
          <a:prstGeom prst="rect">
            <a:avLst/>
          </a:prstGeom>
        </p:spPr>
        <p:txBody>
          <a:bodyPr lIns="0" tIns="0" rIns="0" bIns="0" rtlCol="0" anchor="t">
            <a:spAutoFit/>
          </a:bodyPr>
          <a:lstStyle/>
          <a:p>
            <a:pPr marL="346868" lvl="1" indent="-173434" algn="l">
              <a:lnSpc>
                <a:spcPts val="3745"/>
              </a:lnSpc>
              <a:buFont typeface="Arial"/>
              <a:buChar char="•"/>
            </a:pPr>
            <a:r>
              <a:rPr lang="en-US" sz="2299">
                <a:solidFill>
                  <a:srgbClr val="E0D6DE"/>
                </a:solidFill>
                <a:latin typeface="Fira Sans"/>
                <a:ea typeface="Fira Sans"/>
                <a:cs typeface="Fira Sans"/>
                <a:sym typeface="Fira Sans"/>
              </a:rPr>
              <a:t>Địa chỉ IP nguồn và đích</a:t>
            </a:r>
          </a:p>
          <a:p>
            <a:pPr marL="346868" lvl="1" indent="-173434" algn="l">
              <a:lnSpc>
                <a:spcPts val="3745"/>
              </a:lnSpc>
              <a:buFont typeface="Arial"/>
              <a:buChar char="•"/>
            </a:pPr>
            <a:r>
              <a:rPr lang="en-US" sz="2299">
                <a:solidFill>
                  <a:srgbClr val="E0D6DE"/>
                </a:solidFill>
                <a:latin typeface="Fira Sans"/>
                <a:ea typeface="Fira Sans"/>
                <a:cs typeface="Fira Sans"/>
                <a:sym typeface="Fira Sans"/>
              </a:rPr>
              <a:t>Số hiệu Cổng (Port)</a:t>
            </a:r>
          </a:p>
        </p:txBody>
      </p:sp>
      <p:sp>
        <p:nvSpPr>
          <p:cNvPr id="11" name="TextBox 11"/>
          <p:cNvSpPr txBox="1"/>
          <p:nvPr/>
        </p:nvSpPr>
        <p:spPr>
          <a:xfrm>
            <a:off x="992238" y="6789728"/>
            <a:ext cx="3198762" cy="550407"/>
          </a:xfrm>
          <a:prstGeom prst="rect">
            <a:avLst/>
          </a:prstGeom>
        </p:spPr>
        <p:txBody>
          <a:bodyPr wrap="square" lIns="0" tIns="0" rIns="0" bIns="0" rtlCol="0" anchor="t">
            <a:spAutoFit/>
          </a:bodyPr>
          <a:lstStyle/>
          <a:p>
            <a:pPr algn="l">
              <a:lnSpc>
                <a:spcPts val="4624"/>
              </a:lnSpc>
            </a:pPr>
            <a:r>
              <a:rPr lang="en-US" sz="3699" dirty="0" err="1">
                <a:solidFill>
                  <a:srgbClr val="FBF3FA"/>
                </a:solidFill>
                <a:latin typeface="Arimo"/>
                <a:ea typeface="Arimo"/>
                <a:cs typeface="Arimo"/>
                <a:sym typeface="Arimo"/>
              </a:rPr>
              <a:t>Đặc</a:t>
            </a:r>
            <a:r>
              <a:rPr lang="en-US" sz="3699" dirty="0">
                <a:solidFill>
                  <a:srgbClr val="FBF3FA"/>
                </a:solidFill>
                <a:latin typeface="Arimo"/>
                <a:ea typeface="Arimo"/>
                <a:cs typeface="Arimo"/>
                <a:sym typeface="Arimo"/>
              </a:rPr>
              <a:t> </a:t>
            </a:r>
            <a:r>
              <a:rPr lang="en-US" sz="3699" dirty="0" err="1">
                <a:solidFill>
                  <a:srgbClr val="FBF3FA"/>
                </a:solidFill>
                <a:latin typeface="Arimo"/>
                <a:ea typeface="Arimo"/>
                <a:cs typeface="Arimo"/>
                <a:sym typeface="Arimo"/>
              </a:rPr>
              <a:t>Điểm</a:t>
            </a:r>
            <a:endParaRPr lang="en-US" sz="3699" dirty="0">
              <a:solidFill>
                <a:srgbClr val="FBF3FA"/>
              </a:solidFill>
              <a:latin typeface="Arimo"/>
              <a:ea typeface="Arimo"/>
              <a:cs typeface="Arimo"/>
              <a:sym typeface="Arimo"/>
            </a:endParaRPr>
          </a:p>
        </p:txBody>
      </p:sp>
      <p:sp>
        <p:nvSpPr>
          <p:cNvPr id="12" name="TextBox 12"/>
          <p:cNvSpPr txBox="1"/>
          <p:nvPr/>
        </p:nvSpPr>
        <p:spPr>
          <a:xfrm>
            <a:off x="992238" y="7594397"/>
            <a:ext cx="5256457" cy="903589"/>
          </a:xfrm>
          <a:prstGeom prst="rect">
            <a:avLst/>
          </a:prstGeom>
        </p:spPr>
        <p:txBody>
          <a:bodyPr lIns="0" tIns="0" rIns="0" bIns="0" rtlCol="0" anchor="t">
            <a:spAutoFit/>
          </a:bodyPr>
          <a:lstStyle/>
          <a:p>
            <a:pPr algn="l">
              <a:lnSpc>
                <a:spcPts val="3745"/>
              </a:lnSpc>
            </a:pPr>
            <a:r>
              <a:rPr lang="en-US" sz="2299">
                <a:solidFill>
                  <a:srgbClr val="E0D6DE"/>
                </a:solidFill>
                <a:latin typeface="Fira Sans"/>
                <a:ea typeface="Fira Sans"/>
                <a:cs typeface="Fira Sans"/>
                <a:sym typeface="Fira Sans"/>
              </a:rPr>
              <a:t>Tốc độ xử lý cực nhanh, thường tích hợp thẳng vào Router</a:t>
            </a:r>
          </a:p>
        </p:txBody>
      </p:sp>
      <p:grpSp>
        <p:nvGrpSpPr>
          <p:cNvPr id="13" name="Group 13"/>
          <p:cNvGrpSpPr/>
          <p:nvPr/>
        </p:nvGrpSpPr>
        <p:grpSpPr>
          <a:xfrm>
            <a:off x="6949973" y="3065116"/>
            <a:ext cx="10697487" cy="4842764"/>
            <a:chOff x="0" y="0"/>
            <a:chExt cx="13806881" cy="6250390"/>
          </a:xfrm>
        </p:grpSpPr>
        <p:sp>
          <p:nvSpPr>
            <p:cNvPr id="14" name="Freeform 14"/>
            <p:cNvSpPr/>
            <p:nvPr/>
          </p:nvSpPr>
          <p:spPr>
            <a:xfrm>
              <a:off x="0" y="0"/>
              <a:ext cx="13806931" cy="6250492"/>
            </a:xfrm>
            <a:custGeom>
              <a:avLst/>
              <a:gdLst/>
              <a:ahLst/>
              <a:cxnLst/>
              <a:rect l="l" t="t" r="r" b="b"/>
              <a:pathLst>
                <a:path w="13806931" h="6250492">
                  <a:moveTo>
                    <a:pt x="0" y="65559"/>
                  </a:moveTo>
                  <a:cubicBezTo>
                    <a:pt x="0" y="29333"/>
                    <a:pt x="25400" y="0"/>
                    <a:pt x="56769" y="0"/>
                  </a:cubicBezTo>
                  <a:lnTo>
                    <a:pt x="13750162" y="0"/>
                  </a:lnTo>
                  <a:cubicBezTo>
                    <a:pt x="13781531" y="0"/>
                    <a:pt x="13806931" y="29333"/>
                    <a:pt x="13806931" y="65559"/>
                  </a:cubicBezTo>
                  <a:lnTo>
                    <a:pt x="13806931" y="6184949"/>
                  </a:lnTo>
                  <a:cubicBezTo>
                    <a:pt x="13806931" y="6221175"/>
                    <a:pt x="13781531" y="6250492"/>
                    <a:pt x="13750162" y="6250492"/>
                  </a:cubicBezTo>
                  <a:lnTo>
                    <a:pt x="56769" y="6250492"/>
                  </a:lnTo>
                  <a:cubicBezTo>
                    <a:pt x="25400" y="6250492"/>
                    <a:pt x="0" y="6221175"/>
                    <a:pt x="0" y="6184949"/>
                  </a:cubicBezTo>
                  <a:close/>
                </a:path>
              </a:pathLst>
            </a:custGeom>
            <a:solidFill>
              <a:srgbClr val="4D0038"/>
            </a:solidFill>
          </p:spPr>
        </p:sp>
      </p:grpSp>
      <p:grpSp>
        <p:nvGrpSpPr>
          <p:cNvPr id="15" name="Group 15"/>
          <p:cNvGrpSpPr/>
          <p:nvPr/>
        </p:nvGrpSpPr>
        <p:grpSpPr>
          <a:xfrm>
            <a:off x="7233495" y="3485702"/>
            <a:ext cx="354359" cy="283521"/>
            <a:chOff x="0" y="0"/>
            <a:chExt cx="472478" cy="378028"/>
          </a:xfrm>
        </p:grpSpPr>
        <p:sp>
          <p:nvSpPr>
            <p:cNvPr id="16" name="Freeform 16" descr="preencoded.png"/>
            <p:cNvSpPr/>
            <p:nvPr/>
          </p:nvSpPr>
          <p:spPr>
            <a:xfrm>
              <a:off x="0" y="0"/>
              <a:ext cx="472440" cy="378079"/>
            </a:xfrm>
            <a:custGeom>
              <a:avLst/>
              <a:gdLst/>
              <a:ahLst/>
              <a:cxnLst/>
              <a:rect l="l" t="t" r="r" b="b"/>
              <a:pathLst>
                <a:path w="472440" h="378079">
                  <a:moveTo>
                    <a:pt x="0" y="0"/>
                  </a:moveTo>
                  <a:lnTo>
                    <a:pt x="472440" y="0"/>
                  </a:lnTo>
                  <a:lnTo>
                    <a:pt x="472440" y="378079"/>
                  </a:lnTo>
                  <a:lnTo>
                    <a:pt x="0" y="378079"/>
                  </a:lnTo>
                  <a:lnTo>
                    <a:pt x="0" y="0"/>
                  </a:lnTo>
                  <a:close/>
                </a:path>
              </a:pathLst>
            </a:custGeom>
            <a:blipFill>
              <a:blip r:embed="rId2"/>
              <a:stretch>
                <a:fillRect t="-671" r="-8" b="-655"/>
              </a:stretch>
            </a:blipFill>
          </p:spPr>
        </p:sp>
      </p:grpSp>
      <p:grpSp>
        <p:nvGrpSpPr>
          <p:cNvPr id="17" name="Group 17"/>
          <p:cNvGrpSpPr/>
          <p:nvPr/>
        </p:nvGrpSpPr>
        <p:grpSpPr>
          <a:xfrm>
            <a:off x="7233495" y="4013073"/>
            <a:ext cx="10168284" cy="2735042"/>
            <a:chOff x="0" y="0"/>
            <a:chExt cx="14010660" cy="3768556"/>
          </a:xfrm>
        </p:grpSpPr>
        <p:sp>
          <p:nvSpPr>
            <p:cNvPr id="18" name="Freeform 18" descr="preencoded.png"/>
            <p:cNvSpPr/>
            <p:nvPr/>
          </p:nvSpPr>
          <p:spPr>
            <a:xfrm>
              <a:off x="0" y="0"/>
              <a:ext cx="14010711" cy="3768499"/>
            </a:xfrm>
            <a:custGeom>
              <a:avLst/>
              <a:gdLst/>
              <a:ahLst/>
              <a:cxnLst/>
              <a:rect l="l" t="t" r="r" b="b"/>
              <a:pathLst>
                <a:path w="14010711" h="3768499">
                  <a:moveTo>
                    <a:pt x="0" y="0"/>
                  </a:moveTo>
                  <a:lnTo>
                    <a:pt x="14010711" y="0"/>
                  </a:lnTo>
                  <a:lnTo>
                    <a:pt x="14010711" y="3768499"/>
                  </a:lnTo>
                  <a:lnTo>
                    <a:pt x="0" y="3768499"/>
                  </a:lnTo>
                  <a:lnTo>
                    <a:pt x="0" y="0"/>
                  </a:lnTo>
                  <a:close/>
                </a:path>
              </a:pathLst>
            </a:custGeom>
            <a:blipFill>
              <a:blip r:embed="rId3"/>
              <a:stretch>
                <a:fillRect t="-1066" b="-1068"/>
              </a:stretch>
            </a:blipFill>
          </p:spPr>
        </p:sp>
      </p:grpSp>
      <p:sp>
        <p:nvSpPr>
          <p:cNvPr id="19" name="TextBox 19"/>
          <p:cNvSpPr txBox="1"/>
          <p:nvPr/>
        </p:nvSpPr>
        <p:spPr>
          <a:xfrm>
            <a:off x="10227874" y="7156104"/>
            <a:ext cx="4179524" cy="448908"/>
          </a:xfrm>
          <a:prstGeom prst="rect">
            <a:avLst/>
          </a:prstGeom>
        </p:spPr>
        <p:txBody>
          <a:bodyPr lIns="0" tIns="0" rIns="0" bIns="0" rtlCol="0" anchor="t">
            <a:spAutoFit/>
          </a:bodyPr>
          <a:lstStyle/>
          <a:p>
            <a:pPr algn="ctr">
              <a:lnSpc>
                <a:spcPts val="3499"/>
              </a:lnSpc>
            </a:pPr>
            <a:r>
              <a:rPr lang="en-US" sz="2799">
                <a:solidFill>
                  <a:srgbClr val="FFFFFF"/>
                </a:solidFill>
                <a:latin typeface="Arimo"/>
                <a:ea typeface="Arimo"/>
                <a:cs typeface="Arimo"/>
                <a:sym typeface="Arimo"/>
              </a:rPr>
              <a:t>Packet Filtering Firewall</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sp>
        <p:nvSpPr>
          <p:cNvPr id="6" name="TextBox 6"/>
          <p:cNvSpPr txBox="1"/>
          <p:nvPr/>
        </p:nvSpPr>
        <p:spPr>
          <a:xfrm>
            <a:off x="992238" y="1784299"/>
            <a:ext cx="16303523"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Các Loại Firewall: Circuit Level Gateway</a:t>
            </a:r>
          </a:p>
        </p:txBody>
      </p:sp>
      <p:sp>
        <p:nvSpPr>
          <p:cNvPr id="7" name="TextBox 7"/>
          <p:cNvSpPr txBox="1"/>
          <p:nvPr/>
        </p:nvSpPr>
        <p:spPr>
          <a:xfrm>
            <a:off x="992238" y="3975735"/>
            <a:ext cx="6106268" cy="1167765"/>
          </a:xfrm>
          <a:prstGeom prst="rect">
            <a:avLst/>
          </a:prstGeom>
        </p:spPr>
        <p:txBody>
          <a:bodyPr lIns="0" tIns="0" rIns="0" bIns="0" rtlCol="0" anchor="t">
            <a:spAutoFit/>
          </a:bodyPr>
          <a:lstStyle/>
          <a:p>
            <a:pPr algn="l">
              <a:lnSpc>
                <a:spcPts val="4500"/>
              </a:lnSpc>
            </a:pPr>
            <a:r>
              <a:rPr lang="en-US" sz="3600">
                <a:solidFill>
                  <a:srgbClr val="FBF3FA"/>
                </a:solidFill>
                <a:latin typeface="Arimo"/>
                <a:ea typeface="Arimo"/>
                <a:cs typeface="Arimo"/>
                <a:sym typeface="Arimo"/>
              </a:rPr>
              <a:t>Hoạt động tại Tầng Phiên (Session Layer - OSI)</a:t>
            </a:r>
          </a:p>
        </p:txBody>
      </p:sp>
      <p:sp>
        <p:nvSpPr>
          <p:cNvPr id="8" name="TextBox 8"/>
          <p:cNvSpPr txBox="1"/>
          <p:nvPr/>
        </p:nvSpPr>
        <p:spPr>
          <a:xfrm>
            <a:off x="1028700" y="6079077"/>
            <a:ext cx="6106268" cy="900323"/>
          </a:xfrm>
          <a:prstGeom prst="rect">
            <a:avLst/>
          </a:prstGeom>
        </p:spPr>
        <p:txBody>
          <a:bodyPr lIns="0" tIns="0" rIns="0" bIns="0" rtlCol="0" anchor="t">
            <a:spAutoFit/>
          </a:bodyPr>
          <a:lstStyle/>
          <a:p>
            <a:pPr algn="l">
              <a:lnSpc>
                <a:spcPts val="3696"/>
              </a:lnSpc>
            </a:pPr>
            <a:r>
              <a:rPr lang="en-US" sz="2299">
                <a:solidFill>
                  <a:srgbClr val="E0D6DE"/>
                </a:solidFill>
                <a:latin typeface="Fira Sans"/>
                <a:ea typeface="Fira Sans"/>
                <a:cs typeface="Fira Sans"/>
                <a:sym typeface="Fira Sans"/>
              </a:rPr>
              <a:t>Chuyên giám sát quá trình bắt tay 3 bước (Three-way handshake)</a:t>
            </a:r>
          </a:p>
        </p:txBody>
      </p:sp>
      <p:sp>
        <p:nvSpPr>
          <p:cNvPr id="9" name="TextBox 9"/>
          <p:cNvSpPr txBox="1"/>
          <p:nvPr/>
        </p:nvSpPr>
        <p:spPr>
          <a:xfrm>
            <a:off x="1028700" y="7467155"/>
            <a:ext cx="6106268" cy="900323"/>
          </a:xfrm>
          <a:prstGeom prst="rect">
            <a:avLst/>
          </a:prstGeom>
        </p:spPr>
        <p:txBody>
          <a:bodyPr lIns="0" tIns="0" rIns="0" bIns="0" rtlCol="0" anchor="t">
            <a:spAutoFit/>
          </a:bodyPr>
          <a:lstStyle/>
          <a:p>
            <a:pPr algn="l">
              <a:lnSpc>
                <a:spcPts val="3696"/>
              </a:lnSpc>
            </a:pPr>
            <a:r>
              <a:rPr lang="en-US" sz="2299">
                <a:solidFill>
                  <a:srgbClr val="E0D6DE"/>
                </a:solidFill>
                <a:latin typeface="Fira Sans"/>
                <a:ea typeface="Fira Sans"/>
                <a:cs typeface="Fira Sans"/>
                <a:sym typeface="Fira Sans"/>
              </a:rPr>
              <a:t>Mục đích: Xác định và ngăn chặn các kết nối ảo hoặc không hợp lệ</a:t>
            </a:r>
          </a:p>
        </p:txBody>
      </p:sp>
      <p:grpSp>
        <p:nvGrpSpPr>
          <p:cNvPr id="10" name="Group 10"/>
          <p:cNvGrpSpPr/>
          <p:nvPr/>
        </p:nvGrpSpPr>
        <p:grpSpPr>
          <a:xfrm>
            <a:off x="7753941" y="3566223"/>
            <a:ext cx="9505359" cy="4600963"/>
            <a:chOff x="0" y="0"/>
            <a:chExt cx="12673813" cy="6134618"/>
          </a:xfrm>
        </p:grpSpPr>
        <p:sp>
          <p:nvSpPr>
            <p:cNvPr id="11" name="Freeform 11"/>
            <p:cNvSpPr/>
            <p:nvPr/>
          </p:nvSpPr>
          <p:spPr>
            <a:xfrm>
              <a:off x="0" y="0"/>
              <a:ext cx="12673711" cy="6134571"/>
            </a:xfrm>
            <a:custGeom>
              <a:avLst/>
              <a:gdLst/>
              <a:ahLst/>
              <a:cxnLst/>
              <a:rect l="l" t="t" r="r" b="b"/>
              <a:pathLst>
                <a:path w="12673711" h="6134571">
                  <a:moveTo>
                    <a:pt x="0" y="69144"/>
                  </a:moveTo>
                  <a:cubicBezTo>
                    <a:pt x="0" y="31006"/>
                    <a:pt x="25400" y="0"/>
                    <a:pt x="56642" y="0"/>
                  </a:cubicBezTo>
                  <a:lnTo>
                    <a:pt x="12617069" y="0"/>
                  </a:lnTo>
                  <a:cubicBezTo>
                    <a:pt x="12648437" y="0"/>
                    <a:pt x="12673711" y="31006"/>
                    <a:pt x="12673711" y="69144"/>
                  </a:cubicBezTo>
                  <a:lnTo>
                    <a:pt x="12673711" y="6065427"/>
                  </a:lnTo>
                  <a:cubicBezTo>
                    <a:pt x="12673711" y="6103720"/>
                    <a:pt x="12648311" y="6134571"/>
                    <a:pt x="12617069" y="6134571"/>
                  </a:cubicBezTo>
                  <a:lnTo>
                    <a:pt x="56642" y="6134571"/>
                  </a:lnTo>
                  <a:cubicBezTo>
                    <a:pt x="25400" y="6134572"/>
                    <a:pt x="0" y="6103565"/>
                    <a:pt x="0" y="6065427"/>
                  </a:cubicBezTo>
                  <a:close/>
                </a:path>
              </a:pathLst>
            </a:custGeom>
            <a:solidFill>
              <a:srgbClr val="4D0038"/>
            </a:solidFill>
          </p:spPr>
        </p:sp>
      </p:grpSp>
      <p:grpSp>
        <p:nvGrpSpPr>
          <p:cNvPr id="12" name="Group 12"/>
          <p:cNvGrpSpPr/>
          <p:nvPr/>
        </p:nvGrpSpPr>
        <p:grpSpPr>
          <a:xfrm>
            <a:off x="8037462" y="3986818"/>
            <a:ext cx="354359" cy="283521"/>
            <a:chOff x="0" y="0"/>
            <a:chExt cx="472478" cy="378028"/>
          </a:xfrm>
        </p:grpSpPr>
        <p:sp>
          <p:nvSpPr>
            <p:cNvPr id="13" name="Freeform 13" descr="preencoded.png"/>
            <p:cNvSpPr/>
            <p:nvPr/>
          </p:nvSpPr>
          <p:spPr>
            <a:xfrm>
              <a:off x="0" y="0"/>
              <a:ext cx="472440" cy="378079"/>
            </a:xfrm>
            <a:custGeom>
              <a:avLst/>
              <a:gdLst/>
              <a:ahLst/>
              <a:cxnLst/>
              <a:rect l="l" t="t" r="r" b="b"/>
              <a:pathLst>
                <a:path w="472440" h="378079">
                  <a:moveTo>
                    <a:pt x="0" y="0"/>
                  </a:moveTo>
                  <a:lnTo>
                    <a:pt x="472440" y="0"/>
                  </a:lnTo>
                  <a:lnTo>
                    <a:pt x="472440" y="378079"/>
                  </a:lnTo>
                  <a:lnTo>
                    <a:pt x="0" y="378079"/>
                  </a:lnTo>
                  <a:lnTo>
                    <a:pt x="0" y="0"/>
                  </a:lnTo>
                  <a:close/>
                </a:path>
              </a:pathLst>
            </a:custGeom>
            <a:blipFill>
              <a:blip r:embed="rId2"/>
              <a:stretch>
                <a:fillRect t="-671" r="-8" b="-655"/>
              </a:stretch>
            </a:blipFill>
          </p:spPr>
        </p:sp>
      </p:grpSp>
      <p:grpSp>
        <p:nvGrpSpPr>
          <p:cNvPr id="14" name="Group 14"/>
          <p:cNvGrpSpPr/>
          <p:nvPr/>
        </p:nvGrpSpPr>
        <p:grpSpPr>
          <a:xfrm>
            <a:off x="8037462" y="4567096"/>
            <a:ext cx="9044644" cy="2427386"/>
            <a:chOff x="0" y="0"/>
            <a:chExt cx="11067263" cy="2970212"/>
          </a:xfrm>
        </p:grpSpPr>
        <p:sp>
          <p:nvSpPr>
            <p:cNvPr id="15" name="Freeform 15" descr="preencoded.png"/>
            <p:cNvSpPr/>
            <p:nvPr/>
          </p:nvSpPr>
          <p:spPr>
            <a:xfrm>
              <a:off x="0" y="0"/>
              <a:ext cx="11067288" cy="2970276"/>
            </a:xfrm>
            <a:custGeom>
              <a:avLst/>
              <a:gdLst/>
              <a:ahLst/>
              <a:cxnLst/>
              <a:rect l="l" t="t" r="r" b="b"/>
              <a:pathLst>
                <a:path w="11067288" h="2970276">
                  <a:moveTo>
                    <a:pt x="0" y="0"/>
                  </a:moveTo>
                  <a:lnTo>
                    <a:pt x="11067288" y="0"/>
                  </a:lnTo>
                  <a:lnTo>
                    <a:pt x="11067288" y="2970276"/>
                  </a:lnTo>
                  <a:lnTo>
                    <a:pt x="0" y="2970276"/>
                  </a:lnTo>
                  <a:lnTo>
                    <a:pt x="0" y="0"/>
                  </a:lnTo>
                  <a:close/>
                </a:path>
              </a:pathLst>
            </a:custGeom>
            <a:blipFill>
              <a:blip r:embed="rId3"/>
              <a:stretch>
                <a:fillRect t="-51" b="-50"/>
              </a:stretch>
            </a:blipFill>
          </p:spPr>
        </p:sp>
      </p:grpSp>
      <p:sp>
        <p:nvSpPr>
          <p:cNvPr id="16" name="TextBox 16"/>
          <p:cNvSpPr txBox="1"/>
          <p:nvPr/>
        </p:nvSpPr>
        <p:spPr>
          <a:xfrm>
            <a:off x="9098156" y="7416644"/>
            <a:ext cx="6829644" cy="448908"/>
          </a:xfrm>
          <a:prstGeom prst="rect">
            <a:avLst/>
          </a:prstGeom>
        </p:spPr>
        <p:txBody>
          <a:bodyPr lIns="0" tIns="0" rIns="0" bIns="0" rtlCol="0" anchor="t">
            <a:spAutoFit/>
          </a:bodyPr>
          <a:lstStyle/>
          <a:p>
            <a:pPr algn="l">
              <a:lnSpc>
                <a:spcPts val="3499"/>
              </a:lnSpc>
            </a:pPr>
            <a:r>
              <a:rPr lang="en-US" sz="2799">
                <a:solidFill>
                  <a:srgbClr val="FFFFFF"/>
                </a:solidFill>
                <a:latin typeface="Arimo"/>
                <a:ea typeface="Arimo"/>
                <a:cs typeface="Arimo"/>
                <a:sym typeface="Arimo"/>
              </a:rPr>
              <a:t>Minh hoạ Circuit Level Gateway Firewall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sp>
        <p:nvSpPr>
          <p:cNvPr id="6" name="TextBox 6"/>
          <p:cNvSpPr txBox="1"/>
          <p:nvPr/>
        </p:nvSpPr>
        <p:spPr>
          <a:xfrm>
            <a:off x="992238" y="1956940"/>
            <a:ext cx="11407905"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Các Loại Firewall: Application Level</a:t>
            </a:r>
          </a:p>
        </p:txBody>
      </p:sp>
      <p:sp>
        <p:nvSpPr>
          <p:cNvPr id="7" name="TextBox 7"/>
          <p:cNvSpPr txBox="1"/>
          <p:nvPr/>
        </p:nvSpPr>
        <p:spPr>
          <a:xfrm>
            <a:off x="992238" y="3561159"/>
            <a:ext cx="6525377" cy="1167765"/>
          </a:xfrm>
          <a:prstGeom prst="rect">
            <a:avLst/>
          </a:prstGeom>
        </p:spPr>
        <p:txBody>
          <a:bodyPr lIns="0" tIns="0" rIns="0" bIns="0" rtlCol="0" anchor="t">
            <a:spAutoFit/>
          </a:bodyPr>
          <a:lstStyle/>
          <a:p>
            <a:pPr algn="l">
              <a:lnSpc>
                <a:spcPts val="4500"/>
              </a:lnSpc>
            </a:pPr>
            <a:r>
              <a:rPr lang="en-US" sz="3600">
                <a:solidFill>
                  <a:srgbClr val="FBF3FA"/>
                </a:solidFill>
                <a:latin typeface="Arimo"/>
                <a:ea typeface="Arimo"/>
                <a:cs typeface="Arimo"/>
                <a:sym typeface="Arimo"/>
              </a:rPr>
              <a:t>Hoạt động tại Tầng Ứng Dụng (Application Layer - OSI)</a:t>
            </a:r>
          </a:p>
        </p:txBody>
      </p:sp>
      <p:sp>
        <p:nvSpPr>
          <p:cNvPr id="8" name="TextBox 8"/>
          <p:cNvSpPr txBox="1"/>
          <p:nvPr/>
        </p:nvSpPr>
        <p:spPr>
          <a:xfrm>
            <a:off x="992238" y="5455890"/>
            <a:ext cx="6525377" cy="900323"/>
          </a:xfrm>
          <a:prstGeom prst="rect">
            <a:avLst/>
          </a:prstGeom>
        </p:spPr>
        <p:txBody>
          <a:bodyPr lIns="0" tIns="0" rIns="0" bIns="0" rtlCol="0" anchor="t">
            <a:spAutoFit/>
          </a:bodyPr>
          <a:lstStyle/>
          <a:p>
            <a:pPr algn="l">
              <a:lnSpc>
                <a:spcPts val="3696"/>
              </a:lnSpc>
            </a:pPr>
            <a:r>
              <a:rPr lang="en-US" sz="2299">
                <a:solidFill>
                  <a:srgbClr val="E0D6DE"/>
                </a:solidFill>
                <a:latin typeface="Fira Sans"/>
                <a:ea typeface="Fira Sans"/>
                <a:cs typeface="Fira Sans"/>
                <a:sym typeface="Fira Sans"/>
              </a:rPr>
              <a:t>Đây là Firewall cao cấp, kiểm soát sâu vào nội dung dữ liệu (Data Payload)</a:t>
            </a:r>
          </a:p>
        </p:txBody>
      </p:sp>
      <p:sp>
        <p:nvSpPr>
          <p:cNvPr id="9" name="TextBox 9"/>
          <p:cNvSpPr txBox="1"/>
          <p:nvPr/>
        </p:nvSpPr>
        <p:spPr>
          <a:xfrm>
            <a:off x="992238" y="6791060"/>
            <a:ext cx="6525377" cy="900323"/>
          </a:xfrm>
          <a:prstGeom prst="rect">
            <a:avLst/>
          </a:prstGeom>
        </p:spPr>
        <p:txBody>
          <a:bodyPr lIns="0" tIns="0" rIns="0" bIns="0" rtlCol="0" anchor="t">
            <a:spAutoFit/>
          </a:bodyPr>
          <a:lstStyle/>
          <a:p>
            <a:pPr algn="l">
              <a:lnSpc>
                <a:spcPts val="3696"/>
              </a:lnSpc>
            </a:pPr>
            <a:r>
              <a:rPr lang="en-US" sz="2299">
                <a:solidFill>
                  <a:srgbClr val="E0D6DE"/>
                </a:solidFill>
                <a:latin typeface="Fira Sans"/>
                <a:ea typeface="Fira Sans"/>
                <a:cs typeface="Fira Sans"/>
                <a:sym typeface="Fira Sans"/>
              </a:rPr>
              <a:t>Chuyên dùng để phát hiện virus, trojan ẩn giấu trong luồng truyền tải</a:t>
            </a:r>
          </a:p>
        </p:txBody>
      </p:sp>
      <p:grpSp>
        <p:nvGrpSpPr>
          <p:cNvPr id="10" name="Group 10"/>
          <p:cNvGrpSpPr/>
          <p:nvPr/>
        </p:nvGrpSpPr>
        <p:grpSpPr>
          <a:xfrm>
            <a:off x="7799784" y="3644208"/>
            <a:ext cx="9505359" cy="4309767"/>
            <a:chOff x="0" y="0"/>
            <a:chExt cx="12673813" cy="5746356"/>
          </a:xfrm>
        </p:grpSpPr>
        <p:sp>
          <p:nvSpPr>
            <p:cNvPr id="11" name="Freeform 11"/>
            <p:cNvSpPr/>
            <p:nvPr/>
          </p:nvSpPr>
          <p:spPr>
            <a:xfrm>
              <a:off x="0" y="0"/>
              <a:ext cx="12673837" cy="5746369"/>
            </a:xfrm>
            <a:custGeom>
              <a:avLst/>
              <a:gdLst/>
              <a:ahLst/>
              <a:cxnLst/>
              <a:rect l="l" t="t" r="r" b="b"/>
              <a:pathLst>
                <a:path w="12673837" h="5746369">
                  <a:moveTo>
                    <a:pt x="0" y="56769"/>
                  </a:moveTo>
                  <a:cubicBezTo>
                    <a:pt x="0" y="25400"/>
                    <a:pt x="25400" y="0"/>
                    <a:pt x="56769" y="0"/>
                  </a:cubicBezTo>
                  <a:lnTo>
                    <a:pt x="12617069" y="0"/>
                  </a:lnTo>
                  <a:cubicBezTo>
                    <a:pt x="12648437" y="0"/>
                    <a:pt x="12673837" y="25400"/>
                    <a:pt x="12673837" y="56769"/>
                  </a:cubicBezTo>
                  <a:lnTo>
                    <a:pt x="12673837" y="5689600"/>
                  </a:lnTo>
                  <a:cubicBezTo>
                    <a:pt x="12673837" y="5720969"/>
                    <a:pt x="12648437" y="5746369"/>
                    <a:pt x="12617069" y="5746369"/>
                  </a:cubicBezTo>
                  <a:lnTo>
                    <a:pt x="56769" y="5746369"/>
                  </a:lnTo>
                  <a:cubicBezTo>
                    <a:pt x="25400" y="5746369"/>
                    <a:pt x="0" y="5720969"/>
                    <a:pt x="0" y="5689600"/>
                  </a:cubicBezTo>
                  <a:close/>
                </a:path>
              </a:pathLst>
            </a:custGeom>
            <a:solidFill>
              <a:srgbClr val="4D0038"/>
            </a:solidFill>
          </p:spPr>
        </p:sp>
      </p:grpSp>
      <p:grpSp>
        <p:nvGrpSpPr>
          <p:cNvPr id="12" name="Group 12"/>
          <p:cNvGrpSpPr/>
          <p:nvPr/>
        </p:nvGrpSpPr>
        <p:grpSpPr>
          <a:xfrm>
            <a:off x="8083306" y="4064794"/>
            <a:ext cx="354359" cy="283521"/>
            <a:chOff x="0" y="0"/>
            <a:chExt cx="472478" cy="378028"/>
          </a:xfrm>
        </p:grpSpPr>
        <p:sp>
          <p:nvSpPr>
            <p:cNvPr id="13" name="Freeform 13" descr="preencoded.png"/>
            <p:cNvSpPr/>
            <p:nvPr/>
          </p:nvSpPr>
          <p:spPr>
            <a:xfrm>
              <a:off x="0" y="0"/>
              <a:ext cx="472440" cy="378079"/>
            </a:xfrm>
            <a:custGeom>
              <a:avLst/>
              <a:gdLst/>
              <a:ahLst/>
              <a:cxnLst/>
              <a:rect l="l" t="t" r="r" b="b"/>
              <a:pathLst>
                <a:path w="472440" h="378079">
                  <a:moveTo>
                    <a:pt x="0" y="0"/>
                  </a:moveTo>
                  <a:lnTo>
                    <a:pt x="472440" y="0"/>
                  </a:lnTo>
                  <a:lnTo>
                    <a:pt x="472440" y="378079"/>
                  </a:lnTo>
                  <a:lnTo>
                    <a:pt x="0" y="378079"/>
                  </a:lnTo>
                  <a:lnTo>
                    <a:pt x="0" y="0"/>
                  </a:lnTo>
                  <a:close/>
                </a:path>
              </a:pathLst>
            </a:custGeom>
            <a:blipFill>
              <a:blip r:embed="rId2"/>
              <a:stretch>
                <a:fillRect t="-671" r="-8" b="-655"/>
              </a:stretch>
            </a:blipFill>
          </p:spPr>
        </p:sp>
      </p:grpSp>
      <p:grpSp>
        <p:nvGrpSpPr>
          <p:cNvPr id="14" name="Group 14"/>
          <p:cNvGrpSpPr/>
          <p:nvPr/>
        </p:nvGrpSpPr>
        <p:grpSpPr>
          <a:xfrm>
            <a:off x="8083306" y="4446913"/>
            <a:ext cx="9004320" cy="2522639"/>
            <a:chOff x="0" y="0"/>
            <a:chExt cx="11067263" cy="3100591"/>
          </a:xfrm>
        </p:grpSpPr>
        <p:sp>
          <p:nvSpPr>
            <p:cNvPr id="15" name="Freeform 15" descr="preencoded.png"/>
            <p:cNvSpPr/>
            <p:nvPr/>
          </p:nvSpPr>
          <p:spPr>
            <a:xfrm>
              <a:off x="0" y="0"/>
              <a:ext cx="11067288" cy="3100578"/>
            </a:xfrm>
            <a:custGeom>
              <a:avLst/>
              <a:gdLst/>
              <a:ahLst/>
              <a:cxnLst/>
              <a:rect l="l" t="t" r="r" b="b"/>
              <a:pathLst>
                <a:path w="11067288" h="3100578">
                  <a:moveTo>
                    <a:pt x="0" y="0"/>
                  </a:moveTo>
                  <a:lnTo>
                    <a:pt x="11067288" y="0"/>
                  </a:lnTo>
                  <a:lnTo>
                    <a:pt x="11067288" y="3100578"/>
                  </a:lnTo>
                  <a:lnTo>
                    <a:pt x="0" y="3100578"/>
                  </a:lnTo>
                  <a:lnTo>
                    <a:pt x="0" y="0"/>
                  </a:lnTo>
                  <a:close/>
                </a:path>
              </a:pathLst>
            </a:custGeom>
            <a:blipFill>
              <a:blip r:embed="rId3"/>
              <a:stretch>
                <a:fillRect l="-3" r="-3"/>
              </a:stretch>
            </a:blipFill>
          </p:spPr>
        </p:sp>
      </p:grpSp>
      <p:sp>
        <p:nvSpPr>
          <p:cNvPr id="16" name="TextBox 16"/>
          <p:cNvSpPr txBox="1"/>
          <p:nvPr/>
        </p:nvSpPr>
        <p:spPr>
          <a:xfrm>
            <a:off x="8402241" y="7242476"/>
            <a:ext cx="8300447" cy="448908"/>
          </a:xfrm>
          <a:prstGeom prst="rect">
            <a:avLst/>
          </a:prstGeom>
        </p:spPr>
        <p:txBody>
          <a:bodyPr lIns="0" tIns="0" rIns="0" bIns="0" rtlCol="0" anchor="t">
            <a:spAutoFit/>
          </a:bodyPr>
          <a:lstStyle/>
          <a:p>
            <a:pPr algn="ctr">
              <a:lnSpc>
                <a:spcPts val="3499"/>
              </a:lnSpc>
            </a:pPr>
            <a:r>
              <a:rPr lang="en-US" sz="2799">
                <a:solidFill>
                  <a:srgbClr val="FFFFFF"/>
                </a:solidFill>
                <a:latin typeface="Arimo"/>
                <a:ea typeface="Arimo"/>
                <a:cs typeface="Arimo"/>
                <a:sym typeface="Arimo"/>
              </a:rPr>
              <a:t>Mô hình hoạt động của application fireall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sp>
        <p:nvSpPr>
          <p:cNvPr id="6" name="TextBox 6"/>
          <p:cNvSpPr txBox="1"/>
          <p:nvPr/>
        </p:nvSpPr>
        <p:spPr>
          <a:xfrm>
            <a:off x="950119" y="1724473"/>
            <a:ext cx="11975827" cy="909581"/>
          </a:xfrm>
          <a:prstGeom prst="rect">
            <a:avLst/>
          </a:prstGeom>
        </p:spPr>
        <p:txBody>
          <a:bodyPr lIns="0" tIns="0" rIns="0" bIns="0" rtlCol="0" anchor="t">
            <a:spAutoFit/>
          </a:bodyPr>
          <a:lstStyle/>
          <a:p>
            <a:pPr algn="l">
              <a:lnSpc>
                <a:spcPts val="6983"/>
              </a:lnSpc>
            </a:pPr>
            <a:r>
              <a:rPr lang="en-US" sz="5600">
                <a:solidFill>
                  <a:srgbClr val="FBF3FA"/>
                </a:solidFill>
                <a:latin typeface="Arimo"/>
                <a:ea typeface="Arimo"/>
                <a:cs typeface="Arimo"/>
                <a:sym typeface="Arimo"/>
              </a:rPr>
              <a:t>Firewall Toàn Diện: Stateful Multilayer</a:t>
            </a:r>
          </a:p>
        </p:txBody>
      </p:sp>
      <p:grpSp>
        <p:nvGrpSpPr>
          <p:cNvPr id="7" name="Group 7"/>
          <p:cNvGrpSpPr/>
          <p:nvPr/>
        </p:nvGrpSpPr>
        <p:grpSpPr>
          <a:xfrm>
            <a:off x="950119" y="3155452"/>
            <a:ext cx="16387762" cy="43453"/>
            <a:chOff x="0" y="0"/>
            <a:chExt cx="21850350" cy="57937"/>
          </a:xfrm>
        </p:grpSpPr>
        <p:sp>
          <p:nvSpPr>
            <p:cNvPr id="8" name="Freeform 8"/>
            <p:cNvSpPr/>
            <p:nvPr/>
          </p:nvSpPr>
          <p:spPr>
            <a:xfrm>
              <a:off x="0" y="0"/>
              <a:ext cx="21850350" cy="57912"/>
            </a:xfrm>
            <a:custGeom>
              <a:avLst/>
              <a:gdLst/>
              <a:ahLst/>
              <a:cxnLst/>
              <a:rect l="l" t="t" r="r" b="b"/>
              <a:pathLst>
                <a:path w="21850350" h="57912">
                  <a:moveTo>
                    <a:pt x="0" y="0"/>
                  </a:moveTo>
                  <a:lnTo>
                    <a:pt x="21850350" y="0"/>
                  </a:lnTo>
                  <a:lnTo>
                    <a:pt x="21850350" y="57912"/>
                  </a:lnTo>
                  <a:lnTo>
                    <a:pt x="0" y="57912"/>
                  </a:lnTo>
                  <a:close/>
                </a:path>
              </a:pathLst>
            </a:custGeom>
            <a:solidFill>
              <a:srgbClr val="E0D6DE">
                <a:alpha val="24706"/>
              </a:srgbClr>
            </a:solidFill>
          </p:spPr>
        </p:sp>
      </p:grpSp>
      <p:sp>
        <p:nvSpPr>
          <p:cNvPr id="9" name="TextBox 9"/>
          <p:cNvSpPr txBox="1"/>
          <p:nvPr/>
        </p:nvSpPr>
        <p:spPr>
          <a:xfrm>
            <a:off x="950119" y="3703434"/>
            <a:ext cx="2186285" cy="594024"/>
          </a:xfrm>
          <a:prstGeom prst="rect">
            <a:avLst/>
          </a:prstGeom>
        </p:spPr>
        <p:txBody>
          <a:bodyPr lIns="0" tIns="0" rIns="0" bIns="0" rtlCol="0" anchor="t">
            <a:spAutoFit/>
          </a:bodyPr>
          <a:lstStyle/>
          <a:p>
            <a:pPr algn="l">
              <a:lnSpc>
                <a:spcPts val="4517"/>
              </a:lnSpc>
            </a:pPr>
            <a:r>
              <a:rPr lang="en-US" sz="3600">
                <a:solidFill>
                  <a:srgbClr val="FBF3FA"/>
                </a:solidFill>
                <a:latin typeface="Arimo"/>
                <a:ea typeface="Arimo"/>
                <a:cs typeface="Arimo"/>
                <a:sym typeface="Arimo"/>
              </a:rPr>
              <a:t>Tổng quan</a:t>
            </a:r>
          </a:p>
        </p:txBody>
      </p:sp>
      <p:sp>
        <p:nvSpPr>
          <p:cNvPr id="10" name="TextBox 10"/>
          <p:cNvSpPr txBox="1"/>
          <p:nvPr/>
        </p:nvSpPr>
        <p:spPr>
          <a:xfrm>
            <a:off x="1028700" y="4827815"/>
            <a:ext cx="6157617" cy="987645"/>
          </a:xfrm>
          <a:prstGeom prst="rect">
            <a:avLst/>
          </a:prstGeom>
        </p:spPr>
        <p:txBody>
          <a:bodyPr lIns="0" tIns="0" rIns="0" bIns="0" rtlCol="0" anchor="t">
            <a:spAutoFit/>
          </a:bodyPr>
          <a:lstStyle/>
          <a:p>
            <a:pPr algn="l">
              <a:lnSpc>
                <a:spcPts val="4044"/>
              </a:lnSpc>
            </a:pPr>
            <a:r>
              <a:rPr lang="en-US" sz="2599">
                <a:solidFill>
                  <a:srgbClr val="E0D6DE"/>
                </a:solidFill>
                <a:latin typeface="Fira Sans"/>
                <a:ea typeface="Fira Sans"/>
                <a:cs typeface="Fira Sans"/>
                <a:sym typeface="Fira Sans"/>
              </a:rPr>
              <a:t>Tích hợp chức năng của cả 3 loại: Network, Session và Application</a:t>
            </a:r>
          </a:p>
        </p:txBody>
      </p:sp>
      <p:sp>
        <p:nvSpPr>
          <p:cNvPr id="11" name="TextBox 11"/>
          <p:cNvSpPr txBox="1"/>
          <p:nvPr/>
        </p:nvSpPr>
        <p:spPr>
          <a:xfrm>
            <a:off x="1028700" y="6244085"/>
            <a:ext cx="6157617" cy="482746"/>
          </a:xfrm>
          <a:prstGeom prst="rect">
            <a:avLst/>
          </a:prstGeom>
        </p:spPr>
        <p:txBody>
          <a:bodyPr lIns="0" tIns="0" rIns="0" bIns="0" rtlCol="0" anchor="t">
            <a:spAutoFit/>
          </a:bodyPr>
          <a:lstStyle/>
          <a:p>
            <a:pPr algn="l">
              <a:lnSpc>
                <a:spcPts val="4044"/>
              </a:lnSpc>
            </a:pPr>
            <a:r>
              <a:rPr lang="en-US" sz="2599">
                <a:solidFill>
                  <a:srgbClr val="E0D6DE"/>
                </a:solidFill>
                <a:latin typeface="Fira Sans"/>
                <a:ea typeface="Fira Sans"/>
                <a:cs typeface="Fira Sans"/>
                <a:sym typeface="Fira Sans"/>
              </a:rPr>
              <a:t>Ghi nhớ trạng thái kết nối (Stateful)</a:t>
            </a:r>
          </a:p>
        </p:txBody>
      </p:sp>
      <p:sp>
        <p:nvSpPr>
          <p:cNvPr id="12" name="TextBox 12"/>
          <p:cNvSpPr txBox="1"/>
          <p:nvPr/>
        </p:nvSpPr>
        <p:spPr>
          <a:xfrm>
            <a:off x="1028700" y="7184031"/>
            <a:ext cx="6157617" cy="1492544"/>
          </a:xfrm>
          <a:prstGeom prst="rect">
            <a:avLst/>
          </a:prstGeom>
        </p:spPr>
        <p:txBody>
          <a:bodyPr lIns="0" tIns="0" rIns="0" bIns="0" rtlCol="0" anchor="t">
            <a:spAutoFit/>
          </a:bodyPr>
          <a:lstStyle/>
          <a:p>
            <a:pPr algn="l">
              <a:lnSpc>
                <a:spcPts val="4044"/>
              </a:lnSpc>
            </a:pPr>
            <a:r>
              <a:rPr lang="en-US" sz="2599" dirty="0" err="1">
                <a:solidFill>
                  <a:srgbClr val="E0D6DE"/>
                </a:solidFill>
                <a:latin typeface="Fira Sans"/>
                <a:ea typeface="Fira Sans"/>
                <a:cs typeface="Fira Sans"/>
                <a:sym typeface="Fira Sans"/>
              </a:rPr>
              <a:t>Khả</a:t>
            </a:r>
            <a:r>
              <a:rPr lang="en-US" sz="2599" dirty="0">
                <a:solidFill>
                  <a:srgbClr val="E0D6DE"/>
                </a:solidFill>
                <a:latin typeface="Fira Sans"/>
                <a:ea typeface="Fira Sans"/>
                <a:cs typeface="Fira Sans"/>
                <a:sym typeface="Fira Sans"/>
              </a:rPr>
              <a:t> </a:t>
            </a:r>
            <a:r>
              <a:rPr lang="en-US" sz="2599" dirty="0" err="1">
                <a:solidFill>
                  <a:srgbClr val="E0D6DE"/>
                </a:solidFill>
                <a:latin typeface="Fira Sans"/>
                <a:ea typeface="Fira Sans"/>
                <a:cs typeface="Fira Sans"/>
                <a:sym typeface="Fira Sans"/>
              </a:rPr>
              <a:t>năng</a:t>
            </a:r>
            <a:r>
              <a:rPr lang="en-US" sz="2599" dirty="0">
                <a:solidFill>
                  <a:srgbClr val="E0D6DE"/>
                </a:solidFill>
                <a:latin typeface="Fira Sans"/>
                <a:ea typeface="Fira Sans"/>
                <a:cs typeface="Fira Sans"/>
                <a:sym typeface="Fira Sans"/>
              </a:rPr>
              <a:t> </a:t>
            </a:r>
            <a:r>
              <a:rPr lang="en-US" sz="2599" dirty="0" err="1">
                <a:solidFill>
                  <a:srgbClr val="E0D6DE"/>
                </a:solidFill>
                <a:latin typeface="Fira Sans"/>
                <a:ea typeface="Fira Sans"/>
                <a:cs typeface="Fira Sans"/>
                <a:sym typeface="Fira Sans"/>
              </a:rPr>
              <a:t>phát</a:t>
            </a:r>
            <a:r>
              <a:rPr lang="en-US" sz="2599" dirty="0">
                <a:solidFill>
                  <a:srgbClr val="E0D6DE"/>
                </a:solidFill>
                <a:latin typeface="Fira Sans"/>
                <a:ea typeface="Fira Sans"/>
                <a:cs typeface="Fira Sans"/>
                <a:sym typeface="Fira Sans"/>
              </a:rPr>
              <a:t> </a:t>
            </a:r>
            <a:r>
              <a:rPr lang="en-US" sz="2599" dirty="0" err="1">
                <a:solidFill>
                  <a:srgbClr val="E0D6DE"/>
                </a:solidFill>
                <a:latin typeface="Fira Sans"/>
                <a:ea typeface="Fira Sans"/>
                <a:cs typeface="Fira Sans"/>
                <a:sym typeface="Fira Sans"/>
              </a:rPr>
              <a:t>hiện</a:t>
            </a:r>
            <a:r>
              <a:rPr lang="en-US" sz="2599" dirty="0">
                <a:solidFill>
                  <a:srgbClr val="E0D6DE"/>
                </a:solidFill>
                <a:latin typeface="Fira Sans"/>
                <a:ea typeface="Fira Sans"/>
                <a:cs typeface="Fira Sans"/>
                <a:sym typeface="Fira Sans"/>
              </a:rPr>
              <a:t>: Scan port, Banner grabbing </a:t>
            </a:r>
            <a:r>
              <a:rPr lang="en-US" sz="2599" dirty="0" err="1">
                <a:solidFill>
                  <a:srgbClr val="E0D6DE"/>
                </a:solidFill>
                <a:latin typeface="Fira Sans"/>
                <a:ea typeface="Fira Sans"/>
                <a:cs typeface="Fira Sans"/>
                <a:sym typeface="Fira Sans"/>
              </a:rPr>
              <a:t>và</a:t>
            </a:r>
            <a:r>
              <a:rPr lang="en-US" sz="2599" dirty="0">
                <a:solidFill>
                  <a:srgbClr val="E0D6DE"/>
                </a:solidFill>
                <a:latin typeface="Fira Sans"/>
                <a:ea typeface="Fira Sans"/>
                <a:cs typeface="Fira Sans"/>
                <a:sym typeface="Fira Sans"/>
              </a:rPr>
              <a:t> </a:t>
            </a:r>
            <a:r>
              <a:rPr lang="en-US" sz="2599" dirty="0" err="1">
                <a:solidFill>
                  <a:srgbClr val="E0D6DE"/>
                </a:solidFill>
                <a:latin typeface="Fira Sans"/>
                <a:ea typeface="Fira Sans"/>
                <a:cs typeface="Fira Sans"/>
                <a:sym typeface="Fira Sans"/>
              </a:rPr>
              <a:t>chống</a:t>
            </a:r>
            <a:r>
              <a:rPr lang="en-US" sz="2599" dirty="0">
                <a:solidFill>
                  <a:srgbClr val="E0D6DE"/>
                </a:solidFill>
                <a:latin typeface="Fira Sans"/>
                <a:ea typeface="Fira Sans"/>
                <a:cs typeface="Fira Sans"/>
                <a:sym typeface="Fira Sans"/>
              </a:rPr>
              <a:t> </a:t>
            </a:r>
            <a:r>
              <a:rPr lang="en-US" sz="2599" dirty="0" err="1">
                <a:solidFill>
                  <a:srgbClr val="E0D6DE"/>
                </a:solidFill>
                <a:latin typeface="Fira Sans"/>
                <a:ea typeface="Fira Sans"/>
                <a:cs typeface="Fira Sans"/>
                <a:sym typeface="Fira Sans"/>
              </a:rPr>
              <a:t>kỹ</a:t>
            </a:r>
            <a:r>
              <a:rPr lang="en-US" sz="2599" dirty="0">
                <a:solidFill>
                  <a:srgbClr val="E0D6DE"/>
                </a:solidFill>
                <a:latin typeface="Fira Sans"/>
                <a:ea typeface="Fira Sans"/>
                <a:cs typeface="Fira Sans"/>
                <a:sym typeface="Fira Sans"/>
              </a:rPr>
              <a:t> </a:t>
            </a:r>
            <a:r>
              <a:rPr lang="en-US" sz="2599" dirty="0" err="1">
                <a:solidFill>
                  <a:srgbClr val="E0D6DE"/>
                </a:solidFill>
                <a:latin typeface="Fira Sans"/>
                <a:ea typeface="Fira Sans"/>
                <a:cs typeface="Fira Sans"/>
                <a:sym typeface="Fira Sans"/>
              </a:rPr>
              <a:t>thuật</a:t>
            </a:r>
            <a:r>
              <a:rPr lang="en-US" sz="2599" dirty="0">
                <a:solidFill>
                  <a:srgbClr val="E0D6DE"/>
                </a:solidFill>
                <a:latin typeface="Fira Sans"/>
                <a:ea typeface="Fira Sans"/>
                <a:cs typeface="Fira Sans"/>
                <a:sym typeface="Fira Sans"/>
              </a:rPr>
              <a:t> </a:t>
            </a:r>
            <a:r>
              <a:rPr lang="en-US" sz="2599" dirty="0" err="1">
                <a:solidFill>
                  <a:srgbClr val="E0D6DE"/>
                </a:solidFill>
                <a:latin typeface="Fira Sans"/>
                <a:ea typeface="Fira Sans"/>
                <a:cs typeface="Fira Sans"/>
                <a:sym typeface="Fira Sans"/>
              </a:rPr>
              <a:t>ẩn</a:t>
            </a:r>
            <a:r>
              <a:rPr lang="en-US" sz="2599" dirty="0">
                <a:solidFill>
                  <a:srgbClr val="E0D6DE"/>
                </a:solidFill>
                <a:latin typeface="Fira Sans"/>
                <a:ea typeface="Fira Sans"/>
                <a:cs typeface="Fira Sans"/>
                <a:sym typeface="Fira Sans"/>
              </a:rPr>
              <a:t> port </a:t>
            </a:r>
            <a:r>
              <a:rPr lang="en-US" sz="2599" dirty="0" err="1">
                <a:solidFill>
                  <a:srgbClr val="E0D6DE"/>
                </a:solidFill>
                <a:latin typeface="Fira Sans"/>
                <a:ea typeface="Fira Sans"/>
                <a:cs typeface="Fira Sans"/>
                <a:sym typeface="Fira Sans"/>
              </a:rPr>
              <a:t>của</a:t>
            </a:r>
            <a:r>
              <a:rPr lang="en-US" sz="2599" dirty="0">
                <a:solidFill>
                  <a:srgbClr val="E0D6DE"/>
                </a:solidFill>
                <a:latin typeface="Fira Sans"/>
                <a:ea typeface="Fira Sans"/>
                <a:cs typeface="Fira Sans"/>
                <a:sym typeface="Fira Sans"/>
              </a:rPr>
              <a:t> hacker</a:t>
            </a:r>
          </a:p>
        </p:txBody>
      </p:sp>
      <p:grpSp>
        <p:nvGrpSpPr>
          <p:cNvPr id="13" name="Group 13"/>
          <p:cNvGrpSpPr/>
          <p:nvPr/>
        </p:nvGrpSpPr>
        <p:grpSpPr>
          <a:xfrm>
            <a:off x="7779544" y="3783511"/>
            <a:ext cx="9567710" cy="4063898"/>
            <a:chOff x="0" y="0"/>
            <a:chExt cx="12756947" cy="5418531"/>
          </a:xfrm>
        </p:grpSpPr>
        <p:sp>
          <p:nvSpPr>
            <p:cNvPr id="14" name="Freeform 14"/>
            <p:cNvSpPr/>
            <p:nvPr/>
          </p:nvSpPr>
          <p:spPr>
            <a:xfrm>
              <a:off x="0" y="0"/>
              <a:ext cx="12757023" cy="5418582"/>
            </a:xfrm>
            <a:custGeom>
              <a:avLst/>
              <a:gdLst/>
              <a:ahLst/>
              <a:cxnLst/>
              <a:rect l="l" t="t" r="r" b="b"/>
              <a:pathLst>
                <a:path w="12757023" h="5418582">
                  <a:moveTo>
                    <a:pt x="0" y="54356"/>
                  </a:moveTo>
                  <a:cubicBezTo>
                    <a:pt x="0" y="24257"/>
                    <a:pt x="24257" y="0"/>
                    <a:pt x="54356" y="0"/>
                  </a:cubicBezTo>
                  <a:lnTo>
                    <a:pt x="12702667" y="0"/>
                  </a:lnTo>
                  <a:cubicBezTo>
                    <a:pt x="12732639" y="0"/>
                    <a:pt x="12757023" y="24257"/>
                    <a:pt x="12757023" y="54356"/>
                  </a:cubicBezTo>
                  <a:lnTo>
                    <a:pt x="12757023" y="5364226"/>
                  </a:lnTo>
                  <a:cubicBezTo>
                    <a:pt x="12757023" y="5394198"/>
                    <a:pt x="12732766" y="5418582"/>
                    <a:pt x="12702667" y="5418582"/>
                  </a:cubicBezTo>
                  <a:lnTo>
                    <a:pt x="54356" y="5418582"/>
                  </a:lnTo>
                  <a:cubicBezTo>
                    <a:pt x="24384" y="5418582"/>
                    <a:pt x="0" y="5394325"/>
                    <a:pt x="0" y="5364226"/>
                  </a:cubicBezTo>
                  <a:close/>
                </a:path>
              </a:pathLst>
            </a:custGeom>
            <a:solidFill>
              <a:srgbClr val="4D0038"/>
            </a:solidFill>
          </p:spPr>
        </p:sp>
      </p:grpSp>
      <p:grpSp>
        <p:nvGrpSpPr>
          <p:cNvPr id="15" name="Group 15"/>
          <p:cNvGrpSpPr/>
          <p:nvPr/>
        </p:nvGrpSpPr>
        <p:grpSpPr>
          <a:xfrm>
            <a:off x="8051006" y="4180580"/>
            <a:ext cx="339328" cy="271462"/>
            <a:chOff x="0" y="0"/>
            <a:chExt cx="452438" cy="361950"/>
          </a:xfrm>
        </p:grpSpPr>
        <p:sp>
          <p:nvSpPr>
            <p:cNvPr id="16" name="Freeform 16" descr="preencoded.png"/>
            <p:cNvSpPr/>
            <p:nvPr/>
          </p:nvSpPr>
          <p:spPr>
            <a:xfrm>
              <a:off x="0" y="0"/>
              <a:ext cx="452501" cy="361950"/>
            </a:xfrm>
            <a:custGeom>
              <a:avLst/>
              <a:gdLst/>
              <a:ahLst/>
              <a:cxnLst/>
              <a:rect l="l" t="t" r="r" b="b"/>
              <a:pathLst>
                <a:path w="452501" h="361950">
                  <a:moveTo>
                    <a:pt x="0" y="0"/>
                  </a:moveTo>
                  <a:lnTo>
                    <a:pt x="452501" y="0"/>
                  </a:lnTo>
                  <a:lnTo>
                    <a:pt x="452501" y="361950"/>
                  </a:lnTo>
                  <a:lnTo>
                    <a:pt x="0" y="361950"/>
                  </a:lnTo>
                  <a:lnTo>
                    <a:pt x="0" y="0"/>
                  </a:lnTo>
                  <a:close/>
                </a:path>
              </a:pathLst>
            </a:custGeom>
            <a:blipFill>
              <a:blip r:embed="rId2"/>
              <a:stretch>
                <a:fillRect t="-347" r="14" b="-347"/>
              </a:stretch>
            </a:blipFill>
          </p:spPr>
        </p:sp>
      </p:grpSp>
      <p:grpSp>
        <p:nvGrpSpPr>
          <p:cNvPr id="17" name="Group 17"/>
          <p:cNvGrpSpPr/>
          <p:nvPr/>
        </p:nvGrpSpPr>
        <p:grpSpPr>
          <a:xfrm>
            <a:off x="8051006" y="4519908"/>
            <a:ext cx="9024785" cy="2359681"/>
            <a:chOff x="0" y="0"/>
            <a:chExt cx="11218659" cy="2933306"/>
          </a:xfrm>
        </p:grpSpPr>
        <p:sp>
          <p:nvSpPr>
            <p:cNvPr id="18" name="Freeform 18" descr="preencoded.png"/>
            <p:cNvSpPr/>
            <p:nvPr/>
          </p:nvSpPr>
          <p:spPr>
            <a:xfrm>
              <a:off x="0" y="0"/>
              <a:ext cx="11218672" cy="2933319"/>
            </a:xfrm>
            <a:custGeom>
              <a:avLst/>
              <a:gdLst/>
              <a:ahLst/>
              <a:cxnLst/>
              <a:rect l="l" t="t" r="r" b="b"/>
              <a:pathLst>
                <a:path w="11218672" h="2933319">
                  <a:moveTo>
                    <a:pt x="0" y="0"/>
                  </a:moveTo>
                  <a:lnTo>
                    <a:pt x="11218672" y="0"/>
                  </a:lnTo>
                  <a:lnTo>
                    <a:pt x="11218672" y="2933319"/>
                  </a:lnTo>
                  <a:lnTo>
                    <a:pt x="0" y="2933319"/>
                  </a:lnTo>
                  <a:lnTo>
                    <a:pt x="0" y="0"/>
                  </a:lnTo>
                  <a:close/>
                </a:path>
              </a:pathLst>
            </a:custGeom>
            <a:blipFill>
              <a:blip r:embed="rId3"/>
              <a:stretch>
                <a:fillRect t="-27" b="-26"/>
              </a:stretch>
            </a:blipFill>
          </p:spPr>
        </p:sp>
      </p:grpSp>
      <p:sp>
        <p:nvSpPr>
          <p:cNvPr id="19" name="TextBox 19"/>
          <p:cNvSpPr txBox="1"/>
          <p:nvPr/>
        </p:nvSpPr>
        <p:spPr>
          <a:xfrm>
            <a:off x="8390639" y="7224765"/>
            <a:ext cx="8413994" cy="463687"/>
          </a:xfrm>
          <a:prstGeom prst="rect">
            <a:avLst/>
          </a:prstGeom>
        </p:spPr>
        <p:txBody>
          <a:bodyPr lIns="0" tIns="0" rIns="0" bIns="0" rtlCol="0" anchor="t">
            <a:spAutoFit/>
          </a:bodyPr>
          <a:lstStyle/>
          <a:p>
            <a:pPr algn="ctr">
              <a:lnSpc>
                <a:spcPts val="3533"/>
              </a:lnSpc>
            </a:pPr>
            <a:r>
              <a:rPr lang="en-US" sz="2799">
                <a:solidFill>
                  <a:srgbClr val="FFFFFF"/>
                </a:solidFill>
                <a:latin typeface="Arimo"/>
                <a:ea typeface="Arimo"/>
                <a:cs typeface="Arimo"/>
                <a:sym typeface="Arimo"/>
              </a:rPr>
              <a:t>Mô hình Stateful Multilayer Inspection Firewall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6475" y="-616524"/>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381267"/>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sp>
        <p:nvSpPr>
          <p:cNvPr id="6" name="TextBox 6"/>
          <p:cNvSpPr txBox="1"/>
          <p:nvPr/>
        </p:nvSpPr>
        <p:spPr>
          <a:xfrm>
            <a:off x="1028700" y="385144"/>
            <a:ext cx="10399365" cy="904567"/>
          </a:xfrm>
          <a:prstGeom prst="rect">
            <a:avLst/>
          </a:prstGeom>
        </p:spPr>
        <p:txBody>
          <a:bodyPr lIns="0" tIns="0" rIns="0" bIns="0" rtlCol="0" anchor="t">
            <a:spAutoFit/>
          </a:bodyPr>
          <a:lstStyle/>
          <a:p>
            <a:pPr algn="l">
              <a:lnSpc>
                <a:spcPts val="6946"/>
              </a:lnSpc>
            </a:pPr>
            <a:r>
              <a:rPr lang="en-US" sz="5600">
                <a:solidFill>
                  <a:srgbClr val="FBF3FA"/>
                </a:solidFill>
                <a:latin typeface="Arimo"/>
                <a:ea typeface="Arimo"/>
                <a:cs typeface="Arimo"/>
                <a:sym typeface="Arimo"/>
              </a:rPr>
              <a:t>HoneyPot – Hệ Thống Đánh Lừa</a:t>
            </a:r>
          </a:p>
        </p:txBody>
      </p:sp>
      <p:sp>
        <p:nvSpPr>
          <p:cNvPr id="7" name="TextBox 7"/>
          <p:cNvSpPr txBox="1"/>
          <p:nvPr/>
        </p:nvSpPr>
        <p:spPr>
          <a:xfrm>
            <a:off x="1164861" y="1642136"/>
            <a:ext cx="2211586" cy="593334"/>
          </a:xfrm>
          <a:prstGeom prst="rect">
            <a:avLst/>
          </a:prstGeom>
        </p:spPr>
        <p:txBody>
          <a:bodyPr lIns="0" tIns="0" rIns="0" bIns="0" rtlCol="0" anchor="t">
            <a:spAutoFit/>
          </a:bodyPr>
          <a:lstStyle/>
          <a:p>
            <a:pPr algn="l">
              <a:lnSpc>
                <a:spcPts val="4523"/>
              </a:lnSpc>
            </a:pPr>
            <a:r>
              <a:rPr lang="en-US" sz="3600">
                <a:solidFill>
                  <a:srgbClr val="FBF3FA"/>
                </a:solidFill>
                <a:latin typeface="Arimo"/>
                <a:ea typeface="Arimo"/>
                <a:cs typeface="Arimo"/>
                <a:sym typeface="Arimo"/>
              </a:rPr>
              <a:t>Định nghĩa</a:t>
            </a:r>
          </a:p>
        </p:txBody>
      </p:sp>
      <p:sp>
        <p:nvSpPr>
          <p:cNvPr id="8" name="TextBox 8"/>
          <p:cNvSpPr txBox="1"/>
          <p:nvPr/>
        </p:nvSpPr>
        <p:spPr>
          <a:xfrm>
            <a:off x="1164861" y="2464070"/>
            <a:ext cx="6192888" cy="437119"/>
          </a:xfrm>
          <a:prstGeom prst="rect">
            <a:avLst/>
          </a:prstGeom>
        </p:spPr>
        <p:txBody>
          <a:bodyPr lIns="0" tIns="0" rIns="0" bIns="0" rtlCol="0" anchor="t">
            <a:spAutoFit/>
          </a:bodyPr>
          <a:lstStyle/>
          <a:p>
            <a:pPr algn="l">
              <a:lnSpc>
                <a:spcPts val="3638"/>
              </a:lnSpc>
            </a:pPr>
            <a:r>
              <a:rPr lang="en-US" sz="2399" b="1">
                <a:solidFill>
                  <a:srgbClr val="E0D6DE"/>
                </a:solidFill>
                <a:latin typeface="Fira Sans Bold"/>
                <a:ea typeface="Fira Sans Bold"/>
                <a:cs typeface="Fira Sans Bold"/>
                <a:sym typeface="Fira Sans Bold"/>
              </a:rPr>
              <a:t>Định nghĩa:</a:t>
            </a:r>
            <a:r>
              <a:rPr lang="en-US" sz="2399">
                <a:solidFill>
                  <a:srgbClr val="E0D6DE"/>
                </a:solidFill>
                <a:latin typeface="Fira Sans"/>
                <a:ea typeface="Fira Sans"/>
                <a:cs typeface="Fira Sans"/>
                <a:sym typeface="Fira Sans"/>
              </a:rPr>
              <a:t> Decoy Server (máy chủ giả mạo)</a:t>
            </a:r>
          </a:p>
        </p:txBody>
      </p:sp>
      <p:grpSp>
        <p:nvGrpSpPr>
          <p:cNvPr id="9" name="Group 9"/>
          <p:cNvGrpSpPr/>
          <p:nvPr/>
        </p:nvGrpSpPr>
        <p:grpSpPr>
          <a:xfrm>
            <a:off x="1164861" y="3405059"/>
            <a:ext cx="5730773" cy="47625"/>
            <a:chOff x="0" y="0"/>
            <a:chExt cx="7641031" cy="63500"/>
          </a:xfrm>
        </p:grpSpPr>
        <p:sp>
          <p:nvSpPr>
            <p:cNvPr id="10" name="Freeform 10"/>
            <p:cNvSpPr/>
            <p:nvPr/>
          </p:nvSpPr>
          <p:spPr>
            <a:xfrm>
              <a:off x="0" y="0"/>
              <a:ext cx="7641082" cy="63485"/>
            </a:xfrm>
            <a:custGeom>
              <a:avLst/>
              <a:gdLst/>
              <a:ahLst/>
              <a:cxnLst/>
              <a:rect l="l" t="t" r="r" b="b"/>
              <a:pathLst>
                <a:path w="7641082" h="63485">
                  <a:moveTo>
                    <a:pt x="0" y="0"/>
                  </a:moveTo>
                  <a:lnTo>
                    <a:pt x="7641082" y="0"/>
                  </a:lnTo>
                  <a:lnTo>
                    <a:pt x="7641082" y="63485"/>
                  </a:lnTo>
                  <a:lnTo>
                    <a:pt x="0" y="63485"/>
                  </a:lnTo>
                  <a:close/>
                </a:path>
              </a:pathLst>
            </a:custGeom>
            <a:solidFill>
              <a:srgbClr val="E0D6DE">
                <a:alpha val="24706"/>
              </a:srgbClr>
            </a:solidFill>
          </p:spPr>
        </p:sp>
      </p:grpSp>
      <p:sp>
        <p:nvSpPr>
          <p:cNvPr id="11" name="TextBox 11"/>
          <p:cNvSpPr txBox="1"/>
          <p:nvPr/>
        </p:nvSpPr>
        <p:spPr>
          <a:xfrm>
            <a:off x="1164861" y="3906471"/>
            <a:ext cx="2312789" cy="593334"/>
          </a:xfrm>
          <a:prstGeom prst="rect">
            <a:avLst/>
          </a:prstGeom>
        </p:spPr>
        <p:txBody>
          <a:bodyPr lIns="0" tIns="0" rIns="0" bIns="0" rtlCol="0" anchor="t">
            <a:spAutoFit/>
          </a:bodyPr>
          <a:lstStyle/>
          <a:p>
            <a:pPr algn="l">
              <a:lnSpc>
                <a:spcPts val="4523"/>
              </a:lnSpc>
            </a:pPr>
            <a:r>
              <a:rPr lang="en-US" sz="3600" dirty="0">
                <a:solidFill>
                  <a:srgbClr val="FBF3FA"/>
                </a:solidFill>
                <a:latin typeface="Arimo"/>
                <a:ea typeface="Arimo"/>
                <a:cs typeface="Arimo"/>
                <a:sym typeface="Arimo"/>
              </a:rPr>
              <a:t>Nguyên </a:t>
            </a:r>
            <a:r>
              <a:rPr lang="en-US" sz="3600" dirty="0" err="1">
                <a:solidFill>
                  <a:srgbClr val="FBF3FA"/>
                </a:solidFill>
                <a:latin typeface="Arimo"/>
                <a:ea typeface="Arimo"/>
                <a:cs typeface="Arimo"/>
                <a:sym typeface="Arimo"/>
              </a:rPr>
              <a:t>tắc</a:t>
            </a:r>
            <a:endParaRPr lang="en-US" sz="3600" dirty="0">
              <a:solidFill>
                <a:srgbClr val="FBF3FA"/>
              </a:solidFill>
              <a:latin typeface="Arimo"/>
              <a:ea typeface="Arimo"/>
              <a:cs typeface="Arimo"/>
              <a:sym typeface="Arimo"/>
            </a:endParaRPr>
          </a:p>
        </p:txBody>
      </p:sp>
      <p:sp>
        <p:nvSpPr>
          <p:cNvPr id="12" name="TextBox 12"/>
          <p:cNvSpPr txBox="1"/>
          <p:nvPr/>
        </p:nvSpPr>
        <p:spPr>
          <a:xfrm>
            <a:off x="1158887" y="4783208"/>
            <a:ext cx="5912387" cy="894393"/>
          </a:xfrm>
          <a:prstGeom prst="rect">
            <a:avLst/>
          </a:prstGeom>
        </p:spPr>
        <p:txBody>
          <a:bodyPr lIns="0" tIns="0" rIns="0" bIns="0" rtlCol="0" anchor="t">
            <a:spAutoFit/>
          </a:bodyPr>
          <a:lstStyle/>
          <a:p>
            <a:pPr algn="l">
              <a:lnSpc>
                <a:spcPts val="3638"/>
              </a:lnSpc>
            </a:pPr>
            <a:r>
              <a:rPr lang="en-US" sz="2399" b="1" dirty="0">
                <a:solidFill>
                  <a:srgbClr val="E0D6DE"/>
                </a:solidFill>
                <a:latin typeface="Fira Sans Bold"/>
                <a:ea typeface="Fira Sans Bold"/>
                <a:cs typeface="Fira Sans Bold"/>
                <a:sym typeface="Fira Sans Bold"/>
              </a:rPr>
              <a:t>Nguyên </a:t>
            </a:r>
            <a:r>
              <a:rPr lang="en-US" sz="2399" b="1" dirty="0" err="1">
                <a:solidFill>
                  <a:srgbClr val="E0D6DE"/>
                </a:solidFill>
                <a:latin typeface="Fira Sans Bold"/>
                <a:ea typeface="Fira Sans Bold"/>
                <a:cs typeface="Fira Sans Bold"/>
                <a:sym typeface="Fira Sans Bold"/>
              </a:rPr>
              <a:t>tắc</a:t>
            </a:r>
            <a:r>
              <a:rPr lang="en-US" sz="2399" b="1" dirty="0">
                <a:solidFill>
                  <a:srgbClr val="E0D6DE"/>
                </a:solidFill>
                <a:latin typeface="Fira Sans Bold"/>
                <a:ea typeface="Fira Sans Bold"/>
                <a:cs typeface="Fira Sans Bold"/>
                <a:sym typeface="Fira Sans Bold"/>
              </a:rPr>
              <a:t>:</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Cố</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tình</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tạo</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lỗ</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hổng</a:t>
            </a:r>
            <a:r>
              <a:rPr lang="en-US" sz="2399" dirty="0">
                <a:solidFill>
                  <a:srgbClr val="E0D6DE"/>
                </a:solidFill>
                <a:latin typeface="Fira Sans"/>
                <a:ea typeface="Fira Sans"/>
                <a:cs typeface="Fira Sans"/>
                <a:sym typeface="Fira Sans"/>
              </a:rPr>
              <a:t> (FTP, Web) </a:t>
            </a:r>
            <a:r>
              <a:rPr lang="en-US" sz="2399" dirty="0" err="1">
                <a:solidFill>
                  <a:srgbClr val="E0D6DE"/>
                </a:solidFill>
                <a:latin typeface="Fira Sans"/>
                <a:ea typeface="Fira Sans"/>
                <a:cs typeface="Fira Sans"/>
                <a:sym typeface="Fira Sans"/>
              </a:rPr>
              <a:t>và</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phải</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làm</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cho</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càng</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giống</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thật</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càng</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tốt</a:t>
            </a:r>
            <a:endParaRPr lang="en-US" sz="2399" dirty="0">
              <a:solidFill>
                <a:srgbClr val="E0D6DE"/>
              </a:solidFill>
              <a:latin typeface="Fira Sans"/>
              <a:ea typeface="Fira Sans"/>
              <a:cs typeface="Fira Sans"/>
              <a:sym typeface="Fira Sans"/>
            </a:endParaRPr>
          </a:p>
        </p:txBody>
      </p:sp>
      <p:grpSp>
        <p:nvGrpSpPr>
          <p:cNvPr id="13" name="Group 13"/>
          <p:cNvGrpSpPr/>
          <p:nvPr/>
        </p:nvGrpSpPr>
        <p:grpSpPr>
          <a:xfrm>
            <a:off x="1164861" y="6108573"/>
            <a:ext cx="5730773" cy="47625"/>
            <a:chOff x="0" y="0"/>
            <a:chExt cx="7641031" cy="63500"/>
          </a:xfrm>
        </p:grpSpPr>
        <p:sp>
          <p:nvSpPr>
            <p:cNvPr id="14" name="Freeform 14"/>
            <p:cNvSpPr/>
            <p:nvPr/>
          </p:nvSpPr>
          <p:spPr>
            <a:xfrm>
              <a:off x="0" y="0"/>
              <a:ext cx="7641082" cy="63485"/>
            </a:xfrm>
            <a:custGeom>
              <a:avLst/>
              <a:gdLst/>
              <a:ahLst/>
              <a:cxnLst/>
              <a:rect l="l" t="t" r="r" b="b"/>
              <a:pathLst>
                <a:path w="7641082" h="63485">
                  <a:moveTo>
                    <a:pt x="0" y="0"/>
                  </a:moveTo>
                  <a:lnTo>
                    <a:pt x="7641082" y="0"/>
                  </a:lnTo>
                  <a:lnTo>
                    <a:pt x="7641082" y="63485"/>
                  </a:lnTo>
                  <a:lnTo>
                    <a:pt x="0" y="63485"/>
                  </a:lnTo>
                  <a:close/>
                </a:path>
              </a:pathLst>
            </a:custGeom>
            <a:solidFill>
              <a:srgbClr val="E0D6DE">
                <a:alpha val="24706"/>
              </a:srgbClr>
            </a:solidFill>
          </p:spPr>
        </p:sp>
      </p:grpSp>
      <p:sp>
        <p:nvSpPr>
          <p:cNvPr id="15" name="TextBox 15"/>
          <p:cNvSpPr txBox="1"/>
          <p:nvPr/>
        </p:nvSpPr>
        <p:spPr>
          <a:xfrm>
            <a:off x="1179669" y="6544195"/>
            <a:ext cx="1854957" cy="593334"/>
          </a:xfrm>
          <a:prstGeom prst="rect">
            <a:avLst/>
          </a:prstGeom>
        </p:spPr>
        <p:txBody>
          <a:bodyPr lIns="0" tIns="0" rIns="0" bIns="0" rtlCol="0" anchor="t">
            <a:spAutoFit/>
          </a:bodyPr>
          <a:lstStyle/>
          <a:p>
            <a:pPr algn="l">
              <a:lnSpc>
                <a:spcPts val="4523"/>
              </a:lnSpc>
            </a:pPr>
            <a:r>
              <a:rPr lang="en-US" sz="3600" dirty="0" err="1">
                <a:solidFill>
                  <a:srgbClr val="FBF3FA"/>
                </a:solidFill>
                <a:latin typeface="Arimo"/>
                <a:ea typeface="Arimo"/>
                <a:cs typeface="Arimo"/>
                <a:sym typeface="Arimo"/>
              </a:rPr>
              <a:t>Mục</a:t>
            </a:r>
            <a:r>
              <a:rPr lang="en-US" sz="3600" dirty="0">
                <a:solidFill>
                  <a:srgbClr val="FBF3FA"/>
                </a:solidFill>
                <a:latin typeface="Arimo"/>
                <a:ea typeface="Arimo"/>
                <a:cs typeface="Arimo"/>
                <a:sym typeface="Arimo"/>
              </a:rPr>
              <a:t> </a:t>
            </a:r>
            <a:r>
              <a:rPr lang="en-US" sz="3600" dirty="0" err="1">
                <a:solidFill>
                  <a:srgbClr val="FBF3FA"/>
                </a:solidFill>
                <a:latin typeface="Arimo"/>
                <a:ea typeface="Arimo"/>
                <a:cs typeface="Arimo"/>
                <a:sym typeface="Arimo"/>
              </a:rPr>
              <a:t>đích</a:t>
            </a:r>
            <a:endParaRPr lang="en-US" sz="3600" dirty="0">
              <a:solidFill>
                <a:srgbClr val="FBF3FA"/>
              </a:solidFill>
              <a:latin typeface="Arimo"/>
              <a:ea typeface="Arimo"/>
              <a:cs typeface="Arimo"/>
              <a:sym typeface="Arimo"/>
            </a:endParaRPr>
          </a:p>
        </p:txBody>
      </p:sp>
      <p:sp>
        <p:nvSpPr>
          <p:cNvPr id="16" name="TextBox 16"/>
          <p:cNvSpPr txBox="1"/>
          <p:nvPr/>
        </p:nvSpPr>
        <p:spPr>
          <a:xfrm>
            <a:off x="1164899" y="7418115"/>
            <a:ext cx="5730773" cy="1808942"/>
          </a:xfrm>
          <a:prstGeom prst="rect">
            <a:avLst/>
          </a:prstGeom>
        </p:spPr>
        <p:txBody>
          <a:bodyPr lIns="0" tIns="0" rIns="0" bIns="0" rtlCol="0" anchor="t">
            <a:spAutoFit/>
          </a:bodyPr>
          <a:lstStyle/>
          <a:p>
            <a:pPr marL="361949" lvl="1" indent="-180974" algn="l">
              <a:lnSpc>
                <a:spcPts val="3638"/>
              </a:lnSpc>
              <a:buFont typeface="Arial"/>
              <a:buChar char="•"/>
            </a:pPr>
            <a:r>
              <a:rPr lang="en-US" sz="2399" dirty="0" err="1">
                <a:solidFill>
                  <a:srgbClr val="E0D6DE"/>
                </a:solidFill>
                <a:latin typeface="Fira Sans"/>
                <a:ea typeface="Fira Sans"/>
                <a:cs typeface="Fira Sans"/>
                <a:sym typeface="Fira Sans"/>
              </a:rPr>
              <a:t>Đánh</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lừa</a:t>
            </a:r>
            <a:r>
              <a:rPr lang="en-US" sz="2399" dirty="0">
                <a:solidFill>
                  <a:srgbClr val="E0D6DE"/>
                </a:solidFill>
                <a:latin typeface="Fira Sans"/>
                <a:ea typeface="Fira Sans"/>
                <a:cs typeface="Fira Sans"/>
                <a:sym typeface="Fira Sans"/>
              </a:rPr>
              <a:t> Hacker</a:t>
            </a:r>
          </a:p>
          <a:p>
            <a:pPr marL="361949" lvl="1" indent="-180974" algn="l">
              <a:lnSpc>
                <a:spcPts val="3638"/>
              </a:lnSpc>
              <a:buFont typeface="Arial"/>
              <a:buChar char="•"/>
            </a:pPr>
            <a:r>
              <a:rPr lang="en-US" sz="2399" dirty="0">
                <a:solidFill>
                  <a:srgbClr val="E0D6DE"/>
                </a:solidFill>
                <a:latin typeface="Fira Sans"/>
                <a:ea typeface="Fira Sans"/>
                <a:cs typeface="Fira Sans"/>
                <a:sym typeface="Fira Sans"/>
              </a:rPr>
              <a:t>Bảo </a:t>
            </a:r>
            <a:r>
              <a:rPr lang="en-US" sz="2399" dirty="0" err="1">
                <a:solidFill>
                  <a:srgbClr val="E0D6DE"/>
                </a:solidFill>
                <a:latin typeface="Fira Sans"/>
                <a:ea typeface="Fira Sans"/>
                <a:cs typeface="Fira Sans"/>
                <a:sym typeface="Fira Sans"/>
              </a:rPr>
              <a:t>vệ</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hệ</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thống</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thật</a:t>
            </a:r>
            <a:endParaRPr lang="en-US" sz="2399" dirty="0">
              <a:solidFill>
                <a:srgbClr val="E0D6DE"/>
              </a:solidFill>
              <a:latin typeface="Fira Sans"/>
              <a:ea typeface="Fira Sans"/>
              <a:cs typeface="Fira Sans"/>
              <a:sym typeface="Fira Sans"/>
            </a:endParaRPr>
          </a:p>
          <a:p>
            <a:pPr marL="361949" lvl="1" indent="-180974" algn="l">
              <a:lnSpc>
                <a:spcPts val="3638"/>
              </a:lnSpc>
              <a:buFont typeface="Arial"/>
              <a:buChar char="•"/>
            </a:pPr>
            <a:r>
              <a:rPr lang="en-US" sz="2399" dirty="0" err="1">
                <a:solidFill>
                  <a:srgbClr val="E0D6DE"/>
                </a:solidFill>
                <a:latin typeface="Fira Sans"/>
                <a:ea typeface="Fira Sans"/>
                <a:cs typeface="Fira Sans"/>
                <a:sym typeface="Fira Sans"/>
              </a:rPr>
              <a:t>Ghi</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nhật</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ký</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truy</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vết</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và</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phát</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hiện</a:t>
            </a:r>
            <a:r>
              <a:rPr lang="en-US" sz="2399" dirty="0">
                <a:solidFill>
                  <a:srgbClr val="E0D6DE"/>
                </a:solidFill>
                <a:latin typeface="Fira Sans"/>
                <a:ea typeface="Fira Sans"/>
                <a:cs typeface="Fira Sans"/>
                <a:sym typeface="Fira Sans"/>
              </a:rPr>
              <a:t> </a:t>
            </a:r>
            <a:r>
              <a:rPr lang="en-US" sz="2399" dirty="0" err="1">
                <a:solidFill>
                  <a:srgbClr val="E0D6DE"/>
                </a:solidFill>
                <a:latin typeface="Fira Sans"/>
                <a:ea typeface="Fira Sans"/>
                <a:cs typeface="Fira Sans"/>
                <a:sym typeface="Fira Sans"/>
              </a:rPr>
              <a:t>mạng</a:t>
            </a:r>
            <a:r>
              <a:rPr lang="en-US" sz="2399" dirty="0">
                <a:solidFill>
                  <a:srgbClr val="E0D6DE"/>
                </a:solidFill>
                <a:latin typeface="Fira Sans"/>
                <a:ea typeface="Fira Sans"/>
                <a:cs typeface="Fira Sans"/>
                <a:sym typeface="Fira Sans"/>
              </a:rPr>
              <a:t> Botnet</a:t>
            </a:r>
          </a:p>
        </p:txBody>
      </p:sp>
      <p:grpSp>
        <p:nvGrpSpPr>
          <p:cNvPr id="17" name="Group 17"/>
          <p:cNvGrpSpPr/>
          <p:nvPr/>
        </p:nvGrpSpPr>
        <p:grpSpPr>
          <a:xfrm>
            <a:off x="7357749" y="2132034"/>
            <a:ext cx="10188026" cy="5007926"/>
            <a:chOff x="0" y="0"/>
            <a:chExt cx="13584034" cy="6677235"/>
          </a:xfrm>
        </p:grpSpPr>
        <p:sp>
          <p:nvSpPr>
            <p:cNvPr id="18" name="Freeform 18"/>
            <p:cNvSpPr/>
            <p:nvPr/>
          </p:nvSpPr>
          <p:spPr>
            <a:xfrm>
              <a:off x="0" y="0"/>
              <a:ext cx="13583920" cy="6677106"/>
            </a:xfrm>
            <a:custGeom>
              <a:avLst/>
              <a:gdLst/>
              <a:ahLst/>
              <a:cxnLst/>
              <a:rect l="l" t="t" r="r" b="b"/>
              <a:pathLst>
                <a:path w="13583920" h="6677106">
                  <a:moveTo>
                    <a:pt x="0" y="72599"/>
                  </a:moveTo>
                  <a:cubicBezTo>
                    <a:pt x="0" y="32532"/>
                    <a:pt x="22479" y="0"/>
                    <a:pt x="50165" y="0"/>
                  </a:cubicBezTo>
                  <a:lnTo>
                    <a:pt x="13533754" y="0"/>
                  </a:lnTo>
                  <a:cubicBezTo>
                    <a:pt x="13561440" y="0"/>
                    <a:pt x="13583920" y="32532"/>
                    <a:pt x="13583920" y="72599"/>
                  </a:cubicBezTo>
                  <a:lnTo>
                    <a:pt x="13583920" y="6604507"/>
                  </a:lnTo>
                  <a:cubicBezTo>
                    <a:pt x="13583920" y="6644574"/>
                    <a:pt x="13561440" y="6677106"/>
                    <a:pt x="13533754" y="6677106"/>
                  </a:cubicBezTo>
                  <a:lnTo>
                    <a:pt x="50165" y="6677106"/>
                  </a:lnTo>
                  <a:cubicBezTo>
                    <a:pt x="22479" y="6677106"/>
                    <a:pt x="0" y="6644574"/>
                    <a:pt x="0" y="6604507"/>
                  </a:cubicBezTo>
                  <a:close/>
                </a:path>
              </a:pathLst>
            </a:custGeom>
            <a:solidFill>
              <a:srgbClr val="4D0038"/>
            </a:solidFill>
          </p:spPr>
        </p:sp>
      </p:grpSp>
      <p:grpSp>
        <p:nvGrpSpPr>
          <p:cNvPr id="19" name="Group 19"/>
          <p:cNvGrpSpPr/>
          <p:nvPr/>
        </p:nvGrpSpPr>
        <p:grpSpPr>
          <a:xfrm>
            <a:off x="7611495" y="2461099"/>
            <a:ext cx="313734" cy="250927"/>
            <a:chOff x="0" y="0"/>
            <a:chExt cx="418313" cy="334569"/>
          </a:xfrm>
        </p:grpSpPr>
        <p:sp>
          <p:nvSpPr>
            <p:cNvPr id="20" name="Freeform 20" descr="preencoded.png"/>
            <p:cNvSpPr/>
            <p:nvPr/>
          </p:nvSpPr>
          <p:spPr>
            <a:xfrm>
              <a:off x="0" y="0"/>
              <a:ext cx="418338" cy="334518"/>
            </a:xfrm>
            <a:custGeom>
              <a:avLst/>
              <a:gdLst/>
              <a:ahLst/>
              <a:cxnLst/>
              <a:rect l="l" t="t" r="r" b="b"/>
              <a:pathLst>
                <a:path w="418338" h="334518">
                  <a:moveTo>
                    <a:pt x="0" y="0"/>
                  </a:moveTo>
                  <a:lnTo>
                    <a:pt x="418338" y="0"/>
                  </a:lnTo>
                  <a:lnTo>
                    <a:pt x="418338" y="334518"/>
                  </a:lnTo>
                  <a:lnTo>
                    <a:pt x="0" y="334518"/>
                  </a:lnTo>
                  <a:lnTo>
                    <a:pt x="0" y="0"/>
                  </a:lnTo>
                  <a:close/>
                </a:path>
              </a:pathLst>
            </a:custGeom>
            <a:blipFill>
              <a:blip r:embed="rId2"/>
              <a:stretch>
                <a:fillRect l="-755" r="-749" b="-15"/>
              </a:stretch>
            </a:blipFill>
          </p:spPr>
        </p:sp>
      </p:grpSp>
      <p:grpSp>
        <p:nvGrpSpPr>
          <p:cNvPr id="21" name="Group 21"/>
          <p:cNvGrpSpPr/>
          <p:nvPr/>
        </p:nvGrpSpPr>
        <p:grpSpPr>
          <a:xfrm>
            <a:off x="7611495" y="2877886"/>
            <a:ext cx="9654363" cy="3278312"/>
            <a:chOff x="0" y="0"/>
            <a:chExt cx="8584006" cy="2914853"/>
          </a:xfrm>
        </p:grpSpPr>
        <p:sp>
          <p:nvSpPr>
            <p:cNvPr id="22" name="Freeform 22" descr="preencoded.png"/>
            <p:cNvSpPr/>
            <p:nvPr/>
          </p:nvSpPr>
          <p:spPr>
            <a:xfrm>
              <a:off x="0" y="0"/>
              <a:ext cx="8584057" cy="2914904"/>
            </a:xfrm>
            <a:custGeom>
              <a:avLst/>
              <a:gdLst/>
              <a:ahLst/>
              <a:cxnLst/>
              <a:rect l="l" t="t" r="r" b="b"/>
              <a:pathLst>
                <a:path w="8584057" h="2914904">
                  <a:moveTo>
                    <a:pt x="0" y="0"/>
                  </a:moveTo>
                  <a:lnTo>
                    <a:pt x="8584057" y="0"/>
                  </a:lnTo>
                  <a:lnTo>
                    <a:pt x="8584057" y="2914904"/>
                  </a:lnTo>
                  <a:lnTo>
                    <a:pt x="0" y="2914904"/>
                  </a:lnTo>
                  <a:lnTo>
                    <a:pt x="0" y="0"/>
                  </a:lnTo>
                  <a:close/>
                </a:path>
              </a:pathLst>
            </a:custGeom>
            <a:blipFill>
              <a:blip r:embed="rId3"/>
              <a:stretch>
                <a:fillRect t="-98" b="-96"/>
              </a:stretch>
            </a:blipFill>
          </p:spPr>
        </p:sp>
      </p:grpSp>
      <p:sp>
        <p:nvSpPr>
          <p:cNvPr id="23" name="TextBox 23"/>
          <p:cNvSpPr txBox="1"/>
          <p:nvPr/>
        </p:nvSpPr>
        <p:spPr>
          <a:xfrm>
            <a:off x="9761818" y="6655831"/>
            <a:ext cx="5659997" cy="418320"/>
          </a:xfrm>
          <a:prstGeom prst="rect">
            <a:avLst/>
          </a:prstGeom>
        </p:spPr>
        <p:txBody>
          <a:bodyPr wrap="square" lIns="0" tIns="0" rIns="0" bIns="0" rtlCol="0" anchor="t">
            <a:spAutoFit/>
          </a:bodyPr>
          <a:lstStyle/>
          <a:p>
            <a:pPr algn="ctr">
              <a:lnSpc>
                <a:spcPts val="3517"/>
              </a:lnSpc>
            </a:pPr>
            <a:r>
              <a:rPr lang="en-US" sz="2799" dirty="0" err="1">
                <a:solidFill>
                  <a:srgbClr val="FFFFFF"/>
                </a:solidFill>
                <a:latin typeface="Arimo"/>
                <a:ea typeface="Arimo"/>
                <a:cs typeface="Arimo"/>
                <a:sym typeface="Arimo"/>
              </a:rPr>
              <a:t>Một</a:t>
            </a:r>
            <a:r>
              <a:rPr lang="en-US" sz="2799" dirty="0">
                <a:solidFill>
                  <a:srgbClr val="FFFFFF"/>
                </a:solidFill>
                <a:latin typeface="Arimo"/>
                <a:ea typeface="Arimo"/>
                <a:cs typeface="Arimo"/>
                <a:sym typeface="Arimo"/>
              </a:rPr>
              <a:t> honeypot </a:t>
            </a:r>
            <a:r>
              <a:rPr lang="en-US" sz="2799" dirty="0" err="1">
                <a:solidFill>
                  <a:srgbClr val="FFFFFF"/>
                </a:solidFill>
                <a:latin typeface="Arimo"/>
                <a:ea typeface="Arimo"/>
                <a:cs typeface="Arimo"/>
                <a:sym typeface="Arimo"/>
              </a:rPr>
              <a:t>đặt</a:t>
            </a:r>
            <a:r>
              <a:rPr lang="en-US" sz="2799" dirty="0">
                <a:solidFill>
                  <a:srgbClr val="FFFFFF"/>
                </a:solidFill>
                <a:latin typeface="Arimo"/>
                <a:ea typeface="Arimo"/>
                <a:cs typeface="Arimo"/>
                <a:sym typeface="Arimo"/>
              </a:rPr>
              <a:t> </a:t>
            </a:r>
            <a:r>
              <a:rPr lang="en-US" sz="2799" dirty="0" err="1">
                <a:solidFill>
                  <a:srgbClr val="FFFFFF"/>
                </a:solidFill>
                <a:latin typeface="Arimo"/>
                <a:ea typeface="Arimo"/>
                <a:cs typeface="Arimo"/>
                <a:sym typeface="Arimo"/>
              </a:rPr>
              <a:t>trong</a:t>
            </a:r>
            <a:r>
              <a:rPr lang="en-US" sz="2799" dirty="0">
                <a:solidFill>
                  <a:srgbClr val="FFFFFF"/>
                </a:solidFill>
                <a:latin typeface="Arimo"/>
                <a:ea typeface="Arimo"/>
                <a:cs typeface="Arimo"/>
                <a:sym typeface="Arimo"/>
              </a:rPr>
              <a:t> </a:t>
            </a:r>
            <a:r>
              <a:rPr lang="en-US" sz="2799" dirty="0" err="1">
                <a:solidFill>
                  <a:srgbClr val="FFFFFF"/>
                </a:solidFill>
                <a:latin typeface="Arimo"/>
                <a:ea typeface="Arimo"/>
                <a:cs typeface="Arimo"/>
                <a:sym typeface="Arimo"/>
              </a:rPr>
              <a:t>vùng</a:t>
            </a:r>
            <a:r>
              <a:rPr lang="en-US" sz="2799" dirty="0">
                <a:solidFill>
                  <a:srgbClr val="FFFFFF"/>
                </a:solidFill>
                <a:latin typeface="Arimo"/>
                <a:ea typeface="Arimo"/>
                <a:cs typeface="Arimo"/>
                <a:sym typeface="Arimo"/>
              </a:rPr>
              <a:t> DMZ</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sp>
        <p:nvSpPr>
          <p:cNvPr id="6" name="TextBox 6"/>
          <p:cNvSpPr txBox="1"/>
          <p:nvPr/>
        </p:nvSpPr>
        <p:spPr>
          <a:xfrm>
            <a:off x="992238" y="3372888"/>
            <a:ext cx="14062767" cy="943127"/>
          </a:xfrm>
          <a:prstGeom prst="rect">
            <a:avLst/>
          </a:prstGeom>
        </p:spPr>
        <p:txBody>
          <a:bodyPr lIns="0" tIns="0" rIns="0" bIns="0" rtlCol="0" anchor="t">
            <a:spAutoFit/>
          </a:bodyPr>
          <a:lstStyle/>
          <a:p>
            <a:pPr algn="l">
              <a:lnSpc>
                <a:spcPts val="6937"/>
              </a:lnSpc>
            </a:pPr>
            <a:r>
              <a:rPr lang="en-US" sz="5562">
                <a:solidFill>
                  <a:srgbClr val="FBF3FA"/>
                </a:solidFill>
                <a:latin typeface="Arimo"/>
                <a:ea typeface="Arimo"/>
                <a:cs typeface="Arimo"/>
                <a:sym typeface="Arimo"/>
              </a:rPr>
              <a:t>Kỹ Thuật Vượt Firewall Của Hacker</a:t>
            </a:r>
          </a:p>
        </p:txBody>
      </p:sp>
      <p:sp>
        <p:nvSpPr>
          <p:cNvPr id="7" name="Freeform 7" descr="preencoded.png"/>
          <p:cNvSpPr/>
          <p:nvPr/>
        </p:nvSpPr>
        <p:spPr>
          <a:xfrm>
            <a:off x="992238" y="4883048"/>
            <a:ext cx="708717" cy="708717"/>
          </a:xfrm>
          <a:custGeom>
            <a:avLst/>
            <a:gdLst/>
            <a:ahLst/>
            <a:cxnLst/>
            <a:rect l="l" t="t" r="r" b="b"/>
            <a:pathLst>
              <a:path w="708717" h="708717">
                <a:moveTo>
                  <a:pt x="0" y="0"/>
                </a:moveTo>
                <a:lnTo>
                  <a:pt x="708717" y="0"/>
                </a:lnTo>
                <a:lnTo>
                  <a:pt x="708717" y="708718"/>
                </a:lnTo>
                <a:lnTo>
                  <a:pt x="0" y="708718"/>
                </a:lnTo>
                <a:lnTo>
                  <a:pt x="0" y="0"/>
                </a:lnTo>
                <a:close/>
              </a:path>
            </a:pathLst>
          </a:custGeom>
          <a:blipFill>
            <a:blip r:embed="rId2">
              <a:extLst>
                <a:ext uri="{96DAC541-7B7A-43D3-8B79-37D633B846F1}">
                  <asvg:svgBlip xmlns:asvg="http://schemas.microsoft.com/office/drawing/2016/SVG/main" r:embed="rId3"/>
                </a:ext>
              </a:extLst>
            </a:blip>
            <a:stretch>
              <a:fillRect l="-1999" r="-2001"/>
            </a:stretch>
          </a:blipFill>
        </p:spPr>
      </p:sp>
      <p:sp>
        <p:nvSpPr>
          <p:cNvPr id="8" name="TextBox 8"/>
          <p:cNvSpPr txBox="1"/>
          <p:nvPr/>
        </p:nvSpPr>
        <p:spPr>
          <a:xfrm>
            <a:off x="2055314" y="4835423"/>
            <a:ext cx="3330773"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Mưu hèn kế bẩn</a:t>
            </a:r>
          </a:p>
        </p:txBody>
      </p:sp>
      <p:sp>
        <p:nvSpPr>
          <p:cNvPr id="9" name="TextBox 9"/>
          <p:cNvSpPr txBox="1"/>
          <p:nvPr/>
        </p:nvSpPr>
        <p:spPr>
          <a:xfrm>
            <a:off x="2055314" y="5888888"/>
            <a:ext cx="6911426" cy="1572874"/>
          </a:xfrm>
          <a:prstGeom prst="rect">
            <a:avLst/>
          </a:prstGeom>
        </p:spPr>
        <p:txBody>
          <a:bodyPr lIns="0" tIns="0" rIns="0" bIns="0" rtlCol="0" anchor="t">
            <a:spAutoFit/>
          </a:bodyPr>
          <a:lstStyle/>
          <a:p>
            <a:pPr algn="l">
              <a:lnSpc>
                <a:spcPts val="4234"/>
              </a:lnSpc>
            </a:pPr>
            <a:r>
              <a:rPr lang="en-US" sz="2600">
                <a:solidFill>
                  <a:srgbClr val="E0D6DE"/>
                </a:solidFill>
                <a:latin typeface="Fira Sans"/>
                <a:ea typeface="Fira Sans"/>
                <a:cs typeface="Fira Sans"/>
                <a:sym typeface="Fira Sans"/>
              </a:rPr>
              <a:t>Tấn công từ bên trong. Gửi Email chứa Trojan cho nhân viên ở Trusted-Zone. Trojan sẽ tự động kết nối ra ngoài Internet.</a:t>
            </a:r>
          </a:p>
        </p:txBody>
      </p:sp>
      <p:sp>
        <p:nvSpPr>
          <p:cNvPr id="10" name="Freeform 10" descr="preencoded.png"/>
          <p:cNvSpPr/>
          <p:nvPr/>
        </p:nvSpPr>
        <p:spPr>
          <a:xfrm>
            <a:off x="9321108" y="4883048"/>
            <a:ext cx="708717" cy="708717"/>
          </a:xfrm>
          <a:custGeom>
            <a:avLst/>
            <a:gdLst/>
            <a:ahLst/>
            <a:cxnLst/>
            <a:rect l="l" t="t" r="r" b="b"/>
            <a:pathLst>
              <a:path w="708717" h="708717">
                <a:moveTo>
                  <a:pt x="0" y="0"/>
                </a:moveTo>
                <a:lnTo>
                  <a:pt x="708717" y="0"/>
                </a:lnTo>
                <a:lnTo>
                  <a:pt x="708717" y="708718"/>
                </a:lnTo>
                <a:lnTo>
                  <a:pt x="0" y="708718"/>
                </a:lnTo>
                <a:lnTo>
                  <a:pt x="0" y="0"/>
                </a:lnTo>
                <a:close/>
              </a:path>
            </a:pathLst>
          </a:custGeom>
          <a:blipFill>
            <a:blip r:embed="rId4">
              <a:extLst>
                <a:ext uri="{96DAC541-7B7A-43D3-8B79-37D633B846F1}">
                  <asvg:svgBlip xmlns:asvg="http://schemas.microsoft.com/office/drawing/2016/SVG/main" r:embed="rId5"/>
                </a:ext>
              </a:extLst>
            </a:blip>
            <a:stretch>
              <a:fillRect l="-1333" r="-1333"/>
            </a:stretch>
          </a:blipFill>
        </p:spPr>
      </p:sp>
      <p:sp>
        <p:nvSpPr>
          <p:cNvPr id="11" name="TextBox 11"/>
          <p:cNvSpPr txBox="1"/>
          <p:nvPr/>
        </p:nvSpPr>
        <p:spPr>
          <a:xfrm>
            <a:off x="10384184" y="4835423"/>
            <a:ext cx="5236704"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Tunneling - Bọc giao thức</a:t>
            </a:r>
          </a:p>
        </p:txBody>
      </p:sp>
      <p:sp>
        <p:nvSpPr>
          <p:cNvPr id="12" name="TextBox 12"/>
          <p:cNvSpPr txBox="1"/>
          <p:nvPr/>
        </p:nvSpPr>
        <p:spPr>
          <a:xfrm>
            <a:off x="10384184" y="5888888"/>
            <a:ext cx="6911578" cy="2106237"/>
          </a:xfrm>
          <a:prstGeom prst="rect">
            <a:avLst/>
          </a:prstGeom>
        </p:spPr>
        <p:txBody>
          <a:bodyPr lIns="0" tIns="0" rIns="0" bIns="0" rtlCol="0" anchor="t">
            <a:spAutoFit/>
          </a:bodyPr>
          <a:lstStyle/>
          <a:p>
            <a:pPr algn="l">
              <a:lnSpc>
                <a:spcPts val="4234"/>
              </a:lnSpc>
            </a:pPr>
            <a:r>
              <a:rPr lang="en-US" sz="2600">
                <a:solidFill>
                  <a:srgbClr val="E0D6DE"/>
                </a:solidFill>
                <a:latin typeface="Fira Sans"/>
                <a:ea typeface="Fira Sans"/>
                <a:cs typeface="Fira Sans"/>
                <a:sym typeface="Fira Sans"/>
              </a:rPr>
              <a:t>Firewall cấm các cổng điều khiển (như 3389). Hacker sẽ "bọc" kết nối cấm đó vào trong một giao thức hợp lệ (như SSH Port 22) để xuyên qua tường lửa.</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grpSp>
        <p:nvGrpSpPr>
          <p:cNvPr id="3" name="Group 3"/>
          <p:cNvGrpSpPr/>
          <p:nvPr/>
        </p:nvGrpSpPr>
        <p:grpSpPr>
          <a:xfrm>
            <a:off x="248385" y="-811391"/>
            <a:ext cx="18288000" cy="10287000"/>
            <a:chOff x="0" y="0"/>
            <a:chExt cx="24384000" cy="13716000"/>
          </a:xfrm>
        </p:grpSpPr>
        <p:sp>
          <p:nvSpPr>
            <p:cNvPr id="4" name="Freeform 4"/>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5" name="Group 5"/>
          <p:cNvGrpSpPr/>
          <p:nvPr/>
        </p:nvGrpSpPr>
        <p:grpSpPr>
          <a:xfrm>
            <a:off x="0" y="0"/>
            <a:ext cx="18288000" cy="10287000"/>
            <a:chOff x="0" y="0"/>
            <a:chExt cx="24384000" cy="13716000"/>
          </a:xfrm>
        </p:grpSpPr>
        <p:sp>
          <p:nvSpPr>
            <p:cNvPr id="6" name="Freeform 6"/>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grpSp>
        <p:nvGrpSpPr>
          <p:cNvPr id="7" name="Group 7"/>
          <p:cNvGrpSpPr/>
          <p:nvPr/>
        </p:nvGrpSpPr>
        <p:grpSpPr>
          <a:xfrm>
            <a:off x="10680718" y="3804289"/>
            <a:ext cx="6106268" cy="48675"/>
            <a:chOff x="0" y="0"/>
            <a:chExt cx="8141691" cy="64900"/>
          </a:xfrm>
        </p:grpSpPr>
        <p:sp>
          <p:nvSpPr>
            <p:cNvPr id="8" name="Freeform 8"/>
            <p:cNvSpPr/>
            <p:nvPr/>
          </p:nvSpPr>
          <p:spPr>
            <a:xfrm>
              <a:off x="0" y="0"/>
              <a:ext cx="8141716" cy="64913"/>
            </a:xfrm>
            <a:custGeom>
              <a:avLst/>
              <a:gdLst/>
              <a:ahLst/>
              <a:cxnLst/>
              <a:rect l="l" t="t" r="r" b="b"/>
              <a:pathLst>
                <a:path w="8141716" h="64913">
                  <a:moveTo>
                    <a:pt x="0" y="0"/>
                  </a:moveTo>
                  <a:lnTo>
                    <a:pt x="8141716" y="0"/>
                  </a:lnTo>
                  <a:lnTo>
                    <a:pt x="8141716" y="64913"/>
                  </a:lnTo>
                  <a:lnTo>
                    <a:pt x="0" y="64913"/>
                  </a:lnTo>
                  <a:close/>
                </a:path>
              </a:pathLst>
            </a:custGeom>
            <a:solidFill>
              <a:srgbClr val="E0D6DE">
                <a:alpha val="24706"/>
              </a:srgbClr>
            </a:solidFill>
          </p:spPr>
        </p:sp>
      </p:grpSp>
      <p:grpSp>
        <p:nvGrpSpPr>
          <p:cNvPr id="9" name="Group 9"/>
          <p:cNvGrpSpPr/>
          <p:nvPr/>
        </p:nvGrpSpPr>
        <p:grpSpPr>
          <a:xfrm>
            <a:off x="10680718" y="5594247"/>
            <a:ext cx="6106268" cy="47625"/>
            <a:chOff x="0" y="0"/>
            <a:chExt cx="8141691" cy="63500"/>
          </a:xfrm>
        </p:grpSpPr>
        <p:sp>
          <p:nvSpPr>
            <p:cNvPr id="10" name="Freeform 10"/>
            <p:cNvSpPr/>
            <p:nvPr/>
          </p:nvSpPr>
          <p:spPr>
            <a:xfrm>
              <a:off x="0" y="0"/>
              <a:ext cx="8141716" cy="63513"/>
            </a:xfrm>
            <a:custGeom>
              <a:avLst/>
              <a:gdLst/>
              <a:ahLst/>
              <a:cxnLst/>
              <a:rect l="l" t="t" r="r" b="b"/>
              <a:pathLst>
                <a:path w="8141716" h="63513">
                  <a:moveTo>
                    <a:pt x="0" y="0"/>
                  </a:moveTo>
                  <a:lnTo>
                    <a:pt x="8141716" y="0"/>
                  </a:lnTo>
                  <a:lnTo>
                    <a:pt x="8141716" y="63513"/>
                  </a:lnTo>
                  <a:lnTo>
                    <a:pt x="0" y="63513"/>
                  </a:lnTo>
                  <a:close/>
                </a:path>
              </a:pathLst>
            </a:custGeom>
            <a:solidFill>
              <a:srgbClr val="E0D6DE">
                <a:alpha val="24706"/>
              </a:srgbClr>
            </a:solidFill>
          </p:spPr>
        </p:sp>
      </p:grpSp>
      <p:grpSp>
        <p:nvGrpSpPr>
          <p:cNvPr id="11" name="Group 11"/>
          <p:cNvGrpSpPr/>
          <p:nvPr/>
        </p:nvGrpSpPr>
        <p:grpSpPr>
          <a:xfrm>
            <a:off x="568943" y="2123335"/>
            <a:ext cx="9317766" cy="7625057"/>
            <a:chOff x="0" y="0"/>
            <a:chExt cx="12423688" cy="10166742"/>
          </a:xfrm>
        </p:grpSpPr>
        <p:sp>
          <p:nvSpPr>
            <p:cNvPr id="12" name="Freeform 12"/>
            <p:cNvSpPr/>
            <p:nvPr/>
          </p:nvSpPr>
          <p:spPr>
            <a:xfrm>
              <a:off x="0" y="0"/>
              <a:ext cx="12423712" cy="10166818"/>
            </a:xfrm>
            <a:custGeom>
              <a:avLst/>
              <a:gdLst/>
              <a:ahLst/>
              <a:cxnLst/>
              <a:rect l="l" t="t" r="r" b="b"/>
              <a:pathLst>
                <a:path w="12423712" h="10166818">
                  <a:moveTo>
                    <a:pt x="0" y="354090"/>
                  </a:moveTo>
                  <a:cubicBezTo>
                    <a:pt x="0" y="158430"/>
                    <a:pt x="24899" y="0"/>
                    <a:pt x="55649" y="0"/>
                  </a:cubicBezTo>
                  <a:lnTo>
                    <a:pt x="12368064" y="0"/>
                  </a:lnTo>
                  <a:cubicBezTo>
                    <a:pt x="12398813" y="0"/>
                    <a:pt x="12423712" y="158430"/>
                    <a:pt x="12423712" y="354090"/>
                  </a:cubicBezTo>
                  <a:lnTo>
                    <a:pt x="12423712" y="9813127"/>
                  </a:lnTo>
                  <a:cubicBezTo>
                    <a:pt x="12423712" y="10008788"/>
                    <a:pt x="12398813" y="10166818"/>
                    <a:pt x="12368064" y="10166818"/>
                  </a:cubicBezTo>
                  <a:lnTo>
                    <a:pt x="55649" y="10166818"/>
                  </a:lnTo>
                  <a:cubicBezTo>
                    <a:pt x="24899" y="10166818"/>
                    <a:pt x="0" y="10008788"/>
                    <a:pt x="0" y="9813127"/>
                  </a:cubicBezTo>
                  <a:close/>
                </a:path>
              </a:pathLst>
            </a:custGeom>
            <a:solidFill>
              <a:srgbClr val="4D0038"/>
            </a:solidFill>
          </p:spPr>
        </p:sp>
      </p:grpSp>
      <p:grpSp>
        <p:nvGrpSpPr>
          <p:cNvPr id="13" name="Group 13"/>
          <p:cNvGrpSpPr/>
          <p:nvPr/>
        </p:nvGrpSpPr>
        <p:grpSpPr>
          <a:xfrm>
            <a:off x="1012610" y="2280066"/>
            <a:ext cx="442912" cy="354359"/>
            <a:chOff x="0" y="0"/>
            <a:chExt cx="590550" cy="472478"/>
          </a:xfrm>
        </p:grpSpPr>
        <p:sp>
          <p:nvSpPr>
            <p:cNvPr id="14" name="Freeform 14" descr="preencoded.png"/>
            <p:cNvSpPr/>
            <p:nvPr/>
          </p:nvSpPr>
          <p:spPr>
            <a:xfrm>
              <a:off x="0" y="0"/>
              <a:ext cx="590550" cy="472440"/>
            </a:xfrm>
            <a:custGeom>
              <a:avLst/>
              <a:gdLst/>
              <a:ahLst/>
              <a:cxnLst/>
              <a:rect l="l" t="t" r="r" b="b"/>
              <a:pathLst>
                <a:path w="590550" h="472440">
                  <a:moveTo>
                    <a:pt x="0" y="0"/>
                  </a:moveTo>
                  <a:lnTo>
                    <a:pt x="590550" y="0"/>
                  </a:lnTo>
                  <a:lnTo>
                    <a:pt x="590550" y="472440"/>
                  </a:lnTo>
                  <a:lnTo>
                    <a:pt x="0" y="472440"/>
                  </a:lnTo>
                  <a:lnTo>
                    <a:pt x="0" y="0"/>
                  </a:lnTo>
                  <a:close/>
                </a:path>
              </a:pathLst>
            </a:custGeom>
            <a:blipFill>
              <a:blip r:embed="rId3"/>
              <a:stretch>
                <a:fillRect l="-815" r="-815" b="-8"/>
              </a:stretch>
            </a:blipFill>
          </p:spPr>
        </p:sp>
      </p:grpSp>
      <p:sp>
        <p:nvSpPr>
          <p:cNvPr id="15" name="Freeform 15"/>
          <p:cNvSpPr/>
          <p:nvPr/>
        </p:nvSpPr>
        <p:spPr>
          <a:xfrm>
            <a:off x="1012610" y="2947153"/>
            <a:ext cx="8379775" cy="5977421"/>
          </a:xfrm>
          <a:custGeom>
            <a:avLst/>
            <a:gdLst/>
            <a:ahLst/>
            <a:cxnLst/>
            <a:rect l="l" t="t" r="r" b="b"/>
            <a:pathLst>
              <a:path w="8379775" h="5977421">
                <a:moveTo>
                  <a:pt x="0" y="0"/>
                </a:moveTo>
                <a:lnTo>
                  <a:pt x="8379775" y="0"/>
                </a:lnTo>
                <a:lnTo>
                  <a:pt x="8379775" y="5977421"/>
                </a:lnTo>
                <a:lnTo>
                  <a:pt x="0" y="5977421"/>
                </a:lnTo>
                <a:lnTo>
                  <a:pt x="0" y="0"/>
                </a:lnTo>
                <a:close/>
              </a:path>
            </a:pathLst>
          </a:custGeom>
          <a:blipFill>
            <a:blip r:embed="rId4"/>
            <a:stretch>
              <a:fillRect/>
            </a:stretch>
          </a:blipFill>
        </p:spPr>
      </p:sp>
      <p:sp>
        <p:nvSpPr>
          <p:cNvPr id="16" name="TextBox 16"/>
          <p:cNvSpPr txBox="1"/>
          <p:nvPr/>
        </p:nvSpPr>
        <p:spPr>
          <a:xfrm>
            <a:off x="764225" y="587197"/>
            <a:ext cx="13433971"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1. Xây Dựng Đường Hầm: Cài Đặt Cygwin</a:t>
            </a:r>
          </a:p>
        </p:txBody>
      </p:sp>
      <p:sp>
        <p:nvSpPr>
          <p:cNvPr id="17" name="TextBox 17"/>
          <p:cNvSpPr txBox="1"/>
          <p:nvPr/>
        </p:nvSpPr>
        <p:spPr>
          <a:xfrm>
            <a:off x="10680718" y="1976233"/>
            <a:ext cx="3460023" cy="577252"/>
          </a:xfrm>
          <a:prstGeom prst="rect">
            <a:avLst/>
          </a:prstGeom>
        </p:spPr>
        <p:txBody>
          <a:bodyPr lIns="0" tIns="0" rIns="0" bIns="0" rtlCol="0" anchor="t">
            <a:spAutoFit/>
          </a:bodyPr>
          <a:lstStyle/>
          <a:p>
            <a:pPr algn="l">
              <a:lnSpc>
                <a:spcPts val="4499"/>
              </a:lnSpc>
            </a:pPr>
            <a:r>
              <a:rPr lang="en-US" sz="3599">
                <a:solidFill>
                  <a:srgbClr val="FBF3FA"/>
                </a:solidFill>
                <a:latin typeface="Arimo"/>
                <a:ea typeface="Arimo"/>
                <a:cs typeface="Arimo"/>
                <a:sym typeface="Arimo"/>
              </a:rPr>
              <a:t>Mục tiêu</a:t>
            </a:r>
          </a:p>
        </p:txBody>
      </p:sp>
      <p:sp>
        <p:nvSpPr>
          <p:cNvPr id="18" name="TextBox 18"/>
          <p:cNvSpPr txBox="1"/>
          <p:nvPr/>
        </p:nvSpPr>
        <p:spPr>
          <a:xfrm>
            <a:off x="10680718" y="2638008"/>
            <a:ext cx="5144192" cy="942628"/>
          </a:xfrm>
          <a:prstGeom prst="rect">
            <a:avLst/>
          </a:prstGeom>
        </p:spPr>
        <p:txBody>
          <a:bodyPr lIns="0" tIns="0" rIns="0" bIns="0" rtlCol="0" anchor="t">
            <a:spAutoFit/>
          </a:bodyPr>
          <a:lstStyle/>
          <a:p>
            <a:pPr algn="l">
              <a:lnSpc>
                <a:spcPts val="3857"/>
              </a:lnSpc>
            </a:pPr>
            <a:r>
              <a:rPr lang="en-US" sz="2400">
                <a:solidFill>
                  <a:srgbClr val="E0D6DE"/>
                </a:solidFill>
                <a:latin typeface="Fira Sans"/>
                <a:ea typeface="Fira Sans"/>
                <a:cs typeface="Fira Sans"/>
                <a:sym typeface="Fira Sans"/>
              </a:rPr>
              <a:t>Dựng một SSH Server ngầm trên máy nạn nhân (Windows)</a:t>
            </a:r>
          </a:p>
        </p:txBody>
      </p:sp>
      <p:sp>
        <p:nvSpPr>
          <p:cNvPr id="19" name="TextBox 19"/>
          <p:cNvSpPr txBox="1"/>
          <p:nvPr/>
        </p:nvSpPr>
        <p:spPr>
          <a:xfrm>
            <a:off x="10680718" y="4072040"/>
            <a:ext cx="3918933" cy="577252"/>
          </a:xfrm>
          <a:prstGeom prst="rect">
            <a:avLst/>
          </a:prstGeom>
        </p:spPr>
        <p:txBody>
          <a:bodyPr lIns="0" tIns="0" rIns="0" bIns="0" rtlCol="0" anchor="t">
            <a:spAutoFit/>
          </a:bodyPr>
          <a:lstStyle/>
          <a:p>
            <a:pPr algn="l">
              <a:lnSpc>
                <a:spcPts val="4499"/>
              </a:lnSpc>
            </a:pPr>
            <a:r>
              <a:rPr lang="en-US" sz="3599">
                <a:solidFill>
                  <a:srgbClr val="FBF3FA"/>
                </a:solidFill>
                <a:latin typeface="Arimo"/>
                <a:ea typeface="Arimo"/>
                <a:cs typeface="Arimo"/>
                <a:sym typeface="Arimo"/>
              </a:rPr>
              <a:t>Giải pháp</a:t>
            </a:r>
          </a:p>
        </p:txBody>
      </p:sp>
      <p:sp>
        <p:nvSpPr>
          <p:cNvPr id="20" name="TextBox 20"/>
          <p:cNvSpPr txBox="1"/>
          <p:nvPr/>
        </p:nvSpPr>
        <p:spPr>
          <a:xfrm>
            <a:off x="10680718" y="4741314"/>
            <a:ext cx="6106268" cy="456891"/>
          </a:xfrm>
          <a:prstGeom prst="rect">
            <a:avLst/>
          </a:prstGeom>
        </p:spPr>
        <p:txBody>
          <a:bodyPr lIns="0" tIns="0" rIns="0" bIns="0" rtlCol="0" anchor="t">
            <a:spAutoFit/>
          </a:bodyPr>
          <a:lstStyle/>
          <a:p>
            <a:pPr algn="l">
              <a:lnSpc>
                <a:spcPts val="3857"/>
              </a:lnSpc>
            </a:pPr>
            <a:r>
              <a:rPr lang="en-US" sz="2399">
                <a:solidFill>
                  <a:srgbClr val="E0D6DE"/>
                </a:solidFill>
                <a:latin typeface="Fira Sans"/>
                <a:ea typeface="Fira Sans"/>
                <a:cs typeface="Fira Sans"/>
                <a:sym typeface="Fira Sans"/>
              </a:rPr>
              <a:t>Cài đặt phần mềm Cygwin</a:t>
            </a:r>
          </a:p>
        </p:txBody>
      </p:sp>
      <p:sp>
        <p:nvSpPr>
          <p:cNvPr id="21" name="TextBox 21"/>
          <p:cNvSpPr txBox="1"/>
          <p:nvPr/>
        </p:nvSpPr>
        <p:spPr>
          <a:xfrm>
            <a:off x="10680718" y="5803797"/>
            <a:ext cx="3816899" cy="577252"/>
          </a:xfrm>
          <a:prstGeom prst="rect">
            <a:avLst/>
          </a:prstGeom>
        </p:spPr>
        <p:txBody>
          <a:bodyPr lIns="0" tIns="0" rIns="0" bIns="0" rtlCol="0" anchor="t">
            <a:spAutoFit/>
          </a:bodyPr>
          <a:lstStyle/>
          <a:p>
            <a:pPr algn="l">
              <a:lnSpc>
                <a:spcPts val="4499"/>
              </a:lnSpc>
            </a:pPr>
            <a:r>
              <a:rPr lang="en-US" sz="3599">
                <a:solidFill>
                  <a:srgbClr val="FBF3FA"/>
                </a:solidFill>
                <a:latin typeface="Arimo"/>
                <a:ea typeface="Arimo"/>
                <a:cs typeface="Arimo"/>
                <a:sym typeface="Arimo"/>
              </a:rPr>
              <a:t>Tác dụng</a:t>
            </a:r>
          </a:p>
        </p:txBody>
      </p:sp>
      <p:sp>
        <p:nvSpPr>
          <p:cNvPr id="22" name="TextBox 22"/>
          <p:cNvSpPr txBox="1"/>
          <p:nvPr/>
        </p:nvSpPr>
        <p:spPr>
          <a:xfrm>
            <a:off x="10680718" y="6473071"/>
            <a:ext cx="6106268" cy="942629"/>
          </a:xfrm>
          <a:prstGeom prst="rect">
            <a:avLst/>
          </a:prstGeom>
        </p:spPr>
        <p:txBody>
          <a:bodyPr lIns="0" tIns="0" rIns="0" bIns="0" rtlCol="0" anchor="t">
            <a:spAutoFit/>
          </a:bodyPr>
          <a:lstStyle/>
          <a:p>
            <a:pPr algn="l">
              <a:lnSpc>
                <a:spcPts val="3857"/>
              </a:lnSpc>
            </a:pPr>
            <a:r>
              <a:rPr lang="en-US" sz="2399">
                <a:solidFill>
                  <a:srgbClr val="E0D6DE"/>
                </a:solidFill>
                <a:latin typeface="Fira Sans"/>
                <a:ea typeface="Fira Sans"/>
                <a:cs typeface="Fira Sans"/>
                <a:sym typeface="Fira Sans"/>
              </a:rPr>
              <a:t>Giả lập môi trường Linux ngay trên Windows để chạy dịch vụ cửa sau (Backdoor)</a:t>
            </a:r>
          </a:p>
        </p:txBody>
      </p:sp>
      <p:sp>
        <p:nvSpPr>
          <p:cNvPr id="23" name="TextBox 23"/>
          <p:cNvSpPr txBox="1"/>
          <p:nvPr/>
        </p:nvSpPr>
        <p:spPr>
          <a:xfrm>
            <a:off x="449818" y="9035871"/>
            <a:ext cx="9505359" cy="448908"/>
          </a:xfrm>
          <a:prstGeom prst="rect">
            <a:avLst/>
          </a:prstGeom>
        </p:spPr>
        <p:txBody>
          <a:bodyPr lIns="0" tIns="0" rIns="0" bIns="0" rtlCol="0" anchor="t">
            <a:spAutoFit/>
          </a:bodyPr>
          <a:lstStyle/>
          <a:p>
            <a:pPr algn="ctr">
              <a:lnSpc>
                <a:spcPts val="3499"/>
              </a:lnSpc>
              <a:spcBef>
                <a:spcPct val="0"/>
              </a:spcBef>
            </a:pPr>
            <a:r>
              <a:rPr lang="en-US" sz="2799">
                <a:solidFill>
                  <a:srgbClr val="FFFFFF"/>
                </a:solidFill>
                <a:latin typeface="Arimo"/>
                <a:ea typeface="Arimo"/>
                <a:cs typeface="Arimo"/>
                <a:sym typeface="Arimo"/>
              </a:rPr>
              <a:t> Quá trình cài đặt từ http://cygwin.com</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1614" y="-1159535"/>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grpSp>
        <p:nvGrpSpPr>
          <p:cNvPr id="6" name="Group 6"/>
          <p:cNvGrpSpPr/>
          <p:nvPr/>
        </p:nvGrpSpPr>
        <p:grpSpPr>
          <a:xfrm>
            <a:off x="8009339" y="1904921"/>
            <a:ext cx="9505359" cy="8167612"/>
            <a:chOff x="0" y="0"/>
            <a:chExt cx="12673813" cy="10890150"/>
          </a:xfrm>
        </p:grpSpPr>
        <p:sp>
          <p:nvSpPr>
            <p:cNvPr id="7" name="Freeform 7"/>
            <p:cNvSpPr/>
            <p:nvPr/>
          </p:nvSpPr>
          <p:spPr>
            <a:xfrm>
              <a:off x="0" y="0"/>
              <a:ext cx="12673837" cy="10890226"/>
            </a:xfrm>
            <a:custGeom>
              <a:avLst/>
              <a:gdLst/>
              <a:ahLst/>
              <a:cxnLst/>
              <a:rect l="l" t="t" r="r" b="b"/>
              <a:pathLst>
                <a:path w="12673837" h="10890226">
                  <a:moveTo>
                    <a:pt x="0" y="379285"/>
                  </a:moveTo>
                  <a:cubicBezTo>
                    <a:pt x="0" y="169703"/>
                    <a:pt x="25400" y="0"/>
                    <a:pt x="56769" y="0"/>
                  </a:cubicBezTo>
                  <a:lnTo>
                    <a:pt x="12617069" y="0"/>
                  </a:lnTo>
                  <a:cubicBezTo>
                    <a:pt x="12648437" y="0"/>
                    <a:pt x="12673837" y="169703"/>
                    <a:pt x="12673837" y="379285"/>
                  </a:cubicBezTo>
                  <a:lnTo>
                    <a:pt x="12673837" y="10511374"/>
                  </a:lnTo>
                  <a:cubicBezTo>
                    <a:pt x="12673837" y="10720956"/>
                    <a:pt x="12648437" y="10890226"/>
                    <a:pt x="12617069" y="10890226"/>
                  </a:cubicBezTo>
                  <a:lnTo>
                    <a:pt x="56769" y="10890226"/>
                  </a:lnTo>
                  <a:cubicBezTo>
                    <a:pt x="25400" y="10890226"/>
                    <a:pt x="0" y="10720956"/>
                    <a:pt x="0" y="10511374"/>
                  </a:cubicBezTo>
                  <a:close/>
                </a:path>
              </a:pathLst>
            </a:custGeom>
            <a:solidFill>
              <a:srgbClr val="4D0038"/>
            </a:solidFill>
          </p:spPr>
        </p:sp>
      </p:grpSp>
      <p:grpSp>
        <p:nvGrpSpPr>
          <p:cNvPr id="8" name="Group 8"/>
          <p:cNvGrpSpPr/>
          <p:nvPr/>
        </p:nvGrpSpPr>
        <p:grpSpPr>
          <a:xfrm>
            <a:off x="8179704" y="2156284"/>
            <a:ext cx="442912" cy="354359"/>
            <a:chOff x="0" y="0"/>
            <a:chExt cx="590550" cy="472478"/>
          </a:xfrm>
        </p:grpSpPr>
        <p:sp>
          <p:nvSpPr>
            <p:cNvPr id="9" name="Freeform 9" descr="preencoded.png"/>
            <p:cNvSpPr/>
            <p:nvPr/>
          </p:nvSpPr>
          <p:spPr>
            <a:xfrm>
              <a:off x="0" y="0"/>
              <a:ext cx="590550" cy="472440"/>
            </a:xfrm>
            <a:custGeom>
              <a:avLst/>
              <a:gdLst/>
              <a:ahLst/>
              <a:cxnLst/>
              <a:rect l="l" t="t" r="r" b="b"/>
              <a:pathLst>
                <a:path w="590550" h="472440">
                  <a:moveTo>
                    <a:pt x="0" y="0"/>
                  </a:moveTo>
                  <a:lnTo>
                    <a:pt x="590550" y="0"/>
                  </a:lnTo>
                  <a:lnTo>
                    <a:pt x="590550" y="472440"/>
                  </a:lnTo>
                  <a:lnTo>
                    <a:pt x="0" y="472440"/>
                  </a:lnTo>
                  <a:lnTo>
                    <a:pt x="0" y="0"/>
                  </a:lnTo>
                  <a:close/>
                </a:path>
              </a:pathLst>
            </a:custGeom>
            <a:blipFill>
              <a:blip r:embed="rId2"/>
              <a:stretch>
                <a:fillRect l="-815" r="-815" b="-8"/>
              </a:stretch>
            </a:blipFill>
          </p:spPr>
        </p:sp>
      </p:grpSp>
      <p:sp>
        <p:nvSpPr>
          <p:cNvPr id="10" name="Freeform 10"/>
          <p:cNvSpPr/>
          <p:nvPr/>
        </p:nvSpPr>
        <p:spPr>
          <a:xfrm>
            <a:off x="8275427" y="2643729"/>
            <a:ext cx="8721718" cy="6733166"/>
          </a:xfrm>
          <a:custGeom>
            <a:avLst/>
            <a:gdLst/>
            <a:ahLst/>
            <a:cxnLst/>
            <a:rect l="l" t="t" r="r" b="b"/>
            <a:pathLst>
              <a:path w="8721718" h="6733166">
                <a:moveTo>
                  <a:pt x="0" y="0"/>
                </a:moveTo>
                <a:lnTo>
                  <a:pt x="8721718" y="0"/>
                </a:lnTo>
                <a:lnTo>
                  <a:pt x="8721718" y="6733166"/>
                </a:lnTo>
                <a:lnTo>
                  <a:pt x="0" y="6733166"/>
                </a:lnTo>
                <a:lnTo>
                  <a:pt x="0" y="0"/>
                </a:lnTo>
                <a:close/>
              </a:path>
            </a:pathLst>
          </a:custGeom>
          <a:blipFill>
            <a:blip r:embed="rId3"/>
            <a:stretch>
              <a:fillRect/>
            </a:stretch>
          </a:blipFill>
        </p:spPr>
      </p:sp>
      <p:sp>
        <p:nvSpPr>
          <p:cNvPr id="11" name="TextBox 11"/>
          <p:cNvSpPr txBox="1"/>
          <p:nvPr/>
        </p:nvSpPr>
        <p:spPr>
          <a:xfrm>
            <a:off x="1173852" y="681619"/>
            <a:ext cx="10074734"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2. Lựa Chọn Package Mở Rộng</a:t>
            </a:r>
          </a:p>
        </p:txBody>
      </p:sp>
      <p:sp>
        <p:nvSpPr>
          <p:cNvPr id="12" name="TextBox 12"/>
          <p:cNvSpPr txBox="1"/>
          <p:nvPr/>
        </p:nvSpPr>
        <p:spPr>
          <a:xfrm>
            <a:off x="1173852" y="2108659"/>
            <a:ext cx="6665080" cy="1167765"/>
          </a:xfrm>
          <a:prstGeom prst="rect">
            <a:avLst/>
          </a:prstGeom>
        </p:spPr>
        <p:txBody>
          <a:bodyPr lIns="0" tIns="0" rIns="0" bIns="0" rtlCol="0" anchor="t">
            <a:spAutoFit/>
          </a:bodyPr>
          <a:lstStyle/>
          <a:p>
            <a:pPr algn="l">
              <a:lnSpc>
                <a:spcPts val="4500"/>
              </a:lnSpc>
            </a:pPr>
            <a:r>
              <a:rPr lang="en-US" sz="3600" dirty="0" err="1">
                <a:solidFill>
                  <a:srgbClr val="FBF3FA"/>
                </a:solidFill>
                <a:latin typeface="Arimo"/>
                <a:ea typeface="Arimo"/>
                <a:cs typeface="Arimo"/>
                <a:sym typeface="Arimo"/>
              </a:rPr>
              <a:t>Tại</a:t>
            </a:r>
            <a:r>
              <a:rPr lang="en-US" sz="3600" dirty="0">
                <a:solidFill>
                  <a:srgbClr val="FBF3FA"/>
                </a:solidFill>
                <a:latin typeface="Arimo"/>
                <a:ea typeface="Arimo"/>
                <a:cs typeface="Arimo"/>
                <a:sym typeface="Arimo"/>
              </a:rPr>
              <a:t> </a:t>
            </a:r>
            <a:r>
              <a:rPr lang="en-US" sz="3600" dirty="0" err="1">
                <a:solidFill>
                  <a:srgbClr val="FBF3FA"/>
                </a:solidFill>
                <a:latin typeface="Arimo"/>
                <a:ea typeface="Arimo"/>
                <a:cs typeface="Arimo"/>
                <a:sym typeface="Arimo"/>
              </a:rPr>
              <a:t>bước</a:t>
            </a:r>
            <a:r>
              <a:rPr lang="en-US" sz="3600" dirty="0">
                <a:solidFill>
                  <a:srgbClr val="FBF3FA"/>
                </a:solidFill>
                <a:latin typeface="Arimo"/>
                <a:ea typeface="Arimo"/>
                <a:cs typeface="Arimo"/>
                <a:sym typeface="Arimo"/>
              </a:rPr>
              <a:t> "Select Packages" </a:t>
            </a:r>
            <a:r>
              <a:rPr lang="en-US" sz="3600" dirty="0" err="1">
                <a:solidFill>
                  <a:srgbClr val="FBF3FA"/>
                </a:solidFill>
                <a:latin typeface="Arimo"/>
                <a:ea typeface="Arimo"/>
                <a:cs typeface="Arimo"/>
                <a:sym typeface="Arimo"/>
              </a:rPr>
              <a:t>của</a:t>
            </a:r>
            <a:r>
              <a:rPr lang="en-US" sz="3600" dirty="0">
                <a:solidFill>
                  <a:srgbClr val="FBF3FA"/>
                </a:solidFill>
                <a:latin typeface="Arimo"/>
                <a:ea typeface="Arimo"/>
                <a:cs typeface="Arimo"/>
                <a:sym typeface="Arimo"/>
              </a:rPr>
              <a:t> Cygwin</a:t>
            </a:r>
          </a:p>
        </p:txBody>
      </p:sp>
      <p:sp>
        <p:nvSpPr>
          <p:cNvPr id="13" name="TextBox 13"/>
          <p:cNvSpPr txBox="1"/>
          <p:nvPr/>
        </p:nvSpPr>
        <p:spPr>
          <a:xfrm>
            <a:off x="1173852" y="3659162"/>
            <a:ext cx="6539347" cy="900323"/>
          </a:xfrm>
          <a:prstGeom prst="rect">
            <a:avLst/>
          </a:prstGeom>
        </p:spPr>
        <p:txBody>
          <a:bodyPr lIns="0" tIns="0" rIns="0" bIns="0" rtlCol="0" anchor="t">
            <a:spAutoFit/>
          </a:bodyPr>
          <a:lstStyle/>
          <a:p>
            <a:pPr algn="l">
              <a:lnSpc>
                <a:spcPts val="3696"/>
              </a:lnSpc>
            </a:pPr>
            <a:r>
              <a:rPr lang="en-US" sz="2299" dirty="0" err="1">
                <a:solidFill>
                  <a:srgbClr val="E0D6DE"/>
                </a:solidFill>
                <a:latin typeface="Fira Sans"/>
                <a:ea typeface="Fira Sans"/>
                <a:cs typeface="Fira Sans"/>
                <a:sym typeface="Fira Sans"/>
              </a:rPr>
              <a:t>Tại</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bước</a:t>
            </a:r>
            <a:r>
              <a:rPr lang="en-US" sz="2299" dirty="0">
                <a:solidFill>
                  <a:srgbClr val="E0D6DE"/>
                </a:solidFill>
                <a:latin typeface="Fira Sans"/>
                <a:ea typeface="Fira Sans"/>
                <a:cs typeface="Fira Sans"/>
                <a:sym typeface="Fira Sans"/>
              </a:rPr>
              <a:t> "Select Packages" </a:t>
            </a:r>
            <a:r>
              <a:rPr lang="en-US" sz="2299" dirty="0" err="1">
                <a:solidFill>
                  <a:srgbClr val="E0D6DE"/>
                </a:solidFill>
                <a:latin typeface="Fira Sans"/>
                <a:ea typeface="Fira Sans"/>
                <a:cs typeface="Fira Sans"/>
                <a:sym typeface="Fira Sans"/>
              </a:rPr>
              <a:t>của</a:t>
            </a:r>
            <a:r>
              <a:rPr lang="en-US" sz="2299" dirty="0">
                <a:solidFill>
                  <a:srgbClr val="E0D6DE"/>
                </a:solidFill>
                <a:latin typeface="Fira Sans"/>
                <a:ea typeface="Fira Sans"/>
                <a:cs typeface="Fira Sans"/>
                <a:sym typeface="Fira Sans"/>
              </a:rPr>
              <a:t> Cygwin, </a:t>
            </a:r>
            <a:r>
              <a:rPr lang="en-US" sz="2299" dirty="0" err="1">
                <a:solidFill>
                  <a:srgbClr val="E0D6DE"/>
                </a:solidFill>
                <a:latin typeface="Fira Sans"/>
                <a:ea typeface="Fira Sans"/>
                <a:cs typeface="Fira Sans"/>
                <a:sym typeface="Fira Sans"/>
              </a:rPr>
              <a:t>cấu</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hình</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gói</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dịch</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vụ</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là</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khâu</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quan</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trọng</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nhất</a:t>
            </a:r>
            <a:endParaRPr lang="en-US" sz="2299" dirty="0">
              <a:solidFill>
                <a:srgbClr val="E0D6DE"/>
              </a:solidFill>
              <a:latin typeface="Fira Sans"/>
              <a:ea typeface="Fira Sans"/>
              <a:cs typeface="Fira Sans"/>
              <a:sym typeface="Fira Sans"/>
            </a:endParaRPr>
          </a:p>
        </p:txBody>
      </p:sp>
      <p:sp>
        <p:nvSpPr>
          <p:cNvPr id="14" name="TextBox 14"/>
          <p:cNvSpPr txBox="1"/>
          <p:nvPr/>
        </p:nvSpPr>
        <p:spPr>
          <a:xfrm>
            <a:off x="1173852" y="4980323"/>
            <a:ext cx="2491197" cy="596265"/>
          </a:xfrm>
          <a:prstGeom prst="rect">
            <a:avLst/>
          </a:prstGeom>
        </p:spPr>
        <p:txBody>
          <a:bodyPr lIns="0" tIns="0" rIns="0" bIns="0" rtlCol="0" anchor="t">
            <a:spAutoFit/>
          </a:bodyPr>
          <a:lstStyle/>
          <a:p>
            <a:pPr algn="l">
              <a:lnSpc>
                <a:spcPts val="4500"/>
              </a:lnSpc>
            </a:pPr>
            <a:r>
              <a:rPr lang="en-US" sz="3600" dirty="0" err="1">
                <a:solidFill>
                  <a:srgbClr val="FBF3FA"/>
                </a:solidFill>
                <a:latin typeface="Arimo"/>
                <a:ea typeface="Arimo"/>
                <a:cs typeface="Arimo"/>
                <a:sym typeface="Arimo"/>
              </a:rPr>
              <a:t>Lõi</a:t>
            </a:r>
            <a:r>
              <a:rPr lang="en-US" sz="3600" dirty="0">
                <a:solidFill>
                  <a:srgbClr val="FBF3FA"/>
                </a:solidFill>
                <a:latin typeface="Arimo"/>
                <a:ea typeface="Arimo"/>
                <a:cs typeface="Arimo"/>
                <a:sym typeface="Arimo"/>
              </a:rPr>
              <a:t> </a:t>
            </a:r>
            <a:r>
              <a:rPr lang="en-US" sz="3600" dirty="0" err="1">
                <a:solidFill>
                  <a:srgbClr val="FBF3FA"/>
                </a:solidFill>
                <a:latin typeface="Arimo"/>
                <a:ea typeface="Arimo"/>
                <a:cs typeface="Arimo"/>
                <a:sym typeface="Arimo"/>
              </a:rPr>
              <a:t>bắt</a:t>
            </a:r>
            <a:r>
              <a:rPr lang="en-US" sz="3600" dirty="0">
                <a:solidFill>
                  <a:srgbClr val="FBF3FA"/>
                </a:solidFill>
                <a:latin typeface="Arimo"/>
                <a:ea typeface="Arimo"/>
                <a:cs typeface="Arimo"/>
                <a:sym typeface="Arimo"/>
              </a:rPr>
              <a:t> </a:t>
            </a:r>
            <a:r>
              <a:rPr lang="en-US" sz="3600" dirty="0" err="1">
                <a:solidFill>
                  <a:srgbClr val="FBF3FA"/>
                </a:solidFill>
                <a:latin typeface="Arimo"/>
                <a:ea typeface="Arimo"/>
                <a:cs typeface="Arimo"/>
                <a:sym typeface="Arimo"/>
              </a:rPr>
              <a:t>buộc</a:t>
            </a:r>
            <a:endParaRPr lang="en-US" sz="3600" dirty="0">
              <a:solidFill>
                <a:srgbClr val="FBF3FA"/>
              </a:solidFill>
              <a:latin typeface="Arimo"/>
              <a:ea typeface="Arimo"/>
              <a:cs typeface="Arimo"/>
              <a:sym typeface="Arimo"/>
            </a:endParaRPr>
          </a:p>
        </p:txBody>
      </p:sp>
      <p:sp>
        <p:nvSpPr>
          <p:cNvPr id="15" name="TextBox 15"/>
          <p:cNvSpPr txBox="1"/>
          <p:nvPr/>
        </p:nvSpPr>
        <p:spPr>
          <a:xfrm>
            <a:off x="1173852" y="5903002"/>
            <a:ext cx="6539347" cy="433561"/>
          </a:xfrm>
          <a:prstGeom prst="rect">
            <a:avLst/>
          </a:prstGeom>
        </p:spPr>
        <p:txBody>
          <a:bodyPr lIns="0" tIns="0" rIns="0" bIns="0" rtlCol="0" anchor="t">
            <a:spAutoFit/>
          </a:bodyPr>
          <a:lstStyle/>
          <a:p>
            <a:pPr algn="l">
              <a:lnSpc>
                <a:spcPts val="3696"/>
              </a:lnSpc>
            </a:pPr>
            <a:r>
              <a:rPr lang="en-US" sz="2299" dirty="0" err="1">
                <a:solidFill>
                  <a:srgbClr val="E0D6DE"/>
                </a:solidFill>
                <a:latin typeface="Fira Sans"/>
                <a:ea typeface="Fira Sans"/>
                <a:cs typeface="Fira Sans"/>
                <a:sym typeface="Fira Sans"/>
              </a:rPr>
              <a:t>Bắt</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buộc</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chọn</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cài</a:t>
            </a:r>
            <a:r>
              <a:rPr lang="en-US" sz="2299" dirty="0">
                <a:solidFill>
                  <a:srgbClr val="E0D6DE"/>
                </a:solidFill>
                <a:latin typeface="Fira Sans"/>
                <a:ea typeface="Fira Sans"/>
                <a:cs typeface="Fira Sans"/>
                <a:sym typeface="Fira Sans"/>
              </a:rPr>
              <a:t> 2 </a:t>
            </a:r>
            <a:r>
              <a:rPr lang="en-US" sz="2299" dirty="0" err="1">
                <a:solidFill>
                  <a:srgbClr val="E0D6DE"/>
                </a:solidFill>
                <a:latin typeface="Fira Sans"/>
                <a:ea typeface="Fira Sans"/>
                <a:cs typeface="Fira Sans"/>
                <a:sym typeface="Fira Sans"/>
              </a:rPr>
              <a:t>lõi</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openssh</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và</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openssl</a:t>
            </a:r>
            <a:endParaRPr lang="en-US" sz="2299" dirty="0">
              <a:solidFill>
                <a:srgbClr val="E0D6DE"/>
              </a:solidFill>
              <a:latin typeface="Fira Sans"/>
              <a:ea typeface="Fira Sans"/>
              <a:cs typeface="Fira Sans"/>
              <a:sym typeface="Fira Sans"/>
            </a:endParaRPr>
          </a:p>
        </p:txBody>
      </p:sp>
      <p:sp>
        <p:nvSpPr>
          <p:cNvPr id="16" name="TextBox 16"/>
          <p:cNvSpPr txBox="1"/>
          <p:nvPr/>
        </p:nvSpPr>
        <p:spPr>
          <a:xfrm>
            <a:off x="1173852" y="7095151"/>
            <a:ext cx="1854957" cy="596265"/>
          </a:xfrm>
          <a:prstGeom prst="rect">
            <a:avLst/>
          </a:prstGeom>
        </p:spPr>
        <p:txBody>
          <a:bodyPr lIns="0" tIns="0" rIns="0" bIns="0" rtlCol="0" anchor="t">
            <a:spAutoFit/>
          </a:bodyPr>
          <a:lstStyle/>
          <a:p>
            <a:pPr algn="l">
              <a:lnSpc>
                <a:spcPts val="4500"/>
              </a:lnSpc>
            </a:pPr>
            <a:r>
              <a:rPr lang="en-US" sz="3600" dirty="0" err="1">
                <a:solidFill>
                  <a:srgbClr val="FBF3FA"/>
                </a:solidFill>
                <a:latin typeface="Arimo"/>
                <a:ea typeface="Arimo"/>
                <a:cs typeface="Arimo"/>
                <a:sym typeface="Arimo"/>
              </a:rPr>
              <a:t>Mục</a:t>
            </a:r>
            <a:r>
              <a:rPr lang="en-US" sz="3600" dirty="0">
                <a:solidFill>
                  <a:srgbClr val="FBF3FA"/>
                </a:solidFill>
                <a:latin typeface="Arimo"/>
                <a:ea typeface="Arimo"/>
                <a:cs typeface="Arimo"/>
                <a:sym typeface="Arimo"/>
              </a:rPr>
              <a:t> </a:t>
            </a:r>
            <a:r>
              <a:rPr lang="en-US" sz="3600" dirty="0" err="1">
                <a:solidFill>
                  <a:srgbClr val="FBF3FA"/>
                </a:solidFill>
                <a:latin typeface="Arimo"/>
                <a:ea typeface="Arimo"/>
                <a:cs typeface="Arimo"/>
                <a:sym typeface="Arimo"/>
              </a:rPr>
              <a:t>đích</a:t>
            </a:r>
            <a:endParaRPr lang="en-US" sz="3600" dirty="0">
              <a:solidFill>
                <a:srgbClr val="FBF3FA"/>
              </a:solidFill>
              <a:latin typeface="Arimo"/>
              <a:ea typeface="Arimo"/>
              <a:cs typeface="Arimo"/>
              <a:sym typeface="Arimo"/>
            </a:endParaRPr>
          </a:p>
        </p:txBody>
      </p:sp>
      <p:sp>
        <p:nvSpPr>
          <p:cNvPr id="17" name="TextBox 17"/>
          <p:cNvSpPr txBox="1"/>
          <p:nvPr/>
        </p:nvSpPr>
        <p:spPr>
          <a:xfrm>
            <a:off x="1173852" y="8015266"/>
            <a:ext cx="6539347" cy="900323"/>
          </a:xfrm>
          <a:prstGeom prst="rect">
            <a:avLst/>
          </a:prstGeom>
        </p:spPr>
        <p:txBody>
          <a:bodyPr lIns="0" tIns="0" rIns="0" bIns="0" rtlCol="0" anchor="t">
            <a:spAutoFit/>
          </a:bodyPr>
          <a:lstStyle/>
          <a:p>
            <a:pPr algn="l">
              <a:lnSpc>
                <a:spcPts val="3696"/>
              </a:lnSpc>
            </a:pPr>
            <a:r>
              <a:rPr lang="en-US" sz="2299" dirty="0" err="1">
                <a:solidFill>
                  <a:srgbClr val="E0D6DE"/>
                </a:solidFill>
                <a:latin typeface="Fira Sans"/>
                <a:ea typeface="Fira Sans"/>
                <a:cs typeface="Fira Sans"/>
                <a:sym typeface="Fira Sans"/>
              </a:rPr>
              <a:t>Đây</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chính</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là</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lõi</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để</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tạo</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ra</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đường</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hầm</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bí</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mật</a:t>
            </a:r>
            <a:r>
              <a:rPr lang="en-US" sz="2299" dirty="0">
                <a:solidFill>
                  <a:srgbClr val="E0D6DE"/>
                </a:solidFill>
                <a:latin typeface="Fira Sans"/>
                <a:ea typeface="Fira Sans"/>
                <a:cs typeface="Fira Sans"/>
                <a:sym typeface="Fira Sans"/>
              </a:rPr>
              <a:t> </a:t>
            </a:r>
            <a:r>
              <a:rPr lang="en-US" sz="2299" dirty="0" err="1">
                <a:solidFill>
                  <a:srgbClr val="E0D6DE"/>
                </a:solidFill>
                <a:latin typeface="Fira Sans"/>
                <a:ea typeface="Fira Sans"/>
                <a:cs typeface="Fira Sans"/>
                <a:sym typeface="Fira Sans"/>
              </a:rPr>
              <a:t>xuyên</a:t>
            </a:r>
            <a:r>
              <a:rPr lang="en-US" sz="2299" dirty="0">
                <a:solidFill>
                  <a:srgbClr val="E0D6DE"/>
                </a:solidFill>
                <a:latin typeface="Fira Sans"/>
                <a:ea typeface="Fira Sans"/>
                <a:cs typeface="Fira Sans"/>
                <a:sym typeface="Fira Sans"/>
              </a:rPr>
              <a:t> Firewall</a:t>
            </a:r>
          </a:p>
        </p:txBody>
      </p:sp>
      <p:sp>
        <p:nvSpPr>
          <p:cNvPr id="18" name="TextBox 18"/>
          <p:cNvSpPr txBox="1"/>
          <p:nvPr/>
        </p:nvSpPr>
        <p:spPr>
          <a:xfrm>
            <a:off x="10625869" y="9605381"/>
            <a:ext cx="4918931" cy="418320"/>
          </a:xfrm>
          <a:prstGeom prst="rect">
            <a:avLst/>
          </a:prstGeom>
        </p:spPr>
        <p:txBody>
          <a:bodyPr wrap="square" lIns="0" tIns="0" rIns="0" bIns="0" rtlCol="0" anchor="t">
            <a:spAutoFit/>
          </a:bodyPr>
          <a:lstStyle/>
          <a:p>
            <a:pPr algn="l">
              <a:lnSpc>
                <a:spcPts val="3499"/>
              </a:lnSpc>
            </a:pPr>
            <a:r>
              <a:rPr lang="en-US" sz="2799" dirty="0" err="1">
                <a:solidFill>
                  <a:srgbClr val="FFFFFF"/>
                </a:solidFill>
                <a:latin typeface="Arimo"/>
                <a:ea typeface="Arimo"/>
                <a:cs typeface="Arimo"/>
                <a:sym typeface="Arimo"/>
              </a:rPr>
              <a:t>Chọn</a:t>
            </a:r>
            <a:r>
              <a:rPr lang="en-US" sz="2799" dirty="0">
                <a:solidFill>
                  <a:srgbClr val="FFFFFF"/>
                </a:solidFill>
                <a:latin typeface="Arimo"/>
                <a:ea typeface="Arimo"/>
                <a:cs typeface="Arimo"/>
                <a:sym typeface="Arimo"/>
              </a:rPr>
              <a:t> </a:t>
            </a:r>
            <a:r>
              <a:rPr lang="en-US" sz="2799" dirty="0" err="1">
                <a:solidFill>
                  <a:srgbClr val="FFFFFF"/>
                </a:solidFill>
                <a:latin typeface="Arimo"/>
                <a:ea typeface="Arimo"/>
                <a:cs typeface="Arimo"/>
                <a:sym typeface="Arimo"/>
              </a:rPr>
              <a:t>các</a:t>
            </a:r>
            <a:r>
              <a:rPr lang="en-US" sz="2799" dirty="0">
                <a:solidFill>
                  <a:srgbClr val="FFFFFF"/>
                </a:solidFill>
                <a:latin typeface="Arimo"/>
                <a:ea typeface="Arimo"/>
                <a:cs typeface="Arimo"/>
                <a:sym typeface="Arimo"/>
              </a:rPr>
              <a:t> package </a:t>
            </a:r>
            <a:r>
              <a:rPr lang="en-US" sz="2799" dirty="0" err="1">
                <a:solidFill>
                  <a:srgbClr val="FFFFFF"/>
                </a:solidFill>
                <a:latin typeface="Arimo"/>
                <a:ea typeface="Arimo"/>
                <a:cs typeface="Arimo"/>
                <a:sym typeface="Arimo"/>
              </a:rPr>
              <a:t>để</a:t>
            </a:r>
            <a:r>
              <a:rPr lang="en-US" sz="2799" dirty="0">
                <a:solidFill>
                  <a:srgbClr val="FFFFFF"/>
                </a:solidFill>
                <a:latin typeface="Arimo"/>
                <a:ea typeface="Arimo"/>
                <a:cs typeface="Arimo"/>
                <a:sym typeface="Arimo"/>
              </a:rPr>
              <a:t> </a:t>
            </a:r>
            <a:r>
              <a:rPr lang="en-US" sz="2799" dirty="0" err="1">
                <a:solidFill>
                  <a:srgbClr val="FFFFFF"/>
                </a:solidFill>
                <a:latin typeface="Arimo"/>
                <a:ea typeface="Arimo"/>
                <a:cs typeface="Arimo"/>
                <a:sym typeface="Arimo"/>
              </a:rPr>
              <a:t>cài</a:t>
            </a:r>
            <a:r>
              <a:rPr lang="en-US" sz="2799" dirty="0">
                <a:solidFill>
                  <a:srgbClr val="FFFFFF"/>
                </a:solidFill>
                <a:latin typeface="Arimo"/>
                <a:ea typeface="Arimo"/>
                <a:cs typeface="Arimo"/>
                <a:sym typeface="Arimo"/>
              </a:rPr>
              <a:t> </a:t>
            </a:r>
            <a:r>
              <a:rPr lang="en-US" sz="2799" dirty="0" err="1">
                <a:solidFill>
                  <a:srgbClr val="FFFFFF"/>
                </a:solidFill>
                <a:latin typeface="Arimo"/>
                <a:ea typeface="Arimo"/>
                <a:cs typeface="Arimo"/>
                <a:sym typeface="Arimo"/>
              </a:rPr>
              <a:t>đặt</a:t>
            </a:r>
            <a:endParaRPr lang="en-US" sz="2799" dirty="0">
              <a:solidFill>
                <a:srgbClr val="FFFFFF"/>
              </a:solidFill>
              <a:latin typeface="Arimo"/>
              <a:ea typeface="Arimo"/>
              <a:cs typeface="Arimo"/>
              <a:sym typeface="Arim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095545"/>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grpSp>
        <p:nvGrpSpPr>
          <p:cNvPr id="6" name="Group 6"/>
          <p:cNvGrpSpPr/>
          <p:nvPr/>
        </p:nvGrpSpPr>
        <p:grpSpPr>
          <a:xfrm>
            <a:off x="992238" y="2440774"/>
            <a:ext cx="16303523" cy="44948"/>
            <a:chOff x="0" y="0"/>
            <a:chExt cx="21738031" cy="59931"/>
          </a:xfrm>
        </p:grpSpPr>
        <p:sp>
          <p:nvSpPr>
            <p:cNvPr id="7" name="Freeform 7"/>
            <p:cNvSpPr/>
            <p:nvPr/>
          </p:nvSpPr>
          <p:spPr>
            <a:xfrm>
              <a:off x="0" y="0"/>
              <a:ext cx="21738082" cy="59944"/>
            </a:xfrm>
            <a:custGeom>
              <a:avLst/>
              <a:gdLst/>
              <a:ahLst/>
              <a:cxnLst/>
              <a:rect l="l" t="t" r="r" b="b"/>
              <a:pathLst>
                <a:path w="21738082" h="59944">
                  <a:moveTo>
                    <a:pt x="0" y="0"/>
                  </a:moveTo>
                  <a:lnTo>
                    <a:pt x="21738082" y="0"/>
                  </a:lnTo>
                  <a:lnTo>
                    <a:pt x="21738082" y="59944"/>
                  </a:lnTo>
                  <a:lnTo>
                    <a:pt x="0" y="59944"/>
                  </a:lnTo>
                  <a:close/>
                </a:path>
              </a:pathLst>
            </a:custGeom>
            <a:solidFill>
              <a:srgbClr val="E0D6DE">
                <a:alpha val="24706"/>
              </a:srgbClr>
            </a:solidFill>
          </p:spPr>
        </p:sp>
      </p:grpSp>
      <p:grpSp>
        <p:nvGrpSpPr>
          <p:cNvPr id="8" name="Group 8"/>
          <p:cNvGrpSpPr/>
          <p:nvPr/>
        </p:nvGrpSpPr>
        <p:grpSpPr>
          <a:xfrm>
            <a:off x="992238" y="3138705"/>
            <a:ext cx="9189194" cy="6393899"/>
            <a:chOff x="0" y="0"/>
            <a:chExt cx="8141691" cy="5665039"/>
          </a:xfrm>
        </p:grpSpPr>
        <p:sp>
          <p:nvSpPr>
            <p:cNvPr id="9" name="Freeform 9"/>
            <p:cNvSpPr/>
            <p:nvPr/>
          </p:nvSpPr>
          <p:spPr>
            <a:xfrm>
              <a:off x="0" y="0"/>
              <a:ext cx="8141715" cy="5665116"/>
            </a:xfrm>
            <a:custGeom>
              <a:avLst/>
              <a:gdLst/>
              <a:ahLst/>
              <a:cxnLst/>
              <a:rect l="l" t="t" r="r" b="b"/>
              <a:pathLst>
                <a:path w="8141715" h="5665116">
                  <a:moveTo>
                    <a:pt x="0" y="144830"/>
                  </a:moveTo>
                  <a:cubicBezTo>
                    <a:pt x="0" y="64801"/>
                    <a:pt x="25400" y="0"/>
                    <a:pt x="56769" y="0"/>
                  </a:cubicBezTo>
                  <a:lnTo>
                    <a:pt x="8084947" y="0"/>
                  </a:lnTo>
                  <a:cubicBezTo>
                    <a:pt x="8116315" y="0"/>
                    <a:pt x="8141715" y="64801"/>
                    <a:pt x="8141715" y="144830"/>
                  </a:cubicBezTo>
                  <a:lnTo>
                    <a:pt x="8141715" y="5520404"/>
                  </a:lnTo>
                  <a:cubicBezTo>
                    <a:pt x="8141715" y="5600433"/>
                    <a:pt x="8116315" y="5665116"/>
                    <a:pt x="8084947" y="5665116"/>
                  </a:cubicBezTo>
                  <a:lnTo>
                    <a:pt x="56769" y="5665116"/>
                  </a:lnTo>
                  <a:cubicBezTo>
                    <a:pt x="25400" y="5665116"/>
                    <a:pt x="0" y="5600433"/>
                    <a:pt x="0" y="5520404"/>
                  </a:cubicBezTo>
                  <a:close/>
                </a:path>
              </a:pathLst>
            </a:custGeom>
            <a:solidFill>
              <a:srgbClr val="4D0038"/>
            </a:solidFill>
          </p:spPr>
        </p:sp>
      </p:grpSp>
      <p:grpSp>
        <p:nvGrpSpPr>
          <p:cNvPr id="10" name="Group 10"/>
          <p:cNvGrpSpPr/>
          <p:nvPr/>
        </p:nvGrpSpPr>
        <p:grpSpPr>
          <a:xfrm>
            <a:off x="1393160" y="3472485"/>
            <a:ext cx="442912" cy="354359"/>
            <a:chOff x="0" y="0"/>
            <a:chExt cx="590550" cy="472478"/>
          </a:xfrm>
        </p:grpSpPr>
        <p:sp>
          <p:nvSpPr>
            <p:cNvPr id="11" name="Freeform 11" descr="preencoded.png"/>
            <p:cNvSpPr/>
            <p:nvPr/>
          </p:nvSpPr>
          <p:spPr>
            <a:xfrm>
              <a:off x="0" y="0"/>
              <a:ext cx="590550" cy="472440"/>
            </a:xfrm>
            <a:custGeom>
              <a:avLst/>
              <a:gdLst/>
              <a:ahLst/>
              <a:cxnLst/>
              <a:rect l="l" t="t" r="r" b="b"/>
              <a:pathLst>
                <a:path w="590550" h="472440">
                  <a:moveTo>
                    <a:pt x="0" y="0"/>
                  </a:moveTo>
                  <a:lnTo>
                    <a:pt x="590550" y="0"/>
                  </a:lnTo>
                  <a:lnTo>
                    <a:pt x="590550" y="472440"/>
                  </a:lnTo>
                  <a:lnTo>
                    <a:pt x="0" y="472440"/>
                  </a:lnTo>
                  <a:lnTo>
                    <a:pt x="0" y="0"/>
                  </a:lnTo>
                  <a:close/>
                </a:path>
              </a:pathLst>
            </a:custGeom>
            <a:blipFill>
              <a:blip r:embed="rId2"/>
              <a:stretch>
                <a:fillRect l="-815" r="-815" b="-8"/>
              </a:stretch>
            </a:blipFill>
          </p:spPr>
        </p:sp>
      </p:grpSp>
      <p:sp>
        <p:nvSpPr>
          <p:cNvPr id="12" name="Freeform 12"/>
          <p:cNvSpPr/>
          <p:nvPr/>
        </p:nvSpPr>
        <p:spPr>
          <a:xfrm>
            <a:off x="2165610" y="3375344"/>
            <a:ext cx="6721722" cy="5387610"/>
          </a:xfrm>
          <a:custGeom>
            <a:avLst/>
            <a:gdLst/>
            <a:ahLst/>
            <a:cxnLst/>
            <a:rect l="l" t="t" r="r" b="b"/>
            <a:pathLst>
              <a:path w="6721722" h="5387610">
                <a:moveTo>
                  <a:pt x="0" y="0"/>
                </a:moveTo>
                <a:lnTo>
                  <a:pt x="6721722" y="0"/>
                </a:lnTo>
                <a:lnTo>
                  <a:pt x="6721722" y="5387611"/>
                </a:lnTo>
                <a:lnTo>
                  <a:pt x="0" y="5387611"/>
                </a:lnTo>
                <a:lnTo>
                  <a:pt x="0" y="0"/>
                </a:lnTo>
                <a:close/>
              </a:path>
            </a:pathLst>
          </a:custGeom>
          <a:blipFill>
            <a:blip r:embed="rId3"/>
            <a:stretch>
              <a:fillRect l="-1695" r="-1695"/>
            </a:stretch>
          </a:blipFill>
        </p:spPr>
      </p:sp>
      <p:sp>
        <p:nvSpPr>
          <p:cNvPr id="13" name="TextBox 13"/>
          <p:cNvSpPr txBox="1"/>
          <p:nvPr/>
        </p:nvSpPr>
        <p:spPr>
          <a:xfrm>
            <a:off x="992238" y="930728"/>
            <a:ext cx="12726743" cy="943127"/>
          </a:xfrm>
          <a:prstGeom prst="rect">
            <a:avLst/>
          </a:prstGeom>
        </p:spPr>
        <p:txBody>
          <a:bodyPr lIns="0" tIns="0" rIns="0" bIns="0" rtlCol="0" anchor="t">
            <a:spAutoFit/>
          </a:bodyPr>
          <a:lstStyle/>
          <a:p>
            <a:pPr algn="l">
              <a:lnSpc>
                <a:spcPts val="6937"/>
              </a:lnSpc>
            </a:pPr>
            <a:r>
              <a:rPr lang="en-US" sz="5562">
                <a:solidFill>
                  <a:srgbClr val="FBF3FA"/>
                </a:solidFill>
                <a:latin typeface="Arimo"/>
                <a:ea typeface="Arimo"/>
                <a:cs typeface="Arimo"/>
                <a:sym typeface="Arimo"/>
              </a:rPr>
              <a:t>3. Cài Đặt Các Package Đã Chọn</a:t>
            </a:r>
          </a:p>
        </p:txBody>
      </p:sp>
      <p:sp>
        <p:nvSpPr>
          <p:cNvPr id="14" name="TextBox 14"/>
          <p:cNvSpPr txBox="1"/>
          <p:nvPr/>
        </p:nvSpPr>
        <p:spPr>
          <a:xfrm>
            <a:off x="10813361" y="3327719"/>
            <a:ext cx="4773966" cy="596265"/>
          </a:xfrm>
          <a:prstGeom prst="rect">
            <a:avLst/>
          </a:prstGeom>
        </p:spPr>
        <p:txBody>
          <a:bodyPr lIns="0" tIns="0" rIns="0" bIns="0" rtlCol="0" anchor="t">
            <a:spAutoFit/>
          </a:bodyPr>
          <a:lstStyle/>
          <a:p>
            <a:pPr algn="l">
              <a:lnSpc>
                <a:spcPts val="4500"/>
              </a:lnSpc>
            </a:pPr>
            <a:r>
              <a:rPr lang="en-US" sz="3600">
                <a:solidFill>
                  <a:srgbClr val="FBF3FA"/>
                </a:solidFill>
                <a:latin typeface="Arimo"/>
                <a:ea typeface="Arimo"/>
                <a:cs typeface="Arimo"/>
                <a:sym typeface="Arimo"/>
              </a:rPr>
              <a:t>Tiến trình cài đặt</a:t>
            </a:r>
          </a:p>
        </p:txBody>
      </p:sp>
      <p:sp>
        <p:nvSpPr>
          <p:cNvPr id="15" name="TextBox 15"/>
          <p:cNvSpPr txBox="1"/>
          <p:nvPr/>
        </p:nvSpPr>
        <p:spPr>
          <a:xfrm>
            <a:off x="10813361" y="4494865"/>
            <a:ext cx="6264249" cy="1018087"/>
          </a:xfrm>
          <a:prstGeom prst="rect">
            <a:avLst/>
          </a:prstGeom>
        </p:spPr>
        <p:txBody>
          <a:bodyPr lIns="0" tIns="0" rIns="0" bIns="0" rtlCol="0" anchor="t">
            <a:spAutoFit/>
          </a:bodyPr>
          <a:lstStyle/>
          <a:p>
            <a:pPr algn="l">
              <a:lnSpc>
                <a:spcPts val="4178"/>
              </a:lnSpc>
            </a:pPr>
            <a:r>
              <a:rPr lang="en-US" sz="2599">
                <a:solidFill>
                  <a:srgbClr val="E0D6DE"/>
                </a:solidFill>
                <a:latin typeface="Fira Sans"/>
                <a:ea typeface="Fira Sans"/>
                <a:cs typeface="Fira Sans"/>
                <a:sym typeface="Fira Sans"/>
              </a:rPr>
              <a:t>Trình cài đặt sẽ tự động tải và giải nén các gói openssh và openssl</a:t>
            </a:r>
          </a:p>
        </p:txBody>
      </p:sp>
      <p:sp>
        <p:nvSpPr>
          <p:cNvPr id="16" name="TextBox 16"/>
          <p:cNvSpPr txBox="1"/>
          <p:nvPr/>
        </p:nvSpPr>
        <p:spPr>
          <a:xfrm>
            <a:off x="10813361" y="6084452"/>
            <a:ext cx="6264249" cy="1541962"/>
          </a:xfrm>
          <a:prstGeom prst="rect">
            <a:avLst/>
          </a:prstGeom>
        </p:spPr>
        <p:txBody>
          <a:bodyPr lIns="0" tIns="0" rIns="0" bIns="0" rtlCol="0" anchor="t">
            <a:spAutoFit/>
          </a:bodyPr>
          <a:lstStyle/>
          <a:p>
            <a:pPr algn="l">
              <a:lnSpc>
                <a:spcPts val="4178"/>
              </a:lnSpc>
            </a:pPr>
            <a:r>
              <a:rPr lang="en-US" sz="2599">
                <a:solidFill>
                  <a:srgbClr val="E0D6DE"/>
                </a:solidFill>
                <a:latin typeface="Fira Sans"/>
                <a:ea typeface="Fira Sans"/>
                <a:cs typeface="Fira Sans"/>
                <a:sym typeface="Fira Sans"/>
              </a:rPr>
              <a:t>Quá trình này tích hợp trực tiếp môi trường mạng của Linux vào hệ thống Windows</a:t>
            </a:r>
          </a:p>
        </p:txBody>
      </p:sp>
      <p:sp>
        <p:nvSpPr>
          <p:cNvPr id="17" name="TextBox 17"/>
          <p:cNvSpPr txBox="1"/>
          <p:nvPr/>
        </p:nvSpPr>
        <p:spPr>
          <a:xfrm>
            <a:off x="2165610" y="8981104"/>
            <a:ext cx="7187753" cy="448908"/>
          </a:xfrm>
          <a:prstGeom prst="rect">
            <a:avLst/>
          </a:prstGeom>
        </p:spPr>
        <p:txBody>
          <a:bodyPr lIns="0" tIns="0" rIns="0" bIns="0" rtlCol="0" anchor="t">
            <a:spAutoFit/>
          </a:bodyPr>
          <a:lstStyle/>
          <a:p>
            <a:pPr algn="l">
              <a:lnSpc>
                <a:spcPts val="3499"/>
              </a:lnSpc>
            </a:pPr>
            <a:r>
              <a:rPr lang="en-US" sz="2799">
                <a:solidFill>
                  <a:srgbClr val="FFFFFF"/>
                </a:solidFill>
                <a:latin typeface="Arimo"/>
                <a:ea typeface="Arimo"/>
                <a:cs typeface="Arimo"/>
                <a:sym typeface="Arimo"/>
              </a:rPr>
              <a:t> Cài đặt cygwin với các package được chọn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454668"/>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grpSp>
        <p:nvGrpSpPr>
          <p:cNvPr id="6" name="Group 6"/>
          <p:cNvGrpSpPr/>
          <p:nvPr/>
        </p:nvGrpSpPr>
        <p:grpSpPr>
          <a:xfrm>
            <a:off x="992238" y="2509408"/>
            <a:ext cx="16303523" cy="44948"/>
            <a:chOff x="0" y="0"/>
            <a:chExt cx="21738031" cy="59931"/>
          </a:xfrm>
        </p:grpSpPr>
        <p:sp>
          <p:nvSpPr>
            <p:cNvPr id="7" name="Freeform 7"/>
            <p:cNvSpPr/>
            <p:nvPr/>
          </p:nvSpPr>
          <p:spPr>
            <a:xfrm>
              <a:off x="0" y="0"/>
              <a:ext cx="21738082" cy="59944"/>
            </a:xfrm>
            <a:custGeom>
              <a:avLst/>
              <a:gdLst/>
              <a:ahLst/>
              <a:cxnLst/>
              <a:rect l="l" t="t" r="r" b="b"/>
              <a:pathLst>
                <a:path w="21738082" h="59944">
                  <a:moveTo>
                    <a:pt x="0" y="0"/>
                  </a:moveTo>
                  <a:lnTo>
                    <a:pt x="21738082" y="0"/>
                  </a:lnTo>
                  <a:lnTo>
                    <a:pt x="21738082" y="59944"/>
                  </a:lnTo>
                  <a:lnTo>
                    <a:pt x="0" y="59944"/>
                  </a:lnTo>
                  <a:close/>
                </a:path>
              </a:pathLst>
            </a:custGeom>
            <a:solidFill>
              <a:srgbClr val="E0D6DE">
                <a:alpha val="24706"/>
              </a:srgbClr>
            </a:solidFill>
          </p:spPr>
        </p:sp>
      </p:grpSp>
      <p:grpSp>
        <p:nvGrpSpPr>
          <p:cNvPr id="8" name="Group 8"/>
          <p:cNvGrpSpPr/>
          <p:nvPr/>
        </p:nvGrpSpPr>
        <p:grpSpPr>
          <a:xfrm>
            <a:off x="7799784" y="2917133"/>
            <a:ext cx="9505359" cy="6758704"/>
            <a:chOff x="0" y="0"/>
            <a:chExt cx="12673813" cy="9011605"/>
          </a:xfrm>
        </p:grpSpPr>
        <p:sp>
          <p:nvSpPr>
            <p:cNvPr id="9" name="Freeform 9"/>
            <p:cNvSpPr/>
            <p:nvPr/>
          </p:nvSpPr>
          <p:spPr>
            <a:xfrm>
              <a:off x="0" y="0"/>
              <a:ext cx="12673837" cy="9011682"/>
            </a:xfrm>
            <a:custGeom>
              <a:avLst/>
              <a:gdLst/>
              <a:ahLst/>
              <a:cxnLst/>
              <a:rect l="l" t="t" r="r" b="b"/>
              <a:pathLst>
                <a:path w="12673837" h="9011682">
                  <a:moveTo>
                    <a:pt x="0" y="313859"/>
                  </a:moveTo>
                  <a:cubicBezTo>
                    <a:pt x="0" y="140429"/>
                    <a:pt x="25400" y="0"/>
                    <a:pt x="56769" y="0"/>
                  </a:cubicBezTo>
                  <a:lnTo>
                    <a:pt x="12617069" y="0"/>
                  </a:lnTo>
                  <a:cubicBezTo>
                    <a:pt x="12648437" y="0"/>
                    <a:pt x="12673837" y="140429"/>
                    <a:pt x="12673837" y="313859"/>
                  </a:cubicBezTo>
                  <a:lnTo>
                    <a:pt x="12673837" y="8698168"/>
                  </a:lnTo>
                  <a:cubicBezTo>
                    <a:pt x="12673837" y="8871598"/>
                    <a:pt x="12648437" y="9011682"/>
                    <a:pt x="12617069" y="9011682"/>
                  </a:cubicBezTo>
                  <a:lnTo>
                    <a:pt x="56769" y="9011682"/>
                  </a:lnTo>
                  <a:cubicBezTo>
                    <a:pt x="25400" y="9011682"/>
                    <a:pt x="0" y="8871598"/>
                    <a:pt x="0" y="8698168"/>
                  </a:cubicBezTo>
                  <a:close/>
                </a:path>
              </a:pathLst>
            </a:custGeom>
            <a:solidFill>
              <a:srgbClr val="4D0038"/>
            </a:solidFill>
          </p:spPr>
        </p:sp>
      </p:grpSp>
      <p:grpSp>
        <p:nvGrpSpPr>
          <p:cNvPr id="10" name="Group 10"/>
          <p:cNvGrpSpPr/>
          <p:nvPr/>
        </p:nvGrpSpPr>
        <p:grpSpPr>
          <a:xfrm>
            <a:off x="8209323" y="2917133"/>
            <a:ext cx="442912" cy="354359"/>
            <a:chOff x="0" y="0"/>
            <a:chExt cx="590550" cy="472478"/>
          </a:xfrm>
        </p:grpSpPr>
        <p:sp>
          <p:nvSpPr>
            <p:cNvPr id="11" name="Freeform 11" descr="preencoded.png"/>
            <p:cNvSpPr/>
            <p:nvPr/>
          </p:nvSpPr>
          <p:spPr>
            <a:xfrm>
              <a:off x="0" y="0"/>
              <a:ext cx="590550" cy="472440"/>
            </a:xfrm>
            <a:custGeom>
              <a:avLst/>
              <a:gdLst/>
              <a:ahLst/>
              <a:cxnLst/>
              <a:rect l="l" t="t" r="r" b="b"/>
              <a:pathLst>
                <a:path w="590550" h="472440">
                  <a:moveTo>
                    <a:pt x="0" y="0"/>
                  </a:moveTo>
                  <a:lnTo>
                    <a:pt x="590550" y="0"/>
                  </a:lnTo>
                  <a:lnTo>
                    <a:pt x="590550" y="472440"/>
                  </a:lnTo>
                  <a:lnTo>
                    <a:pt x="0" y="472440"/>
                  </a:lnTo>
                  <a:lnTo>
                    <a:pt x="0" y="0"/>
                  </a:lnTo>
                  <a:close/>
                </a:path>
              </a:pathLst>
            </a:custGeom>
            <a:blipFill>
              <a:blip r:embed="rId2"/>
              <a:stretch>
                <a:fillRect l="-815" r="-815" b="-8"/>
              </a:stretch>
            </a:blipFill>
          </p:spPr>
        </p:sp>
      </p:grpSp>
      <p:sp>
        <p:nvSpPr>
          <p:cNvPr id="12" name="Freeform 12"/>
          <p:cNvSpPr/>
          <p:nvPr/>
        </p:nvSpPr>
        <p:spPr>
          <a:xfrm>
            <a:off x="8304762" y="3393845"/>
            <a:ext cx="8504048" cy="5438486"/>
          </a:xfrm>
          <a:custGeom>
            <a:avLst/>
            <a:gdLst/>
            <a:ahLst/>
            <a:cxnLst/>
            <a:rect l="l" t="t" r="r" b="b"/>
            <a:pathLst>
              <a:path w="8504048" h="5438486">
                <a:moveTo>
                  <a:pt x="0" y="0"/>
                </a:moveTo>
                <a:lnTo>
                  <a:pt x="8504048" y="0"/>
                </a:lnTo>
                <a:lnTo>
                  <a:pt x="8504048" y="5438487"/>
                </a:lnTo>
                <a:lnTo>
                  <a:pt x="0" y="5438487"/>
                </a:lnTo>
                <a:lnTo>
                  <a:pt x="0" y="0"/>
                </a:lnTo>
                <a:close/>
              </a:path>
            </a:pathLst>
          </a:custGeom>
          <a:blipFill>
            <a:blip r:embed="rId3"/>
            <a:stretch>
              <a:fillRect/>
            </a:stretch>
          </a:blipFill>
        </p:spPr>
      </p:sp>
      <p:sp>
        <p:nvSpPr>
          <p:cNvPr id="13" name="TextBox 13"/>
          <p:cNvSpPr txBox="1"/>
          <p:nvPr/>
        </p:nvSpPr>
        <p:spPr>
          <a:xfrm>
            <a:off x="992238" y="857526"/>
            <a:ext cx="7659998"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4. Khởi Tạo SSH Server</a:t>
            </a:r>
          </a:p>
        </p:txBody>
      </p:sp>
      <p:sp>
        <p:nvSpPr>
          <p:cNvPr id="14" name="TextBox 14"/>
          <p:cNvSpPr txBox="1"/>
          <p:nvPr/>
        </p:nvSpPr>
        <p:spPr>
          <a:xfrm>
            <a:off x="992238" y="3109150"/>
            <a:ext cx="4277823" cy="596265"/>
          </a:xfrm>
          <a:prstGeom prst="rect">
            <a:avLst/>
          </a:prstGeom>
        </p:spPr>
        <p:txBody>
          <a:bodyPr lIns="0" tIns="0" rIns="0" bIns="0" rtlCol="0" anchor="t">
            <a:spAutoFit/>
          </a:bodyPr>
          <a:lstStyle/>
          <a:p>
            <a:pPr algn="l">
              <a:lnSpc>
                <a:spcPts val="4500"/>
              </a:lnSpc>
            </a:pPr>
            <a:r>
              <a:rPr lang="en-US" sz="3600">
                <a:solidFill>
                  <a:srgbClr val="FBF3FA"/>
                </a:solidFill>
                <a:latin typeface="Arimo"/>
                <a:ea typeface="Arimo"/>
                <a:cs typeface="Arimo"/>
                <a:sym typeface="Arimo"/>
              </a:rPr>
              <a:t>Hướng dẫn nhanh</a:t>
            </a:r>
          </a:p>
        </p:txBody>
      </p:sp>
      <p:sp>
        <p:nvSpPr>
          <p:cNvPr id="15" name="TextBox 15"/>
          <p:cNvSpPr txBox="1"/>
          <p:nvPr/>
        </p:nvSpPr>
        <p:spPr>
          <a:xfrm>
            <a:off x="992238" y="3967700"/>
            <a:ext cx="6106268" cy="1039512"/>
          </a:xfrm>
          <a:prstGeom prst="rect">
            <a:avLst/>
          </a:prstGeom>
        </p:spPr>
        <p:txBody>
          <a:bodyPr lIns="0" tIns="0" rIns="0" bIns="0" rtlCol="0" anchor="t">
            <a:spAutoFit/>
          </a:bodyPr>
          <a:lstStyle/>
          <a:p>
            <a:pPr algn="l">
              <a:lnSpc>
                <a:spcPts val="4234"/>
              </a:lnSpc>
            </a:pPr>
            <a:r>
              <a:rPr lang="en-US" sz="2599">
                <a:solidFill>
                  <a:srgbClr val="E0D6DE"/>
                </a:solidFill>
                <a:latin typeface="Fira Sans"/>
                <a:ea typeface="Fira Sans"/>
                <a:cs typeface="Fira Sans"/>
                <a:sym typeface="Fira Sans"/>
              </a:rPr>
              <a:t>Mở biểu tượng shell của Cygwin trên Desktop</a:t>
            </a:r>
          </a:p>
        </p:txBody>
      </p:sp>
      <p:sp>
        <p:nvSpPr>
          <p:cNvPr id="16" name="TextBox 16"/>
          <p:cNvSpPr txBox="1"/>
          <p:nvPr/>
        </p:nvSpPr>
        <p:spPr>
          <a:xfrm>
            <a:off x="992238" y="5269496"/>
            <a:ext cx="6106268" cy="506149"/>
          </a:xfrm>
          <a:prstGeom prst="rect">
            <a:avLst/>
          </a:prstGeom>
        </p:spPr>
        <p:txBody>
          <a:bodyPr lIns="0" tIns="0" rIns="0" bIns="0" rtlCol="0" anchor="t">
            <a:spAutoFit/>
          </a:bodyPr>
          <a:lstStyle/>
          <a:p>
            <a:pPr algn="l">
              <a:lnSpc>
                <a:spcPts val="4234"/>
              </a:lnSpc>
            </a:pPr>
            <a:r>
              <a:rPr lang="en-US" sz="2599">
                <a:solidFill>
                  <a:srgbClr val="E0D6DE"/>
                </a:solidFill>
                <a:latin typeface="Fira Sans"/>
                <a:ea typeface="Fira Sans"/>
                <a:cs typeface="Fira Sans"/>
                <a:sym typeface="Fira Sans"/>
              </a:rPr>
              <a:t>Thực thi dòng lệnh: </a:t>
            </a:r>
            <a:r>
              <a:rPr lang="en-US" sz="2599" b="1">
                <a:solidFill>
                  <a:srgbClr val="E0D6DE"/>
                </a:solidFill>
                <a:latin typeface="Fira Sans Bold"/>
                <a:ea typeface="Fira Sans Bold"/>
                <a:cs typeface="Fira Sans Bold"/>
                <a:sym typeface="Fira Sans Bold"/>
              </a:rPr>
              <a:t>ssh-host-config</a:t>
            </a:r>
          </a:p>
        </p:txBody>
      </p:sp>
      <p:sp>
        <p:nvSpPr>
          <p:cNvPr id="17" name="TextBox 17"/>
          <p:cNvSpPr txBox="1"/>
          <p:nvPr/>
        </p:nvSpPr>
        <p:spPr>
          <a:xfrm>
            <a:off x="992238" y="5978223"/>
            <a:ext cx="6106268" cy="1572875"/>
          </a:xfrm>
          <a:prstGeom prst="rect">
            <a:avLst/>
          </a:prstGeom>
        </p:spPr>
        <p:txBody>
          <a:bodyPr lIns="0" tIns="0" rIns="0" bIns="0" rtlCol="0" anchor="t">
            <a:spAutoFit/>
          </a:bodyPr>
          <a:lstStyle/>
          <a:p>
            <a:pPr algn="l">
              <a:lnSpc>
                <a:spcPts val="4234"/>
              </a:lnSpc>
            </a:pPr>
            <a:r>
              <a:rPr lang="en-US" sz="2599">
                <a:solidFill>
                  <a:srgbClr val="E0D6DE"/>
                </a:solidFill>
                <a:latin typeface="Fira Sans"/>
                <a:ea typeface="Fira Sans"/>
                <a:cs typeface="Fira Sans"/>
                <a:sym typeface="Fira Sans"/>
              </a:rPr>
              <a:t>Trình giả lập sẽ thiết lập các khóa mã hóa (keys) và cấu hình dịch vụ chạy ngầm</a:t>
            </a:r>
          </a:p>
        </p:txBody>
      </p:sp>
      <p:sp>
        <p:nvSpPr>
          <p:cNvPr id="18" name="TextBox 18"/>
          <p:cNvSpPr txBox="1"/>
          <p:nvPr/>
        </p:nvSpPr>
        <p:spPr>
          <a:xfrm>
            <a:off x="11486668" y="8954713"/>
            <a:ext cx="2457931" cy="418320"/>
          </a:xfrm>
          <a:prstGeom prst="rect">
            <a:avLst/>
          </a:prstGeom>
        </p:spPr>
        <p:txBody>
          <a:bodyPr wrap="square" lIns="0" tIns="0" rIns="0" bIns="0" rtlCol="0" anchor="t">
            <a:spAutoFit/>
          </a:bodyPr>
          <a:lstStyle/>
          <a:p>
            <a:pPr algn="l">
              <a:lnSpc>
                <a:spcPts val="3499"/>
              </a:lnSpc>
            </a:pPr>
            <a:r>
              <a:rPr lang="en-US" sz="2799" dirty="0" err="1">
                <a:solidFill>
                  <a:srgbClr val="FFFFFF"/>
                </a:solidFill>
                <a:latin typeface="Arimo"/>
                <a:ea typeface="Arimo"/>
                <a:cs typeface="Arimo"/>
                <a:sym typeface="Arimo"/>
              </a:rPr>
              <a:t>Khởi</a:t>
            </a:r>
            <a:r>
              <a:rPr lang="en-US" sz="2799" dirty="0">
                <a:solidFill>
                  <a:srgbClr val="FFFFFF"/>
                </a:solidFill>
                <a:latin typeface="Arimo"/>
                <a:ea typeface="Arimo"/>
                <a:cs typeface="Arimo"/>
                <a:sym typeface="Arimo"/>
              </a:rPr>
              <a:t> </a:t>
            </a:r>
            <a:r>
              <a:rPr lang="en-US" sz="2799" dirty="0" err="1">
                <a:solidFill>
                  <a:srgbClr val="FFFFFF"/>
                </a:solidFill>
                <a:latin typeface="Arimo"/>
                <a:ea typeface="Arimo"/>
                <a:cs typeface="Arimo"/>
                <a:sym typeface="Arimo"/>
              </a:rPr>
              <a:t>tạo</a:t>
            </a:r>
            <a:r>
              <a:rPr lang="en-US" sz="2799" dirty="0">
                <a:solidFill>
                  <a:srgbClr val="FFFFFF"/>
                </a:solidFill>
                <a:latin typeface="Arimo"/>
                <a:ea typeface="Arimo"/>
                <a:cs typeface="Arimo"/>
                <a:sym typeface="Arimo"/>
              </a:rPr>
              <a:t> SSH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grpSp>
        <p:nvGrpSpPr>
          <p:cNvPr id="6" name="Group 6"/>
          <p:cNvGrpSpPr/>
          <p:nvPr/>
        </p:nvGrpSpPr>
        <p:grpSpPr>
          <a:xfrm>
            <a:off x="992238" y="3832469"/>
            <a:ext cx="141684" cy="141684"/>
            <a:chOff x="0" y="0"/>
            <a:chExt cx="188912" cy="188912"/>
          </a:xfrm>
        </p:grpSpPr>
        <p:sp>
          <p:nvSpPr>
            <p:cNvPr id="7" name="Freeform 7"/>
            <p:cNvSpPr/>
            <p:nvPr/>
          </p:nvSpPr>
          <p:spPr>
            <a:xfrm>
              <a:off x="0" y="0"/>
              <a:ext cx="188976" cy="188976"/>
            </a:xfrm>
            <a:custGeom>
              <a:avLst/>
              <a:gdLst/>
              <a:ahLst/>
              <a:cxnLst/>
              <a:rect l="l" t="t" r="r" b="b"/>
              <a:pathLst>
                <a:path w="188976" h="188976">
                  <a:moveTo>
                    <a:pt x="0" y="94488"/>
                  </a:moveTo>
                  <a:cubicBezTo>
                    <a:pt x="0" y="42291"/>
                    <a:pt x="42291" y="0"/>
                    <a:pt x="94488" y="0"/>
                  </a:cubicBezTo>
                  <a:cubicBezTo>
                    <a:pt x="146685" y="0"/>
                    <a:pt x="188976" y="42291"/>
                    <a:pt x="188976" y="94488"/>
                  </a:cubicBezTo>
                  <a:cubicBezTo>
                    <a:pt x="188976" y="146685"/>
                    <a:pt x="146685" y="188976"/>
                    <a:pt x="94488" y="188976"/>
                  </a:cubicBezTo>
                  <a:cubicBezTo>
                    <a:pt x="42291" y="188976"/>
                    <a:pt x="0" y="146685"/>
                    <a:pt x="0" y="94488"/>
                  </a:cubicBezTo>
                  <a:close/>
                </a:path>
              </a:pathLst>
            </a:custGeom>
            <a:solidFill>
              <a:srgbClr val="FF6BD8"/>
            </a:solidFill>
          </p:spPr>
        </p:sp>
      </p:grpSp>
      <p:grpSp>
        <p:nvGrpSpPr>
          <p:cNvPr id="8" name="Group 8"/>
          <p:cNvGrpSpPr/>
          <p:nvPr/>
        </p:nvGrpSpPr>
        <p:grpSpPr>
          <a:xfrm>
            <a:off x="992238" y="5166262"/>
            <a:ext cx="141684" cy="141684"/>
            <a:chOff x="0" y="0"/>
            <a:chExt cx="188912" cy="188912"/>
          </a:xfrm>
        </p:grpSpPr>
        <p:sp>
          <p:nvSpPr>
            <p:cNvPr id="9" name="Freeform 9"/>
            <p:cNvSpPr/>
            <p:nvPr/>
          </p:nvSpPr>
          <p:spPr>
            <a:xfrm>
              <a:off x="0" y="0"/>
              <a:ext cx="188976" cy="188976"/>
            </a:xfrm>
            <a:custGeom>
              <a:avLst/>
              <a:gdLst/>
              <a:ahLst/>
              <a:cxnLst/>
              <a:rect l="l" t="t" r="r" b="b"/>
              <a:pathLst>
                <a:path w="188976" h="188976">
                  <a:moveTo>
                    <a:pt x="0" y="94488"/>
                  </a:moveTo>
                  <a:cubicBezTo>
                    <a:pt x="0" y="42291"/>
                    <a:pt x="42291" y="0"/>
                    <a:pt x="94488" y="0"/>
                  </a:cubicBezTo>
                  <a:cubicBezTo>
                    <a:pt x="146685" y="0"/>
                    <a:pt x="188976" y="42291"/>
                    <a:pt x="188976" y="94488"/>
                  </a:cubicBezTo>
                  <a:cubicBezTo>
                    <a:pt x="188976" y="146685"/>
                    <a:pt x="146685" y="188976"/>
                    <a:pt x="94488" y="188976"/>
                  </a:cubicBezTo>
                  <a:cubicBezTo>
                    <a:pt x="42291" y="188976"/>
                    <a:pt x="0" y="146685"/>
                    <a:pt x="0" y="94488"/>
                  </a:cubicBezTo>
                  <a:close/>
                </a:path>
              </a:pathLst>
            </a:custGeom>
            <a:solidFill>
              <a:srgbClr val="FF6BD8"/>
            </a:solidFill>
          </p:spPr>
        </p:sp>
      </p:grpSp>
      <p:grpSp>
        <p:nvGrpSpPr>
          <p:cNvPr id="10" name="Group 10"/>
          <p:cNvGrpSpPr/>
          <p:nvPr/>
        </p:nvGrpSpPr>
        <p:grpSpPr>
          <a:xfrm>
            <a:off x="992238" y="6295282"/>
            <a:ext cx="141684" cy="141684"/>
            <a:chOff x="0" y="0"/>
            <a:chExt cx="188912" cy="188912"/>
          </a:xfrm>
        </p:grpSpPr>
        <p:sp>
          <p:nvSpPr>
            <p:cNvPr id="11" name="Freeform 11"/>
            <p:cNvSpPr/>
            <p:nvPr/>
          </p:nvSpPr>
          <p:spPr>
            <a:xfrm>
              <a:off x="0" y="0"/>
              <a:ext cx="188976" cy="188976"/>
            </a:xfrm>
            <a:custGeom>
              <a:avLst/>
              <a:gdLst/>
              <a:ahLst/>
              <a:cxnLst/>
              <a:rect l="l" t="t" r="r" b="b"/>
              <a:pathLst>
                <a:path w="188976" h="188976">
                  <a:moveTo>
                    <a:pt x="0" y="94488"/>
                  </a:moveTo>
                  <a:cubicBezTo>
                    <a:pt x="0" y="42291"/>
                    <a:pt x="42291" y="0"/>
                    <a:pt x="94488" y="0"/>
                  </a:cubicBezTo>
                  <a:cubicBezTo>
                    <a:pt x="146685" y="0"/>
                    <a:pt x="188976" y="42291"/>
                    <a:pt x="188976" y="94488"/>
                  </a:cubicBezTo>
                  <a:cubicBezTo>
                    <a:pt x="188976" y="146685"/>
                    <a:pt x="146685" y="188976"/>
                    <a:pt x="94488" y="188976"/>
                  </a:cubicBezTo>
                  <a:cubicBezTo>
                    <a:pt x="42291" y="188976"/>
                    <a:pt x="0" y="146685"/>
                    <a:pt x="0" y="94488"/>
                  </a:cubicBezTo>
                  <a:close/>
                </a:path>
              </a:pathLst>
            </a:custGeom>
            <a:solidFill>
              <a:srgbClr val="FF6BD8"/>
            </a:solidFill>
          </p:spPr>
        </p:sp>
      </p:grpSp>
      <p:grpSp>
        <p:nvGrpSpPr>
          <p:cNvPr id="12" name="Group 12"/>
          <p:cNvGrpSpPr/>
          <p:nvPr/>
        </p:nvGrpSpPr>
        <p:grpSpPr>
          <a:xfrm>
            <a:off x="7799784" y="3681860"/>
            <a:ext cx="9505359" cy="3213476"/>
            <a:chOff x="0" y="0"/>
            <a:chExt cx="12673813" cy="4284634"/>
          </a:xfrm>
        </p:grpSpPr>
        <p:sp>
          <p:nvSpPr>
            <p:cNvPr id="13" name="Freeform 13"/>
            <p:cNvSpPr/>
            <p:nvPr/>
          </p:nvSpPr>
          <p:spPr>
            <a:xfrm>
              <a:off x="0" y="0"/>
              <a:ext cx="12673711" cy="4284499"/>
            </a:xfrm>
            <a:custGeom>
              <a:avLst/>
              <a:gdLst/>
              <a:ahLst/>
              <a:cxnLst/>
              <a:rect l="l" t="t" r="r" b="b"/>
              <a:pathLst>
                <a:path w="12673711" h="4284499">
                  <a:moveTo>
                    <a:pt x="0" y="151082"/>
                  </a:moveTo>
                  <a:cubicBezTo>
                    <a:pt x="0" y="67750"/>
                    <a:pt x="25400" y="0"/>
                    <a:pt x="56642" y="0"/>
                  </a:cubicBezTo>
                  <a:lnTo>
                    <a:pt x="12617069" y="0"/>
                  </a:lnTo>
                  <a:cubicBezTo>
                    <a:pt x="12648437" y="0"/>
                    <a:pt x="12673711" y="67750"/>
                    <a:pt x="12673711" y="151082"/>
                  </a:cubicBezTo>
                  <a:lnTo>
                    <a:pt x="12673711" y="4133417"/>
                  </a:lnTo>
                  <a:cubicBezTo>
                    <a:pt x="12673711" y="4217088"/>
                    <a:pt x="12648311" y="4284499"/>
                    <a:pt x="12617069" y="4284499"/>
                  </a:cubicBezTo>
                  <a:lnTo>
                    <a:pt x="56642" y="4284499"/>
                  </a:lnTo>
                  <a:cubicBezTo>
                    <a:pt x="25273" y="4284499"/>
                    <a:pt x="0" y="4216749"/>
                    <a:pt x="0" y="4133417"/>
                  </a:cubicBezTo>
                  <a:close/>
                </a:path>
              </a:pathLst>
            </a:custGeom>
            <a:solidFill>
              <a:srgbClr val="4D0038"/>
            </a:solidFill>
          </p:spPr>
        </p:sp>
      </p:grpSp>
      <p:grpSp>
        <p:nvGrpSpPr>
          <p:cNvPr id="14" name="Group 14"/>
          <p:cNvGrpSpPr/>
          <p:nvPr/>
        </p:nvGrpSpPr>
        <p:grpSpPr>
          <a:xfrm>
            <a:off x="8083306" y="4102446"/>
            <a:ext cx="354359" cy="283521"/>
            <a:chOff x="0" y="0"/>
            <a:chExt cx="472478" cy="378028"/>
          </a:xfrm>
        </p:grpSpPr>
        <p:sp>
          <p:nvSpPr>
            <p:cNvPr id="15" name="Freeform 15" descr="preencoded.png"/>
            <p:cNvSpPr/>
            <p:nvPr/>
          </p:nvSpPr>
          <p:spPr>
            <a:xfrm>
              <a:off x="0" y="0"/>
              <a:ext cx="472440" cy="378079"/>
            </a:xfrm>
            <a:custGeom>
              <a:avLst/>
              <a:gdLst/>
              <a:ahLst/>
              <a:cxnLst/>
              <a:rect l="l" t="t" r="r" b="b"/>
              <a:pathLst>
                <a:path w="472440" h="378079">
                  <a:moveTo>
                    <a:pt x="0" y="0"/>
                  </a:moveTo>
                  <a:lnTo>
                    <a:pt x="472440" y="0"/>
                  </a:lnTo>
                  <a:lnTo>
                    <a:pt x="472440" y="378079"/>
                  </a:lnTo>
                  <a:lnTo>
                    <a:pt x="0" y="378079"/>
                  </a:lnTo>
                  <a:lnTo>
                    <a:pt x="0" y="0"/>
                  </a:lnTo>
                  <a:close/>
                </a:path>
              </a:pathLst>
            </a:custGeom>
            <a:blipFill>
              <a:blip r:embed="rId2"/>
              <a:stretch>
                <a:fillRect t="-671" r="-8" b="-655"/>
              </a:stretch>
            </a:blipFill>
          </p:spPr>
        </p:sp>
      </p:grpSp>
      <p:sp>
        <p:nvSpPr>
          <p:cNvPr id="16" name="Freeform 16"/>
          <p:cNvSpPr/>
          <p:nvPr/>
        </p:nvSpPr>
        <p:spPr>
          <a:xfrm>
            <a:off x="8044727" y="4667647"/>
            <a:ext cx="9031963" cy="1467808"/>
          </a:xfrm>
          <a:custGeom>
            <a:avLst/>
            <a:gdLst/>
            <a:ahLst/>
            <a:cxnLst/>
            <a:rect l="l" t="t" r="r" b="b"/>
            <a:pathLst>
              <a:path w="9031963" h="1467808">
                <a:moveTo>
                  <a:pt x="0" y="0"/>
                </a:moveTo>
                <a:lnTo>
                  <a:pt x="9031962" y="0"/>
                </a:lnTo>
                <a:lnTo>
                  <a:pt x="9031962" y="1467808"/>
                </a:lnTo>
                <a:lnTo>
                  <a:pt x="0" y="1467808"/>
                </a:lnTo>
                <a:lnTo>
                  <a:pt x="0" y="0"/>
                </a:lnTo>
                <a:close/>
              </a:path>
            </a:pathLst>
          </a:custGeom>
          <a:blipFill>
            <a:blip r:embed="rId3"/>
            <a:stretch>
              <a:fillRect r="-2021"/>
            </a:stretch>
          </a:blipFill>
        </p:spPr>
      </p:sp>
      <p:sp>
        <p:nvSpPr>
          <p:cNvPr id="17" name="TextBox 17"/>
          <p:cNvSpPr txBox="1"/>
          <p:nvPr/>
        </p:nvSpPr>
        <p:spPr>
          <a:xfrm>
            <a:off x="992238" y="1619848"/>
            <a:ext cx="9643876"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5. Kích Hoạt Dịch Vụ (Service)</a:t>
            </a:r>
          </a:p>
        </p:txBody>
      </p:sp>
      <p:sp>
        <p:nvSpPr>
          <p:cNvPr id="18" name="TextBox 18"/>
          <p:cNvSpPr txBox="1"/>
          <p:nvPr/>
        </p:nvSpPr>
        <p:spPr>
          <a:xfrm>
            <a:off x="1417434" y="3653285"/>
            <a:ext cx="5681072" cy="849705"/>
          </a:xfrm>
          <a:prstGeom prst="rect">
            <a:avLst/>
          </a:prstGeom>
        </p:spPr>
        <p:txBody>
          <a:bodyPr lIns="0" tIns="0" rIns="0" bIns="0" rtlCol="0" anchor="t">
            <a:spAutoFit/>
          </a:bodyPr>
          <a:lstStyle/>
          <a:p>
            <a:pPr algn="l">
              <a:lnSpc>
                <a:spcPts val="3374"/>
              </a:lnSpc>
            </a:pPr>
            <a:r>
              <a:rPr lang="en-US" sz="2699">
                <a:solidFill>
                  <a:srgbClr val="E0D6DE"/>
                </a:solidFill>
                <a:latin typeface="Arimo"/>
                <a:ea typeface="Arimo"/>
                <a:cs typeface="Arimo"/>
                <a:sym typeface="Arimo"/>
              </a:rPr>
              <a:t>Mở Command Prompt (CMD) của Windows</a:t>
            </a:r>
          </a:p>
        </p:txBody>
      </p:sp>
      <p:sp>
        <p:nvSpPr>
          <p:cNvPr id="19" name="TextBox 19"/>
          <p:cNvSpPr txBox="1"/>
          <p:nvPr/>
        </p:nvSpPr>
        <p:spPr>
          <a:xfrm>
            <a:off x="1447537" y="5044083"/>
            <a:ext cx="3448906" cy="430567"/>
          </a:xfrm>
          <a:prstGeom prst="rect">
            <a:avLst/>
          </a:prstGeom>
        </p:spPr>
        <p:txBody>
          <a:bodyPr lIns="0" tIns="0" rIns="0" bIns="0" rtlCol="0" anchor="t">
            <a:spAutoFit/>
          </a:bodyPr>
          <a:lstStyle/>
          <a:p>
            <a:pPr algn="l">
              <a:lnSpc>
                <a:spcPts val="3374"/>
              </a:lnSpc>
            </a:pPr>
            <a:r>
              <a:rPr lang="en-US" sz="2699">
                <a:solidFill>
                  <a:srgbClr val="E0D6DE"/>
                </a:solidFill>
                <a:latin typeface="Arimo"/>
                <a:ea typeface="Arimo"/>
                <a:cs typeface="Arimo"/>
                <a:sym typeface="Arimo"/>
              </a:rPr>
              <a:t>Gõ lệnh: net start sshd</a:t>
            </a:r>
          </a:p>
        </p:txBody>
      </p:sp>
      <p:sp>
        <p:nvSpPr>
          <p:cNvPr id="20" name="TextBox 20"/>
          <p:cNvSpPr txBox="1"/>
          <p:nvPr/>
        </p:nvSpPr>
        <p:spPr>
          <a:xfrm>
            <a:off x="1417434" y="6116088"/>
            <a:ext cx="5681072" cy="1268842"/>
          </a:xfrm>
          <a:prstGeom prst="rect">
            <a:avLst/>
          </a:prstGeom>
        </p:spPr>
        <p:txBody>
          <a:bodyPr lIns="0" tIns="0" rIns="0" bIns="0" rtlCol="0" anchor="t">
            <a:spAutoFit/>
          </a:bodyPr>
          <a:lstStyle/>
          <a:p>
            <a:pPr algn="l">
              <a:lnSpc>
                <a:spcPts val="3374"/>
              </a:lnSpc>
            </a:pPr>
            <a:r>
              <a:rPr lang="en-US" sz="2699">
                <a:solidFill>
                  <a:srgbClr val="E0D6DE"/>
                </a:solidFill>
                <a:latin typeface="Arimo"/>
                <a:ea typeface="Arimo"/>
                <a:cs typeface="Arimo"/>
                <a:sym typeface="Arimo"/>
              </a:rPr>
              <a:t>Kết quả: Dịch vụ đã chạy. Máy nạn nhân chính thức mở "cửa hậu" tại Cổng 22, sẵn sàng chờ Hacker</a:t>
            </a:r>
          </a:p>
        </p:txBody>
      </p:sp>
      <p:sp>
        <p:nvSpPr>
          <p:cNvPr id="21" name="TextBox 21"/>
          <p:cNvSpPr txBox="1"/>
          <p:nvPr/>
        </p:nvSpPr>
        <p:spPr>
          <a:xfrm>
            <a:off x="10795865" y="6366148"/>
            <a:ext cx="3864048" cy="533400"/>
          </a:xfrm>
          <a:prstGeom prst="rect">
            <a:avLst/>
          </a:prstGeom>
        </p:spPr>
        <p:txBody>
          <a:bodyPr wrap="square" lIns="0" tIns="0" rIns="0" bIns="0" rtlCol="0" anchor="t">
            <a:spAutoFit/>
          </a:bodyPr>
          <a:lstStyle/>
          <a:p>
            <a:pPr algn="l">
              <a:lnSpc>
                <a:spcPts val="4559"/>
              </a:lnSpc>
            </a:pPr>
            <a:r>
              <a:rPr lang="en-US" sz="2799" dirty="0" err="1">
                <a:solidFill>
                  <a:srgbClr val="FFFFFF"/>
                </a:solidFill>
                <a:latin typeface="Fira Sans"/>
                <a:ea typeface="Fira Sans"/>
                <a:cs typeface="Fira Sans"/>
                <a:sym typeface="Fira Sans"/>
              </a:rPr>
              <a:t>Kiểm</a:t>
            </a:r>
            <a:r>
              <a:rPr lang="en-US" sz="2799" dirty="0">
                <a:solidFill>
                  <a:srgbClr val="FFFFFF"/>
                </a:solidFill>
                <a:latin typeface="Fira Sans"/>
                <a:ea typeface="Fira Sans"/>
                <a:cs typeface="Fira Sans"/>
                <a:sym typeface="Fira Sans"/>
              </a:rPr>
              <a:t> </a:t>
            </a:r>
            <a:r>
              <a:rPr lang="en-US" sz="2799" dirty="0" err="1">
                <a:solidFill>
                  <a:srgbClr val="FFFFFF"/>
                </a:solidFill>
                <a:latin typeface="Fira Sans"/>
                <a:ea typeface="Fira Sans"/>
                <a:cs typeface="Fira Sans"/>
                <a:sym typeface="Fira Sans"/>
              </a:rPr>
              <a:t>tra</a:t>
            </a:r>
            <a:r>
              <a:rPr lang="en-US" sz="2799" dirty="0">
                <a:solidFill>
                  <a:srgbClr val="FFFFFF"/>
                </a:solidFill>
                <a:latin typeface="Fira Sans"/>
                <a:ea typeface="Fira Sans"/>
                <a:cs typeface="Fira Sans"/>
                <a:sym typeface="Fira Sans"/>
              </a:rPr>
              <a:t> </a:t>
            </a:r>
            <a:r>
              <a:rPr lang="en-US" sz="2799" dirty="0" err="1">
                <a:solidFill>
                  <a:srgbClr val="FFFFFF"/>
                </a:solidFill>
                <a:latin typeface="Fira Sans"/>
                <a:ea typeface="Fira Sans"/>
                <a:cs typeface="Fira Sans"/>
                <a:sym typeface="Fira Sans"/>
              </a:rPr>
              <a:t>các</a:t>
            </a:r>
            <a:r>
              <a:rPr lang="en-US" sz="2799" dirty="0">
                <a:solidFill>
                  <a:srgbClr val="FFFFFF"/>
                </a:solidFill>
                <a:latin typeface="Fira Sans"/>
                <a:ea typeface="Fira Sans"/>
                <a:cs typeface="Fira Sans"/>
                <a:sym typeface="Fira Sans"/>
              </a:rPr>
              <a:t> </a:t>
            </a:r>
            <a:r>
              <a:rPr lang="en-US" sz="2799" dirty="0" err="1">
                <a:solidFill>
                  <a:srgbClr val="FFFFFF"/>
                </a:solidFill>
                <a:latin typeface="Fira Sans"/>
                <a:ea typeface="Fira Sans"/>
                <a:cs typeface="Fira Sans"/>
                <a:sym typeface="Fira Sans"/>
              </a:rPr>
              <a:t>dịch</a:t>
            </a:r>
            <a:r>
              <a:rPr lang="en-US" sz="2799" dirty="0">
                <a:solidFill>
                  <a:srgbClr val="FFFFFF"/>
                </a:solidFill>
                <a:latin typeface="Fira Sans"/>
                <a:ea typeface="Fira Sans"/>
                <a:cs typeface="Fira Sans"/>
                <a:sym typeface="Fira Sans"/>
              </a:rPr>
              <a:t> </a:t>
            </a:r>
            <a:r>
              <a:rPr lang="en-US" sz="2799" dirty="0" err="1">
                <a:solidFill>
                  <a:srgbClr val="FFFFFF"/>
                </a:solidFill>
                <a:latin typeface="Fira Sans"/>
                <a:ea typeface="Fira Sans"/>
                <a:cs typeface="Fira Sans"/>
                <a:sym typeface="Fira Sans"/>
              </a:rPr>
              <a:t>vụ</a:t>
            </a:r>
            <a:r>
              <a:rPr lang="en-US" sz="2799" dirty="0">
                <a:solidFill>
                  <a:srgbClr val="FFFFFF"/>
                </a:solidFill>
                <a:latin typeface="Fira Sans"/>
                <a:ea typeface="Fira Sans"/>
                <a:cs typeface="Fira Sans"/>
                <a:sym typeface="Fira Sans"/>
              </a:rPr>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765235"/>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grpSp>
        <p:nvGrpSpPr>
          <p:cNvPr id="6" name="Group 6"/>
          <p:cNvGrpSpPr/>
          <p:nvPr/>
        </p:nvGrpSpPr>
        <p:grpSpPr>
          <a:xfrm>
            <a:off x="7950369" y="2282893"/>
            <a:ext cx="8612597" cy="6944273"/>
            <a:chOff x="0" y="0"/>
            <a:chExt cx="11483463" cy="9259031"/>
          </a:xfrm>
        </p:grpSpPr>
        <p:sp>
          <p:nvSpPr>
            <p:cNvPr id="7" name="Freeform 7"/>
            <p:cNvSpPr/>
            <p:nvPr/>
          </p:nvSpPr>
          <p:spPr>
            <a:xfrm>
              <a:off x="0" y="0"/>
              <a:ext cx="11483487" cy="9259107"/>
            </a:xfrm>
            <a:custGeom>
              <a:avLst/>
              <a:gdLst/>
              <a:ahLst/>
              <a:cxnLst/>
              <a:rect l="l" t="t" r="r" b="b"/>
              <a:pathLst>
                <a:path w="11483487" h="9259107">
                  <a:moveTo>
                    <a:pt x="0" y="322476"/>
                  </a:moveTo>
                  <a:cubicBezTo>
                    <a:pt x="0" y="144285"/>
                    <a:pt x="23014" y="0"/>
                    <a:pt x="51437" y="0"/>
                  </a:cubicBezTo>
                  <a:lnTo>
                    <a:pt x="11432048" y="0"/>
                  </a:lnTo>
                  <a:cubicBezTo>
                    <a:pt x="11460470" y="0"/>
                    <a:pt x="11483487" y="144285"/>
                    <a:pt x="11483487" y="322476"/>
                  </a:cubicBezTo>
                  <a:lnTo>
                    <a:pt x="11483487" y="8936987"/>
                  </a:lnTo>
                  <a:cubicBezTo>
                    <a:pt x="11483487" y="9115179"/>
                    <a:pt x="11460470" y="9259107"/>
                    <a:pt x="11432048" y="9259107"/>
                  </a:cubicBezTo>
                  <a:lnTo>
                    <a:pt x="51437" y="9259107"/>
                  </a:lnTo>
                  <a:cubicBezTo>
                    <a:pt x="23014" y="9259107"/>
                    <a:pt x="0" y="9115179"/>
                    <a:pt x="0" y="8936987"/>
                  </a:cubicBezTo>
                  <a:close/>
                </a:path>
              </a:pathLst>
            </a:custGeom>
            <a:solidFill>
              <a:srgbClr val="4D0038"/>
            </a:solidFill>
          </p:spPr>
        </p:sp>
      </p:grpSp>
      <p:grpSp>
        <p:nvGrpSpPr>
          <p:cNvPr id="8" name="Group 8"/>
          <p:cNvGrpSpPr/>
          <p:nvPr/>
        </p:nvGrpSpPr>
        <p:grpSpPr>
          <a:xfrm>
            <a:off x="8233890" y="2660474"/>
            <a:ext cx="442912" cy="354359"/>
            <a:chOff x="0" y="0"/>
            <a:chExt cx="590550" cy="472478"/>
          </a:xfrm>
        </p:grpSpPr>
        <p:sp>
          <p:nvSpPr>
            <p:cNvPr id="9" name="Freeform 9" descr="preencoded.png"/>
            <p:cNvSpPr/>
            <p:nvPr/>
          </p:nvSpPr>
          <p:spPr>
            <a:xfrm>
              <a:off x="0" y="0"/>
              <a:ext cx="590550" cy="472440"/>
            </a:xfrm>
            <a:custGeom>
              <a:avLst/>
              <a:gdLst/>
              <a:ahLst/>
              <a:cxnLst/>
              <a:rect l="l" t="t" r="r" b="b"/>
              <a:pathLst>
                <a:path w="590550" h="472440">
                  <a:moveTo>
                    <a:pt x="0" y="0"/>
                  </a:moveTo>
                  <a:lnTo>
                    <a:pt x="590550" y="0"/>
                  </a:lnTo>
                  <a:lnTo>
                    <a:pt x="590550" y="472440"/>
                  </a:lnTo>
                  <a:lnTo>
                    <a:pt x="0" y="472440"/>
                  </a:lnTo>
                  <a:lnTo>
                    <a:pt x="0" y="0"/>
                  </a:lnTo>
                  <a:close/>
                </a:path>
              </a:pathLst>
            </a:custGeom>
            <a:blipFill>
              <a:blip r:embed="rId2"/>
              <a:stretch>
                <a:fillRect l="-815" r="-815" b="-8"/>
              </a:stretch>
            </a:blipFill>
          </p:spPr>
        </p:sp>
      </p:grpSp>
      <p:sp>
        <p:nvSpPr>
          <p:cNvPr id="10" name="Freeform 10"/>
          <p:cNvSpPr/>
          <p:nvPr/>
        </p:nvSpPr>
        <p:spPr>
          <a:xfrm>
            <a:off x="9294584" y="2660474"/>
            <a:ext cx="5540432" cy="5706527"/>
          </a:xfrm>
          <a:custGeom>
            <a:avLst/>
            <a:gdLst/>
            <a:ahLst/>
            <a:cxnLst/>
            <a:rect l="l" t="t" r="r" b="b"/>
            <a:pathLst>
              <a:path w="5540432" h="5706527">
                <a:moveTo>
                  <a:pt x="0" y="0"/>
                </a:moveTo>
                <a:lnTo>
                  <a:pt x="5540433" y="0"/>
                </a:lnTo>
                <a:lnTo>
                  <a:pt x="5540433" y="5706526"/>
                </a:lnTo>
                <a:lnTo>
                  <a:pt x="0" y="5706526"/>
                </a:lnTo>
                <a:lnTo>
                  <a:pt x="0" y="0"/>
                </a:lnTo>
                <a:close/>
              </a:path>
            </a:pathLst>
          </a:custGeom>
          <a:blipFill>
            <a:blip r:embed="rId3"/>
            <a:stretch>
              <a:fillRect/>
            </a:stretch>
          </a:blipFill>
        </p:spPr>
      </p:sp>
      <p:sp>
        <p:nvSpPr>
          <p:cNvPr id="11" name="TextBox 11"/>
          <p:cNvSpPr txBox="1"/>
          <p:nvPr/>
        </p:nvSpPr>
        <p:spPr>
          <a:xfrm>
            <a:off x="992238" y="1026628"/>
            <a:ext cx="11264429"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6. Kết Nối Bằng Putty (Máy Hacker)</a:t>
            </a:r>
          </a:p>
        </p:txBody>
      </p:sp>
      <p:sp>
        <p:nvSpPr>
          <p:cNvPr id="12" name="TextBox 12"/>
          <p:cNvSpPr txBox="1"/>
          <p:nvPr/>
        </p:nvSpPr>
        <p:spPr>
          <a:xfrm>
            <a:off x="992238" y="2630848"/>
            <a:ext cx="4473401" cy="596265"/>
          </a:xfrm>
          <a:prstGeom prst="rect">
            <a:avLst/>
          </a:prstGeom>
        </p:spPr>
        <p:txBody>
          <a:bodyPr lIns="0" tIns="0" rIns="0" bIns="0" rtlCol="0" anchor="t">
            <a:spAutoFit/>
          </a:bodyPr>
          <a:lstStyle/>
          <a:p>
            <a:pPr algn="l">
              <a:lnSpc>
                <a:spcPts val="4500"/>
              </a:lnSpc>
            </a:pPr>
            <a:r>
              <a:rPr lang="en-US" sz="3600">
                <a:solidFill>
                  <a:srgbClr val="FBF3FA"/>
                </a:solidFill>
                <a:latin typeface="Arimo"/>
                <a:ea typeface="Arimo"/>
                <a:cs typeface="Arimo"/>
                <a:sym typeface="Arimo"/>
              </a:rPr>
              <a:t>Từ máy tính của mình</a:t>
            </a:r>
          </a:p>
        </p:txBody>
      </p:sp>
      <p:sp>
        <p:nvSpPr>
          <p:cNvPr id="13" name="TextBox 13"/>
          <p:cNvSpPr txBox="1"/>
          <p:nvPr/>
        </p:nvSpPr>
        <p:spPr>
          <a:xfrm>
            <a:off x="992238" y="3667669"/>
            <a:ext cx="6106268" cy="483091"/>
          </a:xfrm>
          <a:prstGeom prst="rect">
            <a:avLst/>
          </a:prstGeom>
        </p:spPr>
        <p:txBody>
          <a:bodyPr lIns="0" tIns="0" rIns="0" bIns="0" rtlCol="0" anchor="t">
            <a:spAutoFit/>
          </a:bodyPr>
          <a:lstStyle/>
          <a:p>
            <a:pPr algn="l">
              <a:lnSpc>
                <a:spcPts val="4071"/>
              </a:lnSpc>
            </a:pPr>
            <a:r>
              <a:rPr lang="en-US" sz="2499">
                <a:solidFill>
                  <a:srgbClr val="E0D6DE"/>
                </a:solidFill>
                <a:latin typeface="Fira Sans"/>
                <a:ea typeface="Fira Sans"/>
                <a:cs typeface="Fira Sans"/>
                <a:sym typeface="Fira Sans"/>
              </a:rPr>
              <a:t>Hacker mở phần mềm Putty</a:t>
            </a:r>
          </a:p>
        </p:txBody>
      </p:sp>
      <p:sp>
        <p:nvSpPr>
          <p:cNvPr id="14" name="TextBox 14"/>
          <p:cNvSpPr txBox="1"/>
          <p:nvPr/>
        </p:nvSpPr>
        <p:spPr>
          <a:xfrm>
            <a:off x="992238" y="4427195"/>
            <a:ext cx="6106268" cy="1511866"/>
          </a:xfrm>
          <a:prstGeom prst="rect">
            <a:avLst/>
          </a:prstGeom>
        </p:spPr>
        <p:txBody>
          <a:bodyPr lIns="0" tIns="0" rIns="0" bIns="0" rtlCol="0" anchor="t">
            <a:spAutoFit/>
          </a:bodyPr>
          <a:lstStyle/>
          <a:p>
            <a:pPr marL="377030" lvl="1" indent="-188515" algn="l">
              <a:lnSpc>
                <a:spcPts val="4071"/>
              </a:lnSpc>
              <a:buFont typeface="Arial"/>
              <a:buChar char="•"/>
            </a:pPr>
            <a:r>
              <a:rPr lang="en-US" sz="2499">
                <a:solidFill>
                  <a:srgbClr val="E0D6DE"/>
                </a:solidFill>
                <a:latin typeface="Fira Sans"/>
                <a:ea typeface="Fira Sans"/>
                <a:cs typeface="Fira Sans"/>
                <a:sym typeface="Fira Sans"/>
              </a:rPr>
              <a:t>Host Name: Nhập IP Public của máy nạn nhân (Ví dụ: 203.210.218.12)</a:t>
            </a:r>
          </a:p>
          <a:p>
            <a:pPr marL="377030" lvl="1" indent="-188515" algn="l">
              <a:lnSpc>
                <a:spcPts val="4071"/>
              </a:lnSpc>
              <a:buFont typeface="Arial"/>
              <a:buChar char="•"/>
            </a:pPr>
            <a:r>
              <a:rPr lang="en-US" sz="2499">
                <a:solidFill>
                  <a:srgbClr val="E0D6DE"/>
                </a:solidFill>
                <a:latin typeface="Fira Sans"/>
                <a:ea typeface="Fira Sans"/>
                <a:cs typeface="Fira Sans"/>
                <a:sym typeface="Fira Sans"/>
              </a:rPr>
              <a:t>Port: Điền 22 (Cổng của SSH)</a:t>
            </a:r>
          </a:p>
        </p:txBody>
      </p:sp>
      <p:sp>
        <p:nvSpPr>
          <p:cNvPr id="15" name="TextBox 15"/>
          <p:cNvSpPr txBox="1"/>
          <p:nvPr/>
        </p:nvSpPr>
        <p:spPr>
          <a:xfrm>
            <a:off x="11101320" y="8593141"/>
            <a:ext cx="3446937" cy="448908"/>
          </a:xfrm>
          <a:prstGeom prst="rect">
            <a:avLst/>
          </a:prstGeom>
        </p:spPr>
        <p:txBody>
          <a:bodyPr lIns="0" tIns="0" rIns="0" bIns="0" rtlCol="0" anchor="t">
            <a:spAutoFit/>
          </a:bodyPr>
          <a:lstStyle/>
          <a:p>
            <a:pPr algn="l">
              <a:lnSpc>
                <a:spcPts val="3499"/>
              </a:lnSpc>
            </a:pPr>
            <a:r>
              <a:rPr lang="en-US" sz="2799">
                <a:solidFill>
                  <a:srgbClr val="FFFFFF"/>
                </a:solidFill>
                <a:latin typeface="Arimo"/>
                <a:ea typeface="Arimo"/>
                <a:cs typeface="Arimo"/>
                <a:sym typeface="Arimo"/>
              </a:rPr>
              <a:t>Giao diện Putty</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562334"/>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171829"/>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grpSp>
        <p:nvGrpSpPr>
          <p:cNvPr id="6" name="Group 6"/>
          <p:cNvGrpSpPr/>
          <p:nvPr/>
        </p:nvGrpSpPr>
        <p:grpSpPr>
          <a:xfrm>
            <a:off x="954138" y="1451137"/>
            <a:ext cx="76200" cy="1596476"/>
            <a:chOff x="0" y="0"/>
            <a:chExt cx="101600" cy="2128634"/>
          </a:xfrm>
        </p:grpSpPr>
        <p:sp>
          <p:nvSpPr>
            <p:cNvPr id="7" name="Freeform 7"/>
            <p:cNvSpPr/>
            <p:nvPr/>
          </p:nvSpPr>
          <p:spPr>
            <a:xfrm>
              <a:off x="0" y="0"/>
              <a:ext cx="101600" cy="2128647"/>
            </a:xfrm>
            <a:custGeom>
              <a:avLst/>
              <a:gdLst/>
              <a:ahLst/>
              <a:cxnLst/>
              <a:rect l="l" t="t" r="r" b="b"/>
              <a:pathLst>
                <a:path w="101600" h="2128647">
                  <a:moveTo>
                    <a:pt x="0" y="0"/>
                  </a:moveTo>
                  <a:lnTo>
                    <a:pt x="101600" y="0"/>
                  </a:lnTo>
                  <a:lnTo>
                    <a:pt x="101600" y="2128647"/>
                  </a:lnTo>
                  <a:lnTo>
                    <a:pt x="0" y="2128647"/>
                  </a:lnTo>
                  <a:close/>
                </a:path>
              </a:pathLst>
            </a:custGeom>
            <a:solidFill>
              <a:srgbClr val="FF6BD8"/>
            </a:solidFill>
          </p:spPr>
        </p:sp>
      </p:grpSp>
      <p:grpSp>
        <p:nvGrpSpPr>
          <p:cNvPr id="8" name="Group 8"/>
          <p:cNvGrpSpPr/>
          <p:nvPr/>
        </p:nvGrpSpPr>
        <p:grpSpPr>
          <a:xfrm>
            <a:off x="954138" y="5557498"/>
            <a:ext cx="76200" cy="1596476"/>
            <a:chOff x="0" y="0"/>
            <a:chExt cx="101600" cy="2128634"/>
          </a:xfrm>
        </p:grpSpPr>
        <p:sp>
          <p:nvSpPr>
            <p:cNvPr id="9" name="Freeform 9"/>
            <p:cNvSpPr/>
            <p:nvPr/>
          </p:nvSpPr>
          <p:spPr>
            <a:xfrm>
              <a:off x="0" y="0"/>
              <a:ext cx="101600" cy="2128647"/>
            </a:xfrm>
            <a:custGeom>
              <a:avLst/>
              <a:gdLst/>
              <a:ahLst/>
              <a:cxnLst/>
              <a:rect l="l" t="t" r="r" b="b"/>
              <a:pathLst>
                <a:path w="101600" h="2128647">
                  <a:moveTo>
                    <a:pt x="0" y="0"/>
                  </a:moveTo>
                  <a:lnTo>
                    <a:pt x="101600" y="0"/>
                  </a:lnTo>
                  <a:lnTo>
                    <a:pt x="101600" y="2128647"/>
                  </a:lnTo>
                  <a:lnTo>
                    <a:pt x="0" y="2128647"/>
                  </a:lnTo>
                  <a:close/>
                </a:path>
              </a:pathLst>
            </a:custGeom>
            <a:solidFill>
              <a:srgbClr val="FF6BD8"/>
            </a:solidFill>
          </p:spPr>
        </p:sp>
      </p:grpSp>
      <p:grpSp>
        <p:nvGrpSpPr>
          <p:cNvPr id="10" name="Group 10"/>
          <p:cNvGrpSpPr/>
          <p:nvPr/>
        </p:nvGrpSpPr>
        <p:grpSpPr>
          <a:xfrm>
            <a:off x="954138" y="3538455"/>
            <a:ext cx="76200" cy="1596476"/>
            <a:chOff x="0" y="0"/>
            <a:chExt cx="101600" cy="2128634"/>
          </a:xfrm>
        </p:grpSpPr>
        <p:sp>
          <p:nvSpPr>
            <p:cNvPr id="11" name="Freeform 11"/>
            <p:cNvSpPr/>
            <p:nvPr/>
          </p:nvSpPr>
          <p:spPr>
            <a:xfrm>
              <a:off x="0" y="0"/>
              <a:ext cx="101600" cy="2128647"/>
            </a:xfrm>
            <a:custGeom>
              <a:avLst/>
              <a:gdLst/>
              <a:ahLst/>
              <a:cxnLst/>
              <a:rect l="l" t="t" r="r" b="b"/>
              <a:pathLst>
                <a:path w="101600" h="2128647">
                  <a:moveTo>
                    <a:pt x="0" y="0"/>
                  </a:moveTo>
                  <a:lnTo>
                    <a:pt x="101600" y="0"/>
                  </a:lnTo>
                  <a:lnTo>
                    <a:pt x="101600" y="2128647"/>
                  </a:lnTo>
                  <a:lnTo>
                    <a:pt x="0" y="2128647"/>
                  </a:lnTo>
                  <a:close/>
                </a:path>
              </a:pathLst>
            </a:custGeom>
            <a:solidFill>
              <a:srgbClr val="FF6BD8"/>
            </a:solidFill>
          </p:spPr>
        </p:sp>
      </p:grpSp>
      <p:grpSp>
        <p:nvGrpSpPr>
          <p:cNvPr id="12" name="Group 12"/>
          <p:cNvGrpSpPr/>
          <p:nvPr/>
        </p:nvGrpSpPr>
        <p:grpSpPr>
          <a:xfrm>
            <a:off x="954138" y="7644816"/>
            <a:ext cx="76200" cy="1596476"/>
            <a:chOff x="0" y="0"/>
            <a:chExt cx="101600" cy="2128634"/>
          </a:xfrm>
        </p:grpSpPr>
        <p:sp>
          <p:nvSpPr>
            <p:cNvPr id="13" name="Freeform 13"/>
            <p:cNvSpPr/>
            <p:nvPr/>
          </p:nvSpPr>
          <p:spPr>
            <a:xfrm>
              <a:off x="0" y="0"/>
              <a:ext cx="101600" cy="2128647"/>
            </a:xfrm>
            <a:custGeom>
              <a:avLst/>
              <a:gdLst/>
              <a:ahLst/>
              <a:cxnLst/>
              <a:rect l="l" t="t" r="r" b="b"/>
              <a:pathLst>
                <a:path w="101600" h="2128647">
                  <a:moveTo>
                    <a:pt x="0" y="0"/>
                  </a:moveTo>
                  <a:lnTo>
                    <a:pt x="101600" y="0"/>
                  </a:lnTo>
                  <a:lnTo>
                    <a:pt x="101600" y="2128647"/>
                  </a:lnTo>
                  <a:lnTo>
                    <a:pt x="0" y="2128647"/>
                  </a:lnTo>
                  <a:close/>
                </a:path>
              </a:pathLst>
            </a:custGeom>
            <a:solidFill>
              <a:srgbClr val="FF6BD8"/>
            </a:solidFill>
          </p:spPr>
        </p:sp>
      </p:grpSp>
      <p:grpSp>
        <p:nvGrpSpPr>
          <p:cNvPr id="16" name="Group 16"/>
          <p:cNvGrpSpPr/>
          <p:nvPr/>
        </p:nvGrpSpPr>
        <p:grpSpPr>
          <a:xfrm>
            <a:off x="9166474" y="922205"/>
            <a:ext cx="9121526" cy="8786249"/>
            <a:chOff x="0" y="0"/>
            <a:chExt cx="12162034" cy="11714998"/>
          </a:xfrm>
        </p:grpSpPr>
        <p:sp>
          <p:nvSpPr>
            <p:cNvPr id="17" name="Freeform 17"/>
            <p:cNvSpPr/>
            <p:nvPr/>
          </p:nvSpPr>
          <p:spPr>
            <a:xfrm>
              <a:off x="0" y="0"/>
              <a:ext cx="12161991" cy="11714628"/>
            </a:xfrm>
            <a:custGeom>
              <a:avLst/>
              <a:gdLst/>
              <a:ahLst/>
              <a:cxnLst/>
              <a:rect l="l" t="t" r="r" b="b"/>
              <a:pathLst>
                <a:path w="12161991" h="11714628">
                  <a:moveTo>
                    <a:pt x="0" y="413087"/>
                  </a:moveTo>
                  <a:cubicBezTo>
                    <a:pt x="0" y="185241"/>
                    <a:pt x="14211" y="0"/>
                    <a:pt x="31690" y="0"/>
                  </a:cubicBezTo>
                  <a:lnTo>
                    <a:pt x="12130301" y="0"/>
                  </a:lnTo>
                  <a:cubicBezTo>
                    <a:pt x="12147852" y="0"/>
                    <a:pt x="12161991" y="185241"/>
                    <a:pt x="12161991" y="413087"/>
                  </a:cubicBezTo>
                  <a:lnTo>
                    <a:pt x="12161991" y="11301540"/>
                  </a:lnTo>
                  <a:cubicBezTo>
                    <a:pt x="12161991" y="11530313"/>
                    <a:pt x="12147780" y="11714628"/>
                    <a:pt x="12130301" y="11714628"/>
                  </a:cubicBezTo>
                  <a:lnTo>
                    <a:pt x="31690" y="11714628"/>
                  </a:lnTo>
                  <a:cubicBezTo>
                    <a:pt x="14140" y="11714628"/>
                    <a:pt x="0" y="11529387"/>
                    <a:pt x="0" y="11301540"/>
                  </a:cubicBezTo>
                  <a:close/>
                </a:path>
              </a:pathLst>
            </a:custGeom>
            <a:solidFill>
              <a:srgbClr val="4D0038"/>
            </a:solidFill>
          </p:spPr>
        </p:sp>
      </p:grpSp>
      <p:grpSp>
        <p:nvGrpSpPr>
          <p:cNvPr id="18" name="Group 18"/>
          <p:cNvGrpSpPr/>
          <p:nvPr/>
        </p:nvGrpSpPr>
        <p:grpSpPr>
          <a:xfrm>
            <a:off x="9890771" y="1172012"/>
            <a:ext cx="374498" cy="390322"/>
            <a:chOff x="0" y="0"/>
            <a:chExt cx="362577" cy="378028"/>
          </a:xfrm>
        </p:grpSpPr>
        <p:sp>
          <p:nvSpPr>
            <p:cNvPr id="19" name="Freeform 19" descr="preencoded.png"/>
            <p:cNvSpPr/>
            <p:nvPr/>
          </p:nvSpPr>
          <p:spPr>
            <a:xfrm>
              <a:off x="0" y="0"/>
              <a:ext cx="362547" cy="378079"/>
            </a:xfrm>
            <a:custGeom>
              <a:avLst/>
              <a:gdLst/>
              <a:ahLst/>
              <a:cxnLst/>
              <a:rect l="l" t="t" r="r" b="b"/>
              <a:pathLst>
                <a:path w="362547" h="378079">
                  <a:moveTo>
                    <a:pt x="0" y="0"/>
                  </a:moveTo>
                  <a:lnTo>
                    <a:pt x="362547" y="0"/>
                  </a:lnTo>
                  <a:lnTo>
                    <a:pt x="362547" y="378079"/>
                  </a:lnTo>
                  <a:lnTo>
                    <a:pt x="0" y="378079"/>
                  </a:lnTo>
                  <a:lnTo>
                    <a:pt x="0" y="0"/>
                  </a:lnTo>
                  <a:close/>
                </a:path>
              </a:pathLst>
            </a:custGeom>
            <a:blipFill>
              <a:blip r:embed="rId2"/>
              <a:stretch>
                <a:fillRect l="-14313" t="-16" r="-14323"/>
              </a:stretch>
            </a:blipFill>
          </p:spPr>
        </p:sp>
      </p:grpSp>
      <p:sp>
        <p:nvSpPr>
          <p:cNvPr id="20" name="Freeform 20"/>
          <p:cNvSpPr/>
          <p:nvPr/>
        </p:nvSpPr>
        <p:spPr>
          <a:xfrm>
            <a:off x="9971419" y="1836563"/>
            <a:ext cx="6922660" cy="7278859"/>
          </a:xfrm>
          <a:custGeom>
            <a:avLst/>
            <a:gdLst/>
            <a:ahLst/>
            <a:cxnLst/>
            <a:rect l="l" t="t" r="r" b="b"/>
            <a:pathLst>
              <a:path w="6922660" h="7278859">
                <a:moveTo>
                  <a:pt x="0" y="0"/>
                </a:moveTo>
                <a:lnTo>
                  <a:pt x="6922660" y="0"/>
                </a:lnTo>
                <a:lnTo>
                  <a:pt x="6922660" y="7278859"/>
                </a:lnTo>
                <a:lnTo>
                  <a:pt x="0" y="7278859"/>
                </a:lnTo>
                <a:lnTo>
                  <a:pt x="0" y="0"/>
                </a:lnTo>
                <a:close/>
              </a:path>
            </a:pathLst>
          </a:custGeom>
          <a:blipFill>
            <a:blip r:embed="rId3"/>
            <a:stretch>
              <a:fillRect/>
            </a:stretch>
          </a:blipFill>
        </p:spPr>
      </p:sp>
      <p:sp>
        <p:nvSpPr>
          <p:cNvPr id="21" name="TextBox 21"/>
          <p:cNvSpPr txBox="1"/>
          <p:nvPr/>
        </p:nvSpPr>
        <p:spPr>
          <a:xfrm>
            <a:off x="992238" y="-20923"/>
            <a:ext cx="8776022"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7. Cấu Hình SSH Tunneling</a:t>
            </a:r>
          </a:p>
        </p:txBody>
      </p:sp>
      <p:sp>
        <p:nvSpPr>
          <p:cNvPr id="22" name="TextBox 22"/>
          <p:cNvSpPr txBox="1"/>
          <p:nvPr/>
        </p:nvSpPr>
        <p:spPr>
          <a:xfrm>
            <a:off x="1351959" y="1441612"/>
            <a:ext cx="3557922"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Vào mục Tunnels</a:t>
            </a:r>
          </a:p>
        </p:txBody>
      </p:sp>
      <p:sp>
        <p:nvSpPr>
          <p:cNvPr id="23" name="TextBox 23"/>
          <p:cNvSpPr txBox="1"/>
          <p:nvPr/>
        </p:nvSpPr>
        <p:spPr>
          <a:xfrm>
            <a:off x="1351959" y="2178836"/>
            <a:ext cx="7614790" cy="423108"/>
          </a:xfrm>
          <a:prstGeom prst="rect">
            <a:avLst/>
          </a:prstGeom>
        </p:spPr>
        <p:txBody>
          <a:bodyPr lIns="0" tIns="0" rIns="0" bIns="0" rtlCol="0" anchor="t">
            <a:spAutoFit/>
          </a:bodyPr>
          <a:lstStyle/>
          <a:p>
            <a:pPr algn="l">
              <a:lnSpc>
                <a:spcPts val="3582"/>
              </a:lnSpc>
            </a:pPr>
            <a:r>
              <a:rPr lang="en-US" sz="2199">
                <a:solidFill>
                  <a:srgbClr val="E0D6DE"/>
                </a:solidFill>
                <a:latin typeface="Fira Sans"/>
                <a:ea typeface="Fira Sans"/>
                <a:cs typeface="Fira Sans"/>
                <a:sym typeface="Fira Sans"/>
              </a:rPr>
              <a:t>Vào mục Tunnels trong phần mềm Putty</a:t>
            </a:r>
          </a:p>
        </p:txBody>
      </p:sp>
      <p:sp>
        <p:nvSpPr>
          <p:cNvPr id="24" name="TextBox 24"/>
          <p:cNvSpPr txBox="1"/>
          <p:nvPr/>
        </p:nvSpPr>
        <p:spPr>
          <a:xfrm>
            <a:off x="1351950" y="5547973"/>
            <a:ext cx="2414178"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Source Port</a:t>
            </a:r>
          </a:p>
        </p:txBody>
      </p:sp>
      <p:sp>
        <p:nvSpPr>
          <p:cNvPr id="25" name="TextBox 25"/>
          <p:cNvSpPr txBox="1"/>
          <p:nvPr/>
        </p:nvSpPr>
        <p:spPr>
          <a:xfrm>
            <a:off x="1351950" y="6285197"/>
            <a:ext cx="7614942" cy="870708"/>
          </a:xfrm>
          <a:prstGeom prst="rect">
            <a:avLst/>
          </a:prstGeom>
        </p:spPr>
        <p:txBody>
          <a:bodyPr lIns="0" tIns="0" rIns="0" bIns="0" rtlCol="0" anchor="t">
            <a:spAutoFit/>
          </a:bodyPr>
          <a:lstStyle/>
          <a:p>
            <a:pPr algn="l">
              <a:lnSpc>
                <a:spcPts val="3582"/>
              </a:lnSpc>
            </a:pPr>
            <a:r>
              <a:rPr lang="en-US" sz="2199">
                <a:solidFill>
                  <a:srgbClr val="E0D6DE"/>
                </a:solidFill>
                <a:latin typeface="Fira Sans"/>
                <a:ea typeface="Fira Sans"/>
                <a:cs typeface="Fira Sans"/>
                <a:sym typeface="Fira Sans"/>
              </a:rPr>
              <a:t>Source Port: 4899 (Cổng của phần mềm điều khiển từ xa Radmin)</a:t>
            </a:r>
          </a:p>
        </p:txBody>
      </p:sp>
      <p:sp>
        <p:nvSpPr>
          <p:cNvPr id="26" name="TextBox 26"/>
          <p:cNvSpPr txBox="1"/>
          <p:nvPr/>
        </p:nvSpPr>
        <p:spPr>
          <a:xfrm>
            <a:off x="1351959" y="3528930"/>
            <a:ext cx="2287488"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Destination</a:t>
            </a:r>
          </a:p>
        </p:txBody>
      </p:sp>
      <p:sp>
        <p:nvSpPr>
          <p:cNvPr id="27" name="TextBox 27"/>
          <p:cNvSpPr txBox="1"/>
          <p:nvPr/>
        </p:nvSpPr>
        <p:spPr>
          <a:xfrm>
            <a:off x="1351959" y="4266154"/>
            <a:ext cx="7614790" cy="423108"/>
          </a:xfrm>
          <a:prstGeom prst="rect">
            <a:avLst/>
          </a:prstGeom>
        </p:spPr>
        <p:txBody>
          <a:bodyPr lIns="0" tIns="0" rIns="0" bIns="0" rtlCol="0" anchor="t">
            <a:spAutoFit/>
          </a:bodyPr>
          <a:lstStyle/>
          <a:p>
            <a:pPr algn="l">
              <a:lnSpc>
                <a:spcPts val="3582"/>
              </a:lnSpc>
            </a:pPr>
            <a:r>
              <a:rPr lang="en-US" sz="2199">
                <a:solidFill>
                  <a:srgbClr val="E0D6DE"/>
                </a:solidFill>
                <a:latin typeface="Fira Sans"/>
                <a:ea typeface="Fira Sans"/>
                <a:cs typeface="Fira Sans"/>
                <a:sym typeface="Fira Sans"/>
              </a:rPr>
              <a:t>Destination: Địa chỉ máy nạn nhân kèm Port đang lắng nghe</a:t>
            </a:r>
          </a:p>
        </p:txBody>
      </p:sp>
      <p:sp>
        <p:nvSpPr>
          <p:cNvPr id="28" name="TextBox 28"/>
          <p:cNvSpPr txBox="1"/>
          <p:nvPr/>
        </p:nvSpPr>
        <p:spPr>
          <a:xfrm>
            <a:off x="1351950" y="7635291"/>
            <a:ext cx="3680892" cy="596265"/>
          </a:xfrm>
          <a:prstGeom prst="rect">
            <a:avLst/>
          </a:prstGeom>
        </p:spPr>
        <p:txBody>
          <a:bodyPr lIns="0" tIns="0" rIns="0" bIns="0" rtlCol="0" anchor="t">
            <a:spAutoFit/>
          </a:bodyPr>
          <a:lstStyle/>
          <a:p>
            <a:pPr algn="l">
              <a:lnSpc>
                <a:spcPts val="4500"/>
              </a:lnSpc>
            </a:pPr>
            <a:r>
              <a:rPr lang="en-US" sz="3600">
                <a:solidFill>
                  <a:srgbClr val="E0D6DE"/>
                </a:solidFill>
                <a:latin typeface="Arimo"/>
                <a:ea typeface="Arimo"/>
                <a:cs typeface="Arimo"/>
                <a:sym typeface="Arimo"/>
              </a:rPr>
              <a:t>Thêm đường hầm</a:t>
            </a:r>
          </a:p>
        </p:txBody>
      </p:sp>
      <p:sp>
        <p:nvSpPr>
          <p:cNvPr id="29" name="TextBox 29"/>
          <p:cNvSpPr txBox="1"/>
          <p:nvPr/>
        </p:nvSpPr>
        <p:spPr>
          <a:xfrm>
            <a:off x="1351950" y="8372515"/>
            <a:ext cx="7614942" cy="423108"/>
          </a:xfrm>
          <a:prstGeom prst="rect">
            <a:avLst/>
          </a:prstGeom>
        </p:spPr>
        <p:txBody>
          <a:bodyPr lIns="0" tIns="0" rIns="0" bIns="0" rtlCol="0" anchor="t">
            <a:spAutoFit/>
          </a:bodyPr>
          <a:lstStyle/>
          <a:p>
            <a:pPr algn="l">
              <a:lnSpc>
                <a:spcPts val="3582"/>
              </a:lnSpc>
            </a:pPr>
            <a:r>
              <a:rPr lang="en-US" sz="2199">
                <a:solidFill>
                  <a:srgbClr val="E0D6DE"/>
                </a:solidFill>
                <a:latin typeface="Fira Sans"/>
                <a:ea typeface="Fira Sans"/>
                <a:cs typeface="Fira Sans"/>
                <a:sym typeface="Fira Sans"/>
              </a:rPr>
              <a:t>Bấm Add để thiết lập đường hầm</a:t>
            </a:r>
          </a:p>
        </p:txBody>
      </p:sp>
      <p:sp>
        <p:nvSpPr>
          <p:cNvPr id="30" name="TextBox 30"/>
          <p:cNvSpPr txBox="1"/>
          <p:nvPr/>
        </p:nvSpPr>
        <p:spPr>
          <a:xfrm>
            <a:off x="11753066" y="9126992"/>
            <a:ext cx="5141013" cy="533400"/>
          </a:xfrm>
          <a:prstGeom prst="rect">
            <a:avLst/>
          </a:prstGeom>
        </p:spPr>
        <p:txBody>
          <a:bodyPr lIns="0" tIns="0" rIns="0" bIns="0" rtlCol="0" anchor="t">
            <a:spAutoFit/>
          </a:bodyPr>
          <a:lstStyle/>
          <a:p>
            <a:pPr algn="l">
              <a:lnSpc>
                <a:spcPts val="4559"/>
              </a:lnSpc>
            </a:pPr>
            <a:r>
              <a:rPr lang="en-US" sz="2799">
                <a:solidFill>
                  <a:srgbClr val="FFFFFF"/>
                </a:solidFill>
                <a:latin typeface="Fira Sans"/>
                <a:ea typeface="Fira Sans"/>
                <a:cs typeface="Fira Sans"/>
                <a:sym typeface="Fira Sans"/>
              </a:rPr>
              <a:t>Cấu hình SSH tunneling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02870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grpSp>
        <p:nvGrpSpPr>
          <p:cNvPr id="6" name="Group 6"/>
          <p:cNvGrpSpPr/>
          <p:nvPr/>
        </p:nvGrpSpPr>
        <p:grpSpPr>
          <a:xfrm>
            <a:off x="954138" y="2665209"/>
            <a:ext cx="76200" cy="1596476"/>
            <a:chOff x="0" y="0"/>
            <a:chExt cx="101600" cy="2128634"/>
          </a:xfrm>
        </p:grpSpPr>
        <p:sp>
          <p:nvSpPr>
            <p:cNvPr id="7" name="Freeform 7"/>
            <p:cNvSpPr/>
            <p:nvPr/>
          </p:nvSpPr>
          <p:spPr>
            <a:xfrm>
              <a:off x="0" y="0"/>
              <a:ext cx="101600" cy="2128647"/>
            </a:xfrm>
            <a:custGeom>
              <a:avLst/>
              <a:gdLst/>
              <a:ahLst/>
              <a:cxnLst/>
              <a:rect l="l" t="t" r="r" b="b"/>
              <a:pathLst>
                <a:path w="101600" h="2128647">
                  <a:moveTo>
                    <a:pt x="0" y="0"/>
                  </a:moveTo>
                  <a:lnTo>
                    <a:pt x="101600" y="0"/>
                  </a:lnTo>
                  <a:lnTo>
                    <a:pt x="101600" y="2128647"/>
                  </a:lnTo>
                  <a:lnTo>
                    <a:pt x="0" y="2128647"/>
                  </a:lnTo>
                  <a:close/>
                </a:path>
              </a:pathLst>
            </a:custGeom>
            <a:solidFill>
              <a:srgbClr val="FF6BD8"/>
            </a:solidFill>
          </p:spPr>
        </p:sp>
      </p:grpSp>
      <p:grpSp>
        <p:nvGrpSpPr>
          <p:cNvPr id="8" name="Group 8"/>
          <p:cNvGrpSpPr/>
          <p:nvPr/>
        </p:nvGrpSpPr>
        <p:grpSpPr>
          <a:xfrm>
            <a:off x="6506766" y="2665209"/>
            <a:ext cx="76200" cy="1596476"/>
            <a:chOff x="0" y="0"/>
            <a:chExt cx="101600" cy="2128634"/>
          </a:xfrm>
        </p:grpSpPr>
        <p:sp>
          <p:nvSpPr>
            <p:cNvPr id="9" name="Freeform 9"/>
            <p:cNvSpPr/>
            <p:nvPr/>
          </p:nvSpPr>
          <p:spPr>
            <a:xfrm>
              <a:off x="0" y="0"/>
              <a:ext cx="101600" cy="2128647"/>
            </a:xfrm>
            <a:custGeom>
              <a:avLst/>
              <a:gdLst/>
              <a:ahLst/>
              <a:cxnLst/>
              <a:rect l="l" t="t" r="r" b="b"/>
              <a:pathLst>
                <a:path w="101600" h="2128647">
                  <a:moveTo>
                    <a:pt x="0" y="0"/>
                  </a:moveTo>
                  <a:lnTo>
                    <a:pt x="101600" y="0"/>
                  </a:lnTo>
                  <a:lnTo>
                    <a:pt x="101600" y="2128647"/>
                  </a:lnTo>
                  <a:lnTo>
                    <a:pt x="0" y="2128647"/>
                  </a:lnTo>
                  <a:close/>
                </a:path>
              </a:pathLst>
            </a:custGeom>
            <a:solidFill>
              <a:srgbClr val="FF6BD8"/>
            </a:solidFill>
          </p:spPr>
        </p:sp>
      </p:grpSp>
      <p:grpSp>
        <p:nvGrpSpPr>
          <p:cNvPr id="10" name="Group 10"/>
          <p:cNvGrpSpPr/>
          <p:nvPr/>
        </p:nvGrpSpPr>
        <p:grpSpPr>
          <a:xfrm>
            <a:off x="12059393" y="2665209"/>
            <a:ext cx="76200" cy="1596476"/>
            <a:chOff x="0" y="0"/>
            <a:chExt cx="101600" cy="2128634"/>
          </a:xfrm>
        </p:grpSpPr>
        <p:sp>
          <p:nvSpPr>
            <p:cNvPr id="11" name="Freeform 11"/>
            <p:cNvSpPr/>
            <p:nvPr/>
          </p:nvSpPr>
          <p:spPr>
            <a:xfrm>
              <a:off x="0" y="0"/>
              <a:ext cx="101600" cy="2128647"/>
            </a:xfrm>
            <a:custGeom>
              <a:avLst/>
              <a:gdLst/>
              <a:ahLst/>
              <a:cxnLst/>
              <a:rect l="l" t="t" r="r" b="b"/>
              <a:pathLst>
                <a:path w="101600" h="2128647">
                  <a:moveTo>
                    <a:pt x="0" y="0"/>
                  </a:moveTo>
                  <a:lnTo>
                    <a:pt x="101600" y="0"/>
                  </a:lnTo>
                  <a:lnTo>
                    <a:pt x="101600" y="2128647"/>
                  </a:lnTo>
                  <a:lnTo>
                    <a:pt x="0" y="2128647"/>
                  </a:lnTo>
                  <a:close/>
                </a:path>
              </a:pathLst>
            </a:custGeom>
            <a:solidFill>
              <a:srgbClr val="FF6BD8"/>
            </a:solidFill>
          </p:spPr>
        </p:sp>
      </p:grpSp>
      <p:grpSp>
        <p:nvGrpSpPr>
          <p:cNvPr id="12" name="Group 12"/>
          <p:cNvGrpSpPr/>
          <p:nvPr/>
        </p:nvGrpSpPr>
        <p:grpSpPr>
          <a:xfrm>
            <a:off x="992238" y="4684262"/>
            <a:ext cx="16303523" cy="44948"/>
            <a:chOff x="0" y="0"/>
            <a:chExt cx="21738031" cy="59931"/>
          </a:xfrm>
        </p:grpSpPr>
        <p:sp>
          <p:nvSpPr>
            <p:cNvPr id="13" name="Freeform 13"/>
            <p:cNvSpPr/>
            <p:nvPr/>
          </p:nvSpPr>
          <p:spPr>
            <a:xfrm>
              <a:off x="0" y="0"/>
              <a:ext cx="21738082" cy="59944"/>
            </a:xfrm>
            <a:custGeom>
              <a:avLst/>
              <a:gdLst/>
              <a:ahLst/>
              <a:cxnLst/>
              <a:rect l="l" t="t" r="r" b="b"/>
              <a:pathLst>
                <a:path w="21738082" h="59944">
                  <a:moveTo>
                    <a:pt x="0" y="0"/>
                  </a:moveTo>
                  <a:lnTo>
                    <a:pt x="21738082" y="0"/>
                  </a:lnTo>
                  <a:lnTo>
                    <a:pt x="21738082" y="59944"/>
                  </a:lnTo>
                  <a:lnTo>
                    <a:pt x="0" y="59944"/>
                  </a:lnTo>
                  <a:close/>
                </a:path>
              </a:pathLst>
            </a:custGeom>
            <a:solidFill>
              <a:srgbClr val="E0D6DE">
                <a:alpha val="24706"/>
              </a:srgbClr>
            </a:solidFill>
          </p:spPr>
        </p:sp>
      </p:grpSp>
      <p:grpSp>
        <p:nvGrpSpPr>
          <p:cNvPr id="14" name="Group 14"/>
          <p:cNvGrpSpPr/>
          <p:nvPr/>
        </p:nvGrpSpPr>
        <p:grpSpPr>
          <a:xfrm>
            <a:off x="992238" y="5048098"/>
            <a:ext cx="16303523" cy="3432658"/>
            <a:chOff x="0" y="0"/>
            <a:chExt cx="21738031" cy="4576877"/>
          </a:xfrm>
        </p:grpSpPr>
        <p:sp>
          <p:nvSpPr>
            <p:cNvPr id="15" name="Freeform 15"/>
            <p:cNvSpPr/>
            <p:nvPr/>
          </p:nvSpPr>
          <p:spPr>
            <a:xfrm>
              <a:off x="0" y="0"/>
              <a:ext cx="21737954" cy="4576877"/>
            </a:xfrm>
            <a:custGeom>
              <a:avLst/>
              <a:gdLst/>
              <a:ahLst/>
              <a:cxnLst/>
              <a:rect l="l" t="t" r="r" b="b"/>
              <a:pathLst>
                <a:path w="21737954" h="4576877">
                  <a:moveTo>
                    <a:pt x="0" y="100680"/>
                  </a:moveTo>
                  <a:cubicBezTo>
                    <a:pt x="0" y="45148"/>
                    <a:pt x="25400" y="0"/>
                    <a:pt x="56642" y="0"/>
                  </a:cubicBezTo>
                  <a:lnTo>
                    <a:pt x="21681312" y="0"/>
                  </a:lnTo>
                  <a:cubicBezTo>
                    <a:pt x="21712681" y="0"/>
                    <a:pt x="21737954" y="45148"/>
                    <a:pt x="21737954" y="100680"/>
                  </a:cubicBezTo>
                  <a:lnTo>
                    <a:pt x="21737954" y="4476197"/>
                  </a:lnTo>
                  <a:cubicBezTo>
                    <a:pt x="21737954" y="4531955"/>
                    <a:pt x="21712554" y="4576877"/>
                    <a:pt x="21681312" y="4576877"/>
                  </a:cubicBezTo>
                  <a:lnTo>
                    <a:pt x="56642" y="4576877"/>
                  </a:lnTo>
                  <a:cubicBezTo>
                    <a:pt x="25273" y="4576877"/>
                    <a:pt x="0" y="4531730"/>
                    <a:pt x="0" y="4476197"/>
                  </a:cubicBezTo>
                  <a:close/>
                </a:path>
              </a:pathLst>
            </a:custGeom>
            <a:solidFill>
              <a:srgbClr val="4D0038"/>
            </a:solidFill>
          </p:spPr>
        </p:sp>
      </p:grpSp>
      <p:grpSp>
        <p:nvGrpSpPr>
          <p:cNvPr id="16" name="Group 16"/>
          <p:cNvGrpSpPr/>
          <p:nvPr/>
        </p:nvGrpSpPr>
        <p:grpSpPr>
          <a:xfrm>
            <a:off x="1275759" y="5425678"/>
            <a:ext cx="442912" cy="354359"/>
            <a:chOff x="0" y="0"/>
            <a:chExt cx="590550" cy="472478"/>
          </a:xfrm>
        </p:grpSpPr>
        <p:sp>
          <p:nvSpPr>
            <p:cNvPr id="17" name="Freeform 17" descr="preencoded.png"/>
            <p:cNvSpPr/>
            <p:nvPr/>
          </p:nvSpPr>
          <p:spPr>
            <a:xfrm>
              <a:off x="0" y="0"/>
              <a:ext cx="590550" cy="472440"/>
            </a:xfrm>
            <a:custGeom>
              <a:avLst/>
              <a:gdLst/>
              <a:ahLst/>
              <a:cxnLst/>
              <a:rect l="l" t="t" r="r" b="b"/>
              <a:pathLst>
                <a:path w="590550" h="472440">
                  <a:moveTo>
                    <a:pt x="0" y="0"/>
                  </a:moveTo>
                  <a:lnTo>
                    <a:pt x="590550" y="0"/>
                  </a:lnTo>
                  <a:lnTo>
                    <a:pt x="590550" y="472440"/>
                  </a:lnTo>
                  <a:lnTo>
                    <a:pt x="0" y="472440"/>
                  </a:lnTo>
                  <a:lnTo>
                    <a:pt x="0" y="0"/>
                  </a:lnTo>
                  <a:close/>
                </a:path>
              </a:pathLst>
            </a:custGeom>
            <a:blipFill>
              <a:blip r:embed="rId2"/>
              <a:stretch>
                <a:fillRect l="-815" r="-815" b="-8"/>
              </a:stretch>
            </a:blipFill>
          </p:spPr>
        </p:sp>
      </p:grpSp>
      <p:sp>
        <p:nvSpPr>
          <p:cNvPr id="18" name="Freeform 18"/>
          <p:cNvSpPr/>
          <p:nvPr/>
        </p:nvSpPr>
        <p:spPr>
          <a:xfrm>
            <a:off x="1881336" y="5425678"/>
            <a:ext cx="14525327" cy="1716435"/>
          </a:xfrm>
          <a:custGeom>
            <a:avLst/>
            <a:gdLst/>
            <a:ahLst/>
            <a:cxnLst/>
            <a:rect l="l" t="t" r="r" b="b"/>
            <a:pathLst>
              <a:path w="14525327" h="1716435">
                <a:moveTo>
                  <a:pt x="0" y="0"/>
                </a:moveTo>
                <a:lnTo>
                  <a:pt x="14525328" y="0"/>
                </a:lnTo>
                <a:lnTo>
                  <a:pt x="14525328" y="1716435"/>
                </a:lnTo>
                <a:lnTo>
                  <a:pt x="0" y="1716435"/>
                </a:lnTo>
                <a:lnTo>
                  <a:pt x="0" y="0"/>
                </a:lnTo>
                <a:close/>
              </a:path>
            </a:pathLst>
          </a:custGeom>
          <a:blipFill>
            <a:blip r:embed="rId3"/>
            <a:stretch>
              <a:fillRect/>
            </a:stretch>
          </a:blipFill>
        </p:spPr>
      </p:sp>
      <p:sp>
        <p:nvSpPr>
          <p:cNvPr id="19" name="TextBox 19"/>
          <p:cNvSpPr txBox="1"/>
          <p:nvPr/>
        </p:nvSpPr>
        <p:spPr>
          <a:xfrm>
            <a:off x="992238" y="1193159"/>
            <a:ext cx="9604995"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8. Kiểm Tra Ánh Xạ (Mapping)</a:t>
            </a:r>
          </a:p>
        </p:txBody>
      </p:sp>
      <p:sp>
        <p:nvSpPr>
          <p:cNvPr id="20" name="TextBox 20"/>
          <p:cNvSpPr txBox="1"/>
          <p:nvPr/>
        </p:nvSpPr>
        <p:spPr>
          <a:xfrm>
            <a:off x="1351959" y="2674734"/>
            <a:ext cx="3143841" cy="418320"/>
          </a:xfrm>
          <a:prstGeom prst="rect">
            <a:avLst/>
          </a:prstGeom>
        </p:spPr>
        <p:txBody>
          <a:bodyPr wrap="square" lIns="0" tIns="0" rIns="0" bIns="0" rtlCol="0" anchor="t">
            <a:spAutoFit/>
          </a:bodyPr>
          <a:lstStyle/>
          <a:p>
            <a:pPr algn="l">
              <a:lnSpc>
                <a:spcPts val="3499"/>
              </a:lnSpc>
            </a:pPr>
            <a:r>
              <a:rPr lang="en-US" sz="2799" dirty="0" err="1">
                <a:solidFill>
                  <a:srgbClr val="E0D6DE"/>
                </a:solidFill>
                <a:latin typeface="Arimo"/>
                <a:ea typeface="Arimo"/>
                <a:cs typeface="Arimo"/>
                <a:sym typeface="Arimo"/>
              </a:rPr>
              <a:t>Bước</a:t>
            </a:r>
            <a:r>
              <a:rPr lang="en-US" sz="2799" dirty="0">
                <a:solidFill>
                  <a:srgbClr val="E0D6DE"/>
                </a:solidFill>
                <a:latin typeface="Arimo"/>
                <a:ea typeface="Arimo"/>
                <a:cs typeface="Arimo"/>
                <a:sym typeface="Arimo"/>
              </a:rPr>
              <a:t> </a:t>
            </a:r>
            <a:r>
              <a:rPr lang="en-US" sz="2799" dirty="0" err="1">
                <a:solidFill>
                  <a:srgbClr val="E0D6DE"/>
                </a:solidFill>
                <a:latin typeface="Arimo"/>
                <a:ea typeface="Arimo"/>
                <a:cs typeface="Arimo"/>
                <a:sym typeface="Arimo"/>
              </a:rPr>
              <a:t>kiểm</a:t>
            </a:r>
            <a:r>
              <a:rPr lang="en-US" sz="2799" dirty="0">
                <a:solidFill>
                  <a:srgbClr val="E0D6DE"/>
                </a:solidFill>
                <a:latin typeface="Arimo"/>
                <a:ea typeface="Arimo"/>
                <a:cs typeface="Arimo"/>
                <a:sym typeface="Arimo"/>
              </a:rPr>
              <a:t> </a:t>
            </a:r>
            <a:r>
              <a:rPr lang="en-US" sz="2799" dirty="0" err="1">
                <a:solidFill>
                  <a:srgbClr val="E0D6DE"/>
                </a:solidFill>
                <a:latin typeface="Arimo"/>
                <a:ea typeface="Arimo"/>
                <a:cs typeface="Arimo"/>
                <a:sym typeface="Arimo"/>
              </a:rPr>
              <a:t>tra</a:t>
            </a:r>
            <a:endParaRPr lang="en-US" sz="2799" dirty="0">
              <a:solidFill>
                <a:srgbClr val="E0D6DE"/>
              </a:solidFill>
              <a:latin typeface="Arimo"/>
              <a:ea typeface="Arimo"/>
              <a:cs typeface="Arimo"/>
              <a:sym typeface="Arimo"/>
            </a:endParaRPr>
          </a:p>
        </p:txBody>
      </p:sp>
      <p:sp>
        <p:nvSpPr>
          <p:cNvPr id="21" name="TextBox 21"/>
          <p:cNvSpPr txBox="1"/>
          <p:nvPr/>
        </p:nvSpPr>
        <p:spPr>
          <a:xfrm>
            <a:off x="1351959" y="3221088"/>
            <a:ext cx="4838548" cy="870708"/>
          </a:xfrm>
          <a:prstGeom prst="rect">
            <a:avLst/>
          </a:prstGeom>
        </p:spPr>
        <p:txBody>
          <a:bodyPr lIns="0" tIns="0" rIns="0" bIns="0" rtlCol="0" anchor="t">
            <a:spAutoFit/>
          </a:bodyPr>
          <a:lstStyle/>
          <a:p>
            <a:pPr algn="l">
              <a:lnSpc>
                <a:spcPts val="3582"/>
              </a:lnSpc>
            </a:pPr>
            <a:r>
              <a:rPr lang="en-US" sz="2199">
                <a:solidFill>
                  <a:srgbClr val="E0D6DE"/>
                </a:solidFill>
                <a:latin typeface="Fira Sans"/>
                <a:ea typeface="Fira Sans"/>
                <a:cs typeface="Fira Sans"/>
                <a:sym typeface="Fira Sans"/>
              </a:rPr>
              <a:t>Đăng nhập SSH hoàn tất. Mở CMD gõ lệnh netstat -na</a:t>
            </a:r>
          </a:p>
        </p:txBody>
      </p:sp>
      <p:sp>
        <p:nvSpPr>
          <p:cNvPr id="22" name="TextBox 22"/>
          <p:cNvSpPr txBox="1"/>
          <p:nvPr/>
        </p:nvSpPr>
        <p:spPr>
          <a:xfrm>
            <a:off x="6904586" y="2674734"/>
            <a:ext cx="1858413" cy="418320"/>
          </a:xfrm>
          <a:prstGeom prst="rect">
            <a:avLst/>
          </a:prstGeom>
        </p:spPr>
        <p:txBody>
          <a:bodyPr wrap="square" lIns="0" tIns="0" rIns="0" bIns="0" rtlCol="0" anchor="t">
            <a:spAutoFit/>
          </a:bodyPr>
          <a:lstStyle/>
          <a:p>
            <a:pPr algn="l">
              <a:lnSpc>
                <a:spcPts val="3499"/>
              </a:lnSpc>
            </a:pPr>
            <a:r>
              <a:rPr lang="en-US" sz="2799" dirty="0" err="1">
                <a:solidFill>
                  <a:srgbClr val="E0D6DE"/>
                </a:solidFill>
                <a:latin typeface="Arimo"/>
                <a:ea typeface="Arimo"/>
                <a:cs typeface="Arimo"/>
                <a:sym typeface="Arimo"/>
              </a:rPr>
              <a:t>Kết</a:t>
            </a:r>
            <a:r>
              <a:rPr lang="en-US" sz="2799" dirty="0">
                <a:solidFill>
                  <a:srgbClr val="E0D6DE"/>
                </a:solidFill>
                <a:latin typeface="Arimo"/>
                <a:ea typeface="Arimo"/>
                <a:cs typeface="Arimo"/>
                <a:sym typeface="Arimo"/>
              </a:rPr>
              <a:t> </a:t>
            </a:r>
            <a:r>
              <a:rPr lang="en-US" sz="2799" dirty="0" err="1">
                <a:solidFill>
                  <a:srgbClr val="E0D6DE"/>
                </a:solidFill>
                <a:latin typeface="Arimo"/>
                <a:ea typeface="Arimo"/>
                <a:cs typeface="Arimo"/>
                <a:sym typeface="Arimo"/>
              </a:rPr>
              <a:t>quả</a:t>
            </a:r>
            <a:endParaRPr lang="en-US" sz="2799" dirty="0">
              <a:solidFill>
                <a:srgbClr val="E0D6DE"/>
              </a:solidFill>
              <a:latin typeface="Arimo"/>
              <a:ea typeface="Arimo"/>
              <a:cs typeface="Arimo"/>
              <a:sym typeface="Arimo"/>
            </a:endParaRPr>
          </a:p>
        </p:txBody>
      </p:sp>
      <p:sp>
        <p:nvSpPr>
          <p:cNvPr id="23" name="TextBox 23"/>
          <p:cNvSpPr txBox="1"/>
          <p:nvPr/>
        </p:nvSpPr>
        <p:spPr>
          <a:xfrm>
            <a:off x="6904587" y="3221088"/>
            <a:ext cx="4838548" cy="870708"/>
          </a:xfrm>
          <a:prstGeom prst="rect">
            <a:avLst/>
          </a:prstGeom>
        </p:spPr>
        <p:txBody>
          <a:bodyPr lIns="0" tIns="0" rIns="0" bIns="0" rtlCol="0" anchor="t">
            <a:spAutoFit/>
          </a:bodyPr>
          <a:lstStyle/>
          <a:p>
            <a:pPr algn="l">
              <a:lnSpc>
                <a:spcPts val="3582"/>
              </a:lnSpc>
            </a:pPr>
            <a:r>
              <a:rPr lang="en-US" sz="2199">
                <a:solidFill>
                  <a:srgbClr val="E0D6DE"/>
                </a:solidFill>
                <a:latin typeface="Fira Sans"/>
                <a:ea typeface="Fira Sans"/>
                <a:cs typeface="Fira Sans"/>
                <a:sym typeface="Fira Sans"/>
              </a:rPr>
              <a:t>Kết quả: TCP Port 4899 của máy ở xa đã được "kéo" về máy nội bộ</a:t>
            </a:r>
          </a:p>
        </p:txBody>
      </p:sp>
      <p:sp>
        <p:nvSpPr>
          <p:cNvPr id="24" name="TextBox 24"/>
          <p:cNvSpPr txBox="1"/>
          <p:nvPr/>
        </p:nvSpPr>
        <p:spPr>
          <a:xfrm>
            <a:off x="12457214" y="2674734"/>
            <a:ext cx="3261382" cy="448908"/>
          </a:xfrm>
          <a:prstGeom prst="rect">
            <a:avLst/>
          </a:prstGeom>
        </p:spPr>
        <p:txBody>
          <a:bodyPr lIns="0" tIns="0" rIns="0" bIns="0" rtlCol="0" anchor="t">
            <a:spAutoFit/>
          </a:bodyPr>
          <a:lstStyle/>
          <a:p>
            <a:pPr algn="l">
              <a:lnSpc>
                <a:spcPts val="3499"/>
              </a:lnSpc>
            </a:pPr>
            <a:r>
              <a:rPr lang="en-US" sz="2799">
                <a:solidFill>
                  <a:srgbClr val="E0D6DE"/>
                </a:solidFill>
                <a:latin typeface="Arimo"/>
                <a:ea typeface="Arimo"/>
                <a:cs typeface="Arimo"/>
                <a:sym typeface="Arimo"/>
              </a:rPr>
              <a:t>Trạng thái lắng nghe</a:t>
            </a:r>
          </a:p>
        </p:txBody>
      </p:sp>
      <p:sp>
        <p:nvSpPr>
          <p:cNvPr id="25" name="TextBox 25"/>
          <p:cNvSpPr txBox="1"/>
          <p:nvPr/>
        </p:nvSpPr>
        <p:spPr>
          <a:xfrm>
            <a:off x="12457214" y="3221088"/>
            <a:ext cx="4838548" cy="870708"/>
          </a:xfrm>
          <a:prstGeom prst="rect">
            <a:avLst/>
          </a:prstGeom>
        </p:spPr>
        <p:txBody>
          <a:bodyPr lIns="0" tIns="0" rIns="0" bIns="0" rtlCol="0" anchor="t">
            <a:spAutoFit/>
          </a:bodyPr>
          <a:lstStyle/>
          <a:p>
            <a:pPr algn="l">
              <a:lnSpc>
                <a:spcPts val="3582"/>
              </a:lnSpc>
            </a:pPr>
            <a:r>
              <a:rPr lang="en-US" sz="2199">
                <a:solidFill>
                  <a:srgbClr val="E0D6DE"/>
                </a:solidFill>
                <a:latin typeface="Fira Sans"/>
                <a:ea typeface="Fira Sans"/>
                <a:cs typeface="Fira Sans"/>
                <a:sym typeface="Fira Sans"/>
              </a:rPr>
              <a:t>Nó đang lắng nghe tại IP Local: 127.0.0.1</a:t>
            </a:r>
          </a:p>
        </p:txBody>
      </p:sp>
      <p:sp>
        <p:nvSpPr>
          <p:cNvPr id="26" name="TextBox 26"/>
          <p:cNvSpPr txBox="1"/>
          <p:nvPr/>
        </p:nvSpPr>
        <p:spPr>
          <a:xfrm>
            <a:off x="6582966" y="7789863"/>
            <a:ext cx="5160169" cy="418320"/>
          </a:xfrm>
          <a:prstGeom prst="rect">
            <a:avLst/>
          </a:prstGeom>
        </p:spPr>
        <p:txBody>
          <a:bodyPr wrap="square" lIns="0" tIns="0" rIns="0" bIns="0" rtlCol="0" anchor="t">
            <a:spAutoFit/>
          </a:bodyPr>
          <a:lstStyle/>
          <a:p>
            <a:pPr algn="l">
              <a:lnSpc>
                <a:spcPts val="3499"/>
              </a:lnSpc>
            </a:pPr>
            <a:r>
              <a:rPr lang="en-US" sz="2799" dirty="0">
                <a:solidFill>
                  <a:srgbClr val="FFFFFF"/>
                </a:solidFill>
                <a:latin typeface="Arimo"/>
                <a:ea typeface="Arimo"/>
                <a:cs typeface="Arimo"/>
                <a:sym typeface="Arimo"/>
              </a:rPr>
              <a:t> </a:t>
            </a:r>
            <a:r>
              <a:rPr lang="en-US" sz="2799" dirty="0" err="1">
                <a:solidFill>
                  <a:srgbClr val="FFFFFF"/>
                </a:solidFill>
                <a:latin typeface="Arimo"/>
                <a:ea typeface="Arimo"/>
                <a:cs typeface="Arimo"/>
                <a:sym typeface="Arimo"/>
              </a:rPr>
              <a:t>Kết</a:t>
            </a:r>
            <a:r>
              <a:rPr lang="en-US" sz="2799" dirty="0">
                <a:solidFill>
                  <a:srgbClr val="FFFFFF"/>
                </a:solidFill>
                <a:latin typeface="Arimo"/>
                <a:ea typeface="Arimo"/>
                <a:cs typeface="Arimo"/>
                <a:sym typeface="Arimo"/>
              </a:rPr>
              <a:t> </a:t>
            </a:r>
            <a:r>
              <a:rPr lang="en-US" sz="2799" dirty="0" err="1">
                <a:solidFill>
                  <a:srgbClr val="FFFFFF"/>
                </a:solidFill>
                <a:latin typeface="Arimo"/>
                <a:ea typeface="Arimo"/>
                <a:cs typeface="Arimo"/>
                <a:sym typeface="Arimo"/>
              </a:rPr>
              <a:t>quả</a:t>
            </a:r>
            <a:r>
              <a:rPr lang="en-US" sz="2799" dirty="0">
                <a:solidFill>
                  <a:srgbClr val="FFFFFF"/>
                </a:solidFill>
                <a:latin typeface="Arimo"/>
                <a:ea typeface="Arimo"/>
                <a:cs typeface="Arimo"/>
                <a:sym typeface="Arimo"/>
              </a:rPr>
              <a:t> </a:t>
            </a:r>
            <a:r>
              <a:rPr lang="en-US" sz="2799" dirty="0" err="1">
                <a:solidFill>
                  <a:srgbClr val="FFFFFF"/>
                </a:solidFill>
                <a:latin typeface="Arimo"/>
                <a:ea typeface="Arimo"/>
                <a:cs typeface="Arimo"/>
                <a:sym typeface="Arimo"/>
              </a:rPr>
              <a:t>thực</a:t>
            </a:r>
            <a:r>
              <a:rPr lang="en-US" sz="2799" dirty="0">
                <a:solidFill>
                  <a:srgbClr val="FFFFFF"/>
                </a:solidFill>
                <a:latin typeface="Arimo"/>
                <a:ea typeface="Arimo"/>
                <a:cs typeface="Arimo"/>
                <a:sym typeface="Arimo"/>
              </a:rPr>
              <a:t> </a:t>
            </a:r>
            <a:r>
              <a:rPr lang="en-US" sz="2799" dirty="0" err="1">
                <a:solidFill>
                  <a:srgbClr val="FFFFFF"/>
                </a:solidFill>
                <a:latin typeface="Arimo"/>
                <a:ea typeface="Arimo"/>
                <a:cs typeface="Arimo"/>
                <a:sym typeface="Arimo"/>
              </a:rPr>
              <a:t>thi</a:t>
            </a:r>
            <a:r>
              <a:rPr lang="en-US" sz="2799" dirty="0">
                <a:solidFill>
                  <a:srgbClr val="FFFFFF"/>
                </a:solidFill>
                <a:latin typeface="Arimo"/>
                <a:ea typeface="Arimo"/>
                <a:cs typeface="Arimo"/>
                <a:sym typeface="Arimo"/>
              </a:rPr>
              <a:t> </a:t>
            </a:r>
            <a:r>
              <a:rPr lang="en-US" sz="2799" dirty="0" err="1">
                <a:solidFill>
                  <a:srgbClr val="FFFFFF"/>
                </a:solidFill>
                <a:latin typeface="Arimo"/>
                <a:ea typeface="Arimo"/>
                <a:cs typeface="Arimo"/>
                <a:sym typeface="Arimo"/>
              </a:rPr>
              <a:t>lệnh</a:t>
            </a:r>
            <a:r>
              <a:rPr lang="en-US" sz="2799" dirty="0">
                <a:solidFill>
                  <a:srgbClr val="FFFFFF"/>
                </a:solidFill>
                <a:latin typeface="Arimo"/>
                <a:ea typeface="Arimo"/>
                <a:cs typeface="Arimo"/>
                <a:sym typeface="Arimo"/>
              </a:rPr>
              <a:t> netstat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grpSp>
        <p:nvGrpSpPr>
          <p:cNvPr id="6" name="Group 6"/>
          <p:cNvGrpSpPr/>
          <p:nvPr/>
        </p:nvGrpSpPr>
        <p:grpSpPr>
          <a:xfrm>
            <a:off x="992238" y="3832469"/>
            <a:ext cx="141684" cy="141684"/>
            <a:chOff x="0" y="0"/>
            <a:chExt cx="188912" cy="188912"/>
          </a:xfrm>
        </p:grpSpPr>
        <p:sp>
          <p:nvSpPr>
            <p:cNvPr id="7" name="Freeform 7"/>
            <p:cNvSpPr/>
            <p:nvPr/>
          </p:nvSpPr>
          <p:spPr>
            <a:xfrm>
              <a:off x="0" y="0"/>
              <a:ext cx="188976" cy="188976"/>
            </a:xfrm>
            <a:custGeom>
              <a:avLst/>
              <a:gdLst/>
              <a:ahLst/>
              <a:cxnLst/>
              <a:rect l="l" t="t" r="r" b="b"/>
              <a:pathLst>
                <a:path w="188976" h="188976">
                  <a:moveTo>
                    <a:pt x="0" y="94488"/>
                  </a:moveTo>
                  <a:cubicBezTo>
                    <a:pt x="0" y="42291"/>
                    <a:pt x="42291" y="0"/>
                    <a:pt x="94488" y="0"/>
                  </a:cubicBezTo>
                  <a:cubicBezTo>
                    <a:pt x="146685" y="0"/>
                    <a:pt x="188976" y="42291"/>
                    <a:pt x="188976" y="94488"/>
                  </a:cubicBezTo>
                  <a:cubicBezTo>
                    <a:pt x="188976" y="146685"/>
                    <a:pt x="146685" y="188976"/>
                    <a:pt x="94488" y="188976"/>
                  </a:cubicBezTo>
                  <a:cubicBezTo>
                    <a:pt x="42291" y="188976"/>
                    <a:pt x="0" y="146685"/>
                    <a:pt x="0" y="94488"/>
                  </a:cubicBezTo>
                  <a:close/>
                </a:path>
              </a:pathLst>
            </a:custGeom>
            <a:solidFill>
              <a:srgbClr val="FF6BD8"/>
            </a:solidFill>
          </p:spPr>
        </p:sp>
      </p:grpSp>
      <p:grpSp>
        <p:nvGrpSpPr>
          <p:cNvPr id="8" name="Group 8"/>
          <p:cNvGrpSpPr/>
          <p:nvPr/>
        </p:nvGrpSpPr>
        <p:grpSpPr>
          <a:xfrm>
            <a:off x="992238" y="5285337"/>
            <a:ext cx="141684" cy="141684"/>
            <a:chOff x="0" y="0"/>
            <a:chExt cx="188912" cy="188912"/>
          </a:xfrm>
        </p:grpSpPr>
        <p:sp>
          <p:nvSpPr>
            <p:cNvPr id="9" name="Freeform 9"/>
            <p:cNvSpPr/>
            <p:nvPr/>
          </p:nvSpPr>
          <p:spPr>
            <a:xfrm>
              <a:off x="0" y="0"/>
              <a:ext cx="188976" cy="188976"/>
            </a:xfrm>
            <a:custGeom>
              <a:avLst/>
              <a:gdLst/>
              <a:ahLst/>
              <a:cxnLst/>
              <a:rect l="l" t="t" r="r" b="b"/>
              <a:pathLst>
                <a:path w="188976" h="188976">
                  <a:moveTo>
                    <a:pt x="0" y="94488"/>
                  </a:moveTo>
                  <a:cubicBezTo>
                    <a:pt x="0" y="42291"/>
                    <a:pt x="42291" y="0"/>
                    <a:pt x="94488" y="0"/>
                  </a:cubicBezTo>
                  <a:cubicBezTo>
                    <a:pt x="146685" y="0"/>
                    <a:pt x="188976" y="42291"/>
                    <a:pt x="188976" y="94488"/>
                  </a:cubicBezTo>
                  <a:cubicBezTo>
                    <a:pt x="188976" y="146685"/>
                    <a:pt x="146685" y="188976"/>
                    <a:pt x="94488" y="188976"/>
                  </a:cubicBezTo>
                  <a:cubicBezTo>
                    <a:pt x="42291" y="188976"/>
                    <a:pt x="0" y="146685"/>
                    <a:pt x="0" y="94488"/>
                  </a:cubicBezTo>
                  <a:close/>
                </a:path>
              </a:pathLst>
            </a:custGeom>
            <a:solidFill>
              <a:srgbClr val="FF6BD8"/>
            </a:solidFill>
          </p:spPr>
        </p:sp>
      </p:grpSp>
      <p:grpSp>
        <p:nvGrpSpPr>
          <p:cNvPr id="10" name="Group 10"/>
          <p:cNvGrpSpPr/>
          <p:nvPr/>
        </p:nvGrpSpPr>
        <p:grpSpPr>
          <a:xfrm>
            <a:off x="992238" y="6738195"/>
            <a:ext cx="141684" cy="141684"/>
            <a:chOff x="0" y="0"/>
            <a:chExt cx="188912" cy="188912"/>
          </a:xfrm>
        </p:grpSpPr>
        <p:sp>
          <p:nvSpPr>
            <p:cNvPr id="11" name="Freeform 11"/>
            <p:cNvSpPr/>
            <p:nvPr/>
          </p:nvSpPr>
          <p:spPr>
            <a:xfrm>
              <a:off x="0" y="0"/>
              <a:ext cx="188976" cy="188976"/>
            </a:xfrm>
            <a:custGeom>
              <a:avLst/>
              <a:gdLst/>
              <a:ahLst/>
              <a:cxnLst/>
              <a:rect l="l" t="t" r="r" b="b"/>
              <a:pathLst>
                <a:path w="188976" h="188976">
                  <a:moveTo>
                    <a:pt x="0" y="94488"/>
                  </a:moveTo>
                  <a:cubicBezTo>
                    <a:pt x="0" y="42291"/>
                    <a:pt x="42291" y="0"/>
                    <a:pt x="94488" y="0"/>
                  </a:cubicBezTo>
                  <a:cubicBezTo>
                    <a:pt x="146685" y="0"/>
                    <a:pt x="188976" y="42291"/>
                    <a:pt x="188976" y="94488"/>
                  </a:cubicBezTo>
                  <a:cubicBezTo>
                    <a:pt x="188976" y="146685"/>
                    <a:pt x="146685" y="188976"/>
                    <a:pt x="94488" y="188976"/>
                  </a:cubicBezTo>
                  <a:cubicBezTo>
                    <a:pt x="42291" y="188976"/>
                    <a:pt x="0" y="146685"/>
                    <a:pt x="0" y="94488"/>
                  </a:cubicBezTo>
                  <a:close/>
                </a:path>
              </a:pathLst>
            </a:custGeom>
            <a:solidFill>
              <a:srgbClr val="FF6BD8"/>
            </a:solidFill>
          </p:spPr>
        </p:sp>
      </p:grpSp>
      <p:grpSp>
        <p:nvGrpSpPr>
          <p:cNvPr id="12" name="Group 12"/>
          <p:cNvGrpSpPr/>
          <p:nvPr/>
        </p:nvGrpSpPr>
        <p:grpSpPr>
          <a:xfrm>
            <a:off x="7098506" y="3142436"/>
            <a:ext cx="10206638" cy="6420215"/>
            <a:chOff x="0" y="0"/>
            <a:chExt cx="13608850" cy="8560287"/>
          </a:xfrm>
        </p:grpSpPr>
        <p:sp>
          <p:nvSpPr>
            <p:cNvPr id="13" name="Freeform 13"/>
            <p:cNvSpPr/>
            <p:nvPr/>
          </p:nvSpPr>
          <p:spPr>
            <a:xfrm>
              <a:off x="0" y="0"/>
              <a:ext cx="13608741" cy="8560016"/>
            </a:xfrm>
            <a:custGeom>
              <a:avLst/>
              <a:gdLst/>
              <a:ahLst/>
              <a:cxnLst/>
              <a:rect l="l" t="t" r="r" b="b"/>
              <a:pathLst>
                <a:path w="13608741" h="8560016">
                  <a:moveTo>
                    <a:pt x="0" y="301848"/>
                  </a:moveTo>
                  <a:cubicBezTo>
                    <a:pt x="0" y="135358"/>
                    <a:pt x="27274" y="0"/>
                    <a:pt x="60821" y="0"/>
                  </a:cubicBezTo>
                  <a:lnTo>
                    <a:pt x="13547920" y="0"/>
                  </a:lnTo>
                  <a:cubicBezTo>
                    <a:pt x="13581602" y="0"/>
                    <a:pt x="13608741" y="135358"/>
                    <a:pt x="13608741" y="301848"/>
                  </a:cubicBezTo>
                  <a:lnTo>
                    <a:pt x="13608741" y="8258169"/>
                  </a:lnTo>
                  <a:cubicBezTo>
                    <a:pt x="13608741" y="8425335"/>
                    <a:pt x="13581467" y="8560016"/>
                    <a:pt x="13547920" y="8560016"/>
                  </a:cubicBezTo>
                  <a:lnTo>
                    <a:pt x="60821" y="8560016"/>
                  </a:lnTo>
                  <a:cubicBezTo>
                    <a:pt x="27138" y="8560016"/>
                    <a:pt x="0" y="8424659"/>
                    <a:pt x="0" y="8258169"/>
                  </a:cubicBezTo>
                  <a:close/>
                </a:path>
              </a:pathLst>
            </a:custGeom>
            <a:solidFill>
              <a:srgbClr val="4D0038"/>
            </a:solidFill>
          </p:spPr>
        </p:sp>
      </p:grpSp>
      <p:grpSp>
        <p:nvGrpSpPr>
          <p:cNvPr id="14" name="Group 14"/>
          <p:cNvGrpSpPr/>
          <p:nvPr/>
        </p:nvGrpSpPr>
        <p:grpSpPr>
          <a:xfrm>
            <a:off x="7384256" y="3398339"/>
            <a:ext cx="354359" cy="283521"/>
            <a:chOff x="0" y="0"/>
            <a:chExt cx="472478" cy="378028"/>
          </a:xfrm>
        </p:grpSpPr>
        <p:sp>
          <p:nvSpPr>
            <p:cNvPr id="15" name="Freeform 15" descr="preencoded.png"/>
            <p:cNvSpPr/>
            <p:nvPr/>
          </p:nvSpPr>
          <p:spPr>
            <a:xfrm>
              <a:off x="0" y="0"/>
              <a:ext cx="472440" cy="378079"/>
            </a:xfrm>
            <a:custGeom>
              <a:avLst/>
              <a:gdLst/>
              <a:ahLst/>
              <a:cxnLst/>
              <a:rect l="l" t="t" r="r" b="b"/>
              <a:pathLst>
                <a:path w="472440" h="378079">
                  <a:moveTo>
                    <a:pt x="0" y="0"/>
                  </a:moveTo>
                  <a:lnTo>
                    <a:pt x="472440" y="0"/>
                  </a:lnTo>
                  <a:lnTo>
                    <a:pt x="472440" y="378079"/>
                  </a:lnTo>
                  <a:lnTo>
                    <a:pt x="0" y="378079"/>
                  </a:lnTo>
                  <a:lnTo>
                    <a:pt x="0" y="0"/>
                  </a:lnTo>
                  <a:close/>
                </a:path>
              </a:pathLst>
            </a:custGeom>
            <a:blipFill>
              <a:blip r:embed="rId2"/>
              <a:stretch>
                <a:fillRect t="-671" r="-8" b="-655"/>
              </a:stretch>
            </a:blipFill>
          </p:spPr>
        </p:sp>
      </p:grpSp>
      <p:sp>
        <p:nvSpPr>
          <p:cNvPr id="16" name="Freeform 16"/>
          <p:cNvSpPr/>
          <p:nvPr/>
        </p:nvSpPr>
        <p:spPr>
          <a:xfrm>
            <a:off x="7384256" y="3903312"/>
            <a:ext cx="9844227" cy="4981993"/>
          </a:xfrm>
          <a:custGeom>
            <a:avLst/>
            <a:gdLst/>
            <a:ahLst/>
            <a:cxnLst/>
            <a:rect l="l" t="t" r="r" b="b"/>
            <a:pathLst>
              <a:path w="9844227" h="4981993">
                <a:moveTo>
                  <a:pt x="0" y="0"/>
                </a:moveTo>
                <a:lnTo>
                  <a:pt x="9844228" y="0"/>
                </a:lnTo>
                <a:lnTo>
                  <a:pt x="9844228" y="4981993"/>
                </a:lnTo>
                <a:lnTo>
                  <a:pt x="0" y="4981993"/>
                </a:lnTo>
                <a:lnTo>
                  <a:pt x="0" y="0"/>
                </a:lnTo>
                <a:close/>
              </a:path>
            </a:pathLst>
          </a:custGeom>
          <a:blipFill>
            <a:blip r:embed="rId3"/>
            <a:stretch>
              <a:fillRect/>
            </a:stretch>
          </a:blipFill>
        </p:spPr>
      </p:sp>
      <p:sp>
        <p:nvSpPr>
          <p:cNvPr id="17" name="TextBox 17"/>
          <p:cNvSpPr txBox="1"/>
          <p:nvPr/>
        </p:nvSpPr>
        <p:spPr>
          <a:xfrm>
            <a:off x="992238" y="1994592"/>
            <a:ext cx="9723686"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9. Tạo Kết Nối Remote Control</a:t>
            </a:r>
          </a:p>
        </p:txBody>
      </p:sp>
      <p:sp>
        <p:nvSpPr>
          <p:cNvPr id="18" name="TextBox 18"/>
          <p:cNvSpPr txBox="1"/>
          <p:nvPr/>
        </p:nvSpPr>
        <p:spPr>
          <a:xfrm>
            <a:off x="1417434" y="3653285"/>
            <a:ext cx="5681072" cy="924709"/>
          </a:xfrm>
          <a:prstGeom prst="rect">
            <a:avLst/>
          </a:prstGeom>
        </p:spPr>
        <p:txBody>
          <a:bodyPr lIns="0" tIns="0" rIns="0" bIns="0" rtlCol="0" anchor="t">
            <a:spAutoFit/>
          </a:bodyPr>
          <a:lstStyle/>
          <a:p>
            <a:pPr algn="l">
              <a:lnSpc>
                <a:spcPts val="3624"/>
              </a:lnSpc>
            </a:pPr>
            <a:r>
              <a:rPr lang="en-US" sz="2899">
                <a:solidFill>
                  <a:srgbClr val="E0D6DE"/>
                </a:solidFill>
                <a:latin typeface="Arimo"/>
                <a:ea typeface="Arimo"/>
                <a:cs typeface="Arimo"/>
                <a:sym typeface="Arimo"/>
              </a:rPr>
              <a:t>Hacker mở phần mềm RAdmin Client</a:t>
            </a:r>
          </a:p>
        </p:txBody>
      </p:sp>
      <p:sp>
        <p:nvSpPr>
          <p:cNvPr id="19" name="TextBox 19"/>
          <p:cNvSpPr txBox="1"/>
          <p:nvPr/>
        </p:nvSpPr>
        <p:spPr>
          <a:xfrm>
            <a:off x="1417434" y="5106143"/>
            <a:ext cx="5681072" cy="924709"/>
          </a:xfrm>
          <a:prstGeom prst="rect">
            <a:avLst/>
          </a:prstGeom>
        </p:spPr>
        <p:txBody>
          <a:bodyPr lIns="0" tIns="0" rIns="0" bIns="0" rtlCol="0" anchor="t">
            <a:spAutoFit/>
          </a:bodyPr>
          <a:lstStyle/>
          <a:p>
            <a:pPr algn="l">
              <a:lnSpc>
                <a:spcPts val="3624"/>
              </a:lnSpc>
            </a:pPr>
            <a:r>
              <a:rPr lang="en-US" sz="2899">
                <a:solidFill>
                  <a:srgbClr val="E0D6DE"/>
                </a:solidFill>
                <a:latin typeface="Arimo"/>
                <a:ea typeface="Arimo"/>
                <a:cs typeface="Arimo"/>
                <a:sym typeface="Arimo"/>
              </a:rPr>
              <a:t>Không cần kết nối vào IP thật của nạn nhân nữa</a:t>
            </a:r>
          </a:p>
        </p:txBody>
      </p:sp>
      <p:sp>
        <p:nvSpPr>
          <p:cNvPr id="20" name="TextBox 20"/>
          <p:cNvSpPr txBox="1"/>
          <p:nvPr/>
        </p:nvSpPr>
        <p:spPr>
          <a:xfrm>
            <a:off x="1417434" y="6559001"/>
            <a:ext cx="5681072" cy="924709"/>
          </a:xfrm>
          <a:prstGeom prst="rect">
            <a:avLst/>
          </a:prstGeom>
        </p:spPr>
        <p:txBody>
          <a:bodyPr lIns="0" tIns="0" rIns="0" bIns="0" rtlCol="0" anchor="t">
            <a:spAutoFit/>
          </a:bodyPr>
          <a:lstStyle/>
          <a:p>
            <a:pPr algn="l">
              <a:lnSpc>
                <a:spcPts val="3624"/>
              </a:lnSpc>
            </a:pPr>
            <a:r>
              <a:rPr lang="en-US" sz="2899">
                <a:solidFill>
                  <a:srgbClr val="E0D6DE"/>
                </a:solidFill>
                <a:latin typeface="Arimo"/>
                <a:ea typeface="Arimo"/>
                <a:cs typeface="Arimo"/>
                <a:sym typeface="Arimo"/>
              </a:rPr>
              <a:t>Chỉ cần kết nối vào Localhost: 127.0.0.1 với cổng 4899</a:t>
            </a:r>
          </a:p>
        </p:txBody>
      </p:sp>
      <p:sp>
        <p:nvSpPr>
          <p:cNvPr id="21" name="TextBox 21"/>
          <p:cNvSpPr txBox="1"/>
          <p:nvPr/>
        </p:nvSpPr>
        <p:spPr>
          <a:xfrm>
            <a:off x="9683202" y="8934450"/>
            <a:ext cx="6007670" cy="533400"/>
          </a:xfrm>
          <a:prstGeom prst="rect">
            <a:avLst/>
          </a:prstGeom>
        </p:spPr>
        <p:txBody>
          <a:bodyPr lIns="0" tIns="0" rIns="0" bIns="0" rtlCol="0" anchor="t">
            <a:spAutoFit/>
          </a:bodyPr>
          <a:lstStyle/>
          <a:p>
            <a:pPr algn="l">
              <a:lnSpc>
                <a:spcPts val="4559"/>
              </a:lnSpc>
            </a:pPr>
            <a:r>
              <a:rPr lang="en-US" sz="2799">
                <a:solidFill>
                  <a:srgbClr val="FFFFFF"/>
                </a:solidFill>
                <a:latin typeface="Fira Sans"/>
                <a:ea typeface="Fira Sans"/>
                <a:cs typeface="Fira Sans"/>
                <a:sym typeface="Fira Sans"/>
              </a:rPr>
              <a:t>Kết nối đến máy chủ bằng RA client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02870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grpSp>
        <p:nvGrpSpPr>
          <p:cNvPr id="6" name="Group 6"/>
          <p:cNvGrpSpPr/>
          <p:nvPr/>
        </p:nvGrpSpPr>
        <p:grpSpPr>
          <a:xfrm>
            <a:off x="992238" y="2519401"/>
            <a:ext cx="16303523" cy="44948"/>
            <a:chOff x="0" y="0"/>
            <a:chExt cx="21738031" cy="59931"/>
          </a:xfrm>
        </p:grpSpPr>
        <p:sp>
          <p:nvSpPr>
            <p:cNvPr id="7" name="Freeform 7"/>
            <p:cNvSpPr/>
            <p:nvPr/>
          </p:nvSpPr>
          <p:spPr>
            <a:xfrm>
              <a:off x="0" y="0"/>
              <a:ext cx="21738082" cy="59944"/>
            </a:xfrm>
            <a:custGeom>
              <a:avLst/>
              <a:gdLst/>
              <a:ahLst/>
              <a:cxnLst/>
              <a:rect l="l" t="t" r="r" b="b"/>
              <a:pathLst>
                <a:path w="21738082" h="59944">
                  <a:moveTo>
                    <a:pt x="0" y="0"/>
                  </a:moveTo>
                  <a:lnTo>
                    <a:pt x="21738082" y="0"/>
                  </a:lnTo>
                  <a:lnTo>
                    <a:pt x="21738082" y="59944"/>
                  </a:lnTo>
                  <a:lnTo>
                    <a:pt x="0" y="59944"/>
                  </a:lnTo>
                  <a:close/>
                </a:path>
              </a:pathLst>
            </a:custGeom>
            <a:solidFill>
              <a:srgbClr val="E0D6DE">
                <a:alpha val="24706"/>
              </a:srgbClr>
            </a:solidFill>
          </p:spPr>
        </p:sp>
      </p:grpSp>
      <p:grpSp>
        <p:nvGrpSpPr>
          <p:cNvPr id="8" name="Group 8"/>
          <p:cNvGrpSpPr/>
          <p:nvPr/>
        </p:nvGrpSpPr>
        <p:grpSpPr>
          <a:xfrm>
            <a:off x="7495434" y="2979000"/>
            <a:ext cx="10357542" cy="6888002"/>
            <a:chOff x="0" y="0"/>
            <a:chExt cx="13810056" cy="9184002"/>
          </a:xfrm>
        </p:grpSpPr>
        <p:sp>
          <p:nvSpPr>
            <p:cNvPr id="9" name="Freeform 9"/>
            <p:cNvSpPr/>
            <p:nvPr/>
          </p:nvSpPr>
          <p:spPr>
            <a:xfrm>
              <a:off x="0" y="0"/>
              <a:ext cx="13810081" cy="9184078"/>
            </a:xfrm>
            <a:custGeom>
              <a:avLst/>
              <a:gdLst/>
              <a:ahLst/>
              <a:cxnLst/>
              <a:rect l="l" t="t" r="r" b="b"/>
              <a:pathLst>
                <a:path w="13810081" h="9184078">
                  <a:moveTo>
                    <a:pt x="0" y="319863"/>
                  </a:moveTo>
                  <a:cubicBezTo>
                    <a:pt x="0" y="143115"/>
                    <a:pt x="27677" y="0"/>
                    <a:pt x="61859" y="0"/>
                  </a:cubicBezTo>
                  <a:lnTo>
                    <a:pt x="13748224" y="0"/>
                  </a:lnTo>
                  <a:cubicBezTo>
                    <a:pt x="13782405" y="0"/>
                    <a:pt x="13810081" y="143115"/>
                    <a:pt x="13810081" y="319863"/>
                  </a:cubicBezTo>
                  <a:lnTo>
                    <a:pt x="13810081" y="8864568"/>
                  </a:lnTo>
                  <a:cubicBezTo>
                    <a:pt x="13810081" y="9041316"/>
                    <a:pt x="13782405" y="9184078"/>
                    <a:pt x="13748224" y="9184078"/>
                  </a:cubicBezTo>
                  <a:lnTo>
                    <a:pt x="61859" y="9184078"/>
                  </a:lnTo>
                  <a:cubicBezTo>
                    <a:pt x="27677" y="9184078"/>
                    <a:pt x="0" y="9041316"/>
                    <a:pt x="0" y="8864568"/>
                  </a:cubicBezTo>
                  <a:close/>
                </a:path>
              </a:pathLst>
            </a:custGeom>
            <a:solidFill>
              <a:srgbClr val="4D0038"/>
            </a:solidFill>
          </p:spPr>
        </p:sp>
      </p:grpSp>
      <p:grpSp>
        <p:nvGrpSpPr>
          <p:cNvPr id="10" name="Group 10"/>
          <p:cNvGrpSpPr/>
          <p:nvPr/>
        </p:nvGrpSpPr>
        <p:grpSpPr>
          <a:xfrm>
            <a:off x="7756849" y="3281932"/>
            <a:ext cx="442912" cy="354359"/>
            <a:chOff x="0" y="0"/>
            <a:chExt cx="590550" cy="472478"/>
          </a:xfrm>
        </p:grpSpPr>
        <p:sp>
          <p:nvSpPr>
            <p:cNvPr id="11" name="Freeform 11" descr="preencoded.png"/>
            <p:cNvSpPr/>
            <p:nvPr/>
          </p:nvSpPr>
          <p:spPr>
            <a:xfrm>
              <a:off x="0" y="0"/>
              <a:ext cx="590550" cy="472440"/>
            </a:xfrm>
            <a:custGeom>
              <a:avLst/>
              <a:gdLst/>
              <a:ahLst/>
              <a:cxnLst/>
              <a:rect l="l" t="t" r="r" b="b"/>
              <a:pathLst>
                <a:path w="590550" h="472440">
                  <a:moveTo>
                    <a:pt x="0" y="0"/>
                  </a:moveTo>
                  <a:lnTo>
                    <a:pt x="590550" y="0"/>
                  </a:lnTo>
                  <a:lnTo>
                    <a:pt x="590550" y="472440"/>
                  </a:lnTo>
                  <a:lnTo>
                    <a:pt x="0" y="472440"/>
                  </a:lnTo>
                  <a:lnTo>
                    <a:pt x="0" y="0"/>
                  </a:lnTo>
                  <a:close/>
                </a:path>
              </a:pathLst>
            </a:custGeom>
            <a:blipFill>
              <a:blip r:embed="rId2"/>
              <a:stretch>
                <a:fillRect l="-815" r="-815" b="-8"/>
              </a:stretch>
            </a:blipFill>
          </p:spPr>
        </p:sp>
      </p:grpSp>
      <p:sp>
        <p:nvSpPr>
          <p:cNvPr id="12" name="Freeform 12"/>
          <p:cNvSpPr/>
          <p:nvPr/>
        </p:nvSpPr>
        <p:spPr>
          <a:xfrm>
            <a:off x="7756849" y="3911123"/>
            <a:ext cx="9938744" cy="4819941"/>
          </a:xfrm>
          <a:custGeom>
            <a:avLst/>
            <a:gdLst/>
            <a:ahLst/>
            <a:cxnLst/>
            <a:rect l="l" t="t" r="r" b="b"/>
            <a:pathLst>
              <a:path w="9938744" h="4819941">
                <a:moveTo>
                  <a:pt x="0" y="0"/>
                </a:moveTo>
                <a:lnTo>
                  <a:pt x="9938744" y="0"/>
                </a:lnTo>
                <a:lnTo>
                  <a:pt x="9938744" y="4819941"/>
                </a:lnTo>
                <a:lnTo>
                  <a:pt x="0" y="4819941"/>
                </a:lnTo>
                <a:lnTo>
                  <a:pt x="0" y="0"/>
                </a:lnTo>
                <a:close/>
              </a:path>
            </a:pathLst>
          </a:custGeom>
          <a:blipFill>
            <a:blip r:embed="rId3"/>
            <a:stretch>
              <a:fillRect r="-1117"/>
            </a:stretch>
          </a:blipFill>
        </p:spPr>
      </p:sp>
      <p:sp>
        <p:nvSpPr>
          <p:cNvPr id="13" name="TextBox 13"/>
          <p:cNvSpPr txBox="1"/>
          <p:nvPr/>
        </p:nvSpPr>
        <p:spPr>
          <a:xfrm>
            <a:off x="992238" y="867518"/>
            <a:ext cx="12176001" cy="909487"/>
          </a:xfrm>
          <a:prstGeom prst="rect">
            <a:avLst/>
          </a:prstGeom>
        </p:spPr>
        <p:txBody>
          <a:bodyPr lIns="0" tIns="0" rIns="0" bIns="0" rtlCol="0" anchor="t">
            <a:spAutoFit/>
          </a:bodyPr>
          <a:lstStyle/>
          <a:p>
            <a:pPr algn="l">
              <a:lnSpc>
                <a:spcPts val="6984"/>
              </a:lnSpc>
            </a:pPr>
            <a:r>
              <a:rPr lang="en-US" sz="5600">
                <a:solidFill>
                  <a:srgbClr val="FBF3FA"/>
                </a:solidFill>
                <a:latin typeface="Arimo"/>
                <a:ea typeface="Arimo"/>
                <a:cs typeface="Arimo"/>
                <a:sym typeface="Arimo"/>
              </a:rPr>
              <a:t>10. Xuyên Thủng Firewall Thành Công</a:t>
            </a:r>
          </a:p>
        </p:txBody>
      </p:sp>
      <p:sp>
        <p:nvSpPr>
          <p:cNvPr id="14" name="TextBox 14"/>
          <p:cNvSpPr txBox="1"/>
          <p:nvPr/>
        </p:nvSpPr>
        <p:spPr>
          <a:xfrm>
            <a:off x="992238" y="3024035"/>
            <a:ext cx="6106268" cy="1110211"/>
          </a:xfrm>
          <a:prstGeom prst="rect">
            <a:avLst/>
          </a:prstGeom>
        </p:spPr>
        <p:txBody>
          <a:bodyPr lIns="0" tIns="0" rIns="0" bIns="0" rtlCol="0" anchor="t">
            <a:spAutoFit/>
          </a:bodyPr>
          <a:lstStyle/>
          <a:p>
            <a:pPr algn="l">
              <a:lnSpc>
                <a:spcPts val="4518"/>
              </a:lnSpc>
            </a:pPr>
            <a:r>
              <a:rPr lang="en-US" sz="2799" b="1">
                <a:solidFill>
                  <a:srgbClr val="E0D6DE"/>
                </a:solidFill>
                <a:latin typeface="Fira Sans Bold"/>
                <a:ea typeface="Fira Sans Bold"/>
                <a:cs typeface="Fira Sans Bold"/>
                <a:sym typeface="Fira Sans Bold"/>
              </a:rPr>
              <a:t>Dữ liệu điều khiển RAdmin chui qua ống SSH (Cổng 22)</a:t>
            </a:r>
          </a:p>
        </p:txBody>
      </p:sp>
      <p:sp>
        <p:nvSpPr>
          <p:cNvPr id="15" name="TextBox 15"/>
          <p:cNvSpPr txBox="1"/>
          <p:nvPr/>
        </p:nvSpPr>
        <p:spPr>
          <a:xfrm>
            <a:off x="992238" y="4412904"/>
            <a:ext cx="6106268" cy="1110211"/>
          </a:xfrm>
          <a:prstGeom prst="rect">
            <a:avLst/>
          </a:prstGeom>
        </p:spPr>
        <p:txBody>
          <a:bodyPr lIns="0" tIns="0" rIns="0" bIns="0" rtlCol="0" anchor="t">
            <a:spAutoFit/>
          </a:bodyPr>
          <a:lstStyle/>
          <a:p>
            <a:pPr algn="l">
              <a:lnSpc>
                <a:spcPts val="4518"/>
              </a:lnSpc>
            </a:pPr>
            <a:r>
              <a:rPr lang="en-US" sz="2799">
                <a:solidFill>
                  <a:srgbClr val="E0D6DE"/>
                </a:solidFill>
                <a:latin typeface="Fira Sans"/>
                <a:ea typeface="Fira Sans"/>
                <a:cs typeface="Fira Sans"/>
                <a:sym typeface="Fira Sans"/>
              </a:rPr>
              <a:t>Giao thức đi qua Firewall hoàn toàn hợp lệ, không bị chặn</a:t>
            </a:r>
          </a:p>
        </p:txBody>
      </p:sp>
      <p:sp>
        <p:nvSpPr>
          <p:cNvPr id="16" name="TextBox 16"/>
          <p:cNvSpPr txBox="1"/>
          <p:nvPr/>
        </p:nvSpPr>
        <p:spPr>
          <a:xfrm>
            <a:off x="992238" y="5801763"/>
            <a:ext cx="6106268" cy="1110211"/>
          </a:xfrm>
          <a:prstGeom prst="rect">
            <a:avLst/>
          </a:prstGeom>
        </p:spPr>
        <p:txBody>
          <a:bodyPr lIns="0" tIns="0" rIns="0" bIns="0" rtlCol="0" anchor="t">
            <a:spAutoFit/>
          </a:bodyPr>
          <a:lstStyle/>
          <a:p>
            <a:pPr algn="l">
              <a:lnSpc>
                <a:spcPts val="4518"/>
              </a:lnSpc>
            </a:pPr>
            <a:r>
              <a:rPr lang="en-US" sz="2799">
                <a:solidFill>
                  <a:srgbClr val="E0D6DE"/>
                </a:solidFill>
                <a:latin typeface="Fira Sans"/>
                <a:ea typeface="Fira Sans"/>
                <a:cs typeface="Fira Sans"/>
                <a:sym typeface="Fira Sans"/>
              </a:rPr>
              <a:t>Màn hình máy nạn nhân hiện ra, máy tính đã bị kiểm soát hoàn toàn!</a:t>
            </a:r>
          </a:p>
        </p:txBody>
      </p:sp>
      <p:sp>
        <p:nvSpPr>
          <p:cNvPr id="17" name="TextBox 17"/>
          <p:cNvSpPr txBox="1"/>
          <p:nvPr/>
        </p:nvSpPr>
        <p:spPr>
          <a:xfrm>
            <a:off x="7867501" y="9220200"/>
            <a:ext cx="9391799" cy="449262"/>
          </a:xfrm>
          <a:prstGeom prst="rect">
            <a:avLst/>
          </a:prstGeom>
        </p:spPr>
        <p:txBody>
          <a:bodyPr lIns="0" tIns="0" rIns="0" bIns="0" rtlCol="0" anchor="t">
            <a:spAutoFit/>
          </a:bodyPr>
          <a:lstStyle/>
          <a:p>
            <a:pPr algn="l">
              <a:lnSpc>
                <a:spcPts val="3437"/>
              </a:lnSpc>
            </a:pPr>
            <a:r>
              <a:rPr lang="en-US" sz="2750">
                <a:solidFill>
                  <a:srgbClr val="FFFFFF"/>
                </a:solidFill>
                <a:latin typeface="Arimo"/>
                <a:ea typeface="Arimo"/>
                <a:cs typeface="Arimo"/>
                <a:sym typeface="Arimo"/>
              </a:rPr>
              <a:t>Màn hình của remote computer với public IP 203.210.218.12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18181B"/>
            </a:solidFill>
          </p:spPr>
        </p:sp>
      </p:grpSp>
      <p:grpSp>
        <p:nvGrpSpPr>
          <p:cNvPr id="4" name="Group 4"/>
          <p:cNvGrpSpPr/>
          <p:nvPr/>
        </p:nvGrpSpPr>
        <p:grpSpPr>
          <a:xfrm>
            <a:off x="0" y="0"/>
            <a:ext cx="18288000" cy="10287000"/>
            <a:chOff x="0" y="0"/>
            <a:chExt cx="24384000" cy="13716000"/>
          </a:xfrm>
        </p:grpSpPr>
        <p:sp>
          <p:nvSpPr>
            <p:cNvPr id="5" name="Freeform 5"/>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0F0F10"/>
            </a:solidFill>
          </p:spPr>
        </p:sp>
      </p:grpSp>
      <p:sp>
        <p:nvSpPr>
          <p:cNvPr id="6" name="TextBox 6"/>
          <p:cNvSpPr txBox="1"/>
          <p:nvPr/>
        </p:nvSpPr>
        <p:spPr>
          <a:xfrm>
            <a:off x="992238" y="1653035"/>
            <a:ext cx="9781880" cy="1298972"/>
          </a:xfrm>
          <a:prstGeom prst="rect">
            <a:avLst/>
          </a:prstGeom>
        </p:spPr>
        <p:txBody>
          <a:bodyPr lIns="0" tIns="0" rIns="0" bIns="0" rtlCol="0" anchor="t">
            <a:spAutoFit/>
          </a:bodyPr>
          <a:lstStyle/>
          <a:p>
            <a:pPr algn="l">
              <a:lnSpc>
                <a:spcPts val="9625"/>
              </a:lnSpc>
            </a:pPr>
            <a:r>
              <a:rPr lang="en-US" sz="7687">
                <a:solidFill>
                  <a:srgbClr val="FBF3FA"/>
                </a:solidFill>
                <a:latin typeface="Arimo"/>
                <a:ea typeface="Arimo"/>
                <a:cs typeface="Arimo"/>
                <a:sym typeface="Arimo"/>
              </a:rPr>
              <a:t>Tổng Kết</a:t>
            </a:r>
          </a:p>
        </p:txBody>
      </p:sp>
      <p:grpSp>
        <p:nvGrpSpPr>
          <p:cNvPr id="7" name="Group 7"/>
          <p:cNvGrpSpPr/>
          <p:nvPr/>
        </p:nvGrpSpPr>
        <p:grpSpPr>
          <a:xfrm>
            <a:off x="992238" y="3660772"/>
            <a:ext cx="16303523" cy="44948"/>
            <a:chOff x="0" y="0"/>
            <a:chExt cx="21738031" cy="59931"/>
          </a:xfrm>
        </p:grpSpPr>
        <p:sp>
          <p:nvSpPr>
            <p:cNvPr id="8" name="Freeform 8"/>
            <p:cNvSpPr/>
            <p:nvPr/>
          </p:nvSpPr>
          <p:spPr>
            <a:xfrm>
              <a:off x="0" y="0"/>
              <a:ext cx="21738082" cy="59944"/>
            </a:xfrm>
            <a:custGeom>
              <a:avLst/>
              <a:gdLst/>
              <a:ahLst/>
              <a:cxnLst/>
              <a:rect l="l" t="t" r="r" b="b"/>
              <a:pathLst>
                <a:path w="21738082" h="59944">
                  <a:moveTo>
                    <a:pt x="0" y="0"/>
                  </a:moveTo>
                  <a:lnTo>
                    <a:pt x="21738082" y="0"/>
                  </a:lnTo>
                  <a:lnTo>
                    <a:pt x="21738082" y="59944"/>
                  </a:lnTo>
                  <a:lnTo>
                    <a:pt x="0" y="59944"/>
                  </a:lnTo>
                  <a:close/>
                </a:path>
              </a:pathLst>
            </a:custGeom>
            <a:solidFill>
              <a:srgbClr val="E0D6DE">
                <a:alpha val="24706"/>
              </a:srgbClr>
            </a:solidFill>
          </p:spPr>
        </p:sp>
      </p:grpSp>
      <p:grpSp>
        <p:nvGrpSpPr>
          <p:cNvPr id="9" name="Group 9"/>
          <p:cNvGrpSpPr/>
          <p:nvPr/>
        </p:nvGrpSpPr>
        <p:grpSpPr>
          <a:xfrm>
            <a:off x="973188" y="4005558"/>
            <a:ext cx="5283546" cy="3108874"/>
            <a:chOff x="0" y="0"/>
            <a:chExt cx="7044728" cy="4145166"/>
          </a:xfrm>
        </p:grpSpPr>
        <p:sp>
          <p:nvSpPr>
            <p:cNvPr id="10" name="Freeform 10"/>
            <p:cNvSpPr/>
            <p:nvPr/>
          </p:nvSpPr>
          <p:spPr>
            <a:xfrm>
              <a:off x="25400" y="25400"/>
              <a:ext cx="6994017" cy="4094480"/>
            </a:xfrm>
            <a:custGeom>
              <a:avLst/>
              <a:gdLst/>
              <a:ahLst/>
              <a:cxnLst/>
              <a:rect l="l" t="t" r="r" b="b"/>
              <a:pathLst>
                <a:path w="6994017" h="4094480">
                  <a:moveTo>
                    <a:pt x="0" y="56769"/>
                  </a:moveTo>
                  <a:cubicBezTo>
                    <a:pt x="0" y="25400"/>
                    <a:pt x="25527" y="0"/>
                    <a:pt x="57023" y="0"/>
                  </a:cubicBezTo>
                  <a:lnTo>
                    <a:pt x="6936994" y="0"/>
                  </a:lnTo>
                  <a:cubicBezTo>
                    <a:pt x="6968489" y="0"/>
                    <a:pt x="6994017" y="25400"/>
                    <a:pt x="6994017" y="56769"/>
                  </a:cubicBezTo>
                  <a:lnTo>
                    <a:pt x="6994017" y="4037711"/>
                  </a:lnTo>
                  <a:cubicBezTo>
                    <a:pt x="6994017" y="4069080"/>
                    <a:pt x="6968489" y="4094480"/>
                    <a:pt x="6936994" y="4094480"/>
                  </a:cubicBezTo>
                  <a:lnTo>
                    <a:pt x="57023" y="4094480"/>
                  </a:lnTo>
                  <a:cubicBezTo>
                    <a:pt x="25527" y="4094480"/>
                    <a:pt x="0" y="4069080"/>
                    <a:pt x="0" y="4037711"/>
                  </a:cubicBezTo>
                  <a:close/>
                </a:path>
              </a:pathLst>
            </a:custGeom>
            <a:solidFill>
              <a:srgbClr val="0F0F10"/>
            </a:solidFill>
          </p:spPr>
        </p:sp>
        <p:sp>
          <p:nvSpPr>
            <p:cNvPr id="11" name="Freeform 11"/>
            <p:cNvSpPr/>
            <p:nvPr/>
          </p:nvSpPr>
          <p:spPr>
            <a:xfrm>
              <a:off x="0" y="0"/>
              <a:ext cx="7044817" cy="4145280"/>
            </a:xfrm>
            <a:custGeom>
              <a:avLst/>
              <a:gdLst/>
              <a:ahLst/>
              <a:cxnLst/>
              <a:rect l="l" t="t" r="r" b="b"/>
              <a:pathLst>
                <a:path w="7044817" h="4145280">
                  <a:moveTo>
                    <a:pt x="0" y="82169"/>
                  </a:moveTo>
                  <a:cubicBezTo>
                    <a:pt x="0" y="36576"/>
                    <a:pt x="36957" y="0"/>
                    <a:pt x="82423" y="0"/>
                  </a:cubicBezTo>
                  <a:lnTo>
                    <a:pt x="6962394" y="0"/>
                  </a:lnTo>
                  <a:lnTo>
                    <a:pt x="6962394" y="25400"/>
                  </a:lnTo>
                  <a:lnTo>
                    <a:pt x="6962394" y="0"/>
                  </a:lnTo>
                  <a:cubicBezTo>
                    <a:pt x="7007733" y="0"/>
                    <a:pt x="7044817" y="36576"/>
                    <a:pt x="7044817" y="82169"/>
                  </a:cubicBezTo>
                  <a:lnTo>
                    <a:pt x="7019417" y="82169"/>
                  </a:lnTo>
                  <a:lnTo>
                    <a:pt x="7044817" y="82169"/>
                  </a:lnTo>
                  <a:lnTo>
                    <a:pt x="7044817" y="4063111"/>
                  </a:lnTo>
                  <a:lnTo>
                    <a:pt x="7019417" y="4063111"/>
                  </a:lnTo>
                  <a:lnTo>
                    <a:pt x="7044817" y="4063111"/>
                  </a:lnTo>
                  <a:cubicBezTo>
                    <a:pt x="7044817" y="4108577"/>
                    <a:pt x="7007860" y="4145280"/>
                    <a:pt x="6962394" y="4145280"/>
                  </a:cubicBezTo>
                  <a:lnTo>
                    <a:pt x="6962394" y="4119880"/>
                  </a:lnTo>
                  <a:lnTo>
                    <a:pt x="6962394" y="4145280"/>
                  </a:lnTo>
                  <a:lnTo>
                    <a:pt x="82423" y="4145280"/>
                  </a:lnTo>
                  <a:lnTo>
                    <a:pt x="82423" y="4119880"/>
                  </a:lnTo>
                  <a:lnTo>
                    <a:pt x="82423" y="4145280"/>
                  </a:lnTo>
                  <a:cubicBezTo>
                    <a:pt x="37084" y="4145280"/>
                    <a:pt x="0" y="4108704"/>
                    <a:pt x="0" y="4063111"/>
                  </a:cubicBezTo>
                  <a:lnTo>
                    <a:pt x="0" y="82169"/>
                  </a:lnTo>
                  <a:lnTo>
                    <a:pt x="25400" y="82169"/>
                  </a:lnTo>
                  <a:lnTo>
                    <a:pt x="0" y="82169"/>
                  </a:lnTo>
                  <a:moveTo>
                    <a:pt x="50800" y="82169"/>
                  </a:moveTo>
                  <a:lnTo>
                    <a:pt x="50800" y="4063111"/>
                  </a:lnTo>
                  <a:lnTo>
                    <a:pt x="25400" y="4063111"/>
                  </a:lnTo>
                  <a:lnTo>
                    <a:pt x="50800" y="4063111"/>
                  </a:lnTo>
                  <a:cubicBezTo>
                    <a:pt x="50800" y="4080256"/>
                    <a:pt x="64770" y="4094480"/>
                    <a:pt x="82423" y="4094480"/>
                  </a:cubicBezTo>
                  <a:lnTo>
                    <a:pt x="6962394" y="4094480"/>
                  </a:lnTo>
                  <a:cubicBezTo>
                    <a:pt x="6979920" y="4094480"/>
                    <a:pt x="6994017" y="4080383"/>
                    <a:pt x="6994017" y="4063111"/>
                  </a:cubicBezTo>
                  <a:lnTo>
                    <a:pt x="6994017" y="82169"/>
                  </a:lnTo>
                  <a:cubicBezTo>
                    <a:pt x="6994017" y="65024"/>
                    <a:pt x="6980047" y="50800"/>
                    <a:pt x="6962394" y="50800"/>
                  </a:cubicBezTo>
                  <a:lnTo>
                    <a:pt x="82423" y="50800"/>
                  </a:lnTo>
                  <a:lnTo>
                    <a:pt x="82423" y="25400"/>
                  </a:lnTo>
                  <a:lnTo>
                    <a:pt x="82423" y="50800"/>
                  </a:lnTo>
                  <a:cubicBezTo>
                    <a:pt x="64770" y="50800"/>
                    <a:pt x="50800" y="64897"/>
                    <a:pt x="50800" y="82169"/>
                  </a:cubicBezTo>
                  <a:close/>
                </a:path>
              </a:pathLst>
            </a:custGeom>
            <a:solidFill>
              <a:srgbClr val="474748"/>
            </a:solidFill>
          </p:spPr>
        </p:sp>
      </p:grpSp>
      <p:sp>
        <p:nvSpPr>
          <p:cNvPr id="12" name="TextBox 12"/>
          <p:cNvSpPr txBox="1"/>
          <p:nvPr/>
        </p:nvSpPr>
        <p:spPr>
          <a:xfrm>
            <a:off x="1313859" y="4308129"/>
            <a:ext cx="3816696" cy="481012"/>
          </a:xfrm>
          <a:prstGeom prst="rect">
            <a:avLst/>
          </a:prstGeom>
        </p:spPr>
        <p:txBody>
          <a:bodyPr lIns="0" tIns="0" rIns="0" bIns="0" rtlCol="0" anchor="t">
            <a:spAutoFit/>
          </a:bodyPr>
          <a:lstStyle/>
          <a:p>
            <a:pPr algn="l">
              <a:lnSpc>
                <a:spcPts val="3437"/>
              </a:lnSpc>
            </a:pPr>
            <a:r>
              <a:rPr lang="en-US" sz="2750">
                <a:solidFill>
                  <a:srgbClr val="E0D6DE"/>
                </a:solidFill>
                <a:latin typeface="Arimo"/>
                <a:ea typeface="Arimo"/>
                <a:cs typeface="Arimo"/>
                <a:sym typeface="Arimo"/>
              </a:rPr>
              <a:t>Hệ thống phòng thủ</a:t>
            </a:r>
          </a:p>
        </p:txBody>
      </p:sp>
      <p:sp>
        <p:nvSpPr>
          <p:cNvPr id="13" name="TextBox 13"/>
          <p:cNvSpPr txBox="1"/>
          <p:nvPr/>
        </p:nvSpPr>
        <p:spPr>
          <a:xfrm>
            <a:off x="1313859" y="4863998"/>
            <a:ext cx="4602213" cy="1456134"/>
          </a:xfrm>
          <a:prstGeom prst="rect">
            <a:avLst/>
          </a:prstGeom>
        </p:spPr>
        <p:txBody>
          <a:bodyPr lIns="0" tIns="0" rIns="0" bIns="0" rtlCol="0" anchor="t">
            <a:spAutoFit/>
          </a:bodyPr>
          <a:lstStyle/>
          <a:p>
            <a:pPr algn="l">
              <a:lnSpc>
                <a:spcPts val="3562"/>
              </a:lnSpc>
            </a:pPr>
            <a:r>
              <a:rPr lang="en-US" sz="2187" b="1">
                <a:solidFill>
                  <a:srgbClr val="E0D6DE"/>
                </a:solidFill>
                <a:latin typeface="Fira Sans Bold"/>
                <a:ea typeface="Fira Sans Bold"/>
                <a:cs typeface="Fira Sans Bold"/>
                <a:sym typeface="Fira Sans Bold"/>
              </a:rPr>
              <a:t>Hệ thống phòng thủ:</a:t>
            </a:r>
            <a:r>
              <a:rPr lang="en-US" sz="2187">
                <a:solidFill>
                  <a:srgbClr val="E0D6DE"/>
                </a:solidFill>
                <a:latin typeface="Fira Sans"/>
                <a:ea typeface="Fira Sans"/>
                <a:cs typeface="Fira Sans"/>
                <a:sym typeface="Fira Sans"/>
              </a:rPr>
              <a:t> Firewall (ngăn chặn), IDS (cảnh báo), Honeypot (giăng bẫy)</a:t>
            </a:r>
          </a:p>
        </p:txBody>
      </p:sp>
      <p:grpSp>
        <p:nvGrpSpPr>
          <p:cNvPr id="14" name="Group 14"/>
          <p:cNvGrpSpPr/>
          <p:nvPr/>
        </p:nvGrpSpPr>
        <p:grpSpPr>
          <a:xfrm>
            <a:off x="6502156" y="4005558"/>
            <a:ext cx="5283546" cy="3108874"/>
            <a:chOff x="0" y="0"/>
            <a:chExt cx="7044728" cy="4145166"/>
          </a:xfrm>
        </p:grpSpPr>
        <p:sp>
          <p:nvSpPr>
            <p:cNvPr id="15" name="Freeform 15"/>
            <p:cNvSpPr/>
            <p:nvPr/>
          </p:nvSpPr>
          <p:spPr>
            <a:xfrm>
              <a:off x="25400" y="25400"/>
              <a:ext cx="6994017" cy="4094480"/>
            </a:xfrm>
            <a:custGeom>
              <a:avLst/>
              <a:gdLst/>
              <a:ahLst/>
              <a:cxnLst/>
              <a:rect l="l" t="t" r="r" b="b"/>
              <a:pathLst>
                <a:path w="6994017" h="4094480">
                  <a:moveTo>
                    <a:pt x="0" y="56769"/>
                  </a:moveTo>
                  <a:cubicBezTo>
                    <a:pt x="0" y="25400"/>
                    <a:pt x="25527" y="0"/>
                    <a:pt x="57023" y="0"/>
                  </a:cubicBezTo>
                  <a:lnTo>
                    <a:pt x="6936994" y="0"/>
                  </a:lnTo>
                  <a:cubicBezTo>
                    <a:pt x="6968489" y="0"/>
                    <a:pt x="6994017" y="25400"/>
                    <a:pt x="6994017" y="56769"/>
                  </a:cubicBezTo>
                  <a:lnTo>
                    <a:pt x="6994017" y="4037711"/>
                  </a:lnTo>
                  <a:cubicBezTo>
                    <a:pt x="6994017" y="4069080"/>
                    <a:pt x="6968489" y="4094480"/>
                    <a:pt x="6936994" y="4094480"/>
                  </a:cubicBezTo>
                  <a:lnTo>
                    <a:pt x="57023" y="4094480"/>
                  </a:lnTo>
                  <a:cubicBezTo>
                    <a:pt x="25527" y="4094480"/>
                    <a:pt x="0" y="4069080"/>
                    <a:pt x="0" y="4037711"/>
                  </a:cubicBezTo>
                  <a:close/>
                </a:path>
              </a:pathLst>
            </a:custGeom>
            <a:solidFill>
              <a:srgbClr val="0F0F10"/>
            </a:solidFill>
          </p:spPr>
        </p:sp>
        <p:sp>
          <p:nvSpPr>
            <p:cNvPr id="16" name="Freeform 16"/>
            <p:cNvSpPr/>
            <p:nvPr/>
          </p:nvSpPr>
          <p:spPr>
            <a:xfrm>
              <a:off x="0" y="0"/>
              <a:ext cx="7044817" cy="4145280"/>
            </a:xfrm>
            <a:custGeom>
              <a:avLst/>
              <a:gdLst/>
              <a:ahLst/>
              <a:cxnLst/>
              <a:rect l="l" t="t" r="r" b="b"/>
              <a:pathLst>
                <a:path w="7044817" h="4145280">
                  <a:moveTo>
                    <a:pt x="0" y="82169"/>
                  </a:moveTo>
                  <a:cubicBezTo>
                    <a:pt x="0" y="36576"/>
                    <a:pt x="36957" y="0"/>
                    <a:pt x="82423" y="0"/>
                  </a:cubicBezTo>
                  <a:lnTo>
                    <a:pt x="6962394" y="0"/>
                  </a:lnTo>
                  <a:lnTo>
                    <a:pt x="6962394" y="25400"/>
                  </a:lnTo>
                  <a:lnTo>
                    <a:pt x="6962394" y="0"/>
                  </a:lnTo>
                  <a:cubicBezTo>
                    <a:pt x="7007733" y="0"/>
                    <a:pt x="7044817" y="36576"/>
                    <a:pt x="7044817" y="82169"/>
                  </a:cubicBezTo>
                  <a:lnTo>
                    <a:pt x="7019417" y="82169"/>
                  </a:lnTo>
                  <a:lnTo>
                    <a:pt x="7044817" y="82169"/>
                  </a:lnTo>
                  <a:lnTo>
                    <a:pt x="7044817" y="4063111"/>
                  </a:lnTo>
                  <a:lnTo>
                    <a:pt x="7019417" y="4063111"/>
                  </a:lnTo>
                  <a:lnTo>
                    <a:pt x="7044817" y="4063111"/>
                  </a:lnTo>
                  <a:cubicBezTo>
                    <a:pt x="7044817" y="4108577"/>
                    <a:pt x="7007860" y="4145280"/>
                    <a:pt x="6962394" y="4145280"/>
                  </a:cubicBezTo>
                  <a:lnTo>
                    <a:pt x="6962394" y="4119880"/>
                  </a:lnTo>
                  <a:lnTo>
                    <a:pt x="6962394" y="4145280"/>
                  </a:lnTo>
                  <a:lnTo>
                    <a:pt x="82423" y="4145280"/>
                  </a:lnTo>
                  <a:lnTo>
                    <a:pt x="82423" y="4119880"/>
                  </a:lnTo>
                  <a:lnTo>
                    <a:pt x="82423" y="4145280"/>
                  </a:lnTo>
                  <a:cubicBezTo>
                    <a:pt x="37084" y="4145280"/>
                    <a:pt x="0" y="4108704"/>
                    <a:pt x="0" y="4063111"/>
                  </a:cubicBezTo>
                  <a:lnTo>
                    <a:pt x="0" y="82169"/>
                  </a:lnTo>
                  <a:lnTo>
                    <a:pt x="25400" y="82169"/>
                  </a:lnTo>
                  <a:lnTo>
                    <a:pt x="0" y="82169"/>
                  </a:lnTo>
                  <a:moveTo>
                    <a:pt x="50800" y="82169"/>
                  </a:moveTo>
                  <a:lnTo>
                    <a:pt x="50800" y="4063111"/>
                  </a:lnTo>
                  <a:lnTo>
                    <a:pt x="25400" y="4063111"/>
                  </a:lnTo>
                  <a:lnTo>
                    <a:pt x="50800" y="4063111"/>
                  </a:lnTo>
                  <a:cubicBezTo>
                    <a:pt x="50800" y="4080256"/>
                    <a:pt x="64770" y="4094480"/>
                    <a:pt x="82423" y="4094480"/>
                  </a:cubicBezTo>
                  <a:lnTo>
                    <a:pt x="6962394" y="4094480"/>
                  </a:lnTo>
                  <a:cubicBezTo>
                    <a:pt x="6979920" y="4094480"/>
                    <a:pt x="6994017" y="4080383"/>
                    <a:pt x="6994017" y="4063111"/>
                  </a:cubicBezTo>
                  <a:lnTo>
                    <a:pt x="6994017" y="82169"/>
                  </a:lnTo>
                  <a:cubicBezTo>
                    <a:pt x="6994017" y="65024"/>
                    <a:pt x="6980047" y="50800"/>
                    <a:pt x="6962394" y="50800"/>
                  </a:cubicBezTo>
                  <a:lnTo>
                    <a:pt x="82423" y="50800"/>
                  </a:lnTo>
                  <a:lnTo>
                    <a:pt x="82423" y="25400"/>
                  </a:lnTo>
                  <a:lnTo>
                    <a:pt x="82423" y="50800"/>
                  </a:lnTo>
                  <a:cubicBezTo>
                    <a:pt x="64770" y="50800"/>
                    <a:pt x="50800" y="64897"/>
                    <a:pt x="50800" y="82169"/>
                  </a:cubicBezTo>
                  <a:close/>
                </a:path>
              </a:pathLst>
            </a:custGeom>
            <a:solidFill>
              <a:srgbClr val="474748"/>
            </a:solidFill>
          </p:spPr>
        </p:sp>
      </p:grpSp>
      <p:sp>
        <p:nvSpPr>
          <p:cNvPr id="17" name="TextBox 17"/>
          <p:cNvSpPr txBox="1"/>
          <p:nvPr/>
        </p:nvSpPr>
        <p:spPr>
          <a:xfrm>
            <a:off x="6842817" y="4308129"/>
            <a:ext cx="4234901" cy="481012"/>
          </a:xfrm>
          <a:prstGeom prst="rect">
            <a:avLst/>
          </a:prstGeom>
        </p:spPr>
        <p:txBody>
          <a:bodyPr lIns="0" tIns="0" rIns="0" bIns="0" rtlCol="0" anchor="t">
            <a:spAutoFit/>
          </a:bodyPr>
          <a:lstStyle/>
          <a:p>
            <a:pPr algn="l">
              <a:lnSpc>
                <a:spcPts val="3437"/>
              </a:lnSpc>
            </a:pPr>
            <a:r>
              <a:rPr lang="en-US" sz="2750">
                <a:solidFill>
                  <a:srgbClr val="E0D6DE"/>
                </a:solidFill>
                <a:latin typeface="Arimo"/>
                <a:ea typeface="Arimo"/>
                <a:cs typeface="Arimo"/>
                <a:sym typeface="Arimo"/>
              </a:rPr>
              <a:t>Chiến thuật tấn công</a:t>
            </a:r>
          </a:p>
        </p:txBody>
      </p:sp>
      <p:sp>
        <p:nvSpPr>
          <p:cNvPr id="18" name="TextBox 18"/>
          <p:cNvSpPr txBox="1"/>
          <p:nvPr/>
        </p:nvSpPr>
        <p:spPr>
          <a:xfrm>
            <a:off x="6842817" y="4863998"/>
            <a:ext cx="4602213" cy="1002506"/>
          </a:xfrm>
          <a:prstGeom prst="rect">
            <a:avLst/>
          </a:prstGeom>
        </p:spPr>
        <p:txBody>
          <a:bodyPr lIns="0" tIns="0" rIns="0" bIns="0" rtlCol="0" anchor="t">
            <a:spAutoFit/>
          </a:bodyPr>
          <a:lstStyle/>
          <a:p>
            <a:pPr algn="l">
              <a:lnSpc>
                <a:spcPts val="3562"/>
              </a:lnSpc>
            </a:pPr>
            <a:r>
              <a:rPr lang="en-US" sz="2187" b="1">
                <a:solidFill>
                  <a:srgbClr val="E0D6DE"/>
                </a:solidFill>
                <a:latin typeface="Fira Sans Bold"/>
                <a:ea typeface="Fira Sans Bold"/>
                <a:cs typeface="Fira Sans Bold"/>
                <a:sym typeface="Fira Sans Bold"/>
              </a:rPr>
              <a:t>Hacker luôn tìm cách vượt rào</a:t>
            </a:r>
            <a:r>
              <a:rPr lang="en-US" sz="2187">
                <a:solidFill>
                  <a:srgbClr val="E0D6DE"/>
                </a:solidFill>
                <a:latin typeface="Fira Sans"/>
                <a:ea typeface="Fira Sans"/>
                <a:cs typeface="Fira Sans"/>
                <a:sym typeface="Fira Sans"/>
              </a:rPr>
              <a:t> bằng Tunneling, Session Splicing</a:t>
            </a:r>
          </a:p>
        </p:txBody>
      </p:sp>
      <p:grpSp>
        <p:nvGrpSpPr>
          <p:cNvPr id="19" name="Group 19"/>
          <p:cNvGrpSpPr/>
          <p:nvPr/>
        </p:nvGrpSpPr>
        <p:grpSpPr>
          <a:xfrm>
            <a:off x="12031113" y="4005558"/>
            <a:ext cx="5283546" cy="3108874"/>
            <a:chOff x="0" y="0"/>
            <a:chExt cx="7044728" cy="4145166"/>
          </a:xfrm>
        </p:grpSpPr>
        <p:sp>
          <p:nvSpPr>
            <p:cNvPr id="20" name="Freeform 20"/>
            <p:cNvSpPr/>
            <p:nvPr/>
          </p:nvSpPr>
          <p:spPr>
            <a:xfrm>
              <a:off x="25400" y="25400"/>
              <a:ext cx="6994017" cy="4094480"/>
            </a:xfrm>
            <a:custGeom>
              <a:avLst/>
              <a:gdLst/>
              <a:ahLst/>
              <a:cxnLst/>
              <a:rect l="l" t="t" r="r" b="b"/>
              <a:pathLst>
                <a:path w="6994017" h="4094480">
                  <a:moveTo>
                    <a:pt x="0" y="56769"/>
                  </a:moveTo>
                  <a:cubicBezTo>
                    <a:pt x="0" y="25400"/>
                    <a:pt x="25527" y="0"/>
                    <a:pt x="57023" y="0"/>
                  </a:cubicBezTo>
                  <a:lnTo>
                    <a:pt x="6936994" y="0"/>
                  </a:lnTo>
                  <a:cubicBezTo>
                    <a:pt x="6968489" y="0"/>
                    <a:pt x="6994017" y="25400"/>
                    <a:pt x="6994017" y="56769"/>
                  </a:cubicBezTo>
                  <a:lnTo>
                    <a:pt x="6994017" y="4037711"/>
                  </a:lnTo>
                  <a:cubicBezTo>
                    <a:pt x="6994017" y="4069080"/>
                    <a:pt x="6968489" y="4094480"/>
                    <a:pt x="6936994" y="4094480"/>
                  </a:cubicBezTo>
                  <a:lnTo>
                    <a:pt x="57023" y="4094480"/>
                  </a:lnTo>
                  <a:cubicBezTo>
                    <a:pt x="25527" y="4094480"/>
                    <a:pt x="0" y="4069080"/>
                    <a:pt x="0" y="4037711"/>
                  </a:cubicBezTo>
                  <a:close/>
                </a:path>
              </a:pathLst>
            </a:custGeom>
            <a:solidFill>
              <a:srgbClr val="0F0F10"/>
            </a:solidFill>
          </p:spPr>
        </p:sp>
        <p:sp>
          <p:nvSpPr>
            <p:cNvPr id="21" name="Freeform 21"/>
            <p:cNvSpPr/>
            <p:nvPr/>
          </p:nvSpPr>
          <p:spPr>
            <a:xfrm>
              <a:off x="0" y="0"/>
              <a:ext cx="7044817" cy="4145280"/>
            </a:xfrm>
            <a:custGeom>
              <a:avLst/>
              <a:gdLst/>
              <a:ahLst/>
              <a:cxnLst/>
              <a:rect l="l" t="t" r="r" b="b"/>
              <a:pathLst>
                <a:path w="7044817" h="4145280">
                  <a:moveTo>
                    <a:pt x="0" y="82169"/>
                  </a:moveTo>
                  <a:cubicBezTo>
                    <a:pt x="0" y="36576"/>
                    <a:pt x="36957" y="0"/>
                    <a:pt x="82423" y="0"/>
                  </a:cubicBezTo>
                  <a:lnTo>
                    <a:pt x="6962394" y="0"/>
                  </a:lnTo>
                  <a:lnTo>
                    <a:pt x="6962394" y="25400"/>
                  </a:lnTo>
                  <a:lnTo>
                    <a:pt x="6962394" y="0"/>
                  </a:lnTo>
                  <a:cubicBezTo>
                    <a:pt x="7007733" y="0"/>
                    <a:pt x="7044817" y="36576"/>
                    <a:pt x="7044817" y="82169"/>
                  </a:cubicBezTo>
                  <a:lnTo>
                    <a:pt x="7019417" y="82169"/>
                  </a:lnTo>
                  <a:lnTo>
                    <a:pt x="7044817" y="82169"/>
                  </a:lnTo>
                  <a:lnTo>
                    <a:pt x="7044817" y="4063111"/>
                  </a:lnTo>
                  <a:lnTo>
                    <a:pt x="7019417" y="4063111"/>
                  </a:lnTo>
                  <a:lnTo>
                    <a:pt x="7044817" y="4063111"/>
                  </a:lnTo>
                  <a:cubicBezTo>
                    <a:pt x="7044817" y="4108577"/>
                    <a:pt x="7007860" y="4145280"/>
                    <a:pt x="6962394" y="4145280"/>
                  </a:cubicBezTo>
                  <a:lnTo>
                    <a:pt x="6962394" y="4119880"/>
                  </a:lnTo>
                  <a:lnTo>
                    <a:pt x="6962394" y="4145280"/>
                  </a:lnTo>
                  <a:lnTo>
                    <a:pt x="82423" y="4145280"/>
                  </a:lnTo>
                  <a:lnTo>
                    <a:pt x="82423" y="4119880"/>
                  </a:lnTo>
                  <a:lnTo>
                    <a:pt x="82423" y="4145280"/>
                  </a:lnTo>
                  <a:cubicBezTo>
                    <a:pt x="37084" y="4145280"/>
                    <a:pt x="0" y="4108704"/>
                    <a:pt x="0" y="4063111"/>
                  </a:cubicBezTo>
                  <a:lnTo>
                    <a:pt x="0" y="82169"/>
                  </a:lnTo>
                  <a:lnTo>
                    <a:pt x="25400" y="82169"/>
                  </a:lnTo>
                  <a:lnTo>
                    <a:pt x="0" y="82169"/>
                  </a:lnTo>
                  <a:moveTo>
                    <a:pt x="50800" y="82169"/>
                  </a:moveTo>
                  <a:lnTo>
                    <a:pt x="50800" y="4063111"/>
                  </a:lnTo>
                  <a:lnTo>
                    <a:pt x="25400" y="4063111"/>
                  </a:lnTo>
                  <a:lnTo>
                    <a:pt x="50800" y="4063111"/>
                  </a:lnTo>
                  <a:cubicBezTo>
                    <a:pt x="50800" y="4080256"/>
                    <a:pt x="64770" y="4094480"/>
                    <a:pt x="82423" y="4094480"/>
                  </a:cubicBezTo>
                  <a:lnTo>
                    <a:pt x="6962394" y="4094480"/>
                  </a:lnTo>
                  <a:cubicBezTo>
                    <a:pt x="6979920" y="4094480"/>
                    <a:pt x="6994017" y="4080383"/>
                    <a:pt x="6994017" y="4063111"/>
                  </a:cubicBezTo>
                  <a:lnTo>
                    <a:pt x="6994017" y="82169"/>
                  </a:lnTo>
                  <a:cubicBezTo>
                    <a:pt x="6994017" y="65024"/>
                    <a:pt x="6980047" y="50800"/>
                    <a:pt x="6962394" y="50800"/>
                  </a:cubicBezTo>
                  <a:lnTo>
                    <a:pt x="82423" y="50800"/>
                  </a:lnTo>
                  <a:lnTo>
                    <a:pt x="82423" y="25400"/>
                  </a:lnTo>
                  <a:lnTo>
                    <a:pt x="82423" y="50800"/>
                  </a:lnTo>
                  <a:cubicBezTo>
                    <a:pt x="64770" y="50800"/>
                    <a:pt x="50800" y="64897"/>
                    <a:pt x="50800" y="82169"/>
                  </a:cubicBezTo>
                  <a:close/>
                </a:path>
              </a:pathLst>
            </a:custGeom>
            <a:solidFill>
              <a:srgbClr val="474748"/>
            </a:solidFill>
          </p:spPr>
        </p:sp>
      </p:grpSp>
      <p:sp>
        <p:nvSpPr>
          <p:cNvPr id="22" name="TextBox 22"/>
          <p:cNvSpPr txBox="1"/>
          <p:nvPr/>
        </p:nvSpPr>
        <p:spPr>
          <a:xfrm>
            <a:off x="12371784" y="4308129"/>
            <a:ext cx="3988746" cy="481012"/>
          </a:xfrm>
          <a:prstGeom prst="rect">
            <a:avLst/>
          </a:prstGeom>
        </p:spPr>
        <p:txBody>
          <a:bodyPr lIns="0" tIns="0" rIns="0" bIns="0" rtlCol="0" anchor="t">
            <a:spAutoFit/>
          </a:bodyPr>
          <a:lstStyle/>
          <a:p>
            <a:pPr algn="l">
              <a:lnSpc>
                <a:spcPts val="3437"/>
              </a:lnSpc>
            </a:pPr>
            <a:r>
              <a:rPr lang="en-US" sz="2750">
                <a:solidFill>
                  <a:srgbClr val="E0D6DE"/>
                </a:solidFill>
                <a:latin typeface="Arimo"/>
                <a:ea typeface="Arimo"/>
                <a:cs typeface="Arimo"/>
                <a:sym typeface="Arimo"/>
              </a:rPr>
              <a:t>Khuyến nghị quản trị</a:t>
            </a:r>
          </a:p>
        </p:txBody>
      </p:sp>
      <p:sp>
        <p:nvSpPr>
          <p:cNvPr id="23" name="TextBox 23"/>
          <p:cNvSpPr txBox="1"/>
          <p:nvPr/>
        </p:nvSpPr>
        <p:spPr>
          <a:xfrm>
            <a:off x="12371784" y="4863998"/>
            <a:ext cx="4602213" cy="1909762"/>
          </a:xfrm>
          <a:prstGeom prst="rect">
            <a:avLst/>
          </a:prstGeom>
        </p:spPr>
        <p:txBody>
          <a:bodyPr lIns="0" tIns="0" rIns="0" bIns="0" rtlCol="0" anchor="t">
            <a:spAutoFit/>
          </a:bodyPr>
          <a:lstStyle/>
          <a:p>
            <a:pPr algn="l">
              <a:lnSpc>
                <a:spcPts val="3562"/>
              </a:lnSpc>
            </a:pPr>
            <a:r>
              <a:rPr lang="en-US" sz="2187" b="1">
                <a:solidFill>
                  <a:srgbClr val="E0D6DE"/>
                </a:solidFill>
                <a:latin typeface="Fira Sans Bold"/>
                <a:ea typeface="Fira Sans Bold"/>
                <a:cs typeface="Fira Sans Bold"/>
                <a:sym typeface="Fira Sans Bold"/>
              </a:rPr>
              <a:t>Quản trị mạng cần kiểm soát chặt chẽ</a:t>
            </a:r>
            <a:r>
              <a:rPr lang="en-US" sz="2187">
                <a:solidFill>
                  <a:srgbClr val="E0D6DE"/>
                </a:solidFill>
                <a:latin typeface="Fira Sans"/>
                <a:ea typeface="Fira Sans"/>
                <a:cs typeface="Fira Sans"/>
                <a:sym typeface="Fira Sans"/>
              </a:rPr>
              <a:t> cả luồng dữ liệu đi ra (Outbound) và các cổng dễ bị lợi dụng</a:t>
            </a:r>
          </a:p>
        </p:txBody>
      </p:sp>
      <p:grpSp>
        <p:nvGrpSpPr>
          <p:cNvPr id="24" name="Group 24"/>
          <p:cNvGrpSpPr/>
          <p:nvPr/>
        </p:nvGrpSpPr>
        <p:grpSpPr>
          <a:xfrm>
            <a:off x="992238" y="7556049"/>
            <a:ext cx="16303523" cy="44948"/>
            <a:chOff x="0" y="0"/>
            <a:chExt cx="21738031" cy="59931"/>
          </a:xfrm>
        </p:grpSpPr>
        <p:sp>
          <p:nvSpPr>
            <p:cNvPr id="25" name="Freeform 25"/>
            <p:cNvSpPr/>
            <p:nvPr/>
          </p:nvSpPr>
          <p:spPr>
            <a:xfrm>
              <a:off x="0" y="0"/>
              <a:ext cx="21738082" cy="59944"/>
            </a:xfrm>
            <a:custGeom>
              <a:avLst/>
              <a:gdLst/>
              <a:ahLst/>
              <a:cxnLst/>
              <a:rect l="l" t="t" r="r" b="b"/>
              <a:pathLst>
                <a:path w="21738082" h="59944">
                  <a:moveTo>
                    <a:pt x="0" y="0"/>
                  </a:moveTo>
                  <a:lnTo>
                    <a:pt x="21738082" y="0"/>
                  </a:lnTo>
                  <a:lnTo>
                    <a:pt x="21738082" y="59944"/>
                  </a:lnTo>
                  <a:lnTo>
                    <a:pt x="0" y="59944"/>
                  </a:lnTo>
                  <a:close/>
                </a:path>
              </a:pathLst>
            </a:custGeom>
            <a:solidFill>
              <a:srgbClr val="E0D6DE">
                <a:alpha val="24706"/>
              </a:srgbClr>
            </a:solidFill>
          </p:spPr>
        </p:sp>
      </p:grpSp>
      <p:sp>
        <p:nvSpPr>
          <p:cNvPr id="26" name="TextBox 26"/>
          <p:cNvSpPr txBox="1"/>
          <p:nvPr/>
        </p:nvSpPr>
        <p:spPr>
          <a:xfrm>
            <a:off x="5206008" y="7988056"/>
            <a:ext cx="7875984" cy="533437"/>
          </a:xfrm>
          <a:prstGeom prst="rect">
            <a:avLst/>
          </a:prstGeom>
        </p:spPr>
        <p:txBody>
          <a:bodyPr lIns="0" tIns="0" rIns="0" bIns="0" rtlCol="0" anchor="t">
            <a:spAutoFit/>
          </a:bodyPr>
          <a:lstStyle/>
          <a:p>
            <a:pPr algn="ctr">
              <a:lnSpc>
                <a:spcPts val="4125"/>
              </a:lnSpc>
            </a:pPr>
            <a:r>
              <a:rPr lang="en-US" sz="3312">
                <a:solidFill>
                  <a:srgbClr val="FBF3FA"/>
                </a:solidFill>
                <a:latin typeface="Arimo"/>
                <a:ea typeface="Arimo"/>
                <a:cs typeface="Arimo"/>
                <a:sym typeface="Arimo"/>
              </a:rPr>
              <a:t>Xin cảm ơn thầy và các bạn đã lắng nghe!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FFFFFF"/>
      </a:dk1>
      <a:lt1>
        <a:sysClr val="window" lastClr="00000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1591</Words>
  <Application>Microsoft Office PowerPoint</Application>
  <PresentationFormat>Custom</PresentationFormat>
  <Paragraphs>194</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Arimo</vt:lpstr>
      <vt:lpstr>Calibri</vt:lpstr>
      <vt:lpstr>Arial</vt:lpstr>
      <vt:lpstr>Fira Sans</vt:lpstr>
      <vt:lpstr>Fira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Packet Filtering Firewall</dc:title>
  <cp:lastModifiedBy>Long Lê</cp:lastModifiedBy>
  <cp:revision>3</cp:revision>
  <dcterms:created xsi:type="dcterms:W3CDTF">2006-08-16T00:00:00Z</dcterms:created>
  <dcterms:modified xsi:type="dcterms:W3CDTF">2026-03-05T08:19:03Z</dcterms:modified>
  <dc:identifier>DAHDDFcSTMA</dc:identifier>
</cp:coreProperties>
</file>