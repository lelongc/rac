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 id="2147483669" r:id="rId2"/>
  </p:sldMasterIdLst>
  <p:notesMasterIdLst>
    <p:notesMasterId r:id="rId64"/>
  </p:notesMasterIdLst>
  <p:handoutMasterIdLst>
    <p:handoutMasterId r:id="rId65"/>
  </p:handoutMasterIdLst>
  <p:sldIdLst>
    <p:sldId id="341" r:id="rId3"/>
    <p:sldId id="354" r:id="rId4"/>
    <p:sldId id="342" r:id="rId5"/>
    <p:sldId id="275" r:id="rId6"/>
    <p:sldId id="277" r:id="rId7"/>
    <p:sldId id="295" r:id="rId8"/>
    <p:sldId id="296" r:id="rId9"/>
    <p:sldId id="297" r:id="rId10"/>
    <p:sldId id="298" r:id="rId11"/>
    <p:sldId id="299" r:id="rId12"/>
    <p:sldId id="300" r:id="rId13"/>
    <p:sldId id="301" r:id="rId14"/>
    <p:sldId id="302" r:id="rId15"/>
    <p:sldId id="303" r:id="rId16"/>
    <p:sldId id="304" r:id="rId17"/>
    <p:sldId id="305" r:id="rId18"/>
    <p:sldId id="289" r:id="rId19"/>
    <p:sldId id="290" r:id="rId20"/>
    <p:sldId id="310" r:id="rId21"/>
    <p:sldId id="311" r:id="rId22"/>
    <p:sldId id="312" r:id="rId23"/>
    <p:sldId id="313"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326" r:id="rId37"/>
    <p:sldId id="327" r:id="rId38"/>
    <p:sldId id="328" r:id="rId39"/>
    <p:sldId id="329" r:id="rId40"/>
    <p:sldId id="330" r:id="rId41"/>
    <p:sldId id="331" r:id="rId42"/>
    <p:sldId id="332" r:id="rId43"/>
    <p:sldId id="333" r:id="rId44"/>
    <p:sldId id="334" r:id="rId45"/>
    <p:sldId id="335" r:id="rId46"/>
    <p:sldId id="336" r:id="rId47"/>
    <p:sldId id="337" r:id="rId48"/>
    <p:sldId id="338" r:id="rId49"/>
    <p:sldId id="339" r:id="rId50"/>
    <p:sldId id="340" r:id="rId51"/>
    <p:sldId id="343" r:id="rId52"/>
    <p:sldId id="344" r:id="rId53"/>
    <p:sldId id="345" r:id="rId54"/>
    <p:sldId id="346" r:id="rId55"/>
    <p:sldId id="347" r:id="rId56"/>
    <p:sldId id="348" r:id="rId57"/>
    <p:sldId id="349" r:id="rId58"/>
    <p:sldId id="350" r:id="rId59"/>
    <p:sldId id="351" r:id="rId60"/>
    <p:sldId id="352" r:id="rId61"/>
    <p:sldId id="353" r:id="rId62"/>
    <p:sldId id="306" r:id="rId63"/>
  </p:sldIdLst>
  <p:sldSz cx="9144000" cy="6858000" type="screen4x3"/>
  <p:notesSz cx="6858000" cy="9144000"/>
  <p:defaultTextStyle>
    <a:defPPr>
      <a:defRPr lang="en-US"/>
    </a:defPPr>
    <a:lvl1pPr algn="l" rtl="0" eaLnBrk="0" fontAlgn="base" hangingPunct="0">
      <a:lnSpc>
        <a:spcPct val="90000"/>
      </a:lnSpc>
      <a:spcBef>
        <a:spcPct val="0"/>
      </a:spcBef>
      <a:spcAft>
        <a:spcPct val="0"/>
      </a:spcAft>
      <a:defRPr sz="3000" b="1" kern="1200">
        <a:solidFill>
          <a:schemeClr val="tx1"/>
        </a:solidFill>
        <a:latin typeface="Arial" charset="0"/>
        <a:ea typeface="+mn-ea"/>
        <a:cs typeface="+mn-cs"/>
      </a:defRPr>
    </a:lvl1pPr>
    <a:lvl2pPr marL="457200" algn="l" rtl="0" eaLnBrk="0" fontAlgn="base" hangingPunct="0">
      <a:lnSpc>
        <a:spcPct val="90000"/>
      </a:lnSpc>
      <a:spcBef>
        <a:spcPct val="0"/>
      </a:spcBef>
      <a:spcAft>
        <a:spcPct val="0"/>
      </a:spcAft>
      <a:defRPr sz="3000" b="1" kern="1200">
        <a:solidFill>
          <a:schemeClr val="tx1"/>
        </a:solidFill>
        <a:latin typeface="Arial" charset="0"/>
        <a:ea typeface="+mn-ea"/>
        <a:cs typeface="+mn-cs"/>
      </a:defRPr>
    </a:lvl2pPr>
    <a:lvl3pPr marL="914400" algn="l" rtl="0" eaLnBrk="0" fontAlgn="base" hangingPunct="0">
      <a:lnSpc>
        <a:spcPct val="90000"/>
      </a:lnSpc>
      <a:spcBef>
        <a:spcPct val="0"/>
      </a:spcBef>
      <a:spcAft>
        <a:spcPct val="0"/>
      </a:spcAft>
      <a:defRPr sz="3000" b="1" kern="1200">
        <a:solidFill>
          <a:schemeClr val="tx1"/>
        </a:solidFill>
        <a:latin typeface="Arial" charset="0"/>
        <a:ea typeface="+mn-ea"/>
        <a:cs typeface="+mn-cs"/>
      </a:defRPr>
    </a:lvl3pPr>
    <a:lvl4pPr marL="1371600" algn="l" rtl="0" eaLnBrk="0" fontAlgn="base" hangingPunct="0">
      <a:lnSpc>
        <a:spcPct val="90000"/>
      </a:lnSpc>
      <a:spcBef>
        <a:spcPct val="0"/>
      </a:spcBef>
      <a:spcAft>
        <a:spcPct val="0"/>
      </a:spcAft>
      <a:defRPr sz="3000" b="1" kern="1200">
        <a:solidFill>
          <a:schemeClr val="tx1"/>
        </a:solidFill>
        <a:latin typeface="Arial" charset="0"/>
        <a:ea typeface="+mn-ea"/>
        <a:cs typeface="+mn-cs"/>
      </a:defRPr>
    </a:lvl4pPr>
    <a:lvl5pPr marL="1828800" algn="l" rtl="0" eaLnBrk="0" fontAlgn="base" hangingPunct="0">
      <a:lnSpc>
        <a:spcPct val="90000"/>
      </a:lnSpc>
      <a:spcBef>
        <a:spcPct val="0"/>
      </a:spcBef>
      <a:spcAft>
        <a:spcPct val="0"/>
      </a:spcAft>
      <a:defRPr sz="3000" b="1" kern="1200">
        <a:solidFill>
          <a:schemeClr val="tx1"/>
        </a:solidFill>
        <a:latin typeface="Arial" charset="0"/>
        <a:ea typeface="+mn-ea"/>
        <a:cs typeface="+mn-cs"/>
      </a:defRPr>
    </a:lvl5pPr>
    <a:lvl6pPr marL="2286000" algn="l" defTabSz="914400" rtl="0" eaLnBrk="1" latinLnBrk="0" hangingPunct="1">
      <a:defRPr sz="3000" b="1" kern="1200">
        <a:solidFill>
          <a:schemeClr val="tx1"/>
        </a:solidFill>
        <a:latin typeface="Arial" charset="0"/>
        <a:ea typeface="+mn-ea"/>
        <a:cs typeface="+mn-cs"/>
      </a:defRPr>
    </a:lvl6pPr>
    <a:lvl7pPr marL="2743200" algn="l" defTabSz="914400" rtl="0" eaLnBrk="1" latinLnBrk="0" hangingPunct="1">
      <a:defRPr sz="3000" b="1" kern="1200">
        <a:solidFill>
          <a:schemeClr val="tx1"/>
        </a:solidFill>
        <a:latin typeface="Arial" charset="0"/>
        <a:ea typeface="+mn-ea"/>
        <a:cs typeface="+mn-cs"/>
      </a:defRPr>
    </a:lvl7pPr>
    <a:lvl8pPr marL="3200400" algn="l" defTabSz="914400" rtl="0" eaLnBrk="1" latinLnBrk="0" hangingPunct="1">
      <a:defRPr sz="3000" b="1" kern="1200">
        <a:solidFill>
          <a:schemeClr val="tx1"/>
        </a:solidFill>
        <a:latin typeface="Arial" charset="0"/>
        <a:ea typeface="+mn-ea"/>
        <a:cs typeface="+mn-cs"/>
      </a:defRPr>
    </a:lvl8pPr>
    <a:lvl9pPr marL="3657600" algn="l" defTabSz="914400" rtl="0" eaLnBrk="1" latinLnBrk="0" hangingPunct="1">
      <a:defRPr sz="30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y Pfitzer" initials="" lastIdx="2" clrIdx="0"/>
  <p:cmAuthor id="1" name="Cisco Systems, Inc." initials="" lastIdx="1" clrIdx="1"/>
  <p:cmAuthor id="2" name="Kayce M. Clark" initials=""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40" autoAdjust="0"/>
    <p:restoredTop sz="72598" autoAdjust="0"/>
  </p:normalViewPr>
  <p:slideViewPr>
    <p:cSldViewPr>
      <p:cViewPr varScale="1">
        <p:scale>
          <a:sx n="54" d="100"/>
          <a:sy n="54" d="100"/>
        </p:scale>
        <p:origin x="1844" y="40"/>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Lst>
  </p:outlineViewPr>
  <p:notesTextViewPr>
    <p:cViewPr>
      <p:scale>
        <a:sx n="100" d="100"/>
        <a:sy n="100" d="100"/>
      </p:scale>
      <p:origin x="0" y="0"/>
    </p:cViewPr>
  </p:notesTextViewPr>
  <p:sorterViewPr>
    <p:cViewPr>
      <p:scale>
        <a:sx n="75" d="100"/>
        <a:sy n="75"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commentAuthors" Target="commentAuthor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_rels/viewProps.xml.rels><?xml version="1.0" encoding="UTF-8" standalone="yes"?>
<Relationships xmlns="http://schemas.openxmlformats.org/package/2006/relationships"><Relationship Id="rId8" Type="http://schemas.openxmlformats.org/officeDocument/2006/relationships/slide" Target="slides/slide27.xml"/><Relationship Id="rId13" Type="http://schemas.openxmlformats.org/officeDocument/2006/relationships/slide" Target="slides/slide37.xml"/><Relationship Id="rId18" Type="http://schemas.openxmlformats.org/officeDocument/2006/relationships/slide" Target="slides/slide44.xml"/><Relationship Id="rId3" Type="http://schemas.openxmlformats.org/officeDocument/2006/relationships/slide" Target="slides/slide21.xml"/><Relationship Id="rId21" Type="http://schemas.openxmlformats.org/officeDocument/2006/relationships/slide" Target="slides/slide47.xml"/><Relationship Id="rId7" Type="http://schemas.openxmlformats.org/officeDocument/2006/relationships/slide" Target="slides/slide26.xml"/><Relationship Id="rId12" Type="http://schemas.openxmlformats.org/officeDocument/2006/relationships/slide" Target="slides/slide35.xml"/><Relationship Id="rId17" Type="http://schemas.openxmlformats.org/officeDocument/2006/relationships/slide" Target="slides/slide43.xml"/><Relationship Id="rId2" Type="http://schemas.openxmlformats.org/officeDocument/2006/relationships/slide" Target="slides/slide20.xml"/><Relationship Id="rId16" Type="http://schemas.openxmlformats.org/officeDocument/2006/relationships/slide" Target="slides/slide41.xml"/><Relationship Id="rId20" Type="http://schemas.openxmlformats.org/officeDocument/2006/relationships/slide" Target="slides/slide46.xml"/><Relationship Id="rId1" Type="http://schemas.openxmlformats.org/officeDocument/2006/relationships/slide" Target="slides/slide17.xml"/><Relationship Id="rId6" Type="http://schemas.openxmlformats.org/officeDocument/2006/relationships/slide" Target="slides/slide24.xml"/><Relationship Id="rId11" Type="http://schemas.openxmlformats.org/officeDocument/2006/relationships/slide" Target="slides/slide32.xml"/><Relationship Id="rId24" Type="http://schemas.openxmlformats.org/officeDocument/2006/relationships/slide" Target="slides/slide57.xml"/><Relationship Id="rId5" Type="http://schemas.openxmlformats.org/officeDocument/2006/relationships/slide" Target="slides/slide23.xml"/><Relationship Id="rId15" Type="http://schemas.openxmlformats.org/officeDocument/2006/relationships/slide" Target="slides/slide39.xml"/><Relationship Id="rId23" Type="http://schemas.openxmlformats.org/officeDocument/2006/relationships/slide" Target="slides/slide49.xml"/><Relationship Id="rId10" Type="http://schemas.openxmlformats.org/officeDocument/2006/relationships/slide" Target="slides/slide29.xml"/><Relationship Id="rId19" Type="http://schemas.openxmlformats.org/officeDocument/2006/relationships/slide" Target="slides/slide45.xml"/><Relationship Id="rId4" Type="http://schemas.openxmlformats.org/officeDocument/2006/relationships/slide" Target="slides/slide22.xml"/><Relationship Id="rId9" Type="http://schemas.openxmlformats.org/officeDocument/2006/relationships/slide" Target="slides/slide28.xml"/><Relationship Id="rId14" Type="http://schemas.openxmlformats.org/officeDocument/2006/relationships/slide" Target="slides/slide38.xml"/><Relationship Id="rId22"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defRPr sz="1200"/>
            </a:lvl1pPr>
          </a:lstStyle>
          <a:p>
            <a:endParaRPr lang="en-US"/>
          </a:p>
        </p:txBody>
      </p:sp>
      <p:sp>
        <p:nvSpPr>
          <p:cNvPr id="24579"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defRPr sz="1200"/>
            </a:lvl1pPr>
          </a:lstStyle>
          <a:p>
            <a:endParaRPr lang="en-US"/>
          </a:p>
        </p:txBody>
      </p:sp>
      <p:sp>
        <p:nvSpPr>
          <p:cNvPr id="24580"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defRPr sz="1200"/>
            </a:lvl1pPr>
          </a:lstStyle>
          <a:p>
            <a:endParaRPr lang="en-US"/>
          </a:p>
        </p:txBody>
      </p:sp>
      <p:sp>
        <p:nvSpPr>
          <p:cNvPr id="24581"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defRPr sz="1200"/>
            </a:lvl1pPr>
          </a:lstStyle>
          <a:p>
            <a:fld id="{64E48B59-7C47-449B-B338-9A79A45AD784}" type="slidenum">
              <a:rPr lang="en-US"/>
              <a:pPr/>
              <a:t>‹#›</a:t>
            </a:fld>
            <a:endParaRPr lang="en-US"/>
          </a:p>
        </p:txBody>
      </p:sp>
    </p:spTree>
    <p:extLst>
      <p:ext uri="{BB962C8B-B14F-4D97-AF65-F5344CB8AC3E}">
        <p14:creationId xmlns:p14="http://schemas.microsoft.com/office/powerpoint/2010/main" val="4570201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defRPr sz="1200"/>
            </a:lvl1pPr>
          </a:lstStyle>
          <a:p>
            <a:endParaRPr lang="en-US"/>
          </a:p>
        </p:txBody>
      </p:sp>
      <p:sp>
        <p:nvSpPr>
          <p:cNvPr id="819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defRPr sz="1200"/>
            </a:lvl1pPr>
          </a:lstStyle>
          <a:p>
            <a:endParaRPr lang="en-US"/>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19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defRPr sz="1200"/>
            </a:lvl1pPr>
          </a:lstStyle>
          <a:p>
            <a:endParaRPr lang="en-US"/>
          </a:p>
        </p:txBody>
      </p:sp>
      <p:sp>
        <p:nvSpPr>
          <p:cNvPr id="819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defRPr sz="1200"/>
            </a:lvl1pPr>
          </a:lstStyle>
          <a:p>
            <a:fld id="{6C8E7273-4487-4D23-BD93-3955BE9E2B95}" type="slidenum">
              <a:rPr lang="en-US"/>
              <a:pPr/>
              <a:t>‹#›</a:t>
            </a:fld>
            <a:endParaRPr lang="en-US"/>
          </a:p>
        </p:txBody>
      </p:sp>
    </p:spTree>
    <p:extLst>
      <p:ext uri="{BB962C8B-B14F-4D97-AF65-F5344CB8AC3E}">
        <p14:creationId xmlns:p14="http://schemas.microsoft.com/office/powerpoint/2010/main" val="159358404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pitchFamily="18" charset="0"/>
        <a:ea typeface="+mn-ea"/>
        <a:cs typeface="+mn-cs"/>
      </a:defRPr>
    </a:lvl1pPr>
    <a:lvl2pPr marL="457200" algn="l" rtl="0" fontAlgn="base">
      <a:spcBef>
        <a:spcPct val="30000"/>
      </a:spcBef>
      <a:spcAft>
        <a:spcPct val="0"/>
      </a:spcAft>
      <a:defRPr sz="1200" kern="1200">
        <a:solidFill>
          <a:schemeClr val="tx1"/>
        </a:solidFill>
        <a:latin typeface="Times" pitchFamily="18" charset="0"/>
        <a:ea typeface="+mn-ea"/>
        <a:cs typeface="+mn-cs"/>
      </a:defRPr>
    </a:lvl2pPr>
    <a:lvl3pPr marL="914400" algn="l" rtl="0" fontAlgn="base">
      <a:spcBef>
        <a:spcPct val="30000"/>
      </a:spcBef>
      <a:spcAft>
        <a:spcPct val="0"/>
      </a:spcAft>
      <a:defRPr sz="1200" kern="1200">
        <a:solidFill>
          <a:schemeClr val="tx1"/>
        </a:solidFill>
        <a:latin typeface="Times" pitchFamily="18" charset="0"/>
        <a:ea typeface="+mn-ea"/>
        <a:cs typeface="+mn-cs"/>
      </a:defRPr>
    </a:lvl3pPr>
    <a:lvl4pPr marL="1371600" algn="l" rtl="0" fontAlgn="base">
      <a:spcBef>
        <a:spcPct val="30000"/>
      </a:spcBef>
      <a:spcAft>
        <a:spcPct val="0"/>
      </a:spcAft>
      <a:defRPr sz="1200" kern="1200">
        <a:solidFill>
          <a:schemeClr val="tx1"/>
        </a:solidFill>
        <a:latin typeface="Times" pitchFamily="18" charset="0"/>
        <a:ea typeface="+mn-ea"/>
        <a:cs typeface="+mn-cs"/>
      </a:defRPr>
    </a:lvl4pPr>
    <a:lvl5pPr marL="1828800" algn="l" rtl="0" fontAlgn="base">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vi.wikipedia.org/w/index.php?title=Kh%E1%BB%91ng_ch%E1%BA%BF_lu%E1%BB%93ng&amp;action=edit&amp;redlink=1" TargetMode="External"/><Relationship Id="rId3" Type="http://schemas.openxmlformats.org/officeDocument/2006/relationships/hyperlink" Target="https://vi.wikipedia.org/w/index.php?title=Ng%E1%BA%AFt_m%E1%BA%A1ch&amp;action=edit&amp;redlink=1" TargetMode="External"/><Relationship Id="rId7" Type="http://schemas.openxmlformats.org/officeDocument/2006/relationships/hyperlink" Target="https://vi.wikipedia.org/w/index.php?title=Tranh_ch%E1%BA%A5p&amp;action=edit&amp;redlink=1"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vi.wikipedia.org/wiki/T%C3%A0i_nguy%C3%AAn" TargetMode="External"/><Relationship Id="rId11" Type="http://schemas.openxmlformats.org/officeDocument/2006/relationships/hyperlink" Target="https://vi.wikipedia.org/w/index.php?title=%C4%90%C6%B0%E1%BB%9Dng_truy%E1%BB%81n_th%C3%B4ng&amp;action=edit&amp;redlink=1" TargetMode="External"/><Relationship Id="rId5" Type="http://schemas.openxmlformats.org/officeDocument/2006/relationships/hyperlink" Target="https://vi.wikipedia.org/w/index.php?title=Ph%C6%B0%C6%A1ng_ti%E1%BB%87n_truy%E1%BB%81n_th%C3%B4ng&amp;action=edit&amp;redlink=1" TargetMode="External"/><Relationship Id="rId10" Type="http://schemas.openxmlformats.org/officeDocument/2006/relationships/hyperlink" Target="https://vi.wikipedia.org/w/index.php?title=Ng%C6%B0%E1%BB%9Di_d%C3%B9ng_(m%C3%A1y_t%C3%ADnh)&amp;action=edit&amp;redlink=1" TargetMode="External"/><Relationship Id="rId4" Type="http://schemas.openxmlformats.org/officeDocument/2006/relationships/hyperlink" Target="https://vi.wikipedia.org/wiki/Vi%E1%BB%85n_th%C3%B4ng" TargetMode="External"/><Relationship Id="rId9" Type="http://schemas.openxmlformats.org/officeDocument/2006/relationships/hyperlink" Target="https://vi.wikipedia.org/w/index.php?title=D%E1%BB%AF_li%E1%BB%87u_s%E1%BB%91&amp;action=edit&amp;redlink=1"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vi.wikipedia.org/wiki/T%E1%BA%A7ng_li%C3%AAn_k%E1%BA%BFt_d%E1%BB%AF_li%E1%BB%87u"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vi.wikipedia.org/wiki/T%E1%BA%A7ng_phi%C3%AAn" TargetMode="External"/><Relationship Id="rId2" Type="http://schemas.openxmlformats.org/officeDocument/2006/relationships/slide" Target="../slides/slide10.xml"/><Relationship Id="rId1" Type="http://schemas.openxmlformats.org/officeDocument/2006/relationships/notesMaster" Target="../notesMasters/notesMaster1.xml"/><Relationship Id="rId5" Type="http://schemas.openxmlformats.org/officeDocument/2006/relationships/hyperlink" Target="https://vi.wikipedia.org/w/index.php?title=%C4%90i%E1%BB%81u_khi%E1%BB%83n_l%C6%B0u_l%C6%B0%E1%BB%A3ng_d%E1%BB%AF_li%E1%BB%87u&amp;action=edit&amp;redlink=1" TargetMode="External"/><Relationship Id="rId4" Type="http://schemas.openxmlformats.org/officeDocument/2006/relationships/hyperlink" Target="https://vi.wikipedia.org/wiki/T%E1%BA%A7ng_m%E1%BA%A1ng"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vi.wikipedia.org/wiki/M%C3%B4_h%C3%ACnh_OSI" TargetMode="External"/><Relationship Id="rId2" Type="http://schemas.openxmlformats.org/officeDocument/2006/relationships/slide" Target="../slides/slide11.xml"/><Relationship Id="rId1" Type="http://schemas.openxmlformats.org/officeDocument/2006/relationships/notesMaster" Target="../notesMasters/notesMaster1.xml"/><Relationship Id="rId5" Type="http://schemas.openxmlformats.org/officeDocument/2006/relationships/hyperlink" Target="https://vi.wikipedia.org/wiki/T%E1%BA%A7ng_giao_v%E1%BA%ADn" TargetMode="External"/><Relationship Id="rId4" Type="http://schemas.openxmlformats.org/officeDocument/2006/relationships/hyperlink" Target="https://vi.wikipedia.org/wiki/T%E1%BA%A7ng_tr%C3%ACnh_di%E1%BB%85n"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vi.wikipedia.org/wiki/M%C3%A3_h%C3%B3a" TargetMode="External"/><Relationship Id="rId7" Type="http://schemas.openxmlformats.org/officeDocument/2006/relationships/hyperlink" Target="https://vi.wikipedia.org/wiki/T%E1%BA%A7ng_m%E1%BA%A1ng"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vi.wikipedia.org/wiki/T%E1%BA%A7ng_giao_v%E1%BA%ADn" TargetMode="External"/><Relationship Id="rId5" Type="http://schemas.openxmlformats.org/officeDocument/2006/relationships/hyperlink" Target="https://vi.wikipedia.org/wiki/T%E1%BA%A7ng_phi%C3%AAn" TargetMode="External"/><Relationship Id="rId4" Type="http://schemas.openxmlformats.org/officeDocument/2006/relationships/hyperlink" Target="https://vi.wikipedia.org/wiki/T%E1%BA%A7ng_%E1%BB%A9ng_d%E1%BB%A5ng"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vi.wikipedia.org/wiki/Ti%E1%BA%BFn_tr%C3%ACnh"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vi.wikipedia.org/wiki/T%E1%BA%A7ng_tr%C3%ACnh_di%E1%BB%85n" TargetMode="External"/><Relationship Id="rId4" Type="http://schemas.openxmlformats.org/officeDocument/2006/relationships/hyperlink" Target="https://vi.wikipedia.org/wiki/Ph%E1%BA%A7n_m%E1%BB%81m_%E1%BB%A9ng_d%E1%BB%A5ng"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Nôi</a:t>
            </a:r>
            <a:r>
              <a:rPr lang="en-US" baseline="0" dirty="0"/>
              <a:t> dung </a:t>
            </a:r>
            <a:r>
              <a:rPr lang="en-US" baseline="0" dirty="0" err="1"/>
              <a:t>khóa</a:t>
            </a:r>
            <a:r>
              <a:rPr lang="en-US" baseline="0" dirty="0"/>
              <a:t> </a:t>
            </a:r>
            <a:r>
              <a:rPr lang="en-US" baseline="0" dirty="0" err="1"/>
              <a:t>học</a:t>
            </a:r>
            <a:endParaRPr lang="en-US" dirty="0"/>
          </a:p>
        </p:txBody>
      </p:sp>
      <p:sp>
        <p:nvSpPr>
          <p:cNvPr id="4" name="Slide Number Placeholder 3"/>
          <p:cNvSpPr>
            <a:spLocks noGrp="1"/>
          </p:cNvSpPr>
          <p:nvPr>
            <p:ph type="sldNum" sz="quarter" idx="10"/>
          </p:nvPr>
        </p:nvSpPr>
        <p:spPr/>
        <p:txBody>
          <a:bodyPr/>
          <a:lstStyle/>
          <a:p>
            <a:fld id="{6C8E7273-4487-4D23-BD93-3955BE9E2B95}" type="slidenum">
              <a:rPr lang="en-US" smtClean="0"/>
              <a:pPr/>
              <a:t>2</a:t>
            </a:fld>
            <a:endParaRPr lang="en-US"/>
          </a:p>
        </p:txBody>
      </p:sp>
    </p:spTree>
    <p:extLst>
      <p:ext uri="{BB962C8B-B14F-4D97-AF65-F5344CB8AC3E}">
        <p14:creationId xmlns:p14="http://schemas.microsoft.com/office/powerpoint/2010/main" val="3622589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Nội</a:t>
            </a:r>
            <a:r>
              <a:rPr lang="en-US" dirty="0"/>
              <a:t> dung</a:t>
            </a:r>
          </a:p>
          <a:p>
            <a:r>
              <a:rPr lang="en-US" dirty="0" err="1"/>
              <a:t>Tìm</a:t>
            </a:r>
            <a:r>
              <a:rPr lang="en-US" dirty="0"/>
              <a:t> </a:t>
            </a:r>
            <a:r>
              <a:rPr lang="en-US" dirty="0" err="1"/>
              <a:t>hiểu</a:t>
            </a:r>
            <a:r>
              <a:rPr lang="en-US" dirty="0"/>
              <a:t> </a:t>
            </a:r>
            <a:r>
              <a:rPr lang="en-US" dirty="0" err="1"/>
              <a:t>về</a:t>
            </a:r>
            <a:r>
              <a:rPr lang="en-US" dirty="0"/>
              <a:t> Host-to-</a:t>
            </a:r>
            <a:r>
              <a:rPr lang="en-US" dirty="0" err="1"/>
              <a:t>chủ</a:t>
            </a:r>
            <a:r>
              <a:rPr lang="en-US" dirty="0"/>
              <a:t> </a:t>
            </a:r>
            <a:r>
              <a:rPr lang="en-US" dirty="0" err="1"/>
              <a:t>Truyền</a:t>
            </a:r>
            <a:r>
              <a:rPr lang="en-US" dirty="0"/>
              <a:t> </a:t>
            </a:r>
            <a:r>
              <a:rPr lang="en-US" dirty="0" err="1"/>
              <a:t>thông</a:t>
            </a:r>
            <a:endParaRPr lang="en-US" dirty="0"/>
          </a:p>
          <a:p>
            <a:r>
              <a:rPr lang="en-US" dirty="0" err="1"/>
              <a:t>Khám</a:t>
            </a:r>
            <a:r>
              <a:rPr lang="en-US" dirty="0"/>
              <a:t> </a:t>
            </a:r>
            <a:r>
              <a:rPr lang="en-US" dirty="0" err="1"/>
              <a:t>phá</a:t>
            </a:r>
            <a:r>
              <a:rPr lang="en-US" dirty="0"/>
              <a:t> </a:t>
            </a:r>
            <a:r>
              <a:rPr lang="en-US" dirty="0" err="1"/>
              <a:t>quá</a:t>
            </a:r>
            <a:r>
              <a:rPr lang="en-US" dirty="0"/>
              <a:t> </a:t>
            </a:r>
            <a:r>
              <a:rPr lang="en-US" dirty="0" err="1"/>
              <a:t>trình</a:t>
            </a:r>
            <a:r>
              <a:rPr lang="en-US" dirty="0"/>
              <a:t> </a:t>
            </a:r>
            <a:r>
              <a:rPr lang="en-US" dirty="0" err="1"/>
              <a:t>giao</a:t>
            </a:r>
            <a:r>
              <a:rPr lang="en-US" dirty="0"/>
              <a:t> </a:t>
            </a:r>
            <a:r>
              <a:rPr lang="en-US" dirty="0" err="1"/>
              <a:t>hàng</a:t>
            </a:r>
            <a:r>
              <a:rPr lang="en-US" dirty="0"/>
              <a:t> </a:t>
            </a:r>
            <a:r>
              <a:rPr lang="en-US" dirty="0" err="1"/>
              <a:t>gói</a:t>
            </a:r>
            <a:endParaRPr lang="en-US" dirty="0"/>
          </a:p>
          <a:p>
            <a:r>
              <a:rPr lang="en-US" dirty="0" err="1"/>
              <a:t>Sự</a:t>
            </a:r>
            <a:r>
              <a:rPr lang="en-US" dirty="0"/>
              <a:t> </a:t>
            </a:r>
            <a:r>
              <a:rPr lang="en-US" dirty="0" err="1"/>
              <a:t>hiểu</a:t>
            </a:r>
            <a:r>
              <a:rPr lang="en-US" dirty="0"/>
              <a:t> </a:t>
            </a:r>
            <a:r>
              <a:rPr lang="en-US" dirty="0" err="1"/>
              <a:t>biết</a:t>
            </a:r>
            <a:r>
              <a:rPr lang="en-US" dirty="0"/>
              <a:t> </a:t>
            </a:r>
            <a:r>
              <a:rPr lang="en-US" dirty="0" err="1"/>
              <a:t>giao</a:t>
            </a:r>
            <a:r>
              <a:rPr lang="en-US" dirty="0"/>
              <a:t> </a:t>
            </a:r>
            <a:r>
              <a:rPr lang="en-US" dirty="0" err="1"/>
              <a:t>thức</a:t>
            </a:r>
            <a:r>
              <a:rPr lang="en-US" dirty="0"/>
              <a:t> TCP / IP </a:t>
            </a:r>
            <a:r>
              <a:rPr lang="en-US" dirty="0" err="1"/>
              <a:t>lớp</a:t>
            </a:r>
            <a:r>
              <a:rPr lang="en-US" dirty="0"/>
              <a:t> Internet</a:t>
            </a:r>
          </a:p>
          <a:p>
            <a:r>
              <a:rPr lang="en-US" dirty="0" err="1"/>
              <a:t>Tìm</a:t>
            </a:r>
            <a:r>
              <a:rPr lang="en-US" dirty="0"/>
              <a:t> </a:t>
            </a:r>
            <a:r>
              <a:rPr lang="en-US" dirty="0" err="1"/>
              <a:t>hiểu</a:t>
            </a:r>
            <a:r>
              <a:rPr lang="en-US" dirty="0"/>
              <a:t> </a:t>
            </a:r>
            <a:r>
              <a:rPr lang="en-US" dirty="0" err="1"/>
              <a:t>về</a:t>
            </a:r>
            <a:r>
              <a:rPr lang="en-US" dirty="0"/>
              <a:t> </a:t>
            </a:r>
            <a:r>
              <a:rPr lang="en-US" dirty="0" err="1"/>
              <a:t>công</a:t>
            </a:r>
            <a:r>
              <a:rPr lang="en-US" dirty="0"/>
              <a:t> </a:t>
            </a:r>
            <a:r>
              <a:rPr lang="en-US" dirty="0" err="1"/>
              <a:t>nghệ</a:t>
            </a:r>
            <a:r>
              <a:rPr lang="en-US" dirty="0"/>
              <a:t> </a:t>
            </a:r>
            <a:r>
              <a:rPr lang="en-US" dirty="0" err="1"/>
              <a:t>mạng</a:t>
            </a:r>
            <a:r>
              <a:rPr lang="en-US" dirty="0"/>
              <a:t> WAN</a:t>
            </a:r>
          </a:p>
        </p:txBody>
      </p:sp>
      <p:sp>
        <p:nvSpPr>
          <p:cNvPr id="4" name="Slide Number Placeholder 3"/>
          <p:cNvSpPr>
            <a:spLocks noGrp="1"/>
          </p:cNvSpPr>
          <p:nvPr>
            <p:ph type="sldNum" sz="quarter" idx="10"/>
          </p:nvPr>
        </p:nvSpPr>
        <p:spPr/>
        <p:txBody>
          <a:bodyPr/>
          <a:lstStyle/>
          <a:p>
            <a:fld id="{6C8E7273-4487-4D23-BD93-3955BE9E2B95}" type="slidenum">
              <a:rPr lang="en-US" smtClean="0"/>
              <a:pPr/>
              <a:t>3</a:t>
            </a:fld>
            <a:endParaRPr lang="en-US"/>
          </a:p>
        </p:txBody>
      </p:sp>
    </p:spTree>
    <p:extLst>
      <p:ext uri="{BB962C8B-B14F-4D97-AF65-F5344CB8AC3E}">
        <p14:creationId xmlns:p14="http://schemas.microsoft.com/office/powerpoint/2010/main" val="1369691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323E41-DD53-42FF-846D-50658D3126D6}" type="slidenum">
              <a:rPr lang="en-US"/>
              <a:pPr/>
              <a:t>4</a:t>
            </a:fld>
            <a:endParaRPr lang="en-US"/>
          </a:p>
        </p:txBody>
      </p:sp>
      <p:sp>
        <p:nvSpPr>
          <p:cNvPr id="84994" name="Rectangle 2"/>
          <p:cNvSpPr>
            <a:spLocks noGrp="1" noRot="1" noChangeAspect="1" noChangeArrowheads="1" noTextEdit="1"/>
          </p:cNvSpPr>
          <p:nvPr>
            <p:ph type="sldImg"/>
          </p:nvPr>
        </p:nvSpPr>
        <p:spPr>
          <a:xfrm>
            <a:off x="841375" y="241300"/>
            <a:ext cx="5233988" cy="3925888"/>
          </a:xfrm>
          <a:ln/>
        </p:spPr>
      </p:sp>
      <p:sp>
        <p:nvSpPr>
          <p:cNvPr id="84995" name="Rectangle 3"/>
          <p:cNvSpPr>
            <a:spLocks noGrp="1" noChangeArrowheads="1"/>
          </p:cNvSpPr>
          <p:nvPr>
            <p:ph type="body" idx="1"/>
          </p:nvPr>
        </p:nvSpPr>
        <p:spPr>
          <a:xfrm>
            <a:off x="395288" y="4305300"/>
            <a:ext cx="5988050" cy="4184650"/>
          </a:xfrm>
        </p:spPr>
        <p:txBody>
          <a:bodyPr/>
          <a:lstStyle/>
          <a:p>
            <a:r>
              <a:rPr lang="en-GB" dirty="0" err="1"/>
              <a:t>Tiềm</a:t>
            </a:r>
            <a:r>
              <a:rPr lang="en-GB" dirty="0"/>
              <a:t> </a:t>
            </a:r>
            <a:r>
              <a:rPr lang="en-GB" dirty="0" err="1"/>
              <a:t>hiểu</a:t>
            </a:r>
            <a:r>
              <a:rPr lang="en-GB" baseline="0" dirty="0"/>
              <a:t> </a:t>
            </a:r>
            <a:r>
              <a:rPr lang="en-GB" baseline="0" dirty="0" err="1"/>
              <a:t>về</a:t>
            </a:r>
            <a:r>
              <a:rPr lang="en-GB" baseline="0" dirty="0"/>
              <a:t> </a:t>
            </a:r>
            <a:r>
              <a:rPr lang="en-GB" baseline="0" dirty="0" err="1"/>
              <a:t>truyền</a:t>
            </a:r>
            <a:r>
              <a:rPr lang="en-GB" baseline="0" dirty="0"/>
              <a:t> </a:t>
            </a:r>
            <a:r>
              <a:rPr lang="en-GB" baseline="0" dirty="0" err="1"/>
              <a:t>thông</a:t>
            </a:r>
            <a:r>
              <a:rPr lang="en-GB" baseline="0" dirty="0"/>
              <a:t> hot to hot</a:t>
            </a:r>
            <a:endParaRPr lang="en-GB" dirty="0"/>
          </a:p>
        </p:txBody>
      </p:sp>
    </p:spTree>
    <p:extLst>
      <p:ext uri="{BB962C8B-B14F-4D97-AF65-F5344CB8AC3E}">
        <p14:creationId xmlns:p14="http://schemas.microsoft.com/office/powerpoint/2010/main" val="32257069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mô</a:t>
            </a:r>
            <a:r>
              <a:rPr lang="en-US" dirty="0"/>
              <a:t> </a:t>
            </a:r>
            <a:r>
              <a:rPr lang="en-US" dirty="0" err="1"/>
              <a:t>hình</a:t>
            </a:r>
            <a:r>
              <a:rPr lang="en-US" dirty="0"/>
              <a:t> </a:t>
            </a:r>
            <a:r>
              <a:rPr lang="en-US" dirty="0" err="1"/>
              <a:t>cũ</a:t>
            </a:r>
            <a:endParaRPr lang="en-US" dirty="0"/>
          </a:p>
          <a:p>
            <a:r>
              <a:rPr lang="en-US" dirty="0" err="1"/>
              <a:t>Độc</a:t>
            </a:r>
            <a:r>
              <a:rPr lang="en-US" dirty="0"/>
              <a:t> </a:t>
            </a:r>
            <a:r>
              <a:rPr lang="en-US" dirty="0" err="1"/>
              <a:t>quyền</a:t>
            </a:r>
            <a:r>
              <a:rPr lang="en-US" dirty="0"/>
              <a:t> (own individual)</a:t>
            </a:r>
          </a:p>
          <a:p>
            <a:r>
              <a:rPr lang="en-US" dirty="0" err="1"/>
              <a:t>Ứng</a:t>
            </a:r>
            <a:r>
              <a:rPr lang="en-US" dirty="0"/>
              <a:t> </a:t>
            </a:r>
            <a:r>
              <a:rPr lang="en-US" dirty="0" err="1"/>
              <a:t>dụng</a:t>
            </a:r>
            <a:r>
              <a:rPr lang="en-US" dirty="0"/>
              <a:t> </a:t>
            </a:r>
            <a:r>
              <a:rPr lang="en-US" dirty="0" err="1"/>
              <a:t>và</a:t>
            </a:r>
            <a:r>
              <a:rPr lang="en-US" dirty="0"/>
              <a:t> </a:t>
            </a:r>
            <a:r>
              <a:rPr lang="en-US" dirty="0" err="1"/>
              <a:t>kết</a:t>
            </a:r>
            <a:r>
              <a:rPr lang="en-US" dirty="0"/>
              <a:t> </a:t>
            </a:r>
            <a:r>
              <a:rPr lang="en-US" dirty="0" err="1"/>
              <a:t>hợp</a:t>
            </a:r>
            <a:r>
              <a:rPr lang="en-US" dirty="0"/>
              <a:t> </a:t>
            </a:r>
            <a:r>
              <a:rPr lang="en-US" dirty="0" err="1"/>
              <a:t>phần</a:t>
            </a:r>
            <a:r>
              <a:rPr lang="en-US" dirty="0"/>
              <a:t> </a:t>
            </a:r>
            <a:r>
              <a:rPr lang="en-US" dirty="0" err="1"/>
              <a:t>mềm</a:t>
            </a:r>
            <a:r>
              <a:rPr lang="en-US" dirty="0"/>
              <a:t> </a:t>
            </a:r>
            <a:r>
              <a:rPr lang="en-US" dirty="0" err="1"/>
              <a:t>kiểm</a:t>
            </a:r>
            <a:r>
              <a:rPr lang="en-US" dirty="0"/>
              <a:t> </a:t>
            </a:r>
            <a:r>
              <a:rPr lang="en-US" dirty="0" err="1"/>
              <a:t>soát</a:t>
            </a:r>
            <a:r>
              <a:rPr lang="en-US" dirty="0"/>
              <a:t> </a:t>
            </a:r>
            <a:r>
              <a:rPr lang="en-US" dirty="0" err="1"/>
              <a:t>bởi</a:t>
            </a:r>
            <a:r>
              <a:rPr lang="en-US" dirty="0"/>
              <a:t> </a:t>
            </a:r>
            <a:r>
              <a:rPr lang="en-US" dirty="0" err="1"/>
              <a:t>một</a:t>
            </a:r>
            <a:r>
              <a:rPr lang="en-US" dirty="0"/>
              <a:t> </a:t>
            </a:r>
            <a:r>
              <a:rPr lang="en-US" dirty="0" err="1"/>
              <a:t>nhà</a:t>
            </a:r>
            <a:r>
              <a:rPr lang="en-US" dirty="0"/>
              <a:t> </a:t>
            </a:r>
            <a:r>
              <a:rPr lang="en-US" dirty="0" err="1"/>
              <a:t>cung</a:t>
            </a:r>
            <a:r>
              <a:rPr lang="en-US" dirty="0"/>
              <a:t> </a:t>
            </a:r>
            <a:r>
              <a:rPr lang="en-US" dirty="0" err="1"/>
              <a:t>cấp</a:t>
            </a:r>
            <a:endParaRPr lang="en-US" dirty="0"/>
          </a:p>
          <a:p>
            <a:endParaRPr lang="en-US" dirty="0"/>
          </a:p>
          <a:p>
            <a:r>
              <a:rPr lang="en-US" dirty="0" err="1"/>
              <a:t>Mô</a:t>
            </a:r>
            <a:r>
              <a:rPr lang="en-US" dirty="0"/>
              <a:t> </a:t>
            </a:r>
            <a:r>
              <a:rPr lang="en-US" dirty="0" err="1"/>
              <a:t>hình</a:t>
            </a:r>
            <a:r>
              <a:rPr lang="en-US" dirty="0"/>
              <a:t> </a:t>
            </a:r>
            <a:r>
              <a:rPr lang="en-US" dirty="0" err="1"/>
              <a:t>dựa</a:t>
            </a:r>
            <a:r>
              <a:rPr lang="en-US" dirty="0"/>
              <a:t> </a:t>
            </a:r>
            <a:r>
              <a:rPr lang="en-US" dirty="0" err="1"/>
              <a:t>trên</a:t>
            </a:r>
            <a:r>
              <a:rPr lang="en-US" dirty="0"/>
              <a:t> </a:t>
            </a:r>
            <a:r>
              <a:rPr lang="en-US" dirty="0" err="1"/>
              <a:t>tiêu</a:t>
            </a:r>
            <a:r>
              <a:rPr lang="en-US" dirty="0"/>
              <a:t> </a:t>
            </a:r>
            <a:r>
              <a:rPr lang="en-US" dirty="0" err="1"/>
              <a:t>chuẩn</a:t>
            </a:r>
            <a:endParaRPr lang="en-US" dirty="0"/>
          </a:p>
          <a:p>
            <a:r>
              <a:rPr lang="en-US" dirty="0" err="1"/>
              <a:t>phần</a:t>
            </a:r>
            <a:r>
              <a:rPr lang="en-US" dirty="0"/>
              <a:t> </a:t>
            </a:r>
            <a:r>
              <a:rPr lang="en-US" dirty="0" err="1"/>
              <a:t>mềm</a:t>
            </a:r>
            <a:r>
              <a:rPr lang="en-US" dirty="0"/>
              <a:t> multivendor</a:t>
            </a:r>
          </a:p>
          <a:p>
            <a:r>
              <a:rPr lang="en-US" dirty="0" err="1"/>
              <a:t>cách</a:t>
            </a:r>
            <a:r>
              <a:rPr lang="en-US" dirty="0"/>
              <a:t> </a:t>
            </a:r>
            <a:r>
              <a:rPr lang="en-US" dirty="0" err="1"/>
              <a:t>tiếp</a:t>
            </a:r>
            <a:r>
              <a:rPr lang="en-US" dirty="0"/>
              <a:t> </a:t>
            </a:r>
            <a:r>
              <a:rPr lang="en-US" dirty="0" err="1"/>
              <a:t>cận</a:t>
            </a:r>
            <a:r>
              <a:rPr lang="en-US" dirty="0"/>
              <a:t> </a:t>
            </a:r>
            <a:r>
              <a:rPr lang="en-US" dirty="0" err="1"/>
              <a:t>lớp</a:t>
            </a:r>
            <a:endParaRPr lang="en-US" dirty="0"/>
          </a:p>
        </p:txBody>
      </p:sp>
      <p:sp>
        <p:nvSpPr>
          <p:cNvPr id="4" name="Slide Number Placeholder 3"/>
          <p:cNvSpPr>
            <a:spLocks noGrp="1"/>
          </p:cNvSpPr>
          <p:nvPr>
            <p:ph type="sldNum" sz="quarter" idx="10"/>
          </p:nvPr>
        </p:nvSpPr>
        <p:spPr/>
        <p:txBody>
          <a:bodyPr/>
          <a:lstStyle/>
          <a:p>
            <a:fld id="{6C8E7273-4487-4D23-BD93-3955BE9E2B95}" type="slidenum">
              <a:rPr lang="en-US" smtClean="0"/>
              <a:pPr/>
              <a:t>5</a:t>
            </a:fld>
            <a:endParaRPr lang="en-US"/>
          </a:p>
        </p:txBody>
      </p:sp>
    </p:spTree>
    <p:extLst>
      <p:ext uri="{BB962C8B-B14F-4D97-AF65-F5344CB8AC3E}">
        <p14:creationId xmlns:p14="http://schemas.microsoft.com/office/powerpoint/2010/main" val="542547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99337054-EFA0-4A63-8A22-43F395DBC9C4}" type="slidenum">
              <a:rPr lang="en-US"/>
              <a:pPr/>
              <a:t>6</a:t>
            </a:fld>
            <a:endParaRPr lang="en-US"/>
          </a:p>
        </p:txBody>
      </p:sp>
      <p:sp>
        <p:nvSpPr>
          <p:cNvPr id="118786"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8787"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8788" name="Rectangle 4"/>
          <p:cNvSpPr>
            <a:spLocks noGrp="1" noRot="1" noChangeAspect="1" noChangeArrowheads="1" noTextEdit="1"/>
          </p:cNvSpPr>
          <p:nvPr>
            <p:ph type="sldImg"/>
          </p:nvPr>
        </p:nvSpPr>
        <p:spPr>
          <a:xfrm>
            <a:off x="1243013" y="563563"/>
            <a:ext cx="4384675" cy="3287712"/>
          </a:xfrm>
          <a:ln/>
        </p:spPr>
      </p:sp>
      <p:sp>
        <p:nvSpPr>
          <p:cNvPr id="118789" name="Rectangle 5"/>
          <p:cNvSpPr>
            <a:spLocks noGrp="1" noChangeArrowheads="1"/>
          </p:cNvSpPr>
          <p:nvPr>
            <p:ph type="body" idx="1"/>
          </p:nvPr>
        </p:nvSpPr>
        <p:spPr>
          <a:xfrm>
            <a:off x="858838" y="3997325"/>
            <a:ext cx="5160962" cy="4306888"/>
          </a:xfrm>
        </p:spPr>
        <p:txBody>
          <a:bodyPr lIns="89715" tIns="44858" rIns="89715" bIns="44858"/>
          <a:lstStyle/>
          <a:p>
            <a:r>
              <a:rPr lang="vi-VN" dirty="0"/>
              <a:t>Lý do tại sao một mạng mẫu phân lớp?</a:t>
            </a:r>
          </a:p>
          <a:p>
            <a:r>
              <a:rPr lang="vi-VN" dirty="0"/>
              <a:t>giảm độ phức tạp</a:t>
            </a:r>
          </a:p>
          <a:p>
            <a:r>
              <a:rPr lang="vi-VN" dirty="0"/>
              <a:t>tiêu chuẩn hóa giao diện</a:t>
            </a:r>
          </a:p>
          <a:p>
            <a:r>
              <a:rPr lang="vi-VN" dirty="0"/>
              <a:t>Tạo điều kiện cho mô-đun kỹ thuật</a:t>
            </a:r>
          </a:p>
          <a:p>
            <a:r>
              <a:rPr lang="vi-VN" dirty="0"/>
              <a:t>Đảm bảo công nghệ tương thích</a:t>
            </a:r>
          </a:p>
          <a:p>
            <a:r>
              <a:rPr lang="vi-VN" dirty="0"/>
              <a:t>tăng tốc phát triển</a:t>
            </a:r>
          </a:p>
          <a:p>
            <a:r>
              <a:rPr lang="vi-VN" dirty="0"/>
              <a:t>Đơn giản hoá việc dạy và học</a:t>
            </a:r>
          </a:p>
          <a:p>
            <a:endParaRPr lang="en-US" dirty="0"/>
          </a:p>
        </p:txBody>
      </p:sp>
    </p:spTree>
    <p:extLst>
      <p:ext uri="{BB962C8B-B14F-4D97-AF65-F5344CB8AC3E}">
        <p14:creationId xmlns:p14="http://schemas.microsoft.com/office/powerpoint/2010/main" val="524187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E77D6EA2-E716-4EF8-BF49-41122459605E}" type="slidenum">
              <a:rPr lang="en-US"/>
              <a:pPr/>
              <a:t>7</a:t>
            </a:fld>
            <a:endParaRPr lang="en-US"/>
          </a:p>
        </p:txBody>
      </p:sp>
      <p:sp>
        <p:nvSpPr>
          <p:cNvPr id="135170"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5171"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5172" name="Rectangle 4"/>
          <p:cNvSpPr>
            <a:spLocks noGrp="1" noRot="1" noChangeAspect="1" noChangeArrowheads="1" noTextEdit="1"/>
          </p:cNvSpPr>
          <p:nvPr>
            <p:ph type="sldImg"/>
          </p:nvPr>
        </p:nvSpPr>
        <p:spPr>
          <a:xfrm>
            <a:off x="1243013" y="563563"/>
            <a:ext cx="4384675" cy="3287712"/>
          </a:xfrm>
          <a:ln/>
        </p:spPr>
      </p:sp>
      <p:sp>
        <p:nvSpPr>
          <p:cNvPr id="135173" name="Rectangle 5"/>
          <p:cNvSpPr>
            <a:spLocks noGrp="1" noChangeArrowheads="1"/>
          </p:cNvSpPr>
          <p:nvPr>
            <p:ph type="body" idx="1"/>
          </p:nvPr>
        </p:nvSpPr>
        <p:spPr>
          <a:xfrm>
            <a:off x="858838" y="3997325"/>
            <a:ext cx="5160962" cy="4306888"/>
          </a:xfrm>
        </p:spPr>
        <p:txBody>
          <a:bodyPr lIns="89715" tIns="44858" rIns="89715" bIns="44858"/>
          <a:lstStyle/>
          <a:p>
            <a:r>
              <a:rPr lang="vi-VN" sz="1200" b="1" i="1" kern="1200" dirty="0">
                <a:solidFill>
                  <a:schemeClr val="tx1"/>
                </a:solidFill>
                <a:effectLst/>
                <a:latin typeface="Times" pitchFamily="18" charset="0"/>
                <a:ea typeface="+mn-ea"/>
                <a:cs typeface="+mn-cs"/>
              </a:rPr>
              <a:t>Tầng vật lý (Physical layer) là tầng dưới cùng của mô hình OSI.</a:t>
            </a:r>
            <a:r>
              <a:rPr lang="vi-VN" sz="1200" b="0" i="0" kern="1200" dirty="0">
                <a:solidFill>
                  <a:schemeClr val="tx1"/>
                </a:solidFill>
                <a:effectLst/>
                <a:latin typeface="Times" pitchFamily="18" charset="0"/>
                <a:ea typeface="+mn-ea"/>
                <a:cs typeface="+mn-cs"/>
              </a:rPr>
              <a:t> Nó mô tả các đặc trưng vật lý của mạng: </a:t>
            </a:r>
            <a:r>
              <a:rPr lang="vi-VN" sz="1200" b="1" i="0" kern="1200" dirty="0">
                <a:solidFill>
                  <a:schemeClr val="tx1"/>
                </a:solidFill>
                <a:effectLst/>
                <a:latin typeface="Times" pitchFamily="18" charset="0"/>
                <a:ea typeface="+mn-ea"/>
                <a:cs typeface="+mn-cs"/>
              </a:rPr>
              <a:t>tầng vật lý là</a:t>
            </a:r>
            <a:r>
              <a:rPr lang="vi-VN" sz="1200" b="0" i="0" kern="1200" dirty="0">
                <a:solidFill>
                  <a:schemeClr val="tx1"/>
                </a:solidFill>
                <a:effectLst/>
                <a:latin typeface="Times" pitchFamily="18" charset="0"/>
                <a:ea typeface="+mn-ea"/>
                <a:cs typeface="+mn-cs"/>
              </a:rPr>
              <a:t> không có gói tin riêng và do vậy không có phần đầu (header) chứa thông tin điều khiển, dữ liệu được truyền đi theo dòng bit</a:t>
            </a:r>
            <a:r>
              <a:rPr lang="en-US" sz="1200" b="0" i="0" kern="1200" dirty="0">
                <a:solidFill>
                  <a:schemeClr val="tx1"/>
                </a:solidFill>
                <a:effectLst/>
                <a:latin typeface="Times" pitchFamily="18" charset="0"/>
                <a:ea typeface="+mn-ea"/>
                <a:cs typeface="+mn-cs"/>
              </a:rPr>
              <a:t>, </a:t>
            </a:r>
          </a:p>
          <a:p>
            <a:r>
              <a:rPr lang="vi-VN" sz="1200" b="0" i="0" kern="1200" dirty="0">
                <a:solidFill>
                  <a:schemeClr val="tx1"/>
                </a:solidFill>
                <a:effectLst/>
                <a:latin typeface="Times" pitchFamily="18" charset="0"/>
                <a:ea typeface="+mn-ea"/>
                <a:cs typeface="+mn-cs"/>
              </a:rPr>
              <a:t>Chức năng và dịch vụ chính mà tầng vật lý giải quyết là:</a:t>
            </a:r>
          </a:p>
          <a:p>
            <a:r>
              <a:rPr lang="vi-VN" sz="1200" b="0" i="0" kern="1200" dirty="0">
                <a:solidFill>
                  <a:schemeClr val="tx1"/>
                </a:solidFill>
                <a:effectLst/>
                <a:latin typeface="Times" pitchFamily="18" charset="0"/>
                <a:ea typeface="+mn-ea"/>
                <a:cs typeface="+mn-cs"/>
              </a:rPr>
              <a:t>Thiết lập và </a:t>
            </a:r>
            <a:r>
              <a:rPr lang="vi-VN" sz="1200" b="0" i="0" u="none" strike="noStrike" kern="1200" dirty="0">
                <a:solidFill>
                  <a:schemeClr val="tx1"/>
                </a:solidFill>
                <a:effectLst/>
                <a:latin typeface="Times" pitchFamily="18" charset="0"/>
                <a:ea typeface="+mn-ea"/>
                <a:cs typeface="+mn-cs"/>
                <a:hlinkClick r:id="rId3" tooltip="Ngắt mạch (trang chưa được viết)"/>
              </a:rPr>
              <a:t>ngắt mạch</a:t>
            </a:r>
            <a:r>
              <a:rPr lang="vi-VN" sz="1200" b="0" i="0" kern="1200" dirty="0">
                <a:solidFill>
                  <a:schemeClr val="tx1"/>
                </a:solidFill>
                <a:effectLst/>
                <a:latin typeface="Times" pitchFamily="18" charset="0"/>
                <a:ea typeface="+mn-ea"/>
                <a:cs typeface="+mn-cs"/>
              </a:rPr>
              <a:t> một </a:t>
            </a:r>
            <a:r>
              <a:rPr lang="vi-VN" sz="1200" b="0" i="0" u="none" strike="noStrike" kern="1200" dirty="0">
                <a:solidFill>
                  <a:schemeClr val="tx1"/>
                </a:solidFill>
                <a:effectLst/>
                <a:latin typeface="Times" pitchFamily="18" charset="0"/>
                <a:ea typeface="+mn-ea"/>
                <a:cs typeface="+mn-cs"/>
                <a:hlinkClick r:id="rId4" tooltip="Viễn thông"/>
              </a:rPr>
              <a:t>liên kết viễn thông</a:t>
            </a:r>
            <a:r>
              <a:rPr lang="vi-VN" sz="1200" b="0" i="0" kern="1200" dirty="0">
                <a:solidFill>
                  <a:schemeClr val="tx1"/>
                </a:solidFill>
                <a:effectLst/>
                <a:latin typeface="Times" pitchFamily="18" charset="0"/>
                <a:ea typeface="+mn-ea"/>
                <a:cs typeface="+mn-cs"/>
              </a:rPr>
              <a:t> trên một </a:t>
            </a:r>
            <a:r>
              <a:rPr lang="vi-VN" sz="1200" b="0" i="0" u="none" strike="noStrike" kern="1200" dirty="0">
                <a:solidFill>
                  <a:schemeClr val="tx1"/>
                </a:solidFill>
                <a:effectLst/>
                <a:latin typeface="Times" pitchFamily="18" charset="0"/>
                <a:ea typeface="+mn-ea"/>
                <a:cs typeface="+mn-cs"/>
                <a:hlinkClick r:id="rId5" tooltip="Phương tiện truyền thông (trang chưa được viết)"/>
              </a:rPr>
              <a:t>hương tiện truyền thông</a:t>
            </a:r>
            <a:r>
              <a:rPr lang="vi-VN" sz="1200" b="0" i="0" kern="1200" dirty="0">
                <a:solidFill>
                  <a:schemeClr val="tx1"/>
                </a:solidFill>
                <a:effectLst/>
                <a:latin typeface="Times" pitchFamily="18" charset="0"/>
                <a:ea typeface="+mn-ea"/>
                <a:cs typeface="+mn-cs"/>
              </a:rPr>
              <a:t>;</a:t>
            </a:r>
          </a:p>
          <a:p>
            <a:r>
              <a:rPr lang="vi-VN" sz="1200" b="0" i="0" kern="1200" dirty="0">
                <a:solidFill>
                  <a:schemeClr val="tx1"/>
                </a:solidFill>
                <a:effectLst/>
                <a:latin typeface="Times" pitchFamily="18" charset="0"/>
                <a:ea typeface="+mn-ea"/>
                <a:cs typeface="+mn-cs"/>
              </a:rPr>
              <a:t>Tham gia vào một tiến trình trong đó </a:t>
            </a:r>
            <a:r>
              <a:rPr lang="vi-VN" sz="1200" b="0" i="0" u="none" strike="noStrike" kern="1200" dirty="0">
                <a:solidFill>
                  <a:schemeClr val="tx1"/>
                </a:solidFill>
                <a:effectLst/>
                <a:latin typeface="Times" pitchFamily="18" charset="0"/>
                <a:ea typeface="+mn-ea"/>
                <a:cs typeface="+mn-cs"/>
                <a:hlinkClick r:id="rId6" tooltip="Tài nguyên"/>
              </a:rPr>
              <a:t>tài nguyên</a:t>
            </a:r>
            <a:r>
              <a:rPr lang="vi-VN" sz="1200" b="0" i="0" kern="1200" dirty="0">
                <a:solidFill>
                  <a:schemeClr val="tx1"/>
                </a:solidFill>
                <a:effectLst/>
                <a:latin typeface="Times" pitchFamily="18" charset="0"/>
                <a:ea typeface="+mn-ea"/>
                <a:cs typeface="+mn-cs"/>
              </a:rPr>
              <a:t> được nhiều người sử dụng cùng một lúc, chẳng hạn phân giải sự </a:t>
            </a:r>
            <a:r>
              <a:rPr lang="vi-VN" sz="1200" b="0" i="0" u="none" strike="noStrike" kern="1200" dirty="0">
                <a:solidFill>
                  <a:schemeClr val="tx1"/>
                </a:solidFill>
                <a:effectLst/>
                <a:latin typeface="Times" pitchFamily="18" charset="0"/>
                <a:ea typeface="+mn-ea"/>
                <a:cs typeface="+mn-cs"/>
                <a:hlinkClick r:id="rId7" tooltip="Tranh chấp (trang chưa được viết)"/>
              </a:rPr>
              <a:t>tranh chấp</a:t>
            </a:r>
            <a:r>
              <a:rPr lang="vi-VN" sz="1200" b="0" i="0" kern="1200" dirty="0">
                <a:solidFill>
                  <a:schemeClr val="tx1"/>
                </a:solidFill>
                <a:effectLst/>
                <a:latin typeface="Times" pitchFamily="18" charset="0"/>
                <a:ea typeface="+mn-ea"/>
                <a:cs typeface="+mn-cs"/>
              </a:rPr>
              <a:t> (contention) và </a:t>
            </a:r>
            <a:r>
              <a:rPr lang="vi-VN" sz="1200" b="0" i="0" u="none" strike="noStrike" kern="1200" dirty="0">
                <a:solidFill>
                  <a:schemeClr val="tx1"/>
                </a:solidFill>
                <a:effectLst/>
                <a:latin typeface="Times" pitchFamily="18" charset="0"/>
                <a:ea typeface="+mn-ea"/>
                <a:cs typeface="+mn-cs"/>
                <a:hlinkClick r:id="rId8" tooltip="Khống chế luồng (trang chưa được viết)"/>
              </a:rPr>
              <a:t>khống chế luồng</a:t>
            </a:r>
            <a:r>
              <a:rPr lang="vi-VN" sz="1200" b="0" i="0" kern="1200" dirty="0">
                <a:solidFill>
                  <a:schemeClr val="tx1"/>
                </a:solidFill>
                <a:effectLst/>
                <a:latin typeface="Times" pitchFamily="18" charset="0"/>
                <a:ea typeface="+mn-ea"/>
                <a:cs typeface="+mn-cs"/>
              </a:rPr>
              <a:t> (</a:t>
            </a:r>
            <a:r>
              <a:rPr lang="vi-VN" sz="1200" b="0" i="1" kern="1200" dirty="0">
                <a:solidFill>
                  <a:schemeClr val="tx1"/>
                </a:solidFill>
                <a:effectLst/>
                <a:latin typeface="Times" pitchFamily="18" charset="0"/>
                <a:ea typeface="+mn-ea"/>
                <a:cs typeface="+mn-cs"/>
              </a:rPr>
              <a:t>flow control</a:t>
            </a:r>
            <a:r>
              <a:rPr lang="vi-VN" sz="1200" b="0" i="0" kern="1200" dirty="0">
                <a:solidFill>
                  <a:schemeClr val="tx1"/>
                </a:solidFill>
                <a:effectLst/>
                <a:latin typeface="Times" pitchFamily="18" charset="0"/>
                <a:ea typeface="+mn-ea"/>
                <a:cs typeface="+mn-cs"/>
              </a:rPr>
              <a:t>);</a:t>
            </a:r>
          </a:p>
          <a:p>
            <a:r>
              <a:rPr lang="vi-VN" sz="1200" b="0" i="0" kern="1200" dirty="0">
                <a:solidFill>
                  <a:schemeClr val="tx1"/>
                </a:solidFill>
                <a:effectLst/>
                <a:latin typeface="Times" pitchFamily="18" charset="0"/>
                <a:ea typeface="+mn-ea"/>
                <a:cs typeface="+mn-cs"/>
              </a:rPr>
              <a:t>Biến đổi thể dạng của </a:t>
            </a:r>
            <a:r>
              <a:rPr lang="vi-VN" sz="1200" b="0" i="0" u="none" strike="noStrike" kern="1200" dirty="0">
                <a:solidFill>
                  <a:schemeClr val="tx1"/>
                </a:solidFill>
                <a:effectLst/>
                <a:latin typeface="Times" pitchFamily="18" charset="0"/>
                <a:ea typeface="+mn-ea"/>
                <a:cs typeface="+mn-cs"/>
                <a:hlinkClick r:id="rId9" tooltip="Dữ liệu số (trang chưa được viết)"/>
              </a:rPr>
              <a:t>dữ liệu số</a:t>
            </a:r>
            <a:r>
              <a:rPr lang="vi-VN" sz="1200" b="0" i="0" kern="1200" dirty="0">
                <a:solidFill>
                  <a:schemeClr val="tx1"/>
                </a:solidFill>
                <a:effectLst/>
                <a:latin typeface="Times" pitchFamily="18" charset="0"/>
                <a:ea typeface="+mn-ea"/>
                <a:cs typeface="+mn-cs"/>
              </a:rPr>
              <a:t> (</a:t>
            </a:r>
            <a:r>
              <a:rPr lang="vi-VN" sz="1200" b="0" i="1" kern="1200" dirty="0">
                <a:solidFill>
                  <a:schemeClr val="tx1"/>
                </a:solidFill>
                <a:effectLst/>
                <a:latin typeface="Times" pitchFamily="18" charset="0"/>
                <a:ea typeface="+mn-ea"/>
                <a:cs typeface="+mn-cs"/>
              </a:rPr>
              <a:t>digital data</a:t>
            </a:r>
            <a:r>
              <a:rPr lang="vi-VN" sz="1200" b="0" i="0" kern="1200" dirty="0">
                <a:solidFill>
                  <a:schemeClr val="tx1"/>
                </a:solidFill>
                <a:effectLst/>
                <a:latin typeface="Times" pitchFamily="18" charset="0"/>
                <a:ea typeface="+mn-ea"/>
                <a:cs typeface="+mn-cs"/>
              </a:rPr>
              <a:t>) trong thiết bị của </a:t>
            </a:r>
            <a:r>
              <a:rPr lang="vi-VN" sz="1200" b="0" i="0" u="none" strike="noStrike" kern="1200" dirty="0">
                <a:solidFill>
                  <a:schemeClr val="tx1"/>
                </a:solidFill>
                <a:effectLst/>
                <a:latin typeface="Times" pitchFamily="18" charset="0"/>
                <a:ea typeface="+mn-ea"/>
                <a:cs typeface="+mn-cs"/>
                <a:hlinkClick r:id="rId10" tooltip="Người dùng (máy tính) (trang chưa được viết)"/>
              </a:rPr>
              <a:t>người dùng</a:t>
            </a:r>
            <a:r>
              <a:rPr lang="vi-VN" sz="1200" b="0" i="0" kern="1200" dirty="0">
                <a:solidFill>
                  <a:schemeClr val="tx1"/>
                </a:solidFill>
                <a:effectLst/>
                <a:latin typeface="Times" pitchFamily="18" charset="0"/>
                <a:ea typeface="+mn-ea"/>
                <a:cs typeface="+mn-cs"/>
              </a:rPr>
              <a:t> đồng bộ với tín hiệu được truyền qua </a:t>
            </a:r>
            <a:r>
              <a:rPr lang="vi-VN" sz="1200" b="0" i="0" u="none" strike="noStrike" kern="1200" dirty="0">
                <a:solidFill>
                  <a:schemeClr val="tx1"/>
                </a:solidFill>
                <a:effectLst/>
                <a:latin typeface="Times" pitchFamily="18" charset="0"/>
                <a:ea typeface="+mn-ea"/>
                <a:cs typeface="+mn-cs"/>
                <a:hlinkClick r:id="rId11" tooltip="Đường truyền thông (trang chưa được viết)"/>
              </a:rPr>
              <a:t>đường truyền thông</a:t>
            </a:r>
            <a:r>
              <a:rPr lang="vi-VN" sz="1200" b="0" i="0" kern="1200" dirty="0">
                <a:solidFill>
                  <a:schemeClr val="tx1"/>
                </a:solidFill>
                <a:effectLst/>
                <a:latin typeface="Times" pitchFamily="18" charset="0"/>
                <a:ea typeface="+mn-ea"/>
                <a:cs typeface="+mn-cs"/>
              </a:rPr>
              <a:t> (</a:t>
            </a:r>
            <a:r>
              <a:rPr lang="vi-VN" sz="1200" b="0" i="1" kern="1200" dirty="0">
                <a:solidFill>
                  <a:schemeClr val="tx1"/>
                </a:solidFill>
                <a:effectLst/>
                <a:latin typeface="Times" pitchFamily="18" charset="0"/>
                <a:ea typeface="+mn-ea"/>
                <a:cs typeface="+mn-cs"/>
              </a:rPr>
              <a:t>Communication channel</a:t>
            </a:r>
            <a:r>
              <a:rPr lang="vi-VN" sz="1200" b="0" i="0" kern="1200" dirty="0">
                <a:solidFill>
                  <a:schemeClr val="tx1"/>
                </a:solidFill>
                <a:effectLst/>
                <a:latin typeface="Times" pitchFamily="18" charset="0"/>
                <a:ea typeface="+mn-ea"/>
                <a:cs typeface="+mn-cs"/>
              </a:rPr>
              <a:t>).</a:t>
            </a:r>
          </a:p>
          <a:p>
            <a:endParaRPr lang="en-US" dirty="0"/>
          </a:p>
        </p:txBody>
      </p:sp>
    </p:spTree>
    <p:extLst>
      <p:ext uri="{BB962C8B-B14F-4D97-AF65-F5344CB8AC3E}">
        <p14:creationId xmlns:p14="http://schemas.microsoft.com/office/powerpoint/2010/main" val="2948448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B5A01885-8E7F-48D0-A76A-3B080ED91597}" type="slidenum">
              <a:rPr lang="en-US"/>
              <a:pPr/>
              <a:t>8</a:t>
            </a:fld>
            <a:endParaRPr lang="en-US"/>
          </a:p>
        </p:txBody>
      </p:sp>
      <p:sp>
        <p:nvSpPr>
          <p:cNvPr id="137218"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19"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7220" name="Rectangle 4"/>
          <p:cNvSpPr>
            <a:spLocks noGrp="1" noRot="1" noChangeAspect="1" noChangeArrowheads="1" noTextEdit="1"/>
          </p:cNvSpPr>
          <p:nvPr>
            <p:ph type="sldImg"/>
          </p:nvPr>
        </p:nvSpPr>
        <p:spPr>
          <a:xfrm>
            <a:off x="1243013" y="563563"/>
            <a:ext cx="4384675" cy="3287712"/>
          </a:xfrm>
          <a:ln/>
        </p:spPr>
      </p:sp>
      <p:sp>
        <p:nvSpPr>
          <p:cNvPr id="137221" name="Rectangle 5"/>
          <p:cNvSpPr>
            <a:spLocks noGrp="1" noChangeArrowheads="1"/>
          </p:cNvSpPr>
          <p:nvPr>
            <p:ph type="body" idx="1"/>
          </p:nvPr>
        </p:nvSpPr>
        <p:spPr>
          <a:xfrm>
            <a:off x="858838" y="3997325"/>
            <a:ext cx="5160962" cy="4306888"/>
          </a:xfrm>
        </p:spPr>
        <p:txBody>
          <a:bodyPr lIns="89715" tIns="44858" rIns="89715" bIns="44858"/>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i="0" kern="1200" dirty="0" err="1">
                <a:solidFill>
                  <a:schemeClr val="tx1"/>
                </a:solidFill>
                <a:effectLst/>
                <a:latin typeface="Times" pitchFamily="18" charset="0"/>
                <a:ea typeface="+mn-ea"/>
                <a:cs typeface="+mn-cs"/>
              </a:rPr>
              <a:t>Tầng</a:t>
            </a:r>
            <a:r>
              <a:rPr lang="en-US" sz="1200" b="0" i="0" kern="1200" baseline="0" dirty="0">
                <a:solidFill>
                  <a:schemeClr val="tx1"/>
                </a:solidFill>
                <a:effectLst/>
                <a:latin typeface="Times" pitchFamily="18" charset="0"/>
                <a:ea typeface="+mn-ea"/>
                <a:cs typeface="+mn-cs"/>
              </a:rPr>
              <a:t> 2 </a:t>
            </a:r>
            <a:r>
              <a:rPr lang="en-US" sz="1200" b="0" i="0" kern="1200" baseline="0" dirty="0" err="1">
                <a:solidFill>
                  <a:schemeClr val="tx1"/>
                </a:solidFill>
                <a:effectLst/>
                <a:latin typeface="Times" pitchFamily="18" charset="0"/>
                <a:ea typeface="+mn-ea"/>
                <a:cs typeface="+mn-cs"/>
              </a:rPr>
              <a:t>cung</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cấp</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các</a:t>
            </a:r>
            <a:r>
              <a:rPr lang="en-US" sz="1200" b="0" i="0" kern="1200" baseline="0" dirty="0">
                <a:solidFill>
                  <a:schemeClr val="tx1"/>
                </a:solidFill>
                <a:effectLst/>
                <a:latin typeface="Times" pitchFamily="18" charset="0"/>
                <a:ea typeface="+mn-ea"/>
                <a:cs typeface="+mn-cs"/>
              </a:rPr>
              <a:t> fame</a:t>
            </a:r>
            <a:endParaRPr lang="en-US" sz="1200" b="0" i="0" kern="1200" dirty="0">
              <a:solidFill>
                <a:schemeClr val="tx1"/>
              </a:solidFill>
              <a:effectLst/>
              <a:latin typeface="Times" pitchFamily="18"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vi-VN" sz="1200" b="0" i="0" kern="1200" dirty="0">
                <a:solidFill>
                  <a:schemeClr val="tx1"/>
                </a:solidFill>
                <a:effectLst/>
                <a:latin typeface="Times" pitchFamily="18" charset="0"/>
                <a:ea typeface="+mn-ea"/>
                <a:cs typeface="+mn-cs"/>
              </a:rPr>
              <a:t>Tầng liên kết dữ liệu</a:t>
            </a:r>
          </a:p>
          <a:p>
            <a:r>
              <a:rPr lang="vi-VN" sz="1200" b="0" i="0" kern="1200" dirty="0">
                <a:solidFill>
                  <a:schemeClr val="tx1"/>
                </a:solidFill>
                <a:effectLst/>
                <a:latin typeface="Times" pitchFamily="18" charset="0"/>
                <a:ea typeface="+mn-ea"/>
                <a:cs typeface="+mn-cs"/>
              </a:rPr>
              <a:t>Nó đáp ứng các yêu cầu phục vụ của </a:t>
            </a:r>
            <a:r>
              <a:rPr lang="en-US" sz="1200" b="0" i="0" u="none" strike="noStrike" kern="1200" dirty="0" err="1">
                <a:solidFill>
                  <a:schemeClr val="tx1"/>
                </a:solidFill>
                <a:effectLst/>
                <a:latin typeface="Times" pitchFamily="18" charset="0"/>
                <a:ea typeface="+mn-ea"/>
                <a:cs typeface="+mn-cs"/>
              </a:rPr>
              <a:t>tầng</a:t>
            </a:r>
            <a:r>
              <a:rPr lang="en-US" sz="1200" b="0" i="0" u="none" strike="noStrike" kern="1200" baseline="0" dirty="0">
                <a:solidFill>
                  <a:schemeClr val="tx1"/>
                </a:solidFill>
                <a:effectLst/>
                <a:latin typeface="Times" pitchFamily="18" charset="0"/>
                <a:ea typeface="+mn-ea"/>
                <a:cs typeface="+mn-cs"/>
              </a:rPr>
              <a:t> </a:t>
            </a:r>
            <a:r>
              <a:rPr lang="en-US" sz="1200" b="0" i="0" u="none" strike="noStrike" kern="1200" baseline="0" dirty="0" err="1">
                <a:solidFill>
                  <a:schemeClr val="tx1"/>
                </a:solidFill>
                <a:effectLst/>
                <a:latin typeface="Times" pitchFamily="18" charset="0"/>
                <a:ea typeface="+mn-ea"/>
                <a:cs typeface="+mn-cs"/>
              </a:rPr>
              <a:t>mạng</a:t>
            </a:r>
            <a:r>
              <a:rPr lang="vi-VN" sz="1200" b="0" i="0" kern="1200" dirty="0">
                <a:solidFill>
                  <a:schemeClr val="tx1"/>
                </a:solidFill>
                <a:effectLst/>
                <a:latin typeface="Times" pitchFamily="18" charset="0"/>
                <a:ea typeface="+mn-ea"/>
                <a:cs typeface="+mn-cs"/>
              </a:rPr>
              <a:t> và phát sinh các yêu cầu phục vụ gửi tới </a:t>
            </a:r>
            <a:r>
              <a:rPr lang="en-US" sz="1200" b="0" i="0" u="none" strike="noStrike" kern="1200" dirty="0" err="1">
                <a:solidFill>
                  <a:schemeClr val="tx1"/>
                </a:solidFill>
                <a:effectLst/>
                <a:latin typeface="Times" pitchFamily="18" charset="0"/>
                <a:ea typeface="+mn-ea"/>
                <a:cs typeface="+mn-cs"/>
              </a:rPr>
              <a:t>tầng</a:t>
            </a:r>
            <a:r>
              <a:rPr lang="en-US" sz="1200" b="0" i="0" u="none" strike="noStrike" kern="1200" baseline="0" dirty="0">
                <a:solidFill>
                  <a:schemeClr val="tx1"/>
                </a:solidFill>
                <a:effectLst/>
                <a:latin typeface="Times" pitchFamily="18" charset="0"/>
                <a:ea typeface="+mn-ea"/>
                <a:cs typeface="+mn-cs"/>
              </a:rPr>
              <a:t> </a:t>
            </a:r>
            <a:r>
              <a:rPr lang="en-US" sz="1200" b="0" i="0" u="none" strike="noStrike" kern="1200" baseline="0" dirty="0" err="1">
                <a:solidFill>
                  <a:schemeClr val="tx1"/>
                </a:solidFill>
                <a:effectLst/>
                <a:latin typeface="Times" pitchFamily="18" charset="0"/>
                <a:ea typeface="+mn-ea"/>
                <a:cs typeface="+mn-cs"/>
              </a:rPr>
              <a:t>vật</a:t>
            </a:r>
            <a:r>
              <a:rPr lang="en-US" sz="1200" b="0" i="0" u="none" strike="noStrike" kern="1200" baseline="0" dirty="0">
                <a:solidFill>
                  <a:schemeClr val="tx1"/>
                </a:solidFill>
                <a:effectLst/>
                <a:latin typeface="Times" pitchFamily="18" charset="0"/>
                <a:ea typeface="+mn-ea"/>
                <a:cs typeface="+mn-cs"/>
              </a:rPr>
              <a:t> </a:t>
            </a:r>
            <a:r>
              <a:rPr lang="en-US" sz="1200" b="0" i="0" u="none" strike="noStrike" kern="1200" baseline="0" dirty="0" err="1">
                <a:solidFill>
                  <a:schemeClr val="tx1"/>
                </a:solidFill>
                <a:effectLst/>
                <a:latin typeface="Times" pitchFamily="18" charset="0"/>
                <a:ea typeface="+mn-ea"/>
                <a:cs typeface="+mn-cs"/>
              </a:rPr>
              <a:t>lý</a:t>
            </a:r>
            <a:r>
              <a:rPr lang="vi-VN" sz="1200" b="0" i="0" kern="1200" dirty="0">
                <a:solidFill>
                  <a:schemeClr val="tx1"/>
                </a:solidFill>
                <a:effectLst/>
                <a:latin typeface="Times" pitchFamily="18" charset="0"/>
                <a:ea typeface="+mn-ea"/>
                <a:cs typeface="+mn-cs"/>
              </a:rPr>
              <a:t>.</a:t>
            </a:r>
            <a:r>
              <a:rPr lang="en-US" sz="1200" b="0" i="0" kern="1200" dirty="0">
                <a:solidFill>
                  <a:schemeClr val="tx1"/>
                </a:solidFill>
                <a:effectLst/>
                <a:latin typeface="Times" pitchFamily="18" charset="0"/>
                <a:ea typeface="+mn-ea"/>
                <a:cs typeface="+mn-cs"/>
              </a:rPr>
              <a:t> </a:t>
            </a:r>
            <a:r>
              <a:rPr lang="en-US" sz="1200" b="0" i="0" kern="1200" dirty="0" err="1">
                <a:solidFill>
                  <a:schemeClr val="tx1"/>
                </a:solidFill>
                <a:effectLst/>
                <a:latin typeface="Times" pitchFamily="18" charset="0"/>
                <a:ea typeface="+mn-ea"/>
                <a:cs typeface="+mn-cs"/>
              </a:rPr>
              <a:t>Tức</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là</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làm</a:t>
            </a:r>
            <a:r>
              <a:rPr lang="en-US" sz="1200" b="0" i="0" kern="1200" baseline="0" dirty="0">
                <a:solidFill>
                  <a:schemeClr val="tx1"/>
                </a:solidFill>
                <a:effectLst/>
                <a:latin typeface="Times" pitchFamily="18" charset="0"/>
                <a:ea typeface="+mn-ea"/>
                <a:cs typeface="+mn-cs"/>
              </a:rPr>
              <a:t> the6` </a:t>
            </a:r>
            <a:r>
              <a:rPr lang="en-US" sz="1200" b="0" i="0" kern="1200" baseline="0" dirty="0" err="1">
                <a:solidFill>
                  <a:schemeClr val="tx1"/>
                </a:solidFill>
                <a:effectLst/>
                <a:latin typeface="Times" pitchFamily="18" charset="0"/>
                <a:ea typeface="+mn-ea"/>
                <a:cs typeface="+mn-cs"/>
              </a:rPr>
              <a:t>náo</a:t>
            </a:r>
            <a:r>
              <a:rPr lang="en-US" sz="1200" b="0" i="0" kern="1200" baseline="0" dirty="0">
                <a:solidFill>
                  <a:schemeClr val="tx1"/>
                </a:solidFill>
                <a:effectLst/>
                <a:latin typeface="Times" pitchFamily="18" charset="0"/>
                <a:ea typeface="+mn-ea"/>
                <a:cs typeface="+mn-cs"/>
              </a:rPr>
              <a:t> data </a:t>
            </a:r>
            <a:r>
              <a:rPr lang="en-US" sz="1200" b="0" i="0" kern="1200" baseline="0" dirty="0" err="1">
                <a:solidFill>
                  <a:schemeClr val="tx1"/>
                </a:solidFill>
                <a:effectLst/>
                <a:latin typeface="Times" pitchFamily="18" charset="0"/>
                <a:ea typeface="+mn-ea"/>
                <a:cs typeface="+mn-cs"/>
              </a:rPr>
              <a:t>theo</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định</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dạng</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chuển</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đi</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và</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kết</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nối</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đến</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thiết</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bị</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điều</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khiền</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mạng</a:t>
            </a:r>
            <a:r>
              <a:rPr lang="en-US" sz="1200" b="0" i="0" kern="1200" baseline="0" dirty="0">
                <a:solidFill>
                  <a:schemeClr val="tx1"/>
                </a:solidFill>
                <a:effectLst/>
                <a:latin typeface="Times" pitchFamily="18" charset="0"/>
                <a:ea typeface="+mn-ea"/>
                <a:cs typeface="+mn-cs"/>
              </a:rPr>
              <a:t>\</a:t>
            </a:r>
          </a:p>
          <a:p>
            <a:r>
              <a:rPr lang="en-US" sz="1200" b="0" i="0" kern="1200" baseline="0" dirty="0" err="1">
                <a:solidFill>
                  <a:schemeClr val="tx1"/>
                </a:solidFill>
                <a:effectLst/>
                <a:latin typeface="Times" pitchFamily="18" charset="0"/>
                <a:ea typeface="+mn-ea"/>
                <a:cs typeface="+mn-cs"/>
              </a:rPr>
              <a:t>Tiềm</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các</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phát</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sinh</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lổi</a:t>
            </a:r>
            <a:endParaRPr lang="en-US" sz="1200" b="0" i="0" kern="1200" baseline="0" dirty="0">
              <a:solidFill>
                <a:schemeClr val="tx1"/>
              </a:solidFill>
              <a:effectLst/>
              <a:latin typeface="Times" pitchFamily="18" charset="0"/>
              <a:ea typeface="+mn-ea"/>
              <a:cs typeface="+mn-cs"/>
            </a:endParaRPr>
          </a:p>
          <a:p>
            <a:r>
              <a:rPr lang="vi-VN" sz="1200" b="0" i="0" kern="1200" dirty="0">
                <a:solidFill>
                  <a:schemeClr val="tx1"/>
                </a:solidFill>
                <a:effectLst/>
                <a:latin typeface="Times" pitchFamily="18" charset="0"/>
                <a:ea typeface="+mn-ea"/>
                <a:cs typeface="+mn-cs"/>
              </a:rPr>
              <a:t>Tầng này đôi khi được chia thành hai tầng con.</a:t>
            </a:r>
            <a:endParaRPr lang="en-US" sz="1200" b="0" i="0" kern="1200" dirty="0">
              <a:solidFill>
                <a:schemeClr val="tx1"/>
              </a:solidFill>
              <a:effectLst/>
              <a:latin typeface="Times" pitchFamily="18" charset="0"/>
              <a:ea typeface="+mn-ea"/>
              <a:cs typeface="+mn-cs"/>
            </a:endParaRPr>
          </a:p>
          <a:p>
            <a:endParaRPr lang="fr-FR" sz="1200" b="0" i="1" kern="1200" dirty="0">
              <a:solidFill>
                <a:schemeClr val="tx1"/>
              </a:solidFill>
              <a:effectLst/>
              <a:latin typeface="Times" pitchFamily="18" charset="0"/>
              <a:ea typeface="+mn-ea"/>
              <a:cs typeface="+mn-cs"/>
            </a:endParaRPr>
          </a:p>
          <a:p>
            <a:r>
              <a:rPr lang="fr-FR" sz="1200" b="0" i="1" kern="1200" dirty="0" err="1">
                <a:solidFill>
                  <a:schemeClr val="tx1"/>
                </a:solidFill>
                <a:effectLst/>
                <a:latin typeface="Times" pitchFamily="18" charset="0"/>
                <a:ea typeface="+mn-ea"/>
                <a:cs typeface="+mn-cs"/>
              </a:rPr>
              <a:t>Logical</a:t>
            </a:r>
            <a:r>
              <a:rPr lang="fr-FR" sz="1200" b="0" i="1" kern="1200" dirty="0">
                <a:solidFill>
                  <a:schemeClr val="tx1"/>
                </a:solidFill>
                <a:effectLst/>
                <a:latin typeface="Times" pitchFamily="18" charset="0"/>
                <a:ea typeface="+mn-ea"/>
                <a:cs typeface="+mn-cs"/>
              </a:rPr>
              <a:t> Link Control</a:t>
            </a:r>
            <a:r>
              <a:rPr lang="fr-FR" sz="1200" b="0" i="0" kern="1200" dirty="0">
                <a:solidFill>
                  <a:schemeClr val="tx1"/>
                </a:solidFill>
                <a:effectLst/>
                <a:latin typeface="Times" pitchFamily="18" charset="0"/>
                <a:ea typeface="+mn-ea"/>
                <a:cs typeface="+mn-cs"/>
              </a:rPr>
              <a:t>, </a:t>
            </a:r>
            <a:r>
              <a:rPr lang="fr-FR" sz="1200" b="0" i="0" kern="1200" dirty="0" err="1">
                <a:solidFill>
                  <a:schemeClr val="tx1"/>
                </a:solidFill>
                <a:effectLst/>
                <a:latin typeface="Times" pitchFamily="18" charset="0"/>
                <a:ea typeface="+mn-ea"/>
                <a:cs typeface="+mn-cs"/>
              </a:rPr>
              <a:t>viết</a:t>
            </a:r>
            <a:r>
              <a:rPr lang="fr-FR" sz="1200" b="0" i="0" kern="1200" dirty="0">
                <a:solidFill>
                  <a:schemeClr val="tx1"/>
                </a:solidFill>
                <a:effectLst/>
                <a:latin typeface="Times" pitchFamily="18" charset="0"/>
                <a:ea typeface="+mn-ea"/>
                <a:cs typeface="+mn-cs"/>
              </a:rPr>
              <a:t> </a:t>
            </a:r>
            <a:r>
              <a:rPr lang="fr-FR" sz="1200" b="0" i="0" kern="1200" dirty="0" err="1">
                <a:solidFill>
                  <a:schemeClr val="tx1"/>
                </a:solidFill>
                <a:effectLst/>
                <a:latin typeface="Times" pitchFamily="18" charset="0"/>
                <a:ea typeface="+mn-ea"/>
                <a:cs typeface="+mn-cs"/>
              </a:rPr>
              <a:t>tắt</a:t>
            </a:r>
            <a:r>
              <a:rPr lang="fr-FR" sz="1200" b="0" i="0" kern="1200" dirty="0">
                <a:solidFill>
                  <a:schemeClr val="tx1"/>
                </a:solidFill>
                <a:effectLst/>
                <a:latin typeface="Times" pitchFamily="18" charset="0"/>
                <a:ea typeface="+mn-ea"/>
                <a:cs typeface="+mn-cs"/>
              </a:rPr>
              <a:t> là LLC: </a:t>
            </a:r>
            <a:r>
              <a:rPr lang="vi-VN" sz="1200" b="0" i="0" kern="1200" dirty="0">
                <a:solidFill>
                  <a:schemeClr val="tx1"/>
                </a:solidFill>
                <a:effectLst/>
                <a:latin typeface="Times" pitchFamily="18" charset="0"/>
                <a:ea typeface="+mn-ea"/>
                <a:cs typeface="+mn-cs"/>
              </a:rPr>
              <a:t>Tầng con này multiplex các giao thức hoạt động phía trên tầng liên kết dữ liệu, và theo tùy chọn có thể cung cấp chức năng điều khiển lưu lượng, acknowledgment, và khôi phục lỗi.</a:t>
            </a:r>
            <a:endParaRPr lang="en-US" sz="1200" b="0" i="0" kern="1200" dirty="0">
              <a:solidFill>
                <a:schemeClr val="tx1"/>
              </a:solidFill>
              <a:effectLst/>
              <a:latin typeface="Times" pitchFamily="18" charset="0"/>
              <a:ea typeface="+mn-ea"/>
              <a:cs typeface="+mn-cs"/>
            </a:endParaRPr>
          </a:p>
          <a:p>
            <a:r>
              <a:rPr lang="en-US" sz="1200" b="0" i="1" kern="1200" dirty="0">
                <a:solidFill>
                  <a:schemeClr val="tx1"/>
                </a:solidFill>
                <a:effectLst/>
                <a:latin typeface="Times" pitchFamily="18" charset="0"/>
                <a:ea typeface="+mn-ea"/>
                <a:cs typeface="+mn-cs"/>
              </a:rPr>
              <a:t>Media Access Control</a:t>
            </a:r>
            <a:r>
              <a:rPr lang="en-US" sz="1200" b="0" i="0" kern="1200" dirty="0">
                <a:solidFill>
                  <a:schemeClr val="tx1"/>
                </a:solidFill>
                <a:effectLst/>
                <a:latin typeface="Times" pitchFamily="18" charset="0"/>
                <a:ea typeface="+mn-ea"/>
                <a:cs typeface="+mn-cs"/>
              </a:rPr>
              <a:t>, </a:t>
            </a:r>
            <a:r>
              <a:rPr lang="en-US" sz="1200" b="0" i="0" kern="1200" dirty="0" err="1">
                <a:solidFill>
                  <a:schemeClr val="tx1"/>
                </a:solidFill>
                <a:effectLst/>
                <a:latin typeface="Times" pitchFamily="18" charset="0"/>
                <a:ea typeface="+mn-ea"/>
                <a:cs typeface="+mn-cs"/>
              </a:rPr>
              <a:t>viết</a:t>
            </a:r>
            <a:r>
              <a:rPr lang="en-US" sz="1200" b="0" i="0" kern="1200" dirty="0">
                <a:solidFill>
                  <a:schemeClr val="tx1"/>
                </a:solidFill>
                <a:effectLst/>
                <a:latin typeface="Times" pitchFamily="18" charset="0"/>
                <a:ea typeface="+mn-ea"/>
                <a:cs typeface="+mn-cs"/>
              </a:rPr>
              <a:t> </a:t>
            </a:r>
            <a:r>
              <a:rPr lang="en-US" sz="1200" b="0" i="0" kern="1200" dirty="0" err="1">
                <a:solidFill>
                  <a:schemeClr val="tx1"/>
                </a:solidFill>
                <a:effectLst/>
                <a:latin typeface="Times" pitchFamily="18" charset="0"/>
                <a:ea typeface="+mn-ea"/>
                <a:cs typeface="+mn-cs"/>
              </a:rPr>
              <a:t>tắt</a:t>
            </a:r>
            <a:r>
              <a:rPr lang="en-US" sz="1200" b="0" i="0" kern="1200" dirty="0">
                <a:solidFill>
                  <a:schemeClr val="tx1"/>
                </a:solidFill>
                <a:effectLst/>
                <a:latin typeface="Times" pitchFamily="18" charset="0"/>
                <a:ea typeface="+mn-ea"/>
                <a:cs typeface="+mn-cs"/>
              </a:rPr>
              <a:t> </a:t>
            </a:r>
            <a:r>
              <a:rPr lang="en-US" sz="1200" b="0" i="0" kern="1200" dirty="0" err="1">
                <a:solidFill>
                  <a:schemeClr val="tx1"/>
                </a:solidFill>
                <a:effectLst/>
                <a:latin typeface="Times" pitchFamily="18" charset="0"/>
                <a:ea typeface="+mn-ea"/>
                <a:cs typeface="+mn-cs"/>
              </a:rPr>
              <a:t>là</a:t>
            </a:r>
            <a:r>
              <a:rPr lang="en-US" sz="1200" b="0" i="0" kern="1200" dirty="0">
                <a:solidFill>
                  <a:schemeClr val="tx1"/>
                </a:solidFill>
                <a:effectLst/>
                <a:latin typeface="Times" pitchFamily="18" charset="0"/>
                <a:ea typeface="+mn-ea"/>
                <a:cs typeface="+mn-cs"/>
              </a:rPr>
              <a:t> MAC: </a:t>
            </a:r>
            <a:r>
              <a:rPr lang="vi-VN" sz="1200" b="0" i="0" kern="1200" dirty="0">
                <a:solidFill>
                  <a:schemeClr val="tx1"/>
                </a:solidFill>
                <a:effectLst/>
                <a:latin typeface="Times" pitchFamily="18" charset="0"/>
                <a:ea typeface="+mn-ea"/>
                <a:cs typeface="+mn-cs"/>
              </a:rPr>
              <a:t>Tầng con này quyết định tại mỗi thời điểm ai sẽ được phép truy nhập môi trường truyền dẫn. Có hai dạng điều khiển truy nhập môi trường: điều khiển phân tán và điều khiển tập trung</a:t>
            </a:r>
            <a:endParaRPr lang="en-US" dirty="0"/>
          </a:p>
        </p:txBody>
      </p:sp>
    </p:spTree>
    <p:extLst>
      <p:ext uri="{BB962C8B-B14F-4D97-AF65-F5344CB8AC3E}">
        <p14:creationId xmlns:p14="http://schemas.microsoft.com/office/powerpoint/2010/main" val="1161261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75053886-AA6B-46C6-B0A0-DB0B79A52FFA}" type="slidenum">
              <a:rPr lang="en-US"/>
              <a:pPr/>
              <a:t>9</a:t>
            </a:fld>
            <a:endParaRPr lang="en-US"/>
          </a:p>
        </p:txBody>
      </p:sp>
      <p:sp>
        <p:nvSpPr>
          <p:cNvPr id="139266"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9267"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9268" name="Rectangle 4"/>
          <p:cNvSpPr>
            <a:spLocks noGrp="1" noRot="1" noChangeAspect="1" noChangeArrowheads="1" noTextEdit="1"/>
          </p:cNvSpPr>
          <p:nvPr>
            <p:ph type="sldImg"/>
          </p:nvPr>
        </p:nvSpPr>
        <p:spPr>
          <a:xfrm>
            <a:off x="1243013" y="563563"/>
            <a:ext cx="4384675" cy="3287712"/>
          </a:xfrm>
          <a:ln/>
        </p:spPr>
      </p:sp>
      <p:sp>
        <p:nvSpPr>
          <p:cNvPr id="139269" name="Rectangle 5"/>
          <p:cNvSpPr>
            <a:spLocks noGrp="1" noChangeArrowheads="1"/>
          </p:cNvSpPr>
          <p:nvPr>
            <p:ph type="body" idx="1"/>
          </p:nvPr>
        </p:nvSpPr>
        <p:spPr>
          <a:xfrm>
            <a:off x="858838" y="3997325"/>
            <a:ext cx="5160962" cy="4306888"/>
          </a:xfrm>
        </p:spPr>
        <p:txBody>
          <a:bodyPr lIns="89715" tIns="44858" rIns="89715" bIns="44858"/>
          <a:lstStyle/>
          <a:p>
            <a:r>
              <a:rPr lang="vi-VN" sz="1200" b="0" i="0" kern="1200" dirty="0">
                <a:solidFill>
                  <a:schemeClr val="tx1"/>
                </a:solidFill>
                <a:effectLst/>
                <a:latin typeface="Times" pitchFamily="18" charset="0"/>
                <a:ea typeface="+mn-ea"/>
                <a:cs typeface="+mn-cs"/>
              </a:rPr>
              <a:t>Tầng </a:t>
            </a:r>
            <a:r>
              <a:rPr lang="en-US" sz="1200" b="0" i="0" kern="1200" dirty="0" err="1">
                <a:solidFill>
                  <a:schemeClr val="tx1"/>
                </a:solidFill>
                <a:effectLst/>
                <a:latin typeface="Times" pitchFamily="18" charset="0"/>
                <a:ea typeface="+mn-ea"/>
                <a:cs typeface="+mn-cs"/>
              </a:rPr>
              <a:t>mạng</a:t>
            </a:r>
            <a:r>
              <a:rPr lang="en-US" sz="1200" b="0" i="0" kern="1200" baseline="0" dirty="0">
                <a:solidFill>
                  <a:schemeClr val="tx1"/>
                </a:solidFill>
                <a:effectLst/>
                <a:latin typeface="Times" pitchFamily="18" charset="0"/>
                <a:ea typeface="+mn-ea"/>
                <a:cs typeface="+mn-cs"/>
              </a:rPr>
              <a:t> </a:t>
            </a:r>
          </a:p>
          <a:p>
            <a:r>
              <a:rPr lang="en-US" sz="1200" b="0" i="0" kern="1200" baseline="0" dirty="0">
                <a:solidFill>
                  <a:schemeClr val="tx1"/>
                </a:solidFill>
                <a:effectLst/>
                <a:latin typeface="Times" pitchFamily="18" charset="0"/>
                <a:ea typeface="+mn-ea"/>
                <a:cs typeface="+mn-cs"/>
              </a:rPr>
              <a:t>3 </a:t>
            </a:r>
            <a:r>
              <a:rPr lang="en-US" sz="1200" b="0" i="0" kern="1200" baseline="0" dirty="0" err="1">
                <a:solidFill>
                  <a:schemeClr val="tx1"/>
                </a:solidFill>
                <a:effectLst/>
                <a:latin typeface="Times" pitchFamily="18" charset="0"/>
                <a:ea typeface="+mn-ea"/>
                <a:cs typeface="+mn-cs"/>
              </a:rPr>
              <a:t>nhiệm</a:t>
            </a:r>
            <a:r>
              <a:rPr lang="en-US" sz="1200" b="0" i="0" kern="1200" baseline="0" dirty="0">
                <a:solidFill>
                  <a:schemeClr val="tx1"/>
                </a:solidFill>
                <a:effectLst/>
                <a:latin typeface="Times" pitchFamily="18" charset="0"/>
                <a:ea typeface="+mn-ea"/>
                <a:cs typeface="+mn-cs"/>
              </a:rPr>
              <a:t> vu</a:t>
            </a:r>
          </a:p>
          <a:p>
            <a:r>
              <a:rPr lang="en-US" sz="1200" b="0" i="0" kern="1200" baseline="0" dirty="0" err="1">
                <a:solidFill>
                  <a:schemeClr val="tx1"/>
                </a:solidFill>
                <a:effectLst/>
                <a:latin typeface="Times" pitchFamily="18" charset="0"/>
                <a:ea typeface="+mn-ea"/>
                <a:cs typeface="+mn-cs"/>
              </a:rPr>
              <a:t>Tiềm</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duong</a:t>
            </a:r>
            <a:r>
              <a:rPr lang="en-US" sz="1200" b="0" i="0" kern="1200" baseline="0" dirty="0">
                <a:solidFill>
                  <a:schemeClr val="tx1"/>
                </a:solidFill>
                <a:effectLst/>
                <a:latin typeface="Times" pitchFamily="18" charset="0"/>
                <a:ea typeface="+mn-ea"/>
                <a:cs typeface="+mn-cs"/>
              </a:rPr>
              <a:t> di, </a:t>
            </a:r>
            <a:r>
              <a:rPr lang="en-US" sz="1200" b="0" i="0" kern="1200" baseline="0" dirty="0" err="1">
                <a:solidFill>
                  <a:schemeClr val="tx1"/>
                </a:solidFill>
                <a:effectLst/>
                <a:latin typeface="Times" pitchFamily="18" charset="0"/>
                <a:ea typeface="+mn-ea"/>
                <a:cs typeface="+mn-cs"/>
              </a:rPr>
              <a:t>duong</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tốt</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nhất</a:t>
            </a:r>
            <a:r>
              <a:rPr lang="en-US" sz="1200" b="0" i="0" kern="1200" baseline="0" dirty="0">
                <a:solidFill>
                  <a:schemeClr val="tx1"/>
                </a:solidFill>
                <a:effectLst/>
                <a:latin typeface="Times" pitchFamily="18" charset="0"/>
                <a:ea typeface="+mn-ea"/>
                <a:cs typeface="+mn-cs"/>
              </a:rPr>
              <a:t> (bang thong tot </a:t>
            </a:r>
            <a:r>
              <a:rPr lang="en-US" sz="1200" b="0" i="0" kern="1200" baseline="0" dirty="0" err="1">
                <a:solidFill>
                  <a:schemeClr val="tx1"/>
                </a:solidFill>
                <a:effectLst/>
                <a:latin typeface="Times" pitchFamily="18" charset="0"/>
                <a:ea typeface="+mn-ea"/>
                <a:cs typeface="+mn-cs"/>
              </a:rPr>
              <a:t>nhat</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tranh</a:t>
            </a:r>
            <a:r>
              <a:rPr lang="en-US" sz="1200" b="0" i="0" kern="1200" baseline="0" dirty="0">
                <a:solidFill>
                  <a:schemeClr val="tx1"/>
                </a:solidFill>
                <a:effectLst/>
                <a:latin typeface="Times" pitchFamily="18" charset="0"/>
                <a:ea typeface="+mn-ea"/>
                <a:cs typeface="+mn-cs"/>
              </a:rPr>
              <a:t> mat </a:t>
            </a:r>
            <a:r>
              <a:rPr lang="en-US" sz="1200" b="0" i="0" kern="1200" baseline="0" dirty="0" err="1">
                <a:solidFill>
                  <a:schemeClr val="tx1"/>
                </a:solidFill>
                <a:effectLst/>
                <a:latin typeface="Times" pitchFamily="18" charset="0"/>
                <a:ea typeface="+mn-ea"/>
                <a:cs typeface="+mn-cs"/>
              </a:rPr>
              <a:t>goi</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nghen</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mang</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đánh</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địa</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chỉ</a:t>
            </a:r>
            <a:r>
              <a:rPr lang="en-US" sz="1200" b="0" i="0" kern="1200" baseline="0" dirty="0">
                <a:solidFill>
                  <a:schemeClr val="tx1"/>
                </a:solidFill>
                <a:effectLst/>
                <a:latin typeface="Times" pitchFamily="18" charset="0"/>
                <a:ea typeface="+mn-ea"/>
                <a:cs typeface="+mn-cs"/>
              </a:rPr>
              <a:t> logic (</a:t>
            </a:r>
            <a:r>
              <a:rPr lang="en-US" sz="1200" b="0" i="0" kern="1200" baseline="0" dirty="0" err="1">
                <a:solidFill>
                  <a:schemeClr val="tx1"/>
                </a:solidFill>
                <a:effectLst/>
                <a:latin typeface="Times" pitchFamily="18" charset="0"/>
                <a:ea typeface="+mn-ea"/>
                <a:cs typeface="+mn-cs"/>
              </a:rPr>
              <a:t>ip</a:t>
            </a:r>
            <a:r>
              <a:rPr lang="en-US" sz="1200" b="0" i="0" kern="1200" baseline="0" dirty="0">
                <a:solidFill>
                  <a:schemeClr val="tx1"/>
                </a:solidFill>
                <a:effectLst/>
                <a:latin typeface="Times" pitchFamily="18" charset="0"/>
                <a:ea typeface="+mn-ea"/>
                <a:cs typeface="+mn-cs"/>
              </a:rPr>
              <a:t>) </a:t>
            </a:r>
          </a:p>
          <a:p>
            <a:r>
              <a:rPr lang="vi-VN" sz="1200" b="0" i="0" kern="1200" dirty="0">
                <a:solidFill>
                  <a:schemeClr val="tx1"/>
                </a:solidFill>
                <a:effectLst/>
                <a:latin typeface="Times" pitchFamily="18" charset="0"/>
                <a:ea typeface="+mn-ea"/>
                <a:cs typeface="+mn-cs"/>
              </a:rPr>
              <a:t>này chịu tránh nhiệm đáp ứng các yêu cầu dịch vụ từ </a:t>
            </a:r>
            <a:r>
              <a:rPr lang="en-US" sz="1200" b="0" i="0" u="none" strike="noStrike" kern="1200" dirty="0" err="1">
                <a:solidFill>
                  <a:schemeClr val="tx1"/>
                </a:solidFill>
                <a:effectLst/>
                <a:latin typeface="Times" pitchFamily="18" charset="0"/>
                <a:ea typeface="+mn-ea"/>
                <a:cs typeface="+mn-cs"/>
              </a:rPr>
              <a:t>vận</a:t>
            </a:r>
            <a:r>
              <a:rPr lang="en-US" sz="1200" b="0" i="0" u="none" strike="noStrike" kern="1200" baseline="0" dirty="0">
                <a:solidFill>
                  <a:schemeClr val="tx1"/>
                </a:solidFill>
                <a:effectLst/>
                <a:latin typeface="Times" pitchFamily="18" charset="0"/>
                <a:ea typeface="+mn-ea"/>
                <a:cs typeface="+mn-cs"/>
              </a:rPr>
              <a:t> </a:t>
            </a:r>
            <a:r>
              <a:rPr lang="en-US" sz="1200" b="0" i="0" u="none" strike="noStrike" kern="1200" baseline="0" dirty="0" err="1">
                <a:solidFill>
                  <a:schemeClr val="tx1"/>
                </a:solidFill>
                <a:effectLst/>
                <a:latin typeface="Times" pitchFamily="18" charset="0"/>
                <a:ea typeface="+mn-ea"/>
                <a:cs typeface="+mn-cs"/>
              </a:rPr>
              <a:t>chuyển</a:t>
            </a:r>
            <a:r>
              <a:rPr lang="vi-VN" sz="1200" b="0" i="0" kern="1200" dirty="0">
                <a:solidFill>
                  <a:schemeClr val="tx1"/>
                </a:solidFill>
                <a:effectLst/>
                <a:latin typeface="Times" pitchFamily="18" charset="0"/>
                <a:ea typeface="+mn-ea"/>
                <a:cs typeface="+mn-cs"/>
              </a:rPr>
              <a:t> và đưa ra những yêu cầu dịch vụ đối với </a:t>
            </a:r>
            <a:r>
              <a:rPr lang="vi-VN" sz="1200" b="0" i="0" u="none" strike="noStrike" kern="1200" dirty="0">
                <a:solidFill>
                  <a:schemeClr val="tx1"/>
                </a:solidFill>
                <a:effectLst/>
                <a:latin typeface="Times" pitchFamily="18" charset="0"/>
                <a:ea typeface="+mn-ea"/>
                <a:cs typeface="+mn-cs"/>
                <a:hlinkClick r:id="rId3" tooltip="Tầng liên kết dữ liệu"/>
              </a:rPr>
              <a:t>tầng liên kết dữ liệu</a:t>
            </a:r>
            <a:r>
              <a:rPr lang="vi-VN" sz="1200" b="0" i="0" kern="1200" dirty="0">
                <a:solidFill>
                  <a:schemeClr val="tx1"/>
                </a:solidFill>
                <a:effectLst/>
                <a:latin typeface="Times" pitchFamily="18" charset="0"/>
                <a:ea typeface="+mn-ea"/>
                <a:cs typeface="+mn-cs"/>
              </a:rPr>
              <a:t>.</a:t>
            </a:r>
            <a:endParaRPr lang="en-US" sz="1200" b="0" i="0" kern="1200" dirty="0">
              <a:solidFill>
                <a:schemeClr val="tx1"/>
              </a:solidFill>
              <a:effectLst/>
              <a:latin typeface="Times" pitchFamily="18" charset="0"/>
              <a:ea typeface="+mn-ea"/>
              <a:cs typeface="+mn-cs"/>
            </a:endParaRPr>
          </a:p>
          <a:p>
            <a:r>
              <a:rPr lang="vi-VN" sz="1200" b="0" i="0" kern="1200" dirty="0">
                <a:solidFill>
                  <a:schemeClr val="tx1"/>
                </a:solidFill>
                <a:effectLst/>
                <a:latin typeface="Times" pitchFamily="18" charset="0"/>
                <a:ea typeface="+mn-ea"/>
                <a:cs typeface="+mn-cs"/>
              </a:rPr>
              <a:t>Tầng mạng xử lý việc truyền thông dữ liệu trên cả đoạn đường từ nguồn đến đích, và đồng thời truyền bất cứ tin tức gì, từ bất cứ nguồn nào tới bất cứ đích nào mà chúng ta cần.</a:t>
            </a:r>
            <a:r>
              <a:rPr lang="en-US" sz="1200" b="0" i="0" kern="1200" dirty="0">
                <a:solidFill>
                  <a:schemeClr val="tx1"/>
                </a:solidFill>
                <a:effectLst/>
                <a:latin typeface="Times" pitchFamily="18" charset="0"/>
                <a:ea typeface="+mn-ea"/>
                <a:cs typeface="+mn-cs"/>
              </a:rPr>
              <a:t> </a:t>
            </a:r>
            <a:r>
              <a:rPr lang="en-US" sz="1200" b="0" i="0" kern="1200" dirty="0" err="1">
                <a:solidFill>
                  <a:schemeClr val="tx1"/>
                </a:solidFill>
                <a:effectLst/>
                <a:latin typeface="Times" pitchFamily="18" charset="0"/>
                <a:ea typeface="+mn-ea"/>
                <a:cs typeface="+mn-cs"/>
              </a:rPr>
              <a:t>Định</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tuyến</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cac</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gói</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dữ</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liệu</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chọn</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đường</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tốt</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nhất</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tìm</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và</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lựa</a:t>
            </a:r>
            <a:r>
              <a:rPr lang="en-US" sz="1200" b="0" i="0" kern="1200" baseline="0" dirty="0">
                <a:solidFill>
                  <a:schemeClr val="tx1"/>
                </a:solidFill>
                <a:effectLst/>
                <a:latin typeface="Times" pitchFamily="18" charset="0"/>
                <a:ea typeface="+mn-ea"/>
                <a:cs typeface="+mn-cs"/>
              </a:rPr>
              <a:t> chon </a:t>
            </a:r>
            <a:r>
              <a:rPr lang="en-US" sz="1200" b="0" i="0" kern="1200" baseline="0" dirty="0" err="1">
                <a:solidFill>
                  <a:schemeClr val="tx1"/>
                </a:solidFill>
                <a:effectLst/>
                <a:latin typeface="Times" pitchFamily="18" charset="0"/>
                <a:ea typeface="+mn-ea"/>
                <a:cs typeface="+mn-cs"/>
              </a:rPr>
              <a:t>đường</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tôt</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nhất</a:t>
            </a:r>
            <a:r>
              <a:rPr lang="en-US" sz="1200" b="0" i="0" kern="1200" baseline="0" dirty="0">
                <a:solidFill>
                  <a:schemeClr val="tx1"/>
                </a:solidFill>
                <a:effectLst/>
                <a:latin typeface="Times" pitchFamily="18" charset="0"/>
                <a:ea typeface="+mn-ea"/>
                <a:cs typeface="+mn-cs"/>
              </a:rPr>
              <a:t>.</a:t>
            </a:r>
            <a:endParaRPr lang="en-US" dirty="0"/>
          </a:p>
        </p:txBody>
      </p:sp>
    </p:spTree>
    <p:extLst>
      <p:ext uri="{BB962C8B-B14F-4D97-AF65-F5344CB8AC3E}">
        <p14:creationId xmlns:p14="http://schemas.microsoft.com/office/powerpoint/2010/main" val="2823686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4BAE0D06-8055-46C5-9536-53E9FD11CE3E}" type="slidenum">
              <a:rPr lang="en-US"/>
              <a:pPr/>
              <a:t>10</a:t>
            </a:fld>
            <a:endParaRPr lang="en-US"/>
          </a:p>
        </p:txBody>
      </p:sp>
      <p:sp>
        <p:nvSpPr>
          <p:cNvPr id="141314"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1315"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1316" name="Rectangle 4"/>
          <p:cNvSpPr>
            <a:spLocks noGrp="1" noRot="1" noChangeAspect="1" noChangeArrowheads="1" noTextEdit="1"/>
          </p:cNvSpPr>
          <p:nvPr>
            <p:ph type="sldImg"/>
          </p:nvPr>
        </p:nvSpPr>
        <p:spPr>
          <a:xfrm>
            <a:off x="1243013" y="563563"/>
            <a:ext cx="4384675" cy="3287712"/>
          </a:xfrm>
          <a:ln/>
        </p:spPr>
      </p:sp>
      <p:sp>
        <p:nvSpPr>
          <p:cNvPr id="141317" name="Rectangle 5"/>
          <p:cNvSpPr>
            <a:spLocks noGrp="1" noChangeArrowheads="1"/>
          </p:cNvSpPr>
          <p:nvPr>
            <p:ph type="body" idx="1"/>
          </p:nvPr>
        </p:nvSpPr>
        <p:spPr>
          <a:xfrm>
            <a:off x="858838" y="3997325"/>
            <a:ext cx="5160962" cy="4306888"/>
          </a:xfrm>
        </p:spPr>
        <p:txBody>
          <a:bodyPr lIns="89715" tIns="44858" rIns="89715" bIns="44858"/>
          <a:lstStyle/>
          <a:p>
            <a:r>
              <a:rPr lang="en-US" dirty="0" err="1"/>
              <a:t>Tầng</a:t>
            </a:r>
            <a:r>
              <a:rPr lang="en-US" baseline="0" dirty="0"/>
              <a:t> </a:t>
            </a:r>
            <a:r>
              <a:rPr lang="en-US" baseline="0" dirty="0" err="1"/>
              <a:t>vận</a:t>
            </a:r>
            <a:r>
              <a:rPr lang="en-US" baseline="0" dirty="0"/>
              <a:t> </a:t>
            </a:r>
            <a:r>
              <a:rPr lang="en-US" baseline="0" dirty="0" err="1"/>
              <a:t>chuyển</a:t>
            </a:r>
            <a:r>
              <a:rPr lang="en-US" baseline="0" dirty="0"/>
              <a:t>.</a:t>
            </a:r>
            <a:r>
              <a:rPr lang="vi-VN" sz="1200" b="0" i="0" kern="1200" dirty="0">
                <a:solidFill>
                  <a:schemeClr val="tx1"/>
                </a:solidFill>
                <a:effectLst/>
                <a:latin typeface="Times" pitchFamily="18" charset="0"/>
                <a:ea typeface="+mn-ea"/>
                <a:cs typeface="+mn-cs"/>
              </a:rPr>
              <a:t> Tầng này chịu trách nhiệm đáp ứng các đòi hỏi về dịch vụ của</a:t>
            </a:r>
            <a:r>
              <a:rPr lang="vi-VN" sz="1200" b="0" i="0" u="none" strike="noStrike" kern="1200" dirty="0">
                <a:solidFill>
                  <a:schemeClr val="tx1"/>
                </a:solidFill>
                <a:effectLst/>
                <a:latin typeface="Times" pitchFamily="18" charset="0"/>
                <a:ea typeface="+mn-ea"/>
                <a:cs typeface="+mn-cs"/>
                <a:hlinkClick r:id="rId3" tooltip="Tầng phiên"/>
              </a:rPr>
              <a:t>tầng phiên</a:t>
            </a:r>
            <a:r>
              <a:rPr lang="vi-VN" sz="1200" b="0" i="0" kern="1200" dirty="0">
                <a:solidFill>
                  <a:schemeClr val="tx1"/>
                </a:solidFill>
                <a:effectLst/>
                <a:latin typeface="Times" pitchFamily="18" charset="0"/>
                <a:ea typeface="+mn-ea"/>
                <a:cs typeface="+mn-cs"/>
              </a:rPr>
              <a:t> và đưa ra các yêu cầu dịch vụ đối với </a:t>
            </a:r>
            <a:r>
              <a:rPr lang="vi-VN" sz="1200" b="0" i="0" u="none" strike="noStrike" kern="1200" dirty="0">
                <a:solidFill>
                  <a:schemeClr val="tx1"/>
                </a:solidFill>
                <a:effectLst/>
                <a:latin typeface="Times" pitchFamily="18" charset="0"/>
                <a:ea typeface="+mn-ea"/>
                <a:cs typeface="+mn-cs"/>
                <a:hlinkClick r:id="rId4" tooltip="Tầng mạng"/>
              </a:rPr>
              <a:t>tầng mạng</a:t>
            </a:r>
            <a:r>
              <a:rPr lang="vi-VN" sz="1200" b="0" i="0" kern="1200" dirty="0">
                <a:solidFill>
                  <a:schemeClr val="tx1"/>
                </a:solidFill>
                <a:effectLst/>
                <a:latin typeface="Times" pitchFamily="18" charset="0"/>
                <a:ea typeface="+mn-ea"/>
                <a:cs typeface="+mn-cs"/>
              </a:rPr>
              <a:t>.</a:t>
            </a:r>
            <a:endParaRPr lang="en-US" sz="1200" b="0" i="0" kern="1200" dirty="0">
              <a:solidFill>
                <a:schemeClr val="tx1"/>
              </a:solidFill>
              <a:effectLst/>
              <a:latin typeface="Times" pitchFamily="18" charset="0"/>
              <a:ea typeface="+mn-ea"/>
              <a:cs typeface="+mn-cs"/>
            </a:endParaRPr>
          </a:p>
          <a:p>
            <a:endParaRPr lang="en-US" baseline="0" dirty="0"/>
          </a:p>
          <a:p>
            <a:r>
              <a:rPr lang="vi-VN" dirty="0"/>
              <a:t>xử lý các vấn đề giao thông vận tải giữa các </a:t>
            </a:r>
            <a:r>
              <a:rPr lang="en-US" dirty="0"/>
              <a:t>hosts, </a:t>
            </a:r>
            <a:r>
              <a:rPr lang="vi-VN" sz="1200" b="0" i="0" kern="1200" dirty="0">
                <a:solidFill>
                  <a:schemeClr val="tx1"/>
                </a:solidFill>
                <a:effectLst/>
                <a:latin typeface="Times" pitchFamily="18" charset="0"/>
                <a:ea typeface="+mn-ea"/>
                <a:cs typeface="+mn-cs"/>
              </a:rPr>
              <a:t>Tầng giao vận cung cấp dịch vụ xuyên dụng chuyển dữ liệu giữa các (</a:t>
            </a:r>
            <a:r>
              <a:rPr lang="vi-VN" sz="1200" b="0" i="1" kern="1200" dirty="0">
                <a:solidFill>
                  <a:schemeClr val="tx1"/>
                </a:solidFill>
                <a:effectLst/>
                <a:latin typeface="Times" pitchFamily="18" charset="0"/>
                <a:ea typeface="+mn-ea"/>
                <a:cs typeface="+mn-cs"/>
              </a:rPr>
              <a:t>hosts</a:t>
            </a:r>
            <a:r>
              <a:rPr lang="vi-VN" sz="1200" b="0" i="0" kern="1200" dirty="0">
                <a:solidFill>
                  <a:schemeClr val="tx1"/>
                </a:solidFill>
                <a:effectLst/>
                <a:latin typeface="Times" pitchFamily="18" charset="0"/>
                <a:ea typeface="+mn-ea"/>
                <a:cs typeface="+mn-cs"/>
              </a:rPr>
              <a:t>). Tầng này chịu trách nhiệm sửa lỗi (</a:t>
            </a:r>
            <a:r>
              <a:rPr lang="vi-VN" sz="1200" b="0" i="1" kern="1200" dirty="0">
                <a:solidFill>
                  <a:schemeClr val="tx1"/>
                </a:solidFill>
                <a:effectLst/>
                <a:latin typeface="Times" pitchFamily="18" charset="0"/>
                <a:ea typeface="+mn-ea"/>
                <a:cs typeface="+mn-cs"/>
              </a:rPr>
              <a:t>error recovery</a:t>
            </a:r>
            <a:r>
              <a:rPr lang="vi-VN" sz="1200" b="0" i="0" kern="1200" dirty="0">
                <a:solidFill>
                  <a:schemeClr val="tx1"/>
                </a:solidFill>
                <a:effectLst/>
                <a:latin typeface="Times" pitchFamily="18" charset="0"/>
                <a:ea typeface="+mn-ea"/>
                <a:cs typeface="+mn-cs"/>
              </a:rPr>
              <a:t>), </a:t>
            </a:r>
            <a:r>
              <a:rPr lang="vi-VN" sz="1200" b="0" i="0" u="none" strike="noStrike" kern="1200" dirty="0">
                <a:solidFill>
                  <a:schemeClr val="tx1"/>
                </a:solidFill>
                <a:effectLst/>
                <a:latin typeface="Times" pitchFamily="18" charset="0"/>
                <a:ea typeface="+mn-ea"/>
                <a:cs typeface="+mn-cs"/>
                <a:hlinkClick r:id="rId5" tooltip="Điều khiển lưu lượng dữ liệu (trang chưa được viết)"/>
              </a:rPr>
              <a:t>điều khiển lưu lượng dữ liệu</a:t>
            </a:r>
            <a:r>
              <a:rPr lang="vi-VN" sz="1200" b="0" i="0" kern="1200" dirty="0">
                <a:solidFill>
                  <a:schemeClr val="tx1"/>
                </a:solidFill>
                <a:effectLst/>
                <a:latin typeface="Times" pitchFamily="18" charset="0"/>
                <a:ea typeface="+mn-ea"/>
                <a:cs typeface="+mn-cs"/>
              </a:rPr>
              <a:t>, đảm bảo dữ liệu được </a:t>
            </a:r>
            <a:r>
              <a:rPr lang="en-US" sz="1200" b="0" i="0" kern="1200" dirty="0">
                <a:solidFill>
                  <a:schemeClr val="tx1"/>
                </a:solidFill>
                <a:effectLst/>
                <a:latin typeface="Times" pitchFamily="18" charset="0"/>
                <a:ea typeface="+mn-ea"/>
                <a:cs typeface="+mn-cs"/>
              </a:rPr>
              <a:t>.</a:t>
            </a:r>
            <a:r>
              <a:rPr lang="vi-VN" sz="1200" b="0" i="0" kern="1200" dirty="0">
                <a:solidFill>
                  <a:schemeClr val="tx1"/>
                </a:solidFill>
                <a:effectLst/>
                <a:latin typeface="Times" pitchFamily="18" charset="0"/>
                <a:ea typeface="+mn-ea"/>
                <a:cs typeface="+mn-cs"/>
              </a:rPr>
              <a:t>chuyển tải một cách trọn vẹn</a:t>
            </a:r>
            <a:r>
              <a:rPr lang="en-US" sz="1200" b="0" i="0" kern="1200" dirty="0">
                <a:solidFill>
                  <a:schemeClr val="tx1"/>
                </a:solidFill>
                <a:effectLst/>
                <a:latin typeface="Times" pitchFamily="18" charset="0"/>
                <a:ea typeface="+mn-ea"/>
                <a:cs typeface="+mn-cs"/>
              </a:rPr>
              <a:t>. </a:t>
            </a:r>
            <a:r>
              <a:rPr lang="en-US" sz="1200" b="0" i="0" kern="1200" dirty="0" err="1">
                <a:solidFill>
                  <a:schemeClr val="tx1"/>
                </a:solidFill>
                <a:effectLst/>
                <a:latin typeface="Times" pitchFamily="18" charset="0"/>
                <a:ea typeface="+mn-ea"/>
                <a:cs typeface="+mn-cs"/>
              </a:rPr>
              <a:t>Tcp</a:t>
            </a:r>
            <a:r>
              <a:rPr lang="en-US" sz="1200" b="0" i="0" kern="1200" dirty="0">
                <a:solidFill>
                  <a:schemeClr val="tx1"/>
                </a:solidFill>
                <a:effectLst/>
                <a:latin typeface="Times" pitchFamily="18" charset="0"/>
                <a:ea typeface="+mn-ea"/>
                <a:cs typeface="+mn-cs"/>
              </a:rPr>
              <a:t>/</a:t>
            </a:r>
            <a:r>
              <a:rPr lang="en-US" sz="1200" b="0" i="0" kern="1200" dirty="0" err="1">
                <a:solidFill>
                  <a:schemeClr val="tx1"/>
                </a:solidFill>
                <a:effectLst/>
                <a:latin typeface="Times" pitchFamily="18" charset="0"/>
                <a:ea typeface="+mn-ea"/>
                <a:cs typeface="+mn-cs"/>
              </a:rPr>
              <a:t>udp</a:t>
            </a:r>
            <a:endParaRPr lang="en-US" dirty="0"/>
          </a:p>
        </p:txBody>
      </p:sp>
    </p:spTree>
    <p:extLst>
      <p:ext uri="{BB962C8B-B14F-4D97-AF65-F5344CB8AC3E}">
        <p14:creationId xmlns:p14="http://schemas.microsoft.com/office/powerpoint/2010/main" val="152660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F0B9DBB5-7767-4B88-843C-0FE9878FB776}" type="slidenum">
              <a:rPr lang="en-US"/>
              <a:pPr/>
              <a:t>11</a:t>
            </a:fld>
            <a:endParaRPr lang="en-US"/>
          </a:p>
        </p:txBody>
      </p:sp>
      <p:sp>
        <p:nvSpPr>
          <p:cNvPr id="143362"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63"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64" name="Rectangle 4"/>
          <p:cNvSpPr>
            <a:spLocks noGrp="1" noRot="1" noChangeAspect="1" noChangeArrowheads="1" noTextEdit="1"/>
          </p:cNvSpPr>
          <p:nvPr>
            <p:ph type="sldImg"/>
          </p:nvPr>
        </p:nvSpPr>
        <p:spPr>
          <a:xfrm>
            <a:off x="1243013" y="563563"/>
            <a:ext cx="4384675" cy="3287712"/>
          </a:xfrm>
          <a:ln/>
        </p:spPr>
      </p:sp>
      <p:sp>
        <p:nvSpPr>
          <p:cNvPr id="143365" name="Rectangle 5"/>
          <p:cNvSpPr>
            <a:spLocks noGrp="1" noChangeArrowheads="1"/>
          </p:cNvSpPr>
          <p:nvPr>
            <p:ph type="body" idx="1"/>
          </p:nvPr>
        </p:nvSpPr>
        <p:spPr>
          <a:xfrm>
            <a:off x="858838" y="3997325"/>
            <a:ext cx="5160962" cy="4306888"/>
          </a:xfrm>
        </p:spPr>
        <p:txBody>
          <a:bodyPr lIns="89715" tIns="44858" rIns="89715" bIns="44858"/>
          <a:lstStyle/>
          <a:p>
            <a:r>
              <a:rPr lang="vi-VN" sz="1200" b="1" i="0" kern="1200" dirty="0">
                <a:solidFill>
                  <a:schemeClr val="tx1"/>
                </a:solidFill>
                <a:effectLst/>
                <a:latin typeface="Times" pitchFamily="18" charset="0"/>
                <a:ea typeface="+mn-ea"/>
                <a:cs typeface="+mn-cs"/>
              </a:rPr>
              <a:t>Tầng phiên</a:t>
            </a:r>
            <a:r>
              <a:rPr lang="en-US" sz="1200" b="1" i="0" kern="1200" dirty="0">
                <a:solidFill>
                  <a:schemeClr val="tx1"/>
                </a:solidFill>
                <a:effectLst/>
                <a:latin typeface="Times" pitchFamily="18" charset="0"/>
                <a:ea typeface="+mn-ea"/>
                <a:cs typeface="+mn-cs"/>
              </a:rPr>
              <a:t>: thong</a:t>
            </a:r>
            <a:r>
              <a:rPr lang="en-US" sz="1200" b="1" i="0" kern="1200" baseline="0" dirty="0">
                <a:solidFill>
                  <a:schemeClr val="tx1"/>
                </a:solidFill>
                <a:effectLst/>
                <a:latin typeface="Times" pitchFamily="18" charset="0"/>
                <a:ea typeface="+mn-ea"/>
                <a:cs typeface="+mn-cs"/>
              </a:rPr>
              <a:t> </a:t>
            </a:r>
            <a:r>
              <a:rPr lang="en-US" sz="1200" b="1" i="0" kern="1200" baseline="0" dirty="0" err="1">
                <a:solidFill>
                  <a:schemeClr val="tx1"/>
                </a:solidFill>
                <a:effectLst/>
                <a:latin typeface="Times" pitchFamily="18" charset="0"/>
                <a:ea typeface="+mn-ea"/>
                <a:cs typeface="+mn-cs"/>
              </a:rPr>
              <a:t>nhat</a:t>
            </a:r>
            <a:r>
              <a:rPr lang="en-US" sz="1200" b="1" i="0" kern="1200" baseline="0" dirty="0">
                <a:solidFill>
                  <a:schemeClr val="tx1"/>
                </a:solidFill>
                <a:effectLst/>
                <a:latin typeface="Times" pitchFamily="18" charset="0"/>
                <a:ea typeface="+mn-ea"/>
                <a:cs typeface="+mn-cs"/>
              </a:rPr>
              <a:t> </a:t>
            </a:r>
            <a:r>
              <a:rPr lang="en-US" sz="1200" b="1" i="0" kern="1200" baseline="0" dirty="0" err="1">
                <a:solidFill>
                  <a:schemeClr val="tx1"/>
                </a:solidFill>
                <a:effectLst/>
                <a:latin typeface="Times" pitchFamily="18" charset="0"/>
                <a:ea typeface="+mn-ea"/>
                <a:cs typeface="+mn-cs"/>
              </a:rPr>
              <a:t>cac</a:t>
            </a:r>
            <a:r>
              <a:rPr lang="en-US" sz="1200" b="1" i="0" kern="1200" baseline="0" dirty="0">
                <a:solidFill>
                  <a:schemeClr val="tx1"/>
                </a:solidFill>
                <a:effectLst/>
                <a:latin typeface="Times" pitchFamily="18" charset="0"/>
                <a:ea typeface="+mn-ea"/>
                <a:cs typeface="+mn-cs"/>
              </a:rPr>
              <a:t> </a:t>
            </a:r>
            <a:r>
              <a:rPr lang="en-US" sz="1200" b="1" i="0" kern="1200" baseline="0" dirty="0" err="1">
                <a:solidFill>
                  <a:schemeClr val="tx1"/>
                </a:solidFill>
                <a:effectLst/>
                <a:latin typeface="Times" pitchFamily="18" charset="0"/>
                <a:ea typeface="+mn-ea"/>
                <a:cs typeface="+mn-cs"/>
              </a:rPr>
              <a:t>phien</a:t>
            </a:r>
            <a:r>
              <a:rPr lang="en-US" sz="1200" b="1" i="0" kern="1200" baseline="0" dirty="0">
                <a:solidFill>
                  <a:schemeClr val="tx1"/>
                </a:solidFill>
                <a:effectLst/>
                <a:latin typeface="Times" pitchFamily="18" charset="0"/>
                <a:ea typeface="+mn-ea"/>
                <a:cs typeface="+mn-cs"/>
              </a:rPr>
              <a:t> </a:t>
            </a:r>
            <a:r>
              <a:rPr lang="en-US" sz="1200" b="1" i="0" kern="1200" baseline="0" dirty="0" err="1">
                <a:solidFill>
                  <a:schemeClr val="tx1"/>
                </a:solidFill>
                <a:effectLst/>
                <a:latin typeface="Times" pitchFamily="18" charset="0"/>
                <a:ea typeface="+mn-ea"/>
                <a:cs typeface="+mn-cs"/>
              </a:rPr>
              <a:t>ket</a:t>
            </a:r>
            <a:r>
              <a:rPr lang="en-US" sz="1200" b="1" i="0" kern="1200" baseline="0" dirty="0">
                <a:solidFill>
                  <a:schemeClr val="tx1"/>
                </a:solidFill>
                <a:effectLst/>
                <a:latin typeface="Times" pitchFamily="18" charset="0"/>
                <a:ea typeface="+mn-ea"/>
                <a:cs typeface="+mn-cs"/>
              </a:rPr>
              <a:t> </a:t>
            </a:r>
            <a:r>
              <a:rPr lang="en-US" sz="1200" b="1" i="0" kern="1200" baseline="0" dirty="0" err="1">
                <a:solidFill>
                  <a:schemeClr val="tx1"/>
                </a:solidFill>
                <a:effectLst/>
                <a:latin typeface="Times" pitchFamily="18" charset="0"/>
                <a:ea typeface="+mn-ea"/>
                <a:cs typeface="+mn-cs"/>
              </a:rPr>
              <a:t>noi</a:t>
            </a:r>
            <a:r>
              <a:rPr lang="en-US" sz="1200" b="1" i="0" kern="1200" baseline="0" dirty="0">
                <a:solidFill>
                  <a:schemeClr val="tx1"/>
                </a:solidFill>
                <a:effectLst/>
                <a:latin typeface="Times" pitchFamily="18" charset="0"/>
                <a:ea typeface="+mn-ea"/>
                <a:cs typeface="+mn-cs"/>
              </a:rPr>
              <a:t> </a:t>
            </a:r>
            <a:r>
              <a:rPr lang="en-US" sz="1200" b="1" i="0" kern="1200" baseline="0" dirty="0" err="1">
                <a:solidFill>
                  <a:schemeClr val="tx1"/>
                </a:solidFill>
                <a:effectLst/>
                <a:latin typeface="Times" pitchFamily="18" charset="0"/>
                <a:ea typeface="+mn-ea"/>
                <a:cs typeface="+mn-cs"/>
              </a:rPr>
              <a:t>giua</a:t>
            </a:r>
            <a:r>
              <a:rPr lang="en-US" sz="1200" b="1" i="0" kern="1200" baseline="0" dirty="0">
                <a:solidFill>
                  <a:schemeClr val="tx1"/>
                </a:solidFill>
                <a:effectLst/>
                <a:latin typeface="Times" pitchFamily="18" charset="0"/>
                <a:ea typeface="+mn-ea"/>
                <a:cs typeface="+mn-cs"/>
              </a:rPr>
              <a:t> 3 may </a:t>
            </a:r>
            <a:r>
              <a:rPr lang="en-US" sz="1200" b="1" i="0" kern="1200" baseline="0" dirty="0" err="1">
                <a:solidFill>
                  <a:schemeClr val="tx1"/>
                </a:solidFill>
                <a:effectLst/>
                <a:latin typeface="Times" pitchFamily="18" charset="0"/>
                <a:ea typeface="+mn-ea"/>
                <a:cs typeface="+mn-cs"/>
              </a:rPr>
              <a:t>vd</a:t>
            </a:r>
            <a:r>
              <a:rPr lang="en-US" sz="1200" b="1" i="0" kern="1200" baseline="0" dirty="0">
                <a:solidFill>
                  <a:schemeClr val="tx1"/>
                </a:solidFill>
                <a:effectLst/>
                <a:latin typeface="Times" pitchFamily="18" charset="0"/>
                <a:ea typeface="+mn-ea"/>
                <a:cs typeface="+mn-cs"/>
              </a:rPr>
              <a:t> </a:t>
            </a:r>
            <a:r>
              <a:rPr lang="en-US" sz="1200" b="1" i="0" kern="1200" baseline="0" dirty="0" err="1">
                <a:solidFill>
                  <a:schemeClr val="tx1"/>
                </a:solidFill>
                <a:effectLst/>
                <a:latin typeface="Times" pitchFamily="18" charset="0"/>
                <a:ea typeface="+mn-ea"/>
                <a:cs typeface="+mn-cs"/>
              </a:rPr>
              <a:t>mo</a:t>
            </a:r>
            <a:r>
              <a:rPr lang="en-US" sz="1200" b="1" i="0" kern="1200" baseline="0" dirty="0">
                <a:solidFill>
                  <a:schemeClr val="tx1"/>
                </a:solidFill>
                <a:effectLst/>
                <a:latin typeface="Times" pitchFamily="18" charset="0"/>
                <a:ea typeface="+mn-ea"/>
                <a:cs typeface="+mn-cs"/>
              </a:rPr>
              <a:t> 30s </a:t>
            </a:r>
            <a:r>
              <a:rPr lang="en-US" sz="1200" b="1" i="0" kern="1200" baseline="0" dirty="0" err="1">
                <a:solidFill>
                  <a:schemeClr val="tx1"/>
                </a:solidFill>
                <a:effectLst/>
                <a:latin typeface="Times" pitchFamily="18" charset="0"/>
                <a:ea typeface="+mn-ea"/>
                <a:cs typeface="+mn-cs"/>
              </a:rPr>
              <a:t>neu</a:t>
            </a:r>
            <a:r>
              <a:rPr lang="en-US" sz="1200" b="1" i="0" kern="1200" baseline="0" dirty="0">
                <a:solidFill>
                  <a:schemeClr val="tx1"/>
                </a:solidFill>
                <a:effectLst/>
                <a:latin typeface="Times" pitchFamily="18" charset="0"/>
                <a:ea typeface="+mn-ea"/>
                <a:cs typeface="+mn-cs"/>
              </a:rPr>
              <a:t> het </a:t>
            </a:r>
            <a:r>
              <a:rPr lang="en-US" sz="1200" b="1" i="0" kern="1200" baseline="0" dirty="0" err="1">
                <a:solidFill>
                  <a:schemeClr val="tx1"/>
                </a:solidFill>
                <a:effectLst/>
                <a:latin typeface="Times" pitchFamily="18" charset="0"/>
                <a:ea typeface="+mn-ea"/>
                <a:cs typeface="+mn-cs"/>
              </a:rPr>
              <a:t>mo</a:t>
            </a:r>
            <a:r>
              <a:rPr lang="en-US" sz="1200" b="1" i="0" kern="1200" baseline="0" dirty="0">
                <a:solidFill>
                  <a:schemeClr val="tx1"/>
                </a:solidFill>
                <a:effectLst/>
                <a:latin typeface="Times" pitchFamily="18" charset="0"/>
                <a:ea typeface="+mn-ea"/>
                <a:cs typeface="+mn-cs"/>
              </a:rPr>
              <a:t> </a:t>
            </a:r>
            <a:r>
              <a:rPr lang="en-US" sz="1200" b="1" i="0" kern="1200" baseline="0" dirty="0" err="1">
                <a:solidFill>
                  <a:schemeClr val="tx1"/>
                </a:solidFill>
                <a:effectLst/>
                <a:latin typeface="Times" pitchFamily="18" charset="0"/>
                <a:ea typeface="+mn-ea"/>
                <a:cs typeface="+mn-cs"/>
              </a:rPr>
              <a:t>lai</a:t>
            </a:r>
            <a:r>
              <a:rPr lang="en-US" sz="1200" b="1" i="0" kern="1200" baseline="0" dirty="0">
                <a:solidFill>
                  <a:schemeClr val="tx1"/>
                </a:solidFill>
                <a:effectLst/>
                <a:latin typeface="Times" pitchFamily="18" charset="0"/>
                <a:ea typeface="+mn-ea"/>
                <a:cs typeface="+mn-cs"/>
              </a:rPr>
              <a:t> </a:t>
            </a:r>
            <a:r>
              <a:rPr lang="en-US" sz="1200" b="1" i="0" kern="1200" baseline="0" dirty="0" err="1">
                <a:solidFill>
                  <a:schemeClr val="tx1"/>
                </a:solidFill>
                <a:effectLst/>
                <a:latin typeface="Times" pitchFamily="18" charset="0"/>
                <a:ea typeface="+mn-ea"/>
                <a:cs typeface="+mn-cs"/>
              </a:rPr>
              <a:t>phien</a:t>
            </a:r>
            <a:r>
              <a:rPr lang="en-US" sz="1200" b="1" i="0" kern="1200" baseline="0" dirty="0">
                <a:solidFill>
                  <a:schemeClr val="tx1"/>
                </a:solidFill>
                <a:effectLst/>
                <a:latin typeface="Times" pitchFamily="18" charset="0"/>
                <a:ea typeface="+mn-ea"/>
                <a:cs typeface="+mn-cs"/>
              </a:rPr>
              <a:t> </a:t>
            </a:r>
            <a:r>
              <a:rPr lang="en-US" sz="1200" b="1" i="0" kern="1200" baseline="0" dirty="0" err="1">
                <a:solidFill>
                  <a:schemeClr val="tx1"/>
                </a:solidFill>
                <a:effectLst/>
                <a:latin typeface="Times" pitchFamily="18" charset="0"/>
                <a:ea typeface="+mn-ea"/>
                <a:cs typeface="+mn-cs"/>
              </a:rPr>
              <a:t>moi</a:t>
            </a:r>
            <a:r>
              <a:rPr lang="vi-VN" sz="1200" b="0" i="0" kern="1200" dirty="0">
                <a:solidFill>
                  <a:schemeClr val="tx1"/>
                </a:solidFill>
                <a:effectLst/>
                <a:latin typeface="Times" pitchFamily="18" charset="0"/>
                <a:ea typeface="+mn-ea"/>
                <a:cs typeface="+mn-cs"/>
              </a:rPr>
              <a:t> </a:t>
            </a:r>
            <a:endParaRPr lang="en-US" sz="1200" b="0" i="0" kern="1200" dirty="0">
              <a:solidFill>
                <a:schemeClr val="tx1"/>
              </a:solidFill>
              <a:effectLst/>
              <a:latin typeface="Times" pitchFamily="18" charset="0"/>
              <a:ea typeface="+mn-ea"/>
              <a:cs typeface="+mn-cs"/>
            </a:endParaRPr>
          </a:p>
          <a:p>
            <a:r>
              <a:rPr lang="vi-VN" sz="1200" b="0" i="0" kern="1200" dirty="0">
                <a:solidFill>
                  <a:schemeClr val="tx1"/>
                </a:solidFill>
                <a:effectLst/>
                <a:latin typeface="Times" pitchFamily="18" charset="0"/>
                <a:ea typeface="+mn-ea"/>
                <a:cs typeface="+mn-cs"/>
              </a:rPr>
              <a:t>là tầng thứ năm trong bảy tầng </a:t>
            </a:r>
            <a:r>
              <a:rPr lang="vi-VN" sz="1200" b="0" i="0" u="none" strike="noStrike" kern="1200" dirty="0">
                <a:solidFill>
                  <a:schemeClr val="tx1"/>
                </a:solidFill>
                <a:effectLst/>
                <a:latin typeface="Times" pitchFamily="18" charset="0"/>
                <a:ea typeface="+mn-ea"/>
                <a:cs typeface="+mn-cs"/>
                <a:hlinkClick r:id="rId3" tooltip="Mô hình OSI"/>
              </a:rPr>
              <a:t>mô hình OSI</a:t>
            </a:r>
            <a:r>
              <a:rPr lang="vi-VN" sz="1200" b="0" i="0" kern="1200" dirty="0">
                <a:solidFill>
                  <a:schemeClr val="tx1"/>
                </a:solidFill>
                <a:effectLst/>
                <a:latin typeface="Times" pitchFamily="18" charset="0"/>
                <a:ea typeface="+mn-ea"/>
                <a:cs typeface="+mn-cs"/>
              </a:rPr>
              <a:t>. Tầng này đáp ứng các yêu cầu dịch vụ của </a:t>
            </a:r>
            <a:r>
              <a:rPr lang="vi-VN" sz="1200" b="0" i="0" u="none" strike="noStrike" kern="1200" dirty="0">
                <a:solidFill>
                  <a:schemeClr val="tx1"/>
                </a:solidFill>
                <a:effectLst/>
                <a:latin typeface="Times" pitchFamily="18" charset="0"/>
                <a:ea typeface="+mn-ea"/>
                <a:cs typeface="+mn-cs"/>
                <a:hlinkClick r:id="rId4" tooltip="Tầng trình diễn"/>
              </a:rPr>
              <a:t>tầng trình diễn</a:t>
            </a:r>
            <a:r>
              <a:rPr lang="vi-VN" sz="1200" b="0" i="0" kern="1200" dirty="0">
                <a:solidFill>
                  <a:schemeClr val="tx1"/>
                </a:solidFill>
                <a:effectLst/>
                <a:latin typeface="Times" pitchFamily="18" charset="0"/>
                <a:ea typeface="+mn-ea"/>
                <a:cs typeface="+mn-cs"/>
              </a:rPr>
              <a:t> và gửi các yêu cầu dịch vụ tới </a:t>
            </a:r>
            <a:r>
              <a:rPr lang="vi-VN" sz="1200" b="0" i="0" u="none" strike="noStrike" kern="1200" dirty="0">
                <a:solidFill>
                  <a:schemeClr val="tx1"/>
                </a:solidFill>
                <a:effectLst/>
                <a:latin typeface="Times" pitchFamily="18" charset="0"/>
                <a:ea typeface="+mn-ea"/>
                <a:cs typeface="+mn-cs"/>
                <a:hlinkClick r:id="rId5" tooltip="Tầng giao vận"/>
              </a:rPr>
              <a:t>tầng giao vận</a:t>
            </a:r>
            <a:endParaRPr lang="en-US" sz="1200" b="0" i="0" u="none" strike="noStrike" kern="1200" dirty="0">
              <a:solidFill>
                <a:schemeClr val="tx1"/>
              </a:solidFill>
              <a:effectLst/>
              <a:latin typeface="Times" pitchFamily="18" charset="0"/>
              <a:ea typeface="+mn-ea"/>
              <a:cs typeface="+mn-cs"/>
            </a:endParaRPr>
          </a:p>
          <a:p>
            <a:r>
              <a:rPr lang="vi-VN" sz="1200" b="0" i="0" kern="1200" dirty="0">
                <a:solidFill>
                  <a:schemeClr val="tx1"/>
                </a:solidFill>
                <a:effectLst/>
                <a:latin typeface="Times" pitchFamily="18" charset="0"/>
                <a:ea typeface="+mn-ea"/>
                <a:cs typeface="+mn-cs"/>
              </a:rPr>
              <a:t>Tầng phiên cung cấp một cơ chế để quản lý hội thoại giữa các tiến trình ứng dụng của người dùng cuối. Tầng này hỗ trợ cả (</a:t>
            </a:r>
            <a:r>
              <a:rPr lang="vi-VN" sz="1200" b="0" i="1" kern="1200" dirty="0">
                <a:solidFill>
                  <a:schemeClr val="tx1"/>
                </a:solidFill>
                <a:effectLst/>
                <a:latin typeface="Times" pitchFamily="18" charset="0"/>
                <a:ea typeface="+mn-ea"/>
                <a:cs typeface="+mn-cs"/>
              </a:rPr>
              <a:t>full duplex</a:t>
            </a:r>
            <a:r>
              <a:rPr lang="vi-VN" sz="1200" b="0" i="0" kern="1200" dirty="0">
                <a:solidFill>
                  <a:schemeClr val="tx1"/>
                </a:solidFill>
                <a:effectLst/>
                <a:latin typeface="Times" pitchFamily="18" charset="0"/>
                <a:ea typeface="+mn-ea"/>
                <a:cs typeface="+mn-cs"/>
              </a:rPr>
              <a:t>) và (</a:t>
            </a:r>
            <a:r>
              <a:rPr lang="vi-VN" sz="1200" b="0" i="1" kern="1200" dirty="0">
                <a:solidFill>
                  <a:schemeClr val="tx1"/>
                </a:solidFill>
                <a:effectLst/>
                <a:latin typeface="Times" pitchFamily="18" charset="0"/>
                <a:ea typeface="+mn-ea"/>
                <a:cs typeface="+mn-cs"/>
              </a:rPr>
              <a:t>half-duplex</a:t>
            </a:r>
            <a:r>
              <a:rPr lang="vi-VN" sz="1200" b="0" i="0" kern="1200" dirty="0">
                <a:solidFill>
                  <a:schemeClr val="tx1"/>
                </a:solidFill>
                <a:effectLst/>
                <a:latin typeface="Times" pitchFamily="18" charset="0"/>
                <a:ea typeface="+mn-ea"/>
                <a:cs typeface="+mn-cs"/>
              </a:rPr>
              <a:t>), và thiết lập các qui trình đánh dấu điểm hoàn thành (</a:t>
            </a:r>
            <a:r>
              <a:rPr lang="vi-VN" sz="1200" b="0" i="1" kern="1200" dirty="0">
                <a:solidFill>
                  <a:schemeClr val="tx1"/>
                </a:solidFill>
                <a:effectLst/>
                <a:latin typeface="Times" pitchFamily="18" charset="0"/>
                <a:ea typeface="+mn-ea"/>
                <a:cs typeface="+mn-cs"/>
              </a:rPr>
              <a:t>checkpointing</a:t>
            </a:r>
            <a:r>
              <a:rPr lang="vi-VN" sz="1200" b="0" i="0" kern="1200" dirty="0">
                <a:solidFill>
                  <a:schemeClr val="tx1"/>
                </a:solidFill>
                <a:effectLst/>
                <a:latin typeface="Times" pitchFamily="18" charset="0"/>
                <a:ea typeface="+mn-ea"/>
                <a:cs typeface="+mn-cs"/>
              </a:rPr>
              <a:t>), trì hoãn (</a:t>
            </a:r>
            <a:r>
              <a:rPr lang="vi-VN" sz="1200" b="0" i="1" kern="1200" dirty="0">
                <a:solidFill>
                  <a:schemeClr val="tx1"/>
                </a:solidFill>
                <a:effectLst/>
                <a:latin typeface="Times" pitchFamily="18" charset="0"/>
                <a:ea typeface="+mn-ea"/>
                <a:cs typeface="+mn-cs"/>
              </a:rPr>
              <a:t>adjournment</a:t>
            </a:r>
            <a:r>
              <a:rPr lang="vi-VN" sz="1200" b="0" i="0" kern="1200" dirty="0">
                <a:solidFill>
                  <a:schemeClr val="tx1"/>
                </a:solidFill>
                <a:effectLst/>
                <a:latin typeface="Times" pitchFamily="18" charset="0"/>
                <a:ea typeface="+mn-ea"/>
                <a:cs typeface="+mn-cs"/>
              </a:rPr>
              <a:t>), kết thúc (</a:t>
            </a:r>
            <a:r>
              <a:rPr lang="vi-VN" sz="1200" b="0" i="1" kern="1200" dirty="0">
                <a:solidFill>
                  <a:schemeClr val="tx1"/>
                </a:solidFill>
                <a:effectLst/>
                <a:latin typeface="Times" pitchFamily="18" charset="0"/>
                <a:ea typeface="+mn-ea"/>
                <a:cs typeface="+mn-cs"/>
              </a:rPr>
              <a:t>termination</a:t>
            </a:r>
            <a:r>
              <a:rPr lang="vi-VN" sz="1200" b="0" i="0" kern="1200" dirty="0">
                <a:solidFill>
                  <a:schemeClr val="tx1"/>
                </a:solidFill>
                <a:effectLst/>
                <a:latin typeface="Times" pitchFamily="18" charset="0"/>
                <a:ea typeface="+mn-ea"/>
                <a:cs typeface="+mn-cs"/>
              </a:rPr>
              <a:t>), và khởi động lại (</a:t>
            </a:r>
            <a:r>
              <a:rPr lang="vi-VN" sz="1200" b="0" i="1" kern="1200" dirty="0">
                <a:solidFill>
                  <a:schemeClr val="tx1"/>
                </a:solidFill>
                <a:effectLst/>
                <a:latin typeface="Times" pitchFamily="18" charset="0"/>
                <a:ea typeface="+mn-ea"/>
                <a:cs typeface="+mn-cs"/>
              </a:rPr>
              <a:t>restart</a:t>
            </a:r>
            <a:r>
              <a:rPr lang="vi-VN" sz="1200" b="0" i="0" kern="1200" dirty="0">
                <a:solidFill>
                  <a:schemeClr val="tx1"/>
                </a:solidFill>
                <a:effectLst/>
                <a:latin typeface="Times" pitchFamily="18" charset="0"/>
                <a:ea typeface="+mn-ea"/>
                <a:cs typeface="+mn-cs"/>
              </a:rPr>
              <a:t>).</a:t>
            </a:r>
            <a:r>
              <a:rPr lang="en-US" sz="1200" b="0" i="0" kern="1200" dirty="0">
                <a:solidFill>
                  <a:schemeClr val="tx1"/>
                </a:solidFill>
                <a:effectLst/>
                <a:latin typeface="Times" pitchFamily="18" charset="0"/>
                <a:ea typeface="+mn-ea"/>
                <a:cs typeface="+mn-cs"/>
              </a:rPr>
              <a:t> \</a:t>
            </a:r>
          </a:p>
          <a:p>
            <a:r>
              <a:rPr lang="en-US" sz="1200" b="0" i="0" kern="1200" dirty="0" err="1">
                <a:solidFill>
                  <a:schemeClr val="tx1"/>
                </a:solidFill>
                <a:effectLst/>
                <a:latin typeface="Times" pitchFamily="18" charset="0"/>
                <a:ea typeface="+mn-ea"/>
                <a:cs typeface="+mn-cs"/>
              </a:rPr>
              <a:t>Tức</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là</a:t>
            </a:r>
            <a:r>
              <a:rPr lang="en-US" sz="1200" b="0" i="0" kern="1200" baseline="0" dirty="0">
                <a:solidFill>
                  <a:schemeClr val="tx1"/>
                </a:solidFill>
                <a:effectLst/>
                <a:latin typeface="Times" pitchFamily="18" charset="0"/>
                <a:ea typeface="+mn-ea"/>
                <a:cs typeface="+mn-cs"/>
              </a:rPr>
              <a:t> </a:t>
            </a:r>
            <a:r>
              <a:rPr lang="vi-VN" sz="1200" b="0" i="0" kern="1200" dirty="0">
                <a:solidFill>
                  <a:schemeClr val="tx1"/>
                </a:solidFill>
                <a:effectLst/>
                <a:latin typeface="Times" pitchFamily="18" charset="0"/>
                <a:ea typeface="+mn-ea"/>
                <a:cs typeface="+mn-cs"/>
              </a:rPr>
              <a:t>Điều phối việc trao đổi dữ liệu giữa các ứng dụng bằng cách thiết lập và giải phóng (một cách lôgic) các phiên (hay còn gọi là các hội thoại - dialogues)</a:t>
            </a:r>
            <a:br>
              <a:rPr lang="vi-VN" dirty="0"/>
            </a:br>
            <a:r>
              <a:rPr lang="vi-VN" sz="1200" b="0" i="0" kern="1200" dirty="0">
                <a:solidFill>
                  <a:schemeClr val="tx1"/>
                </a:solidFill>
                <a:effectLst/>
                <a:latin typeface="Times" pitchFamily="18" charset="0"/>
                <a:ea typeface="+mn-ea"/>
                <a:cs typeface="+mn-cs"/>
              </a:rPr>
              <a:t>   Cung cấp các điểm đồng bộ để kiểm soát việc trao đổi dữ liệu.</a:t>
            </a:r>
            <a:br>
              <a:rPr lang="vi-VN" dirty="0"/>
            </a:br>
            <a:r>
              <a:rPr lang="vi-VN" sz="1200" b="0" i="0" kern="1200" dirty="0">
                <a:solidFill>
                  <a:schemeClr val="tx1"/>
                </a:solidFill>
                <a:effectLst/>
                <a:latin typeface="Times" pitchFamily="18" charset="0"/>
                <a:ea typeface="+mn-ea"/>
                <a:cs typeface="+mn-cs"/>
              </a:rPr>
              <a:t>   Áp đặt các qui tắc cho các tương tác giữa các ứng dụng của người sử dụng.</a:t>
            </a:r>
            <a:br>
              <a:rPr lang="vi-VN" dirty="0"/>
            </a:br>
            <a:r>
              <a:rPr lang="vi-VN" sz="1200" b="0" i="0" kern="1200" dirty="0">
                <a:solidFill>
                  <a:schemeClr val="tx1"/>
                </a:solidFill>
                <a:effectLst/>
                <a:latin typeface="Times" pitchFamily="18" charset="0"/>
                <a:ea typeface="+mn-ea"/>
                <a:cs typeface="+mn-cs"/>
              </a:rPr>
              <a:t>   Cung cấp cơ chế "lấy lượt" (nắm quyền) trong quá trình trao đổi dữ liệu.</a:t>
            </a:r>
            <a:endParaRPr lang="en-US" dirty="0"/>
          </a:p>
        </p:txBody>
      </p:sp>
    </p:spTree>
    <p:extLst>
      <p:ext uri="{BB962C8B-B14F-4D97-AF65-F5344CB8AC3E}">
        <p14:creationId xmlns:p14="http://schemas.microsoft.com/office/powerpoint/2010/main" val="1137730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EDFC1504-8FB6-40CC-B616-20216F11B853}" type="slidenum">
              <a:rPr lang="en-US"/>
              <a:pPr/>
              <a:t>12</a:t>
            </a:fld>
            <a:endParaRPr lang="en-US"/>
          </a:p>
        </p:txBody>
      </p:sp>
      <p:sp>
        <p:nvSpPr>
          <p:cNvPr id="145410"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5411"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5412" name="Rectangle 4"/>
          <p:cNvSpPr>
            <a:spLocks noGrp="1" noRot="1" noChangeAspect="1" noChangeArrowheads="1" noTextEdit="1"/>
          </p:cNvSpPr>
          <p:nvPr>
            <p:ph type="sldImg"/>
          </p:nvPr>
        </p:nvSpPr>
        <p:spPr>
          <a:xfrm>
            <a:off x="1243013" y="563563"/>
            <a:ext cx="4384675" cy="3287712"/>
          </a:xfrm>
          <a:ln/>
        </p:spPr>
      </p:sp>
      <p:sp>
        <p:nvSpPr>
          <p:cNvPr id="145413" name="Rectangle 5"/>
          <p:cNvSpPr>
            <a:spLocks noGrp="1" noChangeArrowheads="1"/>
          </p:cNvSpPr>
          <p:nvPr>
            <p:ph type="body" idx="1"/>
          </p:nvPr>
        </p:nvSpPr>
        <p:spPr>
          <a:xfrm>
            <a:off x="858838" y="3997325"/>
            <a:ext cx="5160962" cy="4306888"/>
          </a:xfrm>
        </p:spPr>
        <p:txBody>
          <a:bodyPr lIns="89715" tIns="44858" rIns="89715" bIns="44858"/>
          <a:lstStyle/>
          <a:p>
            <a:r>
              <a:rPr lang="vi-VN" sz="1200" b="1" i="0" kern="1200" dirty="0">
                <a:solidFill>
                  <a:schemeClr val="tx1"/>
                </a:solidFill>
                <a:effectLst/>
                <a:latin typeface="Times" pitchFamily="18" charset="0"/>
                <a:ea typeface="+mn-ea"/>
                <a:cs typeface="+mn-cs"/>
              </a:rPr>
              <a:t>Tầng trình diễn (Presentation layer)</a:t>
            </a:r>
            <a:r>
              <a:rPr lang="en-US" sz="1200" b="1" i="0" kern="1200" dirty="0">
                <a:solidFill>
                  <a:schemeClr val="tx1"/>
                </a:solidFill>
                <a:effectLst/>
                <a:latin typeface="Times" pitchFamily="18" charset="0"/>
                <a:ea typeface="+mn-ea"/>
                <a:cs typeface="+mn-cs"/>
              </a:rPr>
              <a:t> </a:t>
            </a:r>
            <a:r>
              <a:rPr lang="en-US" sz="1200" b="1" i="0" kern="1200" dirty="0" err="1">
                <a:solidFill>
                  <a:schemeClr val="tx1"/>
                </a:solidFill>
                <a:effectLst/>
                <a:latin typeface="Times" pitchFamily="18" charset="0"/>
                <a:ea typeface="+mn-ea"/>
                <a:cs typeface="+mn-cs"/>
              </a:rPr>
              <a:t>mã</a:t>
            </a:r>
            <a:r>
              <a:rPr lang="en-US" sz="1200" b="1" i="0" kern="1200" baseline="0" dirty="0">
                <a:solidFill>
                  <a:schemeClr val="tx1"/>
                </a:solidFill>
                <a:effectLst/>
                <a:latin typeface="Times" pitchFamily="18" charset="0"/>
                <a:ea typeface="+mn-ea"/>
                <a:cs typeface="+mn-cs"/>
              </a:rPr>
              <a:t> </a:t>
            </a:r>
            <a:r>
              <a:rPr lang="en-US" sz="1200" b="1" i="0" kern="1200" baseline="0" dirty="0" err="1">
                <a:solidFill>
                  <a:schemeClr val="tx1"/>
                </a:solidFill>
                <a:effectLst/>
                <a:latin typeface="Times" pitchFamily="18" charset="0"/>
                <a:ea typeface="+mn-ea"/>
                <a:cs typeface="+mn-cs"/>
              </a:rPr>
              <a:t>hóa</a:t>
            </a:r>
            <a:r>
              <a:rPr lang="en-US" sz="1200" b="1" i="0" kern="1200" baseline="0" dirty="0">
                <a:solidFill>
                  <a:schemeClr val="tx1"/>
                </a:solidFill>
                <a:effectLst/>
                <a:latin typeface="Times" pitchFamily="18" charset="0"/>
                <a:ea typeface="+mn-ea"/>
                <a:cs typeface="+mn-cs"/>
              </a:rPr>
              <a:t> data</a:t>
            </a:r>
            <a:r>
              <a:rPr lang="vi-VN" sz="1200" b="0" i="0" kern="1200" dirty="0">
                <a:solidFill>
                  <a:schemeClr val="tx1"/>
                </a:solidFill>
                <a:effectLst/>
                <a:latin typeface="Times" pitchFamily="18" charset="0"/>
                <a:ea typeface="+mn-ea"/>
                <a:cs typeface="+mn-cs"/>
              </a:rPr>
              <a:t> phải chịu trách nhiệm chuyển đổi dữ liệu gửi đi trên mạng từ một loại biểu diễn này sang một loại khác. Để đạt được điều đó nó cung cấp một dạng biểu diễn chung dùng để truyền thông và cho phép chuyển đổi từ dạng biểu diễn cục bộ sang biểu diễn chung và ngược lại.</a:t>
            </a:r>
            <a:endParaRPr lang="en-US" sz="1200" b="0" i="0" kern="1200" dirty="0">
              <a:solidFill>
                <a:schemeClr val="tx1"/>
              </a:solidFill>
              <a:effectLst/>
              <a:latin typeface="Times" pitchFamily="18" charset="0"/>
              <a:ea typeface="+mn-ea"/>
              <a:cs typeface="+mn-cs"/>
            </a:endParaRPr>
          </a:p>
          <a:p>
            <a:endParaRPr lang="en-US" sz="1200" b="0" i="0" kern="1200" dirty="0">
              <a:solidFill>
                <a:schemeClr val="tx1"/>
              </a:solidFill>
              <a:effectLst/>
              <a:latin typeface="Times" pitchFamily="18" charset="0"/>
              <a:ea typeface="+mn-ea"/>
              <a:cs typeface="+mn-cs"/>
            </a:endParaRPr>
          </a:p>
          <a:p>
            <a:r>
              <a:rPr lang="vi-VN" sz="1200" b="0" i="0" kern="1200" dirty="0">
                <a:solidFill>
                  <a:schemeClr val="tx1"/>
                </a:solidFill>
                <a:effectLst/>
                <a:latin typeface="Times" pitchFamily="18" charset="0"/>
                <a:ea typeface="+mn-ea"/>
                <a:cs typeface="+mn-cs"/>
              </a:rPr>
              <a:t>Tầng trình diễn chịu trách nhiệm phân phát và định dạng dữ liệu cho tầng ứng dụng, để dữ liệu được tiếp tục xử lý hoặc hiển thị. Tầng này giải phóng tầng ứng dụng khỏi gánh nặng của việc giải quyết các khác biệt về cú pháp trong biểu diễn dữ liệu.</a:t>
            </a:r>
            <a:r>
              <a:rPr lang="en-US" sz="1200" b="0" i="0" kern="1200" dirty="0">
                <a:solidFill>
                  <a:schemeClr val="tx1"/>
                </a:solidFill>
                <a:effectLst/>
                <a:latin typeface="Times" pitchFamily="18" charset="0"/>
                <a:ea typeface="+mn-ea"/>
                <a:cs typeface="+mn-cs"/>
              </a:rPr>
              <a:t> </a:t>
            </a:r>
            <a:r>
              <a:rPr lang="vi-VN" sz="1200" b="0" i="0" kern="1200" dirty="0">
                <a:solidFill>
                  <a:schemeClr val="tx1"/>
                </a:solidFill>
                <a:effectLst/>
                <a:latin typeface="Times" pitchFamily="18" charset="0"/>
                <a:ea typeface="+mn-ea"/>
                <a:cs typeface="+mn-cs"/>
              </a:rPr>
              <a:t>Việc </a:t>
            </a:r>
            <a:r>
              <a:rPr lang="vi-VN" sz="1200" b="0" i="0" u="none" strike="noStrike" kern="1200" dirty="0">
                <a:solidFill>
                  <a:schemeClr val="tx1"/>
                </a:solidFill>
                <a:effectLst/>
                <a:latin typeface="Times" pitchFamily="18" charset="0"/>
                <a:ea typeface="+mn-ea"/>
                <a:cs typeface="+mn-cs"/>
                <a:hlinkClick r:id="rId3" tooltip="Mã hóa"/>
              </a:rPr>
              <a:t>mã hoá</a:t>
            </a:r>
            <a:r>
              <a:rPr lang="vi-VN" sz="1200" b="0" i="0" kern="1200" dirty="0">
                <a:solidFill>
                  <a:schemeClr val="tx1"/>
                </a:solidFill>
                <a:effectLst/>
                <a:latin typeface="Times" pitchFamily="18" charset="0"/>
                <a:ea typeface="+mn-ea"/>
                <a:cs typeface="+mn-cs"/>
              </a:rPr>
              <a:t> dữ liệu cũng thường được thực hiện ở tầng này, tuy việc đó có thể được thực hiện ở các </a:t>
            </a:r>
            <a:r>
              <a:rPr lang="vi-VN" sz="1200" b="0" i="0" u="none" strike="noStrike" kern="1200" dirty="0">
                <a:solidFill>
                  <a:schemeClr val="tx1"/>
                </a:solidFill>
                <a:effectLst/>
                <a:latin typeface="Times" pitchFamily="18" charset="0"/>
                <a:ea typeface="+mn-ea"/>
                <a:cs typeface="+mn-cs"/>
                <a:hlinkClick r:id="rId4" tooltip="Tầng ứng dụng"/>
              </a:rPr>
              <a:t>tầng ứng dụng</a:t>
            </a:r>
            <a:r>
              <a:rPr lang="vi-VN" sz="1200" b="0" i="0" kern="1200" dirty="0">
                <a:solidFill>
                  <a:schemeClr val="tx1"/>
                </a:solidFill>
                <a:effectLst/>
                <a:latin typeface="Times" pitchFamily="18" charset="0"/>
                <a:ea typeface="+mn-ea"/>
                <a:cs typeface="+mn-cs"/>
              </a:rPr>
              <a:t>, </a:t>
            </a:r>
            <a:r>
              <a:rPr lang="vi-VN" sz="1200" b="0" i="0" u="none" strike="noStrike" kern="1200" dirty="0">
                <a:solidFill>
                  <a:schemeClr val="tx1"/>
                </a:solidFill>
                <a:effectLst/>
                <a:latin typeface="Times" pitchFamily="18" charset="0"/>
                <a:ea typeface="+mn-ea"/>
                <a:cs typeface="+mn-cs"/>
                <a:hlinkClick r:id="rId5" tooltip="Tầng phiên"/>
              </a:rPr>
              <a:t>tầng phiên</a:t>
            </a:r>
            <a:r>
              <a:rPr lang="vi-VN" sz="1200" b="0" i="0" kern="1200" dirty="0">
                <a:solidFill>
                  <a:schemeClr val="tx1"/>
                </a:solidFill>
                <a:effectLst/>
                <a:latin typeface="Times" pitchFamily="18" charset="0"/>
                <a:ea typeface="+mn-ea"/>
                <a:cs typeface="+mn-cs"/>
              </a:rPr>
              <a:t>, </a:t>
            </a:r>
            <a:r>
              <a:rPr lang="vi-VN" sz="1200" b="0" i="0" u="none" strike="noStrike" kern="1200" dirty="0">
                <a:solidFill>
                  <a:schemeClr val="tx1"/>
                </a:solidFill>
                <a:effectLst/>
                <a:latin typeface="Times" pitchFamily="18" charset="0"/>
                <a:ea typeface="+mn-ea"/>
                <a:cs typeface="+mn-cs"/>
                <a:hlinkClick r:id="rId6" tooltip="Tầng giao vận"/>
              </a:rPr>
              <a:t>tầng giao vận</a:t>
            </a:r>
            <a:r>
              <a:rPr lang="vi-VN" sz="1200" b="0" i="0" kern="1200" dirty="0">
                <a:solidFill>
                  <a:schemeClr val="tx1"/>
                </a:solidFill>
                <a:effectLst/>
                <a:latin typeface="Times" pitchFamily="18" charset="0"/>
                <a:ea typeface="+mn-ea"/>
                <a:cs typeface="+mn-cs"/>
              </a:rPr>
              <a:t>, hoặc </a:t>
            </a:r>
            <a:r>
              <a:rPr lang="vi-VN" sz="1200" b="0" i="0" u="none" strike="noStrike" kern="1200" dirty="0">
                <a:solidFill>
                  <a:schemeClr val="tx1"/>
                </a:solidFill>
                <a:effectLst/>
                <a:latin typeface="Times" pitchFamily="18" charset="0"/>
                <a:ea typeface="+mn-ea"/>
                <a:cs typeface="+mn-cs"/>
                <a:hlinkClick r:id="rId7" tooltip="Tầng mạng"/>
              </a:rPr>
              <a:t>tầng mạng</a:t>
            </a:r>
            <a:r>
              <a:rPr lang="vi-VN" sz="1200" b="0" i="0" kern="1200" dirty="0">
                <a:solidFill>
                  <a:schemeClr val="tx1"/>
                </a:solidFill>
                <a:effectLst/>
                <a:latin typeface="Times" pitchFamily="18" charset="0"/>
                <a:ea typeface="+mn-ea"/>
                <a:cs typeface="+mn-cs"/>
              </a:rPr>
              <a:t>; mỗi tầng đều có những ưu điểm và nhược điểm</a:t>
            </a:r>
            <a:endParaRPr lang="en-US" dirty="0"/>
          </a:p>
        </p:txBody>
      </p:sp>
    </p:spTree>
    <p:extLst>
      <p:ext uri="{BB962C8B-B14F-4D97-AF65-F5344CB8AC3E}">
        <p14:creationId xmlns:p14="http://schemas.microsoft.com/office/powerpoint/2010/main" val="2517915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0F20D7F9-86EF-416C-98E1-F272EEF38A48}" type="slidenum">
              <a:rPr lang="en-US"/>
              <a:pPr/>
              <a:t>13</a:t>
            </a:fld>
            <a:endParaRPr lang="en-US"/>
          </a:p>
        </p:txBody>
      </p:sp>
      <p:sp>
        <p:nvSpPr>
          <p:cNvPr id="147458"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7459"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7460" name="Rectangle 4"/>
          <p:cNvSpPr>
            <a:spLocks noGrp="1" noRot="1" noChangeAspect="1" noChangeArrowheads="1" noTextEdit="1"/>
          </p:cNvSpPr>
          <p:nvPr>
            <p:ph type="sldImg"/>
          </p:nvPr>
        </p:nvSpPr>
        <p:spPr>
          <a:xfrm>
            <a:off x="1243013" y="563563"/>
            <a:ext cx="4384675" cy="3287712"/>
          </a:xfrm>
          <a:ln/>
        </p:spPr>
      </p:sp>
      <p:sp>
        <p:nvSpPr>
          <p:cNvPr id="147461" name="Rectangle 5"/>
          <p:cNvSpPr>
            <a:spLocks noGrp="1" noChangeArrowheads="1"/>
          </p:cNvSpPr>
          <p:nvPr>
            <p:ph type="body" idx="1"/>
          </p:nvPr>
        </p:nvSpPr>
        <p:spPr>
          <a:xfrm>
            <a:off x="858838" y="3997325"/>
            <a:ext cx="5160962" cy="4306888"/>
          </a:xfrm>
        </p:spPr>
        <p:txBody>
          <a:bodyPr lIns="89715" tIns="44858" rIns="89715" bIns="44858"/>
          <a:lstStyle/>
          <a:p>
            <a:r>
              <a:rPr lang="vi-VN" sz="1200" b="0" i="0" kern="1200" dirty="0">
                <a:solidFill>
                  <a:schemeClr val="tx1"/>
                </a:solidFill>
                <a:effectLst/>
                <a:latin typeface="Times" pitchFamily="18" charset="0"/>
                <a:ea typeface="+mn-ea"/>
                <a:cs typeface="+mn-cs"/>
              </a:rPr>
              <a:t>Tầng này giao tiếp trực tiếp với các </a:t>
            </a:r>
            <a:r>
              <a:rPr lang="vi-VN" sz="1200" b="0" i="0" u="none" strike="noStrike" kern="1200" dirty="0">
                <a:solidFill>
                  <a:schemeClr val="tx1"/>
                </a:solidFill>
                <a:effectLst/>
                <a:latin typeface="Times" pitchFamily="18" charset="0"/>
                <a:ea typeface="+mn-ea"/>
                <a:cs typeface="+mn-cs"/>
                <a:hlinkClick r:id="rId3" tooltip="Tiến trình"/>
              </a:rPr>
              <a:t>tiến trình</a:t>
            </a:r>
            <a:r>
              <a:rPr lang="vi-VN" sz="1200" b="0" i="0" kern="1200" dirty="0">
                <a:solidFill>
                  <a:schemeClr val="tx1"/>
                </a:solidFill>
                <a:effectLst/>
                <a:latin typeface="Times" pitchFamily="18" charset="0"/>
                <a:ea typeface="+mn-ea"/>
                <a:cs typeface="+mn-cs"/>
              </a:rPr>
              <a:t> </a:t>
            </a:r>
            <a:r>
              <a:rPr lang="vi-VN" sz="1200" b="0" i="0" u="none" strike="noStrike" kern="1200" dirty="0">
                <a:solidFill>
                  <a:schemeClr val="tx1"/>
                </a:solidFill>
                <a:effectLst/>
                <a:latin typeface="Times" pitchFamily="18" charset="0"/>
                <a:ea typeface="+mn-ea"/>
                <a:cs typeface="+mn-cs"/>
                <a:hlinkClick r:id="rId4" tooltip="Phần mềm ứng dụng"/>
              </a:rPr>
              <a:t>ứng dụng</a:t>
            </a:r>
            <a:r>
              <a:rPr lang="vi-VN" sz="1200" b="0" i="0" kern="1200" dirty="0">
                <a:solidFill>
                  <a:schemeClr val="tx1"/>
                </a:solidFill>
                <a:effectLst/>
                <a:latin typeface="Times" pitchFamily="18" charset="0"/>
                <a:ea typeface="+mn-ea"/>
                <a:cs typeface="+mn-cs"/>
              </a:rPr>
              <a:t> và thi hành những dịch vụ thông thường của các tiến trình đó; tầng này còn gửi các yêu cầu dịch vụ tới </a:t>
            </a:r>
            <a:r>
              <a:rPr lang="vi-VN" sz="1200" b="0" i="0" u="none" strike="noStrike" kern="1200" dirty="0">
                <a:solidFill>
                  <a:schemeClr val="tx1"/>
                </a:solidFill>
                <a:effectLst/>
                <a:latin typeface="Times" pitchFamily="18" charset="0"/>
                <a:ea typeface="+mn-ea"/>
                <a:cs typeface="+mn-cs"/>
                <a:hlinkClick r:id="rId5" tooltip="Tầng trình diễn"/>
              </a:rPr>
              <a:t>tầng trình diễn</a:t>
            </a:r>
            <a:r>
              <a:rPr lang="vi-VN" sz="1200" b="0" i="0" kern="1200" dirty="0">
                <a:solidFill>
                  <a:schemeClr val="tx1"/>
                </a:solidFill>
                <a:effectLst/>
                <a:latin typeface="Times" pitchFamily="18" charset="0"/>
                <a:ea typeface="+mn-ea"/>
                <a:cs typeface="+mn-cs"/>
              </a:rPr>
              <a:t>.</a:t>
            </a:r>
          </a:p>
          <a:p>
            <a:r>
              <a:rPr lang="vi-VN" sz="1200" b="0" i="0" kern="1200" dirty="0">
                <a:solidFill>
                  <a:schemeClr val="tx1"/>
                </a:solidFill>
                <a:effectLst/>
                <a:latin typeface="Times" pitchFamily="18" charset="0"/>
                <a:ea typeface="+mn-ea"/>
                <a:cs typeface="+mn-cs"/>
              </a:rPr>
              <a:t>Những dịch vụ thông thường của tầng ứng dụng cung cấp sự chuyển đổi về ngữ nghĩa giữa các tiến trình ứng dụng có liên quan. </a:t>
            </a:r>
            <a:endParaRPr lang="en-US" sz="1200" b="0" i="0" kern="1200" dirty="0">
              <a:solidFill>
                <a:schemeClr val="tx1"/>
              </a:solidFill>
              <a:effectLst/>
              <a:latin typeface="Times" pitchFamily="18" charset="0"/>
              <a:ea typeface="+mn-ea"/>
              <a:cs typeface="+mn-cs"/>
            </a:endParaRPr>
          </a:p>
          <a:p>
            <a:r>
              <a:rPr lang="en-US" sz="1200" b="0" i="0" kern="1200" dirty="0" err="1">
                <a:solidFill>
                  <a:schemeClr val="tx1"/>
                </a:solidFill>
                <a:effectLst/>
                <a:latin typeface="Times" pitchFamily="18" charset="0"/>
                <a:ea typeface="+mn-ea"/>
                <a:cs typeface="+mn-cs"/>
              </a:rPr>
              <a:t>Tầng</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ứng</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dụng</a:t>
            </a:r>
            <a:r>
              <a:rPr lang="en-US" sz="1200" b="0" i="0" kern="1200" baseline="0" dirty="0">
                <a:solidFill>
                  <a:schemeClr val="tx1"/>
                </a:solidFill>
                <a:effectLst/>
                <a:latin typeface="Times" pitchFamily="18" charset="0"/>
                <a:ea typeface="+mn-ea"/>
                <a:cs typeface="+mn-cs"/>
              </a:rPr>
              <a:t> </a:t>
            </a:r>
          </a:p>
          <a:p>
            <a:r>
              <a:rPr lang="en-US" sz="1200" b="0" i="0" kern="1200" baseline="0" dirty="0" err="1">
                <a:solidFill>
                  <a:schemeClr val="tx1"/>
                </a:solidFill>
                <a:effectLst/>
                <a:latin typeface="Times" pitchFamily="18" charset="0"/>
                <a:ea typeface="+mn-ea"/>
                <a:cs typeface="+mn-cs"/>
              </a:rPr>
              <a:t>Vd</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goi</a:t>
            </a:r>
            <a:r>
              <a:rPr lang="en-US" sz="1200" b="0" i="0" kern="1200" baseline="0" dirty="0">
                <a:solidFill>
                  <a:schemeClr val="tx1"/>
                </a:solidFill>
                <a:effectLst/>
                <a:latin typeface="Times" pitchFamily="18" charset="0"/>
                <a:ea typeface="+mn-ea"/>
                <a:cs typeface="+mn-cs"/>
              </a:rPr>
              <a:t> mail </a:t>
            </a:r>
            <a:r>
              <a:rPr lang="en-US" sz="1200" b="0" i="0" kern="1200" baseline="0" dirty="0" err="1">
                <a:solidFill>
                  <a:schemeClr val="tx1"/>
                </a:solidFill>
                <a:effectLst/>
                <a:latin typeface="Times" pitchFamily="18" charset="0"/>
                <a:ea typeface="+mn-ea"/>
                <a:cs typeface="+mn-cs"/>
              </a:rPr>
              <a:t>có</a:t>
            </a:r>
            <a:r>
              <a:rPr lang="en-US" sz="1200" b="0" i="0" kern="1200" baseline="0" dirty="0">
                <a:solidFill>
                  <a:schemeClr val="tx1"/>
                </a:solidFill>
                <a:effectLst/>
                <a:latin typeface="Times" pitchFamily="18" charset="0"/>
                <a:ea typeface="+mn-ea"/>
                <a:cs typeface="+mn-cs"/>
              </a:rPr>
              <a:t> 3 </a:t>
            </a:r>
            <a:r>
              <a:rPr lang="en-US" sz="1200" b="0" i="0" kern="1200" baseline="0" dirty="0" err="1">
                <a:solidFill>
                  <a:schemeClr val="tx1"/>
                </a:solidFill>
                <a:effectLst/>
                <a:latin typeface="Times" pitchFamily="18" charset="0"/>
                <a:ea typeface="+mn-ea"/>
                <a:cs typeface="+mn-cs"/>
              </a:rPr>
              <a:t>giao</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thức</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chinh</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smtp</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gởi</a:t>
            </a:r>
            <a:r>
              <a:rPr lang="en-US" sz="1200" b="0" i="0" kern="1200" baseline="0" dirty="0">
                <a:solidFill>
                  <a:schemeClr val="tx1"/>
                </a:solidFill>
                <a:effectLst/>
                <a:latin typeface="Times" pitchFamily="18" charset="0"/>
                <a:ea typeface="+mn-ea"/>
                <a:cs typeface="+mn-cs"/>
              </a:rPr>
              <a:t>), pop3 </a:t>
            </a:r>
            <a:r>
              <a:rPr lang="en-US" sz="1200" b="0" i="0" kern="1200" baseline="0" dirty="0" err="1">
                <a:solidFill>
                  <a:schemeClr val="tx1"/>
                </a:solidFill>
                <a:effectLst/>
                <a:latin typeface="Times" pitchFamily="18" charset="0"/>
                <a:ea typeface="+mn-ea"/>
                <a:cs typeface="+mn-cs"/>
              </a:rPr>
              <a:t>và</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imap</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nhận</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sắc</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nhận</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người</a:t>
            </a:r>
            <a:r>
              <a:rPr lang="en-US" sz="1200" b="0" i="0" kern="1200" baseline="0" dirty="0">
                <a:solidFill>
                  <a:schemeClr val="tx1"/>
                </a:solidFill>
                <a:effectLst/>
                <a:latin typeface="Times" pitchFamily="18" charset="0"/>
                <a:ea typeface="+mn-ea"/>
                <a:cs typeface="+mn-cs"/>
              </a:rPr>
              <a:t> </a:t>
            </a:r>
            <a:r>
              <a:rPr lang="en-US" sz="1200" b="0" i="0" kern="1200" baseline="0" dirty="0" err="1">
                <a:solidFill>
                  <a:schemeClr val="tx1"/>
                </a:solidFill>
                <a:effectLst/>
                <a:latin typeface="Times" pitchFamily="18" charset="0"/>
                <a:ea typeface="+mn-ea"/>
                <a:cs typeface="+mn-cs"/>
              </a:rPr>
              <a:t>dùng</a:t>
            </a:r>
            <a:endParaRPr lang="vi-VN" sz="1200" b="0" i="0" kern="1200" dirty="0">
              <a:solidFill>
                <a:schemeClr val="tx1"/>
              </a:solidFill>
              <a:effectLst/>
              <a:latin typeface="Times" pitchFamily="18" charset="0"/>
              <a:ea typeface="+mn-ea"/>
              <a:cs typeface="+mn-cs"/>
            </a:endParaRPr>
          </a:p>
        </p:txBody>
      </p:sp>
    </p:spTree>
    <p:extLst>
      <p:ext uri="{BB962C8B-B14F-4D97-AF65-F5344CB8AC3E}">
        <p14:creationId xmlns:p14="http://schemas.microsoft.com/office/powerpoint/2010/main" val="2113458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23AF7FF1-0A43-49E3-AA12-80E708EC8A3F}" type="slidenum">
              <a:rPr lang="en-US"/>
              <a:pPr/>
              <a:t>14</a:t>
            </a:fld>
            <a:endParaRPr lang="en-US"/>
          </a:p>
        </p:txBody>
      </p:sp>
      <p:sp>
        <p:nvSpPr>
          <p:cNvPr id="149506"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9507"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9508" name="Rectangle 4"/>
          <p:cNvSpPr>
            <a:spLocks noGrp="1" noRot="1" noChangeAspect="1" noChangeArrowheads="1" noTextEdit="1"/>
          </p:cNvSpPr>
          <p:nvPr>
            <p:ph type="sldImg"/>
          </p:nvPr>
        </p:nvSpPr>
        <p:spPr>
          <a:xfrm>
            <a:off x="1243013" y="563563"/>
            <a:ext cx="4384675" cy="3287712"/>
          </a:xfrm>
          <a:ln/>
        </p:spPr>
      </p:sp>
      <p:sp>
        <p:nvSpPr>
          <p:cNvPr id="149509" name="Rectangle 5"/>
          <p:cNvSpPr>
            <a:spLocks noGrp="1" noChangeArrowheads="1"/>
          </p:cNvSpPr>
          <p:nvPr>
            <p:ph type="body" idx="1"/>
          </p:nvPr>
        </p:nvSpPr>
        <p:spPr>
          <a:xfrm>
            <a:off x="858838" y="3997325"/>
            <a:ext cx="5160962" cy="4306888"/>
          </a:xfrm>
        </p:spPr>
        <p:txBody>
          <a:bodyPr lIns="89715" tIns="44858" rIns="89715" bIns="44858"/>
          <a:lstStyle/>
          <a:p>
            <a:r>
              <a:rPr lang="en-US" dirty="0" err="1"/>
              <a:t>Câu</a:t>
            </a:r>
            <a:r>
              <a:rPr lang="en-US" baseline="0" dirty="0"/>
              <a:t> </a:t>
            </a:r>
            <a:r>
              <a:rPr lang="en-US" baseline="0" dirty="0" err="1"/>
              <a:t>hỏi</a:t>
            </a:r>
            <a:r>
              <a:rPr lang="en-US" baseline="0" dirty="0"/>
              <a:t> </a:t>
            </a:r>
            <a:r>
              <a:rPr lang="en-US" baseline="0" dirty="0" err="1"/>
              <a:t>về</a:t>
            </a:r>
            <a:r>
              <a:rPr lang="en-US" baseline="0" dirty="0"/>
              <a:t> </a:t>
            </a:r>
            <a:r>
              <a:rPr lang="en-US" baseline="0" dirty="0" err="1"/>
              <a:t>tiều</a:t>
            </a:r>
            <a:r>
              <a:rPr lang="en-US" baseline="0" dirty="0"/>
              <a:t> </a:t>
            </a:r>
            <a:r>
              <a:rPr lang="en-US" baseline="0" dirty="0" err="1"/>
              <a:t>bài</a:t>
            </a:r>
            <a:r>
              <a:rPr lang="en-US" baseline="0" dirty="0"/>
              <a:t> </a:t>
            </a:r>
            <a:r>
              <a:rPr lang="en-US" baseline="0" dirty="0" err="1"/>
              <a:t>tập</a:t>
            </a:r>
            <a:r>
              <a:rPr lang="en-US" baseline="0" dirty="0"/>
              <a:t> </a:t>
            </a:r>
            <a:r>
              <a:rPr lang="en-US" baseline="0" dirty="0" err="1"/>
              <a:t>về</a:t>
            </a:r>
            <a:r>
              <a:rPr lang="en-US" baseline="0" dirty="0"/>
              <a:t>  </a:t>
            </a:r>
            <a:r>
              <a:rPr lang="en-US" baseline="0" dirty="0" err="1"/>
              <a:t>tiềm</a:t>
            </a:r>
            <a:r>
              <a:rPr lang="en-US" baseline="0" dirty="0"/>
              <a:t> </a:t>
            </a:r>
            <a:r>
              <a:rPr lang="en-US" baseline="0" dirty="0" err="1"/>
              <a:t>hiểu</a:t>
            </a:r>
            <a:r>
              <a:rPr lang="en-US" baseline="0" dirty="0"/>
              <a:t> </a:t>
            </a:r>
            <a:r>
              <a:rPr lang="en-US" baseline="0" dirty="0" err="1"/>
              <a:t>diển</a:t>
            </a:r>
            <a:r>
              <a:rPr lang="en-US" baseline="0" dirty="0"/>
              <a:t> </a:t>
            </a:r>
            <a:r>
              <a:rPr lang="en-US" baseline="0" dirty="0" err="1"/>
              <a:t>giải</a:t>
            </a:r>
            <a:r>
              <a:rPr lang="en-US" baseline="0" dirty="0"/>
              <a:t> chi </a:t>
            </a:r>
            <a:r>
              <a:rPr lang="en-US" baseline="0" dirty="0" err="1"/>
              <a:t>tiết</a:t>
            </a:r>
            <a:r>
              <a:rPr lang="en-US" baseline="0" dirty="0"/>
              <a:t> </a:t>
            </a:r>
            <a:r>
              <a:rPr lang="en-US" baseline="0" dirty="0" err="1"/>
              <a:t>quá</a:t>
            </a:r>
            <a:r>
              <a:rPr lang="en-US" baseline="0" dirty="0"/>
              <a:t> </a:t>
            </a:r>
            <a:r>
              <a:rPr lang="en-US" baseline="0" dirty="0" err="1"/>
              <a:t>trình</a:t>
            </a:r>
            <a:r>
              <a:rPr lang="en-US" baseline="0" dirty="0"/>
              <a:t> </a:t>
            </a:r>
            <a:r>
              <a:rPr lang="en-US" baseline="0" dirty="0" err="1"/>
              <a:t>đóng</a:t>
            </a:r>
            <a:r>
              <a:rPr lang="en-US" baseline="0" dirty="0"/>
              <a:t> </a:t>
            </a:r>
            <a:r>
              <a:rPr lang="en-US" baseline="0" dirty="0" err="1"/>
              <a:t>gói</a:t>
            </a:r>
            <a:r>
              <a:rPr lang="en-US" baseline="0" dirty="0"/>
              <a:t> </a:t>
            </a:r>
            <a:r>
              <a:rPr lang="en-US" baseline="0" dirty="0" err="1"/>
              <a:t>và</a:t>
            </a:r>
            <a:r>
              <a:rPr lang="en-US" baseline="0" dirty="0"/>
              <a:t> </a:t>
            </a:r>
            <a:r>
              <a:rPr lang="en-US" baseline="0" dirty="0" err="1"/>
              <a:t>mở</a:t>
            </a:r>
            <a:r>
              <a:rPr lang="en-US" baseline="0" dirty="0"/>
              <a:t> </a:t>
            </a:r>
            <a:r>
              <a:rPr lang="en-US" baseline="0" dirty="0" err="1"/>
              <a:t>gói</a:t>
            </a:r>
            <a:r>
              <a:rPr lang="en-US" baseline="0" dirty="0"/>
              <a:t> tin </a:t>
            </a:r>
            <a:r>
              <a:rPr lang="en-US" baseline="0" dirty="0" err="1"/>
              <a:t>trong</a:t>
            </a:r>
            <a:r>
              <a:rPr lang="en-US" baseline="0" dirty="0"/>
              <a:t> </a:t>
            </a:r>
            <a:r>
              <a:rPr lang="en-US" baseline="0" dirty="0" err="1"/>
              <a:t>mô</a:t>
            </a:r>
            <a:r>
              <a:rPr lang="en-US" baseline="0" dirty="0"/>
              <a:t> </a:t>
            </a:r>
            <a:r>
              <a:rPr lang="en-US" baseline="0" dirty="0" err="1"/>
              <a:t>hình</a:t>
            </a:r>
            <a:r>
              <a:rPr lang="en-US" baseline="0" dirty="0"/>
              <a:t> </a:t>
            </a:r>
            <a:r>
              <a:rPr lang="en-US" baseline="0" dirty="0" err="1"/>
              <a:t>osi</a:t>
            </a:r>
            <a:r>
              <a:rPr lang="en-US" baseline="0" dirty="0"/>
              <a:t>.</a:t>
            </a:r>
          </a:p>
          <a:p>
            <a:r>
              <a:rPr lang="en-US" baseline="0" dirty="0" err="1"/>
              <a:t>Đóng</a:t>
            </a:r>
            <a:r>
              <a:rPr lang="en-US" baseline="0" dirty="0"/>
              <a:t> </a:t>
            </a:r>
            <a:r>
              <a:rPr lang="en-US" baseline="0" dirty="0" err="1"/>
              <a:t>gói</a:t>
            </a:r>
            <a:r>
              <a:rPr lang="en-US" baseline="0" dirty="0"/>
              <a:t>: </a:t>
            </a:r>
            <a:r>
              <a:rPr lang="en-US" baseline="0" dirty="0" err="1"/>
              <a:t>gười</a:t>
            </a:r>
            <a:r>
              <a:rPr lang="en-US" baseline="0" dirty="0"/>
              <a:t> </a:t>
            </a:r>
            <a:r>
              <a:rPr lang="en-US" baseline="0" dirty="0" err="1"/>
              <a:t>gởi</a:t>
            </a:r>
            <a:r>
              <a:rPr lang="en-US" baseline="0" dirty="0"/>
              <a:t> </a:t>
            </a:r>
            <a:r>
              <a:rPr lang="en-US" baseline="0" dirty="0" err="1"/>
              <a:t>có</a:t>
            </a:r>
            <a:r>
              <a:rPr lang="en-US" baseline="0" dirty="0"/>
              <a:t> data </a:t>
            </a:r>
            <a:r>
              <a:rPr lang="en-US" baseline="0" dirty="0" err="1"/>
              <a:t>cần</a:t>
            </a:r>
            <a:r>
              <a:rPr lang="en-US" baseline="0" dirty="0"/>
              <a:t> sent, </a:t>
            </a:r>
            <a:r>
              <a:rPr lang="en-US" baseline="0" dirty="0" err="1"/>
              <a:t>tầng</a:t>
            </a:r>
            <a:r>
              <a:rPr lang="en-US" baseline="0" dirty="0"/>
              <a:t> 7-dùng </a:t>
            </a:r>
            <a:r>
              <a:rPr lang="en-US" baseline="0" dirty="0" err="1"/>
              <a:t>ctrinh</a:t>
            </a:r>
            <a:r>
              <a:rPr lang="en-US" baseline="0" dirty="0"/>
              <a:t>-&gt;t6 them </a:t>
            </a:r>
            <a:r>
              <a:rPr lang="en-US" baseline="0" dirty="0" err="1"/>
              <a:t>hdr</a:t>
            </a:r>
            <a:r>
              <a:rPr lang="en-US" baseline="0" dirty="0"/>
              <a:t> l6-</a:t>
            </a:r>
            <a:r>
              <a:rPr lang="en-US" baseline="0"/>
              <a:t>&gt;tt</a:t>
            </a:r>
          </a:p>
          <a:p>
            <a:r>
              <a:rPr lang="en-US" baseline="0"/>
              <a:t>Kết quả hoạt dộng của mo hinh osi</a:t>
            </a:r>
          </a:p>
          <a:p>
            <a:r>
              <a:rPr lang="en-US" baseline="0"/>
              <a:t>Đây là tiến tình dong goi data</a:t>
            </a:r>
          </a:p>
          <a:p>
            <a:r>
              <a:rPr lang="en-US" baseline="0"/>
              <a:t>Giả su máy a gủi data sang máy nhận-&gt; user data -&gt; từ trên suống dưới </a:t>
            </a:r>
            <a:r>
              <a:rPr lang="en-US" baseline="0">
                <a:sym typeface="Wingdings" pitchFamily="2" charset="2"/>
              </a:rPr>
              <a:t> player 7-1  </a:t>
            </a:r>
            <a:endParaRPr lang="en-US" dirty="0"/>
          </a:p>
        </p:txBody>
      </p:sp>
    </p:spTree>
    <p:extLst>
      <p:ext uri="{BB962C8B-B14F-4D97-AF65-F5344CB8AC3E}">
        <p14:creationId xmlns:p14="http://schemas.microsoft.com/office/powerpoint/2010/main" val="38169226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E6316C62-7D85-4818-96BF-B8DAFA562914}" type="slidenum">
              <a:rPr lang="en-US"/>
              <a:pPr/>
              <a:t>15</a:t>
            </a:fld>
            <a:endParaRPr lang="en-US"/>
          </a:p>
        </p:txBody>
      </p:sp>
      <p:sp>
        <p:nvSpPr>
          <p:cNvPr id="151554"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55"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1556" name="Rectangle 4"/>
          <p:cNvSpPr>
            <a:spLocks noGrp="1" noRot="1" noChangeAspect="1" noChangeArrowheads="1" noTextEdit="1"/>
          </p:cNvSpPr>
          <p:nvPr>
            <p:ph type="sldImg"/>
          </p:nvPr>
        </p:nvSpPr>
        <p:spPr>
          <a:xfrm>
            <a:off x="1243013" y="563563"/>
            <a:ext cx="4384675" cy="3287712"/>
          </a:xfrm>
          <a:ln/>
        </p:spPr>
      </p:sp>
      <p:sp>
        <p:nvSpPr>
          <p:cNvPr id="151557" name="Rectangle 5"/>
          <p:cNvSpPr>
            <a:spLocks noGrp="1" noChangeArrowheads="1"/>
          </p:cNvSpPr>
          <p:nvPr>
            <p:ph type="body" idx="1"/>
          </p:nvPr>
        </p:nvSpPr>
        <p:spPr>
          <a:xfrm>
            <a:off x="858838" y="3997325"/>
            <a:ext cx="5160962" cy="4306888"/>
          </a:xfrm>
        </p:spPr>
        <p:txBody>
          <a:bodyPr lIns="89715" tIns="44858" rIns="89715" bIns="44858"/>
          <a:lstStyle/>
          <a:p>
            <a:r>
              <a:rPr lang="en-US"/>
              <a:t>Lesson Aim</a:t>
            </a:r>
          </a:p>
          <a:p>
            <a:pPr lvl="1"/>
            <a:r>
              <a:rPr lang="en-US"/>
              <a:t>&lt;Enter lesson aim here.&gt;</a:t>
            </a:r>
          </a:p>
        </p:txBody>
      </p:sp>
    </p:spTree>
    <p:extLst>
      <p:ext uri="{BB962C8B-B14F-4D97-AF65-F5344CB8AC3E}">
        <p14:creationId xmlns:p14="http://schemas.microsoft.com/office/powerpoint/2010/main" val="36505058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0A790D59-FD24-4E8F-8DF6-8ADEA9DAEA37}" type="slidenum">
              <a:rPr lang="en-US"/>
              <a:pPr/>
              <a:t>16</a:t>
            </a:fld>
            <a:endParaRPr lang="en-US"/>
          </a:p>
        </p:txBody>
      </p:sp>
      <p:sp>
        <p:nvSpPr>
          <p:cNvPr id="153602"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603"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604" name="Rectangle 4"/>
          <p:cNvSpPr>
            <a:spLocks noGrp="1" noRot="1" noChangeAspect="1" noChangeArrowheads="1" noTextEdit="1"/>
          </p:cNvSpPr>
          <p:nvPr>
            <p:ph type="sldImg"/>
          </p:nvPr>
        </p:nvSpPr>
        <p:spPr>
          <a:xfrm>
            <a:off x="1243013" y="563563"/>
            <a:ext cx="4384675" cy="3287712"/>
          </a:xfrm>
          <a:ln/>
        </p:spPr>
      </p:sp>
      <p:sp>
        <p:nvSpPr>
          <p:cNvPr id="153605" name="Rectangle 5"/>
          <p:cNvSpPr>
            <a:spLocks noGrp="1" noChangeArrowheads="1"/>
          </p:cNvSpPr>
          <p:nvPr>
            <p:ph type="body" idx="1"/>
          </p:nvPr>
        </p:nvSpPr>
        <p:spPr>
          <a:xfrm>
            <a:off x="858838" y="3997325"/>
            <a:ext cx="5160962" cy="4306888"/>
          </a:xfrm>
        </p:spPr>
        <p:txBody>
          <a:bodyPr lIns="89715" tIns="44858" rIns="89715" bIns="44858"/>
          <a:lstStyle/>
          <a:p>
            <a:r>
              <a:rPr lang="en-US" dirty="0" err="1"/>
              <a:t>Tầng</a:t>
            </a:r>
            <a:r>
              <a:rPr lang="en-US" dirty="0"/>
              <a:t> 6 </a:t>
            </a:r>
            <a:r>
              <a:rPr lang="en-US" dirty="0" err="1"/>
              <a:t>lên</a:t>
            </a:r>
            <a:r>
              <a:rPr lang="en-US" baseline="0" dirty="0"/>
              <a:t> data </a:t>
            </a:r>
            <a:r>
              <a:rPr lang="en-US" baseline="0" dirty="0" err="1"/>
              <a:t>chung</a:t>
            </a:r>
            <a:r>
              <a:rPr lang="en-US" baseline="0" dirty="0"/>
              <a:t>-&gt;t5 </a:t>
            </a:r>
            <a:r>
              <a:rPr lang="en-US" baseline="0" dirty="0" err="1"/>
              <a:t>phân</a:t>
            </a:r>
            <a:r>
              <a:rPr lang="en-US" baseline="0" dirty="0"/>
              <a:t> data </a:t>
            </a:r>
            <a:r>
              <a:rPr lang="en-US" baseline="0" dirty="0" err="1"/>
              <a:t>ra</a:t>
            </a:r>
            <a:r>
              <a:rPr lang="en-US" baseline="0" dirty="0"/>
              <a:t> </a:t>
            </a:r>
            <a:r>
              <a:rPr lang="en-US" baseline="0" dirty="0" err="1"/>
              <a:t>thành</a:t>
            </a:r>
            <a:r>
              <a:rPr lang="en-US" baseline="0" dirty="0"/>
              <a:t> </a:t>
            </a:r>
            <a:r>
              <a:rPr lang="en-US" baseline="0" dirty="0" err="1"/>
              <a:t>các</a:t>
            </a:r>
            <a:r>
              <a:rPr lang="en-US" baseline="0" dirty="0"/>
              <a:t> </a:t>
            </a:r>
            <a:r>
              <a:rPr lang="en-US" baseline="0" dirty="0" err="1"/>
              <a:t>segmen</a:t>
            </a:r>
            <a:r>
              <a:rPr lang="en-US" baseline="0" dirty="0"/>
              <a:t>-&gt; them </a:t>
            </a:r>
            <a:r>
              <a:rPr lang="en-US" baseline="0" dirty="0" err="1"/>
              <a:t>tao</a:t>
            </a:r>
            <a:r>
              <a:rPr lang="en-US" baseline="0" dirty="0"/>
              <a:t> </a:t>
            </a:r>
            <a:r>
              <a:rPr lang="en-US" baseline="0" dirty="0" err="1"/>
              <a:t>ra</a:t>
            </a:r>
            <a:r>
              <a:rPr lang="en-US" baseline="0" dirty="0"/>
              <a:t> packets </a:t>
            </a:r>
            <a:r>
              <a:rPr lang="en-US" baseline="0" dirty="0">
                <a:sym typeface="Wingdings" pitchFamily="2" charset="2"/>
              </a:rPr>
              <a:t> </a:t>
            </a:r>
          </a:p>
          <a:p>
            <a:endParaRPr lang="en-US" baseline="0" dirty="0">
              <a:sym typeface="Wingdings" pitchFamily="2" charset="2"/>
            </a:endParaRPr>
          </a:p>
          <a:p>
            <a:r>
              <a:rPr lang="en-US" baseline="0" dirty="0">
                <a:sym typeface="Wingdings" pitchFamily="2" charset="2"/>
              </a:rPr>
              <a:t>Ta </a:t>
            </a:r>
            <a:r>
              <a:rPr lang="en-US" baseline="0" dirty="0" err="1">
                <a:sym typeface="Wingdings" pitchFamily="2" charset="2"/>
              </a:rPr>
              <a:t>nghien</a:t>
            </a:r>
            <a:r>
              <a:rPr lang="en-US" baseline="0" dirty="0">
                <a:sym typeface="Wingdings" pitchFamily="2" charset="2"/>
              </a:rPr>
              <a:t> </a:t>
            </a:r>
            <a:r>
              <a:rPr lang="en-US" baseline="0" dirty="0" err="1">
                <a:sym typeface="Wingdings" pitchFamily="2" charset="2"/>
              </a:rPr>
              <a:t>cuu</a:t>
            </a:r>
            <a:r>
              <a:rPr lang="en-US" baseline="0" dirty="0">
                <a:sym typeface="Wingdings" pitchFamily="2" charset="2"/>
              </a:rPr>
              <a:t> Network </a:t>
            </a:r>
            <a:r>
              <a:rPr lang="en-US" baseline="0" dirty="0" err="1">
                <a:sym typeface="Wingdings" pitchFamily="2" charset="2"/>
              </a:rPr>
              <a:t>và</a:t>
            </a:r>
            <a:r>
              <a:rPr lang="en-US" baseline="0" dirty="0">
                <a:sym typeface="Wingdings" pitchFamily="2" charset="2"/>
              </a:rPr>
              <a:t> data link</a:t>
            </a:r>
          </a:p>
          <a:p>
            <a:endParaRPr lang="en-US" dirty="0"/>
          </a:p>
        </p:txBody>
      </p:sp>
    </p:spTree>
    <p:extLst>
      <p:ext uri="{BB962C8B-B14F-4D97-AF65-F5344CB8AC3E}">
        <p14:creationId xmlns:p14="http://schemas.microsoft.com/office/powerpoint/2010/main" val="37520052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73EF6548-A617-4DE3-B327-602F16655FF7}" type="slidenum">
              <a:rPr lang="en-US"/>
              <a:pPr/>
              <a:t>17</a:t>
            </a:fld>
            <a:endParaRPr lang="en-US"/>
          </a:p>
        </p:txBody>
      </p:sp>
      <p:sp>
        <p:nvSpPr>
          <p:cNvPr id="111618"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619"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620" name="Rectangle 4"/>
          <p:cNvSpPr>
            <a:spLocks noGrp="1" noRot="1" noChangeAspect="1" noChangeArrowheads="1" noTextEdit="1"/>
          </p:cNvSpPr>
          <p:nvPr>
            <p:ph type="sldImg"/>
          </p:nvPr>
        </p:nvSpPr>
        <p:spPr>
          <a:xfrm>
            <a:off x="1243013" y="563563"/>
            <a:ext cx="4384675" cy="3287712"/>
          </a:xfrm>
          <a:ln/>
        </p:spPr>
      </p:sp>
      <p:sp>
        <p:nvSpPr>
          <p:cNvPr id="111621" name="Rectangle 5"/>
          <p:cNvSpPr>
            <a:spLocks noGrp="1" noChangeArrowheads="1"/>
          </p:cNvSpPr>
          <p:nvPr>
            <p:ph type="body" idx="1"/>
          </p:nvPr>
        </p:nvSpPr>
        <p:spPr>
          <a:xfrm>
            <a:off x="858838" y="3997325"/>
            <a:ext cx="5160962" cy="4306888"/>
          </a:xfrm>
        </p:spPr>
        <p:txBody>
          <a:bodyPr lIns="89724" tIns="44862" rIns="89724" bIns="44862"/>
          <a:lstStyle/>
          <a:p>
            <a:r>
              <a:rPr lang="en-US" dirty="0" err="1"/>
              <a:t>Rút</a:t>
            </a:r>
            <a:r>
              <a:rPr lang="en-US" baseline="0" dirty="0"/>
              <a:t> </a:t>
            </a:r>
            <a:r>
              <a:rPr lang="en-US" baseline="0" dirty="0" err="1"/>
              <a:t>gọn</a:t>
            </a:r>
            <a:r>
              <a:rPr lang="en-US" baseline="0" dirty="0"/>
              <a:t> </a:t>
            </a:r>
            <a:r>
              <a:rPr lang="en-US" baseline="0" dirty="0" err="1"/>
              <a:t>thành</a:t>
            </a:r>
            <a:r>
              <a:rPr lang="en-US" baseline="0" dirty="0"/>
              <a:t> 4 </a:t>
            </a:r>
            <a:r>
              <a:rPr lang="en-US" baseline="0" dirty="0" err="1"/>
              <a:t>tầng</a:t>
            </a:r>
            <a:r>
              <a:rPr lang="en-US" baseline="0" dirty="0"/>
              <a:t> </a:t>
            </a:r>
            <a:endParaRPr lang="en-US" dirty="0"/>
          </a:p>
        </p:txBody>
      </p:sp>
    </p:spTree>
    <p:extLst>
      <p:ext uri="{BB962C8B-B14F-4D97-AF65-F5344CB8AC3E}">
        <p14:creationId xmlns:p14="http://schemas.microsoft.com/office/powerpoint/2010/main" val="10955724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8E7273-4487-4D23-BD93-3955BE9E2B95}" type="slidenum">
              <a:rPr lang="en-US" smtClean="0"/>
              <a:pPr/>
              <a:t>18</a:t>
            </a:fld>
            <a:endParaRPr lang="en-US"/>
          </a:p>
        </p:txBody>
      </p:sp>
    </p:spTree>
    <p:extLst>
      <p:ext uri="{BB962C8B-B14F-4D97-AF65-F5344CB8AC3E}">
        <p14:creationId xmlns:p14="http://schemas.microsoft.com/office/powerpoint/2010/main" val="15321071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916F49-DC31-4DE5-A174-3CD283F00F9D}" type="slidenum">
              <a:rPr lang="en-US"/>
              <a:pPr/>
              <a:t>19</a:t>
            </a:fld>
            <a:endParaRPr lang="en-US"/>
          </a:p>
        </p:txBody>
      </p:sp>
      <p:sp>
        <p:nvSpPr>
          <p:cNvPr id="84994" name="Rectangle 2"/>
          <p:cNvSpPr>
            <a:spLocks noGrp="1" noRot="1" noChangeAspect="1" noChangeArrowheads="1" noTextEdit="1"/>
          </p:cNvSpPr>
          <p:nvPr>
            <p:ph type="sldImg"/>
          </p:nvPr>
        </p:nvSpPr>
        <p:spPr>
          <a:xfrm>
            <a:off x="841375" y="241300"/>
            <a:ext cx="5233988" cy="3925888"/>
          </a:xfrm>
          <a:ln/>
        </p:spPr>
      </p:sp>
      <p:sp>
        <p:nvSpPr>
          <p:cNvPr id="84995" name="Rectangle 3"/>
          <p:cNvSpPr>
            <a:spLocks noGrp="1" noChangeArrowheads="1"/>
          </p:cNvSpPr>
          <p:nvPr>
            <p:ph type="body" idx="1"/>
          </p:nvPr>
        </p:nvSpPr>
        <p:spPr>
          <a:xfrm>
            <a:off x="395288" y="4305300"/>
            <a:ext cx="5988050" cy="4184650"/>
          </a:xfrm>
        </p:spPr>
        <p:txBody>
          <a:bodyPr/>
          <a:lstStyle/>
          <a:p>
            <a:r>
              <a:rPr lang="en-GB" dirty="0" err="1"/>
              <a:t>Phần</a:t>
            </a:r>
            <a:r>
              <a:rPr lang="en-GB" dirty="0"/>
              <a:t> 2 </a:t>
            </a:r>
            <a:r>
              <a:rPr lang="en-GB" dirty="0" err="1"/>
              <a:t>Quá</a:t>
            </a:r>
            <a:r>
              <a:rPr lang="en-GB" baseline="0" dirty="0"/>
              <a:t> </a:t>
            </a:r>
            <a:r>
              <a:rPr lang="en-GB" baseline="0" dirty="0" err="1"/>
              <a:t>trình</a:t>
            </a:r>
            <a:r>
              <a:rPr lang="en-GB" baseline="0" dirty="0"/>
              <a:t> </a:t>
            </a:r>
            <a:r>
              <a:rPr lang="en-GB" baseline="0" dirty="0" err="1"/>
              <a:t>truyền</a:t>
            </a:r>
            <a:r>
              <a:rPr lang="en-GB" baseline="0" dirty="0"/>
              <a:t> </a:t>
            </a:r>
            <a:r>
              <a:rPr lang="en-GB" baseline="0" dirty="0" err="1"/>
              <a:t>tải</a:t>
            </a:r>
            <a:r>
              <a:rPr lang="en-GB" baseline="0" dirty="0"/>
              <a:t> </a:t>
            </a:r>
            <a:r>
              <a:rPr lang="en-GB" baseline="0" dirty="0" err="1"/>
              <a:t>gói</a:t>
            </a:r>
            <a:r>
              <a:rPr lang="en-GB" baseline="0" dirty="0"/>
              <a:t> tin </a:t>
            </a:r>
            <a:r>
              <a:rPr lang="en-GB" baseline="0" dirty="0" err="1"/>
              <a:t>giao</a:t>
            </a:r>
            <a:r>
              <a:rPr lang="en-GB" baseline="0" dirty="0"/>
              <a:t> </a:t>
            </a:r>
            <a:r>
              <a:rPr lang="en-GB" baseline="0" dirty="0" err="1"/>
              <a:t>nhân</a:t>
            </a:r>
            <a:r>
              <a:rPr lang="en-GB" baseline="0" dirty="0"/>
              <a:t> (</a:t>
            </a:r>
            <a:r>
              <a:rPr lang="en-GB" baseline="0" dirty="0" err="1"/>
              <a:t>tầng</a:t>
            </a:r>
            <a:r>
              <a:rPr lang="en-GB" baseline="0" dirty="0"/>
              <a:t> 3)</a:t>
            </a:r>
          </a:p>
          <a:p>
            <a:endParaRPr lang="en-GB" dirty="0"/>
          </a:p>
        </p:txBody>
      </p:sp>
    </p:spTree>
    <p:extLst>
      <p:ext uri="{BB962C8B-B14F-4D97-AF65-F5344CB8AC3E}">
        <p14:creationId xmlns:p14="http://schemas.microsoft.com/office/powerpoint/2010/main" val="10233476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0AC626AB-296E-48E0-AB20-BA8555EE7346}" type="slidenum">
              <a:rPr lang="en-US"/>
              <a:pPr/>
              <a:t>20</a:t>
            </a:fld>
            <a:endParaRPr lang="en-US"/>
          </a:p>
        </p:txBody>
      </p:sp>
      <p:sp>
        <p:nvSpPr>
          <p:cNvPr id="88066"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8067"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8068" name="Rectangle 4"/>
          <p:cNvSpPr>
            <a:spLocks noGrp="1" noRot="1" noChangeAspect="1" noChangeArrowheads="1" noTextEdit="1"/>
          </p:cNvSpPr>
          <p:nvPr>
            <p:ph type="sldImg"/>
          </p:nvPr>
        </p:nvSpPr>
        <p:spPr>
          <a:xfrm>
            <a:off x="1243013" y="563563"/>
            <a:ext cx="4384675" cy="3287712"/>
          </a:xfrm>
          <a:ln/>
        </p:spPr>
      </p:sp>
      <p:sp>
        <p:nvSpPr>
          <p:cNvPr id="88069" name="Rectangle 5"/>
          <p:cNvSpPr>
            <a:spLocks noGrp="1" noChangeArrowheads="1"/>
          </p:cNvSpPr>
          <p:nvPr>
            <p:ph type="body" idx="1"/>
          </p:nvPr>
        </p:nvSpPr>
        <p:spPr>
          <a:xfrm>
            <a:off x="858838" y="3997325"/>
            <a:ext cx="5160962" cy="4306888"/>
          </a:xfrm>
        </p:spPr>
        <p:txBody>
          <a:bodyPr lIns="89724" tIns="44862" rIns="89724" bIns="44862"/>
          <a:lstStyle/>
          <a:p>
            <a:r>
              <a:rPr lang="en-US" dirty="0" err="1"/>
              <a:t>Tầng</a:t>
            </a:r>
            <a:r>
              <a:rPr lang="vi-VN" dirty="0"/>
              <a:t> 1 cung cấp các phương tiện vật lý và mã hóa của nó.</a:t>
            </a:r>
          </a:p>
          <a:p>
            <a:r>
              <a:rPr lang="vi-VN" dirty="0"/>
              <a:t>ví dụ:</a:t>
            </a:r>
          </a:p>
          <a:p>
            <a:r>
              <a:rPr lang="vi-VN" dirty="0"/>
              <a:t>ethernet</a:t>
            </a:r>
          </a:p>
          <a:p>
            <a:r>
              <a:rPr lang="vi-VN" dirty="0"/>
              <a:t>nối tiếp</a:t>
            </a:r>
          </a:p>
          <a:p>
            <a:r>
              <a:rPr lang="vi-VN" dirty="0"/>
              <a:t>lặp lại</a:t>
            </a:r>
          </a:p>
          <a:p>
            <a:r>
              <a:rPr lang="vi-VN" dirty="0"/>
              <a:t>Giao diện vật lý của NIC</a:t>
            </a:r>
            <a:endParaRPr lang="en-US" dirty="0"/>
          </a:p>
        </p:txBody>
      </p:sp>
    </p:spTree>
    <p:extLst>
      <p:ext uri="{BB962C8B-B14F-4D97-AF65-F5344CB8AC3E}">
        <p14:creationId xmlns:p14="http://schemas.microsoft.com/office/powerpoint/2010/main" val="42050449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82C64A01-3076-4ECE-91AB-EA2DA7B6B186}" type="slidenum">
              <a:rPr lang="en-US"/>
              <a:pPr/>
              <a:t>21</a:t>
            </a:fld>
            <a:endParaRPr lang="en-US"/>
          </a:p>
        </p:txBody>
      </p:sp>
      <p:sp>
        <p:nvSpPr>
          <p:cNvPr id="90114"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0115"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0116" name="Rectangle 4"/>
          <p:cNvSpPr>
            <a:spLocks noGrp="1" noRot="1" noChangeAspect="1" noChangeArrowheads="1" noTextEdit="1"/>
          </p:cNvSpPr>
          <p:nvPr>
            <p:ph type="sldImg"/>
          </p:nvPr>
        </p:nvSpPr>
        <p:spPr>
          <a:xfrm>
            <a:off x="1243013" y="563563"/>
            <a:ext cx="4384675" cy="3287712"/>
          </a:xfrm>
          <a:ln/>
        </p:spPr>
      </p:sp>
      <p:sp>
        <p:nvSpPr>
          <p:cNvPr id="90117"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3740845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DD0E3B2-6ED3-4319-A2C5-69390DA71012}" type="slidenum">
              <a:rPr lang="en-US"/>
              <a:pPr/>
              <a:t>22</a:t>
            </a:fld>
            <a:endParaRPr lang="en-US"/>
          </a:p>
        </p:txBody>
      </p:sp>
      <p:sp>
        <p:nvSpPr>
          <p:cNvPr id="92162"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163"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164" name="Rectangle 4"/>
          <p:cNvSpPr>
            <a:spLocks noGrp="1" noRot="1" noChangeAspect="1" noChangeArrowheads="1" noTextEdit="1"/>
          </p:cNvSpPr>
          <p:nvPr>
            <p:ph type="sldImg"/>
          </p:nvPr>
        </p:nvSpPr>
        <p:spPr>
          <a:xfrm>
            <a:off x="1243013" y="563563"/>
            <a:ext cx="4384675" cy="3287712"/>
          </a:xfrm>
          <a:ln/>
        </p:spPr>
      </p:sp>
      <p:sp>
        <p:nvSpPr>
          <p:cNvPr id="92165"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12695426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288EBF67-9CD9-41E5-8844-7025BED33B3A}" type="slidenum">
              <a:rPr lang="en-US"/>
              <a:pPr/>
              <a:t>23</a:t>
            </a:fld>
            <a:endParaRPr lang="en-US"/>
          </a:p>
        </p:txBody>
      </p:sp>
      <p:sp>
        <p:nvSpPr>
          <p:cNvPr id="94210"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4211"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4212" name="Rectangle 4"/>
          <p:cNvSpPr>
            <a:spLocks noGrp="1" noRot="1" noChangeAspect="1" noChangeArrowheads="1" noTextEdit="1"/>
          </p:cNvSpPr>
          <p:nvPr>
            <p:ph type="sldImg"/>
          </p:nvPr>
        </p:nvSpPr>
        <p:spPr>
          <a:xfrm>
            <a:off x="1243013" y="563563"/>
            <a:ext cx="4384675" cy="3287712"/>
          </a:xfrm>
          <a:ln/>
        </p:spPr>
      </p:sp>
      <p:sp>
        <p:nvSpPr>
          <p:cNvPr id="94213" name="Rectangle 5"/>
          <p:cNvSpPr>
            <a:spLocks noGrp="1" noChangeArrowheads="1"/>
          </p:cNvSpPr>
          <p:nvPr>
            <p:ph type="body" idx="1"/>
          </p:nvPr>
        </p:nvSpPr>
        <p:spPr>
          <a:xfrm>
            <a:off x="858838" y="3997325"/>
            <a:ext cx="5160962" cy="4306888"/>
          </a:xfrm>
        </p:spPr>
        <p:txBody>
          <a:bodyPr lIns="89724" tIns="44862" rIns="89724" bIns="44862"/>
          <a:lstStyle/>
          <a:p>
            <a:r>
              <a:rPr lang="en-US" dirty="0"/>
              <a:t>Data</a:t>
            </a:r>
            <a:r>
              <a:rPr lang="en-US" baseline="0" dirty="0"/>
              <a:t> packet </a:t>
            </a:r>
            <a:r>
              <a:rPr lang="en-US" baseline="0" dirty="0" err="1"/>
              <a:t>giao</a:t>
            </a:r>
            <a:r>
              <a:rPr lang="en-US" baseline="0" dirty="0"/>
              <a:t> </a:t>
            </a:r>
            <a:r>
              <a:rPr lang="en-US" baseline="0" dirty="0" err="1"/>
              <a:t>nhận</a:t>
            </a:r>
            <a:r>
              <a:rPr lang="en-US" baseline="0" dirty="0"/>
              <a:t> </a:t>
            </a:r>
            <a:r>
              <a:rPr lang="en-US" baseline="0" dirty="0" err="1"/>
              <a:t>như</a:t>
            </a:r>
            <a:r>
              <a:rPr lang="en-US" baseline="0" dirty="0"/>
              <a:t> </a:t>
            </a:r>
            <a:r>
              <a:rPr lang="en-US" baseline="0" dirty="0" err="1"/>
              <a:t>thế</a:t>
            </a:r>
            <a:r>
              <a:rPr lang="en-US" baseline="0" dirty="0"/>
              <a:t> </a:t>
            </a:r>
            <a:r>
              <a:rPr lang="en-US" baseline="0" dirty="0" err="1"/>
              <a:t>nào</a:t>
            </a:r>
            <a:r>
              <a:rPr lang="en-US" baseline="0" dirty="0"/>
              <a:t>, </a:t>
            </a:r>
            <a:r>
              <a:rPr lang="en-US" baseline="0" dirty="0" err="1"/>
              <a:t>cung</a:t>
            </a:r>
            <a:r>
              <a:rPr lang="en-US" baseline="0" dirty="0"/>
              <a:t> </a:t>
            </a:r>
            <a:r>
              <a:rPr lang="en-US" baseline="0" dirty="0" err="1"/>
              <a:t>cấp</a:t>
            </a:r>
            <a:r>
              <a:rPr lang="en-US" baseline="0" dirty="0"/>
              <a:t> </a:t>
            </a:r>
            <a:r>
              <a:rPr lang="en-US" baseline="0" dirty="0" err="1"/>
              <a:t>kết</a:t>
            </a:r>
            <a:r>
              <a:rPr lang="en-US" baseline="0" dirty="0"/>
              <a:t> </a:t>
            </a:r>
            <a:r>
              <a:rPr lang="en-US" baseline="0" dirty="0" err="1"/>
              <a:t>nối</a:t>
            </a:r>
            <a:r>
              <a:rPr lang="en-US" baseline="0" dirty="0"/>
              <a:t> </a:t>
            </a:r>
            <a:r>
              <a:rPr lang="en-US" baseline="0" dirty="0" err="1"/>
              <a:t>chọn</a:t>
            </a:r>
            <a:r>
              <a:rPr lang="en-US" baseline="0" dirty="0"/>
              <a:t> </a:t>
            </a:r>
            <a:r>
              <a:rPr lang="en-US" baseline="0" dirty="0" err="1"/>
              <a:t>đường</a:t>
            </a:r>
            <a:r>
              <a:rPr lang="en-US" baseline="0" dirty="0"/>
              <a:t> </a:t>
            </a:r>
            <a:r>
              <a:rPr lang="en-US" baseline="0" dirty="0" err="1"/>
              <a:t>đi</a:t>
            </a:r>
            <a:r>
              <a:rPr lang="en-US" baseline="0" dirty="0"/>
              <a:t>, </a:t>
            </a:r>
            <a:r>
              <a:rPr lang="en-US" baseline="0" dirty="0" err="1"/>
              <a:t>địa</a:t>
            </a:r>
            <a:r>
              <a:rPr lang="en-US" baseline="0" dirty="0"/>
              <a:t> </a:t>
            </a:r>
            <a:r>
              <a:rPr lang="en-US" baseline="0" dirty="0" err="1"/>
              <a:t>chỉ</a:t>
            </a:r>
            <a:r>
              <a:rPr lang="en-US" baseline="0" dirty="0"/>
              <a:t> </a:t>
            </a:r>
            <a:r>
              <a:rPr lang="en-US" baseline="0" dirty="0" err="1"/>
              <a:t>máy</a:t>
            </a:r>
            <a:r>
              <a:rPr lang="en-US" baseline="0" dirty="0"/>
              <a:t> </a:t>
            </a:r>
            <a:r>
              <a:rPr lang="en-US" baseline="0" dirty="0" err="1"/>
              <a:t>nhận</a:t>
            </a:r>
            <a:endParaRPr lang="en-US" dirty="0"/>
          </a:p>
        </p:txBody>
      </p:sp>
    </p:spTree>
    <p:extLst>
      <p:ext uri="{BB962C8B-B14F-4D97-AF65-F5344CB8AC3E}">
        <p14:creationId xmlns:p14="http://schemas.microsoft.com/office/powerpoint/2010/main" val="37858323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9BFB99FE-A190-4E5C-86C2-35C36E54A744}" type="slidenum">
              <a:rPr lang="en-US"/>
              <a:pPr/>
              <a:t>24</a:t>
            </a:fld>
            <a:endParaRPr lang="en-US"/>
          </a:p>
        </p:txBody>
      </p:sp>
      <p:sp>
        <p:nvSpPr>
          <p:cNvPr id="96258"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59"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60" name="Rectangle 4"/>
          <p:cNvSpPr>
            <a:spLocks noGrp="1" noRot="1" noChangeAspect="1" noChangeArrowheads="1" noTextEdit="1"/>
          </p:cNvSpPr>
          <p:nvPr>
            <p:ph type="sldImg"/>
          </p:nvPr>
        </p:nvSpPr>
        <p:spPr>
          <a:xfrm>
            <a:off x="1243013" y="563563"/>
            <a:ext cx="4384675" cy="3287712"/>
          </a:xfrm>
          <a:ln/>
        </p:spPr>
      </p:sp>
      <p:sp>
        <p:nvSpPr>
          <p:cNvPr id="96261" name="Rectangle 5"/>
          <p:cNvSpPr>
            <a:spLocks noGrp="1" noChangeArrowheads="1"/>
          </p:cNvSpPr>
          <p:nvPr>
            <p:ph type="body" idx="1"/>
          </p:nvPr>
        </p:nvSpPr>
        <p:spPr>
          <a:xfrm>
            <a:off x="858838" y="3997325"/>
            <a:ext cx="5160962" cy="4306888"/>
          </a:xfrm>
        </p:spPr>
        <p:txBody>
          <a:bodyPr lIns="89724" tIns="44862" rIns="89724" bIns="44862"/>
          <a:lstStyle/>
          <a:p>
            <a:r>
              <a:rPr lang="en-US" u="sng" dirty="0"/>
              <a:t>Lesson Aim</a:t>
            </a:r>
          </a:p>
          <a:p>
            <a:pPr lvl="1"/>
            <a:r>
              <a:rPr lang="en-US" u="sng" dirty="0"/>
              <a:t>&lt;Enter lesson aim here.&gt;</a:t>
            </a:r>
          </a:p>
        </p:txBody>
      </p:sp>
    </p:spTree>
    <p:extLst>
      <p:ext uri="{BB962C8B-B14F-4D97-AF65-F5344CB8AC3E}">
        <p14:creationId xmlns:p14="http://schemas.microsoft.com/office/powerpoint/2010/main" val="3930793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9D8FD3-C26B-4F09-96E3-15D78E7ADDD6}" type="slidenum">
              <a:rPr lang="en-US"/>
              <a:pPr/>
              <a:t>25</a:t>
            </a:fld>
            <a:endParaRPr lang="en-US"/>
          </a:p>
        </p:txBody>
      </p:sp>
      <p:sp>
        <p:nvSpPr>
          <p:cNvPr id="84994" name="Rectangle 2"/>
          <p:cNvSpPr>
            <a:spLocks noGrp="1" noRot="1" noChangeAspect="1" noChangeArrowheads="1" noTextEdit="1"/>
          </p:cNvSpPr>
          <p:nvPr>
            <p:ph type="sldImg"/>
          </p:nvPr>
        </p:nvSpPr>
        <p:spPr>
          <a:xfrm>
            <a:off x="841375" y="241300"/>
            <a:ext cx="5233988" cy="3925888"/>
          </a:xfrm>
          <a:ln/>
        </p:spPr>
      </p:sp>
      <p:sp>
        <p:nvSpPr>
          <p:cNvPr id="84995" name="Rectangle 3"/>
          <p:cNvSpPr>
            <a:spLocks noGrp="1" noChangeArrowheads="1"/>
          </p:cNvSpPr>
          <p:nvPr>
            <p:ph type="body" idx="1"/>
          </p:nvPr>
        </p:nvSpPr>
        <p:spPr>
          <a:xfrm>
            <a:off x="395288" y="4305300"/>
            <a:ext cx="5988050" cy="4184650"/>
          </a:xfrm>
        </p:spPr>
        <p:txBody>
          <a:bodyPr/>
          <a:lstStyle/>
          <a:p>
            <a:r>
              <a:rPr lang="en-GB" dirty="0" err="1"/>
              <a:t>Tiềm</a:t>
            </a:r>
            <a:r>
              <a:rPr lang="en-GB" baseline="0" dirty="0"/>
              <a:t> </a:t>
            </a:r>
            <a:r>
              <a:rPr lang="en-GB" baseline="0" dirty="0" err="1"/>
              <a:t>hiểu</a:t>
            </a:r>
            <a:r>
              <a:rPr lang="en-GB" baseline="0" dirty="0"/>
              <a:t> </a:t>
            </a:r>
            <a:r>
              <a:rPr lang="en-GB" baseline="0" dirty="0" err="1"/>
              <a:t>về</a:t>
            </a:r>
            <a:r>
              <a:rPr lang="en-GB" baseline="0" dirty="0"/>
              <a:t> </a:t>
            </a:r>
            <a:r>
              <a:rPr lang="en-GB" baseline="0" dirty="0" err="1"/>
              <a:t>giao</a:t>
            </a:r>
            <a:r>
              <a:rPr lang="en-GB" baseline="0" dirty="0"/>
              <a:t> </a:t>
            </a:r>
            <a:r>
              <a:rPr lang="en-GB" baseline="0" dirty="0" err="1"/>
              <a:t>thức</a:t>
            </a:r>
            <a:r>
              <a:rPr lang="en-GB" baseline="0" dirty="0"/>
              <a:t> </a:t>
            </a:r>
            <a:r>
              <a:rPr lang="en-GB" baseline="0" dirty="0" err="1"/>
              <a:t>tcp</a:t>
            </a:r>
            <a:r>
              <a:rPr lang="en-GB" baseline="0" dirty="0"/>
              <a:t>/</a:t>
            </a:r>
            <a:r>
              <a:rPr lang="en-GB" baseline="0" dirty="0" err="1"/>
              <a:t>ip</a:t>
            </a:r>
            <a:r>
              <a:rPr lang="en-GB" baseline="0" dirty="0"/>
              <a:t> internet layer</a:t>
            </a:r>
            <a:endParaRPr lang="en-GB" dirty="0"/>
          </a:p>
        </p:txBody>
      </p:sp>
    </p:spTree>
    <p:extLst>
      <p:ext uri="{BB962C8B-B14F-4D97-AF65-F5344CB8AC3E}">
        <p14:creationId xmlns:p14="http://schemas.microsoft.com/office/powerpoint/2010/main" val="38430586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Đặc điểm</a:t>
            </a:r>
            <a:r>
              <a:rPr lang="en-US" dirty="0"/>
              <a:t> </a:t>
            </a:r>
            <a:r>
              <a:rPr lang="en-US" dirty="0" err="1"/>
              <a:t>giao</a:t>
            </a:r>
            <a:r>
              <a:rPr lang="en-US" baseline="0" dirty="0"/>
              <a:t> </a:t>
            </a:r>
            <a:r>
              <a:rPr lang="en-US" baseline="0" dirty="0" err="1"/>
              <a:t>thưc</a:t>
            </a:r>
            <a:r>
              <a:rPr lang="en-US" baseline="0" dirty="0"/>
              <a:t> </a:t>
            </a:r>
            <a:r>
              <a:rPr lang="en-US" baseline="0" dirty="0" err="1"/>
              <a:t>nầy</a:t>
            </a:r>
            <a:endParaRPr lang="vi-VN" dirty="0"/>
          </a:p>
          <a:p>
            <a:r>
              <a:rPr lang="vi-VN" dirty="0"/>
              <a:t>Hoạt động ở lớp mạng của OSI</a:t>
            </a:r>
          </a:p>
          <a:p>
            <a:r>
              <a:rPr lang="vi-VN" dirty="0"/>
              <a:t>giao thức kết nối</a:t>
            </a:r>
          </a:p>
          <a:p>
            <a:r>
              <a:rPr lang="vi-VN" dirty="0"/>
              <a:t>Gói xử lý độc lập</a:t>
            </a:r>
          </a:p>
          <a:p>
            <a:r>
              <a:rPr lang="vi-VN" dirty="0"/>
              <a:t>phân cấp giải quyết</a:t>
            </a:r>
          </a:p>
          <a:p>
            <a:r>
              <a:rPr lang="vi-VN" dirty="0"/>
              <a:t>Giao nỗ lực tốt nhất</a:t>
            </a:r>
          </a:p>
          <a:p>
            <a:r>
              <a:rPr lang="vi-VN" dirty="0"/>
              <a:t>Không có tính năng khôi phục dữ liệu</a:t>
            </a:r>
            <a:endParaRPr lang="en-US" dirty="0"/>
          </a:p>
        </p:txBody>
      </p:sp>
      <p:sp>
        <p:nvSpPr>
          <p:cNvPr id="4" name="Slide Number Placeholder 3"/>
          <p:cNvSpPr>
            <a:spLocks noGrp="1"/>
          </p:cNvSpPr>
          <p:nvPr>
            <p:ph type="sldNum" sz="quarter" idx="10"/>
          </p:nvPr>
        </p:nvSpPr>
        <p:spPr/>
        <p:txBody>
          <a:bodyPr/>
          <a:lstStyle/>
          <a:p>
            <a:fld id="{6C8E7273-4487-4D23-BD93-3955BE9E2B95}" type="slidenum">
              <a:rPr lang="en-US" smtClean="0"/>
              <a:pPr/>
              <a:t>26</a:t>
            </a:fld>
            <a:endParaRPr lang="en-US"/>
          </a:p>
        </p:txBody>
      </p:sp>
    </p:spTree>
    <p:extLst>
      <p:ext uri="{BB962C8B-B14F-4D97-AF65-F5344CB8AC3E}">
        <p14:creationId xmlns:p14="http://schemas.microsoft.com/office/powerpoint/2010/main" val="34136100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FC1AD521-281A-4ACE-B28E-7A19400001A1}" type="slidenum">
              <a:rPr lang="en-US"/>
              <a:pPr/>
              <a:t>27</a:t>
            </a:fld>
            <a:endParaRPr lang="en-US"/>
          </a:p>
        </p:txBody>
      </p:sp>
      <p:sp>
        <p:nvSpPr>
          <p:cNvPr id="88066"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8067"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8068" name="Rectangle 4"/>
          <p:cNvSpPr>
            <a:spLocks noGrp="1" noRot="1" noChangeAspect="1" noChangeArrowheads="1" noTextEdit="1"/>
          </p:cNvSpPr>
          <p:nvPr>
            <p:ph type="sldImg"/>
          </p:nvPr>
        </p:nvSpPr>
        <p:spPr>
          <a:xfrm>
            <a:off x="1243013" y="563563"/>
            <a:ext cx="4384675" cy="3287712"/>
          </a:xfrm>
          <a:ln/>
        </p:spPr>
      </p:sp>
      <p:sp>
        <p:nvSpPr>
          <p:cNvPr id="88069" name="Rectangle 5"/>
          <p:cNvSpPr>
            <a:spLocks noGrp="1" noChangeArrowheads="1"/>
          </p:cNvSpPr>
          <p:nvPr>
            <p:ph type="body" idx="1"/>
          </p:nvPr>
        </p:nvSpPr>
        <p:spPr>
          <a:xfrm>
            <a:off x="858838" y="3997325"/>
            <a:ext cx="5160962" cy="4306888"/>
          </a:xfrm>
        </p:spPr>
        <p:txBody>
          <a:bodyPr lIns="89724" tIns="44862" rIns="89724" bIns="44862"/>
          <a:lstStyle/>
          <a:p>
            <a:r>
              <a:rPr lang="en-US" dirty="0" err="1"/>
              <a:t>Tại</a:t>
            </a:r>
            <a:r>
              <a:rPr lang="en-US" dirty="0"/>
              <a:t> </a:t>
            </a:r>
            <a:r>
              <a:rPr lang="en-US" dirty="0" err="1"/>
              <a:t>sao</a:t>
            </a:r>
            <a:r>
              <a:rPr lang="en-US" dirty="0"/>
              <a:t> </a:t>
            </a:r>
            <a:r>
              <a:rPr lang="en-US" dirty="0" err="1"/>
              <a:t>dùng</a:t>
            </a:r>
            <a:r>
              <a:rPr lang="en-US" baseline="0" dirty="0"/>
              <a:t> IP addresses ?</a:t>
            </a:r>
            <a:endParaRPr lang="en-US" dirty="0"/>
          </a:p>
          <a:p>
            <a:r>
              <a:rPr lang="vi-VN" dirty="0"/>
              <a:t>Họ duy nhất xác định mỗi thiết bị trên mạng IP.</a:t>
            </a:r>
          </a:p>
          <a:p>
            <a:r>
              <a:rPr lang="vi-VN" dirty="0"/>
              <a:t>Tất cả các host (máy tính, thiết bị mạng, thiết bị ngoại vi) phải có một địa chỉ duy nhất.</a:t>
            </a:r>
          </a:p>
          <a:p>
            <a:r>
              <a:rPr lang="vi-VN" dirty="0"/>
              <a:t>Tổ ID:</a:t>
            </a:r>
          </a:p>
          <a:p>
            <a:r>
              <a:rPr lang="vi-VN" dirty="0"/>
              <a:t>Xác định các máy chủ cá nhân</a:t>
            </a:r>
          </a:p>
          <a:p>
            <a:r>
              <a:rPr lang="vi-VN" dirty="0"/>
              <a:t>Được chỉ định bởi các tổ chức với các thiết bị cá nhân</a:t>
            </a:r>
            <a:endParaRPr lang="en-US" dirty="0"/>
          </a:p>
        </p:txBody>
      </p:sp>
    </p:spTree>
    <p:extLst>
      <p:ext uri="{BB962C8B-B14F-4D97-AF65-F5344CB8AC3E}">
        <p14:creationId xmlns:p14="http://schemas.microsoft.com/office/powerpoint/2010/main" val="29503900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21B5B8E-21ED-48C4-98F9-F1F1CC620D58}" type="slidenum">
              <a:rPr lang="en-US"/>
              <a:pPr/>
              <a:t>28</a:t>
            </a:fld>
            <a:endParaRPr lang="en-US"/>
          </a:p>
        </p:txBody>
      </p:sp>
      <p:sp>
        <p:nvSpPr>
          <p:cNvPr id="139266"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9267"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9268" name="Rectangle 4"/>
          <p:cNvSpPr>
            <a:spLocks noGrp="1" noRot="1" noChangeAspect="1" noChangeArrowheads="1" noTextEdit="1"/>
          </p:cNvSpPr>
          <p:nvPr>
            <p:ph type="sldImg"/>
          </p:nvPr>
        </p:nvSpPr>
        <p:spPr>
          <a:xfrm>
            <a:off x="1243013" y="563563"/>
            <a:ext cx="4384675" cy="3287712"/>
          </a:xfrm>
          <a:ln/>
        </p:spPr>
      </p:sp>
      <p:sp>
        <p:nvSpPr>
          <p:cNvPr id="139269" name="Rectangle 5"/>
          <p:cNvSpPr>
            <a:spLocks noGrp="1" noChangeArrowheads="1"/>
          </p:cNvSpPr>
          <p:nvPr>
            <p:ph type="body" idx="1"/>
          </p:nvPr>
        </p:nvSpPr>
        <p:spPr>
          <a:xfrm>
            <a:off x="858838" y="3997325"/>
            <a:ext cx="5160962" cy="4306888"/>
          </a:xfrm>
        </p:spPr>
        <p:txBody>
          <a:bodyPr lIns="89724" tIns="44862" rIns="89724" bIns="44862"/>
          <a:lstStyle/>
          <a:p>
            <a:endParaRPr lang="vi-VN" sz="1200" b="0" i="0" kern="1200" dirty="0">
              <a:solidFill>
                <a:schemeClr val="tx1"/>
              </a:solidFill>
              <a:effectLst/>
              <a:latin typeface="Times" pitchFamily="18" charset="0"/>
              <a:ea typeface="+mn-ea"/>
              <a:cs typeface="+mn-cs"/>
            </a:endParaRPr>
          </a:p>
        </p:txBody>
      </p:sp>
    </p:spTree>
    <p:extLst>
      <p:ext uri="{BB962C8B-B14F-4D97-AF65-F5344CB8AC3E}">
        <p14:creationId xmlns:p14="http://schemas.microsoft.com/office/powerpoint/2010/main" val="42948534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BB43DAC5-4EB8-4883-8B4D-5B8676D43066}" type="slidenum">
              <a:rPr lang="en-US"/>
              <a:pPr/>
              <a:t>29</a:t>
            </a:fld>
            <a:endParaRPr lang="en-US"/>
          </a:p>
        </p:txBody>
      </p:sp>
      <p:sp>
        <p:nvSpPr>
          <p:cNvPr id="134146"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4147"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4148" name="Rectangle 4"/>
          <p:cNvSpPr>
            <a:spLocks noGrp="1" noRot="1" noChangeAspect="1" noChangeArrowheads="1" noTextEdit="1"/>
          </p:cNvSpPr>
          <p:nvPr>
            <p:ph type="sldImg"/>
          </p:nvPr>
        </p:nvSpPr>
        <p:spPr>
          <a:xfrm>
            <a:off x="1243013" y="563563"/>
            <a:ext cx="4384675" cy="3287712"/>
          </a:xfrm>
          <a:ln/>
        </p:spPr>
      </p:sp>
      <p:sp>
        <p:nvSpPr>
          <p:cNvPr id="134149"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11640135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D0C0E47B-74A2-4A93-8B29-390251DACE8F}" type="slidenum">
              <a:rPr lang="en-US"/>
              <a:pPr/>
              <a:t>30</a:t>
            </a:fld>
            <a:endParaRPr lang="en-US"/>
          </a:p>
        </p:txBody>
      </p:sp>
      <p:sp>
        <p:nvSpPr>
          <p:cNvPr id="96258"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59"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60" name="Rectangle 4"/>
          <p:cNvSpPr>
            <a:spLocks noGrp="1" noRot="1" noChangeAspect="1" noChangeArrowheads="1" noTextEdit="1"/>
          </p:cNvSpPr>
          <p:nvPr>
            <p:ph type="sldImg"/>
          </p:nvPr>
        </p:nvSpPr>
        <p:spPr>
          <a:xfrm>
            <a:off x="1243013" y="563563"/>
            <a:ext cx="4384675" cy="3287712"/>
          </a:xfrm>
          <a:ln/>
        </p:spPr>
      </p:sp>
      <p:sp>
        <p:nvSpPr>
          <p:cNvPr id="96261"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23469176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Dung </a:t>
            </a:r>
            <a:r>
              <a:rPr lang="en-US" dirty="0" err="1"/>
              <a:t>kiem</a:t>
            </a:r>
            <a:r>
              <a:rPr lang="en-US" dirty="0"/>
              <a:t> </a:t>
            </a:r>
            <a:r>
              <a:rPr lang="en-US" dirty="0" err="1"/>
              <a:t>tra</a:t>
            </a:r>
            <a:r>
              <a:rPr lang="en-US" dirty="0"/>
              <a:t> loopback </a:t>
            </a:r>
            <a:r>
              <a:rPr lang="en-US" dirty="0" err="1"/>
              <a:t>và</a:t>
            </a:r>
            <a:r>
              <a:rPr lang="en-US" baseline="0" dirty="0"/>
              <a:t> </a:t>
            </a:r>
            <a:r>
              <a:rPr lang="en-US" baseline="0" dirty="0" err="1"/>
              <a:t>không</a:t>
            </a:r>
            <a:r>
              <a:rPr lang="en-US" baseline="0" dirty="0"/>
              <a:t> </a:t>
            </a:r>
            <a:r>
              <a:rPr lang="en-US" baseline="0" dirty="0" err="1"/>
              <a:t>gán</a:t>
            </a:r>
            <a:endParaRPr lang="en-US" dirty="0"/>
          </a:p>
        </p:txBody>
      </p:sp>
      <p:sp>
        <p:nvSpPr>
          <p:cNvPr id="4" name="Slide Number Placeholder 3"/>
          <p:cNvSpPr>
            <a:spLocks noGrp="1"/>
          </p:cNvSpPr>
          <p:nvPr>
            <p:ph type="sldNum" sz="quarter" idx="10"/>
          </p:nvPr>
        </p:nvSpPr>
        <p:spPr/>
        <p:txBody>
          <a:bodyPr/>
          <a:lstStyle/>
          <a:p>
            <a:fld id="{6C8E7273-4487-4D23-BD93-3955BE9E2B95}" type="slidenum">
              <a:rPr lang="en-US" smtClean="0"/>
              <a:pPr/>
              <a:t>31</a:t>
            </a:fld>
            <a:endParaRPr lang="en-US"/>
          </a:p>
        </p:txBody>
      </p:sp>
    </p:spTree>
    <p:extLst>
      <p:ext uri="{BB962C8B-B14F-4D97-AF65-F5344CB8AC3E}">
        <p14:creationId xmlns:p14="http://schemas.microsoft.com/office/powerpoint/2010/main" val="21667606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5BD30DD9-1AB7-4889-84EE-C4891FBC04C6}" type="slidenum">
              <a:rPr lang="en-US"/>
              <a:pPr/>
              <a:t>32</a:t>
            </a:fld>
            <a:endParaRPr lang="en-US"/>
          </a:p>
        </p:txBody>
      </p:sp>
      <p:sp>
        <p:nvSpPr>
          <p:cNvPr id="101378"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1379"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1380" name="Rectangle 4"/>
          <p:cNvSpPr>
            <a:spLocks noGrp="1" noRot="1" noChangeAspect="1" noChangeArrowheads="1" noTextEdit="1"/>
          </p:cNvSpPr>
          <p:nvPr>
            <p:ph type="sldImg"/>
          </p:nvPr>
        </p:nvSpPr>
        <p:spPr>
          <a:xfrm>
            <a:off x="1243013" y="563563"/>
            <a:ext cx="4384675" cy="3287712"/>
          </a:xfrm>
          <a:ln/>
        </p:spPr>
      </p:sp>
      <p:sp>
        <p:nvSpPr>
          <p:cNvPr id="101381"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22349289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CB07D8E4-5677-4FEB-ADC2-7F14EB9E408E}" type="slidenum">
              <a:rPr lang="en-US"/>
              <a:pPr/>
              <a:t>35</a:t>
            </a:fld>
            <a:endParaRPr lang="en-US"/>
          </a:p>
        </p:txBody>
      </p:sp>
      <p:sp>
        <p:nvSpPr>
          <p:cNvPr id="105474"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75"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76" name="Rectangle 4"/>
          <p:cNvSpPr>
            <a:spLocks noGrp="1" noRot="1" noChangeAspect="1" noChangeArrowheads="1" noTextEdit="1"/>
          </p:cNvSpPr>
          <p:nvPr>
            <p:ph type="sldImg"/>
          </p:nvPr>
        </p:nvSpPr>
        <p:spPr>
          <a:xfrm>
            <a:off x="1243013" y="563563"/>
            <a:ext cx="4384675" cy="3287712"/>
          </a:xfrm>
          <a:ln/>
        </p:spPr>
      </p:sp>
      <p:sp>
        <p:nvSpPr>
          <p:cNvPr id="105477"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32177223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8004B56F-5577-4600-BCAF-C8AB4334E130}" type="slidenum">
              <a:rPr lang="en-US"/>
              <a:pPr/>
              <a:t>37</a:t>
            </a:fld>
            <a:endParaRPr lang="en-US"/>
          </a:p>
        </p:txBody>
      </p:sp>
      <p:sp>
        <p:nvSpPr>
          <p:cNvPr id="124930"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4931"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4932" name="Rectangle 4"/>
          <p:cNvSpPr>
            <a:spLocks noGrp="1" noRot="1" noChangeAspect="1" noChangeArrowheads="1" noTextEdit="1"/>
          </p:cNvSpPr>
          <p:nvPr>
            <p:ph type="sldImg"/>
          </p:nvPr>
        </p:nvSpPr>
        <p:spPr>
          <a:xfrm>
            <a:off x="1243013" y="563563"/>
            <a:ext cx="4384675" cy="3287712"/>
          </a:xfrm>
          <a:ln/>
        </p:spPr>
      </p:sp>
      <p:sp>
        <p:nvSpPr>
          <p:cNvPr id="124933"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1268735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BB1BFD37-5BBB-42D3-B53A-DFE09029191F}" type="slidenum">
              <a:rPr lang="en-US"/>
              <a:pPr/>
              <a:t>39</a:t>
            </a:fld>
            <a:endParaRPr lang="en-US"/>
          </a:p>
        </p:txBody>
      </p:sp>
      <p:sp>
        <p:nvSpPr>
          <p:cNvPr id="126978"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979"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6980" name="Rectangle 4"/>
          <p:cNvSpPr>
            <a:spLocks noGrp="1" noRot="1" noChangeAspect="1" noChangeArrowheads="1" noTextEdit="1"/>
          </p:cNvSpPr>
          <p:nvPr>
            <p:ph type="sldImg"/>
          </p:nvPr>
        </p:nvSpPr>
        <p:spPr>
          <a:xfrm>
            <a:off x="1243013" y="563563"/>
            <a:ext cx="4384675" cy="3287712"/>
          </a:xfrm>
          <a:ln/>
        </p:spPr>
      </p:sp>
      <p:sp>
        <p:nvSpPr>
          <p:cNvPr id="126981"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23946715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998F20-B812-408A-BF1E-2A730EDF9164}" type="slidenum">
              <a:rPr lang="en-US"/>
              <a:pPr/>
              <a:t>40</a:t>
            </a:fld>
            <a:endParaRPr lang="en-US"/>
          </a:p>
        </p:txBody>
      </p:sp>
      <p:sp>
        <p:nvSpPr>
          <p:cNvPr id="92162" name="Rectangle 2"/>
          <p:cNvSpPr>
            <a:spLocks noGrp="1" noRot="1" noChangeAspect="1" noChangeArrowheads="1" noTextEdit="1"/>
          </p:cNvSpPr>
          <p:nvPr>
            <p:ph type="sldImg"/>
          </p:nvPr>
        </p:nvSpPr>
        <p:spPr>
          <a:xfrm>
            <a:off x="1090613" y="300038"/>
            <a:ext cx="4702175" cy="3527425"/>
          </a:xfrm>
          <a:ln/>
        </p:spPr>
      </p:sp>
      <p:sp>
        <p:nvSpPr>
          <p:cNvPr id="92163" name="Rectangle 3"/>
          <p:cNvSpPr>
            <a:spLocks noGrp="1" noChangeArrowheads="1"/>
          </p:cNvSpPr>
          <p:nvPr>
            <p:ph type="body" idx="1"/>
          </p:nvPr>
        </p:nvSpPr>
        <p:spPr>
          <a:xfrm>
            <a:off x="523875" y="4052888"/>
            <a:ext cx="5829300" cy="4252912"/>
          </a:xfrm>
        </p:spPr>
        <p:txBody>
          <a:bodyPr lIns="86488" tIns="43244" rIns="86488" bIns="43244"/>
          <a:lstStyle/>
          <a:p>
            <a:r>
              <a:rPr lang="en-US" b="1"/>
              <a:t>Purpose:</a:t>
            </a:r>
            <a:r>
              <a:rPr lang="en-US"/>
              <a:t> This figure discusses application-layer protocols. </a:t>
            </a:r>
          </a:p>
          <a:p>
            <a:r>
              <a:rPr lang="en-US" b="1"/>
              <a:t>Emphasize:</a:t>
            </a:r>
            <a:r>
              <a:rPr lang="en-US"/>
              <a:t> The common network applications today include file transfer, remote login, network management, and e-mail.</a:t>
            </a:r>
          </a:p>
          <a:p>
            <a:r>
              <a:rPr lang="en-US"/>
              <a:t>We focus on TCP/IP in this course for several reasons: </a:t>
            </a:r>
          </a:p>
          <a:p>
            <a:pPr lvl="1"/>
            <a:r>
              <a:rPr lang="en-US"/>
              <a:t>TCP/IP is a universally available protocol and you will use it at work. </a:t>
            </a:r>
          </a:p>
          <a:p>
            <a:pPr lvl="1"/>
            <a:r>
              <a:rPr lang="en-US"/>
              <a:t>TCP/IP is a useful reference for understanding other protocols, because it includes elements that are representative of other protocols. </a:t>
            </a:r>
          </a:p>
          <a:p>
            <a:pPr lvl="1"/>
            <a:r>
              <a:rPr lang="en-US"/>
              <a:t>TCP/IP is important because the router uses it as a configuration tool. The router uses Telnet for remote configuration, TFTP to transfer configuration files and operating system images, and SNMP for network management. 	</a:t>
            </a:r>
          </a:p>
          <a:p>
            <a:r>
              <a:rPr lang="en-US" b="1"/>
              <a:t>Transition:</a:t>
            </a:r>
            <a:r>
              <a:rPr lang="en-US"/>
              <a:t> The next section moves down the model to discuss the transport layer.	</a:t>
            </a:r>
          </a:p>
          <a:p>
            <a:endParaRPr lang="en-US"/>
          </a:p>
        </p:txBody>
      </p:sp>
    </p:spTree>
    <p:extLst>
      <p:ext uri="{BB962C8B-B14F-4D97-AF65-F5344CB8AC3E}">
        <p14:creationId xmlns:p14="http://schemas.microsoft.com/office/powerpoint/2010/main" val="19767822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92ED9F1E-CD33-4E4A-ACBE-E1F118A2DF50}" type="slidenum">
              <a:rPr lang="en-US"/>
              <a:pPr/>
              <a:t>41</a:t>
            </a:fld>
            <a:endParaRPr lang="en-US"/>
          </a:p>
        </p:txBody>
      </p:sp>
      <p:sp>
        <p:nvSpPr>
          <p:cNvPr id="129026"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27"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28" name="Rectangle 4"/>
          <p:cNvSpPr>
            <a:spLocks noGrp="1" noRot="1" noChangeAspect="1" noChangeArrowheads="1" noTextEdit="1"/>
          </p:cNvSpPr>
          <p:nvPr>
            <p:ph type="sldImg"/>
          </p:nvPr>
        </p:nvSpPr>
        <p:spPr>
          <a:xfrm>
            <a:off x="1243013" y="563563"/>
            <a:ext cx="4384675" cy="3287712"/>
          </a:xfrm>
          <a:ln/>
        </p:spPr>
      </p:sp>
      <p:sp>
        <p:nvSpPr>
          <p:cNvPr id="129029"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18957671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D4B97C17-242A-4EDE-B747-97BD67586AE2}" type="slidenum">
              <a:rPr lang="en-US"/>
              <a:pPr/>
              <a:t>42</a:t>
            </a:fld>
            <a:endParaRPr lang="en-US"/>
          </a:p>
        </p:txBody>
      </p:sp>
      <p:sp>
        <p:nvSpPr>
          <p:cNvPr id="169986"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9987"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9988" name="Rectangle 4"/>
          <p:cNvSpPr>
            <a:spLocks noGrp="1" noRot="1" noChangeAspect="1" noChangeArrowheads="1" noTextEdit="1"/>
          </p:cNvSpPr>
          <p:nvPr>
            <p:ph type="sldImg"/>
          </p:nvPr>
        </p:nvSpPr>
        <p:spPr>
          <a:xfrm>
            <a:off x="1243013" y="563563"/>
            <a:ext cx="4384675" cy="3287712"/>
          </a:xfrm>
          <a:ln/>
        </p:spPr>
      </p:sp>
      <p:sp>
        <p:nvSpPr>
          <p:cNvPr id="169989"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25619172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F4A115BB-AA3E-44AA-9EA9-620924AFE02A}" type="slidenum">
              <a:rPr lang="en-US"/>
              <a:pPr/>
              <a:t>43</a:t>
            </a:fld>
            <a:endParaRPr lang="en-US"/>
          </a:p>
        </p:txBody>
      </p:sp>
      <p:sp>
        <p:nvSpPr>
          <p:cNvPr id="153602"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603"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604" name="Rectangle 4"/>
          <p:cNvSpPr>
            <a:spLocks noGrp="1" noRot="1" noChangeAspect="1" noChangeArrowheads="1" noTextEdit="1"/>
          </p:cNvSpPr>
          <p:nvPr>
            <p:ph type="sldImg"/>
          </p:nvPr>
        </p:nvSpPr>
        <p:spPr>
          <a:xfrm>
            <a:off x="1243013" y="563563"/>
            <a:ext cx="4384675" cy="3287712"/>
          </a:xfrm>
          <a:ln/>
        </p:spPr>
      </p:sp>
      <p:sp>
        <p:nvSpPr>
          <p:cNvPr id="153605"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29308709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56ABE4ED-C7E9-4DBE-9C69-77959B115F27}" type="slidenum">
              <a:rPr lang="en-US"/>
              <a:pPr/>
              <a:t>44</a:t>
            </a:fld>
            <a:endParaRPr lang="en-US"/>
          </a:p>
        </p:txBody>
      </p:sp>
      <p:sp>
        <p:nvSpPr>
          <p:cNvPr id="155650"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5651"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5652" name="Rectangle 4"/>
          <p:cNvSpPr>
            <a:spLocks noGrp="1" noRot="1" noChangeAspect="1" noChangeArrowheads="1" noTextEdit="1"/>
          </p:cNvSpPr>
          <p:nvPr>
            <p:ph type="sldImg"/>
          </p:nvPr>
        </p:nvSpPr>
        <p:spPr>
          <a:xfrm>
            <a:off x="1243013" y="563563"/>
            <a:ext cx="4384675" cy="3287712"/>
          </a:xfrm>
          <a:ln/>
        </p:spPr>
      </p:sp>
      <p:sp>
        <p:nvSpPr>
          <p:cNvPr id="155653"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16734613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D713FF2F-2053-4395-87D2-A1355CA2FC88}" type="slidenum">
              <a:rPr lang="en-US"/>
              <a:pPr/>
              <a:t>45</a:t>
            </a:fld>
            <a:endParaRPr lang="en-US"/>
          </a:p>
        </p:txBody>
      </p:sp>
      <p:sp>
        <p:nvSpPr>
          <p:cNvPr id="157698"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7699"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7700" name="Rectangle 4"/>
          <p:cNvSpPr>
            <a:spLocks noGrp="1" noRot="1" noChangeAspect="1" noChangeArrowheads="1" noTextEdit="1"/>
          </p:cNvSpPr>
          <p:nvPr>
            <p:ph type="sldImg"/>
          </p:nvPr>
        </p:nvSpPr>
        <p:spPr>
          <a:xfrm>
            <a:off x="1243013" y="563563"/>
            <a:ext cx="4384675" cy="3287712"/>
          </a:xfrm>
          <a:ln/>
        </p:spPr>
      </p:sp>
      <p:sp>
        <p:nvSpPr>
          <p:cNvPr id="157701"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34130211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79D9B89D-7FF6-4A52-8ACA-D48080BF3AF9}" type="slidenum">
              <a:rPr lang="en-US"/>
              <a:pPr/>
              <a:t>46</a:t>
            </a:fld>
            <a:endParaRPr lang="en-US"/>
          </a:p>
        </p:txBody>
      </p:sp>
      <p:sp>
        <p:nvSpPr>
          <p:cNvPr id="159746"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9747"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9748" name="Rectangle 4"/>
          <p:cNvSpPr>
            <a:spLocks noGrp="1" noRot="1" noChangeAspect="1" noChangeArrowheads="1" noTextEdit="1"/>
          </p:cNvSpPr>
          <p:nvPr>
            <p:ph type="sldImg"/>
          </p:nvPr>
        </p:nvSpPr>
        <p:spPr>
          <a:xfrm>
            <a:off x="1243013" y="563563"/>
            <a:ext cx="4384675" cy="3287712"/>
          </a:xfrm>
          <a:ln/>
        </p:spPr>
      </p:sp>
      <p:sp>
        <p:nvSpPr>
          <p:cNvPr id="159749"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23206682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9FE5EC81-5B3F-45F2-8295-4DCB46920FAE}" type="slidenum">
              <a:rPr lang="en-US"/>
              <a:pPr/>
              <a:t>47</a:t>
            </a:fld>
            <a:endParaRPr lang="en-US"/>
          </a:p>
        </p:txBody>
      </p:sp>
      <p:sp>
        <p:nvSpPr>
          <p:cNvPr id="163842"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843"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844" name="Rectangle 4"/>
          <p:cNvSpPr>
            <a:spLocks noGrp="1" noRot="1" noChangeAspect="1" noChangeArrowheads="1" noTextEdit="1"/>
          </p:cNvSpPr>
          <p:nvPr>
            <p:ph type="sldImg"/>
          </p:nvPr>
        </p:nvSpPr>
        <p:spPr>
          <a:xfrm>
            <a:off x="1243013" y="563563"/>
            <a:ext cx="4384675" cy="3287712"/>
          </a:xfrm>
          <a:ln/>
        </p:spPr>
      </p:sp>
      <p:sp>
        <p:nvSpPr>
          <p:cNvPr id="163845"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14881090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76EF4BA0-D888-4B61-BE53-93E28AEE6206}" type="slidenum">
              <a:rPr lang="en-US"/>
              <a:pPr/>
              <a:t>48</a:t>
            </a:fld>
            <a:endParaRPr lang="en-US"/>
          </a:p>
        </p:txBody>
      </p:sp>
      <p:sp>
        <p:nvSpPr>
          <p:cNvPr id="165890"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5891"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5892" name="Rectangle 4"/>
          <p:cNvSpPr>
            <a:spLocks noGrp="1" noRot="1" noChangeAspect="1" noChangeArrowheads="1" noTextEdit="1"/>
          </p:cNvSpPr>
          <p:nvPr>
            <p:ph type="sldImg"/>
          </p:nvPr>
        </p:nvSpPr>
        <p:spPr>
          <a:xfrm>
            <a:off x="1243013" y="563563"/>
            <a:ext cx="4384675" cy="3287712"/>
          </a:xfrm>
          <a:ln/>
        </p:spPr>
      </p:sp>
      <p:sp>
        <p:nvSpPr>
          <p:cNvPr id="165893"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24487176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B9010357-855D-431A-9C87-8879A77F8594}" type="slidenum">
              <a:rPr lang="en-US"/>
              <a:pPr/>
              <a:t>49</a:t>
            </a:fld>
            <a:endParaRPr lang="en-US"/>
          </a:p>
        </p:txBody>
      </p:sp>
      <p:sp>
        <p:nvSpPr>
          <p:cNvPr id="167938" name="Rectangle 2"/>
          <p:cNvSpPr>
            <a:spLocks noChangeArrowheads="1"/>
          </p:cNvSpPr>
          <p:nvPr/>
        </p:nvSpPr>
        <p:spPr bwMode="auto">
          <a:xfrm>
            <a:off x="3884613" y="-1588"/>
            <a:ext cx="2976562"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39" name="Rectangle 3"/>
          <p:cNvSpPr>
            <a:spLocks noChangeArrowheads="1"/>
          </p:cNvSpPr>
          <p:nvPr/>
        </p:nvSpPr>
        <p:spPr bwMode="auto">
          <a:xfrm>
            <a:off x="-3175" y="-1588"/>
            <a:ext cx="2973388" cy="460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7940" name="Rectangle 4"/>
          <p:cNvSpPr>
            <a:spLocks noGrp="1" noRot="1" noChangeAspect="1" noChangeArrowheads="1" noTextEdit="1"/>
          </p:cNvSpPr>
          <p:nvPr>
            <p:ph type="sldImg"/>
          </p:nvPr>
        </p:nvSpPr>
        <p:spPr>
          <a:xfrm>
            <a:off x="1243013" y="563563"/>
            <a:ext cx="4384675" cy="3287712"/>
          </a:xfrm>
          <a:ln/>
        </p:spPr>
      </p:sp>
      <p:sp>
        <p:nvSpPr>
          <p:cNvPr id="167941" name="Rectangle 5"/>
          <p:cNvSpPr>
            <a:spLocks noGrp="1" noChangeArrowheads="1"/>
          </p:cNvSpPr>
          <p:nvPr>
            <p:ph type="body" idx="1"/>
          </p:nvPr>
        </p:nvSpPr>
        <p:spPr>
          <a:xfrm>
            <a:off x="858838" y="3997325"/>
            <a:ext cx="5160962" cy="4306888"/>
          </a:xfrm>
        </p:spPr>
        <p:txBody>
          <a:bodyPr lIns="89724" tIns="44862" rIns="89724" bIns="44862"/>
          <a:lstStyle/>
          <a:p>
            <a:r>
              <a:rPr lang="en-US"/>
              <a:t>Lesson Aim</a:t>
            </a:r>
          </a:p>
          <a:p>
            <a:pPr lvl="1"/>
            <a:r>
              <a:rPr lang="en-US"/>
              <a:t>&lt;Enter lesson aim here.&gt;</a:t>
            </a:r>
          </a:p>
        </p:txBody>
      </p:sp>
    </p:spTree>
    <p:extLst>
      <p:ext uri="{BB962C8B-B14F-4D97-AF65-F5344CB8AC3E}">
        <p14:creationId xmlns:p14="http://schemas.microsoft.com/office/powerpoint/2010/main" val="38006126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A494D3-B268-4101-B61C-B76503836476}" type="slidenum">
              <a:rPr lang="en-US"/>
              <a:pPr/>
              <a:t>50</a:t>
            </a:fld>
            <a:endParaRPr lang="en-US"/>
          </a:p>
        </p:txBody>
      </p:sp>
      <p:sp>
        <p:nvSpPr>
          <p:cNvPr id="70658" name="Rectangle 2"/>
          <p:cNvSpPr>
            <a:spLocks noGrp="1" noRot="1" noChangeAspect="1" noChangeArrowheads="1" noTextEdit="1"/>
          </p:cNvSpPr>
          <p:nvPr>
            <p:ph type="sldImg"/>
          </p:nvPr>
        </p:nvSpPr>
        <p:spPr>
          <a:xfrm>
            <a:off x="841375" y="241300"/>
            <a:ext cx="5233988" cy="3925888"/>
          </a:xfrm>
          <a:ln/>
        </p:spPr>
      </p:sp>
      <p:sp>
        <p:nvSpPr>
          <p:cNvPr id="70659" name="Rectangle 3"/>
          <p:cNvSpPr>
            <a:spLocks noGrp="1" noChangeArrowheads="1"/>
          </p:cNvSpPr>
          <p:nvPr>
            <p:ph type="body" idx="1"/>
          </p:nvPr>
        </p:nvSpPr>
        <p:spPr>
          <a:xfrm>
            <a:off x="395288" y="4305300"/>
            <a:ext cx="5988050" cy="4184650"/>
          </a:xfrm>
        </p:spPr>
        <p:txBody>
          <a:bodyPr/>
          <a:lstStyle/>
          <a:p>
            <a:endParaRPr lang="en-GB"/>
          </a:p>
        </p:txBody>
      </p:sp>
    </p:spTree>
    <p:extLst>
      <p:ext uri="{BB962C8B-B14F-4D97-AF65-F5344CB8AC3E}">
        <p14:creationId xmlns:p14="http://schemas.microsoft.com/office/powerpoint/2010/main" val="444705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AFF0DD-6AB6-4987-8513-13E14CBCE310}" type="slidenum">
              <a:rPr lang="en-US"/>
              <a:pPr/>
              <a:t>56</a:t>
            </a:fld>
            <a:endParaRPr lang="en-US"/>
          </a:p>
        </p:txBody>
      </p:sp>
      <p:sp>
        <p:nvSpPr>
          <p:cNvPr id="78850" name="Rectangle 2"/>
          <p:cNvSpPr>
            <a:spLocks noGrp="1" noRot="1" noChangeAspect="1" noChangeArrowheads="1" noTextEdit="1"/>
          </p:cNvSpPr>
          <p:nvPr>
            <p:ph type="sldImg"/>
          </p:nvPr>
        </p:nvSpPr>
        <p:spPr>
          <a:xfrm>
            <a:off x="1243013" y="563563"/>
            <a:ext cx="4383087" cy="3287712"/>
          </a:xfrm>
          <a:ln/>
        </p:spPr>
      </p:sp>
      <p:sp>
        <p:nvSpPr>
          <p:cNvPr id="78851" name="Rectangle 3"/>
          <p:cNvSpPr>
            <a:spLocks noGrp="1" noChangeArrowheads="1"/>
          </p:cNvSpPr>
          <p:nvPr>
            <p:ph type="body" idx="1"/>
          </p:nvPr>
        </p:nvSpPr>
        <p:spPr>
          <a:xfrm>
            <a:off x="858838" y="3997325"/>
            <a:ext cx="5160962" cy="4306888"/>
          </a:xfrm>
        </p:spPr>
        <p:txBody>
          <a:bodyPr lIns="89653" tIns="44827" rIns="89653" bIns="44827"/>
          <a:lstStyle/>
          <a:p>
            <a:endParaRPr lang="en-US"/>
          </a:p>
        </p:txBody>
      </p:sp>
    </p:spTree>
    <p:extLst>
      <p:ext uri="{BB962C8B-B14F-4D97-AF65-F5344CB8AC3E}">
        <p14:creationId xmlns:p14="http://schemas.microsoft.com/office/powerpoint/2010/main" val="405629754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6FE1C6-3629-4FCF-85C2-FCAC91A511BA}" type="slidenum">
              <a:rPr lang="en-US"/>
              <a:pPr/>
              <a:t>57</a:t>
            </a:fld>
            <a:endParaRPr lang="en-US"/>
          </a:p>
        </p:txBody>
      </p:sp>
      <p:sp>
        <p:nvSpPr>
          <p:cNvPr id="80898" name="Rectangle 2"/>
          <p:cNvSpPr>
            <a:spLocks noGrp="1" noRot="1" noChangeAspect="1" noChangeArrowheads="1" noTextEdit="1"/>
          </p:cNvSpPr>
          <p:nvPr>
            <p:ph type="sldImg"/>
          </p:nvPr>
        </p:nvSpPr>
        <p:spPr>
          <a:xfrm>
            <a:off x="1055688" y="228600"/>
            <a:ext cx="4775200" cy="3581400"/>
          </a:xfrm>
          <a:ln/>
        </p:spPr>
      </p:sp>
      <p:sp>
        <p:nvSpPr>
          <p:cNvPr id="80899" name="Rectangle 3"/>
          <p:cNvSpPr>
            <a:spLocks noGrp="1" noChangeArrowheads="1"/>
          </p:cNvSpPr>
          <p:nvPr>
            <p:ph type="body" idx="1"/>
          </p:nvPr>
        </p:nvSpPr>
        <p:spPr>
          <a:xfrm>
            <a:off x="512763" y="4038600"/>
            <a:ext cx="5834062" cy="4648200"/>
          </a:xfrm>
        </p:spPr>
        <p:txBody>
          <a:bodyPr/>
          <a:lstStyle/>
          <a:p>
            <a:r>
              <a:rPr lang="en-US" b="1"/>
              <a:t>Purpose:</a:t>
            </a:r>
            <a:r>
              <a:rPr lang="en-US"/>
              <a:t> This section describes the various serial standards that support leased-line connections.</a:t>
            </a:r>
          </a:p>
          <a:p>
            <a:r>
              <a:rPr lang="en-US" b="1"/>
              <a:t>Emphasize: </a:t>
            </a:r>
            <a:r>
              <a:rPr lang="en-US"/>
              <a:t>The same 60-pin end that attaches to a Cisco device supports all the standards illustrated.</a:t>
            </a:r>
          </a:p>
          <a:p>
            <a:r>
              <a:rPr lang="en-US" b="1"/>
              <a:t>Note: </a:t>
            </a:r>
            <a:r>
              <a:rPr lang="en-US"/>
              <a:t>Data switching equipment (DSE) is an additional term sometimes used to describe the switch components that appear inside the cloud. The DSE adds and removes channels assigned inside the WAN. The DSE connects traffic from various sources to their final destinations through other switches.	</a:t>
            </a:r>
          </a:p>
          <a:p>
            <a:r>
              <a:rPr lang="en-US" b="1"/>
              <a:t>Transition:</a:t>
            </a:r>
            <a:r>
              <a:rPr lang="en-US"/>
              <a:t> The next layer in the stack is Layer 2, the data link layer.</a:t>
            </a:r>
          </a:p>
        </p:txBody>
      </p:sp>
    </p:spTree>
    <p:extLst>
      <p:ext uri="{BB962C8B-B14F-4D97-AF65-F5344CB8AC3E}">
        <p14:creationId xmlns:p14="http://schemas.microsoft.com/office/powerpoint/2010/main" val="31142949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223903-9DCE-4CB5-B1BF-5FA03800B3E7}" type="slidenum">
              <a:rPr lang="en-US"/>
              <a:pPr/>
              <a:t>58</a:t>
            </a:fld>
            <a:endParaRPr lang="en-US"/>
          </a:p>
        </p:txBody>
      </p:sp>
      <p:sp>
        <p:nvSpPr>
          <p:cNvPr id="82946" name="Rectangle 2"/>
          <p:cNvSpPr>
            <a:spLocks noGrp="1" noRot="1" noChangeAspect="1" noChangeArrowheads="1" noTextEdit="1"/>
          </p:cNvSpPr>
          <p:nvPr>
            <p:ph type="sldImg"/>
          </p:nvPr>
        </p:nvSpPr>
        <p:spPr>
          <a:xfrm>
            <a:off x="1243013" y="563563"/>
            <a:ext cx="4383087" cy="3287712"/>
          </a:xfrm>
          <a:ln/>
        </p:spPr>
      </p:sp>
      <p:sp>
        <p:nvSpPr>
          <p:cNvPr id="82947" name="Rectangle 3"/>
          <p:cNvSpPr>
            <a:spLocks noGrp="1" noChangeArrowheads="1"/>
          </p:cNvSpPr>
          <p:nvPr>
            <p:ph type="body" idx="1"/>
          </p:nvPr>
        </p:nvSpPr>
        <p:spPr>
          <a:xfrm>
            <a:off x="858838" y="3997325"/>
            <a:ext cx="5160962" cy="4306888"/>
          </a:xfrm>
        </p:spPr>
        <p:txBody>
          <a:bodyPr lIns="89653" tIns="44827" rIns="89653" bIns="44827"/>
          <a:lstStyle/>
          <a:p>
            <a:endParaRPr lang="en-US"/>
          </a:p>
        </p:txBody>
      </p:sp>
    </p:spTree>
    <p:extLst>
      <p:ext uri="{BB962C8B-B14F-4D97-AF65-F5344CB8AC3E}">
        <p14:creationId xmlns:p14="http://schemas.microsoft.com/office/powerpoint/2010/main" val="6067978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DE13BF-081B-4C17-A1A1-599C61335EC9}" type="slidenum">
              <a:rPr lang="en-US"/>
              <a:pPr/>
              <a:t>60</a:t>
            </a:fld>
            <a:endParaRPr lang="en-US"/>
          </a:p>
        </p:txBody>
      </p:sp>
      <p:sp>
        <p:nvSpPr>
          <p:cNvPr id="94210" name="Rectangle 2"/>
          <p:cNvSpPr>
            <a:spLocks noGrp="1" noRot="1" noChangeAspect="1" noChangeArrowheads="1" noTextEdit="1"/>
          </p:cNvSpPr>
          <p:nvPr>
            <p:ph type="sldImg"/>
          </p:nvPr>
        </p:nvSpPr>
        <p:spPr>
          <a:xfrm>
            <a:off x="1243013" y="563563"/>
            <a:ext cx="4383087" cy="3287712"/>
          </a:xfrm>
          <a:ln/>
        </p:spPr>
      </p:sp>
      <p:sp>
        <p:nvSpPr>
          <p:cNvPr id="94211" name="Rectangle 3"/>
          <p:cNvSpPr>
            <a:spLocks noGrp="1" noChangeArrowheads="1"/>
          </p:cNvSpPr>
          <p:nvPr>
            <p:ph type="body" idx="1"/>
          </p:nvPr>
        </p:nvSpPr>
        <p:spPr>
          <a:xfrm>
            <a:off x="858838" y="3997325"/>
            <a:ext cx="5160962" cy="4306888"/>
          </a:xfrm>
        </p:spPr>
        <p:txBody>
          <a:bodyPr lIns="89653" tIns="44827" rIns="89653" bIns="44827"/>
          <a:lstStyle/>
          <a:p>
            <a:endParaRPr lang="en-US"/>
          </a:p>
        </p:txBody>
      </p:sp>
    </p:spTree>
    <p:extLst>
      <p:ext uri="{BB962C8B-B14F-4D97-AF65-F5344CB8AC3E}">
        <p14:creationId xmlns:p14="http://schemas.microsoft.com/office/powerpoint/2010/main" val="18011701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5778" name="Rectangle 2"/>
          <p:cNvSpPr>
            <a:spLocks noChangeArrowheads="1"/>
          </p:cNvSpPr>
          <p:nvPr/>
        </p:nvSpPr>
        <p:spPr bwMode="auto">
          <a:xfrm>
            <a:off x="0" y="0"/>
            <a:ext cx="5257800" cy="3144838"/>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75779" name="Picture 3" descr="MAE00784"/>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3350" y="0"/>
            <a:ext cx="3930650" cy="3144838"/>
          </a:xfrm>
          <a:prstGeom prst="rect">
            <a:avLst/>
          </a:prstGeom>
          <a:noFill/>
          <a:extLst>
            <a:ext uri="{909E8E84-426E-40DD-AFC4-6F175D3DCCD1}">
              <a14:hiddenFill xmlns:a14="http://schemas.microsoft.com/office/drawing/2010/main">
                <a:solidFill>
                  <a:srgbClr val="FFFFFF"/>
                </a:solidFill>
              </a14:hiddenFill>
            </a:ext>
          </a:extLst>
        </p:spPr>
      </p:pic>
      <p:sp>
        <p:nvSpPr>
          <p:cNvPr id="75780" name="Rectangle 4"/>
          <p:cNvSpPr>
            <a:spLocks noChangeArrowheads="1"/>
          </p:cNvSpPr>
          <p:nvPr/>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pPr>
            <a:r>
              <a:rPr lang="en-US" sz="700" b="0">
                <a:solidFill>
                  <a:srgbClr val="999999"/>
                </a:solidFill>
              </a:rPr>
              <a:t>© 2007 Cisco Systems, Inc. All rights reserved.</a:t>
            </a:r>
          </a:p>
        </p:txBody>
      </p:sp>
      <p:sp>
        <p:nvSpPr>
          <p:cNvPr id="75781" name="Rectangle 5"/>
          <p:cNvSpPr>
            <a:spLocks noChangeArrowheads="1"/>
          </p:cNvSpPr>
          <p:nvPr/>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pPr>
            <a:r>
              <a:rPr lang="en-US" sz="700" b="0">
                <a:solidFill>
                  <a:srgbClr val="999999"/>
                </a:solidFill>
              </a:rPr>
              <a:t>ICND1 v1.0—1-</a:t>
            </a:r>
            <a:fld id="{C6ACAF06-8A6C-47E3-8019-3C86D162E113}" type="slidenum">
              <a:rPr lang="en-US" sz="700" b="0">
                <a:solidFill>
                  <a:srgbClr val="999999"/>
                </a:solidFill>
              </a:rPr>
              <a:pPr algn="r" defTabSz="814388">
                <a:lnSpc>
                  <a:spcPct val="100000"/>
                </a:lnSpc>
              </a:pPr>
              <a:t>‹#›</a:t>
            </a:fld>
            <a:endParaRPr lang="en-US" sz="700" b="0">
              <a:solidFill>
                <a:srgbClr val="999999"/>
              </a:solidFill>
            </a:endParaRPr>
          </a:p>
        </p:txBody>
      </p:sp>
      <p:sp>
        <p:nvSpPr>
          <p:cNvPr id="75782" name="Rectangle 6"/>
          <p:cNvSpPr>
            <a:spLocks noGrp="1" noChangeArrowheads="1"/>
          </p:cNvSpPr>
          <p:nvPr>
            <p:ph type="ctrTitle"/>
          </p:nvPr>
        </p:nvSpPr>
        <p:spPr bwMode="white">
          <a:xfrm>
            <a:off x="650875" y="3390900"/>
            <a:ext cx="6937375" cy="42068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nchor="t"/>
          <a:lstStyle>
            <a:lvl1pPr>
              <a:defRPr sz="2000">
                <a:solidFill>
                  <a:schemeClr val="bg2"/>
                </a:solidFill>
              </a:defRPr>
            </a:lvl1pPr>
          </a:lstStyle>
          <a:p>
            <a:pPr lvl="0"/>
            <a:r>
              <a:rPr lang="en-US" noProof="0"/>
              <a:t>Module Title, Size 20</a:t>
            </a:r>
          </a:p>
        </p:txBody>
      </p:sp>
      <p:sp>
        <p:nvSpPr>
          <p:cNvPr id="75783" name="Rectangle 7"/>
          <p:cNvSpPr>
            <a:spLocks noGrp="1" noChangeArrowheads="1"/>
          </p:cNvSpPr>
          <p:nvPr>
            <p:ph type="subTitle" idx="1"/>
          </p:nvPr>
        </p:nvSpPr>
        <p:spPr>
          <a:xfrm>
            <a:off x="650875" y="1312863"/>
            <a:ext cx="3546475" cy="8413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rotWithShape="0">
                    <a:schemeClr val="tx1"/>
                  </a:outerShdw>
                </a:effectLst>
              </a14:hiddenEffects>
            </a:ext>
          </a:extLst>
        </p:spPr>
        <p:txBody>
          <a:bodyPr anchor="ctr"/>
          <a:lstStyle>
            <a:lvl1pPr>
              <a:lnSpc>
                <a:spcPct val="90000"/>
              </a:lnSpc>
              <a:spcBef>
                <a:spcPct val="0"/>
              </a:spcBef>
              <a:defRPr sz="3000">
                <a:solidFill>
                  <a:schemeClr val="bg1"/>
                </a:solidFill>
              </a:defRPr>
            </a:lvl1pPr>
          </a:lstStyle>
          <a:p>
            <a:pPr lvl="0"/>
            <a:r>
              <a:rPr lang="en-US" noProof="0"/>
              <a:t>Lesson Title,</a:t>
            </a:r>
            <a:br>
              <a:rPr lang="en-US" noProof="0"/>
            </a:br>
            <a:r>
              <a:rPr lang="en-US" noProof="0"/>
              <a:t>Size 30</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670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38999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5638" y="1781175"/>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2175" y="1781175"/>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0285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9075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18441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6330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772429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54746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3521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457200"/>
            <a:ext cx="2035175" cy="4895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5638" y="457200"/>
            <a:ext cx="5957887" cy="4895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82727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7698" name="Rectangle 2"/>
          <p:cNvSpPr>
            <a:spLocks noChangeArrowheads="1"/>
          </p:cNvSpPr>
          <p:nvPr/>
        </p:nvSpPr>
        <p:spPr bwMode="auto">
          <a:xfrm>
            <a:off x="0" y="0"/>
            <a:ext cx="5257800" cy="3144838"/>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57699" name="Picture 3" descr="MAE00784"/>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3350" y="0"/>
            <a:ext cx="3930650" cy="3144838"/>
          </a:xfrm>
          <a:prstGeom prst="rect">
            <a:avLst/>
          </a:prstGeom>
          <a:noFill/>
          <a:extLst>
            <a:ext uri="{909E8E84-426E-40DD-AFC4-6F175D3DCCD1}">
              <a14:hiddenFill xmlns:a14="http://schemas.microsoft.com/office/drawing/2010/main">
                <a:solidFill>
                  <a:srgbClr val="FFFFFF"/>
                </a:solidFill>
              </a14:hiddenFill>
            </a:ext>
          </a:extLst>
        </p:spPr>
      </p:pic>
      <p:sp>
        <p:nvSpPr>
          <p:cNvPr id="157700" name="Rectangle 4"/>
          <p:cNvSpPr>
            <a:spLocks noGrp="1" noChangeArrowheads="1"/>
          </p:cNvSpPr>
          <p:nvPr>
            <p:ph type="ctrTitle"/>
          </p:nvPr>
        </p:nvSpPr>
        <p:spPr bwMode="white">
          <a:xfrm>
            <a:off x="650875" y="3390900"/>
            <a:ext cx="6937375" cy="42068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nchor="t"/>
          <a:lstStyle>
            <a:lvl1pPr>
              <a:defRPr sz="2000">
                <a:solidFill>
                  <a:schemeClr val="bg2"/>
                </a:solidFill>
              </a:defRPr>
            </a:lvl1pPr>
          </a:lstStyle>
          <a:p>
            <a:pPr lvl="0"/>
            <a:r>
              <a:rPr lang="en-US" noProof="0"/>
              <a:t>Module Title, Size 20</a:t>
            </a:r>
          </a:p>
        </p:txBody>
      </p:sp>
      <p:sp>
        <p:nvSpPr>
          <p:cNvPr id="157701" name="Rectangle 5"/>
          <p:cNvSpPr>
            <a:spLocks noGrp="1" noChangeArrowheads="1"/>
          </p:cNvSpPr>
          <p:nvPr>
            <p:ph type="subTitle" idx="1"/>
          </p:nvPr>
        </p:nvSpPr>
        <p:spPr>
          <a:xfrm>
            <a:off x="650875" y="1312863"/>
            <a:ext cx="3546475" cy="8413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rotWithShape="0">
                    <a:schemeClr val="tx1"/>
                  </a:outerShdw>
                </a:effectLst>
              </a14:hiddenEffects>
            </a:ext>
          </a:extLst>
        </p:spPr>
        <p:txBody>
          <a:bodyPr anchor="ctr"/>
          <a:lstStyle>
            <a:lvl1pPr>
              <a:lnSpc>
                <a:spcPct val="90000"/>
              </a:lnSpc>
              <a:spcBef>
                <a:spcPct val="0"/>
              </a:spcBef>
              <a:defRPr sz="3000">
                <a:solidFill>
                  <a:schemeClr val="bg1"/>
                </a:solidFill>
              </a:defRPr>
            </a:lvl1pPr>
          </a:lstStyle>
          <a:p>
            <a:pPr lvl="0"/>
            <a:r>
              <a:rPr lang="en-US" noProof="0"/>
              <a:t>Lesson Title,</a:t>
            </a:r>
            <a:br>
              <a:rPr lang="en-US" noProof="0"/>
            </a:br>
            <a:r>
              <a:rPr lang="en-US" noProof="0"/>
              <a:t>Size 30</a:t>
            </a:r>
          </a:p>
        </p:txBody>
      </p:sp>
      <p:sp>
        <p:nvSpPr>
          <p:cNvPr id="157702" name="Rectangle 6"/>
          <p:cNvSpPr>
            <a:spLocks noChangeArrowheads="1"/>
          </p:cNvSpPr>
          <p:nvPr userDrawn="1"/>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pPr>
            <a:r>
              <a:rPr lang="en-US" sz="700" b="0">
                <a:solidFill>
                  <a:srgbClr val="999999"/>
                </a:solidFill>
              </a:rPr>
              <a:t>© 2007 Cisco Systems, Inc. All rights reserved.</a:t>
            </a:r>
          </a:p>
        </p:txBody>
      </p:sp>
      <p:sp>
        <p:nvSpPr>
          <p:cNvPr id="157703" name="Rectangle 7"/>
          <p:cNvSpPr>
            <a:spLocks noChangeArrowheads="1"/>
          </p:cNvSpPr>
          <p:nvPr userDrawn="1"/>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pPr>
            <a:r>
              <a:rPr lang="en-US" sz="700" b="0">
                <a:solidFill>
                  <a:srgbClr val="999999"/>
                </a:solidFill>
              </a:rPr>
              <a:t>ICND1 v1.0—1-</a:t>
            </a:r>
            <a:fld id="{F599FCC7-D2BB-4B4A-9D44-CA57D0FB46E3}" type="slidenum">
              <a:rPr lang="en-US" sz="700" b="0">
                <a:solidFill>
                  <a:srgbClr val="999999"/>
                </a:solidFill>
              </a:rPr>
              <a:pPr algn="r" defTabSz="814388">
                <a:lnSpc>
                  <a:spcPct val="100000"/>
                </a:lnSpc>
              </a:pPr>
              <a:t>‹#›</a:t>
            </a:fld>
            <a:endParaRPr lang="en-US" sz="700" b="0">
              <a:solidFill>
                <a:srgbClr val="999999"/>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768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9200530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5638" y="1781175"/>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2175" y="1781175"/>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93877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88590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31521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42608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367920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62317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7016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457200"/>
            <a:ext cx="2035175" cy="4895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5638" y="457200"/>
            <a:ext cx="5957887" cy="4895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57638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5638" y="457200"/>
            <a:ext cx="8145462" cy="838200"/>
          </a:xfrm>
        </p:spPr>
        <p:txBody>
          <a:bodyPr/>
          <a:lstStyle/>
          <a:p>
            <a:r>
              <a:rPr lang="en-US"/>
              <a:t>Click to edit Master title style</a:t>
            </a:r>
          </a:p>
        </p:txBody>
      </p:sp>
      <p:sp>
        <p:nvSpPr>
          <p:cNvPr id="3" name="Text Placeholder 2"/>
          <p:cNvSpPr>
            <a:spLocks noGrp="1"/>
          </p:cNvSpPr>
          <p:nvPr>
            <p:ph type="body" sz="half" idx="1"/>
          </p:nvPr>
        </p:nvSpPr>
        <p:spPr>
          <a:xfrm>
            <a:off x="655638" y="1781175"/>
            <a:ext cx="3894137" cy="3571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2175" y="1781175"/>
            <a:ext cx="3894138" cy="3571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655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55638" y="457200"/>
            <a:ext cx="8145462" cy="838200"/>
          </a:xfrm>
        </p:spPr>
        <p:txBody>
          <a:bodyPr/>
          <a:lstStyle/>
          <a:p>
            <a:r>
              <a:rPr lang="en-US"/>
              <a:t>Click to edit Master title style</a:t>
            </a:r>
          </a:p>
        </p:txBody>
      </p:sp>
      <p:sp>
        <p:nvSpPr>
          <p:cNvPr id="3" name="Chart Placeholder 2"/>
          <p:cNvSpPr>
            <a:spLocks noGrp="1"/>
          </p:cNvSpPr>
          <p:nvPr>
            <p:ph type="chart" idx="1"/>
          </p:nvPr>
        </p:nvSpPr>
        <p:spPr>
          <a:xfrm>
            <a:off x="655638" y="1781175"/>
            <a:ext cx="7940675" cy="3571875"/>
          </a:xfrm>
        </p:spPr>
        <p:txBody>
          <a:bodyPr/>
          <a:lstStyle/>
          <a:p>
            <a:endParaRPr lang="en-US"/>
          </a:p>
        </p:txBody>
      </p:sp>
    </p:spTree>
    <p:extLst>
      <p:ext uri="{BB962C8B-B14F-4D97-AF65-F5344CB8AC3E}">
        <p14:creationId xmlns:p14="http://schemas.microsoft.com/office/powerpoint/2010/main" val="3113319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bwMode="auto">
          <a:xfrm>
            <a:off x="655638" y="457200"/>
            <a:ext cx="8145462" cy="838200"/>
          </a:xfrm>
          <a:prstGeom prst="rect">
            <a:avLst/>
          </a:prstGeom>
          <a:noFill/>
          <a:ln>
            <a:noFill/>
          </a:ln>
          <a:effectLst/>
          <a:extLst>
            <a:ext uri="{909E8E84-426E-40DD-AFC4-6F175D3DCCD1}">
              <a14:hiddenFill xmlns:a14="http://schemas.microsoft.com/office/drawing/2010/main">
                <a:solidFill>
                  <a:srgbClr val="0183B7"/>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anchor="b" anchorCtr="0" compatLnSpc="1">
            <a:prstTxWarp prst="textNoShape">
              <a:avLst/>
            </a:prstTxWarp>
          </a:bodyPr>
          <a:lstStyle/>
          <a:p>
            <a:pPr lvl="0"/>
            <a:r>
              <a:rPr lang="en-US"/>
              <a:t>Slide Title</a:t>
            </a:r>
          </a:p>
        </p:txBody>
      </p:sp>
      <p:sp>
        <p:nvSpPr>
          <p:cNvPr id="74756" name="Rectangle 4"/>
          <p:cNvSpPr>
            <a:spLocks noChangeArrowheads="1"/>
          </p:cNvSpPr>
          <p:nvPr/>
        </p:nvSpPr>
        <p:spPr bwMode="auto">
          <a:xfrm>
            <a:off x="0" y="0"/>
            <a:ext cx="9144000" cy="177800"/>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7" name="Rectangle 5"/>
          <p:cNvSpPr>
            <a:spLocks noChangeArrowheads="1"/>
          </p:cNvSpPr>
          <p:nvPr/>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pPr>
            <a:r>
              <a:rPr lang="en-US" sz="700" b="0">
                <a:solidFill>
                  <a:srgbClr val="999999"/>
                </a:solidFill>
              </a:rPr>
              <a:t>© 2007 Cisco Systems, Inc. All rights reserved.</a:t>
            </a:r>
          </a:p>
        </p:txBody>
      </p:sp>
      <p:sp>
        <p:nvSpPr>
          <p:cNvPr id="74758" name="Rectangle 6"/>
          <p:cNvSpPr>
            <a:spLocks noChangeArrowheads="1"/>
          </p:cNvSpPr>
          <p:nvPr/>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pPr>
            <a:r>
              <a:rPr lang="en-US" sz="700" b="0">
                <a:solidFill>
                  <a:srgbClr val="999999"/>
                </a:solidFill>
              </a:rPr>
              <a:t>ICND1 v1.0—1-</a:t>
            </a:r>
            <a:fld id="{195E63B5-2E44-48AB-8DDF-65A9AB38C2CA}" type="slidenum">
              <a:rPr lang="en-US" sz="700" b="0">
                <a:solidFill>
                  <a:srgbClr val="999999"/>
                </a:solidFill>
              </a:rPr>
              <a:pPr algn="r" defTabSz="814388">
                <a:lnSpc>
                  <a:spcPct val="100000"/>
                </a:lnSpc>
              </a:pPr>
              <a:t>‹#›</a:t>
            </a:fld>
            <a:endParaRPr lang="en-US" sz="700" b="0">
              <a:solidFill>
                <a:srgbClr val="999999"/>
              </a:solidFill>
            </a:endParaRPr>
          </a:p>
        </p:txBody>
      </p:sp>
      <p:sp>
        <p:nvSpPr>
          <p:cNvPr id="74759" name="Rectangle 7"/>
          <p:cNvSpPr>
            <a:spLocks noGrp="1" noChangeArrowheads="1"/>
          </p:cNvSpPr>
          <p:nvPr>
            <p:ph type="body" idx="1"/>
          </p:nvPr>
        </p:nvSpPr>
        <p:spPr bwMode="auto">
          <a:xfrm>
            <a:off x="655638" y="1781175"/>
            <a:ext cx="7940675" cy="3571875"/>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a:t>Body Text</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68"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xStyles>
    <p:titleStyle>
      <a:lvl1pPr algn="l" defTabSz="814388" rtl="0" eaLnBrk="0" fontAlgn="base" hangingPunct="0">
        <a:lnSpc>
          <a:spcPct val="90000"/>
        </a:lnSpc>
        <a:spcBef>
          <a:spcPct val="0"/>
        </a:spcBef>
        <a:spcAft>
          <a:spcPct val="0"/>
        </a:spcAft>
        <a:defRPr sz="3200" b="1">
          <a:solidFill>
            <a:schemeClr val="tx2"/>
          </a:solidFill>
          <a:latin typeface="+mj-lt"/>
          <a:ea typeface="+mj-ea"/>
          <a:cs typeface="+mj-cs"/>
        </a:defRPr>
      </a:lvl1pPr>
      <a:lvl2pPr algn="l" defTabSz="814388" rtl="0" eaLnBrk="0" fontAlgn="base" hangingPunct="0">
        <a:lnSpc>
          <a:spcPct val="90000"/>
        </a:lnSpc>
        <a:spcBef>
          <a:spcPct val="0"/>
        </a:spcBef>
        <a:spcAft>
          <a:spcPct val="0"/>
        </a:spcAft>
        <a:defRPr sz="3200" b="1">
          <a:solidFill>
            <a:schemeClr val="tx2"/>
          </a:solidFill>
          <a:latin typeface="Arial" charset="0"/>
        </a:defRPr>
      </a:lvl2pPr>
      <a:lvl3pPr algn="l" defTabSz="814388" rtl="0" eaLnBrk="0" fontAlgn="base" hangingPunct="0">
        <a:lnSpc>
          <a:spcPct val="90000"/>
        </a:lnSpc>
        <a:spcBef>
          <a:spcPct val="0"/>
        </a:spcBef>
        <a:spcAft>
          <a:spcPct val="0"/>
        </a:spcAft>
        <a:defRPr sz="3200" b="1">
          <a:solidFill>
            <a:schemeClr val="tx2"/>
          </a:solidFill>
          <a:latin typeface="Arial" charset="0"/>
        </a:defRPr>
      </a:lvl3pPr>
      <a:lvl4pPr algn="l" defTabSz="814388" rtl="0" eaLnBrk="0" fontAlgn="base" hangingPunct="0">
        <a:lnSpc>
          <a:spcPct val="90000"/>
        </a:lnSpc>
        <a:spcBef>
          <a:spcPct val="0"/>
        </a:spcBef>
        <a:spcAft>
          <a:spcPct val="0"/>
        </a:spcAft>
        <a:defRPr sz="3200" b="1">
          <a:solidFill>
            <a:schemeClr val="tx2"/>
          </a:solidFill>
          <a:latin typeface="Arial" charset="0"/>
        </a:defRPr>
      </a:lvl4pPr>
      <a:lvl5pPr algn="l" defTabSz="814388" rtl="0" eaLnBrk="0" fontAlgn="base" hangingPunct="0">
        <a:lnSpc>
          <a:spcPct val="90000"/>
        </a:lnSpc>
        <a:spcBef>
          <a:spcPct val="0"/>
        </a:spcBef>
        <a:spcAft>
          <a:spcPct val="0"/>
        </a:spcAft>
        <a:defRPr sz="3200" b="1">
          <a:solidFill>
            <a:schemeClr val="tx2"/>
          </a:solidFill>
          <a:latin typeface="Arial" charset="0"/>
        </a:defRPr>
      </a:lvl5pPr>
      <a:lvl6pPr marL="457200" algn="l" defTabSz="814388" rtl="0" eaLnBrk="0" fontAlgn="base" hangingPunct="0">
        <a:lnSpc>
          <a:spcPct val="90000"/>
        </a:lnSpc>
        <a:spcBef>
          <a:spcPct val="0"/>
        </a:spcBef>
        <a:spcAft>
          <a:spcPct val="0"/>
        </a:spcAft>
        <a:defRPr sz="3200" b="1">
          <a:solidFill>
            <a:schemeClr val="tx2"/>
          </a:solidFill>
          <a:latin typeface="Arial" charset="0"/>
        </a:defRPr>
      </a:lvl6pPr>
      <a:lvl7pPr marL="914400" algn="l" defTabSz="814388" rtl="0" eaLnBrk="0" fontAlgn="base" hangingPunct="0">
        <a:lnSpc>
          <a:spcPct val="90000"/>
        </a:lnSpc>
        <a:spcBef>
          <a:spcPct val="0"/>
        </a:spcBef>
        <a:spcAft>
          <a:spcPct val="0"/>
        </a:spcAft>
        <a:defRPr sz="3200" b="1">
          <a:solidFill>
            <a:schemeClr val="tx2"/>
          </a:solidFill>
          <a:latin typeface="Arial" charset="0"/>
        </a:defRPr>
      </a:lvl7pPr>
      <a:lvl8pPr marL="1371600" algn="l" defTabSz="814388" rtl="0" eaLnBrk="0" fontAlgn="base" hangingPunct="0">
        <a:lnSpc>
          <a:spcPct val="90000"/>
        </a:lnSpc>
        <a:spcBef>
          <a:spcPct val="0"/>
        </a:spcBef>
        <a:spcAft>
          <a:spcPct val="0"/>
        </a:spcAft>
        <a:defRPr sz="3200" b="1">
          <a:solidFill>
            <a:schemeClr val="tx2"/>
          </a:solidFill>
          <a:latin typeface="Arial" charset="0"/>
        </a:defRPr>
      </a:lvl8pPr>
      <a:lvl9pPr marL="1828800" algn="l" defTabSz="814388" rtl="0" eaLnBrk="0" fontAlgn="base" hangingPunct="0">
        <a:lnSpc>
          <a:spcPct val="90000"/>
        </a:lnSpc>
        <a:spcBef>
          <a:spcPct val="0"/>
        </a:spcBef>
        <a:spcAft>
          <a:spcPct val="0"/>
        </a:spcAft>
        <a:defRPr sz="3200" b="1">
          <a:solidFill>
            <a:schemeClr val="tx2"/>
          </a:solidFill>
          <a:latin typeface="Arial" charset="0"/>
        </a:defRPr>
      </a:lvl9pPr>
    </p:titleStyle>
    <p:bodyStyle>
      <a:lvl1pPr algn="l" defTabSz="814388" rtl="0" eaLnBrk="0" fontAlgn="base" hangingPunct="0">
        <a:lnSpc>
          <a:spcPct val="95000"/>
        </a:lnSpc>
        <a:spcBef>
          <a:spcPct val="35000"/>
        </a:spcBef>
        <a:spcAft>
          <a:spcPct val="0"/>
        </a:spcAft>
        <a:buClr>
          <a:schemeClr val="accent1"/>
        </a:buClr>
        <a:buSzPct val="100000"/>
        <a:buFont typeface="Arial"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bwMode="auto">
          <a:xfrm>
            <a:off x="655638" y="457200"/>
            <a:ext cx="8145462" cy="838200"/>
          </a:xfrm>
          <a:prstGeom prst="rect">
            <a:avLst/>
          </a:prstGeom>
          <a:noFill/>
          <a:ln>
            <a:noFill/>
          </a:ln>
          <a:effectLst/>
          <a:extLst>
            <a:ext uri="{909E8E84-426E-40DD-AFC4-6F175D3DCCD1}">
              <a14:hiddenFill xmlns:a14="http://schemas.microsoft.com/office/drawing/2010/main">
                <a:solidFill>
                  <a:srgbClr val="0183B7"/>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anchor="b" anchorCtr="0" compatLnSpc="1">
            <a:prstTxWarp prst="textNoShape">
              <a:avLst/>
            </a:prstTxWarp>
          </a:bodyPr>
          <a:lstStyle/>
          <a:p>
            <a:pPr lvl="0"/>
            <a:r>
              <a:rPr lang="en-US"/>
              <a:t>Slide Title</a:t>
            </a:r>
          </a:p>
        </p:txBody>
      </p:sp>
      <p:sp>
        <p:nvSpPr>
          <p:cNvPr id="156675" name="Rectangle 3"/>
          <p:cNvSpPr>
            <a:spLocks noChangeArrowheads="1"/>
          </p:cNvSpPr>
          <p:nvPr/>
        </p:nvSpPr>
        <p:spPr bwMode="auto">
          <a:xfrm>
            <a:off x="0" y="0"/>
            <a:ext cx="9144000" cy="177800"/>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6676" name="Rectangle 4"/>
          <p:cNvSpPr>
            <a:spLocks noGrp="1" noChangeArrowheads="1"/>
          </p:cNvSpPr>
          <p:nvPr>
            <p:ph type="body" idx="1"/>
          </p:nvPr>
        </p:nvSpPr>
        <p:spPr bwMode="auto">
          <a:xfrm>
            <a:off x="655638" y="1781175"/>
            <a:ext cx="7940675" cy="3571875"/>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a:t>Body Text</a:t>
            </a:r>
          </a:p>
          <a:p>
            <a:pPr lvl="1"/>
            <a:r>
              <a:rPr lang="en-US"/>
              <a:t>Second Level</a:t>
            </a:r>
          </a:p>
          <a:p>
            <a:pPr lvl="2"/>
            <a:r>
              <a:rPr lang="en-US"/>
              <a:t>Third Level</a:t>
            </a:r>
          </a:p>
          <a:p>
            <a:pPr lvl="3"/>
            <a:r>
              <a:rPr lang="en-US"/>
              <a:t>Fourth Level</a:t>
            </a:r>
          </a:p>
          <a:p>
            <a:pPr lvl="4"/>
            <a:r>
              <a:rPr lang="en-US"/>
              <a:t>Fifth Level</a:t>
            </a:r>
          </a:p>
        </p:txBody>
      </p:sp>
      <p:sp>
        <p:nvSpPr>
          <p:cNvPr id="156677" name="Rectangle 5"/>
          <p:cNvSpPr>
            <a:spLocks noChangeArrowheads="1"/>
          </p:cNvSpPr>
          <p:nvPr userDrawn="1"/>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pPr>
            <a:r>
              <a:rPr lang="en-US" sz="700" b="0">
                <a:solidFill>
                  <a:srgbClr val="999999"/>
                </a:solidFill>
              </a:rPr>
              <a:t>© 2007 Cisco Systems, Inc. All rights reserved.</a:t>
            </a:r>
          </a:p>
        </p:txBody>
      </p:sp>
      <p:sp>
        <p:nvSpPr>
          <p:cNvPr id="156678" name="Rectangle 6"/>
          <p:cNvSpPr>
            <a:spLocks noChangeArrowheads="1"/>
          </p:cNvSpPr>
          <p:nvPr userDrawn="1"/>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pPr>
            <a:r>
              <a:rPr lang="en-US" sz="700" b="0">
                <a:solidFill>
                  <a:srgbClr val="999999"/>
                </a:solidFill>
              </a:rPr>
              <a:t>ICND1 v1.0—1-</a:t>
            </a:r>
            <a:fld id="{1E35D709-A974-48AD-A496-2E6FEF7748DD}" type="slidenum">
              <a:rPr lang="en-US" sz="700" b="0">
                <a:solidFill>
                  <a:srgbClr val="999999"/>
                </a:solidFill>
              </a:rPr>
              <a:pPr algn="r" defTabSz="814388">
                <a:lnSpc>
                  <a:spcPct val="100000"/>
                </a:lnSpc>
              </a:pPr>
              <a:t>‹#›</a:t>
            </a:fld>
            <a:endParaRPr lang="en-US" sz="700" b="0">
              <a:solidFill>
                <a:srgbClr val="999999"/>
              </a:solidFill>
            </a:endParaRPr>
          </a:p>
        </p:txBody>
      </p:sp>
    </p:spTree>
  </p:cSld>
  <p:clrMap bg1="lt1" tx1="dk1" bg2="lt2" tx2="dk2" accent1="accent1" accent2="accent2" accent3="accent3" accent4="accent4" accent5="accent5" accent6="accent6" hlink="hlink" folHlink="folHlink"/>
  <p:sldLayoutIdLst>
    <p:sldLayoutId id="214748367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Lst>
  <p:txStyles>
    <p:titleStyle>
      <a:lvl1pPr algn="l" defTabSz="814388" rtl="0" fontAlgn="base">
        <a:lnSpc>
          <a:spcPct val="90000"/>
        </a:lnSpc>
        <a:spcBef>
          <a:spcPct val="0"/>
        </a:spcBef>
        <a:spcAft>
          <a:spcPct val="0"/>
        </a:spcAft>
        <a:defRPr sz="3200" b="1">
          <a:solidFill>
            <a:schemeClr val="tx2"/>
          </a:solidFill>
          <a:latin typeface="+mj-lt"/>
          <a:ea typeface="+mj-ea"/>
          <a:cs typeface="+mj-cs"/>
        </a:defRPr>
      </a:lvl1pPr>
      <a:lvl2pPr algn="l" defTabSz="814388" rtl="0" fontAlgn="base">
        <a:lnSpc>
          <a:spcPct val="90000"/>
        </a:lnSpc>
        <a:spcBef>
          <a:spcPct val="0"/>
        </a:spcBef>
        <a:spcAft>
          <a:spcPct val="0"/>
        </a:spcAft>
        <a:defRPr sz="3200" b="1">
          <a:solidFill>
            <a:schemeClr val="tx2"/>
          </a:solidFill>
          <a:latin typeface="Arial" charset="0"/>
        </a:defRPr>
      </a:lvl2pPr>
      <a:lvl3pPr algn="l" defTabSz="814388" rtl="0" fontAlgn="base">
        <a:lnSpc>
          <a:spcPct val="90000"/>
        </a:lnSpc>
        <a:spcBef>
          <a:spcPct val="0"/>
        </a:spcBef>
        <a:spcAft>
          <a:spcPct val="0"/>
        </a:spcAft>
        <a:defRPr sz="3200" b="1">
          <a:solidFill>
            <a:schemeClr val="tx2"/>
          </a:solidFill>
          <a:latin typeface="Arial" charset="0"/>
        </a:defRPr>
      </a:lvl3pPr>
      <a:lvl4pPr algn="l" defTabSz="814388" rtl="0" fontAlgn="base">
        <a:lnSpc>
          <a:spcPct val="90000"/>
        </a:lnSpc>
        <a:spcBef>
          <a:spcPct val="0"/>
        </a:spcBef>
        <a:spcAft>
          <a:spcPct val="0"/>
        </a:spcAft>
        <a:defRPr sz="3200" b="1">
          <a:solidFill>
            <a:schemeClr val="tx2"/>
          </a:solidFill>
          <a:latin typeface="Arial" charset="0"/>
        </a:defRPr>
      </a:lvl4pPr>
      <a:lvl5pPr algn="l" defTabSz="814388" rtl="0" fontAlgn="base">
        <a:lnSpc>
          <a:spcPct val="90000"/>
        </a:lnSpc>
        <a:spcBef>
          <a:spcPct val="0"/>
        </a:spcBef>
        <a:spcAft>
          <a:spcPct val="0"/>
        </a:spcAft>
        <a:defRPr sz="3200" b="1">
          <a:solidFill>
            <a:schemeClr val="tx2"/>
          </a:solidFill>
          <a:latin typeface="Arial" charset="0"/>
        </a:defRPr>
      </a:lvl5pPr>
      <a:lvl6pPr marL="457200" algn="l" defTabSz="814388" rtl="0" fontAlgn="base">
        <a:lnSpc>
          <a:spcPct val="90000"/>
        </a:lnSpc>
        <a:spcBef>
          <a:spcPct val="0"/>
        </a:spcBef>
        <a:spcAft>
          <a:spcPct val="0"/>
        </a:spcAft>
        <a:defRPr sz="3200" b="1">
          <a:solidFill>
            <a:schemeClr val="tx2"/>
          </a:solidFill>
          <a:latin typeface="Arial" charset="0"/>
        </a:defRPr>
      </a:lvl6pPr>
      <a:lvl7pPr marL="914400" algn="l" defTabSz="814388" rtl="0" fontAlgn="base">
        <a:lnSpc>
          <a:spcPct val="90000"/>
        </a:lnSpc>
        <a:spcBef>
          <a:spcPct val="0"/>
        </a:spcBef>
        <a:spcAft>
          <a:spcPct val="0"/>
        </a:spcAft>
        <a:defRPr sz="3200" b="1">
          <a:solidFill>
            <a:schemeClr val="tx2"/>
          </a:solidFill>
          <a:latin typeface="Arial" charset="0"/>
        </a:defRPr>
      </a:lvl7pPr>
      <a:lvl8pPr marL="1371600" algn="l" defTabSz="814388" rtl="0" fontAlgn="base">
        <a:lnSpc>
          <a:spcPct val="90000"/>
        </a:lnSpc>
        <a:spcBef>
          <a:spcPct val="0"/>
        </a:spcBef>
        <a:spcAft>
          <a:spcPct val="0"/>
        </a:spcAft>
        <a:defRPr sz="3200" b="1">
          <a:solidFill>
            <a:schemeClr val="tx2"/>
          </a:solidFill>
          <a:latin typeface="Arial" charset="0"/>
        </a:defRPr>
      </a:lvl8pPr>
      <a:lvl9pPr marL="1828800" algn="l" defTabSz="814388" rtl="0" fontAlgn="base">
        <a:lnSpc>
          <a:spcPct val="90000"/>
        </a:lnSpc>
        <a:spcBef>
          <a:spcPct val="0"/>
        </a:spcBef>
        <a:spcAft>
          <a:spcPct val="0"/>
        </a:spcAft>
        <a:defRPr sz="3200" b="1">
          <a:solidFill>
            <a:schemeClr val="tx2"/>
          </a:solidFill>
          <a:latin typeface="Arial" charset="0"/>
        </a:defRPr>
      </a:lvl9pPr>
    </p:titleStyle>
    <p:bodyStyle>
      <a:lvl1pPr algn="l" defTabSz="814388" rtl="0" fontAlgn="base">
        <a:lnSpc>
          <a:spcPct val="95000"/>
        </a:lnSpc>
        <a:spcBef>
          <a:spcPct val="35000"/>
        </a:spcBef>
        <a:spcAft>
          <a:spcPct val="0"/>
        </a:spcAft>
        <a:buClr>
          <a:schemeClr val="accent1"/>
        </a:buClr>
        <a:buSzPct val="100000"/>
        <a:buFont typeface="Arial" charset="0"/>
        <a:defRPr sz="2400">
          <a:solidFill>
            <a:srgbClr val="000000"/>
          </a:solidFill>
          <a:latin typeface="+mn-lt"/>
          <a:ea typeface="+mn-ea"/>
          <a:cs typeface="+mn-cs"/>
        </a:defRPr>
      </a:lvl1pPr>
      <a:lvl2pPr marL="342900" indent="-228600" algn="l" defTabSz="814388" rtl="0" fontAlgn="base">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3pPr>
      <a:lvl4pPr marL="1028700" indent="-228600" algn="l" defTabSz="814388" rtl="0" fontAlgn="base">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5pPr>
      <a:lvl6pPr marL="18288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6pPr>
      <a:lvl7pPr marL="22860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7pPr>
      <a:lvl8pPr marL="27432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8pPr>
      <a:lvl9pPr marL="3200400" indent="-228600" algn="l" defTabSz="814388" rtl="0" fontAlgn="base">
        <a:lnSpc>
          <a:spcPct val="95000"/>
        </a:lnSpc>
        <a:spcBef>
          <a:spcPct val="35000"/>
        </a:spcBef>
        <a:spcAft>
          <a:spcPct val="0"/>
        </a:spcAft>
        <a:buClr>
          <a:srgbClr val="0183B7"/>
        </a:buClr>
        <a:buFont typeface="Arial" charset="0"/>
        <a:buChar char="–"/>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9.xml"/><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3962400"/>
            <a:ext cx="6937375" cy="1028700"/>
          </a:xfrm>
        </p:spPr>
        <p:txBody>
          <a:bodyPr/>
          <a:lstStyle/>
          <a:p>
            <a:pPr algn="ctr"/>
            <a:r>
              <a:rPr lang="en-US" sz="4000">
                <a:solidFill>
                  <a:srgbClr val="FF0000"/>
                </a:solidFill>
                <a:effectLst>
                  <a:outerShdw blurRad="38100" dist="38100" dir="2700000" algn="tl">
                    <a:srgbClr val="000000">
                      <a:alpha val="43137"/>
                    </a:srgbClr>
                  </a:outerShdw>
                </a:effectLst>
              </a:rPr>
              <a:t>SWICHING &amp; ROUTING</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57240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Content</a:t>
            </a:r>
            <a:endParaRPr lang="vi-VN" dirty="0"/>
          </a:p>
        </p:txBody>
      </p:sp>
      <p:pic>
        <p:nvPicPr>
          <p:cNvPr id="3" name="Picture 4" descr="301P_192">
            <a:extLst>
              <a:ext uri="{FF2B5EF4-FFF2-40B4-BE49-F238E27FC236}">
                <a16:creationId xmlns:a16="http://schemas.microsoft.com/office/drawing/2014/main" id="{41F72AED-7AAA-30DA-7D3B-B891C4B701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7801" y="231247"/>
            <a:ext cx="3514600" cy="22438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p:cNvGraphicFramePr>
            <a:graphicFrameLocks noGrp="1"/>
          </p:cNvGraphicFramePr>
          <p:nvPr>
            <p:extLst>
              <p:ext uri="{D42A27DB-BD31-4B8C-83A1-F6EECF244321}">
                <p14:modId xmlns:p14="http://schemas.microsoft.com/office/powerpoint/2010/main" val="3014704851"/>
              </p:ext>
            </p:extLst>
          </p:nvPr>
        </p:nvGraphicFramePr>
        <p:xfrm>
          <a:off x="339600" y="2483283"/>
          <a:ext cx="8432800" cy="3810343"/>
        </p:xfrm>
        <a:graphic>
          <a:graphicData uri="http://schemas.openxmlformats.org/drawingml/2006/table">
            <a:tbl>
              <a:tblPr firstRow="1" firstCol="1" bandRow="1"/>
              <a:tblGrid>
                <a:gridCol w="917473">
                  <a:extLst>
                    <a:ext uri="{9D8B030D-6E8A-4147-A177-3AD203B41FA5}">
                      <a16:colId xmlns:a16="http://schemas.microsoft.com/office/drawing/2014/main" val="20000"/>
                    </a:ext>
                  </a:extLst>
                </a:gridCol>
                <a:gridCol w="5987845">
                  <a:extLst>
                    <a:ext uri="{9D8B030D-6E8A-4147-A177-3AD203B41FA5}">
                      <a16:colId xmlns:a16="http://schemas.microsoft.com/office/drawing/2014/main" val="20001"/>
                    </a:ext>
                  </a:extLst>
                </a:gridCol>
                <a:gridCol w="781664">
                  <a:extLst>
                    <a:ext uri="{9D8B030D-6E8A-4147-A177-3AD203B41FA5}">
                      <a16:colId xmlns:a16="http://schemas.microsoft.com/office/drawing/2014/main" val="20002"/>
                    </a:ext>
                  </a:extLst>
                </a:gridCol>
                <a:gridCol w="745818">
                  <a:extLst>
                    <a:ext uri="{9D8B030D-6E8A-4147-A177-3AD203B41FA5}">
                      <a16:colId xmlns:a16="http://schemas.microsoft.com/office/drawing/2014/main" val="20003"/>
                    </a:ext>
                  </a:extLst>
                </a:gridCol>
              </a:tblGrid>
              <a:tr h="685800">
                <a:tc>
                  <a:txBody>
                    <a:bodyPr/>
                    <a:lstStyle/>
                    <a:p>
                      <a:pPr algn="ctr">
                        <a:spcAft>
                          <a:spcPts val="0"/>
                        </a:spcAft>
                      </a:pPr>
                      <a:r>
                        <a:rPr lang="en-US" sz="1800" b="1" dirty="0">
                          <a:effectLst/>
                          <a:latin typeface="Times New Roman"/>
                          <a:ea typeface="Times New Roman"/>
                        </a:rPr>
                        <a:t>Chapter</a:t>
                      </a:r>
                      <a:endParaRPr lang="vi-VN" sz="1800" b="1" dirty="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algn="ctr">
                        <a:spcAft>
                          <a:spcPts val="0"/>
                        </a:spcAft>
                      </a:pPr>
                      <a:r>
                        <a:rPr lang="en-US" sz="1800" b="1">
                          <a:effectLst/>
                          <a:latin typeface="Times New Roman"/>
                          <a:ea typeface="Times New Roman"/>
                        </a:rPr>
                        <a:t>Contents</a:t>
                      </a:r>
                      <a:endParaRPr lang="vi-VN" sz="180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algn="ctr">
                        <a:spcAft>
                          <a:spcPts val="0"/>
                        </a:spcAft>
                      </a:pPr>
                      <a:r>
                        <a:rPr lang="en-US" sz="1800" b="1">
                          <a:effectLst/>
                          <a:latin typeface="Times New Roman"/>
                          <a:ea typeface="Times New Roman"/>
                        </a:rPr>
                        <a:t>Theory</a:t>
                      </a:r>
                      <a:endParaRPr lang="vi-VN" sz="180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algn="ctr">
                        <a:spcAft>
                          <a:spcPts val="0"/>
                        </a:spcAft>
                      </a:pPr>
                      <a:r>
                        <a:rPr lang="en-US" sz="1800" b="1">
                          <a:effectLst/>
                          <a:latin typeface="Times New Roman"/>
                          <a:ea typeface="Times New Roman"/>
                        </a:rPr>
                        <a:t>LAB</a:t>
                      </a:r>
                      <a:endParaRPr lang="vi-VN" sz="180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0"/>
                  </a:ext>
                </a:extLst>
              </a:tr>
              <a:tr h="442185">
                <a:tc>
                  <a:txBody>
                    <a:bodyPr/>
                    <a:lstStyle/>
                    <a:p>
                      <a:pPr algn="ctr">
                        <a:spcAft>
                          <a:spcPts val="0"/>
                        </a:spcAft>
                      </a:pPr>
                      <a:endParaRPr lang="vi-VN" sz="1800" b="1" dirty="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800" b="1" dirty="0">
                          <a:effectLst/>
                          <a:latin typeface="Times New Roman"/>
                          <a:ea typeface="Times New Roman"/>
                        </a:rPr>
                        <a:t> Over</a:t>
                      </a:r>
                      <a:r>
                        <a:rPr lang="en-US" sz="1800" b="1" baseline="0" dirty="0">
                          <a:effectLst/>
                          <a:latin typeface="Times New Roman"/>
                          <a:ea typeface="Times New Roman"/>
                        </a:rPr>
                        <a:t>view</a:t>
                      </a:r>
                      <a:endParaRPr lang="vi-VN" sz="1800" b="1" dirty="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vi-VN" sz="180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vi-VN" sz="180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42185">
                <a:tc>
                  <a:txBody>
                    <a:bodyPr/>
                    <a:lstStyle/>
                    <a:p>
                      <a:pPr algn="ctr">
                        <a:spcAft>
                          <a:spcPts val="0"/>
                        </a:spcAft>
                      </a:pPr>
                      <a:endParaRPr lang="vi-VN" sz="1800" b="1">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2000" b="1" dirty="0">
                          <a:effectLst/>
                          <a:latin typeface="Times New Roman"/>
                          <a:ea typeface="Times New Roman"/>
                        </a:rPr>
                        <a:t> Cisco IOS </a:t>
                      </a:r>
                      <a:r>
                        <a:rPr lang="en-US" sz="2000" b="1">
                          <a:effectLst/>
                          <a:latin typeface="Times New Roman"/>
                          <a:ea typeface="Times New Roman"/>
                        </a:rPr>
                        <a:t>and SDM</a:t>
                      </a:r>
                      <a:endParaRPr lang="vi-VN" sz="1800" b="1" dirty="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vi-VN" sz="180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vi-VN" sz="180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42185">
                <a:tc>
                  <a:txBody>
                    <a:bodyPr/>
                    <a:lstStyle/>
                    <a:p>
                      <a:pPr algn="ctr">
                        <a:spcAft>
                          <a:spcPts val="0"/>
                        </a:spcAft>
                      </a:pPr>
                      <a:endParaRPr lang="vi-VN" sz="1800" b="1">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1800" b="1" dirty="0">
                          <a:effectLst/>
                          <a:latin typeface="Times New Roman"/>
                          <a:ea typeface="Times New Roman"/>
                        </a:rPr>
                        <a:t>Distance Vector Routing Protocol </a:t>
                      </a:r>
                      <a:endParaRPr lang="vi-VN" sz="1800" b="1" dirty="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vi-VN" sz="180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vi-VN" sz="180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42067">
                <a:tc>
                  <a:txBody>
                    <a:bodyPr/>
                    <a:lstStyle/>
                    <a:p>
                      <a:pPr algn="ctr">
                        <a:spcAft>
                          <a:spcPts val="0"/>
                        </a:spcAft>
                      </a:pPr>
                      <a:endParaRPr lang="vi-VN" sz="1800" b="1">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a:effectLst/>
                          <a:latin typeface="Times New Roman"/>
                          <a:ea typeface="Times New Roman"/>
                        </a:rPr>
                        <a:t>Open Shortest Path First (OSPF) </a:t>
                      </a:r>
                      <a:endParaRPr lang="vi-VN" sz="1600" b="1">
                        <a:effectLst/>
                        <a:latin typeface="Times New Roman"/>
                        <a:ea typeface="Times New Roman"/>
                      </a:endParaRPr>
                    </a:p>
                    <a:p>
                      <a:pPr>
                        <a:spcAft>
                          <a:spcPts val="0"/>
                        </a:spcAft>
                      </a:pPr>
                      <a:endParaRPr lang="vi-VN" sz="1800" b="1" dirty="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vi-VN" sz="180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vi-VN" sz="180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42185">
                <a:tc>
                  <a:txBody>
                    <a:bodyPr/>
                    <a:lstStyle/>
                    <a:p>
                      <a:pPr algn="ctr">
                        <a:spcAft>
                          <a:spcPts val="0"/>
                        </a:spcAft>
                      </a:pPr>
                      <a:endParaRPr lang="vi-VN" sz="1800" b="1">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2000" b="1" dirty="0">
                          <a:effectLst/>
                          <a:latin typeface="Times New Roman"/>
                          <a:ea typeface="Times New Roman"/>
                        </a:rPr>
                        <a:t> Virtual </a:t>
                      </a:r>
                      <a:r>
                        <a:rPr lang="en-US" sz="2000" b="1">
                          <a:effectLst/>
                          <a:latin typeface="Times New Roman"/>
                          <a:ea typeface="Times New Roman"/>
                        </a:rPr>
                        <a:t>LAN Trunking</a:t>
                      </a:r>
                      <a:endParaRPr lang="vi-VN" sz="1800" b="1" dirty="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vi-VN" sz="180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vi-VN" sz="180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42185">
                <a:tc>
                  <a:txBody>
                    <a:bodyPr/>
                    <a:lstStyle/>
                    <a:p>
                      <a:pPr algn="ctr">
                        <a:spcAft>
                          <a:spcPts val="0"/>
                        </a:spcAft>
                      </a:pPr>
                      <a:endParaRPr lang="vi-VN" sz="1800" b="1">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sz="2000" b="1">
                          <a:effectLst/>
                          <a:latin typeface="Times New Roman"/>
                          <a:ea typeface="Times New Roman"/>
                        </a:rPr>
                        <a:t> VLAN Trunking &amp; Routing</a:t>
                      </a:r>
                      <a:endParaRPr lang="vi-VN" sz="1800" b="1" dirty="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vi-VN" sz="180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vi-VN" sz="1800">
                        <a:effectLst/>
                        <a:latin typeface="Times New Roman"/>
                        <a:ea typeface="Times New Roman"/>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64978">
                <a:tc gridSpan="2">
                  <a:txBody>
                    <a:bodyPr/>
                    <a:lstStyle/>
                    <a:p>
                      <a:pPr marL="0" algn="ctr" defTabSz="914400" rtl="0" eaLnBrk="1" latinLnBrk="0" hangingPunct="1">
                        <a:spcAft>
                          <a:spcPts val="0"/>
                        </a:spcAft>
                      </a:pPr>
                      <a:r>
                        <a:rPr lang="en-US" sz="1800" b="1" kern="1200">
                          <a:solidFill>
                            <a:schemeClr val="tx1"/>
                          </a:solidFill>
                          <a:effectLst/>
                          <a:latin typeface="Times New Roman"/>
                          <a:ea typeface="Times New Roman"/>
                          <a:cs typeface="+mn-cs"/>
                        </a:rPr>
                        <a:t>     TOTAL</a:t>
                      </a:r>
                      <a:endParaRPr lang="vi-VN" sz="1800" b="1" kern="1200">
                        <a:solidFill>
                          <a:schemeClr val="tx1"/>
                        </a:solidFill>
                        <a:effectLst/>
                        <a:latin typeface="Times New Roman"/>
                        <a:ea typeface="Times New Roman"/>
                        <a:cs typeface="+mn-c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hMerge="1">
                  <a:txBody>
                    <a:bodyPr/>
                    <a:lstStyle/>
                    <a:p>
                      <a:endParaRPr lang="vi-VN"/>
                    </a:p>
                  </a:txBody>
                  <a:tcPr/>
                </a:tc>
                <a:tc>
                  <a:txBody>
                    <a:bodyPr/>
                    <a:lstStyle/>
                    <a:p>
                      <a:pPr marL="0" algn="ctr" defTabSz="914400" rtl="0" eaLnBrk="1" latinLnBrk="0" hangingPunct="1">
                        <a:spcAft>
                          <a:spcPts val="0"/>
                        </a:spcAft>
                      </a:pPr>
                      <a:r>
                        <a:rPr lang="en-US" sz="1800" b="1" kern="1200">
                          <a:solidFill>
                            <a:schemeClr val="tx1"/>
                          </a:solidFill>
                          <a:effectLst/>
                          <a:latin typeface="Times New Roman"/>
                          <a:ea typeface="Times New Roman"/>
                          <a:cs typeface="+mn-cs"/>
                        </a:rPr>
                        <a:t>30 </a:t>
                      </a:r>
                      <a:endParaRPr lang="vi-VN" sz="1800" b="1" kern="1200">
                        <a:solidFill>
                          <a:schemeClr val="tx1"/>
                        </a:solidFill>
                        <a:effectLst/>
                        <a:latin typeface="Times New Roman"/>
                        <a:ea typeface="Times New Roman"/>
                        <a:cs typeface="+mn-c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p>
                      <a:pPr marL="0" algn="ctr" defTabSz="914400" rtl="0" eaLnBrk="1" latinLnBrk="0" hangingPunct="1">
                        <a:spcAft>
                          <a:spcPts val="0"/>
                        </a:spcAft>
                      </a:pPr>
                      <a:r>
                        <a:rPr lang="en-US" sz="1800" b="1" kern="1200" dirty="0">
                          <a:solidFill>
                            <a:schemeClr val="tx1"/>
                          </a:solidFill>
                          <a:effectLst/>
                          <a:latin typeface="Times New Roman"/>
                          <a:ea typeface="Times New Roman"/>
                          <a:cs typeface="+mn-cs"/>
                        </a:rPr>
                        <a:t>30 </a:t>
                      </a:r>
                      <a:endParaRPr lang="vi-VN" sz="1800" b="1" kern="1200" dirty="0">
                        <a:solidFill>
                          <a:schemeClr val="tx1"/>
                        </a:solidFill>
                        <a:effectLst/>
                        <a:latin typeface="Times New Roman"/>
                        <a:ea typeface="Times New Roman"/>
                        <a:cs typeface="+mn-cs"/>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92043484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a:t>
            </a:r>
          </a:p>
        </p:txBody>
      </p:sp>
      <p:sp>
        <p:nvSpPr>
          <p:cNvPr id="6" name="Rectangle 3"/>
          <p:cNvSpPr txBox="1">
            <a:spLocks noChangeArrowheads="1"/>
          </p:cNvSpPr>
          <p:nvPr/>
        </p:nvSpPr>
        <p:spPr bwMode="auto">
          <a:xfrm>
            <a:off x="650874" y="1905000"/>
            <a:ext cx="8340725" cy="562768"/>
          </a:xfrm>
          <a:prstGeom prst="rect">
            <a:avLst/>
          </a:prstGeom>
          <a:ln/>
        </p:spPr>
        <p:style>
          <a:lnRef idx="1">
            <a:schemeClr val="accent2"/>
          </a:lnRef>
          <a:fillRef idx="2">
            <a:schemeClr val="accent2"/>
          </a:fillRef>
          <a:effectRef idx="1">
            <a:schemeClr val="accent2"/>
          </a:effectRef>
          <a:fontRef idx="minor">
            <a:schemeClr val="dk1"/>
          </a:fontRef>
        </p:style>
        <p:txBody>
          <a:bodyPr vert="horz" wrap="square" lIns="82124" tIns="41061" rIns="82124" bIns="41061" numCol="1" anchor="t" anchorCtr="0" compatLnSpc="1">
            <a:prstTxWarp prst="textNoShape">
              <a:avLst/>
            </a:prstTxWarp>
          </a:bodyPr>
          <a:lstStyle>
            <a:lvl1pPr algn="l" defTabSz="814388" rtl="0" eaLnBrk="0" fontAlgn="base" hangingPunct="0">
              <a:lnSpc>
                <a:spcPct val="95000"/>
              </a:lnSpc>
              <a:spcBef>
                <a:spcPct val="35000"/>
              </a:spcBef>
              <a:spcAft>
                <a:spcPct val="0"/>
              </a:spcAft>
              <a:buClr>
                <a:schemeClr val="accent1"/>
              </a:buClr>
              <a:buSzPct val="100000"/>
              <a:buFont typeface="Arial"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9pPr>
          </a:lstStyle>
          <a:p>
            <a:r>
              <a:rPr lang="en-US" dirty="0"/>
              <a:t>Understanding the Host-to-Host Communications Model</a:t>
            </a:r>
          </a:p>
        </p:txBody>
      </p:sp>
      <p:sp>
        <p:nvSpPr>
          <p:cNvPr id="7" name="Rectangle 3"/>
          <p:cNvSpPr txBox="1">
            <a:spLocks noChangeArrowheads="1"/>
          </p:cNvSpPr>
          <p:nvPr/>
        </p:nvSpPr>
        <p:spPr bwMode="auto">
          <a:xfrm>
            <a:off x="636360" y="2971800"/>
            <a:ext cx="8326210" cy="533399"/>
          </a:xfrm>
          <a:prstGeom prst="rect">
            <a:avLst/>
          </a:prstGeom>
          <a:ln/>
        </p:spPr>
        <p:style>
          <a:lnRef idx="1">
            <a:schemeClr val="accent2"/>
          </a:lnRef>
          <a:fillRef idx="2">
            <a:schemeClr val="accent2"/>
          </a:fillRef>
          <a:effectRef idx="1">
            <a:schemeClr val="accent2"/>
          </a:effectRef>
          <a:fontRef idx="minor">
            <a:schemeClr val="dk1"/>
          </a:fontRef>
        </p:style>
        <p:txBody>
          <a:bodyPr vert="horz" wrap="square" lIns="82124" tIns="41061" rIns="82124" bIns="41061" numCol="1" anchor="t" anchorCtr="0" compatLnSpc="1">
            <a:prstTxWarp prst="textNoShape">
              <a:avLst/>
            </a:prstTxWarp>
          </a:bodyPr>
          <a:lstStyle>
            <a:lvl1pPr algn="l" defTabSz="814388" rtl="0" eaLnBrk="0" fontAlgn="base" hangingPunct="0">
              <a:lnSpc>
                <a:spcPct val="95000"/>
              </a:lnSpc>
              <a:spcBef>
                <a:spcPct val="35000"/>
              </a:spcBef>
              <a:spcAft>
                <a:spcPct val="0"/>
              </a:spcAft>
              <a:buClr>
                <a:schemeClr val="accent1"/>
              </a:buClr>
              <a:buSzPct val="100000"/>
              <a:buFont typeface="Arial"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9pPr>
          </a:lstStyle>
          <a:p>
            <a:r>
              <a:rPr lang="en-US" dirty="0"/>
              <a:t>Exploring the Packet Delivery Process</a:t>
            </a:r>
          </a:p>
          <a:p>
            <a:endParaRPr lang="en-US" dirty="0">
              <a:solidFill>
                <a:srgbClr val="FFFFFF"/>
              </a:solidFill>
            </a:endParaRPr>
          </a:p>
        </p:txBody>
      </p:sp>
      <p:sp>
        <p:nvSpPr>
          <p:cNvPr id="8" name="Rectangle 3"/>
          <p:cNvSpPr txBox="1">
            <a:spLocks noChangeArrowheads="1"/>
          </p:cNvSpPr>
          <p:nvPr/>
        </p:nvSpPr>
        <p:spPr bwMode="auto">
          <a:xfrm>
            <a:off x="650874" y="4038601"/>
            <a:ext cx="8340725" cy="609600"/>
          </a:xfrm>
          <a:prstGeom prst="rect">
            <a:avLst/>
          </a:prstGeom>
          <a:ln/>
        </p:spPr>
        <p:style>
          <a:lnRef idx="1">
            <a:schemeClr val="accent2"/>
          </a:lnRef>
          <a:fillRef idx="2">
            <a:schemeClr val="accent2"/>
          </a:fillRef>
          <a:effectRef idx="1">
            <a:schemeClr val="accent2"/>
          </a:effectRef>
          <a:fontRef idx="minor">
            <a:schemeClr val="dk1"/>
          </a:fontRef>
        </p:style>
        <p:txBody>
          <a:bodyPr vert="horz" wrap="square" lIns="82124" tIns="41061" rIns="82124" bIns="41061" numCol="1" anchor="t" anchorCtr="0" compatLnSpc="1">
            <a:prstTxWarp prst="textNoShape">
              <a:avLst/>
            </a:prstTxWarp>
          </a:bodyPr>
          <a:lstStyle>
            <a:lvl1pPr algn="l" defTabSz="814388" rtl="0" eaLnBrk="0" fontAlgn="base" hangingPunct="0">
              <a:lnSpc>
                <a:spcPct val="95000"/>
              </a:lnSpc>
              <a:spcBef>
                <a:spcPct val="35000"/>
              </a:spcBef>
              <a:spcAft>
                <a:spcPct val="0"/>
              </a:spcAft>
              <a:buClr>
                <a:schemeClr val="accent1"/>
              </a:buClr>
              <a:buSzPct val="100000"/>
              <a:buFont typeface="Arial"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9pPr>
          </a:lstStyle>
          <a:p>
            <a:r>
              <a:rPr lang="en-US" dirty="0">
                <a:solidFill>
                  <a:schemeClr val="tx1"/>
                </a:solidFill>
              </a:rPr>
              <a:t>Understanding the TCP/IP Internet Layer</a:t>
            </a:r>
          </a:p>
        </p:txBody>
      </p:sp>
      <p:sp>
        <p:nvSpPr>
          <p:cNvPr id="9" name="Rectangle 3"/>
          <p:cNvSpPr txBox="1">
            <a:spLocks noChangeArrowheads="1"/>
          </p:cNvSpPr>
          <p:nvPr/>
        </p:nvSpPr>
        <p:spPr bwMode="auto">
          <a:xfrm>
            <a:off x="683532" y="5181601"/>
            <a:ext cx="8279038" cy="533399"/>
          </a:xfrm>
          <a:prstGeom prst="rect">
            <a:avLst/>
          </a:prstGeom>
          <a:ln/>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Lst>
        </p:spPr>
        <p:style>
          <a:lnRef idx="1">
            <a:schemeClr val="accent2"/>
          </a:lnRef>
          <a:fillRef idx="2">
            <a:schemeClr val="accent2"/>
          </a:fillRef>
          <a:effectRef idx="1">
            <a:schemeClr val="accent2"/>
          </a:effectRef>
          <a:fontRef idx="minor">
            <a:schemeClr val="dk1"/>
          </a:fontRef>
        </p:style>
        <p:txBody>
          <a:bodyPr vert="horz" wrap="square" lIns="82124" tIns="41061" rIns="82124" bIns="41061" numCol="1" anchor="t" anchorCtr="0" compatLnSpc="1">
            <a:prstTxWarp prst="textNoShape">
              <a:avLst/>
            </a:prstTxWarp>
          </a:bodyPr>
          <a:lstStyle>
            <a:defPPr>
              <a:defRPr lang="en-US"/>
            </a:defPPr>
            <a:lvl1pPr defTabSz="814388">
              <a:lnSpc>
                <a:spcPct val="95000"/>
              </a:lnSpc>
              <a:spcBef>
                <a:spcPct val="35000"/>
              </a:spcBef>
              <a:buClr>
                <a:schemeClr val="accent1"/>
              </a:buClr>
              <a:buSzPct val="100000"/>
              <a:buFont typeface="Arial" charset="0"/>
              <a:defRPr sz="2400">
                <a:latin typeface="+mn-lt"/>
              </a:defRPr>
            </a:lvl1pPr>
            <a:lvl2pPr marL="342900" indent="-228600" defTabSz="814388">
              <a:lnSpc>
                <a:spcPct val="95000"/>
              </a:lnSpc>
              <a:spcBef>
                <a:spcPct val="35000"/>
              </a:spcBef>
              <a:buClr>
                <a:srgbClr val="0183B7"/>
              </a:buClr>
              <a:buFont typeface="Wingdings" pitchFamily="2" charset="2"/>
              <a:buChar char="§"/>
              <a:defRPr sz="2000">
                <a:solidFill>
                  <a:srgbClr val="000000"/>
                </a:solidFill>
                <a:latin typeface="+mn-lt"/>
              </a:defRPr>
            </a:lvl2pPr>
            <a:lvl3pPr marL="685800" indent="-228600" defTabSz="814388">
              <a:lnSpc>
                <a:spcPct val="95000"/>
              </a:lnSpc>
              <a:spcBef>
                <a:spcPct val="35000"/>
              </a:spcBef>
              <a:buClr>
                <a:srgbClr val="0183B7"/>
              </a:buClr>
              <a:buFont typeface="Arial" charset="0"/>
              <a:buChar char="–"/>
              <a:defRPr sz="2000">
                <a:solidFill>
                  <a:srgbClr val="000000"/>
                </a:solidFill>
                <a:latin typeface="+mn-lt"/>
              </a:defRPr>
            </a:lvl3pPr>
            <a:lvl4pPr marL="1028700" indent="-228600" defTabSz="814388">
              <a:lnSpc>
                <a:spcPct val="95000"/>
              </a:lnSpc>
              <a:spcBef>
                <a:spcPct val="35000"/>
              </a:spcBef>
              <a:buClr>
                <a:srgbClr val="0183B7"/>
              </a:buClr>
              <a:buFont typeface="Wingdings" pitchFamily="2" charset="2"/>
              <a:buChar char="§"/>
              <a:defRPr sz="2000">
                <a:solidFill>
                  <a:srgbClr val="000000"/>
                </a:solidFill>
                <a:latin typeface="+mn-lt"/>
              </a:defRPr>
            </a:lvl4pPr>
            <a:lvl5pPr marL="1371600" indent="-228600" defTabSz="814388">
              <a:lnSpc>
                <a:spcPct val="95000"/>
              </a:lnSpc>
              <a:spcBef>
                <a:spcPct val="35000"/>
              </a:spcBef>
              <a:buClr>
                <a:srgbClr val="0183B7"/>
              </a:buClr>
              <a:buFont typeface="Arial" charset="0"/>
              <a:buChar char="–"/>
              <a:defRPr sz="2000">
                <a:solidFill>
                  <a:srgbClr val="000000"/>
                </a:solidFill>
                <a:latin typeface="+mn-lt"/>
              </a:defRPr>
            </a:lvl5pPr>
            <a:lvl6pPr marL="1828800" indent="-228600" defTabSz="814388"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6pPr>
            <a:lvl7pPr marL="2286000" indent="-228600" defTabSz="814388"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7pPr>
            <a:lvl8pPr marL="2743200" indent="-228600" defTabSz="814388"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8pPr>
            <a:lvl9pPr marL="3200400" indent="-228600" defTabSz="814388"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9pPr>
          </a:lstStyle>
          <a:p>
            <a:r>
              <a:rPr lang="en-US" dirty="0"/>
              <a:t>Understanding WAN Technologies</a:t>
            </a:r>
          </a:p>
        </p:txBody>
      </p:sp>
    </p:spTree>
    <p:extLst>
      <p:ext uri="{BB962C8B-B14F-4D97-AF65-F5344CB8AC3E}">
        <p14:creationId xmlns:p14="http://schemas.microsoft.com/office/powerpoint/2010/main" val="3943213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ctrTitle"/>
          </p:nvPr>
        </p:nvSpPr>
        <p:spPr/>
        <p:txBody>
          <a:bodyPr/>
          <a:lstStyle/>
          <a:p>
            <a:r>
              <a:rPr lang="en-US">
                <a:solidFill>
                  <a:schemeClr val="tx1"/>
                </a:solidFill>
              </a:rPr>
              <a:t>Building a Simple Network</a:t>
            </a:r>
          </a:p>
        </p:txBody>
      </p:sp>
      <p:sp>
        <p:nvSpPr>
          <p:cNvPr id="83971" name="Rectangle 3"/>
          <p:cNvSpPr>
            <a:spLocks noGrp="1" noChangeArrowheads="1"/>
          </p:cNvSpPr>
          <p:nvPr>
            <p:ph type="subTitle" idx="1"/>
          </p:nvPr>
        </p:nvSpPr>
        <p:spPr>
          <a:xfrm>
            <a:off x="304800" y="762000"/>
            <a:ext cx="4454525" cy="1811337"/>
          </a:xfrm>
        </p:spPr>
        <p:txBody>
          <a:bodyPr/>
          <a:lstStyle/>
          <a:p>
            <a:r>
              <a:rPr lang="en-US" dirty="0"/>
              <a:t>Understanding the Host-to-Host Communications Model</a:t>
            </a:r>
          </a:p>
          <a:p>
            <a:endParaRPr lang="en-US" dirty="0">
              <a:solidFill>
                <a:srgbClr val="FFFFFF"/>
              </a:solidFill>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7" name="Picture 7" descr="301P_3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828800"/>
            <a:ext cx="4945063" cy="896938"/>
          </a:xfrm>
          <a:prstGeom prst="rect">
            <a:avLst/>
          </a:prstGeom>
          <a:noFill/>
          <a:extLst>
            <a:ext uri="{909E8E84-426E-40DD-AFC4-6F175D3DCCD1}">
              <a14:hiddenFill xmlns:a14="http://schemas.microsoft.com/office/drawing/2010/main">
                <a:solidFill>
                  <a:srgbClr val="FFFFFF"/>
                </a:solidFill>
              </a14:hiddenFill>
            </a:ext>
          </a:extLst>
        </p:spPr>
      </p:pic>
      <p:sp>
        <p:nvSpPr>
          <p:cNvPr id="87043" name="Rectangle 3"/>
          <p:cNvSpPr>
            <a:spLocks noGrp="1" noChangeArrowheads="1"/>
          </p:cNvSpPr>
          <p:nvPr>
            <p:ph type="title"/>
          </p:nvPr>
        </p:nvSpPr>
        <p:spPr/>
        <p:txBody>
          <a:bodyPr/>
          <a:lstStyle/>
          <a:p>
            <a:r>
              <a:rPr lang="en-US"/>
              <a:t>Understanding Host-to-Host Communications</a:t>
            </a:r>
          </a:p>
        </p:txBody>
      </p:sp>
      <p:sp>
        <p:nvSpPr>
          <p:cNvPr id="87048" name="Rectangle 8"/>
          <p:cNvSpPr>
            <a:spLocks noGrp="1" noChangeArrowheads="1"/>
          </p:cNvSpPr>
          <p:nvPr>
            <p:ph type="body" idx="1"/>
          </p:nvPr>
        </p:nvSpPr>
        <p:spPr>
          <a:xfrm>
            <a:off x="655638" y="3352800"/>
            <a:ext cx="7940675" cy="2638425"/>
          </a:xfrm>
        </p:spPr>
        <p:txBody>
          <a:bodyPr/>
          <a:lstStyle/>
          <a:p>
            <a:pPr lvl="1"/>
            <a:r>
              <a:rPr lang="en-US" dirty="0"/>
              <a:t>Older model</a:t>
            </a:r>
          </a:p>
          <a:p>
            <a:pPr lvl="2"/>
            <a:r>
              <a:rPr lang="en-US" dirty="0"/>
              <a:t>Proprietary (</a:t>
            </a:r>
            <a:r>
              <a:rPr lang="en-US" dirty="0" err="1"/>
              <a:t>sở</a:t>
            </a:r>
            <a:r>
              <a:rPr lang="en-US" dirty="0"/>
              <a:t> </a:t>
            </a:r>
            <a:r>
              <a:rPr lang="en-US" dirty="0" err="1"/>
              <a:t>hữu</a:t>
            </a:r>
            <a:r>
              <a:rPr lang="en-US" dirty="0"/>
              <a:t> </a:t>
            </a:r>
            <a:r>
              <a:rPr lang="en-US" dirty="0" err="1"/>
              <a:t>riêng</a:t>
            </a:r>
            <a:r>
              <a:rPr lang="en-US" dirty="0"/>
              <a:t>)</a:t>
            </a:r>
          </a:p>
          <a:p>
            <a:pPr lvl="2"/>
            <a:r>
              <a:rPr lang="en-US" dirty="0"/>
              <a:t>Application and combinations software controlled by one vendor</a:t>
            </a:r>
          </a:p>
          <a:p>
            <a:pPr lvl="1"/>
            <a:r>
              <a:rPr lang="en-US" dirty="0"/>
              <a:t>Standards-based model</a:t>
            </a:r>
          </a:p>
          <a:p>
            <a:pPr lvl="2"/>
            <a:r>
              <a:rPr lang="en-US" dirty="0"/>
              <a:t>Multivendor software</a:t>
            </a:r>
          </a:p>
          <a:p>
            <a:pPr lvl="2"/>
            <a:r>
              <a:rPr lang="en-US" dirty="0"/>
              <a:t>Layered approach</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5" name="Picture 5" descr="301P_0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500" y="1592263"/>
            <a:ext cx="2681288" cy="4198937"/>
          </a:xfrm>
          <a:prstGeom prst="rect">
            <a:avLst/>
          </a:prstGeom>
          <a:noFill/>
          <a:extLst>
            <a:ext uri="{909E8E84-426E-40DD-AFC4-6F175D3DCCD1}">
              <a14:hiddenFill xmlns:a14="http://schemas.microsoft.com/office/drawing/2010/main">
                <a:solidFill>
                  <a:srgbClr val="FFFFFF"/>
                </a:solidFill>
              </a14:hiddenFill>
            </a:ext>
          </a:extLst>
        </p:spPr>
      </p:pic>
      <p:sp>
        <p:nvSpPr>
          <p:cNvPr id="117763" name="Rectangle 3"/>
          <p:cNvSpPr>
            <a:spLocks noGrp="1" noChangeArrowheads="1"/>
          </p:cNvSpPr>
          <p:nvPr>
            <p:ph type="title"/>
          </p:nvPr>
        </p:nvSpPr>
        <p:spPr>
          <a:xfrm>
            <a:off x="650875" y="457200"/>
            <a:ext cx="8142288" cy="838200"/>
          </a:xfrm>
        </p:spPr>
        <p:txBody>
          <a:bodyPr/>
          <a:lstStyle/>
          <a:p>
            <a:r>
              <a:rPr lang="en-US" dirty="0"/>
              <a:t>Why a Layered Network Model?</a:t>
            </a:r>
          </a:p>
        </p:txBody>
      </p:sp>
      <p:sp>
        <p:nvSpPr>
          <p:cNvPr id="117764" name="Text Box 4"/>
          <p:cNvSpPr txBox="1">
            <a:spLocks noChangeArrowheads="1"/>
          </p:cNvSpPr>
          <p:nvPr/>
        </p:nvSpPr>
        <p:spPr bwMode="auto">
          <a:xfrm>
            <a:off x="4114800" y="1936750"/>
            <a:ext cx="4260850" cy="2627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2" tIns="36510" rIns="73022" bIns="36510">
            <a:spAutoFit/>
          </a:bodyPr>
          <a:lstStyle>
            <a:lvl1pPr>
              <a:defRPr sz="2400">
                <a:solidFill>
                  <a:schemeClr val="tx1"/>
                </a:solidFill>
                <a:latin typeface="Times" pitchFamily="18" charset="0"/>
              </a:defRPr>
            </a:lvl1pPr>
            <a:lvl2pPr marL="342900" indent="-228600">
              <a:defRPr sz="2400">
                <a:solidFill>
                  <a:schemeClr val="tx1"/>
                </a:solidFill>
                <a:latin typeface="Times" pitchFamily="18" charset="0"/>
              </a:defRPr>
            </a:lvl2pPr>
            <a:lvl3pPr>
              <a:defRPr sz="2400">
                <a:solidFill>
                  <a:schemeClr val="tx1"/>
                </a:solidFill>
                <a:latin typeface="Times" pitchFamily="18" charset="0"/>
              </a:defRPr>
            </a:lvl3pPr>
            <a:lvl4pPr>
              <a:defRPr sz="2400">
                <a:solidFill>
                  <a:schemeClr val="tx1"/>
                </a:solidFill>
                <a:latin typeface="Times" pitchFamily="18" charset="0"/>
              </a:defRPr>
            </a:lvl4pPr>
            <a:lvl5pPr>
              <a:defRPr sz="2400">
                <a:solidFill>
                  <a:schemeClr val="tx1"/>
                </a:solidFill>
                <a:latin typeface="Times" pitchFamily="18" charset="0"/>
              </a:defRPr>
            </a:lvl5pPr>
            <a:lvl6pPr fontAlgn="base">
              <a:spcBef>
                <a:spcPct val="0"/>
              </a:spcBef>
              <a:spcAft>
                <a:spcPct val="0"/>
              </a:spcAft>
              <a:defRPr sz="2400">
                <a:solidFill>
                  <a:schemeClr val="tx1"/>
                </a:solidFill>
                <a:latin typeface="Times" pitchFamily="18" charset="0"/>
              </a:defRPr>
            </a:lvl6pPr>
            <a:lvl7pPr fontAlgn="base">
              <a:spcBef>
                <a:spcPct val="0"/>
              </a:spcBef>
              <a:spcAft>
                <a:spcPct val="0"/>
              </a:spcAft>
              <a:defRPr sz="2400">
                <a:solidFill>
                  <a:schemeClr val="tx1"/>
                </a:solidFill>
                <a:latin typeface="Times" pitchFamily="18" charset="0"/>
              </a:defRPr>
            </a:lvl7pPr>
            <a:lvl8pPr fontAlgn="base">
              <a:spcBef>
                <a:spcPct val="0"/>
              </a:spcBef>
              <a:spcAft>
                <a:spcPct val="0"/>
              </a:spcAft>
              <a:defRPr sz="2400">
                <a:solidFill>
                  <a:schemeClr val="tx1"/>
                </a:solidFill>
                <a:latin typeface="Times" pitchFamily="18" charset="0"/>
              </a:defRPr>
            </a:lvl8pPr>
            <a:lvl9pPr fontAlgn="base">
              <a:spcBef>
                <a:spcPct val="0"/>
              </a:spcBef>
              <a:spcAft>
                <a:spcPct val="0"/>
              </a:spcAft>
              <a:defRPr sz="2400">
                <a:solidFill>
                  <a:schemeClr val="tx1"/>
                </a:solidFill>
                <a:latin typeface="Times" pitchFamily="18" charset="0"/>
              </a:defRPr>
            </a:lvl9pPr>
          </a:lstStyle>
          <a:p>
            <a:pPr lvl="1">
              <a:lnSpc>
                <a:spcPct val="95000"/>
              </a:lnSpc>
              <a:spcBef>
                <a:spcPct val="35000"/>
              </a:spcBef>
              <a:buClr>
                <a:schemeClr val="accent1"/>
              </a:buClr>
              <a:buFont typeface="Wingdings" pitchFamily="2" charset="2"/>
              <a:buChar char="§"/>
            </a:pPr>
            <a:r>
              <a:rPr lang="en-US" sz="2000" b="0" dirty="0">
                <a:latin typeface="Arial" charset="0"/>
              </a:rPr>
              <a:t>Reduces complexity</a:t>
            </a:r>
          </a:p>
          <a:p>
            <a:pPr lvl="1">
              <a:lnSpc>
                <a:spcPct val="95000"/>
              </a:lnSpc>
              <a:spcBef>
                <a:spcPct val="35000"/>
              </a:spcBef>
              <a:buClr>
                <a:schemeClr val="accent1"/>
              </a:buClr>
              <a:buFont typeface="Wingdings" pitchFamily="2" charset="2"/>
              <a:buChar char="§"/>
            </a:pPr>
            <a:r>
              <a:rPr lang="en-US" sz="2000" b="0" dirty="0">
                <a:latin typeface="Arial" charset="0"/>
              </a:rPr>
              <a:t>Standardizes interfaces</a:t>
            </a:r>
          </a:p>
          <a:p>
            <a:pPr lvl="1">
              <a:lnSpc>
                <a:spcPct val="95000"/>
              </a:lnSpc>
              <a:spcBef>
                <a:spcPct val="35000"/>
              </a:spcBef>
              <a:buClr>
                <a:schemeClr val="accent1"/>
              </a:buClr>
              <a:buFont typeface="Wingdings" pitchFamily="2" charset="2"/>
              <a:buChar char="§"/>
            </a:pPr>
            <a:r>
              <a:rPr lang="en-US" sz="2000" b="0" dirty="0">
                <a:latin typeface="Arial" charset="0"/>
              </a:rPr>
              <a:t>Facilitates modular engineering</a:t>
            </a:r>
          </a:p>
          <a:p>
            <a:pPr lvl="1">
              <a:lnSpc>
                <a:spcPct val="95000"/>
              </a:lnSpc>
              <a:spcBef>
                <a:spcPct val="35000"/>
              </a:spcBef>
              <a:buClr>
                <a:schemeClr val="accent1"/>
              </a:buClr>
              <a:buFont typeface="Wingdings" pitchFamily="2" charset="2"/>
              <a:buChar char="§"/>
            </a:pPr>
            <a:r>
              <a:rPr lang="en-US" sz="2000" b="0" dirty="0">
                <a:latin typeface="Arial" charset="0"/>
              </a:rPr>
              <a:t>Ensures interoperable technology</a:t>
            </a:r>
          </a:p>
          <a:p>
            <a:pPr lvl="1">
              <a:lnSpc>
                <a:spcPct val="95000"/>
              </a:lnSpc>
              <a:spcBef>
                <a:spcPct val="35000"/>
              </a:spcBef>
              <a:buClr>
                <a:schemeClr val="accent1"/>
              </a:buClr>
              <a:buFont typeface="Wingdings" pitchFamily="2" charset="2"/>
              <a:buChar char="§"/>
            </a:pPr>
            <a:r>
              <a:rPr lang="en-US" sz="2000" b="0" dirty="0">
                <a:latin typeface="Arial" charset="0"/>
              </a:rPr>
              <a:t>Accelerates evolution</a:t>
            </a:r>
          </a:p>
          <a:p>
            <a:pPr lvl="1">
              <a:lnSpc>
                <a:spcPct val="95000"/>
              </a:lnSpc>
              <a:spcBef>
                <a:spcPct val="35000"/>
              </a:spcBef>
              <a:buClr>
                <a:schemeClr val="accent1"/>
              </a:buClr>
              <a:buFont typeface="Wingdings" pitchFamily="2" charset="2"/>
              <a:buChar char="§"/>
            </a:pPr>
            <a:r>
              <a:rPr lang="en-US" sz="2000" b="0" dirty="0">
                <a:latin typeface="Arial" charset="0"/>
              </a:rPr>
              <a:t>Simplifies teaching and learning</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7764">
                                            <p:txEl>
                                              <p:pRg st="0" end="0"/>
                                            </p:txEl>
                                          </p:spTgt>
                                        </p:tgtEl>
                                        <p:attrNameLst>
                                          <p:attrName>style.visibility</p:attrName>
                                        </p:attrNameLst>
                                      </p:cBhvr>
                                      <p:to>
                                        <p:strVal val="visible"/>
                                      </p:to>
                                    </p:set>
                                    <p:anim calcmode="lin" valueType="num">
                                      <p:cBhvr additive="base">
                                        <p:cTn id="7" dur="500" fill="hold"/>
                                        <p:tgtEl>
                                          <p:spTgt spid="11776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776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7764">
                                            <p:txEl>
                                              <p:pRg st="1" end="1"/>
                                            </p:txEl>
                                          </p:spTgt>
                                        </p:tgtEl>
                                        <p:attrNameLst>
                                          <p:attrName>style.visibility</p:attrName>
                                        </p:attrNameLst>
                                      </p:cBhvr>
                                      <p:to>
                                        <p:strVal val="visible"/>
                                      </p:to>
                                    </p:set>
                                    <p:anim calcmode="lin" valueType="num">
                                      <p:cBhvr additive="base">
                                        <p:cTn id="13" dur="1600" fill="hold"/>
                                        <p:tgtEl>
                                          <p:spTgt spid="117764">
                                            <p:txEl>
                                              <p:pRg st="1" end="1"/>
                                            </p:txEl>
                                          </p:spTgt>
                                        </p:tgtEl>
                                        <p:attrNameLst>
                                          <p:attrName>ppt_x</p:attrName>
                                        </p:attrNameLst>
                                      </p:cBhvr>
                                      <p:tavLst>
                                        <p:tav tm="0">
                                          <p:val>
                                            <p:strVal val="#ppt_x"/>
                                          </p:val>
                                        </p:tav>
                                        <p:tav tm="100000">
                                          <p:val>
                                            <p:strVal val="#ppt_x"/>
                                          </p:val>
                                        </p:tav>
                                      </p:tavLst>
                                    </p:anim>
                                    <p:anim calcmode="lin" valueType="num">
                                      <p:cBhvr additive="base">
                                        <p:cTn id="14" dur="1600" fill="hold"/>
                                        <p:tgtEl>
                                          <p:spTgt spid="11776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7764">
                                            <p:txEl>
                                              <p:pRg st="2" end="2"/>
                                            </p:txEl>
                                          </p:spTgt>
                                        </p:tgtEl>
                                        <p:attrNameLst>
                                          <p:attrName>style.visibility</p:attrName>
                                        </p:attrNameLst>
                                      </p:cBhvr>
                                      <p:to>
                                        <p:strVal val="visible"/>
                                      </p:to>
                                    </p:set>
                                    <p:anim calcmode="lin" valueType="num">
                                      <p:cBhvr additive="base">
                                        <p:cTn id="19" dur="2000" fill="hold"/>
                                        <p:tgtEl>
                                          <p:spTgt spid="117764">
                                            <p:txEl>
                                              <p:pRg st="2" end="2"/>
                                            </p:txEl>
                                          </p:spTgt>
                                        </p:tgtEl>
                                        <p:attrNameLst>
                                          <p:attrName>ppt_x</p:attrName>
                                        </p:attrNameLst>
                                      </p:cBhvr>
                                      <p:tavLst>
                                        <p:tav tm="0">
                                          <p:val>
                                            <p:strVal val="#ppt_x"/>
                                          </p:val>
                                        </p:tav>
                                        <p:tav tm="100000">
                                          <p:val>
                                            <p:strVal val="#ppt_x"/>
                                          </p:val>
                                        </p:tav>
                                      </p:tavLst>
                                    </p:anim>
                                    <p:anim calcmode="lin" valueType="num">
                                      <p:cBhvr additive="base">
                                        <p:cTn id="20" dur="2000" fill="hold"/>
                                        <p:tgtEl>
                                          <p:spTgt spid="11776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7764">
                                            <p:txEl>
                                              <p:pRg st="3" end="3"/>
                                            </p:txEl>
                                          </p:spTgt>
                                        </p:tgtEl>
                                        <p:attrNameLst>
                                          <p:attrName>style.visibility</p:attrName>
                                        </p:attrNameLst>
                                      </p:cBhvr>
                                      <p:to>
                                        <p:strVal val="visible"/>
                                      </p:to>
                                    </p:set>
                                    <p:anim calcmode="lin" valueType="num">
                                      <p:cBhvr additive="base">
                                        <p:cTn id="25" dur="2300" fill="hold"/>
                                        <p:tgtEl>
                                          <p:spTgt spid="117764">
                                            <p:txEl>
                                              <p:pRg st="3" end="3"/>
                                            </p:txEl>
                                          </p:spTgt>
                                        </p:tgtEl>
                                        <p:attrNameLst>
                                          <p:attrName>ppt_x</p:attrName>
                                        </p:attrNameLst>
                                      </p:cBhvr>
                                      <p:tavLst>
                                        <p:tav tm="0">
                                          <p:val>
                                            <p:strVal val="#ppt_x"/>
                                          </p:val>
                                        </p:tav>
                                        <p:tav tm="100000">
                                          <p:val>
                                            <p:strVal val="#ppt_x"/>
                                          </p:val>
                                        </p:tav>
                                      </p:tavLst>
                                    </p:anim>
                                    <p:anim calcmode="lin" valueType="num">
                                      <p:cBhvr additive="base">
                                        <p:cTn id="26" dur="2300" fill="hold"/>
                                        <p:tgtEl>
                                          <p:spTgt spid="11776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7764">
                                            <p:txEl>
                                              <p:pRg st="4" end="4"/>
                                            </p:txEl>
                                          </p:spTgt>
                                        </p:tgtEl>
                                        <p:attrNameLst>
                                          <p:attrName>style.visibility</p:attrName>
                                        </p:attrNameLst>
                                      </p:cBhvr>
                                      <p:to>
                                        <p:strVal val="visible"/>
                                      </p:to>
                                    </p:set>
                                    <p:anim calcmode="lin" valueType="num">
                                      <p:cBhvr additive="base">
                                        <p:cTn id="31" dur="3100" fill="hold"/>
                                        <p:tgtEl>
                                          <p:spTgt spid="117764">
                                            <p:txEl>
                                              <p:pRg st="4" end="4"/>
                                            </p:txEl>
                                          </p:spTgt>
                                        </p:tgtEl>
                                        <p:attrNameLst>
                                          <p:attrName>ppt_x</p:attrName>
                                        </p:attrNameLst>
                                      </p:cBhvr>
                                      <p:tavLst>
                                        <p:tav tm="0">
                                          <p:val>
                                            <p:strVal val="#ppt_x"/>
                                          </p:val>
                                        </p:tav>
                                        <p:tav tm="100000">
                                          <p:val>
                                            <p:strVal val="#ppt_x"/>
                                          </p:val>
                                        </p:tav>
                                      </p:tavLst>
                                    </p:anim>
                                    <p:anim calcmode="lin" valueType="num">
                                      <p:cBhvr additive="base">
                                        <p:cTn id="32" dur="3100" fill="hold"/>
                                        <p:tgtEl>
                                          <p:spTgt spid="11776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7764">
                                            <p:txEl>
                                              <p:pRg st="5" end="5"/>
                                            </p:txEl>
                                          </p:spTgt>
                                        </p:tgtEl>
                                        <p:attrNameLst>
                                          <p:attrName>style.visibility</p:attrName>
                                        </p:attrNameLst>
                                      </p:cBhvr>
                                      <p:to>
                                        <p:strVal val="visible"/>
                                      </p:to>
                                    </p:set>
                                    <p:anim calcmode="lin" valueType="num">
                                      <p:cBhvr additive="base">
                                        <p:cTn id="37" dur="500" fill="hold"/>
                                        <p:tgtEl>
                                          <p:spTgt spid="11776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776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4"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50" name="Picture 6" descr="301P_0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600200"/>
            <a:ext cx="6719888" cy="4841875"/>
          </a:xfrm>
          <a:prstGeom prst="rect">
            <a:avLst/>
          </a:prstGeom>
          <a:noFill/>
          <a:extLst>
            <a:ext uri="{909E8E84-426E-40DD-AFC4-6F175D3DCCD1}">
              <a14:hiddenFill xmlns:a14="http://schemas.microsoft.com/office/drawing/2010/main">
                <a:solidFill>
                  <a:srgbClr val="FFFFFF"/>
                </a:solidFill>
              </a14:hiddenFill>
            </a:ext>
          </a:extLst>
        </p:spPr>
      </p:pic>
      <p:sp>
        <p:nvSpPr>
          <p:cNvPr id="134146" name="Rectangle 2"/>
          <p:cNvSpPr>
            <a:spLocks noGrp="1" noChangeArrowheads="1"/>
          </p:cNvSpPr>
          <p:nvPr>
            <p:ph type="title"/>
          </p:nvPr>
        </p:nvSpPr>
        <p:spPr>
          <a:xfrm>
            <a:off x="650875" y="457200"/>
            <a:ext cx="8142288" cy="838200"/>
          </a:xfrm>
        </p:spPr>
        <p:txBody>
          <a:bodyPr/>
          <a:lstStyle/>
          <a:p>
            <a:r>
              <a:rPr lang="en-US"/>
              <a:t>The Seven Layers of the OSI Model</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7" name="Picture 5" descr="301P_0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4913" y="1592263"/>
            <a:ext cx="6719887" cy="4232275"/>
          </a:xfrm>
          <a:prstGeom prst="rect">
            <a:avLst/>
          </a:prstGeom>
          <a:noFill/>
          <a:extLst>
            <a:ext uri="{909E8E84-426E-40DD-AFC4-6F175D3DCCD1}">
              <a14:hiddenFill xmlns:a14="http://schemas.microsoft.com/office/drawing/2010/main">
                <a:solidFill>
                  <a:srgbClr val="FFFFFF"/>
                </a:solidFill>
              </a14:hiddenFill>
            </a:ext>
          </a:extLst>
        </p:spPr>
      </p:pic>
      <p:sp>
        <p:nvSpPr>
          <p:cNvPr id="136194" name="Rectangle 2"/>
          <p:cNvSpPr>
            <a:spLocks noGrp="1" noChangeArrowheads="1"/>
          </p:cNvSpPr>
          <p:nvPr>
            <p:ph type="title"/>
          </p:nvPr>
        </p:nvSpPr>
        <p:spPr>
          <a:xfrm>
            <a:off x="650875" y="457200"/>
            <a:ext cx="8142288" cy="838200"/>
          </a:xfrm>
        </p:spPr>
        <p:txBody>
          <a:bodyPr/>
          <a:lstStyle/>
          <a:p>
            <a:r>
              <a:rPr lang="en-US" sz="2800"/>
              <a:t>The Seven Layers of the OSI Model (Cont.)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245" name="Picture 5" descr="301P_0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4913" y="1592263"/>
            <a:ext cx="6643687" cy="4133850"/>
          </a:xfrm>
          <a:prstGeom prst="rect">
            <a:avLst/>
          </a:prstGeom>
          <a:noFill/>
          <a:extLst>
            <a:ext uri="{909E8E84-426E-40DD-AFC4-6F175D3DCCD1}">
              <a14:hiddenFill xmlns:a14="http://schemas.microsoft.com/office/drawing/2010/main">
                <a:solidFill>
                  <a:srgbClr val="FFFFFF"/>
                </a:solidFill>
              </a14:hiddenFill>
            </a:ext>
          </a:extLst>
        </p:spPr>
      </p:pic>
      <p:sp>
        <p:nvSpPr>
          <p:cNvPr id="138242" name="Rectangle 2"/>
          <p:cNvSpPr>
            <a:spLocks noGrp="1" noChangeArrowheads="1"/>
          </p:cNvSpPr>
          <p:nvPr>
            <p:ph type="title"/>
          </p:nvPr>
        </p:nvSpPr>
        <p:spPr>
          <a:xfrm>
            <a:off x="650875" y="457200"/>
            <a:ext cx="8142288" cy="838200"/>
          </a:xfrm>
        </p:spPr>
        <p:txBody>
          <a:bodyPr/>
          <a:lstStyle/>
          <a:p>
            <a:r>
              <a:rPr lang="en-US" sz="2800"/>
              <a:t>The Seven Layers of the OSI Model (Cont.)</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293" name="Picture 5" descr="301P_0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4913" y="1592263"/>
            <a:ext cx="6719887" cy="4181475"/>
          </a:xfrm>
          <a:prstGeom prst="rect">
            <a:avLst/>
          </a:prstGeom>
          <a:noFill/>
          <a:extLst>
            <a:ext uri="{909E8E84-426E-40DD-AFC4-6F175D3DCCD1}">
              <a14:hiddenFill xmlns:a14="http://schemas.microsoft.com/office/drawing/2010/main">
                <a:solidFill>
                  <a:srgbClr val="FFFFFF"/>
                </a:solidFill>
              </a14:hiddenFill>
            </a:ext>
          </a:extLst>
        </p:spPr>
      </p:pic>
      <p:sp>
        <p:nvSpPr>
          <p:cNvPr id="140291" name="Rectangle 3"/>
          <p:cNvSpPr>
            <a:spLocks noGrp="1" noChangeArrowheads="1"/>
          </p:cNvSpPr>
          <p:nvPr>
            <p:ph type="title"/>
          </p:nvPr>
        </p:nvSpPr>
        <p:spPr>
          <a:xfrm>
            <a:off x="650875" y="457200"/>
            <a:ext cx="8142288" cy="838200"/>
          </a:xfrm>
        </p:spPr>
        <p:txBody>
          <a:bodyPr/>
          <a:lstStyle/>
          <a:p>
            <a:r>
              <a:rPr lang="en-US" sz="2800"/>
              <a:t>The Seven Layers of the OSI Model (Cont.)</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340" name="Picture 4" descr="301P_96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4913" y="1592263"/>
            <a:ext cx="6643687" cy="4133850"/>
          </a:xfrm>
          <a:prstGeom prst="rect">
            <a:avLst/>
          </a:prstGeom>
          <a:noFill/>
          <a:extLst>
            <a:ext uri="{909E8E84-426E-40DD-AFC4-6F175D3DCCD1}">
              <a14:hiddenFill xmlns:a14="http://schemas.microsoft.com/office/drawing/2010/main">
                <a:solidFill>
                  <a:srgbClr val="FFFFFF"/>
                </a:solidFill>
              </a14:hiddenFill>
            </a:ext>
          </a:extLst>
        </p:spPr>
      </p:pic>
      <p:sp>
        <p:nvSpPr>
          <p:cNvPr id="142338" name="Rectangle 2"/>
          <p:cNvSpPr>
            <a:spLocks noGrp="1" noChangeArrowheads="1"/>
          </p:cNvSpPr>
          <p:nvPr>
            <p:ph type="title"/>
          </p:nvPr>
        </p:nvSpPr>
        <p:spPr>
          <a:xfrm>
            <a:off x="650875" y="457200"/>
            <a:ext cx="8142288" cy="838200"/>
          </a:xfrm>
        </p:spPr>
        <p:txBody>
          <a:bodyPr/>
          <a:lstStyle/>
          <a:p>
            <a:r>
              <a:rPr lang="en-US" sz="2800"/>
              <a:t>The Seven Layers of the OSI Model (Cont.)</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8" name="Picture 4" descr="301P_96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4913" y="1543050"/>
            <a:ext cx="6796087" cy="4244975"/>
          </a:xfrm>
          <a:prstGeom prst="rect">
            <a:avLst/>
          </a:prstGeom>
          <a:noFill/>
          <a:extLst>
            <a:ext uri="{909E8E84-426E-40DD-AFC4-6F175D3DCCD1}">
              <a14:hiddenFill xmlns:a14="http://schemas.microsoft.com/office/drawing/2010/main">
                <a:solidFill>
                  <a:srgbClr val="FFFFFF"/>
                </a:solidFill>
              </a14:hiddenFill>
            </a:ext>
          </a:extLst>
        </p:spPr>
      </p:pic>
      <p:sp>
        <p:nvSpPr>
          <p:cNvPr id="144387" name="Rectangle 3"/>
          <p:cNvSpPr>
            <a:spLocks noGrp="1" noChangeArrowheads="1"/>
          </p:cNvSpPr>
          <p:nvPr>
            <p:ph type="title"/>
          </p:nvPr>
        </p:nvSpPr>
        <p:spPr>
          <a:xfrm>
            <a:off x="650875" y="457200"/>
            <a:ext cx="8142288" cy="838200"/>
          </a:xfrm>
        </p:spPr>
        <p:txBody>
          <a:bodyPr/>
          <a:lstStyle/>
          <a:p>
            <a:r>
              <a:rPr lang="en-US" sz="2800"/>
              <a:t>The Seven Layers of the OSI Model (Cont.)</a:t>
            </a:r>
          </a:p>
        </p:txBody>
      </p:sp>
      <p:sp>
        <p:nvSpPr>
          <p:cNvPr id="2" name="TextBox 1"/>
          <p:cNvSpPr txBox="1"/>
          <p:nvPr/>
        </p:nvSpPr>
        <p:spPr>
          <a:xfrm>
            <a:off x="609600" y="6019800"/>
            <a:ext cx="8229600" cy="424732"/>
          </a:xfrm>
          <a:prstGeom prst="rect">
            <a:avLst/>
          </a:prstGeom>
          <a:noFill/>
        </p:spPr>
        <p:txBody>
          <a:bodyPr wrap="square" rtlCol="0">
            <a:spAutoFit/>
          </a:bodyPr>
          <a:lstStyle/>
          <a:p>
            <a:r>
              <a:rPr lang="en-US" sz="2400" b="0" dirty="0">
                <a:latin typeface="Times" pitchFamily="18" charset="0"/>
              </a:rPr>
              <a:t>Note: D</a:t>
            </a:r>
            <a:r>
              <a:rPr lang="vi-VN" sz="2400" b="0" dirty="0">
                <a:latin typeface="Times" pitchFamily="18" charset="0"/>
              </a:rPr>
              <a:t>ịch vụ chuyển đổi </a:t>
            </a:r>
            <a:r>
              <a:rPr lang="en-US" sz="2400" b="0" dirty="0">
                <a:latin typeface="Times" pitchFamily="18" charset="0"/>
              </a:rPr>
              <a:t>file </a:t>
            </a:r>
            <a:r>
              <a:rPr lang="vi-VN" sz="2400" b="0" dirty="0">
                <a:latin typeface="Times" pitchFamily="18" charset="0"/>
              </a:rPr>
              <a:t>từ</a:t>
            </a:r>
            <a:r>
              <a:rPr lang="en-US" sz="2400" b="0" dirty="0">
                <a:latin typeface="Times" pitchFamily="18" charset="0"/>
              </a:rPr>
              <a:t> </a:t>
            </a:r>
            <a:r>
              <a:rPr lang="en-US" sz="2400" b="0" dirty="0" err="1">
                <a:latin typeface="Times" pitchFamily="18" charset="0"/>
              </a:rPr>
              <a:t>mã</a:t>
            </a:r>
            <a:r>
              <a:rPr lang="en-US" sz="2400" b="0" dirty="0">
                <a:latin typeface="Times" pitchFamily="18" charset="0"/>
              </a:rPr>
              <a:t> EBCDIC</a:t>
            </a:r>
            <a:r>
              <a:rPr lang="vi-VN" sz="2400" b="0" dirty="0">
                <a:latin typeface="Times" pitchFamily="18" charset="0"/>
              </a:rPr>
              <a:t> sang mã </a:t>
            </a:r>
            <a:r>
              <a:rPr lang="en-US" sz="2400" b="0" dirty="0">
                <a:latin typeface="Times" pitchFamily="18" charset="0"/>
              </a:rPr>
              <a:t>ASCII</a:t>
            </a:r>
            <a:endParaRPr lang="en-US" sz="2400"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436" name="Picture 4" descr="301P_96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4913" y="1449388"/>
            <a:ext cx="6719887" cy="4329112"/>
          </a:xfrm>
          <a:prstGeom prst="rect">
            <a:avLst/>
          </a:prstGeom>
          <a:noFill/>
          <a:extLst>
            <a:ext uri="{909E8E84-426E-40DD-AFC4-6F175D3DCCD1}">
              <a14:hiddenFill xmlns:a14="http://schemas.microsoft.com/office/drawing/2010/main">
                <a:solidFill>
                  <a:srgbClr val="FFFFFF"/>
                </a:solidFill>
              </a14:hiddenFill>
            </a:ext>
          </a:extLst>
        </p:spPr>
      </p:pic>
      <p:sp>
        <p:nvSpPr>
          <p:cNvPr id="146434" name="Rectangle 2"/>
          <p:cNvSpPr>
            <a:spLocks noGrp="1" noChangeArrowheads="1"/>
          </p:cNvSpPr>
          <p:nvPr>
            <p:ph type="title"/>
          </p:nvPr>
        </p:nvSpPr>
        <p:spPr>
          <a:xfrm>
            <a:off x="650875" y="457200"/>
            <a:ext cx="8142288" cy="838200"/>
          </a:xfrm>
        </p:spPr>
        <p:txBody>
          <a:bodyPr/>
          <a:lstStyle/>
          <a:p>
            <a:r>
              <a:rPr lang="en-US" sz="2800"/>
              <a:t>The Seven Layers of the OSI Model (Cont.)</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485" name="Picture 5" descr="301P_06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360488"/>
            <a:ext cx="6934200" cy="5092700"/>
          </a:xfrm>
          <a:prstGeom prst="rect">
            <a:avLst/>
          </a:prstGeom>
          <a:noFill/>
          <a:extLst>
            <a:ext uri="{909E8E84-426E-40DD-AFC4-6F175D3DCCD1}">
              <a14:hiddenFill xmlns:a14="http://schemas.microsoft.com/office/drawing/2010/main">
                <a:solidFill>
                  <a:srgbClr val="FFFFFF"/>
                </a:solidFill>
              </a14:hiddenFill>
            </a:ext>
          </a:extLst>
        </p:spPr>
      </p:pic>
      <p:sp>
        <p:nvSpPr>
          <p:cNvPr id="148483" name="Rectangle 3"/>
          <p:cNvSpPr>
            <a:spLocks noGrp="1" noChangeArrowheads="1"/>
          </p:cNvSpPr>
          <p:nvPr>
            <p:ph type="title"/>
          </p:nvPr>
        </p:nvSpPr>
        <p:spPr>
          <a:xfrm>
            <a:off x="650875" y="457200"/>
            <a:ext cx="8142288" cy="838200"/>
          </a:xfrm>
        </p:spPr>
        <p:txBody>
          <a:bodyPr/>
          <a:lstStyle/>
          <a:p>
            <a:r>
              <a:rPr lang="en-US" dirty="0"/>
              <a:t>Data Encapsulation</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33" name="Picture 5" descr="301P_0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295400"/>
            <a:ext cx="7010400" cy="5148263"/>
          </a:xfrm>
          <a:prstGeom prst="rect">
            <a:avLst/>
          </a:prstGeom>
          <a:noFill/>
          <a:extLst>
            <a:ext uri="{909E8E84-426E-40DD-AFC4-6F175D3DCCD1}">
              <a14:hiddenFill xmlns:a14="http://schemas.microsoft.com/office/drawing/2010/main">
                <a:solidFill>
                  <a:srgbClr val="FFFFFF"/>
                </a:solidFill>
              </a14:hiddenFill>
            </a:ext>
          </a:extLst>
        </p:spPr>
      </p:pic>
      <p:sp>
        <p:nvSpPr>
          <p:cNvPr id="150531" name="Rectangle 3"/>
          <p:cNvSpPr>
            <a:spLocks noGrp="1" noChangeArrowheads="1"/>
          </p:cNvSpPr>
          <p:nvPr>
            <p:ph type="title"/>
          </p:nvPr>
        </p:nvSpPr>
        <p:spPr>
          <a:xfrm>
            <a:off x="650875" y="457200"/>
            <a:ext cx="8142288" cy="838200"/>
          </a:xfrm>
        </p:spPr>
        <p:txBody>
          <a:bodyPr/>
          <a:lstStyle/>
          <a:p>
            <a:r>
              <a:rPr lang="en-US" dirty="0"/>
              <a:t>Data De-Encapsulation</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80" name="Picture 4" descr="301P_06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85925"/>
            <a:ext cx="7562850" cy="4510088"/>
          </a:xfrm>
          <a:prstGeom prst="rect">
            <a:avLst/>
          </a:prstGeom>
          <a:noFill/>
          <a:extLst>
            <a:ext uri="{909E8E84-426E-40DD-AFC4-6F175D3DCCD1}">
              <a14:hiddenFill xmlns:a14="http://schemas.microsoft.com/office/drawing/2010/main">
                <a:solidFill>
                  <a:srgbClr val="FFFFFF"/>
                </a:solidFill>
              </a14:hiddenFill>
            </a:ext>
          </a:extLst>
        </p:spPr>
      </p:pic>
      <p:sp>
        <p:nvSpPr>
          <p:cNvPr id="152579" name="Rectangle 3"/>
          <p:cNvSpPr>
            <a:spLocks noGrp="1" noChangeArrowheads="1"/>
          </p:cNvSpPr>
          <p:nvPr>
            <p:ph type="title"/>
          </p:nvPr>
        </p:nvSpPr>
        <p:spPr>
          <a:xfrm>
            <a:off x="650875" y="457200"/>
            <a:ext cx="8142288" cy="838200"/>
          </a:xfrm>
        </p:spPr>
        <p:txBody>
          <a:bodyPr/>
          <a:lstStyle/>
          <a:p>
            <a:r>
              <a:rPr lang="en-US"/>
              <a:t>Peer-to-Peer Communication	</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8" name="Picture 6" descr="301P_9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1589088"/>
            <a:ext cx="2379663" cy="4506912"/>
          </a:xfrm>
          <a:prstGeom prst="rect">
            <a:avLst/>
          </a:prstGeom>
          <a:noFill/>
          <a:extLst>
            <a:ext uri="{909E8E84-426E-40DD-AFC4-6F175D3DCCD1}">
              <a14:hiddenFill xmlns:a14="http://schemas.microsoft.com/office/drawing/2010/main">
                <a:solidFill>
                  <a:srgbClr val="FFFFFF"/>
                </a:solidFill>
              </a14:hiddenFill>
            </a:ext>
          </a:extLst>
        </p:spPr>
      </p:pic>
      <p:sp>
        <p:nvSpPr>
          <p:cNvPr id="110594" name="Rectangle 2"/>
          <p:cNvSpPr>
            <a:spLocks noGrp="1" noChangeArrowheads="1"/>
          </p:cNvSpPr>
          <p:nvPr>
            <p:ph type="body" idx="1"/>
          </p:nvPr>
        </p:nvSpPr>
        <p:spPr>
          <a:xfrm>
            <a:off x="650875" y="2582863"/>
            <a:ext cx="4648200" cy="22860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82121" tIns="45718" rIns="82121" bIns="45718"/>
          <a:lstStyle/>
          <a:p>
            <a:pPr lvl="1"/>
            <a:r>
              <a:rPr lang="en-US">
                <a:cs typeface="Times New Roman" pitchFamily="18" charset="0"/>
              </a:rPr>
              <a:t>Defines four layers</a:t>
            </a:r>
          </a:p>
          <a:p>
            <a:pPr lvl="1"/>
            <a:r>
              <a:rPr lang="en-US">
                <a:cs typeface="Times New Roman" pitchFamily="18" charset="0"/>
              </a:rPr>
              <a:t>Uses different names for Layers 1 through 3</a:t>
            </a:r>
          </a:p>
          <a:p>
            <a:pPr lvl="1"/>
            <a:r>
              <a:rPr lang="en-US">
                <a:cs typeface="Times New Roman" pitchFamily="18" charset="0"/>
              </a:rPr>
              <a:t>Combines Layers 5 through 7 into single application layer</a:t>
            </a:r>
          </a:p>
        </p:txBody>
      </p:sp>
      <p:sp>
        <p:nvSpPr>
          <p:cNvPr id="110596" name="Rectangle 4"/>
          <p:cNvSpPr>
            <a:spLocks noGrp="1" noChangeArrowheads="1"/>
          </p:cNvSpPr>
          <p:nvPr>
            <p:ph type="title"/>
          </p:nvPr>
        </p:nvSpPr>
        <p:spPr/>
        <p:txBody>
          <a:bodyPr/>
          <a:lstStyle/>
          <a:p>
            <a:r>
              <a:rPr lang="en-US"/>
              <a:t>TCP/IP Stack</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5" name="Picture 5" descr="301P_96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 y="1616075"/>
            <a:ext cx="7810500" cy="4937125"/>
          </a:xfrm>
          <a:prstGeom prst="rect">
            <a:avLst/>
          </a:prstGeom>
          <a:noFill/>
          <a:extLst>
            <a:ext uri="{909E8E84-426E-40DD-AFC4-6F175D3DCCD1}">
              <a14:hiddenFill xmlns:a14="http://schemas.microsoft.com/office/drawing/2010/main">
                <a:solidFill>
                  <a:srgbClr val="FFFFFF"/>
                </a:solidFill>
              </a14:hiddenFill>
            </a:ext>
          </a:extLst>
        </p:spPr>
      </p:pic>
      <p:sp>
        <p:nvSpPr>
          <p:cNvPr id="112642" name="Rectangle 2"/>
          <p:cNvSpPr>
            <a:spLocks noGrp="1" noChangeArrowheads="1"/>
          </p:cNvSpPr>
          <p:nvPr>
            <p:ph type="title"/>
          </p:nvPr>
        </p:nvSpPr>
        <p:spPr/>
        <p:txBody>
          <a:bodyPr/>
          <a:lstStyle/>
          <a:p>
            <a:r>
              <a:rPr lang="en-US"/>
              <a:t>TCP/IP Stack vs. the OSI Model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ctrTitle"/>
          </p:nvPr>
        </p:nvSpPr>
        <p:spPr/>
        <p:txBody>
          <a:bodyPr/>
          <a:lstStyle/>
          <a:p>
            <a:r>
              <a:rPr lang="en-US">
                <a:solidFill>
                  <a:schemeClr val="tx1"/>
                </a:solidFill>
              </a:rPr>
              <a:t>Building a Simple Network</a:t>
            </a:r>
          </a:p>
        </p:txBody>
      </p:sp>
      <p:sp>
        <p:nvSpPr>
          <p:cNvPr id="83971" name="Rectangle 3"/>
          <p:cNvSpPr>
            <a:spLocks noGrp="1" noChangeArrowheads="1"/>
          </p:cNvSpPr>
          <p:nvPr>
            <p:ph type="subTitle" idx="1"/>
          </p:nvPr>
        </p:nvSpPr>
        <p:spPr/>
        <p:txBody>
          <a:bodyPr/>
          <a:lstStyle/>
          <a:p>
            <a:r>
              <a:rPr lang="en-US" dirty="0"/>
              <a:t>Exploring the Packet Delivery Process</a:t>
            </a:r>
          </a:p>
          <a:p>
            <a:endParaRPr lang="en-US" dirty="0">
              <a:solidFill>
                <a:srgbClr val="FFFFFF"/>
              </a:solidFill>
            </a:endParaRPr>
          </a:p>
        </p:txBody>
      </p:sp>
    </p:spTree>
    <p:extLst>
      <p:ext uri="{BB962C8B-B14F-4D97-AF65-F5344CB8AC3E}">
        <p14:creationId xmlns:p14="http://schemas.microsoft.com/office/powerpoint/2010/main" val="230290634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56" name="Picture 16" descr="301P_3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752600"/>
            <a:ext cx="8469313" cy="2146300"/>
          </a:xfrm>
          <a:prstGeom prst="rect">
            <a:avLst/>
          </a:prstGeom>
          <a:noFill/>
          <a:extLst>
            <a:ext uri="{909E8E84-426E-40DD-AFC4-6F175D3DCCD1}">
              <a14:hiddenFill xmlns:a14="http://schemas.microsoft.com/office/drawing/2010/main">
                <a:solidFill>
                  <a:srgbClr val="FFFFFF"/>
                </a:solidFill>
              </a14:hiddenFill>
            </a:ext>
          </a:extLst>
        </p:spPr>
      </p:pic>
      <p:sp>
        <p:nvSpPr>
          <p:cNvPr id="87042" name="Rectangle 2"/>
          <p:cNvSpPr>
            <a:spLocks noGrp="1" noChangeArrowheads="1"/>
          </p:cNvSpPr>
          <p:nvPr>
            <p:ph type="title"/>
          </p:nvPr>
        </p:nvSpPr>
        <p:spPr>
          <a:xfrm>
            <a:off x="650875" y="457200"/>
            <a:ext cx="8142288" cy="838200"/>
          </a:xfrm>
        </p:spPr>
        <p:txBody>
          <a:bodyPr/>
          <a:lstStyle/>
          <a:p>
            <a:r>
              <a:rPr lang="en-US"/>
              <a:t>Layer 1 Devices</a:t>
            </a:r>
          </a:p>
        </p:txBody>
      </p:sp>
      <p:sp>
        <p:nvSpPr>
          <p:cNvPr id="87043" name="Rectangle 3"/>
          <p:cNvSpPr>
            <a:spLocks noGrp="1" noChangeArrowheads="1"/>
          </p:cNvSpPr>
          <p:nvPr>
            <p:ph type="body" idx="1"/>
          </p:nvPr>
        </p:nvSpPr>
        <p:spPr>
          <a:xfrm>
            <a:off x="533400" y="4191000"/>
            <a:ext cx="7940675" cy="2057400"/>
          </a:xfrm>
        </p:spPr>
        <p:txBody>
          <a:bodyPr/>
          <a:lstStyle/>
          <a:p>
            <a:pPr marL="347663" lvl="1" indent="-233363">
              <a:lnSpc>
                <a:spcPct val="85000"/>
              </a:lnSpc>
            </a:pPr>
            <a:r>
              <a:rPr lang="en-US" dirty="0"/>
              <a:t>Layer 1 provides the physical media and its encoding.</a:t>
            </a:r>
          </a:p>
          <a:p>
            <a:pPr marL="347663" lvl="1" indent="-233363">
              <a:lnSpc>
                <a:spcPct val="85000"/>
              </a:lnSpc>
            </a:pPr>
            <a:r>
              <a:rPr lang="en-US" dirty="0"/>
              <a:t>Examples:</a:t>
            </a:r>
          </a:p>
          <a:p>
            <a:pPr marL="682625" lvl="2" indent="-220663">
              <a:lnSpc>
                <a:spcPct val="85000"/>
              </a:lnSpc>
            </a:pPr>
            <a:r>
              <a:rPr lang="en-US" dirty="0"/>
              <a:t>Ethernet</a:t>
            </a:r>
          </a:p>
          <a:p>
            <a:pPr marL="682625" lvl="2" indent="-220663">
              <a:lnSpc>
                <a:spcPct val="85000"/>
              </a:lnSpc>
            </a:pPr>
            <a:r>
              <a:rPr lang="en-US" dirty="0"/>
              <a:t>Serial</a:t>
            </a:r>
          </a:p>
          <a:p>
            <a:pPr marL="682625" lvl="2" indent="-220663">
              <a:lnSpc>
                <a:spcPct val="85000"/>
              </a:lnSpc>
            </a:pPr>
            <a:r>
              <a:rPr lang="en-US" dirty="0"/>
              <a:t>Repeater</a:t>
            </a:r>
          </a:p>
          <a:p>
            <a:pPr marL="682625" lvl="2" indent="-220663">
              <a:lnSpc>
                <a:spcPct val="85000"/>
              </a:lnSpc>
            </a:pPr>
            <a:r>
              <a:rPr lang="en-US" dirty="0"/>
              <a:t>Physical interface of the NIC</a:t>
            </a:r>
          </a:p>
        </p:txBody>
      </p:sp>
    </p:spTree>
    <p:extLst>
      <p:ext uri="{BB962C8B-B14F-4D97-AF65-F5344CB8AC3E}">
        <p14:creationId xmlns:p14="http://schemas.microsoft.com/office/powerpoint/2010/main" val="382650746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650875" y="457200"/>
            <a:ext cx="8142288" cy="838200"/>
          </a:xfrm>
        </p:spPr>
        <p:txBody>
          <a:bodyPr/>
          <a:lstStyle/>
          <a:p>
            <a:r>
              <a:rPr lang="en-US"/>
              <a:t>Layer 2 Devices</a:t>
            </a:r>
          </a:p>
        </p:txBody>
      </p:sp>
      <p:sp>
        <p:nvSpPr>
          <p:cNvPr id="89091" name="Rectangle 3"/>
          <p:cNvSpPr>
            <a:spLocks noGrp="1" noChangeArrowheads="1"/>
          </p:cNvSpPr>
          <p:nvPr>
            <p:ph type="body" idx="1"/>
          </p:nvPr>
        </p:nvSpPr>
        <p:spPr>
          <a:xfrm>
            <a:off x="533400" y="3886200"/>
            <a:ext cx="7940675" cy="2057400"/>
          </a:xfrm>
        </p:spPr>
        <p:txBody>
          <a:bodyPr/>
          <a:lstStyle/>
          <a:p>
            <a:pPr marL="347663" lvl="1" indent="-233363"/>
            <a:r>
              <a:rPr lang="en-US" dirty="0"/>
              <a:t>Layer 2 devices provide an interface with the physical media.</a:t>
            </a:r>
          </a:p>
          <a:p>
            <a:pPr marL="347663" lvl="1" indent="-233363"/>
            <a:r>
              <a:rPr lang="en-US" dirty="0"/>
              <a:t>Examples:</a:t>
            </a:r>
          </a:p>
          <a:p>
            <a:pPr marL="682625" lvl="2" indent="-220663"/>
            <a:r>
              <a:rPr lang="en-US" dirty="0"/>
              <a:t>NIC</a:t>
            </a:r>
          </a:p>
          <a:p>
            <a:pPr marL="682625" lvl="2" indent="-220663"/>
            <a:r>
              <a:rPr lang="en-US" dirty="0"/>
              <a:t>Bridge</a:t>
            </a:r>
          </a:p>
          <a:p>
            <a:pPr marL="682625" lvl="2" indent="-220663"/>
            <a:r>
              <a:rPr lang="en-US" dirty="0"/>
              <a:t>Switch</a:t>
            </a:r>
          </a:p>
        </p:txBody>
      </p:sp>
      <p:pic>
        <p:nvPicPr>
          <p:cNvPr id="89109" name="Picture 21" descr="301P_3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752600"/>
            <a:ext cx="8469313" cy="2128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287422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650875" y="457200"/>
            <a:ext cx="8142288" cy="838200"/>
          </a:xfrm>
        </p:spPr>
        <p:txBody>
          <a:bodyPr/>
          <a:lstStyle/>
          <a:p>
            <a:r>
              <a:rPr lang="en-US"/>
              <a:t>Layer 2 Addressing</a:t>
            </a:r>
          </a:p>
        </p:txBody>
      </p:sp>
      <p:sp>
        <p:nvSpPr>
          <p:cNvPr id="91139" name="Rectangle 3"/>
          <p:cNvSpPr>
            <a:spLocks noGrp="1" noChangeArrowheads="1"/>
          </p:cNvSpPr>
          <p:nvPr>
            <p:ph type="body" idx="1"/>
          </p:nvPr>
        </p:nvSpPr>
        <p:spPr>
          <a:xfrm>
            <a:off x="533400" y="3886200"/>
            <a:ext cx="7940675" cy="2057400"/>
          </a:xfrm>
        </p:spPr>
        <p:txBody>
          <a:bodyPr/>
          <a:lstStyle/>
          <a:p>
            <a:pPr marL="347663" lvl="1" indent="-233363"/>
            <a:r>
              <a:rPr lang="en-US"/>
              <a:t>MAC address</a:t>
            </a:r>
          </a:p>
          <a:p>
            <a:pPr marL="347663" lvl="1" indent="-233363"/>
            <a:r>
              <a:rPr lang="en-US"/>
              <a:t>Assigned to end devices</a:t>
            </a:r>
          </a:p>
        </p:txBody>
      </p:sp>
      <p:pic>
        <p:nvPicPr>
          <p:cNvPr id="91160" name="Picture 24" descr="301P_3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752600"/>
            <a:ext cx="8469313" cy="2128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214284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209" name="Picture 25" descr="301P_3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752600"/>
            <a:ext cx="8469313" cy="2049463"/>
          </a:xfrm>
          <a:prstGeom prst="rect">
            <a:avLst/>
          </a:prstGeom>
          <a:noFill/>
          <a:extLst>
            <a:ext uri="{909E8E84-426E-40DD-AFC4-6F175D3DCCD1}">
              <a14:hiddenFill xmlns:a14="http://schemas.microsoft.com/office/drawing/2010/main">
                <a:solidFill>
                  <a:srgbClr val="FFFFFF"/>
                </a:solidFill>
              </a14:hiddenFill>
            </a:ext>
          </a:extLst>
        </p:spPr>
      </p:pic>
      <p:sp>
        <p:nvSpPr>
          <p:cNvPr id="93186" name="Rectangle 2"/>
          <p:cNvSpPr>
            <a:spLocks noGrp="1" noChangeArrowheads="1"/>
          </p:cNvSpPr>
          <p:nvPr>
            <p:ph type="title"/>
          </p:nvPr>
        </p:nvSpPr>
        <p:spPr>
          <a:xfrm>
            <a:off x="650875" y="457200"/>
            <a:ext cx="8142288" cy="838200"/>
          </a:xfrm>
        </p:spPr>
        <p:txBody>
          <a:bodyPr/>
          <a:lstStyle/>
          <a:p>
            <a:r>
              <a:rPr lang="en-US"/>
              <a:t>Layer 3 Devices and Their Function</a:t>
            </a:r>
          </a:p>
        </p:txBody>
      </p:sp>
      <p:sp>
        <p:nvSpPr>
          <p:cNvPr id="93187" name="Rectangle 3"/>
          <p:cNvSpPr>
            <a:spLocks noGrp="1" noChangeArrowheads="1"/>
          </p:cNvSpPr>
          <p:nvPr>
            <p:ph type="body" idx="1"/>
          </p:nvPr>
        </p:nvSpPr>
        <p:spPr>
          <a:xfrm>
            <a:off x="533400" y="3886200"/>
            <a:ext cx="7940675" cy="2590800"/>
          </a:xfrm>
        </p:spPr>
        <p:txBody>
          <a:bodyPr/>
          <a:lstStyle/>
          <a:p>
            <a:pPr marL="347663" lvl="1" indent="-233363"/>
            <a:r>
              <a:rPr lang="en-US"/>
              <a:t>The network layer provides connectivity and path selection between two host systems.</a:t>
            </a:r>
          </a:p>
          <a:p>
            <a:pPr marL="347663" lvl="1" indent="-233363"/>
            <a:r>
              <a:rPr lang="en-US"/>
              <a:t>In the host, this is the path between the data link layer and the upper layers of the NOS. </a:t>
            </a:r>
          </a:p>
          <a:p>
            <a:pPr marL="347663" lvl="1" indent="-233363"/>
            <a:r>
              <a:rPr lang="en-US"/>
              <a:t>In the router, it is the actual path across the network. </a:t>
            </a:r>
          </a:p>
        </p:txBody>
      </p:sp>
    </p:spTree>
    <p:extLst>
      <p:ext uri="{BB962C8B-B14F-4D97-AF65-F5344CB8AC3E}">
        <p14:creationId xmlns:p14="http://schemas.microsoft.com/office/powerpoint/2010/main" val="364130653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63" name="Picture 31" descr="301P_3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752600"/>
            <a:ext cx="8469313" cy="2049463"/>
          </a:xfrm>
          <a:prstGeom prst="rect">
            <a:avLst/>
          </a:prstGeom>
          <a:noFill/>
          <a:extLst>
            <a:ext uri="{909E8E84-426E-40DD-AFC4-6F175D3DCCD1}">
              <a14:hiddenFill xmlns:a14="http://schemas.microsoft.com/office/drawing/2010/main">
                <a:solidFill>
                  <a:srgbClr val="FFFFFF"/>
                </a:solidFill>
              </a14:hiddenFill>
            </a:ext>
          </a:extLst>
        </p:spPr>
      </p:pic>
      <p:sp>
        <p:nvSpPr>
          <p:cNvPr id="95234" name="Rectangle 2"/>
          <p:cNvSpPr>
            <a:spLocks noGrp="1" noChangeArrowheads="1"/>
          </p:cNvSpPr>
          <p:nvPr>
            <p:ph type="title"/>
          </p:nvPr>
        </p:nvSpPr>
        <p:spPr>
          <a:xfrm>
            <a:off x="650875" y="457200"/>
            <a:ext cx="8142288" cy="838200"/>
          </a:xfrm>
        </p:spPr>
        <p:txBody>
          <a:bodyPr/>
          <a:lstStyle/>
          <a:p>
            <a:r>
              <a:rPr lang="en-US"/>
              <a:t>Layer 3 Addressing</a:t>
            </a:r>
          </a:p>
        </p:txBody>
      </p:sp>
      <p:sp>
        <p:nvSpPr>
          <p:cNvPr id="95235" name="Rectangle 3"/>
          <p:cNvSpPr>
            <a:spLocks noGrp="1" noChangeArrowheads="1"/>
          </p:cNvSpPr>
          <p:nvPr>
            <p:ph type="body" idx="1"/>
          </p:nvPr>
        </p:nvSpPr>
        <p:spPr>
          <a:xfrm>
            <a:off x="533400" y="3886200"/>
            <a:ext cx="7940675" cy="2057400"/>
          </a:xfrm>
        </p:spPr>
        <p:txBody>
          <a:bodyPr/>
          <a:lstStyle/>
          <a:p>
            <a:pPr marL="347663" lvl="1" indent="-233363"/>
            <a:r>
              <a:rPr lang="en-US"/>
              <a:t>Each NOS has its own Layer 3 address format.</a:t>
            </a:r>
          </a:p>
          <a:p>
            <a:pPr marL="347663" lvl="1" indent="-233363"/>
            <a:r>
              <a:rPr lang="en-US"/>
              <a:t>OSI uses an NSAP.</a:t>
            </a:r>
          </a:p>
          <a:p>
            <a:pPr marL="347663" lvl="1" indent="-233363"/>
            <a:r>
              <a:rPr lang="en-US"/>
              <a:t>TCP/IP uses IP. </a:t>
            </a:r>
          </a:p>
        </p:txBody>
      </p:sp>
    </p:spTree>
    <p:extLst>
      <p:ext uri="{BB962C8B-B14F-4D97-AF65-F5344CB8AC3E}">
        <p14:creationId xmlns:p14="http://schemas.microsoft.com/office/powerpoint/2010/main" val="351862566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ctrTitle"/>
          </p:nvPr>
        </p:nvSpPr>
        <p:spPr/>
        <p:txBody>
          <a:bodyPr/>
          <a:lstStyle/>
          <a:p>
            <a:r>
              <a:rPr lang="en-US">
                <a:solidFill>
                  <a:schemeClr val="tx1"/>
                </a:solidFill>
              </a:rPr>
              <a:t>Building a Simple Network</a:t>
            </a:r>
          </a:p>
        </p:txBody>
      </p:sp>
      <p:sp>
        <p:nvSpPr>
          <p:cNvPr id="83971" name="Rectangle 3"/>
          <p:cNvSpPr>
            <a:spLocks noGrp="1" noChangeArrowheads="1"/>
          </p:cNvSpPr>
          <p:nvPr>
            <p:ph type="subTitle" idx="1"/>
          </p:nvPr>
        </p:nvSpPr>
        <p:spPr/>
        <p:txBody>
          <a:bodyPr/>
          <a:lstStyle/>
          <a:p>
            <a:r>
              <a:rPr lang="en-US" dirty="0">
                <a:solidFill>
                  <a:srgbClr val="FFFFFF"/>
                </a:solidFill>
              </a:rPr>
              <a:t>Understanding the TCP/IP Internet Layer</a:t>
            </a:r>
          </a:p>
        </p:txBody>
      </p:sp>
    </p:spTree>
    <p:extLst>
      <p:ext uri="{BB962C8B-B14F-4D97-AF65-F5344CB8AC3E}">
        <p14:creationId xmlns:p14="http://schemas.microsoft.com/office/powerpoint/2010/main" val="125895456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en-US" dirty="0"/>
              <a:t>Internet Protocol Characteristics</a:t>
            </a:r>
          </a:p>
        </p:txBody>
      </p:sp>
      <p:sp>
        <p:nvSpPr>
          <p:cNvPr id="130051" name="Rectangle 3"/>
          <p:cNvSpPr>
            <a:spLocks noGrp="1" noChangeArrowheads="1"/>
          </p:cNvSpPr>
          <p:nvPr>
            <p:ph type="body" idx="1"/>
          </p:nvPr>
        </p:nvSpPr>
        <p:spPr/>
        <p:txBody>
          <a:bodyPr/>
          <a:lstStyle/>
          <a:p>
            <a:pPr lvl="1"/>
            <a:r>
              <a:rPr lang="en-US" dirty="0"/>
              <a:t>Operates at network layer of OSI</a:t>
            </a:r>
          </a:p>
          <a:p>
            <a:pPr lvl="1"/>
            <a:r>
              <a:rPr lang="en-US" dirty="0"/>
              <a:t>Connectionless protocol</a:t>
            </a:r>
          </a:p>
          <a:p>
            <a:pPr lvl="1"/>
            <a:r>
              <a:rPr lang="en-US" dirty="0"/>
              <a:t>Packets treated independently</a:t>
            </a:r>
          </a:p>
          <a:p>
            <a:pPr lvl="1"/>
            <a:r>
              <a:rPr lang="en-US" dirty="0"/>
              <a:t>Hierarchical addressing</a:t>
            </a:r>
          </a:p>
          <a:p>
            <a:pPr lvl="1"/>
            <a:r>
              <a:rPr lang="en-US" dirty="0"/>
              <a:t>Best-effort delivery</a:t>
            </a:r>
          </a:p>
          <a:p>
            <a:pPr lvl="1"/>
            <a:r>
              <a:rPr lang="en-US" dirty="0"/>
              <a:t>No data-recovery features</a:t>
            </a:r>
          </a:p>
        </p:txBody>
      </p:sp>
    </p:spTree>
    <p:extLst>
      <p:ext uri="{BB962C8B-B14F-4D97-AF65-F5344CB8AC3E}">
        <p14:creationId xmlns:p14="http://schemas.microsoft.com/office/powerpoint/2010/main" val="4172479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US"/>
              <a:t>Why IP Addresses?</a:t>
            </a:r>
          </a:p>
        </p:txBody>
      </p:sp>
      <p:sp>
        <p:nvSpPr>
          <p:cNvPr id="87044" name="Rectangle 4"/>
          <p:cNvSpPr>
            <a:spLocks noGrp="1" noChangeArrowheads="1"/>
          </p:cNvSpPr>
          <p:nvPr>
            <p:ph type="body" sz="half" idx="1"/>
          </p:nvPr>
        </p:nvSpPr>
        <p:spPr>
          <a:xfrm>
            <a:off x="655638" y="1781175"/>
            <a:ext cx="7802562" cy="2714625"/>
          </a:xfrm>
        </p:spPr>
        <p:txBody>
          <a:bodyPr/>
          <a:lstStyle/>
          <a:p>
            <a:pPr lvl="1"/>
            <a:r>
              <a:rPr lang="en-US" dirty="0"/>
              <a:t>They uniquely identify each device on an IP network. </a:t>
            </a:r>
          </a:p>
          <a:p>
            <a:pPr lvl="1"/>
            <a:r>
              <a:rPr lang="en-US" dirty="0"/>
              <a:t>Every host (computer, networking device, peripheral) must have a unique address.</a:t>
            </a:r>
          </a:p>
          <a:p>
            <a:pPr lvl="1"/>
            <a:r>
              <a:rPr lang="en-US" dirty="0"/>
              <a:t>Host ID:</a:t>
            </a:r>
          </a:p>
          <a:p>
            <a:pPr lvl="2"/>
            <a:r>
              <a:rPr lang="en-US" dirty="0"/>
              <a:t>Identifies the individual host</a:t>
            </a:r>
          </a:p>
          <a:p>
            <a:pPr lvl="2"/>
            <a:r>
              <a:rPr lang="en-US" dirty="0"/>
              <a:t>Is assigned by organizations to individual devices</a:t>
            </a:r>
          </a:p>
          <a:p>
            <a:pPr lvl="1"/>
            <a:endParaRPr lang="en-US" dirty="0"/>
          </a:p>
        </p:txBody>
      </p:sp>
      <p:sp>
        <p:nvSpPr>
          <p:cNvPr id="87047" name="Text Box 7"/>
          <p:cNvSpPr txBox="1">
            <a:spLocks noChangeArrowheads="1"/>
          </p:cNvSpPr>
          <p:nvPr/>
        </p:nvSpPr>
        <p:spPr bwMode="auto">
          <a:xfrm>
            <a:off x="3352800" y="5715000"/>
            <a:ext cx="2478088" cy="522288"/>
          </a:xfrm>
          <a:prstGeom prst="rect">
            <a:avLst/>
          </a:prstGeom>
          <a:solidFill>
            <a:schemeClr val="accent1"/>
          </a:solidFill>
          <a:ln w="28575" algn="ctr">
            <a:solidFill>
              <a:schemeClr val="tx1"/>
            </a:solidFill>
            <a:miter lim="800000"/>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spAutoFit/>
          </a:bodyPr>
          <a:lstStyle>
            <a:lvl1pPr defTabSz="814388">
              <a:defRPr sz="2400">
                <a:solidFill>
                  <a:schemeClr val="tx1"/>
                </a:solidFill>
                <a:latin typeface="Times" pitchFamily="18" charset="0"/>
              </a:defRPr>
            </a:lvl1pPr>
            <a:lvl2pPr defTabSz="814388">
              <a:defRPr sz="2400">
                <a:solidFill>
                  <a:schemeClr val="tx1"/>
                </a:solidFill>
                <a:latin typeface="Times" pitchFamily="18" charset="0"/>
              </a:defRPr>
            </a:lvl2pPr>
            <a:lvl3pPr defTabSz="814388">
              <a:defRPr sz="2400">
                <a:solidFill>
                  <a:schemeClr val="tx1"/>
                </a:solidFill>
                <a:latin typeface="Times" pitchFamily="18" charset="0"/>
              </a:defRPr>
            </a:lvl3pPr>
            <a:lvl4pPr defTabSz="814388">
              <a:defRPr sz="2400">
                <a:solidFill>
                  <a:schemeClr val="tx1"/>
                </a:solidFill>
                <a:latin typeface="Times" pitchFamily="18" charset="0"/>
              </a:defRPr>
            </a:lvl4pPr>
            <a:lvl5pPr defTabSz="814388">
              <a:defRPr sz="2400">
                <a:solidFill>
                  <a:schemeClr val="tx1"/>
                </a:solidFill>
                <a:latin typeface="Times" pitchFamily="18" charset="0"/>
              </a:defRPr>
            </a:lvl5pPr>
            <a:lvl6pPr defTabSz="814388" fontAlgn="base">
              <a:spcBef>
                <a:spcPct val="0"/>
              </a:spcBef>
              <a:spcAft>
                <a:spcPct val="0"/>
              </a:spcAft>
              <a:defRPr sz="2400">
                <a:solidFill>
                  <a:schemeClr val="tx1"/>
                </a:solidFill>
                <a:latin typeface="Times" pitchFamily="18" charset="0"/>
              </a:defRPr>
            </a:lvl6pPr>
            <a:lvl7pPr defTabSz="814388" fontAlgn="base">
              <a:spcBef>
                <a:spcPct val="0"/>
              </a:spcBef>
              <a:spcAft>
                <a:spcPct val="0"/>
              </a:spcAft>
              <a:defRPr sz="2400">
                <a:solidFill>
                  <a:schemeClr val="tx1"/>
                </a:solidFill>
                <a:latin typeface="Times" pitchFamily="18" charset="0"/>
              </a:defRPr>
            </a:lvl7pPr>
            <a:lvl8pPr defTabSz="814388" fontAlgn="base">
              <a:spcBef>
                <a:spcPct val="0"/>
              </a:spcBef>
              <a:spcAft>
                <a:spcPct val="0"/>
              </a:spcAft>
              <a:defRPr sz="2400">
                <a:solidFill>
                  <a:schemeClr val="tx1"/>
                </a:solidFill>
                <a:latin typeface="Times" pitchFamily="18" charset="0"/>
              </a:defRPr>
            </a:lvl8pPr>
            <a:lvl9pPr defTabSz="814388" fontAlgn="base">
              <a:spcBef>
                <a:spcPct val="0"/>
              </a:spcBef>
              <a:spcAft>
                <a:spcPct val="0"/>
              </a:spcAft>
              <a:defRPr sz="2400">
                <a:solidFill>
                  <a:schemeClr val="tx1"/>
                </a:solidFill>
                <a:latin typeface="Times" pitchFamily="18" charset="0"/>
              </a:defRPr>
            </a:lvl9pPr>
          </a:lstStyle>
          <a:p>
            <a:r>
              <a:rPr lang="en-US" sz="3000" b="0">
                <a:solidFill>
                  <a:schemeClr val="bg1"/>
                </a:solidFill>
                <a:latin typeface="Arial" charset="0"/>
              </a:rPr>
              <a:t>Network.Host</a:t>
            </a:r>
          </a:p>
        </p:txBody>
      </p:sp>
    </p:spTree>
    <p:extLst>
      <p:ext uri="{BB962C8B-B14F-4D97-AF65-F5344CB8AC3E}">
        <p14:creationId xmlns:p14="http://schemas.microsoft.com/office/powerpoint/2010/main" val="65241856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650875" y="457200"/>
            <a:ext cx="8142288" cy="838200"/>
          </a:xfrm>
        </p:spPr>
        <p:txBody>
          <a:bodyPr/>
          <a:lstStyle/>
          <a:p>
            <a:r>
              <a:rPr lang="en-US" dirty="0"/>
              <a:t>IP PDU Header</a:t>
            </a:r>
          </a:p>
        </p:txBody>
      </p:sp>
      <p:pic>
        <p:nvPicPr>
          <p:cNvPr id="138246" name="Picture 6" descr="301P_9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209800"/>
            <a:ext cx="8077200" cy="3411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7748849"/>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5" name="Picture 5" descr="301P_3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7425" y="1862138"/>
            <a:ext cx="7013575" cy="2600325"/>
          </a:xfrm>
          <a:prstGeom prst="rect">
            <a:avLst/>
          </a:prstGeom>
          <a:noFill/>
          <a:extLst>
            <a:ext uri="{909E8E84-426E-40DD-AFC4-6F175D3DCCD1}">
              <a14:hiddenFill xmlns:a14="http://schemas.microsoft.com/office/drawing/2010/main">
                <a:solidFill>
                  <a:srgbClr val="FFFFFF"/>
                </a:solidFill>
              </a14:hiddenFill>
            </a:ext>
          </a:extLst>
        </p:spPr>
      </p:pic>
      <p:sp>
        <p:nvSpPr>
          <p:cNvPr id="133123" name="Rectangle 3"/>
          <p:cNvSpPr>
            <a:spLocks noGrp="1" noChangeArrowheads="1"/>
          </p:cNvSpPr>
          <p:nvPr>
            <p:ph type="title"/>
          </p:nvPr>
        </p:nvSpPr>
        <p:spPr>
          <a:xfrm>
            <a:off x="650875" y="457200"/>
            <a:ext cx="8142288" cy="838200"/>
          </a:xfrm>
        </p:spPr>
        <p:txBody>
          <a:bodyPr/>
          <a:lstStyle/>
          <a:p>
            <a:r>
              <a:rPr lang="en-US"/>
              <a:t>IP Address Format: Dotted Decimal Notation</a:t>
            </a:r>
          </a:p>
        </p:txBody>
      </p:sp>
      <p:sp>
        <p:nvSpPr>
          <p:cNvPr id="133124" name="Text Box 4"/>
          <p:cNvSpPr txBox="1">
            <a:spLocks noChangeArrowheads="1"/>
          </p:cNvSpPr>
          <p:nvPr/>
        </p:nvSpPr>
        <p:spPr bwMode="auto">
          <a:xfrm>
            <a:off x="1755775" y="4806950"/>
            <a:ext cx="5541963" cy="1055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68434" tIns="34216" rIns="68434" bIns="34216">
            <a:spAutoFit/>
          </a:bodyPr>
          <a:lstStyle>
            <a:lvl1pPr defTabSz="814388">
              <a:defRPr sz="2400">
                <a:solidFill>
                  <a:schemeClr val="tx1"/>
                </a:solidFill>
                <a:latin typeface="Times" pitchFamily="18" charset="0"/>
              </a:defRPr>
            </a:lvl1pPr>
            <a:lvl2pPr marL="381000" defTabSz="814388">
              <a:defRPr sz="2400">
                <a:solidFill>
                  <a:schemeClr val="tx1"/>
                </a:solidFill>
                <a:latin typeface="Times" pitchFamily="18" charset="0"/>
              </a:defRPr>
            </a:lvl2pPr>
            <a:lvl3pPr marL="762000" defTabSz="814388">
              <a:defRPr sz="2400">
                <a:solidFill>
                  <a:schemeClr val="tx1"/>
                </a:solidFill>
                <a:latin typeface="Times" pitchFamily="18" charset="0"/>
              </a:defRPr>
            </a:lvl3pPr>
            <a:lvl4pPr marL="1143000" defTabSz="814388">
              <a:defRPr sz="2400">
                <a:solidFill>
                  <a:schemeClr val="tx1"/>
                </a:solidFill>
                <a:latin typeface="Times" pitchFamily="18" charset="0"/>
              </a:defRPr>
            </a:lvl4pPr>
            <a:lvl5pPr marL="1524000" defTabSz="814388">
              <a:defRPr sz="2400">
                <a:solidFill>
                  <a:schemeClr val="tx1"/>
                </a:solidFill>
                <a:latin typeface="Times" pitchFamily="18" charset="0"/>
              </a:defRPr>
            </a:lvl5pPr>
            <a:lvl6pPr marL="1981200" defTabSz="814388" fontAlgn="base">
              <a:spcBef>
                <a:spcPct val="0"/>
              </a:spcBef>
              <a:spcAft>
                <a:spcPct val="0"/>
              </a:spcAft>
              <a:defRPr sz="2400">
                <a:solidFill>
                  <a:schemeClr val="tx1"/>
                </a:solidFill>
                <a:latin typeface="Times" pitchFamily="18" charset="0"/>
              </a:defRPr>
            </a:lvl6pPr>
            <a:lvl7pPr marL="2438400" defTabSz="814388" fontAlgn="base">
              <a:spcBef>
                <a:spcPct val="0"/>
              </a:spcBef>
              <a:spcAft>
                <a:spcPct val="0"/>
              </a:spcAft>
              <a:defRPr sz="2400">
                <a:solidFill>
                  <a:schemeClr val="tx1"/>
                </a:solidFill>
                <a:latin typeface="Times" pitchFamily="18" charset="0"/>
              </a:defRPr>
            </a:lvl7pPr>
            <a:lvl8pPr marL="2895600" defTabSz="814388" fontAlgn="base">
              <a:spcBef>
                <a:spcPct val="0"/>
              </a:spcBef>
              <a:spcAft>
                <a:spcPct val="0"/>
              </a:spcAft>
              <a:defRPr sz="2400">
                <a:solidFill>
                  <a:schemeClr val="tx1"/>
                </a:solidFill>
                <a:latin typeface="Times" pitchFamily="18" charset="0"/>
              </a:defRPr>
            </a:lvl8pPr>
            <a:lvl9pPr marL="3352800" defTabSz="814388" fontAlgn="base">
              <a:spcBef>
                <a:spcPct val="0"/>
              </a:spcBef>
              <a:spcAft>
                <a:spcPct val="0"/>
              </a:spcAft>
              <a:defRPr sz="2400">
                <a:solidFill>
                  <a:schemeClr val="tx1"/>
                </a:solidFill>
                <a:latin typeface="Times" pitchFamily="18" charset="0"/>
              </a:defRPr>
            </a:lvl9pPr>
          </a:lstStyle>
          <a:p>
            <a:pPr algn="ctr"/>
            <a:r>
              <a:rPr lang="en-US" b="0">
                <a:solidFill>
                  <a:schemeClr val="tx2"/>
                </a:solidFill>
                <a:latin typeface="Arial" charset="0"/>
              </a:rPr>
              <a:t>The binary-to-decimal and decimal-to-binary conversion will be detailed later in this course.</a:t>
            </a:r>
          </a:p>
        </p:txBody>
      </p:sp>
    </p:spTree>
    <p:extLst>
      <p:ext uri="{BB962C8B-B14F-4D97-AF65-F5344CB8AC3E}">
        <p14:creationId xmlns:p14="http://schemas.microsoft.com/office/powerpoint/2010/main" val="207468667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7" name="Picture 5" descr="301P_96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413" y="2416175"/>
            <a:ext cx="8383587" cy="2460625"/>
          </a:xfrm>
          <a:prstGeom prst="rect">
            <a:avLst/>
          </a:prstGeom>
          <a:noFill/>
          <a:extLst>
            <a:ext uri="{909E8E84-426E-40DD-AFC4-6F175D3DCCD1}">
              <a14:hiddenFill xmlns:a14="http://schemas.microsoft.com/office/drawing/2010/main">
                <a:solidFill>
                  <a:srgbClr val="FFFFFF"/>
                </a:solidFill>
              </a14:hiddenFill>
            </a:ext>
          </a:extLst>
        </p:spPr>
      </p:pic>
      <p:sp>
        <p:nvSpPr>
          <p:cNvPr id="95235" name="Rectangle 3"/>
          <p:cNvSpPr>
            <a:spLocks noGrp="1" noChangeArrowheads="1"/>
          </p:cNvSpPr>
          <p:nvPr>
            <p:ph type="title"/>
          </p:nvPr>
        </p:nvSpPr>
        <p:spPr/>
        <p:txBody>
          <a:bodyPr/>
          <a:lstStyle/>
          <a:p>
            <a:r>
              <a:rPr lang="en-US"/>
              <a:t>IP Address Classes: The First Octet</a:t>
            </a:r>
          </a:p>
        </p:txBody>
      </p:sp>
    </p:spTree>
    <p:extLst>
      <p:ext uri="{BB962C8B-B14F-4D97-AF65-F5344CB8AC3E}">
        <p14:creationId xmlns:p14="http://schemas.microsoft.com/office/powerpoint/2010/main" val="304041966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5" name="Picture 5" descr="301P_9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913" y="2057400"/>
            <a:ext cx="8472487" cy="2530475"/>
          </a:xfrm>
          <a:prstGeom prst="rect">
            <a:avLst/>
          </a:prstGeom>
          <a:noFill/>
          <a:extLst>
            <a:ext uri="{909E8E84-426E-40DD-AFC4-6F175D3DCCD1}">
              <a14:hiddenFill xmlns:a14="http://schemas.microsoft.com/office/drawing/2010/main">
                <a:solidFill>
                  <a:srgbClr val="FFFFFF"/>
                </a:solidFill>
              </a14:hiddenFill>
            </a:ext>
          </a:extLst>
        </p:spPr>
      </p:pic>
      <p:sp>
        <p:nvSpPr>
          <p:cNvPr id="97282" name="Rectangle 2"/>
          <p:cNvSpPr>
            <a:spLocks noGrp="1" noChangeArrowheads="1"/>
          </p:cNvSpPr>
          <p:nvPr>
            <p:ph type="title"/>
          </p:nvPr>
        </p:nvSpPr>
        <p:spPr/>
        <p:txBody>
          <a:bodyPr/>
          <a:lstStyle/>
          <a:p>
            <a:r>
              <a:rPr lang="en-US"/>
              <a:t>IP Address Ranges</a:t>
            </a:r>
          </a:p>
        </p:txBody>
      </p:sp>
      <p:sp>
        <p:nvSpPr>
          <p:cNvPr id="97283" name="Rectangle 3"/>
          <p:cNvSpPr>
            <a:spLocks noChangeArrowheads="1"/>
          </p:cNvSpPr>
          <p:nvPr/>
        </p:nvSpPr>
        <p:spPr bwMode="auto">
          <a:xfrm>
            <a:off x="134938" y="4870450"/>
            <a:ext cx="8609012"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121" tIns="41059" rIns="82121" bIns="41059"/>
          <a:lstStyle/>
          <a:p>
            <a:pPr marL="344488" lvl="1" indent="-230188" defTabSz="814388" eaLnBrk="1" hangingPunct="1">
              <a:lnSpc>
                <a:spcPct val="95000"/>
              </a:lnSpc>
              <a:spcBef>
                <a:spcPct val="35000"/>
              </a:spcBef>
              <a:buClr>
                <a:srgbClr val="0183B7"/>
              </a:buClr>
              <a:buFont typeface="Wingdings" pitchFamily="2" charset="2"/>
              <a:buNone/>
            </a:pPr>
            <a:r>
              <a:rPr lang="en-US" sz="2000" b="0">
                <a:solidFill>
                  <a:srgbClr val="000000"/>
                </a:solidFill>
              </a:rPr>
              <a:t>	*127 (01111111) is a Class A address reserved for loopback testing and cannot be assigned to a network. </a:t>
            </a:r>
          </a:p>
        </p:txBody>
      </p:sp>
    </p:spTree>
    <p:extLst>
      <p:ext uri="{BB962C8B-B14F-4D97-AF65-F5344CB8AC3E}">
        <p14:creationId xmlns:p14="http://schemas.microsoft.com/office/powerpoint/2010/main" val="25895288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8" name="Picture 6" descr="301P_9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00200"/>
            <a:ext cx="7848600" cy="3552825"/>
          </a:xfrm>
          <a:prstGeom prst="rect">
            <a:avLst/>
          </a:prstGeom>
          <a:noFill/>
          <a:extLst>
            <a:ext uri="{909E8E84-426E-40DD-AFC4-6F175D3DCCD1}">
              <a14:hiddenFill xmlns:a14="http://schemas.microsoft.com/office/drawing/2010/main">
                <a:solidFill>
                  <a:srgbClr val="FFFFFF"/>
                </a:solidFill>
              </a14:hiddenFill>
            </a:ext>
          </a:extLst>
        </p:spPr>
      </p:pic>
      <p:sp>
        <p:nvSpPr>
          <p:cNvPr id="100355" name="Rectangle 3"/>
          <p:cNvSpPr>
            <a:spLocks noGrp="1" noChangeArrowheads="1"/>
          </p:cNvSpPr>
          <p:nvPr>
            <p:ph type="title"/>
          </p:nvPr>
        </p:nvSpPr>
        <p:spPr>
          <a:xfrm>
            <a:off x="650875" y="457200"/>
            <a:ext cx="8142288" cy="838200"/>
          </a:xfrm>
        </p:spPr>
        <p:txBody>
          <a:bodyPr/>
          <a:lstStyle/>
          <a:p>
            <a:r>
              <a:rPr lang="en-US"/>
              <a:t>Reserved Address</a:t>
            </a:r>
          </a:p>
        </p:txBody>
      </p:sp>
    </p:spTree>
    <p:extLst>
      <p:ext uri="{BB962C8B-B14F-4D97-AF65-F5344CB8AC3E}">
        <p14:creationId xmlns:p14="http://schemas.microsoft.com/office/powerpoint/2010/main" val="324260472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3"/>
          <p:cNvSpPr>
            <a:spLocks noGrp="1" noChangeArrowheads="1"/>
          </p:cNvSpPr>
          <p:nvPr>
            <p:ph type="title"/>
          </p:nvPr>
        </p:nvSpPr>
        <p:spPr/>
        <p:txBody>
          <a:bodyPr/>
          <a:lstStyle/>
          <a:p>
            <a:r>
              <a:rPr lang="en-US"/>
              <a:t>Public IP Addresses</a:t>
            </a:r>
          </a:p>
        </p:txBody>
      </p:sp>
      <p:pic>
        <p:nvPicPr>
          <p:cNvPr id="102404" name="Picture 4" descr="327P_1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286000"/>
            <a:ext cx="7391400" cy="359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48237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Rectangle 3"/>
          <p:cNvSpPr>
            <a:spLocks noGrp="1" noChangeArrowheads="1"/>
          </p:cNvSpPr>
          <p:nvPr>
            <p:ph type="title"/>
          </p:nvPr>
        </p:nvSpPr>
        <p:spPr/>
        <p:txBody>
          <a:bodyPr/>
          <a:lstStyle/>
          <a:p>
            <a:r>
              <a:rPr lang="en-US"/>
              <a:t>Private IP Addresses</a:t>
            </a:r>
          </a:p>
        </p:txBody>
      </p:sp>
      <p:graphicFrame>
        <p:nvGraphicFramePr>
          <p:cNvPr id="141368" name="Group 56"/>
          <p:cNvGraphicFramePr>
            <a:graphicFrameLocks noGrp="1"/>
          </p:cNvGraphicFramePr>
          <p:nvPr/>
        </p:nvGraphicFramePr>
        <p:xfrm>
          <a:off x="990600" y="2209800"/>
          <a:ext cx="7315200" cy="3581400"/>
        </p:xfrm>
        <a:graphic>
          <a:graphicData uri="http://schemas.openxmlformats.org/drawingml/2006/table">
            <a:tbl>
              <a:tblPr/>
              <a:tblGrid>
                <a:gridCol w="1676400">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tblGrid>
              <a:tr h="914400">
                <a:tc>
                  <a:txBody>
                    <a:bodyPr/>
                    <a:lstStyle/>
                    <a:p>
                      <a:pPr marL="0" marR="0" lvl="0" indent="0" algn="ctr" defTabSz="814388"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2400" b="0" i="0" u="none" strike="noStrike" cap="none" normalizeH="0" baseline="0">
                          <a:ln>
                            <a:noFill/>
                          </a:ln>
                          <a:solidFill>
                            <a:schemeClr val="bg1"/>
                          </a:solidFill>
                          <a:effectLst/>
                          <a:latin typeface="Arial" charset="0"/>
                        </a:rPr>
                        <a:t>Class</a:t>
                      </a:r>
                    </a:p>
                  </a:txBody>
                  <a:tcPr marL="82296" marR="82296" marT="36576" marB="3657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15F85"/>
                    </a:solidFill>
                  </a:tcPr>
                </a:tc>
                <a:tc>
                  <a:txBody>
                    <a:bodyPr/>
                    <a:lstStyle/>
                    <a:p>
                      <a:pPr marL="0" marR="0" lvl="0" indent="0" algn="l" defTabSz="814388"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2400" b="0" i="0" u="none" strike="noStrike" cap="none" normalizeH="0" baseline="0">
                          <a:ln>
                            <a:noFill/>
                          </a:ln>
                          <a:solidFill>
                            <a:schemeClr val="bg1"/>
                          </a:solidFill>
                          <a:effectLst/>
                          <a:latin typeface="Arial" charset="0"/>
                        </a:rPr>
                        <a:t>Private Address Range</a:t>
                      </a:r>
                    </a:p>
                  </a:txBody>
                  <a:tcPr marL="82296" marR="82296" marT="36576" marB="36576"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15F85"/>
                    </a:solidFill>
                  </a:tcPr>
                </a:tc>
                <a:extLst>
                  <a:ext uri="{0D108BD9-81ED-4DB2-BD59-A6C34878D82A}">
                    <a16:rowId xmlns:a16="http://schemas.microsoft.com/office/drawing/2014/main" val="10000"/>
                  </a:ext>
                </a:extLst>
              </a:tr>
              <a:tr h="914400">
                <a:tc>
                  <a:txBody>
                    <a:bodyPr/>
                    <a:lstStyle/>
                    <a:p>
                      <a:pPr marL="0" marR="0" lvl="0" indent="0" algn="ctr" defTabSz="814388"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2200" b="0" i="0" u="none" strike="noStrike" cap="none" normalizeH="0" baseline="0">
                          <a:ln>
                            <a:noFill/>
                          </a:ln>
                          <a:solidFill>
                            <a:srgbClr val="000000"/>
                          </a:solidFill>
                          <a:effectLst/>
                          <a:latin typeface="Arial" charset="0"/>
                        </a:rPr>
                        <a:t>A</a:t>
                      </a:r>
                    </a:p>
                  </a:txBody>
                  <a:tcPr marL="82296" marR="82296" marT="36576" marB="3657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14388"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2200" b="0" i="0" u="none" strike="noStrike" cap="none" normalizeH="0" baseline="0">
                          <a:ln>
                            <a:noFill/>
                          </a:ln>
                          <a:solidFill>
                            <a:srgbClr val="000000"/>
                          </a:solidFill>
                          <a:effectLst/>
                          <a:latin typeface="Arial" charset="0"/>
                        </a:rPr>
                        <a:t>10.0.0.0 to 10.255.255.255</a:t>
                      </a:r>
                    </a:p>
                  </a:txBody>
                  <a:tcPr marL="82296" marR="82296" marT="36576" marB="3657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914400">
                <a:tc>
                  <a:txBody>
                    <a:bodyPr/>
                    <a:lstStyle/>
                    <a:p>
                      <a:pPr marL="0" marR="0" lvl="0" indent="0" algn="ctr" defTabSz="814388"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2200" b="0" i="0" u="none" strike="noStrike" cap="none" normalizeH="0" baseline="0">
                          <a:ln>
                            <a:noFill/>
                          </a:ln>
                          <a:solidFill>
                            <a:srgbClr val="000000"/>
                          </a:solidFill>
                          <a:effectLst/>
                          <a:latin typeface="Arial" charset="0"/>
                        </a:rPr>
                        <a:t>B</a:t>
                      </a:r>
                    </a:p>
                  </a:txBody>
                  <a:tcPr marL="82296" marR="82296" marT="36576" marB="3657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14388"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2200" b="0" i="0" u="none" strike="noStrike" cap="none" normalizeH="0" baseline="0">
                          <a:ln>
                            <a:noFill/>
                          </a:ln>
                          <a:solidFill>
                            <a:srgbClr val="000000"/>
                          </a:solidFill>
                          <a:effectLst/>
                          <a:latin typeface="Arial" charset="0"/>
                        </a:rPr>
                        <a:t>172.16.0.0 to 172.31.255.255</a:t>
                      </a:r>
                    </a:p>
                  </a:txBody>
                  <a:tcPr marL="82296" marR="82296" marT="36576" marB="3657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838200">
                <a:tc>
                  <a:txBody>
                    <a:bodyPr/>
                    <a:lstStyle/>
                    <a:p>
                      <a:pPr marL="0" marR="0" lvl="0" indent="0" algn="ctr" defTabSz="814388"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2200" b="0" i="0" u="none" strike="noStrike" cap="none" normalizeH="0" baseline="0">
                          <a:ln>
                            <a:noFill/>
                          </a:ln>
                          <a:solidFill>
                            <a:srgbClr val="000000"/>
                          </a:solidFill>
                          <a:effectLst/>
                          <a:latin typeface="Arial" charset="0"/>
                        </a:rPr>
                        <a:t>C</a:t>
                      </a:r>
                    </a:p>
                  </a:txBody>
                  <a:tcPr marL="82296" marR="82296" marT="36576" marB="3657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14388" rtl="0" eaLnBrk="1" fontAlgn="base" latinLnBrk="0" hangingPunct="1">
                        <a:lnSpc>
                          <a:spcPct val="95000"/>
                        </a:lnSpc>
                        <a:spcBef>
                          <a:spcPct val="35000"/>
                        </a:spcBef>
                        <a:spcAft>
                          <a:spcPct val="0"/>
                        </a:spcAft>
                        <a:buClr>
                          <a:schemeClr val="accent1"/>
                        </a:buClr>
                        <a:buSzPct val="100000"/>
                        <a:buFont typeface="Arial" charset="0"/>
                        <a:buNone/>
                        <a:tabLst/>
                      </a:pPr>
                      <a:r>
                        <a:rPr kumimoji="0" lang="en-US" sz="2200" b="0" i="0" u="none" strike="noStrike" cap="none" normalizeH="0" baseline="0">
                          <a:ln>
                            <a:noFill/>
                          </a:ln>
                          <a:solidFill>
                            <a:srgbClr val="000000"/>
                          </a:solidFill>
                          <a:effectLst/>
                          <a:latin typeface="Arial" charset="0"/>
                        </a:rPr>
                        <a:t>192.168.0.0 to 192.168.255</a:t>
                      </a:r>
                    </a:p>
                  </a:txBody>
                  <a:tcPr marL="82296" marR="82296" marT="36576" marB="36576"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53500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3" name="Picture 5" descr="301P_1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113" y="1371600"/>
            <a:ext cx="5195887" cy="5164138"/>
          </a:xfrm>
          <a:prstGeom prst="rect">
            <a:avLst/>
          </a:prstGeom>
          <a:noFill/>
          <a:extLst>
            <a:ext uri="{909E8E84-426E-40DD-AFC4-6F175D3DCCD1}">
              <a14:hiddenFill xmlns:a14="http://schemas.microsoft.com/office/drawing/2010/main">
                <a:solidFill>
                  <a:srgbClr val="FFFFFF"/>
                </a:solidFill>
              </a14:hiddenFill>
            </a:ext>
          </a:extLst>
        </p:spPr>
      </p:pic>
      <p:sp>
        <p:nvSpPr>
          <p:cNvPr id="104451" name="Rectangle 3"/>
          <p:cNvSpPr>
            <a:spLocks noGrp="1" noChangeArrowheads="1"/>
          </p:cNvSpPr>
          <p:nvPr>
            <p:ph type="title"/>
          </p:nvPr>
        </p:nvSpPr>
        <p:spPr/>
        <p:txBody>
          <a:bodyPr/>
          <a:lstStyle/>
          <a:p>
            <a:r>
              <a:rPr lang="en-US"/>
              <a:t>DHCP</a:t>
            </a:r>
          </a:p>
        </p:txBody>
      </p:sp>
    </p:spTree>
    <p:extLst>
      <p:ext uri="{BB962C8B-B14F-4D97-AF65-F5344CB8AC3E}">
        <p14:creationId xmlns:p14="http://schemas.microsoft.com/office/powerpoint/2010/main" val="306374388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1" name="Rectangle 3"/>
          <p:cNvSpPr>
            <a:spLocks noChangeArrowheads="1"/>
          </p:cNvSpPr>
          <p:nvPr/>
        </p:nvSpPr>
        <p:spPr bwMode="auto">
          <a:xfrm>
            <a:off x="609600" y="5410200"/>
            <a:ext cx="7848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121" tIns="45718" rIns="82121" bIns="45718"/>
          <a:lstStyle/>
          <a:p>
            <a:pPr marL="342900" lvl="1" indent="-228600" defTabSz="814388">
              <a:lnSpc>
                <a:spcPct val="95000"/>
              </a:lnSpc>
              <a:spcBef>
                <a:spcPct val="35000"/>
              </a:spcBef>
              <a:buClr>
                <a:schemeClr val="accent1"/>
              </a:buClr>
              <a:buFont typeface="Wingdings" pitchFamily="2" charset="2"/>
              <a:buChar char="§"/>
            </a:pPr>
            <a:r>
              <a:rPr lang="en-US" sz="2000" b="0"/>
              <a:t>Application specified in the TCP/IP suite</a:t>
            </a:r>
          </a:p>
          <a:p>
            <a:pPr marL="342900" lvl="1" indent="-228600" defTabSz="814388">
              <a:lnSpc>
                <a:spcPct val="95000"/>
              </a:lnSpc>
              <a:spcBef>
                <a:spcPct val="35000"/>
              </a:spcBef>
              <a:buClr>
                <a:schemeClr val="accent1"/>
              </a:buClr>
              <a:buFont typeface="Wingdings" pitchFamily="2" charset="2"/>
              <a:buChar char="§"/>
            </a:pPr>
            <a:r>
              <a:rPr lang="en-US" sz="2000" b="0"/>
              <a:t>A way to translate human-readable names into IP addresses</a:t>
            </a:r>
          </a:p>
        </p:txBody>
      </p:sp>
      <p:sp>
        <p:nvSpPr>
          <p:cNvPr id="135172" name="Rectangle 4"/>
          <p:cNvSpPr>
            <a:spLocks noGrp="1" noChangeArrowheads="1"/>
          </p:cNvSpPr>
          <p:nvPr>
            <p:ph type="title"/>
          </p:nvPr>
        </p:nvSpPr>
        <p:spPr/>
        <p:txBody>
          <a:bodyPr/>
          <a:lstStyle/>
          <a:p>
            <a:r>
              <a:rPr lang="en-US"/>
              <a:t>DNS</a:t>
            </a:r>
          </a:p>
        </p:txBody>
      </p:sp>
      <p:pic>
        <p:nvPicPr>
          <p:cNvPr id="135173" name="Picture 5" descr="301P_1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724025"/>
            <a:ext cx="5119688" cy="3457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49286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8" name="Picture 4" descr="301P_9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0500" y="2590800"/>
            <a:ext cx="6311900" cy="2341563"/>
          </a:xfrm>
          <a:prstGeom prst="rect">
            <a:avLst/>
          </a:prstGeom>
          <a:noFill/>
          <a:extLst>
            <a:ext uri="{909E8E84-426E-40DD-AFC4-6F175D3DCCD1}">
              <a14:hiddenFill xmlns:a14="http://schemas.microsoft.com/office/drawing/2010/main">
                <a:solidFill>
                  <a:srgbClr val="FFFFFF"/>
                </a:solidFill>
              </a14:hiddenFill>
            </a:ext>
          </a:extLst>
        </p:spPr>
      </p:pic>
      <p:sp>
        <p:nvSpPr>
          <p:cNvPr id="123909" name="Rectangle 5"/>
          <p:cNvSpPr>
            <a:spLocks noGrp="1" noChangeArrowheads="1"/>
          </p:cNvSpPr>
          <p:nvPr>
            <p:ph type="title"/>
          </p:nvPr>
        </p:nvSpPr>
        <p:spPr/>
        <p:txBody>
          <a:bodyPr/>
          <a:lstStyle/>
          <a:p>
            <a:r>
              <a:rPr lang="en-US"/>
              <a:t>UDP Header</a:t>
            </a:r>
          </a:p>
        </p:txBody>
      </p:sp>
    </p:spTree>
    <p:extLst>
      <p:ext uri="{BB962C8B-B14F-4D97-AF65-F5344CB8AC3E}">
        <p14:creationId xmlns:p14="http://schemas.microsoft.com/office/powerpoint/2010/main" val="420548200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t>TCP Characteristics</a:t>
            </a:r>
          </a:p>
        </p:txBody>
      </p:sp>
      <p:sp>
        <p:nvSpPr>
          <p:cNvPr id="90115" name="Rectangle 3"/>
          <p:cNvSpPr>
            <a:spLocks noGrp="1" noChangeArrowheads="1"/>
          </p:cNvSpPr>
          <p:nvPr>
            <p:ph type="body" idx="1"/>
          </p:nvPr>
        </p:nvSpPr>
        <p:spPr/>
        <p:txBody>
          <a:bodyPr/>
          <a:lstStyle/>
          <a:p>
            <a:pPr lvl="1"/>
            <a:r>
              <a:rPr lang="en-US"/>
              <a:t>Transport layer of the TCP/IP stack</a:t>
            </a:r>
          </a:p>
          <a:p>
            <a:pPr lvl="1"/>
            <a:r>
              <a:rPr lang="en-US"/>
              <a:t>Access to the network layer for applications</a:t>
            </a:r>
          </a:p>
          <a:p>
            <a:pPr lvl="1"/>
            <a:r>
              <a:rPr lang="en-US"/>
              <a:t>Connection-oriented protocol</a:t>
            </a:r>
          </a:p>
          <a:p>
            <a:pPr lvl="1"/>
            <a:r>
              <a:rPr lang="en-US"/>
              <a:t>Full-duplex mode operation</a:t>
            </a:r>
          </a:p>
          <a:p>
            <a:pPr lvl="1"/>
            <a:r>
              <a:rPr lang="en-US"/>
              <a:t>Error checking</a:t>
            </a:r>
          </a:p>
          <a:p>
            <a:pPr lvl="1"/>
            <a:r>
              <a:rPr lang="en-US"/>
              <a:t>Sequencing of data packets</a:t>
            </a:r>
          </a:p>
          <a:p>
            <a:pPr lvl="1"/>
            <a:r>
              <a:rPr lang="en-US"/>
              <a:t>Acknowledgement of receipt</a:t>
            </a:r>
          </a:p>
          <a:p>
            <a:pPr lvl="1"/>
            <a:r>
              <a:rPr lang="en-US"/>
              <a:t>Data-recovery features</a:t>
            </a:r>
          </a:p>
        </p:txBody>
      </p:sp>
    </p:spTree>
    <p:extLst>
      <p:ext uri="{BB962C8B-B14F-4D97-AF65-F5344CB8AC3E}">
        <p14:creationId xmlns:p14="http://schemas.microsoft.com/office/powerpoint/2010/main" val="14421674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7" name="Picture 5" descr="301P_9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665288"/>
            <a:ext cx="5597525" cy="4811712"/>
          </a:xfrm>
          <a:prstGeom prst="rect">
            <a:avLst/>
          </a:prstGeom>
          <a:noFill/>
          <a:extLst>
            <a:ext uri="{909E8E84-426E-40DD-AFC4-6F175D3DCCD1}">
              <a14:hiddenFill xmlns:a14="http://schemas.microsoft.com/office/drawing/2010/main">
                <a:solidFill>
                  <a:srgbClr val="FFFFFF"/>
                </a:solidFill>
              </a14:hiddenFill>
            </a:ext>
          </a:extLst>
        </p:spPr>
      </p:pic>
      <p:sp>
        <p:nvSpPr>
          <p:cNvPr id="125954" name="Rectangle 2"/>
          <p:cNvSpPr>
            <a:spLocks noGrp="1" noChangeArrowheads="1"/>
          </p:cNvSpPr>
          <p:nvPr>
            <p:ph type="title"/>
          </p:nvPr>
        </p:nvSpPr>
        <p:spPr>
          <a:xfrm>
            <a:off x="650875" y="457200"/>
            <a:ext cx="8142288" cy="838200"/>
          </a:xfrm>
        </p:spPr>
        <p:txBody>
          <a:bodyPr/>
          <a:lstStyle/>
          <a:p>
            <a:r>
              <a:rPr lang="en-US"/>
              <a:t>TCP Header</a:t>
            </a:r>
          </a:p>
        </p:txBody>
      </p:sp>
    </p:spTree>
    <p:extLst>
      <p:ext uri="{BB962C8B-B14F-4D97-AF65-F5344CB8AC3E}">
        <p14:creationId xmlns:p14="http://schemas.microsoft.com/office/powerpoint/2010/main" val="297449599"/>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41" name="Picture 5" descr="301P_9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513" y="1371600"/>
            <a:ext cx="3648075" cy="5257800"/>
          </a:xfrm>
          <a:prstGeom prst="rect">
            <a:avLst/>
          </a:prstGeom>
          <a:noFill/>
          <a:extLst>
            <a:ext uri="{909E8E84-426E-40DD-AFC4-6F175D3DCCD1}">
              <a14:hiddenFill xmlns:a14="http://schemas.microsoft.com/office/drawing/2010/main">
                <a:solidFill>
                  <a:srgbClr val="FFFFFF"/>
                </a:solidFill>
              </a14:hiddenFill>
            </a:ext>
          </a:extLst>
        </p:spPr>
      </p:pic>
      <p:pic>
        <p:nvPicPr>
          <p:cNvPr id="91142" name="Picture 6" descr="301P_9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025" y="1371600"/>
            <a:ext cx="3648075" cy="5257800"/>
          </a:xfrm>
          <a:prstGeom prst="rect">
            <a:avLst/>
          </a:prstGeom>
          <a:noFill/>
          <a:extLst>
            <a:ext uri="{909E8E84-426E-40DD-AFC4-6F175D3DCCD1}">
              <a14:hiddenFill xmlns:a14="http://schemas.microsoft.com/office/drawing/2010/main">
                <a:solidFill>
                  <a:srgbClr val="FFFFFF"/>
                </a:solidFill>
              </a14:hiddenFill>
            </a:ext>
          </a:extLst>
        </p:spPr>
      </p:pic>
      <p:sp>
        <p:nvSpPr>
          <p:cNvPr id="91139" name="Rectangle 3"/>
          <p:cNvSpPr>
            <a:spLocks noChangeArrowheads="1"/>
          </p:cNvSpPr>
          <p:nvPr/>
        </p:nvSpPr>
        <p:spPr bwMode="auto">
          <a:xfrm>
            <a:off x="4648200" y="1676400"/>
            <a:ext cx="2922588" cy="4346575"/>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tx1"/>
                  </a:outerShdw>
                </a:effectLst>
              </a14:hiddenEffects>
            </a:ext>
          </a:extLst>
        </p:spPr>
        <p:txBody>
          <a:bodyPr wrap="none" lIns="103580" tIns="51791" rIns="103580" bIns="51791" anchor="ctr"/>
          <a:lstStyle/>
          <a:p>
            <a:pPr marL="342900" lvl="1" indent="-228600" defTabSz="1028700">
              <a:lnSpc>
                <a:spcPct val="85000"/>
              </a:lnSpc>
              <a:spcBef>
                <a:spcPct val="35000"/>
              </a:spcBef>
              <a:buClr>
                <a:schemeClr val="accent1"/>
              </a:buClr>
              <a:buFont typeface="Wingdings" pitchFamily="2" charset="2"/>
              <a:buChar char="§"/>
              <a:tabLst>
                <a:tab pos="647700" algn="l"/>
              </a:tabLst>
            </a:pPr>
            <a:r>
              <a:rPr lang="en-US" sz="1900" b="0"/>
              <a:t>File transfer</a:t>
            </a:r>
          </a:p>
          <a:p>
            <a:pPr marL="685800" lvl="2" indent="-228600" defTabSz="1028700">
              <a:lnSpc>
                <a:spcPct val="85000"/>
              </a:lnSpc>
              <a:spcBef>
                <a:spcPct val="35000"/>
              </a:spcBef>
              <a:buClr>
                <a:schemeClr val="accent1"/>
              </a:buClr>
              <a:buFontTx/>
              <a:buChar char="–"/>
              <a:tabLst>
                <a:tab pos="647700" algn="l"/>
              </a:tabLst>
            </a:pPr>
            <a:r>
              <a:rPr lang="en-US" sz="1900" b="0"/>
              <a:t>FTP </a:t>
            </a:r>
          </a:p>
          <a:p>
            <a:pPr marL="685800" lvl="2" indent="-228600" defTabSz="1028700">
              <a:lnSpc>
                <a:spcPct val="85000"/>
              </a:lnSpc>
              <a:spcBef>
                <a:spcPct val="35000"/>
              </a:spcBef>
              <a:buClr>
                <a:schemeClr val="accent1"/>
              </a:buClr>
              <a:buFontTx/>
              <a:buChar char="–"/>
              <a:tabLst>
                <a:tab pos="647700" algn="l"/>
              </a:tabLst>
            </a:pPr>
            <a:r>
              <a:rPr lang="en-US" sz="1900" b="0"/>
              <a:t>TFTP </a:t>
            </a:r>
          </a:p>
          <a:p>
            <a:pPr marL="685800" lvl="2" indent="-228600" defTabSz="1028700">
              <a:lnSpc>
                <a:spcPct val="85000"/>
              </a:lnSpc>
              <a:spcBef>
                <a:spcPct val="35000"/>
              </a:spcBef>
              <a:buClr>
                <a:schemeClr val="accent1"/>
              </a:buClr>
              <a:buFontTx/>
              <a:buChar char="–"/>
              <a:tabLst>
                <a:tab pos="647700" algn="l"/>
              </a:tabLst>
            </a:pPr>
            <a:r>
              <a:rPr lang="en-US" sz="1900" b="0"/>
              <a:t>Network File System</a:t>
            </a:r>
          </a:p>
          <a:p>
            <a:pPr marL="342900" lvl="1" indent="-228600" defTabSz="1028700">
              <a:lnSpc>
                <a:spcPct val="85000"/>
              </a:lnSpc>
              <a:spcBef>
                <a:spcPct val="35000"/>
              </a:spcBef>
              <a:buClr>
                <a:schemeClr val="accent1"/>
              </a:buClr>
              <a:buFont typeface="Wingdings" pitchFamily="2" charset="2"/>
              <a:buChar char="§"/>
              <a:tabLst>
                <a:tab pos="647700" algn="l"/>
              </a:tabLst>
            </a:pPr>
            <a:r>
              <a:rPr lang="en-US" sz="1900" b="0"/>
              <a:t>E-mail</a:t>
            </a:r>
          </a:p>
          <a:p>
            <a:pPr marL="685800" lvl="2" indent="-228600" defTabSz="1028700">
              <a:lnSpc>
                <a:spcPct val="85000"/>
              </a:lnSpc>
              <a:spcBef>
                <a:spcPct val="35000"/>
              </a:spcBef>
              <a:buClr>
                <a:schemeClr val="accent1"/>
              </a:buClr>
              <a:buFontTx/>
              <a:buChar char="–"/>
              <a:tabLst>
                <a:tab pos="647700" algn="l"/>
              </a:tabLst>
            </a:pPr>
            <a:r>
              <a:rPr lang="en-US" sz="1900" b="0"/>
              <a:t>Simple Mail Transfer Protocol</a:t>
            </a:r>
          </a:p>
          <a:p>
            <a:pPr marL="342900" lvl="1" indent="-228600" defTabSz="1028700">
              <a:lnSpc>
                <a:spcPct val="85000"/>
              </a:lnSpc>
              <a:spcBef>
                <a:spcPct val="35000"/>
              </a:spcBef>
              <a:buClr>
                <a:schemeClr val="accent1"/>
              </a:buClr>
              <a:buFont typeface="Wingdings" pitchFamily="2" charset="2"/>
              <a:buChar char="§"/>
              <a:tabLst>
                <a:tab pos="647700" algn="l"/>
              </a:tabLst>
            </a:pPr>
            <a:r>
              <a:rPr lang="en-US" sz="1900" b="0"/>
              <a:t>Remote login</a:t>
            </a:r>
          </a:p>
          <a:p>
            <a:pPr marL="685800" lvl="2" indent="-228600" defTabSz="1028700">
              <a:lnSpc>
                <a:spcPct val="85000"/>
              </a:lnSpc>
              <a:spcBef>
                <a:spcPct val="35000"/>
              </a:spcBef>
              <a:buClr>
                <a:schemeClr val="accent1"/>
              </a:buClr>
              <a:buFontTx/>
              <a:buChar char="–"/>
              <a:tabLst>
                <a:tab pos="647700" algn="l"/>
              </a:tabLst>
            </a:pPr>
            <a:r>
              <a:rPr lang="en-US" sz="1900" b="0"/>
              <a:t>Telnet </a:t>
            </a:r>
          </a:p>
          <a:p>
            <a:pPr marL="685800" lvl="2" indent="-228600" defTabSz="1028700">
              <a:lnSpc>
                <a:spcPct val="85000"/>
              </a:lnSpc>
              <a:spcBef>
                <a:spcPct val="35000"/>
              </a:spcBef>
              <a:buClr>
                <a:schemeClr val="accent1"/>
              </a:buClr>
              <a:buFontTx/>
              <a:buChar char="–"/>
              <a:tabLst>
                <a:tab pos="647700" algn="l"/>
              </a:tabLst>
            </a:pPr>
            <a:r>
              <a:rPr lang="en-US" sz="1900" b="0"/>
              <a:t>rlogin </a:t>
            </a:r>
          </a:p>
          <a:p>
            <a:pPr marL="342900" lvl="1" indent="-228600" defTabSz="1028700">
              <a:lnSpc>
                <a:spcPct val="85000"/>
              </a:lnSpc>
              <a:spcBef>
                <a:spcPct val="35000"/>
              </a:spcBef>
              <a:buClr>
                <a:schemeClr val="accent1"/>
              </a:buClr>
              <a:buFont typeface="Wingdings" pitchFamily="2" charset="2"/>
              <a:buChar char="§"/>
              <a:tabLst>
                <a:tab pos="647700" algn="l"/>
              </a:tabLst>
            </a:pPr>
            <a:r>
              <a:rPr lang="en-US" sz="1900" b="0"/>
              <a:t>Network management</a:t>
            </a:r>
          </a:p>
          <a:p>
            <a:pPr marL="685800" lvl="2" indent="-228600" defTabSz="1028700">
              <a:lnSpc>
                <a:spcPct val="85000"/>
              </a:lnSpc>
              <a:spcBef>
                <a:spcPct val="35000"/>
              </a:spcBef>
              <a:buClr>
                <a:schemeClr val="accent1"/>
              </a:buClr>
              <a:buFontTx/>
              <a:buChar char="–"/>
              <a:tabLst>
                <a:tab pos="647700" algn="l"/>
              </a:tabLst>
            </a:pPr>
            <a:r>
              <a:rPr lang="en-US" sz="1900" b="0"/>
              <a:t>Simple Network Management </a:t>
            </a:r>
            <a:br>
              <a:rPr lang="en-US" sz="1900" b="0"/>
            </a:br>
            <a:r>
              <a:rPr lang="en-US" sz="1900" b="0"/>
              <a:t>Protocol</a:t>
            </a:r>
          </a:p>
          <a:p>
            <a:pPr marL="342900" lvl="1" indent="-228600" defTabSz="1028700">
              <a:lnSpc>
                <a:spcPct val="85000"/>
              </a:lnSpc>
              <a:spcBef>
                <a:spcPct val="35000"/>
              </a:spcBef>
              <a:buClr>
                <a:schemeClr val="accent1"/>
              </a:buClr>
              <a:buFont typeface="Wingdings" pitchFamily="2" charset="2"/>
              <a:buChar char="§"/>
              <a:tabLst>
                <a:tab pos="647700" algn="l"/>
              </a:tabLst>
            </a:pPr>
            <a:r>
              <a:rPr lang="en-US" sz="1900" b="0"/>
              <a:t>Name management</a:t>
            </a:r>
          </a:p>
          <a:p>
            <a:pPr marL="685800" lvl="2" indent="-228600" defTabSz="1028700">
              <a:lnSpc>
                <a:spcPct val="85000"/>
              </a:lnSpc>
              <a:spcBef>
                <a:spcPct val="35000"/>
              </a:spcBef>
              <a:buClr>
                <a:schemeClr val="accent1"/>
              </a:buClr>
              <a:buFontTx/>
              <a:buChar char="–"/>
              <a:tabLst>
                <a:tab pos="647700" algn="l"/>
              </a:tabLst>
            </a:pPr>
            <a:r>
              <a:rPr lang="en-US" sz="1900" b="0"/>
              <a:t>Domain Name System</a:t>
            </a:r>
          </a:p>
        </p:txBody>
      </p:sp>
      <p:sp>
        <p:nvSpPr>
          <p:cNvPr id="91140" name="Rectangle 4"/>
          <p:cNvSpPr>
            <a:spLocks noGrp="1" noChangeArrowheads="1"/>
          </p:cNvSpPr>
          <p:nvPr>
            <p:ph type="title"/>
          </p:nvPr>
        </p:nvSpPr>
        <p:spPr/>
        <p:txBody>
          <a:bodyPr/>
          <a:lstStyle/>
          <a:p>
            <a:r>
              <a:rPr lang="en-US"/>
              <a:t>TCP/IP Application Layer Overview</a:t>
            </a:r>
          </a:p>
        </p:txBody>
      </p:sp>
    </p:spTree>
    <p:extLst>
      <p:ext uri="{BB962C8B-B14F-4D97-AF65-F5344CB8AC3E}">
        <p14:creationId xmlns:p14="http://schemas.microsoft.com/office/powerpoint/2010/main" val="2618460211"/>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8" name="Picture 8" descr="301P_9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014538"/>
            <a:ext cx="8077200" cy="3411537"/>
          </a:xfrm>
          <a:prstGeom prst="rect">
            <a:avLst/>
          </a:prstGeom>
          <a:noFill/>
          <a:extLst>
            <a:ext uri="{909E8E84-426E-40DD-AFC4-6F175D3DCCD1}">
              <a14:hiddenFill xmlns:a14="http://schemas.microsoft.com/office/drawing/2010/main">
                <a:solidFill>
                  <a:srgbClr val="FFFFFF"/>
                </a:solidFill>
              </a14:hiddenFill>
            </a:ext>
          </a:extLst>
        </p:spPr>
      </p:pic>
      <p:sp>
        <p:nvSpPr>
          <p:cNvPr id="128002" name="Rectangle 2"/>
          <p:cNvSpPr>
            <a:spLocks noGrp="1" noChangeArrowheads="1"/>
          </p:cNvSpPr>
          <p:nvPr>
            <p:ph type="title"/>
          </p:nvPr>
        </p:nvSpPr>
        <p:spPr>
          <a:xfrm>
            <a:off x="650875" y="457200"/>
            <a:ext cx="8142288" cy="838200"/>
          </a:xfrm>
        </p:spPr>
        <p:txBody>
          <a:bodyPr/>
          <a:lstStyle/>
          <a:p>
            <a:r>
              <a:rPr lang="en-US"/>
              <a:t>Mapping Layer 3 to Layer 4</a:t>
            </a:r>
          </a:p>
        </p:txBody>
      </p:sp>
    </p:spTree>
    <p:extLst>
      <p:ext uri="{BB962C8B-B14F-4D97-AF65-F5344CB8AC3E}">
        <p14:creationId xmlns:p14="http://schemas.microsoft.com/office/powerpoint/2010/main" val="89694669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5" name="Picture 5" descr="301P_16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628775"/>
            <a:ext cx="8305800" cy="4848225"/>
          </a:xfrm>
          <a:prstGeom prst="rect">
            <a:avLst/>
          </a:prstGeom>
          <a:noFill/>
          <a:extLst>
            <a:ext uri="{909E8E84-426E-40DD-AFC4-6F175D3DCCD1}">
              <a14:hiddenFill xmlns:a14="http://schemas.microsoft.com/office/drawing/2010/main">
                <a:solidFill>
                  <a:srgbClr val="FFFFFF"/>
                </a:solidFill>
              </a14:hiddenFill>
            </a:ext>
          </a:extLst>
        </p:spPr>
      </p:pic>
      <p:sp>
        <p:nvSpPr>
          <p:cNvPr id="168962" name="Rectangle 2"/>
          <p:cNvSpPr>
            <a:spLocks noGrp="1" noChangeArrowheads="1"/>
          </p:cNvSpPr>
          <p:nvPr>
            <p:ph type="title"/>
          </p:nvPr>
        </p:nvSpPr>
        <p:spPr>
          <a:xfrm>
            <a:off x="650875" y="457200"/>
            <a:ext cx="8142288" cy="838200"/>
          </a:xfrm>
        </p:spPr>
        <p:txBody>
          <a:bodyPr/>
          <a:lstStyle/>
          <a:p>
            <a:r>
              <a:rPr lang="en-US"/>
              <a:t>Mapping Layer 4 to Applications</a:t>
            </a:r>
          </a:p>
        </p:txBody>
      </p:sp>
    </p:spTree>
    <p:extLst>
      <p:ext uri="{BB962C8B-B14F-4D97-AF65-F5344CB8AC3E}">
        <p14:creationId xmlns:p14="http://schemas.microsoft.com/office/powerpoint/2010/main" val="2775865688"/>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8" name="Picture 2" descr="301P_17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174875"/>
            <a:ext cx="6829425" cy="3463925"/>
          </a:xfrm>
          <a:prstGeom prst="rect">
            <a:avLst/>
          </a:prstGeom>
          <a:noFill/>
          <a:extLst>
            <a:ext uri="{909E8E84-426E-40DD-AFC4-6F175D3DCCD1}">
              <a14:hiddenFill xmlns:a14="http://schemas.microsoft.com/office/drawing/2010/main">
                <a:solidFill>
                  <a:srgbClr val="FFFFFF"/>
                </a:solidFill>
              </a14:hiddenFill>
            </a:ext>
          </a:extLst>
        </p:spPr>
      </p:pic>
      <p:sp>
        <p:nvSpPr>
          <p:cNvPr id="152579" name="Rectangle 3"/>
          <p:cNvSpPr>
            <a:spLocks noGrp="1" noChangeArrowheads="1"/>
          </p:cNvSpPr>
          <p:nvPr>
            <p:ph type="title"/>
          </p:nvPr>
        </p:nvSpPr>
        <p:spPr>
          <a:xfrm>
            <a:off x="650875" y="457200"/>
            <a:ext cx="8142288" cy="838200"/>
          </a:xfrm>
        </p:spPr>
        <p:txBody>
          <a:bodyPr/>
          <a:lstStyle/>
          <a:p>
            <a:r>
              <a:rPr lang="en-US"/>
              <a:t>Establishing a Connection</a:t>
            </a:r>
          </a:p>
        </p:txBody>
      </p:sp>
    </p:spTree>
    <p:extLst>
      <p:ext uri="{BB962C8B-B14F-4D97-AF65-F5344CB8AC3E}">
        <p14:creationId xmlns:p14="http://schemas.microsoft.com/office/powerpoint/2010/main" val="2092601943"/>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4629" name="Picture 5" descr="301P_1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300" y="1409700"/>
            <a:ext cx="8674100" cy="4367213"/>
          </a:xfrm>
          <a:prstGeom prst="rect">
            <a:avLst/>
          </a:prstGeom>
          <a:noFill/>
          <a:extLst>
            <a:ext uri="{909E8E84-426E-40DD-AFC4-6F175D3DCCD1}">
              <a14:hiddenFill xmlns:a14="http://schemas.microsoft.com/office/drawing/2010/main">
                <a:solidFill>
                  <a:srgbClr val="FFFFFF"/>
                </a:solidFill>
              </a14:hiddenFill>
            </a:ext>
          </a:extLst>
        </p:spPr>
      </p:pic>
      <p:sp>
        <p:nvSpPr>
          <p:cNvPr id="154627" name="Rectangle 3"/>
          <p:cNvSpPr>
            <a:spLocks noGrp="1" noChangeArrowheads="1"/>
          </p:cNvSpPr>
          <p:nvPr>
            <p:ph type="title"/>
          </p:nvPr>
        </p:nvSpPr>
        <p:spPr>
          <a:xfrm>
            <a:off x="650875" y="457200"/>
            <a:ext cx="8142288" cy="838200"/>
          </a:xfrm>
        </p:spPr>
        <p:txBody>
          <a:bodyPr/>
          <a:lstStyle/>
          <a:p>
            <a:r>
              <a:rPr lang="en-US"/>
              <a:t>Three-Way Handshake</a:t>
            </a:r>
          </a:p>
        </p:txBody>
      </p:sp>
      <p:sp>
        <p:nvSpPr>
          <p:cNvPr id="154628" name="Text Box 4"/>
          <p:cNvSpPr txBox="1">
            <a:spLocks noChangeArrowheads="1"/>
          </p:cNvSpPr>
          <p:nvPr/>
        </p:nvSpPr>
        <p:spPr bwMode="auto">
          <a:xfrm>
            <a:off x="650875" y="6007100"/>
            <a:ext cx="6384925" cy="37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2" tIns="36510" rIns="73022" bIns="36510">
            <a:spAutoFit/>
          </a:bodyPr>
          <a:lstStyle/>
          <a:p>
            <a:pPr>
              <a:lnSpc>
                <a:spcPct val="100000"/>
              </a:lnSpc>
            </a:pPr>
            <a:r>
              <a:rPr lang="en-US" sz="2000" b="0"/>
              <a:t>CTL = Which control bits in the TCP header are set to 1</a:t>
            </a:r>
          </a:p>
        </p:txBody>
      </p:sp>
    </p:spTree>
    <p:extLst>
      <p:ext uri="{BB962C8B-B14F-4D97-AF65-F5344CB8AC3E}">
        <p14:creationId xmlns:p14="http://schemas.microsoft.com/office/powerpoint/2010/main" val="2378688665"/>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6674" name="Picture 2" descr="301P_1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413" y="1828800"/>
            <a:ext cx="8383587" cy="4265613"/>
          </a:xfrm>
          <a:prstGeom prst="rect">
            <a:avLst/>
          </a:prstGeom>
          <a:noFill/>
          <a:extLst>
            <a:ext uri="{909E8E84-426E-40DD-AFC4-6F175D3DCCD1}">
              <a14:hiddenFill xmlns:a14="http://schemas.microsoft.com/office/drawing/2010/main">
                <a:solidFill>
                  <a:srgbClr val="FFFFFF"/>
                </a:solidFill>
              </a14:hiddenFill>
            </a:ext>
          </a:extLst>
        </p:spPr>
      </p:pic>
      <p:sp>
        <p:nvSpPr>
          <p:cNvPr id="156675" name="Rectangle 3"/>
          <p:cNvSpPr>
            <a:spLocks noGrp="1" noChangeArrowheads="1"/>
          </p:cNvSpPr>
          <p:nvPr>
            <p:ph type="title"/>
          </p:nvPr>
        </p:nvSpPr>
        <p:spPr>
          <a:xfrm>
            <a:off x="650875" y="457200"/>
            <a:ext cx="8142288" cy="838200"/>
          </a:xfrm>
        </p:spPr>
        <p:txBody>
          <a:bodyPr/>
          <a:lstStyle/>
          <a:p>
            <a:r>
              <a:rPr lang="en-US"/>
              <a:t>Flow Control</a:t>
            </a:r>
          </a:p>
        </p:txBody>
      </p:sp>
    </p:spTree>
    <p:extLst>
      <p:ext uri="{BB962C8B-B14F-4D97-AF65-F5344CB8AC3E}">
        <p14:creationId xmlns:p14="http://schemas.microsoft.com/office/powerpoint/2010/main" val="2861955434"/>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2" name="Picture 2" descr="301P_18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625600"/>
            <a:ext cx="8458200" cy="4770438"/>
          </a:xfrm>
          <a:prstGeom prst="rect">
            <a:avLst/>
          </a:prstGeom>
          <a:noFill/>
          <a:extLst>
            <a:ext uri="{909E8E84-426E-40DD-AFC4-6F175D3DCCD1}">
              <a14:hiddenFill xmlns:a14="http://schemas.microsoft.com/office/drawing/2010/main">
                <a:solidFill>
                  <a:srgbClr val="FFFFFF"/>
                </a:solidFill>
              </a14:hiddenFill>
            </a:ext>
          </a:extLst>
        </p:spPr>
      </p:pic>
      <p:sp>
        <p:nvSpPr>
          <p:cNvPr id="158723" name="Rectangle 3"/>
          <p:cNvSpPr>
            <a:spLocks noGrp="1" noChangeArrowheads="1"/>
          </p:cNvSpPr>
          <p:nvPr>
            <p:ph type="title"/>
          </p:nvPr>
        </p:nvSpPr>
        <p:spPr>
          <a:xfrm>
            <a:off x="650875" y="457200"/>
            <a:ext cx="8142288" cy="838200"/>
          </a:xfrm>
        </p:spPr>
        <p:txBody>
          <a:bodyPr/>
          <a:lstStyle/>
          <a:p>
            <a:r>
              <a:rPr lang="en-US"/>
              <a:t>TCP Acknowledgment</a:t>
            </a:r>
          </a:p>
        </p:txBody>
      </p:sp>
    </p:spTree>
    <p:extLst>
      <p:ext uri="{BB962C8B-B14F-4D97-AF65-F5344CB8AC3E}">
        <p14:creationId xmlns:p14="http://schemas.microsoft.com/office/powerpoint/2010/main" val="322970492"/>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20" name="Picture 4" descr="301P_18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200" y="1881188"/>
            <a:ext cx="8509000" cy="4189412"/>
          </a:xfrm>
          <a:prstGeom prst="rect">
            <a:avLst/>
          </a:prstGeom>
          <a:noFill/>
          <a:extLst>
            <a:ext uri="{909E8E84-426E-40DD-AFC4-6F175D3DCCD1}">
              <a14:hiddenFill xmlns:a14="http://schemas.microsoft.com/office/drawing/2010/main">
                <a:solidFill>
                  <a:srgbClr val="FFFFFF"/>
                </a:solidFill>
              </a14:hiddenFill>
            </a:ext>
          </a:extLst>
        </p:spPr>
      </p:pic>
      <p:sp>
        <p:nvSpPr>
          <p:cNvPr id="162819" name="Rectangle 3"/>
          <p:cNvSpPr>
            <a:spLocks noGrp="1" noChangeArrowheads="1"/>
          </p:cNvSpPr>
          <p:nvPr>
            <p:ph type="title"/>
          </p:nvPr>
        </p:nvSpPr>
        <p:spPr>
          <a:xfrm>
            <a:off x="650875" y="457200"/>
            <a:ext cx="8142288" cy="838200"/>
          </a:xfrm>
        </p:spPr>
        <p:txBody>
          <a:bodyPr/>
          <a:lstStyle/>
          <a:p>
            <a:r>
              <a:rPr lang="en-US"/>
              <a:t>Fixed Windowing</a:t>
            </a:r>
          </a:p>
        </p:txBody>
      </p:sp>
    </p:spTree>
    <p:extLst>
      <p:ext uri="{BB962C8B-B14F-4D97-AF65-F5344CB8AC3E}">
        <p14:creationId xmlns:p14="http://schemas.microsoft.com/office/powerpoint/2010/main" val="1984303275"/>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868" name="Picture 4" descr="301P_1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00200"/>
            <a:ext cx="8585200" cy="4914900"/>
          </a:xfrm>
          <a:prstGeom prst="rect">
            <a:avLst/>
          </a:prstGeom>
          <a:noFill/>
          <a:extLst>
            <a:ext uri="{909E8E84-426E-40DD-AFC4-6F175D3DCCD1}">
              <a14:hiddenFill xmlns:a14="http://schemas.microsoft.com/office/drawing/2010/main">
                <a:solidFill>
                  <a:srgbClr val="FFFFFF"/>
                </a:solidFill>
              </a14:hiddenFill>
            </a:ext>
          </a:extLst>
        </p:spPr>
      </p:pic>
      <p:sp>
        <p:nvSpPr>
          <p:cNvPr id="164867" name="Rectangle 3"/>
          <p:cNvSpPr>
            <a:spLocks noGrp="1" noChangeArrowheads="1"/>
          </p:cNvSpPr>
          <p:nvPr>
            <p:ph type="title"/>
          </p:nvPr>
        </p:nvSpPr>
        <p:spPr>
          <a:xfrm>
            <a:off x="650875" y="457200"/>
            <a:ext cx="8142288" cy="838200"/>
          </a:xfrm>
        </p:spPr>
        <p:txBody>
          <a:bodyPr/>
          <a:lstStyle/>
          <a:p>
            <a:r>
              <a:rPr lang="en-US"/>
              <a:t>TCP Sliding Windowing</a:t>
            </a:r>
          </a:p>
        </p:txBody>
      </p:sp>
    </p:spTree>
    <p:extLst>
      <p:ext uri="{BB962C8B-B14F-4D97-AF65-F5344CB8AC3E}">
        <p14:creationId xmlns:p14="http://schemas.microsoft.com/office/powerpoint/2010/main" val="149807028"/>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916" name="Picture 4" descr="301P_18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363" y="1671638"/>
            <a:ext cx="8199437" cy="4373562"/>
          </a:xfrm>
          <a:prstGeom prst="rect">
            <a:avLst/>
          </a:prstGeom>
          <a:noFill/>
          <a:extLst>
            <a:ext uri="{909E8E84-426E-40DD-AFC4-6F175D3DCCD1}">
              <a14:hiddenFill xmlns:a14="http://schemas.microsoft.com/office/drawing/2010/main">
                <a:solidFill>
                  <a:srgbClr val="FFFFFF"/>
                </a:solidFill>
              </a14:hiddenFill>
            </a:ext>
          </a:extLst>
        </p:spPr>
      </p:pic>
      <p:sp>
        <p:nvSpPr>
          <p:cNvPr id="166915" name="Rectangle 3"/>
          <p:cNvSpPr>
            <a:spLocks noGrp="1" noChangeArrowheads="1"/>
          </p:cNvSpPr>
          <p:nvPr>
            <p:ph type="title"/>
          </p:nvPr>
        </p:nvSpPr>
        <p:spPr>
          <a:xfrm>
            <a:off x="650875" y="457200"/>
            <a:ext cx="8142288" cy="838200"/>
          </a:xfrm>
        </p:spPr>
        <p:txBody>
          <a:bodyPr/>
          <a:lstStyle/>
          <a:p>
            <a:r>
              <a:rPr lang="en-US"/>
              <a:t>TCP Sequence and Acknowledgment Numbers</a:t>
            </a:r>
          </a:p>
        </p:txBody>
      </p:sp>
    </p:spTree>
    <p:extLst>
      <p:ext uri="{BB962C8B-B14F-4D97-AF65-F5344CB8AC3E}">
        <p14:creationId xmlns:p14="http://schemas.microsoft.com/office/powerpoint/2010/main" val="1936661595"/>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ctrTitle"/>
          </p:nvPr>
        </p:nvSpPr>
        <p:spPr/>
        <p:txBody>
          <a:bodyPr/>
          <a:lstStyle/>
          <a:p>
            <a:r>
              <a:rPr lang="en-US"/>
              <a:t>WAN Connections </a:t>
            </a:r>
          </a:p>
        </p:txBody>
      </p:sp>
      <p:sp>
        <p:nvSpPr>
          <p:cNvPr id="69635" name="Rectangle 3"/>
          <p:cNvSpPr>
            <a:spLocks noGrp="1" noChangeArrowheads="1"/>
          </p:cNvSpPr>
          <p:nvPr>
            <p:ph type="subTitle" idx="1"/>
          </p:nvPr>
        </p:nvSpPr>
        <p:spPr/>
        <p:txBody>
          <a:bodyPr/>
          <a:lstStyle/>
          <a:p>
            <a:r>
              <a:rPr lang="en-US">
                <a:solidFill>
                  <a:srgbClr val="FFFFFF"/>
                </a:solidFill>
              </a:rPr>
              <a:t>Understanding WAN Technologies</a:t>
            </a:r>
          </a:p>
        </p:txBody>
      </p:sp>
    </p:spTree>
    <p:extLst>
      <p:ext uri="{BB962C8B-B14F-4D97-AF65-F5344CB8AC3E}">
        <p14:creationId xmlns:p14="http://schemas.microsoft.com/office/powerpoint/2010/main" val="986135882"/>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8" name="Picture 4" descr="301P_18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71663"/>
            <a:ext cx="7432675" cy="4071937"/>
          </a:xfrm>
          <a:prstGeom prst="rect">
            <a:avLst/>
          </a:prstGeom>
          <a:noFill/>
          <a:extLst>
            <a:ext uri="{909E8E84-426E-40DD-AFC4-6F175D3DCCD1}">
              <a14:hiddenFill xmlns:a14="http://schemas.microsoft.com/office/drawing/2010/main">
                <a:solidFill>
                  <a:srgbClr val="FFFFFF"/>
                </a:solidFill>
              </a14:hiddenFill>
            </a:ext>
          </a:extLst>
        </p:spPr>
      </p:pic>
      <p:sp>
        <p:nvSpPr>
          <p:cNvPr id="72707" name="Rectangle 3"/>
          <p:cNvSpPr>
            <a:spLocks noGrp="1" noChangeArrowheads="1"/>
          </p:cNvSpPr>
          <p:nvPr>
            <p:ph type="title"/>
          </p:nvPr>
        </p:nvSpPr>
        <p:spPr/>
        <p:txBody>
          <a:bodyPr/>
          <a:lstStyle/>
          <a:p>
            <a:r>
              <a:rPr lang="en-US"/>
              <a:t>Wide-Area Network</a:t>
            </a:r>
          </a:p>
        </p:txBody>
      </p:sp>
    </p:spTree>
    <p:extLst>
      <p:ext uri="{BB962C8B-B14F-4D97-AF65-F5344CB8AC3E}">
        <p14:creationId xmlns:p14="http://schemas.microsoft.com/office/powerpoint/2010/main" val="2187898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2" name="Picture 4" descr="301P_18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600" y="1371600"/>
            <a:ext cx="7289800" cy="5132388"/>
          </a:xfrm>
          <a:prstGeom prst="rect">
            <a:avLst/>
          </a:prstGeom>
          <a:noFill/>
          <a:extLst>
            <a:ext uri="{909E8E84-426E-40DD-AFC4-6F175D3DCCD1}">
              <a14:hiddenFill xmlns:a14="http://schemas.microsoft.com/office/drawing/2010/main">
                <a:solidFill>
                  <a:srgbClr val="FFFFFF"/>
                </a:solidFill>
              </a14:hiddenFill>
            </a:ext>
          </a:extLst>
        </p:spPr>
      </p:pic>
      <p:sp>
        <p:nvSpPr>
          <p:cNvPr id="73731" name="Rectangle 3"/>
          <p:cNvSpPr>
            <a:spLocks noGrp="1" noChangeArrowheads="1"/>
          </p:cNvSpPr>
          <p:nvPr>
            <p:ph type="title"/>
          </p:nvPr>
        </p:nvSpPr>
        <p:spPr/>
        <p:txBody>
          <a:bodyPr/>
          <a:lstStyle/>
          <a:p>
            <a:r>
              <a:rPr lang="en-US"/>
              <a:t>Need for WANs</a:t>
            </a:r>
          </a:p>
        </p:txBody>
      </p:sp>
    </p:spTree>
    <p:extLst>
      <p:ext uri="{BB962C8B-B14F-4D97-AF65-F5344CB8AC3E}">
        <p14:creationId xmlns:p14="http://schemas.microsoft.com/office/powerpoint/2010/main" val="41338982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6" name="Picture 4" descr="301P_9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752600"/>
            <a:ext cx="8001000" cy="4073525"/>
          </a:xfrm>
          <a:prstGeom prst="rect">
            <a:avLst/>
          </a:prstGeom>
          <a:noFill/>
          <a:extLst>
            <a:ext uri="{909E8E84-426E-40DD-AFC4-6F175D3DCCD1}">
              <a14:hiddenFill xmlns:a14="http://schemas.microsoft.com/office/drawing/2010/main">
                <a:solidFill>
                  <a:srgbClr val="FFFFFF"/>
                </a:solidFill>
              </a14:hiddenFill>
            </a:ext>
          </a:extLst>
        </p:spPr>
      </p:pic>
      <p:sp>
        <p:nvSpPr>
          <p:cNvPr id="74754" name="Rectangle 2"/>
          <p:cNvSpPr>
            <a:spLocks noGrp="1" noChangeArrowheads="1"/>
          </p:cNvSpPr>
          <p:nvPr>
            <p:ph type="title"/>
          </p:nvPr>
        </p:nvSpPr>
        <p:spPr/>
        <p:txBody>
          <a:bodyPr/>
          <a:lstStyle/>
          <a:p>
            <a:r>
              <a:rPr lang="en-US"/>
              <a:t>WANs vs. LANs</a:t>
            </a:r>
          </a:p>
        </p:txBody>
      </p:sp>
    </p:spTree>
    <p:extLst>
      <p:ext uri="{BB962C8B-B14F-4D97-AF65-F5344CB8AC3E}">
        <p14:creationId xmlns:p14="http://schemas.microsoft.com/office/powerpoint/2010/main" val="9889929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a:t>WAN Access and the OSI Reference Model</a:t>
            </a:r>
          </a:p>
        </p:txBody>
      </p:sp>
      <p:pic>
        <p:nvPicPr>
          <p:cNvPr id="75781" name="Picture 5" descr="301P_19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00" y="1817688"/>
            <a:ext cx="8458200" cy="4583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54355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4" name="Picture 2" descr="301P_19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524000"/>
            <a:ext cx="7966075" cy="4591050"/>
          </a:xfrm>
          <a:prstGeom prst="rect">
            <a:avLst/>
          </a:prstGeom>
          <a:noFill/>
          <a:extLst>
            <a:ext uri="{909E8E84-426E-40DD-AFC4-6F175D3DCCD1}">
              <a14:hiddenFill xmlns:a14="http://schemas.microsoft.com/office/drawing/2010/main">
                <a:solidFill>
                  <a:srgbClr val="FFFFFF"/>
                </a:solidFill>
              </a14:hiddenFill>
            </a:ext>
          </a:extLst>
        </p:spPr>
      </p:pic>
      <p:sp>
        <p:nvSpPr>
          <p:cNvPr id="110595" name="Rectangle 3"/>
          <p:cNvSpPr>
            <a:spLocks noGrp="1" noChangeArrowheads="1"/>
          </p:cNvSpPr>
          <p:nvPr>
            <p:ph type="title"/>
          </p:nvPr>
        </p:nvSpPr>
        <p:spPr/>
        <p:txBody>
          <a:bodyPr/>
          <a:lstStyle/>
          <a:p>
            <a:r>
              <a:rPr lang="en-US"/>
              <a:t>WAN Devices</a:t>
            </a:r>
          </a:p>
        </p:txBody>
      </p:sp>
      <p:sp>
        <p:nvSpPr>
          <p:cNvPr id="110596" name="Rectangle 4"/>
          <p:cNvSpPr>
            <a:spLocks noChangeArrowheads="1"/>
          </p:cNvSpPr>
          <p:nvPr/>
        </p:nvSpPr>
        <p:spPr bwMode="auto">
          <a:xfrm>
            <a:off x="609600" y="3200400"/>
            <a:ext cx="35814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121" tIns="45718" rIns="82121" bIns="45718"/>
          <a:lstStyle/>
          <a:p>
            <a:pPr marL="288925" lvl="1" indent="-174625" defTabSz="814388">
              <a:lnSpc>
                <a:spcPct val="95000"/>
              </a:lnSpc>
              <a:spcBef>
                <a:spcPct val="35000"/>
              </a:spcBef>
              <a:buClr>
                <a:schemeClr val="accent1"/>
              </a:buClr>
              <a:buFont typeface="Wingdings" pitchFamily="2" charset="2"/>
              <a:buChar char="§"/>
            </a:pPr>
            <a:r>
              <a:rPr lang="en-US" sz="2000" b="0"/>
              <a:t>Routers</a:t>
            </a:r>
          </a:p>
          <a:p>
            <a:pPr marL="288925" lvl="1" indent="-174625" defTabSz="814388">
              <a:lnSpc>
                <a:spcPct val="95000"/>
              </a:lnSpc>
              <a:spcBef>
                <a:spcPct val="35000"/>
              </a:spcBef>
              <a:buClr>
                <a:schemeClr val="accent1"/>
              </a:buClr>
              <a:buFont typeface="Wingdings" pitchFamily="2" charset="2"/>
              <a:buChar char="§"/>
            </a:pPr>
            <a:r>
              <a:rPr lang="en-US" sz="2000" b="0"/>
              <a:t>Terminal servers</a:t>
            </a:r>
          </a:p>
          <a:p>
            <a:pPr marL="288925" lvl="1" indent="-174625" defTabSz="814388">
              <a:lnSpc>
                <a:spcPct val="95000"/>
              </a:lnSpc>
              <a:spcBef>
                <a:spcPct val="35000"/>
              </a:spcBef>
              <a:buClr>
                <a:schemeClr val="accent1"/>
              </a:buClr>
              <a:buFont typeface="Wingdings" pitchFamily="2" charset="2"/>
              <a:buChar char="§"/>
            </a:pPr>
            <a:r>
              <a:rPr lang="en-US" sz="2000" b="0"/>
              <a:t>Modems</a:t>
            </a:r>
          </a:p>
          <a:p>
            <a:pPr marL="288925" lvl="1" indent="-174625" defTabSz="814388">
              <a:lnSpc>
                <a:spcPct val="95000"/>
              </a:lnSpc>
              <a:spcBef>
                <a:spcPct val="35000"/>
              </a:spcBef>
              <a:buClr>
                <a:schemeClr val="accent1"/>
              </a:buClr>
              <a:buFont typeface="Wingdings" pitchFamily="2" charset="2"/>
              <a:buChar char="§"/>
            </a:pPr>
            <a:r>
              <a:rPr lang="en-US" sz="2000" b="0"/>
              <a:t>DSU/CSU</a:t>
            </a:r>
          </a:p>
          <a:p>
            <a:pPr marL="288925" lvl="1" indent="-174625" defTabSz="814388">
              <a:lnSpc>
                <a:spcPct val="95000"/>
              </a:lnSpc>
              <a:spcBef>
                <a:spcPct val="35000"/>
              </a:spcBef>
              <a:buClr>
                <a:schemeClr val="accent1"/>
              </a:buClr>
              <a:buFont typeface="Wingdings" pitchFamily="2" charset="2"/>
              <a:buChar char="§"/>
            </a:pPr>
            <a:r>
              <a:rPr lang="en-US" sz="2000" b="0"/>
              <a:t>WAN networking devices</a:t>
            </a:r>
          </a:p>
          <a:p>
            <a:pPr marL="568325" lvl="2" indent="-180975" defTabSz="814388">
              <a:lnSpc>
                <a:spcPct val="95000"/>
              </a:lnSpc>
              <a:spcBef>
                <a:spcPct val="35000"/>
              </a:spcBef>
              <a:buClr>
                <a:schemeClr val="accent1"/>
              </a:buClr>
              <a:buFont typeface="Arial" charset="0"/>
              <a:buChar char="–"/>
            </a:pPr>
            <a:r>
              <a:rPr lang="en-US" sz="2000" b="0"/>
              <a:t>ATM switches</a:t>
            </a:r>
          </a:p>
          <a:p>
            <a:pPr marL="568325" lvl="2" indent="-180975" defTabSz="814388">
              <a:lnSpc>
                <a:spcPct val="95000"/>
              </a:lnSpc>
              <a:spcBef>
                <a:spcPct val="35000"/>
              </a:spcBef>
              <a:buClr>
                <a:schemeClr val="accent1"/>
              </a:buClr>
              <a:buFont typeface="Arial" charset="0"/>
              <a:buChar char="–"/>
            </a:pPr>
            <a:r>
              <a:rPr lang="en-US" sz="2000" b="0"/>
              <a:t>Frame Relay switches</a:t>
            </a:r>
          </a:p>
          <a:p>
            <a:pPr marL="568325" lvl="2" indent="-180975" defTabSz="814388">
              <a:lnSpc>
                <a:spcPct val="95000"/>
              </a:lnSpc>
              <a:spcBef>
                <a:spcPct val="35000"/>
              </a:spcBef>
              <a:buClr>
                <a:schemeClr val="accent1"/>
              </a:buClr>
              <a:buFont typeface="Arial" charset="0"/>
              <a:buChar char="–"/>
            </a:pPr>
            <a:r>
              <a:rPr lang="en-US" sz="2000" b="0"/>
              <a:t>PSTN</a:t>
            </a:r>
          </a:p>
        </p:txBody>
      </p:sp>
    </p:spTree>
    <p:extLst>
      <p:ext uri="{BB962C8B-B14F-4D97-AF65-F5344CB8AC3E}">
        <p14:creationId xmlns:p14="http://schemas.microsoft.com/office/powerpoint/2010/main" val="30378859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8" name="Picture 4" descr="301P_19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101850"/>
            <a:ext cx="6932613" cy="3994150"/>
          </a:xfrm>
          <a:prstGeom prst="rect">
            <a:avLst/>
          </a:prstGeom>
          <a:noFill/>
          <a:extLst>
            <a:ext uri="{909E8E84-426E-40DD-AFC4-6F175D3DCCD1}">
              <a14:hiddenFill xmlns:a14="http://schemas.microsoft.com/office/drawing/2010/main">
                <a:solidFill>
                  <a:srgbClr val="FFFFFF"/>
                </a:solidFill>
              </a14:hiddenFill>
            </a:ext>
          </a:extLst>
        </p:spPr>
      </p:pic>
      <p:sp>
        <p:nvSpPr>
          <p:cNvPr id="77827" name="Rectangle 3"/>
          <p:cNvSpPr>
            <a:spLocks noGrp="1" noChangeArrowheads="1"/>
          </p:cNvSpPr>
          <p:nvPr>
            <p:ph type="title"/>
          </p:nvPr>
        </p:nvSpPr>
        <p:spPr>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82121" tIns="41059" rIns="82121" bIns="41059"/>
          <a:lstStyle/>
          <a:p>
            <a:r>
              <a:rPr lang="en-US"/>
              <a:t>Physical Layer: WANs</a:t>
            </a:r>
          </a:p>
        </p:txBody>
      </p:sp>
    </p:spTree>
    <p:extLst>
      <p:ext uri="{BB962C8B-B14F-4D97-AF65-F5344CB8AC3E}">
        <p14:creationId xmlns:p14="http://schemas.microsoft.com/office/powerpoint/2010/main" val="2856716334"/>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6" name="Picture 4" descr="301P_07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925" y="1408113"/>
            <a:ext cx="8423275" cy="5100637"/>
          </a:xfrm>
          <a:prstGeom prst="rect">
            <a:avLst/>
          </a:prstGeom>
          <a:noFill/>
          <a:extLst>
            <a:ext uri="{909E8E84-426E-40DD-AFC4-6F175D3DCCD1}">
              <a14:hiddenFill xmlns:a14="http://schemas.microsoft.com/office/drawing/2010/main">
                <a:solidFill>
                  <a:srgbClr val="FFFFFF"/>
                </a:solidFill>
              </a14:hiddenFill>
            </a:ext>
          </a:extLst>
        </p:spPr>
      </p:pic>
      <p:sp>
        <p:nvSpPr>
          <p:cNvPr id="79875" name="Rectangle 3"/>
          <p:cNvSpPr>
            <a:spLocks noGrp="1" noChangeArrowheads="1"/>
          </p:cNvSpPr>
          <p:nvPr>
            <p:ph type="title"/>
          </p:nvPr>
        </p:nvSpPr>
        <p:spPr/>
        <p:txBody>
          <a:bodyPr/>
          <a:lstStyle/>
          <a:p>
            <a:r>
              <a:rPr lang="en-US"/>
              <a:t>Serial Point-to-Point Connections</a:t>
            </a:r>
          </a:p>
        </p:txBody>
      </p:sp>
    </p:spTree>
    <p:extLst>
      <p:ext uri="{BB962C8B-B14F-4D97-AF65-F5344CB8AC3E}">
        <p14:creationId xmlns:p14="http://schemas.microsoft.com/office/powerpoint/2010/main" val="36306617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4" name="Picture 4" descr="301P_19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828800"/>
            <a:ext cx="6915150" cy="4414838"/>
          </a:xfrm>
          <a:prstGeom prst="rect">
            <a:avLst/>
          </a:prstGeom>
          <a:noFill/>
          <a:extLst>
            <a:ext uri="{909E8E84-426E-40DD-AFC4-6F175D3DCCD1}">
              <a14:hiddenFill xmlns:a14="http://schemas.microsoft.com/office/drawing/2010/main">
                <a:solidFill>
                  <a:srgbClr val="FFFFFF"/>
                </a:solidFill>
              </a14:hiddenFill>
            </a:ext>
          </a:extLst>
        </p:spPr>
      </p:pic>
      <p:sp>
        <p:nvSpPr>
          <p:cNvPr id="81922" name="Rectangle 2"/>
          <p:cNvSpPr>
            <a:spLocks noGrp="1" noChangeArrowheads="1"/>
          </p:cNvSpPr>
          <p:nvPr>
            <p:ph type="title"/>
          </p:nvPr>
        </p:nvSpPr>
        <p:spPr>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82121" tIns="41059" rIns="82121" bIns="41059"/>
          <a:lstStyle/>
          <a:p>
            <a:r>
              <a:rPr lang="en-US"/>
              <a:t>WAN—Multiple LANs</a:t>
            </a:r>
          </a:p>
        </p:txBody>
      </p:sp>
    </p:spTree>
    <p:extLst>
      <p:ext uri="{BB962C8B-B14F-4D97-AF65-F5344CB8AC3E}">
        <p14:creationId xmlns:p14="http://schemas.microsoft.com/office/powerpoint/2010/main" val="4278177437"/>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a:t>WAN Data-Link Protocols</a:t>
            </a:r>
          </a:p>
        </p:txBody>
      </p:sp>
      <p:sp>
        <p:nvSpPr>
          <p:cNvPr id="106499" name="Rectangle 3"/>
          <p:cNvSpPr>
            <a:spLocks noGrp="1" noChangeArrowheads="1"/>
          </p:cNvSpPr>
          <p:nvPr>
            <p:ph type="body" idx="1"/>
          </p:nvPr>
        </p:nvSpPr>
        <p:spPr/>
        <p:txBody>
          <a:bodyPr/>
          <a:lstStyle/>
          <a:p>
            <a:pPr lvl="1"/>
            <a:r>
              <a:rPr lang="en-US"/>
              <a:t>HDLC</a:t>
            </a:r>
          </a:p>
          <a:p>
            <a:pPr lvl="1"/>
            <a:r>
              <a:rPr lang="en-US"/>
              <a:t>PPP</a:t>
            </a:r>
          </a:p>
          <a:p>
            <a:pPr lvl="1"/>
            <a:r>
              <a:rPr lang="en-US"/>
              <a:t>Frame Relay (LAPF) </a:t>
            </a:r>
          </a:p>
          <a:p>
            <a:pPr lvl="1"/>
            <a:r>
              <a:rPr lang="en-US"/>
              <a:t>ATM</a:t>
            </a:r>
          </a:p>
        </p:txBody>
      </p:sp>
    </p:spTree>
    <p:extLst>
      <p:ext uri="{BB962C8B-B14F-4D97-AF65-F5344CB8AC3E}">
        <p14:creationId xmlns:p14="http://schemas.microsoft.com/office/powerpoint/2010/main" val="30516465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93" name="Picture 9" descr="301P_97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828800"/>
            <a:ext cx="7772400" cy="4506913"/>
          </a:xfrm>
          <a:prstGeom prst="rect">
            <a:avLst/>
          </a:prstGeom>
          <a:noFill/>
          <a:extLst>
            <a:ext uri="{909E8E84-426E-40DD-AFC4-6F175D3DCCD1}">
              <a14:hiddenFill xmlns:a14="http://schemas.microsoft.com/office/drawing/2010/main">
                <a:solidFill>
                  <a:srgbClr val="FFFFFF"/>
                </a:solidFill>
              </a14:hiddenFill>
            </a:ext>
          </a:extLst>
        </p:spPr>
      </p:pic>
      <p:sp>
        <p:nvSpPr>
          <p:cNvPr id="93187" name="Rectangle 3"/>
          <p:cNvSpPr>
            <a:spLocks noGrp="1" noChangeArrowheads="1"/>
          </p:cNvSpPr>
          <p:nvPr>
            <p:ph type="title"/>
          </p:nvPr>
        </p:nvSpPr>
        <p:spPr>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lIns="82121" tIns="41059" rIns="82121" bIns="41059"/>
          <a:lstStyle/>
          <a:p>
            <a:r>
              <a:rPr lang="en-US"/>
              <a:t>WAN Link Options</a:t>
            </a:r>
          </a:p>
        </p:txBody>
      </p:sp>
    </p:spTree>
    <p:extLst>
      <p:ext uri="{BB962C8B-B14F-4D97-AF65-F5344CB8AC3E}">
        <p14:creationId xmlns:p14="http://schemas.microsoft.com/office/powerpoint/2010/main" val="3253571218"/>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8722" name="Group 2"/>
          <p:cNvGrpSpPr>
            <a:grpSpLocks/>
          </p:cNvGrpSpPr>
          <p:nvPr/>
        </p:nvGrpSpPr>
        <p:grpSpPr bwMode="auto">
          <a:xfrm>
            <a:off x="0" y="0"/>
            <a:ext cx="9144000" cy="4383088"/>
            <a:chOff x="0" y="0"/>
            <a:chExt cx="5760" cy="2761"/>
          </a:xfrm>
        </p:grpSpPr>
        <p:grpSp>
          <p:nvGrpSpPr>
            <p:cNvPr id="158723" name="Group 3"/>
            <p:cNvGrpSpPr>
              <a:grpSpLocks/>
            </p:cNvGrpSpPr>
            <p:nvPr/>
          </p:nvGrpSpPr>
          <p:grpSpPr bwMode="auto">
            <a:xfrm>
              <a:off x="1727" y="1485"/>
              <a:ext cx="2400" cy="1276"/>
              <a:chOff x="3272" y="1316"/>
              <a:chExt cx="1889" cy="1002"/>
            </a:xfrm>
          </p:grpSpPr>
          <p:sp>
            <p:nvSpPr>
              <p:cNvPr id="158724" name="AutoShape 4"/>
              <p:cNvSpPr>
                <a:spLocks noChangeAspect="1" noChangeArrowheads="1" noTextEdit="1"/>
              </p:cNvSpPr>
              <p:nvPr/>
            </p:nvSpPr>
            <p:spPr bwMode="auto">
              <a:xfrm>
                <a:off x="3272" y="1316"/>
                <a:ext cx="1889" cy="1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8725" name="Rectangle 5"/>
              <p:cNvSpPr>
                <a:spLocks noChangeArrowheads="1"/>
              </p:cNvSpPr>
              <p:nvPr/>
            </p:nvSpPr>
            <p:spPr bwMode="auto">
              <a:xfrm>
                <a:off x="3803" y="1980"/>
                <a:ext cx="86" cy="325"/>
              </a:xfrm>
              <a:prstGeom prst="rect">
                <a:avLst/>
              </a:prstGeom>
              <a:solidFill>
                <a:srgbClr val="B21A1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8726" name="Freeform 6"/>
              <p:cNvSpPr>
                <a:spLocks/>
              </p:cNvSpPr>
              <p:nvPr/>
            </p:nvSpPr>
            <p:spPr bwMode="auto">
              <a:xfrm>
                <a:off x="4304" y="1971"/>
                <a:ext cx="249" cy="343"/>
              </a:xfrm>
              <a:custGeom>
                <a:avLst/>
                <a:gdLst>
                  <a:gd name="T0" fmla="*/ 58 w 58"/>
                  <a:gd name="T1" fmla="*/ 24 h 80"/>
                  <a:gd name="T2" fmla="*/ 42 w 58"/>
                  <a:gd name="T3" fmla="*/ 20 h 80"/>
                  <a:gd name="T4" fmla="*/ 21 w 58"/>
                  <a:gd name="T5" fmla="*/ 40 h 80"/>
                  <a:gd name="T6" fmla="*/ 42 w 58"/>
                  <a:gd name="T7" fmla="*/ 60 h 80"/>
                  <a:gd name="T8" fmla="*/ 58 w 58"/>
                  <a:gd name="T9" fmla="*/ 56 h 80"/>
                  <a:gd name="T10" fmla="*/ 58 w 58"/>
                  <a:gd name="T11" fmla="*/ 77 h 80"/>
                  <a:gd name="T12" fmla="*/ 41 w 58"/>
                  <a:gd name="T13" fmla="*/ 80 h 80"/>
                  <a:gd name="T14" fmla="*/ 0 w 58"/>
                  <a:gd name="T15" fmla="*/ 40 h 80"/>
                  <a:gd name="T16" fmla="*/ 41 w 58"/>
                  <a:gd name="T17" fmla="*/ 0 h 80"/>
                  <a:gd name="T18" fmla="*/ 58 w 58"/>
                  <a:gd name="T19" fmla="*/ 3 h 80"/>
                  <a:gd name="T20" fmla="*/ 58 w 58"/>
                  <a:gd name="T21" fmla="*/ 2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0">
                    <a:moveTo>
                      <a:pt x="58" y="24"/>
                    </a:moveTo>
                    <a:cubicBezTo>
                      <a:pt x="58" y="23"/>
                      <a:pt x="51" y="20"/>
                      <a:pt x="42" y="20"/>
                    </a:cubicBezTo>
                    <a:cubicBezTo>
                      <a:pt x="30" y="20"/>
                      <a:pt x="21" y="28"/>
                      <a:pt x="21" y="40"/>
                    </a:cubicBezTo>
                    <a:cubicBezTo>
                      <a:pt x="21" y="51"/>
                      <a:pt x="29" y="60"/>
                      <a:pt x="42" y="60"/>
                    </a:cubicBezTo>
                    <a:cubicBezTo>
                      <a:pt x="51" y="60"/>
                      <a:pt x="57" y="57"/>
                      <a:pt x="58" y="56"/>
                    </a:cubicBezTo>
                    <a:cubicBezTo>
                      <a:pt x="58" y="77"/>
                      <a:pt x="58" y="77"/>
                      <a:pt x="58" y="77"/>
                    </a:cubicBezTo>
                    <a:cubicBezTo>
                      <a:pt x="56" y="78"/>
                      <a:pt x="49" y="80"/>
                      <a:pt x="41" y="80"/>
                    </a:cubicBezTo>
                    <a:cubicBezTo>
                      <a:pt x="19" y="80"/>
                      <a:pt x="0" y="65"/>
                      <a:pt x="0" y="40"/>
                    </a:cubicBezTo>
                    <a:cubicBezTo>
                      <a:pt x="0" y="17"/>
                      <a:pt x="17" y="0"/>
                      <a:pt x="41" y="0"/>
                    </a:cubicBezTo>
                    <a:cubicBezTo>
                      <a:pt x="50" y="0"/>
                      <a:pt x="56" y="3"/>
                      <a:pt x="58" y="3"/>
                    </a:cubicBezTo>
                    <a:lnTo>
                      <a:pt x="58" y="24"/>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727" name="Freeform 7"/>
              <p:cNvSpPr>
                <a:spLocks/>
              </p:cNvSpPr>
              <p:nvPr/>
            </p:nvSpPr>
            <p:spPr bwMode="auto">
              <a:xfrm>
                <a:off x="3443" y="1971"/>
                <a:ext cx="249" cy="343"/>
              </a:xfrm>
              <a:custGeom>
                <a:avLst/>
                <a:gdLst>
                  <a:gd name="T0" fmla="*/ 58 w 58"/>
                  <a:gd name="T1" fmla="*/ 24 h 80"/>
                  <a:gd name="T2" fmla="*/ 42 w 58"/>
                  <a:gd name="T3" fmla="*/ 20 h 80"/>
                  <a:gd name="T4" fmla="*/ 21 w 58"/>
                  <a:gd name="T5" fmla="*/ 40 h 80"/>
                  <a:gd name="T6" fmla="*/ 42 w 58"/>
                  <a:gd name="T7" fmla="*/ 60 h 80"/>
                  <a:gd name="T8" fmla="*/ 58 w 58"/>
                  <a:gd name="T9" fmla="*/ 56 h 80"/>
                  <a:gd name="T10" fmla="*/ 58 w 58"/>
                  <a:gd name="T11" fmla="*/ 77 h 80"/>
                  <a:gd name="T12" fmla="*/ 40 w 58"/>
                  <a:gd name="T13" fmla="*/ 80 h 80"/>
                  <a:gd name="T14" fmla="*/ 0 w 58"/>
                  <a:gd name="T15" fmla="*/ 40 h 80"/>
                  <a:gd name="T16" fmla="*/ 40 w 58"/>
                  <a:gd name="T17" fmla="*/ 0 h 80"/>
                  <a:gd name="T18" fmla="*/ 58 w 58"/>
                  <a:gd name="T19" fmla="*/ 3 h 80"/>
                  <a:gd name="T20" fmla="*/ 58 w 58"/>
                  <a:gd name="T21" fmla="*/ 2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0">
                    <a:moveTo>
                      <a:pt x="58" y="24"/>
                    </a:moveTo>
                    <a:cubicBezTo>
                      <a:pt x="57" y="23"/>
                      <a:pt x="51" y="20"/>
                      <a:pt x="42" y="20"/>
                    </a:cubicBezTo>
                    <a:cubicBezTo>
                      <a:pt x="29" y="20"/>
                      <a:pt x="21" y="28"/>
                      <a:pt x="21" y="40"/>
                    </a:cubicBezTo>
                    <a:cubicBezTo>
                      <a:pt x="21" y="51"/>
                      <a:pt x="29" y="60"/>
                      <a:pt x="42" y="60"/>
                    </a:cubicBezTo>
                    <a:cubicBezTo>
                      <a:pt x="51" y="60"/>
                      <a:pt x="57" y="57"/>
                      <a:pt x="58" y="56"/>
                    </a:cubicBezTo>
                    <a:cubicBezTo>
                      <a:pt x="58" y="77"/>
                      <a:pt x="58" y="77"/>
                      <a:pt x="58" y="77"/>
                    </a:cubicBezTo>
                    <a:cubicBezTo>
                      <a:pt x="56" y="78"/>
                      <a:pt x="49" y="80"/>
                      <a:pt x="40" y="80"/>
                    </a:cubicBezTo>
                    <a:cubicBezTo>
                      <a:pt x="19" y="80"/>
                      <a:pt x="0" y="65"/>
                      <a:pt x="0" y="40"/>
                    </a:cubicBezTo>
                    <a:cubicBezTo>
                      <a:pt x="0" y="17"/>
                      <a:pt x="17" y="0"/>
                      <a:pt x="40" y="0"/>
                    </a:cubicBezTo>
                    <a:cubicBezTo>
                      <a:pt x="49" y="0"/>
                      <a:pt x="56" y="3"/>
                      <a:pt x="58" y="3"/>
                    </a:cubicBezTo>
                    <a:lnTo>
                      <a:pt x="58" y="24"/>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728" name="Freeform 8"/>
              <p:cNvSpPr>
                <a:spLocks noEditPoints="1"/>
              </p:cNvSpPr>
              <p:nvPr/>
            </p:nvSpPr>
            <p:spPr bwMode="auto">
              <a:xfrm>
                <a:off x="4643" y="1971"/>
                <a:ext cx="342" cy="343"/>
              </a:xfrm>
              <a:custGeom>
                <a:avLst/>
                <a:gdLst>
                  <a:gd name="T0" fmla="*/ 80 w 80"/>
                  <a:gd name="T1" fmla="*/ 40 h 80"/>
                  <a:gd name="T2" fmla="*/ 40 w 80"/>
                  <a:gd name="T3" fmla="*/ 80 h 80"/>
                  <a:gd name="T4" fmla="*/ 0 w 80"/>
                  <a:gd name="T5" fmla="*/ 40 h 80"/>
                  <a:gd name="T6" fmla="*/ 40 w 80"/>
                  <a:gd name="T7" fmla="*/ 0 h 80"/>
                  <a:gd name="T8" fmla="*/ 80 w 80"/>
                  <a:gd name="T9" fmla="*/ 40 h 80"/>
                  <a:gd name="T10" fmla="*/ 40 w 80"/>
                  <a:gd name="T11" fmla="*/ 20 h 80"/>
                  <a:gd name="T12" fmla="*/ 20 w 80"/>
                  <a:gd name="T13" fmla="*/ 40 h 80"/>
                  <a:gd name="T14" fmla="*/ 40 w 80"/>
                  <a:gd name="T15" fmla="*/ 60 h 80"/>
                  <a:gd name="T16" fmla="*/ 60 w 80"/>
                  <a:gd name="T17" fmla="*/ 40 h 80"/>
                  <a:gd name="T18" fmla="*/ 40 w 80"/>
                  <a:gd name="T19" fmla="*/ 2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80">
                    <a:moveTo>
                      <a:pt x="80" y="40"/>
                    </a:moveTo>
                    <a:cubicBezTo>
                      <a:pt x="80" y="62"/>
                      <a:pt x="64" y="80"/>
                      <a:pt x="40" y="80"/>
                    </a:cubicBezTo>
                    <a:cubicBezTo>
                      <a:pt x="16" y="80"/>
                      <a:pt x="0" y="62"/>
                      <a:pt x="0" y="40"/>
                    </a:cubicBezTo>
                    <a:cubicBezTo>
                      <a:pt x="0" y="18"/>
                      <a:pt x="16" y="0"/>
                      <a:pt x="40" y="0"/>
                    </a:cubicBezTo>
                    <a:cubicBezTo>
                      <a:pt x="64" y="0"/>
                      <a:pt x="80" y="18"/>
                      <a:pt x="80" y="40"/>
                    </a:cubicBezTo>
                    <a:moveTo>
                      <a:pt x="40" y="20"/>
                    </a:moveTo>
                    <a:cubicBezTo>
                      <a:pt x="29" y="20"/>
                      <a:pt x="20" y="29"/>
                      <a:pt x="20" y="40"/>
                    </a:cubicBezTo>
                    <a:cubicBezTo>
                      <a:pt x="20" y="51"/>
                      <a:pt x="29" y="60"/>
                      <a:pt x="40" y="60"/>
                    </a:cubicBezTo>
                    <a:cubicBezTo>
                      <a:pt x="51" y="60"/>
                      <a:pt x="60" y="51"/>
                      <a:pt x="60" y="40"/>
                    </a:cubicBezTo>
                    <a:cubicBezTo>
                      <a:pt x="60" y="29"/>
                      <a:pt x="51" y="20"/>
                      <a:pt x="40" y="20"/>
                    </a:cubicBezTo>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729" name="Freeform 9"/>
              <p:cNvSpPr>
                <a:spLocks/>
              </p:cNvSpPr>
              <p:nvPr/>
            </p:nvSpPr>
            <p:spPr bwMode="auto">
              <a:xfrm>
                <a:off x="4000" y="1971"/>
                <a:ext cx="223" cy="343"/>
              </a:xfrm>
              <a:custGeom>
                <a:avLst/>
                <a:gdLst>
                  <a:gd name="T0" fmla="*/ 47 w 52"/>
                  <a:gd name="T1" fmla="*/ 19 h 80"/>
                  <a:gd name="T2" fmla="*/ 32 w 52"/>
                  <a:gd name="T3" fmla="*/ 17 h 80"/>
                  <a:gd name="T4" fmla="*/ 20 w 52"/>
                  <a:gd name="T5" fmla="*/ 23 h 80"/>
                  <a:gd name="T6" fmla="*/ 29 w 52"/>
                  <a:gd name="T7" fmla="*/ 30 h 80"/>
                  <a:gd name="T8" fmla="*/ 34 w 52"/>
                  <a:gd name="T9" fmla="*/ 32 h 80"/>
                  <a:gd name="T10" fmla="*/ 52 w 52"/>
                  <a:gd name="T11" fmla="*/ 54 h 80"/>
                  <a:gd name="T12" fmla="*/ 21 w 52"/>
                  <a:gd name="T13" fmla="*/ 80 h 80"/>
                  <a:gd name="T14" fmla="*/ 0 w 52"/>
                  <a:gd name="T15" fmla="*/ 77 h 80"/>
                  <a:gd name="T16" fmla="*/ 0 w 52"/>
                  <a:gd name="T17" fmla="*/ 60 h 80"/>
                  <a:gd name="T18" fmla="*/ 18 w 52"/>
                  <a:gd name="T19" fmla="*/ 63 h 80"/>
                  <a:gd name="T20" fmla="*/ 32 w 52"/>
                  <a:gd name="T21" fmla="*/ 56 h 80"/>
                  <a:gd name="T22" fmla="*/ 23 w 52"/>
                  <a:gd name="T23" fmla="*/ 48 h 80"/>
                  <a:gd name="T24" fmla="*/ 19 w 52"/>
                  <a:gd name="T25" fmla="*/ 47 h 80"/>
                  <a:gd name="T26" fmla="*/ 0 w 52"/>
                  <a:gd name="T27" fmla="*/ 24 h 80"/>
                  <a:gd name="T28" fmla="*/ 28 w 52"/>
                  <a:gd name="T29" fmla="*/ 0 h 80"/>
                  <a:gd name="T30" fmla="*/ 47 w 52"/>
                  <a:gd name="T31" fmla="*/ 3 h 80"/>
                  <a:gd name="T32" fmla="*/ 47 w 52"/>
                  <a:gd name="T33" fmla="*/ 19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80">
                    <a:moveTo>
                      <a:pt x="47" y="19"/>
                    </a:moveTo>
                    <a:cubicBezTo>
                      <a:pt x="47" y="19"/>
                      <a:pt x="38" y="17"/>
                      <a:pt x="32" y="17"/>
                    </a:cubicBezTo>
                    <a:cubicBezTo>
                      <a:pt x="24" y="17"/>
                      <a:pt x="20" y="19"/>
                      <a:pt x="20" y="23"/>
                    </a:cubicBezTo>
                    <a:cubicBezTo>
                      <a:pt x="20" y="28"/>
                      <a:pt x="26" y="29"/>
                      <a:pt x="29" y="30"/>
                    </a:cubicBezTo>
                    <a:cubicBezTo>
                      <a:pt x="34" y="32"/>
                      <a:pt x="34" y="32"/>
                      <a:pt x="34" y="32"/>
                    </a:cubicBezTo>
                    <a:cubicBezTo>
                      <a:pt x="47" y="36"/>
                      <a:pt x="52" y="45"/>
                      <a:pt x="52" y="54"/>
                    </a:cubicBezTo>
                    <a:cubicBezTo>
                      <a:pt x="52" y="73"/>
                      <a:pt x="35" y="80"/>
                      <a:pt x="21" y="80"/>
                    </a:cubicBezTo>
                    <a:cubicBezTo>
                      <a:pt x="10" y="80"/>
                      <a:pt x="1" y="78"/>
                      <a:pt x="0" y="77"/>
                    </a:cubicBezTo>
                    <a:cubicBezTo>
                      <a:pt x="0" y="60"/>
                      <a:pt x="0" y="60"/>
                      <a:pt x="0" y="60"/>
                    </a:cubicBezTo>
                    <a:cubicBezTo>
                      <a:pt x="2" y="60"/>
                      <a:pt x="10" y="63"/>
                      <a:pt x="18" y="63"/>
                    </a:cubicBezTo>
                    <a:cubicBezTo>
                      <a:pt x="28" y="63"/>
                      <a:pt x="32" y="60"/>
                      <a:pt x="32" y="56"/>
                    </a:cubicBezTo>
                    <a:cubicBezTo>
                      <a:pt x="32" y="52"/>
                      <a:pt x="28" y="49"/>
                      <a:pt x="23" y="48"/>
                    </a:cubicBezTo>
                    <a:cubicBezTo>
                      <a:pt x="22" y="48"/>
                      <a:pt x="21" y="47"/>
                      <a:pt x="19" y="47"/>
                    </a:cubicBezTo>
                    <a:cubicBezTo>
                      <a:pt x="9" y="43"/>
                      <a:pt x="0" y="37"/>
                      <a:pt x="0" y="24"/>
                    </a:cubicBezTo>
                    <a:cubicBezTo>
                      <a:pt x="0" y="10"/>
                      <a:pt x="10" y="0"/>
                      <a:pt x="28" y="0"/>
                    </a:cubicBezTo>
                    <a:cubicBezTo>
                      <a:pt x="37" y="0"/>
                      <a:pt x="46" y="3"/>
                      <a:pt x="47" y="3"/>
                    </a:cubicBezTo>
                    <a:lnTo>
                      <a:pt x="47" y="19"/>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730" name="Freeform 10"/>
              <p:cNvSpPr>
                <a:spLocks/>
              </p:cNvSpPr>
              <p:nvPr/>
            </p:nvSpPr>
            <p:spPr bwMode="auto">
              <a:xfrm>
                <a:off x="3272" y="1586"/>
                <a:ext cx="81" cy="167"/>
              </a:xfrm>
              <a:custGeom>
                <a:avLst/>
                <a:gdLst>
                  <a:gd name="T0" fmla="*/ 19 w 19"/>
                  <a:gd name="T1" fmla="*/ 10 h 39"/>
                  <a:gd name="T2" fmla="*/ 10 w 19"/>
                  <a:gd name="T3" fmla="*/ 0 h 39"/>
                  <a:gd name="T4" fmla="*/ 0 w 19"/>
                  <a:gd name="T5" fmla="*/ 10 h 39"/>
                  <a:gd name="T6" fmla="*/ 0 w 19"/>
                  <a:gd name="T7" fmla="*/ 30 h 39"/>
                  <a:gd name="T8" fmla="*/ 10 w 19"/>
                  <a:gd name="T9" fmla="*/ 39 h 39"/>
                  <a:gd name="T10" fmla="*/ 19 w 19"/>
                  <a:gd name="T11" fmla="*/ 30 h 39"/>
                  <a:gd name="T12" fmla="*/ 19 w 19"/>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19" h="39">
                    <a:moveTo>
                      <a:pt x="19" y="10"/>
                    </a:moveTo>
                    <a:cubicBezTo>
                      <a:pt x="19" y="4"/>
                      <a:pt x="15" y="0"/>
                      <a:pt x="10" y="0"/>
                    </a:cubicBezTo>
                    <a:cubicBezTo>
                      <a:pt x="4" y="0"/>
                      <a:pt x="0" y="4"/>
                      <a:pt x="0" y="10"/>
                    </a:cubicBezTo>
                    <a:cubicBezTo>
                      <a:pt x="0" y="30"/>
                      <a:pt x="0" y="30"/>
                      <a:pt x="0" y="30"/>
                    </a:cubicBezTo>
                    <a:cubicBezTo>
                      <a:pt x="0" y="35"/>
                      <a:pt x="4" y="39"/>
                      <a:pt x="10" y="39"/>
                    </a:cubicBezTo>
                    <a:cubicBezTo>
                      <a:pt x="15" y="39"/>
                      <a:pt x="19" y="35"/>
                      <a:pt x="19" y="30"/>
                    </a:cubicBezTo>
                    <a:lnTo>
                      <a:pt x="19"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731" name="Freeform 11"/>
              <p:cNvSpPr>
                <a:spLocks/>
              </p:cNvSpPr>
              <p:nvPr/>
            </p:nvSpPr>
            <p:spPr bwMode="auto">
              <a:xfrm>
                <a:off x="3499" y="1474"/>
                <a:ext cx="81" cy="279"/>
              </a:xfrm>
              <a:custGeom>
                <a:avLst/>
                <a:gdLst>
                  <a:gd name="T0" fmla="*/ 19 w 19"/>
                  <a:gd name="T1" fmla="*/ 9 h 65"/>
                  <a:gd name="T2" fmla="*/ 9 w 19"/>
                  <a:gd name="T3" fmla="*/ 0 h 65"/>
                  <a:gd name="T4" fmla="*/ 0 w 19"/>
                  <a:gd name="T5" fmla="*/ 9 h 65"/>
                  <a:gd name="T6" fmla="*/ 0 w 19"/>
                  <a:gd name="T7" fmla="*/ 56 h 65"/>
                  <a:gd name="T8" fmla="*/ 9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4" y="0"/>
                      <a:pt x="9" y="0"/>
                    </a:cubicBezTo>
                    <a:cubicBezTo>
                      <a:pt x="4" y="0"/>
                      <a:pt x="0" y="4"/>
                      <a:pt x="0" y="9"/>
                    </a:cubicBezTo>
                    <a:cubicBezTo>
                      <a:pt x="0" y="56"/>
                      <a:pt x="0" y="56"/>
                      <a:pt x="0" y="56"/>
                    </a:cubicBezTo>
                    <a:cubicBezTo>
                      <a:pt x="0" y="61"/>
                      <a:pt x="4" y="65"/>
                      <a:pt x="9" y="65"/>
                    </a:cubicBezTo>
                    <a:cubicBezTo>
                      <a:pt x="14"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732" name="Freeform 12"/>
              <p:cNvSpPr>
                <a:spLocks/>
              </p:cNvSpPr>
              <p:nvPr/>
            </p:nvSpPr>
            <p:spPr bwMode="auto">
              <a:xfrm>
                <a:off x="3722" y="1320"/>
                <a:ext cx="81" cy="514"/>
              </a:xfrm>
              <a:custGeom>
                <a:avLst/>
                <a:gdLst>
                  <a:gd name="T0" fmla="*/ 19 w 19"/>
                  <a:gd name="T1" fmla="*/ 9 h 120"/>
                  <a:gd name="T2" fmla="*/ 10 w 19"/>
                  <a:gd name="T3" fmla="*/ 0 h 120"/>
                  <a:gd name="T4" fmla="*/ 0 w 19"/>
                  <a:gd name="T5" fmla="*/ 9 h 120"/>
                  <a:gd name="T6" fmla="*/ 0 w 19"/>
                  <a:gd name="T7" fmla="*/ 111 h 120"/>
                  <a:gd name="T8" fmla="*/ 10 w 19"/>
                  <a:gd name="T9" fmla="*/ 120 h 120"/>
                  <a:gd name="T10" fmla="*/ 19 w 19"/>
                  <a:gd name="T11" fmla="*/ 111 h 120"/>
                  <a:gd name="T12" fmla="*/ 19 w 19"/>
                  <a:gd name="T13" fmla="*/ 9 h 120"/>
                </a:gdLst>
                <a:ahLst/>
                <a:cxnLst>
                  <a:cxn ang="0">
                    <a:pos x="T0" y="T1"/>
                  </a:cxn>
                  <a:cxn ang="0">
                    <a:pos x="T2" y="T3"/>
                  </a:cxn>
                  <a:cxn ang="0">
                    <a:pos x="T4" y="T5"/>
                  </a:cxn>
                  <a:cxn ang="0">
                    <a:pos x="T6" y="T7"/>
                  </a:cxn>
                  <a:cxn ang="0">
                    <a:pos x="T8" y="T9"/>
                  </a:cxn>
                  <a:cxn ang="0">
                    <a:pos x="T10" y="T11"/>
                  </a:cxn>
                  <a:cxn ang="0">
                    <a:pos x="T12" y="T13"/>
                  </a:cxn>
                </a:cxnLst>
                <a:rect l="0" t="0" r="r" b="b"/>
                <a:pathLst>
                  <a:path w="19" h="120">
                    <a:moveTo>
                      <a:pt x="19" y="9"/>
                    </a:moveTo>
                    <a:cubicBezTo>
                      <a:pt x="19" y="4"/>
                      <a:pt x="15" y="0"/>
                      <a:pt x="10" y="0"/>
                    </a:cubicBezTo>
                    <a:cubicBezTo>
                      <a:pt x="5" y="0"/>
                      <a:pt x="0" y="4"/>
                      <a:pt x="0" y="9"/>
                    </a:cubicBezTo>
                    <a:cubicBezTo>
                      <a:pt x="0" y="111"/>
                      <a:pt x="0" y="111"/>
                      <a:pt x="0" y="111"/>
                    </a:cubicBezTo>
                    <a:cubicBezTo>
                      <a:pt x="0" y="116"/>
                      <a:pt x="5" y="120"/>
                      <a:pt x="10" y="120"/>
                    </a:cubicBezTo>
                    <a:cubicBezTo>
                      <a:pt x="15" y="120"/>
                      <a:pt x="19" y="116"/>
                      <a:pt x="19" y="111"/>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733" name="Freeform 13"/>
              <p:cNvSpPr>
                <a:spLocks/>
              </p:cNvSpPr>
              <p:nvPr/>
            </p:nvSpPr>
            <p:spPr bwMode="auto">
              <a:xfrm>
                <a:off x="3949" y="1474"/>
                <a:ext cx="81" cy="279"/>
              </a:xfrm>
              <a:custGeom>
                <a:avLst/>
                <a:gdLst>
                  <a:gd name="T0" fmla="*/ 19 w 19"/>
                  <a:gd name="T1" fmla="*/ 9 h 65"/>
                  <a:gd name="T2" fmla="*/ 9 w 19"/>
                  <a:gd name="T3" fmla="*/ 0 h 65"/>
                  <a:gd name="T4" fmla="*/ 0 w 19"/>
                  <a:gd name="T5" fmla="*/ 9 h 65"/>
                  <a:gd name="T6" fmla="*/ 0 w 19"/>
                  <a:gd name="T7" fmla="*/ 56 h 65"/>
                  <a:gd name="T8" fmla="*/ 9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9" y="0"/>
                    </a:cubicBezTo>
                    <a:cubicBezTo>
                      <a:pt x="4" y="0"/>
                      <a:pt x="0" y="4"/>
                      <a:pt x="0" y="9"/>
                    </a:cubicBezTo>
                    <a:cubicBezTo>
                      <a:pt x="0" y="56"/>
                      <a:pt x="0" y="56"/>
                      <a:pt x="0" y="56"/>
                    </a:cubicBezTo>
                    <a:cubicBezTo>
                      <a:pt x="0" y="61"/>
                      <a:pt x="4" y="65"/>
                      <a:pt x="9"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734" name="Freeform 14"/>
              <p:cNvSpPr>
                <a:spLocks/>
              </p:cNvSpPr>
              <p:nvPr/>
            </p:nvSpPr>
            <p:spPr bwMode="auto">
              <a:xfrm>
                <a:off x="4171" y="1586"/>
                <a:ext cx="86" cy="167"/>
              </a:xfrm>
              <a:custGeom>
                <a:avLst/>
                <a:gdLst>
                  <a:gd name="T0" fmla="*/ 20 w 20"/>
                  <a:gd name="T1" fmla="*/ 10 h 39"/>
                  <a:gd name="T2" fmla="*/ 10 w 20"/>
                  <a:gd name="T3" fmla="*/ 0 h 39"/>
                  <a:gd name="T4" fmla="*/ 0 w 20"/>
                  <a:gd name="T5" fmla="*/ 10 h 39"/>
                  <a:gd name="T6" fmla="*/ 0 w 20"/>
                  <a:gd name="T7" fmla="*/ 30 h 39"/>
                  <a:gd name="T8" fmla="*/ 10 w 20"/>
                  <a:gd name="T9" fmla="*/ 39 h 39"/>
                  <a:gd name="T10" fmla="*/ 20 w 20"/>
                  <a:gd name="T11" fmla="*/ 30 h 39"/>
                  <a:gd name="T12" fmla="*/ 20 w 20"/>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20" h="39">
                    <a:moveTo>
                      <a:pt x="20" y="10"/>
                    </a:moveTo>
                    <a:cubicBezTo>
                      <a:pt x="20" y="4"/>
                      <a:pt x="15" y="0"/>
                      <a:pt x="10" y="0"/>
                    </a:cubicBezTo>
                    <a:cubicBezTo>
                      <a:pt x="5" y="0"/>
                      <a:pt x="0" y="4"/>
                      <a:pt x="0" y="10"/>
                    </a:cubicBezTo>
                    <a:cubicBezTo>
                      <a:pt x="0" y="30"/>
                      <a:pt x="0" y="30"/>
                      <a:pt x="0" y="30"/>
                    </a:cubicBezTo>
                    <a:cubicBezTo>
                      <a:pt x="0" y="35"/>
                      <a:pt x="5" y="39"/>
                      <a:pt x="10" y="39"/>
                    </a:cubicBezTo>
                    <a:cubicBezTo>
                      <a:pt x="15" y="39"/>
                      <a:pt x="20" y="35"/>
                      <a:pt x="20" y="30"/>
                    </a:cubicBezTo>
                    <a:lnTo>
                      <a:pt x="20"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735" name="Freeform 15"/>
              <p:cNvSpPr>
                <a:spLocks/>
              </p:cNvSpPr>
              <p:nvPr/>
            </p:nvSpPr>
            <p:spPr bwMode="auto">
              <a:xfrm>
                <a:off x="4398" y="1474"/>
                <a:ext cx="82" cy="279"/>
              </a:xfrm>
              <a:custGeom>
                <a:avLst/>
                <a:gdLst>
                  <a:gd name="T0" fmla="*/ 19 w 19"/>
                  <a:gd name="T1" fmla="*/ 9 h 65"/>
                  <a:gd name="T2" fmla="*/ 10 w 19"/>
                  <a:gd name="T3" fmla="*/ 0 h 65"/>
                  <a:gd name="T4" fmla="*/ 0 w 19"/>
                  <a:gd name="T5" fmla="*/ 9 h 65"/>
                  <a:gd name="T6" fmla="*/ 0 w 19"/>
                  <a:gd name="T7" fmla="*/ 56 h 65"/>
                  <a:gd name="T8" fmla="*/ 10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10" y="0"/>
                    </a:cubicBezTo>
                    <a:cubicBezTo>
                      <a:pt x="4" y="0"/>
                      <a:pt x="0" y="4"/>
                      <a:pt x="0" y="9"/>
                    </a:cubicBezTo>
                    <a:cubicBezTo>
                      <a:pt x="0" y="56"/>
                      <a:pt x="0" y="56"/>
                      <a:pt x="0" y="56"/>
                    </a:cubicBezTo>
                    <a:cubicBezTo>
                      <a:pt x="0" y="61"/>
                      <a:pt x="4" y="65"/>
                      <a:pt x="10"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736" name="Freeform 16"/>
              <p:cNvSpPr>
                <a:spLocks/>
              </p:cNvSpPr>
              <p:nvPr/>
            </p:nvSpPr>
            <p:spPr bwMode="auto">
              <a:xfrm>
                <a:off x="4625" y="1320"/>
                <a:ext cx="82" cy="514"/>
              </a:xfrm>
              <a:custGeom>
                <a:avLst/>
                <a:gdLst>
                  <a:gd name="T0" fmla="*/ 19 w 19"/>
                  <a:gd name="T1" fmla="*/ 9 h 120"/>
                  <a:gd name="T2" fmla="*/ 9 w 19"/>
                  <a:gd name="T3" fmla="*/ 0 h 120"/>
                  <a:gd name="T4" fmla="*/ 0 w 19"/>
                  <a:gd name="T5" fmla="*/ 9 h 120"/>
                  <a:gd name="T6" fmla="*/ 0 w 19"/>
                  <a:gd name="T7" fmla="*/ 111 h 120"/>
                  <a:gd name="T8" fmla="*/ 9 w 19"/>
                  <a:gd name="T9" fmla="*/ 120 h 120"/>
                  <a:gd name="T10" fmla="*/ 19 w 19"/>
                  <a:gd name="T11" fmla="*/ 111 h 120"/>
                  <a:gd name="T12" fmla="*/ 19 w 19"/>
                  <a:gd name="T13" fmla="*/ 9 h 120"/>
                </a:gdLst>
                <a:ahLst/>
                <a:cxnLst>
                  <a:cxn ang="0">
                    <a:pos x="T0" y="T1"/>
                  </a:cxn>
                  <a:cxn ang="0">
                    <a:pos x="T2" y="T3"/>
                  </a:cxn>
                  <a:cxn ang="0">
                    <a:pos x="T4" y="T5"/>
                  </a:cxn>
                  <a:cxn ang="0">
                    <a:pos x="T6" y="T7"/>
                  </a:cxn>
                  <a:cxn ang="0">
                    <a:pos x="T8" y="T9"/>
                  </a:cxn>
                  <a:cxn ang="0">
                    <a:pos x="T10" y="T11"/>
                  </a:cxn>
                  <a:cxn ang="0">
                    <a:pos x="T12" y="T13"/>
                  </a:cxn>
                </a:cxnLst>
                <a:rect l="0" t="0" r="r" b="b"/>
                <a:pathLst>
                  <a:path w="19" h="120">
                    <a:moveTo>
                      <a:pt x="19" y="9"/>
                    </a:moveTo>
                    <a:cubicBezTo>
                      <a:pt x="19" y="4"/>
                      <a:pt x="15" y="0"/>
                      <a:pt x="9" y="0"/>
                    </a:cubicBezTo>
                    <a:cubicBezTo>
                      <a:pt x="4" y="0"/>
                      <a:pt x="0" y="4"/>
                      <a:pt x="0" y="9"/>
                    </a:cubicBezTo>
                    <a:cubicBezTo>
                      <a:pt x="0" y="111"/>
                      <a:pt x="0" y="111"/>
                      <a:pt x="0" y="111"/>
                    </a:cubicBezTo>
                    <a:cubicBezTo>
                      <a:pt x="0" y="116"/>
                      <a:pt x="4" y="120"/>
                      <a:pt x="9" y="120"/>
                    </a:cubicBezTo>
                    <a:cubicBezTo>
                      <a:pt x="15" y="120"/>
                      <a:pt x="19" y="116"/>
                      <a:pt x="19" y="111"/>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737" name="Freeform 17"/>
              <p:cNvSpPr>
                <a:spLocks/>
              </p:cNvSpPr>
              <p:nvPr/>
            </p:nvSpPr>
            <p:spPr bwMode="auto">
              <a:xfrm>
                <a:off x="4848" y="1474"/>
                <a:ext cx="82" cy="279"/>
              </a:xfrm>
              <a:custGeom>
                <a:avLst/>
                <a:gdLst>
                  <a:gd name="T0" fmla="*/ 19 w 19"/>
                  <a:gd name="T1" fmla="*/ 9 h 65"/>
                  <a:gd name="T2" fmla="*/ 10 w 19"/>
                  <a:gd name="T3" fmla="*/ 0 h 65"/>
                  <a:gd name="T4" fmla="*/ 0 w 19"/>
                  <a:gd name="T5" fmla="*/ 9 h 65"/>
                  <a:gd name="T6" fmla="*/ 0 w 19"/>
                  <a:gd name="T7" fmla="*/ 56 h 65"/>
                  <a:gd name="T8" fmla="*/ 10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10" y="0"/>
                    </a:cubicBezTo>
                    <a:cubicBezTo>
                      <a:pt x="5" y="0"/>
                      <a:pt x="0" y="4"/>
                      <a:pt x="0" y="9"/>
                    </a:cubicBezTo>
                    <a:cubicBezTo>
                      <a:pt x="0" y="56"/>
                      <a:pt x="0" y="56"/>
                      <a:pt x="0" y="56"/>
                    </a:cubicBezTo>
                    <a:cubicBezTo>
                      <a:pt x="0" y="61"/>
                      <a:pt x="5" y="65"/>
                      <a:pt x="10"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738" name="Freeform 18"/>
              <p:cNvSpPr>
                <a:spLocks/>
              </p:cNvSpPr>
              <p:nvPr/>
            </p:nvSpPr>
            <p:spPr bwMode="auto">
              <a:xfrm>
                <a:off x="5075" y="1586"/>
                <a:ext cx="82" cy="167"/>
              </a:xfrm>
              <a:custGeom>
                <a:avLst/>
                <a:gdLst>
                  <a:gd name="T0" fmla="*/ 19 w 19"/>
                  <a:gd name="T1" fmla="*/ 10 h 39"/>
                  <a:gd name="T2" fmla="*/ 9 w 19"/>
                  <a:gd name="T3" fmla="*/ 0 h 39"/>
                  <a:gd name="T4" fmla="*/ 0 w 19"/>
                  <a:gd name="T5" fmla="*/ 10 h 39"/>
                  <a:gd name="T6" fmla="*/ 0 w 19"/>
                  <a:gd name="T7" fmla="*/ 30 h 39"/>
                  <a:gd name="T8" fmla="*/ 9 w 19"/>
                  <a:gd name="T9" fmla="*/ 39 h 39"/>
                  <a:gd name="T10" fmla="*/ 19 w 19"/>
                  <a:gd name="T11" fmla="*/ 30 h 39"/>
                  <a:gd name="T12" fmla="*/ 19 w 19"/>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19" h="39">
                    <a:moveTo>
                      <a:pt x="19" y="10"/>
                    </a:moveTo>
                    <a:cubicBezTo>
                      <a:pt x="19" y="4"/>
                      <a:pt x="15" y="0"/>
                      <a:pt x="9" y="0"/>
                    </a:cubicBezTo>
                    <a:cubicBezTo>
                      <a:pt x="4" y="0"/>
                      <a:pt x="0" y="4"/>
                      <a:pt x="0" y="10"/>
                    </a:cubicBezTo>
                    <a:cubicBezTo>
                      <a:pt x="0" y="30"/>
                      <a:pt x="0" y="30"/>
                      <a:pt x="0" y="30"/>
                    </a:cubicBezTo>
                    <a:cubicBezTo>
                      <a:pt x="0" y="35"/>
                      <a:pt x="4" y="39"/>
                      <a:pt x="9" y="39"/>
                    </a:cubicBezTo>
                    <a:cubicBezTo>
                      <a:pt x="15" y="39"/>
                      <a:pt x="19" y="35"/>
                      <a:pt x="19" y="30"/>
                    </a:cubicBezTo>
                    <a:lnTo>
                      <a:pt x="19"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58739" name="Rectangle 19"/>
            <p:cNvSpPr>
              <a:spLocks noChangeArrowheads="1"/>
            </p:cNvSpPr>
            <p:nvPr/>
          </p:nvSpPr>
          <p:spPr bwMode="auto">
            <a:xfrm>
              <a:off x="0" y="0"/>
              <a:ext cx="5760" cy="432"/>
            </a:xfrm>
            <a:prstGeom prst="rect">
              <a:avLst/>
            </a:prstGeom>
            <a:solidFill>
              <a:srgbClr val="FFFFFF"/>
            </a:solidFill>
            <a:ln>
              <a:noFill/>
            </a:ln>
            <a:effectLst/>
            <a:extLst>
              <a:ext uri="{91240B29-F687-4F45-9708-019B960494DF}">
                <a14:hiddenLine xmlns:a14="http://schemas.microsoft.com/office/drawing/2010/main" w="9525" algn="ctr">
                  <a:solidFill>
                    <a:srgbClr val="4798AB"/>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p>
              <a:endParaRPr lang="en-US"/>
            </a:p>
          </p:txBody>
        </p:sp>
      </p:grpSp>
    </p:spTree>
  </p:cSld>
  <p:clrMapOvr>
    <a:masterClrMapping/>
  </p:clrMapOvr>
  <p:transition spd="med"/>
</p:sld>
</file>

<file path=ppt/theme/theme1.xml><?xml version="1.0" encoding="utf-8"?>
<a:theme xmlns:a="http://schemas.openxmlformats.org/drawingml/2006/main" name="3_EPGS_PPT_v8.0">
  <a:themeElements>
    <a:clrScheme name="">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3_EPGS_PPT_v8.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000" b="1" i="0" u="none" strike="noStrike" cap="none" normalizeH="0" baseline="0" smtClean="0">
            <a:ln>
              <a:noFill/>
            </a:ln>
            <a:solidFill>
              <a:schemeClr val="tx1"/>
            </a:solidFill>
            <a:effectLst/>
            <a:latin typeface="Arial" charset="0"/>
          </a:defRPr>
        </a:defPPr>
      </a:lstStyle>
    </a:lnDef>
  </a:objectDefaults>
  <a:extraClrSchemeLst>
    <a:extraClrScheme>
      <a:clrScheme name="3_EPGS_PPT_v8.0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EPGS_PPT_v8.0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3_EPGS_PPT_v8.0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EPGS_PPT_v8.0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EPGS_PPT_v8.0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EPGS_PPT_v8.0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3_EPGS_PPT_v8.0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3_EPGS_PPT_v8.0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3_EPGS_PPT_v8.0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3_EPGS_PPT_v8.0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3_EPGS_PPT_v8.0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3_EPGS_PPT_v8.0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3_EPGS_PPT_v8.0 13">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336599"/>
        </a:hlink>
        <a:folHlink>
          <a:srgbClr val="EEB30E"/>
        </a:folHlink>
      </a:clrScheme>
      <a:clrMap bg1="lt1" tx1="dk1" bg2="lt2" tx2="dk2" accent1="accent1" accent2="accent2" accent3="accent3" accent4="accent4" accent5="accent5" accent6="accent6" hlink="hlink" folHlink="folHlink"/>
    </a:extraClrScheme>
    <a:extraClrScheme>
      <a:clrScheme name="3_EPGS_PPT_v8.0 14">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3_EPGS_PPT_v8.0 15">
        <a:dk1>
          <a:srgbClr val="000000"/>
        </a:dk1>
        <a:lt1>
          <a:srgbClr val="FFFFFF"/>
        </a:lt1>
        <a:dk2>
          <a:srgbClr val="0183B7"/>
        </a:dk2>
        <a:lt2>
          <a:srgbClr val="000000"/>
        </a:lt2>
        <a:accent1>
          <a:srgbClr val="0183B7"/>
        </a:accent1>
        <a:accent2>
          <a:srgbClr val="B92B38"/>
        </a:accent2>
        <a:accent3>
          <a:srgbClr val="FFFFFF"/>
        </a:accent3>
        <a:accent4>
          <a:srgbClr val="000000"/>
        </a:accent4>
        <a:accent5>
          <a:srgbClr val="AAC1D8"/>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3_EPGS_PPT_v8.0 16">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4B87C3"/>
        </a:hlink>
        <a:folHlink>
          <a:srgbClr val="EEB30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MP-DEV-PPT-v8.1">
  <a:themeElements>
    <a:clrScheme name="">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TMP-DEV-PPT-v8.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857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000" b="1" i="0" u="none" strike="noStrike" cap="none" normalizeH="0" baseline="0" smtClean="0">
            <a:ln>
              <a:noFill/>
            </a:ln>
            <a:solidFill>
              <a:schemeClr val="tx1"/>
            </a:solidFill>
            <a:effectLst/>
            <a:latin typeface="Arial" charset="0"/>
          </a:defRPr>
        </a:defPPr>
      </a:lstStyle>
    </a:lnDef>
  </a:objectDefaults>
  <a:extraClrSchemeLst>
    <a:extraClrScheme>
      <a:clrScheme name="TMP-DEV-PPT-v8.1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MP-DEV-PPT-v8.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TMP-DEV-PPT-v8.1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MP-DEV-PPT-v8.1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MP-DEV-PPT-v8.1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MP-DEV-PPT-v8.1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TMP-DEV-PPT-v8.1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TMP-DEV-PPT-v8.1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TMP-DEV-PPT-v8.1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3">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336599"/>
        </a:hlink>
        <a:folHlink>
          <a:srgbClr val="EEB30E"/>
        </a:folHlink>
      </a:clrScheme>
      <a:clrMap bg1="lt1" tx1="dk1" bg2="lt2" tx2="dk2" accent1="accent1" accent2="accent2" accent3="accent3" accent4="accent4" accent5="accent5" accent6="accent6" hlink="hlink" folHlink="folHlink"/>
    </a:extraClrScheme>
    <a:extraClrScheme>
      <a:clrScheme name="TMP-DEV-PPT-v8.1 14">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5">
        <a:dk1>
          <a:srgbClr val="000000"/>
        </a:dk1>
        <a:lt1>
          <a:srgbClr val="FFFFFF"/>
        </a:lt1>
        <a:dk2>
          <a:srgbClr val="0183B7"/>
        </a:dk2>
        <a:lt2>
          <a:srgbClr val="000000"/>
        </a:lt2>
        <a:accent1>
          <a:srgbClr val="0183B7"/>
        </a:accent1>
        <a:accent2>
          <a:srgbClr val="B92B38"/>
        </a:accent2>
        <a:accent3>
          <a:srgbClr val="FFFFFF"/>
        </a:accent3>
        <a:accent4>
          <a:srgbClr val="000000"/>
        </a:accent4>
        <a:accent5>
          <a:srgbClr val="AAC1D8"/>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6">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4B87C3"/>
        </a:hlink>
        <a:folHlink>
          <a:srgbClr val="EEB30E"/>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TMP-DEV-PPT-v8.0</Template>
  <TotalTime>5459</TotalTime>
  <Words>2629</Words>
  <Application>Microsoft Office PowerPoint</Application>
  <PresentationFormat>On-screen Show (4:3)</PresentationFormat>
  <Paragraphs>357</Paragraphs>
  <Slides>61</Slides>
  <Notes>49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61</vt:i4>
      </vt:variant>
    </vt:vector>
  </HeadingPairs>
  <TitlesOfParts>
    <vt:vector size="67" baseType="lpstr">
      <vt:lpstr>Arial</vt:lpstr>
      <vt:lpstr>Times</vt:lpstr>
      <vt:lpstr>Times New Roman</vt:lpstr>
      <vt:lpstr>Wingdings</vt:lpstr>
      <vt:lpstr>3_EPGS_PPT_v8.0</vt:lpstr>
      <vt:lpstr>TMP-DEV-PPT-v8.1</vt:lpstr>
      <vt:lpstr>SWICHING &amp; ROUTING</vt:lpstr>
      <vt:lpstr>Course Content</vt:lpstr>
      <vt:lpstr>Content</vt:lpstr>
      <vt:lpstr>Building a Simple Network</vt:lpstr>
      <vt:lpstr>Understanding Host-to-Host Communications</vt:lpstr>
      <vt:lpstr>Why a Layered Network Model?</vt:lpstr>
      <vt:lpstr>The Seven Layers of the OSI Model</vt:lpstr>
      <vt:lpstr>The Seven Layers of the OSI Model (Cont.)</vt:lpstr>
      <vt:lpstr>The Seven Layers of the OSI Model (Cont.)</vt:lpstr>
      <vt:lpstr>The Seven Layers of the OSI Model (Cont.)</vt:lpstr>
      <vt:lpstr>The Seven Layers of the OSI Model (Cont.)</vt:lpstr>
      <vt:lpstr>The Seven Layers of the OSI Model (Cont.)</vt:lpstr>
      <vt:lpstr>The Seven Layers of the OSI Model (Cont.)</vt:lpstr>
      <vt:lpstr>Data Encapsulation</vt:lpstr>
      <vt:lpstr>Data De-Encapsulation</vt:lpstr>
      <vt:lpstr>Peer-to-Peer Communication </vt:lpstr>
      <vt:lpstr>TCP/IP Stack</vt:lpstr>
      <vt:lpstr>TCP/IP Stack vs. the OSI Model</vt:lpstr>
      <vt:lpstr>Building a Simple Network</vt:lpstr>
      <vt:lpstr>Layer 1 Devices</vt:lpstr>
      <vt:lpstr>Layer 2 Devices</vt:lpstr>
      <vt:lpstr>Layer 2 Addressing</vt:lpstr>
      <vt:lpstr>Layer 3 Devices and Their Function</vt:lpstr>
      <vt:lpstr>Layer 3 Addressing</vt:lpstr>
      <vt:lpstr>Building a Simple Network</vt:lpstr>
      <vt:lpstr>Internet Protocol Characteristics</vt:lpstr>
      <vt:lpstr>Why IP Addresses?</vt:lpstr>
      <vt:lpstr>IP PDU Header</vt:lpstr>
      <vt:lpstr>IP Address Format: Dotted Decimal Notation</vt:lpstr>
      <vt:lpstr>IP Address Classes: The First Octet</vt:lpstr>
      <vt:lpstr>IP Address Ranges</vt:lpstr>
      <vt:lpstr>Reserved Address</vt:lpstr>
      <vt:lpstr>Public IP Addresses</vt:lpstr>
      <vt:lpstr>Private IP Addresses</vt:lpstr>
      <vt:lpstr>DHCP</vt:lpstr>
      <vt:lpstr>DNS</vt:lpstr>
      <vt:lpstr>UDP Header</vt:lpstr>
      <vt:lpstr>TCP Characteristics</vt:lpstr>
      <vt:lpstr>TCP Header</vt:lpstr>
      <vt:lpstr>TCP/IP Application Layer Overview</vt:lpstr>
      <vt:lpstr>Mapping Layer 3 to Layer 4</vt:lpstr>
      <vt:lpstr>Mapping Layer 4 to Applications</vt:lpstr>
      <vt:lpstr>Establishing a Connection</vt:lpstr>
      <vt:lpstr>Three-Way Handshake</vt:lpstr>
      <vt:lpstr>Flow Control</vt:lpstr>
      <vt:lpstr>TCP Acknowledgment</vt:lpstr>
      <vt:lpstr>Fixed Windowing</vt:lpstr>
      <vt:lpstr>TCP Sliding Windowing</vt:lpstr>
      <vt:lpstr>TCP Sequence and Acknowledgment Numbers</vt:lpstr>
      <vt:lpstr>WAN Connections </vt:lpstr>
      <vt:lpstr>Wide-Area Network</vt:lpstr>
      <vt:lpstr>Need for WANs</vt:lpstr>
      <vt:lpstr>WANs vs. LANs</vt:lpstr>
      <vt:lpstr>WAN Access and the OSI Reference Model</vt:lpstr>
      <vt:lpstr>WAN Devices</vt:lpstr>
      <vt:lpstr>Physical Layer: WANs</vt:lpstr>
      <vt:lpstr>Serial Point-to-Point Connections</vt:lpstr>
      <vt:lpstr>WAN—Multiple LANs</vt:lpstr>
      <vt:lpstr>WAN Data-Link Protocols</vt:lpstr>
      <vt:lpstr>WAN Link Options</vt:lpstr>
      <vt:lpstr>PowerPoint Presentation</vt:lpstr>
    </vt:vector>
  </TitlesOfParts>
  <Manager>Erin Stanley</Manager>
  <Company>Cisco Systems,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MA-ILT-Lesson-v4.2.ppt</dc:title>
  <dc:creator>Editorial, Production, and Graphics Services (EPGS)</dc:creator>
  <dc:description>04/04, v3.1, Libby Goga_x000d_
applied new ILSG learning design_x000d_
04/24/04, v3.1, Erin Stanley_x000d_
prepared for production_x000d_
Updated; dmachado:  01.04.05_x000d_
04.07.06: jbangloy: Applied Template QACS-PPT-v7.0_x000d_
04.10.06: kayclark: DTP Check_x000d_
Edit: Michele Gilfether: 04.24.06</dc:description>
  <cp:lastModifiedBy>Phạm Thái Khanh</cp:lastModifiedBy>
  <cp:revision>113</cp:revision>
  <dcterms:created xsi:type="dcterms:W3CDTF">2003-04-02T15:29:42Z</dcterms:created>
  <dcterms:modified xsi:type="dcterms:W3CDTF">2024-08-04T23:49:46Z</dcterms:modified>
  <cp:category>Masters</cp:category>
</cp:coreProperties>
</file>