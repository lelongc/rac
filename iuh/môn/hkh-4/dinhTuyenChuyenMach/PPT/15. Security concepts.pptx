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  <p:sldMasterId id="2147483938" r:id="rId2"/>
  </p:sldMasterIdLst>
  <p:notesMasterIdLst>
    <p:notesMasterId r:id="rId43"/>
  </p:notesMasterIdLst>
  <p:sldIdLst>
    <p:sldId id="398" r:id="rId3"/>
    <p:sldId id="330" r:id="rId4"/>
    <p:sldId id="319" r:id="rId5"/>
    <p:sldId id="329" r:id="rId6"/>
    <p:sldId id="336" r:id="rId7"/>
    <p:sldId id="337" r:id="rId8"/>
    <p:sldId id="339" r:id="rId9"/>
    <p:sldId id="341" r:id="rId10"/>
    <p:sldId id="342" r:id="rId11"/>
    <p:sldId id="345" r:id="rId12"/>
    <p:sldId id="344" r:id="rId13"/>
    <p:sldId id="346" r:id="rId14"/>
    <p:sldId id="347" r:id="rId15"/>
    <p:sldId id="349" r:id="rId16"/>
    <p:sldId id="352" r:id="rId17"/>
    <p:sldId id="351" r:id="rId18"/>
    <p:sldId id="356" r:id="rId19"/>
    <p:sldId id="358" r:id="rId20"/>
    <p:sldId id="361" r:id="rId21"/>
    <p:sldId id="364" r:id="rId22"/>
    <p:sldId id="363" r:id="rId23"/>
    <p:sldId id="365" r:id="rId24"/>
    <p:sldId id="372" r:id="rId25"/>
    <p:sldId id="373" r:id="rId26"/>
    <p:sldId id="376" r:id="rId27"/>
    <p:sldId id="375" r:id="rId28"/>
    <p:sldId id="374" r:id="rId29"/>
    <p:sldId id="377" r:id="rId30"/>
    <p:sldId id="411" r:id="rId31"/>
    <p:sldId id="400" r:id="rId32"/>
    <p:sldId id="401" r:id="rId33"/>
    <p:sldId id="402" r:id="rId34"/>
    <p:sldId id="403" r:id="rId35"/>
    <p:sldId id="404" r:id="rId36"/>
    <p:sldId id="405" r:id="rId37"/>
    <p:sldId id="406" r:id="rId38"/>
    <p:sldId id="407" r:id="rId39"/>
    <p:sldId id="408" r:id="rId40"/>
    <p:sldId id="409" r:id="rId41"/>
    <p:sldId id="316" r:id="rId42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153"/>
    <a:srgbClr val="8A8A8A"/>
    <a:srgbClr val="6B6B6B"/>
    <a:srgbClr val="264DAE"/>
    <a:srgbClr val="4ADAD7"/>
    <a:srgbClr val="90A3A6"/>
    <a:srgbClr val="EDDFF5"/>
    <a:srgbClr val="493B93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12" autoAdjust="0"/>
    <p:restoredTop sz="92171" autoAdjust="0"/>
  </p:normalViewPr>
  <p:slideViewPr>
    <p:cSldViewPr snapToGrid="0">
      <p:cViewPr varScale="1">
        <p:scale>
          <a:sx n="63" d="100"/>
          <a:sy n="63" d="100"/>
        </p:scale>
        <p:origin x="176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E19E3A-B561-40A4-BA55-075492A8DF96}" type="doc">
      <dgm:prSet loTypeId="urn:microsoft.com/office/officeart/2005/8/layout/radial3" loCatId="cycle" qsTypeId="urn:microsoft.com/office/officeart/2005/8/quickstyle/simple5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9138198D-9CEC-4A93-B7DC-5BAC33258FF8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Code Red Worm Propagation</a:t>
          </a:r>
        </a:p>
      </dgm:t>
    </dgm:pt>
    <dgm:pt modelId="{D26BBD06-1C3C-494E-BDE5-03D9113DE4B5}" type="parTrans" cxnId="{9A89ABF4-D608-4C4B-AC55-7EF9CA3B9DA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35C4378-2104-477A-80AE-95F5DAE47621}" type="sibTrans" cxnId="{9A89ABF4-D608-4C4B-AC55-7EF9CA3B9DA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756714D-D886-41E4-B74F-E8FA7F59692C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1.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Propagate for 19 days</a:t>
          </a:r>
        </a:p>
      </dgm:t>
    </dgm:pt>
    <dgm:pt modelId="{4007E6C2-F13C-4B25-A953-0A426E866F7D}" type="parTrans" cxnId="{C1F3A2BD-7341-4C05-ACCB-CE04BDDEB9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4EBC8A-64D1-48CD-A434-9C14D665F195}" type="sibTrans" cxnId="{C1F3A2BD-7341-4C05-ACCB-CE04BDDEB9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FCC5549-9DCA-4B8C-84AB-CC394BBABEA6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2.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Launch </a:t>
          </a:r>
          <a:r>
            <a:rPr lang="en-US" b="1" dirty="0" err="1">
              <a:solidFill>
                <a:schemeClr val="bg1"/>
              </a:solidFill>
            </a:rPr>
            <a:t>DoS</a:t>
          </a:r>
          <a:r>
            <a:rPr lang="en-US" b="1" dirty="0">
              <a:solidFill>
                <a:schemeClr val="bg1"/>
              </a:solidFill>
            </a:rPr>
            <a:t> attack for next 7 days</a:t>
          </a:r>
        </a:p>
      </dgm:t>
    </dgm:pt>
    <dgm:pt modelId="{74C7C7A2-0EA3-4D08-ADAD-09EC5F4CD420}" type="parTrans" cxnId="{6D68AF54-7CB6-4AB5-9B9F-7AC1CF9D2AC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79F0896-6385-4032-8ACD-8F80DB294A42}" type="sibTrans" cxnId="{6D68AF54-7CB6-4AB5-9B9F-7AC1CF9D2AC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589EFCA-45F2-411B-8B99-A1B0BFCB6B88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3.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Stop and go dormant for a few days</a:t>
          </a:r>
        </a:p>
      </dgm:t>
    </dgm:pt>
    <dgm:pt modelId="{A569CB91-1020-412A-9112-8C560522A3AD}" type="parTrans" cxnId="{2495CBD3-CAA2-4D7D-8B1B-B7CAF6D807B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1AB9F34-5328-499B-A87A-B68DE971A61A}" type="sibTrans" cxnId="{2495CBD3-CAA2-4D7D-8B1B-B7CAF6D807B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BCCD7-6731-4D06-A034-E741DF83CF94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4.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Repeat the cycle</a:t>
          </a:r>
        </a:p>
      </dgm:t>
    </dgm:pt>
    <dgm:pt modelId="{EA76B44A-AC3A-4D52-A09A-69485ED70C66}" type="parTrans" cxnId="{C69C97D4-D984-4BF8-9400-033F2B7005E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294BDE5-B783-47C4-96E6-347D1504E089}" type="sibTrans" cxnId="{C69C97D4-D984-4BF8-9400-033F2B7005E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400CEE6-D9F2-41CE-9D66-C54D842FD7E9}" type="pres">
      <dgm:prSet presAssocID="{88E19E3A-B561-40A4-BA55-075492A8DF96}" presName="composite" presStyleCnt="0">
        <dgm:presLayoutVars>
          <dgm:chMax val="1"/>
          <dgm:dir/>
          <dgm:resizeHandles val="exact"/>
        </dgm:presLayoutVars>
      </dgm:prSet>
      <dgm:spPr/>
    </dgm:pt>
    <dgm:pt modelId="{D599E379-6148-4E10-A1DD-61FCEEECD59A}" type="pres">
      <dgm:prSet presAssocID="{88E19E3A-B561-40A4-BA55-075492A8DF96}" presName="radial" presStyleCnt="0">
        <dgm:presLayoutVars>
          <dgm:animLvl val="ctr"/>
        </dgm:presLayoutVars>
      </dgm:prSet>
      <dgm:spPr/>
    </dgm:pt>
    <dgm:pt modelId="{0D9DB4A6-F198-46E0-ABB6-A8C5D2911E04}" type="pres">
      <dgm:prSet presAssocID="{9138198D-9CEC-4A93-B7DC-5BAC33258FF8}" presName="centerShape" presStyleLbl="vennNode1" presStyleIdx="0" presStyleCnt="5"/>
      <dgm:spPr/>
    </dgm:pt>
    <dgm:pt modelId="{72BCBA18-1B4F-4D1A-815C-4442D5AB6E73}" type="pres">
      <dgm:prSet presAssocID="{3756714D-D886-41E4-B74F-E8FA7F59692C}" presName="node" presStyleLbl="vennNode1" presStyleIdx="1" presStyleCnt="5">
        <dgm:presLayoutVars>
          <dgm:bulletEnabled val="1"/>
        </dgm:presLayoutVars>
      </dgm:prSet>
      <dgm:spPr/>
    </dgm:pt>
    <dgm:pt modelId="{482A26F6-4C14-4952-9861-0853E7EE424E}" type="pres">
      <dgm:prSet presAssocID="{CFCC5549-9DCA-4B8C-84AB-CC394BBABEA6}" presName="node" presStyleLbl="vennNode1" presStyleIdx="2" presStyleCnt="5">
        <dgm:presLayoutVars>
          <dgm:bulletEnabled val="1"/>
        </dgm:presLayoutVars>
      </dgm:prSet>
      <dgm:spPr/>
    </dgm:pt>
    <dgm:pt modelId="{1FAB6F58-2594-4808-AE2C-BB202E6AFB96}" type="pres">
      <dgm:prSet presAssocID="{3589EFCA-45F2-411B-8B99-A1B0BFCB6B88}" presName="node" presStyleLbl="vennNode1" presStyleIdx="3" presStyleCnt="5">
        <dgm:presLayoutVars>
          <dgm:bulletEnabled val="1"/>
        </dgm:presLayoutVars>
      </dgm:prSet>
      <dgm:spPr/>
    </dgm:pt>
    <dgm:pt modelId="{7E083439-DB48-4907-AED8-3BC400DDD483}" type="pres">
      <dgm:prSet presAssocID="{557BCCD7-6731-4D06-A034-E741DF83CF94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9099433B-7859-4F2D-938F-8731327392F6}" type="presOf" srcId="{3756714D-D886-41E4-B74F-E8FA7F59692C}" destId="{72BCBA18-1B4F-4D1A-815C-4442D5AB6E73}" srcOrd="0" destOrd="0" presId="urn:microsoft.com/office/officeart/2005/8/layout/radial3"/>
    <dgm:cxn modelId="{CE605672-1FB9-4C88-9786-333BD3549E5A}" type="presOf" srcId="{3589EFCA-45F2-411B-8B99-A1B0BFCB6B88}" destId="{1FAB6F58-2594-4808-AE2C-BB202E6AFB96}" srcOrd="0" destOrd="0" presId="urn:microsoft.com/office/officeart/2005/8/layout/radial3"/>
    <dgm:cxn modelId="{6D68AF54-7CB6-4AB5-9B9F-7AC1CF9D2ACE}" srcId="{9138198D-9CEC-4A93-B7DC-5BAC33258FF8}" destId="{CFCC5549-9DCA-4B8C-84AB-CC394BBABEA6}" srcOrd="1" destOrd="0" parTransId="{74C7C7A2-0EA3-4D08-ADAD-09EC5F4CD420}" sibTransId="{079F0896-6385-4032-8ACD-8F80DB294A42}"/>
    <dgm:cxn modelId="{F536E978-BC1C-4BA8-9000-10C3DA6FB87C}" type="presOf" srcId="{88E19E3A-B561-40A4-BA55-075492A8DF96}" destId="{1400CEE6-D9F2-41CE-9D66-C54D842FD7E9}" srcOrd="0" destOrd="0" presId="urn:microsoft.com/office/officeart/2005/8/layout/radial3"/>
    <dgm:cxn modelId="{C1F3A2BD-7341-4C05-ACCB-CE04BDDEB939}" srcId="{9138198D-9CEC-4A93-B7DC-5BAC33258FF8}" destId="{3756714D-D886-41E4-B74F-E8FA7F59692C}" srcOrd="0" destOrd="0" parTransId="{4007E6C2-F13C-4B25-A953-0A426E866F7D}" sibTransId="{414EBC8A-64D1-48CD-A434-9C14D665F195}"/>
    <dgm:cxn modelId="{A4EF09C2-4663-408D-B91E-4EBA846BD218}" type="presOf" srcId="{557BCCD7-6731-4D06-A034-E741DF83CF94}" destId="{7E083439-DB48-4907-AED8-3BC400DDD483}" srcOrd="0" destOrd="0" presId="urn:microsoft.com/office/officeart/2005/8/layout/radial3"/>
    <dgm:cxn modelId="{60F559C2-CBFF-429D-AC27-24CB2FA1DEFD}" type="presOf" srcId="{9138198D-9CEC-4A93-B7DC-5BAC33258FF8}" destId="{0D9DB4A6-F198-46E0-ABB6-A8C5D2911E04}" srcOrd="0" destOrd="0" presId="urn:microsoft.com/office/officeart/2005/8/layout/radial3"/>
    <dgm:cxn modelId="{2495CBD3-CAA2-4D7D-8B1B-B7CAF6D807BE}" srcId="{9138198D-9CEC-4A93-B7DC-5BAC33258FF8}" destId="{3589EFCA-45F2-411B-8B99-A1B0BFCB6B88}" srcOrd="2" destOrd="0" parTransId="{A569CB91-1020-412A-9112-8C560522A3AD}" sibTransId="{E1AB9F34-5328-499B-A87A-B68DE971A61A}"/>
    <dgm:cxn modelId="{C69C97D4-D984-4BF8-9400-033F2B7005E4}" srcId="{9138198D-9CEC-4A93-B7DC-5BAC33258FF8}" destId="{557BCCD7-6731-4D06-A034-E741DF83CF94}" srcOrd="3" destOrd="0" parTransId="{EA76B44A-AC3A-4D52-A09A-69485ED70C66}" sibTransId="{F294BDE5-B783-47C4-96E6-347D1504E089}"/>
    <dgm:cxn modelId="{D606A6D4-AC27-476C-918F-103821050E9B}" type="presOf" srcId="{CFCC5549-9DCA-4B8C-84AB-CC394BBABEA6}" destId="{482A26F6-4C14-4952-9861-0853E7EE424E}" srcOrd="0" destOrd="0" presId="urn:microsoft.com/office/officeart/2005/8/layout/radial3"/>
    <dgm:cxn modelId="{9A89ABF4-D608-4C4B-AC55-7EF9CA3B9DA8}" srcId="{88E19E3A-B561-40A4-BA55-075492A8DF96}" destId="{9138198D-9CEC-4A93-B7DC-5BAC33258FF8}" srcOrd="0" destOrd="0" parTransId="{D26BBD06-1C3C-494E-BDE5-03D9113DE4B5}" sibTransId="{735C4378-2104-477A-80AE-95F5DAE47621}"/>
    <dgm:cxn modelId="{D2496EBE-EDA8-4079-A9CA-343D5A2E02CD}" type="presParOf" srcId="{1400CEE6-D9F2-41CE-9D66-C54D842FD7E9}" destId="{D599E379-6148-4E10-A1DD-61FCEEECD59A}" srcOrd="0" destOrd="0" presId="urn:microsoft.com/office/officeart/2005/8/layout/radial3"/>
    <dgm:cxn modelId="{5AF39890-A830-4E1A-A189-E808F53949E9}" type="presParOf" srcId="{D599E379-6148-4E10-A1DD-61FCEEECD59A}" destId="{0D9DB4A6-F198-46E0-ABB6-A8C5D2911E04}" srcOrd="0" destOrd="0" presId="urn:microsoft.com/office/officeart/2005/8/layout/radial3"/>
    <dgm:cxn modelId="{A3C7974F-C6BD-493D-BFAE-EB55DA0DEF7F}" type="presParOf" srcId="{D599E379-6148-4E10-A1DD-61FCEEECD59A}" destId="{72BCBA18-1B4F-4D1A-815C-4442D5AB6E73}" srcOrd="1" destOrd="0" presId="urn:microsoft.com/office/officeart/2005/8/layout/radial3"/>
    <dgm:cxn modelId="{69430586-59D6-443D-B1D5-AEE67038E497}" type="presParOf" srcId="{D599E379-6148-4E10-A1DD-61FCEEECD59A}" destId="{482A26F6-4C14-4952-9861-0853E7EE424E}" srcOrd="2" destOrd="0" presId="urn:microsoft.com/office/officeart/2005/8/layout/radial3"/>
    <dgm:cxn modelId="{04E29C36-1006-4AF7-84B8-AA3306E10043}" type="presParOf" srcId="{D599E379-6148-4E10-A1DD-61FCEEECD59A}" destId="{1FAB6F58-2594-4808-AE2C-BB202E6AFB96}" srcOrd="3" destOrd="0" presId="urn:microsoft.com/office/officeart/2005/8/layout/radial3"/>
    <dgm:cxn modelId="{A56888BA-E81D-4D4D-AFBE-6A9D0285301F}" type="presParOf" srcId="{D599E379-6148-4E10-A1DD-61FCEEECD59A}" destId="{7E083439-DB48-4907-AED8-3BC400DDD483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D54A6F-A668-445D-BB68-8801E1DFE07D}" type="doc">
      <dgm:prSet loTypeId="urn:microsoft.com/office/officeart/2005/8/layout/funnel1" loCatId="process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B56D7AA-B484-48F7-906D-6AE643109FD4}">
      <dgm:prSet phldrT="[Text]"/>
      <dgm:spPr/>
      <dgm:t>
        <a:bodyPr/>
        <a:lstStyle/>
        <a:p>
          <a:r>
            <a:rPr lang="en-US" dirty="0"/>
            <a:t>Data Modification</a:t>
          </a:r>
        </a:p>
      </dgm:t>
    </dgm:pt>
    <dgm:pt modelId="{56E59102-59E6-49B0-A78C-7C8AAB5423A7}" type="parTrans" cxnId="{29458587-FA2A-42BD-A5B8-A76E8F3A2E07}">
      <dgm:prSet/>
      <dgm:spPr/>
      <dgm:t>
        <a:bodyPr/>
        <a:lstStyle/>
        <a:p>
          <a:endParaRPr lang="en-US"/>
        </a:p>
      </dgm:t>
    </dgm:pt>
    <dgm:pt modelId="{C7DF8DC3-DCF0-4621-A1AB-17439BD805E5}" type="sibTrans" cxnId="{29458587-FA2A-42BD-A5B8-A76E8F3A2E07}">
      <dgm:prSet/>
      <dgm:spPr/>
      <dgm:t>
        <a:bodyPr/>
        <a:lstStyle/>
        <a:p>
          <a:endParaRPr lang="en-US"/>
        </a:p>
      </dgm:t>
    </dgm:pt>
    <dgm:pt modelId="{0BBB5B1A-54D0-49B5-A741-EB673BEAE1BF}">
      <dgm:prSet phldrT="[Text]"/>
      <dgm:spPr/>
      <dgm:t>
        <a:bodyPr/>
        <a:lstStyle/>
        <a:p>
          <a:r>
            <a:rPr lang="en-US" dirty="0" err="1"/>
            <a:t>Syn</a:t>
          </a:r>
          <a:r>
            <a:rPr lang="en-US" dirty="0"/>
            <a:t> Flood</a:t>
          </a:r>
        </a:p>
      </dgm:t>
    </dgm:pt>
    <dgm:pt modelId="{49062010-8508-431A-9728-5BCAAABCF238}" type="parTrans" cxnId="{CDC50FF7-60AA-46E1-9C91-8AEC648B0F82}">
      <dgm:prSet/>
      <dgm:spPr/>
      <dgm:t>
        <a:bodyPr/>
        <a:lstStyle/>
        <a:p>
          <a:endParaRPr lang="en-US"/>
        </a:p>
      </dgm:t>
    </dgm:pt>
    <dgm:pt modelId="{5EE920E2-448D-4011-B085-3D43DA5D2C34}" type="sibTrans" cxnId="{CDC50FF7-60AA-46E1-9C91-8AEC648B0F82}">
      <dgm:prSet/>
      <dgm:spPr/>
      <dgm:t>
        <a:bodyPr/>
        <a:lstStyle/>
        <a:p>
          <a:endParaRPr lang="en-US"/>
        </a:p>
      </dgm:t>
    </dgm:pt>
    <dgm:pt modelId="{55E8F221-BFFB-43FE-8D5D-0A8C64261CB4}">
      <dgm:prSet phldrT="[Text]"/>
      <dgm:spPr/>
      <dgm:t>
        <a:bodyPr/>
        <a:lstStyle/>
        <a:p>
          <a:r>
            <a:rPr lang="en-US" dirty="0"/>
            <a:t>Smurf Attack</a:t>
          </a:r>
        </a:p>
      </dgm:t>
    </dgm:pt>
    <dgm:pt modelId="{C640CAFC-CC48-46C6-A748-4A8F79A23081}" type="parTrans" cxnId="{D41052E6-2638-403B-B658-ECEE2B8B39D8}">
      <dgm:prSet/>
      <dgm:spPr/>
      <dgm:t>
        <a:bodyPr/>
        <a:lstStyle/>
        <a:p>
          <a:endParaRPr lang="en-US"/>
        </a:p>
      </dgm:t>
    </dgm:pt>
    <dgm:pt modelId="{7FD05E73-C560-4E58-86E3-24006A264F3E}" type="sibTrans" cxnId="{D41052E6-2638-403B-B658-ECEE2B8B39D8}">
      <dgm:prSet/>
      <dgm:spPr/>
      <dgm:t>
        <a:bodyPr/>
        <a:lstStyle/>
        <a:p>
          <a:endParaRPr lang="en-US"/>
        </a:p>
      </dgm:t>
    </dgm:pt>
    <dgm:pt modelId="{15207DFA-2244-4630-9202-7B2FA9B13CFA}">
      <dgm:prSet phldrT="[Text]" custT="1"/>
      <dgm:spPr/>
      <dgm:t>
        <a:bodyPr/>
        <a:lstStyle/>
        <a:p>
          <a:r>
            <a:rPr lang="en-US" sz="1800" dirty="0"/>
            <a:t>Reconnaissance</a:t>
          </a:r>
          <a:br>
            <a:rPr lang="en-US" sz="1800" dirty="0"/>
          </a:br>
          <a:r>
            <a:rPr lang="en-US" sz="1800" dirty="0"/>
            <a:t>Access</a:t>
          </a:r>
          <a:br>
            <a:rPr lang="en-US" sz="1800" dirty="0"/>
          </a:br>
          <a:r>
            <a:rPr lang="en-US" sz="1800" dirty="0" err="1"/>
            <a:t>DoS</a:t>
          </a:r>
          <a:endParaRPr lang="en-US" sz="1800" dirty="0"/>
        </a:p>
      </dgm:t>
    </dgm:pt>
    <dgm:pt modelId="{32D5D249-44A9-4058-BEAB-9B280653C9DF}" type="parTrans" cxnId="{952456F5-9C54-4CFE-944C-243EB74DFE76}">
      <dgm:prSet/>
      <dgm:spPr/>
      <dgm:t>
        <a:bodyPr/>
        <a:lstStyle/>
        <a:p>
          <a:endParaRPr lang="en-US"/>
        </a:p>
      </dgm:t>
    </dgm:pt>
    <dgm:pt modelId="{E756FF60-2915-47AD-B811-CCD8306BF050}" type="sibTrans" cxnId="{952456F5-9C54-4CFE-944C-243EB74DFE76}">
      <dgm:prSet/>
      <dgm:spPr/>
      <dgm:t>
        <a:bodyPr/>
        <a:lstStyle/>
        <a:p>
          <a:endParaRPr lang="en-US"/>
        </a:p>
      </dgm:t>
    </dgm:pt>
    <dgm:pt modelId="{B91C0304-78B0-4C40-B06B-35BE222DF151}" type="pres">
      <dgm:prSet presAssocID="{14D54A6F-A668-445D-BB68-8801E1DFE07D}" presName="Name0" presStyleCnt="0">
        <dgm:presLayoutVars>
          <dgm:chMax val="4"/>
          <dgm:resizeHandles val="exact"/>
        </dgm:presLayoutVars>
      </dgm:prSet>
      <dgm:spPr/>
    </dgm:pt>
    <dgm:pt modelId="{2FF6D94B-9804-4780-95BF-FD24FC084F04}" type="pres">
      <dgm:prSet presAssocID="{14D54A6F-A668-445D-BB68-8801E1DFE07D}" presName="ellipse" presStyleLbl="trBgShp" presStyleIdx="0" presStyleCnt="1"/>
      <dgm:spPr/>
    </dgm:pt>
    <dgm:pt modelId="{E1F88256-F891-44F1-A26D-2BFB48E75CBA}" type="pres">
      <dgm:prSet presAssocID="{14D54A6F-A668-445D-BB68-8801E1DFE07D}" presName="arrow1" presStyleLbl="fgShp" presStyleIdx="0" presStyleCnt="1"/>
      <dgm:spPr/>
    </dgm:pt>
    <dgm:pt modelId="{C41B0DF3-4CBB-403A-BDA8-94CBEDFFDEE5}" type="pres">
      <dgm:prSet presAssocID="{14D54A6F-A668-445D-BB68-8801E1DFE07D}" presName="rectangle" presStyleLbl="revTx" presStyleIdx="0" presStyleCnt="1">
        <dgm:presLayoutVars>
          <dgm:bulletEnabled val="1"/>
        </dgm:presLayoutVars>
      </dgm:prSet>
      <dgm:spPr/>
    </dgm:pt>
    <dgm:pt modelId="{E3FB935A-AD8C-431C-BF83-C23654776FDE}" type="pres">
      <dgm:prSet presAssocID="{0BBB5B1A-54D0-49B5-A741-EB673BEAE1BF}" presName="item1" presStyleLbl="node1" presStyleIdx="0" presStyleCnt="3">
        <dgm:presLayoutVars>
          <dgm:bulletEnabled val="1"/>
        </dgm:presLayoutVars>
      </dgm:prSet>
      <dgm:spPr/>
    </dgm:pt>
    <dgm:pt modelId="{D68E6EA1-9AD4-461D-9EBB-B8BE7C1331E1}" type="pres">
      <dgm:prSet presAssocID="{55E8F221-BFFB-43FE-8D5D-0A8C64261CB4}" presName="item2" presStyleLbl="node1" presStyleIdx="1" presStyleCnt="3">
        <dgm:presLayoutVars>
          <dgm:bulletEnabled val="1"/>
        </dgm:presLayoutVars>
      </dgm:prSet>
      <dgm:spPr/>
    </dgm:pt>
    <dgm:pt modelId="{71251657-5FC2-4E22-A1C9-3E95D3956F2B}" type="pres">
      <dgm:prSet presAssocID="{15207DFA-2244-4630-9202-7B2FA9B13CFA}" presName="item3" presStyleLbl="node1" presStyleIdx="2" presStyleCnt="3">
        <dgm:presLayoutVars>
          <dgm:bulletEnabled val="1"/>
        </dgm:presLayoutVars>
      </dgm:prSet>
      <dgm:spPr/>
    </dgm:pt>
    <dgm:pt modelId="{BD84EF95-62FD-48EA-AD1D-74027457E637}" type="pres">
      <dgm:prSet presAssocID="{14D54A6F-A668-445D-BB68-8801E1DFE07D}" presName="funnel" presStyleLbl="trAlignAcc1" presStyleIdx="0" presStyleCnt="1"/>
      <dgm:spPr/>
    </dgm:pt>
  </dgm:ptLst>
  <dgm:cxnLst>
    <dgm:cxn modelId="{8BC6716D-8371-4E99-AE07-2C1A506A94E0}" type="presOf" srcId="{55E8F221-BFFB-43FE-8D5D-0A8C64261CB4}" destId="{E3FB935A-AD8C-431C-BF83-C23654776FDE}" srcOrd="0" destOrd="0" presId="urn:microsoft.com/office/officeart/2005/8/layout/funnel1"/>
    <dgm:cxn modelId="{3B2E7B52-F1D1-477E-BF61-F32F735C38D3}" type="presOf" srcId="{0BBB5B1A-54D0-49B5-A741-EB673BEAE1BF}" destId="{D68E6EA1-9AD4-461D-9EBB-B8BE7C1331E1}" srcOrd="0" destOrd="0" presId="urn:microsoft.com/office/officeart/2005/8/layout/funnel1"/>
    <dgm:cxn modelId="{29458587-FA2A-42BD-A5B8-A76E8F3A2E07}" srcId="{14D54A6F-A668-445D-BB68-8801E1DFE07D}" destId="{8B56D7AA-B484-48F7-906D-6AE643109FD4}" srcOrd="0" destOrd="0" parTransId="{56E59102-59E6-49B0-A78C-7C8AAB5423A7}" sibTransId="{C7DF8DC3-DCF0-4621-A1AB-17439BD805E5}"/>
    <dgm:cxn modelId="{5E9215A3-0959-4DFF-B89E-58A9DCA4EB74}" type="presOf" srcId="{14D54A6F-A668-445D-BB68-8801E1DFE07D}" destId="{B91C0304-78B0-4C40-B06B-35BE222DF151}" srcOrd="0" destOrd="0" presId="urn:microsoft.com/office/officeart/2005/8/layout/funnel1"/>
    <dgm:cxn modelId="{B1BEA1D0-3D6D-446D-B935-1C5769BEBBB0}" type="presOf" srcId="{15207DFA-2244-4630-9202-7B2FA9B13CFA}" destId="{C41B0DF3-4CBB-403A-BDA8-94CBEDFFDEE5}" srcOrd="0" destOrd="0" presId="urn:microsoft.com/office/officeart/2005/8/layout/funnel1"/>
    <dgm:cxn modelId="{D41052E6-2638-403B-B658-ECEE2B8B39D8}" srcId="{14D54A6F-A668-445D-BB68-8801E1DFE07D}" destId="{55E8F221-BFFB-43FE-8D5D-0A8C64261CB4}" srcOrd="2" destOrd="0" parTransId="{C640CAFC-CC48-46C6-A748-4A8F79A23081}" sibTransId="{7FD05E73-C560-4E58-86E3-24006A264F3E}"/>
    <dgm:cxn modelId="{D9D6E4F1-321D-49D6-A95D-44BD63725834}" type="presOf" srcId="{8B56D7AA-B484-48F7-906D-6AE643109FD4}" destId="{71251657-5FC2-4E22-A1C9-3E95D3956F2B}" srcOrd="0" destOrd="0" presId="urn:microsoft.com/office/officeart/2005/8/layout/funnel1"/>
    <dgm:cxn modelId="{952456F5-9C54-4CFE-944C-243EB74DFE76}" srcId="{14D54A6F-A668-445D-BB68-8801E1DFE07D}" destId="{15207DFA-2244-4630-9202-7B2FA9B13CFA}" srcOrd="3" destOrd="0" parTransId="{32D5D249-44A9-4058-BEAB-9B280653C9DF}" sibTransId="{E756FF60-2915-47AD-B811-CCD8306BF050}"/>
    <dgm:cxn modelId="{CDC50FF7-60AA-46E1-9C91-8AEC648B0F82}" srcId="{14D54A6F-A668-445D-BB68-8801E1DFE07D}" destId="{0BBB5B1A-54D0-49B5-A741-EB673BEAE1BF}" srcOrd="1" destOrd="0" parTransId="{49062010-8508-431A-9728-5BCAAABCF238}" sibTransId="{5EE920E2-448D-4011-B085-3D43DA5D2C34}"/>
    <dgm:cxn modelId="{A4258C30-05EC-4334-81BE-7B694D372587}" type="presParOf" srcId="{B91C0304-78B0-4C40-B06B-35BE222DF151}" destId="{2FF6D94B-9804-4780-95BF-FD24FC084F04}" srcOrd="0" destOrd="0" presId="urn:microsoft.com/office/officeart/2005/8/layout/funnel1"/>
    <dgm:cxn modelId="{A564BF53-F089-4683-8E03-FD60DAAB7E3C}" type="presParOf" srcId="{B91C0304-78B0-4C40-B06B-35BE222DF151}" destId="{E1F88256-F891-44F1-A26D-2BFB48E75CBA}" srcOrd="1" destOrd="0" presId="urn:microsoft.com/office/officeart/2005/8/layout/funnel1"/>
    <dgm:cxn modelId="{01222BD9-00B4-44E2-8807-AC5BB03A4CB6}" type="presParOf" srcId="{B91C0304-78B0-4C40-B06B-35BE222DF151}" destId="{C41B0DF3-4CBB-403A-BDA8-94CBEDFFDEE5}" srcOrd="2" destOrd="0" presId="urn:microsoft.com/office/officeart/2005/8/layout/funnel1"/>
    <dgm:cxn modelId="{3F58AE71-064D-4CC7-A649-4BCE97C2DE81}" type="presParOf" srcId="{B91C0304-78B0-4C40-B06B-35BE222DF151}" destId="{E3FB935A-AD8C-431C-BF83-C23654776FDE}" srcOrd="3" destOrd="0" presId="urn:microsoft.com/office/officeart/2005/8/layout/funnel1"/>
    <dgm:cxn modelId="{C3D1665F-D962-4B65-A76B-FB824F2E0F95}" type="presParOf" srcId="{B91C0304-78B0-4C40-B06B-35BE222DF151}" destId="{D68E6EA1-9AD4-461D-9EBB-B8BE7C1331E1}" srcOrd="4" destOrd="0" presId="urn:microsoft.com/office/officeart/2005/8/layout/funnel1"/>
    <dgm:cxn modelId="{327E4712-8A3D-4F6D-B5E8-8B71793C29EB}" type="presParOf" srcId="{B91C0304-78B0-4C40-B06B-35BE222DF151}" destId="{71251657-5FC2-4E22-A1C9-3E95D3956F2B}" srcOrd="5" destOrd="0" presId="urn:microsoft.com/office/officeart/2005/8/layout/funnel1"/>
    <dgm:cxn modelId="{4A08C8CA-7A62-45BB-BC00-77E052ECCAA5}" type="presParOf" srcId="{B91C0304-78B0-4C40-B06B-35BE222DF151}" destId="{BD84EF95-62FD-48EA-AD1D-74027457E637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61C04B-73CB-41BB-9316-97D6138BB679}" type="doc">
      <dgm:prSet loTypeId="urn:microsoft.com/office/officeart/2005/8/layout/radial3" loCatId="cycle" qsTypeId="urn:microsoft.com/office/officeart/2005/8/quickstyle/simple5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4D276CFF-3C7E-4CAA-A530-C65B793B822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Components of Cryptography</a:t>
          </a:r>
        </a:p>
      </dgm:t>
    </dgm:pt>
    <dgm:pt modelId="{EBC389DE-E310-4EE6-8774-0E4C0BFDCE99}" type="parTrans" cxnId="{5C97929B-1B3F-403A-BA84-A01E7DD4C99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46E3D29-EA27-49E4-B9F9-95A9886E3A87}" type="sibTrans" cxnId="{5C97929B-1B3F-403A-BA84-A01E7DD4C99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A6DB02-48CE-4381-841D-469C0FCE1CCB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Confidentiality</a:t>
          </a:r>
          <a:r>
            <a:rPr lang="en-US" dirty="0">
              <a:solidFill>
                <a:schemeClr val="bg1"/>
              </a:solidFill>
            </a:rPr>
            <a:t>: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Uses encryption to encrypt and hide data.</a:t>
          </a:r>
        </a:p>
      </dgm:t>
    </dgm:pt>
    <dgm:pt modelId="{DDD06C86-40DD-43E2-9F95-79BEEC8CEA52}" type="parTrans" cxnId="{D3E366B2-F440-4EA1-B47E-FE0F72A0C20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6AF17BE-D675-458E-A87A-61318851CF46}" type="sibTrans" cxnId="{D3E366B2-F440-4EA1-B47E-FE0F72A0C20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66F969F-FAAC-4C6A-AFE0-612FF1B5F8E4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Integrity</a:t>
          </a:r>
          <a:r>
            <a:rPr lang="en-US" dirty="0">
              <a:solidFill>
                <a:schemeClr val="bg1"/>
              </a:solidFill>
            </a:rPr>
            <a:t>: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Uses hashing algorithms to ensure data is unaltered during operation.</a:t>
          </a:r>
        </a:p>
      </dgm:t>
    </dgm:pt>
    <dgm:pt modelId="{4C4F653F-6019-4598-8B03-E4192C13D097}" type="parTrans" cxnId="{F8B34147-3582-4BFD-8FF6-5DD4A6ECEC6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D1FA23D-6080-43BF-9930-C3286B34CB50}" type="sibTrans" cxnId="{F8B34147-3582-4BFD-8FF6-5DD4A6ECEC6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87FEF60-376E-4592-9270-0EFD70FC1DAE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Availability</a:t>
          </a:r>
          <a:r>
            <a:rPr lang="en-US" dirty="0">
              <a:solidFill>
                <a:schemeClr val="bg1"/>
              </a:solidFill>
            </a:rPr>
            <a:t>: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Assures data is accessible. Guaranteed by network hardening mechanisms and backup systems.</a:t>
          </a:r>
        </a:p>
      </dgm:t>
    </dgm:pt>
    <dgm:pt modelId="{3C491D4C-FFAD-448C-BC7B-29F6A6482747}" type="parTrans" cxnId="{36F9B584-11BE-4BA5-B067-D285181EE43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8560E0A-5048-4942-A345-D1CA7AF85E3D}" type="sibTrans" cxnId="{36F9B584-11BE-4BA5-B067-D285181EE43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4854B79-0C02-40E6-81C6-A86EEDD15DEF}">
      <dgm:prSet phldrT="[Text]"/>
      <dgm:spPr/>
      <dgm:t>
        <a:bodyPr/>
        <a:lstStyle/>
        <a:p>
          <a:endParaRPr lang="en-US" dirty="0">
            <a:solidFill>
              <a:schemeClr val="bg1"/>
            </a:solidFill>
          </a:endParaRPr>
        </a:p>
      </dgm:t>
    </dgm:pt>
    <dgm:pt modelId="{7E4D4526-8D1F-43C0-8F3F-CA7590F89E12}" type="parTrans" cxnId="{6F36AB22-8CBE-4009-8224-6A4230E94DC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34373E4-5FB5-4F56-92E3-C2733D2E99BC}" type="sibTrans" cxnId="{6F36AB22-8CBE-4009-8224-6A4230E94DC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C8CD80-2526-4D30-B069-B4066BB165F3}" type="pres">
      <dgm:prSet presAssocID="{8161C04B-73CB-41BB-9316-97D6138BB679}" presName="composite" presStyleCnt="0">
        <dgm:presLayoutVars>
          <dgm:chMax val="1"/>
          <dgm:dir/>
          <dgm:resizeHandles val="exact"/>
        </dgm:presLayoutVars>
      </dgm:prSet>
      <dgm:spPr/>
    </dgm:pt>
    <dgm:pt modelId="{4A81D075-8890-4860-82B3-1469B14BF28A}" type="pres">
      <dgm:prSet presAssocID="{8161C04B-73CB-41BB-9316-97D6138BB679}" presName="radial" presStyleCnt="0">
        <dgm:presLayoutVars>
          <dgm:animLvl val="ctr"/>
        </dgm:presLayoutVars>
      </dgm:prSet>
      <dgm:spPr/>
    </dgm:pt>
    <dgm:pt modelId="{FB437DA2-C93F-4D67-8B82-CD910D7F42AA}" type="pres">
      <dgm:prSet presAssocID="{4D276CFF-3C7E-4CAA-A530-C65B793B822A}" presName="centerShape" presStyleLbl="vennNode1" presStyleIdx="0" presStyleCnt="4"/>
      <dgm:spPr/>
    </dgm:pt>
    <dgm:pt modelId="{3BA2AD59-49BB-44E3-8B6E-DD0BA65AE17A}" type="pres">
      <dgm:prSet presAssocID="{D0A6DB02-48CE-4381-841D-469C0FCE1CCB}" presName="node" presStyleLbl="vennNode1" presStyleIdx="1" presStyleCnt="4">
        <dgm:presLayoutVars>
          <dgm:bulletEnabled val="1"/>
        </dgm:presLayoutVars>
      </dgm:prSet>
      <dgm:spPr/>
    </dgm:pt>
    <dgm:pt modelId="{8E384EBE-DA1E-4650-B150-60E26CC28427}" type="pres">
      <dgm:prSet presAssocID="{466F969F-FAAC-4C6A-AFE0-612FF1B5F8E4}" presName="node" presStyleLbl="vennNode1" presStyleIdx="2" presStyleCnt="4">
        <dgm:presLayoutVars>
          <dgm:bulletEnabled val="1"/>
        </dgm:presLayoutVars>
      </dgm:prSet>
      <dgm:spPr/>
    </dgm:pt>
    <dgm:pt modelId="{00465CD9-66FC-48ED-AC4F-ADCCAC0E7673}" type="pres">
      <dgm:prSet presAssocID="{D87FEF60-376E-4592-9270-0EFD70FC1DAE}" presName="node" presStyleLbl="vennNode1" presStyleIdx="3" presStyleCnt="4">
        <dgm:presLayoutVars>
          <dgm:bulletEnabled val="1"/>
        </dgm:presLayoutVars>
      </dgm:prSet>
      <dgm:spPr/>
    </dgm:pt>
  </dgm:ptLst>
  <dgm:cxnLst>
    <dgm:cxn modelId="{BB15470A-D0E6-473A-B353-4D2C8BFB3791}" type="presOf" srcId="{466F969F-FAAC-4C6A-AFE0-612FF1B5F8E4}" destId="{8E384EBE-DA1E-4650-B150-60E26CC28427}" srcOrd="0" destOrd="0" presId="urn:microsoft.com/office/officeart/2005/8/layout/radial3"/>
    <dgm:cxn modelId="{10AC930F-001C-4D2F-ACDF-131616681DD1}" type="presOf" srcId="{4D276CFF-3C7E-4CAA-A530-C65B793B822A}" destId="{FB437DA2-C93F-4D67-8B82-CD910D7F42AA}" srcOrd="0" destOrd="0" presId="urn:microsoft.com/office/officeart/2005/8/layout/radial3"/>
    <dgm:cxn modelId="{6F36AB22-8CBE-4009-8224-6A4230E94DCA}" srcId="{8161C04B-73CB-41BB-9316-97D6138BB679}" destId="{74854B79-0C02-40E6-81C6-A86EEDD15DEF}" srcOrd="1" destOrd="0" parTransId="{7E4D4526-8D1F-43C0-8F3F-CA7590F89E12}" sibTransId="{B34373E4-5FB5-4F56-92E3-C2733D2E99BC}"/>
    <dgm:cxn modelId="{F8B34147-3582-4BFD-8FF6-5DD4A6ECEC69}" srcId="{4D276CFF-3C7E-4CAA-A530-C65B793B822A}" destId="{466F969F-FAAC-4C6A-AFE0-612FF1B5F8E4}" srcOrd="1" destOrd="0" parTransId="{4C4F653F-6019-4598-8B03-E4192C13D097}" sibTransId="{CD1FA23D-6080-43BF-9930-C3286B34CB50}"/>
    <dgm:cxn modelId="{1688E179-F3AE-45C7-B01F-61FD2CED3217}" type="presOf" srcId="{8161C04B-73CB-41BB-9316-97D6138BB679}" destId="{55C8CD80-2526-4D30-B069-B4066BB165F3}" srcOrd="0" destOrd="0" presId="urn:microsoft.com/office/officeart/2005/8/layout/radial3"/>
    <dgm:cxn modelId="{9E15E47F-9328-4591-98B0-5C786F1D3E1A}" type="presOf" srcId="{D87FEF60-376E-4592-9270-0EFD70FC1DAE}" destId="{00465CD9-66FC-48ED-AC4F-ADCCAC0E7673}" srcOrd="0" destOrd="0" presId="urn:microsoft.com/office/officeart/2005/8/layout/radial3"/>
    <dgm:cxn modelId="{36F9B584-11BE-4BA5-B067-D285181EE43F}" srcId="{4D276CFF-3C7E-4CAA-A530-C65B793B822A}" destId="{D87FEF60-376E-4592-9270-0EFD70FC1DAE}" srcOrd="2" destOrd="0" parTransId="{3C491D4C-FFAD-448C-BC7B-29F6A6482747}" sibTransId="{58560E0A-5048-4942-A345-D1CA7AF85E3D}"/>
    <dgm:cxn modelId="{5C97929B-1B3F-403A-BA84-A01E7DD4C99E}" srcId="{8161C04B-73CB-41BB-9316-97D6138BB679}" destId="{4D276CFF-3C7E-4CAA-A530-C65B793B822A}" srcOrd="0" destOrd="0" parTransId="{EBC389DE-E310-4EE6-8774-0E4C0BFDCE99}" sibTransId="{446E3D29-EA27-49E4-B9F9-95A9886E3A87}"/>
    <dgm:cxn modelId="{D3E366B2-F440-4EA1-B47E-FE0F72A0C20B}" srcId="{4D276CFF-3C7E-4CAA-A530-C65B793B822A}" destId="{D0A6DB02-48CE-4381-841D-469C0FCE1CCB}" srcOrd="0" destOrd="0" parTransId="{DDD06C86-40DD-43E2-9F95-79BEEC8CEA52}" sibTransId="{A6AF17BE-D675-458E-A87A-61318851CF46}"/>
    <dgm:cxn modelId="{DB52A2BC-902D-4889-B2E4-F99C227D5D32}" type="presOf" srcId="{D0A6DB02-48CE-4381-841D-469C0FCE1CCB}" destId="{3BA2AD59-49BB-44E3-8B6E-DD0BA65AE17A}" srcOrd="0" destOrd="0" presId="urn:microsoft.com/office/officeart/2005/8/layout/radial3"/>
    <dgm:cxn modelId="{0D433633-D81A-41EB-854E-81E72EC1E18E}" type="presParOf" srcId="{55C8CD80-2526-4D30-B069-B4066BB165F3}" destId="{4A81D075-8890-4860-82B3-1469B14BF28A}" srcOrd="0" destOrd="0" presId="urn:microsoft.com/office/officeart/2005/8/layout/radial3"/>
    <dgm:cxn modelId="{94ACD948-42B2-4EB5-9E40-0A2A286DAF5A}" type="presParOf" srcId="{4A81D075-8890-4860-82B3-1469B14BF28A}" destId="{FB437DA2-C93F-4D67-8B82-CD910D7F42AA}" srcOrd="0" destOrd="0" presId="urn:microsoft.com/office/officeart/2005/8/layout/radial3"/>
    <dgm:cxn modelId="{A128A70D-5E10-4EC2-9E6B-D7660833907F}" type="presParOf" srcId="{4A81D075-8890-4860-82B3-1469B14BF28A}" destId="{3BA2AD59-49BB-44E3-8B6E-DD0BA65AE17A}" srcOrd="1" destOrd="0" presId="urn:microsoft.com/office/officeart/2005/8/layout/radial3"/>
    <dgm:cxn modelId="{408B0B55-981E-4C72-B284-658282E91A2D}" type="presParOf" srcId="{4A81D075-8890-4860-82B3-1469B14BF28A}" destId="{8E384EBE-DA1E-4650-B150-60E26CC28427}" srcOrd="2" destOrd="0" presId="urn:microsoft.com/office/officeart/2005/8/layout/radial3"/>
    <dgm:cxn modelId="{C2EA5120-A420-4639-988A-2E393F31D43D}" type="presParOf" srcId="{4A81D075-8890-4860-82B3-1469B14BF28A}" destId="{00465CD9-66FC-48ED-AC4F-ADCCAC0E7673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DB4A6-F198-46E0-ABB6-A8C5D2911E04}">
      <dsp:nvSpPr>
        <dsp:cNvPr id="0" name=""/>
        <dsp:cNvSpPr/>
      </dsp:nvSpPr>
      <dsp:spPr>
        <a:xfrm>
          <a:off x="2157372" y="975002"/>
          <a:ext cx="2428954" cy="2428954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Code Red Worm Propagation</a:t>
          </a:r>
        </a:p>
      </dsp:txBody>
      <dsp:txXfrm>
        <a:off x="2513084" y="1330714"/>
        <a:ext cx="1717530" cy="1717530"/>
      </dsp:txXfrm>
    </dsp:sp>
    <dsp:sp modelId="{72BCBA18-1B4F-4D1A-815C-4442D5AB6E73}">
      <dsp:nvSpPr>
        <dsp:cNvPr id="0" name=""/>
        <dsp:cNvSpPr/>
      </dsp:nvSpPr>
      <dsp:spPr>
        <a:xfrm>
          <a:off x="2764611" y="433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750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750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75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1.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Propagate for 19 days</a:t>
          </a:r>
        </a:p>
      </dsp:txBody>
      <dsp:txXfrm>
        <a:off x="2942467" y="178289"/>
        <a:ext cx="858765" cy="858765"/>
      </dsp:txXfrm>
    </dsp:sp>
    <dsp:sp modelId="{482A26F6-4C14-4952-9861-0853E7EE424E}">
      <dsp:nvSpPr>
        <dsp:cNvPr id="0" name=""/>
        <dsp:cNvSpPr/>
      </dsp:nvSpPr>
      <dsp:spPr>
        <a:xfrm>
          <a:off x="4346419" y="1582241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1500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1500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15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2.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Launch </a:t>
          </a:r>
          <a:r>
            <a:rPr lang="en-US" sz="1100" b="1" kern="1200" dirty="0" err="1">
              <a:solidFill>
                <a:schemeClr val="bg1"/>
              </a:solidFill>
            </a:rPr>
            <a:t>DoS</a:t>
          </a:r>
          <a:r>
            <a:rPr lang="en-US" sz="1100" b="1" kern="1200" dirty="0">
              <a:solidFill>
                <a:schemeClr val="bg1"/>
              </a:solidFill>
            </a:rPr>
            <a:t> attack for next 7 days</a:t>
          </a:r>
        </a:p>
      </dsp:txBody>
      <dsp:txXfrm>
        <a:off x="4524275" y="1760097"/>
        <a:ext cx="858765" cy="858765"/>
      </dsp:txXfrm>
    </dsp:sp>
    <dsp:sp modelId="{1FAB6F58-2594-4808-AE2C-BB202E6AFB96}">
      <dsp:nvSpPr>
        <dsp:cNvPr id="0" name=""/>
        <dsp:cNvSpPr/>
      </dsp:nvSpPr>
      <dsp:spPr>
        <a:xfrm>
          <a:off x="2764611" y="3164049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2250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2250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225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3.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Stop and go dormant for a few days</a:t>
          </a:r>
        </a:p>
      </dsp:txBody>
      <dsp:txXfrm>
        <a:off x="2942467" y="3341905"/>
        <a:ext cx="858765" cy="858765"/>
      </dsp:txXfrm>
    </dsp:sp>
    <dsp:sp modelId="{7E083439-DB48-4907-AED8-3BC400DDD483}">
      <dsp:nvSpPr>
        <dsp:cNvPr id="0" name=""/>
        <dsp:cNvSpPr/>
      </dsp:nvSpPr>
      <dsp:spPr>
        <a:xfrm>
          <a:off x="1182803" y="1582241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3000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3000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3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4.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Repeat the cycle</a:t>
          </a:r>
        </a:p>
      </dsp:txBody>
      <dsp:txXfrm>
        <a:off x="1360659" y="1760097"/>
        <a:ext cx="858765" cy="8587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6D94B-9804-4780-95BF-FD24FC084F04}">
      <dsp:nvSpPr>
        <dsp:cNvPr id="0" name=""/>
        <dsp:cNvSpPr/>
      </dsp:nvSpPr>
      <dsp:spPr>
        <a:xfrm>
          <a:off x="1138597" y="191825"/>
          <a:ext cx="3806999" cy="1322120"/>
        </a:xfrm>
        <a:prstGeom prst="ellipse">
          <a:avLst/>
        </a:prstGeom>
        <a:solidFill>
          <a:schemeClr val="accent4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88256-F891-44F1-A26D-2BFB48E75CBA}">
      <dsp:nvSpPr>
        <dsp:cNvPr id="0" name=""/>
        <dsp:cNvSpPr/>
      </dsp:nvSpPr>
      <dsp:spPr>
        <a:xfrm>
          <a:off x="2679104" y="3429250"/>
          <a:ext cx="737790" cy="472186"/>
        </a:xfrm>
        <a:prstGeom prst="downArrow">
          <a:avLst/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C41B0DF3-4CBB-403A-BDA8-94CBEDFFDEE5}">
      <dsp:nvSpPr>
        <dsp:cNvPr id="0" name=""/>
        <dsp:cNvSpPr/>
      </dsp:nvSpPr>
      <dsp:spPr>
        <a:xfrm>
          <a:off x="1277302" y="3806999"/>
          <a:ext cx="3541395" cy="885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Reconnaissance</a:t>
          </a:r>
          <a:br>
            <a:rPr lang="en-US" sz="1800" kern="1200" dirty="0"/>
          </a:br>
          <a:r>
            <a:rPr lang="en-US" sz="1800" kern="1200" dirty="0"/>
            <a:t>Access</a:t>
          </a:r>
          <a:br>
            <a:rPr lang="en-US" sz="1800" kern="1200" dirty="0"/>
          </a:br>
          <a:r>
            <a:rPr lang="en-US" sz="1800" kern="1200" dirty="0" err="1"/>
            <a:t>DoS</a:t>
          </a:r>
          <a:endParaRPr lang="en-US" sz="1800" kern="1200" dirty="0"/>
        </a:p>
      </dsp:txBody>
      <dsp:txXfrm>
        <a:off x="1277302" y="3806999"/>
        <a:ext cx="3541395" cy="885348"/>
      </dsp:txXfrm>
    </dsp:sp>
    <dsp:sp modelId="{E3FB935A-AD8C-431C-BF83-C23654776FDE}">
      <dsp:nvSpPr>
        <dsp:cNvPr id="0" name=""/>
        <dsp:cNvSpPr/>
      </dsp:nvSpPr>
      <dsp:spPr>
        <a:xfrm>
          <a:off x="2522693" y="1616056"/>
          <a:ext cx="1328023" cy="132802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Smurf Attack</a:t>
          </a:r>
        </a:p>
      </dsp:txBody>
      <dsp:txXfrm>
        <a:off x="2717177" y="1810540"/>
        <a:ext cx="939055" cy="939055"/>
      </dsp:txXfrm>
    </dsp:sp>
    <dsp:sp modelId="{D68E6EA1-9AD4-461D-9EBB-B8BE7C1331E1}">
      <dsp:nvSpPr>
        <dsp:cNvPr id="0" name=""/>
        <dsp:cNvSpPr/>
      </dsp:nvSpPr>
      <dsp:spPr>
        <a:xfrm>
          <a:off x="1572418" y="619744"/>
          <a:ext cx="1328023" cy="132802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Syn</a:t>
          </a:r>
          <a:r>
            <a:rPr lang="en-US" sz="1300" kern="1200" dirty="0"/>
            <a:t> Flood</a:t>
          </a:r>
        </a:p>
      </dsp:txBody>
      <dsp:txXfrm>
        <a:off x="1766902" y="814228"/>
        <a:ext cx="939055" cy="939055"/>
      </dsp:txXfrm>
    </dsp:sp>
    <dsp:sp modelId="{71251657-5FC2-4E22-A1C9-3E95D3956F2B}">
      <dsp:nvSpPr>
        <dsp:cNvPr id="0" name=""/>
        <dsp:cNvSpPr/>
      </dsp:nvSpPr>
      <dsp:spPr>
        <a:xfrm>
          <a:off x="2929953" y="298657"/>
          <a:ext cx="1328023" cy="132802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 Modification</a:t>
          </a:r>
        </a:p>
      </dsp:txBody>
      <dsp:txXfrm>
        <a:off x="3124437" y="493141"/>
        <a:ext cx="939055" cy="939055"/>
      </dsp:txXfrm>
    </dsp:sp>
    <dsp:sp modelId="{BD84EF95-62FD-48EA-AD1D-74027457E637}">
      <dsp:nvSpPr>
        <dsp:cNvPr id="0" name=""/>
        <dsp:cNvSpPr/>
      </dsp:nvSpPr>
      <dsp:spPr>
        <a:xfrm>
          <a:off x="982186" y="29511"/>
          <a:ext cx="4131627" cy="330530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37DA2-C93F-4D67-8B82-CD910D7F42AA}">
      <dsp:nvSpPr>
        <dsp:cNvPr id="0" name=""/>
        <dsp:cNvSpPr/>
      </dsp:nvSpPr>
      <dsp:spPr>
        <a:xfrm>
          <a:off x="2484466" y="1550528"/>
          <a:ext cx="3253047" cy="325304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bg1"/>
              </a:solidFill>
            </a:rPr>
            <a:t>Components of Cryptography</a:t>
          </a:r>
        </a:p>
      </dsp:txBody>
      <dsp:txXfrm>
        <a:off x="2960864" y="2026926"/>
        <a:ext cx="2300251" cy="2300251"/>
      </dsp:txXfrm>
    </dsp:sp>
    <dsp:sp modelId="{3BA2AD59-49BB-44E3-8B6E-DD0BA65AE17A}">
      <dsp:nvSpPr>
        <dsp:cNvPr id="0" name=""/>
        <dsp:cNvSpPr/>
      </dsp:nvSpPr>
      <dsp:spPr>
        <a:xfrm>
          <a:off x="3297728" y="247379"/>
          <a:ext cx="1626523" cy="1626523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1000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1000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1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</a:rPr>
            <a:t>Confidentiality</a:t>
          </a:r>
          <a:r>
            <a:rPr lang="en-US" sz="1000" kern="1200" dirty="0">
              <a:solidFill>
                <a:schemeClr val="bg1"/>
              </a:solidFill>
            </a:rPr>
            <a:t>:</a:t>
          </a:r>
          <a:br>
            <a:rPr lang="en-US" sz="1000" kern="1200" dirty="0">
              <a:solidFill>
                <a:schemeClr val="bg1"/>
              </a:solidFill>
            </a:rPr>
          </a:br>
          <a:r>
            <a:rPr lang="en-US" sz="1000" kern="1200" dirty="0">
              <a:solidFill>
                <a:schemeClr val="bg1"/>
              </a:solidFill>
            </a:rPr>
            <a:t>Uses encryption to encrypt and hide data.</a:t>
          </a:r>
        </a:p>
      </dsp:txBody>
      <dsp:txXfrm>
        <a:off x="3535927" y="485578"/>
        <a:ext cx="1150125" cy="1150125"/>
      </dsp:txXfrm>
    </dsp:sp>
    <dsp:sp modelId="{8E384EBE-DA1E-4650-B150-60E26CC28427}">
      <dsp:nvSpPr>
        <dsp:cNvPr id="0" name=""/>
        <dsp:cNvSpPr/>
      </dsp:nvSpPr>
      <dsp:spPr>
        <a:xfrm>
          <a:off x="5130594" y="3421996"/>
          <a:ext cx="1626523" cy="1626523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2000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2000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2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</a:rPr>
            <a:t>Integrity</a:t>
          </a:r>
          <a:r>
            <a:rPr lang="en-US" sz="1000" kern="1200" dirty="0">
              <a:solidFill>
                <a:schemeClr val="bg1"/>
              </a:solidFill>
            </a:rPr>
            <a:t>:</a:t>
          </a:r>
          <a:br>
            <a:rPr lang="en-US" sz="1000" kern="1200" dirty="0">
              <a:solidFill>
                <a:schemeClr val="bg1"/>
              </a:solidFill>
            </a:rPr>
          </a:br>
          <a:r>
            <a:rPr lang="en-US" sz="1000" kern="1200" dirty="0">
              <a:solidFill>
                <a:schemeClr val="bg1"/>
              </a:solidFill>
            </a:rPr>
            <a:t>Uses hashing algorithms to ensure data is unaltered during operation.</a:t>
          </a:r>
        </a:p>
      </dsp:txBody>
      <dsp:txXfrm>
        <a:off x="5368793" y="3660195"/>
        <a:ext cx="1150125" cy="1150125"/>
      </dsp:txXfrm>
    </dsp:sp>
    <dsp:sp modelId="{00465CD9-66FC-48ED-AC4F-ADCCAC0E7673}">
      <dsp:nvSpPr>
        <dsp:cNvPr id="0" name=""/>
        <dsp:cNvSpPr/>
      </dsp:nvSpPr>
      <dsp:spPr>
        <a:xfrm>
          <a:off x="1464861" y="3421996"/>
          <a:ext cx="1626523" cy="1626523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30000"/>
                <a:satMod val="103000"/>
                <a:lumMod val="102000"/>
                <a:tint val="94000"/>
              </a:schemeClr>
            </a:gs>
            <a:gs pos="50000">
              <a:schemeClr val="accent4">
                <a:shade val="80000"/>
                <a:alpha val="50000"/>
                <a:hueOff val="0"/>
                <a:satOff val="0"/>
                <a:lumOff val="0"/>
                <a:alphaOff val="3000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3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</a:rPr>
            <a:t>Availability</a:t>
          </a:r>
          <a:r>
            <a:rPr lang="en-US" sz="1000" kern="1200" dirty="0">
              <a:solidFill>
                <a:schemeClr val="bg1"/>
              </a:solidFill>
            </a:rPr>
            <a:t>:</a:t>
          </a:r>
          <a:br>
            <a:rPr lang="en-US" sz="1000" kern="1200" dirty="0">
              <a:solidFill>
                <a:schemeClr val="bg1"/>
              </a:solidFill>
            </a:rPr>
          </a:br>
          <a:r>
            <a:rPr lang="en-US" sz="1000" kern="1200" dirty="0">
              <a:solidFill>
                <a:schemeClr val="bg1"/>
              </a:solidFill>
            </a:rPr>
            <a:t>Assures data is accessible. Guaranteed by network hardening mechanisms and backup systems.</a:t>
          </a:r>
        </a:p>
      </dsp:txBody>
      <dsp:txXfrm>
        <a:off x="1703060" y="3660195"/>
        <a:ext cx="1150125" cy="1150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33006-993C-46CE-BE81-A42F2D8A6269}" type="datetimeFigureOut">
              <a:rPr lang="en-US" smtClean="0"/>
              <a:t>03/11/21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2CD79-D36A-4E01-AE1C-064887FE9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0113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0113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0113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0113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F9349B-735D-4710-AB0F-CBB91D6FDD25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41375" y="241300"/>
            <a:ext cx="5233988" cy="3925888"/>
          </a:xfrm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305300"/>
            <a:ext cx="5988050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1414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1.1.1.2 Drivers for Network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1.2.1.1 The Hacker</a:t>
            </a:r>
          </a:p>
          <a:p>
            <a:r>
              <a:rPr lang="en-US" dirty="0"/>
              <a:t>1.2.1.2 The Evolution of Hackers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1.2.1.3 Cyber Criminals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1.2.1.4 Hacktivists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1.2.1.5 State-Sponsored</a:t>
            </a:r>
            <a:r>
              <a:rPr lang="en-US" baseline="0" dirty="0"/>
              <a:t> Hackers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1.2.2.2 Evolution of Security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1.2.2.3 Categories of Attack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1.2.3.2</a:t>
            </a:r>
            <a:r>
              <a:rPr lang="en-US" baseline="0" dirty="0"/>
              <a:t> Viruses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1.2.3.3 Trojan Horses</a:t>
            </a:r>
          </a:p>
          <a:p>
            <a:r>
              <a:rPr lang="en-US" dirty="0"/>
              <a:t>1.2.3.4 Trojan Horse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1.2.3.5 Worms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1.2.3.6 Worm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1.2.3.7 Other Malware</a:t>
            </a:r>
          </a:p>
          <a:p>
            <a:r>
              <a:rPr lang="en-US" dirty="0"/>
              <a:t>1.2.3.8</a:t>
            </a:r>
            <a:r>
              <a:rPr lang="en-US" baseline="0" dirty="0"/>
              <a:t> Activity - Identify the Malware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1.1.1.1 Networks </a:t>
            </a:r>
            <a:r>
              <a:rPr lang="en-US"/>
              <a:t>Are Targets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1.2.4.2 Reconnaissance Attacks</a:t>
            </a:r>
          </a:p>
          <a:p>
            <a:r>
              <a:rPr lang="en-US" dirty="0"/>
              <a:t>1.2.4.3 Sample Reconnaissance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1.2.4.5 Access Attacks</a:t>
            </a:r>
          </a:p>
          <a:p>
            <a:r>
              <a:rPr lang="en-US" dirty="0"/>
              <a:t>1.2.4.6 Types of Access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1.2.4.6 Social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1.2.4.7 Denial of Service Attacks</a:t>
            </a:r>
          </a:p>
          <a:p>
            <a:r>
              <a:rPr lang="en-US" dirty="0"/>
              <a:t>1.2.4.8 Types of </a:t>
            </a:r>
            <a:r>
              <a:rPr lang="en-US" dirty="0" err="1"/>
              <a:t>DoS</a:t>
            </a:r>
            <a:r>
              <a:rPr lang="en-US" dirty="0"/>
              <a:t>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1.2.4.9 </a:t>
            </a:r>
            <a:r>
              <a:rPr lang="en-US" dirty="0" err="1"/>
              <a:t>DDoS</a:t>
            </a:r>
            <a:r>
              <a:rPr lang="en-US" dirty="0"/>
              <a:t> Attacks</a:t>
            </a:r>
          </a:p>
          <a:p>
            <a:r>
              <a:rPr lang="en-US" dirty="0"/>
              <a:t>1.2.4.10 </a:t>
            </a:r>
            <a:r>
              <a:rPr lang="en-US" dirty="0" err="1"/>
              <a:t>DDoS</a:t>
            </a:r>
            <a:r>
              <a:rPr lang="en-US" dirty="0"/>
              <a:t> Attacks (cont.) - Video </a:t>
            </a:r>
            <a:r>
              <a:rPr lang="en-CA" dirty="0"/>
              <a:t>https://www.youtube.com/watch?v=NogCN78XN2w</a:t>
            </a:r>
          </a:p>
          <a:p>
            <a:r>
              <a:rPr lang="en-US" dirty="0"/>
              <a:t>1.2.4.11 Activity - Identify the Types of Attack</a:t>
            </a:r>
          </a:p>
          <a:p>
            <a:r>
              <a:rPr lang="en-US" dirty="0"/>
              <a:t>1.2.4.12 Lab - Social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1.3.1.3 Confidentiality,</a:t>
            </a:r>
            <a:r>
              <a:rPr lang="en-US" baseline="0" dirty="0"/>
              <a:t> Integrity, Availability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1.3.2.1 Network Security Domains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1.3.2.2 Security Policy</a:t>
            </a:r>
          </a:p>
          <a:p>
            <a:r>
              <a:rPr lang="en-US" dirty="0"/>
              <a:t>1.3.2.3 Network Security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1.3.2.4 Network Security Policy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1.3.4.1 Defending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1.3.4.2 Mitigating Malware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1.3.4.3 Mitigating Worms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1.3.4.4 Mitigating Reconnaissance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1.3.4.5 Mitigating Access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1.3.4.6 Mitigating </a:t>
            </a:r>
            <a:r>
              <a:rPr lang="en-US" dirty="0" err="1"/>
              <a:t>DoS</a:t>
            </a:r>
            <a:r>
              <a:rPr lang="en-US" dirty="0"/>
              <a:t>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2.1.1.1 Securing the Network Infrastructure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2.1.1.3 Three Areas of Router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2.1.1.4 Secure Administrative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2.1.1.5 Secure Local and Remote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2.1.2.1 Strong Passwords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2.1.2.2 Increasing Access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2.1.2.3 Secret Password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2.1.2.4 Securing Line Access</a:t>
            </a:r>
          </a:p>
          <a:p>
            <a:r>
              <a:rPr lang="en-US" dirty="0"/>
              <a:t>Syntax Checker: Secure Administrative Access on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2.2.1.1 Limiting Command Availability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2.2.1.3 Limitations of Privilege</a:t>
            </a:r>
            <a:r>
              <a:rPr lang="en-US" baseline="0" dirty="0"/>
              <a:t> Levels</a:t>
            </a:r>
          </a:p>
          <a:p>
            <a:r>
              <a:rPr lang="en-US" baseline="0" dirty="0"/>
              <a:t>Syntax Checker: Configure Privilege Levels on R2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3657600" cy="384721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2" y="4464066"/>
            <a:ext cx="3657600" cy="384721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0477232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8110728" cy="384175"/>
          </a:xfr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>
            <a:lvl1pPr marL="0" indent="0" algn="l"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  <p:pic>
        <p:nvPicPr>
          <p:cNvPr id="51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053" y="325971"/>
            <a:ext cx="2920207" cy="4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2" y="4862154"/>
            <a:ext cx="8110728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1" y="5231003"/>
            <a:ext cx="8110728" cy="297004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4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77931373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712451"/>
            <a:ext cx="8477250" cy="1828800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571527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Seg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7243975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554809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06781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29702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39745"/>
            <a:ext cx="4103687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ounded Rectangle 9"/>
          <p:cNvSpPr/>
          <p:nvPr userDrawn="1"/>
        </p:nvSpPr>
        <p:spPr>
          <a:xfrm>
            <a:off x="4984231" y="1416140"/>
            <a:ext cx="3759720" cy="459903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rgbClr val="EDDFF5"/>
              </a:gs>
            </a:gsLst>
            <a:lin ang="2700000" scaled="1"/>
            <a:tileRect/>
          </a:gra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221224" y="1747683"/>
            <a:ext cx="3236976" cy="1900292"/>
          </a:xfrm>
        </p:spPr>
        <p:txBody>
          <a:bodyPr/>
          <a:lstStyle>
            <a:lvl1pPr marL="114300" indent="-114300">
              <a:buFontTx/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5310124" y="4876800"/>
            <a:ext cx="3044497" cy="32624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4990141" y="1335313"/>
            <a:ext cx="1" cy="4760687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2592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301752"/>
            <a:ext cx="4123944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19455" y="1600200"/>
            <a:ext cx="4142232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406400" indent="0">
              <a:buClr>
                <a:schemeClr val="accent5"/>
              </a:buClr>
              <a:buFontTx/>
              <a:buNone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</a:t>
            </a:r>
            <a:br>
              <a:rPr lang="en-US" dirty="0"/>
            </a:br>
            <a:r>
              <a:rPr lang="en-US" dirty="0"/>
              <a:t>do not italicize; use yellow on the </a:t>
            </a:r>
            <a:br>
              <a:rPr lang="en-US" dirty="0"/>
            </a:br>
            <a:r>
              <a:rPr lang="en-US" dirty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818888" y="1600200"/>
            <a:ext cx="4005072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406400" indent="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None/>
              <a:defRPr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18887" y="301752"/>
            <a:ext cx="3951308" cy="838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Two Column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Title Right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4475" y="1866900"/>
            <a:ext cx="2622550" cy="439102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292474" y="1866900"/>
            <a:ext cx="2593975" cy="436245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75388" y="1866900"/>
            <a:ext cx="2633662" cy="433387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7"/>
          </p:nvPr>
        </p:nvSpPr>
        <p:spPr>
          <a:xfrm>
            <a:off x="219456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255264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Text Placeholder 20"/>
          <p:cNvSpPr>
            <a:spLocks noGrp="1" noChangeAspect="1"/>
          </p:cNvSpPr>
          <p:nvPr>
            <p:ph type="body" sz="quarter" idx="19"/>
          </p:nvPr>
        </p:nvSpPr>
        <p:spPr>
          <a:xfrm>
            <a:off x="6247902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082817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83084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246972" y="439710"/>
            <a:ext cx="8567244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359764" y="1476375"/>
            <a:ext cx="8439461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9466" y="6062114"/>
            <a:ext cx="7461250" cy="276999"/>
          </a:xfrm>
        </p:spPr>
        <p:txBody>
          <a:bodyPr wrap="square" anchor="b" anchorCtr="0">
            <a:sp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rgbClr val="435153"/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/>
              <a:t>Source: Placeholder for Notes Is 12 Points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46888" y="1600200"/>
            <a:ext cx="4005072" cy="374904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73752" y="1947672"/>
            <a:ext cx="3429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“Format large quotes using this slide layout. Be sure to cite your source below.”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744" y="484632"/>
            <a:ext cx="8755128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Format large quotes using this slide layout. Be sure to cite your source below.”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0248" y="5358903"/>
            <a:ext cx="8574685" cy="61436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Source</a:t>
            </a:r>
          </a:p>
        </p:txBody>
      </p:sp>
      <p:sp>
        <p:nvSpPr>
          <p:cNvPr id="21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1918741"/>
            <a:ext cx="4117446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922519" y="777667"/>
            <a:ext cx="3895344" cy="5287676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marL="0" lv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rgbClr val="435153"/>
              </a:buClr>
              <a:buFont typeface="Arial" pitchFamily="34" charset="0"/>
              <a:buNone/>
            </a:pPr>
            <a:r>
              <a:rPr lang="en-US" dirty="0"/>
              <a:t>Tell your story here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1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279392"/>
            <a:ext cx="4684867" cy="3841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493B93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8693" y="3282696"/>
            <a:ext cx="4712557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5540375" y="1917700"/>
            <a:ext cx="2676525" cy="2889250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91875" y="795528"/>
            <a:ext cx="534924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91874" y="4794352"/>
            <a:ext cx="5347552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1900238" y="795528"/>
            <a:ext cx="5329238" cy="400507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65871" y="4873438"/>
            <a:ext cx="5074070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38328" y="310896"/>
            <a:ext cx="3273552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38328" y="310896"/>
            <a:ext cx="3273552" cy="2459736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29703" y="3429000"/>
            <a:ext cx="7009298" cy="1421928"/>
          </a:xfrm>
        </p:spPr>
        <p:txBody>
          <a:bodyPr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Large photo </a:t>
            </a:r>
            <a:br>
              <a:rPr lang="en-US" dirty="0"/>
            </a:br>
            <a:r>
              <a:rPr lang="en-US" dirty="0"/>
              <a:t>caption here.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992624" y="859536"/>
            <a:ext cx="3630168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992624" y="859536"/>
            <a:ext cx="3630168" cy="502920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728972"/>
            <a:ext cx="4349918" cy="108952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668713" y="311149"/>
            <a:ext cx="3268136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3668989" y="311149"/>
            <a:ext cx="326786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963" y="311149"/>
            <a:ext cx="3258612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4" y="311149"/>
            <a:ext cx="327275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1988" y="311149"/>
            <a:ext cx="1806574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7011988" y="311149"/>
            <a:ext cx="1806573" cy="1308101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4963" y="3028951"/>
            <a:ext cx="250196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320824" y="3028951"/>
            <a:ext cx="2516104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1476" y="3028951"/>
            <a:ext cx="4025374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2908334" y="3028951"/>
            <a:ext cx="4028516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11988" y="1683657"/>
            <a:ext cx="1806574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8" y="1676400"/>
            <a:ext cx="1806573" cy="344941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11988" y="5182960"/>
            <a:ext cx="1806574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7011988" y="5182960"/>
            <a:ext cx="1806573" cy="1304925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8328" y="310896"/>
            <a:ext cx="8476488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3375" y="339924"/>
            <a:ext cx="8474869" cy="6054185"/>
          </a:xfrm>
          <a:ln>
            <a:solidFill>
              <a:srgbClr val="FFFFFF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-91440" y="-91440"/>
            <a:ext cx="9326880" cy="704088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/>
              <a:t>Full bleed image placeholder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2642616" y="777240"/>
            <a:ext cx="5897880" cy="4425696"/>
          </a:xfrm>
          <a:solidFill>
            <a:srgbClr val="000000"/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video</a:t>
            </a: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148" y="6042098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361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20" name="Rectangle 19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blu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7" name="Freeform 6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6564313"/>
            <a:ext cx="9144000" cy="29845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43863" y="6634163"/>
            <a:ext cx="852487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>
            <a:spAutoFit/>
          </a:bodyPr>
          <a:lstStyle>
            <a:lvl1pPr defTabSz="814388">
              <a:defRPr sz="3000"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814388">
              <a:defRPr sz="3000"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r>
              <a:rPr lang="en-US" altLang="zh-CN" sz="700">
                <a:solidFill>
                  <a:srgbClr val="C0C0C0"/>
                </a:solidFill>
                <a:ea typeface="宋体" charset="-122"/>
              </a:rPr>
              <a:t>BSCI v3.0—2-</a:t>
            </a:r>
            <a:fld id="{65D8D174-AB76-4995-8CE0-7E461344EFBC}" type="slidenum">
              <a:rPr lang="en-US" altLang="zh-CN" sz="700">
                <a:solidFill>
                  <a:srgbClr val="C0C0C0"/>
                </a:solidFill>
                <a:ea typeface="宋体" charset="-122"/>
              </a:rPr>
              <a:pPr algn="r"/>
              <a:t>‹#›</a:t>
            </a:fld>
            <a:endParaRPr lang="en-US" altLang="zh-CN" sz="700">
              <a:solidFill>
                <a:srgbClr val="C0C0C0"/>
              </a:solidFill>
              <a:ea typeface="宋体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2454275"/>
            <a:ext cx="9144000" cy="4111625"/>
          </a:xfrm>
          <a:prstGeom prst="rect">
            <a:avLst/>
          </a:prstGeom>
          <a:solidFill>
            <a:srgbClr val="3067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" name="Picture 8" descr="MAD00558_j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70" b="64130"/>
          <a:stretch>
            <a:fillRect/>
          </a:stretch>
        </p:blipFill>
        <p:spPr bwMode="auto">
          <a:xfrm>
            <a:off x="0" y="0"/>
            <a:ext cx="914082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2406" name="Rectangle 6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655638" y="2951163"/>
            <a:ext cx="7797800" cy="504825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>
              <a:defRPr sz="20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742407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55638" y="3606800"/>
            <a:ext cx="7802562" cy="533400"/>
          </a:xfrm>
        </p:spPr>
        <p:txBody>
          <a:bodyPr lIns="91440" tIns="45720" rIns="91440" bIns="4572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9501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192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87996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636713"/>
            <a:ext cx="3894137" cy="3571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636713"/>
            <a:ext cx="3894138" cy="3571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04164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5515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6246708"/>
      </p:ext>
    </p:extLst>
  </p:cSld>
  <p:clrMapOvr>
    <a:masterClrMapping/>
  </p:clrMapOvr>
  <p:transition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3809223"/>
      </p:ext>
    </p:extLst>
  </p:cSld>
  <p:clrMapOvr>
    <a:masterClrMapping/>
  </p:clrMapOvr>
  <p:transition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64094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73660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80091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225425"/>
            <a:ext cx="2035175" cy="4983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225425"/>
            <a:ext cx="5957887" cy="4983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68756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878215119"/>
      </p:ext>
    </p:extLst>
  </p:cSld>
  <p:clrMapOvr>
    <a:masterClrMapping/>
  </p:clrMapOvr>
  <p:transition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9654430"/>
      </p:ext>
    </p:extLst>
  </p:cSld>
  <p:clrMapOvr>
    <a:masterClrMapping/>
  </p:clrMapOvr>
  <p:transition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391659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702" y="1339745"/>
            <a:ext cx="8577072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Cisco Public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930" r:id="rId2"/>
    <p:sldLayoutId id="2147483929" r:id="rId3"/>
    <p:sldLayoutId id="2147483937" r:id="rId4"/>
    <p:sldLayoutId id="2147483900" r:id="rId5"/>
    <p:sldLayoutId id="2147483931" r:id="rId6"/>
    <p:sldLayoutId id="2147483932" r:id="rId7"/>
    <p:sldLayoutId id="2147483933" r:id="rId8"/>
    <p:sldLayoutId id="2147483902" r:id="rId9"/>
    <p:sldLayoutId id="2147483903" r:id="rId10"/>
    <p:sldLayoutId id="2147483935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3" r:id="rId18"/>
    <p:sldLayoutId id="2147483911" r:id="rId19"/>
    <p:sldLayoutId id="2147483912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1" r:id="rId27"/>
    <p:sldLayoutId id="2147483922" r:id="rId28"/>
    <p:sldLayoutId id="2147483936" r:id="rId29"/>
    <p:sldLayoutId id="2147483923" r:id="rId30"/>
    <p:sldLayoutId id="2147483924" r:id="rId31"/>
    <p:sldLayoutId id="2147483925" r:id="rId32"/>
    <p:sldLayoutId id="2147483926" r:id="rId33"/>
    <p:sldLayoutId id="2147483927" r:id="rId34"/>
  </p:sldLayoutIdLst>
  <p:transition>
    <p:wipe dir="r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en-US" sz="3600" b="0" i="0" u="none" strike="noStrike" kern="1200" cap="none" spc="0" normalizeH="0" baseline="0" dirty="0">
          <a:ln>
            <a:noFill/>
          </a:ln>
          <a:gradFill flip="none" rotWithShape="1">
            <a:gsLst>
              <a:gs pos="16000">
                <a:schemeClr val="tx2"/>
              </a:gs>
              <a:gs pos="100000">
                <a:srgbClr val="28A7DF"/>
              </a:gs>
            </a:gsLst>
            <a:lin ang="1800000" scaled="0"/>
            <a:tileRect/>
          </a:gradFill>
          <a:effectLst/>
          <a:uLnTx/>
          <a:uFillTx/>
          <a:latin typeface="+mj-lt"/>
          <a:ea typeface="+mj-ea"/>
          <a:cs typeface="Arial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rgbClr val="493B93"/>
        </a:buClr>
        <a:buSzPct val="90000"/>
        <a:buFont typeface="Arial" pitchFamily="34" charset="0"/>
        <a:buChar char="•"/>
        <a:tabLst/>
        <a:defRPr lang="en-US" sz="2200" kern="1200" dirty="0" smtClean="0">
          <a:solidFill>
            <a:srgbClr val="435153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435153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435153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435153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435153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1228725"/>
          </a:xfrm>
          <a:prstGeom prst="rect">
            <a:avLst/>
          </a:prstGeom>
          <a:solidFill>
            <a:srgbClr val="3067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white">
          <a:xfrm>
            <a:off x="655638" y="225425"/>
            <a:ext cx="8145462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636713"/>
            <a:ext cx="794067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Body Text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AutoShape 6"/>
          <p:cNvSpPr>
            <a:spLocks noChangeArrowheads="1"/>
          </p:cNvSpPr>
          <p:nvPr/>
        </p:nvSpPr>
        <p:spPr bwMode="white">
          <a:xfrm rot="10800000">
            <a:off x="8756650" y="-9525"/>
            <a:ext cx="387350" cy="377825"/>
          </a:xfrm>
          <a:prstGeom prst="rtTriangl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6564313"/>
            <a:ext cx="9144000" cy="29845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28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2" r:id="rId12"/>
    <p:sldLayoutId id="2147483954" r:id="rId13"/>
    <p:sldLayoutId id="2147483955" r:id="rId14"/>
  </p:sldLayoutIdLst>
  <p:transition>
    <p:wipe dir="r"/>
  </p:transition>
  <p:txStyles>
    <p:titleStyle>
      <a:lvl1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2pPr>
      <a:lvl3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3pPr>
      <a:lvl4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4pPr>
      <a:lvl5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SzPct val="100000"/>
        <a:buFont typeface="Arial" charset="0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8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pngimg.com/download/380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3143" y="3118757"/>
            <a:ext cx="7854043" cy="1028699"/>
          </a:xfrm>
        </p:spPr>
        <p:txBody>
          <a:bodyPr/>
          <a:lstStyle/>
          <a:p>
            <a:r>
              <a:rPr lang="en-US" sz="3600"/>
              <a:t>Security Concepts</a:t>
            </a:r>
            <a:endParaRPr lang="en-US" altLang="en-US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1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2057400"/>
            <a:ext cx="8112125" cy="680748"/>
          </a:xfrm>
        </p:spPr>
        <p:txBody>
          <a:bodyPr/>
          <a:lstStyle/>
          <a:p>
            <a:r>
              <a:rPr lang="en-US" sz="3600"/>
              <a:t>Section 1:</a:t>
            </a:r>
            <a:br>
              <a:rPr lang="en-US" sz="3600" dirty="0"/>
            </a:br>
            <a:r>
              <a:rPr lang="en-US" sz="3600" dirty="0"/>
              <a:t>Network Threats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2921508"/>
            <a:ext cx="8577072" cy="26186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Upon completion of the section, you should be able to: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Describe the evolution of network security.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Describe the various types of attack tools used by hackers.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Describe malware.</a:t>
            </a:r>
          </a:p>
          <a:p>
            <a:r>
              <a:rPr lang="en-US" sz="2000" dirty="0">
                <a:solidFill>
                  <a:schemeClr val="tx1"/>
                </a:solidFill>
              </a:rPr>
              <a:t>Explain common network attacks.</a:t>
            </a:r>
          </a:p>
        </p:txBody>
      </p:sp>
    </p:spTree>
    <p:extLst>
      <p:ext uri="{BB962C8B-B14F-4D97-AF65-F5344CB8AC3E}">
        <p14:creationId xmlns:p14="http://schemas.microsoft.com/office/powerpoint/2010/main" val="19984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Drivers for Network Security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640080" y="1237488"/>
            <a:ext cx="3619500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Common network security terms: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Threat</a:t>
            </a:r>
          </a:p>
          <a:p>
            <a:r>
              <a:rPr lang="en-US" sz="2000" dirty="0">
                <a:solidFill>
                  <a:schemeClr val="tx1"/>
                </a:solidFill>
              </a:rPr>
              <a:t>Vulnerability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Mitigation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04360" y="2822656"/>
            <a:ext cx="405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Cisco Security Intelligence Operations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032" y="1805940"/>
            <a:ext cx="5727041" cy="4019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28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The Hacker &amp; The Evolution of Hackers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69" y="1542288"/>
            <a:ext cx="8086725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5532120" y="1542288"/>
            <a:ext cx="2956560" cy="25801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Modern hacking titles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r>
              <a:rPr lang="en-US" sz="1800" dirty="0">
                <a:solidFill>
                  <a:schemeClr val="bg1"/>
                </a:solidFill>
              </a:rPr>
              <a:t>Script Kiddies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Vulnerability Brokers</a:t>
            </a:r>
          </a:p>
          <a:p>
            <a:r>
              <a:rPr lang="en-US" sz="1800" dirty="0">
                <a:solidFill>
                  <a:schemeClr val="bg1"/>
                </a:solidFill>
              </a:rPr>
              <a:t>Hacktivists</a:t>
            </a:r>
          </a:p>
          <a:p>
            <a:r>
              <a:rPr lang="en-US" sz="1800" dirty="0">
                <a:solidFill>
                  <a:schemeClr val="bg1"/>
                </a:solidFill>
              </a:rPr>
              <a:t>Cyber Criminals</a:t>
            </a:r>
          </a:p>
          <a:p>
            <a:r>
              <a:rPr lang="en-US" sz="1800" dirty="0">
                <a:solidFill>
                  <a:schemeClr val="bg1"/>
                </a:solidFill>
              </a:rPr>
              <a:t>State-Sponsored Hackers</a:t>
            </a:r>
          </a:p>
        </p:txBody>
      </p:sp>
    </p:spTree>
    <p:extLst>
      <p:ext uri="{BB962C8B-B14F-4D97-AF65-F5344CB8AC3E}">
        <p14:creationId xmlns:p14="http://schemas.microsoft.com/office/powerpoint/2010/main" val="146735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Evolution of Security Tools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640080" y="1237488"/>
            <a:ext cx="378100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Penetration testing tools: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Password crackers</a:t>
            </a:r>
          </a:p>
          <a:p>
            <a:r>
              <a:rPr lang="en-US" sz="2000" dirty="0">
                <a:solidFill>
                  <a:schemeClr val="tx1"/>
                </a:solidFill>
              </a:rPr>
              <a:t>Wireless hacking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Network scanning and hacking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Packet crafting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Packet sniffers</a:t>
            </a:r>
          </a:p>
          <a:p>
            <a:r>
              <a:rPr lang="en-US" sz="2000" dirty="0">
                <a:solidFill>
                  <a:schemeClr val="tx1"/>
                </a:solidFill>
              </a:rPr>
              <a:t>Rootkit detectors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Fuzzers</a:t>
            </a:r>
            <a:r>
              <a:rPr lang="en-US" sz="2000" dirty="0">
                <a:solidFill>
                  <a:schemeClr val="tx1"/>
                </a:solidFill>
              </a:rPr>
              <a:t> to search vulnerabilities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4698800" y="1238962"/>
            <a:ext cx="378100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Forensic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Debuggers</a:t>
            </a:r>
          </a:p>
          <a:p>
            <a:r>
              <a:rPr lang="en-US" sz="2000" dirty="0">
                <a:solidFill>
                  <a:schemeClr val="tx1"/>
                </a:solidFill>
              </a:rPr>
              <a:t>Hacking operating systems</a:t>
            </a:r>
          </a:p>
          <a:p>
            <a:r>
              <a:rPr lang="en-US" sz="2000" dirty="0">
                <a:solidFill>
                  <a:schemeClr val="tx1"/>
                </a:solidFill>
              </a:rPr>
              <a:t>Encryption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Vulnerability exploitation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Vulnerability Scanners</a:t>
            </a:r>
          </a:p>
        </p:txBody>
      </p:sp>
    </p:spTree>
    <p:extLst>
      <p:ext uri="{BB962C8B-B14F-4D97-AF65-F5344CB8AC3E}">
        <p14:creationId xmlns:p14="http://schemas.microsoft.com/office/powerpoint/2010/main" val="79628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Categories of Attack Tools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640080" y="1237488"/>
            <a:ext cx="791718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Network hacking attacks: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Eavesdropping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Data modification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IP address spoofing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Password-based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Denial-of-service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Man-in-the-middle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Compromised-key</a:t>
            </a:r>
          </a:p>
          <a:p>
            <a:r>
              <a:rPr lang="en-US" sz="2000" dirty="0">
                <a:solidFill>
                  <a:schemeClr val="tx1"/>
                </a:solidFill>
              </a:rPr>
              <a:t>Sniffer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41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Viruses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857" y="1406298"/>
            <a:ext cx="668655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53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Trojan Horse Classification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703" y="2296124"/>
            <a:ext cx="5737860" cy="411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518160" y="1237488"/>
            <a:ext cx="791718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Classifications: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Security software disabler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Remote-access</a:t>
            </a:r>
          </a:p>
          <a:p>
            <a:r>
              <a:rPr lang="en-US" sz="2000" dirty="0">
                <a:solidFill>
                  <a:schemeClr val="tx1"/>
                </a:solidFill>
              </a:rPr>
              <a:t>Data-sending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Destructive</a:t>
            </a:r>
          </a:p>
          <a:p>
            <a:r>
              <a:rPr lang="en-US" sz="2000" dirty="0">
                <a:solidFill>
                  <a:schemeClr val="tx1"/>
                </a:solidFill>
              </a:rPr>
              <a:t>Proxy</a:t>
            </a:r>
          </a:p>
          <a:p>
            <a:r>
              <a:rPr lang="en-US" sz="2000" dirty="0">
                <a:solidFill>
                  <a:schemeClr val="tx1"/>
                </a:solidFill>
              </a:rPr>
              <a:t>FTP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DoS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55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Worms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" y="1431039"/>
            <a:ext cx="4175760" cy="218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4457700" y="1847088"/>
            <a:ext cx="3943350" cy="522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Initial Code Red Worm Infection</a:t>
            </a:r>
            <a:endParaRPr lang="en-US" sz="18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76" y="4082799"/>
            <a:ext cx="4219584" cy="218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4556760" y="4536948"/>
            <a:ext cx="4640580" cy="522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Code Red Worm Infection 19 Hours Later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7379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Worm Components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998461984"/>
              </p:ext>
            </p:extLst>
          </p:nvPr>
        </p:nvGraphicFramePr>
        <p:xfrm>
          <a:off x="1771650" y="1303020"/>
          <a:ext cx="6743700" cy="4378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6"/>
          <p:cNvSpPr txBox="1">
            <a:spLocks/>
          </p:cNvSpPr>
          <p:nvPr/>
        </p:nvSpPr>
        <p:spPr>
          <a:xfrm>
            <a:off x="518160" y="1321308"/>
            <a:ext cx="2948940" cy="1810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Components: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Enabling vulnerability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Propagation mechanism</a:t>
            </a:r>
          </a:p>
          <a:p>
            <a:r>
              <a:rPr lang="en-US" sz="2000" dirty="0">
                <a:solidFill>
                  <a:schemeClr val="tx1"/>
                </a:solidFill>
              </a:rPr>
              <a:t>Payload</a:t>
            </a:r>
          </a:p>
        </p:txBody>
      </p:sp>
    </p:spTree>
    <p:extLst>
      <p:ext uri="{BB962C8B-B14F-4D97-AF65-F5344CB8AC3E}">
        <p14:creationId xmlns:p14="http://schemas.microsoft.com/office/powerpoint/2010/main" val="285011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Other Malware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957" y="1273220"/>
            <a:ext cx="661035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1684020" y="4559808"/>
            <a:ext cx="2110740" cy="12999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Ransomware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Spyware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Adware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6019800" y="4539996"/>
            <a:ext cx="1710690" cy="1391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Scareware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Phishing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Rootkits</a:t>
            </a:r>
          </a:p>
        </p:txBody>
      </p:sp>
    </p:spTree>
    <p:extLst>
      <p:ext uri="{BB962C8B-B14F-4D97-AF65-F5344CB8AC3E}">
        <p14:creationId xmlns:p14="http://schemas.microsoft.com/office/powerpoint/2010/main" val="380886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Types of Network Attacks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437770457"/>
              </p:ext>
            </p:extLst>
          </p:nvPr>
        </p:nvGraphicFramePr>
        <p:xfrm>
          <a:off x="1524000" y="1397000"/>
          <a:ext cx="6096000" cy="4721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2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Reconnaissance Attacks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525" y="2602774"/>
            <a:ext cx="5922323" cy="391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220980" y="1260348"/>
            <a:ext cx="4465320" cy="3113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Initial query of a target</a:t>
            </a:r>
          </a:p>
          <a:p>
            <a:r>
              <a:rPr lang="en-US" sz="2000" dirty="0">
                <a:solidFill>
                  <a:schemeClr val="tx1"/>
                </a:solidFill>
              </a:rPr>
              <a:t>Ping sweep of the target network</a:t>
            </a:r>
          </a:p>
          <a:p>
            <a:r>
              <a:rPr lang="en-US" sz="2000" dirty="0">
                <a:solidFill>
                  <a:schemeClr val="tx1"/>
                </a:solidFill>
              </a:rPr>
              <a:t>Port scan of active IP addresses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Vulnerability scanners</a:t>
            </a:r>
          </a:p>
          <a:p>
            <a:r>
              <a:rPr lang="en-US" sz="2000" dirty="0">
                <a:solidFill>
                  <a:schemeClr val="tx1"/>
                </a:solidFill>
              </a:rPr>
              <a:t>Exploitation tools</a:t>
            </a:r>
          </a:p>
        </p:txBody>
      </p:sp>
    </p:spTree>
    <p:extLst>
      <p:ext uri="{BB962C8B-B14F-4D97-AF65-F5344CB8AC3E}">
        <p14:creationId xmlns:p14="http://schemas.microsoft.com/office/powerpoint/2010/main" val="13901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Access Attacks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640080" y="1237488"/>
            <a:ext cx="7917180" cy="4995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 few reasons why hackers use access attacks: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retrieve data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gain access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escalate access privileges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 few types of access attacks include:</a:t>
            </a:r>
          </a:p>
          <a:p>
            <a:r>
              <a:rPr lang="en-US" sz="2000" dirty="0">
                <a:solidFill>
                  <a:schemeClr val="tx1"/>
                </a:solidFill>
              </a:rPr>
              <a:t>Password</a:t>
            </a:r>
          </a:p>
          <a:p>
            <a:r>
              <a:rPr lang="en-US" sz="2000" dirty="0">
                <a:solidFill>
                  <a:schemeClr val="tx1"/>
                </a:solidFill>
              </a:rPr>
              <a:t>Trust exploitation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Port redirection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Man-in-the-middle</a:t>
            </a:r>
          </a:p>
          <a:p>
            <a:r>
              <a:rPr lang="en-US" sz="2000" dirty="0">
                <a:solidFill>
                  <a:schemeClr val="tx1"/>
                </a:solidFill>
              </a:rPr>
              <a:t>Buffer overflow</a:t>
            </a:r>
          </a:p>
          <a:p>
            <a:r>
              <a:rPr lang="en-US" sz="2000" dirty="0">
                <a:solidFill>
                  <a:schemeClr val="tx1"/>
                </a:solidFill>
              </a:rPr>
              <a:t>IP, MAC, DHCP spoofing</a:t>
            </a:r>
          </a:p>
        </p:txBody>
      </p:sp>
    </p:spTree>
    <p:extLst>
      <p:ext uri="{BB962C8B-B14F-4D97-AF65-F5344CB8AC3E}">
        <p14:creationId xmlns:p14="http://schemas.microsoft.com/office/powerpoint/2010/main" val="335399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Social Engineering Attacks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55" y="1834262"/>
            <a:ext cx="5291120" cy="384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345272" y="1366884"/>
            <a:ext cx="3338966" cy="3113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Pretexting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Phishing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Spearphishing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Spam</a:t>
            </a:r>
          </a:p>
          <a:p>
            <a:r>
              <a:rPr lang="en-US" sz="2000" dirty="0">
                <a:solidFill>
                  <a:schemeClr val="tx1"/>
                </a:solidFill>
              </a:rPr>
              <a:t>Tailgating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Something for Something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Baiting</a:t>
            </a:r>
          </a:p>
        </p:txBody>
      </p:sp>
    </p:spTree>
    <p:extLst>
      <p:ext uri="{BB962C8B-B14F-4D97-AF65-F5344CB8AC3E}">
        <p14:creationId xmlns:p14="http://schemas.microsoft.com/office/powerpoint/2010/main" val="374121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Denial of Service Attacks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" y="1340240"/>
            <a:ext cx="8404860" cy="4646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1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err="1"/>
              <a:t>DDoS</a:t>
            </a:r>
            <a:r>
              <a:rPr lang="en-US" sz="3200" dirty="0"/>
              <a:t> Attacks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640080" y="1237488"/>
            <a:ext cx="7917180" cy="4995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Hacker builds a network of infected machines</a:t>
            </a:r>
          </a:p>
          <a:p>
            <a:pPr marL="6350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network of infected hosts is called a botnet.</a:t>
            </a:r>
          </a:p>
          <a:p>
            <a:pPr marL="6350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compromised computers are called zombies.</a:t>
            </a:r>
          </a:p>
          <a:p>
            <a:pPr marL="6350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Zombies are controlled by handler systems.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Zombie computers continue to scan and infect more targets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Hacker instructs handler system to make the botnet of zombies carry out the </a:t>
            </a:r>
            <a:r>
              <a:rPr lang="en-US" sz="2800" dirty="0" err="1">
                <a:solidFill>
                  <a:schemeClr val="tx1"/>
                </a:solidFill>
              </a:rPr>
              <a:t>DDoS</a:t>
            </a:r>
            <a:r>
              <a:rPr lang="en-US" sz="2800" dirty="0">
                <a:solidFill>
                  <a:schemeClr val="tx1"/>
                </a:solidFill>
              </a:rPr>
              <a:t> attack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05800" y="2019300"/>
            <a:ext cx="8112125" cy="665508"/>
          </a:xfrm>
        </p:spPr>
        <p:txBody>
          <a:bodyPr/>
          <a:lstStyle/>
          <a:p>
            <a:br>
              <a:rPr lang="en-US" sz="4000"/>
            </a:br>
            <a:br>
              <a:rPr lang="en-US" sz="4000"/>
            </a:br>
            <a:r>
              <a:rPr lang="en-US" sz="3600"/>
              <a:t>Section 2:</a:t>
            </a:r>
            <a:br>
              <a:rPr lang="en-US" sz="3600"/>
            </a:br>
            <a:r>
              <a:rPr lang="en-US" sz="3600"/>
              <a:t> </a:t>
            </a:r>
            <a:r>
              <a:rPr lang="en-US" sz="3600" dirty="0"/>
              <a:t>Mitigating Threats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2944368"/>
            <a:ext cx="8577072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Upon completion of this section, you should be able </a:t>
            </a:r>
            <a:r>
              <a:rPr lang="en-US" sz="2000">
                <a:solidFill>
                  <a:schemeClr val="tx1"/>
                </a:solidFill>
              </a:rPr>
              <a:t>to: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Describe methods and resources to protect the networks.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Describe a collection of domains for network security.</a:t>
            </a:r>
          </a:p>
          <a:p>
            <a:r>
              <a:rPr lang="en-US" sz="2000" dirty="0">
                <a:solidFill>
                  <a:schemeClr val="tx1"/>
                </a:solidFill>
              </a:rPr>
              <a:t>Explain the purpose of the Cisco </a:t>
            </a:r>
            <a:r>
              <a:rPr lang="en-US" sz="2000" dirty="0" err="1">
                <a:solidFill>
                  <a:schemeClr val="tx1"/>
                </a:solidFill>
              </a:rPr>
              <a:t>SecureX</a:t>
            </a:r>
            <a:r>
              <a:rPr lang="en-US" sz="2000" dirty="0">
                <a:solidFill>
                  <a:schemeClr val="tx1"/>
                </a:solidFill>
              </a:rPr>
              <a:t> Architecture.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Describe the techniques used to mitigate common network attacks.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Explain how to secure the three functional areas of Cisco routers and switches.</a:t>
            </a:r>
          </a:p>
        </p:txBody>
      </p:sp>
    </p:spTree>
    <p:extLst>
      <p:ext uri="{BB962C8B-B14F-4D97-AF65-F5344CB8AC3E}">
        <p14:creationId xmlns:p14="http://schemas.microsoft.com/office/powerpoint/2010/main" val="82763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Confidentiality, Integrity, Availability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513254617"/>
              </p:ext>
            </p:extLst>
          </p:nvPr>
        </p:nvGraphicFramePr>
        <p:xfrm>
          <a:off x="461010" y="1111933"/>
          <a:ext cx="8221980" cy="5295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882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Network Security Domains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640080" y="1210710"/>
            <a:ext cx="7917180" cy="50835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Risk assessment</a:t>
            </a:r>
          </a:p>
          <a:p>
            <a:r>
              <a:rPr lang="en-US" sz="1800" dirty="0">
                <a:solidFill>
                  <a:schemeClr val="tx1"/>
                </a:solidFill>
              </a:rPr>
              <a:t>Security policy</a:t>
            </a:r>
          </a:p>
          <a:p>
            <a:r>
              <a:rPr lang="en-US" sz="1800" dirty="0">
                <a:solidFill>
                  <a:schemeClr val="tx1"/>
                </a:solidFill>
              </a:rPr>
              <a:t>Organization of information security</a:t>
            </a:r>
          </a:p>
          <a:p>
            <a:r>
              <a:rPr lang="en-US" sz="1800" dirty="0">
                <a:solidFill>
                  <a:schemeClr val="tx1"/>
                </a:solidFill>
              </a:rPr>
              <a:t>Asset management</a:t>
            </a:r>
          </a:p>
          <a:p>
            <a:r>
              <a:rPr lang="en-US" sz="1800" dirty="0">
                <a:solidFill>
                  <a:schemeClr val="tx1"/>
                </a:solidFill>
              </a:rPr>
              <a:t>Human resources security</a:t>
            </a:r>
          </a:p>
          <a:p>
            <a:r>
              <a:rPr lang="en-US" sz="1800" dirty="0">
                <a:solidFill>
                  <a:schemeClr val="tx1"/>
                </a:solidFill>
              </a:rPr>
              <a:t>Physical and environmental security</a:t>
            </a:r>
          </a:p>
          <a:p>
            <a:r>
              <a:rPr lang="en-US" sz="1800" dirty="0">
                <a:solidFill>
                  <a:schemeClr val="tx1"/>
                </a:solidFill>
              </a:rPr>
              <a:t>Communications and operations management</a:t>
            </a:r>
          </a:p>
          <a:p>
            <a:r>
              <a:rPr lang="en-US" sz="1800" dirty="0">
                <a:solidFill>
                  <a:schemeClr val="tx1"/>
                </a:solidFill>
              </a:rPr>
              <a:t>Information systems acquisition, development, and maintenance</a:t>
            </a:r>
          </a:p>
          <a:p>
            <a:r>
              <a:rPr lang="en-US" sz="1800" dirty="0">
                <a:solidFill>
                  <a:schemeClr val="tx1"/>
                </a:solidFill>
              </a:rPr>
              <a:t>Access control</a:t>
            </a:r>
          </a:p>
          <a:p>
            <a:r>
              <a:rPr lang="en-US" sz="1800" dirty="0">
                <a:solidFill>
                  <a:schemeClr val="tx1"/>
                </a:solidFill>
              </a:rPr>
              <a:t>Information security incident management</a:t>
            </a:r>
          </a:p>
          <a:p>
            <a:r>
              <a:rPr lang="en-US" sz="1800" dirty="0">
                <a:solidFill>
                  <a:schemeClr val="tx1"/>
                </a:solidFill>
              </a:rPr>
              <a:t>Business continuity management</a:t>
            </a:r>
          </a:p>
          <a:p>
            <a:r>
              <a:rPr lang="en-US" sz="1800" dirty="0">
                <a:solidFill>
                  <a:schemeClr val="tx1"/>
                </a:solidFill>
              </a:rPr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32627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Network Security Policy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402080"/>
            <a:ext cx="86487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27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Network Security Policy Objectives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endParaRPr lang="en-US" sz="32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36" y="1386973"/>
            <a:ext cx="7562850" cy="4949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59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Defending the Network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693971" y="1294093"/>
            <a:ext cx="7917180" cy="4995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Best practices:</a:t>
            </a:r>
          </a:p>
          <a:p>
            <a:r>
              <a:rPr lang="en-US" sz="1800" dirty="0">
                <a:solidFill>
                  <a:schemeClr val="tx1"/>
                </a:solidFill>
              </a:rPr>
              <a:t>Develop a written security policy.</a:t>
            </a:r>
          </a:p>
          <a:p>
            <a:r>
              <a:rPr lang="en-US" sz="1800" dirty="0">
                <a:solidFill>
                  <a:schemeClr val="tx1"/>
                </a:solidFill>
              </a:rPr>
              <a:t>Educate employees about the risks of social engineering, and develop strategies to validate identities over the phone, via email, or in person.</a:t>
            </a:r>
          </a:p>
          <a:p>
            <a:r>
              <a:rPr lang="en-US" sz="1800" dirty="0">
                <a:solidFill>
                  <a:schemeClr val="tx1"/>
                </a:solidFill>
              </a:rPr>
              <a:t>Control physical access to systems.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Use strong passwords and change them often.</a:t>
            </a:r>
          </a:p>
          <a:p>
            <a:r>
              <a:rPr lang="en-US" sz="1800" dirty="0">
                <a:solidFill>
                  <a:schemeClr val="tx1"/>
                </a:solidFill>
              </a:rPr>
              <a:t>Encrypt and password-protect sensitive data.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Implement security hardware and software.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Perform backups and test the backed up files on a regular basis.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Shut down unnecessary services and ports.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Keep patches up-to-date by installing them weekly or daily to prevent buffer overflow and privilege escalation attacks.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Perform security audits to test the network.</a:t>
            </a:r>
          </a:p>
        </p:txBody>
      </p:sp>
    </p:spTree>
    <p:extLst>
      <p:ext uri="{BB962C8B-B14F-4D97-AF65-F5344CB8AC3E}">
        <p14:creationId xmlns:p14="http://schemas.microsoft.com/office/powerpoint/2010/main" val="100687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Malware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219200"/>
            <a:ext cx="486727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874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Worms</a:t>
            </a:r>
          </a:p>
        </p:txBody>
      </p:sp>
      <p:cxnSp>
        <p:nvCxnSpPr>
          <p:cNvPr id="8" name="Elbow Connector 7"/>
          <p:cNvCxnSpPr>
            <a:stCxn id="3" idx="3"/>
            <a:endCxn id="6" idx="0"/>
          </p:cNvCxnSpPr>
          <p:nvPr/>
        </p:nvCxnSpPr>
        <p:spPr>
          <a:xfrm>
            <a:off x="6015046" y="2804296"/>
            <a:ext cx="1109708" cy="146629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672169" y="1338002"/>
            <a:ext cx="7708775" cy="4896033"/>
            <a:chOff x="541539" y="941033"/>
            <a:chExt cx="7708775" cy="4896033"/>
          </a:xfrm>
        </p:grpSpPr>
        <p:sp>
          <p:nvSpPr>
            <p:cNvPr id="3" name="Diamond 2"/>
            <p:cNvSpPr/>
            <p:nvPr/>
          </p:nvSpPr>
          <p:spPr>
            <a:xfrm>
              <a:off x="2645973" y="941033"/>
              <a:ext cx="3238443" cy="2932588"/>
            </a:xfrm>
            <a:prstGeom prst="diamond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Containment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541539" y="3873621"/>
              <a:ext cx="2512380" cy="656947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Inoculation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37934" y="3873622"/>
              <a:ext cx="2512380" cy="656947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Quarantine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737934" y="5180119"/>
              <a:ext cx="2512380" cy="656947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Treatment</a:t>
              </a:r>
            </a:p>
          </p:txBody>
        </p:sp>
        <p:cxnSp>
          <p:nvCxnSpPr>
            <p:cNvPr id="10" name="Elbow Connector 9"/>
            <p:cNvCxnSpPr>
              <a:stCxn id="3" idx="1"/>
              <a:endCxn id="4" idx="0"/>
            </p:cNvCxnSpPr>
            <p:nvPr/>
          </p:nvCxnSpPr>
          <p:spPr>
            <a:xfrm rot="10800000" flipV="1">
              <a:off x="1797729" y="2407327"/>
              <a:ext cx="848244" cy="1466294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6" idx="2"/>
              <a:endCxn id="7" idx="0"/>
            </p:cNvCxnSpPr>
            <p:nvPr/>
          </p:nvCxnSpPr>
          <p:spPr>
            <a:xfrm>
              <a:off x="6994124" y="4530569"/>
              <a:ext cx="0" cy="6495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011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Reconnaissance Attacks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86" y="1311819"/>
            <a:ext cx="7296150" cy="5005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409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Access Attacks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766" y="1356792"/>
            <a:ext cx="5863590" cy="504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85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</a:t>
            </a:r>
            <a:r>
              <a:rPr lang="en-US" sz="3200" dirty="0" err="1"/>
              <a:t>DoS</a:t>
            </a:r>
            <a:r>
              <a:rPr lang="en-US" sz="3200" dirty="0"/>
              <a:t> Attacks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273" y="1378268"/>
            <a:ext cx="6124575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437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05800" y="2019300"/>
            <a:ext cx="8112125" cy="665508"/>
          </a:xfrm>
        </p:spPr>
        <p:txBody>
          <a:bodyPr/>
          <a:lstStyle/>
          <a:p>
            <a:br>
              <a:rPr lang="en-US" sz="4000"/>
            </a:br>
            <a:br>
              <a:rPr lang="en-US" sz="4000"/>
            </a:br>
            <a:r>
              <a:rPr lang="en-US" sz="3600"/>
              <a:t>Section 3:</a:t>
            </a:r>
            <a:br>
              <a:rPr lang="en-US" sz="3600"/>
            </a:br>
            <a:r>
              <a:rPr lang="en-US" sz="3600"/>
              <a:t> Securing Network Devices</a:t>
            </a:r>
            <a:endParaRPr lang="en-US" sz="3600" dirty="0"/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2944368"/>
            <a:ext cx="8577072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Upon completion of this section, you should be able </a:t>
            </a:r>
            <a:r>
              <a:rPr lang="en-US" sz="2000">
                <a:solidFill>
                  <a:schemeClr val="tx1"/>
                </a:solidFill>
              </a:rPr>
              <a:t>to: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Secure Access in Network Infrastructure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Configure administrative privilege levels to control command availability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82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Securing the Network Infrastructure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473" y="1364470"/>
            <a:ext cx="7493318" cy="5088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514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Three Areas of Router Security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1342073"/>
            <a:ext cx="7400925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32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Secure Administrative Access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419100" y="1412748"/>
            <a:ext cx="8577072" cy="3136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Tasks: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Restrict device accessibility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Log and account for all access</a:t>
            </a:r>
          </a:p>
          <a:p>
            <a:r>
              <a:rPr lang="en-US" sz="2000" dirty="0">
                <a:solidFill>
                  <a:schemeClr val="tx1"/>
                </a:solidFill>
              </a:rPr>
              <a:t>Authenticate access</a:t>
            </a:r>
          </a:p>
          <a:p>
            <a:r>
              <a:rPr lang="en-US" sz="2000" dirty="0">
                <a:solidFill>
                  <a:schemeClr val="tx1"/>
                </a:solidFill>
              </a:rPr>
              <a:t>Authorize actions</a:t>
            </a:r>
          </a:p>
          <a:p>
            <a:r>
              <a:rPr lang="en-US" sz="2000" dirty="0">
                <a:solidFill>
                  <a:schemeClr val="tx1"/>
                </a:solidFill>
              </a:rPr>
              <a:t>Present legal notification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Ensure the confidentiality of data</a:t>
            </a:r>
          </a:p>
        </p:txBody>
      </p:sp>
    </p:spTree>
    <p:extLst>
      <p:ext uri="{BB962C8B-B14F-4D97-AF65-F5344CB8AC3E}">
        <p14:creationId xmlns:p14="http://schemas.microsoft.com/office/powerpoint/2010/main" val="155527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Secure Local and Remote Access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91" y="1859278"/>
            <a:ext cx="2367107" cy="356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935" y="1859279"/>
            <a:ext cx="5995987" cy="124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935" y="4449969"/>
            <a:ext cx="6042660" cy="97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376090" y="1443228"/>
            <a:ext cx="2367107" cy="3550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Local Access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2918934" y="1443228"/>
            <a:ext cx="5995987" cy="3550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Remote Access Using Telnet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918934" y="4094988"/>
            <a:ext cx="5995987" cy="3550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Remote Access Using Modem and Aux Port</a:t>
            </a:r>
          </a:p>
        </p:txBody>
      </p:sp>
    </p:spTree>
    <p:extLst>
      <p:ext uri="{BB962C8B-B14F-4D97-AF65-F5344CB8AC3E}">
        <p14:creationId xmlns:p14="http://schemas.microsoft.com/office/powerpoint/2010/main" val="138419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Strong Passwords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419100" y="1223120"/>
            <a:ext cx="8724900" cy="28925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Guidelines:</a:t>
            </a:r>
          </a:p>
          <a:p>
            <a:r>
              <a:rPr lang="en-US" sz="1800" dirty="0">
                <a:solidFill>
                  <a:schemeClr val="tx1"/>
                </a:solidFill>
              </a:rPr>
              <a:t>Use a password length of 10 or more characters.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Include a mix of uppercase and lowercase letters, numbers, symbols, and spaces.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Avoid passwords based on easily identifiable pieces of information.</a:t>
            </a:r>
          </a:p>
          <a:p>
            <a:r>
              <a:rPr lang="en-US" sz="1800" dirty="0">
                <a:solidFill>
                  <a:schemeClr val="tx1"/>
                </a:solidFill>
              </a:rPr>
              <a:t>Deliberately misspell a password (Smith = Smyth = 5mYth).</a:t>
            </a:r>
          </a:p>
          <a:p>
            <a:r>
              <a:rPr lang="en-US" sz="1800" dirty="0">
                <a:solidFill>
                  <a:schemeClr val="tx1"/>
                </a:solidFill>
              </a:rPr>
              <a:t>Change passwords often.</a:t>
            </a:r>
          </a:p>
          <a:p>
            <a:r>
              <a:rPr lang="en-US" sz="1800" dirty="0">
                <a:solidFill>
                  <a:schemeClr val="tx1"/>
                </a:solidFill>
              </a:rPr>
              <a:t>Do not write passwords down and leave them in obvious places.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832937"/>
              </p:ext>
            </p:extLst>
          </p:nvPr>
        </p:nvGraphicFramePr>
        <p:xfrm>
          <a:off x="419100" y="4204578"/>
          <a:ext cx="8432188" cy="2311400"/>
        </p:xfrm>
        <a:graphic>
          <a:graphicData uri="http://schemas.openxmlformats.org/drawingml/2006/table">
            <a:tbl>
              <a:tblPr firstRow="1" bandRow="1">
                <a:solidFill>
                  <a:srgbClr val="EAEAEA"/>
                </a:solidFill>
                <a:tableStyleId>{00A15C55-8517-42AA-B614-E9B94910E393}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0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Weak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Why it is 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Strong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Why it is Strong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secret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Simple dictionary password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b67n42d39c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Combines alphanumeric characters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smith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rgbClr val="435153"/>
                          </a:solidFill>
                          <a:latin typeface="+mn-lt"/>
                          <a:ea typeface="+mn-ea"/>
                          <a:cs typeface="+mn-cs"/>
                        </a:rPr>
                        <a:t>Mother’s maiden name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rgbClr val="435153"/>
                          </a:solidFill>
                          <a:latin typeface="+mn-lt"/>
                          <a:ea typeface="+mn-ea"/>
                          <a:cs typeface="+mn-cs"/>
                        </a:rPr>
                        <a:t>12^h u4@1p7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rgbClr val="435153"/>
                          </a:solidFill>
                          <a:latin typeface="+mn-lt"/>
                          <a:ea typeface="+mn-ea"/>
                          <a:cs typeface="+mn-cs"/>
                        </a:rPr>
                        <a:t>Combines alphanumeric characters, symbols, and includes a space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rgbClr val="435153"/>
                          </a:solidFill>
                        </a:rPr>
                        <a:t>toyota</a:t>
                      </a:r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Make of car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bob1967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Name</a:t>
                      </a:r>
                      <a:r>
                        <a:rPr lang="en-US" sz="1200" baseline="0" dirty="0">
                          <a:solidFill>
                            <a:srgbClr val="435153"/>
                          </a:solidFill>
                        </a:rPr>
                        <a:t> and birthday of user</a:t>
                      </a:r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Blueleaf23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35153"/>
                          </a:solidFill>
                        </a:rPr>
                        <a:t>Simple words and numbers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43515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69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Increasing Access Security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2" y="1240713"/>
            <a:ext cx="3746183" cy="125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583" y="2600024"/>
            <a:ext cx="6697980" cy="395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6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Secret Password Algorithms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458862" y="1266444"/>
            <a:ext cx="8130540" cy="3136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Guidelines:</a:t>
            </a:r>
          </a:p>
          <a:p>
            <a:r>
              <a:rPr lang="en-US" sz="1800" dirty="0"/>
              <a:t>Configure all secret passwords using type 8 or type 9 passwords</a:t>
            </a:r>
          </a:p>
          <a:p>
            <a:r>
              <a:rPr lang="en-US" sz="1800" dirty="0"/>
              <a:t>Use the enable algorithm-type command syntax to enter an unencrypted password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Use the username name algorithm-type command to specify type 9 encryption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" y="4638133"/>
            <a:ext cx="75438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" y="2875280"/>
            <a:ext cx="75247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422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Securing Line Access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895475"/>
            <a:ext cx="7429500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34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Limiting Command Availability</a:t>
            </a:r>
          </a:p>
        </p:txBody>
      </p:sp>
      <p:sp>
        <p:nvSpPr>
          <p:cNvPr id="4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749220" y="1280510"/>
            <a:ext cx="4124265" cy="223266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Levels of access commands:</a:t>
            </a:r>
          </a:p>
          <a:p>
            <a:r>
              <a:rPr lang="en-US" sz="1400" dirty="0"/>
              <a:t>User EXEC mode (privilege level 1)</a:t>
            </a:r>
          </a:p>
          <a:p>
            <a:pPr lvl="1"/>
            <a:r>
              <a:rPr lang="en-US" sz="1200" dirty="0"/>
              <a:t>Lowest EXEC mode user privileges</a:t>
            </a:r>
          </a:p>
          <a:p>
            <a:pPr lvl="1"/>
            <a:r>
              <a:rPr lang="en-US" sz="1200" dirty="0"/>
              <a:t>Only user-level command available at the router&gt; prompt</a:t>
            </a:r>
          </a:p>
          <a:p>
            <a:r>
              <a:rPr lang="en-US" sz="1400" dirty="0"/>
              <a:t>Privileged EXEC mode (privilege level 15)</a:t>
            </a:r>
          </a:p>
          <a:p>
            <a:pPr lvl="1"/>
            <a:r>
              <a:rPr lang="en-US" sz="1200" dirty="0"/>
              <a:t>All enable-level commands at the router# prompt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6" y="3726354"/>
            <a:ext cx="7170417" cy="6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82183" y="1238118"/>
            <a:ext cx="4572697" cy="206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dirty="0">
                <a:solidFill>
                  <a:schemeClr val="tx1"/>
                </a:solidFill>
              </a:rPr>
              <a:t>Privilege levels:</a:t>
            </a:r>
          </a:p>
          <a:p>
            <a:r>
              <a:rPr lang="en-US" sz="1400" dirty="0">
                <a:solidFill>
                  <a:schemeClr val="tx1"/>
                </a:solidFill>
              </a:rPr>
              <a:t>Level 0: Predefined for user-level access privileges.</a:t>
            </a:r>
          </a:p>
          <a:p>
            <a:r>
              <a:rPr lang="en-US" sz="1400" dirty="0">
                <a:solidFill>
                  <a:schemeClr val="tx1"/>
                </a:solidFill>
              </a:rPr>
              <a:t>Level 1: Default level for login with the router prompt.</a:t>
            </a:r>
          </a:p>
          <a:p>
            <a:r>
              <a:rPr lang="en-US" sz="1400" dirty="0">
                <a:solidFill>
                  <a:schemeClr val="tx1"/>
                </a:solidFill>
              </a:rPr>
              <a:t>Level 2-14: May be customized for user-level privileges.</a:t>
            </a:r>
          </a:p>
          <a:p>
            <a:r>
              <a:rPr lang="en-US" sz="1400" dirty="0">
                <a:solidFill>
                  <a:schemeClr val="tx1"/>
                </a:solidFill>
              </a:rPr>
              <a:t>Level 15: Reserved for the enable mode privileges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718626" y="1228521"/>
            <a:ext cx="0" cy="2061867"/>
          </a:xfrm>
          <a:prstGeom prst="line">
            <a:avLst/>
          </a:prstGeom>
          <a:ln w="190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 Placeholder 6"/>
          <p:cNvSpPr txBox="1">
            <a:spLocks/>
          </p:cNvSpPr>
          <p:nvPr/>
        </p:nvSpPr>
        <p:spPr>
          <a:xfrm>
            <a:off x="528636" y="3403539"/>
            <a:ext cx="5995987" cy="3550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Privilege Level Syntax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365760" y="3318524"/>
            <a:ext cx="8328660" cy="15240"/>
          </a:xfrm>
          <a:prstGeom prst="line">
            <a:avLst/>
          </a:prstGeom>
          <a:ln w="190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6" y="4368229"/>
            <a:ext cx="7112250" cy="1913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1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Limitations of Privilege Levels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26720" y="1344168"/>
            <a:ext cx="7604760" cy="4965192"/>
          </a:xfrm>
        </p:spPr>
        <p:txBody>
          <a:bodyPr/>
          <a:lstStyle/>
          <a:p>
            <a:r>
              <a:rPr lang="en-US" sz="1800" dirty="0"/>
              <a:t>No access control to specific interfaces, ports, logical interfaces, and slots on a router</a:t>
            </a:r>
          </a:p>
          <a:p>
            <a:r>
              <a:rPr lang="en-US" sz="1800" dirty="0"/>
              <a:t>Commands available at lower privilege levels are always executable at higher privilege levels</a:t>
            </a:r>
          </a:p>
          <a:p>
            <a:r>
              <a:rPr lang="en-US" sz="1800" dirty="0"/>
              <a:t>Commands specifically set at higher privilege levels are not available for lower privilege users</a:t>
            </a:r>
          </a:p>
          <a:p>
            <a:r>
              <a:rPr lang="en-US" sz="1800" dirty="0"/>
              <a:t>Assigning a command with multiple keywords allows access to all commands that use those</a:t>
            </a:r>
          </a:p>
        </p:txBody>
      </p:sp>
    </p:spTree>
    <p:extLst>
      <p:ext uri="{BB962C8B-B14F-4D97-AF65-F5344CB8AC3E}">
        <p14:creationId xmlns:p14="http://schemas.microsoft.com/office/powerpoint/2010/main" val="345105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6" descr="Diagram&#10;&#10;Description automatically generated">
            <a:extLst>
              <a:ext uri="{FF2B5EF4-FFF2-40B4-BE49-F238E27FC236}">
                <a16:creationId xmlns:a16="http://schemas.microsoft.com/office/drawing/2014/main" id="{70E75BB7-3FC5-4A8F-8954-C132AAC8337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75" r="24008" b="79613"/>
          <a:stretch>
            <a:fillRect/>
          </a:stretch>
        </p:blipFill>
        <p:spPr bwMode="auto">
          <a:xfrm>
            <a:off x="0" y="0"/>
            <a:ext cx="5029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DD9C03-03AA-47DE-87EB-4FE2C9FB0B18}"/>
              </a:ext>
            </a:extLst>
          </p:cNvPr>
          <p:cNvSpPr/>
          <p:nvPr/>
        </p:nvSpPr>
        <p:spPr bwMode="auto">
          <a:xfrm>
            <a:off x="4343400" y="-19050"/>
            <a:ext cx="4800600" cy="12801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034D05"/>
              </a:gs>
            </a:gsLst>
            <a:path path="circle">
              <a:fillToRect r="100000" b="100000"/>
            </a:path>
            <a:tileRect l="-100000" t="-100000"/>
          </a:gra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82124" tIns="41061" rIns="82124" bIns="41061" anchor="ctr"/>
          <a:lstStyle/>
          <a:p>
            <a:pPr algn="ctr" defTabSz="814388">
              <a:lnSpc>
                <a:spcPct val="90000"/>
              </a:lnSpc>
              <a:defRPr/>
            </a:pPr>
            <a:r>
              <a:rPr lang="en-US" sz="2800">
                <a:solidFill>
                  <a:srgbClr val="034D0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phamthaikhanh@gmail.com</a:t>
            </a:r>
          </a:p>
        </p:txBody>
      </p:sp>
      <p:sp>
        <p:nvSpPr>
          <p:cNvPr id="76806" name="Rectangle 16">
            <a:extLst>
              <a:ext uri="{FF2B5EF4-FFF2-40B4-BE49-F238E27FC236}">
                <a16:creationId xmlns:a16="http://schemas.microsoft.com/office/drawing/2014/main" id="{A3BE49B5-1D73-4E35-8072-E98E2E6C2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5225"/>
            <a:ext cx="9144000" cy="225425"/>
          </a:xfrm>
          <a:prstGeom prst="rect">
            <a:avLst/>
          </a:prstGeom>
          <a:solidFill>
            <a:srgbClr val="00B0F0"/>
          </a:solidFill>
          <a:ln w="28575" algn="ctr">
            <a:solidFill>
              <a:srgbClr val="00B0F0"/>
            </a:solidFill>
            <a:round/>
            <a:headEnd/>
            <a:tailEnd type="triangle" w="med" len="med"/>
          </a:ln>
        </p:spPr>
        <p:txBody>
          <a:bodyPr lIns="82124" tIns="41061" rIns="82124" bIns="41061"/>
          <a:lstStyle>
            <a:lvl1pPr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000"/>
          </a:p>
        </p:txBody>
      </p:sp>
      <p:pic>
        <p:nvPicPr>
          <p:cNvPr id="76807" name="Picture 20" descr="Icon&#10;&#10;Description automatically generated">
            <a:extLst>
              <a:ext uri="{FF2B5EF4-FFF2-40B4-BE49-F238E27FC236}">
                <a16:creationId xmlns:a16="http://schemas.microsoft.com/office/drawing/2014/main" id="{CA05779A-1B6B-47E1-AC99-2EA441F15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1390650"/>
            <a:ext cx="466407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8" name="TextBox 21">
            <a:extLst>
              <a:ext uri="{FF2B5EF4-FFF2-40B4-BE49-F238E27FC236}">
                <a16:creationId xmlns:a16="http://schemas.microsoft.com/office/drawing/2014/main" id="{B842D278-B843-48DC-AEFB-615A28247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8248650"/>
            <a:ext cx="46640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hlinkClick r:id="rId4" tooltip="https://pngimg.com/download/38094"/>
              </a:rPr>
              <a:t>This Photo</a:t>
            </a:r>
            <a:r>
              <a:rPr lang="en-US" altLang="en-US" sz="900"/>
              <a:t> by Unknown Author is licensed under </a:t>
            </a:r>
            <a:r>
              <a:rPr lang="en-US" altLang="en-US" sz="900">
                <a:hlinkClick r:id="rId5" tooltip="https://creativecommons.org/licenses/by-nc/3.0/"/>
              </a:rPr>
              <a:t>CC BY-NC</a:t>
            </a:r>
            <a:endParaRPr lang="en-US" alt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Acad_White_PPT_Template 05Oct12">
  <a:themeElements>
    <a:clrScheme name="Cisco NetAcad">
      <a:dk1>
        <a:srgbClr val="2AA7DF"/>
      </a:dk1>
      <a:lt1>
        <a:srgbClr val="FFFFFF"/>
      </a:lt1>
      <a:dk2>
        <a:srgbClr val="6B308E"/>
      </a:dk2>
      <a:lt2>
        <a:srgbClr val="000000"/>
      </a:lt2>
      <a:accent1>
        <a:srgbClr val="00938E"/>
      </a:accent1>
      <a:accent2>
        <a:srgbClr val="3EB549"/>
      </a:accent2>
      <a:accent3>
        <a:srgbClr val="D81673"/>
      </a:accent3>
      <a:accent4>
        <a:srgbClr val="234493"/>
      </a:accent4>
      <a:accent5>
        <a:srgbClr val="ED2D28"/>
      </a:accent5>
      <a:accent6>
        <a:srgbClr val="F68B21"/>
      </a:accent6>
      <a:hlink>
        <a:srgbClr val="2AA7DF"/>
      </a:hlink>
      <a:folHlink>
        <a:srgbClr val="ACB2C2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eme1">
  <a:themeElements>
    <a:clrScheme name="CLS_PPT_v6.0 12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306774"/>
      </a:accent1>
      <a:accent2>
        <a:srgbClr val="B92B38"/>
      </a:accent2>
      <a:accent3>
        <a:srgbClr val="FFFFFF"/>
      </a:accent3>
      <a:accent4>
        <a:srgbClr val="000000"/>
      </a:accent4>
      <a:accent5>
        <a:srgbClr val="ADB8BC"/>
      </a:accent5>
      <a:accent6>
        <a:srgbClr val="A72632"/>
      </a:accent6>
      <a:hlink>
        <a:srgbClr val="9999CC"/>
      </a:hlink>
      <a:folHlink>
        <a:srgbClr val="EEB30E"/>
      </a:folHlink>
    </a:clrScheme>
    <a:fontScheme name="CLS_PPT_v6.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LS_PPT_v6.0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S_PPT_v6.0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8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FF99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9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0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EEB30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06774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B8BC"/>
        </a:accent5>
        <a:accent6>
          <a:srgbClr val="A72632"/>
        </a:accent6>
        <a:hlink>
          <a:srgbClr val="9999CC"/>
        </a:hlink>
        <a:folHlink>
          <a:srgbClr val="EEB30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NetAcad_White_PPT_Template 05Oct12</Template>
  <TotalTime>2414</TotalTime>
  <Words>1360</Words>
  <Application>Microsoft Office PowerPoint</Application>
  <PresentationFormat>On-screen Show (4:3)</PresentationFormat>
  <Paragraphs>323</Paragraphs>
  <Slides>40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Ciscolight</vt:lpstr>
      <vt:lpstr>Courier New</vt:lpstr>
      <vt:lpstr>Times New Roman</vt:lpstr>
      <vt:lpstr>NetAcad_White_PPT_Template 05Oct12</vt:lpstr>
      <vt:lpstr>Theme1</vt:lpstr>
      <vt:lpstr>PowerPoint Presentation</vt:lpstr>
      <vt:lpstr>Section 1: Network Threats</vt:lpstr>
      <vt:lpstr>Drivers for Network Security</vt:lpstr>
      <vt:lpstr>The Hacker &amp; The Evolution of Hackers</vt:lpstr>
      <vt:lpstr>Evolution of Security Tools</vt:lpstr>
      <vt:lpstr>Categories of Attack Tools</vt:lpstr>
      <vt:lpstr>Viruses</vt:lpstr>
      <vt:lpstr>Trojan Horse Classification</vt:lpstr>
      <vt:lpstr>Worms</vt:lpstr>
      <vt:lpstr>Worm Components</vt:lpstr>
      <vt:lpstr>Other Malware</vt:lpstr>
      <vt:lpstr>Types of Network Attacks</vt:lpstr>
      <vt:lpstr>Reconnaissance Attacks</vt:lpstr>
      <vt:lpstr>Access Attacks</vt:lpstr>
      <vt:lpstr>Social Engineering Attacks</vt:lpstr>
      <vt:lpstr>Denial of Service Attacks</vt:lpstr>
      <vt:lpstr>DDoS Attacks</vt:lpstr>
      <vt:lpstr>  Section 2:  Mitigating Threats</vt:lpstr>
      <vt:lpstr>Confidentiality, Integrity, Availability</vt:lpstr>
      <vt:lpstr>Network Security Domains</vt:lpstr>
      <vt:lpstr>Network Security Policy</vt:lpstr>
      <vt:lpstr>Network Security Policy Objectives </vt:lpstr>
      <vt:lpstr>Defending the Network</vt:lpstr>
      <vt:lpstr>Mitigating Malware</vt:lpstr>
      <vt:lpstr>Mitigating Worms</vt:lpstr>
      <vt:lpstr>Mitigating Reconnaissance Attacks</vt:lpstr>
      <vt:lpstr>Mitigating Access Attacks</vt:lpstr>
      <vt:lpstr>Mitigating DoS Attacks</vt:lpstr>
      <vt:lpstr>  Section 3:  Securing Network Devices</vt:lpstr>
      <vt:lpstr>Securing the Network Infrastructure</vt:lpstr>
      <vt:lpstr>Three Areas of Router Security</vt:lpstr>
      <vt:lpstr>Secure Administrative Access</vt:lpstr>
      <vt:lpstr>Secure Local and Remote Access</vt:lpstr>
      <vt:lpstr>Strong Passwords</vt:lpstr>
      <vt:lpstr>Increasing Access Security</vt:lpstr>
      <vt:lpstr>Secret Password Algorithms</vt:lpstr>
      <vt:lpstr>Securing Line Access</vt:lpstr>
      <vt:lpstr>Limiting Command Availability</vt:lpstr>
      <vt:lpstr>Limitations of Privilege Levels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Relevant,  Surprising and Fresh: Cisco Brand</dc:title>
  <dc:creator>Melissa Gabriel</dc:creator>
  <cp:lastModifiedBy>Phạm Thái Khanh</cp:lastModifiedBy>
  <cp:revision>110</cp:revision>
  <dcterms:created xsi:type="dcterms:W3CDTF">2012-10-09T16:58:47Z</dcterms:created>
  <dcterms:modified xsi:type="dcterms:W3CDTF">2021-11-03T11:38:25Z</dcterms:modified>
</cp:coreProperties>
</file>