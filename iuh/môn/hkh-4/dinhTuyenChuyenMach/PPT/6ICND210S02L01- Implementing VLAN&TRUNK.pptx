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38"/>
  </p:notesMasterIdLst>
  <p:handoutMasterIdLst>
    <p:handoutMasterId r:id="rId39"/>
  </p:handoutMasterIdLst>
  <p:sldIdLst>
    <p:sldId id="272" r:id="rId2"/>
    <p:sldId id="299" r:id="rId3"/>
    <p:sldId id="275" r:id="rId4"/>
    <p:sldId id="333" r:id="rId5"/>
    <p:sldId id="300" r:id="rId6"/>
    <p:sldId id="301" r:id="rId7"/>
    <p:sldId id="322" r:id="rId8"/>
    <p:sldId id="323" r:id="rId9"/>
    <p:sldId id="327" r:id="rId10"/>
    <p:sldId id="331" r:id="rId11"/>
    <p:sldId id="328" r:id="rId12"/>
    <p:sldId id="329" r:id="rId13"/>
    <p:sldId id="324" r:id="rId14"/>
    <p:sldId id="330" r:id="rId15"/>
    <p:sldId id="311" r:id="rId16"/>
    <p:sldId id="312" r:id="rId17"/>
    <p:sldId id="282" r:id="rId18"/>
    <p:sldId id="283" r:id="rId19"/>
    <p:sldId id="325" r:id="rId20"/>
    <p:sldId id="285" r:id="rId21"/>
    <p:sldId id="286" r:id="rId22"/>
    <p:sldId id="287" r:id="rId23"/>
    <p:sldId id="288" r:id="rId24"/>
    <p:sldId id="290" r:id="rId25"/>
    <p:sldId id="291" r:id="rId26"/>
    <p:sldId id="332" r:id="rId27"/>
    <p:sldId id="292" r:id="rId28"/>
    <p:sldId id="293" r:id="rId29"/>
    <p:sldId id="294" r:id="rId30"/>
    <p:sldId id="295" r:id="rId31"/>
    <p:sldId id="296" r:id="rId32"/>
    <p:sldId id="297" r:id="rId33"/>
    <p:sldId id="320" r:id="rId34"/>
    <p:sldId id="304" r:id="rId35"/>
    <p:sldId id="261" r:id="rId36"/>
    <p:sldId id="274" r:id="rId37"/>
  </p:sldIdLst>
  <p:sldSz cx="9144000" cy="6858000" type="screen4x3"/>
  <p:notesSz cx="6858000" cy="9144000"/>
  <p:defaultTextStyle>
    <a:defPPr>
      <a:defRPr lang="en-US"/>
    </a:defPPr>
    <a:lvl1pPr algn="l" rtl="0" eaLnBrk="0" fontAlgn="base" hangingPunct="0">
      <a:lnSpc>
        <a:spcPct val="90000"/>
      </a:lnSpc>
      <a:spcBef>
        <a:spcPct val="0"/>
      </a:spcBef>
      <a:spcAft>
        <a:spcPct val="0"/>
      </a:spcAft>
      <a:defRPr sz="3000" kern="1200">
        <a:solidFill>
          <a:schemeClr val="tx1"/>
        </a:solidFill>
        <a:latin typeface="Arial" charset="0"/>
        <a:ea typeface="+mn-ea"/>
        <a:cs typeface="+mn-cs"/>
      </a:defRPr>
    </a:lvl1pPr>
    <a:lvl2pPr marL="457200" algn="l" rtl="0" eaLnBrk="0" fontAlgn="base" hangingPunct="0">
      <a:lnSpc>
        <a:spcPct val="90000"/>
      </a:lnSpc>
      <a:spcBef>
        <a:spcPct val="0"/>
      </a:spcBef>
      <a:spcAft>
        <a:spcPct val="0"/>
      </a:spcAft>
      <a:defRPr sz="3000" kern="1200">
        <a:solidFill>
          <a:schemeClr val="tx1"/>
        </a:solidFill>
        <a:latin typeface="Arial" charset="0"/>
        <a:ea typeface="+mn-ea"/>
        <a:cs typeface="+mn-cs"/>
      </a:defRPr>
    </a:lvl2pPr>
    <a:lvl3pPr marL="914400" algn="l" rtl="0" eaLnBrk="0" fontAlgn="base" hangingPunct="0">
      <a:lnSpc>
        <a:spcPct val="90000"/>
      </a:lnSpc>
      <a:spcBef>
        <a:spcPct val="0"/>
      </a:spcBef>
      <a:spcAft>
        <a:spcPct val="0"/>
      </a:spcAft>
      <a:defRPr sz="3000" kern="1200">
        <a:solidFill>
          <a:schemeClr val="tx1"/>
        </a:solidFill>
        <a:latin typeface="Arial" charset="0"/>
        <a:ea typeface="+mn-ea"/>
        <a:cs typeface="+mn-cs"/>
      </a:defRPr>
    </a:lvl3pPr>
    <a:lvl4pPr marL="1371600" algn="l" rtl="0" eaLnBrk="0" fontAlgn="base" hangingPunct="0">
      <a:lnSpc>
        <a:spcPct val="90000"/>
      </a:lnSpc>
      <a:spcBef>
        <a:spcPct val="0"/>
      </a:spcBef>
      <a:spcAft>
        <a:spcPct val="0"/>
      </a:spcAft>
      <a:defRPr sz="3000" kern="1200">
        <a:solidFill>
          <a:schemeClr val="tx1"/>
        </a:solidFill>
        <a:latin typeface="Arial" charset="0"/>
        <a:ea typeface="+mn-ea"/>
        <a:cs typeface="+mn-cs"/>
      </a:defRPr>
    </a:lvl4pPr>
    <a:lvl5pPr marL="1828800" algn="l" rtl="0" eaLnBrk="0" fontAlgn="base" hangingPunct="0">
      <a:lnSpc>
        <a:spcPct val="90000"/>
      </a:lnSpc>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y Pfitzer" initials="" lastIdx="2" clrIdx="0"/>
  <p:cmAuthor id="1" name="Cisco Systems, Inc." initials="" lastIdx="1" clrIdx="1"/>
  <p:cmAuthor id="2" name="Kayce M. Clar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0C566"/>
    <a:srgbClr val="F4CB66"/>
    <a:srgbClr val="07ADB1"/>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7073" autoAdjust="0"/>
    <p:restoredTop sz="59964" autoAdjust="0"/>
  </p:normalViewPr>
  <p:slideViewPr>
    <p:cSldViewPr snapToGrid="0">
      <p:cViewPr varScale="1">
        <p:scale>
          <a:sx n="41" d="100"/>
          <a:sy n="41" d="100"/>
        </p:scale>
        <p:origin x="2550" y="4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75" d="100"/>
        <a:sy n="75" d="100"/>
      </p:scale>
      <p:origin x="0" y="2088"/>
    </p:cViewPr>
  </p:sorterViewPr>
  <p:gridSpacing cx="91439" cy="9143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slide" Target="slides/slide18.xml"/><Relationship Id="rId1" Type="http://schemas.openxmlformats.org/officeDocument/2006/relationships/slide" Target="slides/slide8.xml"/><Relationship Id="rId4"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b="1"/>
            </a:lvl1pPr>
          </a:lstStyle>
          <a:p>
            <a:endParaRPr lang="en-US"/>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b="1"/>
            </a:lvl1pPr>
          </a:lstStyle>
          <a:p>
            <a:endParaRPr lang="en-US"/>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b="1"/>
            </a:lvl1pPr>
          </a:lstStyle>
          <a:p>
            <a:endParaRPr lang="en-US"/>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b="1"/>
            </a:lvl1pPr>
          </a:lstStyle>
          <a:p>
            <a:fld id="{C9E2218D-C693-4822-B2EC-2A0DBE6E241B}" type="slidenum">
              <a:rPr lang="en-US"/>
              <a:pPr/>
              <a:t>‹#›</a:t>
            </a:fld>
            <a:endParaRPr lang="en-US"/>
          </a:p>
        </p:txBody>
      </p:sp>
    </p:spTree>
    <p:extLst>
      <p:ext uri="{BB962C8B-B14F-4D97-AF65-F5344CB8AC3E}">
        <p14:creationId xmlns:p14="http://schemas.microsoft.com/office/powerpoint/2010/main" val="821483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b="1"/>
            </a:lvl1pPr>
          </a:lstStyle>
          <a:p>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b="1"/>
            </a:lvl1pPr>
          </a:lstStyle>
          <a:p>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b="1"/>
            </a:lvl1pPr>
          </a:lstStyle>
          <a:p>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b="1"/>
            </a:lvl1pPr>
          </a:lstStyle>
          <a:p>
            <a:fld id="{E671881D-4AE9-466C-A7DE-D9DB87CBE77C}" type="slidenum">
              <a:rPr lang="en-US"/>
              <a:pPr/>
              <a:t>‹#›</a:t>
            </a:fld>
            <a:endParaRPr lang="en-US"/>
          </a:p>
        </p:txBody>
      </p:sp>
    </p:spTree>
    <p:extLst>
      <p:ext uri="{BB962C8B-B14F-4D97-AF65-F5344CB8AC3E}">
        <p14:creationId xmlns:p14="http://schemas.microsoft.com/office/powerpoint/2010/main" val="215090490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9F7537-EBAA-4A7D-9B2F-E232658B50C4}" type="slidenum">
              <a:rPr lang="en-US"/>
              <a:pPr/>
              <a:t>1</a:t>
            </a:fld>
            <a:endParaRPr lang="en-US"/>
          </a:p>
        </p:txBody>
      </p:sp>
      <p:sp>
        <p:nvSpPr>
          <p:cNvPr id="47106" name="Rectangle 2"/>
          <p:cNvSpPr>
            <a:spLocks noGrp="1" noRot="1" noChangeAspect="1" noChangeArrowheads="1" noTextEdit="1"/>
          </p:cNvSpPr>
          <p:nvPr>
            <p:ph type="sldImg"/>
          </p:nvPr>
        </p:nvSpPr>
        <p:spPr>
          <a:xfrm>
            <a:off x="841375" y="241300"/>
            <a:ext cx="5233988" cy="3925888"/>
          </a:xfrm>
          <a:ln/>
        </p:spPr>
      </p:sp>
      <p:sp>
        <p:nvSpPr>
          <p:cNvPr id="47107" name="Rectangle 3"/>
          <p:cNvSpPr>
            <a:spLocks noGrp="1" noChangeArrowheads="1"/>
          </p:cNvSpPr>
          <p:nvPr>
            <p:ph type="body" idx="1"/>
          </p:nvPr>
        </p:nvSpPr>
        <p:spPr>
          <a:xfrm>
            <a:off x="395288" y="4305300"/>
            <a:ext cx="5988050" cy="4184650"/>
          </a:xfrm>
        </p:spPr>
        <p:txBody>
          <a:bodyPr/>
          <a:lstStyle/>
          <a:p>
            <a:pPr marL="112713" indent="-112713" defTabSz="1020763"/>
            <a:r>
              <a:rPr lang="en-GB" smtClean="0"/>
              <a:t>Thực hiện Xây dựng mạng Medium-Sized Switched</a:t>
            </a:r>
            <a:endParaRPr lang="en-GB"/>
          </a:p>
        </p:txBody>
      </p:sp>
    </p:spTree>
    <p:extLst>
      <p:ext uri="{BB962C8B-B14F-4D97-AF65-F5344CB8AC3E}">
        <p14:creationId xmlns:p14="http://schemas.microsoft.com/office/powerpoint/2010/main" val="455857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EA6FC5-EC9D-4889-9071-D432D8D4012A}" type="slidenum">
              <a:rPr lang="en-US"/>
              <a:pPr/>
              <a:t>2</a:t>
            </a:fld>
            <a:endParaRPr lang="en-US"/>
          </a:p>
        </p:txBody>
      </p:sp>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p:txBody>
          <a:bodyPr/>
          <a:lstStyle/>
          <a:p>
            <a:r>
              <a:rPr lang="vi-VN" smtClean="0"/>
              <a:t>Các vấn đề trong một mạng kém thiết kế</a:t>
            </a:r>
          </a:p>
          <a:p>
            <a:endParaRPr lang="vi-VN" smtClean="0"/>
          </a:p>
          <a:p>
            <a:r>
              <a:rPr lang="en-US" smtClean="0"/>
              <a:t>Không</a:t>
            </a:r>
            <a:r>
              <a:rPr lang="en-US" baseline="0" smtClean="0"/>
              <a:t> giới hạn quản lý đuoc vung quảng bá</a:t>
            </a:r>
            <a:endParaRPr lang="vi-VN" smtClean="0"/>
          </a:p>
          <a:p>
            <a:r>
              <a:rPr lang="en-US" smtClean="0"/>
              <a:t>Vùng</a:t>
            </a:r>
            <a:r>
              <a:rPr lang="en-US" baseline="0" smtClean="0"/>
              <a:t> </a:t>
            </a:r>
            <a:r>
              <a:rPr lang="vi-VN" smtClean="0"/>
              <a:t>phát </a:t>
            </a:r>
            <a:r>
              <a:rPr lang="en-US" smtClean="0"/>
              <a:t>broadcast </a:t>
            </a:r>
            <a:r>
              <a:rPr lang="vi-VN" smtClean="0"/>
              <a:t>lớn</a:t>
            </a:r>
          </a:p>
          <a:p>
            <a:r>
              <a:rPr lang="en-US" smtClean="0"/>
              <a:t>Tạo</a:t>
            </a:r>
            <a:r>
              <a:rPr lang="en-US" baseline="0" smtClean="0"/>
              <a:t> ra một vùng lớn </a:t>
            </a:r>
            <a:r>
              <a:rPr lang="vi-VN" smtClean="0"/>
              <a:t>unicast</a:t>
            </a:r>
            <a:r>
              <a:rPr lang="en-US" smtClean="0"/>
              <a:t> traffic dẩn</a:t>
            </a:r>
            <a:r>
              <a:rPr lang="en-US" baseline="0" smtClean="0"/>
              <a:t> đến không quản lý được mac</a:t>
            </a:r>
          </a:p>
        </p:txBody>
      </p:sp>
    </p:spTree>
    <p:extLst>
      <p:ext uri="{BB962C8B-B14F-4D97-AF65-F5344CB8AC3E}">
        <p14:creationId xmlns:p14="http://schemas.microsoft.com/office/powerpoint/2010/main" val="1863845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714CF5-2E30-4844-96AB-C7FED232B725}" type="slidenum">
              <a:rPr lang="en-US"/>
              <a:pPr/>
              <a:t>3</a:t>
            </a:fld>
            <a:endParaRPr lang="en-US"/>
          </a:p>
        </p:txBody>
      </p:sp>
      <p:sp>
        <p:nvSpPr>
          <p:cNvPr id="101378" name="Rectangle 2"/>
          <p:cNvSpPr>
            <a:spLocks noGrp="1" noRot="1" noChangeAspect="1" noChangeArrowheads="1" noTextEdit="1"/>
          </p:cNvSpPr>
          <p:nvPr>
            <p:ph type="sldImg"/>
          </p:nvPr>
        </p:nvSpPr>
        <p:spPr>
          <a:xfrm>
            <a:off x="1092200" y="301625"/>
            <a:ext cx="4700588" cy="3525838"/>
          </a:xfrm>
          <a:ln/>
        </p:spPr>
      </p:sp>
      <p:sp>
        <p:nvSpPr>
          <p:cNvPr id="101379" name="Rectangle 3"/>
          <p:cNvSpPr>
            <a:spLocks noGrp="1" noChangeArrowheads="1"/>
          </p:cNvSpPr>
          <p:nvPr>
            <p:ph type="body" idx="1"/>
          </p:nvPr>
        </p:nvSpPr>
        <p:spPr>
          <a:xfrm>
            <a:off x="523875" y="4052888"/>
            <a:ext cx="5835650" cy="4579937"/>
          </a:xfrm>
        </p:spPr>
        <p:txBody>
          <a:bodyPr/>
          <a:lstStyle/>
          <a:p>
            <a:r>
              <a:rPr lang="vi-VN" b="1" smtClean="0"/>
              <a:t>Phân đoạn </a:t>
            </a:r>
            <a:r>
              <a:rPr lang="en-US" b="1" smtClean="0"/>
              <a:t>mạng</a:t>
            </a:r>
            <a:r>
              <a:rPr lang="en-US" b="1" baseline="0" smtClean="0"/>
              <a:t> nhỏ hơn</a:t>
            </a:r>
            <a:endParaRPr lang="vi-VN" b="1" smtClean="0"/>
          </a:p>
          <a:p>
            <a:r>
              <a:rPr lang="vi-VN" b="1" smtClean="0"/>
              <a:t>Tính linh hoạt</a:t>
            </a:r>
          </a:p>
          <a:p>
            <a:r>
              <a:rPr lang="en-US" b="1" smtClean="0"/>
              <a:t>Đảm bảo</a:t>
            </a:r>
            <a:r>
              <a:rPr lang="en-US" b="1" baseline="0" smtClean="0"/>
              <a:t> </a:t>
            </a:r>
            <a:r>
              <a:rPr lang="vi-VN" b="1" smtClean="0"/>
              <a:t>an ninh</a:t>
            </a:r>
            <a:endParaRPr lang="en-US" b="1" smtClean="0"/>
          </a:p>
          <a:p>
            <a:r>
              <a:rPr lang="en-US" b="1" smtClean="0"/>
              <a:t>Emphasize</a:t>
            </a:r>
            <a:r>
              <a:rPr lang="en-US" b="1"/>
              <a:t>: </a:t>
            </a:r>
            <a:r>
              <a:rPr lang="en-US"/>
              <a:t>A VLAN is a broadcast domain.</a:t>
            </a:r>
            <a:r>
              <a:rPr lang="en-US" b="1"/>
              <a:t> </a:t>
            </a:r>
          </a:p>
          <a:p>
            <a:r>
              <a:rPr lang="en-US" b="1"/>
              <a:t>Note: </a:t>
            </a:r>
            <a:r>
              <a:rPr lang="en-US"/>
              <a:t>In order to have inter-VLAN communications, a router is required.</a:t>
            </a:r>
          </a:p>
          <a:p>
            <a:endParaRPr lang="en-US"/>
          </a:p>
        </p:txBody>
      </p:sp>
    </p:spTree>
    <p:extLst>
      <p:ext uri="{BB962C8B-B14F-4D97-AF65-F5344CB8AC3E}">
        <p14:creationId xmlns:p14="http://schemas.microsoft.com/office/powerpoint/2010/main" val="540398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Việc</a:t>
            </a:r>
            <a:r>
              <a:rPr lang="en-US" baseline="0" smtClean="0"/>
              <a:t> đi vào thiết kế một hệ thống vlan chúng ta cần phải thực hiện việc khảo sát mô hình mạng của hệ htống một cách chi tiết và cần thiết kế một cách bài bản theo mô hình phân cấp</a:t>
            </a:r>
          </a:p>
          <a:p>
            <a:endParaRPr lang="en-US" smtClean="0"/>
          </a:p>
          <a:p>
            <a:r>
              <a:rPr lang="en-US" smtClean="0"/>
              <a:t>Dễ quản lý và xử lý sự cố</a:t>
            </a:r>
          </a:p>
          <a:p>
            <a:r>
              <a:rPr lang="en-US" smtClean="0"/>
              <a:t>Hạn chế tối đa các lỗi</a:t>
            </a:r>
          </a:p>
          <a:p>
            <a:r>
              <a:rPr lang="en-US" smtClean="0"/>
              <a:t>Giảm số mục bảng định tuyến</a:t>
            </a:r>
            <a:endParaRPr lang="en-US"/>
          </a:p>
        </p:txBody>
      </p:sp>
      <p:sp>
        <p:nvSpPr>
          <p:cNvPr id="4" name="Slide Number Placeholder 3"/>
          <p:cNvSpPr>
            <a:spLocks noGrp="1"/>
          </p:cNvSpPr>
          <p:nvPr>
            <p:ph type="sldNum" sz="quarter" idx="10"/>
          </p:nvPr>
        </p:nvSpPr>
        <p:spPr/>
        <p:txBody>
          <a:bodyPr/>
          <a:lstStyle/>
          <a:p>
            <a:fld id="{E671881D-4AE9-466C-A7DE-D9DB87CBE77C}" type="slidenum">
              <a:rPr lang="en-US" smtClean="0"/>
              <a:pPr/>
              <a:t>4</a:t>
            </a:fld>
            <a:endParaRPr lang="en-US"/>
          </a:p>
        </p:txBody>
      </p:sp>
    </p:spTree>
    <p:extLst>
      <p:ext uri="{BB962C8B-B14F-4D97-AF65-F5344CB8AC3E}">
        <p14:creationId xmlns:p14="http://schemas.microsoft.com/office/powerpoint/2010/main" val="3349876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52B67E-9C00-484C-92DD-BC629D31C53C}" type="slidenum">
              <a:rPr lang="en-US"/>
              <a:pPr/>
              <a:t>5</a:t>
            </a:fld>
            <a:endParaRPr lang="en-US"/>
          </a:p>
        </p:txBody>
      </p:sp>
      <p:sp>
        <p:nvSpPr>
          <p:cNvPr id="175106" name="Rectangle 2"/>
          <p:cNvSpPr>
            <a:spLocks noGrp="1" noRot="1" noChangeAspect="1" noChangeArrowheads="1" noTextEdit="1"/>
          </p:cNvSpPr>
          <p:nvPr>
            <p:ph type="sldImg"/>
          </p:nvPr>
        </p:nvSpPr>
        <p:spPr>
          <a:xfrm>
            <a:off x="842963" y="241300"/>
            <a:ext cx="5233987" cy="3925888"/>
          </a:xfrm>
          <a:ln/>
        </p:spPr>
      </p:sp>
      <p:sp>
        <p:nvSpPr>
          <p:cNvPr id="175107" name="Rectangle 3"/>
          <p:cNvSpPr>
            <a:spLocks noGrp="1" noChangeArrowheads="1"/>
          </p:cNvSpPr>
          <p:nvPr>
            <p:ph type="body" idx="1"/>
          </p:nvPr>
        </p:nvSpPr>
        <p:spPr>
          <a:xfrm>
            <a:off x="395288" y="4306888"/>
            <a:ext cx="5989637" cy="4181475"/>
          </a:xfrm>
        </p:spPr>
        <p:txBody>
          <a:bodyPr lIns="89931" tIns="44966" rIns="89931" bIns="44966"/>
          <a:lstStyle/>
          <a:p>
            <a:r>
              <a:rPr lang="en-US" smtClean="0"/>
              <a:t>Việc</a:t>
            </a:r>
            <a:r>
              <a:rPr lang="en-US" baseline="0" smtClean="0"/>
              <a:t> gán </a:t>
            </a:r>
            <a:r>
              <a:rPr lang="vi-VN" smtClean="0"/>
              <a:t>áp dụng Địa chỉ </a:t>
            </a:r>
            <a:r>
              <a:rPr lang="en-US" smtClean="0"/>
              <a:t>không</a:t>
            </a:r>
            <a:r>
              <a:rPr lang="en-US" baseline="0" smtClean="0"/>
              <a:t> gian địa chỉ ip cho vlan</a:t>
            </a:r>
          </a:p>
          <a:p>
            <a:endParaRPr lang="vi-VN" smtClean="0"/>
          </a:p>
          <a:p>
            <a:r>
              <a:rPr lang="vi-VN" smtClean="0"/>
              <a:t>Phân bổ một subnet IP cho mỗi VLAN.</a:t>
            </a:r>
          </a:p>
          <a:p>
            <a:r>
              <a:rPr lang="vi-VN" smtClean="0"/>
              <a:t>Phân bổ không gian địa chỉ IP trong khối tiếp giáp.</a:t>
            </a:r>
            <a:endParaRPr lang="en-US"/>
          </a:p>
        </p:txBody>
      </p:sp>
    </p:spTree>
    <p:extLst>
      <p:ext uri="{BB962C8B-B14F-4D97-AF65-F5344CB8AC3E}">
        <p14:creationId xmlns:p14="http://schemas.microsoft.com/office/powerpoint/2010/main" val="564632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78FF85-A9D0-496D-9F2C-99734B33BF0D}" type="slidenum">
              <a:rPr lang="en-US"/>
              <a:pPr/>
              <a:t>6</a:t>
            </a:fld>
            <a:endParaRPr lang="en-US"/>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r>
              <a:rPr lang="en-US" smtClean="0"/>
              <a:t>Traffic types to consider </a:t>
            </a:r>
            <a:br>
              <a:rPr lang="en-US" smtClean="0"/>
            </a:br>
            <a:r>
              <a:rPr lang="en-US" smtClean="0"/>
              <a:t>when designating VLANs:</a:t>
            </a:r>
          </a:p>
          <a:p>
            <a:r>
              <a:rPr lang="en-US" smtClean="0"/>
              <a:t>Network management</a:t>
            </a:r>
          </a:p>
          <a:p>
            <a:r>
              <a:rPr lang="en-US" smtClean="0"/>
              <a:t>IP telephony</a:t>
            </a:r>
          </a:p>
          <a:p>
            <a:r>
              <a:rPr lang="en-US" smtClean="0"/>
              <a:t>IP Multicast</a:t>
            </a:r>
          </a:p>
          <a:p>
            <a:r>
              <a:rPr lang="en-US" smtClean="0"/>
              <a:t>Normal data</a:t>
            </a:r>
          </a:p>
          <a:p>
            <a:r>
              <a:rPr lang="en-US" smtClean="0"/>
              <a:t>Scavenger class:</a:t>
            </a:r>
            <a:r>
              <a:rPr lang="en-US" baseline="0" smtClean="0"/>
              <a:t> Scavenger class is intended for undesirable traffic (i.e., virus, worms, etc.) and non-productive or employee-distracting applications. We used to be able to include bit-torrent traffic and social networking web sites in this, but bit-torrents are becoming common for downloading large files (e.g., Linux distributions), and many companies use social networking sites (Facebook, YouTube, Linked-in, etc.) for marketing and support information.</a:t>
            </a:r>
          </a:p>
          <a:p>
            <a:r>
              <a:rPr lang="vi-VN" smtClean="0"/>
              <a:t>Lớp Scavenger là dành cho giao thông không mong muốn (tức là, virus, sâu, vv) và các ứng dụng phi sản xuất hoặc nhân viên mất tập trung. Chúng tôi sử dụng để có thể bao gồm giao thông bit-torrent và các trang web mạng xã hội trong việc này, nhưng bit-torrent đang trở nên phổ biến để tải về các tập tin lớn (ví dụ, các bản phân phối Linux), và nhiều công ty sử dụng các trang web mạng xã hội (Facebook, YouTube, Liên Kết -in, vv) để tiếp thị và hỗ trợ thông tin.</a:t>
            </a:r>
            <a:endParaRPr lang="en-US"/>
          </a:p>
        </p:txBody>
      </p:sp>
    </p:spTree>
    <p:extLst>
      <p:ext uri="{BB962C8B-B14F-4D97-AF65-F5344CB8AC3E}">
        <p14:creationId xmlns:p14="http://schemas.microsoft.com/office/powerpoint/2010/main" val="1108175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B07507-B527-4DAD-8546-1E149CB7D077}" type="slidenum">
              <a:rPr lang="en-US"/>
              <a:pPr/>
              <a:t>7</a:t>
            </a:fld>
            <a:endParaRPr lang="en-US"/>
          </a:p>
        </p:txBody>
      </p:sp>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95298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54BB46-8F23-49F9-8B03-7C43A56B3A80}" type="slidenum">
              <a:rPr lang="en-US"/>
              <a:pPr/>
              <a:t>8</a:t>
            </a:fld>
            <a:endParaRPr lang="en-US"/>
          </a:p>
        </p:txBody>
      </p:sp>
      <p:sp>
        <p:nvSpPr>
          <p:cNvPr id="232450" name="Rectangle 2"/>
          <p:cNvSpPr>
            <a:spLocks noGrp="1" noRot="1" noChangeAspect="1" noChangeArrowheads="1" noTextEdit="1"/>
          </p:cNvSpPr>
          <p:nvPr>
            <p:ph type="sldImg"/>
          </p:nvPr>
        </p:nvSpPr>
        <p:spPr>
          <a:xfrm>
            <a:off x="1092200" y="301625"/>
            <a:ext cx="4700588" cy="3525838"/>
          </a:xfrm>
          <a:ln/>
        </p:spPr>
      </p:sp>
      <p:sp>
        <p:nvSpPr>
          <p:cNvPr id="232451" name="Rectangle 3"/>
          <p:cNvSpPr>
            <a:spLocks noGrp="1" noChangeArrowheads="1"/>
          </p:cNvSpPr>
          <p:nvPr>
            <p:ph type="body" idx="1"/>
          </p:nvPr>
        </p:nvSpPr>
        <p:spPr>
          <a:xfrm>
            <a:off x="523875" y="4052888"/>
            <a:ext cx="5835650" cy="4579937"/>
          </a:xfrm>
        </p:spPr>
        <p:txBody>
          <a:bodyPr/>
          <a:lstStyle/>
          <a:p>
            <a:r>
              <a:rPr lang="en-US" b="1"/>
              <a:t>Note: </a:t>
            </a:r>
            <a:r>
              <a:rPr lang="en-US"/>
              <a:t>Once a port has been assigned to a VLAN, it cannot send or receive traffic from devices in another VLAN without the intervention of a Layer 3 device like a router.</a:t>
            </a:r>
            <a:endParaRPr lang="en-US" b="1"/>
          </a:p>
          <a:p>
            <a:r>
              <a:rPr lang="en-US"/>
              <a:t>The 1900 can’t be configure as the VMPS. </a:t>
            </a:r>
          </a:p>
          <a:p>
            <a:r>
              <a:rPr lang="en-US"/>
              <a:t>A CiscoWorks 2000 or CWSI management station or a Catalyst 5000 switch can be configured as the VMPS.</a:t>
            </a:r>
          </a:p>
          <a:p>
            <a:r>
              <a:rPr lang="en-US"/>
              <a:t>In the future, dynamic VLANs may also offer membership based on other criteria such as protocol or application. Dynamic VLANs are covered in the Managing Cisco Switched Internetworks class.</a:t>
            </a:r>
          </a:p>
        </p:txBody>
      </p:sp>
    </p:spTree>
    <p:extLst>
      <p:ext uri="{BB962C8B-B14F-4D97-AF65-F5344CB8AC3E}">
        <p14:creationId xmlns:p14="http://schemas.microsoft.com/office/powerpoint/2010/main" val="2238938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6" name="Rectangle 4"/>
          <p:cNvSpPr>
            <a:spLocks noGrp="1" noRot="1" noChangeAspect="1" noChangeArrowheads="1" noTextEdit="1"/>
          </p:cNvSpPr>
          <p:nvPr>
            <p:ph type="sldImg"/>
          </p:nvPr>
        </p:nvSpPr>
        <p:spPr>
          <a:ln/>
        </p:spPr>
      </p:sp>
      <p:sp>
        <p:nvSpPr>
          <p:cNvPr id="335877" name="Rectangle 5"/>
          <p:cNvSpPr>
            <a:spLocks noGrp="1" noChangeArrowheads="1"/>
          </p:cNvSpPr>
          <p:nvPr>
            <p:ph type="body" idx="1"/>
          </p:nvPr>
        </p:nvSpPr>
        <p:spPr/>
        <p:txBody>
          <a:bodyPr/>
          <a:lstStyle/>
          <a:p>
            <a:r>
              <a:rPr lang="en-US" b="1"/>
              <a:t>Slide 1 of 1 </a:t>
            </a:r>
          </a:p>
          <a:p>
            <a:r>
              <a:rPr lang="en-US" b="1"/>
              <a:t>Purpose:  </a:t>
            </a:r>
          </a:p>
          <a:p>
            <a:r>
              <a:rPr lang="en-US" b="1"/>
              <a:t>Emphasize: </a:t>
            </a:r>
          </a:p>
          <a:p>
            <a:r>
              <a:rPr lang="en-US" b="1"/>
              <a:t>Note: </a:t>
            </a:r>
          </a:p>
          <a:p>
            <a:r>
              <a:rPr lang="en-US"/>
              <a:t>Once a port has been assigned to a VLAN, it can not send or receive traffic from devices in another VLAN without the intervention of a layer 3 device like a router.</a:t>
            </a:r>
            <a:endParaRPr lang="en-US" b="1"/>
          </a:p>
          <a:p>
            <a:r>
              <a:rPr lang="en-US"/>
              <a:t>The 1900 can’t be configure as the VMPS. </a:t>
            </a:r>
          </a:p>
          <a:p>
            <a:r>
              <a:rPr lang="en-US"/>
              <a:t>A CiscoWorks 2000 or CWSI management station or a Cat 5000 switch can be configured as the VMPS.</a:t>
            </a:r>
          </a:p>
          <a:p>
            <a:r>
              <a:rPr lang="en-US"/>
              <a:t>In the future, dynamic VLANs may also offer membership based on other criteria such as protocol or application. Dynamic VLANs are covered in the Managing Cisco Switched Internetworks class.</a:t>
            </a:r>
          </a:p>
        </p:txBody>
      </p:sp>
    </p:spTree>
    <p:extLst>
      <p:ext uri="{BB962C8B-B14F-4D97-AF65-F5344CB8AC3E}">
        <p14:creationId xmlns:p14="http://schemas.microsoft.com/office/powerpoint/2010/main" val="1662383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1026"/>
          <p:cNvSpPr>
            <a:spLocks noGrp="1" noRot="1" noChangeAspect="1" noChangeArrowheads="1" noTextEdit="1"/>
          </p:cNvSpPr>
          <p:nvPr>
            <p:ph type="sldImg"/>
          </p:nvPr>
        </p:nvSpPr>
        <p:spPr>
          <a:xfrm>
            <a:off x="1103313" y="301625"/>
            <a:ext cx="4700587" cy="3525838"/>
          </a:xfrm>
          <a:ln/>
        </p:spPr>
      </p:sp>
      <p:sp>
        <p:nvSpPr>
          <p:cNvPr id="337923" name="Rectangle 1027"/>
          <p:cNvSpPr>
            <a:spLocks noGrp="1" noChangeArrowheads="1"/>
          </p:cNvSpPr>
          <p:nvPr>
            <p:ph type="body" idx="1"/>
          </p:nvPr>
        </p:nvSpPr>
        <p:spPr/>
        <p:txBody>
          <a:bodyPr/>
          <a:lstStyle/>
          <a:p>
            <a:r>
              <a:rPr lang="en-US" b="1"/>
              <a:t>Slide 1 of 1 </a:t>
            </a:r>
          </a:p>
          <a:p>
            <a:r>
              <a:rPr lang="en-US" b="1"/>
              <a:t>Purpose:  </a:t>
            </a:r>
          </a:p>
          <a:p>
            <a:r>
              <a:rPr lang="en-US" b="1"/>
              <a:t>Emphasize:</a:t>
            </a:r>
          </a:p>
          <a:p>
            <a:r>
              <a:rPr lang="en-US" b="1"/>
              <a:t>Note:</a:t>
            </a:r>
          </a:p>
          <a:p>
            <a:r>
              <a:rPr lang="en-US"/>
              <a:t>The 1900 only supports ISL trunking. </a:t>
            </a:r>
          </a:p>
          <a:p>
            <a:r>
              <a:rPr lang="en-US"/>
              <a:t>ISL is Cisco Proprietary. 802.1Q is an IEEE standard.</a:t>
            </a:r>
          </a:p>
          <a:p>
            <a:endParaRPr lang="en-US"/>
          </a:p>
          <a:p>
            <a:r>
              <a:rPr lang="en-US"/>
              <a:t>Other trunk types:</a:t>
            </a:r>
          </a:p>
          <a:p>
            <a:r>
              <a:rPr lang="en-US"/>
              <a:t>LANE (VLANSs over ATM)</a:t>
            </a:r>
          </a:p>
          <a:p>
            <a:r>
              <a:rPr lang="en-US"/>
              <a:t>802.10 (FDDI trunk</a:t>
            </a:r>
            <a:r>
              <a:rPr lang="en-US" smtClean="0"/>
              <a:t>)</a:t>
            </a:r>
          </a:p>
          <a:p>
            <a:endParaRPr lang="en-US" smtClean="0"/>
          </a:p>
          <a:p>
            <a:r>
              <a:rPr lang="en-US" smtClean="0"/>
              <a:t>Tối ưu</a:t>
            </a:r>
            <a:r>
              <a:rPr lang="en-US" baseline="0" smtClean="0"/>
              <a:t> các tính hiệu truyền giữ các chương trình ứng dụng bằng cách nhóm chúng lại theo từng vlanID</a:t>
            </a:r>
          </a:p>
          <a:p>
            <a:r>
              <a:rPr lang="en-US" baseline="0" smtClean="0"/>
              <a:t>Từ đó tránh được việc các client khác tiếp nhận sử lý ác tính hiệu không phải gửi cho mình</a:t>
            </a:r>
            <a:r>
              <a:rPr lang="en-US" baseline="0"/>
              <a:t> </a:t>
            </a:r>
            <a:r>
              <a:rPr lang="en-US" baseline="0" smtClean="0"/>
              <a:t>các client cũng không cần biết sự tồn tại của ISL header</a:t>
            </a:r>
          </a:p>
          <a:p>
            <a:r>
              <a:rPr lang="en-US" baseline="0" smtClean="0"/>
              <a:t>Như vậy tính hiệu quả thể hiện việc truyền tính hiệu giữa các switch, và truyền thông swich </a:t>
            </a:r>
            <a:r>
              <a:rPr lang="en-US" baseline="0" smtClean="0">
                <a:sym typeface="Wingdings" panose="05000000000000000000" pitchFamily="2" charset="2"/>
              </a:rPr>
              <a:t> </a:t>
            </a:r>
            <a:r>
              <a:rPr lang="en-US" baseline="0" smtClean="0"/>
              <a:t>ruoter và </a:t>
            </a:r>
            <a:r>
              <a:rPr lang="en-US" sz="1200" smtClean="0"/>
              <a:t>switches and servers </a:t>
            </a:r>
            <a:endParaRPr lang="en-US" baseline="0" smtClean="0"/>
          </a:p>
        </p:txBody>
      </p:sp>
    </p:spTree>
    <p:extLst>
      <p:ext uri="{BB962C8B-B14F-4D97-AF65-F5344CB8AC3E}">
        <p14:creationId xmlns:p14="http://schemas.microsoft.com/office/powerpoint/2010/main" val="1636673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050"/>
          <p:cNvSpPr>
            <a:spLocks noGrp="1" noRot="1" noChangeAspect="1" noChangeArrowheads="1" noTextEdit="1"/>
          </p:cNvSpPr>
          <p:nvPr>
            <p:ph type="sldImg"/>
          </p:nvPr>
        </p:nvSpPr>
        <p:spPr>
          <a:xfrm>
            <a:off x="1103313" y="301625"/>
            <a:ext cx="4700587" cy="3525838"/>
          </a:xfrm>
          <a:ln/>
        </p:spPr>
      </p:sp>
      <p:sp>
        <p:nvSpPr>
          <p:cNvPr id="339971" name="Rectangle 2051"/>
          <p:cNvSpPr>
            <a:spLocks noGrp="1" noChangeArrowheads="1"/>
          </p:cNvSpPr>
          <p:nvPr>
            <p:ph type="body" idx="1"/>
          </p:nvPr>
        </p:nvSpPr>
        <p:spPr/>
        <p:txBody>
          <a:bodyPr/>
          <a:lstStyle/>
          <a:p>
            <a:r>
              <a:rPr lang="en-US" b="1"/>
              <a:t>Slide 1 of 1 </a:t>
            </a:r>
          </a:p>
          <a:p>
            <a:r>
              <a:rPr lang="en-US" b="1"/>
              <a:t>Purpose:  </a:t>
            </a:r>
          </a:p>
          <a:p>
            <a:r>
              <a:rPr lang="en-US" b="1"/>
              <a:t>Emphasize: </a:t>
            </a:r>
          </a:p>
          <a:p>
            <a:r>
              <a:rPr lang="en-US" b="1"/>
              <a:t>Note:</a:t>
            </a:r>
          </a:p>
          <a:p>
            <a:r>
              <a:rPr lang="en-US"/>
              <a:t>Since ISL technology is implemented in ASICs, frames are tagged at wire speed. </a:t>
            </a:r>
          </a:p>
          <a:p>
            <a:r>
              <a:rPr lang="en-US"/>
              <a:t>The number of VLANs supported by a switch depends on the switch hardware. </a:t>
            </a:r>
          </a:p>
          <a:p>
            <a:r>
              <a:rPr lang="en-US"/>
              <a:t>The Catalyst 1900en supports 64 active VLANs with an instance of STP per VLAN.</a:t>
            </a:r>
          </a:p>
          <a:p>
            <a:r>
              <a:rPr lang="en-US"/>
              <a:t>PVST = Per VLAN Spanning Tree. PVST is a Cisco proprietary implementation. It requires Cisco ISL encapsulation in order to work. </a:t>
            </a:r>
          </a:p>
          <a:p>
            <a:endParaRPr lang="en-US"/>
          </a:p>
        </p:txBody>
      </p:sp>
    </p:spTree>
    <p:extLst>
      <p:ext uri="{BB962C8B-B14F-4D97-AF65-F5344CB8AC3E}">
        <p14:creationId xmlns:p14="http://schemas.microsoft.com/office/powerpoint/2010/main" val="3099202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BDCC0B-04B4-428C-AE28-D8C6FBA9BC2B}" type="slidenum">
              <a:rPr lang="en-US"/>
              <a:pPr/>
              <a:t>13</a:t>
            </a:fld>
            <a:endParaRPr lang="en-US"/>
          </a:p>
        </p:txBody>
      </p:sp>
      <p:sp>
        <p:nvSpPr>
          <p:cNvPr id="234498" name="Rectangle 2"/>
          <p:cNvSpPr>
            <a:spLocks noGrp="1" noRot="1" noChangeAspect="1" noChangeArrowheads="1" noTextEdit="1"/>
          </p:cNvSpPr>
          <p:nvPr>
            <p:ph type="sldImg"/>
          </p:nvPr>
        </p:nvSpPr>
        <p:spPr>
          <a:xfrm>
            <a:off x="1093788" y="301625"/>
            <a:ext cx="4700587" cy="3525838"/>
          </a:xfrm>
          <a:ln/>
        </p:spPr>
      </p:sp>
      <p:sp>
        <p:nvSpPr>
          <p:cNvPr id="234499" name="Rectangle 3"/>
          <p:cNvSpPr>
            <a:spLocks noGrp="1" noChangeArrowheads="1"/>
          </p:cNvSpPr>
          <p:nvPr>
            <p:ph type="body" idx="1"/>
          </p:nvPr>
        </p:nvSpPr>
        <p:spPr>
          <a:xfrm>
            <a:off x="523875" y="4052888"/>
            <a:ext cx="5835650" cy="4579937"/>
          </a:xfrm>
        </p:spPr>
        <p:txBody>
          <a:bodyPr/>
          <a:lstStyle/>
          <a:p>
            <a:endParaRPr lang="en-US"/>
          </a:p>
        </p:txBody>
      </p:sp>
    </p:spTree>
    <p:extLst>
      <p:ext uri="{BB962C8B-B14F-4D97-AF65-F5344CB8AC3E}">
        <p14:creationId xmlns:p14="http://schemas.microsoft.com/office/powerpoint/2010/main" val="3485540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633F22-05C9-4513-99C5-47A070880A5D}" type="slidenum">
              <a:rPr lang="en-US"/>
              <a:pPr/>
              <a:t>15</a:t>
            </a:fld>
            <a:endParaRPr lang="en-US"/>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16923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26A0EB-1684-433B-B17C-2700C57FD3A3}" type="slidenum">
              <a:rPr lang="en-US"/>
              <a:pPr/>
              <a:t>16</a:t>
            </a:fld>
            <a:endParaRPr lang="en-US"/>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12923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F930F3-5D52-455F-8B70-751C1F9E6693}" type="slidenum">
              <a:rPr lang="en-US"/>
              <a:pPr/>
              <a:t>17</a:t>
            </a:fld>
            <a:endParaRPr lang="en-US"/>
          </a:p>
        </p:txBody>
      </p:sp>
      <p:sp>
        <p:nvSpPr>
          <p:cNvPr id="115714" name="Rectangle 2"/>
          <p:cNvSpPr>
            <a:spLocks noGrp="1" noRot="1" noChangeAspect="1" noChangeArrowheads="1" noTextEdit="1"/>
          </p:cNvSpPr>
          <p:nvPr>
            <p:ph type="sldImg"/>
          </p:nvPr>
        </p:nvSpPr>
        <p:spPr>
          <a:xfrm>
            <a:off x="1103313" y="301625"/>
            <a:ext cx="4700587" cy="3525838"/>
          </a:xfrm>
          <a:ln/>
        </p:spPr>
      </p:sp>
      <p:sp>
        <p:nvSpPr>
          <p:cNvPr id="115715" name="Rectangle 3"/>
          <p:cNvSpPr>
            <a:spLocks noGrp="1" noChangeArrowheads="1"/>
          </p:cNvSpPr>
          <p:nvPr>
            <p:ph type="body" idx="1"/>
          </p:nvPr>
        </p:nvSpPr>
        <p:spPr>
          <a:xfrm>
            <a:off x="523875" y="4052888"/>
            <a:ext cx="5835650" cy="4579937"/>
          </a:xfrm>
        </p:spPr>
        <p:txBody>
          <a:bodyPr/>
          <a:lstStyle/>
          <a:p>
            <a:r>
              <a:rPr lang="en-US" b="1"/>
              <a:t>Emphasize: </a:t>
            </a:r>
            <a:r>
              <a:rPr lang="en-US"/>
              <a:t>Default VTP mode on the Catalyst switches is server. Be careful when adding new switches into an existing network. This is covered in more detail later.</a:t>
            </a:r>
          </a:p>
        </p:txBody>
      </p:sp>
    </p:spTree>
    <p:extLst>
      <p:ext uri="{BB962C8B-B14F-4D97-AF65-F5344CB8AC3E}">
        <p14:creationId xmlns:p14="http://schemas.microsoft.com/office/powerpoint/2010/main" val="837461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4EEDB5-687B-447E-BBE6-300B73F4A429}" type="slidenum">
              <a:rPr lang="en-US"/>
              <a:pPr/>
              <a:t>18</a:t>
            </a:fld>
            <a:endParaRPr lang="en-US"/>
          </a:p>
        </p:txBody>
      </p:sp>
      <p:sp>
        <p:nvSpPr>
          <p:cNvPr id="117762" name="Rectangle 2"/>
          <p:cNvSpPr>
            <a:spLocks noGrp="1" noRot="1" noChangeAspect="1" noChangeArrowheads="1" noTextEdit="1"/>
          </p:cNvSpPr>
          <p:nvPr>
            <p:ph type="sldImg"/>
          </p:nvPr>
        </p:nvSpPr>
        <p:spPr>
          <a:xfrm>
            <a:off x="1092200" y="301625"/>
            <a:ext cx="4700588" cy="3525838"/>
          </a:xfrm>
          <a:ln/>
        </p:spPr>
      </p:sp>
      <p:sp>
        <p:nvSpPr>
          <p:cNvPr id="117763" name="Rectangle 3"/>
          <p:cNvSpPr>
            <a:spLocks noGrp="1" noChangeArrowheads="1"/>
          </p:cNvSpPr>
          <p:nvPr>
            <p:ph type="body" idx="1"/>
          </p:nvPr>
        </p:nvSpPr>
        <p:spPr>
          <a:xfrm>
            <a:off x="523875" y="4052888"/>
            <a:ext cx="5835650" cy="4579937"/>
          </a:xfrm>
        </p:spPr>
        <p:txBody>
          <a:bodyPr/>
          <a:lstStyle/>
          <a:p>
            <a:r>
              <a:rPr lang="en-US" b="1"/>
              <a:t>Layer 2 of 2 </a:t>
            </a:r>
          </a:p>
          <a:p>
            <a:r>
              <a:rPr lang="en-US" b="1"/>
              <a:t>Emphasize: </a:t>
            </a:r>
            <a:r>
              <a:rPr lang="en-US"/>
              <a:t>The latest revision number is what the switches will synchronize to.</a:t>
            </a:r>
            <a:endParaRPr lang="en-US" b="1"/>
          </a:p>
          <a:p>
            <a:endParaRPr lang="en-US"/>
          </a:p>
        </p:txBody>
      </p:sp>
    </p:spTree>
    <p:extLst>
      <p:ext uri="{BB962C8B-B14F-4D97-AF65-F5344CB8AC3E}">
        <p14:creationId xmlns:p14="http://schemas.microsoft.com/office/powerpoint/2010/main" val="884714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2DCFFA-811C-4841-881B-C5D231D96E9D}" type="slidenum">
              <a:rPr lang="en-US"/>
              <a:pPr/>
              <a:t>19</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07953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BCCF18-B56F-4EF2-B9E8-F5D53ACB46CB}" type="slidenum">
              <a:rPr lang="en-US"/>
              <a:pPr/>
              <a:t>20</a:t>
            </a:fld>
            <a:endParaRPr lang="en-US"/>
          </a:p>
        </p:txBody>
      </p:sp>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89680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AC2CB7-6FD8-43CC-B7E1-8FE8B6A851E3}" type="slidenum">
              <a:rPr lang="en-US"/>
              <a:pPr/>
              <a:t>21</a:t>
            </a:fld>
            <a:endParaRPr lang="en-US"/>
          </a:p>
        </p:txBody>
      </p:sp>
      <p:sp>
        <p:nvSpPr>
          <p:cNvPr id="122882" name="Rectangle 2"/>
          <p:cNvSpPr>
            <a:spLocks noGrp="1" noRot="1" noChangeAspect="1" noChangeArrowheads="1" noTextEdit="1"/>
          </p:cNvSpPr>
          <p:nvPr>
            <p:ph type="sldImg"/>
          </p:nvPr>
        </p:nvSpPr>
        <p:spPr>
          <a:xfrm>
            <a:off x="1103313" y="301625"/>
            <a:ext cx="4700587" cy="3525838"/>
          </a:xfrm>
          <a:ln/>
        </p:spPr>
      </p:sp>
      <p:sp>
        <p:nvSpPr>
          <p:cNvPr id="122883" name="Rectangle 3"/>
          <p:cNvSpPr>
            <a:spLocks noGrp="1" noChangeArrowheads="1"/>
          </p:cNvSpPr>
          <p:nvPr>
            <p:ph type="body" idx="1"/>
          </p:nvPr>
        </p:nvSpPr>
        <p:spPr>
          <a:xfrm>
            <a:off x="523875" y="4052888"/>
            <a:ext cx="5835650" cy="4579937"/>
          </a:xfrm>
        </p:spPr>
        <p:txBody>
          <a:bodyPr/>
          <a:lstStyle/>
          <a:p>
            <a:r>
              <a:rPr lang="en-US" b="1"/>
              <a:t>Notes: </a:t>
            </a:r>
            <a:r>
              <a:rPr lang="en-US"/>
              <a:t>All switches in a VTP domain must run the same VTP version.</a:t>
            </a:r>
          </a:p>
          <a:p>
            <a:r>
              <a:rPr lang="en-US"/>
              <a:t>The password entered with a domain name should be the same for all switches in the domain. If you configure a VTP password, the management domain will not function properly if you do not assign the management domain password to each switch in the domain.</a:t>
            </a:r>
          </a:p>
          <a:p>
            <a:r>
              <a:rPr lang="en-US"/>
              <a:t>A VTP version 2-capable switch can operate in the same VTP domain as a switch running VTP version 1, provided version 2 is disabled on the version 2-capable switch (version 2 is disabled by default).</a:t>
            </a:r>
          </a:p>
          <a:p>
            <a:r>
              <a:rPr lang="en-US"/>
              <a:t>Do not enable VTP version 2 on a switch unless all of the switches in the same VTP domain are version 2-capable. When you enable version 2 on a switch, all of the version 2-capable switches in the domain must have version 2 enabled. If there is a version 1-only switch, it will not exchange VTP information with switches with version 2 enabled.</a:t>
            </a:r>
          </a:p>
          <a:p>
            <a:r>
              <a:rPr lang="en-US"/>
              <a:t>If there are Token Ring networks in your environment, you must enable VTP version 2 for Token Ring VLAN switching to function properly.</a:t>
            </a:r>
          </a:p>
          <a:p>
            <a:r>
              <a:rPr lang="en-US"/>
              <a:t>Enabling or disabling VTP pruning on a VTP server enables or disables VTP pruning for the entire management domain.</a:t>
            </a:r>
          </a:p>
          <a:p>
            <a:r>
              <a:rPr lang="en-US"/>
              <a:t>In the lab, all the switches are set to VTP transparent mode.</a:t>
            </a:r>
          </a:p>
        </p:txBody>
      </p:sp>
    </p:spTree>
    <p:extLst>
      <p:ext uri="{BB962C8B-B14F-4D97-AF65-F5344CB8AC3E}">
        <p14:creationId xmlns:p14="http://schemas.microsoft.com/office/powerpoint/2010/main" val="1719057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5658A-10E4-4DB9-B1F0-024BAB009379}" type="slidenum">
              <a:rPr lang="en-US"/>
              <a:pPr/>
              <a:t>22</a:t>
            </a:fld>
            <a:endParaRPr lang="en-US"/>
          </a:p>
        </p:txBody>
      </p:sp>
      <p:sp>
        <p:nvSpPr>
          <p:cNvPr id="124930" name="Rectangle 2"/>
          <p:cNvSpPr>
            <a:spLocks noGrp="1" noRot="1" noChangeAspect="1" noChangeArrowheads="1" noTextEdit="1"/>
          </p:cNvSpPr>
          <p:nvPr>
            <p:ph type="sldImg"/>
          </p:nvPr>
        </p:nvSpPr>
        <p:spPr>
          <a:xfrm>
            <a:off x="1092200" y="301625"/>
            <a:ext cx="4700588" cy="3525838"/>
          </a:xfrm>
          <a:ln/>
        </p:spPr>
      </p:sp>
      <p:sp>
        <p:nvSpPr>
          <p:cNvPr id="124931" name="Rectangle 3"/>
          <p:cNvSpPr>
            <a:spLocks noGrp="1" noChangeArrowheads="1"/>
          </p:cNvSpPr>
          <p:nvPr>
            <p:ph type="body" idx="1"/>
          </p:nvPr>
        </p:nvSpPr>
        <p:spPr>
          <a:xfrm>
            <a:off x="523875" y="4052888"/>
            <a:ext cx="5835650" cy="4579937"/>
          </a:xfrm>
        </p:spPr>
        <p:txBody>
          <a:bodyPr/>
          <a:lstStyle/>
          <a:p>
            <a:r>
              <a:rPr lang="en-US" b="1"/>
              <a:t>Layer 2 of 2</a:t>
            </a:r>
          </a:p>
          <a:p>
            <a:r>
              <a:rPr lang="en-US" b="1"/>
              <a:t>Note: </a:t>
            </a:r>
            <a:r>
              <a:rPr lang="en-US"/>
              <a:t>The two commands shown in the slide can also be combined into one command:</a:t>
            </a:r>
          </a:p>
          <a:p>
            <a:r>
              <a:rPr lang="en-US" b="1"/>
              <a:t>vtp domain switchlab transparent</a:t>
            </a:r>
          </a:p>
          <a:p>
            <a:endParaRPr lang="en-US"/>
          </a:p>
        </p:txBody>
      </p:sp>
    </p:spTree>
    <p:extLst>
      <p:ext uri="{BB962C8B-B14F-4D97-AF65-F5344CB8AC3E}">
        <p14:creationId xmlns:p14="http://schemas.microsoft.com/office/powerpoint/2010/main" val="30501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52E367-7714-4476-80C5-0D03DC614504}" type="slidenum">
              <a:rPr lang="en-US"/>
              <a:pPr/>
              <a:t>23</a:t>
            </a:fld>
            <a:endParaRPr lang="en-US"/>
          </a:p>
        </p:txBody>
      </p:sp>
      <p:sp>
        <p:nvSpPr>
          <p:cNvPr id="126978" name="Rectangle 2"/>
          <p:cNvSpPr>
            <a:spLocks noGrp="1" noRot="1" noChangeAspect="1" noChangeArrowheads="1" noTextEdit="1"/>
          </p:cNvSpPr>
          <p:nvPr>
            <p:ph type="sldImg"/>
          </p:nvPr>
        </p:nvSpPr>
        <p:spPr>
          <a:xfrm>
            <a:off x="1093788" y="301625"/>
            <a:ext cx="4700587" cy="3525838"/>
          </a:xfrm>
          <a:ln/>
        </p:spPr>
      </p:sp>
      <p:sp>
        <p:nvSpPr>
          <p:cNvPr id="126979" name="Rectangle 3"/>
          <p:cNvSpPr>
            <a:spLocks noGrp="1" noChangeArrowheads="1"/>
          </p:cNvSpPr>
          <p:nvPr>
            <p:ph type="body" idx="1"/>
          </p:nvPr>
        </p:nvSpPr>
        <p:spPr>
          <a:xfrm>
            <a:off x="523875" y="4052888"/>
            <a:ext cx="5835650" cy="4579937"/>
          </a:xfrm>
        </p:spPr>
        <p:txBody>
          <a:bodyPr/>
          <a:lstStyle/>
          <a:p>
            <a:r>
              <a:rPr lang="en-US"/>
              <a:t>240, 197, 102</a:t>
            </a:r>
          </a:p>
        </p:txBody>
      </p:sp>
    </p:spTree>
    <p:extLst>
      <p:ext uri="{BB962C8B-B14F-4D97-AF65-F5344CB8AC3E}">
        <p14:creationId xmlns:p14="http://schemas.microsoft.com/office/powerpoint/2010/main" val="4247889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82511D-3FE2-45B9-83F0-5D7F9D2F045D}" type="slidenum">
              <a:rPr lang="en-US"/>
              <a:pPr/>
              <a:t>24</a:t>
            </a:fld>
            <a:endParaRPr lang="en-US"/>
          </a:p>
        </p:txBody>
      </p:sp>
      <p:sp>
        <p:nvSpPr>
          <p:cNvPr id="146434" name="Rectangle 2"/>
          <p:cNvSpPr>
            <a:spLocks noGrp="1" noRot="1" noChangeAspect="1" noChangeArrowheads="1" noTextEdit="1"/>
          </p:cNvSpPr>
          <p:nvPr>
            <p:ph type="sldImg"/>
          </p:nvPr>
        </p:nvSpPr>
        <p:spPr>
          <a:xfrm>
            <a:off x="1093788" y="301625"/>
            <a:ext cx="4700587" cy="3525838"/>
          </a:xfrm>
          <a:ln/>
        </p:spPr>
      </p:sp>
      <p:sp>
        <p:nvSpPr>
          <p:cNvPr id="146435" name="Rectangle 3"/>
          <p:cNvSpPr>
            <a:spLocks noGrp="1" noChangeArrowheads="1"/>
          </p:cNvSpPr>
          <p:nvPr>
            <p:ph type="body" idx="1"/>
          </p:nvPr>
        </p:nvSpPr>
        <p:spPr>
          <a:xfrm>
            <a:off x="523875" y="4052888"/>
            <a:ext cx="5835650" cy="4579937"/>
          </a:xfrm>
        </p:spPr>
        <p:txBody>
          <a:bodyPr/>
          <a:lstStyle/>
          <a:p>
            <a:endParaRPr lang="en-US"/>
          </a:p>
        </p:txBody>
      </p:sp>
    </p:spTree>
    <p:extLst>
      <p:ext uri="{BB962C8B-B14F-4D97-AF65-F5344CB8AC3E}">
        <p14:creationId xmlns:p14="http://schemas.microsoft.com/office/powerpoint/2010/main" val="2777381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28A4F2-88E1-406A-B482-465B22B1103F}" type="slidenum">
              <a:rPr lang="en-US"/>
              <a:pPr/>
              <a:t>25</a:t>
            </a:fld>
            <a:endParaRPr lang="en-US"/>
          </a:p>
        </p:txBody>
      </p:sp>
      <p:sp>
        <p:nvSpPr>
          <p:cNvPr id="148482" name="Rectangle 2"/>
          <p:cNvSpPr>
            <a:spLocks noGrp="1" noRot="1" noChangeAspect="1" noChangeArrowheads="1" noTextEdit="1"/>
          </p:cNvSpPr>
          <p:nvPr>
            <p:ph type="sldImg"/>
          </p:nvPr>
        </p:nvSpPr>
        <p:spPr>
          <a:xfrm>
            <a:off x="1093788" y="301625"/>
            <a:ext cx="4700587" cy="3525838"/>
          </a:xfrm>
          <a:ln/>
        </p:spPr>
      </p:sp>
      <p:sp>
        <p:nvSpPr>
          <p:cNvPr id="148483" name="Rectangle 3"/>
          <p:cNvSpPr>
            <a:spLocks noGrp="1" noChangeArrowheads="1"/>
          </p:cNvSpPr>
          <p:nvPr>
            <p:ph type="body" idx="1"/>
          </p:nvPr>
        </p:nvSpPr>
        <p:spPr>
          <a:xfrm>
            <a:off x="523875" y="4052888"/>
            <a:ext cx="5835650" cy="4579937"/>
          </a:xfrm>
        </p:spPr>
        <p:txBody>
          <a:bodyPr/>
          <a:lstStyle/>
          <a:p>
            <a:endParaRPr lang="en-US"/>
          </a:p>
        </p:txBody>
      </p:sp>
    </p:spTree>
    <p:extLst>
      <p:ext uri="{BB962C8B-B14F-4D97-AF65-F5344CB8AC3E}">
        <p14:creationId xmlns:p14="http://schemas.microsoft.com/office/powerpoint/2010/main" val="1624398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5B6B73-AE6C-4C06-96AF-D3DA05A194BF}" type="slidenum">
              <a:rPr lang="en-US"/>
              <a:pPr/>
              <a:t>27</a:t>
            </a:fld>
            <a:endParaRPr lang="en-US"/>
          </a:p>
        </p:txBody>
      </p:sp>
      <p:sp>
        <p:nvSpPr>
          <p:cNvPr id="150530" name="Rectangle 2"/>
          <p:cNvSpPr>
            <a:spLocks noGrp="1" noRot="1" noChangeAspect="1" noChangeArrowheads="1" noTextEdit="1"/>
          </p:cNvSpPr>
          <p:nvPr>
            <p:ph type="sldImg"/>
          </p:nvPr>
        </p:nvSpPr>
        <p:spPr>
          <a:xfrm>
            <a:off x="1092200" y="301625"/>
            <a:ext cx="4700588" cy="3525838"/>
          </a:xfrm>
          <a:ln/>
        </p:spPr>
      </p:sp>
      <p:sp>
        <p:nvSpPr>
          <p:cNvPr id="150531" name="Rectangle 3"/>
          <p:cNvSpPr>
            <a:spLocks noGrp="1" noChangeArrowheads="1"/>
          </p:cNvSpPr>
          <p:nvPr>
            <p:ph type="body" idx="1"/>
          </p:nvPr>
        </p:nvSpPr>
        <p:spPr>
          <a:xfrm>
            <a:off x="523875" y="4052888"/>
            <a:ext cx="5835650" cy="4579937"/>
          </a:xfrm>
        </p:spPr>
        <p:txBody>
          <a:bodyPr/>
          <a:lstStyle/>
          <a:p>
            <a:r>
              <a:rPr lang="en-US" b="1"/>
              <a:t>Layer 2 of 2</a:t>
            </a:r>
          </a:p>
          <a:p>
            <a:r>
              <a:rPr lang="en-US" b="1"/>
              <a:t>Note: </a:t>
            </a:r>
            <a:r>
              <a:rPr lang="en-US"/>
              <a:t>The Catalyst 1900,at the time of the beta, only supports ISL trunking. It does not support 802.1Q trunking.</a:t>
            </a:r>
          </a:p>
          <a:p>
            <a:endParaRPr lang="en-US"/>
          </a:p>
        </p:txBody>
      </p:sp>
    </p:spTree>
    <p:extLst>
      <p:ext uri="{BB962C8B-B14F-4D97-AF65-F5344CB8AC3E}">
        <p14:creationId xmlns:p14="http://schemas.microsoft.com/office/powerpoint/2010/main" val="29703704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4CA55A-B3AF-4528-9CF3-7C1F698436DC}" type="slidenum">
              <a:rPr lang="en-US"/>
              <a:pPr/>
              <a:t>28</a:t>
            </a:fld>
            <a:endParaRPr lang="en-US"/>
          </a:p>
        </p:txBody>
      </p:sp>
      <p:sp>
        <p:nvSpPr>
          <p:cNvPr id="152578" name="Rectangle 2"/>
          <p:cNvSpPr>
            <a:spLocks noGrp="1" noRot="1" noChangeAspect="1" noChangeArrowheads="1" noTextEdit="1"/>
          </p:cNvSpPr>
          <p:nvPr>
            <p:ph type="sldImg"/>
          </p:nvPr>
        </p:nvSpPr>
        <p:spPr>
          <a:xfrm>
            <a:off x="1092200" y="301625"/>
            <a:ext cx="4700588" cy="3525838"/>
          </a:xfrm>
          <a:ln/>
        </p:spPr>
      </p:sp>
      <p:sp>
        <p:nvSpPr>
          <p:cNvPr id="152579" name="Rectangle 3"/>
          <p:cNvSpPr>
            <a:spLocks noGrp="1" noChangeArrowheads="1"/>
          </p:cNvSpPr>
          <p:nvPr>
            <p:ph type="body" idx="1"/>
          </p:nvPr>
        </p:nvSpPr>
        <p:spPr>
          <a:xfrm>
            <a:off x="523875" y="4052888"/>
            <a:ext cx="5835650" cy="4579937"/>
          </a:xfrm>
        </p:spPr>
        <p:txBody>
          <a:bodyPr/>
          <a:lstStyle/>
          <a:p>
            <a:r>
              <a:rPr lang="en-US" b="1"/>
              <a:t>Note: </a:t>
            </a:r>
            <a:r>
              <a:rPr lang="en-US"/>
              <a:t>In the ICND lab, all the switches and routers are in VLAN1. The core server and the core router are in multiple VLANs. Each workgroup PC is on an unique VLAN.</a:t>
            </a:r>
          </a:p>
          <a:p>
            <a:endParaRPr lang="en-US" b="1"/>
          </a:p>
          <a:p>
            <a:endParaRPr lang="en-US"/>
          </a:p>
        </p:txBody>
      </p:sp>
    </p:spTree>
    <p:extLst>
      <p:ext uri="{BB962C8B-B14F-4D97-AF65-F5344CB8AC3E}">
        <p14:creationId xmlns:p14="http://schemas.microsoft.com/office/powerpoint/2010/main" val="3900924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7F2F2E-13C4-45F4-B609-9A5D969FB45C}" type="slidenum">
              <a:rPr lang="en-US"/>
              <a:pPr/>
              <a:t>29</a:t>
            </a:fld>
            <a:endParaRPr lang="en-US"/>
          </a:p>
        </p:txBody>
      </p:sp>
      <p:sp>
        <p:nvSpPr>
          <p:cNvPr id="154626" name="Rectangle 2"/>
          <p:cNvSpPr>
            <a:spLocks noGrp="1" noRot="1" noChangeAspect="1" noChangeArrowheads="1" noTextEdit="1"/>
          </p:cNvSpPr>
          <p:nvPr>
            <p:ph type="sldImg"/>
          </p:nvPr>
        </p:nvSpPr>
        <p:spPr>
          <a:xfrm>
            <a:off x="1103313" y="301625"/>
            <a:ext cx="4700587" cy="3525838"/>
          </a:xfrm>
          <a:ln/>
        </p:spPr>
      </p:sp>
      <p:sp>
        <p:nvSpPr>
          <p:cNvPr id="154627" name="Rectangle 3"/>
          <p:cNvSpPr>
            <a:spLocks noGrp="1" noChangeArrowheads="1"/>
          </p:cNvSpPr>
          <p:nvPr>
            <p:ph type="body" idx="1"/>
          </p:nvPr>
        </p:nvSpPr>
        <p:spPr>
          <a:xfrm>
            <a:off x="523875" y="4052888"/>
            <a:ext cx="5835650" cy="4579937"/>
          </a:xfrm>
        </p:spPr>
        <p:txBody>
          <a:bodyPr/>
          <a:lstStyle/>
          <a:p>
            <a:r>
              <a:rPr lang="en-US" b="1"/>
              <a:t>Layer 2 of 2 </a:t>
            </a:r>
          </a:p>
        </p:txBody>
      </p:sp>
    </p:spTree>
    <p:extLst>
      <p:ext uri="{BB962C8B-B14F-4D97-AF65-F5344CB8AC3E}">
        <p14:creationId xmlns:p14="http://schemas.microsoft.com/office/powerpoint/2010/main" val="1829858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5E1FCA-1C54-4823-AFFF-396363D653A3}" type="slidenum">
              <a:rPr lang="en-US"/>
              <a:pPr/>
              <a:t>30</a:t>
            </a:fld>
            <a:endParaRPr lang="en-US"/>
          </a:p>
        </p:txBody>
      </p:sp>
      <p:sp>
        <p:nvSpPr>
          <p:cNvPr id="156674" name="Rectangle 2"/>
          <p:cNvSpPr>
            <a:spLocks noGrp="1" noRot="1" noChangeAspect="1" noChangeArrowheads="1" noTextEdit="1"/>
          </p:cNvSpPr>
          <p:nvPr>
            <p:ph type="sldImg"/>
          </p:nvPr>
        </p:nvSpPr>
        <p:spPr>
          <a:xfrm>
            <a:off x="1103313" y="301625"/>
            <a:ext cx="4700587" cy="3525838"/>
          </a:xfrm>
          <a:ln/>
        </p:spPr>
      </p:sp>
      <p:sp>
        <p:nvSpPr>
          <p:cNvPr id="156675" name="Rectangle 3"/>
          <p:cNvSpPr>
            <a:spLocks noGrp="1" noChangeArrowheads="1"/>
          </p:cNvSpPr>
          <p:nvPr>
            <p:ph type="body" idx="1"/>
          </p:nvPr>
        </p:nvSpPr>
        <p:spPr>
          <a:xfrm>
            <a:off x="523875" y="4052888"/>
            <a:ext cx="5835650" cy="4579937"/>
          </a:xfrm>
        </p:spPr>
        <p:txBody>
          <a:bodyPr/>
          <a:lstStyle/>
          <a:p>
            <a:r>
              <a:rPr lang="en-US" b="1"/>
              <a:t>Layer 2 of 2 </a:t>
            </a:r>
          </a:p>
          <a:p>
            <a:r>
              <a:rPr lang="en-US" b="1"/>
              <a:t>Note:</a:t>
            </a:r>
          </a:p>
          <a:p>
            <a:r>
              <a:rPr lang="en-US"/>
              <a:t>Type: Default is Ethernet (other types are FDDI and Token Ring).</a:t>
            </a:r>
            <a:endParaRPr lang="en-US" b="1"/>
          </a:p>
          <a:p>
            <a:r>
              <a:rPr lang="en-US"/>
              <a:t>SAID: Is used for FDDI trunking. </a:t>
            </a:r>
          </a:p>
          <a:p>
            <a:r>
              <a:rPr lang="en-US"/>
              <a:t>MTU: Default is 1500 for Ethernet VLAN.</a:t>
            </a:r>
          </a:p>
          <a:p>
            <a:r>
              <a:rPr lang="en-US"/>
              <a:t>STP: The 1900 only supports 802.1d Spanning-Tree Protocol. It does not support DEC or IBM Spanning-Tree Protocol. Routers support all three Spanning-Tree Protocol standards.</a:t>
            </a:r>
          </a:p>
          <a:p>
            <a:r>
              <a:rPr lang="en-US"/>
              <a:t>Other parameters: Used for Token Ring or FDDI VLANs.</a:t>
            </a:r>
          </a:p>
          <a:p>
            <a:endParaRPr lang="en-US"/>
          </a:p>
          <a:p>
            <a:endParaRPr lang="en-US"/>
          </a:p>
        </p:txBody>
      </p:sp>
    </p:spTree>
    <p:extLst>
      <p:ext uri="{BB962C8B-B14F-4D97-AF65-F5344CB8AC3E}">
        <p14:creationId xmlns:p14="http://schemas.microsoft.com/office/powerpoint/2010/main" val="37755499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AB2F4-0148-4E53-BE9C-98867269B3F5}" type="slidenum">
              <a:rPr lang="en-US"/>
              <a:pPr/>
              <a:t>31</a:t>
            </a:fld>
            <a:endParaRPr lang="en-US"/>
          </a:p>
        </p:txBody>
      </p:sp>
      <p:sp>
        <p:nvSpPr>
          <p:cNvPr id="163842" name="Rectangle 2"/>
          <p:cNvSpPr>
            <a:spLocks noGrp="1" noRot="1" noChangeAspect="1" noChangeArrowheads="1" noTextEdit="1"/>
          </p:cNvSpPr>
          <p:nvPr>
            <p:ph type="sldImg"/>
          </p:nvPr>
        </p:nvSpPr>
        <p:spPr>
          <a:xfrm>
            <a:off x="1103313" y="301625"/>
            <a:ext cx="4700587" cy="3525838"/>
          </a:xfrm>
          <a:ln/>
        </p:spPr>
      </p:sp>
      <p:sp>
        <p:nvSpPr>
          <p:cNvPr id="163843" name="Rectangle 3"/>
          <p:cNvSpPr>
            <a:spLocks noGrp="1" noChangeArrowheads="1"/>
          </p:cNvSpPr>
          <p:nvPr>
            <p:ph type="body" idx="1"/>
          </p:nvPr>
        </p:nvSpPr>
        <p:spPr>
          <a:xfrm>
            <a:off x="523875" y="4052888"/>
            <a:ext cx="5835650" cy="4579937"/>
          </a:xfrm>
        </p:spPr>
        <p:txBody>
          <a:bodyPr/>
          <a:lstStyle/>
          <a:p>
            <a:r>
              <a:rPr lang="en-US" b="1"/>
              <a:t>Layer 2 of 2 </a:t>
            </a:r>
          </a:p>
          <a:p>
            <a:r>
              <a:rPr lang="en-US" b="1"/>
              <a:t>Note: </a:t>
            </a:r>
            <a:r>
              <a:rPr lang="en-US"/>
              <a:t>In the lab, we will only be configuring static VLAN membership.</a:t>
            </a:r>
            <a:endParaRPr lang="en-US" b="1"/>
          </a:p>
        </p:txBody>
      </p:sp>
    </p:spTree>
    <p:extLst>
      <p:ext uri="{BB962C8B-B14F-4D97-AF65-F5344CB8AC3E}">
        <p14:creationId xmlns:p14="http://schemas.microsoft.com/office/powerpoint/2010/main" val="1113126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B0B063-8A91-4143-A7A2-9674A77245BB}" type="slidenum">
              <a:rPr lang="en-US"/>
              <a:pPr/>
              <a:t>32</a:t>
            </a:fld>
            <a:endParaRPr lang="en-US"/>
          </a:p>
        </p:txBody>
      </p:sp>
      <p:sp>
        <p:nvSpPr>
          <p:cNvPr id="165890" name="Rectangle 2"/>
          <p:cNvSpPr>
            <a:spLocks noGrp="1" noRot="1" noChangeAspect="1" noChangeArrowheads="1" noTextEdit="1"/>
          </p:cNvSpPr>
          <p:nvPr>
            <p:ph type="sldImg"/>
          </p:nvPr>
        </p:nvSpPr>
        <p:spPr>
          <a:xfrm>
            <a:off x="1103313" y="301625"/>
            <a:ext cx="4700587" cy="3525838"/>
          </a:xfrm>
          <a:ln/>
        </p:spPr>
      </p:sp>
      <p:sp>
        <p:nvSpPr>
          <p:cNvPr id="165891" name="Rectangle 3"/>
          <p:cNvSpPr>
            <a:spLocks noGrp="1" noChangeArrowheads="1"/>
          </p:cNvSpPr>
          <p:nvPr>
            <p:ph type="body" idx="1"/>
          </p:nvPr>
        </p:nvSpPr>
        <p:spPr>
          <a:xfrm>
            <a:off x="523875" y="4052888"/>
            <a:ext cx="5835650" cy="4579937"/>
          </a:xfrm>
        </p:spPr>
        <p:txBody>
          <a:bodyPr/>
          <a:lstStyle/>
          <a:p>
            <a:r>
              <a:rPr lang="en-US" b="1"/>
              <a:t>Layer 2 of 2 </a:t>
            </a:r>
          </a:p>
          <a:p>
            <a:r>
              <a:rPr lang="en-US" b="1"/>
              <a:t>Emphasize: </a:t>
            </a:r>
            <a:r>
              <a:rPr lang="en-US"/>
              <a:t>Port 1 = e0/1, ……. AUI = e0/25, A = fa 0/26, B = fa 0/27</a:t>
            </a:r>
          </a:p>
          <a:p>
            <a:pPr lvl="2"/>
            <a:endParaRPr lang="en-US"/>
          </a:p>
        </p:txBody>
      </p:sp>
    </p:spTree>
    <p:extLst>
      <p:ext uri="{BB962C8B-B14F-4D97-AF65-F5344CB8AC3E}">
        <p14:creationId xmlns:p14="http://schemas.microsoft.com/office/powerpoint/2010/main" val="8398124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A7A8DD-ABEC-4BEF-ADA2-1641C41FEDC7}" type="slidenum">
              <a:rPr lang="en-US"/>
              <a:pPr/>
              <a:t>33</a:t>
            </a:fld>
            <a:endParaRPr lang="en-US"/>
          </a:p>
        </p:txBody>
      </p:sp>
      <p:sp>
        <p:nvSpPr>
          <p:cNvPr id="226306" name="Rectangle 2"/>
          <p:cNvSpPr>
            <a:spLocks noGrp="1" noRot="1" noChangeAspect="1" noChangeArrowheads="1" noTextEdit="1"/>
          </p:cNvSpPr>
          <p:nvPr>
            <p:ph type="sldImg"/>
          </p:nvPr>
        </p:nvSpPr>
        <p:spPr>
          <a:xfrm>
            <a:off x="1103313" y="301625"/>
            <a:ext cx="4700587" cy="3525838"/>
          </a:xfrm>
          <a:ln/>
        </p:spPr>
      </p:sp>
      <p:sp>
        <p:nvSpPr>
          <p:cNvPr id="226307" name="Rectangle 3"/>
          <p:cNvSpPr>
            <a:spLocks noGrp="1" noChangeArrowheads="1"/>
          </p:cNvSpPr>
          <p:nvPr>
            <p:ph type="body" idx="1"/>
          </p:nvPr>
        </p:nvSpPr>
        <p:spPr>
          <a:xfrm>
            <a:off x="523875" y="4052888"/>
            <a:ext cx="5835650" cy="4579937"/>
          </a:xfrm>
        </p:spPr>
        <p:txBody>
          <a:bodyPr/>
          <a:lstStyle/>
          <a:p>
            <a:r>
              <a:rPr lang="en-US" b="1"/>
              <a:t>Layer 2 of 2 </a:t>
            </a:r>
          </a:p>
          <a:p>
            <a:r>
              <a:rPr lang="en-US" b="1"/>
              <a:t>Note: </a:t>
            </a:r>
            <a:r>
              <a:rPr lang="en-US"/>
              <a:t>In the lab, we will only be configuring static VLAN membership.</a:t>
            </a:r>
            <a:endParaRPr lang="en-US" b="1"/>
          </a:p>
        </p:txBody>
      </p:sp>
    </p:spTree>
    <p:extLst>
      <p:ext uri="{BB962C8B-B14F-4D97-AF65-F5344CB8AC3E}">
        <p14:creationId xmlns:p14="http://schemas.microsoft.com/office/powerpoint/2010/main" val="3981908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DACCA0-EAEB-4B52-8410-06C78AB23B52}" type="slidenum">
              <a:rPr lang="en-US"/>
              <a:pPr/>
              <a:t>34</a:t>
            </a:fld>
            <a:endParaRPr lang="en-US"/>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862331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61EA55-B5EA-4144-9A88-360AF98CB84C}" type="slidenum">
              <a:rPr lang="en-US"/>
              <a:pPr/>
              <a:t>35</a:t>
            </a:fld>
            <a:endParaRPr lang="en-US"/>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052658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C67341-1A6E-4B07-9C16-8AB4E6B1F2A8}" type="slidenum">
              <a:rPr lang="en-US"/>
              <a:pPr/>
              <a:t>36</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11300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8307"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98308"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rPr>
              <a:t>© 2007 Cisco Systems, Inc. All rights reserved.</a:t>
            </a:r>
          </a:p>
        </p:txBody>
      </p:sp>
      <p:sp>
        <p:nvSpPr>
          <p:cNvPr id="98309"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rPr>
              <a:t>ICND2 v1.0—2-</a:t>
            </a:r>
            <a:fld id="{7A35C670-8D1F-4F08-875E-50628D1A2764}" type="slidenum">
              <a:rPr lang="en-US" sz="700">
                <a:solidFill>
                  <a:srgbClr val="999999"/>
                </a:solidFill>
              </a:rPr>
              <a:pPr algn="r" defTabSz="814388">
                <a:lnSpc>
                  <a:spcPct val="100000"/>
                </a:lnSpc>
              </a:pPr>
              <a:t>‹#›</a:t>
            </a:fld>
            <a:endParaRPr lang="en-US" sz="700">
              <a:solidFill>
                <a:srgbClr val="999999"/>
              </a:solidFill>
            </a:endParaRPr>
          </a:p>
        </p:txBody>
      </p:sp>
      <p:sp>
        <p:nvSpPr>
          <p:cNvPr id="98310" name="Rectangle 6"/>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98311" name="Rectangle 7"/>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1135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00364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2336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65097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600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47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53320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4637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66834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5405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66763" y="236538"/>
            <a:ext cx="7623175" cy="1143000"/>
          </a:xfrm>
        </p:spPr>
        <p:txBody>
          <a:bodyPr/>
          <a:lstStyle/>
          <a:p>
            <a:r>
              <a:rPr lang="en-US" smtClean="0"/>
              <a:t>Click to edit Master title style</a:t>
            </a:r>
            <a:endParaRPr lang="vi-VN"/>
          </a:p>
        </p:txBody>
      </p:sp>
      <p:sp>
        <p:nvSpPr>
          <p:cNvPr id="3" name="Content Placeholder 2"/>
          <p:cNvSpPr>
            <a:spLocks noGrp="1"/>
          </p:cNvSpPr>
          <p:nvPr>
            <p:ph sz="half" idx="1"/>
          </p:nvPr>
        </p:nvSpPr>
        <p:spPr>
          <a:xfrm>
            <a:off x="458788" y="1590675"/>
            <a:ext cx="4033837"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645025" y="1590675"/>
            <a:ext cx="4035425"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2185941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6763" y="236538"/>
            <a:ext cx="7623175" cy="1143000"/>
          </a:xfrm>
        </p:spPr>
        <p:txBody>
          <a:bodyPr/>
          <a:lstStyle/>
          <a:p>
            <a:r>
              <a:rPr lang="en-US" smtClean="0"/>
              <a:t>Click to edit Master title style</a:t>
            </a:r>
            <a:endParaRPr lang="vi-VN"/>
          </a:p>
        </p:txBody>
      </p:sp>
      <p:sp>
        <p:nvSpPr>
          <p:cNvPr id="3" name="Content Placeholder 2"/>
          <p:cNvSpPr>
            <a:spLocks noGrp="1"/>
          </p:cNvSpPr>
          <p:nvPr>
            <p:ph sz="half" idx="1"/>
          </p:nvPr>
        </p:nvSpPr>
        <p:spPr>
          <a:xfrm>
            <a:off x="458788" y="1590675"/>
            <a:ext cx="8221662" cy="2019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8788" y="3762375"/>
            <a:ext cx="8221662" cy="2019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3893048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97284" name="Rectangle 4"/>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5" name="Rectangle 5"/>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rPr>
              <a:t>© 2007 Cisco Systems, Inc. All rights reserved.</a:t>
            </a:r>
          </a:p>
        </p:txBody>
      </p:sp>
      <p:sp>
        <p:nvSpPr>
          <p:cNvPr id="97286" name="Rectangle 6"/>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rPr>
              <a:t>ICND2 v1.0—2-</a:t>
            </a:r>
            <a:fld id="{368C363E-7F5F-46DD-8F65-86E3812AA445}" type="slidenum">
              <a:rPr lang="en-US" sz="700">
                <a:solidFill>
                  <a:srgbClr val="999999"/>
                </a:solidFill>
              </a:rPr>
              <a:pPr algn="r" defTabSz="814388">
                <a:lnSpc>
                  <a:spcPct val="100000"/>
                </a:lnSpc>
              </a:pPr>
              <a:t>‹#›</a:t>
            </a:fld>
            <a:endParaRPr lang="en-US" sz="700">
              <a:solidFill>
                <a:srgbClr val="999999"/>
              </a:solidFill>
            </a:endParaRPr>
          </a:p>
        </p:txBody>
      </p:sp>
      <p:sp>
        <p:nvSpPr>
          <p:cNvPr id="97287" name="Rectangle 7"/>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02" name="Rectangle 22"/>
          <p:cNvSpPr>
            <a:spLocks noGrp="1" noChangeArrowheads="1"/>
          </p:cNvSpPr>
          <p:nvPr>
            <p:ph type="ctrTitle"/>
          </p:nvPr>
        </p:nvSpPr>
        <p:spPr/>
        <p:txBody>
          <a:bodyPr/>
          <a:lstStyle/>
          <a:p>
            <a:r>
              <a:rPr lang="en-US"/>
              <a:t>Medium-Sized Switched Network Construction </a:t>
            </a:r>
          </a:p>
        </p:txBody>
      </p:sp>
      <p:sp>
        <p:nvSpPr>
          <p:cNvPr id="46103" name="Rectangle 23"/>
          <p:cNvSpPr>
            <a:spLocks noGrp="1" noChangeArrowheads="1"/>
          </p:cNvSpPr>
          <p:nvPr>
            <p:ph type="subTitle" idx="1"/>
          </p:nvPr>
        </p:nvSpPr>
        <p:spPr/>
        <p:txBody>
          <a:bodyPr/>
          <a:lstStyle/>
          <a:p>
            <a:r>
              <a:rPr lang="en-US"/>
              <a:t>Implementing VLANs and Trunks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66" name="Picture 10" descr="327P_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1847" y="1874838"/>
            <a:ext cx="3260016" cy="4037012"/>
          </a:xfrm>
          <a:prstGeom prst="rect">
            <a:avLst/>
          </a:prstGeom>
          <a:noFill/>
          <a:extLst>
            <a:ext uri="{909E8E84-426E-40DD-AFC4-6F175D3DCCD1}">
              <a14:hiddenFill xmlns:a14="http://schemas.microsoft.com/office/drawing/2010/main">
                <a:solidFill>
                  <a:srgbClr val="FFFFFF"/>
                </a:solidFill>
              </a14:hiddenFill>
            </a:ext>
          </a:extLst>
        </p:spPr>
      </p:pic>
      <p:sp>
        <p:nvSpPr>
          <p:cNvPr id="173058" name="Rectangle 2"/>
          <p:cNvSpPr>
            <a:spLocks noGrp="1" noChangeArrowheads="1"/>
          </p:cNvSpPr>
          <p:nvPr>
            <p:ph type="title"/>
          </p:nvPr>
        </p:nvSpPr>
        <p:spPr/>
        <p:txBody>
          <a:bodyPr/>
          <a:lstStyle/>
          <a:p>
            <a:r>
              <a:rPr lang="en-US"/>
              <a:t>Issues in a Poorly Designed Network</a:t>
            </a:r>
          </a:p>
        </p:txBody>
      </p:sp>
      <p:sp>
        <p:nvSpPr>
          <p:cNvPr id="173065" name="Rectangle 9"/>
          <p:cNvSpPr>
            <a:spLocks noChangeArrowheads="1"/>
          </p:cNvSpPr>
          <p:nvPr/>
        </p:nvSpPr>
        <p:spPr bwMode="auto">
          <a:xfrm>
            <a:off x="390525" y="1874838"/>
            <a:ext cx="4609492" cy="2922338"/>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174625" indent="-174625" defTabSz="814388">
              <a:lnSpc>
                <a:spcPct val="95000"/>
              </a:lnSpc>
              <a:spcBef>
                <a:spcPct val="35000"/>
              </a:spcBef>
              <a:buClr>
                <a:schemeClr val="accent1"/>
              </a:buClr>
              <a:buSzPct val="100000"/>
              <a:buFont typeface="Wingdings" pitchFamily="2" charset="2"/>
              <a:buChar char="§"/>
            </a:pPr>
            <a:r>
              <a:rPr lang="vi-VN" sz="1800"/>
              <a:t>Lưu lượng quảng bá (broadcast traffic) trong mạng LAN của bạn quá </a:t>
            </a:r>
            <a:r>
              <a:rPr lang="vi-VN" sz="1800" smtClean="0"/>
              <a:t>lớ</a:t>
            </a:r>
            <a:endParaRPr lang="en-US" sz="1800" smtClean="0"/>
          </a:p>
          <a:p>
            <a:pPr marL="174625" indent="-174625" defTabSz="814388">
              <a:lnSpc>
                <a:spcPct val="95000"/>
              </a:lnSpc>
              <a:spcBef>
                <a:spcPct val="35000"/>
              </a:spcBef>
              <a:buClr>
                <a:schemeClr val="accent1"/>
              </a:buClr>
              <a:buSzPct val="100000"/>
              <a:buFont typeface="Wingdings" pitchFamily="2" charset="2"/>
              <a:buChar char="§"/>
            </a:pPr>
            <a:r>
              <a:rPr lang="en-US" sz="1800"/>
              <a:t>Các nhóm làm việc cần gia tăng bảo mật hoặc bị làm chậm vì quá nhiều bản tin quảng bá</a:t>
            </a:r>
            <a:r>
              <a:rPr lang="en-US" sz="1800" smtClean="0"/>
              <a:t>.</a:t>
            </a:r>
          </a:p>
          <a:p>
            <a:pPr marL="174625" indent="-174625" defTabSz="814388">
              <a:lnSpc>
                <a:spcPct val="95000"/>
              </a:lnSpc>
              <a:spcBef>
                <a:spcPct val="35000"/>
              </a:spcBef>
              <a:buClr>
                <a:schemeClr val="accent1"/>
              </a:buClr>
              <a:buSzPct val="100000"/>
              <a:buFont typeface="Wingdings" pitchFamily="2" charset="2"/>
              <a:buChar char="§"/>
            </a:pPr>
            <a:r>
              <a:rPr lang="en-US" sz="1800"/>
              <a:t>Các nhóm làm việc cần nằm trên cùng một miền quảng bá vì họ đang dùng chung các ứng </a:t>
            </a:r>
            <a:r>
              <a:rPr lang="en-US" sz="1800" smtClean="0"/>
              <a:t>dụng.</a:t>
            </a:r>
          </a:p>
          <a:p>
            <a:pPr marL="174625" indent="-174625" defTabSz="814388">
              <a:lnSpc>
                <a:spcPct val="95000"/>
              </a:lnSpc>
              <a:spcBef>
                <a:spcPct val="35000"/>
              </a:spcBef>
              <a:buClr>
                <a:schemeClr val="accent1"/>
              </a:buClr>
              <a:buSzPct val="100000"/>
              <a:buFont typeface="Wingdings" pitchFamily="2" charset="2"/>
              <a:buChar char="§"/>
            </a:pPr>
            <a:r>
              <a:rPr lang="vi-VN" sz="1800"/>
              <a:t>Hoặc chỉ để chuyển đổi một switch đơn thành nhiều switch ảo.</a:t>
            </a:r>
            <a:endParaRPr lang="en-US" sz="180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61" name="Picture 9" descr="327P_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8563" y="1279525"/>
            <a:ext cx="6243637" cy="4784725"/>
          </a:xfrm>
          <a:prstGeom prst="rect">
            <a:avLst/>
          </a:prstGeom>
          <a:noFill/>
          <a:extLst>
            <a:ext uri="{909E8E84-426E-40DD-AFC4-6F175D3DCCD1}">
              <a14:hiddenFill xmlns:a14="http://schemas.microsoft.com/office/drawing/2010/main">
                <a:solidFill>
                  <a:srgbClr val="FFFFFF"/>
                </a:solidFill>
              </a14:hiddenFill>
            </a:ext>
          </a:extLst>
        </p:spPr>
      </p:pic>
      <p:sp>
        <p:nvSpPr>
          <p:cNvPr id="100360" name="Rectangle 8"/>
          <p:cNvSpPr>
            <a:spLocks noGrp="1" noChangeArrowheads="1"/>
          </p:cNvSpPr>
          <p:nvPr>
            <p:ph type="title"/>
          </p:nvPr>
        </p:nvSpPr>
        <p:spPr>
          <a:noFill/>
          <a:ln/>
        </p:spPr>
        <p:txBody>
          <a:bodyPr/>
          <a:lstStyle/>
          <a:p>
            <a:r>
              <a:rPr lang="en-US"/>
              <a:t>VLAN Overview</a:t>
            </a:r>
          </a:p>
        </p:txBody>
      </p:sp>
      <p:sp>
        <p:nvSpPr>
          <p:cNvPr id="100362" name="Text Box 10"/>
          <p:cNvSpPr txBox="1">
            <a:spLocks noChangeArrowheads="1"/>
          </p:cNvSpPr>
          <p:nvPr/>
        </p:nvSpPr>
        <p:spPr bwMode="auto">
          <a:xfrm>
            <a:off x="1446213" y="6080125"/>
            <a:ext cx="62499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0" tIns="0" rIns="0" bIns="0">
            <a:spAutoFit/>
          </a:bodyPr>
          <a:lstStyle>
            <a:lvl1pPr marL="177800" indent="-177800">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gn="ctr">
              <a:lnSpc>
                <a:spcPct val="100000"/>
              </a:lnSpc>
            </a:pPr>
            <a:r>
              <a:rPr lang="en-US" sz="2000">
                <a:solidFill>
                  <a:schemeClr val="accent2"/>
                </a:solidFill>
                <a:latin typeface="Arial" charset="0"/>
              </a:rPr>
              <a:t>VLAN = Broadcast Domain = Logical Network (Subnet) </a:t>
            </a:r>
          </a:p>
        </p:txBody>
      </p:sp>
      <p:sp>
        <p:nvSpPr>
          <p:cNvPr id="100363" name="Rectangle 11"/>
          <p:cNvSpPr>
            <a:spLocks noChangeArrowheads="1"/>
          </p:cNvSpPr>
          <p:nvPr/>
        </p:nvSpPr>
        <p:spPr bwMode="auto">
          <a:xfrm>
            <a:off x="346075" y="1809750"/>
            <a:ext cx="1909763"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342900" lvl="1" indent="-228600" defTabSz="915988">
              <a:lnSpc>
                <a:spcPct val="95000"/>
              </a:lnSpc>
              <a:spcBef>
                <a:spcPct val="35000"/>
              </a:spcBef>
              <a:buClr>
                <a:schemeClr val="accent1"/>
              </a:buClr>
              <a:buFont typeface="Wingdings" pitchFamily="2" charset="2"/>
              <a:buChar char="§"/>
            </a:pPr>
            <a:r>
              <a:rPr lang="en-US" sz="2000"/>
              <a:t>Segmentation</a:t>
            </a:r>
          </a:p>
          <a:p>
            <a:pPr marL="342900" lvl="1" indent="-228600" defTabSz="915988">
              <a:lnSpc>
                <a:spcPct val="95000"/>
              </a:lnSpc>
              <a:spcBef>
                <a:spcPct val="35000"/>
              </a:spcBef>
              <a:buClr>
                <a:schemeClr val="accent1"/>
              </a:buClr>
              <a:buFont typeface="Wingdings" pitchFamily="2" charset="2"/>
              <a:buChar char="§"/>
            </a:pPr>
            <a:r>
              <a:rPr lang="en-US" sz="2000"/>
              <a:t>Flexibility</a:t>
            </a:r>
          </a:p>
          <a:p>
            <a:pPr marL="342900" lvl="1" indent="-228600" defTabSz="915988">
              <a:lnSpc>
                <a:spcPct val="95000"/>
              </a:lnSpc>
              <a:spcBef>
                <a:spcPct val="35000"/>
              </a:spcBef>
              <a:buClr>
                <a:schemeClr val="accent1"/>
              </a:buClr>
              <a:buFont typeface="Wingdings" pitchFamily="2" charset="2"/>
              <a:buChar char="§"/>
            </a:pPr>
            <a:r>
              <a:rPr lang="en-US" sz="2000"/>
              <a:t>Security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Why </a:t>
            </a:r>
            <a:r>
              <a:rPr lang="en-US" altLang="ja-JP">
                <a:ea typeface="ＭＳ Ｐゴシック" charset="-128"/>
              </a:rPr>
              <a:t>Designing VLANs</a:t>
            </a:r>
            <a:endParaRPr lang="en-US"/>
          </a:p>
        </p:txBody>
      </p:sp>
      <p:sp>
        <p:nvSpPr>
          <p:cNvPr id="3" name="Rectangle 3"/>
          <p:cNvSpPr txBox="1">
            <a:spLocks noChangeArrowheads="1"/>
          </p:cNvSpPr>
          <p:nvPr/>
        </p:nvSpPr>
        <p:spPr>
          <a:xfrm>
            <a:off x="655638" y="1781175"/>
            <a:ext cx="7940675" cy="3571875"/>
          </a:xfrm>
          <a:prstGeom prst="rect">
            <a:avLst/>
          </a:prstGeom>
        </p:spPr>
        <p:txBody>
          <a:bodyPr/>
          <a:lst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a:lstStyle>
          <a:p>
            <a:pPr marL="404813" lvl="1" indent="-234950"/>
            <a:r>
              <a:rPr lang="en-US" sz="2800"/>
              <a:t>Tiết kiệm băng thông của hệ thống mạng</a:t>
            </a:r>
            <a:r>
              <a:rPr lang="en-US" sz="2800" kern="0" smtClean="0"/>
              <a:t>.</a:t>
            </a:r>
          </a:p>
          <a:p>
            <a:pPr marL="404813" lvl="1" indent="-234950"/>
            <a:r>
              <a:rPr lang="en-US" sz="2800" kern="0" smtClean="0"/>
              <a:t>Quản lý vùng </a:t>
            </a:r>
            <a:r>
              <a:rPr lang="en-US" sz="2800">
                <a:latin typeface="Cambria"/>
                <a:ea typeface="Times New Roman" panose="02020603050405020304" pitchFamily="18" charset="0"/>
                <a:cs typeface="Times New Roman" panose="02020603050405020304" pitchFamily="18" charset="0"/>
              </a:rPr>
              <a:t>broadcast </a:t>
            </a:r>
            <a:r>
              <a:rPr lang="en-US" sz="2800" smtClean="0">
                <a:latin typeface="Cambria"/>
                <a:ea typeface="Times New Roman" panose="02020603050405020304" pitchFamily="18" charset="0"/>
                <a:cs typeface="Times New Roman" panose="02020603050405020304" pitchFamily="18" charset="0"/>
              </a:rPr>
              <a:t>domain.</a:t>
            </a:r>
            <a:r>
              <a:rPr lang="en-US" sz="2800">
                <a:latin typeface="Cambria"/>
                <a:ea typeface="Times New Roman" panose="02020603050405020304" pitchFamily="18" charset="0"/>
                <a:cs typeface="Times New Roman" panose="02020603050405020304" pitchFamily="18" charset="0"/>
              </a:rPr>
              <a:t> </a:t>
            </a:r>
            <a:endParaRPr lang="en-US" sz="2800" smtClean="0">
              <a:latin typeface="Cambria"/>
              <a:ea typeface="Times New Roman" panose="02020603050405020304" pitchFamily="18" charset="0"/>
              <a:cs typeface="Times New Roman" panose="02020603050405020304" pitchFamily="18" charset="0"/>
            </a:endParaRPr>
          </a:p>
          <a:p>
            <a:pPr marL="404813" lvl="1" indent="-234950"/>
            <a:r>
              <a:rPr lang="en-US" sz="2800" smtClean="0">
                <a:latin typeface="Cambria"/>
                <a:ea typeface="Times New Roman" panose="02020603050405020304" pitchFamily="18" charset="0"/>
                <a:cs typeface="Times New Roman" panose="02020603050405020304" pitchFamily="18" charset="0"/>
              </a:rPr>
              <a:t>Tăng </a:t>
            </a:r>
            <a:r>
              <a:rPr lang="en-US" sz="2800">
                <a:latin typeface="Cambria"/>
                <a:ea typeface="Times New Roman" panose="02020603050405020304" pitchFamily="18" charset="0"/>
                <a:cs typeface="Times New Roman" panose="02020603050405020304" pitchFamily="18" charset="0"/>
              </a:rPr>
              <a:t>khả năng bảo </a:t>
            </a:r>
            <a:r>
              <a:rPr lang="en-US" sz="2800" smtClean="0">
                <a:latin typeface="Cambria"/>
                <a:ea typeface="Times New Roman" panose="02020603050405020304" pitchFamily="18" charset="0"/>
                <a:cs typeface="Times New Roman" panose="02020603050405020304" pitchFamily="18" charset="0"/>
              </a:rPr>
              <a:t>mật.</a:t>
            </a:r>
          </a:p>
          <a:p>
            <a:pPr marL="404813" lvl="1" indent="-234950"/>
            <a:r>
              <a:rPr lang="en-US" sz="2800"/>
              <a:t>Dễ dàng thêm hay bớt máy tính vào </a:t>
            </a:r>
            <a:r>
              <a:rPr lang="en-US" sz="2800" smtClean="0"/>
              <a:t>VLAN.</a:t>
            </a:r>
          </a:p>
          <a:p>
            <a:pPr marL="404813" lvl="1" indent="-234950"/>
            <a:r>
              <a:rPr lang="en-US" sz="2800"/>
              <a:t>Giúp mạng có tính linh động </a:t>
            </a:r>
            <a:r>
              <a:rPr lang="en-US" sz="2800" smtClean="0"/>
              <a:t>cao.</a:t>
            </a:r>
            <a:endParaRPr lang="en-US" sz="2800" kern="0" smtClean="0"/>
          </a:p>
        </p:txBody>
      </p:sp>
    </p:spTree>
    <p:extLst>
      <p:ext uri="{BB962C8B-B14F-4D97-AF65-F5344CB8AC3E}">
        <p14:creationId xmlns:p14="http://schemas.microsoft.com/office/powerpoint/2010/main" val="4115478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1" name="Rectangle 11"/>
          <p:cNvSpPr>
            <a:spLocks noGrp="1" noChangeArrowheads="1"/>
          </p:cNvSpPr>
          <p:nvPr>
            <p:ph type="title"/>
          </p:nvPr>
        </p:nvSpPr>
        <p:spPr>
          <a:xfrm>
            <a:off x="0" y="233464"/>
            <a:ext cx="9144000" cy="603115"/>
          </a:xfrm>
          <a:noFill/>
          <a:ln/>
        </p:spPr>
        <p:txBody>
          <a:bodyPr/>
          <a:lstStyle/>
          <a:p>
            <a:r>
              <a:rPr lang="en-US"/>
              <a:t>Guidelines for Applying </a:t>
            </a:r>
            <a:r>
              <a:rPr lang="en-US" smtClean="0"/>
              <a:t>IP Address </a:t>
            </a:r>
            <a:r>
              <a:rPr lang="en-US"/>
              <a:t>Space </a:t>
            </a:r>
          </a:p>
        </p:txBody>
      </p:sp>
      <p:pic>
        <p:nvPicPr>
          <p:cNvPr id="174092" name="Picture 12" descr="327P_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508125"/>
            <a:ext cx="6627812" cy="3743325"/>
          </a:xfrm>
          <a:prstGeom prst="rect">
            <a:avLst/>
          </a:prstGeom>
          <a:noFill/>
          <a:extLst>
            <a:ext uri="{909E8E84-426E-40DD-AFC4-6F175D3DCCD1}">
              <a14:hiddenFill xmlns:a14="http://schemas.microsoft.com/office/drawing/2010/main">
                <a:solidFill>
                  <a:srgbClr val="FFFFFF"/>
                </a:solidFill>
              </a14:hiddenFill>
            </a:ext>
          </a:extLst>
        </p:spPr>
      </p:pic>
      <p:sp>
        <p:nvSpPr>
          <p:cNvPr id="174094" name="Rectangle 14"/>
          <p:cNvSpPr>
            <a:spLocks noChangeArrowheads="1"/>
          </p:cNvSpPr>
          <p:nvPr/>
        </p:nvSpPr>
        <p:spPr bwMode="auto">
          <a:xfrm>
            <a:off x="1712913" y="5653088"/>
            <a:ext cx="5719762" cy="684212"/>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230188" indent="-230188" defTabSz="814388">
              <a:lnSpc>
                <a:spcPct val="95000"/>
              </a:lnSpc>
              <a:spcBef>
                <a:spcPct val="35000"/>
              </a:spcBef>
              <a:buClr>
                <a:schemeClr val="accent1"/>
              </a:buClr>
              <a:buSzPct val="100000"/>
              <a:buFont typeface="Wingdings" pitchFamily="2" charset="2"/>
              <a:buChar char="§"/>
            </a:pPr>
            <a:r>
              <a:rPr lang="en-GB" sz="2000">
                <a:solidFill>
                  <a:srgbClr val="000000"/>
                </a:solidFill>
              </a:rPr>
              <a:t>Allocate one IP subnet per VLAN.</a:t>
            </a:r>
          </a:p>
          <a:p>
            <a:pPr marL="230188" indent="-230188" defTabSz="814388">
              <a:lnSpc>
                <a:spcPct val="95000"/>
              </a:lnSpc>
              <a:spcBef>
                <a:spcPct val="35000"/>
              </a:spcBef>
              <a:buClr>
                <a:schemeClr val="accent1"/>
              </a:buClr>
              <a:buSzPct val="100000"/>
              <a:buFont typeface="Wingdings" pitchFamily="2" charset="2"/>
              <a:buChar char="§"/>
            </a:pPr>
            <a:r>
              <a:rPr lang="en-US" sz="2000">
                <a:solidFill>
                  <a:srgbClr val="000000"/>
                </a:solidFill>
              </a:rPr>
              <a:t>Allocate IP address spaces in contiguous blocks.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a:spLocks noGrp="1" noChangeArrowheads="1"/>
          </p:cNvSpPr>
          <p:nvPr>
            <p:ph type="title"/>
          </p:nvPr>
        </p:nvSpPr>
        <p:spPr/>
        <p:txBody>
          <a:bodyPr/>
          <a:lstStyle/>
          <a:p>
            <a:r>
              <a:rPr lang="en-US"/>
              <a:t>Network Traffic Types</a:t>
            </a:r>
          </a:p>
        </p:txBody>
      </p:sp>
      <p:pic>
        <p:nvPicPr>
          <p:cNvPr id="176137" name="Picture 9" descr="327P_0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650" y="1452563"/>
            <a:ext cx="6372225" cy="5084762"/>
          </a:xfrm>
          <a:prstGeom prst="rect">
            <a:avLst/>
          </a:prstGeom>
          <a:noFill/>
          <a:extLst>
            <a:ext uri="{909E8E84-426E-40DD-AFC4-6F175D3DCCD1}">
              <a14:hiddenFill xmlns:a14="http://schemas.microsoft.com/office/drawing/2010/main">
                <a:solidFill>
                  <a:srgbClr val="FFFFFF"/>
                </a:solidFill>
              </a14:hiddenFill>
            </a:ext>
          </a:extLst>
        </p:spPr>
      </p:pic>
      <p:sp>
        <p:nvSpPr>
          <p:cNvPr id="176138" name="Text Box 10"/>
          <p:cNvSpPr txBox="1">
            <a:spLocks noChangeArrowheads="1"/>
          </p:cNvSpPr>
          <p:nvPr/>
        </p:nvSpPr>
        <p:spPr bwMode="auto">
          <a:xfrm>
            <a:off x="427038" y="1452562"/>
            <a:ext cx="3833677" cy="270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square" lIns="0" tIns="0" rIns="0" bIns="0">
            <a:spAutoFit/>
          </a:bodyPr>
          <a:lstStyle>
            <a:lvl1pPr>
              <a:defRPr sz="2400">
                <a:solidFill>
                  <a:schemeClr val="tx1"/>
                </a:solidFill>
                <a:latin typeface="Times" pitchFamily="18" charset="0"/>
              </a:defRPr>
            </a:lvl1pPr>
            <a:lvl2pPr marL="347663" indent="-233363">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95000"/>
              </a:lnSpc>
              <a:spcBef>
                <a:spcPct val="35000"/>
              </a:spcBef>
              <a:buClr>
                <a:schemeClr val="accent1"/>
              </a:buClr>
            </a:pPr>
            <a:r>
              <a:rPr lang="en-US">
                <a:latin typeface="Arial" charset="0"/>
              </a:rPr>
              <a:t>Traffic types to consider </a:t>
            </a:r>
            <a:br>
              <a:rPr lang="en-US">
                <a:latin typeface="Arial" charset="0"/>
              </a:rPr>
            </a:br>
            <a:r>
              <a:rPr lang="en-US">
                <a:latin typeface="Arial" charset="0"/>
              </a:rPr>
              <a:t>when designating VLANs:</a:t>
            </a:r>
          </a:p>
          <a:p>
            <a:pPr lvl="1">
              <a:lnSpc>
                <a:spcPct val="95000"/>
              </a:lnSpc>
              <a:spcBef>
                <a:spcPct val="35000"/>
              </a:spcBef>
              <a:buClr>
                <a:schemeClr val="accent1"/>
              </a:buClr>
              <a:buFont typeface="Wingdings" pitchFamily="2" charset="2"/>
              <a:buChar char="§"/>
            </a:pPr>
            <a:r>
              <a:rPr lang="en-US" sz="2000">
                <a:latin typeface="Arial" charset="0"/>
              </a:rPr>
              <a:t>Network management</a:t>
            </a:r>
          </a:p>
          <a:p>
            <a:pPr lvl="1">
              <a:lnSpc>
                <a:spcPct val="95000"/>
              </a:lnSpc>
              <a:spcBef>
                <a:spcPct val="35000"/>
              </a:spcBef>
              <a:buClr>
                <a:schemeClr val="accent1"/>
              </a:buClr>
              <a:buFont typeface="Wingdings" pitchFamily="2" charset="2"/>
              <a:buChar char="§"/>
            </a:pPr>
            <a:r>
              <a:rPr lang="en-US" sz="2000">
                <a:latin typeface="Arial" charset="0"/>
              </a:rPr>
              <a:t>IP telephony</a:t>
            </a:r>
          </a:p>
          <a:p>
            <a:pPr lvl="1">
              <a:lnSpc>
                <a:spcPct val="95000"/>
              </a:lnSpc>
              <a:spcBef>
                <a:spcPct val="35000"/>
              </a:spcBef>
              <a:buClr>
                <a:schemeClr val="accent1"/>
              </a:buClr>
              <a:buFont typeface="Wingdings" pitchFamily="2" charset="2"/>
              <a:buChar char="§"/>
            </a:pPr>
            <a:r>
              <a:rPr lang="en-US" sz="2000">
                <a:latin typeface="Arial" charset="0"/>
              </a:rPr>
              <a:t>IP Multicast</a:t>
            </a:r>
          </a:p>
          <a:p>
            <a:pPr lvl="1">
              <a:lnSpc>
                <a:spcPct val="95000"/>
              </a:lnSpc>
              <a:spcBef>
                <a:spcPct val="35000"/>
              </a:spcBef>
              <a:buClr>
                <a:schemeClr val="accent1"/>
              </a:buClr>
              <a:buFont typeface="Wingdings" pitchFamily="2" charset="2"/>
              <a:buChar char="§"/>
            </a:pPr>
            <a:r>
              <a:rPr lang="en-US" sz="2000">
                <a:latin typeface="Arial" charset="0"/>
              </a:rPr>
              <a:t>Normal data</a:t>
            </a:r>
          </a:p>
          <a:p>
            <a:pPr lvl="1">
              <a:lnSpc>
                <a:spcPct val="95000"/>
              </a:lnSpc>
              <a:spcBef>
                <a:spcPct val="35000"/>
              </a:spcBef>
              <a:buClr>
                <a:schemeClr val="accent1"/>
              </a:buClr>
              <a:buFont typeface="Wingdings" pitchFamily="2" charset="2"/>
              <a:buChar char="§"/>
            </a:pPr>
            <a:r>
              <a:rPr lang="en-US" sz="2000">
                <a:latin typeface="Arial" charset="0"/>
              </a:rPr>
              <a:t>Scavenger class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378" name="Picture 2" descr="327P_5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5388" y="1600200"/>
            <a:ext cx="6719887" cy="4500563"/>
          </a:xfrm>
          <a:prstGeom prst="rect">
            <a:avLst/>
          </a:prstGeom>
          <a:noFill/>
          <a:extLst>
            <a:ext uri="{909E8E84-426E-40DD-AFC4-6F175D3DCCD1}">
              <a14:hiddenFill xmlns:a14="http://schemas.microsoft.com/office/drawing/2010/main">
                <a:solidFill>
                  <a:srgbClr val="FFFFFF"/>
                </a:solidFill>
              </a14:hiddenFill>
            </a:ext>
          </a:extLst>
        </p:spPr>
      </p:pic>
      <p:sp>
        <p:nvSpPr>
          <p:cNvPr id="229379" name="Rectangle 3"/>
          <p:cNvSpPr>
            <a:spLocks noGrp="1" noChangeArrowheads="1"/>
          </p:cNvSpPr>
          <p:nvPr>
            <p:ph type="title"/>
          </p:nvPr>
        </p:nvSpPr>
        <p:spPr/>
        <p:txBody>
          <a:bodyPr/>
          <a:lstStyle/>
          <a:p>
            <a:r>
              <a:rPr lang="en-US"/>
              <a:t>VLAN Operation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428" name="Picture 4" descr="327P_5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588" y="2178050"/>
            <a:ext cx="7615237" cy="3444875"/>
          </a:xfrm>
          <a:prstGeom prst="rect">
            <a:avLst/>
          </a:prstGeom>
          <a:noFill/>
          <a:extLst>
            <a:ext uri="{909E8E84-426E-40DD-AFC4-6F175D3DCCD1}">
              <a14:hiddenFill xmlns:a14="http://schemas.microsoft.com/office/drawing/2010/main">
                <a:solidFill>
                  <a:srgbClr val="FFFFFF"/>
                </a:solidFill>
              </a14:hiddenFill>
            </a:ext>
          </a:extLst>
        </p:spPr>
      </p:pic>
      <p:sp>
        <p:nvSpPr>
          <p:cNvPr id="231426" name="Rectangle 2"/>
          <p:cNvSpPr>
            <a:spLocks noGrp="1" noChangeArrowheads="1"/>
          </p:cNvSpPr>
          <p:nvPr>
            <p:ph type="title"/>
          </p:nvPr>
        </p:nvSpPr>
        <p:spPr/>
        <p:txBody>
          <a:bodyPr/>
          <a:lstStyle/>
          <a:p>
            <a:r>
              <a:rPr lang="en-US"/>
              <a:t>VLAN Membership Modes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905" name="Line 57"/>
          <p:cNvSpPr>
            <a:spLocks noChangeShapeType="1"/>
          </p:cNvSpPr>
          <p:nvPr/>
        </p:nvSpPr>
        <p:spPr bwMode="auto">
          <a:xfrm>
            <a:off x="5867400" y="4495800"/>
            <a:ext cx="0" cy="914400"/>
          </a:xfrm>
          <a:prstGeom prst="line">
            <a:avLst/>
          </a:prstGeom>
          <a:noFill/>
          <a:ln w="38100">
            <a:solidFill>
              <a:schemeClr val="accent2"/>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nchor="ctr">
            <a:spAutoFit/>
          </a:bodyPr>
          <a:lstStyle/>
          <a:p>
            <a:endParaRPr lang="vi-VN"/>
          </a:p>
        </p:txBody>
      </p:sp>
      <p:grpSp>
        <p:nvGrpSpPr>
          <p:cNvPr id="334886" name="Group 38"/>
          <p:cNvGrpSpPr>
            <a:grpSpLocks/>
          </p:cNvGrpSpPr>
          <p:nvPr/>
        </p:nvGrpSpPr>
        <p:grpSpPr bwMode="auto">
          <a:xfrm>
            <a:off x="3200400" y="3352800"/>
            <a:ext cx="2743200" cy="0"/>
            <a:chOff x="2208" y="2544"/>
            <a:chExt cx="1728" cy="0"/>
          </a:xfrm>
        </p:grpSpPr>
        <p:sp>
          <p:nvSpPr>
            <p:cNvPr id="334887" name="Line 39"/>
            <p:cNvSpPr>
              <a:spLocks noChangeShapeType="1"/>
            </p:cNvSpPr>
            <p:nvPr/>
          </p:nvSpPr>
          <p:spPr bwMode="auto">
            <a:xfrm flipH="1">
              <a:off x="2496" y="2544"/>
              <a:ext cx="144" cy="0"/>
            </a:xfrm>
            <a:prstGeom prst="line">
              <a:avLst/>
            </a:prstGeom>
            <a:noFill/>
            <a:ln w="177800">
              <a:solidFill>
                <a:srgbClr val="07D71B"/>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88" name="Line 40"/>
            <p:cNvSpPr>
              <a:spLocks noChangeShapeType="1"/>
            </p:cNvSpPr>
            <p:nvPr/>
          </p:nvSpPr>
          <p:spPr bwMode="auto">
            <a:xfrm flipH="1">
              <a:off x="2208" y="2544"/>
              <a:ext cx="144" cy="0"/>
            </a:xfrm>
            <a:prstGeom prst="line">
              <a:avLst/>
            </a:prstGeom>
            <a:noFill/>
            <a:ln w="177800">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89" name="Line 41"/>
            <p:cNvSpPr>
              <a:spLocks noChangeShapeType="1"/>
            </p:cNvSpPr>
            <p:nvPr/>
          </p:nvSpPr>
          <p:spPr bwMode="auto">
            <a:xfrm flipH="1">
              <a:off x="2352" y="2544"/>
              <a:ext cx="144" cy="0"/>
            </a:xfrm>
            <a:prstGeom prst="line">
              <a:avLst/>
            </a:prstGeom>
            <a:noFill/>
            <a:ln w="177800">
              <a:solidFill>
                <a:schemeClr val="tx1"/>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0" name="Line 42"/>
            <p:cNvSpPr>
              <a:spLocks noChangeShapeType="1"/>
            </p:cNvSpPr>
            <p:nvPr/>
          </p:nvSpPr>
          <p:spPr bwMode="auto">
            <a:xfrm flipH="1">
              <a:off x="2928" y="2544"/>
              <a:ext cx="144" cy="0"/>
            </a:xfrm>
            <a:prstGeom prst="line">
              <a:avLst/>
            </a:prstGeom>
            <a:noFill/>
            <a:ln w="177800">
              <a:solidFill>
                <a:srgbClr val="07D71B"/>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1" name="Line 43"/>
            <p:cNvSpPr>
              <a:spLocks noChangeShapeType="1"/>
            </p:cNvSpPr>
            <p:nvPr/>
          </p:nvSpPr>
          <p:spPr bwMode="auto">
            <a:xfrm flipH="1">
              <a:off x="2640" y="2544"/>
              <a:ext cx="144" cy="0"/>
            </a:xfrm>
            <a:prstGeom prst="line">
              <a:avLst/>
            </a:prstGeom>
            <a:noFill/>
            <a:ln w="177800">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2" name="Line 44"/>
            <p:cNvSpPr>
              <a:spLocks noChangeShapeType="1"/>
            </p:cNvSpPr>
            <p:nvPr/>
          </p:nvSpPr>
          <p:spPr bwMode="auto">
            <a:xfrm flipH="1">
              <a:off x="2784" y="2544"/>
              <a:ext cx="144" cy="0"/>
            </a:xfrm>
            <a:prstGeom prst="line">
              <a:avLst/>
            </a:prstGeom>
            <a:noFill/>
            <a:ln w="177800">
              <a:solidFill>
                <a:schemeClr val="tx1"/>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3" name="Line 45"/>
            <p:cNvSpPr>
              <a:spLocks noChangeShapeType="1"/>
            </p:cNvSpPr>
            <p:nvPr/>
          </p:nvSpPr>
          <p:spPr bwMode="auto">
            <a:xfrm flipH="1">
              <a:off x="3360" y="2544"/>
              <a:ext cx="144" cy="0"/>
            </a:xfrm>
            <a:prstGeom prst="line">
              <a:avLst/>
            </a:prstGeom>
            <a:noFill/>
            <a:ln w="177800">
              <a:solidFill>
                <a:srgbClr val="07D71B"/>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4" name="Line 46"/>
            <p:cNvSpPr>
              <a:spLocks noChangeShapeType="1"/>
            </p:cNvSpPr>
            <p:nvPr/>
          </p:nvSpPr>
          <p:spPr bwMode="auto">
            <a:xfrm flipH="1">
              <a:off x="3072" y="2544"/>
              <a:ext cx="144" cy="0"/>
            </a:xfrm>
            <a:prstGeom prst="line">
              <a:avLst/>
            </a:prstGeom>
            <a:noFill/>
            <a:ln w="177800">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5" name="Line 47"/>
            <p:cNvSpPr>
              <a:spLocks noChangeShapeType="1"/>
            </p:cNvSpPr>
            <p:nvPr/>
          </p:nvSpPr>
          <p:spPr bwMode="auto">
            <a:xfrm flipH="1">
              <a:off x="3216" y="2544"/>
              <a:ext cx="144" cy="0"/>
            </a:xfrm>
            <a:prstGeom prst="line">
              <a:avLst/>
            </a:prstGeom>
            <a:noFill/>
            <a:ln w="177800">
              <a:solidFill>
                <a:schemeClr val="tx1"/>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6" name="Line 48"/>
            <p:cNvSpPr>
              <a:spLocks noChangeShapeType="1"/>
            </p:cNvSpPr>
            <p:nvPr/>
          </p:nvSpPr>
          <p:spPr bwMode="auto">
            <a:xfrm flipH="1">
              <a:off x="3792" y="2544"/>
              <a:ext cx="144" cy="0"/>
            </a:xfrm>
            <a:prstGeom prst="line">
              <a:avLst/>
            </a:prstGeom>
            <a:noFill/>
            <a:ln w="177800">
              <a:solidFill>
                <a:srgbClr val="07D71B"/>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7" name="Line 49"/>
            <p:cNvSpPr>
              <a:spLocks noChangeShapeType="1"/>
            </p:cNvSpPr>
            <p:nvPr/>
          </p:nvSpPr>
          <p:spPr bwMode="auto">
            <a:xfrm flipH="1">
              <a:off x="3504" y="2544"/>
              <a:ext cx="144" cy="0"/>
            </a:xfrm>
            <a:prstGeom prst="line">
              <a:avLst/>
            </a:prstGeom>
            <a:noFill/>
            <a:ln w="177800">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sp>
          <p:nvSpPr>
            <p:cNvPr id="334898" name="Line 50"/>
            <p:cNvSpPr>
              <a:spLocks noChangeShapeType="1"/>
            </p:cNvSpPr>
            <p:nvPr/>
          </p:nvSpPr>
          <p:spPr bwMode="auto">
            <a:xfrm flipH="1">
              <a:off x="3648" y="2544"/>
              <a:ext cx="144" cy="0"/>
            </a:xfrm>
            <a:prstGeom prst="line">
              <a:avLst/>
            </a:prstGeom>
            <a:noFill/>
            <a:ln w="177800">
              <a:solidFill>
                <a:schemeClr val="tx1"/>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vi-VN"/>
            </a:p>
          </p:txBody>
        </p:sp>
      </p:grpSp>
      <p:sp>
        <p:nvSpPr>
          <p:cNvPr id="334884" name="Line 36"/>
          <p:cNvSpPr>
            <a:spLocks noChangeShapeType="1"/>
          </p:cNvSpPr>
          <p:nvPr/>
        </p:nvSpPr>
        <p:spPr bwMode="auto">
          <a:xfrm>
            <a:off x="7543800" y="3276600"/>
            <a:ext cx="0" cy="1066800"/>
          </a:xfrm>
          <a:prstGeom prst="line">
            <a:avLst/>
          </a:prstGeom>
          <a:noFill/>
          <a:ln w="38100">
            <a:solidFill>
              <a:schemeClr val="accent2"/>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nchor="ctr">
            <a:spAutoFit/>
          </a:bodyPr>
          <a:lstStyle/>
          <a:p>
            <a:endParaRPr lang="vi-VN"/>
          </a:p>
        </p:txBody>
      </p:sp>
      <p:sp>
        <p:nvSpPr>
          <p:cNvPr id="334858" name="Line 10"/>
          <p:cNvSpPr>
            <a:spLocks noChangeShapeType="1"/>
          </p:cNvSpPr>
          <p:nvPr/>
        </p:nvSpPr>
        <p:spPr bwMode="auto">
          <a:xfrm>
            <a:off x="1676400" y="4495800"/>
            <a:ext cx="0" cy="914400"/>
          </a:xfrm>
          <a:prstGeom prst="line">
            <a:avLst/>
          </a:prstGeom>
          <a:noFill/>
          <a:ln w="38100">
            <a:solidFill>
              <a:schemeClr val="accent2"/>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nchor="ctr">
            <a:spAutoFit/>
          </a:bodyPr>
          <a:lstStyle/>
          <a:p>
            <a:endParaRPr lang="vi-VN"/>
          </a:p>
        </p:txBody>
      </p:sp>
      <p:sp>
        <p:nvSpPr>
          <p:cNvPr id="334861" name="Rectangle 13"/>
          <p:cNvSpPr>
            <a:spLocks noGrp="1" noChangeArrowheads="1"/>
          </p:cNvSpPr>
          <p:nvPr>
            <p:ph type="title"/>
          </p:nvPr>
        </p:nvSpPr>
        <p:spPr>
          <a:xfrm>
            <a:off x="858838" y="565150"/>
            <a:ext cx="7370762" cy="577850"/>
          </a:xfrm>
          <a:noFill/>
          <a:ln/>
        </p:spPr>
        <p:txBody>
          <a:bodyPr lIns="73286" tIns="35749" rIns="73286" bIns="35749" anchorCtr="0"/>
          <a:lstStyle/>
          <a:p>
            <a:r>
              <a:rPr lang="en-US"/>
              <a:t>VLAN  Membership Modes</a:t>
            </a:r>
            <a:endParaRPr lang="en-US" sz="3400"/>
          </a:p>
        </p:txBody>
      </p:sp>
      <p:sp>
        <p:nvSpPr>
          <p:cNvPr id="334863" name="Rectangle 15"/>
          <p:cNvSpPr>
            <a:spLocks noChangeArrowheads="1"/>
          </p:cNvSpPr>
          <p:nvPr/>
        </p:nvSpPr>
        <p:spPr bwMode="auto">
          <a:xfrm>
            <a:off x="762000" y="3962400"/>
            <a:ext cx="1219200" cy="603250"/>
          </a:xfrm>
          <a:prstGeom prst="rect">
            <a:avLst/>
          </a:prstGeom>
          <a:solidFill>
            <a:srgbClr val="99CCFF"/>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vi-VN"/>
          </a:p>
        </p:txBody>
      </p:sp>
      <p:sp>
        <p:nvSpPr>
          <p:cNvPr id="334864" name="Rectangle 16"/>
          <p:cNvSpPr>
            <a:spLocks noChangeArrowheads="1"/>
          </p:cNvSpPr>
          <p:nvPr/>
        </p:nvSpPr>
        <p:spPr bwMode="auto">
          <a:xfrm>
            <a:off x="793750" y="4076700"/>
            <a:ext cx="1155700" cy="287338"/>
          </a:xfrm>
          <a:prstGeom prst="rect">
            <a:avLst/>
          </a:prstGeom>
          <a:solidFill>
            <a:schemeClr val="folHlink"/>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vi-VN"/>
          </a:p>
        </p:txBody>
      </p:sp>
      <p:sp>
        <p:nvSpPr>
          <p:cNvPr id="334865" name="Text Box 17"/>
          <p:cNvSpPr txBox="1">
            <a:spLocks noChangeArrowheads="1"/>
          </p:cNvSpPr>
          <p:nvPr/>
        </p:nvSpPr>
        <p:spPr bwMode="auto">
          <a:xfrm>
            <a:off x="922338" y="4043363"/>
            <a:ext cx="847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1600" b="1">
                <a:latin typeface="Helvetica" pitchFamily="34" charset="0"/>
              </a:rPr>
              <a:t>VLAN5</a:t>
            </a:r>
            <a:endParaRPr lang="en-US" sz="6000" b="1">
              <a:latin typeface="Helvetica" pitchFamily="34" charset="0"/>
            </a:endParaRPr>
          </a:p>
        </p:txBody>
      </p:sp>
      <p:sp>
        <p:nvSpPr>
          <p:cNvPr id="334867" name="Text Box 19"/>
          <p:cNvSpPr txBox="1">
            <a:spLocks noChangeArrowheads="1"/>
          </p:cNvSpPr>
          <p:nvPr/>
        </p:nvSpPr>
        <p:spPr bwMode="auto">
          <a:xfrm>
            <a:off x="838200" y="1905000"/>
            <a:ext cx="2508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3200" b="1">
                <a:latin typeface="Helvetica" pitchFamily="34" charset="0"/>
              </a:rPr>
              <a:t>Static VLAN</a:t>
            </a:r>
          </a:p>
        </p:txBody>
      </p:sp>
      <p:sp>
        <p:nvSpPr>
          <p:cNvPr id="334868" name="Text Box 20"/>
          <p:cNvSpPr txBox="1">
            <a:spLocks noChangeArrowheads="1"/>
          </p:cNvSpPr>
          <p:nvPr/>
        </p:nvSpPr>
        <p:spPr bwMode="auto">
          <a:xfrm>
            <a:off x="5486400" y="1905000"/>
            <a:ext cx="3095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3200" b="1">
                <a:latin typeface="Helvetica" pitchFamily="34" charset="0"/>
              </a:rPr>
              <a:t>Dynamic VLAN</a:t>
            </a:r>
          </a:p>
        </p:txBody>
      </p:sp>
      <p:sp>
        <p:nvSpPr>
          <p:cNvPr id="334872" name="Rectangle 24"/>
          <p:cNvSpPr>
            <a:spLocks noChangeArrowheads="1"/>
          </p:cNvSpPr>
          <p:nvPr/>
        </p:nvSpPr>
        <p:spPr bwMode="auto">
          <a:xfrm>
            <a:off x="5194300" y="3962400"/>
            <a:ext cx="1143000" cy="609600"/>
          </a:xfrm>
          <a:prstGeom prst="rect">
            <a:avLst/>
          </a:prstGeom>
          <a:solidFill>
            <a:srgbClr val="9966FF"/>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vi-VN"/>
          </a:p>
        </p:txBody>
      </p:sp>
      <p:pic>
        <p:nvPicPr>
          <p:cNvPr id="334877"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51816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4879" name="Text Box 31"/>
          <p:cNvSpPr txBox="1">
            <a:spLocks noChangeArrowheads="1"/>
          </p:cNvSpPr>
          <p:nvPr/>
        </p:nvSpPr>
        <p:spPr bwMode="auto">
          <a:xfrm>
            <a:off x="4730750" y="5867400"/>
            <a:ext cx="207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1400" b="1">
                <a:latin typeface="Helvetica" pitchFamily="34" charset="0"/>
              </a:rPr>
              <a:t>MAC = 1111.1111.1111</a:t>
            </a:r>
          </a:p>
        </p:txBody>
      </p:sp>
      <p:sp>
        <p:nvSpPr>
          <p:cNvPr id="334881" name="Text Box 33"/>
          <p:cNvSpPr txBox="1">
            <a:spLocks noChangeArrowheads="1"/>
          </p:cNvSpPr>
          <p:nvPr/>
        </p:nvSpPr>
        <p:spPr bwMode="auto">
          <a:xfrm>
            <a:off x="3704770" y="2331243"/>
            <a:ext cx="1667329"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chor="ctr">
            <a:spAutoFit/>
          </a:bodyPr>
          <a:lstStyle/>
          <a:p>
            <a:pPr algn="ctr"/>
            <a:r>
              <a:rPr lang="en-US" b="1">
                <a:latin typeface="Helvetica" pitchFamily="34" charset="0"/>
              </a:rPr>
              <a:t>Trunk</a:t>
            </a:r>
            <a:endParaRPr lang="en-US" sz="1600" b="1">
              <a:latin typeface="Helvetica" pitchFamily="34" charset="0"/>
            </a:endParaRPr>
          </a:p>
        </p:txBody>
      </p:sp>
      <p:pic>
        <p:nvPicPr>
          <p:cNvPr id="334882" name="Picture 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4114800"/>
            <a:ext cx="60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4883" name="Text Box 35"/>
          <p:cNvSpPr txBox="1">
            <a:spLocks noChangeArrowheads="1"/>
          </p:cNvSpPr>
          <p:nvPr/>
        </p:nvSpPr>
        <p:spPr bwMode="auto">
          <a:xfrm>
            <a:off x="6486525" y="4860925"/>
            <a:ext cx="2657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1600" b="1">
                <a:latin typeface="Helvetica" pitchFamily="34" charset="0"/>
              </a:rPr>
              <a:t>VMPS</a:t>
            </a:r>
          </a:p>
          <a:p>
            <a:pPr algn="ctr"/>
            <a:r>
              <a:rPr lang="en-US" sz="1600" b="1">
                <a:latin typeface="Helvetica" pitchFamily="34" charset="0"/>
              </a:rPr>
              <a:t>1111.1111.1111 = vlan 10</a:t>
            </a:r>
            <a:r>
              <a:rPr lang="en-US" sz="2400" b="1">
                <a:latin typeface="Helvetica" pitchFamily="34" charset="0"/>
              </a:rPr>
              <a:t> </a:t>
            </a:r>
          </a:p>
        </p:txBody>
      </p:sp>
      <p:pic>
        <p:nvPicPr>
          <p:cNvPr id="33488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5400" y="52578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4900" name="Rectangle 52"/>
          <p:cNvSpPr>
            <a:spLocks noChangeArrowheads="1"/>
          </p:cNvSpPr>
          <p:nvPr/>
        </p:nvSpPr>
        <p:spPr bwMode="auto">
          <a:xfrm>
            <a:off x="5194300" y="4096204"/>
            <a:ext cx="1143000" cy="287338"/>
          </a:xfrm>
          <a:prstGeom prst="rect">
            <a:avLst/>
          </a:prstGeom>
          <a:solidFill>
            <a:schemeClr val="folHlink"/>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vi-VN"/>
          </a:p>
        </p:txBody>
      </p:sp>
      <p:sp>
        <p:nvSpPr>
          <p:cNvPr id="334901" name="Text Box 53"/>
          <p:cNvSpPr txBox="1">
            <a:spLocks noChangeArrowheads="1"/>
          </p:cNvSpPr>
          <p:nvPr/>
        </p:nvSpPr>
        <p:spPr bwMode="auto">
          <a:xfrm>
            <a:off x="5126038" y="4114800"/>
            <a:ext cx="960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1600" b="1">
                <a:latin typeface="Helvetica" pitchFamily="34" charset="0"/>
              </a:rPr>
              <a:t>VLAN10</a:t>
            </a:r>
            <a:endParaRPr lang="en-US" sz="6000" b="1">
              <a:latin typeface="Helvetica" pitchFamily="34" charset="0"/>
            </a:endParaRPr>
          </a:p>
        </p:txBody>
      </p:sp>
      <p:pic>
        <p:nvPicPr>
          <p:cNvPr id="334902" name="Picture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2514600"/>
            <a:ext cx="2895600" cy="128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4875" name="Text Box 27"/>
          <p:cNvSpPr txBox="1">
            <a:spLocks noChangeArrowheads="1"/>
          </p:cNvSpPr>
          <p:nvPr/>
        </p:nvSpPr>
        <p:spPr bwMode="auto">
          <a:xfrm>
            <a:off x="5707063" y="3382963"/>
            <a:ext cx="13652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2200" b="1">
                <a:solidFill>
                  <a:schemeClr val="bg1"/>
                </a:solidFill>
                <a:latin typeface="Helvetica" pitchFamily="34" charset="0"/>
              </a:rPr>
              <a:t>Port e0/9</a:t>
            </a:r>
          </a:p>
        </p:txBody>
      </p:sp>
      <p:pic>
        <p:nvPicPr>
          <p:cNvPr id="334904" name="Picture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525713"/>
            <a:ext cx="2895600" cy="128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4871" name="Text Box 23"/>
          <p:cNvSpPr txBox="1">
            <a:spLocks noChangeArrowheads="1"/>
          </p:cNvSpPr>
          <p:nvPr/>
        </p:nvSpPr>
        <p:spPr bwMode="auto">
          <a:xfrm>
            <a:off x="655638" y="3324225"/>
            <a:ext cx="13652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a:r>
              <a:rPr lang="en-US" sz="2200" b="1">
                <a:solidFill>
                  <a:schemeClr val="bg1"/>
                </a:solidFill>
                <a:latin typeface="Helvetica" pitchFamily="34" charset="0"/>
              </a:rPr>
              <a:t>Port e0/4</a:t>
            </a:r>
          </a:p>
        </p:txBody>
      </p:sp>
      <p:sp>
        <p:nvSpPr>
          <p:cNvPr id="2" name="Down Arrow Callout 1"/>
          <p:cNvSpPr/>
          <p:nvPr/>
        </p:nvSpPr>
        <p:spPr bwMode="auto">
          <a:xfrm>
            <a:off x="4365009" y="2680008"/>
            <a:ext cx="952500" cy="565785"/>
          </a:xfrm>
          <a:prstGeom prst="downArrowCallout">
            <a:avLst/>
          </a:prstGeom>
          <a:solidFill>
            <a:srgbClr val="92D050"/>
          </a:solidFill>
          <a:ln w="38100" cap="flat" cmpd="sng" algn="ctr">
            <a:solidFill>
              <a:schemeClr val="tx1"/>
            </a:solidFill>
            <a:prstDash val="solid"/>
            <a:round/>
            <a:headEnd type="none" w="sm" len="sm"/>
            <a:tailEnd type="none" w="sm" len="sm"/>
          </a:ln>
          <a:effectLst/>
          <a:extLst/>
        </p:spPr>
        <p:txBody>
          <a:bodyPr vert="horz" wrap="square" lIns="91440" tIns="45720" rIns="91440" bIns="45720" numCol="1" rtlCol="0" anchor="ctr" anchorCtr="0" compatLnSpc="1">
            <a:prstTxWarp prst="textNoShape">
              <a:avLst/>
            </a:prstTxWarp>
            <a:spAutoFit/>
          </a:bodyPr>
          <a:lstStyle/>
          <a:p>
            <a:pPr algn="ctr"/>
            <a:r>
              <a:rPr lang="en-US" b="1"/>
              <a:t>ISL</a:t>
            </a:r>
          </a:p>
        </p:txBody>
      </p:sp>
      <p:sp>
        <p:nvSpPr>
          <p:cNvPr id="3" name="Up Arrow Callout 2"/>
          <p:cNvSpPr/>
          <p:nvPr/>
        </p:nvSpPr>
        <p:spPr bwMode="auto">
          <a:xfrm>
            <a:off x="3257550" y="3468077"/>
            <a:ext cx="1485900" cy="480917"/>
          </a:xfrm>
          <a:prstGeom prst="upArrowCallout">
            <a:avLst/>
          </a:prstGeom>
          <a:solidFill>
            <a:srgbClr val="CC99FF"/>
          </a:solidFill>
          <a:ln w="38100" cap="flat" cmpd="sng" algn="ctr">
            <a:solidFill>
              <a:schemeClr val="tx1"/>
            </a:solidFill>
            <a:prstDash val="solid"/>
            <a:round/>
            <a:headEnd type="none" w="sm" len="sm"/>
            <a:tailEnd type="none" w="sm" len="sm"/>
          </a:ln>
          <a:effectLst/>
          <a:extLst/>
        </p:spPr>
        <p:txBody>
          <a:bodyPr vert="horz" wrap="square" lIns="91440" tIns="45720" rIns="91440" bIns="45720" numCol="1" rtlCol="0" anchor="ctr" anchorCtr="0" compatLnSpc="1">
            <a:prstTxWarp prst="textNoShape">
              <a:avLst/>
            </a:prstTxWarp>
            <a:spAutoFit/>
          </a:bodyPr>
          <a:lstStyle/>
          <a:p>
            <a:r>
              <a:rPr lang="en-US" sz="1600" b="1">
                <a:solidFill>
                  <a:srgbClr val="C00000"/>
                </a:solidFill>
              </a:rPr>
              <a:t>IEEE </a:t>
            </a:r>
            <a:r>
              <a:rPr lang="en-US" sz="1600" b="1" smtClean="0">
                <a:solidFill>
                  <a:srgbClr val="C00000"/>
                </a:solidFill>
              </a:rPr>
              <a:t>802.1Q</a:t>
            </a:r>
            <a:endParaRPr lang="vi-VN" b="1">
              <a:solidFill>
                <a:srgbClr val="C00000"/>
              </a:solidFill>
            </a:endParaRPr>
          </a:p>
        </p:txBody>
      </p:sp>
    </p:spTree>
    <p:extLst>
      <p:ext uri="{BB962C8B-B14F-4D97-AF65-F5344CB8AC3E}">
        <p14:creationId xmlns:p14="http://schemas.microsoft.com/office/powerpoint/2010/main" val="297083031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Grp="1" noChangeArrowheads="1"/>
          </p:cNvSpPr>
          <p:nvPr>
            <p:ph type="title"/>
          </p:nvPr>
        </p:nvSpPr>
        <p:spPr bwMode="auto">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73286" tIns="35749" rIns="73286" bIns="35749" numCol="1" anchor="b" anchorCtr="0" compatLnSpc="1">
            <a:prstTxWarp prst="textNoShape">
              <a:avLst/>
            </a:prstTxWarp>
          </a:bodyPr>
          <a:lst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a:lstStyle>
          <a:p>
            <a:pPr algn="ctr"/>
            <a:r>
              <a:rPr lang="en-US" smtClean="0"/>
              <a:t>ENCAPSULATION</a:t>
            </a:r>
            <a:endParaRPr lang="en-US"/>
          </a:p>
        </p:txBody>
      </p:sp>
      <p:sp>
        <p:nvSpPr>
          <p:cNvPr id="5" name="Rectangle 2"/>
          <p:cNvSpPr txBox="1">
            <a:spLocks noChangeArrowheads="1"/>
          </p:cNvSpPr>
          <p:nvPr/>
        </p:nvSpPr>
        <p:spPr bwMode="auto">
          <a:xfrm>
            <a:off x="903120" y="2375743"/>
            <a:ext cx="8018463" cy="519112"/>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defPPr>
              <a:defRPr lang="en-US"/>
            </a:defPPr>
            <a:lvl1pPr defTabSz="814388">
              <a:defRPr sz="3200" b="1">
                <a:solidFill>
                  <a:schemeClr val="tx2"/>
                </a:solidFill>
                <a:latin typeface="+mj-lt"/>
                <a:ea typeface="+mj-ea"/>
                <a:cs typeface="+mj-cs"/>
              </a:defRPr>
            </a:lvl1pPr>
            <a:lvl2pPr defTabSz="814388">
              <a:defRPr sz="3200" b="1">
                <a:solidFill>
                  <a:schemeClr val="tx2"/>
                </a:solidFill>
              </a:defRPr>
            </a:lvl2pPr>
            <a:lvl3pPr defTabSz="814388">
              <a:defRPr sz="3200" b="1">
                <a:solidFill>
                  <a:schemeClr val="tx2"/>
                </a:solidFill>
              </a:defRPr>
            </a:lvl3pPr>
            <a:lvl4pPr defTabSz="814388">
              <a:defRPr sz="3200" b="1">
                <a:solidFill>
                  <a:schemeClr val="tx2"/>
                </a:solidFill>
              </a:defRPr>
            </a:lvl4pPr>
            <a:lvl5pPr defTabSz="814388">
              <a:defRPr sz="3200" b="1">
                <a:solidFill>
                  <a:schemeClr val="tx2"/>
                </a:solidFill>
              </a:defRPr>
            </a:lvl5pPr>
            <a:lvl6pPr marL="457200" defTabSz="814388" eaLnBrk="0" fontAlgn="base" hangingPunct="0">
              <a:lnSpc>
                <a:spcPct val="90000"/>
              </a:lnSpc>
              <a:spcBef>
                <a:spcPct val="0"/>
              </a:spcBef>
              <a:spcAft>
                <a:spcPct val="0"/>
              </a:spcAft>
              <a:defRPr sz="3200" b="1">
                <a:solidFill>
                  <a:schemeClr val="tx2"/>
                </a:solidFill>
              </a:defRPr>
            </a:lvl6pPr>
            <a:lvl7pPr marL="914400" defTabSz="814388" eaLnBrk="0" fontAlgn="base" hangingPunct="0">
              <a:lnSpc>
                <a:spcPct val="90000"/>
              </a:lnSpc>
              <a:spcBef>
                <a:spcPct val="0"/>
              </a:spcBef>
              <a:spcAft>
                <a:spcPct val="0"/>
              </a:spcAft>
              <a:defRPr sz="3200" b="1">
                <a:solidFill>
                  <a:schemeClr val="tx2"/>
                </a:solidFill>
              </a:defRPr>
            </a:lvl7pPr>
            <a:lvl8pPr marL="1371600" defTabSz="814388" eaLnBrk="0" fontAlgn="base" hangingPunct="0">
              <a:lnSpc>
                <a:spcPct val="90000"/>
              </a:lnSpc>
              <a:spcBef>
                <a:spcPct val="0"/>
              </a:spcBef>
              <a:spcAft>
                <a:spcPct val="0"/>
              </a:spcAft>
              <a:defRPr sz="3200" b="1">
                <a:solidFill>
                  <a:schemeClr val="tx2"/>
                </a:solidFill>
              </a:defRPr>
            </a:lvl8pPr>
            <a:lvl9pPr marL="1828800" defTabSz="814388" eaLnBrk="0" fontAlgn="base" hangingPunct="0">
              <a:lnSpc>
                <a:spcPct val="90000"/>
              </a:lnSpc>
              <a:spcBef>
                <a:spcPct val="0"/>
              </a:spcBef>
              <a:spcAft>
                <a:spcPct val="0"/>
              </a:spcAft>
              <a:defRPr sz="3200" b="1">
                <a:solidFill>
                  <a:schemeClr val="tx2"/>
                </a:solidFill>
              </a:defRPr>
            </a:lvl9pPr>
          </a:lstStyle>
          <a:p>
            <a:r>
              <a:rPr lang="en-US"/>
              <a:t>ISL </a:t>
            </a:r>
            <a:r>
              <a:rPr lang="vi-VN"/>
              <a:t>(Inter-Switch Link</a:t>
            </a:r>
            <a:r>
              <a:rPr lang="en-US"/>
              <a:t>)Tagging</a:t>
            </a:r>
          </a:p>
        </p:txBody>
      </p:sp>
      <p:sp>
        <p:nvSpPr>
          <p:cNvPr id="6" name="Title 1"/>
          <p:cNvSpPr txBox="1">
            <a:spLocks/>
          </p:cNvSpPr>
          <p:nvPr/>
        </p:nvSpPr>
        <p:spPr bwMode="auto">
          <a:xfrm>
            <a:off x="903120" y="3309024"/>
            <a:ext cx="7623175" cy="724445"/>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a:lstStyle>
          <a:p>
            <a:r>
              <a:rPr lang="en-US" smtClean="0"/>
              <a:t>IEEE 802.1Q</a:t>
            </a:r>
            <a:endParaRPr lang="vi-VN"/>
          </a:p>
        </p:txBody>
      </p:sp>
    </p:spTree>
    <p:extLst>
      <p:ext uri="{BB962C8B-B14F-4D97-AF65-F5344CB8AC3E}">
        <p14:creationId xmlns:p14="http://schemas.microsoft.com/office/powerpoint/2010/main" val="33059166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507835" y="928688"/>
            <a:ext cx="8018463" cy="519112"/>
          </a:xfrm>
          <a:noFill/>
          <a:ln/>
        </p:spPr>
        <p:txBody>
          <a:bodyPr lIns="73286" tIns="35749" rIns="73286" bIns="35749" anchorCtr="0"/>
          <a:lstStyle/>
          <a:p>
            <a:r>
              <a:rPr lang="en-US">
                <a:latin typeface="Tahoma" pitchFamily="34" charset="0"/>
                <a:ea typeface="Tahoma" pitchFamily="34" charset="0"/>
                <a:cs typeface="Tahoma" pitchFamily="34" charset="0"/>
              </a:rPr>
              <a:t>ISL </a:t>
            </a:r>
            <a:r>
              <a:rPr lang="vi-VN" smtClean="0">
                <a:latin typeface="Tahoma" pitchFamily="34" charset="0"/>
                <a:ea typeface="Tahoma" pitchFamily="34" charset="0"/>
                <a:cs typeface="Tahoma" pitchFamily="34" charset="0"/>
              </a:rPr>
              <a:t>(</a:t>
            </a:r>
            <a:r>
              <a:rPr lang="vi-VN" b="0" smtClean="0">
                <a:latin typeface="Tahoma" pitchFamily="34" charset="0"/>
                <a:ea typeface="Tahoma" pitchFamily="34" charset="0"/>
                <a:cs typeface="Tahoma" pitchFamily="34" charset="0"/>
              </a:rPr>
              <a:t>Inter-Switch Link</a:t>
            </a:r>
            <a:r>
              <a:rPr lang="en-US" b="0" smtClean="0">
                <a:latin typeface="Tahoma" pitchFamily="34" charset="0"/>
                <a:ea typeface="Tahoma" pitchFamily="34" charset="0"/>
                <a:cs typeface="Tahoma" pitchFamily="34" charset="0"/>
              </a:rPr>
              <a:t>)</a:t>
            </a:r>
            <a:r>
              <a:rPr lang="en-US" smtClean="0">
                <a:latin typeface="Tahoma" pitchFamily="34" charset="0"/>
                <a:ea typeface="Tahoma" pitchFamily="34" charset="0"/>
                <a:cs typeface="Tahoma" pitchFamily="34" charset="0"/>
              </a:rPr>
              <a:t>Tagging</a:t>
            </a:r>
            <a:endParaRPr lang="en-US">
              <a:latin typeface="Tahoma" pitchFamily="34" charset="0"/>
              <a:ea typeface="Tahoma" pitchFamily="34" charset="0"/>
              <a:cs typeface="Tahoma" pitchFamily="34" charset="0"/>
            </a:endParaRPr>
          </a:p>
        </p:txBody>
      </p:sp>
      <p:sp>
        <p:nvSpPr>
          <p:cNvPr id="336899" name="Rectangle 3"/>
          <p:cNvSpPr>
            <a:spLocks noGrp="1" noChangeArrowheads="1"/>
          </p:cNvSpPr>
          <p:nvPr>
            <p:ph type="body" sz="half" idx="2"/>
          </p:nvPr>
        </p:nvSpPr>
        <p:spPr>
          <a:xfrm>
            <a:off x="4495800" y="2325687"/>
            <a:ext cx="4414838" cy="4075113"/>
          </a:xfrm>
          <a:noFill/>
          <a:ln/>
        </p:spPr>
        <p:txBody>
          <a:bodyPr lIns="73286" tIns="35749" rIns="73286" bIns="35749" anchor="ctr" anchorCtr="1"/>
          <a:lstStyle/>
          <a:p>
            <a:pPr lvl="1"/>
            <a:r>
              <a:rPr lang="en-US" sz="2400"/>
              <a:t>Performed with </a:t>
            </a:r>
            <a:r>
              <a:rPr lang="en-US" sz="2400" smtClean="0"/>
              <a:t>ASIC (</a:t>
            </a:r>
            <a:r>
              <a:rPr lang="vi-VN" sz="2400" b="0" i="1" smtClean="0"/>
              <a:t>Application-specific Integrated Circuit</a:t>
            </a:r>
            <a:r>
              <a:rPr lang="en-US" sz="2400" b="0" i="1" smtClean="0"/>
              <a:t>)</a:t>
            </a:r>
            <a:endParaRPr lang="en-US" sz="2400"/>
          </a:p>
          <a:p>
            <a:pPr lvl="1"/>
            <a:r>
              <a:rPr lang="en-US" sz="2400"/>
              <a:t>Not intrusive to client stations, client does not see the ISL header</a:t>
            </a:r>
          </a:p>
          <a:p>
            <a:pPr lvl="1"/>
            <a:r>
              <a:rPr lang="en-US" sz="2400"/>
              <a:t>Effective between switches, routers and switches, switches and servers with ISL network interface cards</a:t>
            </a:r>
          </a:p>
        </p:txBody>
      </p:sp>
      <p:sp>
        <p:nvSpPr>
          <p:cNvPr id="336900" name="Rectangle 4"/>
          <p:cNvSpPr>
            <a:spLocks noChangeArrowheads="1"/>
          </p:cNvSpPr>
          <p:nvPr/>
        </p:nvSpPr>
        <p:spPr bwMode="auto">
          <a:xfrm>
            <a:off x="609600" y="1447800"/>
            <a:ext cx="80708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223" tIns="41111" rIns="82223" bIns="41111" anchor="ctr" anchorCtr="1"/>
          <a:lstStyle/>
          <a:p>
            <a:pPr marL="63500" indent="-63500" algn="ctr" defTabSz="728663">
              <a:lnSpc>
                <a:spcPct val="90000"/>
              </a:lnSpc>
              <a:spcBef>
                <a:spcPct val="50000"/>
              </a:spcBef>
            </a:pPr>
            <a:r>
              <a:rPr lang="en-US" sz="2800" b="1">
                <a:latin typeface="Helvetica" pitchFamily="34" charset="0"/>
              </a:rPr>
              <a:t>ISL trunks enable VLANs across a backbone</a:t>
            </a:r>
            <a:endParaRPr lang="en-US" sz="3000" b="1">
              <a:latin typeface="Helvetica" pitchFamily="34" charset="0"/>
            </a:endParaRPr>
          </a:p>
        </p:txBody>
      </p:sp>
      <p:grpSp>
        <p:nvGrpSpPr>
          <p:cNvPr id="336902" name="Group 6"/>
          <p:cNvGrpSpPr>
            <a:grpSpLocks/>
          </p:cNvGrpSpPr>
          <p:nvPr/>
        </p:nvGrpSpPr>
        <p:grpSpPr bwMode="auto">
          <a:xfrm>
            <a:off x="2962275" y="2800350"/>
            <a:ext cx="1379538" cy="2584450"/>
            <a:chOff x="1656" y="1568"/>
            <a:chExt cx="772" cy="1447"/>
          </a:xfrm>
        </p:grpSpPr>
        <p:sp>
          <p:nvSpPr>
            <p:cNvPr id="336903" name="Line 7"/>
            <p:cNvSpPr>
              <a:spLocks noChangeShapeType="1"/>
            </p:cNvSpPr>
            <p:nvPr/>
          </p:nvSpPr>
          <p:spPr bwMode="auto">
            <a:xfrm>
              <a:off x="2428" y="1568"/>
              <a:ext cx="0" cy="1447"/>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nvGrpSpPr>
            <p:cNvPr id="336904" name="Group 8"/>
            <p:cNvGrpSpPr>
              <a:grpSpLocks/>
            </p:cNvGrpSpPr>
            <p:nvPr/>
          </p:nvGrpSpPr>
          <p:grpSpPr bwMode="auto">
            <a:xfrm>
              <a:off x="1656" y="1568"/>
              <a:ext cx="772" cy="1447"/>
              <a:chOff x="1656" y="1568"/>
              <a:chExt cx="772" cy="1447"/>
            </a:xfrm>
          </p:grpSpPr>
          <p:sp>
            <p:nvSpPr>
              <p:cNvPr id="336905" name="Line 9"/>
              <p:cNvSpPr>
                <a:spLocks noChangeShapeType="1"/>
              </p:cNvSpPr>
              <p:nvPr/>
            </p:nvSpPr>
            <p:spPr bwMode="auto">
              <a:xfrm>
                <a:off x="1656" y="1568"/>
                <a:ext cx="772" cy="0"/>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sp>
            <p:nvSpPr>
              <p:cNvPr id="336906" name="Line 10"/>
              <p:cNvSpPr>
                <a:spLocks noChangeShapeType="1"/>
              </p:cNvSpPr>
              <p:nvPr/>
            </p:nvSpPr>
            <p:spPr bwMode="auto">
              <a:xfrm>
                <a:off x="1726" y="3015"/>
                <a:ext cx="702" cy="0"/>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grpSp>
      <p:grpSp>
        <p:nvGrpSpPr>
          <p:cNvPr id="336907" name="Group 11"/>
          <p:cNvGrpSpPr>
            <a:grpSpLocks/>
          </p:cNvGrpSpPr>
          <p:nvPr/>
        </p:nvGrpSpPr>
        <p:grpSpPr bwMode="auto">
          <a:xfrm>
            <a:off x="3203575" y="3009900"/>
            <a:ext cx="836613" cy="2133600"/>
            <a:chOff x="1791" y="1685"/>
            <a:chExt cx="468" cy="1195"/>
          </a:xfrm>
        </p:grpSpPr>
        <p:sp>
          <p:nvSpPr>
            <p:cNvPr id="336908" name="Line 12"/>
            <p:cNvSpPr>
              <a:spLocks noChangeShapeType="1"/>
            </p:cNvSpPr>
            <p:nvPr/>
          </p:nvSpPr>
          <p:spPr bwMode="auto">
            <a:xfrm>
              <a:off x="2259" y="1685"/>
              <a:ext cx="0" cy="1195"/>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nvGrpSpPr>
            <p:cNvPr id="336909" name="Group 13"/>
            <p:cNvGrpSpPr>
              <a:grpSpLocks/>
            </p:cNvGrpSpPr>
            <p:nvPr/>
          </p:nvGrpSpPr>
          <p:grpSpPr bwMode="auto">
            <a:xfrm>
              <a:off x="1791" y="1685"/>
              <a:ext cx="468" cy="1195"/>
              <a:chOff x="1791" y="1685"/>
              <a:chExt cx="468" cy="1195"/>
            </a:xfrm>
          </p:grpSpPr>
          <p:sp>
            <p:nvSpPr>
              <p:cNvPr id="336910" name="Line 14"/>
              <p:cNvSpPr>
                <a:spLocks noChangeShapeType="1"/>
              </p:cNvSpPr>
              <p:nvPr/>
            </p:nvSpPr>
            <p:spPr bwMode="auto">
              <a:xfrm>
                <a:off x="1791" y="1685"/>
                <a:ext cx="468" cy="0"/>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sp>
            <p:nvSpPr>
              <p:cNvPr id="336911" name="Line 15"/>
              <p:cNvSpPr>
                <a:spLocks noChangeShapeType="1"/>
              </p:cNvSpPr>
              <p:nvPr/>
            </p:nvSpPr>
            <p:spPr bwMode="auto">
              <a:xfrm>
                <a:off x="1834" y="2880"/>
                <a:ext cx="425" cy="0"/>
              </a:xfrm>
              <a:prstGeom prst="line">
                <a:avLst/>
              </a:prstGeom>
              <a:noFill/>
              <a:ln w="25400">
                <a:solidFill>
                  <a:schemeClr val="tx1"/>
                </a:solidFill>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grpSp>
      <p:grpSp>
        <p:nvGrpSpPr>
          <p:cNvPr id="336912" name="Group 16"/>
          <p:cNvGrpSpPr>
            <a:grpSpLocks/>
          </p:cNvGrpSpPr>
          <p:nvPr/>
        </p:nvGrpSpPr>
        <p:grpSpPr bwMode="auto">
          <a:xfrm>
            <a:off x="3222625" y="2952750"/>
            <a:ext cx="898525" cy="2241550"/>
            <a:chOff x="1802" y="1653"/>
            <a:chExt cx="503" cy="1255"/>
          </a:xfrm>
        </p:grpSpPr>
        <p:sp>
          <p:nvSpPr>
            <p:cNvPr id="336913" name="Line 17"/>
            <p:cNvSpPr>
              <a:spLocks noChangeShapeType="1"/>
            </p:cNvSpPr>
            <p:nvPr/>
          </p:nvSpPr>
          <p:spPr bwMode="auto">
            <a:xfrm>
              <a:off x="2305" y="1653"/>
              <a:ext cx="0" cy="1255"/>
            </a:xfrm>
            <a:prstGeom prst="line">
              <a:avLst/>
            </a:prstGeom>
            <a:noFill/>
            <a:ln w="25400">
              <a:solidFill>
                <a:srgbClr val="00279F"/>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nvGrpSpPr>
            <p:cNvPr id="336914" name="Group 18"/>
            <p:cNvGrpSpPr>
              <a:grpSpLocks/>
            </p:cNvGrpSpPr>
            <p:nvPr/>
          </p:nvGrpSpPr>
          <p:grpSpPr bwMode="auto">
            <a:xfrm>
              <a:off x="1802" y="1653"/>
              <a:ext cx="503" cy="1255"/>
              <a:chOff x="1802" y="1653"/>
              <a:chExt cx="503" cy="1255"/>
            </a:xfrm>
          </p:grpSpPr>
          <p:sp>
            <p:nvSpPr>
              <p:cNvPr id="336915" name="Line 19"/>
              <p:cNvSpPr>
                <a:spLocks noChangeShapeType="1"/>
              </p:cNvSpPr>
              <p:nvPr/>
            </p:nvSpPr>
            <p:spPr bwMode="auto">
              <a:xfrm>
                <a:off x="1802" y="1653"/>
                <a:ext cx="503" cy="0"/>
              </a:xfrm>
              <a:prstGeom prst="line">
                <a:avLst/>
              </a:prstGeom>
              <a:noFill/>
              <a:ln w="25400">
                <a:solidFill>
                  <a:srgbClr val="00279F"/>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sp>
            <p:nvSpPr>
              <p:cNvPr id="336916" name="Line 20"/>
              <p:cNvSpPr>
                <a:spLocks noChangeShapeType="1"/>
              </p:cNvSpPr>
              <p:nvPr/>
            </p:nvSpPr>
            <p:spPr bwMode="auto">
              <a:xfrm>
                <a:off x="1847" y="2908"/>
                <a:ext cx="458" cy="0"/>
              </a:xfrm>
              <a:prstGeom prst="line">
                <a:avLst/>
              </a:prstGeom>
              <a:noFill/>
              <a:ln w="25400">
                <a:solidFill>
                  <a:srgbClr val="00279F"/>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grpSp>
      <p:grpSp>
        <p:nvGrpSpPr>
          <p:cNvPr id="336917" name="Group 21"/>
          <p:cNvGrpSpPr>
            <a:grpSpLocks/>
          </p:cNvGrpSpPr>
          <p:nvPr/>
        </p:nvGrpSpPr>
        <p:grpSpPr bwMode="auto">
          <a:xfrm>
            <a:off x="3175000" y="2895600"/>
            <a:ext cx="1016000" cy="2362200"/>
            <a:chOff x="1775" y="1621"/>
            <a:chExt cx="569" cy="1323"/>
          </a:xfrm>
        </p:grpSpPr>
        <p:sp>
          <p:nvSpPr>
            <p:cNvPr id="336918" name="Line 22"/>
            <p:cNvSpPr>
              <a:spLocks noChangeShapeType="1"/>
            </p:cNvSpPr>
            <p:nvPr/>
          </p:nvSpPr>
          <p:spPr bwMode="auto">
            <a:xfrm>
              <a:off x="2344" y="1621"/>
              <a:ext cx="0" cy="1323"/>
            </a:xfrm>
            <a:prstGeom prst="line">
              <a:avLst/>
            </a:prstGeom>
            <a:noFill/>
            <a:ln w="25400">
              <a:solidFill>
                <a:srgbClr val="00FF78"/>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nvGrpSpPr>
            <p:cNvPr id="336919" name="Group 23"/>
            <p:cNvGrpSpPr>
              <a:grpSpLocks/>
            </p:cNvGrpSpPr>
            <p:nvPr/>
          </p:nvGrpSpPr>
          <p:grpSpPr bwMode="auto">
            <a:xfrm>
              <a:off x="1775" y="1621"/>
              <a:ext cx="569" cy="1323"/>
              <a:chOff x="1775" y="1621"/>
              <a:chExt cx="569" cy="1323"/>
            </a:xfrm>
          </p:grpSpPr>
          <p:sp>
            <p:nvSpPr>
              <p:cNvPr id="336920" name="Line 24"/>
              <p:cNvSpPr>
                <a:spLocks noChangeShapeType="1"/>
              </p:cNvSpPr>
              <p:nvPr/>
            </p:nvSpPr>
            <p:spPr bwMode="auto">
              <a:xfrm>
                <a:off x="1775" y="1621"/>
                <a:ext cx="569" cy="0"/>
              </a:xfrm>
              <a:prstGeom prst="line">
                <a:avLst/>
              </a:prstGeom>
              <a:noFill/>
              <a:ln w="25400">
                <a:solidFill>
                  <a:srgbClr val="00FF78"/>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sp>
            <p:nvSpPr>
              <p:cNvPr id="336921" name="Line 25"/>
              <p:cNvSpPr>
                <a:spLocks noChangeShapeType="1"/>
              </p:cNvSpPr>
              <p:nvPr/>
            </p:nvSpPr>
            <p:spPr bwMode="auto">
              <a:xfrm>
                <a:off x="1826" y="2944"/>
                <a:ext cx="518" cy="0"/>
              </a:xfrm>
              <a:prstGeom prst="line">
                <a:avLst/>
              </a:prstGeom>
              <a:noFill/>
              <a:ln w="25400">
                <a:solidFill>
                  <a:srgbClr val="00FF78"/>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grpSp>
      <p:grpSp>
        <p:nvGrpSpPr>
          <p:cNvPr id="336922" name="Group 26"/>
          <p:cNvGrpSpPr>
            <a:grpSpLocks/>
          </p:cNvGrpSpPr>
          <p:nvPr/>
        </p:nvGrpSpPr>
        <p:grpSpPr bwMode="auto">
          <a:xfrm>
            <a:off x="3117850" y="2838450"/>
            <a:ext cx="1149350" cy="2497138"/>
            <a:chOff x="1743" y="1589"/>
            <a:chExt cx="643" cy="1398"/>
          </a:xfrm>
        </p:grpSpPr>
        <p:sp>
          <p:nvSpPr>
            <p:cNvPr id="336923" name="Line 27"/>
            <p:cNvSpPr>
              <a:spLocks noChangeShapeType="1"/>
            </p:cNvSpPr>
            <p:nvPr/>
          </p:nvSpPr>
          <p:spPr bwMode="auto">
            <a:xfrm>
              <a:off x="2386" y="1589"/>
              <a:ext cx="0" cy="1398"/>
            </a:xfrm>
            <a:prstGeom prst="line">
              <a:avLst/>
            </a:prstGeom>
            <a:noFill/>
            <a:ln w="25400">
              <a:solidFill>
                <a:schemeClr val="accent2"/>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nvGrpSpPr>
            <p:cNvPr id="336924" name="Group 28"/>
            <p:cNvGrpSpPr>
              <a:grpSpLocks/>
            </p:cNvGrpSpPr>
            <p:nvPr/>
          </p:nvGrpSpPr>
          <p:grpSpPr bwMode="auto">
            <a:xfrm>
              <a:off x="1743" y="1589"/>
              <a:ext cx="643" cy="1398"/>
              <a:chOff x="1743" y="1589"/>
              <a:chExt cx="643" cy="1398"/>
            </a:xfrm>
          </p:grpSpPr>
          <p:sp>
            <p:nvSpPr>
              <p:cNvPr id="336925" name="Line 29"/>
              <p:cNvSpPr>
                <a:spLocks noChangeShapeType="1"/>
              </p:cNvSpPr>
              <p:nvPr/>
            </p:nvSpPr>
            <p:spPr bwMode="auto">
              <a:xfrm>
                <a:off x="1743" y="1589"/>
                <a:ext cx="643" cy="0"/>
              </a:xfrm>
              <a:prstGeom prst="line">
                <a:avLst/>
              </a:prstGeom>
              <a:noFill/>
              <a:ln w="25400">
                <a:solidFill>
                  <a:schemeClr val="accent2"/>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sp>
            <p:nvSpPr>
              <p:cNvPr id="336926" name="Line 30"/>
              <p:cNvSpPr>
                <a:spLocks noChangeShapeType="1"/>
              </p:cNvSpPr>
              <p:nvPr/>
            </p:nvSpPr>
            <p:spPr bwMode="auto">
              <a:xfrm>
                <a:off x="1802" y="2987"/>
                <a:ext cx="584" cy="0"/>
              </a:xfrm>
              <a:prstGeom prst="line">
                <a:avLst/>
              </a:prstGeom>
              <a:noFill/>
              <a:ln w="25400">
                <a:solidFill>
                  <a:schemeClr val="accent2"/>
                </a:solidFill>
                <a:prstDash val="dash"/>
                <a:round/>
                <a:headEnd type="none" w="sm" len="sm"/>
                <a:tailEnd type="none" w="sm" len="sm"/>
              </a:ln>
              <a:effectLst>
                <a:outerShdw algn="ctr" rotWithShape="0">
                  <a:schemeClr val="tx1"/>
                </a:outerShdw>
              </a:effectLst>
              <a:extLst>
                <a:ext uri="{909E8E84-426E-40DD-AFC4-6F175D3DCCD1}">
                  <a14:hiddenFill xmlns:a14="http://schemas.microsoft.com/office/drawing/2010/main">
                    <a:noFill/>
                  </a14:hiddenFill>
                </a:ext>
              </a:extLst>
            </p:spPr>
            <p:txBody>
              <a:bodyPr lIns="117834" tIns="58920" rIns="117834" bIns="58920" anchor="ctr"/>
              <a:lstStyle/>
              <a:p>
                <a:endParaRPr lang="vi-VN"/>
              </a:p>
            </p:txBody>
          </p:sp>
        </p:grpSp>
      </p:grpSp>
      <p:sp>
        <p:nvSpPr>
          <p:cNvPr id="336927" name="Freeform 31"/>
          <p:cNvSpPr>
            <a:spLocks/>
          </p:cNvSpPr>
          <p:nvPr/>
        </p:nvSpPr>
        <p:spPr bwMode="auto">
          <a:xfrm>
            <a:off x="1547813" y="2689225"/>
            <a:ext cx="828675" cy="420688"/>
          </a:xfrm>
          <a:custGeom>
            <a:avLst/>
            <a:gdLst>
              <a:gd name="T0" fmla="*/ 463 w 464"/>
              <a:gd name="T1" fmla="*/ 234 h 235"/>
              <a:gd name="T2" fmla="*/ 0 w 464"/>
              <a:gd name="T3" fmla="*/ 234 h 235"/>
              <a:gd name="T4" fmla="*/ 0 w 464"/>
              <a:gd name="T5" fmla="*/ 0 h 235"/>
            </a:gdLst>
            <a:ahLst/>
            <a:cxnLst>
              <a:cxn ang="0">
                <a:pos x="T0" y="T1"/>
              </a:cxn>
              <a:cxn ang="0">
                <a:pos x="T2" y="T3"/>
              </a:cxn>
              <a:cxn ang="0">
                <a:pos x="T4" y="T5"/>
              </a:cxn>
            </a:cxnLst>
            <a:rect l="0" t="0" r="r" b="b"/>
            <a:pathLst>
              <a:path w="464" h="235">
                <a:moveTo>
                  <a:pt x="463" y="234"/>
                </a:moveTo>
                <a:lnTo>
                  <a:pt x="0" y="234"/>
                </a:lnTo>
                <a:lnTo>
                  <a:pt x="0" y="0"/>
                </a:lnTo>
              </a:path>
            </a:pathLst>
          </a:custGeom>
          <a:noFill/>
          <a:ln w="25400" cap="rnd" cmpd="sng">
            <a:solidFill>
              <a:srgbClr val="00279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sp>
        <p:nvSpPr>
          <p:cNvPr id="336928" name="Freeform 32"/>
          <p:cNvSpPr>
            <a:spLocks/>
          </p:cNvSpPr>
          <p:nvPr/>
        </p:nvSpPr>
        <p:spPr bwMode="auto">
          <a:xfrm>
            <a:off x="2109788" y="2717800"/>
            <a:ext cx="312737" cy="336550"/>
          </a:xfrm>
          <a:custGeom>
            <a:avLst/>
            <a:gdLst>
              <a:gd name="T0" fmla="*/ 174 w 175"/>
              <a:gd name="T1" fmla="*/ 187 h 188"/>
              <a:gd name="T2" fmla="*/ 0 w 175"/>
              <a:gd name="T3" fmla="*/ 187 h 188"/>
              <a:gd name="T4" fmla="*/ 0 w 175"/>
              <a:gd name="T5" fmla="*/ 0 h 188"/>
            </a:gdLst>
            <a:ahLst/>
            <a:cxnLst>
              <a:cxn ang="0">
                <a:pos x="T0" y="T1"/>
              </a:cxn>
              <a:cxn ang="0">
                <a:pos x="T2" y="T3"/>
              </a:cxn>
              <a:cxn ang="0">
                <a:pos x="T4" y="T5"/>
              </a:cxn>
            </a:cxnLst>
            <a:rect l="0" t="0" r="r" b="b"/>
            <a:pathLst>
              <a:path w="175" h="188">
                <a:moveTo>
                  <a:pt x="174" y="187"/>
                </a:moveTo>
                <a:lnTo>
                  <a:pt x="0" y="187"/>
                </a:lnTo>
                <a:lnTo>
                  <a:pt x="0" y="0"/>
                </a:lnTo>
              </a:path>
            </a:pathLst>
          </a:custGeom>
          <a:noFill/>
          <a:ln w="25400" cap="rnd" cmpd="sng">
            <a:solidFill>
              <a:srgbClr val="00FF78"/>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grpSp>
        <p:nvGrpSpPr>
          <p:cNvPr id="336929" name="Group 33"/>
          <p:cNvGrpSpPr>
            <a:grpSpLocks/>
          </p:cNvGrpSpPr>
          <p:nvPr/>
        </p:nvGrpSpPr>
        <p:grpSpPr bwMode="auto">
          <a:xfrm>
            <a:off x="1914525" y="2486025"/>
            <a:ext cx="430213" cy="360363"/>
            <a:chOff x="1070" y="1392"/>
            <a:chExt cx="241" cy="202"/>
          </a:xfrm>
        </p:grpSpPr>
        <p:sp>
          <p:nvSpPr>
            <p:cNvPr id="336930" name="Rectangle 34"/>
            <p:cNvSpPr>
              <a:spLocks noChangeArrowheads="1"/>
            </p:cNvSpPr>
            <p:nvPr/>
          </p:nvSpPr>
          <p:spPr bwMode="auto">
            <a:xfrm>
              <a:off x="1070" y="1392"/>
              <a:ext cx="241" cy="202"/>
            </a:xfrm>
            <a:prstGeom prst="rect">
              <a:avLst/>
            </a:prstGeom>
            <a:solidFill>
              <a:srgbClr val="00FF78"/>
            </a:solidFill>
            <a:ln w="12700">
              <a:solidFill>
                <a:srgbClr val="91919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31"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 y="1412"/>
              <a:ext cx="211"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36932" name="Line 36"/>
          <p:cNvSpPr>
            <a:spLocks noChangeShapeType="1"/>
          </p:cNvSpPr>
          <p:nvPr/>
        </p:nvSpPr>
        <p:spPr bwMode="auto">
          <a:xfrm>
            <a:off x="1131888" y="3371850"/>
            <a:ext cx="1063625" cy="0"/>
          </a:xfrm>
          <a:prstGeom prst="line">
            <a:avLst/>
          </a:prstGeom>
          <a:noFill/>
          <a:ln w="25400">
            <a:solidFill>
              <a:schemeClr val="bg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sp>
        <p:nvSpPr>
          <p:cNvPr id="336933" name="Freeform 37"/>
          <p:cNvSpPr>
            <a:spLocks/>
          </p:cNvSpPr>
          <p:nvPr/>
        </p:nvSpPr>
        <p:spPr bwMode="auto">
          <a:xfrm>
            <a:off x="962025" y="2654300"/>
            <a:ext cx="1443038" cy="527050"/>
          </a:xfrm>
          <a:custGeom>
            <a:avLst/>
            <a:gdLst>
              <a:gd name="T0" fmla="*/ 807 w 808"/>
              <a:gd name="T1" fmla="*/ 294 h 295"/>
              <a:gd name="T2" fmla="*/ 0 w 808"/>
              <a:gd name="T3" fmla="*/ 294 h 295"/>
              <a:gd name="T4" fmla="*/ 0 w 808"/>
              <a:gd name="T5" fmla="*/ 0 h 295"/>
            </a:gdLst>
            <a:ahLst/>
            <a:cxnLst>
              <a:cxn ang="0">
                <a:pos x="T0" y="T1"/>
              </a:cxn>
              <a:cxn ang="0">
                <a:pos x="T2" y="T3"/>
              </a:cxn>
              <a:cxn ang="0">
                <a:pos x="T4" y="T5"/>
              </a:cxn>
            </a:cxnLst>
            <a:rect l="0" t="0" r="r" b="b"/>
            <a:pathLst>
              <a:path w="808" h="295">
                <a:moveTo>
                  <a:pt x="807" y="294"/>
                </a:moveTo>
                <a:lnTo>
                  <a:pt x="0" y="294"/>
                </a:lnTo>
                <a:lnTo>
                  <a:pt x="0" y="0"/>
                </a:lnTo>
              </a:path>
            </a:pathLst>
          </a:custGeom>
          <a:noFill/>
          <a:ln w="25400" cap="rnd" cmpd="sng">
            <a:solidFill>
              <a:schemeClr val="accent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grpSp>
        <p:nvGrpSpPr>
          <p:cNvPr id="336934" name="Group 38"/>
          <p:cNvGrpSpPr>
            <a:grpSpLocks/>
          </p:cNvGrpSpPr>
          <p:nvPr/>
        </p:nvGrpSpPr>
        <p:grpSpPr bwMode="auto">
          <a:xfrm>
            <a:off x="1330325" y="2424113"/>
            <a:ext cx="430213" cy="361950"/>
            <a:chOff x="743" y="1357"/>
            <a:chExt cx="241" cy="203"/>
          </a:xfrm>
        </p:grpSpPr>
        <p:sp>
          <p:nvSpPr>
            <p:cNvPr id="336935" name="Rectangle 39"/>
            <p:cNvSpPr>
              <a:spLocks noChangeArrowheads="1"/>
            </p:cNvSpPr>
            <p:nvPr/>
          </p:nvSpPr>
          <p:spPr bwMode="auto">
            <a:xfrm>
              <a:off x="743" y="1357"/>
              <a:ext cx="241" cy="203"/>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36"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 y="1377"/>
              <a:ext cx="212" cy="17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36937" name="Group 41"/>
          <p:cNvGrpSpPr>
            <a:grpSpLocks/>
          </p:cNvGrpSpPr>
          <p:nvPr/>
        </p:nvGrpSpPr>
        <p:grpSpPr bwMode="auto">
          <a:xfrm>
            <a:off x="765175" y="2284413"/>
            <a:ext cx="430213" cy="360362"/>
            <a:chOff x="427" y="1279"/>
            <a:chExt cx="241" cy="202"/>
          </a:xfrm>
        </p:grpSpPr>
        <p:sp>
          <p:nvSpPr>
            <p:cNvPr id="336938" name="Rectangle 42"/>
            <p:cNvSpPr>
              <a:spLocks noChangeArrowheads="1"/>
            </p:cNvSpPr>
            <p:nvPr/>
          </p:nvSpPr>
          <p:spPr bwMode="auto">
            <a:xfrm>
              <a:off x="427" y="1279"/>
              <a:ext cx="241" cy="202"/>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39"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 y="1299"/>
              <a:ext cx="212" cy="17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36940" name="Rectangle 44"/>
          <p:cNvSpPr>
            <a:spLocks noChangeArrowheads="1"/>
          </p:cNvSpPr>
          <p:nvPr/>
        </p:nvSpPr>
        <p:spPr bwMode="auto">
          <a:xfrm>
            <a:off x="512763" y="3457575"/>
            <a:ext cx="1844675"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pPr algn="ctr" defTabSz="927100">
              <a:lnSpc>
                <a:spcPct val="90000"/>
              </a:lnSpc>
            </a:pPr>
            <a:r>
              <a:rPr lang="en-US" sz="1600" b="1">
                <a:solidFill>
                  <a:schemeClr val="tx2"/>
                </a:solidFill>
                <a:latin typeface="Helvetica" pitchFamily="34" charset="0"/>
              </a:rPr>
              <a:t>VLAN Tag added by incoming port</a:t>
            </a:r>
          </a:p>
        </p:txBody>
      </p:sp>
      <p:sp>
        <p:nvSpPr>
          <p:cNvPr id="336941" name="Rectangle 45"/>
          <p:cNvSpPr>
            <a:spLocks noChangeArrowheads="1"/>
          </p:cNvSpPr>
          <p:nvPr/>
        </p:nvSpPr>
        <p:spPr bwMode="auto">
          <a:xfrm>
            <a:off x="685800" y="5638800"/>
            <a:ext cx="1889125"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pPr algn="ctr" defTabSz="927100">
              <a:lnSpc>
                <a:spcPct val="90000"/>
              </a:lnSpc>
            </a:pPr>
            <a:r>
              <a:rPr lang="en-US" sz="1600" b="1">
                <a:solidFill>
                  <a:schemeClr val="tx2"/>
                </a:solidFill>
                <a:latin typeface="Helvetica" pitchFamily="34" charset="0"/>
              </a:rPr>
              <a:t>VLAN Tag stripped by forwarding port</a:t>
            </a:r>
          </a:p>
        </p:txBody>
      </p:sp>
      <p:sp>
        <p:nvSpPr>
          <p:cNvPr id="336942" name="Rectangle 46"/>
          <p:cNvSpPr>
            <a:spLocks noChangeArrowheads="1"/>
          </p:cNvSpPr>
          <p:nvPr/>
        </p:nvSpPr>
        <p:spPr bwMode="auto">
          <a:xfrm>
            <a:off x="2286000" y="3810000"/>
            <a:ext cx="184467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pPr algn="ctr" defTabSz="927100">
              <a:lnSpc>
                <a:spcPct val="90000"/>
              </a:lnSpc>
            </a:pPr>
            <a:r>
              <a:rPr lang="en-US" sz="1600" b="1">
                <a:solidFill>
                  <a:schemeClr val="tx2"/>
                </a:solidFill>
                <a:latin typeface="Helvetica" pitchFamily="34" charset="0"/>
              </a:rPr>
              <a:t>Inter-Switch Link carries VLAN identifier</a:t>
            </a:r>
          </a:p>
        </p:txBody>
      </p:sp>
      <p:sp>
        <p:nvSpPr>
          <p:cNvPr id="336944" name="Freeform 48"/>
          <p:cNvSpPr>
            <a:spLocks/>
          </p:cNvSpPr>
          <p:nvPr/>
        </p:nvSpPr>
        <p:spPr bwMode="auto">
          <a:xfrm>
            <a:off x="1547813" y="4878388"/>
            <a:ext cx="828675" cy="419100"/>
          </a:xfrm>
          <a:custGeom>
            <a:avLst/>
            <a:gdLst>
              <a:gd name="T0" fmla="*/ 463 w 464"/>
              <a:gd name="T1" fmla="*/ 234 h 235"/>
              <a:gd name="T2" fmla="*/ 0 w 464"/>
              <a:gd name="T3" fmla="*/ 234 h 235"/>
              <a:gd name="T4" fmla="*/ 0 w 464"/>
              <a:gd name="T5" fmla="*/ 0 h 235"/>
            </a:gdLst>
            <a:ahLst/>
            <a:cxnLst>
              <a:cxn ang="0">
                <a:pos x="T0" y="T1"/>
              </a:cxn>
              <a:cxn ang="0">
                <a:pos x="T2" y="T3"/>
              </a:cxn>
              <a:cxn ang="0">
                <a:pos x="T4" y="T5"/>
              </a:cxn>
            </a:cxnLst>
            <a:rect l="0" t="0" r="r" b="b"/>
            <a:pathLst>
              <a:path w="464" h="235">
                <a:moveTo>
                  <a:pt x="463" y="234"/>
                </a:moveTo>
                <a:lnTo>
                  <a:pt x="0" y="234"/>
                </a:lnTo>
                <a:lnTo>
                  <a:pt x="0" y="0"/>
                </a:lnTo>
              </a:path>
            </a:pathLst>
          </a:custGeom>
          <a:noFill/>
          <a:ln w="25400" cap="rnd" cmpd="sng">
            <a:solidFill>
              <a:schemeClr val="accent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sp>
        <p:nvSpPr>
          <p:cNvPr id="336945" name="Freeform 49"/>
          <p:cNvSpPr>
            <a:spLocks/>
          </p:cNvSpPr>
          <p:nvPr/>
        </p:nvSpPr>
        <p:spPr bwMode="auto">
          <a:xfrm>
            <a:off x="2109788" y="4902200"/>
            <a:ext cx="312737" cy="339725"/>
          </a:xfrm>
          <a:custGeom>
            <a:avLst/>
            <a:gdLst>
              <a:gd name="T0" fmla="*/ 174 w 175"/>
              <a:gd name="T1" fmla="*/ 189 h 190"/>
              <a:gd name="T2" fmla="*/ 0 w 175"/>
              <a:gd name="T3" fmla="*/ 189 h 190"/>
              <a:gd name="T4" fmla="*/ 0 w 175"/>
              <a:gd name="T5" fmla="*/ 0 h 190"/>
            </a:gdLst>
            <a:ahLst/>
            <a:cxnLst>
              <a:cxn ang="0">
                <a:pos x="T0" y="T1"/>
              </a:cxn>
              <a:cxn ang="0">
                <a:pos x="T2" y="T3"/>
              </a:cxn>
              <a:cxn ang="0">
                <a:pos x="T4" y="T5"/>
              </a:cxn>
            </a:cxnLst>
            <a:rect l="0" t="0" r="r" b="b"/>
            <a:pathLst>
              <a:path w="175" h="190">
                <a:moveTo>
                  <a:pt x="174" y="189"/>
                </a:moveTo>
                <a:lnTo>
                  <a:pt x="0" y="189"/>
                </a:lnTo>
                <a:lnTo>
                  <a:pt x="0" y="0"/>
                </a:lnTo>
              </a:path>
            </a:pathLst>
          </a:custGeom>
          <a:noFill/>
          <a:ln w="25400" cap="rnd" cmpd="sng">
            <a:solidFill>
              <a:srgbClr val="00FF78"/>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grpSp>
        <p:nvGrpSpPr>
          <p:cNvPr id="336946" name="Group 50"/>
          <p:cNvGrpSpPr>
            <a:grpSpLocks/>
          </p:cNvGrpSpPr>
          <p:nvPr/>
        </p:nvGrpSpPr>
        <p:grpSpPr bwMode="auto">
          <a:xfrm>
            <a:off x="1889125" y="4662488"/>
            <a:ext cx="430213" cy="360362"/>
            <a:chOff x="1056" y="2610"/>
            <a:chExt cx="241" cy="202"/>
          </a:xfrm>
        </p:grpSpPr>
        <p:sp>
          <p:nvSpPr>
            <p:cNvPr id="336947" name="Rectangle 51"/>
            <p:cNvSpPr>
              <a:spLocks noChangeArrowheads="1"/>
            </p:cNvSpPr>
            <p:nvPr/>
          </p:nvSpPr>
          <p:spPr bwMode="auto">
            <a:xfrm>
              <a:off x="1056" y="2610"/>
              <a:ext cx="241" cy="202"/>
            </a:xfrm>
            <a:prstGeom prst="rect">
              <a:avLst/>
            </a:prstGeom>
            <a:solidFill>
              <a:srgbClr val="00FF78"/>
            </a:solidFill>
            <a:ln w="12700">
              <a:solidFill>
                <a:srgbClr val="91919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48"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 y="2629"/>
              <a:ext cx="211"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36949" name="Freeform 53"/>
          <p:cNvSpPr>
            <a:spLocks/>
          </p:cNvSpPr>
          <p:nvPr/>
        </p:nvSpPr>
        <p:spPr bwMode="auto">
          <a:xfrm>
            <a:off x="962025" y="4854575"/>
            <a:ext cx="1443038" cy="514350"/>
          </a:xfrm>
          <a:custGeom>
            <a:avLst/>
            <a:gdLst>
              <a:gd name="T0" fmla="*/ 807 w 808"/>
              <a:gd name="T1" fmla="*/ 287 h 288"/>
              <a:gd name="T2" fmla="*/ 0 w 808"/>
              <a:gd name="T3" fmla="*/ 287 h 288"/>
              <a:gd name="T4" fmla="*/ 0 w 808"/>
              <a:gd name="T5" fmla="*/ 0 h 288"/>
            </a:gdLst>
            <a:ahLst/>
            <a:cxnLst>
              <a:cxn ang="0">
                <a:pos x="T0" y="T1"/>
              </a:cxn>
              <a:cxn ang="0">
                <a:pos x="T2" y="T3"/>
              </a:cxn>
              <a:cxn ang="0">
                <a:pos x="T4" y="T5"/>
              </a:cxn>
            </a:cxnLst>
            <a:rect l="0" t="0" r="r" b="b"/>
            <a:pathLst>
              <a:path w="808" h="288">
                <a:moveTo>
                  <a:pt x="807" y="287"/>
                </a:moveTo>
                <a:lnTo>
                  <a:pt x="0" y="287"/>
                </a:lnTo>
                <a:lnTo>
                  <a:pt x="0" y="0"/>
                </a:lnTo>
              </a:path>
            </a:pathLst>
          </a:custGeom>
          <a:noFill/>
          <a:ln w="25400" cap="rnd" cmpd="sng">
            <a:solidFill>
              <a:schemeClr val="accent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grpSp>
        <p:nvGrpSpPr>
          <p:cNvPr id="336950" name="Group 54"/>
          <p:cNvGrpSpPr>
            <a:grpSpLocks/>
          </p:cNvGrpSpPr>
          <p:nvPr/>
        </p:nvGrpSpPr>
        <p:grpSpPr bwMode="auto">
          <a:xfrm>
            <a:off x="1330325" y="4598988"/>
            <a:ext cx="430213" cy="360362"/>
            <a:chOff x="743" y="2575"/>
            <a:chExt cx="241" cy="202"/>
          </a:xfrm>
        </p:grpSpPr>
        <p:sp>
          <p:nvSpPr>
            <p:cNvPr id="336951" name="Rectangle 55"/>
            <p:cNvSpPr>
              <a:spLocks noChangeArrowheads="1"/>
            </p:cNvSpPr>
            <p:nvPr/>
          </p:nvSpPr>
          <p:spPr bwMode="auto">
            <a:xfrm>
              <a:off x="743" y="2575"/>
              <a:ext cx="241" cy="20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52"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 y="2595"/>
              <a:ext cx="212" cy="17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36953" name="Group 57"/>
          <p:cNvGrpSpPr>
            <a:grpSpLocks/>
          </p:cNvGrpSpPr>
          <p:nvPr/>
        </p:nvGrpSpPr>
        <p:grpSpPr bwMode="auto">
          <a:xfrm>
            <a:off x="765175" y="4510088"/>
            <a:ext cx="430213" cy="361950"/>
            <a:chOff x="427" y="2525"/>
            <a:chExt cx="241" cy="203"/>
          </a:xfrm>
        </p:grpSpPr>
        <p:sp>
          <p:nvSpPr>
            <p:cNvPr id="336954" name="Rectangle 58"/>
            <p:cNvSpPr>
              <a:spLocks noChangeArrowheads="1"/>
            </p:cNvSpPr>
            <p:nvPr/>
          </p:nvSpPr>
          <p:spPr bwMode="auto">
            <a:xfrm>
              <a:off x="427" y="2525"/>
              <a:ext cx="241" cy="203"/>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pic>
          <p:nvPicPr>
            <p:cNvPr id="336955"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 y="2545"/>
              <a:ext cx="212" cy="17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36956" name="Picture 6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7913" y="2720975"/>
            <a:ext cx="1157287"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6957" name="Picture 6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3300" y="4929188"/>
            <a:ext cx="11557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6958" name="Line 62"/>
          <p:cNvSpPr>
            <a:spLocks noChangeShapeType="1"/>
          </p:cNvSpPr>
          <p:nvPr/>
        </p:nvSpPr>
        <p:spPr bwMode="auto">
          <a:xfrm>
            <a:off x="1066800" y="5562600"/>
            <a:ext cx="1063625" cy="0"/>
          </a:xfrm>
          <a:prstGeom prst="line">
            <a:avLst/>
          </a:prstGeom>
          <a:noFill/>
          <a:ln w="25400">
            <a:solidFill>
              <a:schemeClr val="bg2"/>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834" tIns="58920" rIns="117834" bIns="58920" anchor="ctr"/>
          <a:lstStyle/>
          <a:p>
            <a:endParaRPr lang="vi-VN"/>
          </a:p>
        </p:txBody>
      </p:sp>
    </p:spTree>
    <p:extLst>
      <p:ext uri="{BB962C8B-B14F-4D97-AF65-F5344CB8AC3E}">
        <p14:creationId xmlns:p14="http://schemas.microsoft.com/office/powerpoint/2010/main" val="96438848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1008063" y="558800"/>
            <a:ext cx="7145337" cy="504825"/>
          </a:xfrm>
          <a:noFill/>
          <a:ln/>
        </p:spPr>
        <p:txBody>
          <a:bodyPr lIns="73286" tIns="35749" rIns="73286" bIns="35749" anchorCtr="0"/>
          <a:lstStyle/>
          <a:p>
            <a:r>
              <a:rPr lang="en-US"/>
              <a:t>ISL Encapsulation</a:t>
            </a:r>
          </a:p>
        </p:txBody>
      </p:sp>
      <p:sp>
        <p:nvSpPr>
          <p:cNvPr id="338948" name="Rectangle 4"/>
          <p:cNvSpPr>
            <a:spLocks noChangeArrowheads="1"/>
          </p:cNvSpPr>
          <p:nvPr/>
        </p:nvSpPr>
        <p:spPr bwMode="auto">
          <a:xfrm>
            <a:off x="1066800" y="1798638"/>
            <a:ext cx="1809750" cy="673100"/>
          </a:xfrm>
          <a:prstGeom prst="rect">
            <a:avLst/>
          </a:prstGeom>
          <a:solidFill>
            <a:srgbClr val="009688"/>
          </a:solidFill>
          <a:ln w="12700">
            <a:solidFill>
              <a:schemeClr val="tx1"/>
            </a:solidFill>
            <a:miter lim="800000"/>
            <a:headEnd/>
            <a:tailEnd/>
          </a:ln>
          <a:effectLst>
            <a:outerShdw dist="35921" dir="2700000" algn="ctr" rotWithShape="0">
              <a:schemeClr val="tx1"/>
            </a:outerShdw>
          </a:effectLst>
        </p:spPr>
        <p:txBody>
          <a:bodyPr wrap="none" lIns="131432" tIns="65715" rIns="131432" bIns="65715" anchor="ctr"/>
          <a:lstStyle/>
          <a:p>
            <a:endParaRPr lang="vi-VN"/>
          </a:p>
        </p:txBody>
      </p:sp>
      <p:sp>
        <p:nvSpPr>
          <p:cNvPr id="338949" name="Rectangle 5"/>
          <p:cNvSpPr>
            <a:spLocks noChangeArrowheads="1"/>
          </p:cNvSpPr>
          <p:nvPr/>
        </p:nvSpPr>
        <p:spPr bwMode="auto">
          <a:xfrm>
            <a:off x="2890838" y="1798638"/>
            <a:ext cx="4929187" cy="673100"/>
          </a:xfrm>
          <a:prstGeom prst="rect">
            <a:avLst/>
          </a:prstGeom>
          <a:solidFill>
            <a:schemeClr val="folHlink"/>
          </a:solidFill>
          <a:ln w="12700">
            <a:solidFill>
              <a:schemeClr val="tx1"/>
            </a:solidFill>
            <a:miter lim="800000"/>
            <a:headEnd/>
            <a:tailEnd/>
          </a:ln>
          <a:effectLst>
            <a:outerShdw dist="35921" dir="2700000" algn="ctr" rotWithShape="0">
              <a:schemeClr val="tx1"/>
            </a:outerShdw>
          </a:effectLst>
        </p:spPr>
        <p:txBody>
          <a:bodyPr wrap="none" lIns="131432" tIns="65715" rIns="131432" bIns="65715" anchor="ctr"/>
          <a:lstStyle/>
          <a:p>
            <a:endParaRPr lang="vi-VN"/>
          </a:p>
        </p:txBody>
      </p:sp>
      <p:sp>
        <p:nvSpPr>
          <p:cNvPr id="338950" name="Rectangle 6"/>
          <p:cNvSpPr>
            <a:spLocks noChangeArrowheads="1"/>
          </p:cNvSpPr>
          <p:nvPr/>
        </p:nvSpPr>
        <p:spPr bwMode="auto">
          <a:xfrm>
            <a:off x="7834313" y="1798638"/>
            <a:ext cx="974725" cy="673100"/>
          </a:xfrm>
          <a:prstGeom prst="rect">
            <a:avLst/>
          </a:prstGeom>
          <a:solidFill>
            <a:srgbClr val="009688"/>
          </a:solidFill>
          <a:ln w="12700">
            <a:solidFill>
              <a:schemeClr val="tx1"/>
            </a:solidFill>
            <a:miter lim="800000"/>
            <a:headEnd/>
            <a:tailEnd/>
          </a:ln>
          <a:effectLst>
            <a:outerShdw dist="35921" dir="2700000" algn="ctr" rotWithShape="0">
              <a:schemeClr val="tx1"/>
            </a:outerShdw>
          </a:effectLst>
        </p:spPr>
        <p:txBody>
          <a:bodyPr wrap="none" lIns="131432" tIns="65715" rIns="131432" bIns="65715" anchor="ctr"/>
          <a:lstStyle/>
          <a:p>
            <a:endParaRPr lang="vi-VN"/>
          </a:p>
        </p:txBody>
      </p:sp>
      <p:sp>
        <p:nvSpPr>
          <p:cNvPr id="338951" name="Rectangle 7"/>
          <p:cNvSpPr>
            <a:spLocks noChangeArrowheads="1"/>
          </p:cNvSpPr>
          <p:nvPr/>
        </p:nvSpPr>
        <p:spPr bwMode="auto">
          <a:xfrm>
            <a:off x="1079500" y="1782763"/>
            <a:ext cx="1776413"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1432" tIns="65715" rIns="131432" bIns="65715" anchor="ctr"/>
          <a:lstStyle/>
          <a:p>
            <a:pPr algn="ctr" defTabSz="1030288"/>
            <a:r>
              <a:rPr lang="en-US" sz="2000" b="1">
                <a:solidFill>
                  <a:schemeClr val="hlink"/>
                </a:solidFill>
                <a:effectLst>
                  <a:outerShdw blurRad="38100" dist="38100" dir="2700000" algn="tl">
                    <a:srgbClr val="C0C0C0"/>
                  </a:outerShdw>
                </a:effectLst>
                <a:latin typeface="Helvetica" pitchFamily="34" charset="0"/>
              </a:rPr>
              <a:t>ISL Header</a:t>
            </a:r>
          </a:p>
          <a:p>
            <a:pPr algn="ctr" defTabSz="1030288"/>
            <a:r>
              <a:rPr lang="en-US" sz="2000" b="1">
                <a:solidFill>
                  <a:schemeClr val="hlink"/>
                </a:solidFill>
                <a:effectLst>
                  <a:outerShdw blurRad="38100" dist="38100" dir="2700000" algn="tl">
                    <a:srgbClr val="C0C0C0"/>
                  </a:outerShdw>
                </a:effectLst>
                <a:latin typeface="Helvetica" pitchFamily="34" charset="0"/>
              </a:rPr>
              <a:t>26 bytes</a:t>
            </a:r>
          </a:p>
        </p:txBody>
      </p:sp>
      <p:sp>
        <p:nvSpPr>
          <p:cNvPr id="338952" name="Rectangle 8"/>
          <p:cNvSpPr>
            <a:spLocks noChangeArrowheads="1"/>
          </p:cNvSpPr>
          <p:nvPr/>
        </p:nvSpPr>
        <p:spPr bwMode="auto">
          <a:xfrm>
            <a:off x="2909888" y="1782763"/>
            <a:ext cx="4938712"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1432" tIns="65715" rIns="131432" bIns="65715" anchor="ctr"/>
          <a:lstStyle/>
          <a:p>
            <a:pPr algn="ctr" defTabSz="1030288"/>
            <a:r>
              <a:rPr lang="en-US" sz="2000" b="1">
                <a:latin typeface="Helvetica" pitchFamily="34" charset="0"/>
              </a:rPr>
              <a:t>Encapsulated Ethernet frame</a:t>
            </a:r>
          </a:p>
        </p:txBody>
      </p:sp>
      <p:sp>
        <p:nvSpPr>
          <p:cNvPr id="338953" name="Rectangle 9"/>
          <p:cNvSpPr>
            <a:spLocks noChangeArrowheads="1"/>
          </p:cNvSpPr>
          <p:nvPr/>
        </p:nvSpPr>
        <p:spPr bwMode="auto">
          <a:xfrm>
            <a:off x="7820025" y="1773238"/>
            <a:ext cx="1003300"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1432" tIns="65715" rIns="131432" bIns="65715" anchor="ctr"/>
          <a:lstStyle/>
          <a:p>
            <a:pPr algn="ctr" defTabSz="1030288"/>
            <a:r>
              <a:rPr lang="en-US" sz="2000" b="1">
                <a:solidFill>
                  <a:schemeClr val="hlink"/>
                </a:solidFill>
                <a:effectLst>
                  <a:outerShdw blurRad="38100" dist="38100" dir="2700000" algn="tl">
                    <a:srgbClr val="C0C0C0"/>
                  </a:outerShdw>
                </a:effectLst>
                <a:latin typeface="Helvetica" pitchFamily="34" charset="0"/>
              </a:rPr>
              <a:t>CRC</a:t>
            </a:r>
          </a:p>
          <a:p>
            <a:pPr algn="ctr" defTabSz="1030288"/>
            <a:r>
              <a:rPr lang="en-US" sz="2000" b="1">
                <a:solidFill>
                  <a:schemeClr val="hlink"/>
                </a:solidFill>
                <a:effectLst>
                  <a:outerShdw blurRad="38100" dist="38100" dir="2700000" algn="tl">
                    <a:srgbClr val="C0C0C0"/>
                  </a:outerShdw>
                </a:effectLst>
                <a:latin typeface="Helvetica" pitchFamily="34" charset="0"/>
              </a:rPr>
              <a:t>4 bytes</a:t>
            </a:r>
          </a:p>
        </p:txBody>
      </p:sp>
      <p:sp>
        <p:nvSpPr>
          <p:cNvPr id="338954" name="Rectangle 10"/>
          <p:cNvSpPr>
            <a:spLocks noGrp="1" noChangeArrowheads="1"/>
          </p:cNvSpPr>
          <p:nvPr>
            <p:ph type="body" sz="half" idx="2"/>
          </p:nvPr>
        </p:nvSpPr>
        <p:spPr>
          <a:xfrm>
            <a:off x="762000" y="4343400"/>
            <a:ext cx="7696200" cy="1828800"/>
          </a:xfrm>
          <a:noFill/>
          <a:ln/>
        </p:spPr>
        <p:txBody>
          <a:bodyPr lIns="73286" tIns="35749" rIns="73286" bIns="35749" anchor="ctr" anchorCtr="1"/>
          <a:lstStyle/>
          <a:p>
            <a:pPr lvl="1">
              <a:spcBef>
                <a:spcPct val="35000"/>
              </a:spcBef>
            </a:pPr>
            <a:r>
              <a:rPr lang="en-US" sz="2300"/>
              <a:t>Frames encapsulated with ISL header and CRC</a:t>
            </a:r>
          </a:p>
          <a:p>
            <a:pPr lvl="1">
              <a:spcBef>
                <a:spcPct val="35000"/>
              </a:spcBef>
            </a:pPr>
            <a:r>
              <a:rPr lang="en-US" sz="2300"/>
              <a:t>Support for many VLANs (1024)</a:t>
            </a:r>
          </a:p>
          <a:p>
            <a:pPr lvl="1">
              <a:spcBef>
                <a:spcPct val="35000"/>
              </a:spcBef>
            </a:pPr>
            <a:r>
              <a:rPr lang="en-US" sz="2300"/>
              <a:t>VLAN field  </a:t>
            </a:r>
          </a:p>
          <a:p>
            <a:pPr lvl="1">
              <a:spcBef>
                <a:spcPct val="35000"/>
              </a:spcBef>
            </a:pPr>
            <a:r>
              <a:rPr lang="en-US" sz="2300"/>
              <a:t>BPDU bit</a:t>
            </a:r>
          </a:p>
        </p:txBody>
      </p:sp>
      <p:sp>
        <p:nvSpPr>
          <p:cNvPr id="338955" name="Rectangle 11"/>
          <p:cNvSpPr>
            <a:spLocks noChangeArrowheads="1"/>
          </p:cNvSpPr>
          <p:nvPr/>
        </p:nvSpPr>
        <p:spPr bwMode="auto">
          <a:xfrm>
            <a:off x="381000" y="2903538"/>
            <a:ext cx="681038"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56" name="Rectangle 12"/>
          <p:cNvSpPr>
            <a:spLocks noChangeArrowheads="1"/>
          </p:cNvSpPr>
          <p:nvPr/>
        </p:nvSpPr>
        <p:spPr bwMode="auto">
          <a:xfrm>
            <a:off x="1076325" y="2903538"/>
            <a:ext cx="747713"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57" name="Rectangle 13"/>
          <p:cNvSpPr>
            <a:spLocks noChangeArrowheads="1"/>
          </p:cNvSpPr>
          <p:nvPr/>
        </p:nvSpPr>
        <p:spPr bwMode="auto">
          <a:xfrm>
            <a:off x="454025" y="2971800"/>
            <a:ext cx="55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DA</a:t>
            </a:r>
          </a:p>
        </p:txBody>
      </p:sp>
      <p:sp>
        <p:nvSpPr>
          <p:cNvPr id="338958" name="Rectangle 14"/>
          <p:cNvSpPr>
            <a:spLocks noChangeArrowheads="1"/>
          </p:cNvSpPr>
          <p:nvPr/>
        </p:nvSpPr>
        <p:spPr bwMode="auto">
          <a:xfrm>
            <a:off x="1089025" y="2971800"/>
            <a:ext cx="771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Type</a:t>
            </a:r>
          </a:p>
        </p:txBody>
      </p:sp>
      <p:sp>
        <p:nvSpPr>
          <p:cNvPr id="338959" name="Rectangle 15"/>
          <p:cNvSpPr>
            <a:spLocks noChangeArrowheads="1"/>
          </p:cNvSpPr>
          <p:nvPr/>
        </p:nvSpPr>
        <p:spPr bwMode="auto">
          <a:xfrm>
            <a:off x="1838325" y="2903538"/>
            <a:ext cx="815975"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60" name="Rectangle 16"/>
          <p:cNvSpPr>
            <a:spLocks noChangeArrowheads="1"/>
          </p:cNvSpPr>
          <p:nvPr/>
        </p:nvSpPr>
        <p:spPr bwMode="auto">
          <a:xfrm>
            <a:off x="2668588" y="2903538"/>
            <a:ext cx="539750"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61" name="Rectangle 17"/>
          <p:cNvSpPr>
            <a:spLocks noChangeArrowheads="1"/>
          </p:cNvSpPr>
          <p:nvPr/>
        </p:nvSpPr>
        <p:spPr bwMode="auto">
          <a:xfrm>
            <a:off x="3222625" y="2903538"/>
            <a:ext cx="679450"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62" name="Rectangle 18"/>
          <p:cNvSpPr>
            <a:spLocks noChangeArrowheads="1"/>
          </p:cNvSpPr>
          <p:nvPr/>
        </p:nvSpPr>
        <p:spPr bwMode="auto">
          <a:xfrm>
            <a:off x="1866900" y="2971800"/>
            <a:ext cx="7445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User</a:t>
            </a:r>
          </a:p>
        </p:txBody>
      </p:sp>
      <p:sp>
        <p:nvSpPr>
          <p:cNvPr id="338963" name="Rectangle 19"/>
          <p:cNvSpPr>
            <a:spLocks noChangeArrowheads="1"/>
          </p:cNvSpPr>
          <p:nvPr/>
        </p:nvSpPr>
        <p:spPr bwMode="auto">
          <a:xfrm>
            <a:off x="2667000" y="2971800"/>
            <a:ext cx="5413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SA</a:t>
            </a:r>
          </a:p>
        </p:txBody>
      </p:sp>
      <p:sp>
        <p:nvSpPr>
          <p:cNvPr id="338964" name="Rectangle 20"/>
          <p:cNvSpPr>
            <a:spLocks noChangeArrowheads="1"/>
          </p:cNvSpPr>
          <p:nvPr/>
        </p:nvSpPr>
        <p:spPr bwMode="auto">
          <a:xfrm>
            <a:off x="3219450" y="2971800"/>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LEN</a:t>
            </a:r>
          </a:p>
        </p:txBody>
      </p:sp>
      <p:grpSp>
        <p:nvGrpSpPr>
          <p:cNvPr id="338965" name="Group 21"/>
          <p:cNvGrpSpPr>
            <a:grpSpLocks/>
          </p:cNvGrpSpPr>
          <p:nvPr/>
        </p:nvGrpSpPr>
        <p:grpSpPr bwMode="auto">
          <a:xfrm>
            <a:off x="4152900" y="3763963"/>
            <a:ext cx="1308100" cy="471487"/>
            <a:chOff x="2112" y="1686"/>
            <a:chExt cx="733" cy="264"/>
          </a:xfrm>
        </p:grpSpPr>
        <p:sp>
          <p:nvSpPr>
            <p:cNvPr id="338966" name="Rectangle 22"/>
            <p:cNvSpPr>
              <a:spLocks noChangeArrowheads="1"/>
            </p:cNvSpPr>
            <p:nvPr/>
          </p:nvSpPr>
          <p:spPr bwMode="auto">
            <a:xfrm>
              <a:off x="2160" y="1686"/>
              <a:ext cx="640" cy="264"/>
            </a:xfrm>
            <a:prstGeom prst="rect">
              <a:avLst/>
            </a:prstGeom>
            <a:solidFill>
              <a:srgbClr val="A2C1FE"/>
            </a:solidFill>
            <a:ln w="12700">
              <a:solidFill>
                <a:schemeClr val="tx1"/>
              </a:solidFill>
              <a:miter lim="800000"/>
              <a:headEnd/>
              <a:tailEnd/>
            </a:ln>
            <a:effectLst>
              <a:outerShdw dist="35921" dir="2700000" algn="ctr" rotWithShape="0">
                <a:schemeClr val="tx1"/>
              </a:outerShdw>
            </a:effectLst>
          </p:spPr>
          <p:txBody>
            <a:bodyPr lIns="103671" tIns="51836" rIns="103671" bIns="51836">
              <a:spAutoFit/>
            </a:bodyPr>
            <a:lstStyle/>
            <a:p>
              <a:endParaRPr lang="vi-VN"/>
            </a:p>
          </p:txBody>
        </p:sp>
        <p:sp>
          <p:nvSpPr>
            <p:cNvPr id="338967" name="Rectangle 23"/>
            <p:cNvSpPr>
              <a:spLocks noChangeArrowheads="1"/>
            </p:cNvSpPr>
            <p:nvPr/>
          </p:nvSpPr>
          <p:spPr bwMode="auto">
            <a:xfrm>
              <a:off x="2112" y="1728"/>
              <a:ext cx="733"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671" tIns="51836" rIns="103671" bIns="51836">
              <a:spAutoFit/>
            </a:bodyPr>
            <a:lstStyle/>
            <a:p>
              <a:pPr algn="ctr" defTabSz="1030288"/>
              <a:r>
                <a:rPr lang="en-US" sz="1900" b="1">
                  <a:latin typeface="Helvetica" pitchFamily="34" charset="0"/>
                </a:rPr>
                <a:t>VLAN</a:t>
              </a:r>
            </a:p>
          </p:txBody>
        </p:sp>
      </p:grpSp>
      <p:sp>
        <p:nvSpPr>
          <p:cNvPr id="338968" name="Rectangle 24"/>
          <p:cNvSpPr>
            <a:spLocks noChangeArrowheads="1"/>
          </p:cNvSpPr>
          <p:nvPr/>
        </p:nvSpPr>
        <p:spPr bwMode="auto">
          <a:xfrm>
            <a:off x="3916363" y="2903538"/>
            <a:ext cx="1025525"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69" name="Rectangle 25"/>
          <p:cNvSpPr>
            <a:spLocks noChangeArrowheads="1"/>
          </p:cNvSpPr>
          <p:nvPr/>
        </p:nvSpPr>
        <p:spPr bwMode="auto">
          <a:xfrm>
            <a:off x="3854450" y="2971800"/>
            <a:ext cx="11747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AAAA03</a:t>
            </a:r>
          </a:p>
        </p:txBody>
      </p:sp>
      <p:sp>
        <p:nvSpPr>
          <p:cNvPr id="338970" name="Line 26"/>
          <p:cNvSpPr>
            <a:spLocks noChangeShapeType="1"/>
          </p:cNvSpPr>
          <p:nvPr/>
        </p:nvSpPr>
        <p:spPr bwMode="auto">
          <a:xfrm flipH="1" flipV="1">
            <a:off x="6334125" y="3416300"/>
            <a:ext cx="388938" cy="4222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nvGrpSpPr>
          <p:cNvPr id="338971" name="Group 27"/>
          <p:cNvGrpSpPr>
            <a:grpSpLocks/>
          </p:cNvGrpSpPr>
          <p:nvPr/>
        </p:nvGrpSpPr>
        <p:grpSpPr bwMode="auto">
          <a:xfrm>
            <a:off x="6665913" y="3767138"/>
            <a:ext cx="1347787" cy="471487"/>
            <a:chOff x="3520" y="1688"/>
            <a:chExt cx="755" cy="264"/>
          </a:xfrm>
        </p:grpSpPr>
        <p:sp>
          <p:nvSpPr>
            <p:cNvPr id="338972" name="Rectangle 28"/>
            <p:cNvSpPr>
              <a:spLocks noChangeArrowheads="1"/>
            </p:cNvSpPr>
            <p:nvPr/>
          </p:nvSpPr>
          <p:spPr bwMode="auto">
            <a:xfrm>
              <a:off x="3520" y="1688"/>
              <a:ext cx="755" cy="264"/>
            </a:xfrm>
            <a:prstGeom prst="rect">
              <a:avLst/>
            </a:prstGeom>
            <a:solidFill>
              <a:srgbClr val="A2C1FE"/>
            </a:solidFill>
            <a:ln w="12700">
              <a:solidFill>
                <a:schemeClr val="tx1"/>
              </a:solidFill>
              <a:miter lim="800000"/>
              <a:headEnd/>
              <a:tailEnd/>
            </a:ln>
            <a:effectLst>
              <a:outerShdw dist="35921" dir="2700000" algn="ctr" rotWithShape="0">
                <a:schemeClr val="tx1"/>
              </a:outerShdw>
            </a:effectLst>
          </p:spPr>
          <p:txBody>
            <a:bodyPr wrap="none" lIns="103671" tIns="51836" rIns="103671" bIns="51836">
              <a:spAutoFit/>
            </a:bodyPr>
            <a:lstStyle/>
            <a:p>
              <a:endParaRPr lang="vi-VN"/>
            </a:p>
          </p:txBody>
        </p:sp>
        <p:sp>
          <p:nvSpPr>
            <p:cNvPr id="338973" name="Rectangle 29"/>
            <p:cNvSpPr>
              <a:spLocks noChangeArrowheads="1"/>
            </p:cNvSpPr>
            <p:nvPr/>
          </p:nvSpPr>
          <p:spPr bwMode="auto">
            <a:xfrm>
              <a:off x="3649" y="1728"/>
              <a:ext cx="499" cy="220"/>
            </a:xfrm>
            <a:prstGeom prst="rect">
              <a:avLst/>
            </a:prstGeom>
            <a:solidFill>
              <a:srgbClr val="A2C1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chemeClr val="bg2"/>
                  </a:solidFill>
                  <a:latin typeface="Helvetica" pitchFamily="34" charset="0"/>
                </a:rPr>
                <a:t>BPDU</a:t>
              </a:r>
            </a:p>
          </p:txBody>
        </p:sp>
      </p:grpSp>
      <p:sp>
        <p:nvSpPr>
          <p:cNvPr id="338974" name="Rectangle 30"/>
          <p:cNvSpPr>
            <a:spLocks noChangeArrowheads="1"/>
          </p:cNvSpPr>
          <p:nvPr/>
        </p:nvSpPr>
        <p:spPr bwMode="auto">
          <a:xfrm>
            <a:off x="4956175" y="2903538"/>
            <a:ext cx="608013"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75" name="Rectangle 31"/>
          <p:cNvSpPr>
            <a:spLocks noChangeArrowheads="1"/>
          </p:cNvSpPr>
          <p:nvPr/>
        </p:nvSpPr>
        <p:spPr bwMode="auto">
          <a:xfrm>
            <a:off x="4905375" y="2971800"/>
            <a:ext cx="7159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HSA</a:t>
            </a:r>
          </a:p>
        </p:txBody>
      </p:sp>
      <p:sp>
        <p:nvSpPr>
          <p:cNvPr id="338976" name="Rectangle 32"/>
          <p:cNvSpPr>
            <a:spLocks noChangeArrowheads="1"/>
          </p:cNvSpPr>
          <p:nvPr/>
        </p:nvSpPr>
        <p:spPr bwMode="auto">
          <a:xfrm>
            <a:off x="5578475" y="2895600"/>
            <a:ext cx="749300" cy="488950"/>
          </a:xfrm>
          <a:prstGeom prst="rect">
            <a:avLst/>
          </a:prstGeom>
          <a:solidFill>
            <a:srgbClr val="A2C1FE"/>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77" name="Rectangle 33"/>
          <p:cNvSpPr>
            <a:spLocks noChangeArrowheads="1"/>
          </p:cNvSpPr>
          <p:nvPr/>
        </p:nvSpPr>
        <p:spPr bwMode="auto">
          <a:xfrm>
            <a:off x="5524500" y="2971800"/>
            <a:ext cx="8636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chemeClr val="bg2"/>
                </a:solidFill>
                <a:latin typeface="Helvetica" pitchFamily="34" charset="0"/>
              </a:rPr>
              <a:t>VLAN</a:t>
            </a:r>
          </a:p>
        </p:txBody>
      </p:sp>
      <p:sp>
        <p:nvSpPr>
          <p:cNvPr id="338978" name="Rectangle 34"/>
          <p:cNvSpPr>
            <a:spLocks noChangeArrowheads="1"/>
          </p:cNvSpPr>
          <p:nvPr/>
        </p:nvSpPr>
        <p:spPr bwMode="auto">
          <a:xfrm>
            <a:off x="6230938" y="2990850"/>
            <a:ext cx="99695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2200" b="1">
                <a:solidFill>
                  <a:schemeClr val="bg2"/>
                </a:solidFill>
                <a:latin typeface="Helvetica" pitchFamily="34" charset="0"/>
              </a:rPr>
              <a:t>BPDU</a:t>
            </a:r>
          </a:p>
        </p:txBody>
      </p:sp>
      <p:sp>
        <p:nvSpPr>
          <p:cNvPr id="338979" name="Rectangle 35"/>
          <p:cNvSpPr>
            <a:spLocks noChangeArrowheads="1"/>
          </p:cNvSpPr>
          <p:nvPr/>
        </p:nvSpPr>
        <p:spPr bwMode="auto">
          <a:xfrm>
            <a:off x="6342063" y="2903538"/>
            <a:ext cx="747712" cy="473075"/>
          </a:xfrm>
          <a:prstGeom prst="rect">
            <a:avLst/>
          </a:prstGeom>
          <a:solidFill>
            <a:srgbClr val="A2C1FE"/>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80" name="Rectangle 36"/>
          <p:cNvSpPr>
            <a:spLocks noChangeArrowheads="1"/>
          </p:cNvSpPr>
          <p:nvPr/>
        </p:nvSpPr>
        <p:spPr bwMode="auto">
          <a:xfrm>
            <a:off x="6269038" y="2971800"/>
            <a:ext cx="8905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chemeClr val="bg2"/>
                </a:solidFill>
                <a:latin typeface="Helvetica" pitchFamily="34" charset="0"/>
              </a:rPr>
              <a:t>BPDU</a:t>
            </a:r>
          </a:p>
        </p:txBody>
      </p:sp>
      <p:sp>
        <p:nvSpPr>
          <p:cNvPr id="338981" name="Rectangle 37"/>
          <p:cNvSpPr>
            <a:spLocks noChangeArrowheads="1"/>
          </p:cNvSpPr>
          <p:nvPr/>
        </p:nvSpPr>
        <p:spPr bwMode="auto">
          <a:xfrm>
            <a:off x="7104063" y="2903538"/>
            <a:ext cx="869950"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82" name="Rectangle 38"/>
          <p:cNvSpPr>
            <a:spLocks noChangeArrowheads="1"/>
          </p:cNvSpPr>
          <p:nvPr/>
        </p:nvSpPr>
        <p:spPr bwMode="auto">
          <a:xfrm>
            <a:off x="7974013" y="2903538"/>
            <a:ext cx="549275" cy="473075"/>
          </a:xfrm>
          <a:prstGeom prst="rect">
            <a:avLst/>
          </a:prstGeom>
          <a:solidFill>
            <a:srgbClr val="FFDF88"/>
          </a:solidFill>
          <a:ln w="12700">
            <a:solidFill>
              <a:schemeClr val="tx1"/>
            </a:solidFill>
            <a:miter lim="800000"/>
            <a:headEnd/>
            <a:tailEnd/>
          </a:ln>
          <a:effectLst>
            <a:outerShdw dist="35921" dir="2700000" algn="ctr" rotWithShape="0">
              <a:schemeClr val="tx1"/>
            </a:outerShdw>
          </a:effectLst>
        </p:spPr>
        <p:txBody>
          <a:bodyPr wrap="none" anchor="ctr"/>
          <a:lstStyle/>
          <a:p>
            <a:endParaRPr lang="vi-VN"/>
          </a:p>
        </p:txBody>
      </p:sp>
      <p:sp>
        <p:nvSpPr>
          <p:cNvPr id="338983" name="Rectangle 39"/>
          <p:cNvSpPr>
            <a:spLocks noChangeArrowheads="1"/>
          </p:cNvSpPr>
          <p:nvPr/>
        </p:nvSpPr>
        <p:spPr bwMode="auto">
          <a:xfrm>
            <a:off x="7078663" y="2971800"/>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INDEX</a:t>
            </a:r>
          </a:p>
        </p:txBody>
      </p:sp>
      <p:sp>
        <p:nvSpPr>
          <p:cNvPr id="338984" name="Rectangle 40"/>
          <p:cNvSpPr>
            <a:spLocks noChangeArrowheads="1"/>
          </p:cNvSpPr>
          <p:nvPr/>
        </p:nvSpPr>
        <p:spPr bwMode="auto">
          <a:xfrm>
            <a:off x="7896225" y="2971800"/>
            <a:ext cx="7016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671" tIns="51836" rIns="103671" bIns="51836">
            <a:spAutoFit/>
          </a:bodyPr>
          <a:lstStyle/>
          <a:p>
            <a:pPr algn="ctr" defTabSz="1030288"/>
            <a:r>
              <a:rPr lang="en-US" sz="1900" b="1">
                <a:solidFill>
                  <a:srgbClr val="B1923B"/>
                </a:solidFill>
                <a:latin typeface="Helvetica" pitchFamily="34" charset="0"/>
              </a:rPr>
              <a:t>RES</a:t>
            </a:r>
          </a:p>
        </p:txBody>
      </p:sp>
      <p:sp>
        <p:nvSpPr>
          <p:cNvPr id="338987" name="Line 43"/>
          <p:cNvSpPr>
            <a:spLocks noChangeShapeType="1"/>
          </p:cNvSpPr>
          <p:nvPr/>
        </p:nvSpPr>
        <p:spPr bwMode="auto">
          <a:xfrm>
            <a:off x="7107238" y="3394075"/>
            <a:ext cx="815975" cy="358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88" name="Line 44"/>
          <p:cNvSpPr>
            <a:spLocks noChangeShapeType="1"/>
          </p:cNvSpPr>
          <p:nvPr/>
        </p:nvSpPr>
        <p:spPr bwMode="auto">
          <a:xfrm flipH="1">
            <a:off x="5410200" y="3381375"/>
            <a:ext cx="914400" cy="381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89" name="Line 45"/>
          <p:cNvSpPr>
            <a:spLocks noChangeShapeType="1"/>
          </p:cNvSpPr>
          <p:nvPr/>
        </p:nvSpPr>
        <p:spPr bwMode="auto">
          <a:xfrm flipH="1">
            <a:off x="4238625" y="3394075"/>
            <a:ext cx="1343025" cy="358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90" name="Line 46"/>
          <p:cNvSpPr>
            <a:spLocks noChangeShapeType="1"/>
          </p:cNvSpPr>
          <p:nvPr/>
        </p:nvSpPr>
        <p:spPr bwMode="auto">
          <a:xfrm flipV="1">
            <a:off x="5410200" y="3429000"/>
            <a:ext cx="914400" cy="80645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91" name="Line 47"/>
          <p:cNvSpPr>
            <a:spLocks noChangeShapeType="1"/>
          </p:cNvSpPr>
          <p:nvPr/>
        </p:nvSpPr>
        <p:spPr bwMode="auto">
          <a:xfrm flipH="1" flipV="1">
            <a:off x="6324600" y="3352800"/>
            <a:ext cx="3810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92" name="Line 48"/>
          <p:cNvSpPr>
            <a:spLocks noChangeShapeType="1"/>
          </p:cNvSpPr>
          <p:nvPr/>
        </p:nvSpPr>
        <p:spPr bwMode="auto">
          <a:xfrm flipH="1">
            <a:off x="381000" y="2466975"/>
            <a:ext cx="771525" cy="4445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338993" name="Line 49"/>
          <p:cNvSpPr>
            <a:spLocks noChangeShapeType="1"/>
          </p:cNvSpPr>
          <p:nvPr/>
        </p:nvSpPr>
        <p:spPr bwMode="auto">
          <a:xfrm>
            <a:off x="2895600" y="2514600"/>
            <a:ext cx="5562600" cy="381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2" name="TextBox 1"/>
          <p:cNvSpPr txBox="1"/>
          <p:nvPr/>
        </p:nvSpPr>
        <p:spPr>
          <a:xfrm>
            <a:off x="5676900" y="1274527"/>
            <a:ext cx="3276599" cy="341632"/>
          </a:xfrm>
          <a:prstGeom prst="rect">
            <a:avLst/>
          </a:prstGeom>
          <a:noFill/>
        </p:spPr>
        <p:txBody>
          <a:bodyPr wrap="square" rtlCol="0">
            <a:spAutoFit/>
          </a:bodyPr>
          <a:lstStyle/>
          <a:p>
            <a:r>
              <a:rPr lang="vi-VN" sz="1800" b="1"/>
              <a:t>Cyclic Redundancy Check</a:t>
            </a:r>
            <a:endParaRPr lang="vi-VN" sz="1800"/>
          </a:p>
        </p:txBody>
      </p:sp>
    </p:spTree>
    <p:extLst>
      <p:ext uri="{BB962C8B-B14F-4D97-AF65-F5344CB8AC3E}">
        <p14:creationId xmlns:p14="http://schemas.microsoft.com/office/powerpoint/2010/main" val="112223797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5" name="Rectangle 3"/>
          <p:cNvSpPr>
            <a:spLocks noGrp="1" noChangeArrowheads="1"/>
          </p:cNvSpPr>
          <p:nvPr>
            <p:ph type="title"/>
          </p:nvPr>
        </p:nvSpPr>
        <p:spPr/>
        <p:txBody>
          <a:bodyPr/>
          <a:lstStyle/>
          <a:p>
            <a:r>
              <a:rPr lang="en-US" sz="4000"/>
              <a:t>802.1Q Trunking</a:t>
            </a:r>
          </a:p>
        </p:txBody>
      </p:sp>
      <p:pic>
        <p:nvPicPr>
          <p:cNvPr id="233479" name="Picture 7" descr="327P_5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0" y="1671638"/>
            <a:ext cx="6908800" cy="45005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763" y="655092"/>
            <a:ext cx="7623175" cy="724445"/>
          </a:xfrm>
        </p:spPr>
        <p:txBody>
          <a:bodyPr/>
          <a:lstStyle/>
          <a:p>
            <a:r>
              <a:rPr lang="en-US" sz="4400" smtClean="0"/>
              <a:t>IEEE 802.1Q</a:t>
            </a:r>
            <a:endParaRPr lang="vi-VN" sz="4400"/>
          </a:p>
        </p:txBody>
      </p:sp>
      <p:pic>
        <p:nvPicPr>
          <p:cNvPr id="5" name="Picture 5" descr="327P_0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229600" cy="4724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168570" y="4077664"/>
            <a:ext cx="2481944" cy="338554"/>
          </a:xfrm>
          <a:prstGeom prst="rect">
            <a:avLst/>
          </a:prstGeom>
          <a:noFill/>
        </p:spPr>
        <p:txBody>
          <a:bodyPr wrap="square" rtlCol="0">
            <a:spAutoFit/>
          </a:bodyPr>
          <a:lstStyle/>
          <a:p>
            <a:r>
              <a:rPr lang="vi-VN" sz="1600" b="1" smtClean="0"/>
              <a:t>Frame check </a:t>
            </a:r>
            <a:r>
              <a:rPr lang="vi-VN" sz="1600" b="1"/>
              <a:t>sequence</a:t>
            </a:r>
            <a:endParaRPr lang="vi-VN" sz="1600"/>
          </a:p>
        </p:txBody>
      </p:sp>
    </p:spTree>
    <p:extLst>
      <p:ext uri="{BB962C8B-B14F-4D97-AF65-F5344CB8AC3E}">
        <p14:creationId xmlns:p14="http://schemas.microsoft.com/office/powerpoint/2010/main" val="26566744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2" name="Picture 22" descr="327P_5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744" y="985465"/>
            <a:ext cx="6664325" cy="4835525"/>
          </a:xfrm>
          <a:prstGeom prst="rect">
            <a:avLst/>
          </a:prstGeom>
          <a:noFill/>
          <a:extLst>
            <a:ext uri="{909E8E84-426E-40DD-AFC4-6F175D3DCCD1}">
              <a14:hiddenFill xmlns:a14="http://schemas.microsoft.com/office/drawing/2010/main">
                <a:solidFill>
                  <a:srgbClr val="FFFFFF"/>
                </a:solidFill>
              </a14:hiddenFill>
            </a:ext>
          </a:extLst>
        </p:spPr>
      </p:pic>
      <p:sp>
        <p:nvSpPr>
          <p:cNvPr id="204802" name="Rectangle 2"/>
          <p:cNvSpPr>
            <a:spLocks noGrp="1" noChangeArrowheads="1"/>
          </p:cNvSpPr>
          <p:nvPr>
            <p:ph type="title"/>
          </p:nvPr>
        </p:nvSpPr>
        <p:spPr>
          <a:xfrm>
            <a:off x="491320" y="156949"/>
            <a:ext cx="8145462" cy="838200"/>
          </a:xfrm>
        </p:spPr>
        <p:txBody>
          <a:bodyPr/>
          <a:lstStyle/>
          <a:p>
            <a:r>
              <a:rPr lang="en-US"/>
              <a:t>Understanding Native VLANs</a:t>
            </a:r>
          </a:p>
        </p:txBody>
      </p:sp>
      <p:sp>
        <p:nvSpPr>
          <p:cNvPr id="2" name="TextBox 1"/>
          <p:cNvSpPr txBox="1"/>
          <p:nvPr/>
        </p:nvSpPr>
        <p:spPr>
          <a:xfrm>
            <a:off x="491320" y="6107592"/>
            <a:ext cx="7220850" cy="341632"/>
          </a:xfrm>
          <a:prstGeom prst="rect">
            <a:avLst/>
          </a:prstGeom>
          <a:noFill/>
        </p:spPr>
        <p:txBody>
          <a:bodyPr wrap="square" rtlCol="0">
            <a:spAutoFit/>
          </a:bodyPr>
          <a:lstStyle/>
          <a:p>
            <a:r>
              <a:rPr lang="en-US" sz="1800"/>
              <a:t>All "un-tagged" traffic moves across the Native VLAN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en-US"/>
              <a:t>VTP Features</a:t>
            </a:r>
          </a:p>
        </p:txBody>
      </p:sp>
      <p:pic>
        <p:nvPicPr>
          <p:cNvPr id="207898" name="Picture 26" descr="327P_0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717675"/>
            <a:ext cx="7488237" cy="4438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7" name="Picture 9" descr="327P_0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09800"/>
            <a:ext cx="4149725" cy="3370263"/>
          </a:xfrm>
          <a:prstGeom prst="rect">
            <a:avLst/>
          </a:prstGeom>
          <a:noFill/>
          <a:extLst>
            <a:ext uri="{909E8E84-426E-40DD-AFC4-6F175D3DCCD1}">
              <a14:hiddenFill xmlns:a14="http://schemas.microsoft.com/office/drawing/2010/main">
                <a:solidFill>
                  <a:srgbClr val="FFFFFF"/>
                </a:solidFill>
              </a14:hiddenFill>
            </a:ext>
          </a:extLst>
        </p:spPr>
      </p:pic>
      <p:sp>
        <p:nvSpPr>
          <p:cNvPr id="114691" name="Text Box 3"/>
          <p:cNvSpPr txBox="1">
            <a:spLocks noChangeArrowheads="1"/>
          </p:cNvSpPr>
          <p:nvPr/>
        </p:nvSpPr>
        <p:spPr bwMode="auto">
          <a:xfrm>
            <a:off x="265113" y="3946525"/>
            <a:ext cx="1798637"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171450" indent="-171450" defTabSz="1028700">
              <a:defRPr sz="2400">
                <a:solidFill>
                  <a:schemeClr val="tx1"/>
                </a:solidFill>
                <a:latin typeface="Times" pitchFamily="18" charset="0"/>
              </a:defRPr>
            </a:lvl1pPr>
            <a:lvl2pPr marL="514350" defTabSz="1028700">
              <a:defRPr sz="2400">
                <a:solidFill>
                  <a:schemeClr val="tx1"/>
                </a:solidFill>
                <a:latin typeface="Times" pitchFamily="18" charset="0"/>
              </a:defRPr>
            </a:lvl2pPr>
            <a:lvl3pPr marL="1028700" defTabSz="1028700">
              <a:defRPr sz="2400">
                <a:solidFill>
                  <a:schemeClr val="tx1"/>
                </a:solidFill>
                <a:latin typeface="Times" pitchFamily="18" charset="0"/>
              </a:defRPr>
            </a:lvl3pPr>
            <a:lvl4pPr marL="1543050" defTabSz="1028700">
              <a:defRPr sz="2400">
                <a:solidFill>
                  <a:schemeClr val="tx1"/>
                </a:solidFill>
                <a:latin typeface="Times" pitchFamily="18" charset="0"/>
              </a:defRPr>
            </a:lvl4pPr>
            <a:lvl5pPr marL="2057400" defTabSz="1028700">
              <a:defRPr sz="2400">
                <a:solidFill>
                  <a:schemeClr val="tx1"/>
                </a:solidFill>
                <a:latin typeface="Times" pitchFamily="18" charset="0"/>
              </a:defRPr>
            </a:lvl5pPr>
            <a:lvl6pPr marL="2514600" defTabSz="1028700" fontAlgn="base">
              <a:spcBef>
                <a:spcPct val="0"/>
              </a:spcBef>
              <a:spcAft>
                <a:spcPct val="0"/>
              </a:spcAft>
              <a:defRPr sz="2400">
                <a:solidFill>
                  <a:schemeClr val="tx1"/>
                </a:solidFill>
                <a:latin typeface="Times" pitchFamily="18" charset="0"/>
              </a:defRPr>
            </a:lvl6pPr>
            <a:lvl7pPr marL="2971800" defTabSz="1028700" fontAlgn="base">
              <a:spcBef>
                <a:spcPct val="0"/>
              </a:spcBef>
              <a:spcAft>
                <a:spcPct val="0"/>
              </a:spcAft>
              <a:defRPr sz="2400">
                <a:solidFill>
                  <a:schemeClr val="tx1"/>
                </a:solidFill>
                <a:latin typeface="Times" pitchFamily="18" charset="0"/>
              </a:defRPr>
            </a:lvl7pPr>
            <a:lvl8pPr marL="3429000" defTabSz="1028700" fontAlgn="base">
              <a:spcBef>
                <a:spcPct val="0"/>
              </a:spcBef>
              <a:spcAft>
                <a:spcPct val="0"/>
              </a:spcAft>
              <a:defRPr sz="2400">
                <a:solidFill>
                  <a:schemeClr val="tx1"/>
                </a:solidFill>
                <a:latin typeface="Times" pitchFamily="18" charset="0"/>
              </a:defRPr>
            </a:lvl8pPr>
            <a:lvl9pPr marL="3886200" defTabSz="1028700" fontAlgn="base">
              <a:spcBef>
                <a:spcPct val="0"/>
              </a:spcBef>
              <a:spcAft>
                <a:spcPct val="0"/>
              </a:spcAft>
              <a:defRPr sz="2400">
                <a:solidFill>
                  <a:schemeClr val="tx1"/>
                </a:solidFill>
                <a:latin typeface="Times" pitchFamily="18" charset="0"/>
              </a:defRPr>
            </a:lvl9pPr>
          </a:lstStyle>
          <a:p>
            <a:pPr>
              <a:lnSpc>
                <a:spcPct val="95000"/>
              </a:lnSpc>
              <a:spcBef>
                <a:spcPct val="35000"/>
              </a:spcBef>
              <a:buClr>
                <a:schemeClr val="accent1"/>
              </a:buClr>
              <a:buFont typeface="Wingdings" pitchFamily="2" charset="2"/>
              <a:buChar char="§"/>
            </a:pPr>
            <a:r>
              <a:rPr lang="en-US" sz="1600">
                <a:latin typeface="Arial" charset="0"/>
              </a:rPr>
              <a:t>Cannot create, </a:t>
            </a:r>
            <a:br>
              <a:rPr lang="en-US" sz="1600">
                <a:latin typeface="Arial" charset="0"/>
              </a:rPr>
            </a:br>
            <a:r>
              <a:rPr lang="en-US" sz="1600">
                <a:latin typeface="Arial" charset="0"/>
              </a:rPr>
              <a:t>change, or delete </a:t>
            </a:r>
            <a:br>
              <a:rPr lang="en-US" sz="1600">
                <a:latin typeface="Arial" charset="0"/>
              </a:rPr>
            </a:br>
            <a:r>
              <a:rPr lang="en-US" sz="1600">
                <a:latin typeface="Arial" charset="0"/>
              </a:rPr>
              <a:t>VLANs </a:t>
            </a:r>
          </a:p>
          <a:p>
            <a:pPr>
              <a:lnSpc>
                <a:spcPct val="95000"/>
              </a:lnSpc>
              <a:spcBef>
                <a:spcPct val="35000"/>
              </a:spcBef>
              <a:buClr>
                <a:schemeClr val="accent1"/>
              </a:buClr>
              <a:buFont typeface="Wingdings" pitchFamily="2" charset="2"/>
              <a:buChar char="§"/>
            </a:pPr>
            <a:r>
              <a:rPr lang="en-US" sz="1600">
                <a:latin typeface="Arial" charset="0"/>
              </a:rPr>
              <a:t>Sends and </a:t>
            </a:r>
            <a:br>
              <a:rPr lang="en-US" sz="1600">
                <a:latin typeface="Arial" charset="0"/>
              </a:rPr>
            </a:br>
            <a:r>
              <a:rPr lang="en-US" sz="1600">
                <a:latin typeface="Arial" charset="0"/>
              </a:rPr>
              <a:t>forwards </a:t>
            </a:r>
            <a:br>
              <a:rPr lang="en-US" sz="1600">
                <a:latin typeface="Arial" charset="0"/>
              </a:rPr>
            </a:br>
            <a:r>
              <a:rPr lang="en-US" sz="1600">
                <a:latin typeface="Arial" charset="0"/>
              </a:rPr>
              <a:t>advertisements</a:t>
            </a:r>
          </a:p>
          <a:p>
            <a:pPr>
              <a:lnSpc>
                <a:spcPct val="95000"/>
              </a:lnSpc>
              <a:spcBef>
                <a:spcPct val="35000"/>
              </a:spcBef>
              <a:buClr>
                <a:schemeClr val="accent1"/>
              </a:buClr>
              <a:buFont typeface="Wingdings" pitchFamily="2" charset="2"/>
              <a:buChar char="§"/>
            </a:pPr>
            <a:r>
              <a:rPr lang="en-US" sz="1600">
                <a:latin typeface="Arial" charset="0"/>
              </a:rPr>
              <a:t>Synchronizes</a:t>
            </a:r>
            <a:endParaRPr lang="en-US" sz="1600">
              <a:latin typeface="Courier New" pitchFamily="49" charset="0"/>
            </a:endParaRPr>
          </a:p>
        </p:txBody>
      </p:sp>
      <p:sp>
        <p:nvSpPr>
          <p:cNvPr id="114692" name="Text Box 4"/>
          <p:cNvSpPr txBox="1">
            <a:spLocks noChangeArrowheads="1"/>
          </p:cNvSpPr>
          <p:nvPr/>
        </p:nvSpPr>
        <p:spPr bwMode="auto">
          <a:xfrm>
            <a:off x="4953000" y="1143000"/>
            <a:ext cx="2033588"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169863" indent="-169863" defTabSz="1028700">
              <a:defRPr sz="2400">
                <a:solidFill>
                  <a:schemeClr val="tx1"/>
                </a:solidFill>
                <a:latin typeface="Times" pitchFamily="18" charset="0"/>
              </a:defRPr>
            </a:lvl1pPr>
            <a:lvl2pPr marL="514350" defTabSz="1028700">
              <a:defRPr sz="2400">
                <a:solidFill>
                  <a:schemeClr val="tx1"/>
                </a:solidFill>
                <a:latin typeface="Times" pitchFamily="18" charset="0"/>
              </a:defRPr>
            </a:lvl2pPr>
            <a:lvl3pPr marL="1028700" defTabSz="1028700">
              <a:defRPr sz="2400">
                <a:solidFill>
                  <a:schemeClr val="tx1"/>
                </a:solidFill>
                <a:latin typeface="Times" pitchFamily="18" charset="0"/>
              </a:defRPr>
            </a:lvl3pPr>
            <a:lvl4pPr marL="1543050" defTabSz="1028700">
              <a:defRPr sz="2400">
                <a:solidFill>
                  <a:schemeClr val="tx1"/>
                </a:solidFill>
                <a:latin typeface="Times" pitchFamily="18" charset="0"/>
              </a:defRPr>
            </a:lvl4pPr>
            <a:lvl5pPr marL="2057400" defTabSz="1028700">
              <a:defRPr sz="2400">
                <a:solidFill>
                  <a:schemeClr val="tx1"/>
                </a:solidFill>
                <a:latin typeface="Times" pitchFamily="18" charset="0"/>
              </a:defRPr>
            </a:lvl5pPr>
            <a:lvl6pPr marL="2514600" defTabSz="1028700" fontAlgn="base">
              <a:spcBef>
                <a:spcPct val="0"/>
              </a:spcBef>
              <a:spcAft>
                <a:spcPct val="0"/>
              </a:spcAft>
              <a:defRPr sz="2400">
                <a:solidFill>
                  <a:schemeClr val="tx1"/>
                </a:solidFill>
                <a:latin typeface="Times" pitchFamily="18" charset="0"/>
              </a:defRPr>
            </a:lvl6pPr>
            <a:lvl7pPr marL="2971800" defTabSz="1028700" fontAlgn="base">
              <a:spcBef>
                <a:spcPct val="0"/>
              </a:spcBef>
              <a:spcAft>
                <a:spcPct val="0"/>
              </a:spcAft>
              <a:defRPr sz="2400">
                <a:solidFill>
                  <a:schemeClr val="tx1"/>
                </a:solidFill>
                <a:latin typeface="Times" pitchFamily="18" charset="0"/>
              </a:defRPr>
            </a:lvl7pPr>
            <a:lvl8pPr marL="3429000" defTabSz="1028700" fontAlgn="base">
              <a:spcBef>
                <a:spcPct val="0"/>
              </a:spcBef>
              <a:spcAft>
                <a:spcPct val="0"/>
              </a:spcAft>
              <a:defRPr sz="2400">
                <a:solidFill>
                  <a:schemeClr val="tx1"/>
                </a:solidFill>
                <a:latin typeface="Times" pitchFamily="18" charset="0"/>
              </a:defRPr>
            </a:lvl8pPr>
            <a:lvl9pPr marL="3886200" defTabSz="1028700" fontAlgn="base">
              <a:spcBef>
                <a:spcPct val="0"/>
              </a:spcBef>
              <a:spcAft>
                <a:spcPct val="0"/>
              </a:spcAft>
              <a:defRPr sz="2400">
                <a:solidFill>
                  <a:schemeClr val="tx1"/>
                </a:solidFill>
                <a:latin typeface="Times" pitchFamily="18" charset="0"/>
              </a:defRPr>
            </a:lvl9pPr>
          </a:lstStyle>
          <a:p>
            <a:pPr>
              <a:lnSpc>
                <a:spcPct val="95000"/>
              </a:lnSpc>
              <a:spcBef>
                <a:spcPct val="35000"/>
              </a:spcBef>
              <a:buClr>
                <a:schemeClr val="accent1"/>
              </a:buClr>
              <a:buFont typeface="Wingdings" pitchFamily="2" charset="2"/>
              <a:buChar char="§"/>
            </a:pPr>
            <a:r>
              <a:rPr lang="en-US" sz="1600">
                <a:latin typeface="Arial" charset="0"/>
              </a:rPr>
              <a:t>Create VLANs</a:t>
            </a:r>
          </a:p>
          <a:p>
            <a:pPr>
              <a:lnSpc>
                <a:spcPct val="95000"/>
              </a:lnSpc>
              <a:spcBef>
                <a:spcPct val="35000"/>
              </a:spcBef>
              <a:buClr>
                <a:schemeClr val="accent1"/>
              </a:buClr>
              <a:buFont typeface="Wingdings" pitchFamily="2" charset="2"/>
              <a:buChar char="§"/>
            </a:pPr>
            <a:r>
              <a:rPr lang="en-US" sz="1600">
                <a:latin typeface="Arial" charset="0"/>
              </a:rPr>
              <a:t>Modify VLANs</a:t>
            </a:r>
          </a:p>
          <a:p>
            <a:pPr>
              <a:lnSpc>
                <a:spcPct val="95000"/>
              </a:lnSpc>
              <a:spcBef>
                <a:spcPct val="35000"/>
              </a:spcBef>
              <a:buClr>
                <a:schemeClr val="accent1"/>
              </a:buClr>
              <a:buFont typeface="Wingdings" pitchFamily="2" charset="2"/>
              <a:buChar char="§"/>
            </a:pPr>
            <a:r>
              <a:rPr lang="en-US" sz="1600">
                <a:latin typeface="Arial" charset="0"/>
              </a:rPr>
              <a:t>Delete VLANs</a:t>
            </a:r>
          </a:p>
          <a:p>
            <a:pPr>
              <a:lnSpc>
                <a:spcPct val="95000"/>
              </a:lnSpc>
              <a:spcBef>
                <a:spcPct val="35000"/>
              </a:spcBef>
              <a:buClr>
                <a:schemeClr val="accent1"/>
              </a:buClr>
              <a:buFont typeface="Wingdings" pitchFamily="2" charset="2"/>
              <a:buChar char="§"/>
            </a:pPr>
            <a:r>
              <a:rPr lang="en-US" sz="1600">
                <a:latin typeface="Arial" charset="0"/>
              </a:rPr>
              <a:t>Sends and forwards </a:t>
            </a:r>
            <a:br>
              <a:rPr lang="en-US" sz="1600">
                <a:latin typeface="Arial" charset="0"/>
              </a:rPr>
            </a:br>
            <a:r>
              <a:rPr lang="en-US" sz="1600">
                <a:latin typeface="Arial" charset="0"/>
              </a:rPr>
              <a:t>advertisements</a:t>
            </a:r>
          </a:p>
          <a:p>
            <a:pPr>
              <a:lnSpc>
                <a:spcPct val="95000"/>
              </a:lnSpc>
              <a:spcBef>
                <a:spcPct val="35000"/>
              </a:spcBef>
              <a:buClr>
                <a:schemeClr val="accent1"/>
              </a:buClr>
              <a:buFont typeface="Wingdings" pitchFamily="2" charset="2"/>
              <a:buChar char="§"/>
            </a:pPr>
            <a:r>
              <a:rPr lang="en-US" sz="1600">
                <a:latin typeface="Arial" charset="0"/>
              </a:rPr>
              <a:t>Synchronizes</a:t>
            </a:r>
          </a:p>
        </p:txBody>
      </p:sp>
      <p:sp>
        <p:nvSpPr>
          <p:cNvPr id="114693" name="Text Box 5"/>
          <p:cNvSpPr txBox="1">
            <a:spLocks noChangeArrowheads="1"/>
          </p:cNvSpPr>
          <p:nvPr/>
        </p:nvSpPr>
        <p:spPr bwMode="auto">
          <a:xfrm>
            <a:off x="6284913" y="3870325"/>
            <a:ext cx="2451100" cy="205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169863" indent="-169863" defTabSz="1028700">
              <a:defRPr sz="2400">
                <a:solidFill>
                  <a:schemeClr val="tx1"/>
                </a:solidFill>
                <a:latin typeface="Times" pitchFamily="18" charset="0"/>
              </a:defRPr>
            </a:lvl1pPr>
            <a:lvl2pPr marL="514350" defTabSz="1028700">
              <a:defRPr sz="2400">
                <a:solidFill>
                  <a:schemeClr val="tx1"/>
                </a:solidFill>
                <a:latin typeface="Times" pitchFamily="18" charset="0"/>
              </a:defRPr>
            </a:lvl2pPr>
            <a:lvl3pPr marL="1028700" defTabSz="1028700">
              <a:defRPr sz="2400">
                <a:solidFill>
                  <a:schemeClr val="tx1"/>
                </a:solidFill>
                <a:latin typeface="Times" pitchFamily="18" charset="0"/>
              </a:defRPr>
            </a:lvl3pPr>
            <a:lvl4pPr marL="1543050" defTabSz="1028700">
              <a:defRPr sz="2400">
                <a:solidFill>
                  <a:schemeClr val="tx1"/>
                </a:solidFill>
                <a:latin typeface="Times" pitchFamily="18" charset="0"/>
              </a:defRPr>
            </a:lvl4pPr>
            <a:lvl5pPr marL="2057400" defTabSz="1028700">
              <a:defRPr sz="2400">
                <a:solidFill>
                  <a:schemeClr val="tx1"/>
                </a:solidFill>
                <a:latin typeface="Times" pitchFamily="18" charset="0"/>
              </a:defRPr>
            </a:lvl5pPr>
            <a:lvl6pPr marL="2514600" defTabSz="1028700" fontAlgn="base">
              <a:spcBef>
                <a:spcPct val="0"/>
              </a:spcBef>
              <a:spcAft>
                <a:spcPct val="0"/>
              </a:spcAft>
              <a:defRPr sz="2400">
                <a:solidFill>
                  <a:schemeClr val="tx1"/>
                </a:solidFill>
                <a:latin typeface="Times" pitchFamily="18" charset="0"/>
              </a:defRPr>
            </a:lvl6pPr>
            <a:lvl7pPr marL="2971800" defTabSz="1028700" fontAlgn="base">
              <a:spcBef>
                <a:spcPct val="0"/>
              </a:spcBef>
              <a:spcAft>
                <a:spcPct val="0"/>
              </a:spcAft>
              <a:defRPr sz="2400">
                <a:solidFill>
                  <a:schemeClr val="tx1"/>
                </a:solidFill>
                <a:latin typeface="Times" pitchFamily="18" charset="0"/>
              </a:defRPr>
            </a:lvl7pPr>
            <a:lvl8pPr marL="3429000" defTabSz="1028700" fontAlgn="base">
              <a:spcBef>
                <a:spcPct val="0"/>
              </a:spcBef>
              <a:spcAft>
                <a:spcPct val="0"/>
              </a:spcAft>
              <a:defRPr sz="2400">
                <a:solidFill>
                  <a:schemeClr val="tx1"/>
                </a:solidFill>
                <a:latin typeface="Times" pitchFamily="18" charset="0"/>
              </a:defRPr>
            </a:lvl8pPr>
            <a:lvl9pPr marL="3886200" defTabSz="1028700" fontAlgn="base">
              <a:spcBef>
                <a:spcPct val="0"/>
              </a:spcBef>
              <a:spcAft>
                <a:spcPct val="0"/>
              </a:spcAft>
              <a:defRPr sz="2400">
                <a:solidFill>
                  <a:schemeClr val="tx1"/>
                </a:solidFill>
                <a:latin typeface="Times" pitchFamily="18" charset="0"/>
              </a:defRPr>
            </a:lvl9pPr>
          </a:lstStyle>
          <a:p>
            <a:pPr>
              <a:lnSpc>
                <a:spcPct val="95000"/>
              </a:lnSpc>
              <a:spcBef>
                <a:spcPct val="35000"/>
              </a:spcBef>
              <a:buClr>
                <a:schemeClr val="accent1"/>
              </a:buClr>
              <a:buFont typeface="Wingdings" pitchFamily="2" charset="2"/>
              <a:buChar char="§"/>
            </a:pPr>
            <a:r>
              <a:rPr lang="en-US" sz="1600">
                <a:latin typeface="Arial" charset="0"/>
              </a:rPr>
              <a:t>Create local VLANs only</a:t>
            </a:r>
          </a:p>
          <a:p>
            <a:pPr>
              <a:lnSpc>
                <a:spcPct val="95000"/>
              </a:lnSpc>
              <a:spcBef>
                <a:spcPct val="35000"/>
              </a:spcBef>
              <a:buClr>
                <a:schemeClr val="accent1"/>
              </a:buClr>
              <a:buFont typeface="Wingdings" pitchFamily="2" charset="2"/>
              <a:buChar char="§"/>
            </a:pPr>
            <a:r>
              <a:rPr lang="en-US" sz="1600">
                <a:latin typeface="Arial" charset="0"/>
              </a:rPr>
              <a:t>Modify local VLANs only</a:t>
            </a:r>
          </a:p>
          <a:p>
            <a:pPr>
              <a:lnSpc>
                <a:spcPct val="95000"/>
              </a:lnSpc>
              <a:spcBef>
                <a:spcPct val="35000"/>
              </a:spcBef>
              <a:buClr>
                <a:schemeClr val="accent1"/>
              </a:buClr>
              <a:buFont typeface="Wingdings" pitchFamily="2" charset="2"/>
              <a:buChar char="§"/>
            </a:pPr>
            <a:r>
              <a:rPr lang="en-US" sz="1600">
                <a:latin typeface="Arial" charset="0"/>
              </a:rPr>
              <a:t>Delete local VLANs only</a:t>
            </a:r>
          </a:p>
          <a:p>
            <a:pPr>
              <a:lnSpc>
                <a:spcPct val="95000"/>
              </a:lnSpc>
              <a:spcBef>
                <a:spcPct val="35000"/>
              </a:spcBef>
              <a:buClr>
                <a:schemeClr val="accent1"/>
              </a:buClr>
              <a:buFont typeface="Wingdings" pitchFamily="2" charset="2"/>
              <a:buChar char="§"/>
            </a:pPr>
            <a:r>
              <a:rPr lang="en-US" sz="1600">
                <a:latin typeface="Arial" charset="0"/>
              </a:rPr>
              <a:t>Forwards advertisements</a:t>
            </a:r>
          </a:p>
          <a:p>
            <a:pPr>
              <a:lnSpc>
                <a:spcPct val="95000"/>
              </a:lnSpc>
              <a:spcBef>
                <a:spcPct val="35000"/>
              </a:spcBef>
              <a:buClr>
                <a:schemeClr val="accent1"/>
              </a:buClr>
              <a:buFont typeface="Wingdings" pitchFamily="2" charset="2"/>
              <a:buChar char="§"/>
            </a:pPr>
            <a:r>
              <a:rPr lang="en-US" sz="1600">
                <a:latin typeface="Arial" charset="0"/>
              </a:rPr>
              <a:t>Does not </a:t>
            </a:r>
            <a:br>
              <a:rPr lang="en-US" sz="1600">
                <a:latin typeface="Arial" charset="0"/>
              </a:rPr>
            </a:br>
            <a:r>
              <a:rPr lang="en-US" sz="1600">
                <a:latin typeface="Arial" charset="0"/>
              </a:rPr>
              <a:t>synchronize</a:t>
            </a:r>
            <a:endParaRPr lang="en-US" sz="1600">
              <a:latin typeface="Courier New" pitchFamily="49" charset="0"/>
            </a:endParaRPr>
          </a:p>
          <a:p>
            <a:pPr>
              <a:lnSpc>
                <a:spcPct val="95000"/>
              </a:lnSpc>
              <a:spcBef>
                <a:spcPct val="35000"/>
              </a:spcBef>
              <a:buClr>
                <a:schemeClr val="accent1"/>
              </a:buClr>
              <a:buFont typeface="Wingdings" pitchFamily="2" charset="2"/>
              <a:buChar char="§"/>
            </a:pPr>
            <a:endParaRPr lang="en-US" sz="1600">
              <a:latin typeface="Arial" charset="0"/>
            </a:endParaRPr>
          </a:p>
        </p:txBody>
      </p:sp>
      <p:sp>
        <p:nvSpPr>
          <p:cNvPr id="114694" name="Rectangle 6"/>
          <p:cNvSpPr>
            <a:spLocks noGrp="1" noChangeArrowheads="1"/>
          </p:cNvSpPr>
          <p:nvPr>
            <p:ph type="title"/>
          </p:nvPr>
        </p:nvSpPr>
        <p:spPr/>
        <p:txBody>
          <a:bodyPr/>
          <a:lstStyle/>
          <a:p>
            <a:r>
              <a:rPr lang="en-US"/>
              <a:t>VTP Modes</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5" name="Rectangle 9"/>
          <p:cNvSpPr>
            <a:spLocks noGrp="1" noChangeArrowheads="1"/>
          </p:cNvSpPr>
          <p:nvPr>
            <p:ph type="title"/>
          </p:nvPr>
        </p:nvSpPr>
        <p:spPr/>
        <p:txBody>
          <a:bodyPr/>
          <a:lstStyle/>
          <a:p>
            <a:r>
              <a:rPr lang="en-US"/>
              <a:t>VTP Operation</a:t>
            </a:r>
          </a:p>
        </p:txBody>
      </p:sp>
      <p:sp>
        <p:nvSpPr>
          <p:cNvPr id="116751" name="Rectangle 15"/>
          <p:cNvSpPr>
            <a:spLocks noChangeArrowheads="1"/>
          </p:cNvSpPr>
          <p:nvPr/>
        </p:nvSpPr>
        <p:spPr bwMode="auto">
          <a:xfrm>
            <a:off x="708025" y="1431925"/>
            <a:ext cx="5826125" cy="165735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230188" indent="-230188" defTabSz="814388">
              <a:lnSpc>
                <a:spcPct val="95000"/>
              </a:lnSpc>
              <a:spcBef>
                <a:spcPct val="35000"/>
              </a:spcBef>
              <a:buClr>
                <a:schemeClr val="accent1"/>
              </a:buClr>
              <a:buSzPct val="100000"/>
              <a:buFont typeface="Wingdings" pitchFamily="2" charset="2"/>
              <a:buChar char="§"/>
            </a:pPr>
            <a:r>
              <a:rPr lang="en-US" sz="2000">
                <a:solidFill>
                  <a:srgbClr val="000000"/>
                </a:solidFill>
              </a:rPr>
              <a:t>VTP advertisements are sent as multicast frames.</a:t>
            </a:r>
          </a:p>
          <a:p>
            <a:pPr marL="230188" indent="-230188" defTabSz="814388">
              <a:lnSpc>
                <a:spcPct val="95000"/>
              </a:lnSpc>
              <a:spcBef>
                <a:spcPct val="35000"/>
              </a:spcBef>
              <a:buClr>
                <a:schemeClr val="accent1"/>
              </a:buClr>
              <a:buSzPct val="100000"/>
              <a:buFont typeface="Wingdings" pitchFamily="2" charset="2"/>
              <a:buChar char="§"/>
            </a:pPr>
            <a:r>
              <a:rPr lang="en-US" sz="2000">
                <a:solidFill>
                  <a:srgbClr val="000000"/>
                </a:solidFill>
              </a:rPr>
              <a:t>VTP servers and clients are synchronized to the </a:t>
            </a:r>
            <a:br>
              <a:rPr lang="en-US" sz="2000">
                <a:solidFill>
                  <a:srgbClr val="000000"/>
                </a:solidFill>
              </a:rPr>
            </a:br>
            <a:r>
              <a:rPr lang="en-US" sz="2000">
                <a:solidFill>
                  <a:srgbClr val="000000"/>
                </a:solidFill>
              </a:rPr>
              <a:t>latest revision number.</a:t>
            </a:r>
          </a:p>
          <a:p>
            <a:pPr marL="230188" indent="-230188" defTabSz="814388">
              <a:lnSpc>
                <a:spcPct val="95000"/>
              </a:lnSpc>
              <a:spcBef>
                <a:spcPct val="35000"/>
              </a:spcBef>
              <a:buClr>
                <a:schemeClr val="accent1"/>
              </a:buClr>
              <a:buSzPct val="100000"/>
              <a:buFont typeface="Wingdings" pitchFamily="2" charset="2"/>
              <a:buChar char="§"/>
            </a:pPr>
            <a:r>
              <a:rPr lang="en-US" sz="2000">
                <a:solidFill>
                  <a:srgbClr val="000000"/>
                </a:solidFill>
              </a:rPr>
              <a:t>VTP advertisements are sent every 5 minutes or </a:t>
            </a:r>
            <a:br>
              <a:rPr lang="en-US" sz="2000">
                <a:solidFill>
                  <a:srgbClr val="000000"/>
                </a:solidFill>
              </a:rPr>
            </a:br>
            <a:r>
              <a:rPr lang="en-US" sz="2000">
                <a:solidFill>
                  <a:srgbClr val="000000"/>
                </a:solidFill>
              </a:rPr>
              <a:t>when there is a change.</a:t>
            </a:r>
          </a:p>
        </p:txBody>
      </p:sp>
      <p:pic>
        <p:nvPicPr>
          <p:cNvPr id="116753" name="Picture 17" descr="327P_0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100" y="3367088"/>
            <a:ext cx="7313613" cy="30337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Grp="1" noChangeArrowheads="1"/>
          </p:cNvSpPr>
          <p:nvPr>
            <p:ph type="title"/>
          </p:nvPr>
        </p:nvSpPr>
        <p:spPr/>
        <p:txBody>
          <a:bodyPr/>
          <a:lstStyle/>
          <a:p>
            <a:r>
              <a:rPr lang="en-US"/>
              <a:t>VTP Pruning</a:t>
            </a:r>
          </a:p>
        </p:txBody>
      </p:sp>
      <p:pic>
        <p:nvPicPr>
          <p:cNvPr id="235526" name="Picture 6" descr="327P_5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225" y="1666875"/>
            <a:ext cx="7067550" cy="492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Configuring VLANs and Trunks</a:t>
            </a:r>
          </a:p>
        </p:txBody>
      </p:sp>
      <p:sp>
        <p:nvSpPr>
          <p:cNvPr id="120835" name="Rectangle 3"/>
          <p:cNvSpPr>
            <a:spLocks noGrp="1" noChangeArrowheads="1"/>
          </p:cNvSpPr>
          <p:nvPr>
            <p:ph type="body" idx="1"/>
          </p:nvPr>
        </p:nvSpPr>
        <p:spPr/>
        <p:txBody>
          <a:bodyPr/>
          <a:lstStyle/>
          <a:p>
            <a:pPr marL="457200" indent="-457200">
              <a:buFont typeface="Arial" charset="0"/>
              <a:buAutoNum type="arabicPeriod"/>
            </a:pPr>
            <a:r>
              <a:rPr lang="en-US" sz="2000"/>
              <a:t>Configure and verify VTP.</a:t>
            </a:r>
          </a:p>
          <a:p>
            <a:pPr marL="457200" indent="-457200">
              <a:buFont typeface="Arial" charset="0"/>
              <a:buAutoNum type="arabicPeriod"/>
            </a:pPr>
            <a:r>
              <a:rPr lang="en-US" sz="2000"/>
              <a:t>Configure and verify 802.1Q trunks.</a:t>
            </a:r>
          </a:p>
          <a:p>
            <a:pPr marL="457200" indent="-457200">
              <a:buFont typeface="Arial" charset="0"/>
              <a:buAutoNum type="arabicPeriod"/>
            </a:pPr>
            <a:r>
              <a:rPr lang="en-US" sz="2000"/>
              <a:t>Create or modify a VLAN on the VTP server switch.</a:t>
            </a:r>
          </a:p>
          <a:p>
            <a:pPr marL="457200" indent="-457200">
              <a:buFont typeface="Arial" charset="0"/>
              <a:buAutoNum type="arabicPeriod"/>
            </a:pPr>
            <a:r>
              <a:rPr lang="en-US" sz="2000"/>
              <a:t>Assign switch ports to a VLAN and verify.</a:t>
            </a:r>
          </a:p>
          <a:p>
            <a:pPr marL="457200" indent="-457200">
              <a:buFont typeface="Arial" charset="0"/>
              <a:buAutoNum type="arabicPeriod"/>
            </a:pPr>
            <a:r>
              <a:rPr lang="en-US" sz="2000"/>
              <a:t>Execute adds, moves, and changes.</a:t>
            </a:r>
          </a:p>
          <a:p>
            <a:pPr marL="457200" indent="-457200">
              <a:buFont typeface="Arial" charset="0"/>
              <a:buAutoNum type="arabicPeriod"/>
            </a:pPr>
            <a:r>
              <a:rPr lang="en-US" sz="2000"/>
              <a:t>Save the VLAN configuration.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body" idx="1"/>
          </p:nvPr>
        </p:nvSpPr>
        <p:spPr>
          <a:xfrm>
            <a:off x="533400" y="1676400"/>
            <a:ext cx="7920038" cy="3162300"/>
          </a:xfrm>
        </p:spPr>
        <p:txBody>
          <a:bodyPr/>
          <a:lstStyle/>
          <a:p>
            <a:pPr lvl="1"/>
            <a:r>
              <a:rPr lang="en-US"/>
              <a:t>VTP defaults for the Cisco Catalyst switch:</a:t>
            </a:r>
          </a:p>
          <a:p>
            <a:pPr lvl="2"/>
            <a:r>
              <a:rPr lang="en-US"/>
              <a:t>VTP domain name: None</a:t>
            </a:r>
          </a:p>
          <a:p>
            <a:pPr lvl="2"/>
            <a:r>
              <a:rPr lang="en-US"/>
              <a:t>VTP mode</a:t>
            </a:r>
            <a:r>
              <a:rPr lang="en-US">
                <a:cs typeface="Arial" charset="0"/>
              </a:rPr>
              <a:t>: </a:t>
            </a:r>
            <a:r>
              <a:rPr lang="en-US"/>
              <a:t>Server mode</a:t>
            </a:r>
          </a:p>
          <a:p>
            <a:pPr lvl="2"/>
            <a:r>
              <a:rPr lang="en-US"/>
              <a:t>VTP pruning</a:t>
            </a:r>
            <a:r>
              <a:rPr lang="en-US">
                <a:cs typeface="Arial" charset="0"/>
              </a:rPr>
              <a:t>: Enabled or d</a:t>
            </a:r>
            <a:r>
              <a:rPr lang="en-US"/>
              <a:t>isabled (model specific)</a:t>
            </a:r>
          </a:p>
          <a:p>
            <a:pPr lvl="2"/>
            <a:r>
              <a:rPr lang="en-US"/>
              <a:t>VTP password</a:t>
            </a:r>
            <a:r>
              <a:rPr lang="en-US">
                <a:cs typeface="Arial" charset="0"/>
              </a:rPr>
              <a:t>: </a:t>
            </a:r>
            <a:r>
              <a:rPr lang="en-US"/>
              <a:t>Null</a:t>
            </a:r>
          </a:p>
          <a:p>
            <a:pPr lvl="2"/>
            <a:r>
              <a:rPr lang="en-US"/>
              <a:t>VTP version</a:t>
            </a:r>
            <a:r>
              <a:rPr lang="en-US">
                <a:cs typeface="Arial" charset="0"/>
              </a:rPr>
              <a:t>: </a:t>
            </a:r>
            <a:r>
              <a:rPr lang="en-US"/>
              <a:t>Version 1</a:t>
            </a:r>
          </a:p>
          <a:p>
            <a:pPr lvl="1"/>
            <a:r>
              <a:rPr lang="en-US">
                <a:solidFill>
                  <a:schemeClr val="tx1"/>
                </a:solidFill>
              </a:rPr>
              <a:t>A new switch can automatically become part of a domain once it receives an advertisement from a server.</a:t>
            </a:r>
          </a:p>
          <a:p>
            <a:pPr lvl="1"/>
            <a:r>
              <a:rPr lang="en-US">
                <a:solidFill>
                  <a:schemeClr val="tx1"/>
                </a:solidFill>
              </a:rPr>
              <a:t>A VTP client can overwrite a VTP server database if the client has a higher revision number.</a:t>
            </a:r>
          </a:p>
          <a:p>
            <a:pPr lvl="1"/>
            <a:r>
              <a:rPr lang="en-US">
                <a:solidFill>
                  <a:schemeClr val="tx1"/>
                </a:solidFill>
              </a:rPr>
              <a:t>A domain name cannot be removed after it is assigned; it can only be reassigned.</a:t>
            </a:r>
          </a:p>
          <a:p>
            <a:endParaRPr lang="en-US" sz="2000"/>
          </a:p>
        </p:txBody>
      </p:sp>
      <p:sp>
        <p:nvSpPr>
          <p:cNvPr id="121859" name="Rectangle 3"/>
          <p:cNvSpPr>
            <a:spLocks noChangeArrowheads="1"/>
          </p:cNvSpPr>
          <p:nvPr/>
        </p:nvSpPr>
        <p:spPr bwMode="auto">
          <a:xfrm>
            <a:off x="428625" y="1457325"/>
            <a:ext cx="7970838"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256" tIns="35737" rIns="73256" bIns="35737" anchor="ctr" anchorCtr="1"/>
          <a:lstStyle/>
          <a:p>
            <a:pPr marL="1160463" lvl="1" indent="-292100" defTabSz="806450">
              <a:lnSpc>
                <a:spcPct val="100000"/>
              </a:lnSpc>
              <a:buFontTx/>
              <a:buChar char="•"/>
            </a:pPr>
            <a:endParaRPr lang="en-US" sz="3500"/>
          </a:p>
        </p:txBody>
      </p:sp>
      <p:sp>
        <p:nvSpPr>
          <p:cNvPr id="121861" name="Rectangle 5"/>
          <p:cNvSpPr>
            <a:spLocks noGrp="1" noChangeArrowheads="1"/>
          </p:cNvSpPr>
          <p:nvPr>
            <p:ph type="title"/>
          </p:nvPr>
        </p:nvSpPr>
        <p:spPr/>
        <p:txBody>
          <a:bodyPr/>
          <a:lstStyle/>
          <a:p>
            <a:r>
              <a:rPr lang="en-US"/>
              <a:t>VTP Configuration Guidelines</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Rectangle 4"/>
          <p:cNvSpPr>
            <a:spLocks noChangeArrowheads="1"/>
          </p:cNvSpPr>
          <p:nvPr/>
        </p:nvSpPr>
        <p:spPr bwMode="auto">
          <a:xfrm>
            <a:off x="860425" y="2525713"/>
            <a:ext cx="7424738" cy="15875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1402" tIns="45703" rIns="91402" bIns="45703">
            <a:spAutoFit/>
          </a:bodyPr>
          <a:lstStyle/>
          <a:p>
            <a:pPr>
              <a:lnSpc>
                <a:spcPct val="100000"/>
              </a:lnSpc>
            </a:pPr>
            <a:r>
              <a:rPr lang="en-US" sz="1600" b="1">
                <a:latin typeface="Courier New" pitchFamily="49" charset="0"/>
                <a:cs typeface="Times New Roman" pitchFamily="18" charset="0"/>
              </a:rPr>
              <a:t>SwitchX# configure terminal</a:t>
            </a:r>
          </a:p>
          <a:p>
            <a:pPr>
              <a:lnSpc>
                <a:spcPct val="100000"/>
              </a:lnSpc>
            </a:pPr>
            <a:r>
              <a:rPr lang="en-US" sz="1600" b="1">
                <a:latin typeface="Courier New" pitchFamily="49" charset="0"/>
                <a:cs typeface="Times New Roman" pitchFamily="18" charset="0"/>
              </a:rPr>
              <a:t>SwitchX(config)# vtp mode [ server | client | transparent ]</a:t>
            </a:r>
          </a:p>
          <a:p>
            <a:pPr>
              <a:lnSpc>
                <a:spcPct val="100000"/>
              </a:lnSpc>
            </a:pPr>
            <a:r>
              <a:rPr lang="en-US" sz="1600" b="1">
                <a:latin typeface="Courier New" pitchFamily="49" charset="0"/>
                <a:cs typeface="Times New Roman" pitchFamily="18" charset="0"/>
              </a:rPr>
              <a:t>SwitchX(config)# vtp domain </a:t>
            </a:r>
            <a:r>
              <a:rPr lang="en-US" sz="1600" b="1" i="1">
                <a:latin typeface="Courier New" pitchFamily="49" charset="0"/>
                <a:cs typeface="Times New Roman" pitchFamily="18" charset="0"/>
              </a:rPr>
              <a:t>domain-name</a:t>
            </a:r>
            <a:r>
              <a:rPr lang="en-US" sz="1600" b="1">
                <a:latin typeface="Courier New" pitchFamily="49" charset="0"/>
              </a:rPr>
              <a:t> </a:t>
            </a:r>
          </a:p>
          <a:p>
            <a:pPr>
              <a:lnSpc>
                <a:spcPct val="100000"/>
              </a:lnSpc>
            </a:pPr>
            <a:r>
              <a:rPr lang="en-US" sz="1600" b="1">
                <a:latin typeface="Courier New" pitchFamily="49" charset="0"/>
                <a:cs typeface="Times New Roman" pitchFamily="18" charset="0"/>
              </a:rPr>
              <a:t>SwitchX(config)# vtp password </a:t>
            </a:r>
            <a:r>
              <a:rPr lang="en-US" sz="1600" b="1" i="1">
                <a:latin typeface="Courier New" pitchFamily="49" charset="0"/>
                <a:cs typeface="Times New Roman" pitchFamily="18" charset="0"/>
              </a:rPr>
              <a:t>password</a:t>
            </a:r>
          </a:p>
          <a:p>
            <a:pPr>
              <a:lnSpc>
                <a:spcPct val="100000"/>
              </a:lnSpc>
            </a:pPr>
            <a:r>
              <a:rPr lang="en-US" sz="1600" b="1">
                <a:latin typeface="Courier New" pitchFamily="49" charset="0"/>
                <a:cs typeface="Times New Roman" pitchFamily="18" charset="0"/>
              </a:rPr>
              <a:t>SwitchX(config)# vtp pruning</a:t>
            </a:r>
          </a:p>
          <a:p>
            <a:pPr>
              <a:lnSpc>
                <a:spcPct val="100000"/>
              </a:lnSpc>
            </a:pPr>
            <a:r>
              <a:rPr lang="en-US" sz="1600" b="1">
                <a:latin typeface="Courier New" pitchFamily="49" charset="0"/>
                <a:cs typeface="Times New Roman" pitchFamily="18" charset="0"/>
              </a:rPr>
              <a:t>SwitchX(config)# end</a:t>
            </a:r>
          </a:p>
        </p:txBody>
      </p:sp>
      <p:sp>
        <p:nvSpPr>
          <p:cNvPr id="123909" name="Rectangle 5"/>
          <p:cNvSpPr>
            <a:spLocks noGrp="1" noChangeArrowheads="1"/>
          </p:cNvSpPr>
          <p:nvPr>
            <p:ph type="title"/>
          </p:nvPr>
        </p:nvSpPr>
        <p:spPr/>
        <p:txBody>
          <a:bodyPr/>
          <a:lstStyle/>
          <a:p>
            <a:r>
              <a:rPr lang="en-US"/>
              <a:t>Creating a VTP Domain</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ChangeArrowheads="1"/>
          </p:cNvSpPr>
          <p:nvPr/>
        </p:nvSpPr>
        <p:spPr bwMode="auto">
          <a:xfrm>
            <a:off x="4219575" y="4170363"/>
            <a:ext cx="1393825" cy="182562"/>
          </a:xfrm>
          <a:prstGeom prst="rect">
            <a:avLst/>
          </a:prstGeom>
          <a:solidFill>
            <a:srgbClr val="F0C566"/>
          </a:solidFill>
          <a:ln>
            <a:noFill/>
          </a:ln>
          <a:effectLst/>
          <a:extLs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25957" name="Rectangle 5"/>
          <p:cNvSpPr>
            <a:spLocks noChangeArrowheads="1"/>
          </p:cNvSpPr>
          <p:nvPr/>
        </p:nvSpPr>
        <p:spPr bwMode="auto">
          <a:xfrm>
            <a:off x="4219575" y="4376738"/>
            <a:ext cx="603250" cy="182562"/>
          </a:xfrm>
          <a:prstGeom prst="rect">
            <a:avLst/>
          </a:prstGeom>
          <a:solidFill>
            <a:srgbClr val="F0C566"/>
          </a:solidFill>
          <a:ln>
            <a:noFill/>
          </a:ln>
          <a:effectLst/>
          <a:extLs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25961" name="Rectangle 9"/>
          <p:cNvSpPr>
            <a:spLocks noChangeArrowheads="1"/>
          </p:cNvSpPr>
          <p:nvPr/>
        </p:nvSpPr>
        <p:spPr bwMode="auto">
          <a:xfrm>
            <a:off x="4219575" y="3543300"/>
            <a:ext cx="255588" cy="182563"/>
          </a:xfrm>
          <a:prstGeom prst="rect">
            <a:avLst/>
          </a:prstGeom>
          <a:solidFill>
            <a:srgbClr val="F0C566"/>
          </a:solidFill>
          <a:ln>
            <a:noFill/>
          </a:ln>
          <a:effectLst/>
          <a:extLs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25962" name="Rectangle 10"/>
          <p:cNvSpPr>
            <a:spLocks noChangeArrowheads="1"/>
          </p:cNvSpPr>
          <p:nvPr/>
        </p:nvSpPr>
        <p:spPr bwMode="auto">
          <a:xfrm>
            <a:off x="4219575" y="4587875"/>
            <a:ext cx="1066800" cy="182563"/>
          </a:xfrm>
          <a:prstGeom prst="rect">
            <a:avLst/>
          </a:prstGeom>
          <a:solidFill>
            <a:srgbClr val="F0C566"/>
          </a:solidFill>
          <a:ln>
            <a:noFill/>
          </a:ln>
          <a:effectLst/>
          <a:extLst>
            <a:ext uri="{91240B29-F687-4F45-9708-019B960494DF}">
              <a14:hiddenLine xmlns:a14="http://schemas.microsoft.com/office/drawing/2010/main" w="31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25958" name="Text Box 6"/>
          <p:cNvSpPr txBox="1">
            <a:spLocks noChangeArrowheads="1"/>
          </p:cNvSpPr>
          <p:nvPr/>
        </p:nvSpPr>
        <p:spPr bwMode="auto">
          <a:xfrm>
            <a:off x="300038" y="1836738"/>
            <a:ext cx="8556625" cy="4041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spAutoFit/>
          </a:bodyPr>
          <a:lstStyle>
            <a:lvl1pPr defTabSz="677863">
              <a:defRPr sz="2400">
                <a:solidFill>
                  <a:schemeClr val="tx1"/>
                </a:solidFill>
                <a:latin typeface="Times" pitchFamily="18" charset="0"/>
              </a:defRPr>
            </a:lvl1pPr>
            <a:lvl2pPr marL="381000" defTabSz="677863">
              <a:defRPr sz="2400">
                <a:solidFill>
                  <a:schemeClr val="tx1"/>
                </a:solidFill>
                <a:latin typeface="Times" pitchFamily="18" charset="0"/>
              </a:defRPr>
            </a:lvl2pPr>
            <a:lvl3pPr marL="762000" defTabSz="677863">
              <a:defRPr sz="2400">
                <a:solidFill>
                  <a:schemeClr val="tx1"/>
                </a:solidFill>
                <a:latin typeface="Times" pitchFamily="18" charset="0"/>
              </a:defRPr>
            </a:lvl3pPr>
            <a:lvl4pPr marL="1143000" defTabSz="677863">
              <a:defRPr sz="2400">
                <a:solidFill>
                  <a:schemeClr val="tx1"/>
                </a:solidFill>
                <a:latin typeface="Times" pitchFamily="18" charset="0"/>
              </a:defRPr>
            </a:lvl4pPr>
            <a:lvl5pPr marL="1524000" defTabSz="677863">
              <a:defRPr sz="2400">
                <a:solidFill>
                  <a:schemeClr val="tx1"/>
                </a:solidFill>
                <a:latin typeface="Times" pitchFamily="18" charset="0"/>
              </a:defRPr>
            </a:lvl5pPr>
            <a:lvl6pPr marL="1981200" defTabSz="677863" fontAlgn="base">
              <a:spcBef>
                <a:spcPct val="0"/>
              </a:spcBef>
              <a:spcAft>
                <a:spcPct val="0"/>
              </a:spcAft>
              <a:defRPr sz="2400">
                <a:solidFill>
                  <a:schemeClr val="tx1"/>
                </a:solidFill>
                <a:latin typeface="Times" pitchFamily="18" charset="0"/>
              </a:defRPr>
            </a:lvl6pPr>
            <a:lvl7pPr marL="2438400" defTabSz="677863" fontAlgn="base">
              <a:spcBef>
                <a:spcPct val="0"/>
              </a:spcBef>
              <a:spcAft>
                <a:spcPct val="0"/>
              </a:spcAft>
              <a:defRPr sz="2400">
                <a:solidFill>
                  <a:schemeClr val="tx1"/>
                </a:solidFill>
                <a:latin typeface="Times" pitchFamily="18" charset="0"/>
              </a:defRPr>
            </a:lvl7pPr>
            <a:lvl8pPr marL="2895600" defTabSz="677863" fontAlgn="base">
              <a:spcBef>
                <a:spcPct val="0"/>
              </a:spcBef>
              <a:spcAft>
                <a:spcPct val="0"/>
              </a:spcAft>
              <a:defRPr sz="2400">
                <a:solidFill>
                  <a:schemeClr val="tx1"/>
                </a:solidFill>
                <a:latin typeface="Times" pitchFamily="18" charset="0"/>
              </a:defRPr>
            </a:lvl8pPr>
            <a:lvl9pPr marL="3352800" defTabSz="677863" fontAlgn="base">
              <a:spcBef>
                <a:spcPct val="0"/>
              </a:spcBef>
              <a:spcAft>
                <a:spcPct val="0"/>
              </a:spcAft>
              <a:defRPr sz="2400">
                <a:solidFill>
                  <a:schemeClr val="tx1"/>
                </a:solidFill>
                <a:latin typeface="Times" pitchFamily="18" charset="0"/>
              </a:defRPr>
            </a:lvl9pPr>
          </a:lstStyle>
          <a:p>
            <a:r>
              <a:rPr lang="en-US" sz="1500" b="1">
                <a:latin typeface="Courier New" pitchFamily="49" charset="0"/>
              </a:rPr>
              <a:t>SwitchX(config)# vtp domain ICND</a:t>
            </a:r>
          </a:p>
          <a:p>
            <a:r>
              <a:rPr lang="en-US" sz="1500" b="1">
                <a:latin typeface="Courier New" pitchFamily="49" charset="0"/>
              </a:rPr>
              <a:t>Changing VTP domain name to ICND</a:t>
            </a:r>
          </a:p>
          <a:p>
            <a:r>
              <a:rPr lang="en-US" sz="1500" b="1">
                <a:latin typeface="Courier New" pitchFamily="49" charset="0"/>
              </a:rPr>
              <a:t>SwitchX(config)# vtp mode transparent</a:t>
            </a:r>
          </a:p>
          <a:p>
            <a:r>
              <a:rPr lang="en-US" sz="1500" b="1">
                <a:latin typeface="Courier New" pitchFamily="49" charset="0"/>
              </a:rPr>
              <a:t>Setting device to VTP TRANSPARENT mode.</a:t>
            </a:r>
          </a:p>
          <a:p>
            <a:r>
              <a:rPr lang="en-US" sz="1500" b="1">
                <a:latin typeface="Courier New" pitchFamily="49" charset="0"/>
              </a:rPr>
              <a:t>SwitchX(config)# end</a:t>
            </a:r>
          </a:p>
          <a:p>
            <a:endParaRPr lang="en-US" sz="1500" b="1">
              <a:latin typeface="Courier New" pitchFamily="49" charset="0"/>
            </a:endParaRPr>
          </a:p>
          <a:p>
            <a:r>
              <a:rPr lang="en-US" sz="1500" b="1">
                <a:latin typeface="Courier New" pitchFamily="49" charset="0"/>
              </a:rPr>
              <a:t>SwitchX# </a:t>
            </a:r>
            <a:r>
              <a:rPr lang="en-US" sz="1500" b="1">
                <a:solidFill>
                  <a:schemeClr val="accent2"/>
                </a:solidFill>
                <a:latin typeface="Courier New" pitchFamily="49" charset="0"/>
              </a:rPr>
              <a:t>show vtp status</a:t>
            </a:r>
          </a:p>
          <a:p>
            <a:r>
              <a:rPr lang="en-US" sz="1500" b="1">
                <a:latin typeface="Courier New" pitchFamily="49" charset="0"/>
              </a:rPr>
              <a:t>VTP Version                     : 2</a:t>
            </a:r>
          </a:p>
          <a:p>
            <a:r>
              <a:rPr lang="en-US" sz="1500" b="1">
                <a:latin typeface="Courier New" pitchFamily="49" charset="0"/>
              </a:rPr>
              <a:t>Configuration Revision          : 0</a:t>
            </a:r>
          </a:p>
          <a:p>
            <a:r>
              <a:rPr lang="en-US" sz="1500" b="1">
                <a:latin typeface="Courier New" pitchFamily="49" charset="0"/>
              </a:rPr>
              <a:t>Maximum VLANs supported locally : 64</a:t>
            </a:r>
          </a:p>
          <a:p>
            <a:r>
              <a:rPr lang="en-US" sz="1500" b="1">
                <a:latin typeface="Courier New" pitchFamily="49" charset="0"/>
              </a:rPr>
              <a:t>Number of existing VLANs        : 17</a:t>
            </a:r>
          </a:p>
          <a:p>
            <a:r>
              <a:rPr lang="en-US" sz="1500" b="1">
                <a:latin typeface="Courier New" pitchFamily="49" charset="0"/>
              </a:rPr>
              <a:t>VTP Operating Mode              : Transparent</a:t>
            </a:r>
          </a:p>
          <a:p>
            <a:r>
              <a:rPr lang="en-US" sz="1500" b="1">
                <a:latin typeface="Courier New" pitchFamily="49" charset="0"/>
              </a:rPr>
              <a:t>VTP Domain Name                 : ICND</a:t>
            </a:r>
          </a:p>
          <a:p>
            <a:r>
              <a:rPr lang="en-US" sz="1500" b="1">
                <a:latin typeface="Courier New" pitchFamily="49" charset="0"/>
              </a:rPr>
              <a:t>VTP Pruning Mode                : Disabled</a:t>
            </a:r>
          </a:p>
          <a:p>
            <a:r>
              <a:rPr lang="en-US" sz="1500" b="1">
                <a:latin typeface="Courier New" pitchFamily="49" charset="0"/>
              </a:rPr>
              <a:t>VTP V2 Mode                     : Disabled</a:t>
            </a:r>
          </a:p>
          <a:p>
            <a:r>
              <a:rPr lang="en-US" sz="1500" b="1">
                <a:latin typeface="Courier New" pitchFamily="49" charset="0"/>
              </a:rPr>
              <a:t>VTP Traps Generation            : Disabled</a:t>
            </a:r>
          </a:p>
          <a:p>
            <a:r>
              <a:rPr lang="en-US" sz="1500" b="1">
                <a:latin typeface="Courier New" pitchFamily="49" charset="0"/>
              </a:rPr>
              <a:t>MD5 digest                      : 0x7D 0x6E 0x5E 0x3D 0xAF 0xA0 0x2F 0xAA</a:t>
            </a:r>
          </a:p>
          <a:p>
            <a:r>
              <a:rPr lang="en-US" sz="1500" b="1">
                <a:latin typeface="Courier New" pitchFamily="49" charset="0"/>
              </a:rPr>
              <a:t>Configuration last modified by 10.1.1.4 at 3-3-93 20:08:05</a:t>
            </a:r>
          </a:p>
          <a:p>
            <a:r>
              <a:rPr lang="en-US" sz="1500" b="1">
                <a:latin typeface="Courier New" pitchFamily="49" charset="0"/>
              </a:rPr>
              <a:t>SwitchX#</a:t>
            </a:r>
          </a:p>
        </p:txBody>
      </p:sp>
      <p:sp>
        <p:nvSpPr>
          <p:cNvPr id="125964" name="Rectangle 12"/>
          <p:cNvSpPr>
            <a:spLocks noGrp="1" noChangeArrowheads="1"/>
          </p:cNvSpPr>
          <p:nvPr>
            <p:ph type="title"/>
          </p:nvPr>
        </p:nvSpPr>
        <p:spPr>
          <a:noFill/>
          <a:ln/>
        </p:spPr>
        <p:txBody>
          <a:bodyPr/>
          <a:lstStyle/>
          <a:p>
            <a:r>
              <a:rPr lang="en-US"/>
              <a:t>VTP Configuration and Verification Example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28" name="Picture 20" descr="327P_0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628775"/>
            <a:ext cx="5969000" cy="4202113"/>
          </a:xfrm>
          <a:prstGeom prst="rect">
            <a:avLst/>
          </a:prstGeom>
          <a:noFill/>
          <a:extLst>
            <a:ext uri="{909E8E84-426E-40DD-AFC4-6F175D3DCCD1}">
              <a14:hiddenFill xmlns:a14="http://schemas.microsoft.com/office/drawing/2010/main">
                <a:solidFill>
                  <a:srgbClr val="FFFFFF"/>
                </a:solidFill>
              </a14:hiddenFill>
            </a:ext>
          </a:extLst>
        </p:spPr>
      </p:pic>
      <p:sp>
        <p:nvSpPr>
          <p:cNvPr id="145411" name="Rectangle 3"/>
          <p:cNvSpPr>
            <a:spLocks noGrp="1" noChangeArrowheads="1"/>
          </p:cNvSpPr>
          <p:nvPr>
            <p:ph type="title"/>
          </p:nvPr>
        </p:nvSpPr>
        <p:spPr/>
        <p:txBody>
          <a:bodyPr/>
          <a:lstStyle/>
          <a:p>
            <a:r>
              <a:rPr lang="en-US"/>
              <a:t>802.1Q Trunking Issues</a:t>
            </a:r>
          </a:p>
        </p:txBody>
      </p:sp>
      <p:sp>
        <p:nvSpPr>
          <p:cNvPr id="145412" name="Text Box 4"/>
          <p:cNvSpPr txBox="1">
            <a:spLocks noChangeArrowheads="1"/>
          </p:cNvSpPr>
          <p:nvPr/>
        </p:nvSpPr>
        <p:spPr bwMode="auto">
          <a:xfrm>
            <a:off x="6024563" y="1627188"/>
            <a:ext cx="262572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228600" indent="-228600">
              <a:defRPr sz="2400">
                <a:solidFill>
                  <a:schemeClr val="tx1"/>
                </a:solidFill>
                <a:latin typeface="Times" pitchFamily="18" charset="0"/>
              </a:defRPr>
            </a:lvl1pPr>
            <a:lvl2pPr>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a:lnSpc>
                <a:spcPct val="95000"/>
              </a:lnSpc>
              <a:spcBef>
                <a:spcPct val="35000"/>
              </a:spcBef>
              <a:buClr>
                <a:schemeClr val="accent1"/>
              </a:buClr>
              <a:buFont typeface="Wingdings" pitchFamily="2" charset="2"/>
              <a:buChar char="§"/>
            </a:pPr>
            <a:r>
              <a:rPr lang="en-US" sz="1600">
                <a:latin typeface="Arial" charset="0"/>
                <a:cs typeface="Times New Roman" pitchFamily="18" charset="0"/>
              </a:rPr>
              <a:t>Make sure that the native </a:t>
            </a:r>
            <a:br>
              <a:rPr lang="en-US" sz="1600">
                <a:latin typeface="Arial" charset="0"/>
                <a:cs typeface="Times New Roman" pitchFamily="18" charset="0"/>
              </a:rPr>
            </a:br>
            <a:r>
              <a:rPr lang="en-US" sz="1600">
                <a:latin typeface="Arial" charset="0"/>
                <a:cs typeface="Times New Roman" pitchFamily="18" charset="0"/>
              </a:rPr>
              <a:t>VLAN for an 802.1Q trunk </a:t>
            </a:r>
            <a:br>
              <a:rPr lang="en-US" sz="1600">
                <a:latin typeface="Arial" charset="0"/>
                <a:cs typeface="Times New Roman" pitchFamily="18" charset="0"/>
              </a:rPr>
            </a:br>
            <a:r>
              <a:rPr lang="en-US" sz="1600">
                <a:latin typeface="Arial" charset="0"/>
                <a:cs typeface="Times New Roman" pitchFamily="18" charset="0"/>
              </a:rPr>
              <a:t>is the same on both ends </a:t>
            </a:r>
            <a:br>
              <a:rPr lang="en-US" sz="1600">
                <a:latin typeface="Arial" charset="0"/>
                <a:cs typeface="Times New Roman" pitchFamily="18" charset="0"/>
              </a:rPr>
            </a:br>
            <a:r>
              <a:rPr lang="en-US" sz="1600">
                <a:latin typeface="Arial" charset="0"/>
                <a:cs typeface="Times New Roman" pitchFamily="18" charset="0"/>
              </a:rPr>
              <a:t>of the trunk link.</a:t>
            </a:r>
          </a:p>
          <a:p>
            <a:pPr>
              <a:lnSpc>
                <a:spcPct val="95000"/>
              </a:lnSpc>
              <a:spcBef>
                <a:spcPct val="35000"/>
              </a:spcBef>
              <a:buClr>
                <a:schemeClr val="accent1"/>
              </a:buClr>
              <a:buFont typeface="Wingdings" pitchFamily="2" charset="2"/>
              <a:buChar char="§"/>
            </a:pPr>
            <a:r>
              <a:rPr lang="en-US" sz="1600">
                <a:latin typeface="Arial" charset="0"/>
                <a:cs typeface="Times New Roman" pitchFamily="18" charset="0"/>
              </a:rPr>
              <a:t>Note that native VLAN </a:t>
            </a:r>
            <a:br>
              <a:rPr lang="en-US" sz="1600">
                <a:latin typeface="Arial" charset="0"/>
                <a:cs typeface="Times New Roman" pitchFamily="18" charset="0"/>
              </a:rPr>
            </a:br>
            <a:r>
              <a:rPr lang="en-US" sz="1600">
                <a:latin typeface="Arial" charset="0"/>
                <a:cs typeface="Times New Roman" pitchFamily="18" charset="0"/>
              </a:rPr>
              <a:t>frames are untagged.</a:t>
            </a:r>
          </a:p>
          <a:p>
            <a:pPr>
              <a:lnSpc>
                <a:spcPct val="95000"/>
              </a:lnSpc>
              <a:spcBef>
                <a:spcPct val="35000"/>
              </a:spcBef>
              <a:buClr>
                <a:schemeClr val="accent1"/>
              </a:buClr>
              <a:buFont typeface="Wingdings" pitchFamily="2" charset="2"/>
              <a:buChar char="§"/>
            </a:pPr>
            <a:r>
              <a:rPr lang="en-US" sz="1600">
                <a:latin typeface="Arial" charset="0"/>
                <a:cs typeface="Times New Roman" pitchFamily="18" charset="0"/>
              </a:rPr>
              <a:t>A trunk port cannot be a </a:t>
            </a:r>
            <a:br>
              <a:rPr lang="en-US" sz="1600">
                <a:latin typeface="Arial" charset="0"/>
                <a:cs typeface="Times New Roman" pitchFamily="18" charset="0"/>
              </a:rPr>
            </a:br>
            <a:r>
              <a:rPr lang="en-US" sz="1600">
                <a:latin typeface="Arial" charset="0"/>
                <a:cs typeface="Times New Roman" pitchFamily="18" charset="0"/>
              </a:rPr>
              <a:t>secure port.</a:t>
            </a:r>
          </a:p>
          <a:p>
            <a:pPr>
              <a:lnSpc>
                <a:spcPct val="95000"/>
              </a:lnSpc>
              <a:spcBef>
                <a:spcPct val="35000"/>
              </a:spcBef>
              <a:buClr>
                <a:schemeClr val="accent1"/>
              </a:buClr>
              <a:buFont typeface="Wingdings" pitchFamily="2" charset="2"/>
              <a:buChar char="§"/>
            </a:pPr>
            <a:r>
              <a:rPr lang="en-US" sz="1600">
                <a:latin typeface="Arial" charset="0"/>
                <a:cs typeface="Times New Roman" pitchFamily="18" charset="0"/>
              </a:rPr>
              <a:t>All 802.1Q trunking ports </a:t>
            </a:r>
            <a:br>
              <a:rPr lang="en-US" sz="1600">
                <a:latin typeface="Arial" charset="0"/>
                <a:cs typeface="Times New Roman" pitchFamily="18" charset="0"/>
              </a:rPr>
            </a:br>
            <a:r>
              <a:rPr lang="en-US" sz="1600">
                <a:latin typeface="Arial" charset="0"/>
                <a:cs typeface="Times New Roman" pitchFamily="18" charset="0"/>
              </a:rPr>
              <a:t>in an EtherChannel group</a:t>
            </a:r>
            <a:r>
              <a:rPr lang="en-US" sz="1600">
                <a:latin typeface="Arial" charset="0"/>
              </a:rPr>
              <a:t> </a:t>
            </a:r>
            <a:br>
              <a:rPr lang="en-US" sz="1600">
                <a:latin typeface="Arial" charset="0"/>
              </a:rPr>
            </a:br>
            <a:r>
              <a:rPr lang="en-US" sz="1600">
                <a:latin typeface="Arial" charset="0"/>
              </a:rPr>
              <a:t>must have the same </a:t>
            </a:r>
            <a:br>
              <a:rPr lang="en-US" sz="1600">
                <a:latin typeface="Arial" charset="0"/>
              </a:rPr>
            </a:br>
            <a:r>
              <a:rPr lang="en-US" sz="1600">
                <a:latin typeface="Arial" charset="0"/>
              </a:rPr>
              <a:t>configuration.</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noChangeArrowheads="1"/>
          </p:cNvSpPr>
          <p:nvPr>
            <p:ph type="title"/>
          </p:nvPr>
        </p:nvSpPr>
        <p:spPr/>
        <p:txBody>
          <a:bodyPr/>
          <a:lstStyle/>
          <a:p>
            <a:r>
              <a:rPr lang="en-US"/>
              <a:t>Configuring 802.1Q Trunking</a:t>
            </a:r>
          </a:p>
        </p:txBody>
      </p:sp>
      <p:sp>
        <p:nvSpPr>
          <p:cNvPr id="147461" name="Rectangle 5"/>
          <p:cNvSpPr>
            <a:spLocks noChangeArrowheads="1"/>
          </p:cNvSpPr>
          <p:nvPr/>
        </p:nvSpPr>
        <p:spPr bwMode="auto">
          <a:xfrm>
            <a:off x="458788" y="4637088"/>
            <a:ext cx="39052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71450" indent="-171450" defTabSz="1028700">
              <a:lnSpc>
                <a:spcPct val="95000"/>
              </a:lnSpc>
              <a:spcBef>
                <a:spcPct val="35000"/>
              </a:spcBef>
              <a:buClr>
                <a:schemeClr val="accent1"/>
              </a:buClr>
              <a:buFont typeface="Wingdings" pitchFamily="2" charset="2"/>
              <a:buChar char="§"/>
            </a:pPr>
            <a:r>
              <a:rPr lang="en-US" sz="1800">
                <a:solidFill>
                  <a:srgbClr val="000000"/>
                </a:solidFill>
                <a:cs typeface="Times New Roman" pitchFamily="18" charset="0"/>
              </a:rPr>
              <a:t>Configures the port as a VLAN trunk </a:t>
            </a:r>
          </a:p>
        </p:txBody>
      </p:sp>
      <p:sp>
        <p:nvSpPr>
          <p:cNvPr id="147464" name="Text Box 8"/>
          <p:cNvSpPr txBox="1">
            <a:spLocks noChangeArrowheads="1"/>
          </p:cNvSpPr>
          <p:nvPr/>
        </p:nvSpPr>
        <p:spPr bwMode="auto">
          <a:xfrm>
            <a:off x="458788" y="4030663"/>
            <a:ext cx="2020887"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400" b="1">
                <a:solidFill>
                  <a:srgbClr val="000000"/>
                </a:solidFill>
                <a:latin typeface="Courier New" pitchFamily="49" charset="0"/>
              </a:rPr>
              <a:t>SwitchX(config-if)#</a:t>
            </a:r>
          </a:p>
        </p:txBody>
      </p:sp>
      <p:sp>
        <p:nvSpPr>
          <p:cNvPr id="147465" name="Rectangle 9"/>
          <p:cNvSpPr>
            <a:spLocks noChangeArrowheads="1"/>
          </p:cNvSpPr>
          <p:nvPr/>
        </p:nvSpPr>
        <p:spPr bwMode="auto">
          <a:xfrm>
            <a:off x="458788" y="4262438"/>
            <a:ext cx="8226425" cy="333375"/>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00000"/>
              </a:lnSpc>
              <a:tabLst>
                <a:tab pos="7654925" algn="r"/>
              </a:tabLst>
            </a:pPr>
            <a:r>
              <a:rPr lang="en-US" sz="1600" b="1">
                <a:solidFill>
                  <a:srgbClr val="000000"/>
                </a:solidFill>
                <a:latin typeface="Courier New" pitchFamily="49" charset="0"/>
              </a:rPr>
              <a:t>switchport mode trunk</a:t>
            </a:r>
            <a:endParaRPr lang="en-GB" sz="1600" b="1">
              <a:latin typeface="Courier New" pitchFamily="49" charset="0"/>
            </a:endParaRPr>
          </a:p>
        </p:txBody>
      </p:sp>
      <p:sp>
        <p:nvSpPr>
          <p:cNvPr id="147467" name="Rectangle 11"/>
          <p:cNvSpPr>
            <a:spLocks noChangeArrowheads="1"/>
          </p:cNvSpPr>
          <p:nvPr/>
        </p:nvSpPr>
        <p:spPr bwMode="auto">
          <a:xfrm>
            <a:off x="458788" y="2492375"/>
            <a:ext cx="8226425" cy="3333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lstStyle/>
          <a:p>
            <a:pPr>
              <a:lnSpc>
                <a:spcPct val="100000"/>
              </a:lnSpc>
            </a:pPr>
            <a:r>
              <a:rPr lang="en-US" sz="1600" b="1">
                <a:latin typeface="Courier New" pitchFamily="49" charset="0"/>
              </a:rPr>
              <a:t>switchport mode {access |  dynamic {auto | desirable} | trunk}</a:t>
            </a:r>
          </a:p>
        </p:txBody>
      </p:sp>
      <p:sp>
        <p:nvSpPr>
          <p:cNvPr id="147469" name="Text Box 13"/>
          <p:cNvSpPr txBox="1">
            <a:spLocks noChangeArrowheads="1"/>
          </p:cNvSpPr>
          <p:nvPr/>
        </p:nvSpPr>
        <p:spPr bwMode="auto">
          <a:xfrm>
            <a:off x="458788" y="2265363"/>
            <a:ext cx="2020887" cy="19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0" tIns="0" rIns="0" bIns="0">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1400" b="1">
                <a:solidFill>
                  <a:srgbClr val="000000"/>
                </a:solidFill>
                <a:latin typeface="Courier New" pitchFamily="49" charset="0"/>
              </a:rPr>
              <a:t>SwitchX(config-if)#</a:t>
            </a:r>
          </a:p>
        </p:txBody>
      </p:sp>
      <p:sp>
        <p:nvSpPr>
          <p:cNvPr id="147470" name="Rectangle 14"/>
          <p:cNvSpPr>
            <a:spLocks noChangeArrowheads="1"/>
          </p:cNvSpPr>
          <p:nvPr/>
        </p:nvSpPr>
        <p:spPr bwMode="auto">
          <a:xfrm>
            <a:off x="458788" y="2857500"/>
            <a:ext cx="514985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71450" indent="-171450" defTabSz="1028700">
              <a:lnSpc>
                <a:spcPct val="95000"/>
              </a:lnSpc>
              <a:spcBef>
                <a:spcPct val="35000"/>
              </a:spcBef>
              <a:buClr>
                <a:schemeClr val="accent1"/>
              </a:buClr>
              <a:buFont typeface="Wingdings" pitchFamily="2" charset="2"/>
              <a:buChar char="§"/>
            </a:pPr>
            <a:r>
              <a:rPr lang="en-US" sz="1800">
                <a:solidFill>
                  <a:srgbClr val="000000"/>
                </a:solidFill>
                <a:cs typeface="Times New Roman" pitchFamily="18" charset="0"/>
              </a:rPr>
              <a:t>Configures the trunking characteristics of the port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4966" y="1978925"/>
            <a:ext cx="8161361" cy="3416320"/>
          </a:xfrm>
          <a:prstGeom prst="rect">
            <a:avLst/>
          </a:prstGeom>
          <a:noFill/>
        </p:spPr>
        <p:txBody>
          <a:bodyPr wrap="square" rtlCol="0">
            <a:spAutoFit/>
          </a:bodyPr>
          <a:lstStyle/>
          <a:p>
            <a:pPr marL="457200" indent="-457200">
              <a:buFont typeface="Arial" pitchFamily="34" charset="0"/>
              <a:buChar char="•"/>
            </a:pPr>
            <a:r>
              <a:rPr lang="vi-VN"/>
              <a:t>c2600(config</a:t>
            </a:r>
            <a:r>
              <a:rPr lang="vi-VN" smtClean="0"/>
              <a:t>)#</a:t>
            </a:r>
            <a:r>
              <a:rPr lang="en-US" smtClean="0"/>
              <a:t> </a:t>
            </a:r>
            <a:r>
              <a:rPr lang="vi-VN" smtClean="0"/>
              <a:t>int </a:t>
            </a:r>
            <a:r>
              <a:rPr lang="vi-VN"/>
              <a:t>fastEthernet </a:t>
            </a:r>
            <a:r>
              <a:rPr lang="vi-VN" smtClean="0"/>
              <a:t>0/0.2</a:t>
            </a:r>
            <a:endParaRPr lang="en-US" smtClean="0"/>
          </a:p>
          <a:p>
            <a:pPr marL="457200" indent="-457200">
              <a:buFont typeface="Arial" pitchFamily="34" charset="0"/>
              <a:buChar char="•"/>
            </a:pPr>
            <a:endParaRPr lang="en-US" smtClean="0"/>
          </a:p>
          <a:p>
            <a:pPr marL="457200" indent="-457200">
              <a:buFont typeface="Arial" pitchFamily="34" charset="0"/>
              <a:buChar char="•"/>
            </a:pPr>
            <a:r>
              <a:rPr lang="vi-VN" smtClean="0"/>
              <a:t>c2600(config-subif)#</a:t>
            </a:r>
            <a:r>
              <a:rPr lang="en-US" smtClean="0"/>
              <a:t> </a:t>
            </a:r>
            <a:r>
              <a:rPr lang="vi-VN" smtClean="0"/>
              <a:t>encapsulation </a:t>
            </a:r>
            <a:r>
              <a:rPr lang="vi-VN"/>
              <a:t>isl 2</a:t>
            </a:r>
            <a:br>
              <a:rPr lang="vi-VN"/>
            </a:br>
            <a:endParaRPr lang="en-US" smtClean="0"/>
          </a:p>
          <a:p>
            <a:pPr marL="457200" indent="-457200">
              <a:buFont typeface="Arial" pitchFamily="34" charset="0"/>
              <a:buChar char="•"/>
            </a:pPr>
            <a:r>
              <a:rPr lang="vi-VN" smtClean="0"/>
              <a:t>(</a:t>
            </a:r>
            <a:r>
              <a:rPr lang="vi-VN"/>
              <a:t>hay bằng </a:t>
            </a:r>
            <a:r>
              <a:rPr lang="vi-VN" smtClean="0"/>
              <a:t>dot1q</a:t>
            </a:r>
            <a:r>
              <a:rPr lang="en-US" smtClean="0"/>
              <a:t>)</a:t>
            </a:r>
          </a:p>
          <a:p>
            <a:pPr marL="457200" indent="-457200">
              <a:buFont typeface="Arial" pitchFamily="34" charset="0"/>
              <a:buChar char="•"/>
            </a:pPr>
            <a:endParaRPr lang="en-US" smtClean="0"/>
          </a:p>
          <a:p>
            <a:pPr marL="457200" indent="-457200">
              <a:buFont typeface="Arial" pitchFamily="34" charset="0"/>
              <a:buChar char="•"/>
            </a:pPr>
            <a:r>
              <a:rPr lang="vi-VN" smtClean="0"/>
              <a:t>c2600(config-subif</a:t>
            </a:r>
            <a:r>
              <a:rPr lang="vi-VN"/>
              <a:t>)#encapsulation dot1Q </a:t>
            </a:r>
            <a:r>
              <a:rPr lang="vi-VN" smtClean="0"/>
              <a:t>2</a:t>
            </a:r>
            <a:r>
              <a:rPr lang="vi-VN"/>
              <a:t/>
            </a:r>
            <a:br>
              <a:rPr lang="vi-VN"/>
            </a:br>
            <a:endParaRPr lang="en-US"/>
          </a:p>
        </p:txBody>
      </p:sp>
      <p:sp>
        <p:nvSpPr>
          <p:cNvPr id="4" name="Rectangle 3"/>
          <p:cNvSpPr>
            <a:spLocks noGrp="1" noChangeArrowheads="1"/>
          </p:cNvSpPr>
          <p:nvPr>
            <p:ph type="title"/>
          </p:nvPr>
        </p:nvSpPr>
        <p:spPr/>
        <p:txBody>
          <a:bodyPr/>
          <a:lstStyle/>
          <a:p>
            <a:r>
              <a:rPr lang="en-US"/>
              <a:t>Configuring 802.1Q Trunking</a:t>
            </a:r>
          </a:p>
        </p:txBody>
      </p:sp>
    </p:spTree>
    <p:extLst>
      <p:ext uri="{BB962C8B-B14F-4D97-AF65-F5344CB8AC3E}">
        <p14:creationId xmlns:p14="http://schemas.microsoft.com/office/powerpoint/2010/main" val="3321541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3" name="Rectangle 9"/>
          <p:cNvSpPr>
            <a:spLocks noChangeArrowheads="1"/>
          </p:cNvSpPr>
          <p:nvPr/>
        </p:nvSpPr>
        <p:spPr bwMode="auto">
          <a:xfrm>
            <a:off x="5029200" y="4926013"/>
            <a:ext cx="976313" cy="228600"/>
          </a:xfrm>
          <a:prstGeom prst="rect">
            <a:avLst/>
          </a:prstGeom>
          <a:solidFill>
            <a:srgbClr val="F0C566"/>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49514" name="Rectangle 10"/>
          <p:cNvSpPr>
            <a:spLocks noChangeArrowheads="1"/>
          </p:cNvSpPr>
          <p:nvPr/>
        </p:nvSpPr>
        <p:spPr bwMode="auto">
          <a:xfrm>
            <a:off x="727075" y="4311650"/>
            <a:ext cx="7586663" cy="204152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rgbClr val="FFFF9B"/>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lstStyle/>
          <a:p>
            <a:pPr defTabSz="677863"/>
            <a:r>
              <a:rPr lang="en-US" sz="1400" b="1">
                <a:latin typeface="Courier New" pitchFamily="49" charset="0"/>
              </a:rPr>
              <a:t>SwitchX# </a:t>
            </a:r>
            <a:r>
              <a:rPr lang="en-US" sz="1400" b="1">
                <a:solidFill>
                  <a:schemeClr val="accent2"/>
                </a:solidFill>
                <a:latin typeface="Courier New" pitchFamily="49" charset="0"/>
              </a:rPr>
              <a:t>show interfaces fa0/11 trunk</a:t>
            </a:r>
          </a:p>
          <a:p>
            <a:pPr defTabSz="677863"/>
            <a:endParaRPr lang="en-US" sz="1400" b="1">
              <a:latin typeface="Courier New" pitchFamily="49" charset="0"/>
            </a:endParaRPr>
          </a:p>
          <a:p>
            <a:pPr defTabSz="677863"/>
            <a:r>
              <a:rPr lang="en-US" sz="1400" b="1">
                <a:latin typeface="Courier New" pitchFamily="49" charset="0"/>
              </a:rPr>
              <a:t>Port        Mode         Encapsulation  Status        Native vlan</a:t>
            </a:r>
          </a:p>
          <a:p>
            <a:pPr defTabSz="677863"/>
            <a:r>
              <a:rPr lang="en-US" sz="1400" b="1">
                <a:latin typeface="Courier New" pitchFamily="49" charset="0"/>
              </a:rPr>
              <a:t>Fa0/11      desirable    802.1q         trunking      1</a:t>
            </a:r>
          </a:p>
          <a:p>
            <a:pPr defTabSz="677863"/>
            <a:endParaRPr lang="en-US" sz="1400" b="1">
              <a:latin typeface="Courier New" pitchFamily="49" charset="0"/>
            </a:endParaRPr>
          </a:p>
          <a:p>
            <a:pPr defTabSz="677863"/>
            <a:r>
              <a:rPr lang="en-US" sz="1400" b="1">
                <a:latin typeface="Courier New" pitchFamily="49" charset="0"/>
              </a:rPr>
              <a:t>Port      Vlans allowed on trunk</a:t>
            </a:r>
          </a:p>
          <a:p>
            <a:pPr defTabSz="677863"/>
            <a:r>
              <a:rPr lang="en-US" sz="1400" b="1">
                <a:latin typeface="Courier New" pitchFamily="49" charset="0"/>
              </a:rPr>
              <a:t>Fa0/11      1-4094</a:t>
            </a:r>
          </a:p>
          <a:p>
            <a:pPr defTabSz="677863"/>
            <a:endParaRPr lang="en-US" sz="1400" b="1">
              <a:latin typeface="Courier New" pitchFamily="49" charset="0"/>
            </a:endParaRPr>
          </a:p>
          <a:p>
            <a:pPr defTabSz="677863"/>
            <a:r>
              <a:rPr lang="en-US" sz="1400" b="1">
                <a:latin typeface="Courier New" pitchFamily="49" charset="0"/>
              </a:rPr>
              <a:t>Port        Vlans allowed and active in management domain</a:t>
            </a:r>
          </a:p>
          <a:p>
            <a:pPr defTabSz="677863"/>
            <a:r>
              <a:rPr lang="en-US" sz="1400" b="1">
                <a:latin typeface="Courier New" pitchFamily="49" charset="0"/>
              </a:rPr>
              <a:t>Fa0/11      1-13</a:t>
            </a:r>
          </a:p>
        </p:txBody>
      </p:sp>
      <p:sp>
        <p:nvSpPr>
          <p:cNvPr id="149511" name="Rectangle 7"/>
          <p:cNvSpPr>
            <a:spLocks noChangeArrowheads="1"/>
          </p:cNvSpPr>
          <p:nvPr/>
        </p:nvSpPr>
        <p:spPr bwMode="auto">
          <a:xfrm>
            <a:off x="3032125" y="2679700"/>
            <a:ext cx="638175" cy="228600"/>
          </a:xfrm>
          <a:prstGeom prst="rect">
            <a:avLst/>
          </a:prstGeom>
          <a:solidFill>
            <a:srgbClr val="F0C566"/>
          </a:solidFill>
          <a:ln>
            <a:noFill/>
          </a:ln>
          <a:effectLst/>
          <a:extLs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sp>
        <p:nvSpPr>
          <p:cNvPr id="149512" name="Rectangle 8"/>
          <p:cNvSpPr>
            <a:spLocks noChangeArrowheads="1"/>
          </p:cNvSpPr>
          <p:nvPr/>
        </p:nvSpPr>
        <p:spPr bwMode="auto">
          <a:xfrm>
            <a:off x="727075" y="2033588"/>
            <a:ext cx="7586663" cy="206216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lstStyle/>
          <a:p>
            <a:pPr>
              <a:lnSpc>
                <a:spcPct val="100000"/>
              </a:lnSpc>
            </a:pPr>
            <a:r>
              <a:rPr lang="en-US" sz="1400" b="1">
                <a:latin typeface="Courier New" pitchFamily="49" charset="0"/>
              </a:rPr>
              <a:t>SwitchX# </a:t>
            </a:r>
            <a:r>
              <a:rPr lang="en-US" sz="1400" b="1">
                <a:solidFill>
                  <a:schemeClr val="accent2"/>
                </a:solidFill>
                <a:latin typeface="Courier New" pitchFamily="49" charset="0"/>
                <a:cs typeface="Times New Roman" pitchFamily="18" charset="0"/>
              </a:rPr>
              <a:t>show interfaces fa0/11 switchport</a:t>
            </a:r>
          </a:p>
          <a:p>
            <a:r>
              <a:rPr lang="en-US" sz="1400" b="1">
                <a:latin typeface="Courier New" pitchFamily="49" charset="0"/>
              </a:rPr>
              <a:t>Name: Fa0/11</a:t>
            </a:r>
          </a:p>
          <a:p>
            <a:r>
              <a:rPr lang="en-US" sz="1400" b="1">
                <a:latin typeface="Courier New" pitchFamily="49" charset="0"/>
              </a:rPr>
              <a:t>Switchport: Enabled</a:t>
            </a:r>
          </a:p>
          <a:p>
            <a:r>
              <a:rPr lang="en-US" sz="1400" b="1">
                <a:latin typeface="Courier New" pitchFamily="49" charset="0"/>
              </a:rPr>
              <a:t>Administrative Mode: trunk</a:t>
            </a:r>
          </a:p>
          <a:p>
            <a:r>
              <a:rPr lang="en-US" sz="1400" b="1">
                <a:latin typeface="Courier New" pitchFamily="49" charset="0"/>
              </a:rPr>
              <a:t>Operational Mode: down</a:t>
            </a:r>
          </a:p>
          <a:p>
            <a:r>
              <a:rPr lang="en-US" sz="1400" b="1">
                <a:latin typeface="Courier New" pitchFamily="49" charset="0"/>
              </a:rPr>
              <a:t>Administrative Trunking Encapsulation: dot1q</a:t>
            </a:r>
          </a:p>
          <a:p>
            <a:r>
              <a:rPr lang="en-US" sz="1400" b="1">
                <a:latin typeface="Courier New" pitchFamily="49" charset="0"/>
              </a:rPr>
              <a:t>Negotiation of Trunking: On</a:t>
            </a:r>
          </a:p>
          <a:p>
            <a:r>
              <a:rPr lang="en-US" sz="1400" b="1">
                <a:latin typeface="Courier New" pitchFamily="49" charset="0"/>
              </a:rPr>
              <a:t>Access Mode VLAN: 1 (default)</a:t>
            </a:r>
          </a:p>
          <a:p>
            <a:r>
              <a:rPr lang="en-US" sz="1400" b="1">
                <a:latin typeface="Courier New" pitchFamily="49" charset="0"/>
              </a:rPr>
              <a:t>Trunking Native Mode VLAN: 1 (default)</a:t>
            </a:r>
          </a:p>
          <a:p>
            <a:r>
              <a:rPr lang="en-US" sz="1400" b="1">
                <a:latin typeface="Courier New" pitchFamily="49" charset="0"/>
              </a:rPr>
              <a:t> . . .</a:t>
            </a:r>
            <a:endParaRPr lang="en-US" sz="1400" b="1">
              <a:latin typeface="Courier New" pitchFamily="49" charset="0"/>
              <a:cs typeface="Times New Roman" pitchFamily="18" charset="0"/>
            </a:endParaRPr>
          </a:p>
        </p:txBody>
      </p:sp>
      <p:sp>
        <p:nvSpPr>
          <p:cNvPr id="149507" name="Rectangle 3"/>
          <p:cNvSpPr>
            <a:spLocks noGrp="1" noChangeArrowheads="1"/>
          </p:cNvSpPr>
          <p:nvPr>
            <p:ph type="title"/>
          </p:nvPr>
        </p:nvSpPr>
        <p:spPr/>
        <p:txBody>
          <a:bodyPr/>
          <a:lstStyle/>
          <a:p>
            <a:r>
              <a:rPr lang="en-US"/>
              <a:t>Verifying a Trunk</a:t>
            </a:r>
          </a:p>
        </p:txBody>
      </p:sp>
      <p:sp>
        <p:nvSpPr>
          <p:cNvPr id="149509" name="Rectangle 5"/>
          <p:cNvSpPr>
            <a:spLocks noChangeArrowheads="1"/>
          </p:cNvSpPr>
          <p:nvPr/>
        </p:nvSpPr>
        <p:spPr bwMode="auto">
          <a:xfrm>
            <a:off x="727075" y="1493838"/>
            <a:ext cx="7586663" cy="3333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lstStyle/>
          <a:p>
            <a:pPr>
              <a:lnSpc>
                <a:spcPct val="100000"/>
              </a:lnSpc>
            </a:pPr>
            <a:r>
              <a:rPr lang="en-US" sz="1400" b="1">
                <a:latin typeface="Courier New" pitchFamily="49" charset="0"/>
              </a:rPr>
              <a:t>SwitchX# </a:t>
            </a:r>
            <a:r>
              <a:rPr lang="en-US" sz="1400" b="1">
                <a:latin typeface="Courier New" pitchFamily="49" charset="0"/>
                <a:cs typeface="Times New Roman" pitchFamily="18" charset="0"/>
              </a:rPr>
              <a:t>show interfaces </a:t>
            </a:r>
            <a:r>
              <a:rPr lang="en-US" sz="1400" b="1" i="1">
                <a:latin typeface="Courier New" pitchFamily="49" charset="0"/>
                <a:cs typeface="Times New Roman" pitchFamily="18" charset="0"/>
              </a:rPr>
              <a:t>interface </a:t>
            </a:r>
            <a:r>
              <a:rPr lang="en-US" sz="1400" b="1">
                <a:latin typeface="Courier New" pitchFamily="49" charset="0"/>
                <a:cs typeface="Times New Roman" pitchFamily="18" charset="0"/>
              </a:rPr>
              <a:t>[switchport | trunk] </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t>VLAN Creation Guidelines</a:t>
            </a:r>
          </a:p>
        </p:txBody>
      </p:sp>
      <p:sp>
        <p:nvSpPr>
          <p:cNvPr id="151555" name="Rectangle 3"/>
          <p:cNvSpPr>
            <a:spLocks noGrp="1" noChangeArrowheads="1"/>
          </p:cNvSpPr>
          <p:nvPr>
            <p:ph type="body" idx="1"/>
          </p:nvPr>
        </p:nvSpPr>
        <p:spPr/>
        <p:txBody>
          <a:bodyPr/>
          <a:lstStyle/>
          <a:p>
            <a:pPr lvl="1"/>
            <a:r>
              <a:rPr lang="en-US"/>
              <a:t>The maximum number of VLANs is switch-dependent.</a:t>
            </a:r>
          </a:p>
          <a:p>
            <a:pPr lvl="1"/>
            <a:r>
              <a:rPr lang="en-US"/>
              <a:t>Most Cisco Catalyst desktop switches support 128 separate spanning-tree instances, one per VLAN.</a:t>
            </a:r>
          </a:p>
          <a:p>
            <a:pPr lvl="1"/>
            <a:r>
              <a:rPr lang="en-US"/>
              <a:t>VLAN 1 is </a:t>
            </a:r>
            <a:r>
              <a:rPr lang="en-US">
                <a:cs typeface="Times New Roman" pitchFamily="18" charset="0"/>
              </a:rPr>
              <a:t>the factory default Ethernet VLAN.</a:t>
            </a:r>
            <a:r>
              <a:rPr lang="en-US"/>
              <a:t> </a:t>
            </a:r>
          </a:p>
          <a:p>
            <a:pPr lvl="1"/>
            <a:r>
              <a:rPr lang="en-US"/>
              <a:t>Cisco Discovery Protocol and VTP advertisements are sent on VLAN 1.</a:t>
            </a:r>
          </a:p>
          <a:p>
            <a:pPr lvl="1"/>
            <a:r>
              <a:rPr lang="en-US">
                <a:cs typeface="Times New Roman" pitchFamily="18" charset="0"/>
              </a:rPr>
              <a:t>The Cisco Catalyst switch IP address is in the management VLAN (VLAN 1 by default)</a:t>
            </a:r>
            <a:r>
              <a:rPr lang="en-US"/>
              <a:t>.</a:t>
            </a:r>
          </a:p>
          <a:p>
            <a:pPr lvl="1"/>
            <a:r>
              <a:rPr lang="en-US"/>
              <a:t>If using VTP, the switch must be in VTP server or transparent mode to add or delete VLANs.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t>Adding a VLAN</a:t>
            </a:r>
          </a:p>
        </p:txBody>
      </p:sp>
      <p:sp>
        <p:nvSpPr>
          <p:cNvPr id="153605" name="Rectangle 5"/>
          <p:cNvSpPr>
            <a:spLocks noChangeArrowheads="1"/>
          </p:cNvSpPr>
          <p:nvPr/>
        </p:nvSpPr>
        <p:spPr bwMode="auto">
          <a:xfrm>
            <a:off x="777875" y="2665413"/>
            <a:ext cx="7586663" cy="820737"/>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1402" tIns="45703" rIns="91402" bIns="45703"/>
          <a:lstStyle/>
          <a:p>
            <a:r>
              <a:rPr lang="en-US" sz="1700" b="1">
                <a:latin typeface="Courier New" pitchFamily="49" charset="0"/>
              </a:rPr>
              <a:t>SwitchX# configure terminal</a:t>
            </a:r>
          </a:p>
          <a:p>
            <a:r>
              <a:rPr lang="en-US" sz="1700" b="1">
                <a:latin typeface="Courier New" pitchFamily="49" charset="0"/>
              </a:rPr>
              <a:t>SwitchX(config)# vlan 2</a:t>
            </a:r>
          </a:p>
          <a:p>
            <a:r>
              <a:rPr lang="en-US" sz="1700" b="1">
                <a:latin typeface="Courier New" pitchFamily="49" charset="0"/>
              </a:rPr>
              <a:t>SwitchX(config-vlan)# name switchlab99</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Rectangle 4"/>
          <p:cNvSpPr>
            <a:spLocks noChangeArrowheads="1"/>
          </p:cNvSpPr>
          <p:nvPr/>
        </p:nvSpPr>
        <p:spPr bwMode="auto">
          <a:xfrm>
            <a:off x="300038" y="3708400"/>
            <a:ext cx="1833562" cy="228600"/>
          </a:xfrm>
          <a:prstGeom prst="rect">
            <a:avLst/>
          </a:prstGeom>
          <a:solidFill>
            <a:srgbClr val="F0C566"/>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155653" name="Rectangle 5"/>
          <p:cNvSpPr>
            <a:spLocks noChangeArrowheads="1"/>
          </p:cNvSpPr>
          <p:nvPr/>
        </p:nvSpPr>
        <p:spPr bwMode="auto">
          <a:xfrm>
            <a:off x="265113" y="2886075"/>
            <a:ext cx="8615362" cy="2446338"/>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1402" tIns="45703" rIns="91402" bIns="45703">
            <a:spAutoFit/>
          </a:bodyPr>
          <a:lstStyle/>
          <a:p>
            <a:pPr>
              <a:lnSpc>
                <a:spcPct val="100000"/>
              </a:lnSpc>
            </a:pPr>
            <a:r>
              <a:rPr lang="en-US" sz="1400" b="1">
                <a:latin typeface="Courier New" pitchFamily="49" charset="0"/>
              </a:rPr>
              <a:t>SwitchX# </a:t>
            </a:r>
            <a:r>
              <a:rPr lang="en-US" sz="1400" b="1">
                <a:solidFill>
                  <a:schemeClr val="accent2"/>
                </a:solidFill>
                <a:latin typeface="Courier New" pitchFamily="49" charset="0"/>
              </a:rPr>
              <a:t>show vlan id 2</a:t>
            </a:r>
          </a:p>
          <a:p>
            <a:endParaRPr lang="en-US" sz="1400" b="1">
              <a:latin typeface="Courier New" pitchFamily="49" charset="0"/>
            </a:endParaRPr>
          </a:p>
          <a:p>
            <a:r>
              <a:rPr lang="en-US" sz="1400" b="1">
                <a:latin typeface="Courier New" pitchFamily="49" charset="0"/>
              </a:rPr>
              <a:t>VLAN Name                             Status    Ports</a:t>
            </a:r>
          </a:p>
          <a:p>
            <a:r>
              <a:rPr lang="en-US" sz="1400" b="1">
                <a:latin typeface="Courier New" pitchFamily="49" charset="0"/>
              </a:rPr>
              <a:t>---- -------------------------------- --------- -------------------------------</a:t>
            </a:r>
          </a:p>
          <a:p>
            <a:r>
              <a:rPr lang="en-US" sz="1400" b="1">
                <a:latin typeface="Courier New" pitchFamily="49" charset="0"/>
              </a:rPr>
              <a:t>2    switchlab99                      active    Fa0/2, Fa0/12</a:t>
            </a:r>
          </a:p>
          <a:p>
            <a:endParaRPr lang="en-US" sz="1400" b="1">
              <a:latin typeface="Courier New" pitchFamily="49" charset="0"/>
            </a:endParaRPr>
          </a:p>
          <a:p>
            <a:r>
              <a:rPr lang="en-US" sz="1400" b="1">
                <a:latin typeface="Courier New" pitchFamily="49" charset="0"/>
              </a:rPr>
              <a:t>VLAN Type  SAID       MTU   Parent RingNo BridgeNo Stp  BrdgMode Trans1 Trans2</a:t>
            </a:r>
          </a:p>
          <a:p>
            <a:r>
              <a:rPr lang="en-US" sz="1400" b="1">
                <a:latin typeface="Courier New" pitchFamily="49" charset="0"/>
              </a:rPr>
              <a:t>---- ----- ---------- ----- ------ ------ -------- ---- -------- ------ ------</a:t>
            </a:r>
          </a:p>
          <a:p>
            <a:r>
              <a:rPr lang="en-US" sz="1400" b="1">
                <a:latin typeface="Courier New" pitchFamily="49" charset="0"/>
              </a:rPr>
              <a:t>2    enet  100002     1500  -      -      -        -    -        0      0</a:t>
            </a:r>
          </a:p>
          <a:p>
            <a:endParaRPr lang="en-US" sz="1400" b="1">
              <a:latin typeface="Courier New" pitchFamily="49" charset="0"/>
            </a:endParaRPr>
          </a:p>
          <a:p>
            <a:r>
              <a:rPr lang="en-US" sz="1400" b="1">
                <a:latin typeface="Courier New" pitchFamily="49" charset="0"/>
              </a:rPr>
              <a:t>.   .   .</a:t>
            </a:r>
          </a:p>
          <a:p>
            <a:r>
              <a:rPr lang="en-US" sz="1400" b="1">
                <a:latin typeface="Courier New" pitchFamily="49" charset="0"/>
              </a:rPr>
              <a:t>SwitchX#</a:t>
            </a:r>
          </a:p>
        </p:txBody>
      </p:sp>
      <p:sp>
        <p:nvSpPr>
          <p:cNvPr id="155650" name="Rectangle 2"/>
          <p:cNvSpPr>
            <a:spLocks noGrp="1" noChangeArrowheads="1"/>
          </p:cNvSpPr>
          <p:nvPr>
            <p:ph type="title"/>
          </p:nvPr>
        </p:nvSpPr>
        <p:spPr/>
        <p:txBody>
          <a:bodyPr/>
          <a:lstStyle/>
          <a:p>
            <a:r>
              <a:rPr lang="en-US"/>
              <a:t>Verifying a VLAN</a:t>
            </a:r>
          </a:p>
        </p:txBody>
      </p:sp>
      <p:sp>
        <p:nvSpPr>
          <p:cNvPr id="155656" name="Rectangle 8"/>
          <p:cNvSpPr>
            <a:spLocks noChangeArrowheads="1"/>
          </p:cNvSpPr>
          <p:nvPr/>
        </p:nvSpPr>
        <p:spPr bwMode="auto">
          <a:xfrm>
            <a:off x="265113" y="2249488"/>
            <a:ext cx="8621712" cy="3333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lIns="91402" tIns="45703" rIns="91402" bIns="45703">
            <a:spAutoFit/>
          </a:bodyPr>
          <a:lstStyle/>
          <a:p>
            <a:pPr>
              <a:lnSpc>
                <a:spcPct val="100000"/>
              </a:lnSpc>
            </a:pPr>
            <a:r>
              <a:rPr lang="en-US" sz="1400" b="1">
                <a:latin typeface="Courier New" pitchFamily="49" charset="0"/>
              </a:rPr>
              <a:t>SwitchX# show vlan [brief | id </a:t>
            </a:r>
            <a:r>
              <a:rPr lang="en-US" sz="1400" b="1" i="1">
                <a:latin typeface="Courier New" pitchFamily="49" charset="0"/>
              </a:rPr>
              <a:t>vlan-id </a:t>
            </a:r>
            <a:r>
              <a:rPr lang="en-US" sz="1400" b="1">
                <a:latin typeface="Courier New" pitchFamily="49" charset="0"/>
              </a:rPr>
              <a:t>|| name </a:t>
            </a:r>
            <a:r>
              <a:rPr lang="en-US" sz="1400" b="1" i="1">
                <a:latin typeface="Courier New" pitchFamily="49" charset="0"/>
              </a:rPr>
              <a:t>vlan-name</a:t>
            </a:r>
            <a:r>
              <a:rPr lang="en-US" sz="1400" b="1">
                <a:latin typeface="Courier New" pitchFamily="49" charset="0"/>
              </a:rPr>
              <a:t>]</a:t>
            </a:r>
            <a:endParaRPr lang="en-US" sz="1400" b="1" i="1">
              <a:latin typeface="Courier New" pitchFamily="49"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en-US"/>
              <a:t>Assigning Switch Ports to a VLAN</a:t>
            </a:r>
          </a:p>
        </p:txBody>
      </p:sp>
      <p:sp>
        <p:nvSpPr>
          <p:cNvPr id="162826" name="Rectangle 10"/>
          <p:cNvSpPr>
            <a:spLocks noChangeArrowheads="1"/>
          </p:cNvSpPr>
          <p:nvPr/>
        </p:nvSpPr>
        <p:spPr bwMode="auto">
          <a:xfrm>
            <a:off x="765175" y="3113088"/>
            <a:ext cx="7586663" cy="21240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lstStyle/>
          <a:p>
            <a:pPr marL="381000" indent="-381000">
              <a:lnSpc>
                <a:spcPct val="100000"/>
              </a:lnSpc>
            </a:pPr>
            <a:r>
              <a:rPr lang="en-US" sz="1400" b="1">
                <a:latin typeface="Courier New" pitchFamily="49" charset="0"/>
              </a:rPr>
              <a:t>SwitchX# configure terminal</a:t>
            </a:r>
          </a:p>
          <a:p>
            <a:pPr marL="381000" indent="-381000">
              <a:lnSpc>
                <a:spcPct val="100000"/>
              </a:lnSpc>
            </a:pPr>
            <a:r>
              <a:rPr lang="en-US" sz="1400" b="1">
                <a:latin typeface="Courier New" pitchFamily="49" charset="0"/>
              </a:rPr>
              <a:t>SwitchX(config)# interface range fastethernet 0/2 - 4</a:t>
            </a:r>
          </a:p>
          <a:p>
            <a:pPr marL="381000" indent="-381000">
              <a:lnSpc>
                <a:spcPct val="100000"/>
              </a:lnSpc>
            </a:pPr>
            <a:r>
              <a:rPr lang="en-US" sz="1400" b="1">
                <a:latin typeface="Courier New" pitchFamily="49" charset="0"/>
              </a:rPr>
              <a:t>SwitchX(config-if)# </a:t>
            </a:r>
            <a:r>
              <a:rPr lang="en-US" sz="1400" b="1">
                <a:latin typeface="Courier New" pitchFamily="49" charset="0"/>
                <a:cs typeface="Times New Roman" pitchFamily="18" charset="0"/>
              </a:rPr>
              <a:t>switchport access vlan </a:t>
            </a:r>
            <a:r>
              <a:rPr lang="en-US" sz="1400" b="1" i="1">
                <a:latin typeface="Courier New" pitchFamily="49" charset="0"/>
                <a:cs typeface="Times New Roman" pitchFamily="18" charset="0"/>
              </a:rPr>
              <a:t>2</a:t>
            </a:r>
            <a:r>
              <a:rPr lang="en-US" sz="1400" b="1">
                <a:latin typeface="Courier New" pitchFamily="49" charset="0"/>
              </a:rPr>
              <a:t> </a:t>
            </a:r>
          </a:p>
          <a:p>
            <a:pPr marL="381000" indent="-381000">
              <a:lnSpc>
                <a:spcPct val="100000"/>
              </a:lnSpc>
            </a:pPr>
            <a:endParaRPr lang="en-US" sz="1400" b="1">
              <a:latin typeface="Courier New" pitchFamily="49" charset="0"/>
            </a:endParaRPr>
          </a:p>
          <a:p>
            <a:pPr marL="381000" indent="-381000"/>
            <a:r>
              <a:rPr lang="it-IT" sz="1400" b="1">
                <a:latin typeface="Courier New" pitchFamily="49" charset="0"/>
              </a:rPr>
              <a:t>SwitchX# show vlan</a:t>
            </a:r>
          </a:p>
          <a:p>
            <a:pPr marL="381000" indent="-381000"/>
            <a:endParaRPr lang="it-IT" sz="1400" b="1">
              <a:latin typeface="Courier New" pitchFamily="49" charset="0"/>
            </a:endParaRPr>
          </a:p>
          <a:p>
            <a:pPr marL="381000" indent="-381000"/>
            <a:r>
              <a:rPr lang="it-IT" sz="1400" b="1">
                <a:latin typeface="Courier New" pitchFamily="49" charset="0"/>
              </a:rPr>
              <a:t>VLAN Name                             Status    Ports</a:t>
            </a:r>
          </a:p>
          <a:p>
            <a:pPr marL="381000" indent="-381000"/>
            <a:r>
              <a:rPr lang="it-IT" sz="1400" b="1">
                <a:latin typeface="Courier New" pitchFamily="49" charset="0"/>
              </a:rPr>
              <a:t>---- -------------------------------- --------- ----------------------</a:t>
            </a:r>
          </a:p>
          <a:p>
            <a:pPr marL="381000" indent="-381000"/>
            <a:r>
              <a:rPr lang="it-IT" sz="1400" b="1">
                <a:latin typeface="Courier New" pitchFamily="49" charset="0"/>
              </a:rPr>
              <a:t>1    default                           active    Fa0/1 </a:t>
            </a:r>
          </a:p>
          <a:p>
            <a:pPr marL="381000" indent="-381000"/>
            <a:r>
              <a:rPr lang="it-IT" sz="1400" b="1">
                <a:latin typeface="Courier New" pitchFamily="49" charset="0"/>
              </a:rPr>
              <a:t>2    switchlab99                       active    Fa0/2, Fa0/3, Fa0/4</a:t>
            </a:r>
            <a:endParaRPr lang="en-US" sz="1400" b="1">
              <a:latin typeface="Courier New" pitchFamily="49" charset="0"/>
            </a:endParaRPr>
          </a:p>
        </p:txBody>
      </p:sp>
      <p:sp>
        <p:nvSpPr>
          <p:cNvPr id="162827" name="Rectangle 11"/>
          <p:cNvSpPr>
            <a:spLocks noChangeArrowheads="1"/>
          </p:cNvSpPr>
          <p:nvPr/>
        </p:nvSpPr>
        <p:spPr bwMode="auto">
          <a:xfrm>
            <a:off x="765175" y="2133600"/>
            <a:ext cx="7586663" cy="333375"/>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00000"/>
              </a:lnSpc>
              <a:tabLst>
                <a:tab pos="7654925" algn="r"/>
              </a:tabLst>
            </a:pPr>
            <a:r>
              <a:rPr lang="en-US" sz="1400" b="1">
                <a:latin typeface="Courier New" pitchFamily="49" charset="0"/>
              </a:rPr>
              <a:t>switchport access [vlan </a:t>
            </a:r>
            <a:r>
              <a:rPr lang="en-US" sz="1400" b="1" i="1">
                <a:latin typeface="Courier New" pitchFamily="49" charset="0"/>
              </a:rPr>
              <a:t>vlan#</a:t>
            </a:r>
            <a:r>
              <a:rPr lang="en-US" sz="1400" b="1">
                <a:latin typeface="Courier New" pitchFamily="49" charset="0"/>
              </a:rPr>
              <a:t> | dynamic]</a:t>
            </a:r>
            <a:endParaRPr lang="en-GB" sz="1400" b="1">
              <a:latin typeface="Courier New" pitchFamily="49" charset="0"/>
            </a:endParaRPr>
          </a:p>
        </p:txBody>
      </p:sp>
      <p:sp>
        <p:nvSpPr>
          <p:cNvPr id="162828" name="Rectangle 12"/>
          <p:cNvSpPr>
            <a:spLocks noChangeArrowheads="1"/>
          </p:cNvSpPr>
          <p:nvPr/>
        </p:nvSpPr>
        <p:spPr bwMode="auto">
          <a:xfrm>
            <a:off x="765175" y="1873250"/>
            <a:ext cx="2020888"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00000"/>
              </a:lnSpc>
              <a:spcBef>
                <a:spcPct val="20000"/>
              </a:spcBef>
            </a:pPr>
            <a:r>
              <a:rPr lang="en-US" sz="1400" b="1">
                <a:latin typeface="Courier New" pitchFamily="49" charset="0"/>
              </a:rPr>
              <a:t>SwitchX(config-if)#</a:t>
            </a:r>
            <a:endParaRPr lang="en-GB" sz="1400" b="1">
              <a:latin typeface="Courier New" pitchFamily="49"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ChangeArrowheads="1"/>
          </p:cNvSpPr>
          <p:nvPr/>
        </p:nvSpPr>
        <p:spPr bwMode="auto">
          <a:xfrm>
            <a:off x="265113" y="2493963"/>
            <a:ext cx="8615362" cy="30226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1402" tIns="45703" rIns="91402" bIns="45703">
            <a:spAutoFit/>
          </a:bodyPr>
          <a:lstStyle/>
          <a:p>
            <a:pPr>
              <a:lnSpc>
                <a:spcPct val="100000"/>
              </a:lnSpc>
              <a:tabLst>
                <a:tab pos="736600" algn="l"/>
                <a:tab pos="3030538" algn="l"/>
                <a:tab pos="4516438" algn="l"/>
              </a:tabLst>
            </a:pPr>
            <a:r>
              <a:rPr lang="en-US" sz="1400" b="1">
                <a:latin typeface="Courier New" pitchFamily="49" charset="0"/>
              </a:rPr>
              <a:t>SwitchX# </a:t>
            </a:r>
            <a:r>
              <a:rPr lang="en-US" sz="1400" b="1">
                <a:solidFill>
                  <a:schemeClr val="accent2"/>
                </a:solidFill>
                <a:latin typeface="Courier New" pitchFamily="49" charset="0"/>
                <a:cs typeface="Times New Roman" pitchFamily="18" charset="0"/>
              </a:rPr>
              <a:t>show vlan brief</a:t>
            </a:r>
          </a:p>
          <a:p>
            <a:pPr>
              <a:tabLst>
                <a:tab pos="736600" algn="l"/>
                <a:tab pos="3030538" algn="l"/>
                <a:tab pos="4516438" algn="l"/>
              </a:tabLst>
            </a:pPr>
            <a:r>
              <a:rPr lang="en-US" sz="1400" b="1">
                <a:latin typeface="Courier New" pitchFamily="49" charset="0"/>
              </a:rPr>
              <a:t>VLAN Name                             Status    Ports</a:t>
            </a:r>
          </a:p>
          <a:p>
            <a:pPr>
              <a:tabLst>
                <a:tab pos="736600" algn="l"/>
                <a:tab pos="3030538" algn="l"/>
                <a:tab pos="4516438" algn="l"/>
              </a:tabLst>
            </a:pPr>
            <a:r>
              <a:rPr lang="en-US" sz="1400" b="1">
                <a:latin typeface="Courier New" pitchFamily="49" charset="0"/>
              </a:rPr>
              <a:t>---- -------------------------------- --------- -------------------------------</a:t>
            </a:r>
          </a:p>
          <a:p>
            <a:pPr>
              <a:tabLst>
                <a:tab pos="736600" algn="l"/>
                <a:tab pos="3030538" algn="l"/>
                <a:tab pos="4516438" algn="l"/>
              </a:tabLst>
            </a:pPr>
            <a:r>
              <a:rPr lang="en-US" sz="1400" b="1">
                <a:latin typeface="Courier New" pitchFamily="49" charset="0"/>
              </a:rPr>
              <a:t>1    default                          active    Fa0/1</a:t>
            </a:r>
          </a:p>
          <a:p>
            <a:pPr>
              <a:tabLst>
                <a:tab pos="736600" algn="l"/>
                <a:tab pos="3030538" algn="l"/>
                <a:tab pos="4516438" algn="l"/>
              </a:tabLst>
            </a:pPr>
            <a:r>
              <a:rPr lang="en-US" sz="1400" b="1">
                <a:latin typeface="Courier New" pitchFamily="49" charset="0"/>
              </a:rPr>
              <a:t>2    switchlab99                      active    Fa0/2, Fa0/3, Fa0/4</a:t>
            </a:r>
            <a:r>
              <a:rPr lang="en-US" sz="1400">
                <a:latin typeface="Courier New" pitchFamily="49" charset="0"/>
              </a:rPr>
              <a:t> </a:t>
            </a:r>
            <a:endParaRPr lang="en-US" sz="1400" b="1">
              <a:latin typeface="Courier New" pitchFamily="49" charset="0"/>
            </a:endParaRPr>
          </a:p>
          <a:p>
            <a:pPr>
              <a:tabLst>
                <a:tab pos="736600" algn="l"/>
                <a:tab pos="3030538" algn="l"/>
                <a:tab pos="4516438" algn="l"/>
              </a:tabLst>
            </a:pPr>
            <a:r>
              <a:rPr lang="en-US" sz="1400" b="1">
                <a:latin typeface="Courier New" pitchFamily="49" charset="0"/>
              </a:rPr>
              <a:t>3    vlan3                            active</a:t>
            </a:r>
          </a:p>
          <a:p>
            <a:pPr>
              <a:tabLst>
                <a:tab pos="736600" algn="l"/>
                <a:tab pos="3030538" algn="l"/>
                <a:tab pos="4516438" algn="l"/>
              </a:tabLst>
            </a:pPr>
            <a:r>
              <a:rPr lang="en-US" sz="1400" b="1">
                <a:latin typeface="Courier New" pitchFamily="49" charset="0"/>
              </a:rPr>
              <a:t>4    vlan4                            active</a:t>
            </a:r>
          </a:p>
          <a:p>
            <a:pPr>
              <a:tabLst>
                <a:tab pos="736600" algn="l"/>
                <a:tab pos="3030538" algn="l"/>
                <a:tab pos="4516438" algn="l"/>
              </a:tabLst>
            </a:pPr>
            <a:r>
              <a:rPr lang="en-US" sz="1400" b="1">
                <a:latin typeface="Courier New" pitchFamily="49" charset="0"/>
              </a:rPr>
              <a:t>1002 fddi-default                     act/unsup</a:t>
            </a:r>
          </a:p>
          <a:p>
            <a:pPr>
              <a:tabLst>
                <a:tab pos="736600" algn="l"/>
                <a:tab pos="3030538" algn="l"/>
                <a:tab pos="4516438" algn="l"/>
              </a:tabLst>
            </a:pPr>
            <a:r>
              <a:rPr lang="en-US" sz="1400" b="1">
                <a:latin typeface="Courier New" pitchFamily="49" charset="0"/>
              </a:rPr>
              <a:t>1003 token-ring-default               act/unsup</a:t>
            </a:r>
          </a:p>
          <a:p>
            <a:pPr>
              <a:tabLst>
                <a:tab pos="736600" algn="l"/>
                <a:tab pos="3030538" algn="l"/>
                <a:tab pos="4516438" algn="l"/>
              </a:tabLst>
            </a:pPr>
            <a:endParaRPr lang="en-US" sz="1400" b="1">
              <a:latin typeface="Courier New" pitchFamily="49" charset="0"/>
            </a:endParaRPr>
          </a:p>
          <a:p>
            <a:pPr>
              <a:tabLst>
                <a:tab pos="736600" algn="l"/>
                <a:tab pos="3030538" algn="l"/>
                <a:tab pos="4516438" algn="l"/>
              </a:tabLst>
            </a:pPr>
            <a:r>
              <a:rPr lang="en-US" sz="1400" b="1">
                <a:latin typeface="Courier New" pitchFamily="49" charset="0"/>
              </a:rPr>
              <a:t>VLAN Name                             Status    Ports</a:t>
            </a:r>
          </a:p>
          <a:p>
            <a:pPr>
              <a:tabLst>
                <a:tab pos="736600" algn="l"/>
                <a:tab pos="3030538" algn="l"/>
                <a:tab pos="4516438" algn="l"/>
              </a:tabLst>
            </a:pPr>
            <a:r>
              <a:rPr lang="en-US" sz="1400" b="1">
                <a:latin typeface="Courier New" pitchFamily="49" charset="0"/>
              </a:rPr>
              <a:t>---- -------------------------------- --------- -------------------------------</a:t>
            </a:r>
          </a:p>
          <a:p>
            <a:pPr>
              <a:tabLst>
                <a:tab pos="736600" algn="l"/>
                <a:tab pos="3030538" algn="l"/>
                <a:tab pos="4516438" algn="l"/>
              </a:tabLst>
            </a:pPr>
            <a:r>
              <a:rPr lang="en-US" sz="1400" b="1">
                <a:latin typeface="Courier New" pitchFamily="49" charset="0"/>
              </a:rPr>
              <a:t>1004 fddinet-default                  act/unsup</a:t>
            </a:r>
          </a:p>
          <a:p>
            <a:pPr>
              <a:tabLst>
                <a:tab pos="736600" algn="l"/>
                <a:tab pos="3030538" algn="l"/>
                <a:tab pos="4516438" algn="l"/>
              </a:tabLst>
            </a:pPr>
            <a:r>
              <a:rPr lang="en-US" sz="1400" b="1">
                <a:latin typeface="Courier New" pitchFamily="49" charset="0"/>
              </a:rPr>
              <a:t>1005 trnet-default                    act/unsup</a:t>
            </a:r>
          </a:p>
          <a:p>
            <a:pPr>
              <a:tabLst>
                <a:tab pos="736600" algn="l"/>
                <a:tab pos="3030538" algn="l"/>
                <a:tab pos="4516438" algn="l"/>
              </a:tabLst>
            </a:pPr>
            <a:endParaRPr lang="en-US" sz="1400" b="1">
              <a:latin typeface="Courier New" pitchFamily="49" charset="0"/>
            </a:endParaRPr>
          </a:p>
        </p:txBody>
      </p:sp>
      <p:sp>
        <p:nvSpPr>
          <p:cNvPr id="164869" name="Rectangle 5"/>
          <p:cNvSpPr>
            <a:spLocks noChangeArrowheads="1"/>
          </p:cNvSpPr>
          <p:nvPr/>
        </p:nvSpPr>
        <p:spPr bwMode="auto">
          <a:xfrm>
            <a:off x="266700" y="1830388"/>
            <a:ext cx="8610600" cy="3333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lIns="91402" tIns="45703" rIns="91402" bIns="45703">
            <a:spAutoFit/>
          </a:bodyPr>
          <a:lstStyle/>
          <a:p>
            <a:pPr>
              <a:lnSpc>
                <a:spcPct val="100000"/>
              </a:lnSpc>
            </a:pPr>
            <a:r>
              <a:rPr lang="en-US" sz="1400" b="1">
                <a:latin typeface="Courier New" pitchFamily="49" charset="0"/>
              </a:rPr>
              <a:t>SwitchX# show vlan brief</a:t>
            </a:r>
          </a:p>
        </p:txBody>
      </p:sp>
      <p:sp>
        <p:nvSpPr>
          <p:cNvPr id="164873" name="Rectangle 9"/>
          <p:cNvSpPr>
            <a:spLocks noGrp="1" noChangeArrowheads="1"/>
          </p:cNvSpPr>
          <p:nvPr>
            <p:ph type="title"/>
          </p:nvPr>
        </p:nvSpPr>
        <p:spPr/>
        <p:txBody>
          <a:bodyPr/>
          <a:lstStyle/>
          <a:p>
            <a:r>
              <a:rPr lang="en-US"/>
              <a:t>Verifying VLAN Membership</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en-US"/>
              <a:t>Verifying VLAN Membership (Cont.)</a:t>
            </a:r>
          </a:p>
        </p:txBody>
      </p:sp>
      <p:sp>
        <p:nvSpPr>
          <p:cNvPr id="225289" name="Rectangle 9"/>
          <p:cNvSpPr>
            <a:spLocks noChangeArrowheads="1"/>
          </p:cNvSpPr>
          <p:nvPr/>
        </p:nvSpPr>
        <p:spPr bwMode="auto">
          <a:xfrm>
            <a:off x="762000" y="4892675"/>
            <a:ext cx="4191000" cy="228600"/>
          </a:xfrm>
          <a:prstGeom prst="rect">
            <a:avLst/>
          </a:prstGeom>
          <a:solidFill>
            <a:srgbClr val="F0C566"/>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0" tIns="0" rIns="0" bIns="0">
            <a:spAutoFit/>
          </a:bodyPr>
          <a:lstStyle/>
          <a:p>
            <a:endParaRPr lang="en-US"/>
          </a:p>
        </p:txBody>
      </p:sp>
      <p:sp>
        <p:nvSpPr>
          <p:cNvPr id="225290" name="Rectangle 10"/>
          <p:cNvSpPr>
            <a:spLocks noChangeArrowheads="1"/>
          </p:cNvSpPr>
          <p:nvPr/>
        </p:nvSpPr>
        <p:spPr bwMode="auto">
          <a:xfrm>
            <a:off x="762000" y="2973388"/>
            <a:ext cx="7586663" cy="2670175"/>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lstStyle/>
          <a:p>
            <a:pPr marL="381000" indent="-381000">
              <a:lnSpc>
                <a:spcPct val="95000"/>
              </a:lnSpc>
            </a:pPr>
            <a:r>
              <a:rPr lang="en-US" sz="1600" b="1">
                <a:latin typeface="Courier New" pitchFamily="49" charset="0"/>
              </a:rPr>
              <a:t>SwitchX# </a:t>
            </a:r>
            <a:r>
              <a:rPr lang="en-US" sz="1600" b="1">
                <a:solidFill>
                  <a:schemeClr val="accent2"/>
                </a:solidFill>
                <a:latin typeface="Courier New" pitchFamily="49" charset="0"/>
              </a:rPr>
              <a:t>show interfaces fa0/2 switchport</a:t>
            </a:r>
          </a:p>
          <a:p>
            <a:pPr marL="381000" indent="-381000">
              <a:lnSpc>
                <a:spcPct val="95000"/>
              </a:lnSpc>
            </a:pPr>
            <a:r>
              <a:rPr lang="en-US" sz="1600" b="1">
                <a:latin typeface="Courier New" pitchFamily="49" charset="0"/>
              </a:rPr>
              <a:t>Name: Fa0/2</a:t>
            </a:r>
          </a:p>
          <a:p>
            <a:pPr marL="381000" indent="-381000">
              <a:lnSpc>
                <a:spcPct val="95000"/>
              </a:lnSpc>
            </a:pPr>
            <a:r>
              <a:rPr lang="en-US" sz="1600" b="1">
                <a:latin typeface="Courier New" pitchFamily="49" charset="0"/>
              </a:rPr>
              <a:t>Switchport: Enabled</a:t>
            </a:r>
          </a:p>
          <a:p>
            <a:pPr marL="381000" indent="-381000">
              <a:lnSpc>
                <a:spcPct val="95000"/>
              </a:lnSpc>
            </a:pPr>
            <a:r>
              <a:rPr lang="en-US" sz="1600" b="1">
                <a:latin typeface="Courier New" pitchFamily="49" charset="0"/>
              </a:rPr>
              <a:t>Administrative Mode: dynamic auto</a:t>
            </a:r>
          </a:p>
          <a:p>
            <a:pPr marL="381000" indent="-381000">
              <a:lnSpc>
                <a:spcPct val="95000"/>
              </a:lnSpc>
            </a:pPr>
            <a:r>
              <a:rPr lang="en-US" sz="1600" b="1">
                <a:latin typeface="Courier New" pitchFamily="49" charset="0"/>
              </a:rPr>
              <a:t>Operational Mode: static access</a:t>
            </a:r>
          </a:p>
          <a:p>
            <a:pPr marL="381000" indent="-381000">
              <a:lnSpc>
                <a:spcPct val="95000"/>
              </a:lnSpc>
            </a:pPr>
            <a:r>
              <a:rPr lang="en-US" sz="1600" b="1">
                <a:latin typeface="Courier New" pitchFamily="49" charset="0"/>
              </a:rPr>
              <a:t>Administrative Trunking Encapsulation: dot1q</a:t>
            </a:r>
          </a:p>
          <a:p>
            <a:pPr marL="381000" indent="-381000">
              <a:lnSpc>
                <a:spcPct val="95000"/>
              </a:lnSpc>
            </a:pPr>
            <a:r>
              <a:rPr lang="en-US" sz="1600" b="1">
                <a:latin typeface="Courier New" pitchFamily="49" charset="0"/>
              </a:rPr>
              <a:t>Operational Trunking Encapsulation: native</a:t>
            </a:r>
          </a:p>
          <a:p>
            <a:pPr marL="381000" indent="-381000">
              <a:lnSpc>
                <a:spcPct val="95000"/>
              </a:lnSpc>
            </a:pPr>
            <a:r>
              <a:rPr lang="en-US" sz="1600" b="1">
                <a:latin typeface="Courier New" pitchFamily="49" charset="0"/>
              </a:rPr>
              <a:t>Negotiation of Trunking: On</a:t>
            </a:r>
          </a:p>
          <a:p>
            <a:pPr marL="381000" indent="-381000">
              <a:lnSpc>
                <a:spcPct val="95000"/>
              </a:lnSpc>
            </a:pPr>
            <a:r>
              <a:rPr lang="en-US" sz="1600" b="1">
                <a:latin typeface="Courier New" pitchFamily="49" charset="0"/>
              </a:rPr>
              <a:t>Access Mode VLAN: 2 (switchlab99)</a:t>
            </a:r>
          </a:p>
          <a:p>
            <a:pPr marL="381000" indent="-381000">
              <a:lnSpc>
                <a:spcPct val="95000"/>
              </a:lnSpc>
            </a:pPr>
            <a:r>
              <a:rPr lang="en-US" sz="1600" b="1">
                <a:latin typeface="Courier New" pitchFamily="49" charset="0"/>
              </a:rPr>
              <a:t>Trunking Native Mode VLAN: 1 (default)</a:t>
            </a:r>
          </a:p>
          <a:p>
            <a:pPr marL="381000" indent="-381000">
              <a:lnSpc>
                <a:spcPct val="95000"/>
              </a:lnSpc>
            </a:pPr>
            <a:r>
              <a:rPr lang="en-US" sz="1600" b="1">
                <a:latin typeface="Courier New" pitchFamily="49" charset="0"/>
              </a:rPr>
              <a:t>--- output omitted ----</a:t>
            </a:r>
          </a:p>
        </p:txBody>
      </p:sp>
      <p:sp>
        <p:nvSpPr>
          <p:cNvPr id="225291" name="Rectangle 11"/>
          <p:cNvSpPr>
            <a:spLocks noChangeArrowheads="1"/>
          </p:cNvSpPr>
          <p:nvPr/>
        </p:nvSpPr>
        <p:spPr bwMode="auto">
          <a:xfrm>
            <a:off x="762000" y="2133600"/>
            <a:ext cx="7586663" cy="365125"/>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95000"/>
              </a:lnSpc>
              <a:tabLst>
                <a:tab pos="7654925" algn="r"/>
              </a:tabLst>
            </a:pPr>
            <a:r>
              <a:rPr lang="en-US" sz="1600" b="1">
                <a:latin typeface="Courier New" pitchFamily="49" charset="0"/>
              </a:rPr>
              <a:t>show interfaces </a:t>
            </a:r>
            <a:r>
              <a:rPr lang="en-US" sz="1600" b="1" i="1">
                <a:latin typeface="Courier New" pitchFamily="49" charset="0"/>
              </a:rPr>
              <a:t>interface</a:t>
            </a:r>
            <a:r>
              <a:rPr lang="en-US" sz="1600" b="1">
                <a:latin typeface="Courier New" pitchFamily="49" charset="0"/>
              </a:rPr>
              <a:t> switchport</a:t>
            </a:r>
            <a:endParaRPr lang="en-GB" sz="1600" b="1">
              <a:latin typeface="Courier New" pitchFamily="49" charset="0"/>
            </a:endParaRPr>
          </a:p>
        </p:txBody>
      </p:sp>
      <p:sp>
        <p:nvSpPr>
          <p:cNvPr id="225292" name="Rectangle 12"/>
          <p:cNvSpPr>
            <a:spLocks noChangeArrowheads="1"/>
          </p:cNvSpPr>
          <p:nvPr/>
        </p:nvSpPr>
        <p:spPr bwMode="auto">
          <a:xfrm>
            <a:off x="762000" y="1835150"/>
            <a:ext cx="23225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100000"/>
              </a:lnSpc>
              <a:spcBef>
                <a:spcPct val="20000"/>
              </a:spcBef>
            </a:pPr>
            <a:r>
              <a:rPr lang="en-US" sz="1600" b="1">
                <a:latin typeface="Courier New" pitchFamily="49" charset="0"/>
              </a:rPr>
              <a:t>SwitchX(config-if)#</a:t>
            </a:r>
            <a:endParaRPr lang="en-GB" sz="1600" b="1">
              <a:latin typeface="Courier New" pitchFamily="49"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9" name="Rectangle 5"/>
          <p:cNvSpPr>
            <a:spLocks noGrp="1" noChangeArrowheads="1"/>
          </p:cNvSpPr>
          <p:nvPr>
            <p:ph type="body" idx="1"/>
          </p:nvPr>
        </p:nvSpPr>
        <p:spPr/>
        <p:txBody>
          <a:bodyPr/>
          <a:lstStyle/>
          <a:p>
            <a:pPr lvl="1"/>
            <a:r>
              <a:rPr lang="en-US"/>
              <a:t>When using VTP, the switch must be in VTP server or transparent mode to add, change, or delete VLANs. </a:t>
            </a:r>
          </a:p>
          <a:p>
            <a:pPr lvl="1"/>
            <a:r>
              <a:rPr lang="en-US"/>
              <a:t>When you make VLAN changes from a switch in VTP server mode, the change is propagated to other switches in the VTP domain.</a:t>
            </a:r>
          </a:p>
          <a:p>
            <a:pPr lvl="1"/>
            <a:r>
              <a:rPr lang="en-US"/>
              <a:t>Changing VLANs typically implies changing IP networks. </a:t>
            </a:r>
          </a:p>
          <a:p>
            <a:pPr lvl="1"/>
            <a:r>
              <a:rPr lang="en-US"/>
              <a:t>After a port is reassigned to a new VLAN, that port is automatically removed from its previous VLAN.</a:t>
            </a:r>
          </a:p>
          <a:p>
            <a:pPr lvl="1"/>
            <a:r>
              <a:rPr lang="en-US"/>
              <a:t>When you delete a VLAN, any ports in that VLAN that are not moved to an active VLAN will be unable to communicate with other stations. </a:t>
            </a:r>
          </a:p>
          <a:p>
            <a:endParaRPr lang="en-US" sz="2000"/>
          </a:p>
        </p:txBody>
      </p:sp>
      <p:sp>
        <p:nvSpPr>
          <p:cNvPr id="180231" name="Rectangle 7"/>
          <p:cNvSpPr>
            <a:spLocks noGrp="1" noChangeArrowheads="1"/>
          </p:cNvSpPr>
          <p:nvPr>
            <p:ph type="title"/>
          </p:nvPr>
        </p:nvSpPr>
        <p:spPr>
          <a:noFill/>
          <a:ln/>
        </p:spPr>
        <p:txBody>
          <a:bodyPr/>
          <a:lstStyle/>
          <a:p>
            <a:r>
              <a:rPr lang="en-US"/>
              <a:t>Executing Adds, Moves, and Changes </a:t>
            </a:r>
            <a:br>
              <a:rPr lang="en-US"/>
            </a:br>
            <a:r>
              <a:rPr lang="en-US"/>
              <a:t>for VLANs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Summary</a:t>
            </a:r>
          </a:p>
        </p:txBody>
      </p:sp>
      <p:sp>
        <p:nvSpPr>
          <p:cNvPr id="12297" name="Rectangle 9"/>
          <p:cNvSpPr>
            <a:spLocks noGrp="1" noChangeArrowheads="1"/>
          </p:cNvSpPr>
          <p:nvPr>
            <p:ph type="body" idx="1"/>
          </p:nvPr>
        </p:nvSpPr>
        <p:spPr/>
        <p:txBody>
          <a:bodyPr/>
          <a:lstStyle/>
          <a:p>
            <a:pPr lvl="1"/>
            <a:r>
              <a:rPr lang="en-US"/>
              <a:t>A poorly designed network has increased support costs, reduced service availability, and limited support for new applications and solutions.</a:t>
            </a:r>
          </a:p>
          <a:p>
            <a:pPr lvl="1"/>
            <a:r>
              <a:rPr lang="en-US"/>
              <a:t>VLANs provide segmentation and organizational flexibility. </a:t>
            </a:r>
          </a:p>
          <a:p>
            <a:pPr lvl="1"/>
            <a:r>
              <a:rPr lang="en-US"/>
              <a:t>Ethernet trunks carry the traffic of multiple VLANs over a single link and allow you to extend VLANs across an entire network. </a:t>
            </a:r>
          </a:p>
          <a:p>
            <a:pPr lvl="1"/>
            <a:r>
              <a:rPr lang="en-US"/>
              <a:t>VTP is a Layer 2 messaging protocol that maintains VLAN configuration consistency.</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2"/>
          <p:cNvGrpSpPr>
            <a:grpSpLocks/>
          </p:cNvGrpSpPr>
          <p:nvPr/>
        </p:nvGrpSpPr>
        <p:grpSpPr bwMode="auto">
          <a:xfrm>
            <a:off x="0" y="0"/>
            <a:ext cx="9144000" cy="4383088"/>
            <a:chOff x="0" y="0"/>
            <a:chExt cx="5760" cy="2761"/>
          </a:xfrm>
        </p:grpSpPr>
        <p:grpSp>
          <p:nvGrpSpPr>
            <p:cNvPr id="77827" name="Group 3"/>
            <p:cNvGrpSpPr>
              <a:grpSpLocks/>
            </p:cNvGrpSpPr>
            <p:nvPr/>
          </p:nvGrpSpPr>
          <p:grpSpPr bwMode="auto">
            <a:xfrm>
              <a:off x="1727" y="1485"/>
              <a:ext cx="2400" cy="1276"/>
              <a:chOff x="3272" y="1316"/>
              <a:chExt cx="1889" cy="1002"/>
            </a:xfrm>
          </p:grpSpPr>
          <p:sp>
            <p:nvSpPr>
              <p:cNvPr id="77828"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7829"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7830" name="Freeform 6"/>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1" name="Freeform 7"/>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2" name="Freeform 8"/>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3" name="Freeform 9"/>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4" name="Freeform 10"/>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5" name="Freeform 11"/>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6" name="Freeform 12"/>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7" name="Freeform 13"/>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8" name="Freeform 14"/>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9" name="Freeform 15"/>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0" name="Freeform 16"/>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1" name="Freeform 17"/>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2" name="Freeform 18"/>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7843" name="Rectangle 19"/>
            <p:cNvSpPr>
              <a:spLocks noChangeArrowheads="1"/>
            </p:cNvSpPr>
            <p:nvPr/>
          </p:nvSpPr>
          <p:spPr bwMode="auto">
            <a:xfrm>
              <a:off x="0" y="0"/>
              <a:ext cx="5760" cy="432"/>
            </a:xfrm>
            <a:prstGeom prst="rect">
              <a:avLst/>
            </a:prstGeom>
            <a:solidFill>
              <a:srgbClr val="FFFFFF"/>
            </a:solidFill>
            <a:ln>
              <a:noFill/>
            </a:ln>
            <a:effectLst/>
            <a:extLst>
              <a:ext uri="{91240B29-F687-4F45-9708-019B960494DF}">
                <a14:hiddenLine xmlns:a14="http://schemas.microsoft.com/office/drawing/2010/main" w="9525" algn="ctr">
                  <a:solidFill>
                    <a:srgbClr val="4798AB"/>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gr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TMP-DEV-PPT-v8.0</Template>
  <TotalTime>6187</TotalTime>
  <Words>2485</Words>
  <Application>Microsoft Office PowerPoint</Application>
  <PresentationFormat>On-screen Show (4:3)</PresentationFormat>
  <Paragraphs>390</Paragraphs>
  <Slides>36</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ＭＳ Ｐゴシック</vt:lpstr>
      <vt:lpstr>Arial</vt:lpstr>
      <vt:lpstr>Cambria</vt:lpstr>
      <vt:lpstr>Courier New</vt:lpstr>
      <vt:lpstr>Helvetica</vt:lpstr>
      <vt:lpstr>Tahoma</vt:lpstr>
      <vt:lpstr>Times</vt:lpstr>
      <vt:lpstr>Times New Roman</vt:lpstr>
      <vt:lpstr>Wingdings</vt:lpstr>
      <vt:lpstr>TMP-DEV-PPT-v8.1</vt:lpstr>
      <vt:lpstr>Medium-Sized Switched Network Construction </vt:lpstr>
      <vt:lpstr>Issues in a Poorly Designed Network</vt:lpstr>
      <vt:lpstr>VLAN Overview</vt:lpstr>
      <vt:lpstr>Why Designing VLANs</vt:lpstr>
      <vt:lpstr>Guidelines for Applying IP Address Space </vt:lpstr>
      <vt:lpstr>Network Traffic Types</vt:lpstr>
      <vt:lpstr>VLAN Operation</vt:lpstr>
      <vt:lpstr>VLAN Membership Modes</vt:lpstr>
      <vt:lpstr>VLAN  Membership Modes</vt:lpstr>
      <vt:lpstr>ENCAPSULATION</vt:lpstr>
      <vt:lpstr>ISL (Inter-Switch Link)Tagging</vt:lpstr>
      <vt:lpstr>ISL Encapsulation</vt:lpstr>
      <vt:lpstr>802.1Q Trunking</vt:lpstr>
      <vt:lpstr>IEEE 802.1Q</vt:lpstr>
      <vt:lpstr>Understanding Native VLANs</vt:lpstr>
      <vt:lpstr>VTP Features</vt:lpstr>
      <vt:lpstr>VTP Modes</vt:lpstr>
      <vt:lpstr>VTP Operation</vt:lpstr>
      <vt:lpstr>VTP Pruning</vt:lpstr>
      <vt:lpstr>Configuring VLANs and Trunks</vt:lpstr>
      <vt:lpstr>VTP Configuration Guidelines</vt:lpstr>
      <vt:lpstr>Creating a VTP Domain</vt:lpstr>
      <vt:lpstr>VTP Configuration and Verification Example</vt:lpstr>
      <vt:lpstr>802.1Q Trunking Issues</vt:lpstr>
      <vt:lpstr>Configuring 802.1Q Trunking</vt:lpstr>
      <vt:lpstr>Configuring 802.1Q Trunking</vt:lpstr>
      <vt:lpstr>Verifying a Trunk</vt:lpstr>
      <vt:lpstr>VLAN Creation Guidelines</vt:lpstr>
      <vt:lpstr>Adding a VLAN</vt:lpstr>
      <vt:lpstr>Verifying a VLAN</vt:lpstr>
      <vt:lpstr>Assigning Switch Ports to a VLAN</vt:lpstr>
      <vt:lpstr>Verifying VLAN Membership</vt:lpstr>
      <vt:lpstr>Verifying VLAN Membership (Cont.)</vt:lpstr>
      <vt:lpstr>Executing Adds, Moves, and Changes  for VLANs</vt:lpstr>
      <vt:lpstr>Summary</vt:lpstr>
      <vt:lpstr>PowerPoint Presentation</vt:lpstr>
    </vt:vector>
  </TitlesOfParts>
  <Manager>Erin Stanley</Manager>
  <Company>Cisco Systems,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MA-ILT-Lesson-v4.2.ppt</dc:title>
  <dc:creator>Editorial, Production, and Graphics Services (EPGS)</dc:creator>
  <dc:description>04/04, v3.1, Libby Goga_x000d_
applied new ILSG learning design_x000d_
04/24/04, v3.1, Erin Stanley_x000d_
prepared for production_x000d_
Updated; dmachado:  01.04.05_x000d_
04.07.06: jbangloy: Applied Template QACS-PPT-v7.0_x000d_
04.10.06: kayclark: DTP Check_x000d_
Edit: Michele Gilfether: 04.24.06</dc:description>
  <cp:lastModifiedBy>Khanh Pham Thai</cp:lastModifiedBy>
  <cp:revision>208</cp:revision>
  <dcterms:created xsi:type="dcterms:W3CDTF">2003-04-02T15:29:42Z</dcterms:created>
  <dcterms:modified xsi:type="dcterms:W3CDTF">2016-03-29T02:34:45Z</dcterms:modified>
  <cp:category>Masters</cp:category>
</cp:coreProperties>
</file>