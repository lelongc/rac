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16"/>
  </p:notesMasterIdLst>
  <p:handoutMasterIdLst>
    <p:handoutMasterId r:id="rId17"/>
  </p:handoutMasterIdLst>
  <p:sldIdLst>
    <p:sldId id="276" r:id="rId2"/>
    <p:sldId id="277" r:id="rId3"/>
    <p:sldId id="294" r:id="rId4"/>
    <p:sldId id="281" r:id="rId5"/>
    <p:sldId id="282" r:id="rId6"/>
    <p:sldId id="292" r:id="rId7"/>
    <p:sldId id="284" r:id="rId8"/>
    <p:sldId id="285" r:id="rId9"/>
    <p:sldId id="286" r:id="rId10"/>
    <p:sldId id="287" r:id="rId11"/>
    <p:sldId id="288" r:id="rId12"/>
    <p:sldId id="290" r:id="rId13"/>
    <p:sldId id="278" r:id="rId14"/>
    <p:sldId id="263" r:id="rId15"/>
  </p:sldIdLst>
  <p:sldSz cx="9144000" cy="6858000" type="screen4x3"/>
  <p:notesSz cx="6858000" cy="9144000"/>
  <p:defaultTextStyle>
    <a:defPPr>
      <a:defRPr lang="en-US"/>
    </a:defPPr>
    <a:lvl1pPr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1pPr>
    <a:lvl2pPr marL="457200"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2pPr>
    <a:lvl3pPr marL="914400"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3pPr>
    <a:lvl4pPr marL="1371600"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4pPr>
    <a:lvl5pPr marL="1828800"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5pPr>
    <a:lvl6pPr marL="2286000" algn="l" defTabSz="914400" rtl="0" eaLnBrk="1" latinLnBrk="0" hangingPunct="1">
      <a:defRPr sz="3000" b="1" kern="1200">
        <a:solidFill>
          <a:schemeClr val="tx1"/>
        </a:solidFill>
        <a:latin typeface="Arial" charset="0"/>
        <a:ea typeface="+mn-ea"/>
        <a:cs typeface="+mn-cs"/>
      </a:defRPr>
    </a:lvl6pPr>
    <a:lvl7pPr marL="2743200" algn="l" defTabSz="914400" rtl="0" eaLnBrk="1" latinLnBrk="0" hangingPunct="1">
      <a:defRPr sz="3000" b="1" kern="1200">
        <a:solidFill>
          <a:schemeClr val="tx1"/>
        </a:solidFill>
        <a:latin typeface="Arial" charset="0"/>
        <a:ea typeface="+mn-ea"/>
        <a:cs typeface="+mn-cs"/>
      </a:defRPr>
    </a:lvl7pPr>
    <a:lvl8pPr marL="3200400" algn="l" defTabSz="914400" rtl="0" eaLnBrk="1" latinLnBrk="0" hangingPunct="1">
      <a:defRPr sz="3000" b="1" kern="1200">
        <a:solidFill>
          <a:schemeClr val="tx1"/>
        </a:solidFill>
        <a:latin typeface="Arial" charset="0"/>
        <a:ea typeface="+mn-ea"/>
        <a:cs typeface="+mn-cs"/>
      </a:defRPr>
    </a:lvl8pPr>
    <a:lvl9pPr marL="3657600" algn="l" defTabSz="914400" rtl="0" eaLnBrk="1" latinLnBrk="0" hangingPunct="1">
      <a:defRPr sz="30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19" autoAdjust="0"/>
    <p:restoredTop sz="75547" autoAdjust="0"/>
  </p:normalViewPr>
  <p:slideViewPr>
    <p:cSldViewPr>
      <p:cViewPr varScale="1">
        <p:scale>
          <a:sx n="56" d="100"/>
          <a:sy n="56" d="100"/>
        </p:scale>
        <p:origin x="1972" y="44"/>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_rels/viewProps.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lnSpc>
                <a:spcPct val="100000"/>
              </a:lnSpc>
              <a:defRPr sz="1200" b="0">
                <a:latin typeface="Times" pitchFamily="18" charset="0"/>
              </a:defRPr>
            </a:lvl1pPr>
          </a:lstStyle>
          <a:p>
            <a:endParaRPr lang="en-US"/>
          </a:p>
        </p:txBody>
      </p:sp>
      <p:sp>
        <p:nvSpPr>
          <p:cNvPr id="2253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lnSpc>
                <a:spcPct val="100000"/>
              </a:lnSpc>
              <a:defRPr sz="1200" b="0">
                <a:latin typeface="Times" pitchFamily="18" charset="0"/>
              </a:defRPr>
            </a:lvl1pPr>
          </a:lstStyle>
          <a:p>
            <a:endParaRPr lang="en-US"/>
          </a:p>
        </p:txBody>
      </p:sp>
      <p:sp>
        <p:nvSpPr>
          <p:cNvPr id="2253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lnSpc>
                <a:spcPct val="100000"/>
              </a:lnSpc>
              <a:defRPr sz="1200" b="0">
                <a:latin typeface="Times" pitchFamily="18" charset="0"/>
              </a:defRPr>
            </a:lvl1pPr>
          </a:lstStyle>
          <a:p>
            <a:endParaRPr lang="en-US"/>
          </a:p>
        </p:txBody>
      </p:sp>
      <p:sp>
        <p:nvSpPr>
          <p:cNvPr id="2253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lnSpc>
                <a:spcPct val="100000"/>
              </a:lnSpc>
              <a:defRPr sz="1200" b="0">
                <a:latin typeface="Times" pitchFamily="18" charset="0"/>
              </a:defRPr>
            </a:lvl1pPr>
          </a:lstStyle>
          <a:p>
            <a:fld id="{B9E5179B-2865-4363-B0C3-D14A02B7721E}" type="slidenum">
              <a:rPr lang="en-US"/>
              <a:pPr/>
              <a:t>‹#›</a:t>
            </a:fld>
            <a:endParaRPr lang="en-US"/>
          </a:p>
        </p:txBody>
      </p:sp>
    </p:spTree>
    <p:extLst>
      <p:ext uri="{BB962C8B-B14F-4D97-AF65-F5344CB8AC3E}">
        <p14:creationId xmlns:p14="http://schemas.microsoft.com/office/powerpoint/2010/main" val="7072695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defRPr sz="1200"/>
            </a:lvl1pPr>
          </a:lstStyle>
          <a:p>
            <a:endParaRPr lang="en-US"/>
          </a:p>
        </p:txBody>
      </p:sp>
      <p:sp>
        <p:nvSpPr>
          <p:cNvPr id="819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defRPr sz="1200"/>
            </a:lvl1pPr>
          </a:lstStyle>
          <a:p>
            <a:endParaRPr lang="en-US"/>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defRPr sz="1200"/>
            </a:lvl1pPr>
          </a:lstStyle>
          <a:p>
            <a:endParaRPr lang="en-US"/>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defRPr sz="1200"/>
            </a:lvl1pPr>
          </a:lstStyle>
          <a:p>
            <a:fld id="{0B0BF5E3-7F7C-429A-BFF0-941CAE55F7F9}" type="slidenum">
              <a:rPr lang="en-US"/>
              <a:pPr/>
              <a:t>‹#›</a:t>
            </a:fld>
            <a:endParaRPr lang="en-US"/>
          </a:p>
        </p:txBody>
      </p:sp>
    </p:spTree>
    <p:extLst>
      <p:ext uri="{BB962C8B-B14F-4D97-AF65-F5344CB8AC3E}">
        <p14:creationId xmlns:p14="http://schemas.microsoft.com/office/powerpoint/2010/main" val="101843919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18" charset="0"/>
        <a:ea typeface="+mn-ea"/>
        <a:cs typeface="+mn-cs"/>
      </a:defRPr>
    </a:lvl1pPr>
    <a:lvl2pPr marL="457200" algn="l" rtl="0" fontAlgn="base">
      <a:spcBef>
        <a:spcPct val="30000"/>
      </a:spcBef>
      <a:spcAft>
        <a:spcPct val="0"/>
      </a:spcAft>
      <a:defRPr sz="1200" kern="1200">
        <a:solidFill>
          <a:schemeClr val="tx1"/>
        </a:solidFill>
        <a:latin typeface="Times" pitchFamily="18" charset="0"/>
        <a:ea typeface="+mn-ea"/>
        <a:cs typeface="+mn-cs"/>
      </a:defRPr>
    </a:lvl2pPr>
    <a:lvl3pPr marL="914400" algn="l" rtl="0" fontAlgn="base">
      <a:spcBef>
        <a:spcPct val="30000"/>
      </a:spcBef>
      <a:spcAft>
        <a:spcPct val="0"/>
      </a:spcAft>
      <a:defRPr sz="1200" kern="1200">
        <a:solidFill>
          <a:schemeClr val="tx1"/>
        </a:solidFill>
        <a:latin typeface="Times" pitchFamily="18" charset="0"/>
        <a:ea typeface="+mn-ea"/>
        <a:cs typeface="+mn-cs"/>
      </a:defRPr>
    </a:lvl3pPr>
    <a:lvl4pPr marL="1371600" algn="l" rtl="0" fontAlgn="base">
      <a:spcBef>
        <a:spcPct val="30000"/>
      </a:spcBef>
      <a:spcAft>
        <a:spcPct val="0"/>
      </a:spcAft>
      <a:defRPr sz="1200" kern="1200">
        <a:solidFill>
          <a:schemeClr val="tx1"/>
        </a:solidFill>
        <a:latin typeface="Times" pitchFamily="18" charset="0"/>
        <a:ea typeface="+mn-ea"/>
        <a:cs typeface="+mn-cs"/>
      </a:defRPr>
    </a:lvl4pPr>
    <a:lvl5pPr marL="1828800" algn="l" rtl="0" fontAlgn="base">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5839DF-575D-418D-906E-078631892C8D}" type="slidenum">
              <a:rPr lang="en-US"/>
              <a:pPr/>
              <a:t>1</a:t>
            </a:fld>
            <a:endParaRPr lang="en-US"/>
          </a:p>
        </p:txBody>
      </p:sp>
      <p:sp>
        <p:nvSpPr>
          <p:cNvPr id="70658" name="Rectangle 2"/>
          <p:cNvSpPr>
            <a:spLocks noGrp="1" noRot="1" noChangeAspect="1" noChangeArrowheads="1" noTextEdit="1"/>
          </p:cNvSpPr>
          <p:nvPr>
            <p:ph type="sldImg"/>
          </p:nvPr>
        </p:nvSpPr>
        <p:spPr>
          <a:xfrm>
            <a:off x="841375" y="241300"/>
            <a:ext cx="5233988" cy="3925888"/>
          </a:xfrm>
          <a:ln/>
        </p:spPr>
      </p:sp>
      <p:sp>
        <p:nvSpPr>
          <p:cNvPr id="70659" name="Rectangle 3"/>
          <p:cNvSpPr>
            <a:spLocks noGrp="1" noChangeArrowheads="1"/>
          </p:cNvSpPr>
          <p:nvPr>
            <p:ph type="body" idx="1"/>
          </p:nvPr>
        </p:nvSpPr>
        <p:spPr>
          <a:xfrm>
            <a:off x="395288" y="4305300"/>
            <a:ext cx="5988050" cy="4184650"/>
          </a:xfrm>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D23192-4FA7-44B2-8BCB-C424EC4B47D0}" type="slidenum">
              <a:rPr lang="en-US"/>
              <a:pPr/>
              <a:t>2</a:t>
            </a:fld>
            <a:endParaRPr lang="en-US"/>
          </a:p>
        </p:txBody>
      </p:sp>
      <p:sp>
        <p:nvSpPr>
          <p:cNvPr id="165890" name="Rectangle 2"/>
          <p:cNvSpPr>
            <a:spLocks noGrp="1" noRot="1" noChangeAspect="1" noChangeArrowheads="1" noTextEdit="1"/>
          </p:cNvSpPr>
          <p:nvPr>
            <p:ph type="sldImg"/>
          </p:nvPr>
        </p:nvSpPr>
        <p:spPr>
          <a:xfrm>
            <a:off x="1092200" y="300038"/>
            <a:ext cx="4702175" cy="3527425"/>
          </a:xfrm>
          <a:ln/>
        </p:spPr>
      </p:sp>
      <p:sp>
        <p:nvSpPr>
          <p:cNvPr id="165891" name="Rectangle 3"/>
          <p:cNvSpPr>
            <a:spLocks noGrp="1" noChangeArrowheads="1"/>
          </p:cNvSpPr>
          <p:nvPr>
            <p:ph type="body" idx="1"/>
          </p:nvPr>
        </p:nvSpPr>
        <p:spPr>
          <a:xfrm>
            <a:off x="523875" y="4052888"/>
            <a:ext cx="5835650" cy="4579937"/>
          </a:xfrm>
        </p:spPr>
        <p:txBody>
          <a:bodyPr/>
          <a:lstStyle/>
          <a:p>
            <a:r>
              <a:rPr lang="en-US" b="1"/>
              <a:t>Emphasize:</a:t>
            </a:r>
            <a:r>
              <a:rPr lang="en-US"/>
              <a:t> Here is a list of some of the configuration modes available. </a:t>
            </a:r>
          </a:p>
          <a:p>
            <a:r>
              <a:rPr lang="en-US"/>
              <a:t>For a complete list of the router configuration modes, refer to the Cisco Documentation CD-ROM.</a:t>
            </a:r>
          </a:p>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399A9F-7323-46D0-A231-CD2B351AC052}" type="slidenum">
              <a:rPr lang="en-US"/>
              <a:pPr/>
              <a:t>3</a:t>
            </a:fld>
            <a:endParaRPr lang="en-US"/>
          </a:p>
        </p:txBody>
      </p:sp>
      <p:sp>
        <p:nvSpPr>
          <p:cNvPr id="211970" name="Rectangle 2"/>
          <p:cNvSpPr>
            <a:spLocks noGrp="1" noRot="1" noChangeAspect="1" noChangeArrowheads="1" noTextEdit="1"/>
          </p:cNvSpPr>
          <p:nvPr>
            <p:ph type="sldImg"/>
          </p:nvPr>
        </p:nvSpPr>
        <p:spPr>
          <a:xfrm>
            <a:off x="1103313" y="303213"/>
            <a:ext cx="4702175" cy="3527425"/>
          </a:xfrm>
          <a:ln/>
        </p:spPr>
      </p:sp>
      <p:sp>
        <p:nvSpPr>
          <p:cNvPr id="211971" name="Rectangle 3"/>
          <p:cNvSpPr>
            <a:spLocks noGrp="1" noChangeArrowheads="1"/>
          </p:cNvSpPr>
          <p:nvPr>
            <p:ph type="body" idx="1"/>
          </p:nvPr>
        </p:nvSpPr>
        <p:spPr>
          <a:xfrm>
            <a:off x="523875" y="4056063"/>
            <a:ext cx="5835650" cy="4579937"/>
          </a:xfrm>
        </p:spPr>
        <p:txBody>
          <a:bodyPr lIns="89926" tIns="44963" rIns="89926" bIns="44963"/>
          <a:lstStyle/>
          <a:p>
            <a:r>
              <a:rPr lang="en-US" b="1" dirty="0" err="1"/>
              <a:t>Với</a:t>
            </a:r>
            <a:r>
              <a:rPr lang="en-US" b="1" dirty="0"/>
              <a:t> </a:t>
            </a:r>
            <a:r>
              <a:rPr lang="en-US" b="1" dirty="0" err="1"/>
              <a:t>các</a:t>
            </a:r>
            <a:r>
              <a:rPr lang="en-US" b="1" dirty="0"/>
              <a:t> </a:t>
            </a:r>
            <a:r>
              <a:rPr lang="en-US" dirty="0"/>
              <a:t>Layer 2—The</a:t>
            </a:r>
            <a:r>
              <a:rPr lang="en-US" b="1" dirty="0"/>
              <a:t> interface</a:t>
            </a:r>
            <a:r>
              <a:rPr lang="en-US" dirty="0"/>
              <a:t> </a:t>
            </a:r>
            <a:r>
              <a:rPr lang="en-US" b="0" i="0" dirty="0" err="1">
                <a:solidFill>
                  <a:srgbClr val="D2D0CE"/>
                </a:solidFill>
                <a:effectLst/>
                <a:latin typeface="-apple-system"/>
              </a:rPr>
              <a:t>Lệnh</a:t>
            </a:r>
            <a:r>
              <a:rPr lang="en-US" b="0" i="0" dirty="0">
                <a:solidFill>
                  <a:srgbClr val="D2D0CE"/>
                </a:solidFill>
                <a:effectLst/>
                <a:latin typeface="-apple-system"/>
              </a:rPr>
              <a:t> </a:t>
            </a:r>
            <a:r>
              <a:rPr lang="en-US" b="0" i="0" dirty="0" err="1">
                <a:solidFill>
                  <a:srgbClr val="D2D0CE"/>
                </a:solidFill>
                <a:effectLst/>
                <a:latin typeface="-apple-system"/>
              </a:rPr>
              <a:t>mô</a:t>
            </a:r>
            <a:r>
              <a:rPr lang="en-US" b="0" i="0" dirty="0">
                <a:solidFill>
                  <a:srgbClr val="D2D0CE"/>
                </a:solidFill>
                <a:effectLst/>
                <a:latin typeface="-apple-system"/>
              </a:rPr>
              <a:t> </a:t>
            </a:r>
            <a:r>
              <a:rPr lang="en-US" b="0" i="0" dirty="0" err="1">
                <a:solidFill>
                  <a:srgbClr val="D2D0CE"/>
                </a:solidFill>
                <a:effectLst/>
                <a:latin typeface="-apple-system"/>
              </a:rPr>
              <a:t>tả</a:t>
            </a:r>
            <a:r>
              <a:rPr lang="en-US" b="0" i="0" dirty="0">
                <a:solidFill>
                  <a:srgbClr val="D2D0CE"/>
                </a:solidFill>
                <a:effectLst/>
                <a:latin typeface="-apple-system"/>
              </a:rPr>
              <a:t> interface </a:t>
            </a:r>
            <a:r>
              <a:rPr lang="en-US" b="0" i="0" dirty="0" err="1">
                <a:solidFill>
                  <a:srgbClr val="D2D0CE"/>
                </a:solidFill>
                <a:effectLst/>
                <a:latin typeface="-apple-system"/>
              </a:rPr>
              <a:t>cho</a:t>
            </a:r>
            <a:r>
              <a:rPr lang="en-US" b="0" i="0" dirty="0">
                <a:solidFill>
                  <a:srgbClr val="D2D0CE"/>
                </a:solidFill>
                <a:effectLst/>
                <a:latin typeface="-apple-system"/>
              </a:rPr>
              <a:t> </a:t>
            </a:r>
            <a:r>
              <a:rPr lang="en-US" b="0" i="0" dirty="0" err="1">
                <a:solidFill>
                  <a:srgbClr val="D2D0CE"/>
                </a:solidFill>
                <a:effectLst/>
                <a:latin typeface="-apple-system"/>
              </a:rPr>
              <a:t>phép</a:t>
            </a:r>
            <a:r>
              <a:rPr lang="en-US" b="0" i="0" dirty="0">
                <a:solidFill>
                  <a:srgbClr val="D2D0CE"/>
                </a:solidFill>
                <a:effectLst/>
                <a:latin typeface="-apple-system"/>
              </a:rPr>
              <a:t> </a:t>
            </a:r>
            <a:r>
              <a:rPr lang="en-US" b="0" i="0" dirty="0" err="1">
                <a:solidFill>
                  <a:srgbClr val="D2D0CE"/>
                </a:solidFill>
                <a:effectLst/>
                <a:latin typeface="-apple-system"/>
              </a:rPr>
              <a:t>bạn</a:t>
            </a:r>
            <a:r>
              <a:rPr lang="en-US" b="0" i="0" dirty="0">
                <a:solidFill>
                  <a:srgbClr val="D2D0CE"/>
                </a:solidFill>
                <a:effectLst/>
                <a:latin typeface="-apple-system"/>
              </a:rPr>
              <a:t> </a:t>
            </a:r>
            <a:r>
              <a:rPr lang="en-US" b="0" i="0" dirty="0" err="1">
                <a:solidFill>
                  <a:srgbClr val="D2D0CE"/>
                </a:solidFill>
                <a:effectLst/>
                <a:latin typeface="-apple-system"/>
              </a:rPr>
              <a:t>nhập</a:t>
            </a:r>
            <a:r>
              <a:rPr lang="en-US" b="0" i="0" dirty="0">
                <a:solidFill>
                  <a:srgbClr val="D2D0CE"/>
                </a:solidFill>
                <a:effectLst/>
                <a:latin typeface="-apple-system"/>
              </a:rPr>
              <a:t> </a:t>
            </a:r>
            <a:r>
              <a:rPr lang="en-US" b="0" i="0" dirty="0" err="1">
                <a:solidFill>
                  <a:srgbClr val="D2D0CE"/>
                </a:solidFill>
                <a:effectLst/>
                <a:latin typeface="-apple-system"/>
              </a:rPr>
              <a:t>một</a:t>
            </a:r>
            <a:r>
              <a:rPr lang="en-US" b="0" i="0" dirty="0">
                <a:solidFill>
                  <a:srgbClr val="D2D0CE"/>
                </a:solidFill>
                <a:effectLst/>
                <a:latin typeface="-apple-system"/>
              </a:rPr>
              <a:t> </a:t>
            </a:r>
            <a:r>
              <a:rPr lang="en-US" b="0" i="0" dirty="0" err="1">
                <a:solidFill>
                  <a:srgbClr val="D2D0CE"/>
                </a:solidFill>
                <a:effectLst/>
                <a:latin typeface="-apple-system"/>
              </a:rPr>
              <a:t>câu</a:t>
            </a:r>
            <a:r>
              <a:rPr lang="en-US" b="0" i="0" dirty="0">
                <a:solidFill>
                  <a:srgbClr val="D2D0CE"/>
                </a:solidFill>
                <a:effectLst/>
                <a:latin typeface="-apple-system"/>
              </a:rPr>
              <a:t> </a:t>
            </a:r>
            <a:r>
              <a:rPr lang="en-US" b="0" i="0" dirty="0" err="1">
                <a:solidFill>
                  <a:srgbClr val="D2D0CE"/>
                </a:solidFill>
                <a:effectLst/>
                <a:latin typeface="-apple-system"/>
              </a:rPr>
              <a:t>mô</a:t>
            </a:r>
            <a:r>
              <a:rPr lang="en-US" b="0" i="0" dirty="0">
                <a:solidFill>
                  <a:srgbClr val="D2D0CE"/>
                </a:solidFill>
                <a:effectLst/>
                <a:latin typeface="-apple-system"/>
              </a:rPr>
              <a:t> </a:t>
            </a:r>
            <a:r>
              <a:rPr lang="en-US" b="0" i="0" dirty="0" err="1">
                <a:solidFill>
                  <a:srgbClr val="D2D0CE"/>
                </a:solidFill>
                <a:effectLst/>
                <a:latin typeface="-apple-system"/>
              </a:rPr>
              <a:t>tả</a:t>
            </a:r>
            <a:r>
              <a:rPr lang="en-US" b="0" i="0" dirty="0">
                <a:solidFill>
                  <a:srgbClr val="D2D0CE"/>
                </a:solidFill>
                <a:effectLst/>
                <a:latin typeface="-apple-system"/>
              </a:rPr>
              <a:t> </a:t>
            </a:r>
            <a:r>
              <a:rPr lang="en-US" b="0" i="0" dirty="0" err="1">
                <a:solidFill>
                  <a:srgbClr val="D2D0CE"/>
                </a:solidFill>
                <a:effectLst/>
                <a:latin typeface="-apple-system"/>
              </a:rPr>
              <a:t>ngắn</a:t>
            </a:r>
            <a:r>
              <a:rPr lang="en-US" b="0" i="0" dirty="0">
                <a:solidFill>
                  <a:srgbClr val="D2D0CE"/>
                </a:solidFill>
                <a:effectLst/>
                <a:latin typeface="-apple-system"/>
              </a:rPr>
              <a:t> </a:t>
            </a:r>
            <a:r>
              <a:rPr lang="en-US" b="0" i="0" dirty="0" err="1">
                <a:solidFill>
                  <a:srgbClr val="D2D0CE"/>
                </a:solidFill>
                <a:effectLst/>
                <a:latin typeface="-apple-system"/>
              </a:rPr>
              <a:t>gọn</a:t>
            </a:r>
            <a:r>
              <a:rPr lang="en-US" b="0" i="0" dirty="0">
                <a:solidFill>
                  <a:srgbClr val="D2D0CE"/>
                </a:solidFill>
                <a:effectLst/>
                <a:latin typeface="-apple-system"/>
              </a:rPr>
              <a:t> </a:t>
            </a:r>
            <a:r>
              <a:rPr lang="en-US" b="0" i="0" dirty="0" err="1">
                <a:solidFill>
                  <a:srgbClr val="D2D0CE"/>
                </a:solidFill>
                <a:effectLst/>
                <a:latin typeface="-apple-system"/>
              </a:rPr>
              <a:t>cho</a:t>
            </a:r>
            <a:r>
              <a:rPr lang="en-US" b="0" i="0" dirty="0">
                <a:solidFill>
                  <a:srgbClr val="D2D0CE"/>
                </a:solidFill>
                <a:effectLst/>
                <a:latin typeface="-apple-system"/>
              </a:rPr>
              <a:t> </a:t>
            </a:r>
            <a:r>
              <a:rPr lang="en-US" b="0" i="0" dirty="0" err="1">
                <a:solidFill>
                  <a:srgbClr val="D2D0CE"/>
                </a:solidFill>
                <a:effectLst/>
                <a:latin typeface="-apple-system"/>
              </a:rPr>
              <a:t>mỗi</a:t>
            </a:r>
            <a:r>
              <a:rPr lang="en-US" b="0" i="0" dirty="0">
                <a:solidFill>
                  <a:srgbClr val="D2D0CE"/>
                </a:solidFill>
                <a:effectLst/>
                <a:latin typeface="-apple-system"/>
              </a:rPr>
              <a:t> interface. </a:t>
            </a:r>
            <a:r>
              <a:rPr lang="en-US" b="0" i="0" dirty="0" err="1">
                <a:solidFill>
                  <a:srgbClr val="D2D0CE"/>
                </a:solidFill>
                <a:effectLst/>
                <a:latin typeface="-apple-system"/>
              </a:rPr>
              <a:t>Mô</a:t>
            </a:r>
            <a:r>
              <a:rPr lang="en-US" b="0" i="0" dirty="0">
                <a:solidFill>
                  <a:srgbClr val="D2D0CE"/>
                </a:solidFill>
                <a:effectLst/>
                <a:latin typeface="-apple-system"/>
              </a:rPr>
              <a:t> </a:t>
            </a:r>
            <a:r>
              <a:rPr lang="en-US" b="0" i="0" dirty="0" err="1">
                <a:solidFill>
                  <a:srgbClr val="D2D0CE"/>
                </a:solidFill>
                <a:effectLst/>
                <a:latin typeface="-apple-system"/>
              </a:rPr>
              <a:t>tả</a:t>
            </a:r>
            <a:r>
              <a:rPr lang="en-US" b="0" i="0" dirty="0">
                <a:solidFill>
                  <a:srgbClr val="D2D0CE"/>
                </a:solidFill>
                <a:effectLst/>
                <a:latin typeface="-apple-system"/>
              </a:rPr>
              <a:t> </a:t>
            </a:r>
            <a:r>
              <a:rPr lang="en-US" b="0" i="0" dirty="0" err="1">
                <a:solidFill>
                  <a:srgbClr val="D2D0CE"/>
                </a:solidFill>
                <a:effectLst/>
                <a:latin typeface="-apple-system"/>
              </a:rPr>
              <a:t>này</a:t>
            </a:r>
            <a:r>
              <a:rPr lang="en-US" b="0" i="0" dirty="0">
                <a:solidFill>
                  <a:srgbClr val="D2D0CE"/>
                </a:solidFill>
                <a:effectLst/>
                <a:latin typeface="-apple-system"/>
              </a:rPr>
              <a:t> </a:t>
            </a:r>
            <a:r>
              <a:rPr lang="en-US" b="0" i="0" dirty="0" err="1">
                <a:solidFill>
                  <a:srgbClr val="D2D0CE"/>
                </a:solidFill>
                <a:effectLst/>
                <a:latin typeface="-apple-system"/>
              </a:rPr>
              <a:t>sẽ</a:t>
            </a:r>
            <a:r>
              <a:rPr lang="en-US" b="0" i="0" dirty="0">
                <a:solidFill>
                  <a:srgbClr val="D2D0CE"/>
                </a:solidFill>
                <a:effectLst/>
                <a:latin typeface="-apple-system"/>
              </a:rPr>
              <a:t> </a:t>
            </a:r>
            <a:r>
              <a:rPr lang="en-US" b="0" i="0" dirty="0" err="1">
                <a:solidFill>
                  <a:srgbClr val="D2D0CE"/>
                </a:solidFill>
                <a:effectLst/>
                <a:latin typeface="-apple-system"/>
              </a:rPr>
              <a:t>hiển</a:t>
            </a:r>
            <a:r>
              <a:rPr lang="en-US" b="0" i="0" dirty="0">
                <a:solidFill>
                  <a:srgbClr val="D2D0CE"/>
                </a:solidFill>
                <a:effectLst/>
                <a:latin typeface="-apple-system"/>
              </a:rPr>
              <a:t> </a:t>
            </a:r>
            <a:r>
              <a:rPr lang="en-US" b="0" i="0" dirty="0" err="1">
                <a:solidFill>
                  <a:srgbClr val="D2D0CE"/>
                </a:solidFill>
                <a:effectLst/>
                <a:latin typeface="-apple-system"/>
              </a:rPr>
              <a:t>thị</a:t>
            </a:r>
            <a:r>
              <a:rPr lang="en-US" b="0" i="0" dirty="0">
                <a:solidFill>
                  <a:srgbClr val="D2D0CE"/>
                </a:solidFill>
                <a:effectLst/>
                <a:latin typeface="-apple-system"/>
              </a:rPr>
              <a:t> </a:t>
            </a:r>
            <a:r>
              <a:rPr lang="en-US" b="0" i="0" dirty="0" err="1">
                <a:solidFill>
                  <a:srgbClr val="D2D0CE"/>
                </a:solidFill>
                <a:effectLst/>
                <a:latin typeface="-apple-system"/>
              </a:rPr>
              <a:t>trong</a:t>
            </a:r>
            <a:r>
              <a:rPr lang="en-US" b="0" i="0" dirty="0">
                <a:solidFill>
                  <a:srgbClr val="D2D0CE"/>
                </a:solidFill>
                <a:effectLst/>
                <a:latin typeface="-apple-system"/>
              </a:rPr>
              <a:t> </a:t>
            </a:r>
            <a:r>
              <a:rPr lang="en-US" b="0" i="0" dirty="0" err="1">
                <a:solidFill>
                  <a:srgbClr val="D2D0CE"/>
                </a:solidFill>
                <a:effectLst/>
                <a:latin typeface="-apple-system"/>
              </a:rPr>
              <a:t>kết</a:t>
            </a:r>
            <a:r>
              <a:rPr lang="en-US" b="0" i="0" dirty="0">
                <a:solidFill>
                  <a:srgbClr val="D2D0CE"/>
                </a:solidFill>
                <a:effectLst/>
                <a:latin typeface="-apple-system"/>
              </a:rPr>
              <a:t> </a:t>
            </a:r>
            <a:r>
              <a:rPr lang="en-US" b="0" i="0" dirty="0" err="1">
                <a:solidFill>
                  <a:srgbClr val="D2D0CE"/>
                </a:solidFill>
                <a:effectLst/>
                <a:latin typeface="-apple-system"/>
              </a:rPr>
              <a:t>quả</a:t>
            </a:r>
            <a:r>
              <a:rPr lang="en-US" b="0" i="0" dirty="0">
                <a:solidFill>
                  <a:srgbClr val="D2D0CE"/>
                </a:solidFill>
                <a:effectLst/>
                <a:latin typeface="-apple-system"/>
              </a:rPr>
              <a:t> </a:t>
            </a:r>
            <a:r>
              <a:rPr lang="en-US" b="0" i="0" dirty="0" err="1">
                <a:solidFill>
                  <a:srgbClr val="D2D0CE"/>
                </a:solidFill>
                <a:effectLst/>
                <a:latin typeface="-apple-system"/>
              </a:rPr>
              <a:t>của</a:t>
            </a:r>
            <a:r>
              <a:rPr lang="en-US" b="0" i="0" dirty="0">
                <a:solidFill>
                  <a:srgbClr val="D2D0CE"/>
                </a:solidFill>
                <a:effectLst/>
                <a:latin typeface="-apple-system"/>
              </a:rPr>
              <a:t> </a:t>
            </a:r>
            <a:r>
              <a:rPr lang="en-US" b="0" i="0" dirty="0" err="1">
                <a:solidFill>
                  <a:srgbClr val="D2D0CE"/>
                </a:solidFill>
                <a:effectLst/>
                <a:latin typeface="-apple-system"/>
              </a:rPr>
              <a:t>lệnh</a:t>
            </a:r>
            <a:r>
              <a:rPr lang="en-US" b="0" i="0" dirty="0">
                <a:solidFill>
                  <a:srgbClr val="D2D0CE"/>
                </a:solidFill>
                <a:effectLst/>
                <a:latin typeface="-apple-system"/>
              </a:rPr>
              <a:t> </a:t>
            </a:r>
            <a:r>
              <a:rPr lang="en-US" dirty="0"/>
              <a:t>show interfaces</a:t>
            </a:r>
            <a:r>
              <a:rPr lang="en-US" b="0" i="0" dirty="0">
                <a:solidFill>
                  <a:srgbClr val="D2D0CE"/>
                </a:solidFill>
                <a:effectLst/>
                <a:latin typeface="-apple-system"/>
              </a:rPr>
              <a:t> </a:t>
            </a:r>
            <a:r>
              <a:rPr lang="en-US" b="0" i="0" dirty="0" err="1">
                <a:solidFill>
                  <a:srgbClr val="D2D0CE"/>
                </a:solidFill>
                <a:effectLst/>
                <a:latin typeface="-apple-system"/>
              </a:rPr>
              <a:t>và</a:t>
            </a:r>
            <a:r>
              <a:rPr lang="en-US" b="0" i="0" dirty="0">
                <a:solidFill>
                  <a:srgbClr val="D2D0CE"/>
                </a:solidFill>
                <a:effectLst/>
                <a:latin typeface="-apple-system"/>
              </a:rPr>
              <a:t> </a:t>
            </a:r>
            <a:r>
              <a:rPr lang="en-US" b="0" i="0" dirty="0" err="1">
                <a:solidFill>
                  <a:srgbClr val="D2D0CE"/>
                </a:solidFill>
                <a:effectLst/>
                <a:latin typeface="-apple-system"/>
              </a:rPr>
              <a:t>xuất</a:t>
            </a:r>
            <a:r>
              <a:rPr lang="en-US" b="0" i="0" dirty="0">
                <a:solidFill>
                  <a:srgbClr val="D2D0CE"/>
                </a:solidFill>
                <a:effectLst/>
                <a:latin typeface="-apple-system"/>
              </a:rPr>
              <a:t> </a:t>
            </a:r>
            <a:r>
              <a:rPr lang="en-US" b="0" i="0" dirty="0" err="1">
                <a:solidFill>
                  <a:srgbClr val="D2D0CE"/>
                </a:solidFill>
                <a:effectLst/>
                <a:latin typeface="-apple-system"/>
              </a:rPr>
              <a:t>hiện</a:t>
            </a:r>
            <a:r>
              <a:rPr lang="en-US" b="0" i="0" dirty="0">
                <a:solidFill>
                  <a:srgbClr val="D2D0CE"/>
                </a:solidFill>
                <a:effectLst/>
                <a:latin typeface="-apple-system"/>
              </a:rPr>
              <a:t> </a:t>
            </a:r>
            <a:r>
              <a:rPr lang="en-US" b="0" i="0" dirty="0" err="1">
                <a:solidFill>
                  <a:srgbClr val="D2D0CE"/>
                </a:solidFill>
                <a:effectLst/>
                <a:latin typeface="-apple-system"/>
              </a:rPr>
              <a:t>trong</a:t>
            </a:r>
            <a:r>
              <a:rPr lang="en-US" b="0" i="0" dirty="0">
                <a:solidFill>
                  <a:srgbClr val="D2D0CE"/>
                </a:solidFill>
                <a:effectLst/>
                <a:latin typeface="-apple-system"/>
              </a:rPr>
              <a:t> </a:t>
            </a:r>
            <a:r>
              <a:rPr lang="en-US" b="0" i="0" dirty="0" err="1">
                <a:solidFill>
                  <a:srgbClr val="D2D0CE"/>
                </a:solidFill>
                <a:effectLst/>
                <a:latin typeface="-apple-system"/>
              </a:rPr>
              <a:t>danh</a:t>
            </a:r>
            <a:r>
              <a:rPr lang="en-US" b="0" i="0" dirty="0">
                <a:solidFill>
                  <a:srgbClr val="D2D0CE"/>
                </a:solidFill>
                <a:effectLst/>
                <a:latin typeface="-apple-system"/>
              </a:rPr>
              <a:t> </a:t>
            </a:r>
            <a:r>
              <a:rPr lang="en-US" b="0" i="0" dirty="0" err="1">
                <a:solidFill>
                  <a:srgbClr val="D2D0CE"/>
                </a:solidFill>
                <a:effectLst/>
                <a:latin typeface="-apple-system"/>
              </a:rPr>
              <a:t>sách</a:t>
            </a:r>
            <a:r>
              <a:rPr lang="en-US" b="0" i="0" dirty="0">
                <a:solidFill>
                  <a:srgbClr val="D2D0CE"/>
                </a:solidFill>
                <a:effectLst/>
                <a:latin typeface="-apple-system"/>
              </a:rPr>
              <a:t> </a:t>
            </a:r>
            <a:r>
              <a:rPr lang="en-US" dirty="0"/>
              <a:t>show running-config</a:t>
            </a:r>
            <a:r>
              <a:rPr lang="en-US" b="0" i="0" dirty="0">
                <a:solidFill>
                  <a:srgbClr val="D2D0CE"/>
                </a:solidFill>
                <a:effectLst/>
                <a:latin typeface="-apple-system"/>
              </a:rPr>
              <a:t> </a:t>
            </a:r>
            <a:r>
              <a:rPr lang="en-US" b="0" i="0" dirty="0" err="1">
                <a:solidFill>
                  <a:srgbClr val="D2D0CE"/>
                </a:solidFill>
                <a:effectLst/>
                <a:latin typeface="-apple-system"/>
              </a:rPr>
              <a:t>và</a:t>
            </a:r>
            <a:r>
              <a:rPr lang="en-US" b="0" i="0" dirty="0">
                <a:solidFill>
                  <a:srgbClr val="D2D0CE"/>
                </a:solidFill>
                <a:effectLst/>
                <a:latin typeface="-apple-system"/>
              </a:rPr>
              <a:t> </a:t>
            </a:r>
            <a:r>
              <a:rPr lang="en-US" dirty="0"/>
              <a:t>show startup-config</a:t>
            </a:r>
            <a:r>
              <a:rPr lang="en-US" b="0" i="0" dirty="0">
                <a:solidFill>
                  <a:srgbClr val="D2D0CE"/>
                </a:solidFill>
                <a:effectLst/>
                <a:latin typeface="-apple-system"/>
              </a:rPr>
              <a:t>.</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EBCB91-1BC2-4F88-A2DD-5ADBADFBCDAD}" type="slidenum">
              <a:rPr lang="en-US"/>
              <a:pPr/>
              <a:t>4</a:t>
            </a:fld>
            <a:endParaRPr lang="en-US"/>
          </a:p>
        </p:txBody>
      </p:sp>
      <p:sp>
        <p:nvSpPr>
          <p:cNvPr id="174082" name="Rectangle 2"/>
          <p:cNvSpPr>
            <a:spLocks noGrp="1" noRot="1" noChangeAspect="1" noChangeArrowheads="1" noTextEdit="1"/>
          </p:cNvSpPr>
          <p:nvPr>
            <p:ph type="sldImg"/>
          </p:nvPr>
        </p:nvSpPr>
        <p:spPr>
          <a:xfrm>
            <a:off x="1092200" y="300038"/>
            <a:ext cx="4702175" cy="3527425"/>
          </a:xfrm>
          <a:ln/>
        </p:spPr>
      </p:sp>
      <p:sp>
        <p:nvSpPr>
          <p:cNvPr id="174083" name="Rectangle 3"/>
          <p:cNvSpPr>
            <a:spLocks noGrp="1" noChangeArrowheads="1"/>
          </p:cNvSpPr>
          <p:nvPr>
            <p:ph type="body" idx="1"/>
          </p:nvPr>
        </p:nvSpPr>
        <p:spPr>
          <a:xfrm>
            <a:off x="523875" y="4052888"/>
            <a:ext cx="5835650" cy="4579937"/>
          </a:xfrm>
        </p:spPr>
        <p:txBody>
          <a:bodyPr/>
          <a:lstStyle/>
          <a:p>
            <a:pPr algn="l">
              <a:spcBef>
                <a:spcPts val="900"/>
              </a:spcBef>
              <a:buFont typeface="Arial" panose="020B0604020202020204" pitchFamily="34" charset="0"/>
              <a:buChar char="•"/>
            </a:pPr>
            <a:endParaRPr lang="en-GB" b="0" i="0" dirty="0">
              <a:solidFill>
                <a:srgbClr val="D2D0CE"/>
              </a:solidFill>
              <a:effectLst/>
              <a:latin typeface="-apple-system"/>
            </a:endParaRPr>
          </a:p>
          <a:p>
            <a:pPr marL="0" marR="0" lvl="0" indent="0" algn="l" defTabSz="914400" rtl="0" eaLnBrk="1" fontAlgn="base" latinLnBrk="0" hangingPunct="1">
              <a:lnSpc>
                <a:spcPct val="100000"/>
              </a:lnSpc>
              <a:spcBef>
                <a:spcPts val="900"/>
              </a:spcBef>
              <a:spcAft>
                <a:spcPct val="0"/>
              </a:spcAft>
              <a:buClrTx/>
              <a:buSzTx/>
              <a:buFont typeface="Arial" panose="020B0604020202020204" pitchFamily="34" charset="0"/>
              <a:buNone/>
              <a:tabLst/>
              <a:defRPr/>
            </a:pPr>
            <a:r>
              <a:rPr lang="en-US" b="0" i="0" dirty="0" err="1">
                <a:solidFill>
                  <a:srgbClr val="D2D0CE"/>
                </a:solidFill>
                <a:effectLst/>
                <a:latin typeface="-apple-system"/>
              </a:rPr>
              <a:t>RouterX</a:t>
            </a:r>
            <a:r>
              <a:rPr lang="en-US" b="0" i="0" dirty="0">
                <a:solidFill>
                  <a:srgbClr val="D2D0CE"/>
                </a:solidFill>
                <a:effectLst/>
                <a:latin typeface="-apple-system"/>
              </a:rPr>
              <a:t>(config-line)#exec-timeout 20 30: </a:t>
            </a:r>
            <a:r>
              <a:rPr lang="en-US" b="0" i="0" dirty="0" err="1">
                <a:solidFill>
                  <a:srgbClr val="D2D0CE"/>
                </a:solidFill>
                <a:effectLst/>
                <a:latin typeface="-apple-system"/>
              </a:rPr>
              <a:t>Thiết</a:t>
            </a:r>
            <a:r>
              <a:rPr lang="en-US" b="0" i="0" dirty="0">
                <a:solidFill>
                  <a:srgbClr val="D2D0CE"/>
                </a:solidFill>
                <a:effectLst/>
                <a:latin typeface="-apple-system"/>
              </a:rPr>
              <a:t> </a:t>
            </a:r>
            <a:r>
              <a:rPr lang="en-US" b="0" i="0" dirty="0" err="1">
                <a:solidFill>
                  <a:srgbClr val="D2D0CE"/>
                </a:solidFill>
                <a:effectLst/>
                <a:latin typeface="-apple-system"/>
              </a:rPr>
              <a:t>lập</a:t>
            </a:r>
            <a:r>
              <a:rPr lang="en-US" b="0" i="0" dirty="0">
                <a:solidFill>
                  <a:srgbClr val="D2D0CE"/>
                </a:solidFill>
                <a:effectLst/>
                <a:latin typeface="-apple-system"/>
              </a:rPr>
              <a:t> </a:t>
            </a:r>
            <a:r>
              <a:rPr lang="en-US" b="0" i="0" dirty="0" err="1">
                <a:solidFill>
                  <a:srgbClr val="D2D0CE"/>
                </a:solidFill>
                <a:effectLst/>
                <a:latin typeface="-apple-system"/>
              </a:rPr>
              <a:t>thời</a:t>
            </a:r>
            <a:r>
              <a:rPr lang="en-US" b="0" i="0" dirty="0">
                <a:solidFill>
                  <a:srgbClr val="D2D0CE"/>
                </a:solidFill>
                <a:effectLst/>
                <a:latin typeface="-apple-system"/>
              </a:rPr>
              <a:t> </a:t>
            </a:r>
            <a:r>
              <a:rPr lang="en-US" b="0" i="0" dirty="0" err="1">
                <a:solidFill>
                  <a:srgbClr val="D2D0CE"/>
                </a:solidFill>
                <a:effectLst/>
                <a:latin typeface="-apple-system"/>
              </a:rPr>
              <a:t>gian</a:t>
            </a:r>
            <a:r>
              <a:rPr lang="en-US" b="0" i="0" dirty="0">
                <a:solidFill>
                  <a:srgbClr val="D2D0CE"/>
                </a:solidFill>
                <a:effectLst/>
                <a:latin typeface="-apple-system"/>
              </a:rPr>
              <a:t> </a:t>
            </a:r>
            <a:r>
              <a:rPr lang="en-US" b="0" i="0" dirty="0" err="1">
                <a:solidFill>
                  <a:srgbClr val="D2D0CE"/>
                </a:solidFill>
                <a:effectLst/>
                <a:latin typeface="-apple-system"/>
              </a:rPr>
              <a:t>chờ</a:t>
            </a:r>
            <a:r>
              <a:rPr lang="en-US" b="0" i="0" dirty="0">
                <a:solidFill>
                  <a:srgbClr val="D2D0CE"/>
                </a:solidFill>
                <a:effectLst/>
                <a:latin typeface="-apple-system"/>
              </a:rPr>
              <a:t> </a:t>
            </a:r>
            <a:r>
              <a:rPr lang="en-US" b="0" i="0" dirty="0" err="1">
                <a:solidFill>
                  <a:srgbClr val="D2D0CE"/>
                </a:solidFill>
                <a:effectLst/>
                <a:latin typeface="-apple-system"/>
              </a:rPr>
              <a:t>cho</a:t>
            </a:r>
            <a:r>
              <a:rPr lang="en-US" b="0" i="0" dirty="0">
                <a:solidFill>
                  <a:srgbClr val="D2D0CE"/>
                </a:solidFill>
                <a:effectLst/>
                <a:latin typeface="-apple-system"/>
              </a:rPr>
              <a:t> </a:t>
            </a:r>
            <a:r>
              <a:rPr lang="en-US" b="0" i="0" dirty="0" err="1">
                <a:solidFill>
                  <a:srgbClr val="D2D0CE"/>
                </a:solidFill>
                <a:effectLst/>
                <a:latin typeface="-apple-system"/>
              </a:rPr>
              <a:t>phiên</a:t>
            </a:r>
            <a:r>
              <a:rPr lang="en-US" b="0" i="0" dirty="0">
                <a:solidFill>
                  <a:srgbClr val="D2D0CE"/>
                </a:solidFill>
                <a:effectLst/>
                <a:latin typeface="-apple-system"/>
              </a:rPr>
              <a:t> </a:t>
            </a:r>
            <a:r>
              <a:rPr lang="en-US" b="0" i="0" dirty="0" err="1">
                <a:solidFill>
                  <a:srgbClr val="D2D0CE"/>
                </a:solidFill>
                <a:effectLst/>
                <a:latin typeface="-apple-system"/>
              </a:rPr>
              <a:t>làm</a:t>
            </a:r>
            <a:r>
              <a:rPr lang="en-US" b="0" i="0" dirty="0">
                <a:solidFill>
                  <a:srgbClr val="D2D0CE"/>
                </a:solidFill>
                <a:effectLst/>
                <a:latin typeface="-apple-system"/>
              </a:rPr>
              <a:t> </a:t>
            </a:r>
            <a:r>
              <a:rPr lang="en-US" b="0" i="0" dirty="0" err="1">
                <a:solidFill>
                  <a:srgbClr val="D2D0CE"/>
                </a:solidFill>
                <a:effectLst/>
                <a:latin typeface="-apple-system"/>
              </a:rPr>
              <a:t>việc</a:t>
            </a:r>
            <a:r>
              <a:rPr lang="en-US" b="0" i="0" dirty="0">
                <a:solidFill>
                  <a:srgbClr val="D2D0CE"/>
                </a:solidFill>
                <a:effectLst/>
                <a:latin typeface="-apple-system"/>
              </a:rPr>
              <a:t> </a:t>
            </a:r>
            <a:r>
              <a:rPr lang="en-US" b="0" i="0" dirty="0" err="1">
                <a:solidFill>
                  <a:srgbClr val="D2D0CE"/>
                </a:solidFill>
                <a:effectLst/>
                <a:latin typeface="-apple-system"/>
              </a:rPr>
              <a:t>trên</a:t>
            </a:r>
            <a:r>
              <a:rPr lang="en-US" b="0" i="0" dirty="0">
                <a:solidFill>
                  <a:srgbClr val="D2D0CE"/>
                </a:solidFill>
                <a:effectLst/>
                <a:latin typeface="-apple-system"/>
              </a:rPr>
              <a:t> console </a:t>
            </a:r>
            <a:r>
              <a:rPr lang="en-US" b="0" i="0" dirty="0" err="1">
                <a:solidFill>
                  <a:srgbClr val="D2D0CE"/>
                </a:solidFill>
                <a:effectLst/>
                <a:latin typeface="-apple-system"/>
              </a:rPr>
              <a:t>là</a:t>
            </a:r>
            <a:r>
              <a:rPr lang="en-US" b="0" i="0" dirty="0">
                <a:solidFill>
                  <a:srgbClr val="D2D0CE"/>
                </a:solidFill>
                <a:effectLst/>
                <a:latin typeface="-apple-system"/>
              </a:rPr>
              <a:t> 20 </a:t>
            </a:r>
            <a:r>
              <a:rPr lang="en-US" b="0" i="0" dirty="0" err="1">
                <a:solidFill>
                  <a:srgbClr val="D2D0CE"/>
                </a:solidFill>
                <a:effectLst/>
                <a:latin typeface="-apple-system"/>
              </a:rPr>
              <a:t>phút</a:t>
            </a:r>
            <a:r>
              <a:rPr lang="en-US" b="0" i="0" dirty="0">
                <a:solidFill>
                  <a:srgbClr val="D2D0CE"/>
                </a:solidFill>
                <a:effectLst/>
                <a:latin typeface="-apple-system"/>
              </a:rPr>
              <a:t> </a:t>
            </a:r>
            <a:r>
              <a:rPr lang="en-US" b="0" i="0" dirty="0" err="1">
                <a:solidFill>
                  <a:srgbClr val="D2D0CE"/>
                </a:solidFill>
                <a:effectLst/>
                <a:latin typeface="-apple-system"/>
              </a:rPr>
              <a:t>và</a:t>
            </a:r>
            <a:r>
              <a:rPr lang="en-US" b="0" i="0" dirty="0">
                <a:solidFill>
                  <a:srgbClr val="D2D0CE"/>
                </a:solidFill>
                <a:effectLst/>
                <a:latin typeface="-apple-system"/>
              </a:rPr>
              <a:t> 30 </a:t>
            </a:r>
            <a:r>
              <a:rPr lang="en-US" b="0" i="0" dirty="0" err="1">
                <a:solidFill>
                  <a:srgbClr val="D2D0CE"/>
                </a:solidFill>
                <a:effectLst/>
                <a:latin typeface="-apple-system"/>
              </a:rPr>
              <a:t>giây</a:t>
            </a:r>
            <a:r>
              <a:rPr lang="en-US" b="0" i="0" dirty="0">
                <a:solidFill>
                  <a:srgbClr val="D2D0CE"/>
                </a:solidFill>
                <a:effectLst/>
                <a:latin typeface="-apple-system"/>
              </a:rPr>
              <a:t>. </a:t>
            </a:r>
            <a:r>
              <a:rPr lang="en-US" b="0" i="0" dirty="0" err="1">
                <a:solidFill>
                  <a:srgbClr val="D2D0CE"/>
                </a:solidFill>
                <a:effectLst/>
                <a:latin typeface="-apple-system"/>
              </a:rPr>
              <a:t>Nếu</a:t>
            </a:r>
            <a:r>
              <a:rPr lang="en-US" b="0" i="0" dirty="0">
                <a:solidFill>
                  <a:srgbClr val="D2D0CE"/>
                </a:solidFill>
                <a:effectLst/>
                <a:latin typeface="-apple-system"/>
              </a:rPr>
              <a:t> </a:t>
            </a:r>
            <a:r>
              <a:rPr lang="en-US" b="0" i="0" dirty="0" err="1">
                <a:solidFill>
                  <a:srgbClr val="D2D0CE"/>
                </a:solidFill>
                <a:effectLst/>
                <a:latin typeface="-apple-system"/>
              </a:rPr>
              <a:t>không</a:t>
            </a:r>
            <a:r>
              <a:rPr lang="en-US" b="0" i="0" dirty="0">
                <a:solidFill>
                  <a:srgbClr val="D2D0CE"/>
                </a:solidFill>
                <a:effectLst/>
                <a:latin typeface="-apple-system"/>
              </a:rPr>
              <a:t> </a:t>
            </a:r>
            <a:r>
              <a:rPr lang="en-US" b="0" i="0" dirty="0" err="1">
                <a:solidFill>
                  <a:srgbClr val="D2D0CE"/>
                </a:solidFill>
                <a:effectLst/>
                <a:latin typeface="-apple-system"/>
              </a:rPr>
              <a:t>có</a:t>
            </a:r>
            <a:r>
              <a:rPr lang="en-US" b="0" i="0" dirty="0">
                <a:solidFill>
                  <a:srgbClr val="D2D0CE"/>
                </a:solidFill>
                <a:effectLst/>
                <a:latin typeface="-apple-system"/>
              </a:rPr>
              <a:t> </a:t>
            </a:r>
            <a:r>
              <a:rPr lang="en-US" b="0" i="0" dirty="0" err="1">
                <a:solidFill>
                  <a:srgbClr val="D2D0CE"/>
                </a:solidFill>
                <a:effectLst/>
                <a:latin typeface="-apple-system"/>
              </a:rPr>
              <a:t>hoạt</a:t>
            </a:r>
            <a:r>
              <a:rPr lang="en-US" b="0" i="0" dirty="0">
                <a:solidFill>
                  <a:srgbClr val="D2D0CE"/>
                </a:solidFill>
                <a:effectLst/>
                <a:latin typeface="-apple-system"/>
              </a:rPr>
              <a:t> </a:t>
            </a:r>
            <a:r>
              <a:rPr lang="en-US" b="0" i="0" dirty="0" err="1">
                <a:solidFill>
                  <a:srgbClr val="D2D0CE"/>
                </a:solidFill>
                <a:effectLst/>
                <a:latin typeface="-apple-system"/>
              </a:rPr>
              <a:t>động</a:t>
            </a:r>
            <a:r>
              <a:rPr lang="en-US" b="0" i="0" dirty="0">
                <a:solidFill>
                  <a:srgbClr val="D2D0CE"/>
                </a:solidFill>
                <a:effectLst/>
                <a:latin typeface="-apple-system"/>
              </a:rPr>
              <a:t> </a:t>
            </a:r>
            <a:r>
              <a:rPr lang="en-US" b="0" i="0" dirty="0" err="1">
                <a:solidFill>
                  <a:srgbClr val="D2D0CE"/>
                </a:solidFill>
                <a:effectLst/>
                <a:latin typeface="-apple-system"/>
              </a:rPr>
              <a:t>nào</a:t>
            </a:r>
            <a:r>
              <a:rPr lang="en-US" b="0" i="0" dirty="0">
                <a:solidFill>
                  <a:srgbClr val="D2D0CE"/>
                </a:solidFill>
                <a:effectLst/>
                <a:latin typeface="-apple-system"/>
              </a:rPr>
              <a:t> </a:t>
            </a:r>
            <a:r>
              <a:rPr lang="en-US" b="0" i="0" dirty="0" err="1">
                <a:solidFill>
                  <a:srgbClr val="D2D0CE"/>
                </a:solidFill>
                <a:effectLst/>
                <a:latin typeface="-apple-system"/>
              </a:rPr>
              <a:t>trên</a:t>
            </a:r>
            <a:r>
              <a:rPr lang="en-US" b="0" i="0" dirty="0">
                <a:solidFill>
                  <a:srgbClr val="D2D0CE"/>
                </a:solidFill>
                <a:effectLst/>
                <a:latin typeface="-apple-system"/>
              </a:rPr>
              <a:t> console </a:t>
            </a:r>
            <a:r>
              <a:rPr lang="en-US" b="0" i="0" dirty="0" err="1">
                <a:solidFill>
                  <a:srgbClr val="D2D0CE"/>
                </a:solidFill>
                <a:effectLst/>
                <a:latin typeface="-apple-system"/>
              </a:rPr>
              <a:t>trong</a:t>
            </a:r>
            <a:r>
              <a:rPr lang="en-US" b="0" i="0" dirty="0">
                <a:solidFill>
                  <a:srgbClr val="D2D0CE"/>
                </a:solidFill>
                <a:effectLst/>
                <a:latin typeface="-apple-system"/>
              </a:rPr>
              <a:t> </a:t>
            </a:r>
            <a:r>
              <a:rPr lang="en-US" b="0" i="0" dirty="0" err="1">
                <a:solidFill>
                  <a:srgbClr val="D2D0CE"/>
                </a:solidFill>
                <a:effectLst/>
                <a:latin typeface="-apple-system"/>
              </a:rPr>
              <a:t>khoảng</a:t>
            </a:r>
            <a:r>
              <a:rPr lang="en-US" b="0" i="0" dirty="0">
                <a:solidFill>
                  <a:srgbClr val="D2D0CE"/>
                </a:solidFill>
                <a:effectLst/>
                <a:latin typeface="-apple-system"/>
              </a:rPr>
              <a:t> </a:t>
            </a:r>
            <a:r>
              <a:rPr lang="en-US" b="0" i="0" dirty="0" err="1">
                <a:solidFill>
                  <a:srgbClr val="D2D0CE"/>
                </a:solidFill>
                <a:effectLst/>
                <a:latin typeface="-apple-system"/>
              </a:rPr>
              <a:t>thời</a:t>
            </a:r>
            <a:r>
              <a:rPr lang="en-US" b="0" i="0" dirty="0">
                <a:solidFill>
                  <a:srgbClr val="D2D0CE"/>
                </a:solidFill>
                <a:effectLst/>
                <a:latin typeface="-apple-system"/>
              </a:rPr>
              <a:t> </a:t>
            </a:r>
            <a:r>
              <a:rPr lang="en-US" b="0" i="0" dirty="0" err="1">
                <a:solidFill>
                  <a:srgbClr val="D2D0CE"/>
                </a:solidFill>
                <a:effectLst/>
                <a:latin typeface="-apple-system"/>
              </a:rPr>
              <a:t>gian</a:t>
            </a:r>
            <a:r>
              <a:rPr lang="en-US" b="0" i="0" dirty="0">
                <a:solidFill>
                  <a:srgbClr val="D2D0CE"/>
                </a:solidFill>
                <a:effectLst/>
                <a:latin typeface="-apple-system"/>
              </a:rPr>
              <a:t> </a:t>
            </a:r>
            <a:r>
              <a:rPr lang="en-US" b="0" i="0" dirty="0" err="1">
                <a:solidFill>
                  <a:srgbClr val="D2D0CE"/>
                </a:solidFill>
                <a:effectLst/>
                <a:latin typeface="-apple-system"/>
              </a:rPr>
              <a:t>này</a:t>
            </a:r>
            <a:r>
              <a:rPr lang="en-US" b="0" i="0" dirty="0">
                <a:solidFill>
                  <a:srgbClr val="D2D0CE"/>
                </a:solidFill>
                <a:effectLst/>
                <a:latin typeface="-apple-system"/>
              </a:rPr>
              <a:t>, </a:t>
            </a:r>
            <a:r>
              <a:rPr lang="en-US" b="0" i="0" dirty="0" err="1">
                <a:solidFill>
                  <a:srgbClr val="D2D0CE"/>
                </a:solidFill>
                <a:effectLst/>
                <a:latin typeface="-apple-system"/>
              </a:rPr>
              <a:t>phiên</a:t>
            </a:r>
            <a:r>
              <a:rPr lang="en-US" b="0" i="0" dirty="0">
                <a:solidFill>
                  <a:srgbClr val="D2D0CE"/>
                </a:solidFill>
                <a:effectLst/>
                <a:latin typeface="-apple-system"/>
              </a:rPr>
              <a:t> </a:t>
            </a:r>
            <a:r>
              <a:rPr lang="en-US" b="0" i="0" dirty="0" err="1">
                <a:solidFill>
                  <a:srgbClr val="D2D0CE"/>
                </a:solidFill>
                <a:effectLst/>
                <a:latin typeface="-apple-system"/>
              </a:rPr>
              <a:t>làm</a:t>
            </a:r>
            <a:r>
              <a:rPr lang="en-US" b="0" i="0" dirty="0">
                <a:solidFill>
                  <a:srgbClr val="D2D0CE"/>
                </a:solidFill>
                <a:effectLst/>
                <a:latin typeface="-apple-system"/>
              </a:rPr>
              <a:t> </a:t>
            </a:r>
            <a:r>
              <a:rPr lang="en-US" b="0" i="0" dirty="0" err="1">
                <a:solidFill>
                  <a:srgbClr val="D2D0CE"/>
                </a:solidFill>
                <a:effectLst/>
                <a:latin typeface="-apple-system"/>
              </a:rPr>
              <a:t>việc</a:t>
            </a:r>
            <a:r>
              <a:rPr lang="en-US" b="0" i="0" dirty="0">
                <a:solidFill>
                  <a:srgbClr val="D2D0CE"/>
                </a:solidFill>
                <a:effectLst/>
                <a:latin typeface="-apple-system"/>
              </a:rPr>
              <a:t> </a:t>
            </a:r>
            <a:r>
              <a:rPr lang="en-US" b="0" i="0" dirty="0" err="1">
                <a:solidFill>
                  <a:srgbClr val="D2D0CE"/>
                </a:solidFill>
                <a:effectLst/>
                <a:latin typeface="-apple-system"/>
              </a:rPr>
              <a:t>sẽ</a:t>
            </a:r>
            <a:r>
              <a:rPr lang="en-US" b="0" i="0" dirty="0">
                <a:solidFill>
                  <a:srgbClr val="D2D0CE"/>
                </a:solidFill>
                <a:effectLst/>
                <a:latin typeface="-apple-system"/>
              </a:rPr>
              <a:t> </a:t>
            </a:r>
            <a:r>
              <a:rPr lang="en-US" b="0" i="0" dirty="0" err="1">
                <a:solidFill>
                  <a:srgbClr val="D2D0CE"/>
                </a:solidFill>
                <a:effectLst/>
                <a:latin typeface="-apple-system"/>
              </a:rPr>
              <a:t>tự</a:t>
            </a:r>
            <a:r>
              <a:rPr lang="en-US" b="0" i="0" dirty="0">
                <a:solidFill>
                  <a:srgbClr val="D2D0CE"/>
                </a:solidFill>
                <a:effectLst/>
                <a:latin typeface="-apple-system"/>
              </a:rPr>
              <a:t> </a:t>
            </a:r>
            <a:r>
              <a:rPr lang="en-US" b="0" i="0" dirty="0" err="1">
                <a:solidFill>
                  <a:srgbClr val="D2D0CE"/>
                </a:solidFill>
                <a:effectLst/>
                <a:latin typeface="-apple-system"/>
              </a:rPr>
              <a:t>động</a:t>
            </a:r>
            <a:r>
              <a:rPr lang="en-US" b="0" i="0" dirty="0">
                <a:solidFill>
                  <a:srgbClr val="D2D0CE"/>
                </a:solidFill>
                <a:effectLst/>
                <a:latin typeface="-apple-system"/>
              </a:rPr>
              <a:t> </a:t>
            </a:r>
            <a:r>
              <a:rPr lang="en-US" b="0" i="0" dirty="0" err="1">
                <a:solidFill>
                  <a:srgbClr val="D2D0CE"/>
                </a:solidFill>
                <a:effectLst/>
                <a:latin typeface="-apple-system"/>
              </a:rPr>
              <a:t>kết</a:t>
            </a:r>
            <a:r>
              <a:rPr lang="en-US" b="0" i="0" dirty="0">
                <a:solidFill>
                  <a:srgbClr val="D2D0CE"/>
                </a:solidFill>
                <a:effectLst/>
                <a:latin typeface="-apple-system"/>
              </a:rPr>
              <a:t> </a:t>
            </a:r>
            <a:r>
              <a:rPr lang="en-US" b="0" i="0" dirty="0" err="1">
                <a:solidFill>
                  <a:srgbClr val="D2D0CE"/>
                </a:solidFill>
                <a:effectLst/>
                <a:latin typeface="-apple-system"/>
              </a:rPr>
              <a:t>thúc</a:t>
            </a:r>
            <a:r>
              <a:rPr lang="en-US" b="0" i="0" dirty="0">
                <a:solidFill>
                  <a:srgbClr val="D2D0CE"/>
                </a:solidFill>
                <a:effectLst/>
                <a:latin typeface="-apple-system"/>
              </a:rPr>
              <a:t>.</a:t>
            </a:r>
          </a:p>
          <a:p>
            <a:pPr algn="l">
              <a:spcBef>
                <a:spcPts val="900"/>
              </a:spcBef>
              <a:buFont typeface="Arial" panose="020B0604020202020204" pitchFamily="34" charset="0"/>
              <a:buNone/>
            </a:pPr>
            <a:endParaRPr lang="en-GB" b="0" i="0" dirty="0">
              <a:solidFill>
                <a:srgbClr val="D2D0CE"/>
              </a:solidFill>
              <a:effectLst/>
              <a:latin typeface="-apple-system"/>
            </a:endParaRPr>
          </a:p>
          <a:p>
            <a:pPr algn="l">
              <a:spcBef>
                <a:spcPts val="900"/>
              </a:spcBef>
              <a:buFont typeface="Arial" panose="020B0604020202020204" pitchFamily="34" charset="0"/>
              <a:buChar char="•"/>
            </a:pPr>
            <a:r>
              <a:rPr lang="vi-VN" b="0" i="0" dirty="0">
                <a:solidFill>
                  <a:srgbClr val="D2D0CE"/>
                </a:solidFill>
                <a:effectLst/>
                <a:latin typeface="-apple-system"/>
              </a:rPr>
              <a:t>Khi bạn nhập lệnh trên console, các thông báo nhật ký (log messages) có thể xuất hiện bất kỳ lúc nào, gây gián đoạn và khó đọc.</a:t>
            </a:r>
          </a:p>
          <a:p>
            <a:pPr algn="l">
              <a:spcBef>
                <a:spcPts val="900"/>
              </a:spcBef>
              <a:buFont typeface="Arial" panose="020B0604020202020204" pitchFamily="34" charset="0"/>
              <a:buChar char="•"/>
            </a:pPr>
            <a:r>
              <a:rPr lang="vi-VN" b="0" i="0" dirty="0">
                <a:solidFill>
                  <a:srgbClr val="D2D0CE"/>
                </a:solidFill>
                <a:effectLst/>
                <a:latin typeface="-apple-system"/>
              </a:rPr>
              <a:t>Lệnh logging synchronous đảm bảo rằng các thông báo nhật ký sẽ được hiển thị sau khi bạn hoàn thành việc nhập lệnh, giúp tránh việc các thông báo này xen vào giữa các lệnh bạn đang nhập.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66C731-F2CE-433B-B9D4-45CB83B920D0}" type="slidenum">
              <a:rPr lang="en-US"/>
              <a:pPr/>
              <a:t>5</a:t>
            </a:fld>
            <a:endParaRPr lang="en-US"/>
          </a:p>
        </p:txBody>
      </p:sp>
      <p:sp>
        <p:nvSpPr>
          <p:cNvPr id="176130" name="Rectangle 2"/>
          <p:cNvSpPr>
            <a:spLocks noGrp="1" noRot="1" noChangeAspect="1" noChangeArrowheads="1" noTextEdit="1"/>
          </p:cNvSpPr>
          <p:nvPr>
            <p:ph type="sldImg"/>
          </p:nvPr>
        </p:nvSpPr>
        <p:spPr>
          <a:xfrm>
            <a:off x="1103313" y="303213"/>
            <a:ext cx="4702175" cy="3527425"/>
          </a:xfrm>
          <a:ln/>
        </p:spPr>
      </p:sp>
      <p:sp>
        <p:nvSpPr>
          <p:cNvPr id="176131" name="Rectangle 3"/>
          <p:cNvSpPr>
            <a:spLocks noGrp="1" noChangeArrowheads="1"/>
          </p:cNvSpPr>
          <p:nvPr>
            <p:ph type="body" idx="1"/>
          </p:nvPr>
        </p:nvSpPr>
        <p:spPr>
          <a:xfrm>
            <a:off x="523875" y="4056063"/>
            <a:ext cx="5835650" cy="4579937"/>
          </a:xfrm>
        </p:spPr>
        <p:txBody>
          <a:bodyPr lIns="89926" tIns="44963" rIns="89926" bIns="44963"/>
          <a:lstStyle/>
          <a:p>
            <a:r>
              <a:rPr lang="en-US" b="1"/>
              <a:t>Purpose: </a:t>
            </a:r>
            <a:r>
              <a:rPr lang="en-US"/>
              <a:t>This slide shows the interface configuration mode.</a:t>
            </a:r>
            <a:r>
              <a:rPr lang="en-US" b="1"/>
              <a:t> </a:t>
            </a:r>
          </a:p>
          <a:p>
            <a:r>
              <a:rPr lang="en-US" b="1"/>
              <a:t>Emphasize:</a:t>
            </a:r>
            <a:r>
              <a:rPr lang="en-US"/>
              <a:t> The top line is the format of the command used in fixed-port routers. The </a:t>
            </a:r>
            <a:r>
              <a:rPr lang="en-US" i="1"/>
              <a:t>type </a:t>
            </a:r>
            <a:r>
              <a:rPr lang="en-US"/>
              <a:t>field shows the interface type, which can be Ethernet, Token Ring, or another interface. The </a:t>
            </a:r>
            <a:r>
              <a:rPr lang="en-US" i="1"/>
              <a:t>number</a:t>
            </a:r>
            <a:r>
              <a:rPr lang="en-US"/>
              <a:t> field is the number of the interface. For example, if the router has two Ethernet interfaces, and one is known as Ethernet0, the other will be called Ethernet1.</a:t>
            </a:r>
          </a:p>
          <a:p>
            <a:r>
              <a:rPr lang="en-US"/>
              <a:t>The second command is used on the Cisco 7000 and 7200 series routers, which can accept multiple interface cards with multiple ports on each card. In this case, the first number is the number of the card, or slot number. The second number is the port on the card. For example, on the second interface card, the first Ethernet interface is specified as Ethernet 2/0.</a:t>
            </a:r>
          </a:p>
          <a:p>
            <a:r>
              <a:rPr lang="en-US"/>
              <a:t>If you have Cisco 7000 and 7500 series routers with VIP cards, you define an interface by slot, port adapters, and port numbers. Port adapters are assigned either a 0 or 1 number.</a:t>
            </a:r>
          </a:p>
          <a:p>
            <a:r>
              <a:rPr lang="en-US"/>
              <a:t>Use the </a:t>
            </a:r>
            <a:r>
              <a:rPr lang="en-US" b="1"/>
              <a:t>exit </a:t>
            </a:r>
            <a:r>
              <a:rPr lang="en-US"/>
              <a:t>command to leave the current configuration mode.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1D005D-5520-4E7D-8137-848E3DDDD76B}" type="slidenum">
              <a:rPr lang="en-US"/>
              <a:pPr/>
              <a:t>6</a:t>
            </a:fld>
            <a:endParaRPr lang="en-US"/>
          </a:p>
        </p:txBody>
      </p:sp>
      <p:sp>
        <p:nvSpPr>
          <p:cNvPr id="196610" name="Rectangle 2"/>
          <p:cNvSpPr>
            <a:spLocks noGrp="1" noRot="1" noChangeAspect="1" noChangeArrowheads="1" noTextEdit="1"/>
          </p:cNvSpPr>
          <p:nvPr>
            <p:ph type="sldImg"/>
          </p:nvPr>
        </p:nvSpPr>
        <p:spPr>
          <a:xfrm>
            <a:off x="1103313" y="303213"/>
            <a:ext cx="4702175" cy="3527425"/>
          </a:xfrm>
          <a:ln/>
        </p:spPr>
      </p:sp>
      <p:sp>
        <p:nvSpPr>
          <p:cNvPr id="196611" name="Rectangle 3"/>
          <p:cNvSpPr>
            <a:spLocks noGrp="1" noChangeArrowheads="1"/>
          </p:cNvSpPr>
          <p:nvPr>
            <p:ph type="body" idx="1"/>
          </p:nvPr>
        </p:nvSpPr>
        <p:spPr>
          <a:xfrm>
            <a:off x="523875" y="4056063"/>
            <a:ext cx="5835650" cy="4579937"/>
          </a:xfrm>
        </p:spPr>
        <p:txBody>
          <a:bodyPr lIns="89926" tIns="44963" rIns="89926" bIns="44963"/>
          <a:lstStyle/>
          <a:p>
            <a:r>
              <a:rPr lang="en-US" b="0" i="0" dirty="0">
                <a:solidFill>
                  <a:srgbClr val="D2D0CE"/>
                </a:solidFill>
                <a:effectLst/>
                <a:latin typeface="-apple-system"/>
              </a:rPr>
              <a:t>Trong </a:t>
            </a:r>
            <a:r>
              <a:rPr lang="en-US" b="0" i="0" dirty="0" err="1">
                <a:solidFill>
                  <a:srgbClr val="D2D0CE"/>
                </a:solidFill>
                <a:effectLst/>
                <a:latin typeface="-apple-system"/>
              </a:rPr>
              <a:t>ví</a:t>
            </a:r>
            <a:r>
              <a:rPr lang="en-US" b="0" i="0" dirty="0">
                <a:solidFill>
                  <a:srgbClr val="D2D0CE"/>
                </a:solidFill>
                <a:effectLst/>
                <a:latin typeface="-apple-system"/>
              </a:rPr>
              <a:t> </a:t>
            </a:r>
            <a:r>
              <a:rPr lang="en-US" b="0" i="0" dirty="0" err="1">
                <a:solidFill>
                  <a:srgbClr val="D2D0CE"/>
                </a:solidFill>
                <a:effectLst/>
                <a:latin typeface="-apple-system"/>
              </a:rPr>
              <a:t>dụ</a:t>
            </a:r>
            <a:r>
              <a:rPr lang="en-US" b="0" i="0" dirty="0">
                <a:solidFill>
                  <a:srgbClr val="D2D0CE"/>
                </a:solidFill>
                <a:effectLst/>
                <a:latin typeface="-apple-system"/>
              </a:rPr>
              <a:t> </a:t>
            </a:r>
            <a:r>
              <a:rPr lang="en-US" b="0" i="0" dirty="0" err="1">
                <a:solidFill>
                  <a:srgbClr val="D2D0CE"/>
                </a:solidFill>
                <a:effectLst/>
                <a:latin typeface="-apple-system"/>
              </a:rPr>
              <a:t>này</a:t>
            </a:r>
            <a:r>
              <a:rPr lang="en-US" b="0" i="0" dirty="0">
                <a:solidFill>
                  <a:srgbClr val="D2D0CE"/>
                </a:solidFill>
                <a:effectLst/>
                <a:latin typeface="-apple-system"/>
              </a:rPr>
              <a:t>, </a:t>
            </a:r>
            <a:r>
              <a:rPr lang="en-US" b="0" i="0" dirty="0" err="1">
                <a:solidFill>
                  <a:srgbClr val="D2D0CE"/>
                </a:solidFill>
                <a:effectLst/>
                <a:latin typeface="-apple-system"/>
              </a:rPr>
              <a:t>mô</a:t>
            </a:r>
            <a:r>
              <a:rPr lang="en-US" b="0" i="0" dirty="0">
                <a:solidFill>
                  <a:srgbClr val="D2D0CE"/>
                </a:solidFill>
                <a:effectLst/>
                <a:latin typeface="-apple-system"/>
              </a:rPr>
              <a:t> </a:t>
            </a:r>
            <a:r>
              <a:rPr lang="en-US" b="0" i="0" dirty="0" err="1">
                <a:solidFill>
                  <a:srgbClr val="D2D0CE"/>
                </a:solidFill>
                <a:effectLst/>
                <a:latin typeface="-apple-system"/>
              </a:rPr>
              <a:t>tả</a:t>
            </a:r>
            <a:r>
              <a:rPr lang="en-US" b="0" i="0" dirty="0">
                <a:solidFill>
                  <a:srgbClr val="D2D0CE"/>
                </a:solidFill>
                <a:effectLst/>
                <a:latin typeface="-apple-system"/>
              </a:rPr>
              <a:t> “</a:t>
            </a:r>
            <a:r>
              <a:rPr lang="en-US" b="0" i="0" dirty="0" err="1">
                <a:solidFill>
                  <a:srgbClr val="D2D0CE"/>
                </a:solidFill>
                <a:effectLst/>
                <a:latin typeface="-apple-system"/>
              </a:rPr>
              <a:t>Kết</a:t>
            </a:r>
            <a:r>
              <a:rPr lang="en-US" b="0" i="0" dirty="0">
                <a:solidFill>
                  <a:srgbClr val="D2D0CE"/>
                </a:solidFill>
                <a:effectLst/>
                <a:latin typeface="-apple-system"/>
              </a:rPr>
              <a:t> </a:t>
            </a:r>
            <a:r>
              <a:rPr lang="en-US" b="0" i="0" dirty="0" err="1">
                <a:solidFill>
                  <a:srgbClr val="D2D0CE"/>
                </a:solidFill>
                <a:effectLst/>
                <a:latin typeface="-apple-system"/>
              </a:rPr>
              <a:t>nối</a:t>
            </a:r>
            <a:r>
              <a:rPr lang="en-US" b="0" i="0" dirty="0">
                <a:solidFill>
                  <a:srgbClr val="D2D0CE"/>
                </a:solidFill>
                <a:effectLst/>
                <a:latin typeface="-apple-system"/>
              </a:rPr>
              <a:t> </a:t>
            </a:r>
            <a:r>
              <a:rPr lang="en-US" b="0" i="0" dirty="0" err="1">
                <a:solidFill>
                  <a:srgbClr val="D2D0CE"/>
                </a:solidFill>
                <a:effectLst/>
                <a:latin typeface="-apple-system"/>
              </a:rPr>
              <a:t>đến</a:t>
            </a:r>
            <a:r>
              <a:rPr lang="en-US" b="0" i="0" dirty="0">
                <a:solidFill>
                  <a:srgbClr val="D2D0CE"/>
                </a:solidFill>
                <a:effectLst/>
                <a:latin typeface="-apple-system"/>
              </a:rPr>
              <a:t> </a:t>
            </a:r>
            <a:r>
              <a:rPr lang="en-US" b="0" i="0" dirty="0" err="1">
                <a:solidFill>
                  <a:srgbClr val="D2D0CE"/>
                </a:solidFill>
                <a:effectLst/>
                <a:latin typeface="-apple-system"/>
              </a:rPr>
              <a:t>mạng</a:t>
            </a:r>
            <a:r>
              <a:rPr lang="en-US" b="0" i="0" dirty="0">
                <a:solidFill>
                  <a:srgbClr val="D2D0CE"/>
                </a:solidFill>
                <a:effectLst/>
                <a:latin typeface="-apple-system"/>
              </a:rPr>
              <a:t> </a:t>
            </a:r>
            <a:r>
              <a:rPr lang="en-US" b="0" i="0" dirty="0" err="1">
                <a:solidFill>
                  <a:srgbClr val="D2D0CE"/>
                </a:solidFill>
                <a:effectLst/>
                <a:latin typeface="-apple-system"/>
              </a:rPr>
              <a:t>nội</a:t>
            </a:r>
            <a:r>
              <a:rPr lang="en-US" b="0" i="0" dirty="0">
                <a:solidFill>
                  <a:srgbClr val="D2D0CE"/>
                </a:solidFill>
                <a:effectLst/>
                <a:latin typeface="-apple-system"/>
              </a:rPr>
              <a:t> </a:t>
            </a:r>
            <a:r>
              <a:rPr lang="en-US" b="0" i="0" dirty="0" err="1">
                <a:solidFill>
                  <a:srgbClr val="D2D0CE"/>
                </a:solidFill>
                <a:effectLst/>
                <a:latin typeface="-apple-system"/>
              </a:rPr>
              <a:t>bộ</a:t>
            </a:r>
            <a:r>
              <a:rPr lang="en-US" b="0" i="0" dirty="0">
                <a:solidFill>
                  <a:srgbClr val="D2D0CE"/>
                </a:solidFill>
                <a:effectLst/>
                <a:latin typeface="-apple-system"/>
              </a:rPr>
              <a:t>” </a:t>
            </a:r>
            <a:r>
              <a:rPr lang="en-US" b="0" i="0" dirty="0" err="1">
                <a:solidFill>
                  <a:srgbClr val="D2D0CE"/>
                </a:solidFill>
                <a:effectLst/>
                <a:latin typeface="-apple-system"/>
              </a:rPr>
              <a:t>sẽ</a:t>
            </a:r>
            <a:r>
              <a:rPr lang="en-US" b="0" i="0" dirty="0">
                <a:solidFill>
                  <a:srgbClr val="D2D0CE"/>
                </a:solidFill>
                <a:effectLst/>
                <a:latin typeface="-apple-system"/>
              </a:rPr>
              <a:t> </a:t>
            </a:r>
            <a:r>
              <a:rPr lang="en-US" b="0" i="0" dirty="0" err="1">
                <a:solidFill>
                  <a:srgbClr val="D2D0CE"/>
                </a:solidFill>
                <a:effectLst/>
                <a:latin typeface="-apple-system"/>
              </a:rPr>
              <a:t>giúp</a:t>
            </a:r>
            <a:r>
              <a:rPr lang="en-US" b="0" i="0" dirty="0">
                <a:solidFill>
                  <a:srgbClr val="D2D0CE"/>
                </a:solidFill>
                <a:effectLst/>
                <a:latin typeface="-apple-system"/>
              </a:rPr>
              <a:t> </a:t>
            </a:r>
            <a:r>
              <a:rPr lang="en-US" b="0" i="0" dirty="0" err="1">
                <a:solidFill>
                  <a:srgbClr val="D2D0CE"/>
                </a:solidFill>
                <a:effectLst/>
                <a:latin typeface="-apple-system"/>
              </a:rPr>
              <a:t>bạn</a:t>
            </a:r>
            <a:r>
              <a:rPr lang="en-US" b="0" i="0" dirty="0">
                <a:solidFill>
                  <a:srgbClr val="D2D0CE"/>
                </a:solidFill>
                <a:effectLst/>
                <a:latin typeface="-apple-system"/>
              </a:rPr>
              <a:t> </a:t>
            </a:r>
            <a:r>
              <a:rPr lang="en-US" b="0" i="0" dirty="0" err="1">
                <a:solidFill>
                  <a:srgbClr val="D2D0CE"/>
                </a:solidFill>
                <a:effectLst/>
                <a:latin typeface="-apple-system"/>
              </a:rPr>
              <a:t>hoặc</a:t>
            </a:r>
            <a:r>
              <a:rPr lang="en-US" b="0" i="0" dirty="0">
                <a:solidFill>
                  <a:srgbClr val="D2D0CE"/>
                </a:solidFill>
                <a:effectLst/>
                <a:latin typeface="-apple-system"/>
              </a:rPr>
              <a:t> </a:t>
            </a:r>
            <a:r>
              <a:rPr lang="en-US" b="0" i="0" dirty="0" err="1">
                <a:solidFill>
                  <a:srgbClr val="D2D0CE"/>
                </a:solidFill>
                <a:effectLst/>
                <a:latin typeface="-apple-system"/>
              </a:rPr>
              <a:t>bất</a:t>
            </a:r>
            <a:r>
              <a:rPr lang="en-US" b="0" i="0" dirty="0">
                <a:solidFill>
                  <a:srgbClr val="D2D0CE"/>
                </a:solidFill>
                <a:effectLst/>
                <a:latin typeface="-apple-system"/>
              </a:rPr>
              <a:t> </a:t>
            </a:r>
            <a:r>
              <a:rPr lang="en-US" b="0" i="0" dirty="0" err="1">
                <a:solidFill>
                  <a:srgbClr val="D2D0CE"/>
                </a:solidFill>
                <a:effectLst/>
                <a:latin typeface="-apple-system"/>
              </a:rPr>
              <a:t>kỳ</a:t>
            </a:r>
            <a:r>
              <a:rPr lang="en-US" b="0" i="0" dirty="0">
                <a:solidFill>
                  <a:srgbClr val="D2D0CE"/>
                </a:solidFill>
                <a:effectLst/>
                <a:latin typeface="-apple-system"/>
              </a:rPr>
              <a:t> ai </a:t>
            </a:r>
            <a:r>
              <a:rPr lang="en-US" b="0" i="0" dirty="0" err="1">
                <a:solidFill>
                  <a:srgbClr val="D2D0CE"/>
                </a:solidFill>
                <a:effectLst/>
                <a:latin typeface="-apple-system"/>
              </a:rPr>
              <a:t>quản</a:t>
            </a:r>
            <a:r>
              <a:rPr lang="en-US" b="0" i="0" dirty="0">
                <a:solidFill>
                  <a:srgbClr val="D2D0CE"/>
                </a:solidFill>
                <a:effectLst/>
                <a:latin typeface="-apple-system"/>
              </a:rPr>
              <a:t> </a:t>
            </a:r>
            <a:r>
              <a:rPr lang="en-US" b="0" i="0" dirty="0" err="1">
                <a:solidFill>
                  <a:srgbClr val="D2D0CE"/>
                </a:solidFill>
                <a:effectLst/>
                <a:latin typeface="-apple-system"/>
              </a:rPr>
              <a:t>lý</a:t>
            </a:r>
            <a:r>
              <a:rPr lang="en-US" b="0" i="0" dirty="0">
                <a:solidFill>
                  <a:srgbClr val="D2D0CE"/>
                </a:solidFill>
                <a:effectLst/>
                <a:latin typeface="-apple-system"/>
              </a:rPr>
              <a:t> router </a:t>
            </a:r>
            <a:r>
              <a:rPr lang="en-US" b="0" i="0" dirty="0" err="1">
                <a:solidFill>
                  <a:srgbClr val="D2D0CE"/>
                </a:solidFill>
                <a:effectLst/>
                <a:latin typeface="-apple-system"/>
              </a:rPr>
              <a:t>dễ</a:t>
            </a:r>
            <a:r>
              <a:rPr lang="en-US" b="0" i="0" dirty="0">
                <a:solidFill>
                  <a:srgbClr val="D2D0CE"/>
                </a:solidFill>
                <a:effectLst/>
                <a:latin typeface="-apple-system"/>
              </a:rPr>
              <a:t> </a:t>
            </a:r>
            <a:r>
              <a:rPr lang="en-US" b="0" i="0" dirty="0" err="1">
                <a:solidFill>
                  <a:srgbClr val="D2D0CE"/>
                </a:solidFill>
                <a:effectLst/>
                <a:latin typeface="-apple-system"/>
              </a:rPr>
              <a:t>dàng</a:t>
            </a:r>
            <a:r>
              <a:rPr lang="en-US" b="0" i="0" dirty="0">
                <a:solidFill>
                  <a:srgbClr val="D2D0CE"/>
                </a:solidFill>
                <a:effectLst/>
                <a:latin typeface="-apple-system"/>
              </a:rPr>
              <a:t> </a:t>
            </a:r>
            <a:r>
              <a:rPr lang="en-US" b="0" i="0" dirty="0" err="1">
                <a:solidFill>
                  <a:srgbClr val="D2D0CE"/>
                </a:solidFill>
                <a:effectLst/>
                <a:latin typeface="-apple-system"/>
              </a:rPr>
              <a:t>nhận</a:t>
            </a:r>
            <a:r>
              <a:rPr lang="en-US" b="0" i="0" dirty="0">
                <a:solidFill>
                  <a:srgbClr val="D2D0CE"/>
                </a:solidFill>
                <a:effectLst/>
                <a:latin typeface="-apple-system"/>
              </a:rPr>
              <a:t> </a:t>
            </a:r>
            <a:r>
              <a:rPr lang="en-US" b="0" i="0" dirty="0" err="1">
                <a:solidFill>
                  <a:srgbClr val="D2D0CE"/>
                </a:solidFill>
                <a:effectLst/>
                <a:latin typeface="-apple-system"/>
              </a:rPr>
              <a:t>biết</a:t>
            </a:r>
            <a:r>
              <a:rPr lang="en-US" b="0" i="0" dirty="0">
                <a:solidFill>
                  <a:srgbClr val="D2D0CE"/>
                </a:solidFill>
                <a:effectLst/>
                <a:latin typeface="-apple-system"/>
              </a:rPr>
              <a:t> </a:t>
            </a:r>
            <a:r>
              <a:rPr lang="en-US" b="0" i="0" dirty="0" err="1">
                <a:solidFill>
                  <a:srgbClr val="D2D0CE"/>
                </a:solidFill>
                <a:effectLst/>
                <a:latin typeface="-apple-system"/>
              </a:rPr>
              <a:t>mục</a:t>
            </a:r>
            <a:r>
              <a:rPr lang="en-US" b="0" i="0" dirty="0">
                <a:solidFill>
                  <a:srgbClr val="D2D0CE"/>
                </a:solidFill>
                <a:effectLst/>
                <a:latin typeface="-apple-system"/>
              </a:rPr>
              <a:t> </a:t>
            </a:r>
            <a:r>
              <a:rPr lang="en-US" b="0" i="0" dirty="0" err="1">
                <a:solidFill>
                  <a:srgbClr val="D2D0CE"/>
                </a:solidFill>
                <a:effectLst/>
                <a:latin typeface="-apple-system"/>
              </a:rPr>
              <a:t>đích</a:t>
            </a:r>
            <a:r>
              <a:rPr lang="en-US" b="0" i="0" dirty="0">
                <a:solidFill>
                  <a:srgbClr val="D2D0CE"/>
                </a:solidFill>
                <a:effectLst/>
                <a:latin typeface="-apple-system"/>
              </a:rPr>
              <a:t> </a:t>
            </a:r>
            <a:r>
              <a:rPr lang="en-US" b="0" i="0" dirty="0" err="1">
                <a:solidFill>
                  <a:srgbClr val="D2D0CE"/>
                </a:solidFill>
                <a:effectLst/>
                <a:latin typeface="-apple-system"/>
              </a:rPr>
              <a:t>của</a:t>
            </a:r>
            <a:r>
              <a:rPr lang="en-US" b="0" i="0" dirty="0">
                <a:solidFill>
                  <a:srgbClr val="D2D0CE"/>
                </a:solidFill>
                <a:effectLst/>
                <a:latin typeface="-apple-system"/>
              </a:rPr>
              <a:t> </a:t>
            </a:r>
            <a:r>
              <a:rPr lang="en-US" b="0" i="0" dirty="0" err="1">
                <a:solidFill>
                  <a:srgbClr val="D2D0CE"/>
                </a:solidFill>
                <a:effectLst/>
                <a:latin typeface="-apple-system"/>
              </a:rPr>
              <a:t>giao</a:t>
            </a:r>
            <a:r>
              <a:rPr lang="en-US" b="0" i="0" dirty="0">
                <a:solidFill>
                  <a:srgbClr val="D2D0CE"/>
                </a:solidFill>
                <a:effectLst/>
                <a:latin typeface="-apple-system"/>
              </a:rPr>
              <a:t> </a:t>
            </a:r>
            <a:r>
              <a:rPr lang="en-US" b="0" i="0" dirty="0" err="1">
                <a:solidFill>
                  <a:srgbClr val="D2D0CE"/>
                </a:solidFill>
                <a:effectLst/>
                <a:latin typeface="-apple-system"/>
              </a:rPr>
              <a:t>diện</a:t>
            </a:r>
            <a:r>
              <a:rPr lang="en-US" b="0" i="0" dirty="0">
                <a:solidFill>
                  <a:srgbClr val="D2D0CE"/>
                </a:solidFill>
                <a:effectLst/>
                <a:latin typeface="-apple-system"/>
              </a:rPr>
              <a:t> </a:t>
            </a:r>
            <a:r>
              <a:rPr lang="en-US" b="0" i="0" dirty="0" err="1">
                <a:solidFill>
                  <a:srgbClr val="D2D0CE"/>
                </a:solidFill>
                <a:effectLst/>
                <a:latin typeface="-apple-system"/>
              </a:rPr>
              <a:t>này</a:t>
            </a:r>
            <a:r>
              <a:rPr lang="en-US" b="0" i="0" dirty="0">
                <a:solidFill>
                  <a:srgbClr val="D2D0CE"/>
                </a:solidFill>
                <a:effectLst/>
                <a:latin typeface="-apple-system"/>
              </a:rPr>
              <a:t>.</a:t>
            </a:r>
          </a:p>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510A7A-A119-40F6-9E7F-93B295DEC834}" type="slidenum">
              <a:rPr lang="en-US"/>
              <a:pPr/>
              <a:t>7</a:t>
            </a:fld>
            <a:endParaRPr lang="en-US"/>
          </a:p>
        </p:txBody>
      </p:sp>
      <p:sp>
        <p:nvSpPr>
          <p:cNvPr id="180226" name="Rectangle 2"/>
          <p:cNvSpPr>
            <a:spLocks noGrp="1" noRot="1" noChangeAspect="1" noChangeArrowheads="1" noTextEdit="1"/>
          </p:cNvSpPr>
          <p:nvPr>
            <p:ph type="sldImg"/>
          </p:nvPr>
        </p:nvSpPr>
        <p:spPr>
          <a:xfrm>
            <a:off x="1092200" y="300038"/>
            <a:ext cx="4702175" cy="3527425"/>
          </a:xfrm>
          <a:ln/>
        </p:spPr>
      </p:sp>
      <p:sp>
        <p:nvSpPr>
          <p:cNvPr id="180227" name="Rectangle 3"/>
          <p:cNvSpPr>
            <a:spLocks noGrp="1" noChangeArrowheads="1"/>
          </p:cNvSpPr>
          <p:nvPr>
            <p:ph type="body" idx="1"/>
          </p:nvPr>
        </p:nvSpPr>
        <p:spPr>
          <a:xfrm>
            <a:off x="523875" y="4052888"/>
            <a:ext cx="5835650" cy="4579937"/>
          </a:xfrm>
        </p:spPr>
        <p:txBody>
          <a:bodyPr/>
          <a:lstStyle/>
          <a:p>
            <a:r>
              <a:rPr lang="en-US" b="1"/>
              <a:t>Emphasize: </a:t>
            </a:r>
            <a:r>
              <a:rPr lang="en-US"/>
              <a:t>The Catalyst 1900 switch also uses the </a:t>
            </a:r>
            <a:r>
              <a:rPr lang="en-US" b="1"/>
              <a:t>shut</a:t>
            </a:r>
            <a:r>
              <a:rPr lang="en-US"/>
              <a:t> and </a:t>
            </a:r>
            <a:r>
              <a:rPr lang="en-US" b="1"/>
              <a:t>no shut</a:t>
            </a:r>
            <a:r>
              <a:rPr lang="en-US"/>
              <a:t> command.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D122B9-93A4-473E-9234-01266241952E}" type="slidenum">
              <a:rPr lang="en-US"/>
              <a:pPr/>
              <a:t>8</a:t>
            </a:fld>
            <a:endParaRPr lang="en-US"/>
          </a:p>
        </p:txBody>
      </p:sp>
      <p:sp>
        <p:nvSpPr>
          <p:cNvPr id="182274" name="Rectangle 2"/>
          <p:cNvSpPr>
            <a:spLocks noGrp="1" noRot="1" noChangeAspect="1" noChangeArrowheads="1" noTextEdit="1"/>
          </p:cNvSpPr>
          <p:nvPr>
            <p:ph type="sldImg"/>
          </p:nvPr>
        </p:nvSpPr>
        <p:spPr>
          <a:xfrm>
            <a:off x="1090613" y="300038"/>
            <a:ext cx="4702175" cy="3527425"/>
          </a:xfrm>
          <a:ln/>
        </p:spPr>
      </p:sp>
      <p:sp>
        <p:nvSpPr>
          <p:cNvPr id="182275" name="Rectangle 3"/>
          <p:cNvSpPr>
            <a:spLocks noGrp="1" noChangeArrowheads="1"/>
          </p:cNvSpPr>
          <p:nvPr>
            <p:ph type="body" idx="1"/>
          </p:nvPr>
        </p:nvSpPr>
        <p:spPr>
          <a:xfrm>
            <a:off x="523875" y="4052888"/>
            <a:ext cx="5829300" cy="4252912"/>
          </a:xfrm>
        </p:spPr>
        <p:txBody>
          <a:bodyPr/>
          <a:lstStyle/>
          <a:p>
            <a:r>
              <a:rPr lang="vi-VN" b="0" i="0" dirty="0">
                <a:solidFill>
                  <a:srgbClr val="D2D0CE"/>
                </a:solidFill>
                <a:effectLst/>
                <a:latin typeface="-apple-system"/>
              </a:rPr>
              <a:t>PPP và IPCP để tự động trao đổi và nhận địa chỉ IP tương ứng</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C4C08C-538E-40DC-AA8A-342A09B39492}" type="slidenum">
              <a:rPr lang="en-US"/>
              <a:pPr/>
              <a:t>9</a:t>
            </a:fld>
            <a:endParaRPr lang="en-US"/>
          </a:p>
        </p:txBody>
      </p:sp>
      <p:sp>
        <p:nvSpPr>
          <p:cNvPr id="184322" name="Rectangle 2"/>
          <p:cNvSpPr>
            <a:spLocks noGrp="1" noRot="1" noChangeAspect="1" noChangeArrowheads="1" noTextEdit="1"/>
          </p:cNvSpPr>
          <p:nvPr>
            <p:ph type="sldImg"/>
          </p:nvPr>
        </p:nvSpPr>
        <p:spPr>
          <a:xfrm>
            <a:off x="1092200" y="300038"/>
            <a:ext cx="4702175" cy="3527425"/>
          </a:xfrm>
          <a:ln/>
        </p:spPr>
      </p:sp>
      <p:sp>
        <p:nvSpPr>
          <p:cNvPr id="184323" name="Rectangle 3"/>
          <p:cNvSpPr>
            <a:spLocks noGrp="1" noChangeArrowheads="1"/>
          </p:cNvSpPr>
          <p:nvPr>
            <p:ph type="body" idx="1"/>
          </p:nvPr>
        </p:nvSpPr>
        <p:spPr>
          <a:xfrm>
            <a:off x="523875" y="4052888"/>
            <a:ext cx="5835650" cy="4579937"/>
          </a:xfrm>
        </p:spPr>
        <p:txBody>
          <a:bodyPr/>
          <a:lstStyle/>
          <a:p>
            <a:r>
              <a:rPr lang="en-US" b="1"/>
              <a:t>Purpose: </a:t>
            </a:r>
            <a:r>
              <a:rPr lang="en-US"/>
              <a:t>This slide presents the </a:t>
            </a:r>
            <a:r>
              <a:rPr lang="en-US" b="1"/>
              <a:t>show interfaces </a:t>
            </a:r>
            <a:r>
              <a:rPr lang="en-US"/>
              <a:t>command, which indicates whether the network is operating at the physical and data link layers. The command output is interpreted later in this chapter.</a:t>
            </a:r>
            <a:endParaRPr lang="en-US" b="1"/>
          </a:p>
          <a:p>
            <a:r>
              <a:rPr lang="en-US" b="1"/>
              <a:t>Emphasize:</a:t>
            </a:r>
            <a:r>
              <a:rPr lang="en-US"/>
              <a:t> The top line of the output tells us that the line is up. A few lines down, the output provides the IP address, and below that some characteristics like BW for bandwidth, and DLY for delay. On the next line down, we find an encapsulation type of ARPA. ARPA means Ethernet II, which is the default IP encapsulation type for Ethernet interfaces on Cisco routers.</a:t>
            </a:r>
          </a:p>
          <a:p>
            <a:r>
              <a:rPr lang="en-US"/>
              <a:t>A runt is an Ethernet frame that is too small to be legal (less than 64 bytes), and a giant is an Ethernet frame that is too big (greater than 1518 bytes).	</a:t>
            </a:r>
          </a:p>
          <a:p>
            <a:endParaRPr lang="en-US"/>
          </a:p>
          <a:p>
            <a:r>
              <a:rPr lang="en-US"/>
              <a:t>	</a:t>
            </a:r>
          </a:p>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58C94D-9B4B-40E5-A803-706AD2A43447}" type="slidenum">
              <a:rPr lang="en-US"/>
              <a:pPr/>
              <a:t>10</a:t>
            </a:fld>
            <a:endParaRPr lang="en-US"/>
          </a:p>
        </p:txBody>
      </p:sp>
      <p:sp>
        <p:nvSpPr>
          <p:cNvPr id="186370" name="Rectangle 2"/>
          <p:cNvSpPr>
            <a:spLocks noGrp="1" noRot="1" noChangeAspect="1" noChangeArrowheads="1" noTextEdit="1"/>
          </p:cNvSpPr>
          <p:nvPr>
            <p:ph type="sldImg"/>
          </p:nvPr>
        </p:nvSpPr>
        <p:spPr>
          <a:xfrm>
            <a:off x="1092200" y="300038"/>
            <a:ext cx="4702175" cy="3527425"/>
          </a:xfrm>
          <a:ln/>
        </p:spPr>
      </p:sp>
      <p:sp>
        <p:nvSpPr>
          <p:cNvPr id="186371" name="Rectangle 3"/>
          <p:cNvSpPr>
            <a:spLocks noGrp="1" noChangeArrowheads="1"/>
          </p:cNvSpPr>
          <p:nvPr>
            <p:ph type="body" idx="1"/>
          </p:nvPr>
        </p:nvSpPr>
        <p:spPr>
          <a:xfrm>
            <a:off x="523875" y="4052888"/>
            <a:ext cx="5835650" cy="4579937"/>
          </a:xfrm>
        </p:spPr>
        <p:txBody>
          <a:bodyPr/>
          <a:lstStyle/>
          <a:p>
            <a:r>
              <a:rPr lang="en-US" b="1"/>
              <a:t>Purpose: </a:t>
            </a:r>
            <a:r>
              <a:rPr lang="en-US"/>
              <a:t>This slide explains how to interpret the </a:t>
            </a:r>
            <a:r>
              <a:rPr lang="en-US" b="1"/>
              <a:t>show interfaces serial </a:t>
            </a:r>
            <a:r>
              <a:rPr lang="en-US"/>
              <a:t>command output.</a:t>
            </a:r>
            <a:endParaRPr lang="en-US" b="1"/>
          </a:p>
          <a:p>
            <a:r>
              <a:rPr lang="en-US" b="1"/>
              <a:t>Emphasize:</a:t>
            </a:r>
            <a:r>
              <a:rPr lang="en-US"/>
              <a:t> The </a:t>
            </a:r>
            <a:r>
              <a:rPr lang="en-US" b="1"/>
              <a:t>show interfaces serial </a:t>
            </a:r>
            <a:r>
              <a:rPr lang="en-US"/>
              <a:t>command output indicates that the serial interface is up and the line protocol is up. The first parameter refers to the hardware layer and essentially reflects whether the interface is receiving the Carrier Detect signal from the other end. The second parameter refers to the data link layer. This parameter reflects whether the data link layer protocol keepalives are being received.</a:t>
            </a:r>
          </a:p>
          <a:p>
            <a:r>
              <a:rPr lang="en-US"/>
              <a:t>If both the interface and the line protocol are up, the connection is operational. </a:t>
            </a:r>
          </a:p>
          <a:p>
            <a:r>
              <a:rPr lang="en-US"/>
              <a:t>If the hardware is up and the line protocol is down, a connection problem exist such as no clocking, wrong encapsulation type, or no keepalives.</a:t>
            </a:r>
          </a:p>
          <a:p>
            <a:r>
              <a:rPr lang="en-US"/>
              <a:t>If both the line protocol and the interface are down, a cable might never have been attached to the router. On the serial cable, you can plug in the cable upside-down, causing the pins on the serial cable to break. </a:t>
            </a:r>
          </a:p>
          <a:p>
            <a:r>
              <a:rPr lang="en-US"/>
              <a:t>There is one more possibility. If the information says “administratively down,” you have manually disabled (shut) the interface. </a:t>
            </a:r>
          </a:p>
          <a:p>
            <a:r>
              <a:rPr lang="en-US"/>
              <a:t>Cisco offers a hardware class (IMCR) that discusses the router hardware in more detail.</a:t>
            </a:r>
          </a:p>
          <a:p>
            <a:r>
              <a:rPr lang="en-US"/>
              <a:t>	</a:t>
            </a:r>
          </a:p>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B53036-5ED4-4C75-A1EC-DA48E3BFF2C8}" type="slidenum">
              <a:rPr lang="en-US"/>
              <a:pPr/>
              <a:t>11</a:t>
            </a:fld>
            <a:endParaRPr lang="en-US"/>
          </a:p>
        </p:txBody>
      </p:sp>
      <p:sp>
        <p:nvSpPr>
          <p:cNvPr id="188418" name="Rectangle 2"/>
          <p:cNvSpPr>
            <a:spLocks noGrp="1" noRot="1" noChangeAspect="1" noChangeArrowheads="1" noTextEdit="1"/>
          </p:cNvSpPr>
          <p:nvPr>
            <p:ph type="sldImg"/>
          </p:nvPr>
        </p:nvSpPr>
        <p:spPr>
          <a:xfrm>
            <a:off x="1092200" y="300038"/>
            <a:ext cx="4702175" cy="3527425"/>
          </a:xfrm>
          <a:ln/>
        </p:spPr>
      </p:sp>
      <p:sp>
        <p:nvSpPr>
          <p:cNvPr id="188419" name="Rectangle 3"/>
          <p:cNvSpPr>
            <a:spLocks noGrp="1" noChangeArrowheads="1"/>
          </p:cNvSpPr>
          <p:nvPr>
            <p:ph type="body" idx="1"/>
          </p:nvPr>
        </p:nvSpPr>
        <p:spPr>
          <a:xfrm>
            <a:off x="523875" y="4052888"/>
            <a:ext cx="5835650" cy="4579937"/>
          </a:xfrm>
        </p:spPr>
        <p:txBody>
          <a:bodyPr/>
          <a:lstStyle/>
          <a:p>
            <a:r>
              <a:rPr lang="en-US" b="1"/>
              <a:t>Purpose: </a:t>
            </a:r>
            <a:r>
              <a:rPr lang="en-US"/>
              <a:t>This slide shows how to verify the changes you make to an interface. </a:t>
            </a:r>
          </a:p>
          <a:p>
            <a:r>
              <a:rPr lang="en-US" b="1"/>
              <a:t>Emphasize:</a:t>
            </a:r>
            <a:r>
              <a:rPr lang="en-US"/>
              <a:t> Notice the bandwidth has been changed to 64K from the default of 1.544M.</a:t>
            </a:r>
          </a:p>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900"/>
              </a:spcBef>
              <a:buFont typeface="+mj-lt"/>
              <a:buAutoNum type="arabicPeriod"/>
            </a:pPr>
            <a:r>
              <a:rPr lang="vi-VN" b="1" i="0" dirty="0">
                <a:solidFill>
                  <a:srgbClr val="D2D0CE"/>
                </a:solidFill>
                <a:effectLst/>
                <a:latin typeface="-apple-system"/>
              </a:rPr>
              <a:t>Chế độ EXEC đặc quyền (Privileged EXEC mode)</a:t>
            </a:r>
            <a:r>
              <a:rPr lang="vi-VN" b="0" i="0" dirty="0">
                <a:solidFill>
                  <a:srgbClr val="D2D0CE"/>
                </a:solidFill>
                <a:effectLst/>
                <a:latin typeface="-apple-system"/>
              </a:rPr>
              <a:t>:</a:t>
            </a:r>
          </a:p>
          <a:p>
            <a:pPr marL="742950" lvl="1" indent="-285750" algn="l">
              <a:spcBef>
                <a:spcPts val="900"/>
              </a:spcBef>
              <a:buFont typeface="+mj-lt"/>
              <a:buAutoNum type="arabicPeriod"/>
            </a:pPr>
            <a:r>
              <a:rPr lang="vi-VN" b="0" i="0" dirty="0">
                <a:solidFill>
                  <a:srgbClr val="D2D0CE"/>
                </a:solidFill>
                <a:effectLst/>
                <a:latin typeface="-apple-system"/>
              </a:rPr>
              <a:t>Đây là chế độ mà bạn có thể thực hiện các lệnh quản lý và cấu hình hệ thống.</a:t>
            </a:r>
          </a:p>
          <a:p>
            <a:pPr marL="742950" lvl="1" indent="-285750" algn="l">
              <a:spcBef>
                <a:spcPts val="900"/>
              </a:spcBef>
              <a:buFont typeface="+mj-lt"/>
              <a:buAutoNum type="arabicPeriod"/>
            </a:pPr>
            <a:r>
              <a:rPr lang="vi-VN" b="0" i="0" dirty="0">
                <a:solidFill>
                  <a:srgbClr val="D2D0CE"/>
                </a:solidFill>
                <a:effectLst/>
                <a:latin typeface="-apple-system"/>
              </a:rPr>
              <a:t>Từ chế độ này, bạn có thể truy cập vào chế độ cấu hình toàn cục (global configuration mode).</a:t>
            </a:r>
          </a:p>
          <a:p>
            <a:pPr algn="l">
              <a:spcBef>
                <a:spcPts val="900"/>
              </a:spcBef>
              <a:buFont typeface="+mj-lt"/>
              <a:buAutoNum type="arabicPeriod"/>
            </a:pPr>
            <a:r>
              <a:rPr lang="vi-VN" b="1" i="0" dirty="0">
                <a:solidFill>
                  <a:srgbClr val="D2D0CE"/>
                </a:solidFill>
                <a:effectLst/>
                <a:latin typeface="-apple-system"/>
              </a:rPr>
              <a:t>Chế độ cấu hình toàn cục (Global Configuration mode)</a:t>
            </a:r>
            <a:r>
              <a:rPr lang="vi-VN" b="0" i="0" dirty="0">
                <a:solidFill>
                  <a:srgbClr val="D2D0CE"/>
                </a:solidFill>
                <a:effectLst/>
                <a:latin typeface="-apple-system"/>
              </a:rPr>
              <a:t>:</a:t>
            </a:r>
          </a:p>
          <a:p>
            <a:pPr marL="742950" lvl="1" indent="-285750" algn="l">
              <a:spcBef>
                <a:spcPts val="900"/>
              </a:spcBef>
              <a:buFont typeface="+mj-lt"/>
              <a:buAutoNum type="arabicPeriod"/>
            </a:pPr>
            <a:r>
              <a:rPr lang="vi-VN" b="0" i="0" dirty="0">
                <a:solidFill>
                  <a:srgbClr val="D2D0CE"/>
                </a:solidFill>
                <a:effectLst/>
                <a:latin typeface="-apple-system"/>
              </a:rPr>
              <a:t>Chế độ này cho phép bạn truy cập và cấu hình các chế độ cấu hình khác như chế độ cấu hình giao diện (interface configuration mode) hoặc chế độ cấu hình dòng (line configuration mode).</a:t>
            </a:r>
          </a:p>
          <a:p>
            <a:pPr marL="742950" lvl="1" indent="-285750" algn="l">
              <a:spcBef>
                <a:spcPts val="900"/>
              </a:spcBef>
              <a:buFont typeface="+mj-lt"/>
              <a:buAutoNum type="arabicPeriod"/>
            </a:pPr>
            <a:r>
              <a:rPr lang="vi-VN" b="0" i="0" dirty="0">
                <a:solidFill>
                  <a:srgbClr val="D2D0CE"/>
                </a:solidFill>
                <a:effectLst/>
                <a:latin typeface="-apple-system"/>
              </a:rPr>
              <a:t>Bạn có thể vào chế độ này bằng cách nhập lệnh configure terminal từ chế độ EXEC đặc quyền.</a:t>
            </a:r>
          </a:p>
          <a:p>
            <a:pPr algn="l">
              <a:spcBef>
                <a:spcPts val="900"/>
              </a:spcBef>
            </a:pPr>
            <a:r>
              <a:rPr lang="vi-VN" b="1" i="0" dirty="0">
                <a:solidFill>
                  <a:srgbClr val="D2D0CE"/>
                </a:solidFill>
                <a:effectLst/>
                <a:latin typeface="-apple-system"/>
              </a:rPr>
              <a:t>Chức năng chính của router</a:t>
            </a:r>
          </a:p>
          <a:p>
            <a:pPr algn="l">
              <a:spcBef>
                <a:spcPts val="900"/>
              </a:spcBef>
              <a:buFont typeface="Arial" panose="020B0604020202020204" pitchFamily="34" charset="0"/>
              <a:buChar char="•"/>
            </a:pPr>
            <a:r>
              <a:rPr lang="vi-VN" b="1" i="0" dirty="0">
                <a:solidFill>
                  <a:srgbClr val="D2D0CE"/>
                </a:solidFill>
                <a:effectLst/>
                <a:latin typeface="-apple-system"/>
              </a:rPr>
              <a:t>Chuyển tiếp gói tin (Packet forwarding)</a:t>
            </a:r>
            <a:r>
              <a:rPr lang="vi-VN" b="0" i="0" dirty="0">
                <a:solidFill>
                  <a:srgbClr val="D2D0CE"/>
                </a:solidFill>
                <a:effectLst/>
                <a:latin typeface="-apple-system"/>
              </a:rPr>
              <a:t>: Chức năng chính của router là chuyển tiếp các gói tin từ một thiết bị mạng này sang thiết bị mạng khác.</a:t>
            </a:r>
          </a:p>
          <a:p>
            <a:pPr algn="l">
              <a:spcBef>
                <a:spcPts val="900"/>
              </a:spcBef>
              <a:buFont typeface="Arial" panose="020B0604020202020204" pitchFamily="34" charset="0"/>
              <a:buChar char="•"/>
            </a:pPr>
            <a:r>
              <a:rPr lang="vi-VN" b="0" i="0" dirty="0">
                <a:solidFill>
                  <a:srgbClr val="D2D0CE"/>
                </a:solidFill>
                <a:effectLst/>
                <a:latin typeface="-apple-system"/>
              </a:rPr>
              <a:t>Để thực hiện điều này, các đặc điểm của các giao diện mà gói tin được nhận và gửi phải được xác định.</a:t>
            </a:r>
          </a:p>
          <a:p>
            <a:pPr algn="l">
              <a:spcBef>
                <a:spcPts val="900"/>
              </a:spcBef>
            </a:pPr>
            <a:r>
              <a:rPr lang="vi-VN" b="1" i="0" dirty="0">
                <a:solidFill>
                  <a:srgbClr val="D2D0CE"/>
                </a:solidFill>
                <a:effectLst/>
                <a:latin typeface="-apple-system"/>
              </a:rPr>
              <a:t>Cấu hình đặc điểm Interface Configuration mode)</a:t>
            </a:r>
            <a:r>
              <a:rPr lang="vi-VN" b="0" i="0" dirty="0">
                <a:solidFill>
                  <a:srgbClr val="D2D0CE"/>
                </a:solidFill>
                <a:effectLst/>
                <a:latin typeface="-apple-system"/>
              </a:rPr>
              <a:t>:</a:t>
            </a:r>
          </a:p>
          <a:p>
            <a:pPr marL="742950" lvl="1" indent="-285750" algn="l">
              <a:spcBef>
                <a:spcPts val="900"/>
              </a:spcBef>
              <a:buFont typeface="+mj-lt"/>
              <a:buAutoNum type="arabicPeriod"/>
            </a:pPr>
            <a:r>
              <a:rPr lang="vi-VN" b="0" i="0" dirty="0">
                <a:solidFill>
                  <a:srgbClr val="D2D0CE"/>
                </a:solidFill>
                <a:effectLst/>
                <a:latin typeface="-apple-system"/>
              </a:rPr>
              <a:t>Đặc điểm của giao diện, chẳng hạn như địa chỉ IP và băng thông, được cấu hình trong chế độ này.</a:t>
            </a:r>
          </a:p>
          <a:p>
            <a:pPr marL="742950" lvl="1" indent="-285750" algn="l">
              <a:spcBef>
                <a:spcPts val="900"/>
              </a:spcBef>
              <a:buFont typeface="+mj-lt"/>
              <a:buAutoNum type="arabicPeriod"/>
            </a:pPr>
            <a:r>
              <a:rPr lang="vi-VN" b="0" i="0" dirty="0">
                <a:solidFill>
                  <a:srgbClr val="D2D0CE"/>
                </a:solidFill>
                <a:effectLst/>
                <a:latin typeface="-apple-system"/>
              </a:rPr>
              <a:t>Bạn có thể vào chế độ cấu hình giao diện bằng cách nhập lệnh interface [tên giao diện] từ chế độ cấu hình toàn cục.</a:t>
            </a:r>
          </a:p>
          <a:p>
            <a:endParaRPr lang="en-US" dirty="0"/>
          </a:p>
        </p:txBody>
      </p:sp>
      <p:sp>
        <p:nvSpPr>
          <p:cNvPr id="4" name="Slide Number Placeholder 3"/>
          <p:cNvSpPr>
            <a:spLocks noGrp="1"/>
          </p:cNvSpPr>
          <p:nvPr>
            <p:ph type="sldNum" sz="quarter" idx="5"/>
          </p:nvPr>
        </p:nvSpPr>
        <p:spPr/>
        <p:txBody>
          <a:bodyPr/>
          <a:lstStyle/>
          <a:p>
            <a:fld id="{0B0BF5E3-7F7C-429A-BFF0-941CAE55F7F9}" type="slidenum">
              <a:rPr lang="en-US" smtClean="0"/>
              <a:pPr/>
              <a:t>12</a:t>
            </a:fld>
            <a:endParaRPr lang="en-US"/>
          </a:p>
        </p:txBody>
      </p:sp>
    </p:spTree>
    <p:extLst>
      <p:ext uri="{BB962C8B-B14F-4D97-AF65-F5344CB8AC3E}">
        <p14:creationId xmlns:p14="http://schemas.microsoft.com/office/powerpoint/2010/main" val="17230554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391278-C07E-4086-9138-4EF8E5B9D769}" type="slidenum">
              <a:rPr lang="en-US"/>
              <a:pPr/>
              <a:t>13</a:t>
            </a:fld>
            <a:endParaRPr lang="en-US"/>
          </a:p>
        </p:txBody>
      </p:sp>
      <p:sp>
        <p:nvSpPr>
          <p:cNvPr id="167938" name="Rectangle 2"/>
          <p:cNvSpPr>
            <a:spLocks noGrp="1" noRot="1" noChangeAspect="1" noChangeArrowheads="1" noTextEdit="1"/>
          </p:cNvSpPr>
          <p:nvPr>
            <p:ph type="sldImg"/>
          </p:nvPr>
        </p:nvSpPr>
        <p:spPr>
          <a:xfrm>
            <a:off x="1092200" y="300038"/>
            <a:ext cx="4702175" cy="3527425"/>
          </a:xfrm>
          <a:ln/>
        </p:spPr>
      </p:sp>
      <p:sp>
        <p:nvSpPr>
          <p:cNvPr id="167939" name="Rectangle 3"/>
          <p:cNvSpPr>
            <a:spLocks noGrp="1" noChangeArrowheads="1"/>
          </p:cNvSpPr>
          <p:nvPr>
            <p:ph type="body" idx="1"/>
          </p:nvPr>
        </p:nvSpPr>
        <p:spPr>
          <a:xfrm>
            <a:off x="523875" y="4052888"/>
            <a:ext cx="5835650" cy="4579937"/>
          </a:xfrm>
        </p:spPr>
        <p:txBody>
          <a:bodyPr/>
          <a:lstStyle/>
          <a:p>
            <a:r>
              <a:rPr lang="en-US" b="1"/>
              <a:t>Emphasize: </a:t>
            </a:r>
            <a:r>
              <a:rPr lang="en-US"/>
              <a:t>Copying to NVRAM</a:t>
            </a:r>
            <a:r>
              <a:rPr lang="en-US" b="1"/>
              <a:t> </a:t>
            </a:r>
            <a:r>
              <a:rPr lang="en-US"/>
              <a:t>overwrites the contents in NVRAM.</a:t>
            </a:r>
            <a:endParaRPr lang="en-US" b="1"/>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0" y="0"/>
            <a:ext cx="5257800" cy="3144838"/>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8915" name="Picture 3" descr="MAE00784"/>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50" y="0"/>
            <a:ext cx="3930650" cy="3144838"/>
          </a:xfrm>
          <a:prstGeom prst="rect">
            <a:avLst/>
          </a:prstGeom>
          <a:noFill/>
          <a:extLst>
            <a:ext uri="{909E8E84-426E-40DD-AFC4-6F175D3DCCD1}">
              <a14:hiddenFill xmlns:a14="http://schemas.microsoft.com/office/drawing/2010/main">
                <a:solidFill>
                  <a:srgbClr val="FFFFFF"/>
                </a:solidFill>
              </a14:hiddenFill>
            </a:ext>
          </a:extLst>
        </p:spPr>
      </p:pic>
      <p:sp>
        <p:nvSpPr>
          <p:cNvPr id="38916" name="Rectangle 4"/>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b="0">
                <a:solidFill>
                  <a:srgbClr val="999999"/>
                </a:solidFill>
              </a:rPr>
              <a:t>© 2007 Cisco Systems, Inc. All rights reserved.</a:t>
            </a:r>
          </a:p>
        </p:txBody>
      </p:sp>
      <p:sp>
        <p:nvSpPr>
          <p:cNvPr id="38917" name="Rectangle 5"/>
          <p:cNvSpPr>
            <a:spLocks noGrp="1" noChangeArrowheads="1"/>
          </p:cNvSpPr>
          <p:nvPr>
            <p:ph type="ctrTitle"/>
          </p:nvPr>
        </p:nvSpPr>
        <p:spPr bwMode="white">
          <a:xfrm>
            <a:off x="650875" y="3390900"/>
            <a:ext cx="6937375" cy="42068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nchor="t"/>
          <a:lstStyle>
            <a:lvl1pPr>
              <a:defRPr sz="2000">
                <a:solidFill>
                  <a:schemeClr val="bg2"/>
                </a:solidFill>
              </a:defRPr>
            </a:lvl1pPr>
          </a:lstStyle>
          <a:p>
            <a:pPr lvl="0"/>
            <a:r>
              <a:rPr lang="en-US" noProof="0"/>
              <a:t>Module Title, Size 20</a:t>
            </a:r>
          </a:p>
        </p:txBody>
      </p:sp>
      <p:sp>
        <p:nvSpPr>
          <p:cNvPr id="38918" name="Rectangle 6"/>
          <p:cNvSpPr>
            <a:spLocks noGrp="1" noChangeArrowheads="1"/>
          </p:cNvSpPr>
          <p:nvPr>
            <p:ph type="subTitle" idx="1"/>
          </p:nvPr>
        </p:nvSpPr>
        <p:spPr>
          <a:xfrm>
            <a:off x="650875" y="1312863"/>
            <a:ext cx="3546475" cy="8413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rotWithShape="0">
                    <a:schemeClr val="tx1"/>
                  </a:outerShdw>
                </a:effectLst>
              </a14:hiddenEffects>
            </a:ext>
          </a:extLst>
        </p:spPr>
        <p:txBody>
          <a:bodyPr anchor="ctr"/>
          <a:lstStyle>
            <a:lvl1pPr>
              <a:lnSpc>
                <a:spcPct val="90000"/>
              </a:lnSpc>
              <a:spcBef>
                <a:spcPct val="0"/>
              </a:spcBef>
              <a:defRPr sz="3000">
                <a:solidFill>
                  <a:schemeClr val="bg1"/>
                </a:solidFill>
              </a:defRPr>
            </a:lvl1pPr>
          </a:lstStyle>
          <a:p>
            <a:pPr lvl="0"/>
            <a:r>
              <a:rPr lang="en-US" noProof="0"/>
              <a:t>Lesson Title,</a:t>
            </a:r>
            <a:br>
              <a:rPr lang="en-US" noProof="0"/>
            </a:br>
            <a:r>
              <a:rPr lang="en-US" noProof="0"/>
              <a:t>Size 30</a:t>
            </a:r>
          </a:p>
        </p:txBody>
      </p:sp>
      <p:sp>
        <p:nvSpPr>
          <p:cNvPr id="38919" name="Rectangle 7"/>
          <p:cNvSpPr>
            <a:spLocks noChangeArrowheads="1"/>
          </p:cNvSpPr>
          <p:nvPr userDrawn="1"/>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b="0">
                <a:solidFill>
                  <a:srgbClr val="999999"/>
                </a:solidFill>
              </a:rPr>
              <a:t>ICND1 v1.0—4-</a:t>
            </a:r>
            <a:fld id="{8985307F-56F5-45DF-8254-8976487836F8}" type="slidenum">
              <a:rPr lang="en-US" sz="700" b="0">
                <a:solidFill>
                  <a:srgbClr val="999999"/>
                </a:solidFill>
              </a:rPr>
              <a:pPr algn="r" defTabSz="814388">
                <a:lnSpc>
                  <a:spcPct val="100000"/>
                </a:lnSpc>
              </a:pPr>
              <a:t>‹#›</a:t>
            </a:fld>
            <a:endParaRPr lang="en-US" sz="700" b="0">
              <a:solidFill>
                <a:srgbClr val="99999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130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273072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8" y="1781175"/>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1781175"/>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3949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66245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36769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5346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40881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82097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3160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457200"/>
            <a:ext cx="2035175" cy="4895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8" y="457200"/>
            <a:ext cx="5957887" cy="4895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554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en-US"/>
              <a:t>Click to edit Master title style</a:t>
            </a:r>
          </a:p>
        </p:txBody>
      </p:sp>
      <p:sp>
        <p:nvSpPr>
          <p:cNvPr id="3" name="Text Placeholder 2"/>
          <p:cNvSpPr>
            <a:spLocks noGrp="1"/>
          </p:cNvSpPr>
          <p:nvPr>
            <p:ph type="body" sz="half" idx="1"/>
          </p:nvPr>
        </p:nvSpPr>
        <p:spPr>
          <a:xfrm>
            <a:off x="655638" y="1781175"/>
            <a:ext cx="3894137" cy="3571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1781175"/>
            <a:ext cx="3894138" cy="3571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02980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en-US"/>
              <a:t>Click to edit Master title style</a:t>
            </a:r>
          </a:p>
        </p:txBody>
      </p:sp>
      <p:sp>
        <p:nvSpPr>
          <p:cNvPr id="3" name="Content Placeholder 2"/>
          <p:cNvSpPr>
            <a:spLocks noGrp="1"/>
          </p:cNvSpPr>
          <p:nvPr>
            <p:ph sz="half" idx="1"/>
          </p:nvPr>
        </p:nvSpPr>
        <p:spPr>
          <a:xfrm>
            <a:off x="655638" y="1781175"/>
            <a:ext cx="7940675" cy="1709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55638" y="3643313"/>
            <a:ext cx="7940675" cy="17097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8955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bwMode="auto">
          <a:xfrm>
            <a:off x="655638" y="457200"/>
            <a:ext cx="8145462" cy="838200"/>
          </a:xfrm>
          <a:prstGeom prst="rect">
            <a:avLst/>
          </a:prstGeom>
          <a:noFill/>
          <a:ln>
            <a:noFill/>
          </a:ln>
          <a:effectLst/>
          <a:extLst>
            <a:ext uri="{909E8E84-426E-40DD-AFC4-6F175D3DCCD1}">
              <a14:hiddenFill xmlns:a14="http://schemas.microsoft.com/office/drawing/2010/main">
                <a:solidFill>
                  <a:srgbClr val="0183B7"/>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anchor="b" anchorCtr="0" compatLnSpc="1">
            <a:prstTxWarp prst="textNoShape">
              <a:avLst/>
            </a:prstTxWarp>
          </a:bodyPr>
          <a:lstStyle/>
          <a:p>
            <a:pPr lvl="0"/>
            <a:r>
              <a:rPr lang="en-US"/>
              <a:t>Slide Title</a:t>
            </a:r>
          </a:p>
        </p:txBody>
      </p:sp>
      <p:sp>
        <p:nvSpPr>
          <p:cNvPr id="37891" name="Rectangle 3"/>
          <p:cNvSpPr>
            <a:spLocks noChangeArrowheads="1"/>
          </p:cNvSpPr>
          <p:nvPr/>
        </p:nvSpPr>
        <p:spPr bwMode="auto">
          <a:xfrm>
            <a:off x="0" y="0"/>
            <a:ext cx="9144000" cy="177800"/>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892" name="Rectangle 4"/>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b="0">
                <a:solidFill>
                  <a:srgbClr val="999999"/>
                </a:solidFill>
              </a:rPr>
              <a:t>© 2007 Cisco Systems, Inc. All rights reserved.</a:t>
            </a:r>
          </a:p>
        </p:txBody>
      </p:sp>
      <p:sp>
        <p:nvSpPr>
          <p:cNvPr id="37893" name="Rectangle 5"/>
          <p:cNvSpPr>
            <a:spLocks noChangeArrowheads="1"/>
          </p:cNvSpPr>
          <p:nvPr/>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b="0">
                <a:solidFill>
                  <a:srgbClr val="999999"/>
                </a:solidFill>
              </a:rPr>
              <a:t>ICND1 v1.0—4-</a:t>
            </a:r>
            <a:fld id="{876F87CD-7399-4B7E-ABEE-7FB84AFA9A1D}" type="slidenum">
              <a:rPr lang="en-US" sz="700" b="0">
                <a:solidFill>
                  <a:srgbClr val="999999"/>
                </a:solidFill>
              </a:rPr>
              <a:pPr algn="r" defTabSz="814388">
                <a:lnSpc>
                  <a:spcPct val="100000"/>
                </a:lnSpc>
              </a:pPr>
              <a:t>‹#›</a:t>
            </a:fld>
            <a:endParaRPr lang="en-US" sz="700" b="0">
              <a:solidFill>
                <a:srgbClr val="999999"/>
              </a:solidFill>
            </a:endParaRPr>
          </a:p>
        </p:txBody>
      </p:sp>
      <p:sp>
        <p:nvSpPr>
          <p:cNvPr id="37894" name="Rectangle 6"/>
          <p:cNvSpPr>
            <a:spLocks noGrp="1" noChangeArrowheads="1"/>
          </p:cNvSpPr>
          <p:nvPr>
            <p:ph type="body" idx="1"/>
          </p:nvPr>
        </p:nvSpPr>
        <p:spPr bwMode="auto">
          <a:xfrm>
            <a:off x="655638" y="1781175"/>
            <a:ext cx="7940675" cy="357187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814388" rtl="0" fontAlgn="base">
        <a:lnSpc>
          <a:spcPct val="90000"/>
        </a:lnSpc>
        <a:spcBef>
          <a:spcPct val="0"/>
        </a:spcBef>
        <a:spcAft>
          <a:spcPct val="0"/>
        </a:spcAft>
        <a:defRPr sz="3200" b="1">
          <a:solidFill>
            <a:schemeClr val="tx2"/>
          </a:solidFill>
          <a:latin typeface="+mj-lt"/>
          <a:ea typeface="+mj-ea"/>
          <a:cs typeface="+mj-cs"/>
        </a:defRPr>
      </a:lvl1pPr>
      <a:lvl2pPr algn="l" defTabSz="814388" rtl="0" fontAlgn="base">
        <a:lnSpc>
          <a:spcPct val="90000"/>
        </a:lnSpc>
        <a:spcBef>
          <a:spcPct val="0"/>
        </a:spcBef>
        <a:spcAft>
          <a:spcPct val="0"/>
        </a:spcAft>
        <a:defRPr sz="3200" b="1">
          <a:solidFill>
            <a:schemeClr val="tx2"/>
          </a:solidFill>
          <a:latin typeface="Arial" charset="0"/>
        </a:defRPr>
      </a:lvl2pPr>
      <a:lvl3pPr algn="l" defTabSz="814388" rtl="0" fontAlgn="base">
        <a:lnSpc>
          <a:spcPct val="90000"/>
        </a:lnSpc>
        <a:spcBef>
          <a:spcPct val="0"/>
        </a:spcBef>
        <a:spcAft>
          <a:spcPct val="0"/>
        </a:spcAft>
        <a:defRPr sz="3200" b="1">
          <a:solidFill>
            <a:schemeClr val="tx2"/>
          </a:solidFill>
          <a:latin typeface="Arial" charset="0"/>
        </a:defRPr>
      </a:lvl3pPr>
      <a:lvl4pPr algn="l" defTabSz="814388" rtl="0" fontAlgn="base">
        <a:lnSpc>
          <a:spcPct val="90000"/>
        </a:lnSpc>
        <a:spcBef>
          <a:spcPct val="0"/>
        </a:spcBef>
        <a:spcAft>
          <a:spcPct val="0"/>
        </a:spcAft>
        <a:defRPr sz="3200" b="1">
          <a:solidFill>
            <a:schemeClr val="tx2"/>
          </a:solidFill>
          <a:latin typeface="Arial" charset="0"/>
        </a:defRPr>
      </a:lvl4pPr>
      <a:lvl5pPr algn="l" defTabSz="814388" rtl="0" fontAlgn="base">
        <a:lnSpc>
          <a:spcPct val="90000"/>
        </a:lnSpc>
        <a:spcBef>
          <a:spcPct val="0"/>
        </a:spcBef>
        <a:spcAft>
          <a:spcPct val="0"/>
        </a:spcAft>
        <a:defRPr sz="3200" b="1">
          <a:solidFill>
            <a:schemeClr val="tx2"/>
          </a:solidFill>
          <a:latin typeface="Arial" charset="0"/>
        </a:defRPr>
      </a:lvl5pPr>
      <a:lvl6pPr marL="457200" algn="l" defTabSz="814388" rtl="0" fontAlgn="base">
        <a:lnSpc>
          <a:spcPct val="90000"/>
        </a:lnSpc>
        <a:spcBef>
          <a:spcPct val="0"/>
        </a:spcBef>
        <a:spcAft>
          <a:spcPct val="0"/>
        </a:spcAft>
        <a:defRPr sz="3200" b="1">
          <a:solidFill>
            <a:schemeClr val="tx2"/>
          </a:solidFill>
          <a:latin typeface="Arial" charset="0"/>
        </a:defRPr>
      </a:lvl6pPr>
      <a:lvl7pPr marL="914400" algn="l" defTabSz="814388" rtl="0" fontAlgn="base">
        <a:lnSpc>
          <a:spcPct val="90000"/>
        </a:lnSpc>
        <a:spcBef>
          <a:spcPct val="0"/>
        </a:spcBef>
        <a:spcAft>
          <a:spcPct val="0"/>
        </a:spcAft>
        <a:defRPr sz="3200" b="1">
          <a:solidFill>
            <a:schemeClr val="tx2"/>
          </a:solidFill>
          <a:latin typeface="Arial" charset="0"/>
        </a:defRPr>
      </a:lvl7pPr>
      <a:lvl8pPr marL="1371600" algn="l" defTabSz="814388" rtl="0" fontAlgn="base">
        <a:lnSpc>
          <a:spcPct val="90000"/>
        </a:lnSpc>
        <a:spcBef>
          <a:spcPct val="0"/>
        </a:spcBef>
        <a:spcAft>
          <a:spcPct val="0"/>
        </a:spcAft>
        <a:defRPr sz="3200" b="1">
          <a:solidFill>
            <a:schemeClr val="tx2"/>
          </a:solidFill>
          <a:latin typeface="Arial" charset="0"/>
        </a:defRPr>
      </a:lvl8pPr>
      <a:lvl9pPr marL="1828800" algn="l" defTabSz="814388" rtl="0" fontAlgn="base">
        <a:lnSpc>
          <a:spcPct val="90000"/>
        </a:lnSpc>
        <a:spcBef>
          <a:spcPct val="0"/>
        </a:spcBef>
        <a:spcAft>
          <a:spcPct val="0"/>
        </a:spcAft>
        <a:defRPr sz="3200" b="1">
          <a:solidFill>
            <a:schemeClr val="tx2"/>
          </a:solidFill>
          <a:latin typeface="Arial" charset="0"/>
        </a:defRPr>
      </a:lvl9pPr>
    </p:titleStyle>
    <p:bodyStyle>
      <a:lvl1pPr algn="l" defTabSz="814388" rtl="0" fontAlgn="base">
        <a:lnSpc>
          <a:spcPct val="95000"/>
        </a:lnSpc>
        <a:spcBef>
          <a:spcPct val="35000"/>
        </a:spcBef>
        <a:spcAft>
          <a:spcPct val="0"/>
        </a:spcAft>
        <a:buClr>
          <a:schemeClr val="accent1"/>
        </a:buClr>
        <a:buSzPct val="100000"/>
        <a:buFont typeface="Arial" charset="0"/>
        <a:defRPr sz="2400">
          <a:solidFill>
            <a:srgbClr val="000000"/>
          </a:solidFill>
          <a:latin typeface="+mn-lt"/>
          <a:ea typeface="+mn-ea"/>
          <a:cs typeface="+mn-cs"/>
        </a:defRPr>
      </a:lvl1pPr>
      <a:lvl2pPr marL="342900" indent="-228600" algn="l" defTabSz="814388" rtl="0" fontAlgn="base">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3pPr>
      <a:lvl4pPr marL="1028700" indent="-228600" algn="l" defTabSz="814388" rtl="0" fontAlgn="base">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5pPr>
      <a:lvl6pPr marL="18288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ctrTitle"/>
          </p:nvPr>
        </p:nvSpPr>
        <p:spPr/>
        <p:txBody>
          <a:bodyPr/>
          <a:lstStyle/>
          <a:p>
            <a:r>
              <a:rPr lang="en-US"/>
              <a:t>LAN Connections </a:t>
            </a:r>
          </a:p>
        </p:txBody>
      </p:sp>
      <p:sp>
        <p:nvSpPr>
          <p:cNvPr id="69635" name="Rectangle 3"/>
          <p:cNvSpPr>
            <a:spLocks noGrp="1" noChangeArrowheads="1"/>
          </p:cNvSpPr>
          <p:nvPr>
            <p:ph type="subTitle" idx="1"/>
          </p:nvPr>
        </p:nvSpPr>
        <p:spPr/>
        <p:txBody>
          <a:bodyPr/>
          <a:lstStyle/>
          <a:p>
            <a:pPr>
              <a:lnSpc>
                <a:spcPct val="80000"/>
              </a:lnSpc>
            </a:pPr>
            <a:r>
              <a:rPr lang="en-US"/>
              <a:t>Configuring a Cisco Router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9" name="Picture 5" descr="301P_2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075" y="1828800"/>
            <a:ext cx="7172325" cy="3965575"/>
          </a:xfrm>
          <a:prstGeom prst="rect">
            <a:avLst/>
          </a:prstGeom>
          <a:noFill/>
          <a:extLst>
            <a:ext uri="{909E8E84-426E-40DD-AFC4-6F175D3DCCD1}">
              <a14:hiddenFill xmlns:a14="http://schemas.microsoft.com/office/drawing/2010/main">
                <a:solidFill>
                  <a:srgbClr val="FFFFFF"/>
                </a:solidFill>
              </a14:hiddenFill>
            </a:ext>
          </a:extLst>
        </p:spPr>
      </p:pic>
      <p:sp>
        <p:nvSpPr>
          <p:cNvPr id="164866" name="Rectangle 2"/>
          <p:cNvSpPr>
            <a:spLocks noGrp="1" noChangeArrowheads="1"/>
          </p:cNvSpPr>
          <p:nvPr>
            <p:ph type="title"/>
          </p:nvPr>
        </p:nvSpPr>
        <p:spPr/>
        <p:txBody>
          <a:bodyPr/>
          <a:lstStyle/>
          <a:p>
            <a:r>
              <a:rPr lang="en-US"/>
              <a:t>Overview of Router Modes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r>
              <a:rPr lang="en-US"/>
              <a:t>Configuring Router Identification</a:t>
            </a:r>
          </a:p>
        </p:txBody>
      </p:sp>
      <p:pic>
        <p:nvPicPr>
          <p:cNvPr id="210947" name="Picture 3" descr="327P_1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057400"/>
            <a:ext cx="8591550" cy="35226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r>
              <a:rPr lang="en-US"/>
              <a:t>Console-Line Commands</a:t>
            </a:r>
          </a:p>
        </p:txBody>
      </p:sp>
      <p:sp>
        <p:nvSpPr>
          <p:cNvPr id="173059" name="Rectangle 3"/>
          <p:cNvSpPr>
            <a:spLocks noChangeArrowheads="1"/>
          </p:cNvSpPr>
          <p:nvPr/>
        </p:nvSpPr>
        <p:spPr bwMode="auto">
          <a:xfrm>
            <a:off x="1905000" y="2205038"/>
            <a:ext cx="5100638" cy="644525"/>
          </a:xfrm>
          <a:prstGeom prst="rect">
            <a:avLst/>
          </a:prstGeom>
          <a:solidFill>
            <a:srgbClr val="FFFF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173060" name="Rectangle 4"/>
          <p:cNvSpPr>
            <a:spLocks noChangeArrowheads="1"/>
          </p:cNvSpPr>
          <p:nvPr/>
        </p:nvSpPr>
        <p:spPr bwMode="auto">
          <a:xfrm>
            <a:off x="2019300" y="2314575"/>
            <a:ext cx="3927475"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27" tIns="30358" rIns="21427" bIns="30358"/>
          <a:lstStyle/>
          <a:p>
            <a:pPr defTabSz="1028700">
              <a:lnSpc>
                <a:spcPts val="1575"/>
              </a:lnSpc>
              <a:tabLst>
                <a:tab pos="514350" algn="l"/>
                <a:tab pos="1028700" algn="l"/>
                <a:tab pos="1543050" algn="l"/>
              </a:tabLst>
            </a:pPr>
            <a:r>
              <a:rPr lang="en-US" sz="1600" dirty="0" err="1">
                <a:solidFill>
                  <a:srgbClr val="000000"/>
                </a:solidFill>
                <a:latin typeface="Courier New" pitchFamily="49" charset="0"/>
              </a:rPr>
              <a:t>RouterX</a:t>
            </a:r>
            <a:r>
              <a:rPr lang="en-US" sz="1600" dirty="0">
                <a:solidFill>
                  <a:srgbClr val="000000"/>
                </a:solidFill>
                <a:latin typeface="Courier New" pitchFamily="49" charset="0"/>
              </a:rPr>
              <a:t>(config)#</a:t>
            </a:r>
            <a:r>
              <a:rPr lang="en-US" sz="1600" dirty="0">
                <a:solidFill>
                  <a:schemeClr val="accent2"/>
                </a:solidFill>
                <a:latin typeface="Courier New" pitchFamily="49" charset="0"/>
              </a:rPr>
              <a:t>line console 0</a:t>
            </a:r>
          </a:p>
          <a:p>
            <a:pPr defTabSz="1028700">
              <a:lnSpc>
                <a:spcPts val="1575"/>
              </a:lnSpc>
              <a:tabLst>
                <a:tab pos="514350" algn="l"/>
                <a:tab pos="1028700" algn="l"/>
                <a:tab pos="1543050" algn="l"/>
              </a:tabLst>
            </a:pPr>
            <a:r>
              <a:rPr lang="en-US" sz="1600" dirty="0" err="1">
                <a:solidFill>
                  <a:srgbClr val="000000"/>
                </a:solidFill>
                <a:latin typeface="Courier New" pitchFamily="49" charset="0"/>
              </a:rPr>
              <a:t>RouterX</a:t>
            </a:r>
            <a:r>
              <a:rPr lang="en-US" sz="1600" dirty="0">
                <a:solidFill>
                  <a:srgbClr val="000000"/>
                </a:solidFill>
                <a:latin typeface="Courier New" pitchFamily="49" charset="0"/>
              </a:rPr>
              <a:t>(config-line)#</a:t>
            </a:r>
            <a:r>
              <a:rPr lang="en-US" sz="1600" dirty="0">
                <a:solidFill>
                  <a:schemeClr val="accent2"/>
                </a:solidFill>
                <a:latin typeface="Courier New" pitchFamily="49" charset="0"/>
              </a:rPr>
              <a:t>exec-timeout 20 30</a:t>
            </a:r>
          </a:p>
        </p:txBody>
      </p:sp>
      <p:sp>
        <p:nvSpPr>
          <p:cNvPr id="173061" name="Rectangle 5"/>
          <p:cNvSpPr>
            <a:spLocks noChangeArrowheads="1"/>
          </p:cNvSpPr>
          <p:nvPr/>
        </p:nvSpPr>
        <p:spPr bwMode="auto">
          <a:xfrm>
            <a:off x="1905000" y="3862388"/>
            <a:ext cx="5100638" cy="650875"/>
          </a:xfrm>
          <a:prstGeom prst="rect">
            <a:avLst/>
          </a:prstGeom>
          <a:solidFill>
            <a:srgbClr val="FFFF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173062" name="Rectangle 6"/>
          <p:cNvSpPr>
            <a:spLocks noChangeArrowheads="1"/>
          </p:cNvSpPr>
          <p:nvPr/>
        </p:nvSpPr>
        <p:spPr bwMode="auto">
          <a:xfrm>
            <a:off x="2019300" y="3971925"/>
            <a:ext cx="3927475"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27" tIns="30358" rIns="21427" bIns="30358"/>
          <a:lstStyle/>
          <a:p>
            <a:pPr defTabSz="1028700">
              <a:lnSpc>
                <a:spcPts val="1575"/>
              </a:lnSpc>
              <a:tabLst>
                <a:tab pos="514350" algn="l"/>
                <a:tab pos="1028700" algn="l"/>
                <a:tab pos="1543050" algn="l"/>
              </a:tabLst>
            </a:pPr>
            <a:r>
              <a:rPr lang="en-US" sz="1600" dirty="0" err="1">
                <a:solidFill>
                  <a:srgbClr val="000000"/>
                </a:solidFill>
                <a:latin typeface="Courier New" pitchFamily="49" charset="0"/>
              </a:rPr>
              <a:t>RouterX</a:t>
            </a:r>
            <a:r>
              <a:rPr lang="en-US" sz="1600" dirty="0">
                <a:solidFill>
                  <a:srgbClr val="000000"/>
                </a:solidFill>
                <a:latin typeface="Courier New" pitchFamily="49" charset="0"/>
              </a:rPr>
              <a:t>(config)#</a:t>
            </a:r>
            <a:r>
              <a:rPr lang="en-US" sz="1600" dirty="0">
                <a:solidFill>
                  <a:schemeClr val="accent2"/>
                </a:solidFill>
                <a:latin typeface="Courier New" pitchFamily="49" charset="0"/>
              </a:rPr>
              <a:t>line console 0</a:t>
            </a:r>
          </a:p>
          <a:p>
            <a:pPr defTabSz="1028700">
              <a:lnSpc>
                <a:spcPts val="1575"/>
              </a:lnSpc>
              <a:tabLst>
                <a:tab pos="514350" algn="l"/>
                <a:tab pos="1028700" algn="l"/>
                <a:tab pos="1543050" algn="l"/>
              </a:tabLst>
            </a:pPr>
            <a:r>
              <a:rPr lang="en-US" sz="1600" dirty="0" err="1">
                <a:solidFill>
                  <a:srgbClr val="000000"/>
                </a:solidFill>
                <a:latin typeface="Courier New" pitchFamily="49" charset="0"/>
              </a:rPr>
              <a:t>RouterX</a:t>
            </a:r>
            <a:r>
              <a:rPr lang="en-US" sz="1600" dirty="0">
                <a:solidFill>
                  <a:srgbClr val="000000"/>
                </a:solidFill>
                <a:latin typeface="Courier New" pitchFamily="49" charset="0"/>
              </a:rPr>
              <a:t>(config-line)#</a:t>
            </a:r>
            <a:r>
              <a:rPr lang="en-US" sz="1600" dirty="0">
                <a:solidFill>
                  <a:schemeClr val="accent2"/>
                </a:solidFill>
                <a:latin typeface="Courier New" pitchFamily="49" charset="0"/>
              </a:rPr>
              <a:t>logging synchronous</a:t>
            </a:r>
          </a:p>
          <a:p>
            <a:pPr defTabSz="1028700">
              <a:lnSpc>
                <a:spcPts val="1575"/>
              </a:lnSpc>
              <a:tabLst>
                <a:tab pos="514350" algn="l"/>
                <a:tab pos="1028700" algn="l"/>
                <a:tab pos="1543050" algn="l"/>
              </a:tabLst>
            </a:pPr>
            <a:endParaRPr lang="en-US" sz="1600" dirty="0">
              <a:solidFill>
                <a:srgbClr val="AA0008"/>
              </a:solidFill>
              <a:latin typeface="Courier New" pitchFamily="49" charset="0"/>
            </a:endParaRPr>
          </a:p>
        </p:txBody>
      </p:sp>
      <p:sp>
        <p:nvSpPr>
          <p:cNvPr id="173063" name="Rectangle 7"/>
          <p:cNvSpPr>
            <a:spLocks noChangeArrowheads="1"/>
          </p:cNvSpPr>
          <p:nvPr/>
        </p:nvSpPr>
        <p:spPr bwMode="auto">
          <a:xfrm>
            <a:off x="1905000" y="2930525"/>
            <a:ext cx="5449888"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27" tIns="30358" rIns="21427" bIns="30358"/>
          <a:lstStyle/>
          <a:p>
            <a:pPr marL="342900" lvl="1" indent="-228600" defTabSz="1028700">
              <a:lnSpc>
                <a:spcPct val="95000"/>
              </a:lnSpc>
              <a:spcBef>
                <a:spcPct val="35000"/>
              </a:spcBef>
              <a:buClr>
                <a:schemeClr val="accent1"/>
              </a:buClr>
              <a:buFont typeface="Wingdings" pitchFamily="2" charset="2"/>
              <a:buChar char="§"/>
            </a:pPr>
            <a:r>
              <a:rPr lang="en-US" sz="2000" b="0">
                <a:solidFill>
                  <a:srgbClr val="000000"/>
                </a:solidFill>
              </a:rPr>
              <a:t>Modifies console session timeout</a:t>
            </a:r>
          </a:p>
        </p:txBody>
      </p:sp>
      <p:sp>
        <p:nvSpPr>
          <p:cNvPr id="173064" name="Rectangle 8"/>
          <p:cNvSpPr>
            <a:spLocks noChangeArrowheads="1"/>
          </p:cNvSpPr>
          <p:nvPr/>
        </p:nvSpPr>
        <p:spPr bwMode="auto">
          <a:xfrm>
            <a:off x="1905000" y="4632325"/>
            <a:ext cx="5907088"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27" tIns="30358" rIns="21427" bIns="30358"/>
          <a:lstStyle/>
          <a:p>
            <a:pPr marL="342900" lvl="1" indent="-228600" defTabSz="1028700">
              <a:lnSpc>
                <a:spcPct val="95000"/>
              </a:lnSpc>
              <a:spcBef>
                <a:spcPct val="35000"/>
              </a:spcBef>
              <a:buClr>
                <a:schemeClr val="accent1"/>
              </a:buClr>
              <a:buFont typeface="Wingdings" pitchFamily="2" charset="2"/>
              <a:buChar char="§"/>
            </a:pPr>
            <a:r>
              <a:rPr lang="en-US" sz="2000" b="0" dirty="0">
                <a:solidFill>
                  <a:srgbClr val="000000"/>
                </a:solidFill>
              </a:rPr>
              <a:t>Redisplays interrupted console input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ChangeArrowheads="1"/>
          </p:cNvSpPr>
          <p:nvPr/>
        </p:nvSpPr>
        <p:spPr bwMode="auto">
          <a:xfrm>
            <a:off x="1104900" y="1803400"/>
            <a:ext cx="5414963" cy="603250"/>
          </a:xfrm>
          <a:prstGeom prst="rect">
            <a:avLst/>
          </a:prstGeom>
          <a:solidFill>
            <a:srgbClr val="FFFF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175107" name="Rectangle 3"/>
          <p:cNvSpPr>
            <a:spLocks noChangeArrowheads="1"/>
          </p:cNvSpPr>
          <p:nvPr/>
        </p:nvSpPr>
        <p:spPr bwMode="auto">
          <a:xfrm>
            <a:off x="1169988" y="1855788"/>
            <a:ext cx="5386387" cy="63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27" tIns="30358" rIns="21427" bIns="30358"/>
          <a:lstStyle/>
          <a:p>
            <a:pPr defTabSz="1028700">
              <a:lnSpc>
                <a:spcPts val="1800"/>
              </a:lnSpc>
              <a:tabLst>
                <a:tab pos="514350" algn="l"/>
                <a:tab pos="1028700" algn="l"/>
                <a:tab pos="1543050" algn="l"/>
              </a:tabLst>
            </a:pPr>
            <a:r>
              <a:rPr lang="en-US" sz="1600">
                <a:solidFill>
                  <a:srgbClr val="000000"/>
                </a:solidFill>
                <a:latin typeface="Courier New" pitchFamily="49" charset="0"/>
              </a:rPr>
              <a:t>RouterX(config)#</a:t>
            </a:r>
            <a:r>
              <a:rPr lang="en-US" sz="1600">
                <a:solidFill>
                  <a:schemeClr val="accent2"/>
                </a:solidFill>
                <a:latin typeface="Courier New" pitchFamily="49" charset="0"/>
              </a:rPr>
              <a:t>interface </a:t>
            </a:r>
            <a:r>
              <a:rPr lang="en-US" sz="1600" i="1">
                <a:solidFill>
                  <a:schemeClr val="accent2"/>
                </a:solidFill>
                <a:latin typeface="Courier New" pitchFamily="49" charset="0"/>
              </a:rPr>
              <a:t>type number</a:t>
            </a:r>
            <a:endParaRPr lang="en-US" sz="1600">
              <a:solidFill>
                <a:schemeClr val="accent2"/>
              </a:solidFill>
              <a:latin typeface="Courier New" pitchFamily="49" charset="0"/>
            </a:endParaRPr>
          </a:p>
          <a:p>
            <a:pPr defTabSz="1028700">
              <a:lnSpc>
                <a:spcPts val="1800"/>
              </a:lnSpc>
              <a:tabLst>
                <a:tab pos="514350" algn="l"/>
                <a:tab pos="1028700" algn="l"/>
                <a:tab pos="1543050" algn="l"/>
              </a:tabLst>
            </a:pPr>
            <a:r>
              <a:rPr lang="en-US" sz="1600">
                <a:solidFill>
                  <a:srgbClr val="000000"/>
                </a:solidFill>
                <a:latin typeface="Courier New" pitchFamily="49" charset="0"/>
              </a:rPr>
              <a:t>RouterX(config-if)#</a:t>
            </a:r>
          </a:p>
        </p:txBody>
      </p:sp>
      <p:sp>
        <p:nvSpPr>
          <p:cNvPr id="175108" name="Rectangle 4"/>
          <p:cNvSpPr>
            <a:spLocks noChangeArrowheads="1"/>
          </p:cNvSpPr>
          <p:nvPr/>
        </p:nvSpPr>
        <p:spPr bwMode="auto">
          <a:xfrm>
            <a:off x="992188" y="2466975"/>
            <a:ext cx="7310437" cy="107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68" tIns="51785" rIns="103568" bIns="51785">
            <a:spAutoFit/>
          </a:bodyPr>
          <a:lstStyle/>
          <a:p>
            <a:pPr marL="342900" lvl="1" indent="-228600" defTabSz="1028700">
              <a:lnSpc>
                <a:spcPct val="95000"/>
              </a:lnSpc>
              <a:spcBef>
                <a:spcPct val="35000"/>
              </a:spcBef>
              <a:buClr>
                <a:schemeClr val="accent1"/>
              </a:buClr>
              <a:buFont typeface="Wingdings" pitchFamily="2" charset="2"/>
              <a:buChar char="§"/>
            </a:pPr>
            <a:r>
              <a:rPr lang="en-US" sz="2000">
                <a:solidFill>
                  <a:schemeClr val="accent2"/>
                </a:solidFill>
              </a:rPr>
              <a:t>type</a:t>
            </a:r>
            <a:r>
              <a:rPr lang="en-US" sz="2000" b="0"/>
              <a:t> includes serial, ethernet, token ring, fddi, hssi, loopback, dialer, null, async, atm, bri, tunnel, and so on</a:t>
            </a:r>
          </a:p>
          <a:p>
            <a:pPr marL="342900" lvl="1" indent="-228600" defTabSz="1028700">
              <a:lnSpc>
                <a:spcPct val="95000"/>
              </a:lnSpc>
              <a:spcBef>
                <a:spcPct val="35000"/>
              </a:spcBef>
              <a:buClr>
                <a:schemeClr val="accent1"/>
              </a:buClr>
              <a:buFont typeface="Wingdings" pitchFamily="2" charset="2"/>
              <a:buChar char="§"/>
            </a:pPr>
            <a:r>
              <a:rPr lang="en-US" sz="2000">
                <a:solidFill>
                  <a:schemeClr val="accent2"/>
                </a:solidFill>
              </a:rPr>
              <a:t>number</a:t>
            </a:r>
            <a:r>
              <a:rPr lang="en-US" sz="2000" b="0"/>
              <a:t> is used to identify individual interfaces</a:t>
            </a:r>
          </a:p>
        </p:txBody>
      </p:sp>
      <p:sp>
        <p:nvSpPr>
          <p:cNvPr id="175109" name="Rectangle 5"/>
          <p:cNvSpPr>
            <a:spLocks noChangeArrowheads="1"/>
          </p:cNvSpPr>
          <p:nvPr/>
        </p:nvSpPr>
        <p:spPr bwMode="auto">
          <a:xfrm>
            <a:off x="1104900" y="5100638"/>
            <a:ext cx="5429250" cy="354012"/>
          </a:xfrm>
          <a:prstGeom prst="rect">
            <a:avLst/>
          </a:prstGeom>
          <a:solidFill>
            <a:srgbClr val="FFFF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24105" tIns="34148" rIns="24105" bIns="34148"/>
          <a:lstStyle/>
          <a:p>
            <a:endParaRPr lang="en-US"/>
          </a:p>
        </p:txBody>
      </p:sp>
      <p:sp>
        <p:nvSpPr>
          <p:cNvPr id="175110" name="Rectangle 6"/>
          <p:cNvSpPr>
            <a:spLocks noChangeArrowheads="1"/>
          </p:cNvSpPr>
          <p:nvPr/>
        </p:nvSpPr>
        <p:spPr bwMode="auto">
          <a:xfrm>
            <a:off x="1176338" y="5135563"/>
            <a:ext cx="371475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4104" tIns="34147" rIns="24104" bIns="34147"/>
          <a:lstStyle/>
          <a:p>
            <a:pPr defTabSz="1028700">
              <a:lnSpc>
                <a:spcPts val="1800"/>
              </a:lnSpc>
              <a:buClr>
                <a:schemeClr val="accent1"/>
              </a:buClr>
              <a:tabLst>
                <a:tab pos="514350" algn="l"/>
                <a:tab pos="1028700" algn="l"/>
                <a:tab pos="1543050" algn="l"/>
              </a:tabLst>
            </a:pPr>
            <a:r>
              <a:rPr lang="en-US" sz="1600">
                <a:solidFill>
                  <a:srgbClr val="000000"/>
                </a:solidFill>
                <a:latin typeface="Courier New" pitchFamily="49" charset="0"/>
              </a:rPr>
              <a:t>RouterX(config-if)#</a:t>
            </a:r>
            <a:r>
              <a:rPr lang="en-US" sz="1600">
                <a:solidFill>
                  <a:schemeClr val="accent2"/>
                </a:solidFill>
                <a:latin typeface="Courier New" pitchFamily="49" charset="0"/>
              </a:rPr>
              <a:t>exit</a:t>
            </a:r>
          </a:p>
        </p:txBody>
      </p:sp>
      <p:sp>
        <p:nvSpPr>
          <p:cNvPr id="175111" name="Rectangle 7"/>
          <p:cNvSpPr>
            <a:spLocks noChangeArrowheads="1"/>
          </p:cNvSpPr>
          <p:nvPr/>
        </p:nvSpPr>
        <p:spPr bwMode="auto">
          <a:xfrm>
            <a:off x="765175" y="5562600"/>
            <a:ext cx="61690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4104" tIns="34147" rIns="24104" bIns="34147"/>
          <a:lstStyle/>
          <a:p>
            <a:pPr marL="342900" lvl="1" indent="-228600" algn="ctr" defTabSz="1028700">
              <a:lnSpc>
                <a:spcPct val="95000"/>
              </a:lnSpc>
              <a:spcBef>
                <a:spcPct val="35000"/>
              </a:spcBef>
              <a:buClr>
                <a:schemeClr val="accent1"/>
              </a:buClr>
              <a:buFont typeface="Wingdings" pitchFamily="2" charset="2"/>
              <a:buChar char="§"/>
            </a:pPr>
            <a:r>
              <a:rPr lang="en-US" sz="2000" b="0">
                <a:solidFill>
                  <a:schemeClr val="bg2"/>
                </a:solidFill>
              </a:rPr>
              <a:t>Quits from current interface configuration mode</a:t>
            </a:r>
          </a:p>
        </p:txBody>
      </p:sp>
      <p:sp>
        <p:nvSpPr>
          <p:cNvPr id="175112" name="Rectangle 8"/>
          <p:cNvSpPr>
            <a:spLocks noChangeArrowheads="1"/>
          </p:cNvSpPr>
          <p:nvPr/>
        </p:nvSpPr>
        <p:spPr bwMode="auto">
          <a:xfrm>
            <a:off x="1104900" y="3781425"/>
            <a:ext cx="5403850" cy="557213"/>
          </a:xfrm>
          <a:prstGeom prst="rect">
            <a:avLst/>
          </a:prstGeom>
          <a:solidFill>
            <a:srgbClr val="FFFF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24105" tIns="34148" rIns="24105" bIns="34148"/>
          <a:lstStyle/>
          <a:p>
            <a:endParaRPr lang="en-US"/>
          </a:p>
        </p:txBody>
      </p:sp>
      <p:sp>
        <p:nvSpPr>
          <p:cNvPr id="175113" name="Rectangle 9"/>
          <p:cNvSpPr>
            <a:spLocks noChangeArrowheads="1"/>
          </p:cNvSpPr>
          <p:nvPr/>
        </p:nvSpPr>
        <p:spPr bwMode="auto">
          <a:xfrm>
            <a:off x="1169988" y="3806825"/>
            <a:ext cx="6486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4104" tIns="34147" rIns="24104" bIns="34147"/>
          <a:lstStyle/>
          <a:p>
            <a:pPr defTabSz="1028700">
              <a:lnSpc>
                <a:spcPts val="1800"/>
              </a:lnSpc>
              <a:buClr>
                <a:schemeClr val="accent1"/>
              </a:buClr>
              <a:tabLst>
                <a:tab pos="514350" algn="l"/>
                <a:tab pos="1028700" algn="l"/>
                <a:tab pos="1543050" algn="l"/>
              </a:tabLst>
            </a:pPr>
            <a:r>
              <a:rPr lang="en-US" sz="1600">
                <a:solidFill>
                  <a:srgbClr val="000000"/>
                </a:solidFill>
                <a:latin typeface="Courier New" pitchFamily="49" charset="0"/>
              </a:rPr>
              <a:t>RouterX(config)#</a:t>
            </a:r>
            <a:r>
              <a:rPr lang="en-US" sz="1600">
                <a:solidFill>
                  <a:schemeClr val="accent2"/>
                </a:solidFill>
                <a:latin typeface="Courier New" pitchFamily="49" charset="0"/>
              </a:rPr>
              <a:t>interface </a:t>
            </a:r>
            <a:r>
              <a:rPr lang="en-US" sz="1600" i="1">
                <a:solidFill>
                  <a:schemeClr val="accent2"/>
                </a:solidFill>
                <a:latin typeface="Courier New" pitchFamily="49" charset="0"/>
              </a:rPr>
              <a:t>type slot/port</a:t>
            </a:r>
          </a:p>
          <a:p>
            <a:pPr defTabSz="1028700">
              <a:lnSpc>
                <a:spcPts val="1800"/>
              </a:lnSpc>
              <a:buClr>
                <a:schemeClr val="accent1"/>
              </a:buClr>
              <a:tabLst>
                <a:tab pos="514350" algn="l"/>
                <a:tab pos="1028700" algn="l"/>
                <a:tab pos="1543050" algn="l"/>
              </a:tabLst>
            </a:pPr>
            <a:r>
              <a:rPr lang="en-US" sz="1600">
                <a:solidFill>
                  <a:srgbClr val="000000"/>
                </a:solidFill>
                <a:latin typeface="Courier New" pitchFamily="49" charset="0"/>
              </a:rPr>
              <a:t>RouterX(config-if)#</a:t>
            </a:r>
          </a:p>
        </p:txBody>
      </p:sp>
      <p:sp>
        <p:nvSpPr>
          <p:cNvPr id="175114" name="Rectangle 10"/>
          <p:cNvSpPr>
            <a:spLocks noChangeArrowheads="1"/>
          </p:cNvSpPr>
          <p:nvPr/>
        </p:nvSpPr>
        <p:spPr bwMode="auto">
          <a:xfrm>
            <a:off x="992188" y="4459288"/>
            <a:ext cx="5424487"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4104" tIns="34147" rIns="24104" bIns="34147"/>
          <a:lstStyle/>
          <a:p>
            <a:pPr marL="342900" lvl="1" indent="-228600" defTabSz="1028700">
              <a:lnSpc>
                <a:spcPct val="95000"/>
              </a:lnSpc>
              <a:spcBef>
                <a:spcPct val="35000"/>
              </a:spcBef>
              <a:buClr>
                <a:schemeClr val="accent1"/>
              </a:buClr>
              <a:buFont typeface="Wingdings" pitchFamily="2" charset="2"/>
              <a:buChar char="§"/>
            </a:pPr>
            <a:r>
              <a:rPr lang="en-US" sz="2000" b="0">
                <a:solidFill>
                  <a:schemeClr val="bg2"/>
                </a:solidFill>
              </a:rPr>
              <a:t>For modular routers, selects an interface</a:t>
            </a:r>
          </a:p>
        </p:txBody>
      </p:sp>
      <p:sp>
        <p:nvSpPr>
          <p:cNvPr id="175115" name="Rectangle 11"/>
          <p:cNvSpPr>
            <a:spLocks noGrp="1" noChangeArrowheads="1"/>
          </p:cNvSpPr>
          <p:nvPr>
            <p:ph type="title"/>
          </p:nvPr>
        </p:nvSpPr>
        <p:spPr/>
        <p:txBody>
          <a:bodyPr/>
          <a:lstStyle/>
          <a:p>
            <a:r>
              <a:rPr lang="en-US"/>
              <a:t>Configuring an Interface</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ChangeArrowheads="1"/>
          </p:cNvSpPr>
          <p:nvPr/>
        </p:nvSpPr>
        <p:spPr bwMode="auto">
          <a:xfrm>
            <a:off x="1104900" y="1803400"/>
            <a:ext cx="5414963" cy="406400"/>
          </a:xfrm>
          <a:prstGeom prst="rect">
            <a:avLst/>
          </a:prstGeom>
          <a:solidFill>
            <a:srgbClr val="FFFF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195587" name="Rectangle 3"/>
          <p:cNvSpPr>
            <a:spLocks noChangeArrowheads="1"/>
          </p:cNvSpPr>
          <p:nvPr/>
        </p:nvSpPr>
        <p:spPr bwMode="auto">
          <a:xfrm>
            <a:off x="1169988" y="1855788"/>
            <a:ext cx="5386387" cy="63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27" tIns="30358" rIns="21427" bIns="30358"/>
          <a:lstStyle/>
          <a:p>
            <a:pPr defTabSz="1028700">
              <a:lnSpc>
                <a:spcPts val="1800"/>
              </a:lnSpc>
              <a:tabLst>
                <a:tab pos="514350" algn="l"/>
                <a:tab pos="1028700" algn="l"/>
                <a:tab pos="1543050" algn="l"/>
              </a:tabLst>
            </a:pPr>
            <a:r>
              <a:rPr lang="en-US" sz="1600" dirty="0" err="1">
                <a:solidFill>
                  <a:srgbClr val="000000"/>
                </a:solidFill>
                <a:latin typeface="Courier New" pitchFamily="49" charset="0"/>
              </a:rPr>
              <a:t>RouterX</a:t>
            </a:r>
            <a:r>
              <a:rPr lang="en-US" sz="1600" dirty="0">
                <a:solidFill>
                  <a:srgbClr val="000000"/>
                </a:solidFill>
                <a:latin typeface="Courier New" pitchFamily="49" charset="0"/>
              </a:rPr>
              <a:t>(config-if)# </a:t>
            </a:r>
            <a:r>
              <a:rPr lang="en-US" sz="1600" dirty="0">
                <a:solidFill>
                  <a:schemeClr val="accent2"/>
                </a:solidFill>
                <a:latin typeface="Courier New" pitchFamily="49" charset="0"/>
              </a:rPr>
              <a:t>description </a:t>
            </a:r>
            <a:r>
              <a:rPr lang="en-US" sz="1600" i="1" dirty="0">
                <a:solidFill>
                  <a:schemeClr val="accent2"/>
                </a:solidFill>
                <a:latin typeface="Courier New" pitchFamily="49" charset="0"/>
              </a:rPr>
              <a:t>string</a:t>
            </a:r>
            <a:r>
              <a:rPr lang="en-US" sz="1600" b="0" dirty="0">
                <a:solidFill>
                  <a:srgbClr val="000000"/>
                </a:solidFill>
                <a:latin typeface="Courier New" pitchFamily="49" charset="0"/>
              </a:rPr>
              <a:t> </a:t>
            </a:r>
          </a:p>
        </p:txBody>
      </p:sp>
      <p:sp>
        <p:nvSpPr>
          <p:cNvPr id="195588" name="Rectangle 4"/>
          <p:cNvSpPr>
            <a:spLocks noChangeArrowheads="1"/>
          </p:cNvSpPr>
          <p:nvPr/>
        </p:nvSpPr>
        <p:spPr bwMode="auto">
          <a:xfrm>
            <a:off x="992188" y="2466975"/>
            <a:ext cx="7310437" cy="1366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68" tIns="51785" rIns="103568" bIns="51785">
            <a:spAutoFit/>
          </a:bodyPr>
          <a:lstStyle/>
          <a:p>
            <a:pPr marL="342900" lvl="1" indent="-228600" defTabSz="1028700">
              <a:lnSpc>
                <a:spcPct val="95000"/>
              </a:lnSpc>
              <a:spcBef>
                <a:spcPct val="35000"/>
              </a:spcBef>
              <a:buClr>
                <a:schemeClr val="accent1"/>
              </a:buClr>
              <a:buFont typeface="Wingdings" pitchFamily="2" charset="2"/>
              <a:buChar char="§"/>
            </a:pPr>
            <a:r>
              <a:rPr lang="en-US" sz="2000" i="1" dirty="0">
                <a:solidFill>
                  <a:schemeClr val="accent2"/>
                </a:solidFill>
              </a:rPr>
              <a:t>string</a:t>
            </a:r>
            <a:r>
              <a:rPr lang="en-US" sz="2000" b="0" i="1" dirty="0">
                <a:solidFill>
                  <a:schemeClr val="accent2"/>
                </a:solidFill>
              </a:rPr>
              <a:t> </a:t>
            </a:r>
            <a:r>
              <a:rPr lang="en-US" sz="2000" b="0" i="1" dirty="0"/>
              <a:t>is a c</a:t>
            </a:r>
            <a:r>
              <a:rPr lang="en-US" sz="2000" b="0" dirty="0"/>
              <a:t>omment or a description to help you remember what is attached to this interface.</a:t>
            </a:r>
          </a:p>
          <a:p>
            <a:pPr marL="342900" lvl="1" indent="-228600" defTabSz="1028700">
              <a:lnSpc>
                <a:spcPct val="95000"/>
              </a:lnSpc>
              <a:spcBef>
                <a:spcPct val="35000"/>
              </a:spcBef>
              <a:buClr>
                <a:schemeClr val="accent1"/>
              </a:buClr>
              <a:buFont typeface="Wingdings" pitchFamily="2" charset="2"/>
              <a:buChar char="§"/>
            </a:pPr>
            <a:r>
              <a:rPr lang="en-US" sz="2000" b="0" dirty="0"/>
              <a:t>The maximum number of characters for the </a:t>
            </a:r>
            <a:r>
              <a:rPr lang="en-US" sz="2000" b="0" i="1" dirty="0"/>
              <a:t>string</a:t>
            </a:r>
            <a:r>
              <a:rPr lang="en-US" sz="2000" b="0" dirty="0"/>
              <a:t> argument is 238.</a:t>
            </a:r>
          </a:p>
        </p:txBody>
      </p:sp>
      <p:sp>
        <p:nvSpPr>
          <p:cNvPr id="195595" name="Rectangle 11"/>
          <p:cNvSpPr>
            <a:spLocks noGrp="1" noChangeArrowheads="1"/>
          </p:cNvSpPr>
          <p:nvPr>
            <p:ph type="title"/>
          </p:nvPr>
        </p:nvSpPr>
        <p:spPr/>
        <p:txBody>
          <a:bodyPr/>
          <a:lstStyle/>
          <a:p>
            <a:r>
              <a:rPr lang="en-US"/>
              <a:t>Configuring an Interface Description</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ChangeArrowheads="1"/>
          </p:cNvSpPr>
          <p:nvPr/>
        </p:nvSpPr>
        <p:spPr bwMode="auto">
          <a:xfrm>
            <a:off x="301625" y="4022725"/>
            <a:ext cx="8477250" cy="1363663"/>
          </a:xfrm>
          <a:prstGeom prst="rect">
            <a:avLst/>
          </a:prstGeom>
          <a:solidFill>
            <a:schemeClr val="bg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179203" name="Rectangle 3"/>
          <p:cNvSpPr>
            <a:spLocks noChangeArrowheads="1"/>
          </p:cNvSpPr>
          <p:nvPr/>
        </p:nvSpPr>
        <p:spPr bwMode="auto">
          <a:xfrm>
            <a:off x="384175" y="4097338"/>
            <a:ext cx="6262688" cy="137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27" tIns="30358" rIns="21427" bIns="30358"/>
          <a:lstStyle/>
          <a:p>
            <a:pPr defTabSz="1028700">
              <a:lnSpc>
                <a:spcPts val="1800"/>
              </a:lnSpc>
              <a:tabLst>
                <a:tab pos="514350" algn="l"/>
                <a:tab pos="1028700" algn="l"/>
                <a:tab pos="1543050" algn="l"/>
              </a:tabLst>
            </a:pPr>
            <a:r>
              <a:rPr lang="en-US" sz="1300">
                <a:solidFill>
                  <a:srgbClr val="000000"/>
                </a:solidFill>
                <a:latin typeface="Courier New" pitchFamily="49" charset="0"/>
              </a:rPr>
              <a:t>RouterX#</a:t>
            </a:r>
            <a:r>
              <a:rPr lang="en-US" sz="1300">
                <a:solidFill>
                  <a:schemeClr val="accent2"/>
                </a:solidFill>
                <a:latin typeface="Courier New" pitchFamily="49" charset="0"/>
              </a:rPr>
              <a:t>configure terminal</a:t>
            </a:r>
          </a:p>
          <a:p>
            <a:pPr defTabSz="1028700">
              <a:lnSpc>
                <a:spcPts val="1800"/>
              </a:lnSpc>
              <a:tabLst>
                <a:tab pos="514350" algn="l"/>
                <a:tab pos="1028700" algn="l"/>
                <a:tab pos="1543050" algn="l"/>
              </a:tabLst>
            </a:pPr>
            <a:r>
              <a:rPr lang="en-US" sz="1300">
                <a:solidFill>
                  <a:srgbClr val="000000"/>
                </a:solidFill>
                <a:latin typeface="Courier New" pitchFamily="49" charset="0"/>
              </a:rPr>
              <a:t>RouterX(config)#</a:t>
            </a:r>
            <a:r>
              <a:rPr lang="en-US" sz="1300">
                <a:solidFill>
                  <a:schemeClr val="accent2"/>
                </a:solidFill>
                <a:latin typeface="Courier New" pitchFamily="49" charset="0"/>
              </a:rPr>
              <a:t>interface serial 0</a:t>
            </a:r>
            <a:r>
              <a:rPr lang="en-US" sz="1300">
                <a:solidFill>
                  <a:srgbClr val="AA0008"/>
                </a:solidFill>
                <a:latin typeface="Courier New" pitchFamily="49" charset="0"/>
              </a:rPr>
              <a:t> </a:t>
            </a:r>
          </a:p>
          <a:p>
            <a:pPr defTabSz="1028700">
              <a:lnSpc>
                <a:spcPts val="1800"/>
              </a:lnSpc>
              <a:tabLst>
                <a:tab pos="514350" algn="l"/>
                <a:tab pos="1028700" algn="l"/>
                <a:tab pos="1543050" algn="l"/>
              </a:tabLst>
            </a:pPr>
            <a:r>
              <a:rPr lang="en-US" sz="1300">
                <a:solidFill>
                  <a:srgbClr val="000000"/>
                </a:solidFill>
                <a:latin typeface="Courier New" pitchFamily="49" charset="0"/>
              </a:rPr>
              <a:t>RouterX(config-if)#</a:t>
            </a:r>
            <a:r>
              <a:rPr lang="en-US" sz="1300">
                <a:solidFill>
                  <a:schemeClr val="accent2"/>
                </a:solidFill>
                <a:latin typeface="Courier New" pitchFamily="49" charset="0"/>
              </a:rPr>
              <a:t>no shutdown</a:t>
            </a:r>
          </a:p>
          <a:p>
            <a:pPr defTabSz="1028700">
              <a:lnSpc>
                <a:spcPts val="1800"/>
              </a:lnSpc>
              <a:tabLst>
                <a:tab pos="514350" algn="l"/>
                <a:tab pos="1028700" algn="l"/>
                <a:tab pos="1543050" algn="l"/>
              </a:tabLst>
            </a:pPr>
            <a:r>
              <a:rPr lang="en-US" sz="1300">
                <a:solidFill>
                  <a:srgbClr val="000000"/>
                </a:solidFill>
                <a:latin typeface="Courier New" pitchFamily="49" charset="0"/>
              </a:rPr>
              <a:t>%LINK-3-UPDOWN:  Interface Serial0, changed state to up</a:t>
            </a:r>
          </a:p>
          <a:p>
            <a:pPr defTabSz="1028700">
              <a:lnSpc>
                <a:spcPts val="1800"/>
              </a:lnSpc>
              <a:tabLst>
                <a:tab pos="514350" algn="l"/>
                <a:tab pos="1028700" algn="l"/>
                <a:tab pos="1543050" algn="l"/>
              </a:tabLst>
            </a:pPr>
            <a:r>
              <a:rPr lang="en-US" sz="1300">
                <a:solidFill>
                  <a:srgbClr val="000000"/>
                </a:solidFill>
                <a:latin typeface="Courier New" pitchFamily="49" charset="0"/>
              </a:rPr>
              <a:t>%LINEPROTO-5-UPDOWN: Line Protocol on Interface Serial0, changed state to up </a:t>
            </a:r>
          </a:p>
          <a:p>
            <a:pPr defTabSz="1028700">
              <a:lnSpc>
                <a:spcPts val="1800"/>
              </a:lnSpc>
              <a:tabLst>
                <a:tab pos="514350" algn="l"/>
                <a:tab pos="1028700" algn="l"/>
                <a:tab pos="1543050" algn="l"/>
              </a:tabLst>
            </a:pPr>
            <a:endParaRPr lang="en-US" sz="1300">
              <a:solidFill>
                <a:srgbClr val="000000"/>
              </a:solidFill>
              <a:latin typeface="Courier New" pitchFamily="49" charset="0"/>
            </a:endParaRPr>
          </a:p>
        </p:txBody>
      </p:sp>
      <p:sp>
        <p:nvSpPr>
          <p:cNvPr id="179204" name="Rectangle 4"/>
          <p:cNvSpPr>
            <a:spLocks noChangeArrowheads="1"/>
          </p:cNvSpPr>
          <p:nvPr/>
        </p:nvSpPr>
        <p:spPr bwMode="auto">
          <a:xfrm>
            <a:off x="266700" y="5419725"/>
            <a:ext cx="7248525" cy="58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140" tIns="41070" rIns="82140" bIns="41070" anchor="ctr" anchorCtr="1"/>
          <a:lstStyle/>
          <a:p>
            <a:pPr marL="342900" lvl="1" indent="-228600" defTabSz="814388">
              <a:lnSpc>
                <a:spcPct val="95000"/>
              </a:lnSpc>
              <a:spcBef>
                <a:spcPct val="35000"/>
              </a:spcBef>
              <a:buClr>
                <a:schemeClr val="accent1"/>
              </a:buClr>
              <a:buFont typeface="Wingdings" pitchFamily="2" charset="2"/>
              <a:buChar char="§"/>
            </a:pPr>
            <a:r>
              <a:rPr lang="en-US" sz="2000" b="0">
                <a:solidFill>
                  <a:schemeClr val="bg2"/>
                </a:solidFill>
              </a:rPr>
              <a:t>Enables an interface that is administratively shut down</a:t>
            </a:r>
          </a:p>
        </p:txBody>
      </p:sp>
      <p:sp>
        <p:nvSpPr>
          <p:cNvPr id="179205" name="Rectangle 5"/>
          <p:cNvSpPr>
            <a:spLocks noChangeArrowheads="1"/>
          </p:cNvSpPr>
          <p:nvPr/>
        </p:nvSpPr>
        <p:spPr bwMode="auto">
          <a:xfrm>
            <a:off x="301625" y="1841500"/>
            <a:ext cx="8482013" cy="1363663"/>
          </a:xfrm>
          <a:prstGeom prst="rect">
            <a:avLst/>
          </a:prstGeom>
          <a:solidFill>
            <a:schemeClr val="bg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nchor="ctr"/>
          <a:lstStyle/>
          <a:p>
            <a:endParaRPr lang="en-US"/>
          </a:p>
        </p:txBody>
      </p:sp>
      <p:sp>
        <p:nvSpPr>
          <p:cNvPr id="179206" name="Rectangle 6"/>
          <p:cNvSpPr>
            <a:spLocks noChangeArrowheads="1"/>
          </p:cNvSpPr>
          <p:nvPr/>
        </p:nvSpPr>
        <p:spPr bwMode="auto">
          <a:xfrm>
            <a:off x="403225" y="1935163"/>
            <a:ext cx="5464175"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27" tIns="30358" rIns="21427" bIns="30358"/>
          <a:lstStyle/>
          <a:p>
            <a:pPr defTabSz="1028700">
              <a:lnSpc>
                <a:spcPts val="1800"/>
              </a:lnSpc>
              <a:tabLst>
                <a:tab pos="514350" algn="l"/>
                <a:tab pos="1028700" algn="l"/>
                <a:tab pos="1543050" algn="l"/>
              </a:tabLst>
            </a:pPr>
            <a:r>
              <a:rPr lang="en-US" sz="1300">
                <a:solidFill>
                  <a:srgbClr val="000000"/>
                </a:solidFill>
                <a:latin typeface="Courier New" pitchFamily="49" charset="0"/>
              </a:rPr>
              <a:t>RouterX#</a:t>
            </a:r>
            <a:r>
              <a:rPr lang="en-US" sz="1300">
                <a:solidFill>
                  <a:schemeClr val="accent2"/>
                </a:solidFill>
                <a:latin typeface="Courier New" pitchFamily="49" charset="0"/>
              </a:rPr>
              <a:t>configure terminal</a:t>
            </a:r>
          </a:p>
          <a:p>
            <a:pPr defTabSz="1028700">
              <a:lnSpc>
                <a:spcPts val="1800"/>
              </a:lnSpc>
              <a:tabLst>
                <a:tab pos="514350" algn="l"/>
                <a:tab pos="1028700" algn="l"/>
                <a:tab pos="1543050" algn="l"/>
              </a:tabLst>
            </a:pPr>
            <a:r>
              <a:rPr lang="en-US" sz="1300">
                <a:solidFill>
                  <a:srgbClr val="000000"/>
                </a:solidFill>
                <a:latin typeface="Courier New" pitchFamily="49" charset="0"/>
              </a:rPr>
              <a:t>RouterX(config)#</a:t>
            </a:r>
            <a:r>
              <a:rPr lang="en-US" sz="1300">
                <a:solidFill>
                  <a:schemeClr val="accent2"/>
                </a:solidFill>
                <a:latin typeface="Courier New" pitchFamily="49" charset="0"/>
              </a:rPr>
              <a:t>interface serial 0</a:t>
            </a:r>
            <a:r>
              <a:rPr lang="en-US" sz="1300">
                <a:solidFill>
                  <a:srgbClr val="AA0008"/>
                </a:solidFill>
                <a:latin typeface="Courier New" pitchFamily="49" charset="0"/>
              </a:rPr>
              <a:t> </a:t>
            </a:r>
          </a:p>
          <a:p>
            <a:pPr defTabSz="1028700">
              <a:lnSpc>
                <a:spcPts val="1800"/>
              </a:lnSpc>
              <a:tabLst>
                <a:tab pos="514350" algn="l"/>
                <a:tab pos="1028700" algn="l"/>
                <a:tab pos="1543050" algn="l"/>
              </a:tabLst>
            </a:pPr>
            <a:r>
              <a:rPr lang="en-US" sz="1300">
                <a:solidFill>
                  <a:srgbClr val="000000"/>
                </a:solidFill>
                <a:latin typeface="Courier New" pitchFamily="49" charset="0"/>
              </a:rPr>
              <a:t>RouterX(config-if)#</a:t>
            </a:r>
            <a:r>
              <a:rPr lang="en-US" sz="1300">
                <a:solidFill>
                  <a:schemeClr val="accent2"/>
                </a:solidFill>
                <a:latin typeface="Courier New" pitchFamily="49" charset="0"/>
              </a:rPr>
              <a:t>shutdown</a:t>
            </a:r>
          </a:p>
          <a:p>
            <a:pPr defTabSz="1028700">
              <a:lnSpc>
                <a:spcPct val="100000"/>
              </a:lnSpc>
              <a:tabLst>
                <a:tab pos="514350" algn="l"/>
                <a:tab pos="1028700" algn="l"/>
                <a:tab pos="1543050" algn="l"/>
              </a:tabLst>
            </a:pPr>
            <a:r>
              <a:rPr lang="en-US" sz="1300">
                <a:latin typeface="Courier New" pitchFamily="49" charset="0"/>
              </a:rPr>
              <a:t>%LINK-5-CHANGED: Interface Serial0, changed state to administratively down </a:t>
            </a:r>
          </a:p>
          <a:p>
            <a:pPr defTabSz="1028700">
              <a:lnSpc>
                <a:spcPct val="100000"/>
              </a:lnSpc>
              <a:tabLst>
                <a:tab pos="514350" algn="l"/>
                <a:tab pos="1028700" algn="l"/>
                <a:tab pos="1543050" algn="l"/>
              </a:tabLst>
            </a:pPr>
            <a:r>
              <a:rPr lang="en-US" sz="1300">
                <a:latin typeface="Courier New" pitchFamily="49" charset="0"/>
              </a:rPr>
              <a:t>%LINEPROTO-5-UPDOWN: Line protocol on Interface Serial0, changed state to down </a:t>
            </a:r>
          </a:p>
        </p:txBody>
      </p:sp>
      <p:sp>
        <p:nvSpPr>
          <p:cNvPr id="179207" name="Rectangle 7"/>
          <p:cNvSpPr>
            <a:spLocks noChangeArrowheads="1"/>
          </p:cNvSpPr>
          <p:nvPr/>
        </p:nvSpPr>
        <p:spPr bwMode="auto">
          <a:xfrm>
            <a:off x="304800" y="3233738"/>
            <a:ext cx="5089525"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140" tIns="41070" rIns="82140" bIns="41070" anchor="ctr" anchorCtr="1"/>
          <a:lstStyle/>
          <a:p>
            <a:pPr marL="342900" lvl="1" indent="-228600" defTabSz="814388">
              <a:lnSpc>
                <a:spcPct val="95000"/>
              </a:lnSpc>
              <a:spcBef>
                <a:spcPct val="35000"/>
              </a:spcBef>
              <a:buClr>
                <a:schemeClr val="accent1"/>
              </a:buClr>
              <a:buFont typeface="Wingdings" pitchFamily="2" charset="2"/>
              <a:buChar char="§"/>
            </a:pPr>
            <a:r>
              <a:rPr lang="en-US" sz="2000" b="0">
                <a:solidFill>
                  <a:schemeClr val="bg2"/>
                </a:solidFill>
              </a:rPr>
              <a:t>Administratively turns off an interface</a:t>
            </a:r>
          </a:p>
        </p:txBody>
      </p:sp>
      <p:sp>
        <p:nvSpPr>
          <p:cNvPr id="179208" name="Rectangle 8"/>
          <p:cNvSpPr>
            <a:spLocks noGrp="1" noChangeArrowheads="1"/>
          </p:cNvSpPr>
          <p:nvPr>
            <p:ph type="title"/>
          </p:nvPr>
        </p:nvSpPr>
        <p:spPr/>
        <p:txBody>
          <a:bodyPr/>
          <a:lstStyle/>
          <a:p>
            <a:r>
              <a:rPr lang="en-US"/>
              <a:t>Disabling or Enabling an Interface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253" name="Picture 5" descr="301P_2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588" y="1841500"/>
            <a:ext cx="7415212" cy="2817813"/>
          </a:xfrm>
          <a:prstGeom prst="rect">
            <a:avLst/>
          </a:prstGeom>
          <a:noFill/>
          <a:extLst>
            <a:ext uri="{909E8E84-426E-40DD-AFC4-6F175D3DCCD1}">
              <a14:hiddenFill xmlns:a14="http://schemas.microsoft.com/office/drawing/2010/main">
                <a:solidFill>
                  <a:srgbClr val="FFFFFF"/>
                </a:solidFill>
              </a14:hiddenFill>
            </a:ext>
          </a:extLst>
        </p:spPr>
      </p:pic>
      <p:sp>
        <p:nvSpPr>
          <p:cNvPr id="181250" name="Rectangle 2"/>
          <p:cNvSpPr>
            <a:spLocks noGrp="1" noChangeArrowheads="1"/>
          </p:cNvSpPr>
          <p:nvPr>
            <p:ph type="body" sz="half" idx="2"/>
          </p:nvPr>
        </p:nvSpPr>
        <p:spPr>
          <a:xfrm>
            <a:off x="1143000" y="4635500"/>
            <a:ext cx="6858000" cy="1238250"/>
          </a:xfrm>
          <a:noFill/>
          <a:ln/>
          <a:extLst>
            <a:ext uri="{91240B29-F687-4F45-9708-019B960494DF}">
              <a14:hiddenLine xmlns:a14="http://schemas.microsoft.com/office/drawing/2010/main" w="9525">
                <a:solidFill>
                  <a:srgbClr val="000000"/>
                </a:solidFill>
                <a:miter lim="800000"/>
                <a:headEnd/>
                <a:tailEnd/>
              </a14:hiddenLine>
            </a:ext>
          </a:extLst>
        </p:spPr>
        <p:txBody>
          <a:bodyPr lIns="82150" tIns="41074" rIns="82150" bIns="41074" anchor="ctr" anchorCtr="1"/>
          <a:lstStyle/>
          <a:p>
            <a:pPr lvl="1">
              <a:spcBef>
                <a:spcPct val="20000"/>
              </a:spcBef>
            </a:pPr>
            <a:r>
              <a:rPr lang="en-US" sz="1900" dirty="0"/>
              <a:t>Unique addressing allows communication </a:t>
            </a:r>
            <a:br>
              <a:rPr lang="en-US" sz="1900" dirty="0"/>
            </a:br>
            <a:r>
              <a:rPr lang="en-US" sz="1900" dirty="0"/>
              <a:t>between end stations</a:t>
            </a:r>
          </a:p>
          <a:p>
            <a:pPr lvl="1">
              <a:spcBef>
                <a:spcPct val="20000"/>
              </a:spcBef>
            </a:pPr>
            <a:r>
              <a:rPr lang="en-US" sz="1900" dirty="0"/>
              <a:t>Path choice is based on destination address</a:t>
            </a:r>
            <a:endParaRPr lang="en-US" sz="1900" dirty="0">
              <a:solidFill>
                <a:schemeClr val="bg1"/>
              </a:solidFill>
            </a:endParaRPr>
          </a:p>
        </p:txBody>
      </p:sp>
      <p:sp>
        <p:nvSpPr>
          <p:cNvPr id="181251" name="Rectangle 3"/>
          <p:cNvSpPr>
            <a:spLocks noGrp="1" noChangeArrowheads="1"/>
          </p:cNvSpPr>
          <p:nvPr>
            <p:ph type="title"/>
          </p:nvPr>
        </p:nvSpPr>
        <p:spPr/>
        <p:txBody>
          <a:bodyPr/>
          <a:lstStyle/>
          <a:p>
            <a:r>
              <a:rPr lang="en-US"/>
              <a:t>Configuring IP Addresses</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r>
              <a:rPr lang="en-US"/>
              <a:t>Router </a:t>
            </a:r>
            <a:r>
              <a:rPr lang="en-US" b="0"/>
              <a:t>show interfaces</a:t>
            </a:r>
            <a:r>
              <a:rPr lang="en-US"/>
              <a:t> Command</a:t>
            </a:r>
          </a:p>
        </p:txBody>
      </p:sp>
      <p:sp>
        <p:nvSpPr>
          <p:cNvPr id="183300" name="Text Box 4"/>
          <p:cNvSpPr txBox="1">
            <a:spLocks noChangeArrowheads="1"/>
          </p:cNvSpPr>
          <p:nvPr/>
        </p:nvSpPr>
        <p:spPr bwMode="auto">
          <a:xfrm>
            <a:off x="609600" y="1828800"/>
            <a:ext cx="7851775" cy="4337050"/>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spAutoFit/>
          </a:bodyPr>
          <a:lstStyle>
            <a:lvl1pPr defTabSz="814388">
              <a:defRPr sz="2400">
                <a:solidFill>
                  <a:schemeClr val="tx1"/>
                </a:solidFill>
                <a:latin typeface="Times" pitchFamily="18" charset="0"/>
              </a:defRPr>
            </a:lvl1pPr>
            <a:lvl2pPr defTabSz="814388">
              <a:defRPr sz="2400">
                <a:solidFill>
                  <a:schemeClr val="tx1"/>
                </a:solidFill>
                <a:latin typeface="Times" pitchFamily="18" charset="0"/>
              </a:defRPr>
            </a:lvl2pPr>
            <a:lvl3pPr defTabSz="814388">
              <a:defRPr sz="2400">
                <a:solidFill>
                  <a:schemeClr val="tx1"/>
                </a:solidFill>
                <a:latin typeface="Times" pitchFamily="18" charset="0"/>
              </a:defRPr>
            </a:lvl3pPr>
            <a:lvl4pPr defTabSz="814388">
              <a:defRPr sz="2400">
                <a:solidFill>
                  <a:schemeClr val="tx1"/>
                </a:solidFill>
                <a:latin typeface="Times" pitchFamily="18" charset="0"/>
              </a:defRPr>
            </a:lvl4pPr>
            <a:lvl5pPr defTabSz="814388">
              <a:defRPr sz="2400">
                <a:solidFill>
                  <a:schemeClr val="tx1"/>
                </a:solidFill>
                <a:latin typeface="Times" pitchFamily="18" charset="0"/>
              </a:defRPr>
            </a:lvl5pPr>
            <a:lvl6pPr defTabSz="814388" fontAlgn="base">
              <a:spcBef>
                <a:spcPct val="0"/>
              </a:spcBef>
              <a:spcAft>
                <a:spcPct val="0"/>
              </a:spcAft>
              <a:defRPr sz="2400">
                <a:solidFill>
                  <a:schemeClr val="tx1"/>
                </a:solidFill>
                <a:latin typeface="Times" pitchFamily="18" charset="0"/>
              </a:defRPr>
            </a:lvl6pPr>
            <a:lvl7pPr defTabSz="814388" fontAlgn="base">
              <a:spcBef>
                <a:spcPct val="0"/>
              </a:spcBef>
              <a:spcAft>
                <a:spcPct val="0"/>
              </a:spcAft>
              <a:defRPr sz="2400">
                <a:solidFill>
                  <a:schemeClr val="tx1"/>
                </a:solidFill>
                <a:latin typeface="Times" pitchFamily="18" charset="0"/>
              </a:defRPr>
            </a:lvl7pPr>
            <a:lvl8pPr defTabSz="814388" fontAlgn="base">
              <a:spcBef>
                <a:spcPct val="0"/>
              </a:spcBef>
              <a:spcAft>
                <a:spcPct val="0"/>
              </a:spcAft>
              <a:defRPr sz="2400">
                <a:solidFill>
                  <a:schemeClr val="tx1"/>
                </a:solidFill>
                <a:latin typeface="Times" pitchFamily="18" charset="0"/>
              </a:defRPr>
            </a:lvl8pPr>
            <a:lvl9pPr defTabSz="814388" fontAlgn="base">
              <a:spcBef>
                <a:spcPct val="0"/>
              </a:spcBef>
              <a:spcAft>
                <a:spcPct val="0"/>
              </a:spcAft>
              <a:defRPr sz="2400">
                <a:solidFill>
                  <a:schemeClr val="tx1"/>
                </a:solidFill>
                <a:latin typeface="Times" pitchFamily="18" charset="0"/>
              </a:defRPr>
            </a:lvl9pPr>
          </a:lstStyle>
          <a:p>
            <a:r>
              <a:rPr lang="en-US" sz="1400">
                <a:latin typeface="Courier New" pitchFamily="49" charset="0"/>
              </a:rPr>
              <a:t>RouterX#</a:t>
            </a:r>
            <a:r>
              <a:rPr lang="en-US" sz="1400">
                <a:solidFill>
                  <a:schemeClr val="accent2"/>
                </a:solidFill>
                <a:latin typeface="Courier New" pitchFamily="49" charset="0"/>
              </a:rPr>
              <a:t>show interfaces</a:t>
            </a:r>
          </a:p>
          <a:p>
            <a:r>
              <a:rPr lang="en-US" sz="1400">
                <a:latin typeface="Courier New" pitchFamily="49" charset="0"/>
              </a:rPr>
              <a:t>Ethernet0 is up, line protocol is up </a:t>
            </a:r>
          </a:p>
          <a:p>
            <a:r>
              <a:rPr lang="en-US" sz="1400">
                <a:latin typeface="Courier New" pitchFamily="49" charset="0"/>
              </a:rPr>
              <a:t>  Hardware is Lance, address is 00e0.1e5d.ae2f (bia 00e0.1e5d.ae2f)</a:t>
            </a:r>
          </a:p>
          <a:p>
            <a:r>
              <a:rPr lang="en-US" sz="1400">
                <a:latin typeface="Courier New" pitchFamily="49" charset="0"/>
              </a:rPr>
              <a:t>  Internet address is 10.1.1.11/24</a:t>
            </a:r>
          </a:p>
          <a:p>
            <a:r>
              <a:rPr lang="en-US" sz="1400">
                <a:latin typeface="Courier New" pitchFamily="49" charset="0"/>
              </a:rPr>
              <a:t>  MTU 1500 bytes, BW 10000 Kbit, DLY 1000 usec, rely 255/255, load 1/255</a:t>
            </a:r>
          </a:p>
          <a:p>
            <a:r>
              <a:rPr lang="en-US" sz="1400">
                <a:latin typeface="Courier New" pitchFamily="49" charset="0"/>
              </a:rPr>
              <a:t>  Encapsulation ARPA, loopback not set, keepalive set (10 sec)</a:t>
            </a:r>
          </a:p>
          <a:p>
            <a:r>
              <a:rPr lang="en-US" sz="1400">
                <a:latin typeface="Courier New" pitchFamily="49" charset="0"/>
              </a:rPr>
              <a:t>  ARP type: ARPA, ARP Timeout 04:00:00</a:t>
            </a:r>
          </a:p>
          <a:p>
            <a:r>
              <a:rPr lang="en-US" sz="1400">
                <a:latin typeface="Courier New" pitchFamily="49" charset="0"/>
              </a:rPr>
              <a:t>  Last input 00:00:07, output 00:00:08, output hang never</a:t>
            </a:r>
          </a:p>
          <a:p>
            <a:r>
              <a:rPr lang="en-US" sz="1400">
                <a:latin typeface="Courier New" pitchFamily="49" charset="0"/>
              </a:rPr>
              <a:t>  Last clearing of "show interface" counters never</a:t>
            </a:r>
          </a:p>
          <a:p>
            <a:r>
              <a:rPr lang="en-US" sz="1400">
                <a:latin typeface="Courier New" pitchFamily="49" charset="0"/>
              </a:rPr>
              <a:t>  Queueing strategy: fifo</a:t>
            </a:r>
          </a:p>
          <a:p>
            <a:r>
              <a:rPr lang="en-US" sz="1400">
                <a:latin typeface="Courier New" pitchFamily="49" charset="0"/>
              </a:rPr>
              <a:t>  Output queue 0/40, 0 drops; input queue 0/75, 0 drops</a:t>
            </a:r>
          </a:p>
          <a:p>
            <a:r>
              <a:rPr lang="en-US" sz="1400">
                <a:latin typeface="Courier New" pitchFamily="49" charset="0"/>
              </a:rPr>
              <a:t>  5 minute input rate 0 bits/sec, 0 packets/sec</a:t>
            </a:r>
          </a:p>
          <a:p>
            <a:r>
              <a:rPr lang="en-US" sz="1400">
                <a:latin typeface="Courier New" pitchFamily="49" charset="0"/>
              </a:rPr>
              <a:t>  5 minute output rate 0 bits/sec, 0 packets/sec</a:t>
            </a:r>
          </a:p>
          <a:p>
            <a:r>
              <a:rPr lang="en-US" sz="1400">
                <a:latin typeface="Courier New" pitchFamily="49" charset="0"/>
              </a:rPr>
              <a:t>     81833 packets input, 27556491 bytes, 0 no buffer</a:t>
            </a:r>
          </a:p>
          <a:p>
            <a:r>
              <a:rPr lang="en-US" sz="1400">
                <a:latin typeface="Courier New" pitchFamily="49" charset="0"/>
              </a:rPr>
              <a:t>     Received 42308 broadcasts, 0 runts, 0 giants, 0 throttles</a:t>
            </a:r>
          </a:p>
          <a:p>
            <a:r>
              <a:rPr lang="en-US" sz="1400">
                <a:latin typeface="Courier New" pitchFamily="49" charset="0"/>
              </a:rPr>
              <a:t>     1 input errors, 0 CRC, 0 frame, 0 overrun, 1 ignored, 0 abort</a:t>
            </a:r>
          </a:p>
          <a:p>
            <a:r>
              <a:rPr lang="en-US" sz="1400">
                <a:latin typeface="Courier New" pitchFamily="49" charset="0"/>
              </a:rPr>
              <a:t>     0 input packets with dribble condition detected</a:t>
            </a:r>
          </a:p>
          <a:p>
            <a:r>
              <a:rPr lang="en-US" sz="1400">
                <a:latin typeface="Courier New" pitchFamily="49" charset="0"/>
              </a:rPr>
              <a:t>     55794 packets output, 3929696 bytes, 0 underruns</a:t>
            </a:r>
          </a:p>
          <a:p>
            <a:r>
              <a:rPr lang="en-US" sz="1400">
                <a:latin typeface="Courier New" pitchFamily="49" charset="0"/>
              </a:rPr>
              <a:t>     0 output errors, 0 collisions, 1 interface resets</a:t>
            </a:r>
          </a:p>
          <a:p>
            <a:r>
              <a:rPr lang="en-US" sz="1400">
                <a:latin typeface="Courier New" pitchFamily="49" charset="0"/>
              </a:rPr>
              <a:t>     0 babbles, 0 late collision, 4 deferred</a:t>
            </a:r>
          </a:p>
          <a:p>
            <a:r>
              <a:rPr lang="en-US" sz="1400">
                <a:latin typeface="Courier New" pitchFamily="49" charset="0"/>
              </a:rPr>
              <a:t>     0 lost carrier, 0 no carrier</a:t>
            </a:r>
          </a:p>
          <a:p>
            <a:r>
              <a:rPr lang="en-US" sz="1400">
                <a:latin typeface="Courier New" pitchFamily="49" charset="0"/>
              </a:rPr>
              <a:t>     0 output buffer failures, 0 output buffers swapped out</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350" name="Picture 6" descr="301P_9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514600"/>
            <a:ext cx="8382000" cy="3309938"/>
          </a:xfrm>
          <a:prstGeom prst="rect">
            <a:avLst/>
          </a:prstGeom>
          <a:noFill/>
          <a:extLst>
            <a:ext uri="{909E8E84-426E-40DD-AFC4-6F175D3DCCD1}">
              <a14:hiddenFill xmlns:a14="http://schemas.microsoft.com/office/drawing/2010/main">
                <a:solidFill>
                  <a:srgbClr val="FFFFFF"/>
                </a:solidFill>
              </a14:hiddenFill>
            </a:ext>
          </a:extLst>
        </p:spPr>
      </p:pic>
      <p:sp>
        <p:nvSpPr>
          <p:cNvPr id="185346" name="Rectangle 2"/>
          <p:cNvSpPr>
            <a:spLocks noGrp="1" noChangeArrowheads="1"/>
          </p:cNvSpPr>
          <p:nvPr>
            <p:ph type="title"/>
          </p:nvPr>
        </p:nvSpPr>
        <p:spPr/>
        <p:txBody>
          <a:bodyPr/>
          <a:lstStyle/>
          <a:p>
            <a:r>
              <a:rPr lang="en-US"/>
              <a:t>Interpreting the Interface Status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3"/>
          <p:cNvSpPr>
            <a:spLocks noGrp="1" noChangeArrowheads="1"/>
          </p:cNvSpPr>
          <p:nvPr>
            <p:ph type="title"/>
          </p:nvPr>
        </p:nvSpPr>
        <p:spPr/>
        <p:txBody>
          <a:bodyPr/>
          <a:lstStyle/>
          <a:p>
            <a:r>
              <a:rPr lang="en-US"/>
              <a:t>Verifying a Serial Interface Configuration</a:t>
            </a:r>
          </a:p>
        </p:txBody>
      </p:sp>
      <p:pic>
        <p:nvPicPr>
          <p:cNvPr id="187397" name="Picture 5" descr="301P_98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425" y="2057400"/>
            <a:ext cx="8080375" cy="38496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r>
              <a:rPr lang="en-US"/>
              <a:t>Summary</a:t>
            </a:r>
          </a:p>
        </p:txBody>
      </p:sp>
      <p:sp>
        <p:nvSpPr>
          <p:cNvPr id="191491" name="Rectangle 3"/>
          <p:cNvSpPr>
            <a:spLocks noGrp="1" noChangeArrowheads="1"/>
          </p:cNvSpPr>
          <p:nvPr>
            <p:ph type="body" idx="1"/>
          </p:nvPr>
        </p:nvSpPr>
        <p:spPr/>
        <p:txBody>
          <a:bodyPr/>
          <a:lstStyle/>
          <a:p>
            <a:pPr lvl="1"/>
            <a:r>
              <a:rPr lang="en-US" dirty="0"/>
              <a:t>From the privileged EXEC mode, you can enter the global configuration mode, providing access to other configuration modes such as the interface configuration mode or line configuration mode.</a:t>
            </a:r>
          </a:p>
          <a:p>
            <a:pPr lvl="1"/>
            <a:r>
              <a:rPr lang="en-US" dirty="0"/>
              <a:t>The main function of a router is to relay packets from one network device to another. To do this, the characteristics of the interfaces through which the packets are received and sent must be defined. Interface characteristics, such as the IP address and bandwidth, are configured using the interface configuration mode.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r>
              <a:rPr lang="en-US"/>
              <a:t>Saving Configurations</a:t>
            </a:r>
          </a:p>
        </p:txBody>
      </p:sp>
      <p:sp>
        <p:nvSpPr>
          <p:cNvPr id="166915" name="Rectangle 3"/>
          <p:cNvSpPr>
            <a:spLocks noChangeArrowheads="1"/>
          </p:cNvSpPr>
          <p:nvPr/>
        </p:nvSpPr>
        <p:spPr bwMode="auto">
          <a:xfrm>
            <a:off x="1136650" y="4495800"/>
            <a:ext cx="69342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2532" tIns="41265" rIns="82532" bIns="41265"/>
          <a:lstStyle/>
          <a:p>
            <a:pPr>
              <a:buClr>
                <a:schemeClr val="folHlink"/>
              </a:buClr>
            </a:pPr>
            <a:r>
              <a:rPr lang="en-US" sz="2400" b="0"/>
              <a:t>Copies the current configuration to NVRAM</a:t>
            </a:r>
          </a:p>
        </p:txBody>
      </p:sp>
      <p:sp>
        <p:nvSpPr>
          <p:cNvPr id="166917" name="Text Box 5"/>
          <p:cNvSpPr txBox="1">
            <a:spLocks noChangeArrowheads="1"/>
          </p:cNvSpPr>
          <p:nvPr/>
        </p:nvSpPr>
        <p:spPr bwMode="auto">
          <a:xfrm>
            <a:off x="1371600" y="2895600"/>
            <a:ext cx="5327650" cy="1435100"/>
          </a:xfrm>
          <a:prstGeom prst="rect">
            <a:avLst/>
          </a:prstGeom>
          <a:solidFill>
            <a:schemeClr val="bg1"/>
          </a:solidFill>
          <a:ln w="28575" algn="ctr">
            <a:solidFill>
              <a:schemeClr val="tx1"/>
            </a:solidFill>
            <a:miter lim="800000"/>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spAutoFit/>
          </a:bodyPr>
          <a:lstStyle>
            <a:lvl1pPr defTabSz="814388">
              <a:defRPr sz="2400">
                <a:solidFill>
                  <a:schemeClr val="tx1"/>
                </a:solidFill>
                <a:latin typeface="Times" pitchFamily="18" charset="0"/>
              </a:defRPr>
            </a:lvl1pPr>
            <a:lvl2pPr defTabSz="814388">
              <a:defRPr sz="2400">
                <a:solidFill>
                  <a:schemeClr val="tx1"/>
                </a:solidFill>
                <a:latin typeface="Times" pitchFamily="18" charset="0"/>
              </a:defRPr>
            </a:lvl2pPr>
            <a:lvl3pPr defTabSz="814388">
              <a:defRPr sz="2400">
                <a:solidFill>
                  <a:schemeClr val="tx1"/>
                </a:solidFill>
                <a:latin typeface="Times" pitchFamily="18" charset="0"/>
              </a:defRPr>
            </a:lvl3pPr>
            <a:lvl4pPr defTabSz="814388">
              <a:defRPr sz="2400">
                <a:solidFill>
                  <a:schemeClr val="tx1"/>
                </a:solidFill>
                <a:latin typeface="Times" pitchFamily="18" charset="0"/>
              </a:defRPr>
            </a:lvl4pPr>
            <a:lvl5pPr defTabSz="814388">
              <a:defRPr sz="2400">
                <a:solidFill>
                  <a:schemeClr val="tx1"/>
                </a:solidFill>
                <a:latin typeface="Times" pitchFamily="18" charset="0"/>
              </a:defRPr>
            </a:lvl5pPr>
            <a:lvl6pPr defTabSz="814388" fontAlgn="base">
              <a:spcBef>
                <a:spcPct val="0"/>
              </a:spcBef>
              <a:spcAft>
                <a:spcPct val="0"/>
              </a:spcAft>
              <a:defRPr sz="2400">
                <a:solidFill>
                  <a:schemeClr val="tx1"/>
                </a:solidFill>
                <a:latin typeface="Times" pitchFamily="18" charset="0"/>
              </a:defRPr>
            </a:lvl6pPr>
            <a:lvl7pPr defTabSz="814388" fontAlgn="base">
              <a:spcBef>
                <a:spcPct val="0"/>
              </a:spcBef>
              <a:spcAft>
                <a:spcPct val="0"/>
              </a:spcAft>
              <a:defRPr sz="2400">
                <a:solidFill>
                  <a:schemeClr val="tx1"/>
                </a:solidFill>
                <a:latin typeface="Times" pitchFamily="18" charset="0"/>
              </a:defRPr>
            </a:lvl7pPr>
            <a:lvl8pPr defTabSz="814388" fontAlgn="base">
              <a:spcBef>
                <a:spcPct val="0"/>
              </a:spcBef>
              <a:spcAft>
                <a:spcPct val="0"/>
              </a:spcAft>
              <a:defRPr sz="2400">
                <a:solidFill>
                  <a:schemeClr val="tx1"/>
                </a:solidFill>
                <a:latin typeface="Times" pitchFamily="18" charset="0"/>
              </a:defRPr>
            </a:lvl8pPr>
            <a:lvl9pPr defTabSz="814388" fontAlgn="base">
              <a:spcBef>
                <a:spcPct val="0"/>
              </a:spcBef>
              <a:spcAft>
                <a:spcPct val="0"/>
              </a:spcAft>
              <a:defRPr sz="2400">
                <a:solidFill>
                  <a:schemeClr val="tx1"/>
                </a:solidFill>
                <a:latin typeface="Times" pitchFamily="18" charset="0"/>
              </a:defRPr>
            </a:lvl9pPr>
          </a:lstStyle>
          <a:p>
            <a:r>
              <a:rPr lang="en-US" sz="1600">
                <a:latin typeface="Courier New" pitchFamily="49" charset="0"/>
              </a:rPr>
              <a:t>RouterX#</a:t>
            </a:r>
          </a:p>
          <a:p>
            <a:r>
              <a:rPr lang="en-US" sz="1600">
                <a:latin typeface="Courier New" pitchFamily="49" charset="0"/>
              </a:rPr>
              <a:t>RouterX#copy running-config startup-config</a:t>
            </a:r>
          </a:p>
          <a:p>
            <a:r>
              <a:rPr lang="en-US" sz="1600">
                <a:latin typeface="Courier New" pitchFamily="49" charset="0"/>
              </a:rPr>
              <a:t>Destination filename [startup-config]?</a:t>
            </a:r>
          </a:p>
          <a:p>
            <a:r>
              <a:rPr lang="en-US" sz="1600">
                <a:latin typeface="Courier New" pitchFamily="49" charset="0"/>
              </a:rPr>
              <a:t>Building configuration…</a:t>
            </a:r>
          </a:p>
          <a:p>
            <a:endParaRPr lang="en-US" sz="1600">
              <a:latin typeface="Courier New" pitchFamily="49" charset="0"/>
            </a:endParaRPr>
          </a:p>
          <a:p>
            <a:r>
              <a:rPr lang="en-US" sz="1600">
                <a:latin typeface="Courier New" pitchFamily="49" charset="0"/>
              </a:rPr>
              <a:t>RourterX#</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38" name="Group 2"/>
          <p:cNvGrpSpPr>
            <a:grpSpLocks/>
          </p:cNvGrpSpPr>
          <p:nvPr/>
        </p:nvGrpSpPr>
        <p:grpSpPr bwMode="auto">
          <a:xfrm>
            <a:off x="0" y="0"/>
            <a:ext cx="9144000" cy="4383088"/>
            <a:chOff x="0" y="0"/>
            <a:chExt cx="5760" cy="2761"/>
          </a:xfrm>
        </p:grpSpPr>
        <p:grpSp>
          <p:nvGrpSpPr>
            <p:cNvPr id="39939" name="Group 3"/>
            <p:cNvGrpSpPr>
              <a:grpSpLocks/>
            </p:cNvGrpSpPr>
            <p:nvPr/>
          </p:nvGrpSpPr>
          <p:grpSpPr bwMode="auto">
            <a:xfrm>
              <a:off x="1727" y="1485"/>
              <a:ext cx="2400" cy="1276"/>
              <a:chOff x="3272" y="1316"/>
              <a:chExt cx="1889" cy="1002"/>
            </a:xfrm>
          </p:grpSpPr>
          <p:sp>
            <p:nvSpPr>
              <p:cNvPr id="39940" name="AutoShape 4"/>
              <p:cNvSpPr>
                <a:spLocks noChangeAspect="1" noChangeArrowheads="1" noTextEdit="1"/>
              </p:cNvSpPr>
              <p:nvPr/>
            </p:nvSpPr>
            <p:spPr bwMode="auto">
              <a:xfrm>
                <a:off x="3272" y="1316"/>
                <a:ext cx="1889" cy="1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9941" name="Rectangle 5"/>
              <p:cNvSpPr>
                <a:spLocks noChangeArrowheads="1"/>
              </p:cNvSpPr>
              <p:nvPr/>
            </p:nvSpPr>
            <p:spPr bwMode="auto">
              <a:xfrm>
                <a:off x="3803" y="1980"/>
                <a:ext cx="86" cy="325"/>
              </a:xfrm>
              <a:prstGeom prst="rect">
                <a:avLst/>
              </a:prstGeom>
              <a:solidFill>
                <a:srgbClr val="B21A1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9942" name="Freeform 6"/>
              <p:cNvSpPr>
                <a:spLocks/>
              </p:cNvSpPr>
              <p:nvPr/>
            </p:nvSpPr>
            <p:spPr bwMode="auto">
              <a:xfrm>
                <a:off x="4304" y="1971"/>
                <a:ext cx="249" cy="343"/>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1 w 58"/>
                  <a:gd name="T13" fmla="*/ 80 h 80"/>
                  <a:gd name="T14" fmla="*/ 0 w 58"/>
                  <a:gd name="T15" fmla="*/ 40 h 80"/>
                  <a:gd name="T16" fmla="*/ 41 w 58"/>
                  <a:gd name="T17" fmla="*/ 0 h 80"/>
                  <a:gd name="T18" fmla="*/ 58 w 58"/>
                  <a:gd name="T19" fmla="*/ 3 h 80"/>
                  <a:gd name="T20" fmla="*/ 58 w 58"/>
                  <a:gd name="T21"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43" name="Freeform 7"/>
              <p:cNvSpPr>
                <a:spLocks/>
              </p:cNvSpPr>
              <p:nvPr/>
            </p:nvSpPr>
            <p:spPr bwMode="auto">
              <a:xfrm>
                <a:off x="3443" y="1971"/>
                <a:ext cx="249" cy="343"/>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0 w 58"/>
                  <a:gd name="T13" fmla="*/ 80 h 80"/>
                  <a:gd name="T14" fmla="*/ 0 w 58"/>
                  <a:gd name="T15" fmla="*/ 40 h 80"/>
                  <a:gd name="T16" fmla="*/ 40 w 58"/>
                  <a:gd name="T17" fmla="*/ 0 h 80"/>
                  <a:gd name="T18" fmla="*/ 58 w 58"/>
                  <a:gd name="T19" fmla="*/ 3 h 80"/>
                  <a:gd name="T20" fmla="*/ 58 w 58"/>
                  <a:gd name="T21"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44" name="Freeform 8"/>
              <p:cNvSpPr>
                <a:spLocks noEditPoints="1"/>
              </p:cNvSpPr>
              <p:nvPr/>
            </p:nvSpPr>
            <p:spPr bwMode="auto">
              <a:xfrm>
                <a:off x="4643" y="1971"/>
                <a:ext cx="342" cy="343"/>
              </a:xfrm>
              <a:custGeom>
                <a:avLst/>
                <a:gdLst>
                  <a:gd name="T0" fmla="*/ 80 w 80"/>
                  <a:gd name="T1" fmla="*/ 40 h 80"/>
                  <a:gd name="T2" fmla="*/ 40 w 80"/>
                  <a:gd name="T3" fmla="*/ 80 h 80"/>
                  <a:gd name="T4" fmla="*/ 0 w 80"/>
                  <a:gd name="T5" fmla="*/ 40 h 80"/>
                  <a:gd name="T6" fmla="*/ 40 w 80"/>
                  <a:gd name="T7" fmla="*/ 0 h 80"/>
                  <a:gd name="T8" fmla="*/ 80 w 80"/>
                  <a:gd name="T9" fmla="*/ 40 h 80"/>
                  <a:gd name="T10" fmla="*/ 40 w 80"/>
                  <a:gd name="T11" fmla="*/ 20 h 80"/>
                  <a:gd name="T12" fmla="*/ 20 w 80"/>
                  <a:gd name="T13" fmla="*/ 40 h 80"/>
                  <a:gd name="T14" fmla="*/ 40 w 80"/>
                  <a:gd name="T15" fmla="*/ 60 h 80"/>
                  <a:gd name="T16" fmla="*/ 60 w 80"/>
                  <a:gd name="T17" fmla="*/ 40 h 80"/>
                  <a:gd name="T18" fmla="*/ 40 w 80"/>
                  <a:gd name="T19" fmla="*/ 2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45" name="Freeform 9"/>
              <p:cNvSpPr>
                <a:spLocks/>
              </p:cNvSpPr>
              <p:nvPr/>
            </p:nvSpPr>
            <p:spPr bwMode="auto">
              <a:xfrm>
                <a:off x="4000" y="1971"/>
                <a:ext cx="223" cy="343"/>
              </a:xfrm>
              <a:custGeom>
                <a:avLst/>
                <a:gdLst>
                  <a:gd name="T0" fmla="*/ 47 w 52"/>
                  <a:gd name="T1" fmla="*/ 19 h 80"/>
                  <a:gd name="T2" fmla="*/ 32 w 52"/>
                  <a:gd name="T3" fmla="*/ 17 h 80"/>
                  <a:gd name="T4" fmla="*/ 20 w 52"/>
                  <a:gd name="T5" fmla="*/ 23 h 80"/>
                  <a:gd name="T6" fmla="*/ 29 w 52"/>
                  <a:gd name="T7" fmla="*/ 30 h 80"/>
                  <a:gd name="T8" fmla="*/ 34 w 52"/>
                  <a:gd name="T9" fmla="*/ 32 h 80"/>
                  <a:gd name="T10" fmla="*/ 52 w 52"/>
                  <a:gd name="T11" fmla="*/ 54 h 80"/>
                  <a:gd name="T12" fmla="*/ 21 w 52"/>
                  <a:gd name="T13" fmla="*/ 80 h 80"/>
                  <a:gd name="T14" fmla="*/ 0 w 52"/>
                  <a:gd name="T15" fmla="*/ 77 h 80"/>
                  <a:gd name="T16" fmla="*/ 0 w 52"/>
                  <a:gd name="T17" fmla="*/ 60 h 80"/>
                  <a:gd name="T18" fmla="*/ 18 w 52"/>
                  <a:gd name="T19" fmla="*/ 63 h 80"/>
                  <a:gd name="T20" fmla="*/ 32 w 52"/>
                  <a:gd name="T21" fmla="*/ 56 h 80"/>
                  <a:gd name="T22" fmla="*/ 23 w 52"/>
                  <a:gd name="T23" fmla="*/ 48 h 80"/>
                  <a:gd name="T24" fmla="*/ 19 w 52"/>
                  <a:gd name="T25" fmla="*/ 47 h 80"/>
                  <a:gd name="T26" fmla="*/ 0 w 52"/>
                  <a:gd name="T27" fmla="*/ 24 h 80"/>
                  <a:gd name="T28" fmla="*/ 28 w 52"/>
                  <a:gd name="T29" fmla="*/ 0 h 80"/>
                  <a:gd name="T30" fmla="*/ 47 w 52"/>
                  <a:gd name="T31" fmla="*/ 3 h 80"/>
                  <a:gd name="T32" fmla="*/ 47 w 52"/>
                  <a:gd name="T33" fmla="*/ 1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46" name="Freeform 10"/>
              <p:cNvSpPr>
                <a:spLocks/>
              </p:cNvSpPr>
              <p:nvPr/>
            </p:nvSpPr>
            <p:spPr bwMode="auto">
              <a:xfrm>
                <a:off x="3272" y="1586"/>
                <a:ext cx="81" cy="167"/>
              </a:xfrm>
              <a:custGeom>
                <a:avLst/>
                <a:gdLst>
                  <a:gd name="T0" fmla="*/ 19 w 19"/>
                  <a:gd name="T1" fmla="*/ 10 h 39"/>
                  <a:gd name="T2" fmla="*/ 10 w 19"/>
                  <a:gd name="T3" fmla="*/ 0 h 39"/>
                  <a:gd name="T4" fmla="*/ 0 w 19"/>
                  <a:gd name="T5" fmla="*/ 10 h 39"/>
                  <a:gd name="T6" fmla="*/ 0 w 19"/>
                  <a:gd name="T7" fmla="*/ 30 h 39"/>
                  <a:gd name="T8" fmla="*/ 10 w 19"/>
                  <a:gd name="T9" fmla="*/ 39 h 39"/>
                  <a:gd name="T10" fmla="*/ 19 w 19"/>
                  <a:gd name="T11" fmla="*/ 30 h 39"/>
                  <a:gd name="T12" fmla="*/ 19 w 19"/>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47" name="Freeform 11"/>
              <p:cNvSpPr>
                <a:spLocks/>
              </p:cNvSpPr>
              <p:nvPr/>
            </p:nvSpPr>
            <p:spPr bwMode="auto">
              <a:xfrm>
                <a:off x="3499" y="1474"/>
                <a:ext cx="81" cy="279"/>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48" name="Freeform 12"/>
              <p:cNvSpPr>
                <a:spLocks/>
              </p:cNvSpPr>
              <p:nvPr/>
            </p:nvSpPr>
            <p:spPr bwMode="auto">
              <a:xfrm>
                <a:off x="3722" y="1320"/>
                <a:ext cx="81" cy="514"/>
              </a:xfrm>
              <a:custGeom>
                <a:avLst/>
                <a:gdLst>
                  <a:gd name="T0" fmla="*/ 19 w 19"/>
                  <a:gd name="T1" fmla="*/ 9 h 120"/>
                  <a:gd name="T2" fmla="*/ 10 w 19"/>
                  <a:gd name="T3" fmla="*/ 0 h 120"/>
                  <a:gd name="T4" fmla="*/ 0 w 19"/>
                  <a:gd name="T5" fmla="*/ 9 h 120"/>
                  <a:gd name="T6" fmla="*/ 0 w 19"/>
                  <a:gd name="T7" fmla="*/ 111 h 120"/>
                  <a:gd name="T8" fmla="*/ 10 w 19"/>
                  <a:gd name="T9" fmla="*/ 120 h 120"/>
                  <a:gd name="T10" fmla="*/ 19 w 19"/>
                  <a:gd name="T11" fmla="*/ 111 h 120"/>
                  <a:gd name="T12" fmla="*/ 19 w 19"/>
                  <a:gd name="T13" fmla="*/ 9 h 120"/>
                </a:gdLst>
                <a:ahLst/>
                <a:cxnLst>
                  <a:cxn ang="0">
                    <a:pos x="T0" y="T1"/>
                  </a:cxn>
                  <a:cxn ang="0">
                    <a:pos x="T2" y="T3"/>
                  </a:cxn>
                  <a:cxn ang="0">
                    <a:pos x="T4" y="T5"/>
                  </a:cxn>
                  <a:cxn ang="0">
                    <a:pos x="T6" y="T7"/>
                  </a:cxn>
                  <a:cxn ang="0">
                    <a:pos x="T8" y="T9"/>
                  </a:cxn>
                  <a:cxn ang="0">
                    <a:pos x="T10" y="T11"/>
                  </a:cxn>
                  <a:cxn ang="0">
                    <a:pos x="T12" y="T13"/>
                  </a:cxn>
                </a:cxnLst>
                <a:rect l="0" t="0" r="r" b="b"/>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49" name="Freeform 13"/>
              <p:cNvSpPr>
                <a:spLocks/>
              </p:cNvSpPr>
              <p:nvPr/>
            </p:nvSpPr>
            <p:spPr bwMode="auto">
              <a:xfrm>
                <a:off x="3949" y="1474"/>
                <a:ext cx="81" cy="279"/>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50" name="Freeform 14"/>
              <p:cNvSpPr>
                <a:spLocks/>
              </p:cNvSpPr>
              <p:nvPr/>
            </p:nvSpPr>
            <p:spPr bwMode="auto">
              <a:xfrm>
                <a:off x="4171" y="1586"/>
                <a:ext cx="86" cy="167"/>
              </a:xfrm>
              <a:custGeom>
                <a:avLst/>
                <a:gdLst>
                  <a:gd name="T0" fmla="*/ 20 w 20"/>
                  <a:gd name="T1" fmla="*/ 10 h 39"/>
                  <a:gd name="T2" fmla="*/ 10 w 20"/>
                  <a:gd name="T3" fmla="*/ 0 h 39"/>
                  <a:gd name="T4" fmla="*/ 0 w 20"/>
                  <a:gd name="T5" fmla="*/ 10 h 39"/>
                  <a:gd name="T6" fmla="*/ 0 w 20"/>
                  <a:gd name="T7" fmla="*/ 30 h 39"/>
                  <a:gd name="T8" fmla="*/ 10 w 20"/>
                  <a:gd name="T9" fmla="*/ 39 h 39"/>
                  <a:gd name="T10" fmla="*/ 20 w 20"/>
                  <a:gd name="T11" fmla="*/ 30 h 39"/>
                  <a:gd name="T12" fmla="*/ 20 w 20"/>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51" name="Freeform 15"/>
              <p:cNvSpPr>
                <a:spLocks/>
              </p:cNvSpPr>
              <p:nvPr/>
            </p:nvSpPr>
            <p:spPr bwMode="auto">
              <a:xfrm>
                <a:off x="4398" y="1474"/>
                <a:ext cx="82" cy="279"/>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52" name="Freeform 16"/>
              <p:cNvSpPr>
                <a:spLocks/>
              </p:cNvSpPr>
              <p:nvPr/>
            </p:nvSpPr>
            <p:spPr bwMode="auto">
              <a:xfrm>
                <a:off x="4625" y="1320"/>
                <a:ext cx="82" cy="514"/>
              </a:xfrm>
              <a:custGeom>
                <a:avLst/>
                <a:gdLst>
                  <a:gd name="T0" fmla="*/ 19 w 19"/>
                  <a:gd name="T1" fmla="*/ 9 h 120"/>
                  <a:gd name="T2" fmla="*/ 9 w 19"/>
                  <a:gd name="T3" fmla="*/ 0 h 120"/>
                  <a:gd name="T4" fmla="*/ 0 w 19"/>
                  <a:gd name="T5" fmla="*/ 9 h 120"/>
                  <a:gd name="T6" fmla="*/ 0 w 19"/>
                  <a:gd name="T7" fmla="*/ 111 h 120"/>
                  <a:gd name="T8" fmla="*/ 9 w 19"/>
                  <a:gd name="T9" fmla="*/ 120 h 120"/>
                  <a:gd name="T10" fmla="*/ 19 w 19"/>
                  <a:gd name="T11" fmla="*/ 111 h 120"/>
                  <a:gd name="T12" fmla="*/ 19 w 19"/>
                  <a:gd name="T13" fmla="*/ 9 h 120"/>
                </a:gdLst>
                <a:ahLst/>
                <a:cxnLst>
                  <a:cxn ang="0">
                    <a:pos x="T0" y="T1"/>
                  </a:cxn>
                  <a:cxn ang="0">
                    <a:pos x="T2" y="T3"/>
                  </a:cxn>
                  <a:cxn ang="0">
                    <a:pos x="T4" y="T5"/>
                  </a:cxn>
                  <a:cxn ang="0">
                    <a:pos x="T6" y="T7"/>
                  </a:cxn>
                  <a:cxn ang="0">
                    <a:pos x="T8" y="T9"/>
                  </a:cxn>
                  <a:cxn ang="0">
                    <a:pos x="T10" y="T11"/>
                  </a:cxn>
                  <a:cxn ang="0">
                    <a:pos x="T12" y="T13"/>
                  </a:cxn>
                </a:cxnLst>
                <a:rect l="0" t="0" r="r" b="b"/>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53" name="Freeform 17"/>
              <p:cNvSpPr>
                <a:spLocks/>
              </p:cNvSpPr>
              <p:nvPr/>
            </p:nvSpPr>
            <p:spPr bwMode="auto">
              <a:xfrm>
                <a:off x="4848" y="1474"/>
                <a:ext cx="82" cy="279"/>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54" name="Freeform 18"/>
              <p:cNvSpPr>
                <a:spLocks/>
              </p:cNvSpPr>
              <p:nvPr/>
            </p:nvSpPr>
            <p:spPr bwMode="auto">
              <a:xfrm>
                <a:off x="5075" y="1586"/>
                <a:ext cx="82" cy="167"/>
              </a:xfrm>
              <a:custGeom>
                <a:avLst/>
                <a:gdLst>
                  <a:gd name="T0" fmla="*/ 19 w 19"/>
                  <a:gd name="T1" fmla="*/ 10 h 39"/>
                  <a:gd name="T2" fmla="*/ 9 w 19"/>
                  <a:gd name="T3" fmla="*/ 0 h 39"/>
                  <a:gd name="T4" fmla="*/ 0 w 19"/>
                  <a:gd name="T5" fmla="*/ 10 h 39"/>
                  <a:gd name="T6" fmla="*/ 0 w 19"/>
                  <a:gd name="T7" fmla="*/ 30 h 39"/>
                  <a:gd name="T8" fmla="*/ 9 w 19"/>
                  <a:gd name="T9" fmla="*/ 39 h 39"/>
                  <a:gd name="T10" fmla="*/ 19 w 19"/>
                  <a:gd name="T11" fmla="*/ 30 h 39"/>
                  <a:gd name="T12" fmla="*/ 19 w 19"/>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9955" name="Rectangle 19"/>
            <p:cNvSpPr>
              <a:spLocks noChangeArrowheads="1"/>
            </p:cNvSpPr>
            <p:nvPr/>
          </p:nvSpPr>
          <p:spPr bwMode="auto">
            <a:xfrm>
              <a:off x="0" y="0"/>
              <a:ext cx="5760" cy="432"/>
            </a:xfrm>
            <a:prstGeom prst="rect">
              <a:avLst/>
            </a:prstGeom>
            <a:solidFill>
              <a:srgbClr val="FFFFFF"/>
            </a:solidFill>
            <a:ln>
              <a:noFill/>
            </a:ln>
            <a:effectLst/>
            <a:extLst>
              <a:ext uri="{91240B29-F687-4F45-9708-019B960494DF}">
                <a14:hiddenLine xmlns:a14="http://schemas.microsoft.com/office/drawing/2010/main" w="9525" algn="ctr">
                  <a:solidFill>
                    <a:srgbClr val="4798AB"/>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p>
              <a:endParaRPr lang="en-US"/>
            </a:p>
          </p:txBody>
        </p:sp>
      </p:grpSp>
    </p:spTree>
  </p:cSld>
  <p:clrMapOvr>
    <a:masterClrMapping/>
  </p:clrMapOvr>
  <p:transition spd="med"/>
</p:sld>
</file>

<file path=ppt/theme/theme1.xml><?xml version="1.0" encoding="utf-8"?>
<a:theme xmlns:a="http://schemas.openxmlformats.org/drawingml/2006/main" name="TMP-DEV-PPT-v8.1">
  <a:themeElements>
    <a:clrScheme name="">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TMP-DEV-PPT-v8.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000" b="1" i="0" u="none" strike="noStrike" cap="none" normalizeH="0" baseline="0" smtClean="0">
            <a:ln>
              <a:noFill/>
            </a:ln>
            <a:solidFill>
              <a:schemeClr val="tx1"/>
            </a:solidFill>
            <a:effectLst/>
            <a:latin typeface="Arial" charset="0"/>
          </a:defRPr>
        </a:defPPr>
      </a:lstStyle>
    </a:lnDef>
  </a:objectDefaults>
  <a:extraClrSchemeLst>
    <a:extraClrScheme>
      <a:clrScheme name="TMP-DEV-PPT-v8.1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MP-DEV-PPT-v8.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TMP-DEV-PPT-v8.1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MP-DEV-PPT-v8.1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MP-DEV-PPT-v8.1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MP-DEV-PPT-v8.1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TMP-DEV-PPT-v8.1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TMP-DEV-PPT-v8.1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TMP-DEV-PPT-v8.1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3">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336599"/>
        </a:hlink>
        <a:folHlink>
          <a:srgbClr val="EEB30E"/>
        </a:folHlink>
      </a:clrScheme>
      <a:clrMap bg1="lt1" tx1="dk1" bg2="lt2" tx2="dk2" accent1="accent1" accent2="accent2" accent3="accent3" accent4="accent4" accent5="accent5" accent6="accent6" hlink="hlink" folHlink="folHlink"/>
    </a:extraClrScheme>
    <a:extraClrScheme>
      <a:clrScheme name="TMP-DEV-PPT-v8.1 14">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5">
        <a:dk1>
          <a:srgbClr val="000000"/>
        </a:dk1>
        <a:lt1>
          <a:srgbClr val="FFFFFF"/>
        </a:lt1>
        <a:dk2>
          <a:srgbClr val="0183B7"/>
        </a:dk2>
        <a:lt2>
          <a:srgbClr val="000000"/>
        </a:lt2>
        <a:accent1>
          <a:srgbClr val="0183B7"/>
        </a:accent1>
        <a:accent2>
          <a:srgbClr val="B92B38"/>
        </a:accent2>
        <a:accent3>
          <a:srgbClr val="FFFFFF"/>
        </a:accent3>
        <a:accent4>
          <a:srgbClr val="000000"/>
        </a:accent4>
        <a:accent5>
          <a:srgbClr val="AAC1D8"/>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6">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4B87C3"/>
        </a:hlink>
        <a:folHlink>
          <a:srgbClr val="EEB30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758</TotalTime>
  <Words>1798</Words>
  <Application>Microsoft Office PowerPoint</Application>
  <PresentationFormat>On-screen Show (4:3)</PresentationFormat>
  <Paragraphs>134</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-apple-system</vt:lpstr>
      <vt:lpstr>Arial</vt:lpstr>
      <vt:lpstr>Courier New</vt:lpstr>
      <vt:lpstr>Times</vt:lpstr>
      <vt:lpstr>Wingdings</vt:lpstr>
      <vt:lpstr>TMP-DEV-PPT-v8.1</vt:lpstr>
      <vt:lpstr>LAN Connections </vt:lpstr>
      <vt:lpstr>Overview of Router Modes</vt:lpstr>
      <vt:lpstr>Configuring Router Identification</vt:lpstr>
      <vt:lpstr>Console-Line Commands</vt:lpstr>
      <vt:lpstr>Configuring an Interface</vt:lpstr>
      <vt:lpstr>Configuring an Interface Description</vt:lpstr>
      <vt:lpstr>Disabling or Enabling an Interface</vt:lpstr>
      <vt:lpstr>Configuring IP Addresses</vt:lpstr>
      <vt:lpstr>Router show interfaces Command</vt:lpstr>
      <vt:lpstr>Interpreting the Interface Status</vt:lpstr>
      <vt:lpstr>Verifying a Serial Interface Configuration</vt:lpstr>
      <vt:lpstr>Summary</vt:lpstr>
      <vt:lpstr>Saving Configurations</vt:lpstr>
      <vt:lpstr>PowerPoint Presentation</vt:lpstr>
    </vt:vector>
  </TitlesOfParts>
  <Company>Cisco Systems,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ILT-MA-ModuleSumm-v3.1.ppt</dc:title>
  <dc:creator>CLS Production and Editing QA Services</dc:creator>
  <dc:description>04/04, v3.1, Libby Goga_x000d_
applied new ILSG learning design_x000d_
04/24/04, v3.1, Erin Stanley_x000d_
prepared for production</dc:description>
  <cp:lastModifiedBy>Phạm Thái Khanh</cp:lastModifiedBy>
  <cp:revision>63</cp:revision>
  <dcterms:created xsi:type="dcterms:W3CDTF">2003-04-02T15:29:42Z</dcterms:created>
  <dcterms:modified xsi:type="dcterms:W3CDTF">2024-11-14T06:51:42Z</dcterms:modified>
</cp:coreProperties>
</file>