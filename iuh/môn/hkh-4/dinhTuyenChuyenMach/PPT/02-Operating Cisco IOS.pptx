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4" r:id="rId1"/>
  </p:sldMasterIdLst>
  <p:notesMasterIdLst>
    <p:notesMasterId r:id="rId47"/>
  </p:notesMasterIdLst>
  <p:handoutMasterIdLst>
    <p:handoutMasterId r:id="rId48"/>
  </p:handoutMasterIdLst>
  <p:sldIdLst>
    <p:sldId id="303" r:id="rId2"/>
    <p:sldId id="275" r:id="rId3"/>
    <p:sldId id="272" r:id="rId4"/>
    <p:sldId id="285" r:id="rId5"/>
    <p:sldId id="286" r:id="rId6"/>
    <p:sldId id="267" r:id="rId7"/>
    <p:sldId id="268" r:id="rId8"/>
    <p:sldId id="269" r:id="rId9"/>
    <p:sldId id="289" r:id="rId10"/>
    <p:sldId id="278" r:id="rId11"/>
    <p:sldId id="280" r:id="rId12"/>
    <p:sldId id="281" r:id="rId13"/>
    <p:sldId id="282" r:id="rId14"/>
    <p:sldId id="283" r:id="rId15"/>
    <p:sldId id="284" r:id="rId16"/>
    <p:sldId id="287" r:id="rId17"/>
    <p:sldId id="288"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261" r:id="rId44"/>
    <p:sldId id="273" r:id="rId45"/>
    <p:sldId id="277" r:id="rId46"/>
  </p:sldIdLst>
  <p:sldSz cx="9144000" cy="6858000" type="screen4x3"/>
  <p:notesSz cx="6997700" cy="9283700"/>
  <p:defaultTextStyle>
    <a:defPPr>
      <a:defRPr lang="en-US"/>
    </a:defPPr>
    <a:lvl1pPr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1pPr>
    <a:lvl2pPr marL="4572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2pPr>
    <a:lvl3pPr marL="9144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3pPr>
    <a:lvl4pPr marL="13716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4pPr>
    <a:lvl5pPr marL="18288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5pPr>
    <a:lvl6pPr marL="2286000" algn="l" defTabSz="914400" rtl="0" eaLnBrk="1" latinLnBrk="0" hangingPunct="1">
      <a:defRPr sz="3000" b="1" kern="1200">
        <a:solidFill>
          <a:schemeClr val="tx1"/>
        </a:solidFill>
        <a:latin typeface="Arial" charset="0"/>
        <a:ea typeface="+mn-ea"/>
        <a:cs typeface="+mn-cs"/>
      </a:defRPr>
    </a:lvl6pPr>
    <a:lvl7pPr marL="2743200" algn="l" defTabSz="914400" rtl="0" eaLnBrk="1" latinLnBrk="0" hangingPunct="1">
      <a:defRPr sz="3000" b="1" kern="1200">
        <a:solidFill>
          <a:schemeClr val="tx1"/>
        </a:solidFill>
        <a:latin typeface="Arial" charset="0"/>
        <a:ea typeface="+mn-ea"/>
        <a:cs typeface="+mn-cs"/>
      </a:defRPr>
    </a:lvl7pPr>
    <a:lvl8pPr marL="3200400" algn="l" defTabSz="914400" rtl="0" eaLnBrk="1" latinLnBrk="0" hangingPunct="1">
      <a:defRPr sz="3000" b="1" kern="1200">
        <a:solidFill>
          <a:schemeClr val="tx1"/>
        </a:solidFill>
        <a:latin typeface="Arial" charset="0"/>
        <a:ea typeface="+mn-ea"/>
        <a:cs typeface="+mn-cs"/>
      </a:defRPr>
    </a:lvl8pPr>
    <a:lvl9pPr marL="3657600" algn="l" defTabSz="914400" rtl="0" eaLnBrk="1" latinLnBrk="0" hangingPunct="1">
      <a:defRPr sz="30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D2B4"/>
    <a:srgbClr val="35297D"/>
    <a:srgbClr val="397473"/>
    <a:srgbClr val="345334"/>
    <a:srgbClr val="666633"/>
    <a:srgbClr val="47248E"/>
    <a:srgbClr val="FFE781"/>
    <a:srgbClr val="DCE4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09" autoAdjust="0"/>
    <p:restoredTop sz="63345" autoAdjust="0"/>
  </p:normalViewPr>
  <p:slideViewPr>
    <p:cSldViewPr>
      <p:cViewPr varScale="1">
        <p:scale>
          <a:sx n="45" d="100"/>
          <a:sy n="45" d="100"/>
        </p:scale>
        <p:origin x="-2298" y="-102"/>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_rels/viewProps.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6" name="Rectangle 4"/>
          <p:cNvSpPr>
            <a:spLocks noChangeArrowheads="1"/>
          </p:cNvSpPr>
          <p:nvPr/>
        </p:nvSpPr>
        <p:spPr bwMode="auto">
          <a:xfrm>
            <a:off x="57150" y="8958263"/>
            <a:ext cx="6850063"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14" tIns="50787" rIns="96814" bIns="50787">
            <a:spAutoFit/>
          </a:bodyPr>
          <a:lstStyle/>
          <a:p>
            <a:pPr defTabSz="619125">
              <a:lnSpc>
                <a:spcPct val="100000"/>
              </a:lnSpc>
              <a:tabLst>
                <a:tab pos="2416175" algn="l"/>
                <a:tab pos="4889500" algn="l"/>
              </a:tabLst>
            </a:pPr>
            <a:r>
              <a:rPr lang="en-US" sz="800"/>
              <a:t>Copyright © 2003, Cisco Systems, Inc. All rights reserved. Printed in USA.</a:t>
            </a:r>
            <a:br>
              <a:rPr lang="en-US" sz="800"/>
            </a:br>
            <a:r>
              <a:rPr lang="en-US" sz="800"/>
              <a:t>Presentation_ID.scr</a:t>
            </a:r>
          </a:p>
        </p:txBody>
      </p:sp>
      <p:sp>
        <p:nvSpPr>
          <p:cNvPr id="3077" name="Line 5"/>
          <p:cNvSpPr>
            <a:spLocks noChangeShapeType="1"/>
          </p:cNvSpPr>
          <p:nvPr/>
        </p:nvSpPr>
        <p:spPr bwMode="auto">
          <a:xfrm>
            <a:off x="153988" y="8972550"/>
            <a:ext cx="6688137"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1063507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304" name="Rectangle 8"/>
          <p:cNvSpPr>
            <a:spLocks noChangeArrowheads="1"/>
          </p:cNvSpPr>
          <p:nvPr/>
        </p:nvSpPr>
        <p:spPr bwMode="auto">
          <a:xfrm>
            <a:off x="6238875" y="8596313"/>
            <a:ext cx="4492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3305" name="Rectangle 9"/>
          <p:cNvSpPr>
            <a:spLocks noChangeArrowheads="1"/>
          </p:cNvSpPr>
          <p:nvPr/>
        </p:nvSpPr>
        <p:spPr bwMode="auto">
          <a:xfrm>
            <a:off x="57150" y="8774113"/>
            <a:ext cx="2614613"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371" tIns="50030" rIns="95371" bIns="50030">
            <a:spAutoFit/>
          </a:bodyPr>
          <a:lstStyle/>
          <a:p>
            <a:pPr defTabSz="609600">
              <a:lnSpc>
                <a:spcPct val="100000"/>
              </a:lnSpc>
              <a:tabLst>
                <a:tab pos="2379663" algn="l"/>
                <a:tab pos="4816475" algn="l"/>
              </a:tabLst>
            </a:pPr>
            <a:r>
              <a:rPr lang="en-US" sz="800"/>
              <a:t>© 2003, Cisco Systems, Inc. All rights reserved.</a:t>
            </a:r>
          </a:p>
          <a:p>
            <a:pPr defTabSz="609600">
              <a:lnSpc>
                <a:spcPct val="100000"/>
              </a:lnSpc>
              <a:tabLst>
                <a:tab pos="2379663" algn="l"/>
                <a:tab pos="4816475" algn="l"/>
              </a:tabLst>
            </a:pPr>
            <a:r>
              <a:rPr lang="en-US" sz="800"/>
              <a:t>&lt;Title of Course (ACRO) vX.X&gt;</a:t>
            </a:r>
          </a:p>
        </p:txBody>
      </p:sp>
      <p:sp>
        <p:nvSpPr>
          <p:cNvPr id="183306" name="Line 10"/>
          <p:cNvSpPr>
            <a:spLocks noChangeShapeType="1"/>
          </p:cNvSpPr>
          <p:nvPr/>
        </p:nvSpPr>
        <p:spPr bwMode="auto">
          <a:xfrm>
            <a:off x="152400" y="8788400"/>
            <a:ext cx="664051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3307" name="Rectangle 11"/>
          <p:cNvSpPr>
            <a:spLocks noGrp="1" noChangeArrowheads="1"/>
          </p:cNvSpPr>
          <p:nvPr>
            <p:ph type="sldNum" sz="quarter" idx="5"/>
          </p:nvPr>
        </p:nvSpPr>
        <p:spPr bwMode="auto">
          <a:xfrm>
            <a:off x="5918200" y="8667750"/>
            <a:ext cx="812800"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761" tIns="0" rIns="18761" bIns="0" numCol="1" anchor="b" anchorCtr="0" compatLnSpc="1">
            <a:prstTxWarp prst="textNoShape">
              <a:avLst/>
            </a:prstTxWarp>
          </a:bodyPr>
          <a:lstStyle>
            <a:lvl1pPr algn="r" defTabSz="900113">
              <a:lnSpc>
                <a:spcPct val="100000"/>
              </a:lnSpc>
              <a:defRPr sz="800" b="0"/>
            </a:lvl1pPr>
          </a:lstStyle>
          <a:p>
            <a:fld id="{694DE22A-2948-42B6-8E40-5167C416FCDF}" type="slidenum">
              <a:rPr lang="en-US"/>
              <a:pPr/>
              <a:t>‹#›</a:t>
            </a:fld>
            <a:endParaRPr lang="en-US"/>
          </a:p>
        </p:txBody>
      </p:sp>
      <p:sp>
        <p:nvSpPr>
          <p:cNvPr id="183308" name="Rectangle 12"/>
          <p:cNvSpPr>
            <a:spLocks noGrp="1" noRot="1" noChangeAspect="1" noChangeArrowheads="1" noTextEdit="1"/>
          </p:cNvSpPr>
          <p:nvPr>
            <p:ph type="sldImg" idx="2"/>
          </p:nvPr>
        </p:nvSpPr>
        <p:spPr bwMode="auto">
          <a:xfrm>
            <a:off x="873125" y="244475"/>
            <a:ext cx="5314950" cy="3986213"/>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3309" name="Rectangle 13"/>
          <p:cNvSpPr>
            <a:spLocks noGrp="1" noChangeArrowheads="1"/>
          </p:cNvSpPr>
          <p:nvPr>
            <p:ph type="body" sz="quarter" idx="3"/>
          </p:nvPr>
        </p:nvSpPr>
        <p:spPr bwMode="auto">
          <a:xfrm>
            <a:off x="403225" y="4371975"/>
            <a:ext cx="6110288" cy="424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371" tIns="50030" rIns="95371" bIns="50030"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extLst>
      <p:ext uri="{BB962C8B-B14F-4D97-AF65-F5344CB8AC3E}">
        <p14:creationId xmlns:p14="http://schemas.microsoft.com/office/powerpoint/2010/main" val="2938095571"/>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1pPr>
    <a:lvl2pPr marL="482600" indent="-120650"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2pPr>
    <a:lvl3pPr marL="9667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3pPr>
    <a:lvl4pPr marL="14493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4pPr>
    <a:lvl5pPr marL="19319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08CB692E-68EF-45C5-9145-0CF5E117DC9B}" type="slidenum">
              <a:rPr lang="en-US"/>
              <a:pPr/>
              <a:t>1</a:t>
            </a:fld>
            <a:endParaRPr lang="en-US"/>
          </a:p>
        </p:txBody>
      </p:sp>
      <p:sp>
        <p:nvSpPr>
          <p:cNvPr id="732162" name="Rectangle 2"/>
          <p:cNvSpPr>
            <a:spLocks noGrp="1" noRot="1" noChangeAspect="1" noChangeArrowheads="1" noTextEdit="1"/>
          </p:cNvSpPr>
          <p:nvPr>
            <p:ph type="sldImg"/>
          </p:nvPr>
        </p:nvSpPr>
        <p:spPr>
          <a:xfrm>
            <a:off x="871538" y="244475"/>
            <a:ext cx="5314950" cy="3986213"/>
          </a:xfrm>
          <a:ln/>
        </p:spPr>
      </p:sp>
      <p:sp>
        <p:nvSpPr>
          <p:cNvPr id="732163" name="Rectangle 3"/>
          <p:cNvSpPr>
            <a:spLocks noGrp="1" noChangeArrowheads="1"/>
          </p:cNvSpPr>
          <p:nvPr>
            <p:ph type="body" idx="1"/>
          </p:nvPr>
        </p:nvSpPr>
        <p:spPr>
          <a:xfrm>
            <a:off x="403225" y="4370388"/>
            <a:ext cx="6110288" cy="4249737"/>
          </a:xfrm>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08CB692E-68EF-45C5-9145-0CF5E117DC9B}" type="slidenum">
              <a:rPr lang="en-US"/>
              <a:pPr/>
              <a:t>2</a:t>
            </a:fld>
            <a:endParaRPr lang="en-US"/>
          </a:p>
        </p:txBody>
      </p:sp>
      <p:sp>
        <p:nvSpPr>
          <p:cNvPr id="732162" name="Rectangle 2"/>
          <p:cNvSpPr>
            <a:spLocks noGrp="1" noRot="1" noChangeAspect="1" noChangeArrowheads="1" noTextEdit="1"/>
          </p:cNvSpPr>
          <p:nvPr>
            <p:ph type="sldImg"/>
          </p:nvPr>
        </p:nvSpPr>
        <p:spPr>
          <a:xfrm>
            <a:off x="871538" y="244475"/>
            <a:ext cx="5314950" cy="3986213"/>
          </a:xfrm>
          <a:ln/>
        </p:spPr>
      </p:sp>
      <p:sp>
        <p:nvSpPr>
          <p:cNvPr id="732163" name="Rectangle 3"/>
          <p:cNvSpPr>
            <a:spLocks noGrp="1" noChangeArrowheads="1"/>
          </p:cNvSpPr>
          <p:nvPr>
            <p:ph type="body" idx="1"/>
          </p:nvPr>
        </p:nvSpPr>
        <p:spPr>
          <a:xfrm>
            <a:off x="403225" y="4370388"/>
            <a:ext cx="6110288" cy="4249737"/>
          </a:xfrm>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3332ED7E-41E6-416D-8983-4FCA22A5694D}" type="slidenum">
              <a:rPr lang="en-US"/>
              <a:pPr/>
              <a:t>3</a:t>
            </a:fld>
            <a:endParaRPr lang="en-US"/>
          </a:p>
        </p:txBody>
      </p:sp>
      <p:sp>
        <p:nvSpPr>
          <p:cNvPr id="712706" name="Rectangle 2"/>
          <p:cNvSpPr>
            <a:spLocks noGrp="1" noRot="1" noChangeAspect="1" noChangeArrowheads="1" noTextEdit="1"/>
          </p:cNvSpPr>
          <p:nvPr>
            <p:ph type="sldImg"/>
          </p:nvPr>
        </p:nvSpPr>
        <p:spPr bwMode="auto">
          <a:xfrm>
            <a:off x="1125538" y="304800"/>
            <a:ext cx="4775200" cy="3581400"/>
          </a:xfrm>
          <a:prstGeom prst="rect">
            <a:avLst/>
          </a:prstGeom>
          <a:noFill/>
          <a:extLst>
            <a:ext uri="{909E8E84-426E-40DD-AFC4-6F175D3DCCD1}">
              <a14:hiddenFill xmlns:a14="http://schemas.microsoft.com/office/drawing/2010/main">
                <a:solidFill>
                  <a:srgbClr val="FFFFFF"/>
                </a:solidFill>
              </a14:hiddenFill>
            </a:ext>
          </a:extLst>
        </p:spPr>
      </p:sp>
      <p:sp>
        <p:nvSpPr>
          <p:cNvPr id="712707" name="Rectangle 3"/>
          <p:cNvSpPr>
            <a:spLocks noGrp="1" noChangeArrowheads="1"/>
          </p:cNvSpPr>
          <p:nvPr>
            <p:ph type="body" idx="1"/>
          </p:nvPr>
        </p:nvSpPr>
        <p:spPr bwMode="auto">
          <a:xfrm>
            <a:off x="534988" y="4114800"/>
            <a:ext cx="5954712" cy="4649788"/>
          </a:xfrm>
          <a:prstGeom prst="rect">
            <a:avLst/>
          </a:prstGeom>
          <a:solidFill>
            <a:srgbClr val="FFFFFF"/>
          </a:solidFill>
          <a:ln>
            <a:solidFill>
              <a:srgbClr val="000000"/>
            </a:solidFill>
            <a:miter lim="800000"/>
            <a:headEnd/>
            <a:tailEnd/>
          </a:ln>
        </p:spPr>
        <p:txBody>
          <a:bodyPr/>
          <a:lstStyle/>
          <a:p>
            <a:r>
              <a:rPr lang="en-US" b="1" dirty="0"/>
              <a:t>Purpose: </a:t>
            </a:r>
            <a:r>
              <a:rPr lang="en-US" dirty="0"/>
              <a:t>This slide introduces Cisco IOS software.</a:t>
            </a:r>
          </a:p>
          <a:p>
            <a:r>
              <a:rPr lang="en-US" b="1" dirty="0"/>
              <a:t>Emphasize: </a:t>
            </a:r>
            <a:r>
              <a:rPr lang="en-US" dirty="0"/>
              <a:t>Use this slide for your first introduction of Cisco IOS software to your students. Cisco IOS software is the platform that delivers network services for the network applications. This Cisco IOS software platform extends beyond the routers. Cisco IOS also applies to selected Catalyst switches. Eventually, all Cisco platforms may merge to the Cisco IOS software. </a:t>
            </a:r>
          </a:p>
          <a:p>
            <a:r>
              <a:rPr lang="en-US" b="1" dirty="0"/>
              <a:t>Note: </a:t>
            </a:r>
            <a:r>
              <a:rPr lang="en-US" dirty="0"/>
              <a:t>The Catalyst 1900 and 2900xl switch Cisco IOS has a common look and feel like the router’s Cisco IOS. However, the switch Cisco IOS is not 100 percent identical to the router’s Cisco IOS.</a:t>
            </a:r>
          </a:p>
          <a:p>
            <a:endParaRPr lang="en-US" dirty="0"/>
          </a:p>
          <a:p>
            <a:r>
              <a:rPr lang="vi-VN" dirty="0" smtClean="0"/>
              <a:t>Tính năng để thực hiện các giao thức mạng và chọn chức năng</a:t>
            </a:r>
          </a:p>
          <a:p>
            <a:r>
              <a:rPr lang="vi-VN" dirty="0" smtClean="0"/>
              <a:t>Kết nối giao thông tốc độ cao giữa các thiết bị</a:t>
            </a:r>
          </a:p>
          <a:p>
            <a:r>
              <a:rPr lang="vi-VN" dirty="0" smtClean="0"/>
              <a:t>An ninh để kiểm soát truy cập và cấm sử dụng mạng trái phép</a:t>
            </a:r>
          </a:p>
          <a:p>
            <a:r>
              <a:rPr lang="vi-VN" dirty="0" smtClean="0"/>
              <a:t>Khả năng mở rộng thêm giao diện và khả năng cần thiết cho sự phát triển mạng lưới</a:t>
            </a:r>
          </a:p>
          <a:p>
            <a:r>
              <a:rPr lang="vi-VN" dirty="0" smtClean="0"/>
              <a:t>Độ tin cậy để đảm bảo truy cập đáng tin cậy để các nguồn tài nguyên mạng</a:t>
            </a:r>
            <a:endParaRPr lang="en-US" dirty="0"/>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748D947C-0D3F-4F31-B6A3-E9B5C6706220}" type="slidenum">
              <a:rPr lang="en-US"/>
              <a:pPr/>
              <a:t>4</a:t>
            </a:fld>
            <a:endParaRPr lang="en-US"/>
          </a:p>
        </p:txBody>
      </p:sp>
      <p:sp>
        <p:nvSpPr>
          <p:cNvPr id="777218" name="Rectangle 2"/>
          <p:cNvSpPr>
            <a:spLocks noGrp="1" noRot="1" noChangeAspect="1" noChangeArrowheads="1" noTextEdit="1"/>
          </p:cNvSpPr>
          <p:nvPr>
            <p:ph type="sldImg"/>
          </p:nvPr>
        </p:nvSpPr>
        <p:spPr>
          <a:xfrm>
            <a:off x="1125538" y="304800"/>
            <a:ext cx="4775200" cy="3581400"/>
          </a:xfrm>
          <a:ln/>
        </p:spPr>
      </p:sp>
      <p:sp>
        <p:nvSpPr>
          <p:cNvPr id="777219" name="Rectangle 3"/>
          <p:cNvSpPr>
            <a:spLocks noGrp="1" noChangeArrowheads="1"/>
          </p:cNvSpPr>
          <p:nvPr>
            <p:ph type="body" idx="1"/>
          </p:nvPr>
        </p:nvSpPr>
        <p:spPr>
          <a:xfrm>
            <a:off x="534988" y="4114800"/>
            <a:ext cx="5954712" cy="4649788"/>
          </a:xfrm>
        </p:spPr>
        <p:txBody>
          <a:bodyPr/>
          <a:lstStyle/>
          <a:p>
            <a:r>
              <a:rPr lang="en-US" b="1" dirty="0"/>
              <a:t>Purpose: </a:t>
            </a:r>
            <a:r>
              <a:rPr lang="en-US" dirty="0"/>
              <a:t> This slide discuss the initial configurations on the routers and switches. </a:t>
            </a:r>
          </a:p>
          <a:p>
            <a:r>
              <a:rPr lang="en-US" b="1" dirty="0"/>
              <a:t>Note: </a:t>
            </a:r>
            <a:r>
              <a:rPr lang="en-US" dirty="0"/>
              <a:t>There is no setup </a:t>
            </a:r>
            <a:r>
              <a:rPr lang="en-US" dirty="0" smtClean="0"/>
              <a:t>mode </a:t>
            </a:r>
            <a:r>
              <a:rPr lang="en-US" dirty="0"/>
              <a:t>on the Catalyst 1900 switch. </a:t>
            </a:r>
            <a:endParaRPr lang="en-US" dirty="0" smtClean="0"/>
          </a:p>
          <a:p>
            <a:r>
              <a:rPr lang="vi-VN" dirty="0" smtClean="0"/>
              <a:t>Thiết lập mặc định ban đầu là đủ cho việc chuyển đổi để hoạt động ở lớp 2 như một công tắc.</a:t>
            </a:r>
          </a:p>
          <a:p>
            <a:r>
              <a:rPr lang="vi-VN" dirty="0" smtClean="0"/>
              <a:t>Một thiết bị Cisco sẽ đòi hỏi cấu hình ban đầu nếu không có cấu hình trong bộ nhớ.</a:t>
            </a:r>
          </a:p>
          <a:p>
            <a:r>
              <a:rPr lang="vi-VN" dirty="0" smtClean="0"/>
              <a:t>  Nhiệm vụ bổ sung cấu hình thiết lập các thiết bị như sau:</a:t>
            </a:r>
          </a:p>
          <a:p>
            <a:r>
              <a:rPr lang="vi-VN" dirty="0" smtClean="0"/>
              <a:t>  Giao thức giải quyết vấn đề và thiết lập thông số</a:t>
            </a:r>
          </a:p>
          <a:p>
            <a:r>
              <a:rPr lang="vi-VN" dirty="0" smtClean="0"/>
              <a:t>  Tùy chọn cho việc quản trị và quản lý</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31D81316-9DCA-4DBC-8839-0C4F41931A9F}" type="slidenum">
              <a:rPr lang="en-US"/>
              <a:pPr/>
              <a:t>5</a:t>
            </a:fld>
            <a:endParaRPr lang="en-US"/>
          </a:p>
        </p:txBody>
      </p:sp>
      <p:sp>
        <p:nvSpPr>
          <p:cNvPr id="779266" name="Rectangle 2"/>
          <p:cNvSpPr>
            <a:spLocks noGrp="1" noRot="1" noChangeAspect="1" noChangeArrowheads="1" noTextEdit="1"/>
          </p:cNvSpPr>
          <p:nvPr>
            <p:ph type="sldImg"/>
          </p:nvPr>
        </p:nvSpPr>
        <p:spPr>
          <a:xfrm>
            <a:off x="1136650" y="304800"/>
            <a:ext cx="4775200" cy="3581400"/>
          </a:xfrm>
          <a:ln/>
        </p:spPr>
      </p:sp>
      <p:sp>
        <p:nvSpPr>
          <p:cNvPr id="779267" name="Rectangle 3"/>
          <p:cNvSpPr>
            <a:spLocks noGrp="1" noChangeArrowheads="1"/>
          </p:cNvSpPr>
          <p:nvPr>
            <p:ph type="body" idx="1"/>
          </p:nvPr>
        </p:nvSpPr>
        <p:spPr>
          <a:xfrm>
            <a:off x="534988" y="4114800"/>
            <a:ext cx="5954712" cy="4649788"/>
          </a:xfrm>
        </p:spPr>
        <p:txBody>
          <a:bodyPr lIns="91500" tIns="45750" rIns="91500" bIns="45750"/>
          <a:lstStyle/>
          <a:p>
            <a:pPr algn="just"/>
            <a:r>
              <a:rPr lang="en-US" b="1"/>
              <a:t>Purpose: </a:t>
            </a:r>
            <a:r>
              <a:rPr lang="en-US"/>
              <a:t>This slide introduces the startup process on Cisco routers and switches.</a:t>
            </a:r>
          </a:p>
          <a:p>
            <a:r>
              <a:rPr lang="en-US" b="1"/>
              <a:t>Emphasize: </a:t>
            </a:r>
            <a:r>
              <a:rPr lang="en-US"/>
              <a:t>Paraphrase or restate the three points and make sure your students follow the description. This description is necessary to keep a common perspective of what is occurring on the switch and the router; these three steps should be an anchor to return to as needed. </a:t>
            </a:r>
          </a:p>
          <a:p>
            <a:pPr algn="just"/>
            <a:r>
              <a:rPr lang="en-US" b="1"/>
              <a:t>Transition: </a:t>
            </a:r>
            <a:r>
              <a:rPr lang="en-US"/>
              <a:t>Where are the sources for configuration software?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3574A314-AC50-4E04-951D-6D971AACC9CA}" type="slidenum">
              <a:rPr lang="en-US"/>
              <a:pPr/>
              <a:t>6</a:t>
            </a:fld>
            <a:endParaRPr lang="en-US"/>
          </a:p>
        </p:txBody>
      </p:sp>
      <p:sp>
        <p:nvSpPr>
          <p:cNvPr id="700418" name="Rectangle 2"/>
          <p:cNvSpPr>
            <a:spLocks noGrp="1" noRot="1" noChangeAspect="1" noChangeArrowheads="1" noTextEdit="1"/>
          </p:cNvSpPr>
          <p:nvPr>
            <p:ph type="sldImg"/>
          </p:nvPr>
        </p:nvSpPr>
        <p:spPr>
          <a:xfrm>
            <a:off x="1136650" y="304800"/>
            <a:ext cx="4775200" cy="3581400"/>
          </a:xfrm>
          <a:ln/>
        </p:spPr>
      </p:sp>
      <p:sp>
        <p:nvSpPr>
          <p:cNvPr id="700419" name="Rectangle 3"/>
          <p:cNvSpPr>
            <a:spLocks noGrp="1" noChangeArrowheads="1"/>
          </p:cNvSpPr>
          <p:nvPr>
            <p:ph type="body" idx="1"/>
          </p:nvPr>
        </p:nvSpPr>
        <p:spPr>
          <a:xfrm>
            <a:off x="534988" y="4114800"/>
            <a:ext cx="5954712" cy="4649788"/>
          </a:xfrm>
        </p:spPr>
        <p:txBody>
          <a:bodyPr/>
          <a:lstStyle/>
          <a:p>
            <a:pPr algn="just"/>
            <a:r>
              <a:rPr lang="en-US" b="1"/>
              <a:t>Purpose: </a:t>
            </a:r>
            <a:r>
              <a:rPr lang="en-US"/>
              <a:t>This slide describes the different ways students can access the Catalyst switch or Cisco router to create a new configuration file or alter an existing one. </a:t>
            </a:r>
          </a:p>
          <a:p>
            <a:r>
              <a:rPr lang="en-US" b="1"/>
              <a:t>Emphasize: </a:t>
            </a:r>
            <a:r>
              <a:rPr lang="en-US"/>
              <a:t>The network device can be configured from several locations. After you create the initial configuration, you can configure the ports or interfaces to enable configuration over virtual terminal ports (vty).</a:t>
            </a:r>
          </a:p>
          <a:p>
            <a:pPr lvl="1"/>
            <a:r>
              <a:rPr lang="en-US"/>
              <a:t>Both the router and switch support Telnet access as a virtual terminal. </a:t>
            </a:r>
          </a:p>
          <a:p>
            <a:pPr lvl="1"/>
            <a:r>
              <a:rPr lang="en-US"/>
              <a:t>The router by default supports virtual terminals 0 through 4. The router can be accessed for configuration purposes from the console port, the auxiliary port, and five VTY lines at the same time—up to seven people can configure the router at once. </a:t>
            </a:r>
          </a:p>
          <a:p>
            <a:pPr lvl="1"/>
            <a:r>
              <a:rPr lang="en-US"/>
              <a:t>You should caution students about the above point and inform them that security should be strictly observed through password protection to avoid unauthorized access of the configuration files. </a:t>
            </a:r>
          </a:p>
          <a:p>
            <a:r>
              <a:rPr lang="en-US"/>
              <a:t>Another component important to configuration in the network is a TFTP server.</a:t>
            </a:r>
          </a:p>
          <a:p>
            <a:pPr lvl="1"/>
            <a:r>
              <a:rPr lang="en-US"/>
              <a:t>The TFTP server can be a UNIX or PC workstation that acts as a central depository for files. </a:t>
            </a:r>
          </a:p>
          <a:p>
            <a:pPr lvl="1"/>
            <a:r>
              <a:rPr lang="en-US"/>
              <a:t>You can keep configuration files on the TFTP server and then download them to the device. </a:t>
            </a:r>
          </a:p>
          <a:p>
            <a:r>
              <a:rPr lang="en-US"/>
              <a:t>You can also configure them from a network management station running network management software such as CWSI, CiscoWorks, or HP OpenView. Before you can access or change the configuration from a virtual terminal, TFTP server, or network management station, you must have the device configured to support IP traffic. </a:t>
            </a:r>
          </a:p>
          <a:p>
            <a:pPr algn="just"/>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02816D55-422F-4203-AE92-B115B103BBB0}" type="slidenum">
              <a:rPr lang="en-US"/>
              <a:pPr/>
              <a:t>7</a:t>
            </a:fld>
            <a:endParaRPr lang="en-US"/>
          </a:p>
        </p:txBody>
      </p:sp>
      <p:sp>
        <p:nvSpPr>
          <p:cNvPr id="702466" name="Rectangle 2"/>
          <p:cNvSpPr>
            <a:spLocks noGrp="1" noRot="1" noChangeAspect="1" noChangeArrowheads="1" noTextEdit="1"/>
          </p:cNvSpPr>
          <p:nvPr>
            <p:ph type="sldImg"/>
          </p:nvPr>
        </p:nvSpPr>
        <p:spPr>
          <a:xfrm>
            <a:off x="1136650" y="304800"/>
            <a:ext cx="4775200" cy="3581400"/>
          </a:xfrm>
          <a:ln/>
        </p:spPr>
      </p:sp>
      <p:sp>
        <p:nvSpPr>
          <p:cNvPr id="702467" name="Rectangle 3"/>
          <p:cNvSpPr>
            <a:spLocks noGrp="1" noChangeArrowheads="1"/>
          </p:cNvSpPr>
          <p:nvPr>
            <p:ph type="body" idx="1"/>
          </p:nvPr>
        </p:nvSpPr>
        <p:spPr>
          <a:xfrm>
            <a:off x="534988" y="4114800"/>
            <a:ext cx="5954712" cy="4649788"/>
          </a:xfrm>
        </p:spPr>
        <p:txBody>
          <a:bodyPr/>
          <a:lstStyle/>
          <a:p>
            <a:pPr algn="just"/>
            <a:r>
              <a:rPr lang="en-US" b="1"/>
              <a:t>Purpose: </a:t>
            </a:r>
            <a:r>
              <a:rPr lang="en-US"/>
              <a:t>This slide introduces the two Cisco IOS EXEC modes on the Catalyst 1900 switch and routers.</a:t>
            </a:r>
            <a:endParaRPr lang="en-US" b="1"/>
          </a:p>
          <a:p>
            <a:pPr algn="just"/>
            <a:r>
              <a:rPr lang="en-US" b="1"/>
              <a:t>Emphasize: </a:t>
            </a:r>
            <a:r>
              <a:rPr lang="en-US"/>
              <a:t>As you present this, describe the bullet points that can prepare your students to work with the Cisco IOS user interface.</a:t>
            </a:r>
          </a:p>
          <a:p>
            <a:pPr algn="just"/>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528DADF8-6133-48A6-85B1-BA210563E1C7}" type="slidenum">
              <a:rPr lang="en-US"/>
              <a:pPr/>
              <a:t>8</a:t>
            </a:fld>
            <a:endParaRPr lang="en-US"/>
          </a:p>
        </p:txBody>
      </p:sp>
      <p:sp>
        <p:nvSpPr>
          <p:cNvPr id="704514" name="Rectangle 2"/>
          <p:cNvSpPr>
            <a:spLocks noGrp="1" noRot="1" noChangeAspect="1" noChangeArrowheads="1" noTextEdit="1"/>
          </p:cNvSpPr>
          <p:nvPr>
            <p:ph type="sldImg"/>
          </p:nvPr>
        </p:nvSpPr>
        <p:spPr>
          <a:xfrm>
            <a:off x="1136650" y="304800"/>
            <a:ext cx="4775200" cy="3581400"/>
          </a:xfrm>
          <a:ln/>
        </p:spPr>
      </p:sp>
      <p:sp>
        <p:nvSpPr>
          <p:cNvPr id="704515" name="Rectangle 3"/>
          <p:cNvSpPr>
            <a:spLocks noGrp="1" noChangeArrowheads="1"/>
          </p:cNvSpPr>
          <p:nvPr>
            <p:ph type="body" idx="1"/>
          </p:nvPr>
        </p:nvSpPr>
        <p:spPr>
          <a:xfrm>
            <a:off x="534988" y="4114800"/>
            <a:ext cx="5954712" cy="4649788"/>
          </a:xfrm>
        </p:spPr>
        <p:txBody>
          <a:bodyPr/>
          <a:lstStyle/>
          <a:p>
            <a:r>
              <a:rPr lang="en-US" b="1"/>
              <a:t>Slide 1 of 2</a:t>
            </a:r>
            <a:endParaRPr lang="en-US"/>
          </a:p>
          <a:p>
            <a:r>
              <a:rPr lang="en-US" b="1"/>
              <a:t>Purpose: </a:t>
            </a:r>
            <a:r>
              <a:rPr lang="en-US"/>
              <a:t>This slide describes the user EXEC mode.</a:t>
            </a:r>
          </a:p>
          <a:p>
            <a:r>
              <a:rPr lang="en-US" b="1"/>
              <a:t>Emphasize: </a:t>
            </a:r>
            <a:r>
              <a:rPr lang="en-US"/>
              <a:t>Present the operational aspects of user EXEC mode. </a:t>
            </a:r>
          </a:p>
          <a:p>
            <a:r>
              <a:rPr lang="en-US"/>
              <a:t>Tell your students that this command level allows them to access only a limited amount of basic monitoring commands.</a:t>
            </a:r>
          </a:p>
          <a:p>
            <a:r>
              <a:rPr lang="en-US"/>
              <a:t>Emphasize that they need to look carefully at the command prompter to make sure that they are in the appropriate mode for the command that they want to enter into the network device. If your class can remember this, this will eliminate (or at least reduce) the number of times that you have to point out that a lab step is failing because the student is in user mode rather than in enabled mode.</a:t>
            </a:r>
          </a:p>
          <a:p>
            <a:r>
              <a:rPr lang="en-US" b="1"/>
              <a:t>Transition:</a:t>
            </a:r>
            <a:r>
              <a:rPr lang="en-US"/>
              <a:t> An introduction of privileged (or enabled) mode.</a:t>
            </a:r>
          </a:p>
          <a:p>
            <a:r>
              <a:rPr lang="en-US"/>
              <a:t>    </a:t>
            </a: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C298A3BE-220C-488B-9166-5B4B05E40BDF}" type="slidenum">
              <a:rPr lang="en-US"/>
              <a:pPr/>
              <a:t>9</a:t>
            </a:fld>
            <a:endParaRPr lang="en-US"/>
          </a:p>
        </p:txBody>
      </p:sp>
      <p:sp>
        <p:nvSpPr>
          <p:cNvPr id="788482" name="Rectangle 2"/>
          <p:cNvSpPr>
            <a:spLocks noGrp="1" noRot="1" noChangeAspect="1" noChangeArrowheads="1" noTextEdit="1"/>
          </p:cNvSpPr>
          <p:nvPr>
            <p:ph type="sldImg"/>
          </p:nvPr>
        </p:nvSpPr>
        <p:spPr>
          <a:xfrm>
            <a:off x="1136650" y="304800"/>
            <a:ext cx="4775200" cy="3581400"/>
          </a:xfrm>
          <a:ln/>
        </p:spPr>
      </p:sp>
      <p:sp>
        <p:nvSpPr>
          <p:cNvPr id="788483" name="Rectangle 3"/>
          <p:cNvSpPr>
            <a:spLocks noGrp="1" noChangeArrowheads="1"/>
          </p:cNvSpPr>
          <p:nvPr>
            <p:ph type="body" idx="1"/>
          </p:nvPr>
        </p:nvSpPr>
        <p:spPr>
          <a:xfrm>
            <a:off x="534988" y="4114800"/>
            <a:ext cx="5954712" cy="4649788"/>
          </a:xfrm>
        </p:spPr>
        <p:txBody>
          <a:bodyPr/>
          <a:lstStyle/>
          <a:p>
            <a:r>
              <a:rPr lang="en-US" b="1"/>
              <a:t>Slide 2 of 2</a:t>
            </a:r>
            <a:endParaRPr lang="en-US"/>
          </a:p>
          <a:p>
            <a:r>
              <a:rPr lang="en-US" b="1"/>
              <a:t>Purpose: </a:t>
            </a:r>
            <a:r>
              <a:rPr lang="en-US"/>
              <a:t>This slide describes the privileged EXEC mode.</a:t>
            </a:r>
            <a:r>
              <a:rPr lang="en-US" b="1"/>
              <a:t> </a:t>
            </a:r>
          </a:p>
          <a:p>
            <a:r>
              <a:rPr lang="en-US" b="1"/>
              <a:t>Emphasize: </a:t>
            </a:r>
            <a:r>
              <a:rPr lang="en-US"/>
              <a:t>As you present the introductory material on privileged (also called “enabled”) mode, emphasize that this mode is the entry mode for all other configuration modes. Tell your students that they will need this mode for ICND labs and most of the network administration that they do back on the job. </a:t>
            </a:r>
          </a:p>
          <a:p>
            <a:r>
              <a:rPr lang="en-US"/>
              <a:t>Use the analogy of “the price of admission.” You must enter </a:t>
            </a:r>
            <a:r>
              <a:rPr lang="en-US" b="1"/>
              <a:t>enable </a:t>
            </a:r>
            <a:r>
              <a:rPr lang="en-US"/>
              <a:t>followed by the correct enable password; otherwise, you will not get into the network device; and will have to stay outside in user mode where you can only see a few basic things about the network device.</a:t>
            </a:r>
          </a:p>
          <a:p>
            <a:r>
              <a:rPr lang="en-US" b="1"/>
              <a:t>Note:</a:t>
            </a:r>
            <a:r>
              <a:rPr lang="en-US"/>
              <a:t> This slide ends the introductory material that is common to the network devices covered in ICND. </a:t>
            </a:r>
          </a:p>
          <a:p>
            <a:r>
              <a:rPr lang="en-US" b="1"/>
              <a:t>Transition: </a:t>
            </a:r>
            <a:r>
              <a:rPr lang="en-US"/>
              <a:t>Material specific to the initial startup of the Catalyst switch.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EF9D4A87-CCA7-4723-B9AF-3A484ADD7539}" type="slidenum">
              <a:rPr lang="en-US"/>
              <a:pPr/>
              <a:t>10</a:t>
            </a:fld>
            <a:endParaRPr lang="en-US"/>
          </a:p>
        </p:txBody>
      </p:sp>
      <p:sp>
        <p:nvSpPr>
          <p:cNvPr id="750594" name="Rectangle 2"/>
          <p:cNvSpPr>
            <a:spLocks noGrp="1" noRot="1" noChangeAspect="1" noChangeArrowheads="1" noTextEdit="1"/>
          </p:cNvSpPr>
          <p:nvPr>
            <p:ph type="sldImg"/>
          </p:nvPr>
        </p:nvSpPr>
        <p:spPr>
          <a:xfrm>
            <a:off x="1125538" y="304800"/>
            <a:ext cx="4775200" cy="3581400"/>
          </a:xfrm>
          <a:ln/>
        </p:spPr>
      </p:sp>
      <p:sp>
        <p:nvSpPr>
          <p:cNvPr id="750595" name="Rectangle 3"/>
          <p:cNvSpPr>
            <a:spLocks noGrp="1" noChangeArrowheads="1"/>
          </p:cNvSpPr>
          <p:nvPr>
            <p:ph type="body" idx="1"/>
          </p:nvPr>
        </p:nvSpPr>
        <p:spPr>
          <a:xfrm>
            <a:off x="534988" y="4114800"/>
            <a:ext cx="5954712" cy="4649788"/>
          </a:xfrm>
        </p:spPr>
        <p:txBody>
          <a:bodyPr/>
          <a:lstStyle/>
          <a:p>
            <a:r>
              <a:rPr lang="en-US" b="1"/>
              <a:t>Purpose: </a:t>
            </a:r>
            <a:r>
              <a:rPr lang="en-US"/>
              <a:t>This slide describes the Help facilities on the Catalyst 1900 switch.</a:t>
            </a:r>
            <a:r>
              <a:rPr lang="en-US" b="1"/>
              <a:t> </a:t>
            </a:r>
          </a:p>
          <a:p>
            <a:r>
              <a:rPr lang="en-US" b="1"/>
              <a:t>Emphasize: </a:t>
            </a:r>
            <a:r>
              <a:rPr lang="en-US"/>
              <a:t>After showing how to log in to the Catalyst 1900 Cisco IOS CLI and enabled EXEC privileged mode, use this slide to present the three main types of command-line help available. </a:t>
            </a:r>
          </a:p>
          <a:p>
            <a:r>
              <a:rPr lang="en-US"/>
              <a:t>This list is similar to, but not as extensive as the types of command-line help on the router that you present later with a similar slide.</a:t>
            </a:r>
          </a:p>
          <a:p>
            <a:r>
              <a:rPr lang="en-US"/>
              <a:t>If at this point you can demonstrate what you are presenting, so much the better.</a:t>
            </a:r>
          </a:p>
          <a:p>
            <a:r>
              <a:rPr lang="en-US"/>
              <a:t>The help on the switch is very similar to the help on the router, so the details are only presented once, in the router section.</a:t>
            </a:r>
            <a:endParaRPr lang="en-US" b="1"/>
          </a:p>
          <a:p>
            <a:endParaRPr lang="en-US"/>
          </a:p>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46F57E5D-E225-4669-9F46-2CB72C48A03E}" type="slidenum">
              <a:rPr lang="en-US"/>
              <a:pPr/>
              <a:t>11</a:t>
            </a:fld>
            <a:endParaRPr lang="en-US"/>
          </a:p>
        </p:txBody>
      </p:sp>
      <p:sp>
        <p:nvSpPr>
          <p:cNvPr id="754690" name="Rectangle 2"/>
          <p:cNvSpPr>
            <a:spLocks noGrp="1" noRot="1" noChangeAspect="1" noChangeArrowheads="1" noTextEdit="1"/>
          </p:cNvSpPr>
          <p:nvPr>
            <p:ph type="sldImg"/>
          </p:nvPr>
        </p:nvSpPr>
        <p:spPr>
          <a:xfrm>
            <a:off x="1136650" y="304800"/>
            <a:ext cx="4775200" cy="3581400"/>
          </a:xfrm>
          <a:ln/>
        </p:spPr>
      </p:sp>
      <p:sp>
        <p:nvSpPr>
          <p:cNvPr id="754691" name="Rectangle 3"/>
          <p:cNvSpPr>
            <a:spLocks noGrp="1" noChangeArrowheads="1"/>
          </p:cNvSpPr>
          <p:nvPr>
            <p:ph type="body" idx="1"/>
          </p:nvPr>
        </p:nvSpPr>
        <p:spPr>
          <a:xfrm>
            <a:off x="534988" y="4114800"/>
            <a:ext cx="5954712" cy="4649788"/>
          </a:xfrm>
        </p:spPr>
        <p:txBody>
          <a:bodyPr/>
          <a:lstStyle/>
          <a:p>
            <a:r>
              <a:rPr lang="en-US" b="1"/>
              <a:t>Slide 1 of 2 </a:t>
            </a:r>
          </a:p>
          <a:p>
            <a:r>
              <a:rPr lang="en-US" b="1"/>
              <a:t>Emphasize: </a:t>
            </a:r>
            <a:r>
              <a:rPr lang="en-US"/>
              <a:t>Suppose you want to set the router clock. If you do not know the command, use context-sensitive help to check the syntax for setting the clock. The help output shows that the </a:t>
            </a:r>
            <a:r>
              <a:rPr lang="en-US" b="1"/>
              <a:t>set</a:t>
            </a:r>
            <a:r>
              <a:rPr lang="en-US"/>
              <a:t> keyword is required. Next, check the syntax for entering the time.</a:t>
            </a:r>
          </a:p>
          <a:p>
            <a:r>
              <a:rPr lang="en-US"/>
              <a:t>Now enter the current time using hours, minutes, and seconds, as shown.</a:t>
            </a:r>
          </a:p>
          <a:p>
            <a:r>
              <a:rPr lang="en-US"/>
              <a:t>The system indicates that you need to provide additional arguments to complete the command. Press </a:t>
            </a:r>
            <a:r>
              <a:rPr lang="en-US" b="1"/>
              <a:t>Ctrl-P </a:t>
            </a:r>
            <a:r>
              <a:rPr lang="en-US"/>
              <a:t>(or </a:t>
            </a:r>
            <a:r>
              <a:rPr lang="en-US" b="1"/>
              <a:t>Up </a:t>
            </a:r>
            <a:r>
              <a:rPr lang="en-US"/>
              <a:t>arrow) to repeat the previous command entry automatically. Then add a space and a question mark (</a:t>
            </a:r>
            <a:r>
              <a:rPr lang="en-US" b="1"/>
              <a:t>?</a:t>
            </a:r>
            <a:r>
              <a:rPr lang="en-US"/>
              <a:t>) to reveal the additional arguments.</a:t>
            </a:r>
          </a:p>
          <a:p>
            <a:r>
              <a:rPr lang="en-US"/>
              <a:t>Now you can complete the command entry.</a:t>
            </a:r>
          </a:p>
          <a:p>
            <a:r>
              <a:rPr lang="en-US"/>
              <a:t>The caret symbol (^) and help response indicate an error. To list the correct syntax, reenter the command up to the point where the error occurred, and then enter a question mark (</a:t>
            </a:r>
            <a:r>
              <a:rPr lang="en-US" b="1"/>
              <a:t>?</a:t>
            </a:r>
            <a:r>
              <a:rPr lang="en-US"/>
              <a:t>).</a:t>
            </a:r>
          </a:p>
          <a:p>
            <a:r>
              <a:rPr lang="en-US"/>
              <a:t>Enter the year using the correct syntax and press </a:t>
            </a:r>
            <a:r>
              <a:rPr lang="en-US" b="1"/>
              <a:t>Return</a:t>
            </a:r>
            <a:r>
              <a:rPr lang="en-US"/>
              <a:t> to execute the command.</a:t>
            </a:r>
          </a:p>
          <a:p>
            <a:r>
              <a:rPr lang="en-US"/>
              <a:t>Note that the user interface provides syntax checking in the form of an error location indicator (^). The caret symbol character appears at the point in the command string where you entered an incorrect command, keyword, or argument. The error location indicator and interactive help system allow you to find and correct syntax errors easily.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137A2216-6A8F-4CCD-A30E-6CBA8A400C3D}" type="slidenum">
              <a:rPr lang="en-US"/>
              <a:pPr/>
              <a:t>12</a:t>
            </a:fld>
            <a:endParaRPr lang="en-US"/>
          </a:p>
        </p:txBody>
      </p:sp>
      <p:sp>
        <p:nvSpPr>
          <p:cNvPr id="756738" name="Rectangle 2"/>
          <p:cNvSpPr>
            <a:spLocks noGrp="1" noRot="1" noChangeAspect="1" noChangeArrowheads="1" noTextEdit="1"/>
          </p:cNvSpPr>
          <p:nvPr>
            <p:ph type="sldImg"/>
          </p:nvPr>
        </p:nvSpPr>
        <p:spPr>
          <a:xfrm>
            <a:off x="1136650" y="304800"/>
            <a:ext cx="4775200" cy="3581400"/>
          </a:xfrm>
          <a:ln/>
        </p:spPr>
      </p:sp>
      <p:sp>
        <p:nvSpPr>
          <p:cNvPr id="756739" name="Rectangle 3"/>
          <p:cNvSpPr>
            <a:spLocks noGrp="1" noChangeArrowheads="1"/>
          </p:cNvSpPr>
          <p:nvPr>
            <p:ph type="body" idx="1"/>
          </p:nvPr>
        </p:nvSpPr>
        <p:spPr>
          <a:xfrm>
            <a:off x="534988" y="4114800"/>
            <a:ext cx="5954712" cy="4649788"/>
          </a:xfrm>
        </p:spPr>
        <p:txBody>
          <a:bodyPr/>
          <a:lstStyle/>
          <a:p>
            <a:r>
              <a:rPr lang="en-US" b="1"/>
              <a:t>Slide 2 of 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6D585CC6-B464-47FA-B2A0-7167B6F71F1E}" type="slidenum">
              <a:rPr lang="en-US"/>
              <a:pPr/>
              <a:t>13</a:t>
            </a:fld>
            <a:endParaRPr lang="en-US"/>
          </a:p>
        </p:txBody>
      </p:sp>
      <p:sp>
        <p:nvSpPr>
          <p:cNvPr id="758786" name="Rectangle 2"/>
          <p:cNvSpPr>
            <a:spLocks noGrp="1" noRot="1" noChangeAspect="1" noChangeArrowheads="1" noTextEdit="1"/>
          </p:cNvSpPr>
          <p:nvPr>
            <p:ph type="sldImg"/>
          </p:nvPr>
        </p:nvSpPr>
        <p:spPr>
          <a:xfrm>
            <a:off x="1125538" y="304800"/>
            <a:ext cx="4775200" cy="3581400"/>
          </a:xfrm>
          <a:ln/>
        </p:spPr>
      </p:sp>
      <p:sp>
        <p:nvSpPr>
          <p:cNvPr id="758787" name="Rectangle 3"/>
          <p:cNvSpPr>
            <a:spLocks noGrp="1" noChangeArrowheads="1"/>
          </p:cNvSpPr>
          <p:nvPr>
            <p:ph type="body" idx="1"/>
          </p:nvPr>
        </p:nvSpPr>
        <p:spPr>
          <a:xfrm>
            <a:off x="534988" y="4114800"/>
            <a:ext cx="5954712" cy="4649788"/>
          </a:xfrm>
        </p:spPr>
        <p:txBody>
          <a:bodyPr/>
          <a:lstStyle/>
          <a:p>
            <a:r>
              <a:rPr lang="en-US" b="1"/>
              <a:t>Layer 1 of 9</a:t>
            </a:r>
            <a:endParaRPr lang="en-US"/>
          </a:p>
          <a:p>
            <a:r>
              <a:rPr lang="en-US" b="1"/>
              <a:t>Purpose: </a:t>
            </a:r>
            <a:r>
              <a:rPr lang="en-US"/>
              <a:t> This slide explains how to use the editing capabilities of Cisco IOS software. 	</a:t>
            </a:r>
            <a:endParaRPr lang="en-US" b="1"/>
          </a:p>
          <a:p>
            <a:r>
              <a:rPr lang="en-US" b="1"/>
              <a:t>Emphasize:</a:t>
            </a:r>
            <a:r>
              <a:rPr lang="en-US"/>
              <a:t> Layer 1—Some commands can be longer than the number of characters available on the screen after the prompt. The user interface now supports automatic scrolling of long lines. Notice that we have run out of room on this line. The line will scroll over ten spaces at a time in order to allow longer lines.</a:t>
            </a:r>
          </a:p>
          <a:p>
            <a:r>
              <a:rPr lang="en-US"/>
              <a:t>	</a:t>
            </a:r>
          </a:p>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12D34A89-7DFF-48D2-9A5E-E0D0BF50B147}" type="slidenum">
              <a:rPr lang="en-US"/>
              <a:pPr/>
              <a:t>14</a:t>
            </a:fld>
            <a:endParaRPr lang="en-US"/>
          </a:p>
        </p:txBody>
      </p:sp>
      <p:sp>
        <p:nvSpPr>
          <p:cNvPr id="760834" name="Rectangle 2"/>
          <p:cNvSpPr>
            <a:spLocks noGrp="1" noRot="1" noChangeAspect="1" noChangeArrowheads="1" noTextEdit="1"/>
          </p:cNvSpPr>
          <p:nvPr>
            <p:ph type="sldImg"/>
          </p:nvPr>
        </p:nvSpPr>
        <p:spPr>
          <a:xfrm>
            <a:off x="1125538" y="304800"/>
            <a:ext cx="4775200" cy="3581400"/>
          </a:xfrm>
          <a:ln/>
        </p:spPr>
      </p:sp>
      <p:sp>
        <p:nvSpPr>
          <p:cNvPr id="760835" name="Rectangle 3"/>
          <p:cNvSpPr>
            <a:spLocks noGrp="1" noChangeArrowheads="1"/>
          </p:cNvSpPr>
          <p:nvPr>
            <p:ph type="body" idx="1"/>
          </p:nvPr>
        </p:nvSpPr>
        <p:spPr>
          <a:xfrm>
            <a:off x="534988" y="4114800"/>
            <a:ext cx="5954712" cy="4649788"/>
          </a:xfrm>
        </p:spPr>
        <p:txBody>
          <a:bodyPr/>
          <a:lstStyle/>
          <a:p>
            <a:r>
              <a:rPr lang="en-US" b="1"/>
              <a:t>Layer 9 of 9</a:t>
            </a:r>
            <a:endParaRPr lang="en-US"/>
          </a:p>
          <a:p>
            <a:r>
              <a:rPr lang="en-US" b="1"/>
              <a:t>Emphasize: </a:t>
            </a:r>
            <a:r>
              <a:rPr lang="en-US"/>
              <a:t>Layer 9 — </a:t>
            </a:r>
            <a:r>
              <a:rPr lang="en-US" b="1"/>
              <a:t>Ctrl-D</a:t>
            </a:r>
            <a:r>
              <a:rPr lang="en-US"/>
              <a:t> deletes a single character.</a:t>
            </a:r>
            <a:r>
              <a:rPr lang="en-US" b="1"/>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0EEBDB11-93E0-42F4-A45D-056730FF474F}" type="slidenum">
              <a:rPr lang="en-US"/>
              <a:pPr/>
              <a:t>15</a:t>
            </a:fld>
            <a:endParaRPr lang="en-US"/>
          </a:p>
        </p:txBody>
      </p:sp>
      <p:sp>
        <p:nvSpPr>
          <p:cNvPr id="762882" name="Rectangle 2"/>
          <p:cNvSpPr>
            <a:spLocks noGrp="1" noRot="1" noChangeAspect="1" noChangeArrowheads="1" noTextEdit="1"/>
          </p:cNvSpPr>
          <p:nvPr>
            <p:ph type="sldImg"/>
          </p:nvPr>
        </p:nvSpPr>
        <p:spPr>
          <a:xfrm>
            <a:off x="1125538" y="304800"/>
            <a:ext cx="4775200" cy="3581400"/>
          </a:xfrm>
          <a:ln/>
        </p:spPr>
      </p:sp>
      <p:sp>
        <p:nvSpPr>
          <p:cNvPr id="762883" name="Rectangle 3"/>
          <p:cNvSpPr>
            <a:spLocks noGrp="1" noChangeArrowheads="1"/>
          </p:cNvSpPr>
          <p:nvPr>
            <p:ph type="body" idx="1"/>
          </p:nvPr>
        </p:nvSpPr>
        <p:spPr>
          <a:xfrm>
            <a:off x="534988" y="4114800"/>
            <a:ext cx="5954712" cy="4649788"/>
          </a:xfrm>
        </p:spPr>
        <p:txBody>
          <a:bodyPr/>
          <a:lstStyle/>
          <a:p>
            <a:r>
              <a:rPr lang="en-US" b="1"/>
              <a:t>Emphasize: </a:t>
            </a:r>
            <a:r>
              <a:rPr lang="en-US"/>
              <a:t>The user interface provides a history or record of commands you have entered. This feature is particularly useful for recalling long or complex commands or entries. With the command history feature, you can complete the following tasks:</a:t>
            </a:r>
          </a:p>
          <a:p>
            <a:pPr lvl="1"/>
            <a:r>
              <a:rPr lang="en-US"/>
              <a:t>Set the command history buffer size</a:t>
            </a:r>
          </a:p>
          <a:p>
            <a:pPr lvl="1"/>
            <a:r>
              <a:rPr lang="en-US"/>
              <a:t>Recall commands</a:t>
            </a:r>
          </a:p>
          <a:p>
            <a:pPr lvl="1"/>
            <a:r>
              <a:rPr lang="en-US"/>
              <a:t>Disable the command history feature</a:t>
            </a:r>
          </a:p>
          <a:p>
            <a:r>
              <a:rPr lang="en-US"/>
              <a:t>By default, command history is enabled and the system records ten command lines in its history buffer. To change the number of command lines the system will record during the current terminal session, use the </a:t>
            </a:r>
            <a:r>
              <a:rPr lang="en-US" b="1"/>
              <a:t>terminal history size </a:t>
            </a:r>
            <a:r>
              <a:rPr lang="en-US"/>
              <a:t>or </a:t>
            </a:r>
            <a:r>
              <a:rPr lang="en-US" b="1"/>
              <a:t>history size </a:t>
            </a:r>
            <a:r>
              <a:rPr lang="en-US"/>
              <a:t>command. The maximum number of commands is 256.</a:t>
            </a:r>
          </a:p>
          <a:p>
            <a:r>
              <a:rPr lang="en-US"/>
              <a:t>To recall commands in the history buffer beginning with the most recent command, press </a:t>
            </a:r>
            <a:r>
              <a:rPr lang="en-US" b="1"/>
              <a:t>Ctrl-P </a:t>
            </a:r>
            <a:r>
              <a:rPr lang="en-US"/>
              <a:t>or the </a:t>
            </a:r>
            <a:r>
              <a:rPr lang="en-US" b="1"/>
              <a:t>Up </a:t>
            </a:r>
            <a:r>
              <a:rPr lang="en-US"/>
              <a:t>arrow key. Repeat the key sequence to recall successively older commands.To return to more recent commands in the history buffer after recalling commands with Ctrl-P or the Up arrow, press </a:t>
            </a:r>
            <a:r>
              <a:rPr lang="en-US" b="1"/>
              <a:t>Ctrl-N </a:t>
            </a:r>
            <a:r>
              <a:rPr lang="en-US"/>
              <a:t>or the </a:t>
            </a:r>
            <a:r>
              <a:rPr lang="en-US" b="1"/>
              <a:t>Down </a:t>
            </a:r>
            <a:r>
              <a:rPr lang="en-US"/>
              <a:t>arrow. Repeat the key sequence to recall successively more recent commands. </a:t>
            </a:r>
          </a:p>
          <a:p>
            <a:r>
              <a:rPr lang="en-US"/>
              <a:t>Once you enter the unique characters for a command, press the </a:t>
            </a:r>
            <a:r>
              <a:rPr lang="en-US" b="1"/>
              <a:t>Tab </a:t>
            </a:r>
            <a:r>
              <a:rPr lang="en-US"/>
              <a:t>key and the interface will finish the entry for you. </a:t>
            </a:r>
          </a:p>
          <a:p>
            <a:r>
              <a:rPr lang="en-US"/>
              <a:t>On most laptop computers you may also have additional select and copy facilities available. Copy a previous command string, then paste or insert it as your current string.</a:t>
            </a:r>
          </a:p>
          <a:p>
            <a:r>
              <a:rPr lang="en-US" b="1"/>
              <a:t>Note: </a:t>
            </a:r>
            <a:r>
              <a:rPr lang="en-US"/>
              <a:t>The Catalyst 1900 has a fixed history size of ten which can’t be changed.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F6865096-7556-47AF-9F43-9FBC19CD4882}" type="slidenum">
              <a:rPr lang="en-US"/>
              <a:pPr/>
              <a:t>16</a:t>
            </a:fld>
            <a:endParaRPr lang="en-US"/>
          </a:p>
        </p:txBody>
      </p:sp>
      <p:sp>
        <p:nvSpPr>
          <p:cNvPr id="783362" name="Rectangle 2"/>
          <p:cNvSpPr>
            <a:spLocks noGrp="1" noRot="1" noChangeAspect="1" noChangeArrowheads="1" noTextEdit="1"/>
          </p:cNvSpPr>
          <p:nvPr>
            <p:ph type="sldImg"/>
          </p:nvPr>
        </p:nvSpPr>
        <p:spPr>
          <a:xfrm>
            <a:off x="1125538" y="304800"/>
            <a:ext cx="4775200" cy="3581400"/>
          </a:xfrm>
          <a:ln/>
        </p:spPr>
      </p:sp>
      <p:sp>
        <p:nvSpPr>
          <p:cNvPr id="783363" name="Rectangle 3"/>
          <p:cNvSpPr>
            <a:spLocks noGrp="1" noChangeArrowheads="1"/>
          </p:cNvSpPr>
          <p:nvPr>
            <p:ph type="body" idx="1"/>
          </p:nvPr>
        </p:nvSpPr>
        <p:spPr>
          <a:xfrm>
            <a:off x="534988" y="4114800"/>
            <a:ext cx="5954712" cy="4649788"/>
          </a:xfrm>
        </p:spPr>
        <p:txBody>
          <a:bodyPr/>
          <a:lstStyle/>
          <a:p>
            <a:r>
              <a:rPr lang="en-US" b="1"/>
              <a:t>Emphasize: </a:t>
            </a:r>
            <a:r>
              <a:rPr lang="en-US"/>
              <a:t>When you exit the setup mode, the configuration can be saved to RAM and NVRAM at the same time.</a:t>
            </a:r>
            <a:endParaRPr lang="en-US" b="1"/>
          </a:p>
          <a:p>
            <a:r>
              <a:rPr lang="en-US" b="1"/>
              <a:t>Note: </a:t>
            </a:r>
            <a:r>
              <a:rPr lang="en-US"/>
              <a:t>The Catalyst 1900 has no </a:t>
            </a:r>
            <a:r>
              <a:rPr lang="en-US" b="1"/>
              <a:t>show start</a:t>
            </a:r>
            <a:r>
              <a:rPr lang="en-US"/>
              <a:t> command. It automatically saves the running configuration to NVRAM.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B82FFC07-8632-44F2-A48F-BC0DA30D75D0}" type="slidenum">
              <a:rPr lang="en-US"/>
              <a:pPr/>
              <a:t>17</a:t>
            </a:fld>
            <a:endParaRPr lang="en-US"/>
          </a:p>
        </p:txBody>
      </p:sp>
      <p:sp>
        <p:nvSpPr>
          <p:cNvPr id="785410" name="Rectangle 2"/>
          <p:cNvSpPr>
            <a:spLocks noGrp="1" noRot="1" noChangeAspect="1" noChangeArrowheads="1" noTextEdit="1"/>
          </p:cNvSpPr>
          <p:nvPr>
            <p:ph type="sldImg"/>
          </p:nvPr>
        </p:nvSpPr>
        <p:spPr>
          <a:xfrm>
            <a:off x="1125538" y="304800"/>
            <a:ext cx="4775200" cy="3581400"/>
          </a:xfrm>
          <a:ln/>
        </p:spPr>
      </p:sp>
      <p:sp>
        <p:nvSpPr>
          <p:cNvPr id="785411" name="Rectangle 3"/>
          <p:cNvSpPr>
            <a:spLocks noGrp="1" noChangeArrowheads="1"/>
          </p:cNvSpPr>
          <p:nvPr>
            <p:ph type="body" idx="1"/>
          </p:nvPr>
        </p:nvSpPr>
        <p:spPr>
          <a:xfrm>
            <a:off x="534988" y="4114800"/>
            <a:ext cx="5954712" cy="4649788"/>
          </a:xfrm>
        </p:spPr>
        <p:txBody>
          <a:bodyPr/>
          <a:lstStyle/>
          <a:p>
            <a:r>
              <a:rPr lang="en-US" b="1"/>
              <a:t>Purpose: </a:t>
            </a:r>
            <a:r>
              <a:rPr lang="en-US"/>
              <a:t> This slide shows the format and output of the </a:t>
            </a:r>
            <a:r>
              <a:rPr lang="en-US" b="1"/>
              <a:t>show running-config </a:t>
            </a:r>
            <a:r>
              <a:rPr lang="en-US"/>
              <a:t>and </a:t>
            </a:r>
            <a:r>
              <a:rPr lang="en-US" b="1"/>
              <a:t>show startup-config </a:t>
            </a:r>
            <a:r>
              <a:rPr lang="en-US"/>
              <a:t>commands, which display the active and backup configuration files, respectively.</a:t>
            </a:r>
          </a:p>
          <a:p>
            <a:r>
              <a:rPr lang="en-US" b="1"/>
              <a:t>Emphasize: </a:t>
            </a:r>
            <a:r>
              <a:rPr lang="en-US"/>
              <a:t>We put these two commands on the same page because it is easy to confuse the two. The </a:t>
            </a:r>
            <a:r>
              <a:rPr lang="en-US" b="1"/>
              <a:t>show running-config </a:t>
            </a:r>
            <a:r>
              <a:rPr lang="en-US"/>
              <a:t>command displays the configuration information in memory, while the </a:t>
            </a:r>
            <a:r>
              <a:rPr lang="en-US" b="1"/>
              <a:t>show startup-config </a:t>
            </a:r>
            <a:r>
              <a:rPr lang="en-US"/>
              <a:t>command displays the backup file.</a:t>
            </a:r>
          </a:p>
          <a:p>
            <a:r>
              <a:rPr lang="en-US"/>
              <a:t>Often in class someone will enter commands and then say that the router did not accept them. This scenario might indicate that the person entered the commands to modify the configuration information in memory, and then entered a </a:t>
            </a:r>
            <a:r>
              <a:rPr lang="en-US" b="1"/>
              <a:t>show startup-config </a:t>
            </a:r>
            <a:r>
              <a:rPr lang="en-US"/>
              <a:t>(show config) to look at the backup file that has not yet been updated to reflect the changes. You must use another command to update the backup file.</a:t>
            </a:r>
          </a:p>
          <a:p>
            <a:r>
              <a:rPr lang="en-US"/>
              <a:t>Default parameters do not display in the running configuration. 	</a:t>
            </a:r>
          </a:p>
          <a:p>
            <a:r>
              <a:rPr lang="en-US"/>
              <a:t>In Cisco IOS Release 10.2 and earlier, the </a:t>
            </a:r>
            <a:r>
              <a:rPr lang="en-US" b="1"/>
              <a:t>write terminal </a:t>
            </a:r>
            <a:r>
              <a:rPr lang="en-US"/>
              <a:t>command shows the running configuration, and the</a:t>
            </a:r>
            <a:r>
              <a:rPr lang="en-US" b="1"/>
              <a:t> show config </a:t>
            </a:r>
            <a:r>
              <a:rPr lang="en-US"/>
              <a:t>command shows the startup configuration.</a:t>
            </a:r>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98733362-9BBA-4AC7-A1F1-E21ED1C2E3A8}" type="slidenum">
              <a:rPr lang="en-US"/>
              <a:pPr/>
              <a:t>18</a:t>
            </a:fld>
            <a:endParaRPr lang="en-US"/>
          </a:p>
        </p:txBody>
      </p:sp>
      <p:sp>
        <p:nvSpPr>
          <p:cNvPr id="736258" name="Rectangle 2"/>
          <p:cNvSpPr>
            <a:spLocks noGrp="1" noRot="1" noChangeAspect="1" noChangeArrowheads="1" noTextEdit="1"/>
          </p:cNvSpPr>
          <p:nvPr>
            <p:ph type="sldImg"/>
          </p:nvPr>
        </p:nvSpPr>
        <p:spPr>
          <a:xfrm>
            <a:off x="871538" y="244475"/>
            <a:ext cx="5314950" cy="3986213"/>
          </a:xfrm>
          <a:ln/>
        </p:spPr>
      </p:sp>
      <p:sp>
        <p:nvSpPr>
          <p:cNvPr id="736259" name="Rectangle 3"/>
          <p:cNvSpPr>
            <a:spLocks noGrp="1" noChangeArrowheads="1"/>
          </p:cNvSpPr>
          <p:nvPr>
            <p:ph type="body" idx="1"/>
          </p:nvPr>
        </p:nvSpPr>
        <p:spPr>
          <a:xfrm>
            <a:off x="403225" y="4370388"/>
            <a:ext cx="6110288" cy="4249737"/>
          </a:xfrm>
        </p:spPr>
        <p:txBody>
          <a:bodyPr/>
          <a:lstStyle/>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0BEFB6C8-57BF-4FD7-9932-0CC2315DED74}" type="slidenum">
              <a:rPr lang="en-US"/>
              <a:pPr/>
              <a:t>21</a:t>
            </a:fld>
            <a:endParaRPr lang="en-US"/>
          </a:p>
        </p:txBody>
      </p:sp>
      <p:sp>
        <p:nvSpPr>
          <p:cNvPr id="795650" name="Rectangle 2"/>
          <p:cNvSpPr>
            <a:spLocks noGrp="1" noRot="1" noChangeAspect="1" noChangeArrowheads="1" noTextEdit="1"/>
          </p:cNvSpPr>
          <p:nvPr>
            <p:ph type="sldImg"/>
          </p:nvPr>
        </p:nvSpPr>
        <p:spPr>
          <a:xfrm>
            <a:off x="460375" y="228600"/>
            <a:ext cx="2441575" cy="1831975"/>
          </a:xfrm>
          <a:ln/>
        </p:spPr>
      </p:sp>
      <p:sp>
        <p:nvSpPr>
          <p:cNvPr id="795651" name="Rectangle 3"/>
          <p:cNvSpPr>
            <a:spLocks noGrp="1" noChangeArrowheads="1"/>
          </p:cNvSpPr>
          <p:nvPr>
            <p:ph type="body" idx="1"/>
          </p:nvPr>
        </p:nvSpPr>
        <p:spPr>
          <a:xfrm>
            <a:off x="403225" y="2136775"/>
            <a:ext cx="6111875" cy="6481763"/>
          </a:xfrm>
        </p:spPr>
        <p:txBody>
          <a:bodyPr/>
          <a:lstStyle/>
          <a:p>
            <a:r>
              <a:rPr lang="en-US" b="1">
                <a:cs typeface="Times New Roman" pitchFamily="18" charset="0"/>
              </a:rPr>
              <a:t>What is Security Device Manager (SDM)?</a:t>
            </a:r>
          </a:p>
          <a:p>
            <a:r>
              <a:rPr lang="en-US" b="1">
                <a:cs typeface="Times New Roman" pitchFamily="18" charset="0"/>
              </a:rPr>
              <a:t>SDM is an easy-to-use Internet browser-based device management tool that is embedded within the Cisco IOS 800 – 3700 Series access routers at no cost. </a:t>
            </a:r>
          </a:p>
          <a:p>
            <a:r>
              <a:rPr lang="en-US" b="1">
                <a:cs typeface="Times New Roman" pitchFamily="18" charset="0"/>
              </a:rPr>
              <a:t>It simplifies router and security configuration through the use of intelligent wizards to enable customers and partners to quickly and easily deploy, configure and  monitor a Cisco access router. </a:t>
            </a:r>
          </a:p>
          <a:p>
            <a:r>
              <a:rPr lang="en-US" b="1">
                <a:cs typeface="Times New Roman" pitchFamily="18" charset="0"/>
              </a:rPr>
              <a:t>SDM is designed for resellers and network administrators of small- to medium-sized businesses who are proficient in LAN fundamentals and basic network design, but has little or no experience with IOS command-line interface (CLI) or may not be a security expert.</a:t>
            </a:r>
          </a:p>
          <a:p>
            <a:r>
              <a:rPr lang="en-US" b="1"/>
              <a:t>SDM is also great for Advanced users too. It has a number of time saving tools. Examples include ACL editor, VPN crypto map editor, IOS CLI preview, and many more.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318CE4A4-7ED1-4268-A4E2-C75E36C6AE7B}" type="slidenum">
              <a:rPr lang="en-US"/>
              <a:pPr/>
              <a:t>22</a:t>
            </a:fld>
            <a:endParaRPr lang="en-US"/>
          </a:p>
        </p:txBody>
      </p:sp>
      <p:sp>
        <p:nvSpPr>
          <p:cNvPr id="807938" name="Rectangle 2"/>
          <p:cNvSpPr>
            <a:spLocks noGrp="1" noRot="1" noChangeAspect="1" noChangeArrowheads="1" noTextEdit="1"/>
          </p:cNvSpPr>
          <p:nvPr>
            <p:ph type="sldImg"/>
          </p:nvPr>
        </p:nvSpPr>
        <p:spPr>
          <a:xfrm>
            <a:off x="871538" y="244475"/>
            <a:ext cx="5314950" cy="3986213"/>
          </a:xfrm>
          <a:ln/>
        </p:spPr>
      </p:sp>
      <p:sp>
        <p:nvSpPr>
          <p:cNvPr id="807939" name="Rectangle 3"/>
          <p:cNvSpPr>
            <a:spLocks noGrp="1" noChangeArrowheads="1"/>
          </p:cNvSpPr>
          <p:nvPr>
            <p:ph type="body" idx="1"/>
          </p:nvPr>
        </p:nvSpPr>
        <p:spPr>
          <a:xfrm>
            <a:off x="403225" y="4371975"/>
            <a:ext cx="6111875" cy="4246563"/>
          </a:xfrm>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2C119EAE-CB35-4729-B597-B0B843687BCB}" type="slidenum">
              <a:rPr lang="en-US"/>
              <a:pPr/>
              <a:t>26</a:t>
            </a:fld>
            <a:endParaRPr lang="en-US"/>
          </a:p>
        </p:txBody>
      </p:sp>
      <p:sp>
        <p:nvSpPr>
          <p:cNvPr id="914434" name="Rectangle 2"/>
          <p:cNvSpPr>
            <a:spLocks noGrp="1" noRot="1" noChangeAspect="1" noChangeArrowheads="1" noTextEdit="1"/>
          </p:cNvSpPr>
          <p:nvPr>
            <p:ph type="sldImg"/>
          </p:nvPr>
        </p:nvSpPr>
        <p:spPr>
          <a:xfrm>
            <a:off x="460375" y="228600"/>
            <a:ext cx="2441575" cy="1831975"/>
          </a:xfrm>
          <a:ln/>
        </p:spPr>
      </p:sp>
      <p:sp>
        <p:nvSpPr>
          <p:cNvPr id="914435" name="Rectangle 3"/>
          <p:cNvSpPr>
            <a:spLocks noGrp="1" noChangeArrowheads="1"/>
          </p:cNvSpPr>
          <p:nvPr>
            <p:ph type="body" idx="1"/>
          </p:nvPr>
        </p:nvSpPr>
        <p:spPr>
          <a:xfrm>
            <a:off x="403225" y="2136775"/>
            <a:ext cx="6111875" cy="6481763"/>
          </a:xfrm>
        </p:spPr>
        <p:txBody>
          <a:bodyPr/>
          <a:lstStyle/>
          <a:p>
            <a:r>
              <a:rPr lang="en-US" b="1"/>
              <a:t>When SDM is launched, SDM reads the existing router configuration. You will see a message stating this.</a:t>
            </a:r>
          </a:p>
          <a:p>
            <a:r>
              <a:rPr lang="en-US" b="1"/>
              <a:t>Then it will present the features that it supports as available for configuration through the SDM.</a:t>
            </a:r>
          </a:p>
          <a:p>
            <a:r>
              <a:rPr lang="en-US" b="1"/>
              <a:t>At the top of the screen you will see the typical menu bar with File, view, edit, tools and help. </a:t>
            </a:r>
          </a:p>
          <a:p>
            <a:r>
              <a:rPr lang="en-US" b="1"/>
              <a:t>Below that is the SDM tool bar. It has the SDM wizards and modes you can select.</a:t>
            </a:r>
          </a:p>
          <a:p>
            <a:r>
              <a:rPr lang="en-US" b="1"/>
              <a:t>On the left side under the tool bar displays the current mode you are in.</a:t>
            </a:r>
          </a:p>
          <a:p>
            <a:r>
              <a:rPr lang="en-US" b="1"/>
              <a:t>The menu, tool bar, and current mode are always displayed at the top of each screen. The other parts of the screen change based upon the mode and function you are performing.</a:t>
            </a:r>
          </a:p>
          <a:p>
            <a:r>
              <a:rPr lang="en-US" b="1"/>
              <a:t>The far left panel is the Category Bar. It changes with the options available based on the mode you are in.</a:t>
            </a:r>
          </a:p>
          <a:p>
            <a:r>
              <a:rPr lang="en-US" b="1"/>
              <a:t>When you log in, the first page displayed is the Overview page. It gives you a great summary of the router.</a:t>
            </a:r>
          </a:p>
          <a:p>
            <a:r>
              <a:rPr lang="en-US" b="1"/>
              <a:t>It displays the router model, total amount of memory and flash, IOS and SDM versions, the hardware installed and a summary of some security features such as firewall status and the number of active VPN connections.</a:t>
            </a:r>
          </a:p>
          <a:p>
            <a:endParaRPr lang="en-US" b="1"/>
          </a:p>
          <a:p>
            <a:endParaRPr lang="en-US" b="1"/>
          </a:p>
          <a:p>
            <a:endParaRPr lang="en-US" b="1"/>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C290BD52-F70E-4A37-9998-6C3B112E8D1C}" type="slidenum">
              <a:rPr lang="en-US"/>
              <a:pPr/>
              <a:t>28</a:t>
            </a:fld>
            <a:endParaRPr lang="en-US"/>
          </a:p>
        </p:txBody>
      </p:sp>
      <p:sp>
        <p:nvSpPr>
          <p:cNvPr id="916482" name="Rectangle 2"/>
          <p:cNvSpPr>
            <a:spLocks noGrp="1" noRot="1" noChangeAspect="1" noChangeArrowheads="1" noTextEdit="1"/>
          </p:cNvSpPr>
          <p:nvPr>
            <p:ph type="sldImg"/>
          </p:nvPr>
        </p:nvSpPr>
        <p:spPr>
          <a:xfrm>
            <a:off x="460375" y="228600"/>
            <a:ext cx="2441575" cy="1831975"/>
          </a:xfrm>
          <a:ln/>
        </p:spPr>
      </p:sp>
      <p:sp>
        <p:nvSpPr>
          <p:cNvPr id="916483" name="Rectangle 3"/>
          <p:cNvSpPr>
            <a:spLocks noGrp="1" noChangeArrowheads="1"/>
          </p:cNvSpPr>
          <p:nvPr>
            <p:ph type="body" idx="1"/>
          </p:nvPr>
        </p:nvSpPr>
        <p:spPr>
          <a:xfrm>
            <a:off x="228600" y="2136775"/>
            <a:ext cx="6488113" cy="6481763"/>
          </a:xfrm>
        </p:spPr>
        <p:txBody>
          <a:bodyPr/>
          <a:lstStyle/>
          <a:p>
            <a:r>
              <a:rPr lang="en-US" b="1"/>
              <a:t>Click Wizard to enter this mode.</a:t>
            </a:r>
          </a:p>
          <a:p>
            <a:r>
              <a:rPr lang="en-US" b="1"/>
              <a:t>If there’s delta configuration within SDM and you attempt to enter the wizard mode a dialog box appears. It states that you must perform a Refresh or Deliver before entering the Wizard Mode. Click either button to perform one of those functions. </a:t>
            </a:r>
          </a:p>
          <a:p>
            <a:r>
              <a:rPr lang="en-US" b="1"/>
              <a:t>When the page appears the wizards are displayed on the left.</a:t>
            </a:r>
          </a:p>
          <a:p>
            <a:r>
              <a:rPr lang="en-US" b="1"/>
              <a:t>I have already describe the Overview page. It is not a wizard, but you can click on some features and it may open a wizard.</a:t>
            </a:r>
          </a:p>
          <a:p>
            <a:r>
              <a:rPr lang="en-US" b="1"/>
              <a:t>LAN  wizard is used to configure the LAN interfaces and DHCP. </a:t>
            </a:r>
          </a:p>
          <a:p>
            <a:r>
              <a:rPr lang="en-US" b="1"/>
              <a:t>WAN wizard is used to configure PPP, Frame Relay, HDLC WAN interfaces</a:t>
            </a:r>
          </a:p>
          <a:p>
            <a:r>
              <a:rPr lang="en-US" b="1"/>
              <a:t>Firewall provides two wizards. A simple inside/outside wizard or more complex inside/outside/DMZ with multiple interfaces.</a:t>
            </a:r>
          </a:p>
          <a:p>
            <a:r>
              <a:rPr lang="en-US" b="1"/>
              <a:t>For VPN, there are three wizards. A secure site-to-site VPN, Easy VPN and GRE tunnel with IPSec.</a:t>
            </a:r>
          </a:p>
          <a:p>
            <a:r>
              <a:rPr lang="en-US" b="1"/>
              <a:t>Security Audit contains two wizards. The router security audit and an easy one-step router security lock down wizard.</a:t>
            </a:r>
          </a:p>
          <a:p>
            <a:r>
              <a:rPr lang="en-US" b="1"/>
              <a:t>The last wizard resets the router configuration back to the SDM factory default configuration settings.</a:t>
            </a:r>
          </a:p>
          <a:p>
            <a:r>
              <a:rPr lang="en-US" b="1"/>
              <a:t>While in the Wizard modes, all changes are automatically delivered using  generated CLI commands upon finishing the wizard.</a:t>
            </a:r>
          </a:p>
          <a:p>
            <a:pPr>
              <a:lnSpc>
                <a:spcPct val="85000"/>
              </a:lnSpc>
            </a:pPr>
            <a:r>
              <a:rPr lang="en-US" b="1"/>
              <a:t>A user can choose whether or not to preview the commands sent. The default is “No Preview” which can be altered in the Preferences menu.</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BF711D-7392-41C2-99D8-087330849D54}" type="slidenum">
              <a:rPr lang="en-US"/>
              <a:pPr/>
              <a:t>30</a:t>
            </a:fld>
            <a:endParaRPr lang="en-US"/>
          </a:p>
        </p:txBody>
      </p:sp>
      <p:sp>
        <p:nvSpPr>
          <p:cNvPr id="70658" name="Rectangle 2"/>
          <p:cNvSpPr>
            <a:spLocks noGrp="1" noRot="1" noChangeAspect="1" noChangeArrowheads="1" noTextEdit="1"/>
          </p:cNvSpPr>
          <p:nvPr>
            <p:ph type="sldImg"/>
          </p:nvPr>
        </p:nvSpPr>
        <p:spPr>
          <a:xfrm>
            <a:off x="858514" y="244986"/>
            <a:ext cx="5340606" cy="3985867"/>
          </a:xfrm>
          <a:ln/>
        </p:spPr>
      </p:sp>
      <p:sp>
        <p:nvSpPr>
          <p:cNvPr id="70659" name="Rectangle 3"/>
          <p:cNvSpPr>
            <a:spLocks noGrp="1" noChangeArrowheads="1"/>
          </p:cNvSpPr>
          <p:nvPr>
            <p:ph type="body" idx="1"/>
          </p:nvPr>
        </p:nvSpPr>
        <p:spPr>
          <a:xfrm>
            <a:off x="403340" y="4371075"/>
            <a:ext cx="6110029" cy="4248582"/>
          </a:xfrm>
        </p:spPr>
        <p:txBody>
          <a:bodyPr/>
          <a:lstStyle/>
          <a:p>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A77437-83C7-4578-968F-2FD6D7275D21}" type="slidenum">
              <a:rPr lang="en-US"/>
              <a:pPr/>
              <a:t>31</a:t>
            </a:fld>
            <a:endParaRPr lang="en-US"/>
          </a:p>
        </p:txBody>
      </p:sp>
      <p:sp>
        <p:nvSpPr>
          <p:cNvPr id="332802" name="Rectangle 2"/>
          <p:cNvSpPr>
            <a:spLocks noGrp="1" noRot="1" noChangeAspect="1" noChangeArrowheads="1" noTextEdit="1"/>
          </p:cNvSpPr>
          <p:nvPr>
            <p:ph type="sldImg"/>
          </p:nvPr>
        </p:nvSpPr>
        <p:spPr>
          <a:xfrm>
            <a:off x="1114448" y="306233"/>
            <a:ext cx="4796341" cy="3579705"/>
          </a:xfrm>
          <a:ln/>
        </p:spPr>
      </p:sp>
      <p:sp>
        <p:nvSpPr>
          <p:cNvPr id="332803" name="Rectangle 3"/>
          <p:cNvSpPr>
            <a:spLocks noGrp="1" noChangeArrowheads="1"/>
          </p:cNvSpPr>
          <p:nvPr>
            <p:ph type="body" idx="1"/>
          </p:nvPr>
        </p:nvSpPr>
        <p:spPr>
          <a:xfrm>
            <a:off x="534547" y="4114808"/>
            <a:ext cx="5954524" cy="4649908"/>
          </a:xfrm>
        </p:spPr>
        <p:txBody>
          <a:bodyPr lIns="87989" tIns="43994" rIns="87989" bIns="43994"/>
          <a:lstStyle/>
          <a:p>
            <a:r>
              <a:rPr lang="en-US" b="1"/>
              <a:t>Emphasize: </a:t>
            </a:r>
            <a:r>
              <a:rPr lang="en-US"/>
              <a:t>In Cisco IOS Release 12.0, there</a:t>
            </a:r>
            <a:r>
              <a:rPr lang="en-US" b="1"/>
              <a:t> </a:t>
            </a:r>
            <a:r>
              <a:rPr lang="en-US"/>
              <a:t>are new </a:t>
            </a:r>
            <a:r>
              <a:rPr lang="en-US" b="1"/>
              <a:t>copy </a:t>
            </a:r>
            <a:r>
              <a:rPr lang="en-US"/>
              <a:t>commands. These new commands treat the RAM, Flash, NVRAM, TFTP, FTP, and so on as a file system. Since this class was developed when the most common Cisco IOS in the field is pre-12.0, these 12.0 commands are not covered in detail in this class. </a:t>
            </a:r>
            <a:r>
              <a:rPr lang="en-US" b="1"/>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80C122-85C4-4926-B1DF-36A4F1310816}" type="slidenum">
              <a:rPr lang="en-US"/>
              <a:pPr/>
              <a:t>32</a:t>
            </a:fld>
            <a:endParaRPr lang="en-US"/>
          </a:p>
        </p:txBody>
      </p:sp>
      <p:sp>
        <p:nvSpPr>
          <p:cNvPr id="334850" name="Rectangle 2"/>
          <p:cNvSpPr>
            <a:spLocks noGrp="1" noRot="1" noChangeAspect="1" noChangeArrowheads="1" noTextEdit="1"/>
          </p:cNvSpPr>
          <p:nvPr>
            <p:ph type="sldImg"/>
          </p:nvPr>
        </p:nvSpPr>
        <p:spPr>
          <a:xfrm>
            <a:off x="1124168" y="307846"/>
            <a:ext cx="4797960" cy="3581316"/>
          </a:xfrm>
          <a:ln/>
        </p:spPr>
      </p:sp>
      <p:sp>
        <p:nvSpPr>
          <p:cNvPr id="334851" name="Rectangle 3"/>
          <p:cNvSpPr>
            <a:spLocks noGrp="1" noChangeArrowheads="1"/>
          </p:cNvSpPr>
          <p:nvPr>
            <p:ph type="body" idx="1"/>
          </p:nvPr>
        </p:nvSpPr>
        <p:spPr>
          <a:xfrm>
            <a:off x="534547" y="4114808"/>
            <a:ext cx="5954524" cy="4649908"/>
          </a:xfrm>
        </p:spPr>
        <p:txBody>
          <a:bodyPr lIns="87989" tIns="43994" rIns="87989" bIns="43994"/>
          <a:lstStyle/>
          <a:p>
            <a:r>
              <a:rPr lang="en-US" b="1"/>
              <a:t>Emphasize:</a:t>
            </a:r>
            <a:r>
              <a:rPr lang="en-US"/>
              <a:t> This section introduces topics on managing your configuration file and Cisco IOS image.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DE7B3C-F923-47D5-B2BA-31B970831B02}" type="slidenum">
              <a:rPr lang="en-US"/>
              <a:pPr/>
              <a:t>33</a:t>
            </a:fld>
            <a:endParaRPr lang="en-US"/>
          </a:p>
        </p:txBody>
      </p:sp>
      <p:sp>
        <p:nvSpPr>
          <p:cNvPr id="336898" name="Rectangle 2"/>
          <p:cNvSpPr>
            <a:spLocks noGrp="1" noRot="1" noChangeAspect="1" noChangeArrowheads="1" noTextEdit="1"/>
          </p:cNvSpPr>
          <p:nvPr>
            <p:ph type="sldImg"/>
          </p:nvPr>
        </p:nvSpPr>
        <p:spPr>
          <a:xfrm>
            <a:off x="1124168" y="307846"/>
            <a:ext cx="4797960" cy="3581316"/>
          </a:xfrm>
          <a:ln/>
        </p:spPr>
      </p:sp>
      <p:sp>
        <p:nvSpPr>
          <p:cNvPr id="336899" name="Rectangle 3"/>
          <p:cNvSpPr>
            <a:spLocks noGrp="1" noChangeArrowheads="1"/>
          </p:cNvSpPr>
          <p:nvPr>
            <p:ph type="body" idx="1"/>
          </p:nvPr>
        </p:nvSpPr>
        <p:spPr>
          <a:xfrm>
            <a:off x="534547" y="4114808"/>
            <a:ext cx="5954524" cy="4649908"/>
          </a:xfrm>
        </p:spPr>
        <p:txBody>
          <a:bodyPr lIns="87989" tIns="43994" rIns="87989" bIns="43994"/>
          <a:lstStyle/>
          <a:p>
            <a:pPr>
              <a:lnSpc>
                <a:spcPct val="95000"/>
              </a:lnSpc>
              <a:spcBef>
                <a:spcPct val="35000"/>
              </a:spcBef>
            </a:pPr>
            <a:r>
              <a:rPr lang="en-US" b="1"/>
              <a:t>Emphasize:</a:t>
            </a:r>
            <a:r>
              <a:rPr lang="en-US"/>
              <a:t> The </a:t>
            </a:r>
            <a:r>
              <a:rPr lang="en-US" b="1"/>
              <a:t>show flash </a:t>
            </a:r>
            <a:r>
              <a:rPr lang="en-US"/>
              <a:t>command is an important tool to use to gather information about your router memory and image file. Caution students that they must know that they are loading the correct and appropriate image. The name for the Cisco IOS image file contains multiple parts, each with a specific meaning:</a:t>
            </a:r>
          </a:p>
          <a:p>
            <a:pPr lvl="1">
              <a:lnSpc>
                <a:spcPct val="95000"/>
              </a:lnSpc>
              <a:spcBef>
                <a:spcPct val="35000"/>
              </a:spcBef>
            </a:pPr>
            <a:r>
              <a:rPr lang="en-US"/>
              <a:t>The first part of the image name contains the platform on which the image runs. In this example, the platform is C2500.</a:t>
            </a:r>
          </a:p>
          <a:p>
            <a:pPr lvl="1">
              <a:lnSpc>
                <a:spcPct val="95000"/>
              </a:lnSpc>
              <a:spcBef>
                <a:spcPct val="35000"/>
              </a:spcBef>
            </a:pPr>
            <a:r>
              <a:rPr lang="en-US"/>
              <a:t>The second part of the name identifies the special capabilities of the image file. A letter or series of letters identifies the feature sets supported in that image. In this example, the “j” indicates this is an enterprise image, and the “s” indicates it contains extended capabilities.</a:t>
            </a:r>
          </a:p>
          <a:p>
            <a:pPr lvl="1">
              <a:lnSpc>
                <a:spcPct val="95000"/>
              </a:lnSpc>
              <a:spcBef>
                <a:spcPct val="35000"/>
              </a:spcBef>
            </a:pPr>
            <a:r>
              <a:rPr lang="en-US"/>
              <a:t>The third part of the name specifies where the image runs and if the file is compressed. In this example, “l” indicates the file is relocatable and not compressed. Relocatable means the Cisco IOS can be run from Flash or from RAM. You should be careful in reading the Cisco IOS image filename. Some fonts display the lowercase letter “l” and the number 1 as the same character. How you enter the characters will impact the ability of the router to load the files correctly. </a:t>
            </a:r>
          </a:p>
          <a:p>
            <a:pPr lvl="1">
              <a:lnSpc>
                <a:spcPct val="95000"/>
              </a:lnSpc>
              <a:spcBef>
                <a:spcPct val="35000"/>
              </a:spcBef>
            </a:pPr>
            <a:r>
              <a:rPr lang="en-US"/>
              <a:t>The fourth part of the name indicates the version number. In this example, the version number is 12.0 (3).</a:t>
            </a:r>
          </a:p>
          <a:p>
            <a:pPr lvl="1">
              <a:lnSpc>
                <a:spcPct val="95000"/>
              </a:lnSpc>
              <a:spcBef>
                <a:spcPct val="35000"/>
              </a:spcBef>
            </a:pPr>
            <a:r>
              <a:rPr lang="en-US"/>
              <a:t>The final part of the name is the file extension. The .bin extension indicates this file is a binary executable file. </a:t>
            </a:r>
          </a:p>
          <a:p>
            <a:pPr>
              <a:lnSpc>
                <a:spcPct val="95000"/>
              </a:lnSpc>
              <a:spcBef>
                <a:spcPct val="35000"/>
              </a:spcBef>
            </a:pPr>
            <a:r>
              <a:rPr lang="en-US"/>
              <a:t>The Cisco IOS software naming conventions, name part field meaning, image content, and other details are subject to change. Refer to Cisco Connection Online (CCO) for updated details.	</a:t>
            </a:r>
            <a:endParaRPr lang="en-US" sz="10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2F6A37-2877-4B2C-8CCD-9407EAA73346}" type="slidenum">
              <a:rPr lang="en-US"/>
              <a:pPr/>
              <a:t>34</a:t>
            </a:fld>
            <a:endParaRPr lang="en-US"/>
          </a:p>
        </p:txBody>
      </p:sp>
      <p:sp>
        <p:nvSpPr>
          <p:cNvPr id="338946" name="Rectangle 2"/>
          <p:cNvSpPr>
            <a:spLocks noGrp="1" noRot="1" noChangeAspect="1" noChangeArrowheads="1" noTextEdit="1"/>
          </p:cNvSpPr>
          <p:nvPr>
            <p:ph type="sldImg"/>
          </p:nvPr>
        </p:nvSpPr>
        <p:spPr>
          <a:xfrm>
            <a:off x="1124168" y="307846"/>
            <a:ext cx="4797960" cy="3581316"/>
          </a:xfrm>
          <a:ln/>
        </p:spPr>
      </p:sp>
      <p:sp>
        <p:nvSpPr>
          <p:cNvPr id="338947" name="Rectangle 3"/>
          <p:cNvSpPr>
            <a:spLocks noGrp="1" noChangeArrowheads="1"/>
          </p:cNvSpPr>
          <p:nvPr>
            <p:ph type="body" idx="1"/>
          </p:nvPr>
        </p:nvSpPr>
        <p:spPr>
          <a:xfrm>
            <a:off x="534547" y="4114808"/>
            <a:ext cx="5954524" cy="4649908"/>
          </a:xfrm>
        </p:spPr>
        <p:txBody>
          <a:bodyPr lIns="87989" tIns="43994" rIns="87989" bIns="43994"/>
          <a:lstStyle/>
          <a:p>
            <a:r>
              <a:rPr lang="en-US" b="1"/>
              <a:t>Purpose: </a:t>
            </a:r>
            <a:r>
              <a:rPr lang="en-US"/>
              <a:t>This slide discusses how to create a backup version of a Cisco IOS software image to a TFTP server. 	</a:t>
            </a:r>
          </a:p>
          <a:p>
            <a:r>
              <a:rPr lang="en-US" b="1"/>
              <a:t>Emphasize:</a:t>
            </a:r>
            <a:r>
              <a:rPr lang="en-US"/>
              <a:t> Routers by default come with Flash memory that has a preloaded copy of the Cisco IOS software. Although Flash is extremely reliable—good for 65 years and 100,000 rewrites—it is a good idea to make a backup copy of the Cisco IOS software if you have a TFTP server available. If you have to replace Flash memory for some reason, you will have a backup copy at the revision level currently running on your network.</a:t>
            </a:r>
          </a:p>
          <a:p>
            <a:r>
              <a:rPr lang="en-US"/>
              <a:t>The </a:t>
            </a:r>
            <a:r>
              <a:rPr lang="en-US" b="1"/>
              <a:t>copy </a:t>
            </a:r>
            <a:r>
              <a:rPr lang="en-US"/>
              <a:t>command screen output varies depending on the Cisco IOS software level.</a:t>
            </a:r>
          </a:p>
          <a:p>
            <a:r>
              <a:rPr lang="en-US"/>
              <a:t>Determine the platform type of your TFTP server prior to beginning the backup procedure. The TFTP server may be running Windows, UNIX, Mac, or other OS. Filename and directory access procedures may vary depending on the TFTP server platform and platform version.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B78345-13A4-4287-82C4-BA9B399C49C0}" type="slidenum">
              <a:rPr lang="en-US"/>
              <a:pPr/>
              <a:t>35</a:t>
            </a:fld>
            <a:endParaRPr lang="en-US"/>
          </a:p>
        </p:txBody>
      </p:sp>
      <p:sp>
        <p:nvSpPr>
          <p:cNvPr id="340994" name="Rectangle 2"/>
          <p:cNvSpPr>
            <a:spLocks noGrp="1" noRot="1" noChangeAspect="1" noChangeArrowheads="1" noTextEdit="1"/>
          </p:cNvSpPr>
          <p:nvPr>
            <p:ph type="sldImg"/>
          </p:nvPr>
        </p:nvSpPr>
        <p:spPr>
          <a:xfrm>
            <a:off x="1114448" y="306233"/>
            <a:ext cx="4796341" cy="3579705"/>
          </a:xfrm>
          <a:ln/>
        </p:spPr>
      </p:sp>
      <p:sp>
        <p:nvSpPr>
          <p:cNvPr id="340995" name="Rectangle 3"/>
          <p:cNvSpPr>
            <a:spLocks noGrp="1" noChangeArrowheads="1"/>
          </p:cNvSpPr>
          <p:nvPr>
            <p:ph type="body" idx="1"/>
          </p:nvPr>
        </p:nvSpPr>
        <p:spPr>
          <a:xfrm>
            <a:off x="534547" y="4114808"/>
            <a:ext cx="5954524" cy="4649908"/>
          </a:xfrm>
        </p:spPr>
        <p:txBody>
          <a:bodyPr lIns="87989" tIns="43994" rIns="87989" bIns="43994"/>
          <a:lstStyle/>
          <a:p>
            <a:r>
              <a:rPr lang="en-US" b="1"/>
              <a:t>Purpose: </a:t>
            </a:r>
            <a:r>
              <a:rPr lang="en-US"/>
              <a:t>This slide describes how to load a backup version of a Cisco IOS software image from a TFTP server to the router. </a:t>
            </a:r>
          </a:p>
          <a:p>
            <a:r>
              <a:rPr lang="en-US" b="1"/>
              <a:t>Emphasize:</a:t>
            </a:r>
            <a:r>
              <a:rPr lang="en-US"/>
              <a:t> If you need more Flash space to load a copy of the Cisco IOS software, you must first erase the Flash memory. You cannot erase a single image—you must erase all copies of Cisco IOS software from Flash. However, if Flash memory on the router is partitioned, you can erase one or more of the parts.</a:t>
            </a:r>
          </a:p>
          <a:p>
            <a:r>
              <a:rPr lang="en-US"/>
              <a:t>After the TFTP transfer is completed, use the </a:t>
            </a:r>
            <a:r>
              <a:rPr lang="en-US" b="1"/>
              <a:t>show flash </a:t>
            </a:r>
            <a:r>
              <a:rPr lang="en-US"/>
              <a:t>command to view the file size to compare its size with that of the original on the server.</a:t>
            </a:r>
          </a:p>
          <a:p>
            <a:r>
              <a:rPr lang="en-US"/>
              <a:t>If the Cisco IOS is running from Flash, then the Flash is in the read-only state. To change the Flash to a writeable state, you can use the </a:t>
            </a:r>
            <a:r>
              <a:rPr lang="en-US" b="1"/>
              <a:t>boot system </a:t>
            </a:r>
            <a:r>
              <a:rPr lang="en-US"/>
              <a:t>TFTP command to boot a Cisco IOS from a TFTP server and the Cisco IOS will be run from RAM, or you can go to the Rxboot mode to perform the copy.</a:t>
            </a:r>
          </a:p>
          <a:p>
            <a:endParaRPr lang="en-US"/>
          </a:p>
          <a:p>
            <a:endParaRPr lang="en-US"/>
          </a:p>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8B7B67-F683-48EE-A53E-950695986D90}" type="slidenum">
              <a:rPr lang="en-US"/>
              <a:pPr/>
              <a:t>36</a:t>
            </a:fld>
            <a:endParaRPr lang="en-US"/>
          </a:p>
        </p:txBody>
      </p:sp>
      <p:sp>
        <p:nvSpPr>
          <p:cNvPr id="343042" name="Rectangle 2"/>
          <p:cNvSpPr>
            <a:spLocks noGrp="1" noRot="1" noChangeAspect="1" noChangeArrowheads="1" noTextEdit="1"/>
          </p:cNvSpPr>
          <p:nvPr>
            <p:ph type="sldImg"/>
          </p:nvPr>
        </p:nvSpPr>
        <p:spPr>
          <a:ln/>
        </p:spPr>
      </p:sp>
      <p:sp>
        <p:nvSpPr>
          <p:cNvPr id="343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9AA73D-F541-40DA-8EA8-D773D8DA3897}" type="slidenum">
              <a:rPr lang="en-US"/>
              <a:pPr/>
              <a:t>37</a:t>
            </a:fld>
            <a:endParaRPr lang="en-US"/>
          </a:p>
        </p:txBody>
      </p:sp>
      <p:sp>
        <p:nvSpPr>
          <p:cNvPr id="345090" name="Rectangle 2"/>
          <p:cNvSpPr>
            <a:spLocks noGrp="1" noRot="1" noChangeAspect="1" noChangeArrowheads="1" noTextEdit="1"/>
          </p:cNvSpPr>
          <p:nvPr>
            <p:ph type="sldImg"/>
          </p:nvPr>
        </p:nvSpPr>
        <p:spPr>
          <a:xfrm>
            <a:off x="1114448" y="306233"/>
            <a:ext cx="4796341" cy="3579705"/>
          </a:xfrm>
          <a:ln/>
        </p:spPr>
      </p:sp>
      <p:sp>
        <p:nvSpPr>
          <p:cNvPr id="345091" name="Rectangle 3"/>
          <p:cNvSpPr>
            <a:spLocks noGrp="1" noChangeArrowheads="1"/>
          </p:cNvSpPr>
          <p:nvPr>
            <p:ph type="body" idx="1"/>
          </p:nvPr>
        </p:nvSpPr>
        <p:spPr>
          <a:xfrm>
            <a:off x="534547" y="4114808"/>
            <a:ext cx="5954524" cy="4649908"/>
          </a:xfrm>
        </p:spPr>
        <p:txBody>
          <a:bodyPr lIns="87989" tIns="43994" rIns="87989" bIns="43994"/>
          <a:lstStyle/>
          <a:p>
            <a:r>
              <a:rPr lang="en-US" b="1"/>
              <a:t>Layer 4 of 4</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896A6D-FB62-4D30-9820-E04C8D656CD0}" type="slidenum">
              <a:rPr lang="en-US"/>
              <a:pPr/>
              <a:t>38</a:t>
            </a:fld>
            <a:endParaRPr lang="en-US"/>
          </a:p>
        </p:txBody>
      </p:sp>
      <p:sp>
        <p:nvSpPr>
          <p:cNvPr id="347138" name="Rectangle 2"/>
          <p:cNvSpPr>
            <a:spLocks noGrp="1" noRot="1" noChangeAspect="1" noChangeArrowheads="1" noTextEdit="1"/>
          </p:cNvSpPr>
          <p:nvPr>
            <p:ph type="sldImg"/>
          </p:nvPr>
        </p:nvSpPr>
        <p:spPr>
          <a:xfrm>
            <a:off x="1114448" y="306233"/>
            <a:ext cx="4796341" cy="3579705"/>
          </a:xfrm>
          <a:ln/>
        </p:spPr>
      </p:sp>
      <p:sp>
        <p:nvSpPr>
          <p:cNvPr id="347139" name="Rectangle 3"/>
          <p:cNvSpPr>
            <a:spLocks noGrp="1" noChangeArrowheads="1"/>
          </p:cNvSpPr>
          <p:nvPr>
            <p:ph type="body" idx="1"/>
          </p:nvPr>
        </p:nvSpPr>
        <p:spPr>
          <a:xfrm>
            <a:off x="534547" y="4114808"/>
            <a:ext cx="5954524" cy="4649908"/>
          </a:xfrm>
        </p:spPr>
        <p:txBody>
          <a:bodyPr lIns="87989" tIns="43994" rIns="87989" bIns="43994"/>
          <a:lstStyle/>
          <a:p>
            <a:pPr>
              <a:lnSpc>
                <a:spcPct val="115000"/>
              </a:lnSpc>
            </a:pPr>
            <a:r>
              <a:rPr lang="en-US" b="1"/>
              <a:t>Note: </a:t>
            </a:r>
            <a:r>
              <a:rPr lang="en-US"/>
              <a:t>Cisco IOS Release 12.0 supports a new syntax for the </a:t>
            </a:r>
            <a:r>
              <a:rPr lang="en-US" b="1"/>
              <a:t>copy</a:t>
            </a:r>
            <a:r>
              <a:rPr lang="en-US"/>
              <a:t> command.</a:t>
            </a:r>
            <a:endParaRPr lang="en-US" b="1"/>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E26571-2C75-4259-9B5B-AE2B586F0778}" type="slidenum">
              <a:rPr lang="en-US"/>
              <a:pPr/>
              <a:t>39</a:t>
            </a:fld>
            <a:endParaRPr lang="en-US"/>
          </a:p>
        </p:txBody>
      </p:sp>
      <p:sp>
        <p:nvSpPr>
          <p:cNvPr id="349186" name="Rectangle 2"/>
          <p:cNvSpPr>
            <a:spLocks noGrp="1" noRot="1" noChangeAspect="1" noChangeArrowheads="1" noTextEdit="1"/>
          </p:cNvSpPr>
          <p:nvPr>
            <p:ph type="sldImg"/>
          </p:nvPr>
        </p:nvSpPr>
        <p:spPr>
          <a:xfrm>
            <a:off x="1114448" y="306233"/>
            <a:ext cx="4796341" cy="3579705"/>
          </a:xfrm>
          <a:ln/>
        </p:spPr>
      </p:sp>
      <p:sp>
        <p:nvSpPr>
          <p:cNvPr id="349187" name="Rectangle 3"/>
          <p:cNvSpPr>
            <a:spLocks noGrp="1" noChangeArrowheads="1"/>
          </p:cNvSpPr>
          <p:nvPr>
            <p:ph type="body" idx="1"/>
          </p:nvPr>
        </p:nvSpPr>
        <p:spPr>
          <a:xfrm>
            <a:off x="534547" y="4114808"/>
            <a:ext cx="5954524" cy="4649908"/>
          </a:xfrm>
        </p:spPr>
        <p:txBody>
          <a:bodyPr lIns="87989" tIns="43994" rIns="87989" bIns="43994"/>
          <a:lstStyle/>
          <a:p>
            <a:pPr>
              <a:lnSpc>
                <a:spcPct val="115000"/>
              </a:lnSpc>
            </a:pPr>
            <a:r>
              <a:rPr lang="en-US" b="1"/>
              <a:t>Note: </a:t>
            </a:r>
            <a:r>
              <a:rPr lang="en-US"/>
              <a:t>Cisco IOS Release 12.0 supports a new syntax for the </a:t>
            </a:r>
            <a:r>
              <a:rPr lang="en-US" b="1"/>
              <a:t>copy</a:t>
            </a:r>
            <a:r>
              <a:rPr lang="en-US"/>
              <a:t> command.</a:t>
            </a:r>
            <a:endParaRPr lang="en-US" b="1"/>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E0F904-E783-4CE5-B22D-C6E66373DD80}" type="slidenum">
              <a:rPr lang="en-US"/>
              <a:pPr/>
              <a:t>40</a:t>
            </a:fld>
            <a:endParaRPr lang="en-US"/>
          </a:p>
        </p:txBody>
      </p:sp>
      <p:sp>
        <p:nvSpPr>
          <p:cNvPr id="357378" name="Rectangle 2"/>
          <p:cNvSpPr>
            <a:spLocks noGrp="1" noRot="1" noChangeAspect="1" noChangeArrowheads="1" noTextEdit="1"/>
          </p:cNvSpPr>
          <p:nvPr>
            <p:ph type="sldImg"/>
          </p:nvPr>
        </p:nvSpPr>
        <p:spPr>
          <a:ln/>
        </p:spPr>
      </p:sp>
      <p:sp>
        <p:nvSpPr>
          <p:cNvPr id="357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372293-DC0D-46A6-83ED-6054007D81D8}" type="slidenum">
              <a:rPr lang="en-US"/>
              <a:pPr/>
              <a:t>41</a:t>
            </a:fld>
            <a:endParaRPr lang="en-US"/>
          </a:p>
        </p:txBody>
      </p:sp>
      <p:sp>
        <p:nvSpPr>
          <p:cNvPr id="359426" name="Rectangle 2"/>
          <p:cNvSpPr>
            <a:spLocks noGrp="1" noRot="1" noChangeAspect="1" noChangeArrowheads="1" noTextEdit="1"/>
          </p:cNvSpPr>
          <p:nvPr>
            <p:ph type="sldImg"/>
          </p:nvPr>
        </p:nvSpPr>
        <p:spPr>
          <a:ln/>
        </p:spPr>
      </p:sp>
      <p:sp>
        <p:nvSpPr>
          <p:cNvPr id="35942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40354"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40355"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740356"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740357" name="Rectangle 5"/>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smtClean="0"/>
              <a:t>Module Title, Size 20</a:t>
            </a:r>
          </a:p>
        </p:txBody>
      </p:sp>
      <p:sp>
        <p:nvSpPr>
          <p:cNvPr id="740358" name="Rectangle 6"/>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smtClean="0"/>
              <a:t>Lesson Title,</a:t>
            </a:r>
            <a:br>
              <a:rPr lang="en-US" noProof="0" smtClean="0"/>
            </a:br>
            <a:r>
              <a:rPr lang="en-US" noProof="0" smtClean="0"/>
              <a:t>Size 30</a:t>
            </a:r>
          </a:p>
        </p:txBody>
      </p:sp>
      <p:sp>
        <p:nvSpPr>
          <p:cNvPr id="740360" name="Rectangle 8"/>
          <p:cNvSpPr>
            <a:spLocks noChangeArrowheads="1"/>
          </p:cNvSpPr>
          <p:nvPr userDrawn="1"/>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v1.0—2-</a:t>
            </a:r>
            <a:fld id="{E9B25548-C876-44BD-A9F2-84566FCD92D4}" type="slidenum">
              <a:rPr lang="en-US" sz="700" b="0">
                <a:solidFill>
                  <a:srgbClr val="999999"/>
                </a:solidFill>
              </a:rPr>
              <a:pPr algn="r" defTabSz="814388">
                <a:lnSpc>
                  <a:spcPct val="100000"/>
                </a:lnSpc>
              </a:pPr>
              <a:t>‹#›</a:t>
            </a:fld>
            <a:endParaRPr lang="en-US" sz="700" b="0">
              <a:solidFill>
                <a:srgbClr val="999999"/>
              </a:solidFill>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18538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63785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1576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2673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43230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0010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52732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62484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14325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79323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739331" name="Rectangle 3"/>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9332"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739333"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v1.0—2-</a:t>
            </a:r>
            <a:fld id="{21EF178C-339F-45A0-A6EF-AC3D79C44E9F}" type="slidenum">
              <a:rPr lang="en-US" sz="700" b="0">
                <a:solidFill>
                  <a:srgbClr val="999999"/>
                </a:solidFill>
              </a:rPr>
              <a:pPr algn="r" defTabSz="814388">
                <a:lnSpc>
                  <a:spcPct val="100000"/>
                </a:lnSpc>
              </a:pPr>
              <a:t>‹#›</a:t>
            </a:fld>
            <a:endParaRPr lang="en-US" sz="700" b="0">
              <a:solidFill>
                <a:srgbClr val="999999"/>
              </a:solidFill>
            </a:endParaRPr>
          </a:p>
        </p:txBody>
      </p:sp>
      <p:sp>
        <p:nvSpPr>
          <p:cNvPr id="739334" name="Rectangle 6"/>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iming>
    <p:tnLst>
      <p:par>
        <p:cTn id="1" dur="indefinite" restart="never" nodeType="tmRoot"/>
      </p:par>
    </p:tnLst>
  </p:timing>
  <p:txStyles>
    <p:titleStyle>
      <a:lvl1pPr algn="l" defTabSz="814388" rtl="0" fontAlgn="base">
        <a:lnSpc>
          <a:spcPct val="90000"/>
        </a:lnSpc>
        <a:spcBef>
          <a:spcPct val="0"/>
        </a:spcBef>
        <a:spcAft>
          <a:spcPct val="0"/>
        </a:spcAft>
        <a:defRPr sz="3200" b="1">
          <a:solidFill>
            <a:schemeClr val="tx2"/>
          </a:solidFill>
          <a:latin typeface="+mj-lt"/>
          <a:ea typeface="+mj-ea"/>
          <a:cs typeface="+mj-cs"/>
        </a:defRPr>
      </a:lvl1pPr>
      <a:lvl2pPr algn="l" defTabSz="814388" rtl="0" fontAlgn="base">
        <a:lnSpc>
          <a:spcPct val="90000"/>
        </a:lnSpc>
        <a:spcBef>
          <a:spcPct val="0"/>
        </a:spcBef>
        <a:spcAft>
          <a:spcPct val="0"/>
        </a:spcAft>
        <a:defRPr sz="3200" b="1">
          <a:solidFill>
            <a:schemeClr val="tx2"/>
          </a:solidFill>
          <a:latin typeface="Arial" charset="0"/>
        </a:defRPr>
      </a:lvl2pPr>
      <a:lvl3pPr algn="l" defTabSz="814388" rtl="0" fontAlgn="base">
        <a:lnSpc>
          <a:spcPct val="90000"/>
        </a:lnSpc>
        <a:spcBef>
          <a:spcPct val="0"/>
        </a:spcBef>
        <a:spcAft>
          <a:spcPct val="0"/>
        </a:spcAft>
        <a:defRPr sz="3200" b="1">
          <a:solidFill>
            <a:schemeClr val="tx2"/>
          </a:solidFill>
          <a:latin typeface="Arial" charset="0"/>
        </a:defRPr>
      </a:lvl3pPr>
      <a:lvl4pPr algn="l" defTabSz="814388" rtl="0" fontAlgn="base">
        <a:lnSpc>
          <a:spcPct val="90000"/>
        </a:lnSpc>
        <a:spcBef>
          <a:spcPct val="0"/>
        </a:spcBef>
        <a:spcAft>
          <a:spcPct val="0"/>
        </a:spcAft>
        <a:defRPr sz="3200" b="1">
          <a:solidFill>
            <a:schemeClr val="tx2"/>
          </a:solidFill>
          <a:latin typeface="Arial" charset="0"/>
        </a:defRPr>
      </a:lvl4pPr>
      <a:lvl5pPr algn="l" defTabSz="814388" rtl="0" fontAlgn="base">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p:titleStyle>
    <p:bodyStyle>
      <a:lvl1pPr algn="l" defTabSz="814388" rtl="0" fontAlgn="base">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ctrTitle"/>
          </p:nvPr>
        </p:nvSpPr>
        <p:spPr/>
        <p:txBody>
          <a:bodyPr/>
          <a:lstStyle/>
          <a:p>
            <a:r>
              <a:rPr lang="en-US"/>
              <a:t>Ethernet LANs</a:t>
            </a:r>
          </a:p>
        </p:txBody>
      </p:sp>
      <p:sp>
        <p:nvSpPr>
          <p:cNvPr id="731139" name="Rectangle 3"/>
          <p:cNvSpPr>
            <a:spLocks noGrp="1" noChangeArrowheads="1"/>
          </p:cNvSpPr>
          <p:nvPr>
            <p:ph type="subTitle" idx="1"/>
          </p:nvPr>
        </p:nvSpPr>
        <p:spPr/>
        <p:txBody>
          <a:bodyPr/>
          <a:lstStyle/>
          <a:p>
            <a:r>
              <a:rPr lang="en-US">
                <a:solidFill>
                  <a:srgbClr val="FFFFFF"/>
                </a:solidFill>
              </a:rPr>
              <a:t>Operating Cisco IOS Software</a:t>
            </a:r>
          </a:p>
        </p:txBody>
      </p:sp>
    </p:spTree>
    <p:extLst>
      <p:ext uri="{BB962C8B-B14F-4D97-AF65-F5344CB8AC3E}">
        <p14:creationId xmlns:p14="http://schemas.microsoft.com/office/powerpoint/2010/main" val="282795692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9" name="Rectangle 3"/>
          <p:cNvSpPr>
            <a:spLocks noGrp="1" noChangeArrowheads="1"/>
          </p:cNvSpPr>
          <p:nvPr>
            <p:ph type="subTitle" idx="1"/>
          </p:nvPr>
        </p:nvSpPr>
        <p:spPr>
          <a:xfrm>
            <a:off x="517478" y="3276600"/>
            <a:ext cx="8169321" cy="841375"/>
          </a:xfrm>
          <a:ln/>
          <a:extLst/>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ctr" anchorCtr="0" compatLnSpc="1">
            <a:prstTxWarp prst="textNoShape">
              <a:avLst/>
            </a:prstTxWarp>
          </a:bodyPr>
          <a:lstStyle/>
          <a:p>
            <a:pPr eaLnBrk="0" hangingPunct="0"/>
            <a:r>
              <a:rPr lang="en-US" b="1" kern="1200">
                <a:solidFill>
                  <a:schemeClr val="tx1"/>
                </a:solidFill>
              </a:rPr>
              <a:t>Operating Cisco IOS Software</a:t>
            </a:r>
          </a:p>
        </p:txBody>
      </p:sp>
      <p:sp>
        <p:nvSpPr>
          <p:cNvPr id="5" name="Rectangle 3"/>
          <p:cNvSpPr txBox="1">
            <a:spLocks noChangeArrowheads="1"/>
          </p:cNvSpPr>
          <p:nvPr/>
        </p:nvSpPr>
        <p:spPr bwMode="auto">
          <a:xfrm>
            <a:off x="517478" y="4305300"/>
            <a:ext cx="8169322" cy="838200"/>
          </a:xfrm>
          <a:prstGeom prst="rect">
            <a:avLst/>
          </a:prstGeom>
          <a:ln/>
          <a:extLst/>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ctr" anchorCtr="0" compatLnSpc="1">
            <a:prstTxWarp prst="textNoShape">
              <a:avLst/>
            </a:prstTxWarp>
          </a:bodyPr>
          <a:lstStyle>
            <a:lvl1pPr defTabSz="814388">
              <a:buClr>
                <a:schemeClr val="accent1"/>
              </a:buClr>
              <a:buSzPct val="100000"/>
              <a:buFont typeface="Arial" charset="0"/>
              <a:defRPr>
                <a:solidFill>
                  <a:schemeClr val="tx1"/>
                </a:solidFill>
              </a:defRPr>
            </a:lvl1pPr>
            <a:lvl2pPr marL="342900" indent="-228600" defTabSz="814388">
              <a:lnSpc>
                <a:spcPct val="95000"/>
              </a:lnSpc>
              <a:spcBef>
                <a:spcPct val="35000"/>
              </a:spcBef>
              <a:buClr>
                <a:srgbClr val="0183B7"/>
              </a:buClr>
              <a:buFont typeface="Wingdings" pitchFamily="2" charset="2"/>
              <a:buChar char="§"/>
              <a:defRPr sz="2000"/>
            </a:lvl2pPr>
            <a:lvl3pPr marL="685800" indent="-228600" defTabSz="814388">
              <a:lnSpc>
                <a:spcPct val="95000"/>
              </a:lnSpc>
              <a:spcBef>
                <a:spcPct val="35000"/>
              </a:spcBef>
              <a:buClr>
                <a:srgbClr val="0183B7"/>
              </a:buClr>
              <a:buFont typeface="Arial" charset="0"/>
              <a:buChar char="–"/>
              <a:defRPr sz="2000"/>
            </a:lvl3pPr>
            <a:lvl4pPr marL="1028700" indent="-228600" defTabSz="814388">
              <a:lnSpc>
                <a:spcPct val="95000"/>
              </a:lnSpc>
              <a:spcBef>
                <a:spcPct val="35000"/>
              </a:spcBef>
              <a:buClr>
                <a:srgbClr val="0183B7"/>
              </a:buClr>
              <a:buFont typeface="Wingdings" pitchFamily="2" charset="2"/>
              <a:buChar char="§"/>
              <a:defRPr sz="2000"/>
            </a:lvl4pPr>
            <a:lvl5pPr marL="1371600" indent="-228600" defTabSz="814388">
              <a:lnSpc>
                <a:spcPct val="95000"/>
              </a:lnSpc>
              <a:spcBef>
                <a:spcPct val="35000"/>
              </a:spcBef>
              <a:buClr>
                <a:srgbClr val="0183B7"/>
              </a:buClr>
              <a:buFont typeface="Arial" charset="0"/>
              <a:buChar char="–"/>
              <a:defRPr sz="2000"/>
            </a:lvl5pPr>
            <a:lvl6pPr marL="1828800" indent="-228600" defTabSz="814388" fontAlgn="base">
              <a:lnSpc>
                <a:spcPct val="95000"/>
              </a:lnSpc>
              <a:spcBef>
                <a:spcPct val="35000"/>
              </a:spcBef>
              <a:spcAft>
                <a:spcPct val="0"/>
              </a:spcAft>
              <a:buClr>
                <a:srgbClr val="0183B7"/>
              </a:buClr>
              <a:buFont typeface="Arial" charset="0"/>
              <a:buChar char="–"/>
              <a:defRPr sz="2000"/>
            </a:lvl6pPr>
            <a:lvl7pPr marL="2286000" indent="-228600" defTabSz="814388" fontAlgn="base">
              <a:lnSpc>
                <a:spcPct val="95000"/>
              </a:lnSpc>
              <a:spcBef>
                <a:spcPct val="35000"/>
              </a:spcBef>
              <a:spcAft>
                <a:spcPct val="0"/>
              </a:spcAft>
              <a:buClr>
                <a:srgbClr val="0183B7"/>
              </a:buClr>
              <a:buFont typeface="Arial" charset="0"/>
              <a:buChar char="–"/>
              <a:defRPr sz="2000"/>
            </a:lvl7pPr>
            <a:lvl8pPr marL="2743200" indent="-228600" defTabSz="814388" fontAlgn="base">
              <a:lnSpc>
                <a:spcPct val="95000"/>
              </a:lnSpc>
              <a:spcBef>
                <a:spcPct val="35000"/>
              </a:spcBef>
              <a:spcAft>
                <a:spcPct val="0"/>
              </a:spcAft>
              <a:buClr>
                <a:srgbClr val="0183B7"/>
              </a:buClr>
              <a:buFont typeface="Arial" charset="0"/>
              <a:buChar char="–"/>
              <a:defRPr sz="2000"/>
            </a:lvl8pPr>
            <a:lvl9pPr marL="3200400" indent="-228600" defTabSz="814388" fontAlgn="base">
              <a:lnSpc>
                <a:spcPct val="95000"/>
              </a:lnSpc>
              <a:spcBef>
                <a:spcPct val="35000"/>
              </a:spcBef>
              <a:spcAft>
                <a:spcPct val="0"/>
              </a:spcAft>
              <a:buClr>
                <a:srgbClr val="0183B7"/>
              </a:buClr>
              <a:buFont typeface="Arial" charset="0"/>
              <a:buChar char="–"/>
              <a:defRPr sz="2000"/>
            </a:lvl9pPr>
          </a:lstStyle>
          <a:p>
            <a:r>
              <a:rPr lang="en-US"/>
              <a:t>Using the Cisco SDM</a:t>
            </a:r>
          </a:p>
        </p:txBody>
      </p:sp>
      <p:sp>
        <p:nvSpPr>
          <p:cNvPr id="4" name="Rectangle 3"/>
          <p:cNvSpPr txBox="1">
            <a:spLocks noChangeArrowheads="1"/>
          </p:cNvSpPr>
          <p:nvPr/>
        </p:nvSpPr>
        <p:spPr bwMode="auto">
          <a:xfrm>
            <a:off x="517478" y="5313362"/>
            <a:ext cx="8169322" cy="782638"/>
          </a:xfrm>
          <a:prstGeom prst="rect">
            <a:avLst/>
          </a:prstGeom>
          <a:ln/>
          <a:extLst/>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ctr" anchorCtr="0" compatLnSpc="1">
            <a:prstTxWarp prst="textNoShape">
              <a:avLst/>
            </a:prstTxWarp>
          </a:bodyPr>
          <a:lstStyle>
            <a:lvl1pPr algn="l" defTabSz="814388" rtl="0" fontAlgn="base">
              <a:lnSpc>
                <a:spcPct val="90000"/>
              </a:lnSpc>
              <a:spcBef>
                <a:spcPct val="0"/>
              </a:spcBef>
              <a:spcAft>
                <a:spcPct val="0"/>
              </a:spcAft>
              <a:buClr>
                <a:schemeClr val="accent1"/>
              </a:buClr>
              <a:buSzPct val="100000"/>
              <a:buFont typeface="Arial" charset="0"/>
              <a:defRPr sz="3000">
                <a:solidFill>
                  <a:schemeClr val="bg1"/>
                </a:solidFill>
                <a:latin typeface="+mn-lt"/>
                <a:ea typeface="+mn-ea"/>
                <a:cs typeface="+mn-cs"/>
              </a:defRPr>
            </a:lvl1pPr>
            <a:lvl2pPr marL="3429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9pPr>
          </a:lstStyle>
          <a:p>
            <a:r>
              <a:rPr lang="en-US" smtClean="0">
                <a:solidFill>
                  <a:schemeClr val="tx1"/>
                </a:solidFill>
              </a:rPr>
              <a:t>Managing Cisco Devices </a:t>
            </a:r>
            <a:endParaRPr lang="en-US">
              <a:solidFill>
                <a:schemeClr val="tx1"/>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1694" name="Picture 1038" descr="301P_2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8650" y="1524000"/>
            <a:ext cx="5000625" cy="2384425"/>
          </a:xfrm>
          <a:prstGeom prst="rect">
            <a:avLst/>
          </a:prstGeom>
          <a:noFill/>
          <a:extLst>
            <a:ext uri="{909E8E84-426E-40DD-AFC4-6F175D3DCCD1}">
              <a14:hiddenFill xmlns:a14="http://schemas.microsoft.com/office/drawing/2010/main">
                <a:solidFill>
                  <a:srgbClr val="FFFFFF"/>
                </a:solidFill>
              </a14:hiddenFill>
            </a:ext>
          </a:extLst>
        </p:spPr>
      </p:pic>
      <p:sp>
        <p:nvSpPr>
          <p:cNvPr id="711683" name="Rectangle 1027"/>
          <p:cNvSpPr>
            <a:spLocks noGrp="1" noChangeArrowheads="1"/>
          </p:cNvSpPr>
          <p:nvPr>
            <p:ph type="title"/>
          </p:nvPr>
        </p:nvSpPr>
        <p:spPr/>
        <p:txBody>
          <a:bodyPr/>
          <a:lstStyle/>
          <a:p>
            <a:r>
              <a:rPr lang="en-US"/>
              <a:t>Cisco IOS Software</a:t>
            </a:r>
          </a:p>
        </p:txBody>
      </p:sp>
      <p:sp>
        <p:nvSpPr>
          <p:cNvPr id="711693" name="Rectangle 1037"/>
          <p:cNvSpPr>
            <a:spLocks noGrp="1" noChangeArrowheads="1"/>
          </p:cNvSpPr>
          <p:nvPr>
            <p:ph type="body" idx="1"/>
          </p:nvPr>
        </p:nvSpPr>
        <p:spPr>
          <a:xfrm>
            <a:off x="655638" y="4038600"/>
            <a:ext cx="7940675" cy="2409825"/>
          </a:xfrm>
        </p:spPr>
        <p:txBody>
          <a:bodyPr/>
          <a:lstStyle/>
          <a:p>
            <a:pPr lvl="1"/>
            <a:r>
              <a:rPr lang="en-US" dirty="0">
                <a:solidFill>
                  <a:schemeClr val="tx1"/>
                </a:solidFill>
              </a:rPr>
              <a:t>Features to carry the chosen network protocols and functions</a:t>
            </a:r>
          </a:p>
          <a:p>
            <a:pPr lvl="1"/>
            <a:r>
              <a:rPr lang="en-US" dirty="0">
                <a:solidFill>
                  <a:schemeClr val="tx1"/>
                </a:solidFill>
              </a:rPr>
              <a:t>Connectivity for high-speed traffic between devices</a:t>
            </a:r>
          </a:p>
          <a:p>
            <a:pPr lvl="1"/>
            <a:r>
              <a:rPr lang="en-US" dirty="0">
                <a:solidFill>
                  <a:schemeClr val="tx1"/>
                </a:solidFill>
              </a:rPr>
              <a:t>Security to control access and prohibit unauthorized network use</a:t>
            </a:r>
          </a:p>
          <a:p>
            <a:pPr lvl="1"/>
            <a:r>
              <a:rPr lang="en-US" dirty="0">
                <a:solidFill>
                  <a:schemeClr val="tx1"/>
                </a:solidFill>
              </a:rPr>
              <a:t>Scalability to add interfaces and capability as needed for network growth</a:t>
            </a:r>
          </a:p>
          <a:p>
            <a:pPr lvl="1"/>
            <a:r>
              <a:rPr lang="en-US" dirty="0">
                <a:solidFill>
                  <a:schemeClr val="tx1"/>
                </a:solidFill>
              </a:rPr>
              <a:t>Reliability to ensure dependable access to networked resources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en-US"/>
              <a:t>Configuring Network Devices</a:t>
            </a:r>
          </a:p>
        </p:txBody>
      </p:sp>
      <p:sp>
        <p:nvSpPr>
          <p:cNvPr id="776195" name="Rectangle 3"/>
          <p:cNvSpPr>
            <a:spLocks noGrp="1" noChangeArrowheads="1"/>
          </p:cNvSpPr>
          <p:nvPr>
            <p:ph type="body" idx="1"/>
          </p:nvPr>
        </p:nvSpPr>
        <p:spPr/>
        <p:txBody>
          <a:bodyPr/>
          <a:lstStyle/>
          <a:p>
            <a:pPr lvl="1"/>
            <a:r>
              <a:rPr lang="en-US" dirty="0"/>
              <a:t>Initial default settings are sufficient for the switch to operate at Layer 2 as a switch.</a:t>
            </a:r>
          </a:p>
          <a:p>
            <a:pPr lvl="1"/>
            <a:r>
              <a:rPr lang="en-US" dirty="0"/>
              <a:t>A Cisco device will prompt for initial configuration if there is no configuration in memory.</a:t>
            </a:r>
          </a:p>
          <a:p>
            <a:pPr lvl="1"/>
            <a:r>
              <a:rPr lang="en-US" dirty="0"/>
              <a:t> Additional configuration tasks set up the device with the following:</a:t>
            </a:r>
          </a:p>
          <a:p>
            <a:pPr lvl="2"/>
            <a:r>
              <a:rPr lang="en-US" dirty="0"/>
              <a:t> Protocol addressing and parameter settings</a:t>
            </a:r>
          </a:p>
          <a:p>
            <a:pPr lvl="2"/>
            <a:r>
              <a:rPr lang="en-US" dirty="0"/>
              <a:t> Options for administration and management</a:t>
            </a:r>
          </a:p>
          <a:p>
            <a:pPr lvl="2"/>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42" name="Picture 2" descr="301P_2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850" y="1689100"/>
            <a:ext cx="7067550" cy="4600575"/>
          </a:xfrm>
          <a:prstGeom prst="rect">
            <a:avLst/>
          </a:prstGeom>
          <a:noFill/>
          <a:extLst>
            <a:ext uri="{909E8E84-426E-40DD-AFC4-6F175D3DCCD1}">
              <a14:hiddenFill xmlns:a14="http://schemas.microsoft.com/office/drawing/2010/main">
                <a:solidFill>
                  <a:srgbClr val="FFFFFF"/>
                </a:solidFill>
              </a14:hiddenFill>
            </a:ext>
          </a:extLst>
        </p:spPr>
      </p:pic>
      <p:sp>
        <p:nvSpPr>
          <p:cNvPr id="778243" name="Rectangle 3"/>
          <p:cNvSpPr>
            <a:spLocks noGrp="1" noChangeArrowheads="1"/>
          </p:cNvSpPr>
          <p:nvPr>
            <p:ph type="title"/>
          </p:nvPr>
        </p:nvSpPr>
        <p:spPr/>
        <p:txBody>
          <a:bodyPr/>
          <a:lstStyle/>
          <a:p>
            <a:r>
              <a:rPr lang="en-US"/>
              <a:t>An Overview of Cisco Device Startup</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9423" name="Picture 1055" descr="301P_2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33513"/>
            <a:ext cx="7543800" cy="4433887"/>
          </a:xfrm>
          <a:prstGeom prst="rect">
            <a:avLst/>
          </a:prstGeom>
          <a:noFill/>
          <a:extLst>
            <a:ext uri="{909E8E84-426E-40DD-AFC4-6F175D3DCCD1}">
              <a14:hiddenFill xmlns:a14="http://schemas.microsoft.com/office/drawing/2010/main">
                <a:solidFill>
                  <a:srgbClr val="FFFFFF"/>
                </a:solidFill>
              </a14:hiddenFill>
            </a:ext>
          </a:extLst>
        </p:spPr>
      </p:pic>
      <p:sp>
        <p:nvSpPr>
          <p:cNvPr id="699396" name="Rectangle 1028"/>
          <p:cNvSpPr>
            <a:spLocks noGrp="1" noChangeArrowheads="1"/>
          </p:cNvSpPr>
          <p:nvPr>
            <p:ph type="title"/>
          </p:nvPr>
        </p:nvSpPr>
        <p:spPr/>
        <p:txBody>
          <a:bodyPr/>
          <a:lstStyle/>
          <a:p>
            <a:r>
              <a:rPr lang="en-US"/>
              <a:t>External Configuration Sources</a:t>
            </a:r>
          </a:p>
        </p:txBody>
      </p:sp>
      <p:sp>
        <p:nvSpPr>
          <p:cNvPr id="699424" name="Rectangle 1056"/>
          <p:cNvSpPr>
            <a:spLocks noGrp="1" noChangeArrowheads="1"/>
          </p:cNvSpPr>
          <p:nvPr>
            <p:ph type="body" idx="1"/>
          </p:nvPr>
        </p:nvSpPr>
        <p:spPr>
          <a:xfrm>
            <a:off x="655638" y="5667375"/>
            <a:ext cx="7940675" cy="962025"/>
          </a:xfrm>
        </p:spPr>
        <p:txBody>
          <a:bodyPr/>
          <a:lstStyle/>
          <a:p>
            <a:pPr lvl="1"/>
            <a:r>
              <a:rPr lang="en-US">
                <a:solidFill>
                  <a:schemeClr val="tx1"/>
                </a:solidFill>
              </a:rPr>
              <a:t>Configurations can come from many sources.</a:t>
            </a:r>
          </a:p>
          <a:p>
            <a:pPr lvl="1"/>
            <a:r>
              <a:rPr lang="en-US">
                <a:solidFill>
                  <a:schemeClr val="tx1"/>
                </a:solidFill>
              </a:rPr>
              <a:t>Configurations will act in device memory.</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1452" name="Picture 1036" descr="301P_2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5200" y="1828800"/>
            <a:ext cx="2946400" cy="4514850"/>
          </a:xfrm>
          <a:prstGeom prst="rect">
            <a:avLst/>
          </a:prstGeom>
          <a:noFill/>
          <a:extLst>
            <a:ext uri="{909E8E84-426E-40DD-AFC4-6F175D3DCCD1}">
              <a14:hiddenFill xmlns:a14="http://schemas.microsoft.com/office/drawing/2010/main">
                <a:solidFill>
                  <a:srgbClr val="FFFFFF"/>
                </a:solidFill>
              </a14:hiddenFill>
            </a:ext>
          </a:extLst>
        </p:spPr>
      </p:pic>
      <p:sp>
        <p:nvSpPr>
          <p:cNvPr id="701442" name="Rectangle 1026"/>
          <p:cNvSpPr>
            <a:spLocks noGrp="1" noChangeArrowheads="1"/>
          </p:cNvSpPr>
          <p:nvPr>
            <p:ph type="body" idx="4294967295"/>
          </p:nvPr>
        </p:nvSpPr>
        <p:spPr>
          <a:xfrm>
            <a:off x="655638" y="1663700"/>
            <a:ext cx="5229225" cy="4556125"/>
          </a:xfrm>
          <a:noFill/>
          <a:ln/>
          <a:extLst>
            <a:ext uri="{91240B29-F687-4F45-9708-019B960494DF}">
              <a14:hiddenLine xmlns:a14="http://schemas.microsoft.com/office/drawing/2010/main" w="9525">
                <a:solidFill>
                  <a:srgbClr val="000000"/>
                </a:solidFill>
                <a:miter lim="800000"/>
                <a:headEnd/>
                <a:tailEnd/>
              </a14:hiddenLine>
            </a:ext>
          </a:extLst>
        </p:spPr>
        <p:txBody>
          <a:bodyPr lIns="82070" tIns="41034" rIns="82070" bIns="41034" anchor="ctr" anchorCtr="1"/>
          <a:lstStyle/>
          <a:p>
            <a:pPr lvl="1"/>
            <a:r>
              <a:rPr lang="en-US"/>
              <a:t>CLI is used to enter commands.</a:t>
            </a:r>
          </a:p>
          <a:p>
            <a:pPr lvl="1"/>
            <a:r>
              <a:rPr lang="en-US"/>
              <a:t>Operations vary on different internetworking devices.</a:t>
            </a:r>
          </a:p>
          <a:p>
            <a:pPr lvl="1"/>
            <a:r>
              <a:rPr lang="en-US"/>
              <a:t>Users type or paste entries in the console command modes.</a:t>
            </a:r>
          </a:p>
          <a:p>
            <a:pPr lvl="1"/>
            <a:r>
              <a:rPr lang="en-US"/>
              <a:t>Command modes have distinctive prompts.</a:t>
            </a:r>
          </a:p>
          <a:p>
            <a:pPr lvl="1"/>
            <a:r>
              <a:rPr lang="en-US">
                <a:solidFill>
                  <a:schemeClr val="accent2"/>
                </a:solidFill>
              </a:rPr>
              <a:t>Enter</a:t>
            </a:r>
            <a:r>
              <a:rPr lang="en-US"/>
              <a:t> key instructs device to parse and execute the command.</a:t>
            </a:r>
          </a:p>
          <a:p>
            <a:pPr lvl="1"/>
            <a:r>
              <a:rPr lang="en-US"/>
              <a:t>Two primary EXEC modes are user mode and privileged mode.</a:t>
            </a:r>
          </a:p>
        </p:txBody>
      </p:sp>
      <p:sp>
        <p:nvSpPr>
          <p:cNvPr id="701443" name="Rectangle 1027"/>
          <p:cNvSpPr>
            <a:spLocks noGrp="1" noChangeArrowheads="1"/>
          </p:cNvSpPr>
          <p:nvPr>
            <p:ph type="title"/>
          </p:nvPr>
        </p:nvSpPr>
        <p:spPr/>
        <p:txBody>
          <a:bodyPr/>
          <a:lstStyle/>
          <a:p>
            <a:r>
              <a:rPr lang="en-US"/>
              <a:t>Cisco IOS User Interface Functions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3501" name="Picture 13" descr="301P_2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590800"/>
            <a:ext cx="7805738" cy="3597275"/>
          </a:xfrm>
          <a:prstGeom prst="rect">
            <a:avLst/>
          </a:prstGeom>
          <a:noFill/>
          <a:extLst>
            <a:ext uri="{909E8E84-426E-40DD-AFC4-6F175D3DCCD1}">
              <a14:hiddenFill xmlns:a14="http://schemas.microsoft.com/office/drawing/2010/main">
                <a:solidFill>
                  <a:srgbClr val="FFFFFF"/>
                </a:solidFill>
              </a14:hiddenFill>
            </a:ext>
          </a:extLst>
        </p:spPr>
      </p:pic>
      <p:sp>
        <p:nvSpPr>
          <p:cNvPr id="703491" name="Text Box 3"/>
          <p:cNvSpPr txBox="1">
            <a:spLocks noChangeArrowheads="1"/>
          </p:cNvSpPr>
          <p:nvPr/>
        </p:nvSpPr>
        <p:spPr bwMode="auto">
          <a:xfrm>
            <a:off x="1141413" y="1687513"/>
            <a:ext cx="6937375"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02765" tIns="51383" rIns="102765" bIns="51383" anchor="ctr">
            <a:spAutoFit/>
          </a:bodyPr>
          <a:lstStyle>
            <a:lvl1pPr defTabSz="1027113">
              <a:defRPr sz="2400">
                <a:solidFill>
                  <a:schemeClr val="tx1"/>
                </a:solidFill>
                <a:latin typeface="Arial" charset="0"/>
              </a:defRPr>
            </a:lvl1pPr>
            <a:lvl2pPr marL="514350" defTabSz="1027113">
              <a:defRPr sz="2400">
                <a:solidFill>
                  <a:schemeClr val="tx1"/>
                </a:solidFill>
                <a:latin typeface="Arial" charset="0"/>
              </a:defRPr>
            </a:lvl2pPr>
            <a:lvl3pPr marL="1027113" defTabSz="1027113">
              <a:defRPr sz="2400">
                <a:solidFill>
                  <a:schemeClr val="tx1"/>
                </a:solidFill>
                <a:latin typeface="Arial" charset="0"/>
              </a:defRPr>
            </a:lvl3pPr>
            <a:lvl4pPr marL="1541463" defTabSz="1027113">
              <a:defRPr sz="2400">
                <a:solidFill>
                  <a:schemeClr val="tx1"/>
                </a:solidFill>
                <a:latin typeface="Arial" charset="0"/>
              </a:defRPr>
            </a:lvl4pPr>
            <a:lvl5pPr marL="2055813" defTabSz="1027113">
              <a:defRPr sz="2400">
                <a:solidFill>
                  <a:schemeClr val="tx1"/>
                </a:solidFill>
                <a:latin typeface="Arial" charset="0"/>
              </a:defRPr>
            </a:lvl5pPr>
            <a:lvl6pPr marL="2513013" defTabSz="1027113" eaLnBrk="0" fontAlgn="base" hangingPunct="0">
              <a:spcBef>
                <a:spcPct val="0"/>
              </a:spcBef>
              <a:spcAft>
                <a:spcPct val="0"/>
              </a:spcAft>
              <a:defRPr sz="2400">
                <a:solidFill>
                  <a:schemeClr val="tx1"/>
                </a:solidFill>
                <a:latin typeface="Arial" charset="0"/>
              </a:defRPr>
            </a:lvl6pPr>
            <a:lvl7pPr marL="2970213" defTabSz="1027113" eaLnBrk="0" fontAlgn="base" hangingPunct="0">
              <a:spcBef>
                <a:spcPct val="0"/>
              </a:spcBef>
              <a:spcAft>
                <a:spcPct val="0"/>
              </a:spcAft>
              <a:defRPr sz="2400">
                <a:solidFill>
                  <a:schemeClr val="tx1"/>
                </a:solidFill>
                <a:latin typeface="Arial" charset="0"/>
              </a:defRPr>
            </a:lvl7pPr>
            <a:lvl8pPr marL="3427413" defTabSz="1027113" eaLnBrk="0" fontAlgn="base" hangingPunct="0">
              <a:spcBef>
                <a:spcPct val="0"/>
              </a:spcBef>
              <a:spcAft>
                <a:spcPct val="0"/>
              </a:spcAft>
              <a:defRPr sz="2400">
                <a:solidFill>
                  <a:schemeClr val="tx1"/>
                </a:solidFill>
                <a:latin typeface="Arial" charset="0"/>
              </a:defRPr>
            </a:lvl8pPr>
            <a:lvl9pPr marL="3884613" defTabSz="1027113" eaLnBrk="0" fontAlgn="base" hangingPunct="0">
              <a:spcBef>
                <a:spcPct val="0"/>
              </a:spcBef>
              <a:spcAft>
                <a:spcPct val="0"/>
              </a:spcAft>
              <a:defRPr sz="2400">
                <a:solidFill>
                  <a:schemeClr val="tx1"/>
                </a:solidFill>
                <a:latin typeface="Arial" charset="0"/>
              </a:defRPr>
            </a:lvl9pPr>
          </a:lstStyle>
          <a:p>
            <a:pPr>
              <a:lnSpc>
                <a:spcPct val="95000"/>
              </a:lnSpc>
              <a:spcBef>
                <a:spcPct val="35000"/>
              </a:spcBef>
              <a:buClr>
                <a:schemeClr val="folHlink"/>
              </a:buClr>
            </a:pPr>
            <a:r>
              <a:rPr lang="en-US" b="0"/>
              <a:t>There are two main EXEC modes for entering commands.</a:t>
            </a:r>
          </a:p>
        </p:txBody>
      </p:sp>
      <p:sp>
        <p:nvSpPr>
          <p:cNvPr id="703492" name="Rectangle 4"/>
          <p:cNvSpPr>
            <a:spLocks noGrp="1" noChangeArrowheads="1"/>
          </p:cNvSpPr>
          <p:nvPr>
            <p:ph type="title"/>
          </p:nvPr>
        </p:nvSpPr>
        <p:spPr/>
        <p:txBody>
          <a:bodyPr/>
          <a:lstStyle/>
          <a:p>
            <a:r>
              <a:rPr lang="en-US"/>
              <a:t>Cisco IOS Software EXEC Mode (User)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p:txBody>
          <a:bodyPr/>
          <a:lstStyle/>
          <a:p>
            <a:r>
              <a:rPr lang="en-US"/>
              <a:t>Cisco IOS Software EXEC Mode (Privileged)</a:t>
            </a:r>
          </a:p>
        </p:txBody>
      </p:sp>
      <p:pic>
        <p:nvPicPr>
          <p:cNvPr id="787459" name="Picture 3" descr="327P_1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38400"/>
            <a:ext cx="8293100" cy="3622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9574" name="Picture 6" descr="301P_9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3" y="1947863"/>
            <a:ext cx="7634287" cy="3906837"/>
          </a:xfrm>
          <a:prstGeom prst="rect">
            <a:avLst/>
          </a:prstGeom>
          <a:noFill/>
          <a:extLst>
            <a:ext uri="{909E8E84-426E-40DD-AFC4-6F175D3DCCD1}">
              <a14:hiddenFill xmlns:a14="http://schemas.microsoft.com/office/drawing/2010/main">
                <a:solidFill>
                  <a:srgbClr val="FFFFFF"/>
                </a:solidFill>
              </a14:hiddenFill>
            </a:ext>
          </a:extLst>
        </p:spPr>
      </p:pic>
      <p:sp>
        <p:nvSpPr>
          <p:cNvPr id="749570" name="Rectangle 2"/>
          <p:cNvSpPr>
            <a:spLocks noChangeArrowheads="1"/>
          </p:cNvSpPr>
          <p:nvPr/>
        </p:nvSpPr>
        <p:spPr bwMode="auto">
          <a:xfrm>
            <a:off x="725488" y="220663"/>
            <a:ext cx="762476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070" tIns="41034" rIns="82070" bIns="41034" anchor="ctr"/>
          <a:lstStyle/>
          <a:p>
            <a:pPr defTabSz="915988">
              <a:lnSpc>
                <a:spcPct val="100000"/>
              </a:lnSpc>
            </a:pPr>
            <a:endParaRPr lang="en-US" sz="4100" b="0">
              <a:latin typeface="Times" pitchFamily="18" charset="0"/>
            </a:endParaRPr>
          </a:p>
        </p:txBody>
      </p:sp>
      <p:sp>
        <p:nvSpPr>
          <p:cNvPr id="749571" name="Rectangle 3"/>
          <p:cNvSpPr>
            <a:spLocks noGrp="1" noChangeArrowheads="1"/>
          </p:cNvSpPr>
          <p:nvPr>
            <p:ph type="title"/>
          </p:nvPr>
        </p:nvSpPr>
        <p:spPr/>
        <p:txBody>
          <a:bodyPr/>
          <a:lstStyle/>
          <a:p>
            <a:r>
              <a:rPr lang="en-US"/>
              <a:t>Switch Command-Line Help Facilities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p:cNvSpPr>
            <a:spLocks noGrp="1" noChangeArrowheads="1"/>
          </p:cNvSpPr>
          <p:nvPr>
            <p:ph type="title"/>
          </p:nvPr>
        </p:nvSpPr>
        <p:spPr/>
        <p:txBody>
          <a:bodyPr/>
          <a:lstStyle/>
          <a:p>
            <a:r>
              <a:rPr lang="en-US"/>
              <a:t>Context-Sensitive Help</a:t>
            </a:r>
          </a:p>
        </p:txBody>
      </p:sp>
      <p:pic>
        <p:nvPicPr>
          <p:cNvPr id="753670" name="Picture 6" descr="301P_9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713" y="1665288"/>
            <a:ext cx="7304087" cy="4659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5717" name="Picture 5" descr="301P_9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8" y="1544638"/>
            <a:ext cx="8062912" cy="4722812"/>
          </a:xfrm>
          <a:prstGeom prst="rect">
            <a:avLst/>
          </a:prstGeom>
          <a:noFill/>
          <a:extLst>
            <a:ext uri="{909E8E84-426E-40DD-AFC4-6F175D3DCCD1}">
              <a14:hiddenFill xmlns:a14="http://schemas.microsoft.com/office/drawing/2010/main">
                <a:solidFill>
                  <a:srgbClr val="FFFFFF"/>
                </a:solidFill>
              </a14:hiddenFill>
            </a:ext>
          </a:extLst>
        </p:spPr>
      </p:pic>
      <p:sp>
        <p:nvSpPr>
          <p:cNvPr id="755714" name="Rectangle 2"/>
          <p:cNvSpPr>
            <a:spLocks noGrp="1" noChangeArrowheads="1"/>
          </p:cNvSpPr>
          <p:nvPr>
            <p:ph type="title"/>
          </p:nvPr>
        </p:nvSpPr>
        <p:spPr/>
        <p:txBody>
          <a:bodyPr/>
          <a:lstStyle/>
          <a:p>
            <a:r>
              <a:rPr lang="en-US"/>
              <a:t>Context-Sensitive Help (Cont.)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ChangeArrowheads="1"/>
          </p:cNvSpPr>
          <p:nvPr/>
        </p:nvSpPr>
        <p:spPr bwMode="auto">
          <a:xfrm>
            <a:off x="636588" y="2566988"/>
            <a:ext cx="8047037" cy="566737"/>
          </a:xfrm>
          <a:prstGeom prst="rect">
            <a:avLst/>
          </a:prstGeom>
          <a:solidFill>
            <a:schemeClr val="bg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757763" name="Rectangle 3"/>
          <p:cNvSpPr>
            <a:spLocks noChangeArrowheads="1"/>
          </p:cNvSpPr>
          <p:nvPr/>
        </p:nvSpPr>
        <p:spPr bwMode="auto">
          <a:xfrm>
            <a:off x="711200" y="2728913"/>
            <a:ext cx="79009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0" tIns="30360" rIns="21430" bIns="30360"/>
          <a:lstStyle/>
          <a:p>
            <a:pPr defTabSz="1028700">
              <a:lnSpc>
                <a:spcPts val="1800"/>
              </a:lnSpc>
              <a:tabLst>
                <a:tab pos="514350" algn="l"/>
                <a:tab pos="1028700" algn="l"/>
                <a:tab pos="1543050" algn="l"/>
              </a:tabLst>
            </a:pPr>
            <a:r>
              <a:rPr lang="en-US" sz="1600">
                <a:solidFill>
                  <a:srgbClr val="000000"/>
                </a:solidFill>
                <a:latin typeface="Courier New" pitchFamily="49" charset="0"/>
                <a:cs typeface="Times New Roman" pitchFamily="18" charset="0"/>
              </a:rPr>
              <a:t>SwitchX</a:t>
            </a:r>
            <a:r>
              <a:rPr lang="en-US" sz="1600">
                <a:solidFill>
                  <a:srgbClr val="000000"/>
                </a:solidFill>
                <a:latin typeface="Courier New" pitchFamily="49" charset="0"/>
              </a:rPr>
              <a:t>&gt;Shape the future of internetworking by creating unpreced</a:t>
            </a:r>
          </a:p>
        </p:txBody>
      </p:sp>
      <p:sp>
        <p:nvSpPr>
          <p:cNvPr id="757764" name="Text Box 4"/>
          <p:cNvSpPr txBox="1">
            <a:spLocks noChangeArrowheads="1"/>
          </p:cNvSpPr>
          <p:nvPr/>
        </p:nvSpPr>
        <p:spPr bwMode="auto">
          <a:xfrm>
            <a:off x="609600" y="3175000"/>
            <a:ext cx="83454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1436" tIns="45718" rIns="91436" bIns="45718">
            <a:spAutoFit/>
          </a:bodyPr>
          <a:lstStyle>
            <a:lvl1pPr>
              <a:defRPr sz="2400">
                <a:solidFill>
                  <a:schemeClr val="tx1"/>
                </a:solidFill>
                <a:latin typeface="Arial" charset="0"/>
              </a:defRPr>
            </a:lvl1pPr>
            <a:lvl2pPr marL="114300">
              <a:defRPr sz="2400">
                <a:solidFill>
                  <a:schemeClr val="tx1"/>
                </a:solidFill>
                <a:latin typeface="Arial" charset="0"/>
              </a:defRPr>
            </a:lvl2pPr>
            <a:lvl3pPr>
              <a:defRPr sz="2400">
                <a:solidFill>
                  <a:schemeClr val="tx1"/>
                </a:solidFill>
                <a:latin typeface="Arial" charset="0"/>
              </a:defRPr>
            </a:lvl3pPr>
            <a:lvl4pPr>
              <a:defRPr sz="2400">
                <a:solidFill>
                  <a:schemeClr val="tx1"/>
                </a:solidFill>
                <a:latin typeface="Arial" charset="0"/>
              </a:defRPr>
            </a:lvl4pPr>
            <a:lvl5pPr>
              <a:defRPr sz="2400">
                <a:solidFill>
                  <a:schemeClr val="tx1"/>
                </a:solidFill>
                <a:latin typeface="Arial" charset="0"/>
              </a:defRPr>
            </a:lvl5pPr>
            <a:lvl6pPr eaLnBrk="0" fontAlgn="base" hangingPunct="0">
              <a:spcBef>
                <a:spcPct val="0"/>
              </a:spcBef>
              <a:spcAft>
                <a:spcPct val="0"/>
              </a:spcAft>
              <a:defRPr sz="2400">
                <a:solidFill>
                  <a:schemeClr val="tx1"/>
                </a:solidFill>
                <a:latin typeface="Arial" charset="0"/>
              </a:defRPr>
            </a:lvl6pPr>
            <a:lvl7pPr eaLnBrk="0" fontAlgn="base" hangingPunct="0">
              <a:spcBef>
                <a:spcPct val="0"/>
              </a:spcBef>
              <a:spcAft>
                <a:spcPct val="0"/>
              </a:spcAft>
              <a:defRPr sz="2400">
                <a:solidFill>
                  <a:schemeClr val="tx1"/>
                </a:solidFill>
                <a:latin typeface="Arial" charset="0"/>
              </a:defRPr>
            </a:lvl7pPr>
            <a:lvl8pPr eaLnBrk="0" fontAlgn="base" hangingPunct="0">
              <a:spcBef>
                <a:spcPct val="0"/>
              </a:spcBef>
              <a:spcAft>
                <a:spcPct val="0"/>
              </a:spcAft>
              <a:defRPr sz="2400">
                <a:solidFill>
                  <a:schemeClr val="tx1"/>
                </a:solidFill>
                <a:latin typeface="Arial" charset="0"/>
              </a:defRPr>
            </a:lvl8pPr>
            <a:lvl9pPr eaLnBrk="0" fontAlgn="base" hangingPunct="0">
              <a:spcBef>
                <a:spcPct val="0"/>
              </a:spcBef>
              <a:spcAft>
                <a:spcPct val="0"/>
              </a:spcAft>
              <a:defRPr sz="2400">
                <a:solidFill>
                  <a:schemeClr val="tx1"/>
                </a:solidFill>
                <a:latin typeface="Arial" charset="0"/>
              </a:defRPr>
            </a:lvl9pPr>
          </a:lstStyle>
          <a:p>
            <a:pPr lvl="1">
              <a:lnSpc>
                <a:spcPct val="100000"/>
              </a:lnSpc>
              <a:buClr>
                <a:schemeClr val="accent1"/>
              </a:buClr>
            </a:pPr>
            <a:r>
              <a:rPr lang="en-US" b="0">
                <a:solidFill>
                  <a:srgbClr val="000000"/>
                </a:solidFill>
              </a:rPr>
              <a:t>Shape the future of internetworking by creating unprecedented value for customers, employees, and partners.</a:t>
            </a:r>
          </a:p>
        </p:txBody>
      </p:sp>
      <p:sp>
        <p:nvSpPr>
          <p:cNvPr id="757765" name="Rectangle 5"/>
          <p:cNvSpPr>
            <a:spLocks noGrp="1" noChangeArrowheads="1"/>
          </p:cNvSpPr>
          <p:nvPr>
            <p:ph type="title"/>
          </p:nvPr>
        </p:nvSpPr>
        <p:spPr/>
        <p:txBody>
          <a:bodyPr/>
          <a:lstStyle/>
          <a:p>
            <a:r>
              <a:rPr lang="en-US"/>
              <a:t>Enhanced Editing Commands</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1" name="Rectangle 3"/>
          <p:cNvSpPr>
            <a:spLocks noGrp="1" noChangeArrowheads="1"/>
          </p:cNvSpPr>
          <p:nvPr>
            <p:ph type="title"/>
          </p:nvPr>
        </p:nvSpPr>
        <p:spPr/>
        <p:txBody>
          <a:bodyPr/>
          <a:lstStyle/>
          <a:p>
            <a:r>
              <a:rPr lang="en-US"/>
              <a:t>Enhanced Editing Commands (Cont.)</a:t>
            </a:r>
          </a:p>
        </p:txBody>
      </p:sp>
      <p:pic>
        <p:nvPicPr>
          <p:cNvPr id="759814" name="Picture 6" descr="301P_9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 y="1684338"/>
            <a:ext cx="8023225" cy="4640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9" name="Rectangle 3"/>
          <p:cNvSpPr>
            <a:spLocks noGrp="1" noChangeArrowheads="1"/>
          </p:cNvSpPr>
          <p:nvPr>
            <p:ph type="title"/>
          </p:nvPr>
        </p:nvSpPr>
        <p:spPr/>
        <p:txBody>
          <a:bodyPr/>
          <a:lstStyle/>
          <a:p>
            <a:r>
              <a:rPr lang="en-US"/>
              <a:t>Router Command History</a:t>
            </a:r>
          </a:p>
        </p:txBody>
      </p:sp>
      <p:pic>
        <p:nvPicPr>
          <p:cNvPr id="761860" name="Picture 4" descr="022P_2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813050"/>
            <a:ext cx="8305800" cy="2139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2338" name="Picture 2" descr="301P_4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33550"/>
            <a:ext cx="7773988" cy="4438650"/>
          </a:xfrm>
          <a:prstGeom prst="rect">
            <a:avLst/>
          </a:prstGeom>
          <a:noFill/>
          <a:extLst>
            <a:ext uri="{909E8E84-426E-40DD-AFC4-6F175D3DCCD1}">
              <a14:hiddenFill xmlns:a14="http://schemas.microsoft.com/office/drawing/2010/main">
                <a:solidFill>
                  <a:srgbClr val="FFFFFF"/>
                </a:solidFill>
              </a14:hiddenFill>
            </a:ext>
          </a:extLst>
        </p:spPr>
      </p:pic>
      <p:sp>
        <p:nvSpPr>
          <p:cNvPr id="782339" name="Rectangle 3"/>
          <p:cNvSpPr>
            <a:spLocks noGrp="1" noChangeArrowheads="1"/>
          </p:cNvSpPr>
          <p:nvPr>
            <p:ph type="title"/>
          </p:nvPr>
        </p:nvSpPr>
        <p:spPr/>
        <p:txBody>
          <a:bodyPr/>
          <a:lstStyle/>
          <a:p>
            <a:r>
              <a:rPr lang="en-US"/>
              <a:t>Viewing the Configuration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4386" name="Picture 2" descr="301P_9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12963"/>
            <a:ext cx="8534400" cy="2716212"/>
          </a:xfrm>
          <a:prstGeom prst="rect">
            <a:avLst/>
          </a:prstGeom>
          <a:noFill/>
          <a:extLst>
            <a:ext uri="{909E8E84-426E-40DD-AFC4-6F175D3DCCD1}">
              <a14:hiddenFill xmlns:a14="http://schemas.microsoft.com/office/drawing/2010/main">
                <a:solidFill>
                  <a:srgbClr val="FFFFFF"/>
                </a:solidFill>
              </a14:hiddenFill>
            </a:ext>
          </a:extLst>
        </p:spPr>
      </p:pic>
      <p:sp>
        <p:nvSpPr>
          <p:cNvPr id="784387" name="Rectangle 3"/>
          <p:cNvSpPr>
            <a:spLocks noChangeArrowheads="1"/>
          </p:cNvSpPr>
          <p:nvPr/>
        </p:nvSpPr>
        <p:spPr bwMode="auto">
          <a:xfrm>
            <a:off x="1123950" y="5024438"/>
            <a:ext cx="69850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2532" tIns="41265" rIns="82532" bIns="41265"/>
          <a:lstStyle/>
          <a:p>
            <a:pPr>
              <a:buClr>
                <a:schemeClr val="folHlink"/>
              </a:buClr>
            </a:pPr>
            <a:r>
              <a:rPr lang="en-US" sz="2400" b="0"/>
              <a:t>Displays the current and saved configuration</a:t>
            </a:r>
          </a:p>
        </p:txBody>
      </p:sp>
      <p:sp>
        <p:nvSpPr>
          <p:cNvPr id="784388" name="Rectangle 4"/>
          <p:cNvSpPr>
            <a:spLocks noGrp="1" noChangeArrowheads="1"/>
          </p:cNvSpPr>
          <p:nvPr>
            <p:ph type="title"/>
          </p:nvPr>
        </p:nvSpPr>
        <p:spPr/>
        <p:txBody>
          <a:bodyPr/>
          <a:lstStyle/>
          <a:p>
            <a:r>
              <a:rPr lang="en-US"/>
              <a:t>show running-config and show startup-config Commands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Rectangle 2"/>
          <p:cNvSpPr>
            <a:spLocks noGrp="1" noChangeArrowheads="1"/>
          </p:cNvSpPr>
          <p:nvPr>
            <p:ph type="ctrTitle"/>
          </p:nvPr>
        </p:nvSpPr>
        <p:spPr>
          <a:xfrm>
            <a:off x="650875" y="3390900"/>
            <a:ext cx="6937375" cy="1104900"/>
          </a:xfrm>
          <a:noFill/>
          <a:ln>
            <a:noFill/>
          </a:ln>
          <a:effectLst/>
          <a:extLst>
            <a:ext uri="{AF507438-7753-43E0-B8FC-AC1667EBCBE1}">
              <a14:hiddenEffects xmlns:a14="http://schemas.microsoft.com/office/drawing/2010/main">
                <a:effectLst>
                  <a:outerShdw algn="ctr" rotWithShape="0">
                    <a:schemeClr val="tx1"/>
                  </a:outerShdw>
                </a:effectLst>
              </a14:hiddenEffects>
            </a:ext>
          </a:extLst>
        </p:spPr>
        <p:txBody>
          <a:bodyPr vert="horz" wrap="square" lIns="82124" tIns="41061" rIns="82124" bIns="41061" numCol="1" anchor="ctr" anchorCtr="0" compatLnSpc="1">
            <a:prstTxWarp prst="textNoShape">
              <a:avLst/>
            </a:prstTxWarp>
          </a:bodyPr>
          <a:lstStyle/>
          <a:p>
            <a:pPr eaLnBrk="0" hangingPunct="0">
              <a:buClr>
                <a:schemeClr val="accent1"/>
              </a:buClr>
              <a:buSzPct val="100000"/>
              <a:buFont typeface="Arial" charset="0"/>
            </a:pPr>
            <a:r>
              <a:rPr lang="en-US" sz="3000" kern="1200">
                <a:solidFill>
                  <a:schemeClr val="tx1"/>
                </a:solidFill>
                <a:latin typeface="+mn-lt"/>
                <a:ea typeface="+mn-ea"/>
                <a:cs typeface="+mn-cs"/>
              </a:rPr>
              <a:t>LAN Connections </a:t>
            </a:r>
          </a:p>
        </p:txBody>
      </p:sp>
      <p:sp>
        <p:nvSpPr>
          <p:cNvPr id="735235" name="Rectangle 3"/>
          <p:cNvSpPr>
            <a:spLocks noGrp="1" noChangeArrowheads="1"/>
          </p:cNvSpPr>
          <p:nvPr>
            <p:ph type="subTitle" idx="1"/>
          </p:nvPr>
        </p:nvSpPr>
        <p:spPr>
          <a:xfrm>
            <a:off x="650875" y="762000"/>
            <a:ext cx="3546475" cy="1676400"/>
          </a:xfrm>
        </p:spPr>
        <p:txBody>
          <a:bodyPr/>
          <a:lstStyle/>
          <a:p>
            <a:r>
              <a:rPr lang="en-US"/>
              <a:t>Using the Cisco SDM</a:t>
            </a:r>
          </a:p>
        </p:txBody>
      </p:sp>
    </p:spTree>
    <p:extLst>
      <p:ext uri="{BB962C8B-B14F-4D97-AF65-F5344CB8AC3E}">
        <p14:creationId xmlns:p14="http://schemas.microsoft.com/office/powerpoint/2010/main" val="372901629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a:xfrm>
            <a:off x="655638" y="457200"/>
            <a:ext cx="8488362" cy="838200"/>
          </a:xfrm>
        </p:spPr>
        <p:txBody>
          <a:bodyPr/>
          <a:lstStyle/>
          <a:p>
            <a:r>
              <a:rPr lang="en-US"/>
              <a:t>Cisco Router and Security Device </a:t>
            </a:r>
            <a:br>
              <a:rPr lang="en-US"/>
            </a:br>
            <a:r>
              <a:rPr lang="en-US"/>
              <a:t>Manager</a:t>
            </a:r>
          </a:p>
        </p:txBody>
      </p:sp>
      <p:pic>
        <p:nvPicPr>
          <p:cNvPr id="793605" name="Picture 5" descr="ICND1S0408_SD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41438"/>
            <a:ext cx="6629400" cy="5300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5994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9797" name="Picture 5" descr="ICND1S0408_SD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3338"/>
            <a:ext cx="8534400" cy="6824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77809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p:cNvSpPr>
            <a:spLocks noGrp="1" noChangeArrowheads="1"/>
          </p:cNvSpPr>
          <p:nvPr>
            <p:ph type="body" idx="1"/>
          </p:nvPr>
        </p:nvSpPr>
        <p:spPr>
          <a:xfrm>
            <a:off x="601663" y="1643063"/>
            <a:ext cx="7940675" cy="4300537"/>
          </a:xfrm>
        </p:spPr>
        <p:txBody>
          <a:bodyPr/>
          <a:lstStyle/>
          <a:p>
            <a:pPr lvl="1"/>
            <a:r>
              <a:rPr lang="en-US">
                <a:cs typeface="Times New Roman" pitchFamily="18" charset="0"/>
              </a:rPr>
              <a:t>Embedded web-based management tool</a:t>
            </a:r>
          </a:p>
          <a:p>
            <a:pPr lvl="1"/>
            <a:r>
              <a:rPr lang="en-US">
                <a:cs typeface="Times New Roman" pitchFamily="18" charset="0"/>
              </a:rPr>
              <a:t>Provides intelligent wizards to enable quicker and easier deployments and does not require knowledge of Cisco IOS CLI or security expertise</a:t>
            </a:r>
          </a:p>
          <a:p>
            <a:pPr lvl="1">
              <a:lnSpc>
                <a:spcPct val="85000"/>
              </a:lnSpc>
              <a:spcBef>
                <a:spcPct val="40000"/>
              </a:spcBef>
            </a:pPr>
            <a:r>
              <a:rPr lang="en-US"/>
              <a:t>Tools for more advanced users:</a:t>
            </a:r>
          </a:p>
          <a:p>
            <a:pPr lvl="2">
              <a:lnSpc>
                <a:spcPct val="85000"/>
              </a:lnSpc>
              <a:spcBef>
                <a:spcPct val="40000"/>
              </a:spcBef>
            </a:pPr>
            <a:r>
              <a:rPr lang="en-US"/>
              <a:t>ACL editor</a:t>
            </a:r>
          </a:p>
          <a:p>
            <a:pPr lvl="2">
              <a:lnSpc>
                <a:spcPct val="85000"/>
              </a:lnSpc>
              <a:spcBef>
                <a:spcPct val="40000"/>
              </a:spcBef>
            </a:pPr>
            <a:r>
              <a:rPr lang="en-US"/>
              <a:t>VPN crypto map editor</a:t>
            </a:r>
          </a:p>
          <a:p>
            <a:pPr lvl="2">
              <a:lnSpc>
                <a:spcPct val="85000"/>
              </a:lnSpc>
              <a:spcBef>
                <a:spcPct val="40000"/>
              </a:spcBef>
            </a:pPr>
            <a:r>
              <a:rPr lang="en-US"/>
              <a:t>Cisco IOS CLI preview</a:t>
            </a:r>
          </a:p>
        </p:txBody>
      </p:sp>
      <p:sp>
        <p:nvSpPr>
          <p:cNvPr id="794627" name="Rectangle 3"/>
          <p:cNvSpPr>
            <a:spLocks noGrp="1" noChangeArrowheads="1"/>
          </p:cNvSpPr>
          <p:nvPr>
            <p:ph type="title"/>
          </p:nvPr>
        </p:nvSpPr>
        <p:spPr/>
        <p:txBody>
          <a:bodyPr/>
          <a:lstStyle/>
          <a:p>
            <a:r>
              <a:rPr lang="en-US"/>
              <a:t>What Is Cisco SDM?</a:t>
            </a:r>
          </a:p>
        </p:txBody>
      </p:sp>
    </p:spTree>
    <p:extLst>
      <p:ext uri="{BB962C8B-B14F-4D97-AF65-F5344CB8AC3E}">
        <p14:creationId xmlns:p14="http://schemas.microsoft.com/office/powerpoint/2010/main" val="35898190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p:txBody>
          <a:bodyPr/>
          <a:lstStyle/>
          <a:p>
            <a:r>
              <a:rPr lang="en-US"/>
              <a:t>Supported Cisco Routers and Cisco IOS Software Releases</a:t>
            </a:r>
          </a:p>
        </p:txBody>
      </p:sp>
      <p:sp>
        <p:nvSpPr>
          <p:cNvPr id="806915" name="Rectangle 3"/>
          <p:cNvSpPr>
            <a:spLocks noGrp="1" noChangeArrowheads="1"/>
          </p:cNvSpPr>
          <p:nvPr>
            <p:ph type="body" idx="1"/>
          </p:nvPr>
        </p:nvSpPr>
        <p:spPr/>
        <p:txBody>
          <a:bodyPr/>
          <a:lstStyle/>
          <a:p>
            <a:pPr lvl="1"/>
            <a:r>
              <a:rPr lang="en-US" sz="2200"/>
              <a:t>Cisco SDM is supported on a number of Cisco router platforms and Cisco IOS Software releases.</a:t>
            </a:r>
          </a:p>
          <a:p>
            <a:pPr lvl="1"/>
            <a:r>
              <a:rPr lang="en-US" sz="2200"/>
              <a:t>Always verify Cisco SDM router and Cisco IOS release support at </a:t>
            </a:r>
            <a:r>
              <a:rPr lang="en-US" sz="2200" u="sng">
                <a:solidFill>
                  <a:srgbClr val="015F85"/>
                </a:solidFill>
              </a:rPr>
              <a:t>www.cisco.com/go/sdm.</a:t>
            </a:r>
          </a:p>
        </p:txBody>
      </p:sp>
    </p:spTree>
    <p:extLst>
      <p:ext uri="{BB962C8B-B14F-4D97-AF65-F5344CB8AC3E}">
        <p14:creationId xmlns:p14="http://schemas.microsoft.com/office/powerpoint/2010/main" val="17973370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p:txBody>
          <a:bodyPr/>
          <a:lstStyle/>
          <a:p>
            <a:r>
              <a:rPr lang="en-US"/>
              <a:t>Configuring Your Router to Support SDM </a:t>
            </a:r>
          </a:p>
        </p:txBody>
      </p:sp>
      <p:sp>
        <p:nvSpPr>
          <p:cNvPr id="924676" name="Rectangle 4"/>
          <p:cNvSpPr>
            <a:spLocks noGrp="1" noChangeArrowheads="1"/>
          </p:cNvSpPr>
          <p:nvPr>
            <p:ph type="body" idx="1"/>
          </p:nvPr>
        </p:nvSpPr>
        <p:spPr/>
        <p:txBody>
          <a:bodyPr/>
          <a:lstStyle/>
          <a:p>
            <a:pPr marL="457200" indent="-457200">
              <a:buFont typeface="Arial" charset="0"/>
              <a:buAutoNum type="arabicPeriod"/>
            </a:pPr>
            <a:r>
              <a:rPr lang="en-US" sz="2000"/>
              <a:t>Enable the HTTP and HTTPS servers on your router.</a:t>
            </a:r>
          </a:p>
          <a:p>
            <a:pPr marL="457200" indent="-457200">
              <a:buFont typeface="Arial" charset="0"/>
              <a:buAutoNum type="arabicPeriod"/>
            </a:pPr>
            <a:r>
              <a:rPr lang="en-US" sz="2000"/>
              <a:t>Create a user account defined with privilege level 15 (enable privileges).</a:t>
            </a:r>
          </a:p>
          <a:p>
            <a:pPr marL="457200" indent="-457200">
              <a:buFont typeface="Arial" charset="0"/>
              <a:buAutoNum type="arabicPeriod"/>
            </a:pPr>
            <a:r>
              <a:rPr lang="en-US" sz="2000"/>
              <a:t>Configure SSH and Telnet for local login and privilege level 15.</a:t>
            </a:r>
          </a:p>
        </p:txBody>
      </p:sp>
    </p:spTree>
    <p:extLst>
      <p:ext uri="{BB962C8B-B14F-4D97-AF65-F5344CB8AC3E}">
        <p14:creationId xmlns:p14="http://schemas.microsoft.com/office/powerpoint/2010/main" val="31486026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p:txBody>
          <a:bodyPr/>
          <a:lstStyle/>
          <a:p>
            <a:r>
              <a:rPr lang="en-US"/>
              <a:t>SDM Startup</a:t>
            </a:r>
          </a:p>
        </p:txBody>
      </p:sp>
      <p:pic>
        <p:nvPicPr>
          <p:cNvPr id="922628" name="Picture 4" descr="startu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175" y="1354138"/>
            <a:ext cx="5457825" cy="5199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4965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0820" name="Picture 4" descr="startu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0"/>
            <a:ext cx="7239000" cy="689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887745"/>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3416" name="Picture 8" descr="ICND1S0408_SD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19200"/>
            <a:ext cx="6781800" cy="5421313"/>
          </a:xfrm>
          <a:prstGeom prst="rect">
            <a:avLst/>
          </a:prstGeom>
          <a:noFill/>
          <a:extLst>
            <a:ext uri="{909E8E84-426E-40DD-AFC4-6F175D3DCCD1}">
              <a14:hiddenFill xmlns:a14="http://schemas.microsoft.com/office/drawing/2010/main">
                <a:solidFill>
                  <a:srgbClr val="FFFFFF"/>
                </a:solidFill>
              </a14:hiddenFill>
            </a:ext>
          </a:extLst>
        </p:spPr>
      </p:pic>
      <p:sp>
        <p:nvSpPr>
          <p:cNvPr id="913411" name="Rectangle 3"/>
          <p:cNvSpPr>
            <a:spLocks noGrp="1" noChangeArrowheads="1"/>
          </p:cNvSpPr>
          <p:nvPr>
            <p:ph type="title"/>
          </p:nvPr>
        </p:nvSpPr>
        <p:spPr/>
        <p:txBody>
          <a:bodyPr/>
          <a:lstStyle/>
          <a:p>
            <a:r>
              <a:rPr lang="en-US" sz="3000"/>
              <a:t>Cisco SDM Main Window Layout and Navigation</a:t>
            </a:r>
          </a:p>
        </p:txBody>
      </p:sp>
      <p:sp>
        <p:nvSpPr>
          <p:cNvPr id="913412" name="AutoShape 4"/>
          <p:cNvSpPr>
            <a:spLocks noChangeArrowheads="1"/>
          </p:cNvSpPr>
          <p:nvPr/>
        </p:nvSpPr>
        <p:spPr bwMode="auto">
          <a:xfrm>
            <a:off x="228600" y="1371600"/>
            <a:ext cx="1295400" cy="533400"/>
          </a:xfrm>
          <a:prstGeom prst="wedgeRoundRectCallout">
            <a:avLst>
              <a:gd name="adj1" fmla="val 99389"/>
              <a:gd name="adj2" fmla="val -29764"/>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gn="ctr">
              <a:lnSpc>
                <a:spcPct val="100000"/>
              </a:lnSpc>
            </a:pPr>
            <a:r>
              <a:rPr lang="en-US" sz="1800"/>
              <a:t>Menu Bar</a:t>
            </a:r>
          </a:p>
        </p:txBody>
      </p:sp>
      <p:sp>
        <p:nvSpPr>
          <p:cNvPr id="913413" name="AutoShape 5"/>
          <p:cNvSpPr>
            <a:spLocks noChangeArrowheads="1"/>
          </p:cNvSpPr>
          <p:nvPr/>
        </p:nvSpPr>
        <p:spPr bwMode="auto">
          <a:xfrm>
            <a:off x="381000" y="2133600"/>
            <a:ext cx="1295400" cy="609600"/>
          </a:xfrm>
          <a:prstGeom prst="wedgeRoundRectCallout">
            <a:avLst>
              <a:gd name="adj1" fmla="val 126102"/>
              <a:gd name="adj2" fmla="val -115884"/>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gn="ctr">
              <a:lnSpc>
                <a:spcPct val="100000"/>
              </a:lnSpc>
            </a:pPr>
            <a:r>
              <a:rPr lang="en-US" sz="1800"/>
              <a:t>Toolbar</a:t>
            </a:r>
          </a:p>
        </p:txBody>
      </p:sp>
      <p:sp>
        <p:nvSpPr>
          <p:cNvPr id="913414" name="AutoShape 6"/>
          <p:cNvSpPr>
            <a:spLocks noChangeArrowheads="1"/>
          </p:cNvSpPr>
          <p:nvPr/>
        </p:nvSpPr>
        <p:spPr bwMode="auto">
          <a:xfrm>
            <a:off x="228600" y="2895600"/>
            <a:ext cx="1828800" cy="762000"/>
          </a:xfrm>
          <a:prstGeom prst="wedgeRoundRectCallout">
            <a:avLst>
              <a:gd name="adj1" fmla="val 70574"/>
              <a:gd name="adj2" fmla="val -121042"/>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gn="ctr">
              <a:lnSpc>
                <a:spcPct val="100000"/>
              </a:lnSpc>
            </a:pPr>
            <a:r>
              <a:rPr lang="en-US" sz="1800"/>
              <a:t>Router</a:t>
            </a:r>
          </a:p>
          <a:p>
            <a:pPr algn="ctr">
              <a:lnSpc>
                <a:spcPct val="100000"/>
              </a:lnSpc>
            </a:pPr>
            <a:r>
              <a:rPr lang="en-US" sz="1800"/>
              <a:t>Information</a:t>
            </a:r>
          </a:p>
        </p:txBody>
      </p:sp>
      <p:sp>
        <p:nvSpPr>
          <p:cNvPr id="913415" name="AutoShape 7"/>
          <p:cNvSpPr>
            <a:spLocks noChangeArrowheads="1"/>
          </p:cNvSpPr>
          <p:nvPr/>
        </p:nvSpPr>
        <p:spPr bwMode="auto">
          <a:xfrm>
            <a:off x="228600" y="4267200"/>
            <a:ext cx="1905000" cy="990600"/>
          </a:xfrm>
          <a:prstGeom prst="wedgeRoundRectCallout">
            <a:avLst>
              <a:gd name="adj1" fmla="val 61750"/>
              <a:gd name="adj2" fmla="val -130287"/>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nSpc>
                <a:spcPct val="85000"/>
              </a:lnSpc>
              <a:spcBef>
                <a:spcPct val="40000"/>
              </a:spcBef>
            </a:pPr>
            <a:r>
              <a:rPr lang="en-US" sz="1800"/>
              <a:t>Configuration</a:t>
            </a:r>
          </a:p>
          <a:p>
            <a:pPr>
              <a:lnSpc>
                <a:spcPct val="85000"/>
              </a:lnSpc>
              <a:spcBef>
                <a:spcPct val="40000"/>
              </a:spcBef>
            </a:pPr>
            <a:r>
              <a:rPr lang="en-US" sz="1800"/>
              <a:t>Overview</a:t>
            </a:r>
          </a:p>
        </p:txBody>
      </p:sp>
    </p:spTree>
    <p:extLst>
      <p:ext uri="{BB962C8B-B14F-4D97-AF65-F5344CB8AC3E}">
        <p14:creationId xmlns:p14="http://schemas.microsoft.com/office/powerpoint/2010/main" val="23768398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49" name="Picture 9" descr="ICND1S0408_SD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050"/>
            <a:ext cx="8534400" cy="6823075"/>
          </a:xfrm>
          <a:prstGeom prst="rect">
            <a:avLst/>
          </a:prstGeom>
          <a:noFill/>
          <a:extLst>
            <a:ext uri="{909E8E84-426E-40DD-AFC4-6F175D3DCCD1}">
              <a14:hiddenFill xmlns:a14="http://schemas.microsoft.com/office/drawing/2010/main">
                <a:solidFill>
                  <a:srgbClr val="FFFFFF"/>
                </a:solidFill>
              </a14:hiddenFill>
            </a:ext>
          </a:extLst>
        </p:spPr>
      </p:pic>
      <p:sp>
        <p:nvSpPr>
          <p:cNvPr id="931845" name="AutoShape 5"/>
          <p:cNvSpPr>
            <a:spLocks noChangeArrowheads="1"/>
          </p:cNvSpPr>
          <p:nvPr/>
        </p:nvSpPr>
        <p:spPr bwMode="auto">
          <a:xfrm>
            <a:off x="6324600" y="228600"/>
            <a:ext cx="1295400" cy="533400"/>
          </a:xfrm>
          <a:prstGeom prst="wedgeRoundRectCallout">
            <a:avLst>
              <a:gd name="adj1" fmla="val -372060"/>
              <a:gd name="adj2" fmla="val -16963"/>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gn="ctr">
              <a:lnSpc>
                <a:spcPct val="100000"/>
              </a:lnSpc>
            </a:pPr>
            <a:r>
              <a:rPr lang="en-US" sz="1800"/>
              <a:t>Menu Bar</a:t>
            </a:r>
          </a:p>
        </p:txBody>
      </p:sp>
      <p:sp>
        <p:nvSpPr>
          <p:cNvPr id="931846" name="AutoShape 6"/>
          <p:cNvSpPr>
            <a:spLocks noChangeArrowheads="1"/>
          </p:cNvSpPr>
          <p:nvPr/>
        </p:nvSpPr>
        <p:spPr bwMode="auto">
          <a:xfrm>
            <a:off x="6553200" y="1143000"/>
            <a:ext cx="1295400" cy="609600"/>
          </a:xfrm>
          <a:prstGeom prst="wedgeRoundRectCallout">
            <a:avLst>
              <a:gd name="adj1" fmla="val -243505"/>
              <a:gd name="adj2" fmla="val -121093"/>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gn="ctr">
              <a:lnSpc>
                <a:spcPct val="100000"/>
              </a:lnSpc>
            </a:pPr>
            <a:r>
              <a:rPr lang="en-US" sz="1800"/>
              <a:t>Toolbar</a:t>
            </a:r>
          </a:p>
        </p:txBody>
      </p:sp>
      <p:sp>
        <p:nvSpPr>
          <p:cNvPr id="931847" name="AutoShape 7"/>
          <p:cNvSpPr>
            <a:spLocks noChangeArrowheads="1"/>
          </p:cNvSpPr>
          <p:nvPr/>
        </p:nvSpPr>
        <p:spPr bwMode="auto">
          <a:xfrm>
            <a:off x="7467600" y="2286000"/>
            <a:ext cx="1447800" cy="603250"/>
          </a:xfrm>
          <a:prstGeom prst="wedgeRoundRectCallout">
            <a:avLst>
              <a:gd name="adj1" fmla="val -235745"/>
              <a:gd name="adj2" fmla="val -110528"/>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gn="ctr">
              <a:lnSpc>
                <a:spcPct val="100000"/>
              </a:lnSpc>
            </a:pPr>
            <a:r>
              <a:rPr lang="en-US" sz="1800"/>
              <a:t>Router</a:t>
            </a:r>
          </a:p>
          <a:p>
            <a:pPr algn="ctr">
              <a:lnSpc>
                <a:spcPct val="100000"/>
              </a:lnSpc>
            </a:pPr>
            <a:r>
              <a:rPr lang="en-US" sz="1800"/>
              <a:t>Information</a:t>
            </a:r>
          </a:p>
        </p:txBody>
      </p:sp>
      <p:sp>
        <p:nvSpPr>
          <p:cNvPr id="931848" name="AutoShape 8"/>
          <p:cNvSpPr>
            <a:spLocks noChangeArrowheads="1"/>
          </p:cNvSpPr>
          <p:nvPr/>
        </p:nvSpPr>
        <p:spPr bwMode="auto">
          <a:xfrm>
            <a:off x="3505200" y="5791200"/>
            <a:ext cx="1828800" cy="871538"/>
          </a:xfrm>
          <a:prstGeom prst="wedgeRoundRectCallout">
            <a:avLst>
              <a:gd name="adj1" fmla="val -98699"/>
              <a:gd name="adj2" fmla="val -366028"/>
              <a:gd name="adj3" fmla="val 16667"/>
            </a:avLst>
          </a:prstGeom>
          <a:solidFill>
            <a:schemeClr val="bg1"/>
          </a:solidFill>
          <a:ln w="12700">
            <a:solidFill>
              <a:schemeClr val="tx1"/>
            </a:solidFill>
            <a:miter lim="800000"/>
            <a:headEnd type="none" w="sm" len="sm"/>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pPr>
              <a:lnSpc>
                <a:spcPct val="85000"/>
              </a:lnSpc>
              <a:spcBef>
                <a:spcPct val="40000"/>
              </a:spcBef>
            </a:pPr>
            <a:r>
              <a:rPr lang="en-US" sz="1800"/>
              <a:t>Configuration</a:t>
            </a:r>
          </a:p>
          <a:p>
            <a:pPr>
              <a:lnSpc>
                <a:spcPct val="85000"/>
              </a:lnSpc>
              <a:spcBef>
                <a:spcPct val="40000"/>
              </a:spcBef>
            </a:pPr>
            <a:r>
              <a:rPr lang="en-US" sz="1800"/>
              <a:t>Overview</a:t>
            </a:r>
          </a:p>
        </p:txBody>
      </p:sp>
    </p:spTree>
    <p:extLst>
      <p:ext uri="{BB962C8B-B14F-4D97-AF65-F5344CB8AC3E}">
        <p14:creationId xmlns:p14="http://schemas.microsoft.com/office/powerpoint/2010/main" val="373251259"/>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p:txBody>
          <a:bodyPr/>
          <a:lstStyle/>
          <a:p>
            <a:r>
              <a:rPr lang="en-US"/>
              <a:t>Cisco SDM Wizards</a:t>
            </a:r>
          </a:p>
        </p:txBody>
      </p:sp>
      <p:sp>
        <p:nvSpPr>
          <p:cNvPr id="915459" name="Text Box 3"/>
          <p:cNvSpPr txBox="1">
            <a:spLocks noChangeArrowheads="1"/>
          </p:cNvSpPr>
          <p:nvPr/>
        </p:nvSpPr>
        <p:spPr bwMode="auto">
          <a:xfrm>
            <a:off x="1752600" y="1600200"/>
            <a:ext cx="678180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defRPr>
            </a:lvl1pPr>
            <a:lvl2pPr marL="342900" indent="-228600">
              <a:defRPr sz="2400">
                <a:solidFill>
                  <a:schemeClr val="tx1"/>
                </a:solidFill>
                <a:latin typeface="Arial" charset="0"/>
              </a:defRPr>
            </a:lvl2pPr>
            <a:lvl3pPr marL="685800" indent="-228600">
              <a:defRPr sz="2400">
                <a:solidFill>
                  <a:schemeClr val="tx1"/>
                </a:solidFill>
                <a:latin typeface="Arial" charset="0"/>
              </a:defRPr>
            </a:lvl3pPr>
            <a:lvl4pPr>
              <a:defRPr sz="2400">
                <a:solidFill>
                  <a:schemeClr val="tx1"/>
                </a:solidFill>
                <a:latin typeface="Arial" charset="0"/>
              </a:defRPr>
            </a:lvl4pPr>
            <a:lvl5pPr>
              <a:defRPr sz="2400">
                <a:solidFill>
                  <a:schemeClr val="tx1"/>
                </a:solidFill>
                <a:latin typeface="Arial" charset="0"/>
              </a:defRPr>
            </a:lvl5pPr>
            <a:lvl6pPr eaLnBrk="0" fontAlgn="base" hangingPunct="0">
              <a:spcBef>
                <a:spcPct val="0"/>
              </a:spcBef>
              <a:spcAft>
                <a:spcPct val="0"/>
              </a:spcAft>
              <a:defRPr sz="2400">
                <a:solidFill>
                  <a:schemeClr val="tx1"/>
                </a:solidFill>
                <a:latin typeface="Arial" charset="0"/>
              </a:defRPr>
            </a:lvl6pPr>
            <a:lvl7pPr eaLnBrk="0" fontAlgn="base" hangingPunct="0">
              <a:spcBef>
                <a:spcPct val="0"/>
              </a:spcBef>
              <a:spcAft>
                <a:spcPct val="0"/>
              </a:spcAft>
              <a:defRPr sz="2400">
                <a:solidFill>
                  <a:schemeClr val="tx1"/>
                </a:solidFill>
                <a:latin typeface="Arial" charset="0"/>
              </a:defRPr>
            </a:lvl7pPr>
            <a:lvl8pPr eaLnBrk="0" fontAlgn="base" hangingPunct="0">
              <a:spcBef>
                <a:spcPct val="0"/>
              </a:spcBef>
              <a:spcAft>
                <a:spcPct val="0"/>
              </a:spcAft>
              <a:defRPr sz="2400">
                <a:solidFill>
                  <a:schemeClr val="tx1"/>
                </a:solidFill>
                <a:latin typeface="Arial" charset="0"/>
              </a:defRPr>
            </a:lvl8pPr>
            <a:lvl9pPr eaLnBrk="0" fontAlgn="base" hangingPunct="0">
              <a:spcBef>
                <a:spcPct val="0"/>
              </a:spcBef>
              <a:spcAft>
                <a:spcPct val="0"/>
              </a:spcAft>
              <a:defRPr sz="2400">
                <a:solidFill>
                  <a:schemeClr val="tx1"/>
                </a:solidFill>
                <a:latin typeface="Arial" charset="0"/>
              </a:defRPr>
            </a:lvl9pPr>
          </a:lstStyle>
          <a:p>
            <a:pPr lvl="1">
              <a:spcBef>
                <a:spcPct val="35000"/>
              </a:spcBef>
              <a:buClr>
                <a:schemeClr val="tx2"/>
              </a:buClr>
              <a:buFont typeface="Wingdings" pitchFamily="2" charset="2"/>
              <a:buChar char="§"/>
            </a:pPr>
            <a:r>
              <a:rPr lang="en-US" sz="2000" b="0"/>
              <a:t>LAN configuration: Configure LAN interfaces and DHCP</a:t>
            </a:r>
          </a:p>
          <a:p>
            <a:pPr lvl="1">
              <a:spcBef>
                <a:spcPct val="35000"/>
              </a:spcBef>
              <a:buClr>
                <a:schemeClr val="tx2"/>
              </a:buClr>
              <a:buFont typeface="Wingdings" pitchFamily="2" charset="2"/>
              <a:buChar char="§"/>
            </a:pPr>
            <a:r>
              <a:rPr lang="en-US" sz="2000" b="0"/>
              <a:t>WAN configuration: Configure PPP, Frame Relay, and HDLC WAN interfaces</a:t>
            </a:r>
          </a:p>
          <a:p>
            <a:pPr lvl="1">
              <a:spcBef>
                <a:spcPct val="35000"/>
              </a:spcBef>
              <a:buClr>
                <a:schemeClr val="tx2"/>
              </a:buClr>
              <a:buFont typeface="Wingdings" pitchFamily="2" charset="2"/>
              <a:buChar char="§"/>
            </a:pPr>
            <a:r>
              <a:rPr lang="en-US" sz="2000" b="0"/>
              <a:t>Firewall</a:t>
            </a:r>
          </a:p>
          <a:p>
            <a:pPr lvl="1">
              <a:spcBef>
                <a:spcPct val="35000"/>
              </a:spcBef>
              <a:buClr>
                <a:schemeClr val="tx2"/>
              </a:buClr>
              <a:buFont typeface="Wingdings" pitchFamily="2" charset="2"/>
              <a:buChar char="§"/>
            </a:pPr>
            <a:r>
              <a:rPr lang="en-US" sz="2000" b="0"/>
              <a:t>VPN</a:t>
            </a:r>
          </a:p>
          <a:p>
            <a:pPr lvl="1">
              <a:spcBef>
                <a:spcPct val="35000"/>
              </a:spcBef>
              <a:buClr>
                <a:schemeClr val="tx2"/>
              </a:buClr>
              <a:buFont typeface="Wingdings" pitchFamily="2" charset="2"/>
              <a:buChar char="§"/>
            </a:pPr>
            <a:r>
              <a:rPr lang="en-US" sz="2000" b="0"/>
              <a:t>Security audit: Perform a router security audit, with a button for router lockdown</a:t>
            </a:r>
          </a:p>
          <a:p>
            <a:pPr lvl="1">
              <a:spcBef>
                <a:spcPct val="35000"/>
              </a:spcBef>
              <a:buClr>
                <a:schemeClr val="tx2"/>
              </a:buClr>
              <a:buFont typeface="Wingdings" pitchFamily="2" charset="2"/>
              <a:buChar char="§"/>
            </a:pPr>
            <a:r>
              <a:rPr lang="en-US" sz="2000" b="0"/>
              <a:t>IPS: Intrusion prevention system</a:t>
            </a:r>
          </a:p>
          <a:p>
            <a:pPr lvl="1">
              <a:spcBef>
                <a:spcPct val="35000"/>
              </a:spcBef>
              <a:buClr>
                <a:schemeClr val="tx2"/>
              </a:buClr>
              <a:buFont typeface="Wingdings" pitchFamily="2" charset="2"/>
              <a:buChar char="§"/>
            </a:pPr>
            <a:r>
              <a:rPr lang="en-US" sz="2000" b="0"/>
              <a:t>QoS: Quality of service</a:t>
            </a:r>
          </a:p>
        </p:txBody>
      </p:sp>
      <p:pic>
        <p:nvPicPr>
          <p:cNvPr id="915460" name="Picture 4" descr="tas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333500"/>
            <a:ext cx="1085850" cy="5276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0033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8772" name="Picture 4" descr="tas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0"/>
            <a:ext cx="1411288" cy="6858000"/>
          </a:xfrm>
          <a:prstGeom prst="rect">
            <a:avLst/>
          </a:prstGeom>
          <a:noFill/>
          <a:extLst>
            <a:ext uri="{909E8E84-426E-40DD-AFC4-6F175D3DCCD1}">
              <a14:hiddenFill xmlns:a14="http://schemas.microsoft.com/office/drawing/2010/main">
                <a:solidFill>
                  <a:srgbClr val="FFFFFF"/>
                </a:solidFill>
              </a14:hiddenFill>
            </a:ext>
          </a:extLst>
        </p:spPr>
      </p:pic>
      <p:sp>
        <p:nvSpPr>
          <p:cNvPr id="928774" name="Text Box 6"/>
          <p:cNvSpPr txBox="1">
            <a:spLocks noChangeArrowheads="1"/>
          </p:cNvSpPr>
          <p:nvPr/>
        </p:nvSpPr>
        <p:spPr bwMode="auto">
          <a:xfrm>
            <a:off x="1752600" y="1905000"/>
            <a:ext cx="7162800" cy="333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defRPr>
            </a:lvl1pPr>
            <a:lvl2pPr marL="342900" indent="-228600">
              <a:defRPr sz="2400">
                <a:solidFill>
                  <a:schemeClr val="tx1"/>
                </a:solidFill>
                <a:latin typeface="Arial" charset="0"/>
              </a:defRPr>
            </a:lvl2pPr>
            <a:lvl3pPr marL="685800" indent="-228600">
              <a:defRPr sz="2400">
                <a:solidFill>
                  <a:schemeClr val="tx1"/>
                </a:solidFill>
                <a:latin typeface="Arial" charset="0"/>
              </a:defRPr>
            </a:lvl3pPr>
            <a:lvl4pPr>
              <a:defRPr sz="2400">
                <a:solidFill>
                  <a:schemeClr val="tx1"/>
                </a:solidFill>
                <a:latin typeface="Arial" charset="0"/>
              </a:defRPr>
            </a:lvl4pPr>
            <a:lvl5pPr>
              <a:defRPr sz="2400">
                <a:solidFill>
                  <a:schemeClr val="tx1"/>
                </a:solidFill>
                <a:latin typeface="Arial" charset="0"/>
              </a:defRPr>
            </a:lvl5pPr>
            <a:lvl6pPr eaLnBrk="0" fontAlgn="base" hangingPunct="0">
              <a:spcBef>
                <a:spcPct val="0"/>
              </a:spcBef>
              <a:spcAft>
                <a:spcPct val="0"/>
              </a:spcAft>
              <a:defRPr sz="2400">
                <a:solidFill>
                  <a:schemeClr val="tx1"/>
                </a:solidFill>
                <a:latin typeface="Arial" charset="0"/>
              </a:defRPr>
            </a:lvl6pPr>
            <a:lvl7pPr eaLnBrk="0" fontAlgn="base" hangingPunct="0">
              <a:spcBef>
                <a:spcPct val="0"/>
              </a:spcBef>
              <a:spcAft>
                <a:spcPct val="0"/>
              </a:spcAft>
              <a:defRPr sz="2400">
                <a:solidFill>
                  <a:schemeClr val="tx1"/>
                </a:solidFill>
                <a:latin typeface="Arial" charset="0"/>
              </a:defRPr>
            </a:lvl7pPr>
            <a:lvl8pPr eaLnBrk="0" fontAlgn="base" hangingPunct="0">
              <a:spcBef>
                <a:spcPct val="0"/>
              </a:spcBef>
              <a:spcAft>
                <a:spcPct val="0"/>
              </a:spcAft>
              <a:defRPr sz="2400">
                <a:solidFill>
                  <a:schemeClr val="tx1"/>
                </a:solidFill>
                <a:latin typeface="Arial" charset="0"/>
              </a:defRPr>
            </a:lvl8pPr>
            <a:lvl9pPr eaLnBrk="0" fontAlgn="base" hangingPunct="0">
              <a:spcBef>
                <a:spcPct val="0"/>
              </a:spcBef>
              <a:spcAft>
                <a:spcPct val="0"/>
              </a:spcAft>
              <a:defRPr sz="2400">
                <a:solidFill>
                  <a:schemeClr val="tx1"/>
                </a:solidFill>
                <a:latin typeface="Arial" charset="0"/>
              </a:defRPr>
            </a:lvl9pPr>
          </a:lstStyle>
          <a:p>
            <a:pPr lvl="1">
              <a:lnSpc>
                <a:spcPct val="95000"/>
              </a:lnSpc>
              <a:spcBef>
                <a:spcPct val="35000"/>
              </a:spcBef>
              <a:buClr>
                <a:schemeClr val="tx2"/>
              </a:buClr>
              <a:buFont typeface="Wingdings" pitchFamily="2" charset="2"/>
              <a:buChar char="§"/>
            </a:pPr>
            <a:r>
              <a:rPr lang="en-US" sz="2000" b="0"/>
              <a:t>LAN configuration: Configure LAN interfaces and DHCP</a:t>
            </a:r>
          </a:p>
          <a:p>
            <a:pPr lvl="1">
              <a:lnSpc>
                <a:spcPct val="95000"/>
              </a:lnSpc>
              <a:spcBef>
                <a:spcPct val="35000"/>
              </a:spcBef>
              <a:buClr>
                <a:schemeClr val="tx2"/>
              </a:buClr>
              <a:buFont typeface="Wingdings" pitchFamily="2" charset="2"/>
              <a:buChar char="§"/>
            </a:pPr>
            <a:r>
              <a:rPr lang="en-US" sz="2000" b="0"/>
              <a:t>WAN configuration: Configure PPP, Frame Relay, and HDLC WAN interfaces</a:t>
            </a:r>
          </a:p>
          <a:p>
            <a:pPr lvl="1">
              <a:lnSpc>
                <a:spcPct val="95000"/>
              </a:lnSpc>
              <a:spcBef>
                <a:spcPct val="35000"/>
              </a:spcBef>
              <a:buClr>
                <a:schemeClr val="tx2"/>
              </a:buClr>
              <a:buFont typeface="Wingdings" pitchFamily="2" charset="2"/>
              <a:buChar char="§"/>
            </a:pPr>
            <a:r>
              <a:rPr lang="en-US" sz="2000" b="0"/>
              <a:t>Firewall</a:t>
            </a:r>
          </a:p>
          <a:p>
            <a:pPr lvl="1">
              <a:lnSpc>
                <a:spcPct val="95000"/>
              </a:lnSpc>
              <a:spcBef>
                <a:spcPct val="35000"/>
              </a:spcBef>
              <a:buClr>
                <a:schemeClr val="tx2"/>
              </a:buClr>
              <a:buFont typeface="Wingdings" pitchFamily="2" charset="2"/>
              <a:buChar char="§"/>
            </a:pPr>
            <a:r>
              <a:rPr lang="en-US" sz="2000" b="0"/>
              <a:t>VPN</a:t>
            </a:r>
          </a:p>
          <a:p>
            <a:pPr lvl="1">
              <a:lnSpc>
                <a:spcPct val="95000"/>
              </a:lnSpc>
              <a:spcBef>
                <a:spcPct val="35000"/>
              </a:spcBef>
              <a:buClr>
                <a:schemeClr val="tx2"/>
              </a:buClr>
              <a:buFont typeface="Wingdings" pitchFamily="2" charset="2"/>
              <a:buChar char="§"/>
            </a:pPr>
            <a:r>
              <a:rPr lang="en-US" sz="2000" b="0"/>
              <a:t>Security audit: Perform a router security audit, with a button for router lockdown</a:t>
            </a:r>
          </a:p>
          <a:p>
            <a:pPr lvl="1">
              <a:lnSpc>
                <a:spcPct val="95000"/>
              </a:lnSpc>
              <a:spcBef>
                <a:spcPct val="35000"/>
              </a:spcBef>
              <a:buClr>
                <a:schemeClr val="tx2"/>
              </a:buClr>
              <a:buFont typeface="Wingdings" pitchFamily="2" charset="2"/>
              <a:buChar char="§"/>
            </a:pPr>
            <a:r>
              <a:rPr lang="en-US" sz="2000" b="0"/>
              <a:t>IPS: Intrusion prevention system</a:t>
            </a:r>
          </a:p>
          <a:p>
            <a:pPr lvl="1">
              <a:lnSpc>
                <a:spcPct val="95000"/>
              </a:lnSpc>
              <a:spcBef>
                <a:spcPct val="35000"/>
              </a:spcBef>
              <a:buClr>
                <a:schemeClr val="tx2"/>
              </a:buClr>
              <a:buFont typeface="Wingdings" pitchFamily="2" charset="2"/>
              <a:buChar char="§"/>
            </a:pPr>
            <a:r>
              <a:rPr lang="en-US" sz="2000" b="0"/>
              <a:t>QoS: Quality of service</a:t>
            </a:r>
          </a:p>
        </p:txBody>
      </p:sp>
    </p:spTree>
    <p:extLst>
      <p:ext uri="{BB962C8B-B14F-4D97-AF65-F5344CB8AC3E}">
        <p14:creationId xmlns:p14="http://schemas.microsoft.com/office/powerpoint/2010/main" val="427460341"/>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ctrTitle"/>
          </p:nvPr>
        </p:nvSpPr>
        <p:spPr/>
        <p:txBody>
          <a:bodyPr/>
          <a:lstStyle/>
          <a:p>
            <a:r>
              <a:rPr lang="en-US"/>
              <a:t>Network Environment Management </a:t>
            </a:r>
          </a:p>
        </p:txBody>
      </p:sp>
      <p:sp>
        <p:nvSpPr>
          <p:cNvPr id="69635" name="Rectangle 3"/>
          <p:cNvSpPr>
            <a:spLocks noGrp="1" noChangeArrowheads="1"/>
          </p:cNvSpPr>
          <p:nvPr>
            <p:ph type="subTitle" idx="1"/>
          </p:nvPr>
        </p:nvSpPr>
        <p:spPr>
          <a:xfrm>
            <a:off x="650875" y="838200"/>
            <a:ext cx="3546475" cy="1316038"/>
          </a:xfrm>
        </p:spPr>
        <p:txBody>
          <a:bodyPr/>
          <a:lstStyle/>
          <a:p>
            <a:r>
              <a:rPr lang="en-US"/>
              <a:t>Managing Cisco Devices </a:t>
            </a:r>
          </a:p>
        </p:txBody>
      </p:sp>
    </p:spTree>
    <p:extLst>
      <p:ext uri="{BB962C8B-B14F-4D97-AF65-F5344CB8AC3E}">
        <p14:creationId xmlns:p14="http://schemas.microsoft.com/office/powerpoint/2010/main" val="3975229963"/>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780" name="Picture 4" descr="301P_9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654175"/>
            <a:ext cx="5629275" cy="4710113"/>
          </a:xfrm>
          <a:prstGeom prst="rect">
            <a:avLst/>
          </a:prstGeom>
          <a:noFill/>
          <a:extLst>
            <a:ext uri="{909E8E84-426E-40DD-AFC4-6F175D3DCCD1}">
              <a14:hiddenFill xmlns:a14="http://schemas.microsoft.com/office/drawing/2010/main">
                <a:solidFill>
                  <a:srgbClr val="FFFFFF"/>
                </a:solidFill>
              </a14:hiddenFill>
            </a:ext>
          </a:extLst>
        </p:spPr>
      </p:pic>
      <p:sp>
        <p:nvSpPr>
          <p:cNvPr id="331779" name="Rectangle 3"/>
          <p:cNvSpPr>
            <a:spLocks noGrp="1" noChangeArrowheads="1"/>
          </p:cNvSpPr>
          <p:nvPr>
            <p:ph type="title"/>
          </p:nvPr>
        </p:nvSpPr>
        <p:spPr/>
        <p:txBody>
          <a:bodyPr/>
          <a:lstStyle/>
          <a:p>
            <a:r>
              <a:rPr lang="en-US"/>
              <a:t>Cisco IOS File System and Devices</a:t>
            </a:r>
          </a:p>
        </p:txBody>
      </p:sp>
    </p:spTree>
    <p:extLst>
      <p:ext uri="{BB962C8B-B14F-4D97-AF65-F5344CB8AC3E}">
        <p14:creationId xmlns:p14="http://schemas.microsoft.com/office/powerpoint/2010/main" val="16537930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p:txBody>
          <a:bodyPr/>
          <a:lstStyle/>
          <a:p>
            <a:r>
              <a:rPr lang="en-US"/>
              <a:t>Managing Cisco IOS Images</a:t>
            </a:r>
          </a:p>
        </p:txBody>
      </p:sp>
      <p:pic>
        <p:nvPicPr>
          <p:cNvPr id="333830" name="Picture 6" descr="301P_9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662238"/>
            <a:ext cx="8305800" cy="251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366279"/>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body" sz="half" idx="4294967295"/>
          </p:nvPr>
        </p:nvSpPr>
        <p:spPr>
          <a:xfrm>
            <a:off x="965200" y="5559425"/>
            <a:ext cx="6248400" cy="765175"/>
          </a:xfrm>
          <a:noFill/>
          <a:ln/>
          <a:extLst>
            <a:ext uri="{91240B29-F687-4F45-9708-019B960494DF}">
              <a14:hiddenLine xmlns:a14="http://schemas.microsoft.com/office/drawing/2010/main" w="9525">
                <a:solidFill>
                  <a:srgbClr val="000000"/>
                </a:solidFill>
                <a:miter lim="800000"/>
                <a:headEnd/>
                <a:tailEnd/>
              </a14:hiddenLine>
            </a:ext>
          </a:extLst>
        </p:spPr>
        <p:txBody>
          <a:bodyPr lIns="82140" tIns="41070" rIns="82140" bIns="41070" anchor="ctr" anchorCtr="1"/>
          <a:lstStyle/>
          <a:p>
            <a:r>
              <a:rPr lang="en-US"/>
              <a:t>Verify that flash memory has room for the </a:t>
            </a:r>
            <a:br>
              <a:rPr lang="en-US"/>
            </a:br>
            <a:r>
              <a:rPr lang="en-US"/>
              <a:t>Cisco IOS image.</a:t>
            </a:r>
          </a:p>
        </p:txBody>
      </p:sp>
      <p:sp>
        <p:nvSpPr>
          <p:cNvPr id="335875" name="Rectangle 3"/>
          <p:cNvSpPr>
            <a:spLocks noGrp="1" noChangeArrowheads="1"/>
          </p:cNvSpPr>
          <p:nvPr>
            <p:ph type="title"/>
          </p:nvPr>
        </p:nvSpPr>
        <p:spPr/>
        <p:txBody>
          <a:bodyPr/>
          <a:lstStyle/>
          <a:p>
            <a:r>
              <a:rPr lang="en-US"/>
              <a:t>Verifying Memory and Deciphering Image Filenames</a:t>
            </a:r>
          </a:p>
        </p:txBody>
      </p:sp>
      <p:sp>
        <p:nvSpPr>
          <p:cNvPr id="335877" name="Text Box 5"/>
          <p:cNvSpPr txBox="1">
            <a:spLocks noChangeArrowheads="1"/>
          </p:cNvSpPr>
          <p:nvPr/>
        </p:nvSpPr>
        <p:spPr bwMode="auto">
          <a:xfrm>
            <a:off x="533400" y="2162175"/>
            <a:ext cx="8458200" cy="271462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400">
                <a:latin typeface="Courier New" pitchFamily="49" charset="0"/>
              </a:rPr>
              <a:t>RouterX#sh flash</a:t>
            </a:r>
          </a:p>
          <a:p>
            <a:r>
              <a:rPr lang="en-US" sz="1400">
                <a:latin typeface="Courier New" pitchFamily="49" charset="0"/>
              </a:rPr>
              <a:t>-#- --length-- -----date/time------ path</a:t>
            </a:r>
          </a:p>
          <a:p>
            <a:r>
              <a:rPr lang="en-US" sz="1400">
                <a:latin typeface="Courier New" pitchFamily="49" charset="0"/>
              </a:rPr>
              <a:t>1     14951648 Feb 22 2007 21:38:56 +00:00 c2800nm-ipbase-mz.124-5a.bin</a:t>
            </a:r>
          </a:p>
          <a:p>
            <a:r>
              <a:rPr lang="en-US" sz="1400">
                <a:latin typeface="Courier New" pitchFamily="49" charset="0"/>
              </a:rPr>
              <a:t>2         1823 Dec 14 2006 08:24:54 +00:00 sdmconfig-2811.cfg</a:t>
            </a:r>
          </a:p>
          <a:p>
            <a:r>
              <a:rPr lang="en-US" sz="1400">
                <a:latin typeface="Courier New" pitchFamily="49" charset="0"/>
              </a:rPr>
              <a:t>3      4734464 Dec 14 2006 08:25:24 +00:00 sdm.tar</a:t>
            </a:r>
          </a:p>
          <a:p>
            <a:r>
              <a:rPr lang="en-US" sz="1400">
                <a:latin typeface="Courier New" pitchFamily="49" charset="0"/>
              </a:rPr>
              <a:t>4       833024 Dec 14 2006 08:25:38 +00:00 es.tar</a:t>
            </a:r>
          </a:p>
          <a:p>
            <a:r>
              <a:rPr lang="en-US" sz="1400">
                <a:latin typeface="Courier New" pitchFamily="49" charset="0"/>
              </a:rPr>
              <a:t>5      1052160 Dec 14 2006 08:25:54 +00:00 common.tar</a:t>
            </a:r>
          </a:p>
          <a:p>
            <a:r>
              <a:rPr lang="en-US" sz="1400">
                <a:latin typeface="Courier New" pitchFamily="49" charset="0"/>
              </a:rPr>
              <a:t>6         1038 Dec 14 2006 08:26:08 +00:00 home.shtml</a:t>
            </a:r>
          </a:p>
          <a:p>
            <a:r>
              <a:rPr lang="en-US" sz="1400">
                <a:latin typeface="Courier New" pitchFamily="49" charset="0"/>
              </a:rPr>
              <a:t>7       102400 Dec 14 2006 08:26:22 +00:00 home.tar</a:t>
            </a:r>
          </a:p>
          <a:p>
            <a:r>
              <a:rPr lang="en-US" sz="1400">
                <a:latin typeface="Courier New" pitchFamily="49" charset="0"/>
              </a:rPr>
              <a:t>8       491213 Dec 14 2006 08:26:40 +00:00 128MB.sdf</a:t>
            </a:r>
          </a:p>
          <a:p>
            <a:endParaRPr lang="en-US" sz="1400">
              <a:latin typeface="Courier New" pitchFamily="49" charset="0"/>
            </a:endParaRPr>
          </a:p>
          <a:p>
            <a:r>
              <a:rPr lang="en-US" sz="1400">
                <a:latin typeface="Courier New" pitchFamily="49" charset="0"/>
              </a:rPr>
              <a:t>41836544 bytes available (22179840 bytes used)</a:t>
            </a:r>
          </a:p>
          <a:p>
            <a:pPr>
              <a:spcBef>
                <a:spcPct val="50000"/>
              </a:spcBef>
            </a:pPr>
            <a:endParaRPr lang="en-US" sz="1400">
              <a:latin typeface="Courier New" pitchFamily="49" charset="0"/>
            </a:endParaRPr>
          </a:p>
        </p:txBody>
      </p:sp>
    </p:spTree>
    <p:extLst>
      <p:ext uri="{BB962C8B-B14F-4D97-AF65-F5344CB8AC3E}">
        <p14:creationId xmlns:p14="http://schemas.microsoft.com/office/powerpoint/2010/main" val="3770344460"/>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Rectangle 3"/>
          <p:cNvSpPr>
            <a:spLocks noGrp="1" noChangeArrowheads="1"/>
          </p:cNvSpPr>
          <p:nvPr>
            <p:ph type="body" sz="half" idx="4294967295"/>
          </p:nvPr>
        </p:nvSpPr>
        <p:spPr>
          <a:xfrm>
            <a:off x="635000" y="6146800"/>
            <a:ext cx="7391400" cy="482600"/>
          </a:xfrm>
          <a:noFill/>
          <a:ln/>
          <a:extLst>
            <a:ext uri="{91240B29-F687-4F45-9708-019B960494DF}">
              <a14:hiddenLine xmlns:a14="http://schemas.microsoft.com/office/drawing/2010/main" w="9525">
                <a:solidFill>
                  <a:srgbClr val="000000"/>
                </a:solidFill>
                <a:miter lim="800000"/>
                <a:headEnd/>
                <a:tailEnd/>
              </a14:hiddenLine>
            </a:ext>
          </a:extLst>
        </p:spPr>
        <p:txBody>
          <a:bodyPr lIns="82140" tIns="41070" rIns="82140" bIns="41070"/>
          <a:lstStyle/>
          <a:p>
            <a:pPr>
              <a:lnSpc>
                <a:spcPct val="85000"/>
              </a:lnSpc>
            </a:pPr>
            <a:r>
              <a:rPr lang="en-US"/>
              <a:t>Back up current files prior to updating flash memory.</a:t>
            </a:r>
          </a:p>
        </p:txBody>
      </p:sp>
      <p:sp>
        <p:nvSpPr>
          <p:cNvPr id="337924" name="Rectangle 4"/>
          <p:cNvSpPr>
            <a:spLocks noGrp="1" noChangeArrowheads="1"/>
          </p:cNvSpPr>
          <p:nvPr>
            <p:ph type="title"/>
          </p:nvPr>
        </p:nvSpPr>
        <p:spPr/>
        <p:txBody>
          <a:bodyPr/>
          <a:lstStyle/>
          <a:p>
            <a:r>
              <a:rPr lang="en-US"/>
              <a:t>Creating a Software Image Backup</a:t>
            </a:r>
          </a:p>
        </p:txBody>
      </p:sp>
      <p:sp>
        <p:nvSpPr>
          <p:cNvPr id="337928" name="Text Box 8"/>
          <p:cNvSpPr txBox="1">
            <a:spLocks noChangeArrowheads="1"/>
          </p:cNvSpPr>
          <p:nvPr/>
        </p:nvSpPr>
        <p:spPr bwMode="auto">
          <a:xfrm>
            <a:off x="304800" y="4343400"/>
            <a:ext cx="8664575" cy="110172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200">
                <a:latin typeface="Courier New" pitchFamily="49" charset="0"/>
              </a:rPr>
              <a:t>RouterX#copy flash tftp:</a:t>
            </a:r>
          </a:p>
          <a:p>
            <a:r>
              <a:rPr lang="en-US" sz="1200">
                <a:latin typeface="Courier New" pitchFamily="49" charset="0"/>
              </a:rPr>
              <a:t>Source filename []? c2800nm-ipbase-mz.124-5a.binAddress or name of remote host []? 10.1.1.1</a:t>
            </a:r>
          </a:p>
          <a:p>
            <a:r>
              <a:rPr lang="en-US" sz="1200">
                <a:latin typeface="Courier New" pitchFamily="49" charset="0"/>
              </a:rPr>
              <a:t>Destination filename [c2800nm-ipbase-mz.124-5a.bin]</a:t>
            </a:r>
          </a:p>
          <a:p>
            <a:r>
              <a:rPr lang="en-US" sz="1200">
                <a:latin typeface="Courier New" pitchFamily="49" charset="0"/>
              </a:rPr>
              <a:t>!!!!!!!!!!!!!!!!!!!!!!!!!!!!!!!!!!!!!!!!!!!!!!!!!!!!!!!!!!!!!&lt;output omitted&gt;</a:t>
            </a:r>
          </a:p>
          <a:p>
            <a:r>
              <a:rPr lang="en-US" sz="1200">
                <a:latin typeface="Courier New" pitchFamily="49" charset="0"/>
              </a:rPr>
              <a:t>12094416 bytes copied in 98.858 secs (122341 bytes/sec)</a:t>
            </a:r>
          </a:p>
          <a:p>
            <a:r>
              <a:rPr lang="en-US" sz="1200">
                <a:latin typeface="Courier New" pitchFamily="49" charset="0"/>
              </a:rPr>
              <a:t>RouterX#</a:t>
            </a:r>
          </a:p>
        </p:txBody>
      </p:sp>
      <p:pic>
        <p:nvPicPr>
          <p:cNvPr id="337930" name="Picture 10" descr="301P_9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80486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490584"/>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p:cNvSpPr>
            <a:spLocks noGrp="1" noChangeArrowheads="1"/>
          </p:cNvSpPr>
          <p:nvPr>
            <p:ph type="title"/>
          </p:nvPr>
        </p:nvSpPr>
        <p:spPr/>
        <p:txBody>
          <a:bodyPr/>
          <a:lstStyle/>
          <a:p>
            <a:r>
              <a:rPr lang="en-US"/>
              <a:t>Upgrading the Image from the Network</a:t>
            </a:r>
          </a:p>
        </p:txBody>
      </p:sp>
      <p:sp>
        <p:nvSpPr>
          <p:cNvPr id="339978" name="Text Box 10"/>
          <p:cNvSpPr txBox="1">
            <a:spLocks noChangeArrowheads="1"/>
          </p:cNvSpPr>
          <p:nvPr/>
        </p:nvSpPr>
        <p:spPr bwMode="auto">
          <a:xfrm>
            <a:off x="228600" y="3581400"/>
            <a:ext cx="8658225" cy="2801938"/>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300">
                <a:latin typeface="Courier New" pitchFamily="49" charset="0"/>
              </a:rPr>
              <a:t>RouterX#copy tftp flash:</a:t>
            </a:r>
          </a:p>
          <a:p>
            <a:r>
              <a:rPr lang="en-US" sz="1300">
                <a:latin typeface="Courier New" pitchFamily="49" charset="0"/>
              </a:rPr>
              <a:t>Address or name of remote host [10.1.1.1]?</a:t>
            </a:r>
          </a:p>
          <a:p>
            <a:r>
              <a:rPr lang="en-US" sz="1300">
                <a:latin typeface="Courier New" pitchFamily="49" charset="0"/>
              </a:rPr>
              <a:t>Source filename []? c2800nm-ipbase-mz.124-5a.bin</a:t>
            </a:r>
          </a:p>
          <a:p>
            <a:r>
              <a:rPr lang="en-US" sz="1300">
                <a:latin typeface="Courier New" pitchFamily="49" charset="0"/>
              </a:rPr>
              <a:t>Destination filename [c2800nm-ipbase-mz.124-5a.bin]</a:t>
            </a:r>
          </a:p>
          <a:p>
            <a:r>
              <a:rPr lang="en-US" sz="1300">
                <a:latin typeface="Courier New" pitchFamily="49" charset="0"/>
              </a:rPr>
              <a:t>Accessing tftp://10.1.1.1/c2600-js-mz.122-21a.bin...</a:t>
            </a:r>
          </a:p>
          <a:p>
            <a:r>
              <a:rPr lang="en-US" sz="1300">
                <a:latin typeface="Courier New" pitchFamily="49" charset="0"/>
              </a:rPr>
              <a:t>Erase flash: before copying? [confirm]</a:t>
            </a:r>
          </a:p>
          <a:p>
            <a:r>
              <a:rPr lang="en-US" sz="1300">
                <a:latin typeface="Courier New" pitchFamily="49" charset="0"/>
              </a:rPr>
              <a:t>Erasing the flash filesystem will remove all files! Continue? [confirm]</a:t>
            </a:r>
          </a:p>
          <a:p>
            <a:r>
              <a:rPr lang="en-US" sz="1300">
                <a:latin typeface="Courier New" pitchFamily="49" charset="0"/>
              </a:rPr>
              <a:t>Erasing device... eeeeeeeeee (output omitted) ...erased</a:t>
            </a:r>
          </a:p>
          <a:p>
            <a:r>
              <a:rPr lang="en-US" sz="1300">
                <a:latin typeface="Courier New" pitchFamily="49" charset="0"/>
              </a:rPr>
              <a:t>Erase of flash: complete</a:t>
            </a:r>
          </a:p>
          <a:p>
            <a:r>
              <a:rPr lang="en-US" sz="1300">
                <a:latin typeface="Courier New" pitchFamily="49" charset="0"/>
              </a:rPr>
              <a:t>Loading c2800nm-ipbase-mz.124-5a.bin from  10.1.1.1 (via Ethernet0/0): !!!!!!!!!!!!!!!</a:t>
            </a:r>
          </a:p>
          <a:p>
            <a:r>
              <a:rPr lang="en-US" sz="1300">
                <a:latin typeface="Courier New" pitchFamily="49" charset="0"/>
              </a:rPr>
              <a:t>(output omited)</a:t>
            </a:r>
          </a:p>
          <a:p>
            <a:r>
              <a:rPr lang="en-US" sz="1300">
                <a:latin typeface="Courier New" pitchFamily="49" charset="0"/>
              </a:rPr>
              <a:t>[OK - 12094416 bytes]</a:t>
            </a:r>
          </a:p>
          <a:p>
            <a:r>
              <a:rPr lang="en-US" sz="1300">
                <a:latin typeface="Courier New" pitchFamily="49" charset="0"/>
              </a:rPr>
              <a:t>Verifying checksum...  OK (0x45E2)</a:t>
            </a:r>
          </a:p>
          <a:p>
            <a:r>
              <a:rPr lang="en-US" sz="1300">
                <a:latin typeface="Courier New" pitchFamily="49" charset="0"/>
              </a:rPr>
              <a:t>12094416 bytes copied in 120.465 secs (100398 bytes/sec)</a:t>
            </a:r>
          </a:p>
          <a:p>
            <a:r>
              <a:rPr lang="en-US" sz="1300">
                <a:latin typeface="Courier New" pitchFamily="49" charset="0"/>
              </a:rPr>
              <a:t>RouterX</a:t>
            </a:r>
          </a:p>
        </p:txBody>
      </p:sp>
      <p:pic>
        <p:nvPicPr>
          <p:cNvPr id="339979" name="Picture 11" descr="301P_9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0486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329132"/>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2020" name="Picture 4" descr="301P_2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725" y="1571625"/>
            <a:ext cx="6761163" cy="4986338"/>
          </a:xfrm>
          <a:prstGeom prst="rect">
            <a:avLst/>
          </a:prstGeom>
          <a:noFill/>
          <a:extLst>
            <a:ext uri="{909E8E84-426E-40DD-AFC4-6F175D3DCCD1}">
              <a14:hiddenFill xmlns:a14="http://schemas.microsoft.com/office/drawing/2010/main">
                <a:solidFill>
                  <a:srgbClr val="FFFFFF"/>
                </a:solidFill>
              </a14:hiddenFill>
            </a:ext>
          </a:extLst>
        </p:spPr>
      </p:pic>
      <p:sp>
        <p:nvSpPr>
          <p:cNvPr id="342019" name="Rectangle 3"/>
          <p:cNvSpPr>
            <a:spLocks noGrp="1" noChangeArrowheads="1"/>
          </p:cNvSpPr>
          <p:nvPr>
            <p:ph type="title"/>
          </p:nvPr>
        </p:nvSpPr>
        <p:spPr/>
        <p:txBody>
          <a:bodyPr/>
          <a:lstStyle/>
          <a:p>
            <a:r>
              <a:rPr lang="en-US"/>
              <a:t>Device Configuration Files</a:t>
            </a:r>
          </a:p>
        </p:txBody>
      </p:sp>
    </p:spTree>
    <p:extLst>
      <p:ext uri="{BB962C8B-B14F-4D97-AF65-F5344CB8AC3E}">
        <p14:creationId xmlns:p14="http://schemas.microsoft.com/office/powerpoint/2010/main" val="8092961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70" name="Picture 6" descr="301P_2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8" y="1447800"/>
            <a:ext cx="6481762" cy="5084763"/>
          </a:xfrm>
          <a:prstGeom prst="rect">
            <a:avLst/>
          </a:prstGeom>
          <a:noFill/>
          <a:extLst>
            <a:ext uri="{909E8E84-426E-40DD-AFC4-6F175D3DCCD1}">
              <a14:hiddenFill xmlns:a14="http://schemas.microsoft.com/office/drawing/2010/main">
                <a:solidFill>
                  <a:srgbClr val="FFFFFF"/>
                </a:solidFill>
              </a14:hiddenFill>
            </a:ext>
          </a:extLst>
        </p:spPr>
      </p:pic>
      <p:sp>
        <p:nvSpPr>
          <p:cNvPr id="344067" name="Rectangle 3"/>
          <p:cNvSpPr>
            <a:spLocks noGrp="1" noChangeArrowheads="1"/>
          </p:cNvSpPr>
          <p:nvPr>
            <p:ph type="title"/>
          </p:nvPr>
        </p:nvSpPr>
        <p:spPr/>
        <p:txBody>
          <a:bodyPr/>
          <a:lstStyle/>
          <a:p>
            <a:r>
              <a:rPr lang="en-US"/>
              <a:t>Cisco IOS </a:t>
            </a:r>
            <a:r>
              <a:rPr lang="en-US" b="0"/>
              <a:t>copy</a:t>
            </a:r>
            <a:r>
              <a:rPr lang="en-US"/>
              <a:t> Command</a:t>
            </a:r>
          </a:p>
        </p:txBody>
      </p:sp>
      <p:sp>
        <p:nvSpPr>
          <p:cNvPr id="344068" name="Rectangle 4"/>
          <p:cNvSpPr>
            <a:spLocks noChangeArrowheads="1"/>
          </p:cNvSpPr>
          <p:nvPr/>
        </p:nvSpPr>
        <p:spPr bwMode="auto">
          <a:xfrm>
            <a:off x="381000" y="4691063"/>
            <a:ext cx="2779713" cy="1482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2532" tIns="41265" rIns="82532" bIns="41265"/>
          <a:lstStyle/>
          <a:p>
            <a:pPr marL="342900" lvl="1" indent="-228600">
              <a:lnSpc>
                <a:spcPct val="95000"/>
              </a:lnSpc>
              <a:spcBef>
                <a:spcPct val="35000"/>
              </a:spcBef>
              <a:buClr>
                <a:schemeClr val="accent1"/>
              </a:buClr>
              <a:buFont typeface="Wingdings" pitchFamily="2" charset="2"/>
              <a:buChar char="§"/>
            </a:pPr>
            <a:r>
              <a:rPr lang="en-US" sz="2000" b="0"/>
              <a:t>NVRAM</a:t>
            </a:r>
          </a:p>
          <a:p>
            <a:pPr marL="342900" lvl="1" indent="-228600">
              <a:lnSpc>
                <a:spcPct val="95000"/>
              </a:lnSpc>
              <a:spcBef>
                <a:spcPct val="35000"/>
              </a:spcBef>
              <a:buClr>
                <a:schemeClr val="accent1"/>
              </a:buClr>
              <a:buFont typeface="Wingdings" pitchFamily="2" charset="2"/>
              <a:buChar char="§"/>
            </a:pPr>
            <a:r>
              <a:rPr lang="en-US" sz="2000" b="0"/>
              <a:t>Terminal</a:t>
            </a:r>
          </a:p>
          <a:p>
            <a:pPr marL="342900" lvl="1" indent="-228600">
              <a:lnSpc>
                <a:spcPct val="95000"/>
              </a:lnSpc>
              <a:spcBef>
                <a:spcPct val="35000"/>
              </a:spcBef>
              <a:buClr>
                <a:schemeClr val="accent1"/>
              </a:buClr>
              <a:buFont typeface="Wingdings" pitchFamily="2" charset="2"/>
              <a:buChar char="§"/>
            </a:pPr>
            <a:r>
              <a:rPr lang="en-US" sz="2000" b="0"/>
              <a:t>TFTP server</a:t>
            </a:r>
          </a:p>
          <a:p>
            <a:pPr marL="342900" lvl="1" indent="-228600">
              <a:lnSpc>
                <a:spcPct val="95000"/>
              </a:lnSpc>
              <a:spcBef>
                <a:spcPct val="35000"/>
              </a:spcBef>
              <a:buClr>
                <a:schemeClr val="accent1"/>
              </a:buClr>
              <a:buFont typeface="Wingdings" pitchFamily="2" charset="2"/>
              <a:buChar char="§"/>
            </a:pPr>
            <a:r>
              <a:rPr lang="en-US" sz="2000" b="0"/>
              <a:t>Erase start</a:t>
            </a:r>
          </a:p>
        </p:txBody>
      </p:sp>
    </p:spTree>
    <p:extLst>
      <p:ext uri="{BB962C8B-B14F-4D97-AF65-F5344CB8AC3E}">
        <p14:creationId xmlns:p14="http://schemas.microsoft.com/office/powerpoint/2010/main" val="21737973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6119" name="Picture 7" descr="301P_9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24000"/>
            <a:ext cx="8305800" cy="4740275"/>
          </a:xfrm>
          <a:prstGeom prst="rect">
            <a:avLst/>
          </a:prstGeom>
          <a:noFill/>
          <a:extLst>
            <a:ext uri="{909E8E84-426E-40DD-AFC4-6F175D3DCCD1}">
              <a14:hiddenFill xmlns:a14="http://schemas.microsoft.com/office/drawing/2010/main">
                <a:solidFill>
                  <a:srgbClr val="FFFFFF"/>
                </a:solidFill>
              </a14:hiddenFill>
            </a:ext>
          </a:extLst>
        </p:spPr>
      </p:pic>
      <p:sp>
        <p:nvSpPr>
          <p:cNvPr id="346115" name="Rectangle 3"/>
          <p:cNvSpPr>
            <a:spLocks noGrp="1" noChangeArrowheads="1"/>
          </p:cNvSpPr>
          <p:nvPr>
            <p:ph type="title"/>
          </p:nvPr>
        </p:nvSpPr>
        <p:spPr/>
        <p:txBody>
          <a:bodyPr/>
          <a:lstStyle/>
          <a:p>
            <a:r>
              <a:rPr lang="en-US"/>
              <a:t>Cisco IOS </a:t>
            </a:r>
            <a:r>
              <a:rPr lang="en-US" b="0"/>
              <a:t>copy</a:t>
            </a:r>
            <a:r>
              <a:rPr lang="en-US"/>
              <a:t> Command Example</a:t>
            </a:r>
          </a:p>
        </p:txBody>
      </p:sp>
    </p:spTree>
    <p:extLst>
      <p:ext uri="{BB962C8B-B14F-4D97-AF65-F5344CB8AC3E}">
        <p14:creationId xmlns:p14="http://schemas.microsoft.com/office/powerpoint/2010/main" val="16513137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3" name="Rectangle 3"/>
          <p:cNvSpPr>
            <a:spLocks noGrp="1" noChangeArrowheads="1"/>
          </p:cNvSpPr>
          <p:nvPr>
            <p:ph type="title"/>
          </p:nvPr>
        </p:nvSpPr>
        <p:spPr/>
        <p:txBody>
          <a:bodyPr/>
          <a:lstStyle/>
          <a:p>
            <a:r>
              <a:rPr lang="en-US" b="0"/>
              <a:t>copy run tftp</a:t>
            </a:r>
            <a:r>
              <a:rPr lang="en-US"/>
              <a:t> and </a:t>
            </a:r>
            <a:r>
              <a:rPr lang="en-US" b="0"/>
              <a:t>copy tftp run</a:t>
            </a:r>
            <a:r>
              <a:rPr lang="en-US"/>
              <a:t> Commands</a:t>
            </a:r>
          </a:p>
        </p:txBody>
      </p:sp>
      <p:sp>
        <p:nvSpPr>
          <p:cNvPr id="348165" name="Text Box 5"/>
          <p:cNvSpPr txBox="1">
            <a:spLocks noChangeArrowheads="1"/>
          </p:cNvSpPr>
          <p:nvPr/>
        </p:nvSpPr>
        <p:spPr bwMode="auto">
          <a:xfrm>
            <a:off x="685800" y="2133600"/>
            <a:ext cx="7019925" cy="3825875"/>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800">
                <a:latin typeface="Courier New" pitchFamily="49" charset="0"/>
              </a:rPr>
              <a:t>RouterX#</a:t>
            </a:r>
            <a:r>
              <a:rPr lang="en-US" sz="1800">
                <a:solidFill>
                  <a:schemeClr val="accent2"/>
                </a:solidFill>
                <a:latin typeface="Courier New" pitchFamily="49" charset="0"/>
              </a:rPr>
              <a:t>copy</a:t>
            </a:r>
            <a:r>
              <a:rPr lang="en-US" sz="1800">
                <a:latin typeface="Courier New" pitchFamily="49" charset="0"/>
              </a:rPr>
              <a:t> </a:t>
            </a:r>
            <a:r>
              <a:rPr lang="en-US" sz="1800">
                <a:solidFill>
                  <a:schemeClr val="accent2"/>
                </a:solidFill>
                <a:latin typeface="Courier New" pitchFamily="49" charset="0"/>
              </a:rPr>
              <a:t>running-config: tftp:</a:t>
            </a:r>
            <a:r>
              <a:rPr lang="en-US" sz="1800">
                <a:latin typeface="Courier New" pitchFamily="49" charset="0"/>
              </a:rPr>
              <a:t> </a:t>
            </a:r>
          </a:p>
          <a:p>
            <a:r>
              <a:rPr lang="en-US" sz="1800">
                <a:latin typeface="Courier New" pitchFamily="49" charset="0"/>
              </a:rPr>
              <a:t>Address or name of remote host []? 10.1.1.1 </a:t>
            </a:r>
          </a:p>
          <a:p>
            <a:r>
              <a:rPr lang="en-US" sz="1800">
                <a:latin typeface="Courier New" pitchFamily="49" charset="0"/>
              </a:rPr>
              <a:t>Destination filename [running-config]? wgroa.cfg </a:t>
            </a:r>
          </a:p>
          <a:p>
            <a:r>
              <a:rPr lang="en-US" sz="1800">
                <a:latin typeface="Courier New" pitchFamily="49" charset="0"/>
              </a:rPr>
              <a:t>.!!</a:t>
            </a:r>
          </a:p>
          <a:p>
            <a:r>
              <a:rPr lang="en-US" sz="1800">
                <a:latin typeface="Courier New" pitchFamily="49" charset="0"/>
              </a:rPr>
              <a:t>1684 bytes copied in 13.300 secs (129 bytes/sec) </a:t>
            </a:r>
          </a:p>
          <a:p>
            <a:r>
              <a:rPr lang="en-US" sz="1800">
                <a:latin typeface="Courier New" pitchFamily="49" charset="0"/>
              </a:rPr>
              <a:t> </a:t>
            </a:r>
          </a:p>
          <a:p>
            <a:r>
              <a:rPr lang="en-US" sz="1800">
                <a:latin typeface="Courier New" pitchFamily="49" charset="0"/>
              </a:rPr>
              <a:t>RouterX#</a:t>
            </a:r>
            <a:r>
              <a:rPr lang="en-US" sz="1800">
                <a:solidFill>
                  <a:schemeClr val="accent2"/>
                </a:solidFill>
                <a:latin typeface="Courier New" pitchFamily="49" charset="0"/>
              </a:rPr>
              <a:t>copy</a:t>
            </a:r>
            <a:r>
              <a:rPr lang="en-US" sz="1800">
                <a:latin typeface="Courier New" pitchFamily="49" charset="0"/>
              </a:rPr>
              <a:t> </a:t>
            </a:r>
            <a:r>
              <a:rPr lang="en-US" sz="1800">
                <a:solidFill>
                  <a:schemeClr val="accent2"/>
                </a:solidFill>
                <a:latin typeface="Courier New" pitchFamily="49" charset="0"/>
              </a:rPr>
              <a:t>tftp: running-config:</a:t>
            </a:r>
            <a:r>
              <a:rPr lang="en-US" sz="1800">
                <a:latin typeface="Courier New" pitchFamily="49" charset="0"/>
              </a:rPr>
              <a:t>   </a:t>
            </a:r>
          </a:p>
          <a:p>
            <a:r>
              <a:rPr lang="en-US" sz="1800">
                <a:latin typeface="Courier New" pitchFamily="49" charset="0"/>
              </a:rPr>
              <a:t>Address or name of remote host []? 10.1.1.1 </a:t>
            </a:r>
          </a:p>
          <a:p>
            <a:r>
              <a:rPr lang="en-US" sz="1800">
                <a:latin typeface="Courier New" pitchFamily="49" charset="0"/>
              </a:rPr>
              <a:t>Source filename []? wgroa.cfg </a:t>
            </a:r>
          </a:p>
          <a:p>
            <a:r>
              <a:rPr lang="en-US" sz="1800">
                <a:latin typeface="Courier New" pitchFamily="49" charset="0"/>
              </a:rPr>
              <a:t>Destination filename [running-config]?  </a:t>
            </a:r>
          </a:p>
          <a:p>
            <a:r>
              <a:rPr lang="en-US" sz="1800">
                <a:latin typeface="Courier New" pitchFamily="49" charset="0"/>
              </a:rPr>
              <a:t>Accessing tftp://10.1.1.1/wgroa.cfg... </a:t>
            </a:r>
          </a:p>
          <a:p>
            <a:r>
              <a:rPr lang="en-US" sz="1800">
                <a:latin typeface="Courier New" pitchFamily="49" charset="0"/>
              </a:rPr>
              <a:t>Loading wgroa.cfg from 10.1.1.1 (via Ethernet0): !</a:t>
            </a:r>
          </a:p>
          <a:p>
            <a:r>
              <a:rPr lang="en-US" sz="1800">
                <a:latin typeface="Courier New" pitchFamily="49" charset="0"/>
              </a:rPr>
              <a:t>[OK - 1684/3072 bytes]</a:t>
            </a:r>
          </a:p>
          <a:p>
            <a:endParaRPr lang="en-US" sz="1800">
              <a:latin typeface="Courier New" pitchFamily="49" charset="0"/>
            </a:endParaRPr>
          </a:p>
          <a:p>
            <a:r>
              <a:rPr lang="en-US" sz="1800">
                <a:latin typeface="Courier New" pitchFamily="49" charset="0"/>
              </a:rPr>
              <a:t>1684 bytes copied in 17.692 secs (99 bytes/sec)</a:t>
            </a:r>
          </a:p>
        </p:txBody>
      </p:sp>
    </p:spTree>
    <p:extLst>
      <p:ext uri="{BB962C8B-B14F-4D97-AF65-F5344CB8AC3E}">
        <p14:creationId xmlns:p14="http://schemas.microsoft.com/office/powerpoint/2010/main" val="20978231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r>
              <a:rPr lang="en-US" b="0"/>
              <a:t>show</a:t>
            </a:r>
            <a:r>
              <a:rPr lang="en-US"/>
              <a:t> and </a:t>
            </a:r>
            <a:r>
              <a:rPr lang="en-US" b="0"/>
              <a:t>debug</a:t>
            </a:r>
            <a:r>
              <a:rPr lang="en-US"/>
              <a:t> Commands</a:t>
            </a:r>
          </a:p>
        </p:txBody>
      </p:sp>
      <p:pic>
        <p:nvPicPr>
          <p:cNvPr id="356355" name="Picture 3" descr="022P_2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8" y="2368550"/>
            <a:ext cx="8556625" cy="2544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8430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r>
              <a:rPr lang="en-US">
                <a:cs typeface="Times New Roman" pitchFamily="18" charset="0"/>
              </a:rPr>
              <a:t>Considerations When Using </a:t>
            </a:r>
            <a:r>
              <a:rPr lang="en-US" b="0">
                <a:cs typeface="Times New Roman" pitchFamily="18" charset="0"/>
              </a:rPr>
              <a:t>debug </a:t>
            </a:r>
            <a:r>
              <a:rPr lang="en-US">
                <a:cs typeface="Times New Roman" pitchFamily="18" charset="0"/>
              </a:rPr>
              <a:t>Commands</a:t>
            </a:r>
            <a:r>
              <a:rPr lang="en-US"/>
              <a:t> </a:t>
            </a:r>
          </a:p>
        </p:txBody>
      </p:sp>
      <p:sp>
        <p:nvSpPr>
          <p:cNvPr id="358403" name="Rectangle 3"/>
          <p:cNvSpPr>
            <a:spLocks noChangeArrowheads="1"/>
          </p:cNvSpPr>
          <p:nvPr/>
        </p:nvSpPr>
        <p:spPr bwMode="auto">
          <a:xfrm>
            <a:off x="455613" y="1965325"/>
            <a:ext cx="8224837"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1" tIns="41059" rIns="82121" bIns="41059" anchor="ctr" anchorCtr="1"/>
          <a:lstStyle/>
          <a:p>
            <a:pPr marL="342900" lvl="1" indent="-228600" defTabSz="814388">
              <a:lnSpc>
                <a:spcPct val="95000"/>
              </a:lnSpc>
              <a:spcBef>
                <a:spcPct val="35000"/>
              </a:spcBef>
              <a:buClr>
                <a:schemeClr val="folHlink"/>
              </a:buClr>
              <a:buFontTx/>
              <a:buChar char="•"/>
            </a:pPr>
            <a:endParaRPr lang="en-US" sz="2600"/>
          </a:p>
        </p:txBody>
      </p:sp>
      <p:sp>
        <p:nvSpPr>
          <p:cNvPr id="358404" name="Rectangle 4"/>
          <p:cNvSpPr>
            <a:spLocks noGrp="1" noChangeArrowheads="1"/>
          </p:cNvSpPr>
          <p:nvPr>
            <p:ph type="body" idx="1"/>
          </p:nvPr>
        </p:nvSpPr>
        <p:spPr/>
        <p:txBody>
          <a:bodyPr/>
          <a:lstStyle/>
          <a:p>
            <a:pPr lvl="1"/>
            <a:r>
              <a:rPr lang="en-US"/>
              <a:t>May generate output in a variety of formats that may not identify the problem</a:t>
            </a:r>
          </a:p>
          <a:p>
            <a:pPr lvl="1"/>
            <a:r>
              <a:rPr lang="en-US"/>
              <a:t>Require high overhead, possibly disrupting network device operation</a:t>
            </a:r>
          </a:p>
          <a:p>
            <a:pPr lvl="1"/>
            <a:r>
              <a:rPr lang="en-US">
                <a:cs typeface="Times New Roman" pitchFamily="18" charset="0"/>
              </a:rPr>
              <a:t>Useful for obtaining information about network traffic and router status</a:t>
            </a:r>
            <a:endParaRPr lang="en-US"/>
          </a:p>
        </p:txBody>
      </p:sp>
    </p:spTree>
    <p:extLst>
      <p:ext uri="{BB962C8B-B14F-4D97-AF65-F5344CB8AC3E}">
        <p14:creationId xmlns:p14="http://schemas.microsoft.com/office/powerpoint/2010/main" val="6027035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r>
              <a:rPr lang="en-US"/>
              <a:t>Commands Related to </a:t>
            </a:r>
            <a:r>
              <a:rPr lang="en-US" b="0"/>
              <a:t>debug</a:t>
            </a:r>
          </a:p>
        </p:txBody>
      </p:sp>
      <p:sp>
        <p:nvSpPr>
          <p:cNvPr id="371715" name="Rectangle 3"/>
          <p:cNvSpPr>
            <a:spLocks noChangeArrowheads="1"/>
          </p:cNvSpPr>
          <p:nvPr/>
        </p:nvSpPr>
        <p:spPr bwMode="auto">
          <a:xfrm>
            <a:off x="457200" y="1982788"/>
            <a:ext cx="8077200" cy="395287"/>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tabLst>
                <a:tab pos="7654925" algn="r"/>
              </a:tabLst>
            </a:pPr>
            <a:r>
              <a:rPr lang="en-US" sz="1800">
                <a:latin typeface="Courier New" pitchFamily="49" charset="0"/>
              </a:rPr>
              <a:t>service timestamps debug datetime msec 	</a:t>
            </a:r>
            <a:endParaRPr lang="en-GB" sz="1800">
              <a:latin typeface="Courier New" pitchFamily="49" charset="0"/>
            </a:endParaRPr>
          </a:p>
        </p:txBody>
      </p:sp>
      <p:sp>
        <p:nvSpPr>
          <p:cNvPr id="371716" name="Rectangle 4"/>
          <p:cNvSpPr>
            <a:spLocks noChangeArrowheads="1"/>
          </p:cNvSpPr>
          <p:nvPr/>
        </p:nvSpPr>
        <p:spPr bwMode="auto">
          <a:xfrm>
            <a:off x="381000" y="1601788"/>
            <a:ext cx="4848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spcBef>
                <a:spcPct val="20000"/>
              </a:spcBef>
            </a:pPr>
            <a:r>
              <a:rPr lang="en-GB" sz="1600">
                <a:latin typeface="Courier New" pitchFamily="49" charset="0"/>
              </a:rPr>
              <a:t>RouteX(config)#</a:t>
            </a:r>
          </a:p>
        </p:txBody>
      </p:sp>
      <p:sp>
        <p:nvSpPr>
          <p:cNvPr id="371717" name="Text Box 5"/>
          <p:cNvSpPr txBox="1">
            <a:spLocks noChangeArrowheads="1"/>
          </p:cNvSpPr>
          <p:nvPr/>
        </p:nvSpPr>
        <p:spPr bwMode="auto">
          <a:xfrm>
            <a:off x="458788" y="2439988"/>
            <a:ext cx="8228012"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38100" algn="ctr">
                <a:solidFill>
                  <a:schemeClr val="accent2"/>
                </a:solidFill>
                <a:miter lim="800000"/>
                <a:headEnd/>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marL="225425" indent="-225425">
              <a:defRPr sz="2400">
                <a:solidFill>
                  <a:schemeClr val="tx1"/>
                </a:solidFill>
                <a:latin typeface="Times" pitchFamily="18" charset="0"/>
              </a:defRPr>
            </a:lvl1pPr>
            <a:lvl2pPr>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nSpc>
                <a:spcPct val="100000"/>
              </a:lnSpc>
              <a:buClr>
                <a:schemeClr val="accent1"/>
              </a:buClr>
              <a:buFont typeface="Wingdings" pitchFamily="2" charset="2"/>
              <a:buChar char="§"/>
            </a:pPr>
            <a:r>
              <a:rPr lang="en-US" sz="1800" b="0">
                <a:latin typeface="Arial" charset="0"/>
              </a:rPr>
              <a:t>Adds a time stamp to a debug or log message </a:t>
            </a:r>
          </a:p>
        </p:txBody>
      </p:sp>
      <p:sp>
        <p:nvSpPr>
          <p:cNvPr id="371718" name="Rectangle 6"/>
          <p:cNvSpPr>
            <a:spLocks noChangeArrowheads="1"/>
          </p:cNvSpPr>
          <p:nvPr/>
        </p:nvSpPr>
        <p:spPr bwMode="auto">
          <a:xfrm>
            <a:off x="457200" y="4433888"/>
            <a:ext cx="8077200" cy="395287"/>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tabLst>
                <a:tab pos="7654925" algn="r"/>
              </a:tabLst>
            </a:pPr>
            <a:r>
              <a:rPr lang="en-US" sz="1800">
                <a:latin typeface="Courier New" pitchFamily="49" charset="0"/>
              </a:rPr>
              <a:t>no debug all	</a:t>
            </a:r>
            <a:endParaRPr lang="en-GB" sz="1800">
              <a:latin typeface="Courier New" pitchFamily="49" charset="0"/>
            </a:endParaRPr>
          </a:p>
        </p:txBody>
      </p:sp>
      <p:sp>
        <p:nvSpPr>
          <p:cNvPr id="371719" name="Rectangle 7"/>
          <p:cNvSpPr>
            <a:spLocks noChangeArrowheads="1"/>
          </p:cNvSpPr>
          <p:nvPr/>
        </p:nvSpPr>
        <p:spPr bwMode="auto">
          <a:xfrm>
            <a:off x="381000" y="4052888"/>
            <a:ext cx="4772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spcBef>
                <a:spcPct val="20000"/>
              </a:spcBef>
            </a:pPr>
            <a:r>
              <a:rPr lang="en-GB" sz="1600">
                <a:latin typeface="Courier New" pitchFamily="49" charset="0"/>
              </a:rPr>
              <a:t>RouteX#</a:t>
            </a:r>
          </a:p>
        </p:txBody>
      </p:sp>
      <p:sp>
        <p:nvSpPr>
          <p:cNvPr id="371720" name="Text Box 8"/>
          <p:cNvSpPr txBox="1">
            <a:spLocks noChangeArrowheads="1"/>
          </p:cNvSpPr>
          <p:nvPr/>
        </p:nvSpPr>
        <p:spPr bwMode="auto">
          <a:xfrm>
            <a:off x="457200" y="4916488"/>
            <a:ext cx="8151813"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38100" algn="ctr">
                <a:solidFill>
                  <a:schemeClr val="accent2"/>
                </a:solidFill>
                <a:miter lim="800000"/>
                <a:headEnd/>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marL="225425" indent="-225425">
              <a:defRPr sz="2400">
                <a:solidFill>
                  <a:schemeClr val="tx1"/>
                </a:solidFill>
                <a:latin typeface="Times" pitchFamily="18" charset="0"/>
              </a:defRPr>
            </a:lvl1pPr>
            <a:lvl2pPr>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nSpc>
                <a:spcPct val="100000"/>
              </a:lnSpc>
              <a:buClr>
                <a:schemeClr val="accent1"/>
              </a:buClr>
              <a:buFont typeface="Wingdings" pitchFamily="2" charset="2"/>
              <a:buChar char="§"/>
            </a:pPr>
            <a:r>
              <a:rPr lang="en-US" sz="1800" b="0">
                <a:latin typeface="Arial" charset="0"/>
              </a:rPr>
              <a:t>Disables all </a:t>
            </a:r>
            <a:r>
              <a:rPr lang="en-US" sz="1800">
                <a:latin typeface="Arial" charset="0"/>
              </a:rPr>
              <a:t>debug</a:t>
            </a:r>
            <a:r>
              <a:rPr lang="en-US" sz="1800" b="0">
                <a:latin typeface="Arial" charset="0"/>
              </a:rPr>
              <a:t> commands</a:t>
            </a:r>
          </a:p>
        </p:txBody>
      </p:sp>
      <p:sp>
        <p:nvSpPr>
          <p:cNvPr id="371721" name="Rectangle 9"/>
          <p:cNvSpPr>
            <a:spLocks noChangeArrowheads="1"/>
          </p:cNvSpPr>
          <p:nvPr/>
        </p:nvSpPr>
        <p:spPr bwMode="auto">
          <a:xfrm>
            <a:off x="457200" y="3151188"/>
            <a:ext cx="8081963" cy="395287"/>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tabLst>
                <a:tab pos="7654925" algn="r"/>
              </a:tabLst>
            </a:pPr>
            <a:r>
              <a:rPr lang="en-US" sz="1800">
                <a:latin typeface="Courier New" pitchFamily="49" charset="0"/>
              </a:rPr>
              <a:t>show processes	</a:t>
            </a:r>
            <a:endParaRPr lang="en-GB" sz="1800">
              <a:latin typeface="Courier New" pitchFamily="49" charset="0"/>
            </a:endParaRPr>
          </a:p>
        </p:txBody>
      </p:sp>
      <p:sp>
        <p:nvSpPr>
          <p:cNvPr id="371722" name="Rectangle 10"/>
          <p:cNvSpPr>
            <a:spLocks noChangeArrowheads="1"/>
          </p:cNvSpPr>
          <p:nvPr/>
        </p:nvSpPr>
        <p:spPr bwMode="auto">
          <a:xfrm>
            <a:off x="381000" y="2738438"/>
            <a:ext cx="4848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spcBef>
                <a:spcPct val="20000"/>
              </a:spcBef>
            </a:pPr>
            <a:r>
              <a:rPr lang="en-GB" sz="1600">
                <a:latin typeface="Courier New" pitchFamily="49" charset="0"/>
              </a:rPr>
              <a:t>RouteX#</a:t>
            </a:r>
          </a:p>
        </p:txBody>
      </p:sp>
      <p:sp>
        <p:nvSpPr>
          <p:cNvPr id="371723" name="Text Box 11"/>
          <p:cNvSpPr txBox="1">
            <a:spLocks noChangeArrowheads="1"/>
          </p:cNvSpPr>
          <p:nvPr/>
        </p:nvSpPr>
        <p:spPr bwMode="auto">
          <a:xfrm>
            <a:off x="457200" y="3595688"/>
            <a:ext cx="8151813"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38100" algn="ctr">
                <a:solidFill>
                  <a:schemeClr val="accent2"/>
                </a:solidFill>
                <a:miter lim="800000"/>
                <a:headEnd/>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marL="225425" indent="-225425">
              <a:defRPr sz="2400">
                <a:solidFill>
                  <a:schemeClr val="tx1"/>
                </a:solidFill>
                <a:latin typeface="Times" pitchFamily="18" charset="0"/>
              </a:defRPr>
            </a:lvl1pPr>
            <a:lvl2pPr>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nSpc>
                <a:spcPct val="100000"/>
              </a:lnSpc>
              <a:buClr>
                <a:schemeClr val="accent1"/>
              </a:buClr>
              <a:buFont typeface="Wingdings" pitchFamily="2" charset="2"/>
              <a:buChar char="§"/>
            </a:pPr>
            <a:r>
              <a:rPr lang="en-US" sz="1800" b="0">
                <a:latin typeface="Arial" charset="0"/>
              </a:rPr>
              <a:t>Displays the CPU utilization for each process </a:t>
            </a:r>
          </a:p>
        </p:txBody>
      </p:sp>
      <p:sp>
        <p:nvSpPr>
          <p:cNvPr id="371724" name="Rectangle 12"/>
          <p:cNvSpPr>
            <a:spLocks noChangeArrowheads="1"/>
          </p:cNvSpPr>
          <p:nvPr/>
        </p:nvSpPr>
        <p:spPr bwMode="auto">
          <a:xfrm>
            <a:off x="381000" y="5348288"/>
            <a:ext cx="4848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spcBef>
                <a:spcPct val="20000"/>
              </a:spcBef>
            </a:pPr>
            <a:r>
              <a:rPr lang="en-GB" sz="1600">
                <a:latin typeface="Courier New" pitchFamily="49" charset="0"/>
              </a:rPr>
              <a:t>RouteX#</a:t>
            </a:r>
          </a:p>
        </p:txBody>
      </p:sp>
      <p:sp>
        <p:nvSpPr>
          <p:cNvPr id="371725" name="Rectangle 13"/>
          <p:cNvSpPr>
            <a:spLocks noChangeArrowheads="1"/>
          </p:cNvSpPr>
          <p:nvPr/>
        </p:nvSpPr>
        <p:spPr bwMode="auto">
          <a:xfrm>
            <a:off x="457200" y="5729288"/>
            <a:ext cx="8077200" cy="395287"/>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tabLst>
                <a:tab pos="7654925" algn="r"/>
              </a:tabLst>
            </a:pPr>
            <a:r>
              <a:rPr lang="en-US" sz="1800">
                <a:latin typeface="Courier New" pitchFamily="49" charset="0"/>
              </a:rPr>
              <a:t>terminal monitor	</a:t>
            </a:r>
            <a:endParaRPr lang="en-GB" sz="1800">
              <a:latin typeface="Courier New" pitchFamily="49" charset="0"/>
            </a:endParaRPr>
          </a:p>
        </p:txBody>
      </p:sp>
      <p:sp>
        <p:nvSpPr>
          <p:cNvPr id="371726" name="Text Box 14"/>
          <p:cNvSpPr txBox="1">
            <a:spLocks noChangeArrowheads="1"/>
          </p:cNvSpPr>
          <p:nvPr/>
        </p:nvSpPr>
        <p:spPr bwMode="auto">
          <a:xfrm>
            <a:off x="381000" y="6186488"/>
            <a:ext cx="8228013" cy="36671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38100" algn="ctr">
                <a:solidFill>
                  <a:schemeClr val="accent2"/>
                </a:solidFill>
                <a:miter lim="800000"/>
                <a:headEnd/>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marL="225425" indent="-225425">
              <a:defRPr sz="2400">
                <a:solidFill>
                  <a:schemeClr val="tx1"/>
                </a:solidFill>
                <a:latin typeface="Times" pitchFamily="18" charset="0"/>
              </a:defRPr>
            </a:lvl1pPr>
            <a:lvl2pPr>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nSpc>
                <a:spcPct val="100000"/>
              </a:lnSpc>
              <a:buClr>
                <a:schemeClr val="accent1"/>
              </a:buClr>
              <a:buFont typeface="Wingdings" pitchFamily="2" charset="2"/>
              <a:buChar char="§"/>
            </a:pPr>
            <a:r>
              <a:rPr lang="en-US" sz="1800" b="0">
                <a:latin typeface="Arial" charset="0"/>
              </a:rPr>
              <a:t>Displays debug output on your current vty session</a:t>
            </a:r>
          </a:p>
        </p:txBody>
      </p:sp>
    </p:spTree>
    <p:extLst>
      <p:ext uri="{BB962C8B-B14F-4D97-AF65-F5344CB8AC3E}">
        <p14:creationId xmlns:p14="http://schemas.microsoft.com/office/powerpoint/2010/main" val="7442472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p:txBody>
          <a:bodyPr/>
          <a:lstStyle/>
          <a:p>
            <a:r>
              <a:rPr lang="en-US"/>
              <a:t>Summary</a:t>
            </a:r>
          </a:p>
        </p:txBody>
      </p:sp>
      <p:sp>
        <p:nvSpPr>
          <p:cNvPr id="688134" name="Rectangle 6"/>
          <p:cNvSpPr>
            <a:spLocks noGrp="1" noChangeArrowheads="1"/>
          </p:cNvSpPr>
          <p:nvPr>
            <p:ph type="body" idx="1"/>
          </p:nvPr>
        </p:nvSpPr>
        <p:spPr/>
        <p:txBody>
          <a:bodyPr/>
          <a:lstStyle/>
          <a:p>
            <a:pPr lvl="1"/>
            <a:r>
              <a:rPr lang="en-US"/>
              <a:t>Cisco IOS software is the embedded software architecture in all Cisco IOS devices and is also the operating system of Catalyst switches. Its functions include carrying the chosen network protocols, connectivity, security, scalability, and reliability.</a:t>
            </a:r>
          </a:p>
          <a:p>
            <a:pPr lvl="1"/>
            <a:r>
              <a:rPr lang="en-US"/>
              <a:t>A switch or IOS device can be configured from a local terminal connected to the console port or from a remote terminal connected via a modem connection to the auxiliary port.</a:t>
            </a:r>
          </a:p>
          <a:p>
            <a:pPr lvl="1"/>
            <a:r>
              <a:rPr lang="en-US"/>
              <a:t>The CLI is used by network administrators to monitor and configure various Cisco IOS devices. CLI also offers a help facility to aid network administrators with the verification and configuration commands.</a:t>
            </a:r>
          </a:p>
          <a:p>
            <a:pPr lvl="1">
              <a:buFont typeface="Wingdings" pitchFamily="2" charset="2"/>
              <a:buNone/>
            </a:pP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p:txBody>
          <a:bodyPr/>
          <a:lstStyle/>
          <a:p>
            <a:r>
              <a:rPr lang="en-US"/>
              <a:t>Summary (Cont.)</a:t>
            </a:r>
          </a:p>
        </p:txBody>
      </p:sp>
      <p:sp>
        <p:nvSpPr>
          <p:cNvPr id="713732" name="Rectangle 4"/>
          <p:cNvSpPr>
            <a:spLocks noGrp="1" noChangeArrowheads="1"/>
          </p:cNvSpPr>
          <p:nvPr>
            <p:ph type="body" idx="1"/>
          </p:nvPr>
        </p:nvSpPr>
        <p:spPr/>
        <p:txBody>
          <a:bodyPr/>
          <a:lstStyle/>
          <a:p>
            <a:pPr lvl="1">
              <a:lnSpc>
                <a:spcPct val="85000"/>
              </a:lnSpc>
            </a:pPr>
            <a:r>
              <a:rPr lang="en-US"/>
              <a:t>The CLI supports two EXEC modes: user and privileged. The privileged EXEC mode provides more functionality than the user EXEC mode.</a:t>
            </a:r>
          </a:p>
          <a:p>
            <a:pPr lvl="1">
              <a:lnSpc>
                <a:spcPct val="85000"/>
              </a:lnSpc>
            </a:pPr>
            <a:r>
              <a:rPr lang="en-US"/>
              <a:t>The Cisco IOS devices uses Cisco IOS software with extensive command-line input help facilities, including context-sensitive help.</a:t>
            </a:r>
          </a:p>
          <a:p>
            <a:pPr lvl="1">
              <a:lnSpc>
                <a:spcPct val="85000"/>
              </a:lnSpc>
            </a:pPr>
            <a:r>
              <a:rPr lang="en-US"/>
              <a:t>The Cisco IOS CLI includes an enhanced editing mode that provides a set of editing key functions.</a:t>
            </a:r>
          </a:p>
          <a:p>
            <a:pPr lvl="1">
              <a:lnSpc>
                <a:spcPct val="85000"/>
              </a:lnSpc>
            </a:pPr>
            <a:r>
              <a:rPr lang="en-US"/>
              <a:t>The Cisco IOS devices CLI provides a history or record of commands that have been entered. This feature, called the command history, is particularly useful to help recall long or complex commands or entries.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1378" name="Group 2"/>
          <p:cNvGrpSpPr>
            <a:grpSpLocks/>
          </p:cNvGrpSpPr>
          <p:nvPr/>
        </p:nvGrpSpPr>
        <p:grpSpPr bwMode="auto">
          <a:xfrm>
            <a:off x="0" y="0"/>
            <a:ext cx="9144000" cy="4383088"/>
            <a:chOff x="0" y="0"/>
            <a:chExt cx="5760" cy="2761"/>
          </a:xfrm>
        </p:grpSpPr>
        <p:grpSp>
          <p:nvGrpSpPr>
            <p:cNvPr id="741379" name="Group 3"/>
            <p:cNvGrpSpPr>
              <a:grpSpLocks/>
            </p:cNvGrpSpPr>
            <p:nvPr/>
          </p:nvGrpSpPr>
          <p:grpSpPr bwMode="auto">
            <a:xfrm>
              <a:off x="1727" y="1485"/>
              <a:ext cx="2400" cy="1276"/>
              <a:chOff x="3272" y="1316"/>
              <a:chExt cx="1889" cy="1002"/>
            </a:xfrm>
          </p:grpSpPr>
          <p:sp>
            <p:nvSpPr>
              <p:cNvPr id="741380" name="AutoShape 4"/>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41381" name="Rectangle 5"/>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41382" name="Freeform 6"/>
              <p:cNvSpPr>
                <a:spLocks/>
              </p:cNvSpPr>
              <p:nvPr/>
            </p:nvSpPr>
            <p:spPr bwMode="auto">
              <a:xfrm>
                <a:off x="4304"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3" name="Freeform 7"/>
              <p:cNvSpPr>
                <a:spLocks/>
              </p:cNvSpPr>
              <p:nvPr/>
            </p:nvSpPr>
            <p:spPr bwMode="auto">
              <a:xfrm>
                <a:off x="3443"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4" name="Freeform 8"/>
              <p:cNvSpPr>
                <a:spLocks noEditPoints="1"/>
              </p:cNvSpPr>
              <p:nvPr/>
            </p:nvSpPr>
            <p:spPr bwMode="auto">
              <a:xfrm>
                <a:off x="4643" y="1971"/>
                <a:ext cx="342" cy="343"/>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5" name="Freeform 9"/>
              <p:cNvSpPr>
                <a:spLocks/>
              </p:cNvSpPr>
              <p:nvPr/>
            </p:nvSpPr>
            <p:spPr bwMode="auto">
              <a:xfrm>
                <a:off x="4000" y="1971"/>
                <a:ext cx="223" cy="343"/>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6" name="Freeform 10"/>
              <p:cNvSpPr>
                <a:spLocks/>
              </p:cNvSpPr>
              <p:nvPr/>
            </p:nvSpPr>
            <p:spPr bwMode="auto">
              <a:xfrm>
                <a:off x="3272" y="1586"/>
                <a:ext cx="81" cy="167"/>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7" name="Freeform 11"/>
              <p:cNvSpPr>
                <a:spLocks/>
              </p:cNvSpPr>
              <p:nvPr/>
            </p:nvSpPr>
            <p:spPr bwMode="auto">
              <a:xfrm>
                <a:off x="349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8" name="Freeform 12"/>
              <p:cNvSpPr>
                <a:spLocks/>
              </p:cNvSpPr>
              <p:nvPr/>
            </p:nvSpPr>
            <p:spPr bwMode="auto">
              <a:xfrm>
                <a:off x="3722" y="1320"/>
                <a:ext cx="81" cy="514"/>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89" name="Freeform 13"/>
              <p:cNvSpPr>
                <a:spLocks/>
              </p:cNvSpPr>
              <p:nvPr/>
            </p:nvSpPr>
            <p:spPr bwMode="auto">
              <a:xfrm>
                <a:off x="394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90" name="Freeform 14"/>
              <p:cNvSpPr>
                <a:spLocks/>
              </p:cNvSpPr>
              <p:nvPr/>
            </p:nvSpPr>
            <p:spPr bwMode="auto">
              <a:xfrm>
                <a:off x="4171" y="1586"/>
                <a:ext cx="86" cy="167"/>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91" name="Freeform 15"/>
              <p:cNvSpPr>
                <a:spLocks/>
              </p:cNvSpPr>
              <p:nvPr/>
            </p:nvSpPr>
            <p:spPr bwMode="auto">
              <a:xfrm>
                <a:off x="439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92" name="Freeform 16"/>
              <p:cNvSpPr>
                <a:spLocks/>
              </p:cNvSpPr>
              <p:nvPr/>
            </p:nvSpPr>
            <p:spPr bwMode="auto">
              <a:xfrm>
                <a:off x="4625" y="1320"/>
                <a:ext cx="82" cy="514"/>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93" name="Freeform 17"/>
              <p:cNvSpPr>
                <a:spLocks/>
              </p:cNvSpPr>
              <p:nvPr/>
            </p:nvSpPr>
            <p:spPr bwMode="auto">
              <a:xfrm>
                <a:off x="484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1394" name="Freeform 18"/>
              <p:cNvSpPr>
                <a:spLocks/>
              </p:cNvSpPr>
              <p:nvPr/>
            </p:nvSpPr>
            <p:spPr bwMode="auto">
              <a:xfrm>
                <a:off x="5075" y="1586"/>
                <a:ext cx="82" cy="167"/>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41395" name="Rectangle 19"/>
            <p:cNvSpPr>
              <a:spLocks noChangeArrowheads="1"/>
            </p:cNvSpPr>
            <p:nvPr/>
          </p:nvSpPr>
          <p:spPr bwMode="auto">
            <a:xfrm>
              <a:off x="0" y="0"/>
              <a:ext cx="5760" cy="432"/>
            </a:xfrm>
            <a:prstGeom prst="rect">
              <a:avLst/>
            </a:prstGeom>
            <a:solidFill>
              <a:srgbClr val="FFFFFF"/>
            </a:solidFill>
            <a:ln>
              <a:noFill/>
            </a:ln>
            <a:effectLst/>
            <a:extLst>
              <a:ext uri="{91240B29-F687-4F45-9708-019B960494DF}">
                <a14:hiddenLine xmlns:a14="http://schemas.microsoft.com/office/drawing/2010/main" w="9525" algn="ctr">
                  <a:solidFill>
                    <a:srgbClr val="4798AB"/>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gr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584</TotalTime>
  <Pages>28</Pages>
  <Words>4294</Words>
  <Application>Microsoft Office PowerPoint</Application>
  <PresentationFormat>On-screen Show (4:3)</PresentationFormat>
  <Paragraphs>341</Paragraphs>
  <Slides>45</Slides>
  <Notes>34</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TMP-DEV-PPT-v8.1</vt:lpstr>
      <vt:lpstr>Ethernet LANs</vt:lpstr>
      <vt:lpstr>PowerPoint Presentation</vt:lpstr>
      <vt:lpstr>Cisco IOS Software</vt:lpstr>
      <vt:lpstr>Configuring Network Devices</vt:lpstr>
      <vt:lpstr>An Overview of Cisco Device Startup</vt:lpstr>
      <vt:lpstr>External Configuration Sources</vt:lpstr>
      <vt:lpstr>Cisco IOS User Interface Functions</vt:lpstr>
      <vt:lpstr>Cisco IOS Software EXEC Mode (User)</vt:lpstr>
      <vt:lpstr>Cisco IOS Software EXEC Mode (Privileged)</vt:lpstr>
      <vt:lpstr>Switch Command-Line Help Facilities</vt:lpstr>
      <vt:lpstr>Context-Sensitive Help</vt:lpstr>
      <vt:lpstr>Context-Sensitive Help (Cont.)</vt:lpstr>
      <vt:lpstr>Enhanced Editing Commands</vt:lpstr>
      <vt:lpstr>Enhanced Editing Commands (Cont.)</vt:lpstr>
      <vt:lpstr>Router Command History</vt:lpstr>
      <vt:lpstr>Viewing the Configuration</vt:lpstr>
      <vt:lpstr>show running-config and show startup-config Commands</vt:lpstr>
      <vt:lpstr>LAN Connections </vt:lpstr>
      <vt:lpstr>Cisco Router and Security Device  Manager</vt:lpstr>
      <vt:lpstr>PowerPoint Presentation</vt:lpstr>
      <vt:lpstr>What Is Cisco SDM?</vt:lpstr>
      <vt:lpstr>Supported Cisco Routers and Cisco IOS Software Releases</vt:lpstr>
      <vt:lpstr>Configuring Your Router to Support SDM </vt:lpstr>
      <vt:lpstr>SDM Startup</vt:lpstr>
      <vt:lpstr>PowerPoint Presentation</vt:lpstr>
      <vt:lpstr>Cisco SDM Main Window Layout and Navigation</vt:lpstr>
      <vt:lpstr>PowerPoint Presentation</vt:lpstr>
      <vt:lpstr>Cisco SDM Wizards</vt:lpstr>
      <vt:lpstr>PowerPoint Presentation</vt:lpstr>
      <vt:lpstr>Network Environment Management </vt:lpstr>
      <vt:lpstr>Cisco IOS File System and Devices</vt:lpstr>
      <vt:lpstr>Managing Cisco IOS Images</vt:lpstr>
      <vt:lpstr>Verifying Memory and Deciphering Image Filenames</vt:lpstr>
      <vt:lpstr>Creating a Software Image Backup</vt:lpstr>
      <vt:lpstr>Upgrading the Image from the Network</vt:lpstr>
      <vt:lpstr>Device Configuration Files</vt:lpstr>
      <vt:lpstr>Cisco IOS copy Command</vt:lpstr>
      <vt:lpstr>Cisco IOS copy Command Example</vt:lpstr>
      <vt:lpstr>copy run tftp and copy tftp run Commands</vt:lpstr>
      <vt:lpstr>show and debug Commands</vt:lpstr>
      <vt:lpstr>Considerations When Using debug Commands </vt:lpstr>
      <vt:lpstr>Commands Related to debug</vt:lpstr>
      <vt:lpstr>Summary</vt:lpstr>
      <vt:lpstr>Summary (Cont.)</vt:lpstr>
      <vt:lpstr>PowerPoint Presentation</vt:lpstr>
    </vt:vector>
  </TitlesOfParts>
  <Company>ILSG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This Template</dc:title>
  <dc:subject>Guide for Creating Powerpoint Presentations</dc:subject>
  <dc:creator>ILSG</dc:creator>
  <cp:lastModifiedBy>atpservices@hotmail.com</cp:lastModifiedBy>
  <cp:revision>60</cp:revision>
  <cp:lastPrinted>1999-01-27T00:54:54Z</cp:lastPrinted>
  <dcterms:created xsi:type="dcterms:W3CDTF">2004-02-20T05:09:17Z</dcterms:created>
  <dcterms:modified xsi:type="dcterms:W3CDTF">2013-09-03T17:26:14Z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enita Bangloy">
    <vt:lpwstr>12.21.01 - Copyright date changed to 2002</vt:lpwstr>
  </property>
  <property fmtid="{D5CDD505-2E9C-101B-9397-08002B2CF9AE}" pid="3" name="Jenita ">
    <vt:lpwstr>12.21.01 - Line tool now defaults to 3 points size and black color. Previous version created white line which is not visible</vt:lpwstr>
  </property>
  <property fmtid="{D5CDD505-2E9C-101B-9397-08002B2CF9AE}" pid="4" name="JBangloy">
    <vt:lpwstr>12.21.01 - All remaining Helvetica changed to Arial</vt:lpwstr>
  </property>
</Properties>
</file>