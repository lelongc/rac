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7" r:id="rId1"/>
    <p:sldMasterId id="2147483938" r:id="rId2"/>
  </p:sldMasterIdLst>
  <p:notesMasterIdLst>
    <p:notesMasterId r:id="rId35"/>
  </p:notesMasterIdLst>
  <p:sldIdLst>
    <p:sldId id="444" r:id="rId3"/>
    <p:sldId id="330" r:id="rId4"/>
    <p:sldId id="329" r:id="rId5"/>
    <p:sldId id="335" r:id="rId6"/>
    <p:sldId id="451" r:id="rId7"/>
    <p:sldId id="336" r:id="rId8"/>
    <p:sldId id="338" r:id="rId9"/>
    <p:sldId id="406" r:id="rId10"/>
    <p:sldId id="439" r:id="rId11"/>
    <p:sldId id="407" r:id="rId12"/>
    <p:sldId id="452" r:id="rId13"/>
    <p:sldId id="339" r:id="rId14"/>
    <p:sldId id="408" r:id="rId15"/>
    <p:sldId id="409" r:id="rId16"/>
    <p:sldId id="410" r:id="rId17"/>
    <p:sldId id="411" r:id="rId18"/>
    <p:sldId id="412" r:id="rId19"/>
    <p:sldId id="453" r:id="rId20"/>
    <p:sldId id="344" r:id="rId21"/>
    <p:sldId id="415" r:id="rId22"/>
    <p:sldId id="435" r:id="rId23"/>
    <p:sldId id="459" r:id="rId24"/>
    <p:sldId id="460" r:id="rId25"/>
    <p:sldId id="461" r:id="rId26"/>
    <p:sldId id="462" r:id="rId27"/>
    <p:sldId id="463" r:id="rId28"/>
    <p:sldId id="464" r:id="rId29"/>
    <p:sldId id="351" r:id="rId30"/>
    <p:sldId id="465" r:id="rId31"/>
    <p:sldId id="466" r:id="rId32"/>
    <p:sldId id="467" r:id="rId33"/>
    <p:sldId id="316" r:id="rId34"/>
  </p:sldIdLst>
  <p:sldSz cx="9144000" cy="6858000" type="screen4x3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435153"/>
    <a:srgbClr val="6B6B6B"/>
    <a:srgbClr val="264DAE"/>
    <a:srgbClr val="4ADAD7"/>
    <a:srgbClr val="90A3A6"/>
    <a:srgbClr val="EDDFF5"/>
    <a:srgbClr val="493B93"/>
    <a:srgbClr val="80808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80" autoAdjust="0"/>
    <p:restoredTop sz="94484" autoAdjust="0"/>
  </p:normalViewPr>
  <p:slideViewPr>
    <p:cSldViewPr snapToGrid="0">
      <p:cViewPr varScale="1">
        <p:scale>
          <a:sx n="64" d="100"/>
          <a:sy n="64" d="100"/>
        </p:scale>
        <p:origin x="172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33006-993C-46CE-BE81-A42F2D8A6269}" type="datetimeFigureOut">
              <a:rPr lang="en-US" smtClean="0"/>
              <a:t>03/11/21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49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72CD79-D36A-4E01-AE1C-064887FE9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72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6.2.1.1 Describe</a:t>
            </a:r>
            <a:r>
              <a:rPr lang="en-US" baseline="0" dirty="0"/>
              <a:t> Layer 2 Vulnerabilities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6.2.1.2 Switch Attack Categories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6.2.2.1 Basic Switch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6.2.2.2 CAM Table Operation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6.2.2.3 CAM Table Attack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6.2.2.3 CAM Table Attack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6.2.2.4 CAM</a:t>
            </a:r>
            <a:r>
              <a:rPr lang="en-US" baseline="0" dirty="0"/>
              <a:t> </a:t>
            </a:r>
            <a:r>
              <a:rPr lang="en-US" dirty="0"/>
              <a:t>Attack 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6.2.3.1</a:t>
            </a:r>
            <a:r>
              <a:rPr lang="en-US" baseline="0" dirty="0"/>
              <a:t> Countermeasure for CAM Table Attacks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6.2.3.2</a:t>
            </a:r>
            <a:r>
              <a:rPr lang="en-US" baseline="0" dirty="0"/>
              <a:t> Port Security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6.2.3.3</a:t>
            </a:r>
            <a:r>
              <a:rPr lang="en-US" baseline="0" dirty="0"/>
              <a:t> Enabling Port Security Options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6.2.3.4</a:t>
            </a:r>
            <a:r>
              <a:rPr lang="en-US" baseline="0" dirty="0"/>
              <a:t> Port Security Violations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6.2.3.5</a:t>
            </a:r>
            <a:r>
              <a:rPr lang="en-US" baseline="0" dirty="0"/>
              <a:t> Port Security Aging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6.2.3.6</a:t>
            </a:r>
            <a:r>
              <a:rPr lang="en-US" baseline="0" dirty="0"/>
              <a:t> Port Security with IP Phones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6.2.4.1</a:t>
            </a:r>
            <a:r>
              <a:rPr lang="en-US" baseline="0" dirty="0"/>
              <a:t> VLAN Hopping Attacks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6.2.4.2</a:t>
            </a:r>
            <a:r>
              <a:rPr lang="en-US" baseline="0" dirty="0"/>
              <a:t> VLAN Double-Tagging Attack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6.2.4.3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7126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0113">
              <a:defRPr sz="3000"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0113">
              <a:defRPr sz="3000"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0113">
              <a:defRPr sz="3000"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0113">
              <a:defRPr sz="3000"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0113">
              <a:defRPr sz="3000"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490ACBCD-842B-4478-96D9-D387CED32C5E}" type="slidenum">
              <a:rPr lang="zh-CN" altLang="en-US" sz="1200"/>
              <a:pPr/>
              <a:t>22</a:t>
            </a:fld>
            <a:endParaRPr lang="en-US" altLang="zh-CN" sz="12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04825" y="260350"/>
            <a:ext cx="5634038" cy="4227513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867" y="4638662"/>
            <a:ext cx="5749809" cy="4506720"/>
          </a:xfrm>
          <a:noFill/>
        </p:spPr>
        <p:txBody>
          <a:bodyPr/>
          <a:lstStyle/>
          <a:p>
            <a:pPr eaLnBrk="1" hangingPunct="1"/>
            <a:endParaRPr lang="en-GB" alt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6.2.8.1 </a:t>
            </a:r>
            <a:r>
              <a:rPr lang="en-US" sz="1200" dirty="0"/>
              <a:t>Introduction to the Spanning Tree Protocol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3" y="4464066"/>
            <a:ext cx="3657600" cy="384721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/>
            </a:pPr>
            <a:r>
              <a:rPr lang="en-US" dirty="0"/>
              <a:t>Speaker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algn="l" defTabSz="914400" rtl="0" eaLnBrk="1" latinLnBrk="0" hangingPunct="1">
              <a:lnSpc>
                <a:spcPts val="6200"/>
              </a:lnSpc>
              <a:spcBef>
                <a:spcPct val="0"/>
              </a:spcBef>
              <a:buNone/>
              <a:defRPr lang="en-US" sz="5400" b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pic>
        <p:nvPicPr>
          <p:cNvPr id="44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2068" y="330200"/>
            <a:ext cx="2889136" cy="48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36383" y="4862154"/>
            <a:ext cx="3657600" cy="355482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36382" y="5231003"/>
            <a:ext cx="3657600" cy="297004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2" y="4464066"/>
            <a:ext cx="3657600" cy="384721"/>
          </a:xfr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/>
            </a:pPr>
            <a:r>
              <a:rPr lang="en-US" dirty="0"/>
              <a:t>Speaker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algn="l" defTabSz="914400" rtl="0" eaLnBrk="1" latinLnBrk="0" hangingPunct="1">
              <a:lnSpc>
                <a:spcPts val="6200"/>
              </a:lnSpc>
              <a:spcBef>
                <a:spcPct val="0"/>
              </a:spcBef>
              <a:buNone/>
              <a:defRPr lang="en-US" sz="5400" b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pic>
        <p:nvPicPr>
          <p:cNvPr id="44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2068" y="330200"/>
            <a:ext cx="2889136" cy="48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36383" y="4862154"/>
            <a:ext cx="3657600" cy="355482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36382" y="5231003"/>
            <a:ext cx="3657600" cy="297004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570477232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3" y="4464066"/>
            <a:ext cx="8110728" cy="384175"/>
          </a:xfr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rmAutofit/>
          </a:bodyPr>
          <a:lstStyle>
            <a:lvl1pPr marL="0" indent="0" algn="l">
              <a:buNone/>
              <a:defRPr lang="en-US" sz="2000" kern="1200" dirty="0">
                <a:solidFill>
                  <a:srgbClr val="493B93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Presenter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Goes Here</a:t>
            </a:r>
          </a:p>
        </p:txBody>
      </p:sp>
      <p:pic>
        <p:nvPicPr>
          <p:cNvPr id="51" name="Picture 4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3053" y="325971"/>
            <a:ext cx="2920207" cy="485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36382" y="4862154"/>
            <a:ext cx="8110728" cy="355482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800">
                <a:solidFill>
                  <a:srgbClr val="493B93"/>
                </a:solidFill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36381" y="5231003"/>
            <a:ext cx="8110728" cy="297004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400">
                <a:solidFill>
                  <a:srgbClr val="493B93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77931373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6" y="4712451"/>
            <a:ext cx="8477250" cy="1828800"/>
          </a:xfrm>
          <a:prstGeom prst="rect">
            <a:avLst/>
          </a:prstGeom>
        </p:spPr>
      </p:pic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399142"/>
            <a:ext cx="8548802" cy="4134758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/>
              <a:t>Segue Title Here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7763787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© 2013 Cisco and/or its affiliates. All rights reserved.</a:t>
            </a:r>
          </a:p>
        </p:txBody>
      </p:sp>
      <p:sp>
        <p:nvSpPr>
          <p:cNvPr id="9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6" y="4696378"/>
            <a:ext cx="8477250" cy="1844873"/>
          </a:xfrm>
          <a:prstGeom prst="rect">
            <a:avLst/>
          </a:prstGeom>
        </p:spPr>
      </p:pic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399142"/>
            <a:ext cx="8548802" cy="4134758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/>
              <a:t>Segue Title Here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7763787" y="6584512"/>
            <a:ext cx="592251" cy="175257"/>
          </a:xfrm>
          <a:prstGeom prst="rect">
            <a:avLst/>
          </a:prstGeom>
        </p:spPr>
        <p:txBody>
          <a:bodyPr wrap="none" lIns="82124" tIns="41061" rIns="82124" bIns="41061" anchor="b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</p:spPr>
        <p:txBody>
          <a:bodyPr wrap="square" lIns="82124" tIns="41061" rIns="82124" bIns="41061" anchor="b" anchorCtr="0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© 2013 Cisco and/or its affiliates. All rights reserved.</a:t>
            </a:r>
          </a:p>
        </p:txBody>
      </p:sp>
      <p:sp>
        <p:nvSpPr>
          <p:cNvPr id="12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65715276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 Segu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399142"/>
            <a:ext cx="8548802" cy="4134758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/>
              <a:t>Segue Title Here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7763787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© 2013 Cisco and/or its affiliates. All rights reserved.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5" y="6380780"/>
            <a:ext cx="8477250" cy="160471"/>
          </a:xfrm>
          <a:prstGeom prst="rect">
            <a:avLst/>
          </a:prstGeom>
          <a:noFill/>
        </p:spPr>
      </p:pic>
      <p:sp>
        <p:nvSpPr>
          <p:cNvPr id="9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87243975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432215"/>
            <a:ext cx="8588861" cy="838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1344168"/>
            <a:ext cx="8577072" cy="496519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5548096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706781" y="1339745"/>
            <a:ext cx="4122425" cy="4965700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ts val="1480"/>
              </a:spcBef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spcBef>
                <a:spcPts val="600"/>
              </a:spcBef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29702" y="432215"/>
            <a:ext cx="8588861" cy="838200"/>
          </a:xfrm>
          <a:prstGeom prst="rect">
            <a:avLst/>
          </a:prstGeom>
        </p:spPr>
        <p:txBody>
          <a:bodyPr vert="horz" lIns="82296" tIns="45720" rIns="82296" bIns="45720" rtlCol="0" anchor="b" anchorCtr="0">
            <a:noAutofit/>
          </a:bodyPr>
          <a:lstStyle/>
          <a:p>
            <a:pPr lvl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229702" y="1339745"/>
            <a:ext cx="4122425" cy="4965700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ts val="1480"/>
              </a:spcBef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spcBef>
                <a:spcPts val="600"/>
              </a:spcBef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with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39713" y="1339745"/>
            <a:ext cx="4103687" cy="4965700"/>
          </a:xfrm>
        </p:spPr>
        <p:txBody>
          <a:bodyPr/>
          <a:lstStyle>
            <a:lvl1pPr>
              <a:lnSpc>
                <a:spcPct val="95000"/>
              </a:lnSpc>
              <a:spcBef>
                <a:spcPts val="1480"/>
              </a:spcBef>
              <a:defRPr sz="22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>
                <a:solidFill>
                  <a:srgbClr val="435153"/>
                </a:solidFill>
                <a:latin typeface="+mj-lt"/>
              </a:defRPr>
            </a:lvl2pPr>
            <a:lvl3pPr>
              <a:defRPr>
                <a:solidFill>
                  <a:srgbClr val="435153"/>
                </a:solidFill>
                <a:latin typeface="+mj-lt"/>
              </a:defRPr>
            </a:lvl3pPr>
            <a:lvl4pPr>
              <a:defRPr>
                <a:solidFill>
                  <a:srgbClr val="435153"/>
                </a:solidFill>
                <a:latin typeface="+mj-lt"/>
              </a:defRPr>
            </a:lvl4pPr>
            <a:lvl5pPr>
              <a:defRPr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29702" y="432215"/>
            <a:ext cx="8588861" cy="838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ounded Rectangle 9"/>
          <p:cNvSpPr/>
          <p:nvPr userDrawn="1"/>
        </p:nvSpPr>
        <p:spPr>
          <a:xfrm>
            <a:off x="4984231" y="1416140"/>
            <a:ext cx="3759720" cy="459903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tx1">
                  <a:lumMod val="20000"/>
                  <a:lumOff val="80000"/>
                </a:schemeClr>
              </a:gs>
              <a:gs pos="47000">
                <a:schemeClr val="bg1"/>
              </a:gs>
              <a:gs pos="100000">
                <a:srgbClr val="EDDFF5"/>
              </a:gs>
            </a:gsLst>
            <a:lin ang="2700000" scaled="1"/>
            <a:tileRect/>
          </a:gradFill>
          <a:ln>
            <a:noFill/>
          </a:ln>
          <a:effectLst>
            <a:outerShdw blurRad="1143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5221224" y="1747683"/>
            <a:ext cx="3236976" cy="1900292"/>
          </a:xfrm>
        </p:spPr>
        <p:txBody>
          <a:bodyPr/>
          <a:lstStyle>
            <a:lvl1pPr marL="114300" indent="-114300">
              <a:buFontTx/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6"/>
          </p:nvPr>
        </p:nvSpPr>
        <p:spPr>
          <a:xfrm>
            <a:off x="5310124" y="4876800"/>
            <a:ext cx="3044497" cy="326243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 userDrawn="1"/>
        </p:nvCxnSpPr>
        <p:spPr>
          <a:xfrm flipH="1">
            <a:off x="4990141" y="1335313"/>
            <a:ext cx="1" cy="4760687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32592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2-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301752"/>
            <a:ext cx="4123944" cy="838200"/>
          </a:xfrm>
        </p:spPr>
        <p:txBody>
          <a:bodyPr vert="horz" lIns="82296" tIns="45720" rIns="82296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Two Column</a:t>
            </a:r>
            <a:br>
              <a:rPr lang="en-US" dirty="0"/>
            </a:br>
            <a:r>
              <a:rPr lang="en-US" dirty="0"/>
              <a:t>Title Left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219455" y="1600200"/>
            <a:ext cx="4142232" cy="452628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  <a:latin typeface="+mj-lt"/>
              </a:defRPr>
            </a:lvl1pPr>
            <a:lvl2pPr marL="406400" indent="0">
              <a:buClr>
                <a:schemeClr val="accent5"/>
              </a:buClr>
              <a:buFontTx/>
              <a:buNone/>
              <a:tabLst/>
              <a:defRPr>
                <a:solidFill>
                  <a:schemeClr val="tx2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Body copy uses sentence capital letters only, size 20, left aligned</a:t>
            </a:r>
          </a:p>
          <a:p>
            <a:pPr lvl="1"/>
            <a:r>
              <a:rPr lang="en-US" dirty="0"/>
              <a:t>Sub-bullets are size 18 </a:t>
            </a:r>
            <a:br>
              <a:rPr lang="en-US" dirty="0"/>
            </a:br>
            <a:r>
              <a:rPr lang="en-US" dirty="0"/>
              <a:t>and indented</a:t>
            </a:r>
          </a:p>
          <a:p>
            <a:pPr lvl="1"/>
            <a:r>
              <a:rPr lang="en-US" dirty="0"/>
              <a:t>Hyperlink: www.cisco.com </a:t>
            </a:r>
          </a:p>
          <a:p>
            <a:pPr lvl="0"/>
            <a:r>
              <a:rPr lang="en-US" dirty="0"/>
              <a:t>Use Cisco highlight color, bold, or both when emphasizing words, </a:t>
            </a:r>
            <a:br>
              <a:rPr lang="en-US" dirty="0"/>
            </a:br>
            <a:r>
              <a:rPr lang="en-US" dirty="0"/>
              <a:t>do not italicize; use yellow on the </a:t>
            </a:r>
            <a:br>
              <a:rPr lang="en-US" dirty="0"/>
            </a:br>
            <a:r>
              <a:rPr lang="en-US" dirty="0"/>
              <a:t>black template and red for the white template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4818888" y="1600200"/>
            <a:ext cx="4005072" cy="452628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406400" indent="0">
              <a:buClr>
                <a:schemeClr val="accent1">
                  <a:lumMod val="40000"/>
                  <a:lumOff val="60000"/>
                </a:schemeClr>
              </a:buClr>
              <a:buFont typeface="Arial" pitchFamily="34" charset="0"/>
              <a:buNone/>
              <a:defRPr>
                <a:solidFill>
                  <a:schemeClr val="tx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Body copy uses sentence capital letters only, size 20, left aligned</a:t>
            </a:r>
          </a:p>
          <a:p>
            <a:pPr lvl="1"/>
            <a:r>
              <a:rPr lang="en-US" dirty="0"/>
              <a:t>Sub-bullets are size 18 </a:t>
            </a:r>
            <a:br>
              <a:rPr lang="en-US" dirty="0"/>
            </a:br>
            <a:r>
              <a:rPr lang="en-US" dirty="0"/>
              <a:t>and indented</a:t>
            </a:r>
          </a:p>
          <a:p>
            <a:pPr lvl="1"/>
            <a:r>
              <a:rPr lang="en-US" dirty="0"/>
              <a:t>Hyperlink: www.cisco.com </a:t>
            </a:r>
          </a:p>
          <a:p>
            <a:pPr lvl="0"/>
            <a:r>
              <a:rPr lang="en-US" dirty="0"/>
              <a:t>Use Cisco highlight color, bold, or both when emphasizing words, do not italicize; use yellow on the black template and red for the white template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818887" y="301752"/>
            <a:ext cx="3951308" cy="838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rPr>
              <a:t>Two Column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rPr>
              <a:t>Title Right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4486587" y="777667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3-Column Layout No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4475" y="1866900"/>
            <a:ext cx="2622550" cy="4391025"/>
          </a:xfr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defRPr lang="en-US" sz="20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2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200" kern="1200" dirty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3292474" y="1866900"/>
            <a:ext cx="2593975" cy="4362450"/>
          </a:xfr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defRPr lang="en-US" sz="20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2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200" kern="1200" dirty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275388" y="1866900"/>
            <a:ext cx="2633662" cy="4333875"/>
          </a:xfr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defRPr lang="en-US" sz="20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2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200" kern="1200" dirty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0"/>
          <p:cNvSpPr>
            <a:spLocks noGrp="1" noChangeAspect="1"/>
          </p:cNvSpPr>
          <p:nvPr>
            <p:ph type="body" sz="quarter" idx="17"/>
          </p:nvPr>
        </p:nvSpPr>
        <p:spPr>
          <a:xfrm>
            <a:off x="219456" y="319099"/>
            <a:ext cx="2670048" cy="1200329"/>
          </a:xfrm>
        </p:spPr>
        <p:txBody>
          <a:bodyPr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8"/>
          </p:nvPr>
        </p:nvSpPr>
        <p:spPr>
          <a:xfrm>
            <a:off x="3255264" y="319099"/>
            <a:ext cx="2670048" cy="1200329"/>
          </a:xfrm>
        </p:spPr>
        <p:txBody>
          <a:bodyPr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4" name="Text Placeholder 20"/>
          <p:cNvSpPr>
            <a:spLocks noGrp="1" noChangeAspect="1"/>
          </p:cNvSpPr>
          <p:nvPr>
            <p:ph type="body" sz="quarter" idx="19"/>
          </p:nvPr>
        </p:nvSpPr>
        <p:spPr>
          <a:xfrm>
            <a:off x="6247902" y="319099"/>
            <a:ext cx="2670048" cy="1200329"/>
          </a:xfrm>
        </p:spPr>
        <p:txBody>
          <a:bodyPr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082817" y="869003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6083084" y="869003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1"/>
          </p:cNvSpPr>
          <p:nvPr>
            <p:ph type="title" hasCustomPrompt="1"/>
          </p:nvPr>
        </p:nvSpPr>
        <p:spPr>
          <a:xfrm>
            <a:off x="246972" y="439710"/>
            <a:ext cx="8567244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36" name="Chart Placeholder 35"/>
          <p:cNvSpPr>
            <a:spLocks noGrp="1"/>
          </p:cNvSpPr>
          <p:nvPr>
            <p:ph type="chart" sz="quarter" idx="10"/>
          </p:nvPr>
        </p:nvSpPr>
        <p:spPr>
          <a:xfrm>
            <a:off x="359764" y="1476375"/>
            <a:ext cx="8439461" cy="4305300"/>
          </a:xfrm>
        </p:spPr>
        <p:txBody>
          <a:bodyPr anchor="ctr" anchorCtr="1"/>
          <a:lstStyle>
            <a:lvl1pPr>
              <a:buNone/>
              <a:defRPr>
                <a:latin typeface="+mj-lt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49466" y="6062114"/>
            <a:ext cx="7461250" cy="276999"/>
          </a:xfrm>
        </p:spPr>
        <p:txBody>
          <a:bodyPr wrap="square" anchor="b" anchorCtr="0">
            <a:spAutoFit/>
          </a:bodyPr>
          <a:lstStyle>
            <a:lvl1pPr algn="l" defTabSz="804863">
              <a:lnSpc>
                <a:spcPct val="100000"/>
              </a:lnSpc>
              <a:spcBef>
                <a:spcPct val="50000"/>
              </a:spcBef>
              <a:buNone/>
              <a:defRPr sz="1200">
                <a:solidFill>
                  <a:srgbClr val="435153"/>
                </a:solidFill>
                <a:latin typeface="+mj-lt"/>
              </a:defRPr>
            </a:lvl1pPr>
            <a:lvl2pPr>
              <a:buFont typeface="Arial" pitchFamily="34" charset="0"/>
              <a:buNone/>
              <a:defRPr sz="1400"/>
            </a:lvl2pPr>
            <a:lvl3pPr>
              <a:buFont typeface="Arial" pitchFamily="34" charset="0"/>
              <a:buNone/>
              <a:defRPr sz="1400"/>
            </a:lvl3pPr>
            <a:lvl4pPr>
              <a:buFont typeface="Arial" pitchFamily="34" charset="0"/>
              <a:buNone/>
              <a:defRPr sz="1400"/>
            </a:lvl4pPr>
            <a:lvl5pPr>
              <a:buFont typeface="Arial" pitchFamily="34" charset="0"/>
              <a:buNone/>
              <a:defRPr sz="1400"/>
            </a:lvl5pPr>
          </a:lstStyle>
          <a:p>
            <a:pPr lvl="0"/>
            <a:r>
              <a:rPr lang="en-US" dirty="0"/>
              <a:t>Source: Placeholder for Notes Is 12 Points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_phot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5430244"/>
            <a:ext cx="8558698" cy="838200"/>
          </a:xfrm>
        </p:spPr>
        <p:txBody>
          <a:bodyPr vert="horz" lIns="82296" tIns="45720" rIns="82296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46888" y="1600200"/>
            <a:ext cx="4005072" cy="374904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 baseline="0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Simple text goes here and can wrap to accommodate more lines of information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4873752" y="1947672"/>
            <a:ext cx="3429000" cy="2990088"/>
          </a:xfrm>
        </p:spPr>
        <p:txBody>
          <a:bodyPr anchor="ctr" anchorCtr="1"/>
          <a:lstStyle>
            <a:lvl1pPr algn="ctr">
              <a:buFontTx/>
              <a:buNone/>
              <a:defRPr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5430244"/>
            <a:ext cx="8558698" cy="838200"/>
          </a:xfrm>
        </p:spPr>
        <p:txBody>
          <a:bodyPr vert="horz" lIns="82296" tIns="45720" rIns="82296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776" y="5852160"/>
            <a:ext cx="8112126" cy="384175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rgbClr val="493B93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dirty="0"/>
              <a:t>Presenter Name and Title Go Here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9456" y="649224"/>
            <a:ext cx="8112125" cy="4480560"/>
          </a:xfrm>
        </p:spPr>
        <p:txBody>
          <a:bodyPr/>
          <a:lstStyle>
            <a:lvl1pPr marL="236538" indent="-236538" algn="l" defTabSz="914400" rtl="0" eaLnBrk="1" latinLnBrk="0" hangingPunct="1">
              <a:lnSpc>
                <a:spcPts val="52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None/>
              <a:defRPr kumimoji="0" lang="en-US" sz="54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“Format large quotes using this slide layout. Be sure to cite your source below.”</a:t>
            </a: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7744" y="484632"/>
            <a:ext cx="8755128" cy="4372131"/>
          </a:xfrm>
        </p:spPr>
        <p:txBody>
          <a:bodyPr anchor="b" anchorCtr="0"/>
          <a:lstStyle>
            <a:lvl1pPr marL="228600" indent="-228600">
              <a:buFont typeface="Arial" pitchFamily="34" charset="0"/>
              <a:buChar char="“"/>
              <a:defRPr sz="6000" spc="-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Format large quotes using this slide layout. Be sure to cite your source below.”</a:t>
            </a: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60248" y="5358903"/>
            <a:ext cx="8574685" cy="61436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Source</a:t>
            </a:r>
          </a:p>
        </p:txBody>
      </p:sp>
      <p:sp>
        <p:nvSpPr>
          <p:cNvPr id="21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22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tel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1918741"/>
            <a:ext cx="4117446" cy="3020518"/>
          </a:xfrm>
        </p:spPr>
        <p:txBody>
          <a:bodyPr vert="horz" lIns="82296" tIns="45720" rIns="82296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kumimoji="0" lang="en-US" sz="54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Telling Shared Experiences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4922519" y="777667"/>
            <a:ext cx="3895344" cy="5287676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lang="en-US" sz="2000" kern="1200" dirty="0">
                <a:solidFill>
                  <a:srgbClr val="493B93"/>
                </a:solidFill>
                <a:latin typeface="+mj-lt"/>
                <a:ea typeface="+mn-ea"/>
                <a:cs typeface="+mn-cs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marL="0" lvl="0" indent="0" algn="l" defTabSz="914400" rtl="0" eaLnBrk="1" latinLnBrk="0" hangingPunct="1">
              <a:lnSpc>
                <a:spcPts val="2400"/>
              </a:lnSpc>
              <a:spcBef>
                <a:spcPts val="0"/>
              </a:spcBef>
              <a:buClr>
                <a:srgbClr val="435153"/>
              </a:buClr>
              <a:buFont typeface="Arial" pitchFamily="34" charset="0"/>
              <a:buNone/>
            </a:pPr>
            <a:r>
              <a:rPr lang="en-US" dirty="0"/>
              <a:t>Tell your story here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486587" y="777667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1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1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3" y="4279392"/>
            <a:ext cx="4684867" cy="384175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rgbClr val="493B93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Presenter Name and Title Go Here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08693" y="3282696"/>
            <a:ext cx="4712557" cy="1022350"/>
          </a:xfrm>
        </p:spPr>
        <p:txBody>
          <a:bodyPr vert="horz" lIns="82296" tIns="45720" rIns="82296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/>
              <a:t>Demo Title</a:t>
            </a: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10" hasCustomPrompt="1"/>
          </p:nvPr>
        </p:nvSpPr>
        <p:spPr>
          <a:xfrm>
            <a:off x="5540375" y="1917700"/>
            <a:ext cx="2676525" cy="2889250"/>
          </a:xfrm>
        </p:spPr>
        <p:txBody>
          <a:bodyPr anchor="ctr" anchorCtr="1"/>
          <a:lstStyle>
            <a:lvl1pPr algn="ctr">
              <a:buFontTx/>
              <a:buNone/>
              <a:defRPr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ngle 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891875" y="795528"/>
            <a:ext cx="5349240" cy="400507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1891874" y="4794352"/>
            <a:ext cx="5347552" cy="9963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1900238" y="795528"/>
            <a:ext cx="5329238" cy="4005072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</p:spPr>
        <p:txBody>
          <a:bodyPr anchor="ctr" anchorCtr="0"/>
          <a:lstStyle>
            <a:lvl1pPr algn="ctr">
              <a:buFontTx/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065871" y="4873438"/>
            <a:ext cx="5074070" cy="838200"/>
          </a:xfrm>
        </p:spPr>
        <p:txBody>
          <a:bodyPr anchor="ctr"/>
          <a:lstStyle>
            <a:lvl1pPr>
              <a:defRPr sz="2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2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mall photo_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338328" y="310896"/>
            <a:ext cx="3273552" cy="2459736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338328" y="310896"/>
            <a:ext cx="3273552" cy="2459736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229703" y="3429000"/>
            <a:ext cx="7009298" cy="1421928"/>
          </a:xfrm>
        </p:spPr>
        <p:txBody>
          <a:bodyPr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Large photo </a:t>
            </a:r>
            <a:br>
              <a:rPr lang="en-US" dirty="0"/>
            </a:br>
            <a:r>
              <a:rPr lang="en-US" dirty="0"/>
              <a:t>caption here.</a:t>
            </a: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1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ortrait photo_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4992624" y="859536"/>
            <a:ext cx="3630168" cy="5029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4992624" y="859536"/>
            <a:ext cx="3630168" cy="5029200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anchor="ctr" anchorCtr="0"/>
          <a:lstStyle>
            <a:lvl1pPr algn="ctr">
              <a:buFontTx/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229703" y="728972"/>
            <a:ext cx="4349918" cy="1089529"/>
          </a:xfrm>
        </p:spPr>
        <p:txBody>
          <a:bodyPr anchor="t">
            <a:spAutoFit/>
          </a:bodyPr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1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ultipl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3668713" y="311149"/>
            <a:ext cx="3268136" cy="266065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9" name="Picture Placeholder 25"/>
          <p:cNvSpPr>
            <a:spLocks noGrp="1"/>
          </p:cNvSpPr>
          <p:nvPr>
            <p:ph type="pic" sz="quarter" idx="11" hasCustomPrompt="1"/>
          </p:nvPr>
        </p:nvSpPr>
        <p:spPr>
          <a:xfrm>
            <a:off x="3668989" y="311149"/>
            <a:ext cx="3267861" cy="2660652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4963" y="311149"/>
            <a:ext cx="3258612" cy="266065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320824" y="311149"/>
            <a:ext cx="3272751" cy="2660652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11988" y="311149"/>
            <a:ext cx="1806574" cy="1308101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Picture Placeholder 25"/>
          <p:cNvSpPr>
            <a:spLocks noGrp="1"/>
          </p:cNvSpPr>
          <p:nvPr>
            <p:ph type="pic" sz="quarter" idx="12" hasCustomPrompt="1"/>
          </p:nvPr>
        </p:nvSpPr>
        <p:spPr>
          <a:xfrm>
            <a:off x="7011988" y="311149"/>
            <a:ext cx="1806573" cy="1308101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4963" y="3028951"/>
            <a:ext cx="2501965" cy="3458934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3" name="Picture Placeholder 25"/>
          <p:cNvSpPr>
            <a:spLocks noGrp="1"/>
          </p:cNvSpPr>
          <p:nvPr>
            <p:ph type="pic" sz="quarter" idx="13" hasCustomPrompt="1"/>
          </p:nvPr>
        </p:nvSpPr>
        <p:spPr>
          <a:xfrm>
            <a:off x="320824" y="3028951"/>
            <a:ext cx="2516104" cy="3458934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11476" y="3028951"/>
            <a:ext cx="4025374" cy="3458934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5" name="Picture Placeholder 25"/>
          <p:cNvSpPr>
            <a:spLocks noGrp="1"/>
          </p:cNvSpPr>
          <p:nvPr>
            <p:ph type="pic" sz="quarter" idx="14" hasCustomPrompt="1"/>
          </p:nvPr>
        </p:nvSpPr>
        <p:spPr>
          <a:xfrm>
            <a:off x="2908334" y="3028951"/>
            <a:ext cx="4028516" cy="3458934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11988" y="1683657"/>
            <a:ext cx="1806574" cy="3442153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7" name="Picture Placeholder 25"/>
          <p:cNvSpPr>
            <a:spLocks noGrp="1"/>
          </p:cNvSpPr>
          <p:nvPr>
            <p:ph type="pic" sz="quarter" idx="15" hasCustomPrompt="1"/>
          </p:nvPr>
        </p:nvSpPr>
        <p:spPr>
          <a:xfrm>
            <a:off x="7011988" y="1676400"/>
            <a:ext cx="1806573" cy="3449410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11988" y="5182960"/>
            <a:ext cx="1806574" cy="1304925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9" name="Picture Placeholder 25"/>
          <p:cNvSpPr>
            <a:spLocks noGrp="1"/>
          </p:cNvSpPr>
          <p:nvPr>
            <p:ph type="pic" sz="quarter" idx="16" hasCustomPrompt="1"/>
          </p:nvPr>
        </p:nvSpPr>
        <p:spPr>
          <a:xfrm>
            <a:off x="7011988" y="5182960"/>
            <a:ext cx="1806573" cy="1304925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8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2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21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rge photo with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8328" y="310896"/>
            <a:ext cx="8476488" cy="607539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333375" y="339924"/>
            <a:ext cx="8474869" cy="6054185"/>
          </a:xfrm>
          <a:ln>
            <a:solidFill>
              <a:srgbClr val="FFFFFF"/>
            </a:solidFill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baseline="0" dirty="0">
                <a:solidFill>
                  <a:srgbClr val="546568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Photo placeholder</a:t>
            </a:r>
          </a:p>
        </p:txBody>
      </p:sp>
      <p:sp>
        <p:nvSpPr>
          <p:cNvPr id="11" name="Rectangle 5"/>
          <p:cNvSpPr>
            <a:spLocks noChangeArrowheads="1"/>
          </p:cNvSpPr>
          <p:nvPr userDrawn="1"/>
        </p:nvSpPr>
        <p:spPr bwMode="ltGray">
          <a:xfrm>
            <a:off x="7983399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r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808080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0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5" y="6380780"/>
            <a:ext cx="8477250" cy="160471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-91440" y="-91440"/>
            <a:ext cx="9326880" cy="7040880"/>
          </a:xfrm>
        </p:spPr>
        <p:txBody>
          <a:bodyPr anchor="ctr" anchorCtr="1">
            <a:noAutofit/>
          </a:bodyPr>
          <a:lstStyle>
            <a:lvl1pPr algn="ctr">
              <a:buNone/>
              <a:defRPr>
                <a:latin typeface="+mj-lt"/>
              </a:defRPr>
            </a:lvl1pPr>
          </a:lstStyle>
          <a:p>
            <a:r>
              <a:rPr lang="en-US" dirty="0"/>
              <a:t>Full bleed image placeholder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ndar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1" name="Media Placeholder 20"/>
          <p:cNvSpPr>
            <a:spLocks noGrp="1"/>
          </p:cNvSpPr>
          <p:nvPr>
            <p:ph type="media" sz="quarter" idx="10" hasCustomPrompt="1"/>
          </p:nvPr>
        </p:nvSpPr>
        <p:spPr>
          <a:xfrm>
            <a:off x="2642616" y="777240"/>
            <a:ext cx="5897880" cy="4425696"/>
          </a:xfrm>
          <a:solidFill>
            <a:srgbClr val="000000"/>
          </a:solidFill>
          <a:ln>
            <a:noFill/>
          </a:ln>
          <a:effectLst>
            <a:innerShdw blurRad="419100">
              <a:prstClr val="black">
                <a:alpha val="4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800" kern="1200">
                <a:solidFill>
                  <a:schemeClr val="l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video</a:t>
            </a:r>
          </a:p>
        </p:txBody>
      </p:sp>
      <p:pic>
        <p:nvPicPr>
          <p:cNvPr id="23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6148" y="6042098"/>
            <a:ext cx="2889136" cy="48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_gradi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87" y="-1587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2361"/>
      </p:ext>
    </p:extLst>
  </p:cSld>
  <p:clrMapOvr>
    <a:masterClrMapping/>
  </p:clrMapOvr>
  <p:transition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 userDrawn="1"/>
        </p:nvSpPr>
        <p:spPr bwMode="ltGray">
          <a:xfrm>
            <a:off x="7983399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r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808080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6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87" y="-1587"/>
            <a:ext cx="9144000" cy="6858000"/>
          </a:xfrm>
          <a:prstGeom prst="rect">
            <a:avLst/>
          </a:prstGeom>
        </p:spPr>
      </p:pic>
      <p:sp>
        <p:nvSpPr>
          <p:cNvPr id="20" name="Rectangle 19"/>
          <p:cNvSpPr>
            <a:spLocks noChangeArrowheads="1"/>
          </p:cNvSpPr>
          <p:nvPr/>
        </p:nvSpPr>
        <p:spPr bwMode="black">
          <a:xfrm>
            <a:off x="4373702" y="5844550"/>
            <a:ext cx="41443" cy="15701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1" name="Freeform 20"/>
          <p:cNvSpPr>
            <a:spLocks/>
          </p:cNvSpPr>
          <p:nvPr/>
        </p:nvSpPr>
        <p:spPr bwMode="black">
          <a:xfrm>
            <a:off x="4615130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2" name="Freeform 21"/>
          <p:cNvSpPr>
            <a:spLocks/>
          </p:cNvSpPr>
          <p:nvPr/>
        </p:nvSpPr>
        <p:spPr bwMode="black">
          <a:xfrm>
            <a:off x="4200221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3" name="Freeform 22"/>
          <p:cNvSpPr>
            <a:spLocks noEditPoints="1"/>
          </p:cNvSpPr>
          <p:nvPr userDrawn="1"/>
        </p:nvSpPr>
        <p:spPr bwMode="black">
          <a:xfrm>
            <a:off x="4778491" y="5840202"/>
            <a:ext cx="164807" cy="165712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4" name="Freeform 23"/>
          <p:cNvSpPr>
            <a:spLocks/>
          </p:cNvSpPr>
          <p:nvPr/>
        </p:nvSpPr>
        <p:spPr bwMode="black">
          <a:xfrm>
            <a:off x="4468634" y="5840202"/>
            <a:ext cx="107462" cy="165712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5" name="Freeform 24"/>
          <p:cNvSpPr>
            <a:spLocks/>
          </p:cNvSpPr>
          <p:nvPr/>
        </p:nvSpPr>
        <p:spPr bwMode="black">
          <a:xfrm>
            <a:off x="4117817" y="5654198"/>
            <a:ext cx="39033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6" name="Freeform 25"/>
          <p:cNvSpPr>
            <a:spLocks/>
          </p:cNvSpPr>
          <p:nvPr/>
        </p:nvSpPr>
        <p:spPr bwMode="black">
          <a:xfrm>
            <a:off x="4227206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7" name="Freeform 26"/>
          <p:cNvSpPr>
            <a:spLocks/>
          </p:cNvSpPr>
          <p:nvPr/>
        </p:nvSpPr>
        <p:spPr bwMode="black">
          <a:xfrm>
            <a:off x="4334669" y="5525687"/>
            <a:ext cx="39033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8" name="Freeform 27"/>
          <p:cNvSpPr>
            <a:spLocks/>
          </p:cNvSpPr>
          <p:nvPr/>
        </p:nvSpPr>
        <p:spPr bwMode="black">
          <a:xfrm>
            <a:off x="4444058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9" name="Freeform 28"/>
          <p:cNvSpPr>
            <a:spLocks/>
          </p:cNvSpPr>
          <p:nvPr/>
        </p:nvSpPr>
        <p:spPr bwMode="black">
          <a:xfrm>
            <a:off x="4551038" y="5654198"/>
            <a:ext cx="41443" cy="80682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0" name="Freeform 29"/>
          <p:cNvSpPr>
            <a:spLocks/>
          </p:cNvSpPr>
          <p:nvPr/>
        </p:nvSpPr>
        <p:spPr bwMode="black">
          <a:xfrm>
            <a:off x="4660428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1" name="Freeform 30"/>
          <p:cNvSpPr>
            <a:spLocks/>
          </p:cNvSpPr>
          <p:nvPr/>
        </p:nvSpPr>
        <p:spPr bwMode="black">
          <a:xfrm>
            <a:off x="4769818" y="5525687"/>
            <a:ext cx="39515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2" name="Freeform 31"/>
          <p:cNvSpPr>
            <a:spLocks/>
          </p:cNvSpPr>
          <p:nvPr/>
        </p:nvSpPr>
        <p:spPr bwMode="black">
          <a:xfrm>
            <a:off x="4877279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3" name="Freeform 32"/>
          <p:cNvSpPr>
            <a:spLocks/>
          </p:cNvSpPr>
          <p:nvPr/>
        </p:nvSpPr>
        <p:spPr bwMode="black">
          <a:xfrm>
            <a:off x="4986669" y="5654198"/>
            <a:ext cx="39515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91391E-6 L -5.55556E-7 0.02314 " pathEditMode="relative" rAng="0" ptsTypes="AA">
                                      <p:cBhvr>
                                        <p:cTn id="33" dur="7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93242E-6 L 4.72222E-6 0.02962 " pathEditMode="relative" rAng="0" ptsTypes="AA">
                                      <p:cBhvr>
                                        <p:cTn id="35" dur="7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91391E-6 L 0 0.02314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93242E-6 L -4.72222E-6 0.0296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91391E-6 L 4.16667E-6 0.02314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36056E-6 L 2.77778E-7 -0.02338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36056E-6 L -8.33333E-7 -0.02338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6056E-6 L 4.44444E-6 -0.02338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36056E-6 L 3.33333E-6 -0.02338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blue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87" y="-1587"/>
            <a:ext cx="9144000" cy="6858000"/>
          </a:xfrm>
          <a:prstGeom prst="rect">
            <a:avLst/>
          </a:prstGeom>
        </p:spPr>
      </p:pic>
      <p:sp>
        <p:nvSpPr>
          <p:cNvPr id="34" name="TextBox 33"/>
          <p:cNvSpPr txBox="1"/>
          <p:nvPr userDrawn="1"/>
        </p:nvSpPr>
        <p:spPr>
          <a:xfrm>
            <a:off x="644691" y="3060488"/>
            <a:ext cx="2437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+mj-lt"/>
              </a:rPr>
              <a:t>Thank you.</a:t>
            </a:r>
          </a:p>
        </p:txBody>
      </p:sp>
      <p:pic>
        <p:nvPicPr>
          <p:cNvPr id="18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69746" y="3078070"/>
            <a:ext cx="3669899" cy="610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2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>
            <a:spLocks noChangeArrowheads="1"/>
          </p:cNvSpPr>
          <p:nvPr/>
        </p:nvSpPr>
        <p:spPr bwMode="black">
          <a:xfrm>
            <a:off x="4373702" y="5844550"/>
            <a:ext cx="41443" cy="15701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5" name="Freeform 4"/>
          <p:cNvSpPr>
            <a:spLocks/>
          </p:cNvSpPr>
          <p:nvPr/>
        </p:nvSpPr>
        <p:spPr bwMode="black">
          <a:xfrm>
            <a:off x="4615130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6" name="Freeform 5"/>
          <p:cNvSpPr>
            <a:spLocks/>
          </p:cNvSpPr>
          <p:nvPr/>
        </p:nvSpPr>
        <p:spPr bwMode="black">
          <a:xfrm>
            <a:off x="4200221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7" name="Freeform 6"/>
          <p:cNvSpPr>
            <a:spLocks noEditPoints="1"/>
          </p:cNvSpPr>
          <p:nvPr userDrawn="1"/>
        </p:nvSpPr>
        <p:spPr bwMode="black">
          <a:xfrm>
            <a:off x="4778491" y="5840202"/>
            <a:ext cx="164807" cy="165712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black">
          <a:xfrm>
            <a:off x="4468634" y="5840202"/>
            <a:ext cx="107462" cy="165712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black">
          <a:xfrm>
            <a:off x="4117817" y="5654198"/>
            <a:ext cx="39033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0" name="Freeform 9"/>
          <p:cNvSpPr>
            <a:spLocks/>
          </p:cNvSpPr>
          <p:nvPr/>
        </p:nvSpPr>
        <p:spPr bwMode="black">
          <a:xfrm>
            <a:off x="4227206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black">
          <a:xfrm>
            <a:off x="4334669" y="5525687"/>
            <a:ext cx="39033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2" name="Freeform 11"/>
          <p:cNvSpPr>
            <a:spLocks/>
          </p:cNvSpPr>
          <p:nvPr/>
        </p:nvSpPr>
        <p:spPr bwMode="black">
          <a:xfrm>
            <a:off x="4444058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4" name="Freeform 13"/>
          <p:cNvSpPr>
            <a:spLocks/>
          </p:cNvSpPr>
          <p:nvPr/>
        </p:nvSpPr>
        <p:spPr bwMode="black">
          <a:xfrm>
            <a:off x="4551038" y="5654198"/>
            <a:ext cx="41443" cy="80682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5" name="Freeform 14"/>
          <p:cNvSpPr>
            <a:spLocks/>
          </p:cNvSpPr>
          <p:nvPr/>
        </p:nvSpPr>
        <p:spPr bwMode="black">
          <a:xfrm>
            <a:off x="4660428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6" name="Freeform 15"/>
          <p:cNvSpPr>
            <a:spLocks/>
          </p:cNvSpPr>
          <p:nvPr/>
        </p:nvSpPr>
        <p:spPr bwMode="black">
          <a:xfrm>
            <a:off x="4769818" y="5525687"/>
            <a:ext cx="39515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7" name="Freeform 16"/>
          <p:cNvSpPr>
            <a:spLocks/>
          </p:cNvSpPr>
          <p:nvPr/>
        </p:nvSpPr>
        <p:spPr bwMode="black">
          <a:xfrm>
            <a:off x="4877279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8" name="Freeform 17"/>
          <p:cNvSpPr>
            <a:spLocks/>
          </p:cNvSpPr>
          <p:nvPr/>
        </p:nvSpPr>
        <p:spPr bwMode="black">
          <a:xfrm>
            <a:off x="4986669" y="5654198"/>
            <a:ext cx="39515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91391E-6 L -5.55556E-7 0.02314 " pathEditMode="relative" rAng="0" ptsTypes="AA">
                                      <p:cBhvr>
                                        <p:cTn id="33" dur="7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93242E-6 L 4.72222E-6 0.02962 " pathEditMode="relative" rAng="0" ptsTypes="AA">
                                      <p:cBhvr>
                                        <p:cTn id="35" dur="7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91391E-6 L 0 0.02314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93242E-6 L -4.72222E-6 0.0296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91391E-6 L 4.16667E-6 0.02314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36056E-6 L 2.77778E-7 -0.02338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36056E-6 L -8.33333E-7 -0.02338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6056E-6 L 4.44444E-6 -0.02338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36056E-6 L 3.33333E-6 -0.02338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red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4" name="TextBox 33"/>
          <p:cNvSpPr txBox="1"/>
          <p:nvPr userDrawn="1"/>
        </p:nvSpPr>
        <p:spPr>
          <a:xfrm>
            <a:off x="644691" y="3060488"/>
            <a:ext cx="2437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+mj-lt"/>
              </a:rPr>
              <a:t>Thank you.</a:t>
            </a:r>
          </a:p>
        </p:txBody>
      </p:sp>
      <p:pic>
        <p:nvPicPr>
          <p:cNvPr id="21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69746" y="3078070"/>
            <a:ext cx="3669899" cy="610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2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6564313"/>
            <a:ext cx="9144000" cy="298450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ctr"/>
          <a:lstStyle>
            <a:lvl1pPr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043863" y="6634163"/>
            <a:ext cx="852487" cy="18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ctr">
            <a:spAutoFit/>
          </a:bodyPr>
          <a:lstStyle>
            <a:lvl1pPr defTabSz="814388">
              <a:defRPr sz="3000"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814388">
              <a:defRPr sz="3000"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14388">
              <a:defRPr sz="3000"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14388">
              <a:defRPr sz="3000"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14388">
              <a:defRPr sz="3000"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r>
              <a:rPr lang="en-US" altLang="zh-CN" sz="700">
                <a:solidFill>
                  <a:srgbClr val="C0C0C0"/>
                </a:solidFill>
                <a:ea typeface="宋体" charset="-122"/>
              </a:rPr>
              <a:t>BSCI v3.0—2-</a:t>
            </a:r>
            <a:fld id="{65D8D174-AB76-4995-8CE0-7E461344EFBC}" type="slidenum">
              <a:rPr lang="en-US" altLang="zh-CN" sz="700">
                <a:solidFill>
                  <a:srgbClr val="C0C0C0"/>
                </a:solidFill>
                <a:ea typeface="宋体" charset="-122"/>
              </a:rPr>
              <a:pPr algn="r"/>
              <a:t>‹#›</a:t>
            </a:fld>
            <a:endParaRPr lang="en-US" altLang="zh-CN" sz="700">
              <a:solidFill>
                <a:srgbClr val="C0C0C0"/>
              </a:solidFill>
              <a:ea typeface="宋体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2454275"/>
            <a:ext cx="9144000" cy="4111625"/>
          </a:xfrm>
          <a:prstGeom prst="rect">
            <a:avLst/>
          </a:prstGeom>
          <a:solidFill>
            <a:srgbClr val="30677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ctr"/>
          <a:lstStyle>
            <a:lvl1pPr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7" name="Picture 8" descr="MAD00558_j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70" b="64130"/>
          <a:stretch>
            <a:fillRect/>
          </a:stretch>
        </p:blipFill>
        <p:spPr bwMode="auto">
          <a:xfrm>
            <a:off x="0" y="0"/>
            <a:ext cx="9140825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2406" name="Rectangle 6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655638" y="2951163"/>
            <a:ext cx="7797800" cy="504825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 anchor="ctr"/>
          <a:lstStyle>
            <a:lvl1pPr>
              <a:defRPr sz="2000"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742407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55638" y="3606800"/>
            <a:ext cx="7802562" cy="533400"/>
          </a:xfrm>
        </p:spPr>
        <p:txBody>
          <a:bodyPr lIns="91440" tIns="45720" rIns="91440" bIns="4572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778296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59004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7467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1636713"/>
            <a:ext cx="3894137" cy="35718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1636713"/>
            <a:ext cx="3894138" cy="35718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81595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0316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3686977"/>
      </p:ext>
    </p:extLst>
  </p:cSld>
  <p:clrMapOvr>
    <a:masterClrMapping/>
  </p:clrMapOvr>
  <p:transition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 userDrawn="1"/>
        </p:nvSpPr>
        <p:spPr bwMode="ltGray">
          <a:xfrm>
            <a:off x="7983399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r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808080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4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83175984"/>
      </p:ext>
    </p:extLst>
  </p:cSld>
  <p:clrMapOvr>
    <a:masterClrMapping/>
  </p:clrMapOvr>
  <p:transition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35931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8910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3229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225425"/>
            <a:ext cx="2035175" cy="4983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225425"/>
            <a:ext cx="5957887" cy="498316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086032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terna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86889398"/>
      </p:ext>
    </p:extLst>
  </p:cSld>
  <p:clrMapOvr>
    <a:masterClrMapping/>
  </p:clrMapOvr>
  <p:transition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432215"/>
            <a:ext cx="8588861" cy="838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1344168"/>
            <a:ext cx="8577072" cy="496519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4400356"/>
      </p:ext>
    </p:extLst>
  </p:cSld>
  <p:clrMapOvr>
    <a:masterClrMapping/>
  </p:clrMapOvr>
  <p:transition>
    <p:wipe dir="r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776" y="5852160"/>
            <a:ext cx="8112126" cy="384175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rgbClr val="493B93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dirty="0"/>
              <a:t>Presenter Name and Title Go Here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9456" y="649224"/>
            <a:ext cx="8112125" cy="4480560"/>
          </a:xfrm>
        </p:spPr>
        <p:txBody>
          <a:bodyPr/>
          <a:lstStyle>
            <a:lvl1pPr marL="236538" indent="-236538" algn="l" defTabSz="914400" rtl="0" eaLnBrk="1" latinLnBrk="0" hangingPunct="1">
              <a:lnSpc>
                <a:spcPts val="52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None/>
              <a:defRPr kumimoji="0" lang="en-US" sz="54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“Format large quotes using this slide layout. Be sure to cite your source below.”</a:t>
            </a: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22990680"/>
      </p:ext>
    </p:extLst>
  </p:cSld>
  <p:clrMapOvr>
    <a:masterClrMapping/>
  </p:clrMapOvr>
  <p:transition>
    <p:wipe dir="r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457200"/>
            <a:ext cx="8145462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55638" y="1781175"/>
            <a:ext cx="7940675" cy="3571875"/>
          </a:xfrm>
        </p:spPr>
        <p:txBody>
          <a:bodyPr/>
          <a:lstStyle/>
          <a:p>
            <a:pPr lvl="0"/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280577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5" y="6380780"/>
            <a:ext cx="8477250" cy="160471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9702" y="432215"/>
            <a:ext cx="8588861" cy="838200"/>
          </a:xfrm>
          <a:prstGeom prst="rect">
            <a:avLst/>
          </a:prstGeom>
        </p:spPr>
        <p:txBody>
          <a:bodyPr vert="horz" lIns="82296" tIns="45720" rIns="82296" bIns="45720" rtlCol="0" anchor="b" anchorCtr="0">
            <a:noAutofit/>
          </a:bodyPr>
          <a:lstStyle/>
          <a:p>
            <a:pPr lvl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 dirty="0"/>
              <a:t>Slide Title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9702" y="1339745"/>
            <a:ext cx="8577072" cy="4965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808080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ltGray">
          <a:xfrm>
            <a:off x="7983399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808080"/>
                </a:solidFill>
                <a:latin typeface="+mj-lt"/>
              </a:rPr>
              <a:t>Cisco Public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930" r:id="rId2"/>
    <p:sldLayoutId id="2147483929" r:id="rId3"/>
    <p:sldLayoutId id="2147483937" r:id="rId4"/>
    <p:sldLayoutId id="2147483900" r:id="rId5"/>
    <p:sldLayoutId id="2147483931" r:id="rId6"/>
    <p:sldLayoutId id="2147483932" r:id="rId7"/>
    <p:sldLayoutId id="2147483933" r:id="rId8"/>
    <p:sldLayoutId id="2147483902" r:id="rId9"/>
    <p:sldLayoutId id="2147483903" r:id="rId10"/>
    <p:sldLayoutId id="2147483935" r:id="rId11"/>
    <p:sldLayoutId id="2147483905" r:id="rId12"/>
    <p:sldLayoutId id="2147483906" r:id="rId13"/>
    <p:sldLayoutId id="2147483907" r:id="rId14"/>
    <p:sldLayoutId id="2147483908" r:id="rId15"/>
    <p:sldLayoutId id="2147483909" r:id="rId16"/>
    <p:sldLayoutId id="2147483910" r:id="rId17"/>
    <p:sldLayoutId id="2147483913" r:id="rId18"/>
    <p:sldLayoutId id="2147483911" r:id="rId19"/>
    <p:sldLayoutId id="2147483912" r:id="rId20"/>
    <p:sldLayoutId id="2147483914" r:id="rId21"/>
    <p:sldLayoutId id="2147483915" r:id="rId22"/>
    <p:sldLayoutId id="2147483916" r:id="rId23"/>
    <p:sldLayoutId id="2147483917" r:id="rId24"/>
    <p:sldLayoutId id="2147483918" r:id="rId25"/>
    <p:sldLayoutId id="2147483919" r:id="rId26"/>
    <p:sldLayoutId id="2147483921" r:id="rId27"/>
    <p:sldLayoutId id="2147483922" r:id="rId28"/>
    <p:sldLayoutId id="2147483936" r:id="rId29"/>
    <p:sldLayoutId id="2147483923" r:id="rId30"/>
    <p:sldLayoutId id="2147483924" r:id="rId31"/>
    <p:sldLayoutId id="2147483925" r:id="rId32"/>
    <p:sldLayoutId id="2147483926" r:id="rId33"/>
    <p:sldLayoutId id="2147483927" r:id="rId34"/>
  </p:sldLayoutIdLst>
  <p:transition>
    <p:wipe dir="r"/>
  </p:transition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0" lang="en-US" sz="3600" b="0" i="0" u="none" strike="noStrike" kern="1200" cap="none" spc="0" normalizeH="0" baseline="0" dirty="0">
          <a:ln>
            <a:noFill/>
          </a:ln>
          <a:gradFill flip="none" rotWithShape="1">
            <a:gsLst>
              <a:gs pos="16000">
                <a:schemeClr val="tx2"/>
              </a:gs>
              <a:gs pos="100000">
                <a:srgbClr val="28A7DF"/>
              </a:gs>
            </a:gsLst>
            <a:lin ang="1800000" scaled="0"/>
            <a:tileRect/>
          </a:gradFill>
          <a:effectLst/>
          <a:uLnTx/>
          <a:uFillTx/>
          <a:latin typeface="+mj-lt"/>
          <a:ea typeface="+mj-ea"/>
          <a:cs typeface="Arial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5000"/>
        </a:lnSpc>
        <a:spcBef>
          <a:spcPts val="1440"/>
        </a:spcBef>
        <a:buClr>
          <a:srgbClr val="493B93"/>
        </a:buClr>
        <a:buSzPct val="90000"/>
        <a:buFont typeface="Arial" pitchFamily="34" charset="0"/>
        <a:buChar char="•"/>
        <a:tabLst/>
        <a:defRPr lang="en-US" sz="2200" kern="1200" dirty="0" smtClean="0">
          <a:solidFill>
            <a:srgbClr val="435153"/>
          </a:solidFill>
          <a:latin typeface="+mj-lt"/>
          <a:ea typeface="+mn-ea"/>
          <a:cs typeface="+mn-cs"/>
        </a:defRPr>
      </a:lvl1pPr>
      <a:lvl2pPr marL="406400" indent="0" algn="l" defTabSz="914400" rtl="0" eaLnBrk="1" latinLnBrk="0" hangingPunct="1">
        <a:lnSpc>
          <a:spcPct val="95000"/>
        </a:lnSpc>
        <a:spcBef>
          <a:spcPts val="840"/>
        </a:spcBef>
        <a:buClr>
          <a:schemeClr val="tx2"/>
        </a:buClr>
        <a:buFontTx/>
        <a:buNone/>
        <a:defRPr lang="en-US" sz="1800" kern="1200" dirty="0" smtClean="0">
          <a:solidFill>
            <a:srgbClr val="435153"/>
          </a:solidFill>
          <a:latin typeface="+mj-lt"/>
          <a:ea typeface="+mn-ea"/>
          <a:cs typeface="+mn-cs"/>
        </a:defRPr>
      </a:lvl2pPr>
      <a:lvl3pPr marL="571500" indent="-1588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600" kern="1200" dirty="0" smtClean="0">
          <a:solidFill>
            <a:srgbClr val="435153"/>
          </a:solidFill>
          <a:latin typeface="+mj-lt"/>
          <a:ea typeface="+mn-ea"/>
          <a:cs typeface="+mn-cs"/>
        </a:defRPr>
      </a:lvl3pPr>
      <a:lvl4pPr marL="688975" indent="0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400" kern="1200" dirty="0" smtClean="0">
          <a:solidFill>
            <a:srgbClr val="435153"/>
          </a:solidFill>
          <a:latin typeface="+mj-lt"/>
          <a:ea typeface="+mn-ea"/>
          <a:cs typeface="+mn-cs"/>
        </a:defRPr>
      </a:lvl4pPr>
      <a:lvl5pPr marL="801688" indent="0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400" kern="1200" dirty="0">
          <a:solidFill>
            <a:srgbClr val="435153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1228725"/>
          </a:xfrm>
          <a:prstGeom prst="rect">
            <a:avLst/>
          </a:prstGeom>
          <a:solidFill>
            <a:srgbClr val="30677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ctr"/>
          <a:lstStyle>
            <a:lvl1pPr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white">
          <a:xfrm>
            <a:off x="655638" y="225425"/>
            <a:ext cx="8145462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Slide Title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1636713"/>
            <a:ext cx="7940675" cy="357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Body Text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9" name="AutoShape 6"/>
          <p:cNvSpPr>
            <a:spLocks noChangeArrowheads="1"/>
          </p:cNvSpPr>
          <p:nvPr/>
        </p:nvSpPr>
        <p:spPr bwMode="white">
          <a:xfrm rot="10800000">
            <a:off x="8756650" y="-9525"/>
            <a:ext cx="387350" cy="377825"/>
          </a:xfrm>
          <a:prstGeom prst="rtTriangl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ctr"/>
          <a:lstStyle>
            <a:lvl1pPr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7"/>
          <p:cNvSpPr>
            <a:spLocks noChangeArrowheads="1"/>
          </p:cNvSpPr>
          <p:nvPr/>
        </p:nvSpPr>
        <p:spPr bwMode="auto">
          <a:xfrm>
            <a:off x="0" y="6564313"/>
            <a:ext cx="9144000" cy="298450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ctr"/>
          <a:lstStyle>
            <a:lvl1pPr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0192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  <p:sldLayoutId id="2147483948" r:id="rId10"/>
    <p:sldLayoutId id="2147483949" r:id="rId11"/>
    <p:sldLayoutId id="2147483952" r:id="rId12"/>
    <p:sldLayoutId id="2147483953" r:id="rId13"/>
    <p:sldLayoutId id="2147483954" r:id="rId14"/>
    <p:sldLayoutId id="2147483955" r:id="rId15"/>
  </p:sldLayoutIdLst>
  <p:transition>
    <p:wipe dir="r"/>
  </p:transition>
  <p:txStyles>
    <p:titleStyle>
      <a:lvl1pPr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2pPr>
      <a:lvl3pPr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3pPr>
      <a:lvl4pPr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4pPr>
      <a:lvl5pPr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chemeClr val="accent1"/>
        </a:buClr>
        <a:buSzPct val="100000"/>
        <a:buFont typeface="Arial" charset="0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228600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chemeClr val="accent1"/>
        </a:buClr>
        <a:buFont typeface="Arial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chemeClr val="accent1"/>
        </a:buClr>
        <a:buFont typeface="Arial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-228600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chemeClr val="accent1"/>
        </a:buClr>
        <a:buFont typeface="Arial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chemeClr val="accent1"/>
        </a:buClr>
        <a:buFont typeface="Arial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3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9.xml"/><Relationship Id="rId5" Type="http://schemas.openxmlformats.org/officeDocument/2006/relationships/hyperlink" Target="https://creativecommons.org/licenses/by-nc/3.0/" TargetMode="External"/><Relationship Id="rId4" Type="http://schemas.openxmlformats.org/officeDocument/2006/relationships/hyperlink" Target="https://pngimg.com/download/3809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232224" y="2898532"/>
            <a:ext cx="8548802" cy="1311671"/>
          </a:xfrm>
        </p:spPr>
        <p:txBody>
          <a:bodyPr/>
          <a:lstStyle/>
          <a:p>
            <a:r>
              <a:rPr lang="en-US" sz="3600"/>
              <a:t>Securing </a:t>
            </a:r>
            <a:r>
              <a:rPr lang="en-US" sz="3600" dirty="0"/>
              <a:t>the Local Area Network</a:t>
            </a:r>
          </a:p>
        </p:txBody>
      </p:sp>
    </p:spTree>
    <p:extLst>
      <p:ext uri="{BB962C8B-B14F-4D97-AF65-F5344CB8AC3E}">
        <p14:creationId xmlns:p14="http://schemas.microsoft.com/office/powerpoint/2010/main" val="1289601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06645" y="1260990"/>
            <a:ext cx="8112125" cy="680748"/>
          </a:xfrm>
        </p:spPr>
        <p:txBody>
          <a:bodyPr/>
          <a:lstStyle/>
          <a:p>
            <a:r>
              <a:rPr lang="en-US" sz="3600"/>
              <a:t>Layer </a:t>
            </a:r>
            <a:r>
              <a:rPr lang="en-US" sz="3600" dirty="0"/>
              <a:t>2 Security Considerations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419100" y="2021862"/>
            <a:ext cx="8577072" cy="26186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Upon completion of the section, you should be able to:</a:t>
            </a:r>
          </a:p>
          <a:p>
            <a:r>
              <a:rPr lang="en-US" sz="2400">
                <a:solidFill>
                  <a:schemeClr val="tx1"/>
                </a:solidFill>
              </a:rPr>
              <a:t>Describe </a:t>
            </a:r>
            <a:r>
              <a:rPr lang="en-US" sz="2400" dirty="0">
                <a:solidFill>
                  <a:schemeClr val="tx1"/>
                </a:solidFill>
              </a:rPr>
              <a:t>CAM table overflow attacks.</a:t>
            </a:r>
          </a:p>
          <a:p>
            <a:r>
              <a:rPr lang="en-US" sz="2400" dirty="0">
                <a:solidFill>
                  <a:schemeClr val="tx1"/>
                </a:solidFill>
              </a:rPr>
              <a:t>Configure port security to mitigate CAM table overflow attacks.</a:t>
            </a:r>
          </a:p>
          <a:p>
            <a:r>
              <a:rPr lang="en-US" sz="2400" dirty="0">
                <a:solidFill>
                  <a:schemeClr val="tx1"/>
                </a:solidFill>
              </a:rPr>
              <a:t>Configure VLAN Truck security to mitigate VLAN hopping attacks.</a:t>
            </a:r>
          </a:p>
          <a:p>
            <a:r>
              <a:rPr lang="en-US" sz="2400" dirty="0">
                <a:solidFill>
                  <a:schemeClr val="tx1"/>
                </a:solidFill>
              </a:rPr>
              <a:t>Implement DHCP Snooping to mitigate DHCP attacks.</a:t>
            </a:r>
          </a:p>
          <a:p>
            <a:r>
              <a:rPr lang="en-US" sz="2400" dirty="0">
                <a:solidFill>
                  <a:schemeClr val="tx1"/>
                </a:solidFill>
              </a:rPr>
              <a:t>Implement Dynamic Arp Inspection to mitigate ARP attacks.</a:t>
            </a:r>
          </a:p>
          <a:p>
            <a:r>
              <a:rPr lang="en-US" sz="2400" dirty="0">
                <a:solidFill>
                  <a:schemeClr val="tx1"/>
                </a:solidFill>
              </a:rPr>
              <a:t>Implement IP Source Guard to mitigate address spoofing attacks.</a:t>
            </a:r>
          </a:p>
        </p:txBody>
      </p:sp>
    </p:spTree>
    <p:extLst>
      <p:ext uri="{BB962C8B-B14F-4D97-AF65-F5344CB8AC3E}">
        <p14:creationId xmlns:p14="http://schemas.microsoft.com/office/powerpoint/2010/main" val="19984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dirty="0"/>
              <a:t>Describe Layer 2 Vulnerabilities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1309688"/>
            <a:ext cx="7153275" cy="4839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7350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Switch Attack Categories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894" y="1286030"/>
            <a:ext cx="4494212" cy="503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219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28" y="4411226"/>
            <a:ext cx="7880168" cy="1730828"/>
          </a:xfrm>
          <a:prstGeom prst="rect">
            <a:avLst/>
          </a:prstGeom>
        </p:spPr>
      </p:pic>
      <p:sp>
        <p:nvSpPr>
          <p:cNvPr id="5" name="Title 2"/>
          <p:cNvSpPr>
            <a:spLocks noGrp="1"/>
          </p:cNvSpPr>
          <p:nvPr>
            <p:ph type="ctrTitle"/>
          </p:nvPr>
        </p:nvSpPr>
        <p:spPr>
          <a:xfrm>
            <a:off x="221393" y="399142"/>
            <a:ext cx="8548802" cy="4134758"/>
          </a:xfrm>
        </p:spPr>
        <p:txBody>
          <a:bodyPr/>
          <a:lstStyle/>
          <a:p>
            <a:r>
              <a:rPr lang="en-US" sz="2800"/>
              <a:t>Topic 1:</a:t>
            </a:r>
            <a:br>
              <a:rPr lang="en-US" sz="2800" dirty="0"/>
            </a:br>
            <a:r>
              <a:rPr lang="en-US" sz="2800" dirty="0"/>
              <a:t>CAM Table Attacks</a:t>
            </a:r>
          </a:p>
        </p:txBody>
      </p:sp>
    </p:spTree>
    <p:extLst>
      <p:ext uri="{BB962C8B-B14F-4D97-AF65-F5344CB8AC3E}">
        <p14:creationId xmlns:p14="http://schemas.microsoft.com/office/powerpoint/2010/main" val="3569599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Basic Switch Operation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420" y="2005013"/>
            <a:ext cx="7453160" cy="302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628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CAM Table Operation Example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354" y="1271720"/>
            <a:ext cx="6597445" cy="5012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9749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CAM Table Attack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3" y="1260166"/>
            <a:ext cx="4325092" cy="308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6233" y="2860676"/>
            <a:ext cx="4325092" cy="3349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1307254" y="4791075"/>
            <a:ext cx="2058249" cy="447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Fill CAM Table</a:t>
            </a:r>
          </a:p>
        </p:txBody>
      </p:sp>
      <p:sp>
        <p:nvSpPr>
          <p:cNvPr id="7" name="Text Placeholder 6"/>
          <p:cNvSpPr txBox="1">
            <a:spLocks/>
          </p:cNvSpPr>
          <p:nvPr/>
        </p:nvSpPr>
        <p:spPr>
          <a:xfrm>
            <a:off x="4836960" y="1647825"/>
            <a:ext cx="3608069" cy="54292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Intruder Runs Attack Tool</a:t>
            </a:r>
          </a:p>
        </p:txBody>
      </p:sp>
    </p:spTree>
    <p:extLst>
      <p:ext uri="{BB962C8B-B14F-4D97-AF65-F5344CB8AC3E}">
        <p14:creationId xmlns:p14="http://schemas.microsoft.com/office/powerpoint/2010/main" val="1706603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CAM Table Attack</a:t>
            </a:r>
          </a:p>
        </p:txBody>
      </p:sp>
      <p:sp>
        <p:nvSpPr>
          <p:cNvPr id="6" name="Text Placeholder 6"/>
          <p:cNvSpPr txBox="1">
            <a:spLocks/>
          </p:cNvSpPr>
          <p:nvPr/>
        </p:nvSpPr>
        <p:spPr>
          <a:xfrm>
            <a:off x="742950" y="4639229"/>
            <a:ext cx="2984504" cy="447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Attacker Captures Traffic</a:t>
            </a:r>
          </a:p>
        </p:txBody>
      </p:sp>
      <p:sp>
        <p:nvSpPr>
          <p:cNvPr id="7" name="Text Placeholder 6"/>
          <p:cNvSpPr txBox="1">
            <a:spLocks/>
          </p:cNvSpPr>
          <p:nvPr/>
        </p:nvSpPr>
        <p:spPr>
          <a:xfrm>
            <a:off x="4836959" y="1819275"/>
            <a:ext cx="3608069" cy="54292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Switch Floods All Traffic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82" y="1279832"/>
            <a:ext cx="4325092" cy="3283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7633" y="2955926"/>
            <a:ext cx="4325092" cy="3309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5810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CAM Table Attack Tools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98" y="2503884"/>
            <a:ext cx="8307205" cy="1850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1473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28" y="4411226"/>
            <a:ext cx="7880168" cy="1730828"/>
          </a:xfrm>
          <a:prstGeom prst="rect">
            <a:avLst/>
          </a:prstGeom>
        </p:spPr>
      </p:pic>
      <p:sp>
        <p:nvSpPr>
          <p:cNvPr id="5" name="Title 2"/>
          <p:cNvSpPr>
            <a:spLocks noGrp="1"/>
          </p:cNvSpPr>
          <p:nvPr>
            <p:ph type="ctrTitle"/>
          </p:nvPr>
        </p:nvSpPr>
        <p:spPr>
          <a:xfrm>
            <a:off x="221393" y="399142"/>
            <a:ext cx="8548802" cy="4134758"/>
          </a:xfrm>
        </p:spPr>
        <p:txBody>
          <a:bodyPr/>
          <a:lstStyle/>
          <a:p>
            <a:br>
              <a:rPr lang="en-US" sz="2800" dirty="0"/>
            </a:br>
            <a:r>
              <a:rPr lang="en-US" sz="2800" dirty="0"/>
              <a:t>Mitigating CAM Table Attacks</a:t>
            </a:r>
          </a:p>
        </p:txBody>
      </p:sp>
    </p:spTree>
    <p:extLst>
      <p:ext uri="{BB962C8B-B14F-4D97-AF65-F5344CB8AC3E}">
        <p14:creationId xmlns:p14="http://schemas.microsoft.com/office/powerpoint/2010/main" val="1696430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Countermeasure for CAM Table Attacks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179" y="1279525"/>
            <a:ext cx="6187643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453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Port Security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1284287"/>
            <a:ext cx="4950988" cy="123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468" y="2631281"/>
            <a:ext cx="4611064" cy="2127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299" y="4875213"/>
            <a:ext cx="4499149" cy="140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6"/>
          <p:cNvSpPr txBox="1">
            <a:spLocks/>
          </p:cNvSpPr>
          <p:nvPr/>
        </p:nvSpPr>
        <p:spPr>
          <a:xfrm>
            <a:off x="5476875" y="1675605"/>
            <a:ext cx="2984504" cy="447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Enabling Port Security</a:t>
            </a: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295275" y="3323431"/>
            <a:ext cx="1752600" cy="7429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Verifying Port Security</a:t>
            </a:r>
          </a:p>
        </p:txBody>
      </p:sp>
      <p:sp>
        <p:nvSpPr>
          <p:cNvPr id="9" name="Text Placeholder 6"/>
          <p:cNvSpPr txBox="1">
            <a:spLocks/>
          </p:cNvSpPr>
          <p:nvPr/>
        </p:nvSpPr>
        <p:spPr>
          <a:xfrm>
            <a:off x="1323975" y="5352256"/>
            <a:ext cx="2686050" cy="447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Port Security Options</a:t>
            </a:r>
          </a:p>
        </p:txBody>
      </p:sp>
    </p:spTree>
    <p:extLst>
      <p:ext uri="{BB962C8B-B14F-4D97-AF65-F5344CB8AC3E}">
        <p14:creationId xmlns:p14="http://schemas.microsoft.com/office/powerpoint/2010/main" val="3299027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Enabling Port Security Options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54943" y="1638854"/>
            <a:ext cx="7783184" cy="1167846"/>
            <a:chOff x="354943" y="1276904"/>
            <a:chExt cx="7783184" cy="1167846"/>
          </a:xfrm>
        </p:grpSpPr>
        <p:sp>
          <p:nvSpPr>
            <p:cNvPr id="5" name="Text Placeholder 6"/>
            <p:cNvSpPr txBox="1">
              <a:spLocks/>
            </p:cNvSpPr>
            <p:nvPr/>
          </p:nvSpPr>
          <p:spPr>
            <a:xfrm>
              <a:off x="394302" y="1276904"/>
              <a:ext cx="7743825" cy="44767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5000"/>
                </a:lnSpc>
                <a:spcBef>
                  <a:spcPts val="1440"/>
                </a:spcBef>
                <a:buClr>
                  <a:srgbClr val="493B93"/>
                </a:buClr>
                <a:buSzPct val="90000"/>
                <a:buFont typeface="Arial" pitchFamily="34" charset="0"/>
                <a:buChar char="•"/>
                <a:tabLst/>
                <a:defRPr lang="en-US" sz="22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1pPr>
              <a:lvl2pPr marL="406400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Clr>
                  <a:schemeClr val="tx2"/>
                </a:buClr>
                <a:buFontTx/>
                <a:buNone/>
                <a:defRPr lang="en-US" sz="18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2pPr>
              <a:lvl3pPr marL="571500" indent="-1588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6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3pPr>
              <a:lvl4pPr marL="688975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4pPr>
              <a:lvl5pPr marL="801688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dirty="0">
                  <a:solidFill>
                    <a:schemeClr val="tx1"/>
                  </a:solidFill>
                </a:rPr>
                <a:t>Setting the Maximum Number of Mac Addresses</a:t>
              </a:r>
            </a:p>
          </p:txBody>
        </p:sp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4943" y="1724579"/>
              <a:ext cx="7753772" cy="720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3"/>
          <p:cNvGrpSpPr/>
          <p:nvPr/>
        </p:nvGrpSpPr>
        <p:grpSpPr>
          <a:xfrm>
            <a:off x="354943" y="3140655"/>
            <a:ext cx="7753772" cy="1127074"/>
            <a:chOff x="354943" y="2658584"/>
            <a:chExt cx="7753772" cy="1127074"/>
          </a:xfrm>
        </p:grpSpPr>
        <p:pic>
          <p:nvPicPr>
            <p:cNvPr id="7171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4943" y="3096180"/>
              <a:ext cx="7753772" cy="689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 Placeholder 6"/>
            <p:cNvSpPr txBox="1">
              <a:spLocks/>
            </p:cNvSpPr>
            <p:nvPr/>
          </p:nvSpPr>
          <p:spPr>
            <a:xfrm>
              <a:off x="354943" y="2658584"/>
              <a:ext cx="7743825" cy="44767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5000"/>
                </a:lnSpc>
                <a:spcBef>
                  <a:spcPts val="1440"/>
                </a:spcBef>
                <a:buClr>
                  <a:srgbClr val="493B93"/>
                </a:buClr>
                <a:buSzPct val="90000"/>
                <a:buFont typeface="Arial" pitchFamily="34" charset="0"/>
                <a:buChar char="•"/>
                <a:tabLst/>
                <a:defRPr lang="en-US" sz="22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1pPr>
              <a:lvl2pPr marL="406400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Clr>
                  <a:schemeClr val="tx2"/>
                </a:buClr>
                <a:buFontTx/>
                <a:buNone/>
                <a:defRPr lang="en-US" sz="18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2pPr>
              <a:lvl3pPr marL="571500" indent="-1588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6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3pPr>
              <a:lvl4pPr marL="688975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4pPr>
              <a:lvl5pPr marL="801688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dirty="0">
                  <a:solidFill>
                    <a:schemeClr val="tx1"/>
                  </a:solidFill>
                </a:rPr>
                <a:t>Manually Configuring Mac Addresses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74782" y="4601683"/>
            <a:ext cx="7743825" cy="1139171"/>
            <a:chOff x="374782" y="4239733"/>
            <a:chExt cx="7743825" cy="1139171"/>
          </a:xfrm>
        </p:grpSpPr>
        <p:pic>
          <p:nvPicPr>
            <p:cNvPr id="7172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4302" y="4687408"/>
              <a:ext cx="7665105" cy="691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Placeholder 6"/>
            <p:cNvSpPr txBox="1">
              <a:spLocks/>
            </p:cNvSpPr>
            <p:nvPr/>
          </p:nvSpPr>
          <p:spPr>
            <a:xfrm>
              <a:off x="374782" y="4239733"/>
              <a:ext cx="7743825" cy="44767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5000"/>
                </a:lnSpc>
                <a:spcBef>
                  <a:spcPts val="1440"/>
                </a:spcBef>
                <a:buClr>
                  <a:srgbClr val="493B93"/>
                </a:buClr>
                <a:buSzPct val="90000"/>
                <a:buFont typeface="Arial" pitchFamily="34" charset="0"/>
                <a:buChar char="•"/>
                <a:tabLst/>
                <a:defRPr lang="en-US" sz="22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1pPr>
              <a:lvl2pPr marL="406400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Clr>
                  <a:schemeClr val="tx2"/>
                </a:buClr>
                <a:buFontTx/>
                <a:buNone/>
                <a:defRPr lang="en-US" sz="18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2pPr>
              <a:lvl3pPr marL="571500" indent="-1588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6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3pPr>
              <a:lvl4pPr marL="688975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4pPr>
              <a:lvl5pPr marL="801688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dirty="0">
                  <a:solidFill>
                    <a:schemeClr val="tx1"/>
                  </a:solidFill>
                </a:rPr>
                <a:t>Learning Connected Mac Addresses Dynamically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9672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Port Security Violations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276225" y="1443545"/>
            <a:ext cx="3143250" cy="18711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Security Violation Modes:</a:t>
            </a:r>
          </a:p>
          <a:p>
            <a:r>
              <a:rPr lang="en-US" sz="2000" dirty="0">
                <a:solidFill>
                  <a:schemeClr val="tx1"/>
                </a:solidFill>
              </a:rPr>
              <a:t>Protect</a:t>
            </a:r>
          </a:p>
          <a:p>
            <a:r>
              <a:rPr lang="en-US" sz="2000" dirty="0">
                <a:solidFill>
                  <a:schemeClr val="tx1"/>
                </a:solidFill>
              </a:rPr>
              <a:t>Restrict </a:t>
            </a:r>
          </a:p>
          <a:p>
            <a:r>
              <a:rPr lang="en-US" sz="2000" dirty="0">
                <a:solidFill>
                  <a:schemeClr val="tx1"/>
                </a:solidFill>
              </a:rPr>
              <a:t>Shutdown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07" y="3648075"/>
            <a:ext cx="8523387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182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Port Security Aging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3" y="1624013"/>
            <a:ext cx="8477254" cy="420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2926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Port Security with IP Phones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99" y="1458679"/>
            <a:ext cx="1304925" cy="4177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435" y="2903538"/>
            <a:ext cx="6663067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7918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28" y="4411226"/>
            <a:ext cx="7880168" cy="1730828"/>
          </a:xfrm>
          <a:prstGeom prst="rect">
            <a:avLst/>
          </a:prstGeom>
        </p:spPr>
      </p:pic>
      <p:sp>
        <p:nvSpPr>
          <p:cNvPr id="5" name="Title 2"/>
          <p:cNvSpPr>
            <a:spLocks noGrp="1"/>
          </p:cNvSpPr>
          <p:nvPr>
            <p:ph type="ctrTitle"/>
          </p:nvPr>
        </p:nvSpPr>
        <p:spPr>
          <a:xfrm>
            <a:off x="221393" y="399142"/>
            <a:ext cx="8548802" cy="4134758"/>
          </a:xfrm>
        </p:spPr>
        <p:txBody>
          <a:bodyPr/>
          <a:lstStyle/>
          <a:p>
            <a:r>
              <a:rPr lang="en-US" sz="2800"/>
              <a:t>Topic 2:</a:t>
            </a:r>
            <a:br>
              <a:rPr lang="en-US" sz="2800" dirty="0"/>
            </a:br>
            <a:r>
              <a:rPr lang="en-US" sz="2800" dirty="0"/>
              <a:t>Mitigating VLAN Attacks</a:t>
            </a:r>
          </a:p>
        </p:txBody>
      </p:sp>
    </p:spTree>
    <p:extLst>
      <p:ext uri="{BB962C8B-B14F-4D97-AF65-F5344CB8AC3E}">
        <p14:creationId xmlns:p14="http://schemas.microsoft.com/office/powerpoint/2010/main" val="2028501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VLAN Hopping Attacks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24" y="1387475"/>
            <a:ext cx="8482352" cy="459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886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VLAN Double-Tagging Attack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" y="1279886"/>
            <a:ext cx="2860675" cy="219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88533" y="1443038"/>
            <a:ext cx="3399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Step 1 – Double Tagging Attack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1426" y="2615591"/>
            <a:ext cx="2874874" cy="2538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425" y="4148138"/>
            <a:ext cx="3602114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584033" y="3023836"/>
            <a:ext cx="3399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Step 2 – Double Tagging Attack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9696" y="5237163"/>
            <a:ext cx="3399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Step 3 – Double Tagging Attack</a:t>
            </a:r>
          </a:p>
        </p:txBody>
      </p:sp>
    </p:spTree>
    <p:extLst>
      <p:ext uri="{BB962C8B-B14F-4D97-AF65-F5344CB8AC3E}">
        <p14:creationId xmlns:p14="http://schemas.microsoft.com/office/powerpoint/2010/main" val="218973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Mitigating VLAN Hopping Attacks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699" y="2334727"/>
            <a:ext cx="7320767" cy="4196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648494" y="1882775"/>
            <a:ext cx="78470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accent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25425" indent="-225425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SzPct val="100000"/>
              <a:buFont typeface="Arial" charset="0"/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charset="0"/>
              <a:buChar char="•"/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charset="0"/>
              <a:buChar char="•"/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 typeface="Wingdings" pitchFamily="2" charset="2"/>
              <a:buChar char="§"/>
            </a:pPr>
            <a:r>
              <a:rPr lang="fr-FR" altLang="en-US" sz="2000" b="0"/>
              <a:t>Configure port as an access port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48494" y="1482725"/>
            <a:ext cx="7847012" cy="4000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SzPct val="100000"/>
              <a:buFont typeface="Arial" charset="0"/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charset="0"/>
              <a:buChar char="•"/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charset="0"/>
              <a:buChar char="•"/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Courier New" pitchFamily="49" charset="0"/>
              </a:rPr>
              <a:t>switch(config-if)# </a:t>
            </a:r>
            <a:r>
              <a:rPr lang="en-US" altLang="en-US" sz="2000">
                <a:solidFill>
                  <a:srgbClr val="FF0000"/>
                </a:solidFill>
                <a:latin typeface="Courier New" pitchFamily="49" charset="0"/>
              </a:rPr>
              <a:t>switchport mode access</a:t>
            </a:r>
            <a:endParaRPr lang="en-GB" altLang="en-US" sz="2000">
              <a:solidFill>
                <a:srgbClr val="FF0000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085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55638" y="3606800"/>
            <a:ext cx="7802562" cy="965200"/>
          </a:xfrm>
          <a:noFill/>
        </p:spPr>
        <p:txBody>
          <a:bodyPr/>
          <a:lstStyle/>
          <a:p>
            <a:r>
              <a:rPr lang="en-US" altLang="zh-CN">
                <a:solidFill>
                  <a:srgbClr val="FFFFFF"/>
                </a:solidFill>
                <a:ea typeface="宋体" pitchFamily="2" charset="-122"/>
              </a:rPr>
              <a:t>SPAN</a:t>
            </a:r>
          </a:p>
        </p:txBody>
      </p:sp>
      <p:sp>
        <p:nvSpPr>
          <p:cNvPr id="28675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altLang="en-US"/>
              <a:t>Implementing Switch Port Analyzer</a:t>
            </a:r>
          </a:p>
        </p:txBody>
      </p:sp>
    </p:spTree>
    <p:extLst>
      <p:ext uri="{BB962C8B-B14F-4D97-AF65-F5344CB8AC3E}">
        <p14:creationId xmlns:p14="http://schemas.microsoft.com/office/powerpoint/2010/main" val="294232487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Switch Port Analyzer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4325" y="1485900"/>
            <a:ext cx="8486775" cy="4156075"/>
          </a:xfrm>
        </p:spPr>
        <p:txBody>
          <a:bodyPr/>
          <a:lstStyle/>
          <a:p>
            <a:pPr marL="285750" indent="-285750"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en-US" altLang="en-US" sz="2000" b="0"/>
              <a:t>The Switch Port Analyzer (SPAN) feature is used to mirror traffic from one source switch port or VLAN to a destination port.</a:t>
            </a:r>
          </a:p>
          <a:p>
            <a:pPr marL="285750" indent="-285750"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en-US" altLang="en-US" sz="2000" b="0"/>
              <a:t>It allows a monitoring device, such as a network analyzer or “sniffer”, to be attached to the destination port for capturing traffic.</a:t>
            </a:r>
          </a:p>
          <a:p>
            <a:pPr marL="285750" indent="-285750"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en-US" altLang="en-US" sz="2000" b="0"/>
              <a:t>SPAN is available in two different forms:</a:t>
            </a:r>
          </a:p>
          <a:p>
            <a:pPr marL="628650" lvl="1" indent="-285750"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altLang="en-US"/>
              <a:t>SPAN:</a:t>
            </a:r>
            <a:r>
              <a:rPr lang="en-US" altLang="en-US" b="0"/>
              <a:t> Both the SPAN source and destination are located on the same switch.</a:t>
            </a:r>
          </a:p>
          <a:p>
            <a:pPr marL="628650" lvl="1" indent="-285750"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altLang="en-US"/>
              <a:t>Remote SPAN (RSPAN):</a:t>
            </a:r>
            <a:r>
              <a:rPr lang="en-US" altLang="en-US" b="0"/>
              <a:t> The SPAN source and destination are located on different switches. Mirrored traffic is copied over a special – purpose  VLAN across trunks between switches from the source to the destination.</a:t>
            </a:r>
          </a:p>
          <a:p>
            <a:pPr marL="285750" indent="-285750"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endParaRPr lang="en-US" altLang="en-US" sz="2000" b="0"/>
          </a:p>
        </p:txBody>
      </p:sp>
    </p:spTree>
    <p:extLst>
      <p:ext uri="{BB962C8B-B14F-4D97-AF65-F5344CB8AC3E}">
        <p14:creationId xmlns:p14="http://schemas.microsoft.com/office/powerpoint/2010/main" val="2369212480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SPAN</a:t>
            </a:r>
          </a:p>
        </p:txBody>
      </p:sp>
      <p:pic>
        <p:nvPicPr>
          <p:cNvPr id="3072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5" y="1414463"/>
            <a:ext cx="7010400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Rectangle 1"/>
          <p:cNvSpPr>
            <a:spLocks noChangeArrowheads="1"/>
          </p:cNvSpPr>
          <p:nvPr/>
        </p:nvSpPr>
        <p:spPr bwMode="auto">
          <a:xfrm>
            <a:off x="477838" y="5394325"/>
            <a:ext cx="80930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SzPct val="100000"/>
              <a:buFont typeface="Arial" charset="0"/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charset="0"/>
              <a:buChar char="•"/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charset="0"/>
              <a:buChar char="•"/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0"/>
              <a:t>Both the SPAN source and destination are located on the same switch.</a:t>
            </a:r>
          </a:p>
        </p:txBody>
      </p:sp>
    </p:spTree>
    <p:extLst>
      <p:ext uri="{BB962C8B-B14F-4D97-AF65-F5344CB8AC3E}">
        <p14:creationId xmlns:p14="http://schemas.microsoft.com/office/powerpoint/2010/main" val="3733691212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SPAN Configuration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1636713"/>
            <a:ext cx="8459787" cy="4156075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en-US" sz="2000" b="0"/>
              <a:t>Define the source of the SPAN session data:</a:t>
            </a:r>
          </a:p>
          <a:p>
            <a:pPr eaLnBrk="1" hangingPunct="1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)# </a:t>
            </a:r>
            <a:r>
              <a:rPr lang="en-US" sz="2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monitor </a:t>
            </a:r>
            <a:r>
              <a:rPr lang="en-US" sz="2000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session-id </a:t>
            </a:r>
            <a:r>
              <a:rPr lang="en-US" sz="2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source {</a:t>
            </a:r>
            <a:r>
              <a:rPr lang="en-US" sz="200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US" sz="2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i="1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US" sz="2000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-list</a:t>
            </a:r>
            <a:r>
              <a:rPr lang="en-US" sz="2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| interface </a:t>
            </a:r>
            <a:r>
              <a:rPr lang="en-US" sz="2000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interface-number</a:t>
            </a:r>
            <a:r>
              <a:rPr lang="en-US" sz="2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[</a:t>
            </a:r>
            <a:r>
              <a:rPr lang="en-US" sz="200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tx</a:t>
            </a:r>
            <a:r>
              <a:rPr lang="en-US" sz="2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200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rx</a:t>
            </a:r>
            <a:r>
              <a:rPr lang="en-US" sz="2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| both]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i="1">
                <a:latin typeface="Courier New" panose="02070309020205020404" pitchFamily="49" charset="0"/>
                <a:cs typeface="Courier New" panose="02070309020205020404" pitchFamily="49" charset="0"/>
              </a:rPr>
              <a:t>session-id:</a:t>
            </a:r>
            <a:r>
              <a:rPr lang="en-US" altLang="en-US" sz="2000" b="0"/>
              <a:t> Uniquely identify the SPAN session.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source interface </a:t>
            </a:r>
            <a:r>
              <a:rPr lang="en-US" altLang="en-US" sz="2000" i="1">
                <a:latin typeface="Courier New" panose="02070309020205020404" pitchFamily="49" charset="0"/>
                <a:cs typeface="Courier New" panose="02070309020205020404" pitchFamily="49" charset="0"/>
              </a:rPr>
              <a:t>interface-number:</a:t>
            </a:r>
            <a:r>
              <a:rPr lang="en-US" altLang="en-US" sz="2000" b="0"/>
              <a:t> Specify the interface which traffic incoming or outgoing traffic will be monitored.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source </a:t>
            </a:r>
            <a:r>
              <a:rPr lang="en-US" alt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i="1" err="1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US" altLang="en-US" sz="2000" i="1">
                <a:latin typeface="Courier New" panose="02070309020205020404" pitchFamily="49" charset="0"/>
                <a:cs typeface="Courier New" panose="02070309020205020404" pitchFamily="49" charset="0"/>
              </a:rPr>
              <a:t>-list:</a:t>
            </a:r>
            <a:r>
              <a:rPr lang="en-US" altLang="en-US" sz="2000" b="0"/>
              <a:t> Specify the </a:t>
            </a:r>
            <a:r>
              <a:rPr lang="en-US" altLang="en-US" sz="2000" b="0" err="1"/>
              <a:t>VLANs</a:t>
            </a:r>
            <a:r>
              <a:rPr lang="en-US" altLang="en-US" sz="2000" b="0"/>
              <a:t> which traffic transit through will be monitored.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tx</a:t>
            </a: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alt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rx</a:t>
            </a: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| both:</a:t>
            </a:r>
            <a:r>
              <a:rPr lang="en-US" altLang="en-US" sz="2000" b="0"/>
              <a:t> Traffic can be selected for mirroring based on the direction it is traveling the SPAN source (</a:t>
            </a:r>
            <a:r>
              <a:rPr lang="en-US" altLang="en-US" sz="2000" b="0" err="1"/>
              <a:t>tx</a:t>
            </a:r>
            <a:r>
              <a:rPr lang="en-US" altLang="en-US" sz="2000" b="0"/>
              <a:t>: transmitted from the source, </a:t>
            </a:r>
            <a:r>
              <a:rPr lang="en-US" altLang="en-US" sz="2000" b="0" err="1"/>
              <a:t>rx</a:t>
            </a:r>
            <a:r>
              <a:rPr lang="en-US" altLang="en-US" sz="2000" b="0"/>
              <a:t>: received from the source, both: traffic in both directions).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/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2086609205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SPAN Configuration (Cont.)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4788" y="1527175"/>
            <a:ext cx="8734425" cy="4459288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en-US" sz="2000" b="0"/>
              <a:t>Identify the SPAN destination: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)# </a:t>
            </a:r>
            <a:r>
              <a:rPr lang="en-US" sz="2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monitor </a:t>
            </a:r>
            <a:r>
              <a:rPr lang="en-US" sz="2000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session-id</a:t>
            </a:r>
            <a:r>
              <a:rPr lang="en-US" sz="2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destination interface </a:t>
            </a:r>
            <a:r>
              <a:rPr lang="en-US" sz="2000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interface-number</a:t>
            </a:r>
            <a:r>
              <a:rPr lang="en-US" sz="2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[encapsulation replicate][ingress {</a:t>
            </a:r>
            <a:r>
              <a:rPr lang="en-US" sz="200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US" sz="2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i="1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US" sz="2000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-id</a:t>
            </a:r>
            <a:r>
              <a:rPr lang="en-US" sz="2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200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dot1q</a:t>
            </a:r>
            <a:r>
              <a:rPr lang="en-US" sz="2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US" sz="2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i="1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US" sz="2000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-id</a:t>
            </a:r>
            <a:r>
              <a:rPr lang="en-US" sz="2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200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isl</a:t>
            </a:r>
            <a:r>
              <a:rPr lang="en-US" sz="2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}]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i="1">
                <a:latin typeface="Courier New" panose="02070309020205020404" pitchFamily="49" charset="0"/>
                <a:cs typeface="Courier New" panose="02070309020205020404" pitchFamily="49" charset="0"/>
              </a:rPr>
              <a:t>session-id:</a:t>
            </a:r>
            <a:r>
              <a:rPr lang="en-US" altLang="en-US" sz="2000" b="0"/>
              <a:t> Uniquely identify the SPAN session.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destination interface </a:t>
            </a:r>
            <a:r>
              <a:rPr lang="en-US" altLang="en-US" sz="2000" i="1">
                <a:latin typeface="Courier New" panose="02070309020205020404" pitchFamily="49" charset="0"/>
                <a:cs typeface="Courier New" panose="02070309020205020404" pitchFamily="49" charset="0"/>
              </a:rPr>
              <a:t>interface-number:</a:t>
            </a:r>
            <a:r>
              <a:rPr lang="en-US" altLang="en-US" sz="2000" b="0"/>
              <a:t> Identify the destination interface used by the session.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encapsulation replicate</a:t>
            </a:r>
            <a:r>
              <a:rPr lang="en-US" altLang="en-US" sz="2000" i="1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altLang="en-US" sz="2000" b="0"/>
              <a:t> Capture any </a:t>
            </a:r>
            <a:r>
              <a:rPr lang="en-US" altLang="en-US" sz="2000" b="0" err="1"/>
              <a:t>VLAN</a:t>
            </a:r>
            <a:r>
              <a:rPr lang="en-US" altLang="en-US" sz="2000" b="0"/>
              <a:t> tagging information of the Layer 2 Protocol packets.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ingress </a:t>
            </a:r>
            <a:r>
              <a:rPr lang="en-US" alt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i="1" err="1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US" altLang="en-US" sz="2000" i="1">
                <a:latin typeface="Courier New" panose="02070309020205020404" pitchFamily="49" charset="0"/>
                <a:cs typeface="Courier New" panose="02070309020205020404" pitchFamily="49" charset="0"/>
              </a:rPr>
              <a:t>-id:</a:t>
            </a:r>
            <a:r>
              <a:rPr lang="en-US" altLang="en-US" sz="2000" b="0"/>
              <a:t> Allows sending traffic into the destination port. Sending traffic will be sent untagged to </a:t>
            </a:r>
            <a:r>
              <a:rPr lang="en-US" altLang="en-US" sz="2000" b="0" err="1"/>
              <a:t>VLAN</a:t>
            </a:r>
            <a:r>
              <a:rPr lang="en-US" altLang="en-US" sz="2000" b="0"/>
              <a:t> </a:t>
            </a:r>
            <a:r>
              <a:rPr lang="en-US" altLang="en-US" sz="2000" b="0" err="1"/>
              <a:t>vlan</a:t>
            </a:r>
            <a:r>
              <a:rPr lang="en-US" altLang="en-US" sz="2000" b="0"/>
              <a:t>-id.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ingress {</a:t>
            </a:r>
            <a:r>
              <a:rPr lang="en-US" alt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dot1q</a:t>
            </a: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i="1" err="1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US" altLang="en-US" sz="2000" i="1">
                <a:latin typeface="Courier New" panose="02070309020205020404" pitchFamily="49" charset="0"/>
                <a:cs typeface="Courier New" panose="02070309020205020404" pitchFamily="49" charset="0"/>
              </a:rPr>
              <a:t>-id</a:t>
            </a: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alt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isl</a:t>
            </a: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en-US" sz="2000" i="1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altLang="en-US" sz="2000" b="0"/>
              <a:t> Allows sending traffic into the destination port. Sending traffic will be sent with tag </a:t>
            </a:r>
            <a:r>
              <a:rPr lang="en-US" altLang="en-US" sz="2000" b="0" err="1"/>
              <a:t>dot1q</a:t>
            </a:r>
            <a:r>
              <a:rPr lang="en-US" altLang="en-US" sz="2000" b="0"/>
              <a:t> or ISL. With </a:t>
            </a:r>
            <a:r>
              <a:rPr lang="en-US" altLang="en-US" sz="2000" b="0" err="1"/>
              <a:t>dot1q</a:t>
            </a:r>
            <a:r>
              <a:rPr lang="en-US" altLang="en-US" sz="2000" b="0"/>
              <a:t> tag, native </a:t>
            </a:r>
            <a:r>
              <a:rPr lang="en-US" altLang="en-US" sz="2000" b="0" err="1"/>
              <a:t>VLAN</a:t>
            </a:r>
            <a:r>
              <a:rPr lang="en-US" altLang="en-US" sz="2000" b="0"/>
              <a:t> is specified.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 b="0"/>
          </a:p>
        </p:txBody>
      </p:sp>
    </p:spTree>
    <p:extLst>
      <p:ext uri="{BB962C8B-B14F-4D97-AF65-F5344CB8AC3E}">
        <p14:creationId xmlns:p14="http://schemas.microsoft.com/office/powerpoint/2010/main" val="3405387157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SPAN Configuration (Cont.)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1775" y="1636713"/>
            <a:ext cx="8912225" cy="4459287"/>
          </a:xfrm>
          <a:ln w="28575"/>
        </p:spPr>
        <p:txBody>
          <a:bodyPr/>
          <a:lstStyle/>
          <a:p>
            <a:pPr marL="285750" indent="-285750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000" b="0"/>
              <a:t>Example: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SW(</a:t>
            </a:r>
            <a:r>
              <a:rPr lang="en-US" altLang="en-US" sz="180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)# </a:t>
            </a:r>
            <a:r>
              <a:rPr lang="en-US" altLang="en-US" sz="18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monitor session 1 source interface </a:t>
            </a:r>
            <a:r>
              <a:rPr lang="en-US" altLang="en-US" sz="180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g1</a:t>
            </a:r>
            <a:r>
              <a:rPr lang="en-US" altLang="en-US" sz="18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/0/1 both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SW(</a:t>
            </a:r>
            <a:r>
              <a:rPr lang="en-US" altLang="en-US" sz="180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)# </a:t>
            </a:r>
            <a:r>
              <a:rPr lang="en-US" altLang="en-US" sz="18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monitor session 1 destination interface </a:t>
            </a:r>
            <a:r>
              <a:rPr lang="en-US" altLang="en-US" sz="180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g1</a:t>
            </a:r>
            <a:r>
              <a:rPr lang="en-US" altLang="en-US" sz="18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/0/48</a:t>
            </a:r>
          </a:p>
          <a:p>
            <a:pPr marL="342900" indent="-34290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000" b="0"/>
              <a:t>Monitoring traffic going to and coming from a device connected to the interface </a:t>
            </a:r>
            <a:r>
              <a:rPr lang="en-US" altLang="en-US" sz="2000" b="0" err="1"/>
              <a:t>g1</a:t>
            </a:r>
            <a:r>
              <a:rPr lang="en-US" altLang="en-US" sz="2000" b="0"/>
              <a:t>/0/1 and the network analyzer is connected to the interface </a:t>
            </a:r>
            <a:r>
              <a:rPr lang="en-US" altLang="en-US" sz="2000" b="0" err="1"/>
              <a:t>g1</a:t>
            </a:r>
            <a:r>
              <a:rPr lang="en-US" altLang="en-US" sz="2000" b="0"/>
              <a:t>/0/48.</a:t>
            </a:r>
          </a:p>
        </p:txBody>
      </p:sp>
    </p:spTree>
    <p:extLst>
      <p:ext uri="{BB962C8B-B14F-4D97-AF65-F5344CB8AC3E}">
        <p14:creationId xmlns:p14="http://schemas.microsoft.com/office/powerpoint/2010/main" val="2488304949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Introduction to the Spanning Tree Protocol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86" y="1514474"/>
            <a:ext cx="8276828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2193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Spanning Tree Manipulation</a:t>
            </a:r>
          </a:p>
        </p:txBody>
      </p:sp>
      <p:grpSp>
        <p:nvGrpSpPr>
          <p:cNvPr id="19459" name="Group 3"/>
          <p:cNvGrpSpPr>
            <a:grpSpLocks/>
          </p:cNvGrpSpPr>
          <p:nvPr/>
        </p:nvGrpSpPr>
        <p:grpSpPr bwMode="auto">
          <a:xfrm>
            <a:off x="450850" y="1819275"/>
            <a:ext cx="8186738" cy="3902075"/>
            <a:chOff x="451673" y="1996809"/>
            <a:chExt cx="8186230" cy="3901128"/>
          </a:xfrm>
        </p:grpSpPr>
        <p:sp>
          <p:nvSpPr>
            <p:cNvPr id="19460" name="AutoShape 8"/>
            <p:cNvSpPr>
              <a:spLocks noChangeArrowheads="1"/>
            </p:cNvSpPr>
            <p:nvPr/>
          </p:nvSpPr>
          <p:spPr bwMode="auto">
            <a:xfrm>
              <a:off x="4167673" y="3290401"/>
              <a:ext cx="1066800" cy="914400"/>
            </a:xfrm>
            <a:prstGeom prst="rightArrow">
              <a:avLst>
                <a:gd name="adj1" fmla="val 50000"/>
                <a:gd name="adj2" fmla="val 29167"/>
              </a:avLst>
            </a:prstGeom>
            <a:solidFill>
              <a:srgbClr val="D0343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2124" tIns="41061" rIns="82124" bIns="41061" anchor="ctr"/>
            <a:lstStyle>
              <a:lvl1pPr>
                <a:lnSpc>
                  <a:spcPct val="95000"/>
                </a:lnSpc>
                <a:spcBef>
                  <a:spcPct val="35000"/>
                </a:spcBef>
                <a:buClr>
                  <a:schemeClr val="accent1"/>
                </a:buClr>
                <a:buSzPct val="100000"/>
                <a:buFont typeface="Arial" charset="0"/>
                <a:defRPr sz="2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lnSpc>
                  <a:spcPct val="95000"/>
                </a:lnSpc>
                <a:spcBef>
                  <a:spcPct val="35000"/>
                </a:spcBef>
                <a:buClr>
                  <a:schemeClr val="accent1"/>
                </a:buClr>
                <a:buFont typeface="Arial" charset="0"/>
                <a:buChar char="•"/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lnSpc>
                  <a:spcPct val="95000"/>
                </a:lnSpc>
                <a:spcBef>
                  <a:spcPct val="35000"/>
                </a:spcBef>
                <a:buClr>
                  <a:schemeClr val="accent1"/>
                </a:buClr>
                <a:buFont typeface="Arial" charset="0"/>
                <a:buChar char="–"/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lnSpc>
                  <a:spcPct val="95000"/>
                </a:lnSpc>
                <a:spcBef>
                  <a:spcPct val="35000"/>
                </a:spcBef>
                <a:buClr>
                  <a:schemeClr val="accent1"/>
                </a:buClr>
                <a:buFont typeface="Arial" charset="0"/>
                <a:buChar char="•"/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lnSpc>
                  <a:spcPct val="95000"/>
                </a:lnSpc>
                <a:spcBef>
                  <a:spcPct val="35000"/>
                </a:spcBef>
                <a:buClr>
                  <a:schemeClr val="accent1"/>
                </a:buClr>
                <a:buFont typeface="Arial" charset="0"/>
                <a:buChar char="–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lnSpc>
                  <a:spcPct val="95000"/>
                </a:lnSpc>
                <a:spcBef>
                  <a:spcPct val="35000"/>
                </a:spcBef>
                <a:spcAft>
                  <a:spcPct val="0"/>
                </a:spcAft>
                <a:buClr>
                  <a:schemeClr val="accent1"/>
                </a:buClr>
                <a:buFont typeface="Arial" charset="0"/>
                <a:buChar char="–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lnSpc>
                  <a:spcPct val="95000"/>
                </a:lnSpc>
                <a:spcBef>
                  <a:spcPct val="35000"/>
                </a:spcBef>
                <a:spcAft>
                  <a:spcPct val="0"/>
                </a:spcAft>
                <a:buClr>
                  <a:schemeClr val="accent1"/>
                </a:buClr>
                <a:buFont typeface="Arial" charset="0"/>
                <a:buChar char="–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lnSpc>
                  <a:spcPct val="95000"/>
                </a:lnSpc>
                <a:spcBef>
                  <a:spcPct val="35000"/>
                </a:spcBef>
                <a:spcAft>
                  <a:spcPct val="0"/>
                </a:spcAft>
                <a:buClr>
                  <a:schemeClr val="accent1"/>
                </a:buClr>
                <a:buFont typeface="Arial" charset="0"/>
                <a:buChar char="–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lnSpc>
                  <a:spcPct val="95000"/>
                </a:lnSpc>
                <a:spcBef>
                  <a:spcPct val="35000"/>
                </a:spcBef>
                <a:spcAft>
                  <a:spcPct val="0"/>
                </a:spcAft>
                <a:buClr>
                  <a:schemeClr val="accent1"/>
                </a:buClr>
                <a:buFont typeface="Arial" charset="0"/>
                <a:buChar char="–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3000"/>
            </a:p>
          </p:txBody>
        </p:sp>
        <p:grpSp>
          <p:nvGrpSpPr>
            <p:cNvPr id="19461" name="Group 2"/>
            <p:cNvGrpSpPr>
              <a:grpSpLocks/>
            </p:cNvGrpSpPr>
            <p:nvPr/>
          </p:nvGrpSpPr>
          <p:grpSpPr bwMode="auto">
            <a:xfrm>
              <a:off x="451673" y="1996809"/>
              <a:ext cx="3277196" cy="3476979"/>
              <a:chOff x="410567" y="2166584"/>
              <a:chExt cx="3277196" cy="3476979"/>
            </a:xfrm>
          </p:grpSpPr>
          <p:sp>
            <p:nvSpPr>
              <p:cNvPr id="19477" name="Line 14"/>
              <p:cNvSpPr>
                <a:spLocks noChangeShapeType="1"/>
              </p:cNvSpPr>
              <p:nvPr/>
            </p:nvSpPr>
            <p:spPr bwMode="auto">
              <a:xfrm flipV="1">
                <a:off x="2209800" y="3048000"/>
                <a:ext cx="990600" cy="1676400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78" name="Line 13"/>
              <p:cNvSpPr>
                <a:spLocks noChangeShapeType="1"/>
              </p:cNvSpPr>
              <p:nvPr/>
            </p:nvSpPr>
            <p:spPr bwMode="auto">
              <a:xfrm flipH="1" flipV="1">
                <a:off x="1066800" y="3048000"/>
                <a:ext cx="1066800" cy="167640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79" name="Line 18"/>
              <p:cNvSpPr>
                <a:spLocks noChangeShapeType="1"/>
              </p:cNvSpPr>
              <p:nvPr/>
            </p:nvSpPr>
            <p:spPr bwMode="auto">
              <a:xfrm>
                <a:off x="1066800" y="2971800"/>
                <a:ext cx="2286000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80" name="Text Box 11"/>
              <p:cNvSpPr txBox="1">
                <a:spLocks noChangeArrowheads="1"/>
              </p:cNvSpPr>
              <p:nvPr/>
            </p:nvSpPr>
            <p:spPr bwMode="auto">
              <a:xfrm>
                <a:off x="410567" y="2166584"/>
                <a:ext cx="1490663" cy="3599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2124" tIns="41061" rIns="82124" bIns="41061">
                <a:spAutoFit/>
              </a:bodyPr>
              <a:lstStyle>
                <a:lvl1pPr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SzPct val="100000"/>
                  <a:buFont typeface="Arial" charset="0"/>
                  <a:defRPr sz="2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3429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2pPr>
                <a:lvl3pPr marL="6858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0287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4pPr>
                <a:lvl5pPr marL="13716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18288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2860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27432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2004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Root Bridge</a:t>
                </a:r>
              </a:p>
            </p:txBody>
          </p:sp>
          <p:sp>
            <p:nvSpPr>
              <p:cNvPr id="19481" name="Text Box 20"/>
              <p:cNvSpPr txBox="1">
                <a:spLocks noChangeArrowheads="1"/>
              </p:cNvSpPr>
              <p:nvPr/>
            </p:nvSpPr>
            <p:spPr bwMode="auto">
              <a:xfrm>
                <a:off x="1524000" y="2514600"/>
                <a:ext cx="381000" cy="3599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2124" tIns="41061" rIns="82124" bIns="41061">
                <a:spAutoFit/>
              </a:bodyPr>
              <a:lstStyle>
                <a:lvl1pPr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SzPct val="100000"/>
                  <a:buFont typeface="Arial" charset="0"/>
                  <a:defRPr sz="2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3429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2pPr>
                <a:lvl3pPr marL="6858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0287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4pPr>
                <a:lvl5pPr marL="13716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18288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2860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27432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2004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F</a:t>
                </a:r>
              </a:p>
            </p:txBody>
          </p:sp>
          <p:sp>
            <p:nvSpPr>
              <p:cNvPr id="19482" name="Text Box 21"/>
              <p:cNvSpPr txBox="1">
                <a:spLocks noChangeArrowheads="1"/>
              </p:cNvSpPr>
              <p:nvPr/>
            </p:nvSpPr>
            <p:spPr bwMode="auto">
              <a:xfrm>
                <a:off x="2438400" y="2514600"/>
                <a:ext cx="381000" cy="3599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2124" tIns="41061" rIns="82124" bIns="41061">
                <a:spAutoFit/>
              </a:bodyPr>
              <a:lstStyle>
                <a:lvl1pPr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SzPct val="100000"/>
                  <a:buFont typeface="Arial" charset="0"/>
                  <a:defRPr sz="2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3429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2pPr>
                <a:lvl3pPr marL="6858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0287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4pPr>
                <a:lvl5pPr marL="13716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18288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2860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27432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2004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F</a:t>
                </a:r>
              </a:p>
            </p:txBody>
          </p:sp>
          <p:sp>
            <p:nvSpPr>
              <p:cNvPr id="19483" name="Text Box 22"/>
              <p:cNvSpPr txBox="1">
                <a:spLocks noChangeArrowheads="1"/>
              </p:cNvSpPr>
              <p:nvPr/>
            </p:nvSpPr>
            <p:spPr bwMode="auto">
              <a:xfrm>
                <a:off x="914400" y="3311856"/>
                <a:ext cx="381000" cy="3599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2124" tIns="41061" rIns="82124" bIns="41061">
                <a:spAutoFit/>
              </a:bodyPr>
              <a:lstStyle>
                <a:lvl1pPr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SzPct val="100000"/>
                  <a:buFont typeface="Arial" charset="0"/>
                  <a:defRPr sz="2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3429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2pPr>
                <a:lvl3pPr marL="6858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0287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4pPr>
                <a:lvl5pPr marL="13716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18288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2860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27432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2004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F</a:t>
                </a:r>
              </a:p>
            </p:txBody>
          </p:sp>
          <p:sp>
            <p:nvSpPr>
              <p:cNvPr id="19484" name="Text Box 23"/>
              <p:cNvSpPr txBox="1">
                <a:spLocks noChangeArrowheads="1"/>
              </p:cNvSpPr>
              <p:nvPr/>
            </p:nvSpPr>
            <p:spPr bwMode="auto">
              <a:xfrm>
                <a:off x="3001368" y="3303896"/>
                <a:ext cx="381000" cy="3599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2124" tIns="41061" rIns="82124" bIns="41061">
                <a:spAutoFit/>
              </a:bodyPr>
              <a:lstStyle>
                <a:lvl1pPr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SzPct val="100000"/>
                  <a:buFont typeface="Arial" charset="0"/>
                  <a:defRPr sz="2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3429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2pPr>
                <a:lvl3pPr marL="6858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0287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4pPr>
                <a:lvl5pPr marL="13716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18288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2860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27432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2004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F</a:t>
                </a:r>
              </a:p>
            </p:txBody>
          </p:sp>
          <p:sp>
            <p:nvSpPr>
              <p:cNvPr id="19485" name="Text Box 24"/>
              <p:cNvSpPr txBox="1">
                <a:spLocks noChangeArrowheads="1"/>
              </p:cNvSpPr>
              <p:nvPr/>
            </p:nvSpPr>
            <p:spPr bwMode="auto">
              <a:xfrm>
                <a:off x="1447800" y="4218296"/>
                <a:ext cx="381000" cy="3599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2124" tIns="41061" rIns="82124" bIns="41061">
                <a:spAutoFit/>
              </a:bodyPr>
              <a:lstStyle>
                <a:lvl1pPr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SzPct val="100000"/>
                  <a:buFont typeface="Arial" charset="0"/>
                  <a:defRPr sz="2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3429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2pPr>
                <a:lvl3pPr marL="6858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0287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4pPr>
                <a:lvl5pPr marL="13716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18288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2860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27432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2004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F</a:t>
                </a:r>
              </a:p>
            </p:txBody>
          </p:sp>
          <p:sp>
            <p:nvSpPr>
              <p:cNvPr id="19486" name="Text Box 25"/>
              <p:cNvSpPr txBox="1">
                <a:spLocks noChangeArrowheads="1"/>
              </p:cNvSpPr>
              <p:nvPr/>
            </p:nvSpPr>
            <p:spPr bwMode="auto">
              <a:xfrm>
                <a:off x="2411104" y="4259240"/>
                <a:ext cx="381000" cy="3291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2124" tIns="41061" rIns="82124" bIns="41061">
                <a:spAutoFit/>
              </a:bodyPr>
              <a:lstStyle>
                <a:lvl1pPr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SzPct val="100000"/>
                  <a:buFont typeface="Arial" charset="0"/>
                  <a:defRPr sz="2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3429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2pPr>
                <a:lvl3pPr marL="6858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0287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4pPr>
                <a:lvl5pPr marL="13716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18288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2860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27432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2004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B</a:t>
                </a:r>
              </a:p>
            </p:txBody>
          </p:sp>
          <p:sp>
            <p:nvSpPr>
              <p:cNvPr id="19487" name="AutoShape 26"/>
              <p:cNvSpPr>
                <a:spLocks noChangeArrowheads="1"/>
              </p:cNvSpPr>
              <p:nvPr/>
            </p:nvSpPr>
            <p:spPr bwMode="auto">
              <a:xfrm>
                <a:off x="2514600" y="3657600"/>
                <a:ext cx="457200" cy="457200"/>
              </a:xfrm>
              <a:custGeom>
                <a:avLst/>
                <a:gdLst>
                  <a:gd name="T0" fmla="*/ 2147483647 w 21600"/>
                  <a:gd name="T1" fmla="*/ 0 h 21600"/>
                  <a:gd name="T2" fmla="*/ 2147483647 w 21600"/>
                  <a:gd name="T3" fmla="*/ 2147483647 h 21600"/>
                  <a:gd name="T4" fmla="*/ 0 w 21600"/>
                  <a:gd name="T5" fmla="*/ 2147483647 h 21600"/>
                  <a:gd name="T6" fmla="*/ 2147483647 w 21600"/>
                  <a:gd name="T7" fmla="*/ 2147483647 h 21600"/>
                  <a:gd name="T8" fmla="*/ 2147483647 w 21600"/>
                  <a:gd name="T9" fmla="*/ 2147483647 h 21600"/>
                  <a:gd name="T10" fmla="*/ 2147483647 w 21600"/>
                  <a:gd name="T11" fmla="*/ 2147483647 h 21600"/>
                  <a:gd name="T12" fmla="*/ 2147483647 w 21600"/>
                  <a:gd name="T13" fmla="*/ 2147483647 h 21600"/>
                  <a:gd name="T14" fmla="*/ 2147483647 w 21600"/>
                  <a:gd name="T15" fmla="*/ 2147483647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3 w 21600"/>
                  <a:gd name="T25" fmla="*/ 3163 h 21600"/>
                  <a:gd name="T26" fmla="*/ 18437 w 21600"/>
                  <a:gd name="T27" fmla="*/ 18437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7401" y="15493"/>
                    </a:moveTo>
                    <a:cubicBezTo>
                      <a:pt x="18376" y="14122"/>
                      <a:pt x="18900" y="12482"/>
                      <a:pt x="18900" y="10800"/>
                    </a:cubicBezTo>
                    <a:cubicBezTo>
                      <a:pt x="18900" y="6326"/>
                      <a:pt x="15273" y="2700"/>
                      <a:pt x="10800" y="2700"/>
                    </a:cubicBezTo>
                    <a:cubicBezTo>
                      <a:pt x="9117" y="2699"/>
                      <a:pt x="7477" y="3223"/>
                      <a:pt x="6106" y="4198"/>
                    </a:cubicBezTo>
                    <a:lnTo>
                      <a:pt x="17401" y="15493"/>
                    </a:lnTo>
                    <a:close/>
                    <a:moveTo>
                      <a:pt x="4198" y="6106"/>
                    </a:moveTo>
                    <a:cubicBezTo>
                      <a:pt x="3223" y="7477"/>
                      <a:pt x="2700" y="9117"/>
                      <a:pt x="2700" y="10799"/>
                    </a:cubicBezTo>
                    <a:cubicBezTo>
                      <a:pt x="2700" y="15273"/>
                      <a:pt x="6326" y="18900"/>
                      <a:pt x="10800" y="18900"/>
                    </a:cubicBezTo>
                    <a:cubicBezTo>
                      <a:pt x="12482" y="18900"/>
                      <a:pt x="14122" y="18376"/>
                      <a:pt x="15493" y="17401"/>
                    </a:cubicBezTo>
                    <a:lnTo>
                      <a:pt x="4198" y="6106"/>
                    </a:lnTo>
                    <a:close/>
                  </a:path>
                </a:pathLst>
              </a:custGeom>
              <a:solidFill>
                <a:srgbClr val="D0343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82124" tIns="41061" rIns="82124" bIns="41061" anchor="ctr"/>
              <a:lstStyle/>
              <a:p>
                <a:endParaRPr lang="en-US"/>
              </a:p>
            </p:txBody>
          </p:sp>
          <p:sp>
            <p:nvSpPr>
              <p:cNvPr id="19488" name="Line 27"/>
              <p:cNvSpPr>
                <a:spLocks noChangeShapeType="1"/>
              </p:cNvSpPr>
              <p:nvPr/>
            </p:nvSpPr>
            <p:spPr bwMode="auto">
              <a:xfrm flipV="1">
                <a:off x="2743200" y="3733800"/>
                <a:ext cx="533400" cy="838200"/>
              </a:xfrm>
              <a:prstGeom prst="line">
                <a:avLst/>
              </a:prstGeom>
              <a:noFill/>
              <a:ln w="76200">
                <a:solidFill>
                  <a:srgbClr val="47B0D5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2124" tIns="41061" rIns="82124" bIns="41061"/>
              <a:lstStyle/>
              <a:p>
                <a:endParaRPr lang="en-US"/>
              </a:p>
            </p:txBody>
          </p:sp>
          <p:sp>
            <p:nvSpPr>
              <p:cNvPr id="19489" name="Line 28"/>
              <p:cNvSpPr>
                <a:spLocks noChangeShapeType="1"/>
              </p:cNvSpPr>
              <p:nvPr/>
            </p:nvSpPr>
            <p:spPr bwMode="auto">
              <a:xfrm flipH="1" flipV="1">
                <a:off x="971264" y="3736072"/>
                <a:ext cx="457200" cy="762000"/>
              </a:xfrm>
              <a:prstGeom prst="line">
                <a:avLst/>
              </a:prstGeom>
              <a:noFill/>
              <a:ln w="76200">
                <a:solidFill>
                  <a:srgbClr val="47B0D5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2124" tIns="41061" rIns="82124" bIns="41061"/>
              <a:lstStyle/>
              <a:p>
                <a:endParaRPr lang="en-US"/>
              </a:p>
            </p:txBody>
          </p:sp>
          <p:sp>
            <p:nvSpPr>
              <p:cNvPr id="19490" name="Text Box 29"/>
              <p:cNvSpPr txBox="1">
                <a:spLocks noChangeArrowheads="1"/>
              </p:cNvSpPr>
              <p:nvPr/>
            </p:nvSpPr>
            <p:spPr bwMode="auto">
              <a:xfrm rot="3600000">
                <a:off x="494111" y="4030099"/>
                <a:ext cx="762000" cy="575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2124" tIns="41061" rIns="82124" bIns="41061">
                <a:spAutoFit/>
              </a:bodyPr>
              <a:lstStyle>
                <a:lvl1pPr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SzPct val="100000"/>
                  <a:buFont typeface="Arial" charset="0"/>
                  <a:defRPr sz="2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3429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2pPr>
                <a:lvl3pPr marL="6858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0287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4pPr>
                <a:lvl5pPr marL="13716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18288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2860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27432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2004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STP BPDU</a:t>
                </a:r>
              </a:p>
            </p:txBody>
          </p:sp>
          <p:sp>
            <p:nvSpPr>
              <p:cNvPr id="19491" name="Text Box 30"/>
              <p:cNvSpPr txBox="1">
                <a:spLocks noChangeArrowheads="1"/>
              </p:cNvSpPr>
              <p:nvPr/>
            </p:nvSpPr>
            <p:spPr bwMode="auto">
              <a:xfrm rot="-3494686">
                <a:off x="2937801" y="4103343"/>
                <a:ext cx="762000" cy="575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2124" tIns="41061" rIns="82124" bIns="41061">
                <a:spAutoFit/>
              </a:bodyPr>
              <a:lstStyle>
                <a:lvl1pPr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SzPct val="100000"/>
                  <a:buFont typeface="Arial" charset="0"/>
                  <a:defRPr sz="2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3429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2pPr>
                <a:lvl3pPr marL="6858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0287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4pPr>
                <a:lvl5pPr marL="13716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18288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2860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27432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2004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STP BPDU</a:t>
                </a:r>
              </a:p>
            </p:txBody>
          </p:sp>
          <p:pic>
            <p:nvPicPr>
              <p:cNvPr id="19492" name="Picture 38" descr="EndUser_CiscoWorks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0200" y="4495800"/>
                <a:ext cx="919163" cy="1147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9493" name="Picture 45" descr="Workgroup_Switch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2463" y="2600325"/>
                <a:ext cx="957262" cy="701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9494" name="Picture 46" descr="Workgroup_Switch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30500" y="2600325"/>
                <a:ext cx="957263" cy="701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9462" name="Group 1"/>
            <p:cNvGrpSpPr>
              <a:grpSpLocks/>
            </p:cNvGrpSpPr>
            <p:nvPr/>
          </p:nvGrpSpPr>
          <p:grpSpPr bwMode="auto">
            <a:xfrm>
              <a:off x="5602603" y="2369364"/>
              <a:ext cx="3035300" cy="3528573"/>
              <a:chOff x="5410200" y="2492992"/>
              <a:chExt cx="3035300" cy="3528573"/>
            </a:xfrm>
          </p:grpSpPr>
          <p:sp>
            <p:nvSpPr>
              <p:cNvPr id="19463" name="Line 16"/>
              <p:cNvSpPr>
                <a:spLocks noChangeShapeType="1"/>
              </p:cNvSpPr>
              <p:nvPr/>
            </p:nvSpPr>
            <p:spPr bwMode="auto">
              <a:xfrm flipH="1">
                <a:off x="7239000" y="2971800"/>
                <a:ext cx="762000" cy="160020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64" name="Line 15"/>
              <p:cNvSpPr>
                <a:spLocks noChangeShapeType="1"/>
              </p:cNvSpPr>
              <p:nvPr/>
            </p:nvSpPr>
            <p:spPr bwMode="auto">
              <a:xfrm>
                <a:off x="6019800" y="3200400"/>
                <a:ext cx="1143000" cy="144780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65" name="Line 19"/>
              <p:cNvSpPr>
                <a:spLocks noChangeShapeType="1"/>
              </p:cNvSpPr>
              <p:nvPr/>
            </p:nvSpPr>
            <p:spPr bwMode="auto">
              <a:xfrm>
                <a:off x="5791200" y="2895600"/>
                <a:ext cx="2286000" cy="0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66" name="Text Box 12"/>
              <p:cNvSpPr txBox="1">
                <a:spLocks noChangeArrowheads="1"/>
              </p:cNvSpPr>
              <p:nvPr/>
            </p:nvSpPr>
            <p:spPr bwMode="auto">
              <a:xfrm>
                <a:off x="6290479" y="5661642"/>
                <a:ext cx="1524000" cy="3599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2124" tIns="41061" rIns="82124" bIns="41061">
                <a:spAutoFit/>
              </a:bodyPr>
              <a:lstStyle>
                <a:lvl1pPr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SzPct val="100000"/>
                  <a:buFont typeface="Arial" charset="0"/>
                  <a:defRPr sz="2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3429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2pPr>
                <a:lvl3pPr marL="6858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0287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4pPr>
                <a:lvl5pPr marL="13716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18288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2860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27432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2004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Root Bridge</a:t>
                </a:r>
              </a:p>
            </p:txBody>
          </p:sp>
          <p:sp>
            <p:nvSpPr>
              <p:cNvPr id="19467" name="Text Box 31"/>
              <p:cNvSpPr txBox="1">
                <a:spLocks noChangeArrowheads="1"/>
              </p:cNvSpPr>
              <p:nvPr/>
            </p:nvSpPr>
            <p:spPr bwMode="auto">
              <a:xfrm>
                <a:off x="6305264" y="2520288"/>
                <a:ext cx="381000" cy="3599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2124" tIns="41061" rIns="82124" bIns="41061">
                <a:spAutoFit/>
              </a:bodyPr>
              <a:lstStyle>
                <a:lvl1pPr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SzPct val="100000"/>
                  <a:buFont typeface="Arial" charset="0"/>
                  <a:defRPr sz="2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3429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2pPr>
                <a:lvl3pPr marL="6858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0287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4pPr>
                <a:lvl5pPr marL="13716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18288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2860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27432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2004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F</a:t>
                </a:r>
              </a:p>
            </p:txBody>
          </p:sp>
          <p:sp>
            <p:nvSpPr>
              <p:cNvPr id="19468" name="Text Box 32"/>
              <p:cNvSpPr txBox="1">
                <a:spLocks noChangeArrowheads="1"/>
              </p:cNvSpPr>
              <p:nvPr/>
            </p:nvSpPr>
            <p:spPr bwMode="auto">
              <a:xfrm>
                <a:off x="7219664" y="2492992"/>
                <a:ext cx="381000" cy="3599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2124" tIns="41061" rIns="82124" bIns="41061">
                <a:spAutoFit/>
              </a:bodyPr>
              <a:lstStyle>
                <a:lvl1pPr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SzPct val="100000"/>
                  <a:buFont typeface="Arial" charset="0"/>
                  <a:defRPr sz="2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3429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2pPr>
                <a:lvl3pPr marL="6858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0287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4pPr>
                <a:lvl5pPr marL="13716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18288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2860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27432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2004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B</a:t>
                </a:r>
              </a:p>
            </p:txBody>
          </p:sp>
          <p:sp>
            <p:nvSpPr>
              <p:cNvPr id="19469" name="Text Box 33"/>
              <p:cNvSpPr txBox="1">
                <a:spLocks noChangeArrowheads="1"/>
              </p:cNvSpPr>
              <p:nvPr/>
            </p:nvSpPr>
            <p:spPr bwMode="auto">
              <a:xfrm>
                <a:off x="6144904" y="3096904"/>
                <a:ext cx="381000" cy="3599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2124" tIns="41061" rIns="82124" bIns="41061">
                <a:spAutoFit/>
              </a:bodyPr>
              <a:lstStyle>
                <a:lvl1pPr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SzPct val="100000"/>
                  <a:buFont typeface="Arial" charset="0"/>
                  <a:defRPr sz="2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3429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2pPr>
                <a:lvl3pPr marL="6858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0287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4pPr>
                <a:lvl5pPr marL="13716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18288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2860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27432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2004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F</a:t>
                </a:r>
              </a:p>
            </p:txBody>
          </p:sp>
          <p:sp>
            <p:nvSpPr>
              <p:cNvPr id="19470" name="Text Box 34"/>
              <p:cNvSpPr txBox="1">
                <a:spLocks noChangeArrowheads="1"/>
              </p:cNvSpPr>
              <p:nvPr/>
            </p:nvSpPr>
            <p:spPr bwMode="auto">
              <a:xfrm>
                <a:off x="7829264" y="3352800"/>
                <a:ext cx="381000" cy="3599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2124" tIns="41061" rIns="82124" bIns="41061">
                <a:spAutoFit/>
              </a:bodyPr>
              <a:lstStyle>
                <a:lvl1pPr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SzPct val="100000"/>
                  <a:buFont typeface="Arial" charset="0"/>
                  <a:defRPr sz="2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3429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2pPr>
                <a:lvl3pPr marL="6858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0287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4pPr>
                <a:lvl5pPr marL="13716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18288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2860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27432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2004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F</a:t>
                </a:r>
              </a:p>
            </p:txBody>
          </p:sp>
          <p:sp>
            <p:nvSpPr>
              <p:cNvPr id="19471" name="Text Box 35"/>
              <p:cNvSpPr txBox="1">
                <a:spLocks noChangeArrowheads="1"/>
              </p:cNvSpPr>
              <p:nvPr/>
            </p:nvSpPr>
            <p:spPr bwMode="auto">
              <a:xfrm>
                <a:off x="6469040" y="4191000"/>
                <a:ext cx="381000" cy="3599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2124" tIns="41061" rIns="82124" bIns="41061">
                <a:spAutoFit/>
              </a:bodyPr>
              <a:lstStyle>
                <a:lvl1pPr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SzPct val="100000"/>
                  <a:buFont typeface="Arial" charset="0"/>
                  <a:defRPr sz="2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3429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2pPr>
                <a:lvl3pPr marL="6858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0287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4pPr>
                <a:lvl5pPr marL="13716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18288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2860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27432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2004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F</a:t>
                </a:r>
              </a:p>
            </p:txBody>
          </p:sp>
          <p:sp>
            <p:nvSpPr>
              <p:cNvPr id="19472" name="Text Box 36"/>
              <p:cNvSpPr txBox="1">
                <a:spLocks noChangeArrowheads="1"/>
              </p:cNvSpPr>
              <p:nvPr/>
            </p:nvSpPr>
            <p:spPr bwMode="auto">
              <a:xfrm>
                <a:off x="7372064" y="4231944"/>
                <a:ext cx="381000" cy="3599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2124" tIns="41061" rIns="82124" bIns="41061">
                <a:spAutoFit/>
              </a:bodyPr>
              <a:lstStyle>
                <a:lvl1pPr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SzPct val="100000"/>
                  <a:buFont typeface="Arial" charset="0"/>
                  <a:defRPr sz="2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3429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2pPr>
                <a:lvl3pPr marL="6858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0287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•"/>
                  <a:defRPr sz="2000" b="1">
                    <a:solidFill>
                      <a:schemeClr val="tx1"/>
                    </a:solidFill>
                    <a:latin typeface="Arial" charset="0"/>
                  </a:defRPr>
                </a:lvl4pPr>
                <a:lvl5pPr marL="1371600" indent="-228600" defTabSz="814388">
                  <a:lnSpc>
                    <a:spcPct val="95000"/>
                  </a:lnSpc>
                  <a:spcBef>
                    <a:spcPct val="35000"/>
                  </a:spcBef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18288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2860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27432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200400" indent="-228600" defTabSz="814388" eaLnBrk="0" fontAlgn="base" hangingPunct="0">
                  <a:lnSpc>
                    <a:spcPct val="95000"/>
                  </a:lnSpc>
                  <a:spcBef>
                    <a:spcPct val="3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Arial" charset="0"/>
                  <a:buChar char="–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F</a:t>
                </a:r>
              </a:p>
            </p:txBody>
          </p:sp>
          <p:sp>
            <p:nvSpPr>
              <p:cNvPr id="19473" name="AutoShape 37"/>
              <p:cNvSpPr>
                <a:spLocks noChangeArrowheads="1"/>
              </p:cNvSpPr>
              <p:nvPr/>
            </p:nvSpPr>
            <p:spPr bwMode="auto">
              <a:xfrm>
                <a:off x="6781800" y="2667000"/>
                <a:ext cx="457200" cy="457200"/>
              </a:xfrm>
              <a:custGeom>
                <a:avLst/>
                <a:gdLst>
                  <a:gd name="T0" fmla="*/ 2147483647 w 21600"/>
                  <a:gd name="T1" fmla="*/ 0 h 21600"/>
                  <a:gd name="T2" fmla="*/ 2147483647 w 21600"/>
                  <a:gd name="T3" fmla="*/ 2147483647 h 21600"/>
                  <a:gd name="T4" fmla="*/ 0 w 21600"/>
                  <a:gd name="T5" fmla="*/ 2147483647 h 21600"/>
                  <a:gd name="T6" fmla="*/ 2147483647 w 21600"/>
                  <a:gd name="T7" fmla="*/ 2147483647 h 21600"/>
                  <a:gd name="T8" fmla="*/ 2147483647 w 21600"/>
                  <a:gd name="T9" fmla="*/ 2147483647 h 21600"/>
                  <a:gd name="T10" fmla="*/ 2147483647 w 21600"/>
                  <a:gd name="T11" fmla="*/ 2147483647 h 21600"/>
                  <a:gd name="T12" fmla="*/ 2147483647 w 21600"/>
                  <a:gd name="T13" fmla="*/ 2147483647 h 21600"/>
                  <a:gd name="T14" fmla="*/ 2147483647 w 21600"/>
                  <a:gd name="T15" fmla="*/ 2147483647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3 w 21600"/>
                  <a:gd name="T25" fmla="*/ 3163 h 21600"/>
                  <a:gd name="T26" fmla="*/ 18437 w 21600"/>
                  <a:gd name="T27" fmla="*/ 18437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7401" y="15493"/>
                    </a:moveTo>
                    <a:cubicBezTo>
                      <a:pt x="18376" y="14122"/>
                      <a:pt x="18900" y="12482"/>
                      <a:pt x="18900" y="10800"/>
                    </a:cubicBezTo>
                    <a:cubicBezTo>
                      <a:pt x="18900" y="6326"/>
                      <a:pt x="15273" y="2700"/>
                      <a:pt x="10800" y="2700"/>
                    </a:cubicBezTo>
                    <a:cubicBezTo>
                      <a:pt x="9117" y="2699"/>
                      <a:pt x="7477" y="3223"/>
                      <a:pt x="6106" y="4198"/>
                    </a:cubicBezTo>
                    <a:lnTo>
                      <a:pt x="17401" y="15493"/>
                    </a:lnTo>
                    <a:close/>
                    <a:moveTo>
                      <a:pt x="4198" y="6106"/>
                    </a:moveTo>
                    <a:cubicBezTo>
                      <a:pt x="3223" y="7477"/>
                      <a:pt x="2700" y="9117"/>
                      <a:pt x="2700" y="10799"/>
                    </a:cubicBezTo>
                    <a:cubicBezTo>
                      <a:pt x="2700" y="15273"/>
                      <a:pt x="6326" y="18900"/>
                      <a:pt x="10800" y="18900"/>
                    </a:cubicBezTo>
                    <a:cubicBezTo>
                      <a:pt x="12482" y="18900"/>
                      <a:pt x="14122" y="18376"/>
                      <a:pt x="15493" y="17401"/>
                    </a:cubicBezTo>
                    <a:lnTo>
                      <a:pt x="4198" y="6106"/>
                    </a:lnTo>
                    <a:close/>
                  </a:path>
                </a:pathLst>
              </a:custGeom>
              <a:solidFill>
                <a:srgbClr val="D0343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82124" tIns="41061" rIns="82124" bIns="41061" anchor="ctr"/>
              <a:lstStyle/>
              <a:p>
                <a:endParaRPr lang="en-US"/>
              </a:p>
            </p:txBody>
          </p:sp>
          <p:pic>
            <p:nvPicPr>
              <p:cNvPr id="19474" name="Picture 39" descr="EndUser_CiscoWorks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16700" y="4495800"/>
                <a:ext cx="919163" cy="1147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9475" name="Picture 47" descr="Workgroup_Switch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10200" y="2600325"/>
                <a:ext cx="957263" cy="701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9476" name="Picture 48" descr="Workgroup_Switch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8238" y="2600325"/>
                <a:ext cx="957262" cy="701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3366138960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Implementing BPDUGuard to Mitigate Spanning Tree Manipulation</a:t>
            </a:r>
          </a:p>
        </p:txBody>
      </p:sp>
      <p:sp>
        <p:nvSpPr>
          <p:cNvPr id="20483" name="Text Box 6"/>
          <p:cNvSpPr txBox="1">
            <a:spLocks noChangeArrowheads="1"/>
          </p:cNvSpPr>
          <p:nvPr/>
        </p:nvSpPr>
        <p:spPr bwMode="auto">
          <a:xfrm>
            <a:off x="300038" y="3082925"/>
            <a:ext cx="85439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accent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SzPct val="100000"/>
              <a:buFont typeface="Arial" charset="0"/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225425" indent="-225425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charset="0"/>
              <a:buChar char="•"/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charset="0"/>
              <a:buChar char="•"/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zh-CN" b="0">
                <a:ea typeface="宋体" pitchFamily="2" charset="-122"/>
                <a:cs typeface="Arial" charset="0"/>
              </a:rPr>
              <a:t>The BPDU – guard feature shuts down ports when ports receive BPDU.</a:t>
            </a:r>
          </a:p>
        </p:txBody>
      </p:sp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300038" y="1758950"/>
            <a:ext cx="8543925" cy="13239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SzPct val="100000"/>
              <a:buFont typeface="Arial" charset="0"/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charset="0"/>
              <a:buChar char="•"/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charset="0"/>
              <a:buChar char="•"/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–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zh-CN" sz="2000">
                <a:latin typeface="Courier New" pitchFamily="49" charset="0"/>
                <a:ea typeface="宋体" pitchFamily="2" charset="-122"/>
                <a:cs typeface="Times New Roman" pitchFamily="18" charset="0"/>
              </a:rPr>
              <a:t>Switch(config)#</a:t>
            </a:r>
            <a:r>
              <a:rPr lang="en-US" altLang="zh-CN" sz="2000">
                <a:solidFill>
                  <a:srgbClr val="FF0000"/>
                </a:solidFill>
                <a:latin typeface="Courier New" pitchFamily="49" charset="0"/>
                <a:ea typeface="宋体" pitchFamily="2" charset="-122"/>
                <a:cs typeface="Times New Roman" pitchFamily="18" charset="0"/>
              </a:rPr>
              <a:t>spanning-tree portfast bpduguard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zh-CN" sz="2000">
                <a:latin typeface="Courier New" pitchFamily="49" charset="0"/>
                <a:ea typeface="宋体" pitchFamily="2" charset="-122"/>
                <a:cs typeface="Times New Roman" pitchFamily="18" charset="0"/>
              </a:rPr>
              <a:t>or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en-US" sz="2000">
                <a:latin typeface="Courier New" pitchFamily="49" charset="0"/>
                <a:ea typeface="宋体" pitchFamily="2" charset="-122"/>
                <a:cs typeface="Times New Roman" pitchFamily="18" charset="0"/>
              </a:rPr>
              <a:t>Switch(config-if)#</a:t>
            </a:r>
            <a:r>
              <a:rPr lang="en-US" altLang="en-US" sz="2000">
                <a:solidFill>
                  <a:srgbClr val="FF0000"/>
                </a:solidFill>
                <a:latin typeface="Courier New" pitchFamily="49" charset="0"/>
                <a:ea typeface="宋体" pitchFamily="2" charset="-122"/>
                <a:cs typeface="Times New Roman" pitchFamily="18" charset="0"/>
              </a:rPr>
              <a:t>spanning-tree bpduguard enable</a:t>
            </a:r>
            <a:endParaRPr lang="en-GB" altLang="en-US" sz="2000">
              <a:solidFill>
                <a:srgbClr val="FF0000"/>
              </a:solidFill>
              <a:latin typeface="Courier New" pitchFamily="49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831153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Auto recovery from err-disable state</a:t>
            </a:r>
          </a:p>
        </p:txBody>
      </p:sp>
      <p:sp>
        <p:nvSpPr>
          <p:cNvPr id="21507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41313" y="1636713"/>
            <a:ext cx="8651875" cy="1381125"/>
          </a:xfrm>
        </p:spPr>
        <p:txBody>
          <a:bodyPr/>
          <a:lstStyle/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CN" b="0">
                <a:ea typeface="宋体" pitchFamily="2" charset="-122"/>
              </a:rPr>
              <a:t>If the BPDU – guard feature has shutdown a port, the port can be restored to an operational state using the error-disable recovery procedure.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CN" b="0">
                <a:ea typeface="宋体" pitchFamily="2" charset="-122"/>
              </a:rPr>
              <a:t>Enable recovery cause is BPDU – guard 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</a:pPr>
            <a:r>
              <a:rPr lang="en-US" altLang="zh-CN" sz="200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Times New Roman" pitchFamily="18" charset="0"/>
              </a:rPr>
              <a:t>Switch(config)#</a:t>
            </a:r>
            <a:r>
              <a:rPr lang="en-US" altLang="en-US" sz="200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Times New Roman" pitchFamily="18" charset="0"/>
              </a:rPr>
              <a:t>errdisable recovery cause bpduguard</a:t>
            </a:r>
          </a:p>
        </p:txBody>
      </p:sp>
      <p:sp>
        <p:nvSpPr>
          <p:cNvPr id="14341" name="Text Box 8"/>
          <p:cNvSpPr txBox="1">
            <a:spLocks noChangeArrowheads="1"/>
          </p:cNvSpPr>
          <p:nvPr/>
        </p:nvSpPr>
        <p:spPr bwMode="auto">
          <a:xfrm>
            <a:off x="438150" y="4445000"/>
            <a:ext cx="8459788" cy="862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25425" indent="-225425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Char char="•"/>
              <a:defRPr/>
            </a:pPr>
            <a:r>
              <a:rPr lang="en-US" altLang="zh-CN" sz="2000" b="0">
                <a:ea typeface="宋体" panose="02010600030101010101" pitchFamily="2" charset="-122"/>
              </a:rPr>
              <a:t>Set a global recovery timeout by using the command:</a:t>
            </a:r>
            <a:endParaRPr lang="en-US" altLang="zh-CN" sz="2000"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defRPr/>
            </a:pPr>
            <a:r>
              <a:rPr lang="en-US" altLang="zh-CN" sz="200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Switch(config)#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errdisable recovery interval </a:t>
            </a:r>
            <a:r>
              <a:rPr lang="en-US" sz="2000" i="1">
                <a:latin typeface="Courier New" panose="02070309020205020404" pitchFamily="49" charset="0"/>
                <a:cs typeface="Courier New" panose="02070309020205020404" pitchFamily="49" charset="0"/>
              </a:rPr>
              <a:t>seconds</a:t>
            </a:r>
            <a:endParaRPr lang="en-US" altLang="zh-CN" sz="200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030422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6" descr="Diagram&#10;&#10;Description automatically generated">
            <a:extLst>
              <a:ext uri="{FF2B5EF4-FFF2-40B4-BE49-F238E27FC236}">
                <a16:creationId xmlns:a16="http://schemas.microsoft.com/office/drawing/2014/main" id="{70E75BB7-3FC5-4A8F-8954-C132AAC8337D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75" r="24008" b="79613"/>
          <a:stretch>
            <a:fillRect/>
          </a:stretch>
        </p:blipFill>
        <p:spPr bwMode="auto">
          <a:xfrm>
            <a:off x="0" y="0"/>
            <a:ext cx="50292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7DD9C03-03AA-47DE-87EB-4FE2C9FB0B18}"/>
              </a:ext>
            </a:extLst>
          </p:cNvPr>
          <p:cNvSpPr/>
          <p:nvPr/>
        </p:nvSpPr>
        <p:spPr bwMode="auto">
          <a:xfrm>
            <a:off x="4343400" y="-19050"/>
            <a:ext cx="4800600" cy="12801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rgbClr val="034D05"/>
              </a:gs>
            </a:gsLst>
            <a:path path="circle">
              <a:fillToRect r="100000" b="100000"/>
            </a:path>
            <a:tileRect l="-100000" t="-100000"/>
          </a:gra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82124" tIns="41061" rIns="82124" bIns="41061" anchor="ctr"/>
          <a:lstStyle/>
          <a:p>
            <a:pPr algn="ctr" defTabSz="814388">
              <a:lnSpc>
                <a:spcPct val="90000"/>
              </a:lnSpc>
              <a:defRPr/>
            </a:pPr>
            <a:r>
              <a:rPr lang="en-US" sz="2800">
                <a:solidFill>
                  <a:srgbClr val="034D05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phamthaikhanh@gmail.com</a:t>
            </a:r>
          </a:p>
        </p:txBody>
      </p:sp>
      <p:sp>
        <p:nvSpPr>
          <p:cNvPr id="76806" name="Rectangle 16">
            <a:extLst>
              <a:ext uri="{FF2B5EF4-FFF2-40B4-BE49-F238E27FC236}">
                <a16:creationId xmlns:a16="http://schemas.microsoft.com/office/drawing/2014/main" id="{A3BE49B5-1D73-4E35-8072-E98E2E6C2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65225"/>
            <a:ext cx="9144000" cy="225425"/>
          </a:xfrm>
          <a:prstGeom prst="rect">
            <a:avLst/>
          </a:prstGeom>
          <a:solidFill>
            <a:srgbClr val="00B0F0"/>
          </a:solidFill>
          <a:ln w="28575" algn="ctr">
            <a:solidFill>
              <a:srgbClr val="00B0F0"/>
            </a:solidFill>
            <a:round/>
            <a:headEnd/>
            <a:tailEnd type="triangle" w="med" len="med"/>
          </a:ln>
        </p:spPr>
        <p:txBody>
          <a:bodyPr lIns="82124" tIns="41061" rIns="82124" bIns="41061"/>
          <a:lstStyle>
            <a:lvl1pPr defTabSz="814388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14388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14388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14388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14388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3000"/>
          </a:p>
        </p:txBody>
      </p:sp>
      <p:pic>
        <p:nvPicPr>
          <p:cNvPr id="76807" name="Picture 20" descr="Icon&#10;&#10;Description automatically generated">
            <a:extLst>
              <a:ext uri="{FF2B5EF4-FFF2-40B4-BE49-F238E27FC236}">
                <a16:creationId xmlns:a16="http://schemas.microsoft.com/office/drawing/2014/main" id="{CA05779A-1B6B-47E1-AC99-2EA441F15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1390650"/>
            <a:ext cx="4664075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8" name="TextBox 21">
            <a:extLst>
              <a:ext uri="{FF2B5EF4-FFF2-40B4-BE49-F238E27FC236}">
                <a16:creationId xmlns:a16="http://schemas.microsoft.com/office/drawing/2014/main" id="{B842D278-B843-48DC-AEFB-615A28247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8248650"/>
            <a:ext cx="466407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>
                <a:hlinkClick r:id="rId4" tooltip="https://pngimg.com/download/38094"/>
              </a:rPr>
              <a:t>This Photo</a:t>
            </a:r>
            <a:r>
              <a:rPr lang="en-US" altLang="en-US" sz="900"/>
              <a:t> by Unknown Author is licensed under </a:t>
            </a:r>
            <a:r>
              <a:rPr lang="en-US" altLang="en-US" sz="900">
                <a:hlinkClick r:id="rId5" tooltip="https://creativecommons.org/licenses/by-nc/3.0/"/>
              </a:rPr>
              <a:t>CC BY-NC</a:t>
            </a:r>
            <a:endParaRPr lang="en-US" alt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Acad_White_PPT_Template 05Oct12">
  <a:themeElements>
    <a:clrScheme name="Cisco NetAcad">
      <a:dk1>
        <a:srgbClr val="2AA7DF"/>
      </a:dk1>
      <a:lt1>
        <a:srgbClr val="FFFFFF"/>
      </a:lt1>
      <a:dk2>
        <a:srgbClr val="6B308E"/>
      </a:dk2>
      <a:lt2>
        <a:srgbClr val="000000"/>
      </a:lt2>
      <a:accent1>
        <a:srgbClr val="00938E"/>
      </a:accent1>
      <a:accent2>
        <a:srgbClr val="3EB549"/>
      </a:accent2>
      <a:accent3>
        <a:srgbClr val="D81673"/>
      </a:accent3>
      <a:accent4>
        <a:srgbClr val="234493"/>
      </a:accent4>
      <a:accent5>
        <a:srgbClr val="ED2D28"/>
      </a:accent5>
      <a:accent6>
        <a:srgbClr val="F68B21"/>
      </a:accent6>
      <a:hlink>
        <a:srgbClr val="2AA7DF"/>
      </a:hlink>
      <a:folHlink>
        <a:srgbClr val="ACB2C2"/>
      </a:folHlink>
    </a:clrScheme>
    <a:fontScheme name="Cisco 2010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eme1">
  <a:themeElements>
    <a:clrScheme name="CLS_PPT_v6.0 12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306774"/>
      </a:accent1>
      <a:accent2>
        <a:srgbClr val="B92B38"/>
      </a:accent2>
      <a:accent3>
        <a:srgbClr val="FFFFFF"/>
      </a:accent3>
      <a:accent4>
        <a:srgbClr val="000000"/>
      </a:accent4>
      <a:accent5>
        <a:srgbClr val="ADB8BC"/>
      </a:accent5>
      <a:accent6>
        <a:srgbClr val="A72632"/>
      </a:accent6>
      <a:hlink>
        <a:srgbClr val="9999CC"/>
      </a:hlink>
      <a:folHlink>
        <a:srgbClr val="EEB30E"/>
      </a:folHlink>
    </a:clrScheme>
    <a:fontScheme name="CLS_PPT_v6.0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1796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82124" tIns="41061" rIns="82124" bIns="41061" numCol="1" anchor="t" anchorCtr="0" compatLnSpc="1">
        <a:prstTxWarp prst="textNoShape">
          <a:avLst/>
        </a:prstTxWarp>
      </a:bodyPr>
      <a:lstStyle>
        <a:defPPr marL="0" marR="0" indent="0" algn="l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3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1796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82124" tIns="41061" rIns="82124" bIns="41061" numCol="1" anchor="t" anchorCtr="0" compatLnSpc="1">
        <a:prstTxWarp prst="textNoShape">
          <a:avLst/>
        </a:prstTxWarp>
      </a:bodyPr>
      <a:lstStyle>
        <a:defPPr marL="0" marR="0" indent="0" algn="l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3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LS_PPT_v6.0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S_PPT_v6.0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8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339999"/>
        </a:accent1>
        <a:accent2>
          <a:srgbClr val="B92B38"/>
        </a:accent2>
        <a:accent3>
          <a:srgbClr val="FFFFFF"/>
        </a:accent3>
        <a:accent4>
          <a:srgbClr val="000000"/>
        </a:accent4>
        <a:accent5>
          <a:srgbClr val="ADCACA"/>
        </a:accent5>
        <a:accent6>
          <a:srgbClr val="A72632"/>
        </a:accent6>
        <a:hlink>
          <a:srgbClr val="FF990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9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339999"/>
        </a:accent1>
        <a:accent2>
          <a:srgbClr val="B92B38"/>
        </a:accent2>
        <a:accent3>
          <a:srgbClr val="FFFFFF"/>
        </a:accent3>
        <a:accent4>
          <a:srgbClr val="000000"/>
        </a:accent4>
        <a:accent5>
          <a:srgbClr val="ADCACA"/>
        </a:accent5>
        <a:accent6>
          <a:srgbClr val="A72632"/>
        </a:accent6>
        <a:hlink>
          <a:srgbClr val="9999CC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10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339999"/>
        </a:accent1>
        <a:accent2>
          <a:srgbClr val="B92B38"/>
        </a:accent2>
        <a:accent3>
          <a:srgbClr val="FFFFFF"/>
        </a:accent3>
        <a:accent4>
          <a:srgbClr val="000000"/>
        </a:accent4>
        <a:accent5>
          <a:srgbClr val="ADCACA"/>
        </a:accent5>
        <a:accent6>
          <a:srgbClr val="A72632"/>
        </a:accent6>
        <a:hlink>
          <a:srgbClr val="9999CC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1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339999"/>
        </a:accent1>
        <a:accent2>
          <a:srgbClr val="B92B38"/>
        </a:accent2>
        <a:accent3>
          <a:srgbClr val="FFFFFF"/>
        </a:accent3>
        <a:accent4>
          <a:srgbClr val="000000"/>
        </a:accent4>
        <a:accent5>
          <a:srgbClr val="ADCACA"/>
        </a:accent5>
        <a:accent6>
          <a:srgbClr val="A72632"/>
        </a:accent6>
        <a:hlink>
          <a:srgbClr val="9999CC"/>
        </a:hlink>
        <a:folHlink>
          <a:srgbClr val="EEB30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1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306774"/>
        </a:accent1>
        <a:accent2>
          <a:srgbClr val="B92B38"/>
        </a:accent2>
        <a:accent3>
          <a:srgbClr val="FFFFFF"/>
        </a:accent3>
        <a:accent4>
          <a:srgbClr val="000000"/>
        </a:accent4>
        <a:accent5>
          <a:srgbClr val="ADB8BC"/>
        </a:accent5>
        <a:accent6>
          <a:srgbClr val="A72632"/>
        </a:accent6>
        <a:hlink>
          <a:srgbClr val="9999CC"/>
        </a:hlink>
        <a:folHlink>
          <a:srgbClr val="EEB30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NetAcad_White_PPT_Template 05Oct12</Template>
  <TotalTime>7306</TotalTime>
  <Words>895</Words>
  <Application>Microsoft Office PowerPoint</Application>
  <PresentationFormat>On-screen Show (4:3)</PresentationFormat>
  <Paragraphs>143</Paragraphs>
  <Slides>32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Ciscolight</vt:lpstr>
      <vt:lpstr>Courier New</vt:lpstr>
      <vt:lpstr>Times New Roman</vt:lpstr>
      <vt:lpstr>Wingdings</vt:lpstr>
      <vt:lpstr>NetAcad_White_PPT_Template 05Oct12</vt:lpstr>
      <vt:lpstr>Theme1</vt:lpstr>
      <vt:lpstr>Securing the Local Area Network</vt:lpstr>
      <vt:lpstr>Layer 2 Security Considerations</vt:lpstr>
      <vt:lpstr>Describe Layer 2 Vulnerabilities</vt:lpstr>
      <vt:lpstr>Switch Attack Categories</vt:lpstr>
      <vt:lpstr>Topic 1: CAM Table Attacks</vt:lpstr>
      <vt:lpstr>Basic Switch Operation</vt:lpstr>
      <vt:lpstr>CAM Table Operation Example</vt:lpstr>
      <vt:lpstr>CAM Table Attack</vt:lpstr>
      <vt:lpstr>CAM Table Attack</vt:lpstr>
      <vt:lpstr>CAM Table Attack Tools</vt:lpstr>
      <vt:lpstr> Mitigating CAM Table Attacks</vt:lpstr>
      <vt:lpstr>Countermeasure for CAM Table Attacks</vt:lpstr>
      <vt:lpstr>Port Security</vt:lpstr>
      <vt:lpstr>Enabling Port Security Options</vt:lpstr>
      <vt:lpstr>Port Security Violations</vt:lpstr>
      <vt:lpstr>Port Security Aging</vt:lpstr>
      <vt:lpstr>Port Security with IP Phones</vt:lpstr>
      <vt:lpstr>Topic 2: Mitigating VLAN Attacks</vt:lpstr>
      <vt:lpstr>VLAN Hopping Attacks</vt:lpstr>
      <vt:lpstr>VLAN Double-Tagging Attack</vt:lpstr>
      <vt:lpstr>Mitigating VLAN Hopping Attacks</vt:lpstr>
      <vt:lpstr>Implementing Switch Port Analyzer</vt:lpstr>
      <vt:lpstr>Switch Port Analyzer</vt:lpstr>
      <vt:lpstr>SPAN</vt:lpstr>
      <vt:lpstr>SPAN Configuration</vt:lpstr>
      <vt:lpstr>SPAN Configuration (Cont.)</vt:lpstr>
      <vt:lpstr>SPAN Configuration (Cont.)</vt:lpstr>
      <vt:lpstr>Introduction to the Spanning Tree Protocol</vt:lpstr>
      <vt:lpstr>Spanning Tree Manipulation</vt:lpstr>
      <vt:lpstr>Implementing BPDUGuard to Mitigate Spanning Tree Manipulation</vt:lpstr>
      <vt:lpstr>Auto recovery from err-disable state</vt:lpstr>
      <vt:lpstr>PowerPoint Presentation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Real, Relevant,  Surprising and Fresh: Cisco Brand</dc:title>
  <dc:creator>Melissa Gabriel</dc:creator>
  <cp:lastModifiedBy>Phạm Thái Khanh</cp:lastModifiedBy>
  <cp:revision>158</cp:revision>
  <dcterms:created xsi:type="dcterms:W3CDTF">2012-10-09T16:58:47Z</dcterms:created>
  <dcterms:modified xsi:type="dcterms:W3CDTF">2021-11-03T11:36:45Z</dcterms:modified>
</cp:coreProperties>
</file>