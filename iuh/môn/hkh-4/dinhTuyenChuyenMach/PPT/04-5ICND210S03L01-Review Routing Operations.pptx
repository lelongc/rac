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9" r:id="rId1"/>
  </p:sldMasterIdLst>
  <p:notesMasterIdLst>
    <p:notesMasterId r:id="rId37"/>
  </p:notesMasterIdLst>
  <p:handoutMasterIdLst>
    <p:handoutMasterId r:id="rId38"/>
  </p:handoutMasterIdLst>
  <p:sldIdLst>
    <p:sldId id="272" r:id="rId2"/>
    <p:sldId id="328" r:id="rId3"/>
    <p:sldId id="329" r:id="rId4"/>
    <p:sldId id="341" r:id="rId5"/>
    <p:sldId id="330" r:id="rId6"/>
    <p:sldId id="340" r:id="rId7"/>
    <p:sldId id="331" r:id="rId8"/>
    <p:sldId id="332" r:id="rId9"/>
    <p:sldId id="333" r:id="rId10"/>
    <p:sldId id="334" r:id="rId11"/>
    <p:sldId id="335" r:id="rId12"/>
    <p:sldId id="336" r:id="rId13"/>
    <p:sldId id="337" r:id="rId14"/>
    <p:sldId id="339" r:id="rId15"/>
    <p:sldId id="338" r:id="rId16"/>
    <p:sldId id="324" r:id="rId17"/>
    <p:sldId id="290" r:id="rId18"/>
    <p:sldId id="291" r:id="rId19"/>
    <p:sldId id="292" r:id="rId20"/>
    <p:sldId id="293" r:id="rId21"/>
    <p:sldId id="294" r:id="rId22"/>
    <p:sldId id="295" r:id="rId23"/>
    <p:sldId id="296" r:id="rId24"/>
    <p:sldId id="297" r:id="rId25"/>
    <p:sldId id="298" r:id="rId26"/>
    <p:sldId id="299" r:id="rId27"/>
    <p:sldId id="300" r:id="rId28"/>
    <p:sldId id="301" r:id="rId29"/>
    <p:sldId id="302" r:id="rId30"/>
    <p:sldId id="304" r:id="rId31"/>
    <p:sldId id="306" r:id="rId32"/>
    <p:sldId id="307" r:id="rId33"/>
    <p:sldId id="312" r:id="rId34"/>
    <p:sldId id="261" r:id="rId35"/>
    <p:sldId id="274" r:id="rId36"/>
  </p:sldIdLst>
  <p:sldSz cx="9144000" cy="6858000" type="screen4x3"/>
  <p:notesSz cx="6858000" cy="9144000"/>
  <p:defaultTextStyle>
    <a:defPPr>
      <a:defRPr lang="en-US"/>
    </a:defPPr>
    <a:lvl1pPr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1pPr>
    <a:lvl2pPr marL="4572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2pPr>
    <a:lvl3pPr marL="9144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3pPr>
    <a:lvl4pPr marL="13716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4pPr>
    <a:lvl5pPr marL="1828800" algn="l" rtl="0" eaLnBrk="0" fontAlgn="base" hangingPunct="0">
      <a:lnSpc>
        <a:spcPct val="90000"/>
      </a:lnSpc>
      <a:spcBef>
        <a:spcPct val="50000"/>
      </a:spcBef>
      <a:spcAft>
        <a:spcPct val="0"/>
      </a:spcAft>
      <a:defRPr sz="1600" kern="1200">
        <a:solidFill>
          <a:schemeClr val="tx1"/>
        </a:solidFill>
        <a:latin typeface="Arial" charset="0"/>
        <a:ea typeface="+mn-ea"/>
        <a:cs typeface="+mn-cs"/>
      </a:defRPr>
    </a:lvl5pPr>
    <a:lvl6pPr marL="2286000" algn="l" defTabSz="914400" rtl="0" eaLnBrk="1" latinLnBrk="0" hangingPunct="1">
      <a:defRPr sz="1600" kern="1200">
        <a:solidFill>
          <a:schemeClr val="tx1"/>
        </a:solidFill>
        <a:latin typeface="Arial" charset="0"/>
        <a:ea typeface="+mn-ea"/>
        <a:cs typeface="+mn-cs"/>
      </a:defRPr>
    </a:lvl6pPr>
    <a:lvl7pPr marL="2743200" algn="l" defTabSz="914400" rtl="0" eaLnBrk="1" latinLnBrk="0" hangingPunct="1">
      <a:defRPr sz="1600" kern="1200">
        <a:solidFill>
          <a:schemeClr val="tx1"/>
        </a:solidFill>
        <a:latin typeface="Arial" charset="0"/>
        <a:ea typeface="+mn-ea"/>
        <a:cs typeface="+mn-cs"/>
      </a:defRPr>
    </a:lvl7pPr>
    <a:lvl8pPr marL="3200400" algn="l" defTabSz="914400" rtl="0" eaLnBrk="1" latinLnBrk="0" hangingPunct="1">
      <a:defRPr sz="1600" kern="1200">
        <a:solidFill>
          <a:schemeClr val="tx1"/>
        </a:solidFill>
        <a:latin typeface="Arial" charset="0"/>
        <a:ea typeface="+mn-ea"/>
        <a:cs typeface="+mn-cs"/>
      </a:defRPr>
    </a:lvl8pPr>
    <a:lvl9pPr marL="3657600" algn="l" defTabSz="914400" rtl="0" eaLnBrk="1" latinLnBrk="0" hangingPunct="1">
      <a:defRPr sz="1600" kern="1200">
        <a:solidFill>
          <a:schemeClr val="tx1"/>
        </a:solidFill>
        <a:latin typeface="Arial" charset="0"/>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ary Pfitzer" initials="" lastIdx="2" clrIdx="0"/>
  <p:cmAuthor id="1" name="Cisco Systems, Inc." initials="" lastIdx="1" clrIdx="1"/>
  <p:cmAuthor id="2" name="Kayce M. Clar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15F85"/>
    <a:srgbClr val="8E8E95"/>
    <a:srgbClr val="D2D2D4"/>
    <a:srgbClr val="FAE8BC"/>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53" autoAdjust="0"/>
    <p:restoredTop sz="79537" autoAdjust="0"/>
  </p:normalViewPr>
  <p:slideViewPr>
    <p:cSldViewPr>
      <p:cViewPr>
        <p:scale>
          <a:sx n="66" d="100"/>
          <a:sy n="66" d="100"/>
        </p:scale>
        <p:origin x="-1512" y="360"/>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 r:id="rId20" collapse="1"/>
      <p:sld r:id="rId21" collapse="1"/>
    </p:sldLst>
  </p:outlineViewPr>
  <p:notesTextViewPr>
    <p:cViewPr>
      <p:scale>
        <a:sx n="100" d="100"/>
        <a:sy n="100" d="100"/>
      </p:scale>
      <p:origin x="0" y="0"/>
    </p:cViewPr>
  </p:notesTextViewPr>
  <p:sorterViewPr>
    <p:cViewPr>
      <p:scale>
        <a:sx n="75" d="100"/>
        <a:sy n="7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_rels/viewProps.xml.rels><?xml version="1.0" encoding="UTF-8" standalone="yes"?>
<Relationships xmlns="http://schemas.openxmlformats.org/package/2006/relationships"><Relationship Id="rId8" Type="http://schemas.openxmlformats.org/officeDocument/2006/relationships/slide" Target="slides/slide20.xml"/><Relationship Id="rId13" Type="http://schemas.openxmlformats.org/officeDocument/2006/relationships/slide" Target="slides/slide25.xml"/><Relationship Id="rId18" Type="http://schemas.openxmlformats.org/officeDocument/2006/relationships/slide" Target="slides/slide30.xml"/><Relationship Id="rId3" Type="http://schemas.openxmlformats.org/officeDocument/2006/relationships/slide" Target="slides/slide12.xml"/><Relationship Id="rId21" Type="http://schemas.openxmlformats.org/officeDocument/2006/relationships/slide" Target="slides/slide34.xml"/><Relationship Id="rId7" Type="http://schemas.openxmlformats.org/officeDocument/2006/relationships/slide" Target="slides/slide19.xml"/><Relationship Id="rId12" Type="http://schemas.openxmlformats.org/officeDocument/2006/relationships/slide" Target="slides/slide24.xml"/><Relationship Id="rId17" Type="http://schemas.openxmlformats.org/officeDocument/2006/relationships/slide" Target="slides/slide29.xml"/><Relationship Id="rId2" Type="http://schemas.openxmlformats.org/officeDocument/2006/relationships/slide" Target="slides/slide11.xml"/><Relationship Id="rId16" Type="http://schemas.openxmlformats.org/officeDocument/2006/relationships/slide" Target="slides/slide28.xml"/><Relationship Id="rId20" Type="http://schemas.openxmlformats.org/officeDocument/2006/relationships/slide" Target="slides/slide32.xml"/><Relationship Id="rId1" Type="http://schemas.openxmlformats.org/officeDocument/2006/relationships/slide" Target="slides/slide3.xml"/><Relationship Id="rId6" Type="http://schemas.openxmlformats.org/officeDocument/2006/relationships/slide" Target="slides/slide18.xml"/><Relationship Id="rId11" Type="http://schemas.openxmlformats.org/officeDocument/2006/relationships/slide" Target="slides/slide23.xml"/><Relationship Id="rId5" Type="http://schemas.openxmlformats.org/officeDocument/2006/relationships/slide" Target="slides/slide17.xml"/><Relationship Id="rId15" Type="http://schemas.openxmlformats.org/officeDocument/2006/relationships/slide" Target="slides/slide27.xml"/><Relationship Id="rId10" Type="http://schemas.openxmlformats.org/officeDocument/2006/relationships/slide" Target="slides/slide22.xml"/><Relationship Id="rId19" Type="http://schemas.openxmlformats.org/officeDocument/2006/relationships/slide" Target="slides/slide31.xml"/><Relationship Id="rId4" Type="http://schemas.openxmlformats.org/officeDocument/2006/relationships/slide" Target="slides/slide13.xml"/><Relationship Id="rId9" Type="http://schemas.openxmlformats.org/officeDocument/2006/relationships/slide" Target="slides/slide21.xml"/><Relationship Id="rId14"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57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defRPr sz="1200" b="1"/>
            </a:lvl1pPr>
          </a:lstStyle>
          <a:p>
            <a:endParaRPr lang="en-US"/>
          </a:p>
        </p:txBody>
      </p:sp>
      <p:sp>
        <p:nvSpPr>
          <p:cNvPr id="24579"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1"/>
            </a:lvl1pPr>
          </a:lstStyle>
          <a:p>
            <a:endParaRPr lang="en-US"/>
          </a:p>
        </p:txBody>
      </p:sp>
      <p:sp>
        <p:nvSpPr>
          <p:cNvPr id="24580"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defRPr sz="1200" b="1"/>
            </a:lvl1pPr>
          </a:lstStyle>
          <a:p>
            <a:endParaRPr lang="en-US"/>
          </a:p>
        </p:txBody>
      </p:sp>
      <p:sp>
        <p:nvSpPr>
          <p:cNvPr id="24581"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1"/>
            </a:lvl1pPr>
          </a:lstStyle>
          <a:p>
            <a:fld id="{160E9677-0005-4495-BBDE-4154EDCC7EF4}" type="slidenum">
              <a:rPr lang="en-US"/>
              <a:pPr/>
              <a:t>‹#›</a:t>
            </a:fld>
            <a:endParaRPr lang="en-US"/>
          </a:p>
        </p:txBody>
      </p:sp>
    </p:spTree>
    <p:extLst>
      <p:ext uri="{BB962C8B-B14F-4D97-AF65-F5344CB8AC3E}">
        <p14:creationId xmlns:p14="http://schemas.microsoft.com/office/powerpoint/2010/main" val="24716786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nSpc>
                <a:spcPct val="100000"/>
              </a:lnSpc>
              <a:spcBef>
                <a:spcPct val="0"/>
              </a:spcBef>
              <a:defRPr sz="1200" b="1"/>
            </a:lvl1pPr>
          </a:lstStyle>
          <a:p>
            <a:endParaRPr lang="en-US"/>
          </a:p>
        </p:txBody>
      </p:sp>
      <p:sp>
        <p:nvSpPr>
          <p:cNvPr id="81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lnSpc>
                <a:spcPct val="100000"/>
              </a:lnSpc>
              <a:spcBef>
                <a:spcPct val="0"/>
              </a:spcBef>
              <a:defRPr sz="1200" b="1"/>
            </a:lvl1pPr>
          </a:lstStyle>
          <a:p>
            <a:endParaRPr lang="en-US"/>
          </a:p>
        </p:txBody>
      </p:sp>
      <p:sp>
        <p:nvSpPr>
          <p:cNvPr id="819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nSpc>
                <a:spcPct val="100000"/>
              </a:lnSpc>
              <a:spcBef>
                <a:spcPct val="0"/>
              </a:spcBef>
              <a:defRPr sz="1200" b="1"/>
            </a:lvl1pPr>
          </a:lstStyle>
          <a:p>
            <a:endParaRPr lang="en-US"/>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lnSpc>
                <a:spcPct val="100000"/>
              </a:lnSpc>
              <a:spcBef>
                <a:spcPct val="0"/>
              </a:spcBef>
              <a:defRPr sz="1200" b="1"/>
            </a:lvl1pPr>
          </a:lstStyle>
          <a:p>
            <a:fld id="{C77F8422-0F18-4303-94B4-08D082304586}" type="slidenum">
              <a:rPr lang="en-US"/>
              <a:pPr/>
              <a:t>‹#›</a:t>
            </a:fld>
            <a:endParaRPr lang="en-US"/>
          </a:p>
        </p:txBody>
      </p:sp>
    </p:spTree>
    <p:extLst>
      <p:ext uri="{BB962C8B-B14F-4D97-AF65-F5344CB8AC3E}">
        <p14:creationId xmlns:p14="http://schemas.microsoft.com/office/powerpoint/2010/main" val="30886690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pitchFamily="18" charset="0"/>
        <a:ea typeface="+mn-ea"/>
        <a:cs typeface="+mn-cs"/>
      </a:defRPr>
    </a:lvl1pPr>
    <a:lvl2pPr marL="457200" algn="l" rtl="0" fontAlgn="base">
      <a:spcBef>
        <a:spcPct val="30000"/>
      </a:spcBef>
      <a:spcAft>
        <a:spcPct val="0"/>
      </a:spcAft>
      <a:defRPr sz="1200" kern="1200">
        <a:solidFill>
          <a:schemeClr val="tx1"/>
        </a:solidFill>
        <a:latin typeface="Times" pitchFamily="18" charset="0"/>
        <a:ea typeface="+mn-ea"/>
        <a:cs typeface="+mn-cs"/>
      </a:defRPr>
    </a:lvl2pPr>
    <a:lvl3pPr marL="914400" algn="l" rtl="0" fontAlgn="base">
      <a:spcBef>
        <a:spcPct val="30000"/>
      </a:spcBef>
      <a:spcAft>
        <a:spcPct val="0"/>
      </a:spcAft>
      <a:defRPr sz="1200" kern="1200">
        <a:solidFill>
          <a:schemeClr val="tx1"/>
        </a:solidFill>
        <a:latin typeface="Times" pitchFamily="18" charset="0"/>
        <a:ea typeface="+mn-ea"/>
        <a:cs typeface="+mn-cs"/>
      </a:defRPr>
    </a:lvl3pPr>
    <a:lvl4pPr marL="1371600" algn="l" rtl="0" fontAlgn="base">
      <a:spcBef>
        <a:spcPct val="30000"/>
      </a:spcBef>
      <a:spcAft>
        <a:spcPct val="0"/>
      </a:spcAft>
      <a:defRPr sz="1200" kern="1200">
        <a:solidFill>
          <a:schemeClr val="tx1"/>
        </a:solidFill>
        <a:latin typeface="Times" pitchFamily="18" charset="0"/>
        <a:ea typeface="+mn-ea"/>
        <a:cs typeface="+mn-cs"/>
      </a:defRPr>
    </a:lvl4pPr>
    <a:lvl5pPr marL="1828800" algn="l" rtl="0" fontAlgn="base">
      <a:spcBef>
        <a:spcPct val="30000"/>
      </a:spcBef>
      <a:spcAft>
        <a:spcPct val="0"/>
      </a:spcAft>
      <a:defRPr sz="1200" kern="1200">
        <a:solidFill>
          <a:schemeClr val="tx1"/>
        </a:solidFill>
        <a:latin typeface="Times"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ACC6DB6-12AE-4C73-A45C-C463F2FFAF89}" type="slidenum">
              <a:rPr lang="en-US"/>
              <a:pPr/>
              <a:t>1</a:t>
            </a:fld>
            <a:endParaRPr lang="en-US"/>
          </a:p>
        </p:txBody>
      </p:sp>
      <p:sp>
        <p:nvSpPr>
          <p:cNvPr id="47106" name="Rectangle 2"/>
          <p:cNvSpPr>
            <a:spLocks noGrp="1" noRot="1" noChangeAspect="1" noChangeArrowheads="1" noTextEdit="1"/>
          </p:cNvSpPr>
          <p:nvPr>
            <p:ph type="sldImg"/>
          </p:nvPr>
        </p:nvSpPr>
        <p:spPr>
          <a:xfrm>
            <a:off x="841375" y="241300"/>
            <a:ext cx="5233988" cy="3925888"/>
          </a:xfrm>
          <a:ln/>
        </p:spPr>
      </p:sp>
      <p:sp>
        <p:nvSpPr>
          <p:cNvPr id="47107" name="Rectangle 3"/>
          <p:cNvSpPr>
            <a:spLocks noGrp="1" noChangeArrowheads="1"/>
          </p:cNvSpPr>
          <p:nvPr>
            <p:ph type="body" idx="1"/>
          </p:nvPr>
        </p:nvSpPr>
        <p:spPr>
          <a:xfrm>
            <a:off x="395288" y="4305300"/>
            <a:ext cx="5988050" cy="4184650"/>
          </a:xfrm>
        </p:spPr>
        <p:txBody>
          <a:bodyPr/>
          <a:lstStyle/>
          <a:p>
            <a:pPr marL="112713" indent="-112713" defTabSz="1020763"/>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4F21554-E1DD-4C2F-885A-CFD75E3958B2}" type="slidenum">
              <a:rPr lang="en-US"/>
              <a:pPr/>
              <a:t>3</a:t>
            </a:fld>
            <a:endParaRPr lang="en-US"/>
          </a:p>
        </p:txBody>
      </p:sp>
      <p:sp>
        <p:nvSpPr>
          <p:cNvPr id="287746" name="Rectangle 2"/>
          <p:cNvSpPr>
            <a:spLocks noGrp="1" noRot="1" noChangeAspect="1" noChangeArrowheads="1" noTextEdit="1"/>
          </p:cNvSpPr>
          <p:nvPr>
            <p:ph type="sldImg"/>
          </p:nvPr>
        </p:nvSpPr>
        <p:spPr>
          <a:xfrm>
            <a:off x="1092200" y="301625"/>
            <a:ext cx="4700588" cy="3525838"/>
          </a:xfrm>
          <a:ln/>
        </p:spPr>
      </p:sp>
      <p:sp>
        <p:nvSpPr>
          <p:cNvPr id="287747" name="Rectangle 3"/>
          <p:cNvSpPr>
            <a:spLocks noGrp="1" noChangeArrowheads="1"/>
          </p:cNvSpPr>
          <p:nvPr>
            <p:ph type="body" idx="1"/>
          </p:nvPr>
        </p:nvSpPr>
        <p:spPr>
          <a:xfrm>
            <a:off x="523875" y="4052888"/>
            <a:ext cx="5835650" cy="4579937"/>
          </a:xfrm>
        </p:spPr>
        <p:txBody>
          <a:bodyPr/>
          <a:lstStyle/>
          <a:p>
            <a:r>
              <a:rPr lang="en-US" b="1">
                <a:solidFill>
                  <a:srgbClr val="000000"/>
                </a:solidFill>
              </a:rPr>
              <a:t>Purpose:</a:t>
            </a:r>
            <a:r>
              <a:rPr lang="en-US">
                <a:solidFill>
                  <a:srgbClr val="000000"/>
                </a:solidFill>
              </a:rPr>
              <a:t> This figure introduces students to routing protocols and compares routing protocols to routed protocols.</a:t>
            </a:r>
          </a:p>
          <a:p>
            <a:r>
              <a:rPr lang="en-US" b="1">
                <a:solidFill>
                  <a:srgbClr val="000000"/>
                </a:solidFill>
              </a:rPr>
              <a:t>Emphasize:</a:t>
            </a:r>
            <a:r>
              <a:rPr lang="en-US">
                <a:solidFill>
                  <a:srgbClr val="000000"/>
                </a:solidFill>
              </a:rPr>
              <a:t> If network 10.120.2.0 wants to know about network 172.16.2.0, it must learn it from its S0 (or possibly S1) interface.</a:t>
            </a:r>
          </a:p>
          <a:p>
            <a:r>
              <a:rPr lang="en-US" b="1">
                <a:solidFill>
                  <a:srgbClr val="000000"/>
                </a:solidFill>
              </a:rPr>
              <a:t>Note:</a:t>
            </a:r>
            <a:r>
              <a:rPr lang="en-US">
                <a:solidFill>
                  <a:srgbClr val="000000"/>
                </a:solidFill>
              </a:rPr>
              <a:t> The two routing protocols that will be taught in this course are RIP and IGRP. They are both distance vector routing protocols. </a:t>
            </a:r>
          </a:p>
          <a:p>
            <a:pPr>
              <a:lnSpc>
                <a:spcPct val="96000"/>
              </a:lnSpc>
              <a:spcAft>
                <a:spcPts val="600"/>
              </a:spcAft>
            </a:pPr>
            <a:endParaRPr lang="en-US" b="1"/>
          </a:p>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5729B5B-BBC0-49C8-93D8-C81ACF8BFD5D}" type="slidenum">
              <a:rPr lang="en-US"/>
              <a:pPr/>
              <a:t>6</a:t>
            </a:fld>
            <a:endParaRPr lang="en-US"/>
          </a:p>
        </p:txBody>
      </p:sp>
      <p:sp>
        <p:nvSpPr>
          <p:cNvPr id="280578" name="Rectangle 2"/>
          <p:cNvSpPr>
            <a:spLocks noGrp="1" noRot="1" noChangeAspect="1" noChangeArrowheads="1" noTextEdit="1"/>
          </p:cNvSpPr>
          <p:nvPr>
            <p:ph type="sldImg"/>
          </p:nvPr>
        </p:nvSpPr>
        <p:spPr>
          <a:xfrm>
            <a:off x="1103313" y="301625"/>
            <a:ext cx="4700587" cy="3525838"/>
          </a:xfrm>
          <a:ln/>
        </p:spPr>
      </p:sp>
      <p:sp>
        <p:nvSpPr>
          <p:cNvPr id="280579" name="Rectangle 3"/>
          <p:cNvSpPr>
            <a:spLocks noGrp="1" noChangeArrowheads="1"/>
          </p:cNvSpPr>
          <p:nvPr>
            <p:ph type="body" idx="1"/>
          </p:nvPr>
        </p:nvSpPr>
        <p:spPr>
          <a:xfrm>
            <a:off x="523875" y="4052888"/>
            <a:ext cx="5835650" cy="4579937"/>
          </a:xfrm>
        </p:spPr>
        <p:txBody>
          <a:bodyPr/>
          <a:lstStyle/>
          <a:p>
            <a:r>
              <a:rPr lang="en-US" b="1"/>
              <a:t>Purpose: </a:t>
            </a:r>
            <a:r>
              <a:rPr lang="en-US"/>
              <a:t>This figure introduces students to static and dynamic routes.</a:t>
            </a:r>
          </a:p>
          <a:p>
            <a:r>
              <a:rPr lang="en-US" b="1"/>
              <a:t>Emphasize: </a:t>
            </a:r>
            <a:r>
              <a:rPr lang="en-US"/>
              <a:t>Static knowledge is administered manually—a network administrator enters it into the router’s configuration. The administrator must manually update this static route entry whenever an internetwork topology change requires an update. Static knowledge can be private—by default it is not conveyed to other routers as part of an update process. You can, however, configure the router to share this knowledge.</a:t>
            </a:r>
          </a:p>
          <a:p>
            <a:r>
              <a:rPr lang="en-US"/>
              <a:t>Dynamic knowledge works differently. After the network administrator enters configuration commands to start dynamic routing, route knowledge is updated automatically by a routing process. Whenever new topology information is received from the internetwork, routers update neighbors about the route change. </a:t>
            </a:r>
          </a:p>
          <a:p>
            <a:endParaRPr lang="en-US"/>
          </a:p>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4AAAD4-4B13-4768-9FC5-62B6727BDF8F}" type="slidenum">
              <a:rPr lang="en-US"/>
              <a:pPr/>
              <a:t>7</a:t>
            </a:fld>
            <a:endParaRPr lang="en-US"/>
          </a:p>
        </p:txBody>
      </p:sp>
      <p:sp>
        <p:nvSpPr>
          <p:cNvPr id="289794" name="Rectangle 2"/>
          <p:cNvSpPr>
            <a:spLocks noGrp="1" noRot="1" noChangeAspect="1" noChangeArrowheads="1" noTextEdit="1"/>
          </p:cNvSpPr>
          <p:nvPr>
            <p:ph type="sldImg"/>
          </p:nvPr>
        </p:nvSpPr>
        <p:spPr>
          <a:xfrm>
            <a:off x="1103313" y="301625"/>
            <a:ext cx="4700587" cy="3525838"/>
          </a:xfrm>
          <a:ln/>
        </p:spPr>
      </p:sp>
      <p:sp>
        <p:nvSpPr>
          <p:cNvPr id="289795" name="Rectangle 3"/>
          <p:cNvSpPr>
            <a:spLocks noGrp="1" noChangeArrowheads="1"/>
          </p:cNvSpPr>
          <p:nvPr>
            <p:ph type="body" idx="1"/>
          </p:nvPr>
        </p:nvSpPr>
        <p:spPr>
          <a:xfrm>
            <a:off x="523875" y="4052888"/>
            <a:ext cx="5835650" cy="4579937"/>
          </a:xfrm>
        </p:spPr>
        <p:txBody>
          <a:bodyPr/>
          <a:lstStyle/>
          <a:p>
            <a:r>
              <a:rPr lang="en-US" b="1"/>
              <a:t>Purpose: </a:t>
            </a:r>
            <a:r>
              <a:rPr lang="en-US"/>
              <a:t>This figure discusses autonomous systems, IGPs and EGPs.</a:t>
            </a:r>
          </a:p>
          <a:p>
            <a:r>
              <a:rPr lang="en-US" b="1"/>
              <a:t>Emphasize:</a:t>
            </a:r>
            <a:r>
              <a:rPr lang="en-US"/>
              <a:t> Introduce the interior/exterior distinctions for routing protocols, as follows:</a:t>
            </a:r>
          </a:p>
          <a:p>
            <a:pPr>
              <a:buFontTx/>
              <a:buChar char="•"/>
            </a:pPr>
            <a:r>
              <a:rPr lang="en-US"/>
              <a:t> Interior routing protocols are used within a single autonomous system</a:t>
            </a:r>
          </a:p>
          <a:p>
            <a:pPr>
              <a:buFontTx/>
              <a:buChar char="•"/>
            </a:pPr>
            <a:r>
              <a:rPr lang="en-US"/>
              <a:t> Exterior routing protocols are used to communicate between autonomous systems </a:t>
            </a:r>
          </a:p>
          <a:p>
            <a:r>
              <a:rPr lang="en-US"/>
              <a:t>The design criteria for an interior routing protocol require it to find the best path through the network. In other words, the metric and how that metric is used is the most important element in an interior routing protocol.</a:t>
            </a:r>
          </a:p>
          <a:p>
            <a:r>
              <a:rPr lang="en-US"/>
              <a:t>Exterior protocols are used to exchange routing information between networks that do not share a common administration. IP exterior gateway protocols require the following three sets of information before routing can begin: </a:t>
            </a:r>
          </a:p>
          <a:p>
            <a:pPr lvl="1"/>
            <a:r>
              <a:rPr lang="en-US"/>
              <a:t>A list of neighbor (or peer) routers or access servers with which to exchange routing information</a:t>
            </a:r>
          </a:p>
          <a:p>
            <a:pPr lvl="1"/>
            <a:r>
              <a:rPr lang="en-US"/>
              <a:t>A list of networks to advertise as directly reachable</a:t>
            </a:r>
          </a:p>
          <a:p>
            <a:pPr lvl="1"/>
            <a:r>
              <a:rPr lang="en-US"/>
              <a:t>The autonomous system number of the local router</a:t>
            </a:r>
          </a:p>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E2B98078-FE70-4B21-97E8-2481623C43FE}" type="slidenum">
              <a:rPr lang="en-US"/>
              <a:pPr/>
              <a:t>8</a:t>
            </a:fld>
            <a:endParaRPr lang="en-US"/>
          </a:p>
        </p:txBody>
      </p:sp>
      <p:sp>
        <p:nvSpPr>
          <p:cNvPr id="293890" name="Rectangle 2"/>
          <p:cNvSpPr>
            <a:spLocks noChangeArrowheads="1"/>
          </p:cNvSpPr>
          <p:nvPr/>
        </p:nvSpPr>
        <p:spPr bwMode="auto">
          <a:xfrm>
            <a:off x="3263900" y="8699500"/>
            <a:ext cx="254000" cy="395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9048" tIns="26985" rIns="19048" bIns="26985"/>
          <a:lstStyle/>
          <a:p>
            <a:pPr>
              <a:lnSpc>
                <a:spcPts val="2100"/>
              </a:lnSpc>
            </a:pPr>
            <a:r>
              <a:rPr lang="en-US" sz="1800" b="0">
                <a:solidFill>
                  <a:srgbClr val="000000"/>
                </a:solidFill>
              </a:rPr>
              <a:t>5</a:t>
            </a:r>
          </a:p>
        </p:txBody>
      </p:sp>
      <p:sp>
        <p:nvSpPr>
          <p:cNvPr id="293891" name="Rectangle 3"/>
          <p:cNvSpPr>
            <a:spLocks noGrp="1" noRot="1" noChangeAspect="1" noChangeArrowheads="1" noTextEdit="1"/>
          </p:cNvSpPr>
          <p:nvPr>
            <p:ph type="sldImg"/>
          </p:nvPr>
        </p:nvSpPr>
        <p:spPr>
          <a:xfrm>
            <a:off x="1103313" y="301625"/>
            <a:ext cx="4700587" cy="3525838"/>
          </a:xfrm>
          <a:ln/>
        </p:spPr>
      </p:sp>
      <p:sp>
        <p:nvSpPr>
          <p:cNvPr id="293892" name="Rectangle 4"/>
          <p:cNvSpPr>
            <a:spLocks noGrp="1" noChangeArrowheads="1"/>
          </p:cNvSpPr>
          <p:nvPr>
            <p:ph type="body" idx="1"/>
          </p:nvPr>
        </p:nvSpPr>
        <p:spPr>
          <a:xfrm>
            <a:off x="523875" y="4052888"/>
            <a:ext cx="5835650" cy="4579937"/>
          </a:xfrm>
        </p:spPr>
        <p:txBody>
          <a:bodyPr/>
          <a:lstStyle/>
          <a:p>
            <a:pPr defTabSz="1020763">
              <a:tabLst>
                <a:tab pos="1023938" algn="l"/>
              </a:tabLst>
            </a:pPr>
            <a:r>
              <a:rPr lang="en-US" b="1"/>
              <a:t>Purpose: </a:t>
            </a:r>
            <a:r>
              <a:rPr lang="en-US"/>
              <a:t>This figure introduces administrative distance. </a:t>
            </a:r>
          </a:p>
          <a:p>
            <a:pPr defTabSz="1020763">
              <a:tabLst>
                <a:tab pos="1023938" algn="l"/>
              </a:tabLst>
            </a:pPr>
            <a:r>
              <a:rPr lang="en-US" b="1"/>
              <a:t>Emphasize: </a:t>
            </a:r>
            <a:r>
              <a:rPr lang="en-US"/>
              <a:t>An administrative distance is a rating of the trustworthiness of a routing information source, such as an individual router or a group of routers. In a large network, some routing protocols and some routers can be more reliable than others as sources of routing information. </a:t>
            </a:r>
          </a:p>
          <a:p>
            <a:pPr defTabSz="1020763">
              <a:tabLst>
                <a:tab pos="1023938" algn="l"/>
              </a:tabLst>
            </a:pPr>
            <a:r>
              <a:rPr lang="en-US"/>
              <a:t>The default administrative distance for static routes and various routing protocols is listed in the Student Guide. The lower the distance, the more trustworthy the route is. For example, in the figure, the packet would learn the route learned via IGRP.</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3E6F156B-C894-4AC3-9EF2-2FF8D2633A0B}" type="slidenum">
              <a:rPr lang="en-US"/>
              <a:pPr/>
              <a:t>9</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p:cNvSpPr>
            <a:spLocks noGrp="1" noChangeArrowheads="1"/>
          </p:cNvSpPr>
          <p:nvPr>
            <p:ph type="sldNum" sz="quarter" idx="5"/>
          </p:nvPr>
        </p:nvSpPr>
        <p:spPr>
          <a:ln/>
        </p:spPr>
        <p:txBody>
          <a:bodyPr/>
          <a:lstStyle/>
          <a:p>
            <a:fld id="{56DFDB0C-7CBD-4C6A-A0FF-FF90F8FF984A}" type="slidenum">
              <a:rPr lang="en-US"/>
              <a:pPr/>
              <a:t>10</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DF1AD1B-80A5-4E54-BBE7-ADA9E8E01BAB}" type="slidenum">
              <a:rPr lang="en-US"/>
              <a:pPr/>
              <a:t>11</a:t>
            </a:fld>
            <a:endParaRPr lang="en-US"/>
          </a:p>
        </p:txBody>
      </p:sp>
      <p:sp>
        <p:nvSpPr>
          <p:cNvPr id="304130" name="Rectangle 2"/>
          <p:cNvSpPr>
            <a:spLocks noGrp="1" noRot="1" noChangeAspect="1" noChangeArrowheads="1" noTextEdit="1"/>
          </p:cNvSpPr>
          <p:nvPr>
            <p:ph type="sldImg"/>
          </p:nvPr>
        </p:nvSpPr>
        <p:spPr>
          <a:xfrm>
            <a:off x="1090613" y="301625"/>
            <a:ext cx="4703762" cy="3527425"/>
          </a:xfrm>
          <a:ln/>
        </p:spPr>
      </p:sp>
      <p:sp>
        <p:nvSpPr>
          <p:cNvPr id="304131"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Purpose:</a:t>
            </a:r>
            <a:r>
              <a:rPr lang="en-US">
                <a:solidFill>
                  <a:srgbClr val="000000"/>
                </a:solidFill>
              </a:rPr>
              <a:t> This figure introduces the distance vector routing algorithm, the first of the classes of routing protocols, and outlines how it operates. 	</a:t>
            </a:r>
            <a:endParaRPr lang="en-US" b="1"/>
          </a:p>
          <a:p>
            <a:pPr>
              <a:lnSpc>
                <a:spcPct val="96000"/>
              </a:lnSpc>
              <a:spcAft>
                <a:spcPts val="600"/>
              </a:spcAft>
            </a:pPr>
            <a:r>
              <a:rPr lang="en-US" b="1">
                <a:solidFill>
                  <a:srgbClr val="000000"/>
                </a:solidFill>
              </a:rPr>
              <a:t>Emphasize:</a:t>
            </a:r>
            <a:r>
              <a:rPr lang="en-US">
                <a:solidFill>
                  <a:srgbClr val="000000"/>
                </a:solidFill>
              </a:rPr>
              <a:t> Distance vector algorithms do not allow a router to know the exact topology of an internetwork.</a:t>
            </a:r>
          </a:p>
          <a:p>
            <a:pPr>
              <a:lnSpc>
                <a:spcPct val="96000"/>
              </a:lnSpc>
              <a:spcAft>
                <a:spcPts val="600"/>
              </a:spcAft>
            </a:pPr>
            <a:r>
              <a:rPr lang="en-US">
                <a:solidFill>
                  <a:srgbClr val="000000"/>
                </a:solidFill>
              </a:rPr>
              <a:t>This information is somewhat analogous to the information found on signs at a highway intersection. A sign points toward a road leading away from the intersection and indicates the distance to the destination. </a:t>
            </a:r>
          </a:p>
          <a:p>
            <a:pPr>
              <a:lnSpc>
                <a:spcPct val="96000"/>
              </a:lnSpc>
              <a:spcAft>
                <a:spcPts val="600"/>
              </a:spcAft>
            </a:pPr>
            <a:r>
              <a:rPr lang="en-US">
                <a:solidFill>
                  <a:srgbClr val="000000"/>
                </a:solidFill>
              </a:rPr>
              <a:t>Further down the highway, another sign also points toward the destination, but now the distance to the destination is shorter. </a:t>
            </a:r>
          </a:p>
          <a:p>
            <a:pPr>
              <a:lnSpc>
                <a:spcPct val="96000"/>
              </a:lnSpc>
              <a:spcAft>
                <a:spcPts val="600"/>
              </a:spcAft>
            </a:pPr>
            <a:r>
              <a:rPr lang="en-US">
                <a:solidFill>
                  <a:srgbClr val="000000"/>
                </a:solidFill>
              </a:rPr>
              <a:t>As long as each successive point on the path shows that the distance to the destination is successively shorter, the traffic is following the best path.	</a:t>
            </a:r>
            <a:endParaRPr lang="en-US" b="1"/>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B0CE801-EE13-4582-9435-09440845EFB7}" type="slidenum">
              <a:rPr lang="en-US"/>
              <a:pPr/>
              <a:t>12</a:t>
            </a:fld>
            <a:endParaRPr lang="en-US"/>
          </a:p>
        </p:txBody>
      </p:sp>
      <p:sp>
        <p:nvSpPr>
          <p:cNvPr id="306178" name="Rectangle 2"/>
          <p:cNvSpPr>
            <a:spLocks noGrp="1" noRot="1" noChangeAspect="1" noChangeArrowheads="1" noTextEdit="1"/>
          </p:cNvSpPr>
          <p:nvPr>
            <p:ph type="sldImg"/>
          </p:nvPr>
        </p:nvSpPr>
        <p:spPr>
          <a:xfrm>
            <a:off x="1090613" y="301625"/>
            <a:ext cx="4703762" cy="3527425"/>
          </a:xfrm>
          <a:ln/>
        </p:spPr>
      </p:sp>
      <p:sp>
        <p:nvSpPr>
          <p:cNvPr id="306179"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Layer 3 of 3</a:t>
            </a:r>
            <a:endParaRPr lang="en-US"/>
          </a:p>
          <a:p>
            <a:r>
              <a:rPr lang="en-US" b="1">
                <a:solidFill>
                  <a:srgbClr val="000000"/>
                </a:solidFill>
              </a:rPr>
              <a:t>Emphasize:</a:t>
            </a:r>
            <a:r>
              <a:rPr lang="en-US">
                <a:solidFill>
                  <a:srgbClr val="000000"/>
                </a:solidFill>
              </a:rPr>
              <a:t> Layer 3 adds the final entries received some time later that have distances of 2 from routers A and C.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81FE38-159A-4F04-A5E3-5B5C691E5ADD}" type="slidenum">
              <a:rPr lang="en-US"/>
              <a:pPr/>
              <a:t>13</a:t>
            </a:fld>
            <a:endParaRPr lang="en-US"/>
          </a:p>
        </p:txBody>
      </p:sp>
      <p:sp>
        <p:nvSpPr>
          <p:cNvPr id="241666" name="Rectangle 2"/>
          <p:cNvSpPr>
            <a:spLocks noGrp="1" noRot="1" noChangeAspect="1" noChangeArrowheads="1" noTextEdit="1"/>
          </p:cNvSpPr>
          <p:nvPr>
            <p:ph type="sldImg"/>
          </p:nvPr>
        </p:nvSpPr>
        <p:spPr>
          <a:xfrm>
            <a:off x="1092200" y="301625"/>
            <a:ext cx="4700588" cy="3525838"/>
          </a:xfrm>
          <a:ln/>
        </p:spPr>
      </p:sp>
      <p:sp>
        <p:nvSpPr>
          <p:cNvPr id="241667" name="Rectangle 3"/>
          <p:cNvSpPr>
            <a:spLocks noGrp="1" noChangeArrowheads="1"/>
          </p:cNvSpPr>
          <p:nvPr>
            <p:ph type="body" idx="1"/>
          </p:nvPr>
        </p:nvSpPr>
        <p:spPr>
          <a:xfrm>
            <a:off x="523875" y="4052888"/>
            <a:ext cx="5835650" cy="4579937"/>
          </a:xfrm>
        </p:spPr>
        <p:txBody>
          <a:bodyPr/>
          <a:lstStyle/>
          <a:p>
            <a:r>
              <a:rPr lang="en-US" b="1">
                <a:solidFill>
                  <a:srgbClr val="000000"/>
                </a:solidFill>
              </a:rPr>
              <a:t>Purpose:</a:t>
            </a:r>
            <a:r>
              <a:rPr lang="en-US">
                <a:solidFill>
                  <a:srgbClr val="000000"/>
                </a:solidFill>
              </a:rPr>
              <a:t> This figure introduces the link-state routing algorithm, the second of the classes of routing protocols, and outlines how it operates.</a:t>
            </a:r>
          </a:p>
          <a:p>
            <a:r>
              <a:rPr lang="en-US" b="1">
                <a:solidFill>
                  <a:srgbClr val="000000"/>
                </a:solidFill>
              </a:rPr>
              <a:t>Emphasize:</a:t>
            </a:r>
            <a:r>
              <a:rPr lang="en-US">
                <a:solidFill>
                  <a:srgbClr val="000000"/>
                </a:solidFill>
              </a:rPr>
              <a:t> In contrast with the analogy about the distance vector information being like individual road signs that show distance, link-state information is somewhat analogous to a road map with a “you are here” pointer showing the map reader’s current location. This larger perspective indicates the shortest path to the destination. Each router has its own map of the complete topology.</a:t>
            </a:r>
          </a:p>
          <a:p>
            <a:pPr>
              <a:lnSpc>
                <a:spcPct val="96000"/>
              </a:lnSpc>
              <a:spcAft>
                <a:spcPts val="600"/>
              </a:spcAft>
            </a:pPr>
            <a:r>
              <a:rPr lang="en-US">
                <a:solidFill>
                  <a:srgbClr val="000000"/>
                </a:solidFill>
              </a:rPr>
              <a:t>Link-state routing is not covered further in this course. Refer students interested in more details to the ACRC course. 	</a:t>
            </a:r>
            <a:endParaRPr lang="en-US" b="1"/>
          </a:p>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ED8CE7C-0E3F-49FA-BB87-67CC05C10CAF}" type="slidenum">
              <a:rPr lang="en-US"/>
              <a:pPr/>
              <a:t>14</a:t>
            </a:fld>
            <a:endParaRPr lang="en-US"/>
          </a:p>
        </p:txBody>
      </p:sp>
      <p:sp>
        <p:nvSpPr>
          <p:cNvPr id="303106" name="Rectangle 2"/>
          <p:cNvSpPr>
            <a:spLocks noGrp="1" noRot="1" noChangeAspect="1" noChangeArrowheads="1" noTextEdit="1"/>
          </p:cNvSpPr>
          <p:nvPr>
            <p:ph type="sldImg"/>
          </p:nvPr>
        </p:nvSpPr>
        <p:spPr>
          <a:xfrm>
            <a:off x="1243013" y="563563"/>
            <a:ext cx="4383087" cy="3287712"/>
          </a:xfrm>
          <a:ln/>
        </p:spPr>
      </p:sp>
      <p:sp>
        <p:nvSpPr>
          <p:cNvPr id="303107" name="Rectangle 3"/>
          <p:cNvSpPr>
            <a:spLocks noGrp="1" noChangeArrowheads="1"/>
          </p:cNvSpPr>
          <p:nvPr>
            <p:ph type="body" idx="1"/>
          </p:nvPr>
        </p:nvSpPr>
        <p:spPr>
          <a:xfrm>
            <a:off x="858838" y="3997325"/>
            <a:ext cx="5160962" cy="4306888"/>
          </a:xfrm>
        </p:spPr>
        <p:txBody>
          <a:bodyPr lIns="89797" tIns="44898" rIns="89797" bIns="44898"/>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A92462-3748-4A22-A563-C8723577F70B}" type="slidenum">
              <a:rPr lang="en-US"/>
              <a:pPr/>
              <a:t>15</a:t>
            </a:fld>
            <a:endParaRPr lang="en-US"/>
          </a:p>
        </p:txBody>
      </p:sp>
      <p:sp>
        <p:nvSpPr>
          <p:cNvPr id="247810" name="Rectangle 2"/>
          <p:cNvSpPr>
            <a:spLocks noGrp="1" noRot="1" noChangeAspect="1" noChangeArrowheads="1" noTextEdit="1"/>
          </p:cNvSpPr>
          <p:nvPr>
            <p:ph type="sldImg"/>
          </p:nvPr>
        </p:nvSpPr>
        <p:spPr>
          <a:xfrm>
            <a:off x="1241425" y="563563"/>
            <a:ext cx="4386263" cy="3289300"/>
          </a:xfrm>
          <a:ln/>
        </p:spPr>
      </p:sp>
      <p:sp>
        <p:nvSpPr>
          <p:cNvPr id="247811" name="Rectangle 3"/>
          <p:cNvSpPr>
            <a:spLocks noGrp="1" noChangeArrowheads="1"/>
          </p:cNvSpPr>
          <p:nvPr>
            <p:ph type="body" idx="1"/>
          </p:nvPr>
        </p:nvSpPr>
        <p:spPr>
          <a:xfrm>
            <a:off x="858838" y="3997325"/>
            <a:ext cx="5160962" cy="4306888"/>
          </a:xfrm>
        </p:spPr>
        <p:txBody>
          <a:bodyPr lIns="86623" tIns="43312" rIns="86623" bIns="43312"/>
          <a:lstStyle/>
          <a:p>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A74778C-9868-42CF-A71F-0F8618433E1F}" type="slidenum">
              <a:rPr lang="en-US"/>
              <a:pPr/>
              <a:t>16</a:t>
            </a:fld>
            <a:endParaRPr lang="en-US"/>
          </a:p>
        </p:txBody>
      </p:sp>
      <p:sp>
        <p:nvSpPr>
          <p:cNvPr id="294914" name="Rectangle 2"/>
          <p:cNvSpPr>
            <a:spLocks noGrp="1" noRot="1" noChangeAspect="1" noChangeArrowheads="1" noTextEdit="1"/>
          </p:cNvSpPr>
          <p:nvPr>
            <p:ph type="sldImg"/>
          </p:nvPr>
        </p:nvSpPr>
        <p:spPr>
          <a:xfrm>
            <a:off x="1101725" y="301625"/>
            <a:ext cx="4703763" cy="3527425"/>
          </a:xfrm>
          <a:ln/>
        </p:spPr>
      </p:sp>
      <p:sp>
        <p:nvSpPr>
          <p:cNvPr id="294915" name="Rectangle 3"/>
          <p:cNvSpPr>
            <a:spLocks noGrp="1" noChangeArrowheads="1"/>
          </p:cNvSpPr>
          <p:nvPr>
            <p:ph type="body" idx="1"/>
          </p:nvPr>
        </p:nvSpPr>
        <p:spPr>
          <a:xfrm>
            <a:off x="523875" y="4052888"/>
            <a:ext cx="5835650" cy="4579937"/>
          </a:xfrm>
        </p:spPr>
        <p:txBody>
          <a:bodyPr lIns="86491" tIns="43246" rIns="86491" bIns="43246"/>
          <a:lstStyle/>
          <a:p>
            <a:r>
              <a:rPr lang="en-US" b="1"/>
              <a:t>Emphasize: </a:t>
            </a:r>
            <a:r>
              <a:rPr lang="en-US"/>
              <a:t>How the routing algorithm defines “best” determines the most important characteristics of each routing algorithm. </a:t>
            </a:r>
          </a:p>
          <a:p>
            <a:pPr lvl="1"/>
            <a:r>
              <a:rPr lang="en-US"/>
              <a:t>Hop count—Some routing protocols use hop count as their metric. Hop count refers to the number of routers a packet must go through to reach a destination. The lower the hop count, the better the path. Path length is used to indicate the sum of the hops to a destination. As indicated in the figure, RIP uses hop count for its metric.</a:t>
            </a:r>
          </a:p>
          <a:p>
            <a:pPr lvl="1"/>
            <a:r>
              <a:rPr lang="en-US"/>
              <a:t>Ticks—Metric used with Novell IPX to reflect delay. Each tick is 1/18th of a second.</a:t>
            </a:r>
          </a:p>
          <a:p>
            <a:pPr lvl="1"/>
            <a:r>
              <a:rPr lang="en-US"/>
              <a:t>Cost—Factor used by some routing protocols to determine the best path to a destination; the lower the cost, the better the path. Path cost is the sum of the costs associated with each link to a destination.</a:t>
            </a:r>
          </a:p>
          <a:p>
            <a:pPr lvl="1"/>
            <a:r>
              <a:rPr lang="en-US"/>
              <a:t>Bandwidth—Although bandwidth is the rating of a link’s maximum throughput, routing through links with greater bandwidth does not always provide the best routes. For example, if a high-speed link is busy, sending a packet through a slower link might be faster. As indicated in the figure with highlighting, delay and bandwidth comprise the default metric for IGRP.</a:t>
            </a:r>
          </a:p>
          <a:p>
            <a:pPr lvl="1"/>
            <a:r>
              <a:rPr lang="en-US"/>
              <a:t>Delay—Depends on many factors, including the bandwidth of network links, the length of queues at each router in the path, network congestion on links, and the physical distance to be traveled. A conglomeration of variables that change with internetwork conditions, delay is a common and useful metric. As indicated in the figure with highlighting, delay and bandwidth comprise the default metric for IGRP.</a:t>
            </a:r>
          </a:p>
          <a:p>
            <a:pPr lvl="1"/>
            <a:r>
              <a:rPr lang="en-US"/>
              <a:t>Load—Dynamic factor can be based on a variety of measures, including CPU use and packets processed per second. Monitoring these parameters on a continual basis can itself be resource intensive.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C3CF987-218E-4D37-9BF7-0AF0671BC675}" type="slidenum">
              <a:rPr lang="en-US"/>
              <a:pPr/>
              <a:t>17</a:t>
            </a:fld>
            <a:endParaRPr lang="en-US"/>
          </a:p>
        </p:txBody>
      </p:sp>
      <p:sp>
        <p:nvSpPr>
          <p:cNvPr id="202754" name="Rectangle 2"/>
          <p:cNvSpPr>
            <a:spLocks noGrp="1" noRot="1" noChangeAspect="1" noChangeArrowheads="1" noTextEdit="1"/>
          </p:cNvSpPr>
          <p:nvPr>
            <p:ph type="sldImg"/>
          </p:nvPr>
        </p:nvSpPr>
        <p:spPr>
          <a:xfrm>
            <a:off x="1090613" y="301625"/>
            <a:ext cx="4703762" cy="3527425"/>
          </a:xfrm>
          <a:ln/>
        </p:spPr>
      </p:sp>
      <p:sp>
        <p:nvSpPr>
          <p:cNvPr id="202755"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Layer 3 of 3</a:t>
            </a:r>
            <a:endParaRPr lang="en-US"/>
          </a:p>
          <a:p>
            <a:r>
              <a:rPr lang="en-US">
                <a:solidFill>
                  <a:srgbClr val="000000"/>
                </a:solidFill>
              </a:rPr>
              <a:t>Layer 3 adds router B, which receives the updated routing table from router A. In turn, router B will perform its own process to update its routing table given this new topology update from router A. </a:t>
            </a:r>
          </a:p>
          <a:p>
            <a:r>
              <a:rPr lang="en-US">
                <a:solidFill>
                  <a:srgbClr val="000000"/>
                </a:solidFill>
              </a:rPr>
              <a:t>Distance vector updates occur step by step. </a:t>
            </a:r>
          </a:p>
          <a:p>
            <a:r>
              <a:rPr lang="en-US">
                <a:solidFill>
                  <a:srgbClr val="000000"/>
                </a:solidFill>
              </a:rPr>
              <a:t>Typically, a router sends updates by multicasting its table on each configured port, but other methods, such as sending the table only to preconfigured neighbors, are employed by some routing algorithms. </a:t>
            </a:r>
          </a:p>
          <a:p>
            <a:r>
              <a:rPr lang="en-US">
                <a:solidFill>
                  <a:srgbClr val="000000"/>
                </a:solidFill>
              </a:rPr>
              <a:t>Multicast is used by the RIP2, OSPF, and EIGRP routing protocols. RIP and IGRP use broadcast.</a:t>
            </a:r>
          </a:p>
          <a:p>
            <a:r>
              <a:rPr lang="en-US">
                <a:solidFill>
                  <a:srgbClr val="000000"/>
                </a:solidFill>
              </a:rPr>
              <a:t>The routing table can be sent routinely and periodically, or whenever a change in the topology is discovered. Updates sent when changes occur are called triggered updates.	</a:t>
            </a:r>
            <a:endParaRPr lang="en-US" b="1"/>
          </a:p>
          <a:p>
            <a:endParaRPr lang="en-US"/>
          </a:p>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E418568-70E5-4C08-BA94-994409D1F7D3}" type="slidenum">
              <a:rPr lang="en-US"/>
              <a:pPr/>
              <a:t>18</a:t>
            </a:fld>
            <a:endParaRPr lang="en-US"/>
          </a:p>
        </p:txBody>
      </p:sp>
      <p:sp>
        <p:nvSpPr>
          <p:cNvPr id="204802" name="Rectangle 2"/>
          <p:cNvSpPr>
            <a:spLocks noGrp="1" noRot="1" noChangeAspect="1" noChangeArrowheads="1" noTextEdit="1"/>
          </p:cNvSpPr>
          <p:nvPr>
            <p:ph type="sldImg"/>
          </p:nvPr>
        </p:nvSpPr>
        <p:spPr>
          <a:xfrm>
            <a:off x="1090613" y="301625"/>
            <a:ext cx="4703762" cy="3527425"/>
          </a:xfrm>
          <a:ln/>
        </p:spPr>
      </p:sp>
      <p:sp>
        <p:nvSpPr>
          <p:cNvPr id="204803"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1 of 4</a:t>
            </a:r>
            <a:endParaRPr lang="en-US"/>
          </a:p>
          <a:p>
            <a:r>
              <a:rPr lang="en-US" b="1">
                <a:solidFill>
                  <a:srgbClr val="000000"/>
                </a:solidFill>
              </a:rPr>
              <a:t>Purpose:</a:t>
            </a:r>
            <a:r>
              <a:rPr lang="en-US">
                <a:solidFill>
                  <a:srgbClr val="000000"/>
                </a:solidFill>
              </a:rPr>
              <a:t> This figure describes the first of the general problems that a distance vector protocol could face without the corrective influence of some countermeasure. 	</a:t>
            </a:r>
            <a:endParaRPr lang="en-US"/>
          </a:p>
          <a:p>
            <a:pPr>
              <a:lnSpc>
                <a:spcPct val="96000"/>
              </a:lnSpc>
              <a:spcAft>
                <a:spcPts val="600"/>
              </a:spcAft>
            </a:pPr>
            <a:r>
              <a:rPr lang="en-US" b="1">
                <a:solidFill>
                  <a:srgbClr val="000000"/>
                </a:solidFill>
              </a:rPr>
              <a:t>Emphasize:</a:t>
            </a:r>
            <a:r>
              <a:rPr lang="en-US">
                <a:solidFill>
                  <a:srgbClr val="000000"/>
                </a:solidFill>
              </a:rPr>
              <a:t> Layer 1 shows the original state of the network and routing tables. All routers have consistent knowledge and correct routing tables. In this example, the cost function is hop count, so the cost of each link is 1. Router C is directly connected to network 10.4.0.0 with a distance of 0. Router A’s path to network 10.4.0.0 is through router B, with a hop count of 2.</a:t>
            </a:r>
          </a:p>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E832709-676C-45BE-B090-7E7EEA72AF75}" type="slidenum">
              <a:rPr lang="en-US"/>
              <a:pPr/>
              <a:t>19</a:t>
            </a:fld>
            <a:endParaRPr lang="en-US"/>
          </a:p>
        </p:txBody>
      </p:sp>
      <p:sp>
        <p:nvSpPr>
          <p:cNvPr id="206850" name="Rectangle 2"/>
          <p:cNvSpPr>
            <a:spLocks noGrp="1" noRot="1" noChangeAspect="1" noChangeArrowheads="1" noTextEdit="1"/>
          </p:cNvSpPr>
          <p:nvPr>
            <p:ph type="sldImg"/>
          </p:nvPr>
        </p:nvSpPr>
        <p:spPr>
          <a:xfrm>
            <a:off x="1090613" y="301625"/>
            <a:ext cx="4703762" cy="3527425"/>
          </a:xfrm>
          <a:ln/>
        </p:spPr>
      </p:sp>
      <p:sp>
        <p:nvSpPr>
          <p:cNvPr id="206851"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2 of 4</a:t>
            </a:r>
            <a:endParaRPr lang="en-US"/>
          </a:p>
          <a:p>
            <a:pPr>
              <a:lnSpc>
                <a:spcPct val="96000"/>
              </a:lnSpc>
              <a:spcAft>
                <a:spcPts val="600"/>
              </a:spcAft>
            </a:pPr>
            <a:r>
              <a:rPr lang="en-US" b="1">
                <a:solidFill>
                  <a:srgbClr val="000000"/>
                </a:solidFill>
              </a:rPr>
              <a:t>Emphasize:</a:t>
            </a:r>
            <a:r>
              <a:rPr lang="en-US">
                <a:solidFill>
                  <a:srgbClr val="000000"/>
                </a:solidFill>
              </a:rPr>
              <a:t> In Layer 2, router C has detected the failure of network 10.4.0.0 and stops routing packets out its E0 interface. However, router A has not yet received notification of the failure and still believes it can access network 10.4.0.0 through router B. Router A’s routing table still reflects a path to network 10.4.0.0 with a distance of 2.</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E46491-C147-4630-AF31-23962D2F4FBC}" type="slidenum">
              <a:rPr lang="en-US"/>
              <a:pPr/>
              <a:t>20</a:t>
            </a:fld>
            <a:endParaRPr lang="en-US"/>
          </a:p>
        </p:txBody>
      </p:sp>
      <p:sp>
        <p:nvSpPr>
          <p:cNvPr id="208898" name="Rectangle 2"/>
          <p:cNvSpPr>
            <a:spLocks noGrp="1" noRot="1" noChangeAspect="1" noChangeArrowheads="1" noTextEdit="1"/>
          </p:cNvSpPr>
          <p:nvPr>
            <p:ph type="sldImg"/>
          </p:nvPr>
        </p:nvSpPr>
        <p:spPr>
          <a:xfrm>
            <a:off x="1090613" y="301625"/>
            <a:ext cx="4703762" cy="3527425"/>
          </a:xfrm>
          <a:ln/>
        </p:spPr>
      </p:sp>
      <p:sp>
        <p:nvSpPr>
          <p:cNvPr id="208899"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3 of 4</a:t>
            </a:r>
            <a:endParaRPr lang="en-US"/>
          </a:p>
          <a:p>
            <a:pPr>
              <a:lnSpc>
                <a:spcPct val="96000"/>
              </a:lnSpc>
              <a:spcAft>
                <a:spcPts val="600"/>
              </a:spcAft>
            </a:pPr>
            <a:r>
              <a:rPr lang="en-US" b="1">
                <a:solidFill>
                  <a:srgbClr val="000000"/>
                </a:solidFill>
              </a:rPr>
              <a:t>Emphasize:</a:t>
            </a:r>
            <a:r>
              <a:rPr lang="en-US">
                <a:solidFill>
                  <a:srgbClr val="000000"/>
                </a:solidFill>
              </a:rPr>
              <a:t> Because router B’s routing table indicates a path to network 10.4.0.0, router C believes it now has a viable path to 10.4.0.0 through router B. Router C updates its routing table to reflect a path to network 10.4.0.0 with a hop count of 2. </a:t>
            </a:r>
          </a:p>
          <a:p>
            <a:endParaRPr lang="en-US"/>
          </a:p>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478983-5104-4282-BF6A-B38A9D3BBAF1}" type="slidenum">
              <a:rPr lang="en-US"/>
              <a:pPr/>
              <a:t>21</a:t>
            </a:fld>
            <a:endParaRPr lang="en-US"/>
          </a:p>
        </p:txBody>
      </p:sp>
      <p:sp>
        <p:nvSpPr>
          <p:cNvPr id="210946" name="Rectangle 2"/>
          <p:cNvSpPr>
            <a:spLocks noGrp="1" noRot="1" noChangeAspect="1" noChangeArrowheads="1" noTextEdit="1"/>
          </p:cNvSpPr>
          <p:nvPr>
            <p:ph type="sldImg"/>
          </p:nvPr>
        </p:nvSpPr>
        <p:spPr>
          <a:xfrm>
            <a:off x="1090613" y="301625"/>
            <a:ext cx="4703762" cy="3527425"/>
          </a:xfrm>
          <a:ln/>
        </p:spPr>
      </p:sp>
      <p:sp>
        <p:nvSpPr>
          <p:cNvPr id="210947"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4 of 4</a:t>
            </a:r>
            <a:endParaRPr lang="en-US"/>
          </a:p>
          <a:p>
            <a:r>
              <a:rPr lang="en-US" b="1">
                <a:solidFill>
                  <a:srgbClr val="000000"/>
                </a:solidFill>
              </a:rPr>
              <a:t>Emphasize:</a:t>
            </a:r>
            <a:r>
              <a:rPr lang="en-US">
                <a:solidFill>
                  <a:srgbClr val="000000"/>
                </a:solidFill>
              </a:rPr>
              <a:t> In Layer 4, router A receives the new routing table from router B, detects the modified distance vector to network 10.4.0.0, and recalculates its own distance vector to network 10.4.0.0 as 3.</a:t>
            </a:r>
          </a:p>
          <a:p>
            <a:r>
              <a:rPr lang="en-US">
                <a:solidFill>
                  <a:srgbClr val="000000"/>
                </a:solidFill>
              </a:rPr>
              <a:t>If all routers in an internetwork do not have up-to-date, accurate information about the state of the internetwork, they might use incorrect routing information to make a routing decision.</a:t>
            </a:r>
          </a:p>
          <a:p>
            <a:pPr>
              <a:lnSpc>
                <a:spcPct val="96000"/>
              </a:lnSpc>
              <a:spcAft>
                <a:spcPts val="600"/>
              </a:spcAft>
            </a:pPr>
            <a:r>
              <a:rPr lang="en-US"/>
              <a:t>The use of incorrect information might cause packets to take less-than-optimum paths or paths that return packets to routers that they have already visited.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75D48AD-93C0-456E-A973-E3C79A691441}" type="slidenum">
              <a:rPr lang="en-US"/>
              <a:pPr/>
              <a:t>22</a:t>
            </a:fld>
            <a:endParaRPr lang="en-US"/>
          </a:p>
        </p:txBody>
      </p:sp>
      <p:sp>
        <p:nvSpPr>
          <p:cNvPr id="212994" name="Rectangle 2"/>
          <p:cNvSpPr>
            <a:spLocks noGrp="1" noRot="1" noChangeAspect="1" noChangeArrowheads="1" noTextEdit="1"/>
          </p:cNvSpPr>
          <p:nvPr>
            <p:ph type="sldImg"/>
          </p:nvPr>
        </p:nvSpPr>
        <p:spPr>
          <a:xfrm>
            <a:off x="1090613" y="301625"/>
            <a:ext cx="4703762" cy="3527425"/>
          </a:xfrm>
          <a:ln/>
        </p:spPr>
      </p:sp>
      <p:sp>
        <p:nvSpPr>
          <p:cNvPr id="212995"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Purpose:</a:t>
            </a:r>
            <a:r>
              <a:rPr lang="en-US">
                <a:solidFill>
                  <a:srgbClr val="000000"/>
                </a:solidFill>
              </a:rPr>
              <a:t> This figure describes another of the general problems that a distance vector protocol could face without the corrective influence of some countermeasure.</a:t>
            </a:r>
          </a:p>
          <a:p>
            <a:r>
              <a:rPr lang="en-US" b="1">
                <a:solidFill>
                  <a:srgbClr val="000000"/>
                </a:solidFill>
              </a:rPr>
              <a:t>Emphasize:</a:t>
            </a:r>
            <a:r>
              <a:rPr lang="en-US">
                <a:solidFill>
                  <a:srgbClr val="000000"/>
                </a:solidFill>
              </a:rPr>
              <a:t> Both routers conclude that the best path to network 10.4.0.0 is through each other and continue to bounce packets destined for network 10.4.0.0 between each other, incrementing the distance vector by 1 each time.</a:t>
            </a:r>
          </a:p>
          <a:p>
            <a:r>
              <a:rPr lang="en-US">
                <a:solidFill>
                  <a:srgbClr val="000000"/>
                </a:solidFill>
              </a:rPr>
              <a:t>This condition, called count to infinity, continuously loops packets around the network, despite the fundamental fact that the destination network 10.4.0.0 is down. While the routers are counting to infinity, the invalid information allows a routing loop to exist.</a:t>
            </a:r>
          </a:p>
          <a:p>
            <a:r>
              <a:rPr lang="en-US">
                <a:solidFill>
                  <a:srgbClr val="000000"/>
                </a:solidFill>
              </a:rPr>
              <a:t>A related concept is the Time-to-Live (TTL) parameter. The TTL is a packet parameter that decreases each time a router processes the packet. When the TTL reaches zero, a router discards or drops the packet without forwarding it. A packet caught in a routing loop is removed from the internetwork when its TTL expires.	</a:t>
            </a:r>
            <a:endParaRPr lang="en-US" b="1"/>
          </a:p>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DF60B11-E089-4493-AEFC-CE6552676A03}" type="slidenum">
              <a:rPr lang="en-US"/>
              <a:pPr/>
              <a:t>23</a:t>
            </a:fld>
            <a:endParaRPr lang="en-US"/>
          </a:p>
        </p:txBody>
      </p:sp>
      <p:sp>
        <p:nvSpPr>
          <p:cNvPr id="215042" name="Rectangle 2"/>
          <p:cNvSpPr>
            <a:spLocks noGrp="1" noRot="1" noChangeAspect="1" noChangeArrowheads="1" noTextEdit="1"/>
          </p:cNvSpPr>
          <p:nvPr>
            <p:ph type="sldImg"/>
          </p:nvPr>
        </p:nvSpPr>
        <p:spPr>
          <a:xfrm>
            <a:off x="1090613" y="301625"/>
            <a:ext cx="4703762" cy="3527425"/>
          </a:xfrm>
          <a:ln/>
        </p:spPr>
      </p:sp>
      <p:sp>
        <p:nvSpPr>
          <p:cNvPr id="215043"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Purpose:</a:t>
            </a:r>
            <a:r>
              <a:rPr lang="en-US">
                <a:solidFill>
                  <a:srgbClr val="000000"/>
                </a:solidFill>
              </a:rPr>
              <a:t> This figure describes a corrective measure that attempts to solve the routing loop problems that a distance vector protocol could face.</a:t>
            </a:r>
          </a:p>
          <a:p>
            <a:r>
              <a:rPr lang="en-US" b="1">
                <a:solidFill>
                  <a:srgbClr val="000000"/>
                </a:solidFill>
              </a:rPr>
              <a:t>Emphasize:</a:t>
            </a:r>
            <a:r>
              <a:rPr lang="en-US">
                <a:solidFill>
                  <a:srgbClr val="000000"/>
                </a:solidFill>
              </a:rPr>
              <a:t> Routing loops occur only when routing knowledge being propagated has not yet reached the entire internetwork—when the internetwork has not converged after a change. Fast convergence minimizes the chance for a routing loop to occur, but even the smallest interval leaves the possibility open.</a:t>
            </a:r>
          </a:p>
          <a:p>
            <a:r>
              <a:rPr lang="en-US">
                <a:solidFill>
                  <a:srgbClr val="000000"/>
                </a:solidFill>
              </a:rPr>
              <a:t>To avoid prolonging the count-to-infinity time span, distance vector protocols define infinity as some maximum number. This number refers to a routing metric, such as a hop count. </a:t>
            </a:r>
          </a:p>
          <a:p>
            <a:r>
              <a:rPr lang="en-US">
                <a:solidFill>
                  <a:srgbClr val="000000"/>
                </a:solidFill>
              </a:rPr>
              <a:t>With this approach, the routing protocol permits the routing loop until the metric exceeds its maximum allowed value. This example shows this defined maximum as 16 hops. Once the metric value exceeds the maximum, network 10.4.0.0 is considered unreachable.	</a:t>
            </a:r>
            <a:endParaRPr lang="en-US" b="1"/>
          </a:p>
          <a:p>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7060710-A85B-4FAB-BD06-AFC1CEF1B358}" type="slidenum">
              <a:rPr lang="en-US"/>
              <a:pPr/>
              <a:t>24</a:t>
            </a:fld>
            <a:endParaRPr lang="en-US"/>
          </a:p>
        </p:txBody>
      </p:sp>
      <p:sp>
        <p:nvSpPr>
          <p:cNvPr id="217090" name="Rectangle 2"/>
          <p:cNvSpPr>
            <a:spLocks noGrp="1" noRot="1" noChangeAspect="1" noChangeArrowheads="1" noTextEdit="1"/>
          </p:cNvSpPr>
          <p:nvPr>
            <p:ph type="sldImg"/>
          </p:nvPr>
        </p:nvSpPr>
        <p:spPr>
          <a:xfrm>
            <a:off x="1090613" y="301625"/>
            <a:ext cx="4703762" cy="3527425"/>
          </a:xfrm>
          <a:ln/>
        </p:spPr>
      </p:sp>
      <p:sp>
        <p:nvSpPr>
          <p:cNvPr id="217091"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4 of 4</a:t>
            </a:r>
            <a:endParaRPr lang="en-US"/>
          </a:p>
          <a:p>
            <a:r>
              <a:rPr lang="en-US" b="1">
                <a:solidFill>
                  <a:srgbClr val="000000"/>
                </a:solidFill>
              </a:rPr>
              <a:t>Emphasize:</a:t>
            </a:r>
            <a:r>
              <a:rPr lang="en-US">
                <a:solidFill>
                  <a:srgbClr val="000000"/>
                </a:solidFill>
              </a:rPr>
              <a:t> In Layer 4, router A receives the new routing table from router B, detects the modified distance vector to network 10.4.0.0, and recalculates its own distance vector to network 10.4.0.0 as 3.</a:t>
            </a:r>
          </a:p>
          <a:p>
            <a:r>
              <a:rPr lang="en-US">
                <a:solidFill>
                  <a:srgbClr val="000000"/>
                </a:solidFill>
              </a:rPr>
              <a:t>If all routers in an internetwork do not have up-to-date, accurate information about the state of the internetwork, they might use incorrect routing information to make a routing decision.</a:t>
            </a:r>
          </a:p>
          <a:p>
            <a:pPr>
              <a:lnSpc>
                <a:spcPct val="96000"/>
              </a:lnSpc>
              <a:spcAft>
                <a:spcPts val="600"/>
              </a:spcAft>
            </a:pPr>
            <a:r>
              <a:rPr lang="en-US"/>
              <a:t>The use of incorrect information might cause packets to take less-than-optimum paths or paths that return packets to routers that they have already visited.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7BF8E0-2983-4AEB-A8BA-3BD2FC32C094}" type="slidenum">
              <a:rPr lang="en-US"/>
              <a:pPr/>
              <a:t>25</a:t>
            </a:fld>
            <a:endParaRPr lang="en-US"/>
          </a:p>
        </p:txBody>
      </p:sp>
      <p:sp>
        <p:nvSpPr>
          <p:cNvPr id="219138" name="Rectangle 2"/>
          <p:cNvSpPr>
            <a:spLocks noGrp="1" noRot="1" noChangeAspect="1" noChangeArrowheads="1" noTextEdit="1"/>
          </p:cNvSpPr>
          <p:nvPr>
            <p:ph type="sldImg"/>
          </p:nvPr>
        </p:nvSpPr>
        <p:spPr>
          <a:xfrm>
            <a:off x="1090613" y="301625"/>
            <a:ext cx="4703762" cy="3527425"/>
          </a:xfrm>
          <a:ln/>
        </p:spPr>
      </p:sp>
      <p:sp>
        <p:nvSpPr>
          <p:cNvPr id="219139"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Purpose:</a:t>
            </a:r>
            <a:r>
              <a:rPr lang="en-US">
                <a:solidFill>
                  <a:srgbClr val="000000"/>
                </a:solidFill>
              </a:rPr>
              <a:t> This figure introduces the corrective measure known as “split horizon.” The split horizon technique attempts to solve routing loops.</a:t>
            </a:r>
          </a:p>
          <a:p>
            <a:r>
              <a:rPr lang="en-US" b="1">
                <a:solidFill>
                  <a:srgbClr val="000000"/>
                </a:solidFill>
              </a:rPr>
              <a:t>Emphasize:</a:t>
            </a:r>
            <a:r>
              <a:rPr lang="en-US">
                <a:solidFill>
                  <a:srgbClr val="000000"/>
                </a:solidFill>
              </a:rPr>
              <a:t> The split horizon technique attempts to eliminate routing loops and speed up convergence. The rule of split horizon is that it is never useful to send information about a route back in the direction from which the original packet came. In the example:</a:t>
            </a:r>
          </a:p>
          <a:p>
            <a:pPr lvl="1"/>
            <a:r>
              <a:rPr lang="en-US">
                <a:solidFill>
                  <a:srgbClr val="000000"/>
                </a:solidFill>
              </a:rPr>
              <a:t>Router C originally announced a route to network 10.4.0.0 to router B. It makes no sense for router B to announce to router C that router B has access to network 10.4.0.0 through router C. </a:t>
            </a:r>
          </a:p>
          <a:p>
            <a:pPr lvl="1">
              <a:lnSpc>
                <a:spcPct val="96000"/>
              </a:lnSpc>
              <a:spcAft>
                <a:spcPts val="600"/>
              </a:spcAft>
            </a:pPr>
            <a:r>
              <a:rPr lang="en-US">
                <a:solidFill>
                  <a:srgbClr val="000000"/>
                </a:solidFill>
              </a:rPr>
              <a:t>Given that router B passed the announcement of its route to network 10.4.0.0 to router A, it makes no sense for router A to announce its distance from network 10.4.0.0 to router B.</a:t>
            </a:r>
          </a:p>
          <a:p>
            <a:pPr lvl="1">
              <a:lnSpc>
                <a:spcPct val="96000"/>
              </a:lnSpc>
              <a:spcAft>
                <a:spcPts val="600"/>
              </a:spcAft>
            </a:pPr>
            <a:r>
              <a:rPr lang="en-US">
                <a:solidFill>
                  <a:srgbClr val="000000"/>
                </a:solidFill>
              </a:rPr>
              <a:t>Because router B has no alternative path to network 10.4.0.0, router B concludes that network 10.4.0.0 is inaccessible.</a:t>
            </a:r>
          </a:p>
          <a:p>
            <a:pPr>
              <a:lnSpc>
                <a:spcPct val="96000"/>
              </a:lnSpc>
              <a:spcAft>
                <a:spcPts val="600"/>
              </a:spcAft>
            </a:pPr>
            <a:r>
              <a:rPr lang="en-US">
                <a:solidFill>
                  <a:srgbClr val="000000"/>
                </a:solidFill>
              </a:rPr>
              <a:t>In its basic form, the split-horizon technique simply omits from the message any information about destinations routed on the link. This strategy relies either on routes never being announced or on old announcements fading away through a timeout mechanism.</a:t>
            </a:r>
          </a:p>
          <a:p>
            <a:pPr>
              <a:lnSpc>
                <a:spcPct val="96000"/>
              </a:lnSpc>
              <a:spcAft>
                <a:spcPts val="600"/>
              </a:spcAft>
            </a:pPr>
            <a:r>
              <a:rPr lang="en-US">
                <a:solidFill>
                  <a:srgbClr val="000000"/>
                </a:solidFill>
              </a:rPr>
              <a:t>Split horizon also improves performance by eliminating unnecessary routing updates. Under normal circumstances, sending routing information back to the source of the information is unnecessary.	</a:t>
            </a:r>
            <a:endParaRPr lang="en-US" b="1"/>
          </a:p>
          <a:p>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6BC6E67-EDBB-48E3-BEF6-2EA4A2B85946}" type="slidenum">
              <a:rPr lang="en-US"/>
              <a:pPr/>
              <a:t>26</a:t>
            </a:fld>
            <a:endParaRPr lang="en-US"/>
          </a:p>
        </p:txBody>
      </p:sp>
      <p:sp>
        <p:nvSpPr>
          <p:cNvPr id="221186" name="Rectangle 2"/>
          <p:cNvSpPr>
            <a:spLocks noGrp="1" noRot="1" noChangeAspect="1" noChangeArrowheads="1" noTextEdit="1"/>
          </p:cNvSpPr>
          <p:nvPr>
            <p:ph type="sldImg"/>
          </p:nvPr>
        </p:nvSpPr>
        <p:spPr>
          <a:xfrm>
            <a:off x="1090613" y="301625"/>
            <a:ext cx="4703762" cy="3527425"/>
          </a:xfrm>
          <a:ln/>
        </p:spPr>
      </p:sp>
      <p:sp>
        <p:nvSpPr>
          <p:cNvPr id="221187"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1, 95, 133</a:t>
            </a:r>
            <a:endParaRPr lang="en-US" b="1"/>
          </a:p>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DAF2FA-156C-4031-90C9-124379BE27BD}" type="slidenum">
              <a:rPr lang="en-US"/>
              <a:pPr/>
              <a:t>27</a:t>
            </a:fld>
            <a:endParaRPr lang="en-US"/>
          </a:p>
        </p:txBody>
      </p:sp>
      <p:sp>
        <p:nvSpPr>
          <p:cNvPr id="223234" name="Rectangle 2"/>
          <p:cNvSpPr>
            <a:spLocks noGrp="1" noRot="1" noChangeAspect="1" noChangeArrowheads="1" noTextEdit="1"/>
          </p:cNvSpPr>
          <p:nvPr>
            <p:ph type="sldImg"/>
          </p:nvPr>
        </p:nvSpPr>
        <p:spPr>
          <a:xfrm>
            <a:off x="1090613" y="301625"/>
            <a:ext cx="4703762" cy="3527425"/>
          </a:xfrm>
          <a:ln/>
        </p:spPr>
      </p:sp>
      <p:sp>
        <p:nvSpPr>
          <p:cNvPr id="223235"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Purpose:</a:t>
            </a:r>
            <a:r>
              <a:rPr lang="en-US">
                <a:solidFill>
                  <a:srgbClr val="000000"/>
                </a:solidFill>
              </a:rPr>
              <a:t> This figure explains poison reverse.</a:t>
            </a:r>
            <a:endParaRPr lang="en-US" b="1"/>
          </a:p>
          <a:p>
            <a:r>
              <a:rPr lang="en-US" b="1">
                <a:solidFill>
                  <a:srgbClr val="000000"/>
                </a:solidFill>
              </a:rPr>
              <a:t>Emphasize:</a:t>
            </a:r>
            <a:r>
              <a:rPr lang="en-US">
                <a:solidFill>
                  <a:srgbClr val="000000"/>
                </a:solidFill>
              </a:rPr>
              <a:t> Poison reverse overrides the split-horizon solution.</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867FD9-BDE4-4C11-BC4D-915D35C30D81}" type="slidenum">
              <a:rPr lang="en-US"/>
              <a:pPr/>
              <a:t>28</a:t>
            </a:fld>
            <a:endParaRPr lang="en-US"/>
          </a:p>
        </p:txBody>
      </p:sp>
      <p:sp>
        <p:nvSpPr>
          <p:cNvPr id="225282" name="Rectangle 2"/>
          <p:cNvSpPr>
            <a:spLocks noGrp="1" noRot="1" noChangeAspect="1" noChangeArrowheads="1" noTextEdit="1"/>
          </p:cNvSpPr>
          <p:nvPr>
            <p:ph type="sldImg"/>
          </p:nvPr>
        </p:nvSpPr>
        <p:spPr>
          <a:xfrm>
            <a:off x="1090613" y="301625"/>
            <a:ext cx="4703762" cy="3527425"/>
          </a:xfrm>
          <a:ln/>
        </p:spPr>
      </p:sp>
      <p:sp>
        <p:nvSpPr>
          <p:cNvPr id="225283"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Purpose:</a:t>
            </a:r>
            <a:r>
              <a:rPr lang="en-US">
                <a:solidFill>
                  <a:srgbClr val="000000"/>
                </a:solidFill>
              </a:rPr>
              <a:t> This figure describes how hold-down timers avoid the general problems that a routing protocol could face.</a:t>
            </a:r>
          </a:p>
          <a:p>
            <a:r>
              <a:rPr lang="en-US" b="1">
                <a:solidFill>
                  <a:srgbClr val="000000"/>
                </a:solidFill>
              </a:rPr>
              <a:t>Emphasize:</a:t>
            </a:r>
            <a:r>
              <a:rPr lang="en-US">
                <a:solidFill>
                  <a:srgbClr val="000000"/>
                </a:solidFill>
              </a:rPr>
              <a:t> Hold-down timers are used to prevent regular update messages from inappropriately reinstating a route that may have gone bad.</a:t>
            </a:r>
          </a:p>
          <a:p>
            <a:r>
              <a:rPr lang="en-US">
                <a:solidFill>
                  <a:srgbClr val="000000"/>
                </a:solidFill>
              </a:rPr>
              <a:t>Hold-downs tell routers to hold any changes that might affect routes for some period of time. </a:t>
            </a:r>
          </a:p>
          <a:p>
            <a:r>
              <a:rPr lang="en-US">
                <a:solidFill>
                  <a:srgbClr val="000000"/>
                </a:solidFill>
              </a:rPr>
              <a:t>The hold-down period is usually calculated to be just greater than the period of time necessary to update the entire network with a routing change.	</a:t>
            </a:r>
          </a:p>
          <a:p>
            <a:r>
              <a:rPr lang="en-US" b="1"/>
              <a:t>Note</a:t>
            </a:r>
            <a:r>
              <a:rPr lang="en-US"/>
              <a:t>: A network administrator can configure the hold-down timers on several routers to work together in tandem.</a:t>
            </a:r>
          </a:p>
          <a:p>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27CCAC-4234-4631-B066-D9025E884B09}" type="slidenum">
              <a:rPr lang="en-US"/>
              <a:pPr/>
              <a:t>29</a:t>
            </a:fld>
            <a:endParaRPr lang="en-US"/>
          </a:p>
        </p:txBody>
      </p:sp>
      <p:sp>
        <p:nvSpPr>
          <p:cNvPr id="227330" name="Rectangle 2"/>
          <p:cNvSpPr>
            <a:spLocks noGrp="1" noRot="1" noChangeAspect="1" noChangeArrowheads="1" noTextEdit="1"/>
          </p:cNvSpPr>
          <p:nvPr>
            <p:ph type="sldImg"/>
          </p:nvPr>
        </p:nvSpPr>
        <p:spPr>
          <a:xfrm>
            <a:off x="1090613" y="301625"/>
            <a:ext cx="4703762" cy="3527425"/>
          </a:xfrm>
          <a:ln/>
        </p:spPr>
      </p:sp>
      <p:sp>
        <p:nvSpPr>
          <p:cNvPr id="227331"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Purpose:</a:t>
            </a:r>
            <a:r>
              <a:rPr lang="en-US">
                <a:solidFill>
                  <a:srgbClr val="000000"/>
                </a:solidFill>
              </a:rPr>
              <a:t> This figure describes how triggered updates avoid the general problems that a routing protocol could face.</a:t>
            </a:r>
          </a:p>
          <a:p>
            <a:r>
              <a:rPr lang="en-US" b="1">
                <a:solidFill>
                  <a:srgbClr val="000000"/>
                </a:solidFill>
              </a:rPr>
              <a:t>Emphasize:</a:t>
            </a:r>
            <a:r>
              <a:rPr lang="en-US">
                <a:solidFill>
                  <a:srgbClr val="000000"/>
                </a:solidFill>
              </a:rPr>
              <a:t> Normally, new routing tables are sent to neighboring routers on a regular basis. A triggered update is a new routing table that is sent immediately, in response to some change.</a:t>
            </a:r>
          </a:p>
          <a:p>
            <a:r>
              <a:rPr lang="en-US">
                <a:solidFill>
                  <a:srgbClr val="000000"/>
                </a:solidFill>
              </a:rPr>
              <a:t>Each update triggers a routing table change in the adjacent routers, which, in turn, generate triggered updates notifying their adjacent neighbors of the change. This wave propagates throughout that portion of the network where routes went through the link.</a:t>
            </a:r>
          </a:p>
          <a:p>
            <a:r>
              <a:rPr lang="en-US">
                <a:solidFill>
                  <a:srgbClr val="000000"/>
                </a:solidFill>
              </a:rPr>
              <a:t>Triggered updates would be sufficient if we could guarantee that the wave of updates reached every appropriate router immediately. However, there are two problems: </a:t>
            </a:r>
          </a:p>
          <a:p>
            <a:pPr lvl="1"/>
            <a:r>
              <a:rPr lang="en-US">
                <a:solidFill>
                  <a:srgbClr val="000000"/>
                </a:solidFill>
              </a:rPr>
              <a:t>Packets containing the update message can be dropped or corrupted by some link in the network.</a:t>
            </a:r>
          </a:p>
          <a:p>
            <a:pPr lvl="1"/>
            <a:r>
              <a:rPr lang="en-US">
                <a:solidFill>
                  <a:srgbClr val="000000"/>
                </a:solidFill>
              </a:rPr>
              <a:t>The triggered updates do not happen instantaneously. It is possible that a router that has not yet received the triggered update will issue a regular update at just the wrong time, causing the bad route to be reinserted in a neighbor that had already received the triggered update.</a:t>
            </a:r>
          </a:p>
          <a:p>
            <a:r>
              <a:rPr lang="en-US">
                <a:solidFill>
                  <a:srgbClr val="000000"/>
                </a:solidFill>
              </a:rPr>
              <a:t>Coupling triggered updates with holddowns is designed to get around these problems. Because the hold-down rule says that when a route is removed, no new route will be accepted for the same destination for some period of time, the triggered update has time to propagate throughout the network. </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829A8A-D98E-4931-AD82-5AE15B8F5DAA}" type="slidenum">
              <a:rPr lang="en-US"/>
              <a:pPr/>
              <a:t>30</a:t>
            </a:fld>
            <a:endParaRPr lang="en-US"/>
          </a:p>
        </p:txBody>
      </p:sp>
      <p:sp>
        <p:nvSpPr>
          <p:cNvPr id="231426" name="Rectangle 2"/>
          <p:cNvSpPr>
            <a:spLocks noGrp="1" noRot="1" noChangeAspect="1" noChangeArrowheads="1" noTextEdit="1"/>
          </p:cNvSpPr>
          <p:nvPr>
            <p:ph type="sldImg"/>
          </p:nvPr>
        </p:nvSpPr>
        <p:spPr>
          <a:xfrm>
            <a:off x="1090613" y="301625"/>
            <a:ext cx="4703762" cy="3527425"/>
          </a:xfrm>
          <a:ln/>
        </p:spPr>
      </p:sp>
      <p:sp>
        <p:nvSpPr>
          <p:cNvPr id="231427"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2 of 6</a:t>
            </a:r>
          </a:p>
          <a:p>
            <a:r>
              <a:rPr lang="en-US" b="1">
                <a:solidFill>
                  <a:srgbClr val="000000"/>
                </a:solidFill>
              </a:rPr>
              <a:t>Purpose:</a:t>
            </a:r>
            <a:r>
              <a:rPr lang="en-US">
                <a:solidFill>
                  <a:srgbClr val="000000"/>
                </a:solidFill>
              </a:rPr>
              <a:t> This figure continues to describe how the solution works to prevent routing loops in a more complex network design.	</a:t>
            </a:r>
            <a:endParaRPr lang="en-US" b="1"/>
          </a:p>
          <a:p>
            <a:r>
              <a:rPr lang="en-US" b="1">
                <a:solidFill>
                  <a:srgbClr val="000000"/>
                </a:solidFill>
              </a:rPr>
              <a:t>Emphasize:</a:t>
            </a:r>
            <a:r>
              <a:rPr lang="en-US">
                <a:solidFill>
                  <a:srgbClr val="000000"/>
                </a:solidFill>
              </a:rPr>
              <a:t> Describe that routers D and A both set their hold-down timers and send triggered updates to router E about the status of network 10.4.0.0. Router E also sets its hold-down timer.	</a:t>
            </a:r>
            <a:endParaRPr lang="en-US" b="1"/>
          </a:p>
          <a:p>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E17F13-DA39-4D79-BFEA-0E622B850AEA}" type="slidenum">
              <a:rPr lang="en-US"/>
              <a:pPr/>
              <a:t>31</a:t>
            </a:fld>
            <a:endParaRPr lang="en-US"/>
          </a:p>
        </p:txBody>
      </p:sp>
      <p:sp>
        <p:nvSpPr>
          <p:cNvPr id="235522" name="Rectangle 2"/>
          <p:cNvSpPr>
            <a:spLocks noGrp="1" noRot="1" noChangeAspect="1" noChangeArrowheads="1" noTextEdit="1"/>
          </p:cNvSpPr>
          <p:nvPr>
            <p:ph type="sldImg"/>
          </p:nvPr>
        </p:nvSpPr>
        <p:spPr>
          <a:xfrm>
            <a:off x="1090613" y="301625"/>
            <a:ext cx="4703762" cy="3527425"/>
          </a:xfrm>
          <a:ln/>
        </p:spPr>
      </p:sp>
      <p:sp>
        <p:nvSpPr>
          <p:cNvPr id="235523"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4 of 6</a:t>
            </a:r>
            <a:endParaRPr lang="en-US">
              <a:solidFill>
                <a:srgbClr val="000000"/>
              </a:solidFill>
            </a:endParaRPr>
          </a:p>
          <a:p>
            <a:r>
              <a:rPr lang="en-US" b="1">
                <a:solidFill>
                  <a:srgbClr val="000000"/>
                </a:solidFill>
              </a:rPr>
              <a:t>Purpose:</a:t>
            </a:r>
            <a:r>
              <a:rPr lang="en-US">
                <a:solidFill>
                  <a:srgbClr val="000000"/>
                </a:solidFill>
              </a:rPr>
              <a:t> This figure continues to describe how the solution works to prevent routing loops in a more complex network design.	</a:t>
            </a:r>
            <a:endParaRPr lang="en-US" b="1"/>
          </a:p>
          <a:p>
            <a:r>
              <a:rPr lang="en-US" b="1">
                <a:solidFill>
                  <a:srgbClr val="000000"/>
                </a:solidFill>
              </a:rPr>
              <a:t>Emphasize:</a:t>
            </a:r>
            <a:r>
              <a:rPr lang="en-US">
                <a:solidFill>
                  <a:srgbClr val="000000"/>
                </a:solidFill>
              </a:rPr>
              <a:t> While in hold-down state, routers A, D, and E will still attempt to forward packets to network 10.4.0.0. 	</a:t>
            </a:r>
            <a:endParaRPr lang="en-US" b="1"/>
          </a:p>
          <a:p>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C13D3A2-3ADA-4E50-A018-F14CD23F32AF}" type="slidenum">
              <a:rPr lang="en-US"/>
              <a:pPr/>
              <a:t>32</a:t>
            </a:fld>
            <a:endParaRPr lang="en-US"/>
          </a:p>
        </p:txBody>
      </p:sp>
      <p:sp>
        <p:nvSpPr>
          <p:cNvPr id="237570" name="Rectangle 2"/>
          <p:cNvSpPr>
            <a:spLocks noGrp="1" noRot="1" noChangeAspect="1" noChangeArrowheads="1" noTextEdit="1"/>
          </p:cNvSpPr>
          <p:nvPr>
            <p:ph type="sldImg"/>
          </p:nvPr>
        </p:nvSpPr>
        <p:spPr>
          <a:xfrm>
            <a:off x="1090613" y="301625"/>
            <a:ext cx="4703762" cy="3527425"/>
          </a:xfrm>
          <a:ln/>
        </p:spPr>
      </p:sp>
      <p:sp>
        <p:nvSpPr>
          <p:cNvPr id="237571" name="Rectangle 3"/>
          <p:cNvSpPr>
            <a:spLocks noGrp="1" noChangeArrowheads="1"/>
          </p:cNvSpPr>
          <p:nvPr>
            <p:ph type="body" idx="1"/>
          </p:nvPr>
        </p:nvSpPr>
        <p:spPr>
          <a:xfrm>
            <a:off x="523875" y="4052888"/>
            <a:ext cx="5835650" cy="4579937"/>
          </a:xfrm>
        </p:spPr>
        <p:txBody>
          <a:bodyPr lIns="86491" tIns="43246" rIns="86491" bIns="43246"/>
          <a:lstStyle/>
          <a:p>
            <a:r>
              <a:rPr lang="en-US" b="1">
                <a:solidFill>
                  <a:srgbClr val="000000"/>
                </a:solidFill>
              </a:rPr>
              <a:t>Slide 5 of 6</a:t>
            </a:r>
            <a:endParaRPr lang="en-US">
              <a:solidFill>
                <a:srgbClr val="000000"/>
              </a:solidFill>
            </a:endParaRPr>
          </a:p>
          <a:p>
            <a:r>
              <a:rPr lang="en-US" b="1">
                <a:solidFill>
                  <a:srgbClr val="000000"/>
                </a:solidFill>
              </a:rPr>
              <a:t>Purpose:</a:t>
            </a:r>
            <a:r>
              <a:rPr lang="en-US">
                <a:solidFill>
                  <a:srgbClr val="000000"/>
                </a:solidFill>
              </a:rPr>
              <a:t> This figure continues to describe how the solution works to prevent routing loops in a more complex network design.	</a:t>
            </a:r>
            <a:endParaRPr lang="en-US" b="1"/>
          </a:p>
          <a:p>
            <a:r>
              <a:rPr lang="en-US" b="1">
                <a:solidFill>
                  <a:srgbClr val="000000"/>
                </a:solidFill>
              </a:rPr>
              <a:t>Emphasize:</a:t>
            </a:r>
            <a:r>
              <a:rPr lang="en-US">
                <a:solidFill>
                  <a:srgbClr val="000000"/>
                </a:solidFill>
              </a:rPr>
              <a:t> When the link is back up, router B will send a triggered update to router A and router D, notifying them that network 10.4.0.0 is active. 	</a:t>
            </a:r>
            <a:endParaRPr lang="en-US" b="1"/>
          </a:p>
          <a:p>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A92462-3748-4A22-A563-C8723577F70B}" type="slidenum">
              <a:rPr lang="en-US"/>
              <a:pPr/>
              <a:t>33</a:t>
            </a:fld>
            <a:endParaRPr lang="en-US"/>
          </a:p>
        </p:txBody>
      </p:sp>
      <p:sp>
        <p:nvSpPr>
          <p:cNvPr id="247810" name="Rectangle 2"/>
          <p:cNvSpPr>
            <a:spLocks noGrp="1" noRot="1" noChangeAspect="1" noChangeArrowheads="1" noTextEdit="1"/>
          </p:cNvSpPr>
          <p:nvPr>
            <p:ph type="sldImg"/>
          </p:nvPr>
        </p:nvSpPr>
        <p:spPr>
          <a:xfrm>
            <a:off x="1241425" y="563563"/>
            <a:ext cx="4386263" cy="3289300"/>
          </a:xfrm>
          <a:ln/>
        </p:spPr>
      </p:sp>
      <p:sp>
        <p:nvSpPr>
          <p:cNvPr id="247811" name="Rectangle 3"/>
          <p:cNvSpPr>
            <a:spLocks noGrp="1" noChangeArrowheads="1"/>
          </p:cNvSpPr>
          <p:nvPr>
            <p:ph type="body" idx="1"/>
          </p:nvPr>
        </p:nvSpPr>
        <p:spPr>
          <a:xfrm>
            <a:off x="858838" y="3997325"/>
            <a:ext cx="5160962" cy="4306888"/>
          </a:xfrm>
        </p:spPr>
        <p:txBody>
          <a:bodyPr lIns="86623" tIns="43312" rIns="86623" bIns="43312"/>
          <a:lstStyle/>
          <a:p>
            <a:endParaRPr lang="en-GB"/>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E05893F-76AF-4E77-948E-B70B99828C12}" type="slidenum">
              <a:rPr lang="en-US"/>
              <a:pPr/>
              <a:t>34</a:t>
            </a:fld>
            <a:endParaRPr lang="en-US"/>
          </a:p>
        </p:txBody>
      </p:sp>
      <p:sp>
        <p:nvSpPr>
          <p:cNvPr id="94210" name="Rectangle 2"/>
          <p:cNvSpPr>
            <a:spLocks noGrp="1" noRot="1" noChangeAspect="1" noChangeArrowheads="1" noTextEdit="1"/>
          </p:cNvSpPr>
          <p:nvPr>
            <p:ph type="sldImg"/>
          </p:nvPr>
        </p:nvSpPr>
        <p:spPr>
          <a:ln/>
        </p:spPr>
      </p:sp>
      <p:sp>
        <p:nvSpPr>
          <p:cNvPr id="942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CEB788-582D-4771-A703-C3D69110F032}" type="slidenum">
              <a:rPr lang="en-US"/>
              <a:pPr/>
              <a:t>35</a:t>
            </a:fld>
            <a:endParaRPr lang="en-US"/>
          </a:p>
        </p:txBody>
      </p:sp>
      <p:sp>
        <p:nvSpPr>
          <p:cNvPr id="95234" name="Rectangle 2"/>
          <p:cNvSpPr>
            <a:spLocks noGrp="1" noRot="1" noChangeAspect="1" noChangeArrowheads="1" noTextEdit="1"/>
          </p:cNvSpPr>
          <p:nvPr>
            <p:ph type="sldImg"/>
          </p:nvPr>
        </p:nvSpPr>
        <p:spPr>
          <a:ln/>
        </p:spPr>
      </p:sp>
      <p:sp>
        <p:nvSpPr>
          <p:cNvPr id="95235"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8306" name="Rectangle 2"/>
          <p:cNvSpPr>
            <a:spLocks noChangeArrowheads="1"/>
          </p:cNvSpPr>
          <p:nvPr/>
        </p:nvSpPr>
        <p:spPr bwMode="auto">
          <a:xfrm>
            <a:off x="0" y="0"/>
            <a:ext cx="5257800" cy="3144838"/>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98307" name="Picture 3" descr="MAE00784"/>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3350" y="0"/>
            <a:ext cx="3930650" cy="3144838"/>
          </a:xfrm>
          <a:prstGeom prst="rect">
            <a:avLst/>
          </a:prstGeom>
          <a:noFill/>
          <a:extLst>
            <a:ext uri="{909E8E84-426E-40DD-AFC4-6F175D3DCCD1}">
              <a14:hiddenFill xmlns:a14="http://schemas.microsoft.com/office/drawing/2010/main">
                <a:solidFill>
                  <a:srgbClr val="FFFFFF"/>
                </a:solidFill>
              </a14:hiddenFill>
            </a:ext>
          </a:extLst>
        </p:spPr>
      </p:pic>
      <p:sp>
        <p:nvSpPr>
          <p:cNvPr id="98308" name="Rectangle 4"/>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spcBef>
                <a:spcPct val="0"/>
              </a:spcBef>
            </a:pPr>
            <a:r>
              <a:rPr lang="en-US" sz="700">
                <a:solidFill>
                  <a:srgbClr val="999999"/>
                </a:solidFill>
              </a:rPr>
              <a:t>© 2007 Cisco Systems, Inc. All rights reserved.</a:t>
            </a:r>
          </a:p>
        </p:txBody>
      </p:sp>
      <p:sp>
        <p:nvSpPr>
          <p:cNvPr id="98309" name="Rectangle 5"/>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spcBef>
                <a:spcPct val="0"/>
              </a:spcBef>
            </a:pPr>
            <a:r>
              <a:rPr lang="en-US" sz="700">
                <a:solidFill>
                  <a:srgbClr val="999999"/>
                </a:solidFill>
              </a:rPr>
              <a:t>ICND2 v1.0—3-</a:t>
            </a:r>
            <a:fld id="{14875BE6-0889-424C-8E4E-7594E2D7507F}" type="slidenum">
              <a:rPr lang="en-US" sz="700">
                <a:solidFill>
                  <a:srgbClr val="999999"/>
                </a:solidFill>
              </a:rPr>
              <a:pPr algn="r" defTabSz="814388">
                <a:lnSpc>
                  <a:spcPct val="100000"/>
                </a:lnSpc>
                <a:spcBef>
                  <a:spcPct val="0"/>
                </a:spcBef>
              </a:pPr>
              <a:t>‹#›</a:t>
            </a:fld>
            <a:endParaRPr lang="en-US" sz="700">
              <a:solidFill>
                <a:srgbClr val="999999"/>
              </a:solidFill>
            </a:endParaRPr>
          </a:p>
        </p:txBody>
      </p:sp>
      <p:sp>
        <p:nvSpPr>
          <p:cNvPr id="98310" name="Rectangle 6"/>
          <p:cNvSpPr>
            <a:spLocks noGrp="1" noChangeArrowheads="1"/>
          </p:cNvSpPr>
          <p:nvPr>
            <p:ph type="ctrTitle"/>
          </p:nvPr>
        </p:nvSpPr>
        <p:spPr bwMode="white">
          <a:xfrm>
            <a:off x="650875" y="3390900"/>
            <a:ext cx="6937375" cy="420688"/>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anchor="t"/>
          <a:lstStyle>
            <a:lvl1pPr>
              <a:defRPr sz="2000">
                <a:solidFill>
                  <a:schemeClr val="bg2"/>
                </a:solidFill>
              </a:defRPr>
            </a:lvl1pPr>
          </a:lstStyle>
          <a:p>
            <a:pPr lvl="0"/>
            <a:r>
              <a:rPr lang="en-US" noProof="0" smtClean="0"/>
              <a:t>Module Title, Size 20</a:t>
            </a:r>
          </a:p>
        </p:txBody>
      </p:sp>
      <p:sp>
        <p:nvSpPr>
          <p:cNvPr id="98311" name="Rectangle 7"/>
          <p:cNvSpPr>
            <a:spLocks noGrp="1" noChangeArrowheads="1"/>
          </p:cNvSpPr>
          <p:nvPr>
            <p:ph type="subTitle" idx="1"/>
          </p:nvPr>
        </p:nvSpPr>
        <p:spPr>
          <a:xfrm>
            <a:off x="650875" y="1312863"/>
            <a:ext cx="3546475" cy="8413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rotWithShape="0">
                    <a:schemeClr val="tx1"/>
                  </a:outerShdw>
                </a:effectLst>
              </a14:hiddenEffects>
            </a:ext>
          </a:extLst>
        </p:spPr>
        <p:txBody>
          <a:bodyPr anchor="ctr"/>
          <a:lstStyle>
            <a:lvl1pPr>
              <a:lnSpc>
                <a:spcPct val="90000"/>
              </a:lnSpc>
              <a:spcBef>
                <a:spcPct val="0"/>
              </a:spcBef>
              <a:defRPr sz="3000">
                <a:solidFill>
                  <a:schemeClr val="bg1"/>
                </a:solidFill>
              </a:defRPr>
            </a:lvl1pPr>
          </a:lstStyle>
          <a:p>
            <a:pPr lvl="0"/>
            <a:r>
              <a:rPr lang="en-US" noProof="0" smtClean="0"/>
              <a:t>Lesson Title,</a:t>
            </a:r>
            <a:br>
              <a:rPr lang="en-US" noProof="0" smtClean="0"/>
            </a:br>
            <a:r>
              <a:rPr lang="en-US" noProof="0" smtClean="0"/>
              <a:t>Size 30</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41461549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Tree>
    <p:extLst>
      <p:ext uri="{BB962C8B-B14F-4D97-AF65-F5344CB8AC3E}">
        <p14:creationId xmlns:p14="http://schemas.microsoft.com/office/powerpoint/2010/main" val="6033645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3894137"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25813082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27030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109603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96196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03100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Tree>
    <p:extLst>
      <p:ext uri="{BB962C8B-B14F-4D97-AF65-F5344CB8AC3E}">
        <p14:creationId xmlns:p14="http://schemas.microsoft.com/office/powerpoint/2010/main" val="1366466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7979323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5925" y="457200"/>
            <a:ext cx="2035175" cy="48958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55638" y="457200"/>
            <a:ext cx="5957887" cy="48958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789796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55638" y="1781175"/>
            <a:ext cx="7940675" cy="17097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55638" y="3643313"/>
            <a:ext cx="7940675" cy="170973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960933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55638" y="457200"/>
            <a:ext cx="8145462" cy="8382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55638" y="1781175"/>
            <a:ext cx="3894137"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02175" y="1781175"/>
            <a:ext cx="3894138" cy="35718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8022512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bwMode="auto">
          <a:xfrm>
            <a:off x="655638" y="4572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p>
            <a:pPr lvl="0"/>
            <a:r>
              <a:rPr lang="en-US" smtClean="0"/>
              <a:t>Slide Title</a:t>
            </a:r>
          </a:p>
        </p:txBody>
      </p:sp>
      <p:sp>
        <p:nvSpPr>
          <p:cNvPr id="97284" name="Rectangle 4"/>
          <p:cNvSpPr>
            <a:spLocks noChangeArrowheads="1"/>
          </p:cNvSpPr>
          <p:nvPr/>
        </p:nvSpPr>
        <p:spPr bwMode="auto">
          <a:xfrm>
            <a:off x="0" y="0"/>
            <a:ext cx="9144000" cy="177800"/>
          </a:xfrm>
          <a:prstGeom prst="rect">
            <a:avLst/>
          </a:prstGeom>
          <a:solidFill>
            <a:srgbClr val="015F85"/>
          </a:solidFill>
          <a:ln>
            <a:noFill/>
          </a:ln>
          <a:effectLst/>
          <a:extLst>
            <a:ext uri="{91240B29-F687-4F45-9708-019B960494DF}">
              <a14:hiddenLine xmlns:a14="http://schemas.microsoft.com/office/drawing/2010/main" w="25400" algn="ctr">
                <a:solidFill>
                  <a:srgbClr val="969696"/>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7285" name="Rectangle 5"/>
          <p:cNvSpPr>
            <a:spLocks noChangeArrowheads="1"/>
          </p:cNvSpPr>
          <p:nvPr/>
        </p:nvSpPr>
        <p:spPr bwMode="auto">
          <a:xfrm>
            <a:off x="277813" y="6672263"/>
            <a:ext cx="2022475" cy="188912"/>
          </a:xfrm>
          <a:prstGeom prst="rect">
            <a:avLst/>
          </a:prstGeom>
          <a:noFill/>
          <a:ln>
            <a:noFill/>
          </a:ln>
          <a:effectLst/>
          <a:extLst>
            <a:ext uri="{909E8E84-426E-40DD-AFC4-6F175D3DCCD1}">
              <a14:hiddenFill xmlns:a14="http://schemas.microsoft.com/office/drawing/2010/main">
                <a:solidFill>
                  <a:srgbClr val="339999"/>
                </a:solidFill>
              </a14:hiddenFill>
            </a:ext>
            <a:ext uri="{91240B29-F687-4F45-9708-019B960494DF}">
              <a14:hiddenLine xmlns:a14="http://schemas.microsoft.com/office/drawing/2010/main" w="9525">
                <a:solidFill>
                  <a:srgbClr val="FFFF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nchorCtr="1">
            <a:spAutoFit/>
          </a:bodyPr>
          <a:lstStyle/>
          <a:p>
            <a:pPr defTabSz="814388">
              <a:lnSpc>
                <a:spcPct val="100000"/>
              </a:lnSpc>
              <a:spcBef>
                <a:spcPct val="0"/>
              </a:spcBef>
            </a:pPr>
            <a:r>
              <a:rPr lang="en-US" sz="700">
                <a:solidFill>
                  <a:srgbClr val="999999"/>
                </a:solidFill>
              </a:rPr>
              <a:t>© 2007 Cisco Systems, Inc. All rights reserved.</a:t>
            </a:r>
          </a:p>
        </p:txBody>
      </p:sp>
      <p:sp>
        <p:nvSpPr>
          <p:cNvPr id="97286" name="Rectangle 6"/>
          <p:cNvSpPr>
            <a:spLocks noChangeArrowheads="1"/>
          </p:cNvSpPr>
          <p:nvPr/>
        </p:nvSpPr>
        <p:spPr bwMode="auto">
          <a:xfrm>
            <a:off x="8015288" y="6672263"/>
            <a:ext cx="901700" cy="18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2124" tIns="41061" rIns="82124" bIns="41061" anchor="b">
            <a:spAutoFit/>
          </a:bodyPr>
          <a:lstStyle/>
          <a:p>
            <a:pPr algn="r" defTabSz="814388">
              <a:lnSpc>
                <a:spcPct val="100000"/>
              </a:lnSpc>
              <a:spcBef>
                <a:spcPct val="0"/>
              </a:spcBef>
            </a:pPr>
            <a:r>
              <a:rPr lang="en-US" sz="700">
                <a:solidFill>
                  <a:srgbClr val="999999"/>
                </a:solidFill>
              </a:rPr>
              <a:t>ICND2 v1.0—3-</a:t>
            </a:r>
            <a:fld id="{B48F843E-53ED-4A5A-B9DA-7841F4263920}" type="slidenum">
              <a:rPr lang="en-US" sz="700">
                <a:solidFill>
                  <a:srgbClr val="999999"/>
                </a:solidFill>
              </a:rPr>
              <a:pPr algn="r" defTabSz="814388">
                <a:lnSpc>
                  <a:spcPct val="100000"/>
                </a:lnSpc>
                <a:spcBef>
                  <a:spcPct val="0"/>
                </a:spcBef>
              </a:pPr>
              <a:t>‹#›</a:t>
            </a:fld>
            <a:endParaRPr lang="en-US" sz="700">
              <a:solidFill>
                <a:srgbClr val="999999"/>
              </a:solidFill>
            </a:endParaRPr>
          </a:p>
        </p:txBody>
      </p:sp>
      <p:sp>
        <p:nvSpPr>
          <p:cNvPr id="97287" name="Rectangle 7"/>
          <p:cNvSpPr>
            <a:spLocks noGrp="1" noChangeArrowheads="1"/>
          </p:cNvSpPr>
          <p:nvPr>
            <p:ph type="body" idx="1"/>
          </p:nvPr>
        </p:nvSpPr>
        <p:spPr bwMode="auto">
          <a:xfrm>
            <a:off x="655638" y="1781175"/>
            <a:ext cx="7940675" cy="357187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82124" tIns="41061" rIns="82124" bIns="41061" numCol="1" anchor="t" anchorCtr="0" compatLnSpc="1">
            <a:prstTxWarp prst="textNoShape">
              <a:avLst/>
            </a:prstTxWarp>
          </a:bodyPr>
          <a:lstStyle/>
          <a:p>
            <a:pPr lvl="0"/>
            <a:r>
              <a:rPr lang="en-US" smtClean="0"/>
              <a:t>Body Text</a:t>
            </a:r>
          </a:p>
          <a:p>
            <a:pPr lvl="1"/>
            <a:r>
              <a:rPr lang="en-US" smtClean="0"/>
              <a:t>Second Level</a:t>
            </a:r>
          </a:p>
          <a:p>
            <a:pPr lvl="2"/>
            <a:r>
              <a:rPr lang="en-US" smtClean="0"/>
              <a:t>Third Level</a:t>
            </a:r>
          </a:p>
          <a:p>
            <a:pPr lvl="3"/>
            <a:r>
              <a:rPr lang="en-US" smtClean="0"/>
              <a:t>Fourth Level</a:t>
            </a:r>
          </a:p>
          <a:p>
            <a:pPr lvl="4"/>
            <a:r>
              <a:rPr lang="en-US" smtClean="0"/>
              <a:t>Fifth Level</a:t>
            </a: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Lst>
  <p:timing>
    <p:tnLst>
      <p:par>
        <p:cTn id="1" dur="indefinite" restart="never" nodeType="tmRoot"/>
      </p:par>
    </p:tnLst>
  </p:timing>
  <p:txStyles>
    <p:titleStyle>
      <a:lvl1pPr algn="l" defTabSz="814388" rtl="0" eaLnBrk="0" fontAlgn="base" hangingPunct="0">
        <a:lnSpc>
          <a:spcPct val="90000"/>
        </a:lnSpc>
        <a:spcBef>
          <a:spcPct val="0"/>
        </a:spcBef>
        <a:spcAft>
          <a:spcPct val="0"/>
        </a:spcAft>
        <a:defRPr sz="3200" b="1">
          <a:solidFill>
            <a:schemeClr val="tx2"/>
          </a:solidFill>
          <a:latin typeface="+mj-lt"/>
          <a:ea typeface="+mj-ea"/>
          <a:cs typeface="+mj-cs"/>
        </a:defRPr>
      </a:lvl1pPr>
      <a:lvl2pPr algn="l" defTabSz="814388" rtl="0" eaLnBrk="0" fontAlgn="base" hangingPunct="0">
        <a:lnSpc>
          <a:spcPct val="90000"/>
        </a:lnSpc>
        <a:spcBef>
          <a:spcPct val="0"/>
        </a:spcBef>
        <a:spcAft>
          <a:spcPct val="0"/>
        </a:spcAft>
        <a:defRPr sz="3200" b="1">
          <a:solidFill>
            <a:schemeClr val="tx2"/>
          </a:solidFill>
          <a:latin typeface="Arial" charset="0"/>
        </a:defRPr>
      </a:lvl2pPr>
      <a:lvl3pPr algn="l" defTabSz="814388" rtl="0" eaLnBrk="0" fontAlgn="base" hangingPunct="0">
        <a:lnSpc>
          <a:spcPct val="90000"/>
        </a:lnSpc>
        <a:spcBef>
          <a:spcPct val="0"/>
        </a:spcBef>
        <a:spcAft>
          <a:spcPct val="0"/>
        </a:spcAft>
        <a:defRPr sz="3200" b="1">
          <a:solidFill>
            <a:schemeClr val="tx2"/>
          </a:solidFill>
          <a:latin typeface="Arial" charset="0"/>
        </a:defRPr>
      </a:lvl3pPr>
      <a:lvl4pPr algn="l" defTabSz="814388" rtl="0" eaLnBrk="0" fontAlgn="base" hangingPunct="0">
        <a:lnSpc>
          <a:spcPct val="90000"/>
        </a:lnSpc>
        <a:spcBef>
          <a:spcPct val="0"/>
        </a:spcBef>
        <a:spcAft>
          <a:spcPct val="0"/>
        </a:spcAft>
        <a:defRPr sz="3200" b="1">
          <a:solidFill>
            <a:schemeClr val="tx2"/>
          </a:solidFill>
          <a:latin typeface="Arial" charset="0"/>
        </a:defRPr>
      </a:lvl4pPr>
      <a:lvl5pPr algn="l" defTabSz="814388" rtl="0" eaLnBrk="0" fontAlgn="base" hangingPunct="0">
        <a:lnSpc>
          <a:spcPct val="90000"/>
        </a:lnSpc>
        <a:spcBef>
          <a:spcPct val="0"/>
        </a:spcBef>
        <a:spcAft>
          <a:spcPct val="0"/>
        </a:spcAft>
        <a:defRPr sz="3200" b="1">
          <a:solidFill>
            <a:schemeClr val="tx2"/>
          </a:solidFill>
          <a:latin typeface="Arial" charset="0"/>
        </a:defRPr>
      </a:lvl5pPr>
      <a:lvl6pPr marL="457200" algn="l" defTabSz="814388" rtl="0" eaLnBrk="0" fontAlgn="base" hangingPunct="0">
        <a:lnSpc>
          <a:spcPct val="90000"/>
        </a:lnSpc>
        <a:spcBef>
          <a:spcPct val="0"/>
        </a:spcBef>
        <a:spcAft>
          <a:spcPct val="0"/>
        </a:spcAft>
        <a:defRPr sz="3200" b="1">
          <a:solidFill>
            <a:schemeClr val="tx2"/>
          </a:solidFill>
          <a:latin typeface="Arial" charset="0"/>
        </a:defRPr>
      </a:lvl6pPr>
      <a:lvl7pPr marL="914400" algn="l" defTabSz="814388" rtl="0" eaLnBrk="0" fontAlgn="base" hangingPunct="0">
        <a:lnSpc>
          <a:spcPct val="90000"/>
        </a:lnSpc>
        <a:spcBef>
          <a:spcPct val="0"/>
        </a:spcBef>
        <a:spcAft>
          <a:spcPct val="0"/>
        </a:spcAft>
        <a:defRPr sz="3200" b="1">
          <a:solidFill>
            <a:schemeClr val="tx2"/>
          </a:solidFill>
          <a:latin typeface="Arial" charset="0"/>
        </a:defRPr>
      </a:lvl7pPr>
      <a:lvl8pPr marL="1371600" algn="l" defTabSz="814388" rtl="0" eaLnBrk="0" fontAlgn="base" hangingPunct="0">
        <a:lnSpc>
          <a:spcPct val="90000"/>
        </a:lnSpc>
        <a:spcBef>
          <a:spcPct val="0"/>
        </a:spcBef>
        <a:spcAft>
          <a:spcPct val="0"/>
        </a:spcAft>
        <a:defRPr sz="3200" b="1">
          <a:solidFill>
            <a:schemeClr val="tx2"/>
          </a:solidFill>
          <a:latin typeface="Arial" charset="0"/>
        </a:defRPr>
      </a:lvl8pPr>
      <a:lvl9pPr marL="1828800" algn="l" defTabSz="814388" rtl="0" eaLnBrk="0" fontAlgn="base" hangingPunct="0">
        <a:lnSpc>
          <a:spcPct val="90000"/>
        </a:lnSpc>
        <a:spcBef>
          <a:spcPct val="0"/>
        </a:spcBef>
        <a:spcAft>
          <a:spcPct val="0"/>
        </a:spcAft>
        <a:defRPr sz="3200" b="1">
          <a:solidFill>
            <a:schemeClr val="tx2"/>
          </a:solidFill>
          <a:latin typeface="Arial" charset="0"/>
        </a:defRPr>
      </a:lvl9pPr>
    </p:titleStyle>
    <p:bodyStyle>
      <a:lvl1pPr algn="l" defTabSz="814388" rtl="0" eaLnBrk="0" fontAlgn="base" hangingPunct="0">
        <a:lnSpc>
          <a:spcPct val="95000"/>
        </a:lnSpc>
        <a:spcBef>
          <a:spcPct val="35000"/>
        </a:spcBef>
        <a:spcAft>
          <a:spcPct val="0"/>
        </a:spcAft>
        <a:buClr>
          <a:schemeClr val="accent1"/>
        </a:buClr>
        <a:buSzPct val="100000"/>
        <a:buFont typeface="Arial" charset="0"/>
        <a:defRPr sz="2400">
          <a:solidFill>
            <a:srgbClr val="000000"/>
          </a:solidFill>
          <a:latin typeface="+mn-lt"/>
          <a:ea typeface="+mn-ea"/>
          <a:cs typeface="+mn-cs"/>
        </a:defRPr>
      </a:lvl1pPr>
      <a:lvl2pPr marL="3429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2pPr>
      <a:lvl3pPr marL="685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3pPr>
      <a:lvl4pPr marL="1028700" indent="-228600" algn="l" defTabSz="814388" rtl="0" eaLnBrk="0" fontAlgn="base" hangingPunct="0">
        <a:lnSpc>
          <a:spcPct val="95000"/>
        </a:lnSpc>
        <a:spcBef>
          <a:spcPct val="35000"/>
        </a:spcBef>
        <a:spcAft>
          <a:spcPct val="0"/>
        </a:spcAft>
        <a:buClr>
          <a:srgbClr val="0183B7"/>
        </a:buClr>
        <a:buFont typeface="Wingdings" pitchFamily="2" charset="2"/>
        <a:buChar char="§"/>
        <a:defRPr sz="2000">
          <a:solidFill>
            <a:srgbClr val="000000"/>
          </a:solidFill>
          <a:latin typeface="+mn-lt"/>
        </a:defRPr>
      </a:lvl4pPr>
      <a:lvl5pPr marL="13716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5pPr>
      <a:lvl6pPr marL="18288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6pPr>
      <a:lvl7pPr marL="22860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7pPr>
      <a:lvl8pPr marL="27432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8pPr>
      <a:lvl9pPr marL="3200400" indent="-228600" algn="l" defTabSz="814388" rtl="0" eaLnBrk="0" fontAlgn="base" hangingPunct="0">
        <a:lnSpc>
          <a:spcPct val="95000"/>
        </a:lnSpc>
        <a:spcBef>
          <a:spcPct val="35000"/>
        </a:spcBef>
        <a:spcAft>
          <a:spcPct val="0"/>
        </a:spcAft>
        <a:buClr>
          <a:srgbClr val="0183B7"/>
        </a:buClr>
        <a:buFont typeface="Arial" charset="0"/>
        <a:buChar char="–"/>
        <a:defRPr sz="2000">
          <a:solidFill>
            <a:srgbClr val="00000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02" name="Rectangle 22"/>
          <p:cNvSpPr>
            <a:spLocks noGrp="1" noChangeArrowheads="1"/>
          </p:cNvSpPr>
          <p:nvPr>
            <p:ph type="ctrTitle"/>
          </p:nvPr>
        </p:nvSpPr>
        <p:spPr/>
        <p:txBody>
          <a:bodyPr/>
          <a:lstStyle/>
          <a:p>
            <a:r>
              <a:rPr lang="en-US"/>
              <a:t>Medium-Sized Routed Network Construction </a:t>
            </a:r>
          </a:p>
        </p:txBody>
      </p:sp>
      <p:sp>
        <p:nvSpPr>
          <p:cNvPr id="46103" name="Rectangle 23"/>
          <p:cNvSpPr>
            <a:spLocks noGrp="1" noChangeArrowheads="1"/>
          </p:cNvSpPr>
          <p:nvPr>
            <p:ph type="subTitle" idx="1"/>
          </p:nvPr>
        </p:nvSpPr>
        <p:spPr/>
        <p:txBody>
          <a:bodyPr/>
          <a:lstStyle/>
          <a:p>
            <a:r>
              <a:rPr lang="en-US"/>
              <a:t>Reviewing Routing Operations </a:t>
            </a:r>
          </a:p>
        </p:txBody>
      </p:sp>
    </p:spTree>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Module Overview </a:t>
            </a:r>
          </a:p>
        </p:txBody>
      </p:sp>
      <p:sp>
        <p:nvSpPr>
          <p:cNvPr id="3" name="Content Placeholder 2"/>
          <p:cNvSpPr>
            <a:spLocks noGrp="1"/>
          </p:cNvSpPr>
          <p:nvPr>
            <p:ph idx="1"/>
          </p:nvPr>
        </p:nvSpPr>
        <p:spPr/>
        <p:txBody>
          <a:bodyPr/>
          <a:lstStyle/>
          <a:p>
            <a:pPr marL="342900" indent="-342900">
              <a:buFont typeface="Wingdings" pitchFamily="2" charset="2"/>
              <a:buChar char="§"/>
            </a:pPr>
            <a:r>
              <a:rPr lang="en-US" smtClean="0"/>
              <a:t>Overview routing.</a:t>
            </a:r>
          </a:p>
          <a:p>
            <a:pPr marL="342900" indent="-342900">
              <a:buFont typeface="Wingdings" pitchFamily="2" charset="2"/>
              <a:buChar char="§"/>
            </a:pPr>
            <a:r>
              <a:rPr lang="en-US"/>
              <a:t>What Is a Routing Protocol</a:t>
            </a:r>
            <a:r>
              <a:rPr lang="en-US" smtClean="0"/>
              <a:t>?</a:t>
            </a:r>
          </a:p>
          <a:p>
            <a:pPr marL="342900" indent="-342900">
              <a:buFont typeface="Wingdings" pitchFamily="2" charset="2"/>
              <a:buChar char="§"/>
            </a:pPr>
            <a:r>
              <a:rPr lang="en-US"/>
              <a:t>Static vs. Dynamic Routes</a:t>
            </a:r>
          </a:p>
          <a:p>
            <a:pPr marL="342900" indent="-342900">
              <a:buFont typeface="Wingdings" pitchFamily="2" charset="2"/>
              <a:buChar char="§"/>
            </a:pPr>
            <a:r>
              <a:rPr lang="en-US" smtClean="0"/>
              <a:t>Concepts: AS, AD, Classful, Classless, Distance Vector, Link State, Hybrid.</a:t>
            </a:r>
          </a:p>
          <a:p>
            <a:pPr marL="342900" indent="-342900">
              <a:buFont typeface="Wingdings" pitchFamily="2" charset="2"/>
              <a:buChar char="§"/>
            </a:pPr>
            <a:r>
              <a:rPr lang="en-GB"/>
              <a:t>Benefits and Drawbacks of Link-</a:t>
            </a:r>
            <a:r>
              <a:rPr lang="sl-SI"/>
              <a:t>S</a:t>
            </a:r>
            <a:r>
              <a:rPr lang="en-GB"/>
              <a:t>tate </a:t>
            </a:r>
            <a:r>
              <a:rPr lang="en-GB" smtClean="0"/>
              <a:t>Routing</a:t>
            </a:r>
          </a:p>
          <a:p>
            <a:pPr marL="342900" indent="-342900">
              <a:buFont typeface="Wingdings" pitchFamily="2" charset="2"/>
              <a:buChar char="§"/>
            </a:pPr>
            <a:r>
              <a:rPr lang="en-US" smtClean="0"/>
              <a:t>Solutions </a:t>
            </a:r>
            <a:r>
              <a:rPr lang="en-US"/>
              <a:t>to Routing Loops</a:t>
            </a:r>
            <a:endParaRPr lang="en-GB" smtClean="0"/>
          </a:p>
          <a:p>
            <a:pPr marL="342900" indent="-342900">
              <a:buFont typeface="Wingdings" pitchFamily="2" charset="2"/>
              <a:buChar char="§"/>
            </a:pPr>
            <a:endParaRPr lang="en-US" smtClean="0"/>
          </a:p>
          <a:p>
            <a:pPr marL="342900" indent="-342900">
              <a:buFont typeface="Wingdings" pitchFamily="2" charset="2"/>
              <a:buChar char="§"/>
            </a:pPr>
            <a:endParaRPr lang="en-US" smtClean="0"/>
          </a:p>
          <a:p>
            <a:endParaRPr lang="en-US"/>
          </a:p>
        </p:txBody>
      </p:sp>
    </p:spTree>
    <p:extLst>
      <p:ext uri="{BB962C8B-B14F-4D97-AF65-F5344CB8AC3E}">
        <p14:creationId xmlns:p14="http://schemas.microsoft.com/office/powerpoint/2010/main" val="3121759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6726" name="Picture 6" descr="301P_48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1806575"/>
            <a:ext cx="5551488" cy="3886200"/>
          </a:xfrm>
          <a:prstGeom prst="rect">
            <a:avLst/>
          </a:prstGeom>
          <a:noFill/>
          <a:extLst>
            <a:ext uri="{909E8E84-426E-40DD-AFC4-6F175D3DCCD1}">
              <a14:hiddenFill xmlns:a14="http://schemas.microsoft.com/office/drawing/2010/main">
                <a:solidFill>
                  <a:srgbClr val="FFFFFF"/>
                </a:solidFill>
              </a14:hiddenFill>
            </a:ext>
          </a:extLst>
        </p:spPr>
      </p:pic>
      <p:sp>
        <p:nvSpPr>
          <p:cNvPr id="286722" name="Rectangle 2"/>
          <p:cNvSpPr>
            <a:spLocks noGrp="1" noChangeArrowheads="1"/>
          </p:cNvSpPr>
          <p:nvPr>
            <p:ph type="body" sz="half" idx="1"/>
          </p:nvPr>
        </p:nvSpPr>
        <p:spPr>
          <a:xfrm>
            <a:off x="304800" y="2438400"/>
            <a:ext cx="2895600" cy="3852863"/>
          </a:xfrm>
          <a:noFill/>
          <a:ln/>
          <a:extLst>
            <a:ext uri="{91240B29-F687-4F45-9708-019B960494DF}">
              <a14:hiddenLine xmlns:a14="http://schemas.microsoft.com/office/drawing/2010/main" w="9525">
                <a:solidFill>
                  <a:srgbClr val="000000"/>
                </a:solidFill>
                <a:miter lim="800000"/>
                <a:headEnd/>
                <a:tailEnd/>
              </a14:hiddenLine>
            </a:ext>
          </a:extLst>
        </p:spPr>
        <p:txBody>
          <a:bodyPr lIns="82100" tIns="41050" rIns="82100" bIns="41050"/>
          <a:lstStyle/>
          <a:p>
            <a:pPr marL="347663" lvl="1" indent="-233363">
              <a:buClr>
                <a:schemeClr val="tx2"/>
              </a:buClr>
            </a:pPr>
            <a:endParaRPr lang="en-US" sz="1800"/>
          </a:p>
          <a:p>
            <a:pPr marL="347663" lvl="1" indent="-233363">
              <a:buClr>
                <a:schemeClr val="tx2"/>
              </a:buClr>
            </a:pPr>
            <a:r>
              <a:rPr lang="en-US" b="1">
                <a:solidFill>
                  <a:schemeClr val="accent2"/>
                </a:solidFill>
              </a:rPr>
              <a:t>Routing</a:t>
            </a:r>
            <a:r>
              <a:rPr lang="en-US"/>
              <a:t> protocols are used between </a:t>
            </a:r>
            <a:br>
              <a:rPr lang="en-US"/>
            </a:br>
            <a:r>
              <a:rPr lang="en-US"/>
              <a:t>routers to determine paths and maintain routing tables.</a:t>
            </a:r>
          </a:p>
          <a:p>
            <a:pPr marL="347663" lvl="1" indent="-233363">
              <a:buClr>
                <a:schemeClr val="tx2"/>
              </a:buClr>
            </a:pPr>
            <a:r>
              <a:rPr lang="en-US"/>
              <a:t>After the path is determined, a router can route a </a:t>
            </a:r>
            <a:r>
              <a:rPr lang="en-US" b="1">
                <a:solidFill>
                  <a:schemeClr val="accent2"/>
                </a:solidFill>
              </a:rPr>
              <a:t>routed</a:t>
            </a:r>
            <a:r>
              <a:rPr lang="en-US"/>
              <a:t> protocol.</a:t>
            </a:r>
          </a:p>
        </p:txBody>
      </p:sp>
      <p:sp>
        <p:nvSpPr>
          <p:cNvPr id="286723" name="Rectangle 3"/>
          <p:cNvSpPr>
            <a:spLocks noGrp="1" noChangeArrowheads="1"/>
          </p:cNvSpPr>
          <p:nvPr>
            <p:ph type="title"/>
          </p:nvPr>
        </p:nvSpPr>
        <p:spPr/>
        <p:txBody>
          <a:bodyPr/>
          <a:lstStyle/>
          <a:p>
            <a:r>
              <a:rPr lang="en-US"/>
              <a:t>What Is a Routing Protocol?</a:t>
            </a:r>
          </a:p>
        </p:txBody>
      </p:sp>
    </p:spTree>
    <p:extLst>
      <p:ext uri="{BB962C8B-B14F-4D97-AF65-F5344CB8AC3E}">
        <p14:creationId xmlns:p14="http://schemas.microsoft.com/office/powerpoint/2010/main" val="3805170211"/>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Routing Protocol</a:t>
            </a:r>
          </a:p>
        </p:txBody>
      </p:sp>
      <p:sp>
        <p:nvSpPr>
          <p:cNvPr id="5" name="Rectangle 30"/>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7" name="Rectangle 74"/>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2137" name="Picture 89"/>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6800" y="1502228"/>
            <a:ext cx="8229600" cy="48223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440790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Overview routing</a:t>
            </a:r>
            <a:endParaRPr lang="en-US"/>
          </a:p>
        </p:txBody>
      </p:sp>
      <p:pic>
        <p:nvPicPr>
          <p:cNvPr id="4" name="Content Placeholder 3" descr="[Hình: hinh1.JP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09600" y="1524000"/>
            <a:ext cx="7848600" cy="4724400"/>
          </a:xfrm>
          <a:prstGeom prst="rect">
            <a:avLst/>
          </a:prstGeom>
          <a:noFill/>
          <a:ln>
            <a:noFill/>
          </a:ln>
        </p:spPr>
      </p:pic>
    </p:spTree>
    <p:extLst>
      <p:ext uri="{BB962C8B-B14F-4D97-AF65-F5344CB8AC3E}">
        <p14:creationId xmlns:p14="http://schemas.microsoft.com/office/powerpoint/2010/main" val="29772648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2"/>
          <p:cNvSpPr>
            <a:spLocks noChangeArrowheads="1"/>
          </p:cNvSpPr>
          <p:nvPr/>
        </p:nvSpPr>
        <p:spPr bwMode="auto">
          <a:xfrm>
            <a:off x="574675" y="2303463"/>
            <a:ext cx="3846513" cy="3630612"/>
          </a:xfrm>
          <a:prstGeom prst="rect">
            <a:avLst/>
          </a:prstGeom>
          <a:solidFill>
            <a:srgbClr val="FF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8089" tIns="13798" rIns="28089" bIns="13798">
            <a:spAutoFit/>
          </a:bodyPr>
          <a:lstStyle/>
          <a:p>
            <a:endParaRPr lang="en-US"/>
          </a:p>
        </p:txBody>
      </p:sp>
      <p:sp>
        <p:nvSpPr>
          <p:cNvPr id="279555" name="Rectangle 3"/>
          <p:cNvSpPr>
            <a:spLocks noChangeArrowheads="1"/>
          </p:cNvSpPr>
          <p:nvPr/>
        </p:nvSpPr>
        <p:spPr bwMode="auto">
          <a:xfrm>
            <a:off x="4695825" y="2312988"/>
            <a:ext cx="3846513" cy="3630612"/>
          </a:xfrm>
          <a:prstGeom prst="rect">
            <a:avLst/>
          </a:prstGeom>
          <a:solidFill>
            <a:srgbClr val="FFFFFF"/>
          </a:solidFill>
          <a:ln w="2857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8089" tIns="13798" rIns="28089" bIns="13798">
            <a:spAutoFit/>
          </a:bodyPr>
          <a:lstStyle/>
          <a:p>
            <a:endParaRPr lang="en-US"/>
          </a:p>
        </p:txBody>
      </p:sp>
      <p:sp>
        <p:nvSpPr>
          <p:cNvPr id="279556" name="Rectangle 4"/>
          <p:cNvSpPr>
            <a:spLocks noGrp="1" noChangeArrowheads="1"/>
          </p:cNvSpPr>
          <p:nvPr>
            <p:ph type="body" sz="half" idx="4294967295"/>
          </p:nvPr>
        </p:nvSpPr>
        <p:spPr>
          <a:xfrm>
            <a:off x="915988" y="2528888"/>
            <a:ext cx="3414712" cy="2682875"/>
          </a:xfrm>
        </p:spPr>
        <p:txBody>
          <a:bodyPr lIns="102705" tIns="51353" rIns="102705" bIns="51353"/>
          <a:lstStyle/>
          <a:p>
            <a:r>
              <a:rPr lang="en-US"/>
              <a:t>Static Route</a:t>
            </a:r>
          </a:p>
          <a:p>
            <a:pPr lvl="1"/>
            <a:r>
              <a:rPr lang="en-US"/>
              <a:t>Uses a route that a network administrator enters into the router </a:t>
            </a:r>
            <a:r>
              <a:rPr lang="en-US" smtClean="0"/>
              <a:t>manually</a:t>
            </a:r>
          </a:p>
          <a:p>
            <a:pPr lvl="1"/>
            <a:r>
              <a:rPr lang="en-US" smtClean="0"/>
              <a:t>Example</a:t>
            </a:r>
            <a:r>
              <a:rPr lang="en-US" b="1" smtClean="0"/>
              <a:t>: ip route</a:t>
            </a:r>
            <a:endParaRPr lang="en-US" b="1"/>
          </a:p>
        </p:txBody>
      </p:sp>
      <p:sp>
        <p:nvSpPr>
          <p:cNvPr id="279557" name="Rectangle 5"/>
          <p:cNvSpPr>
            <a:spLocks noGrp="1" noChangeArrowheads="1"/>
          </p:cNvSpPr>
          <p:nvPr>
            <p:ph type="body" sz="half" idx="4294967295"/>
          </p:nvPr>
        </p:nvSpPr>
        <p:spPr>
          <a:xfrm>
            <a:off x="4892675" y="2520950"/>
            <a:ext cx="3532188" cy="2549525"/>
          </a:xfrm>
        </p:spPr>
        <p:txBody>
          <a:bodyPr lIns="102705" tIns="51353" rIns="102705" bIns="51353"/>
          <a:lstStyle/>
          <a:p>
            <a:r>
              <a:rPr lang="en-US"/>
              <a:t>Dynamic Route</a:t>
            </a:r>
          </a:p>
          <a:p>
            <a:pPr marL="292100" lvl="1" indent="-177800"/>
            <a:r>
              <a:rPr lang="en-US"/>
              <a:t>Uses a route that a network routing protocol adjusts automatically for topology or traffic </a:t>
            </a:r>
            <a:r>
              <a:rPr lang="en-US" smtClean="0"/>
              <a:t>changes</a:t>
            </a:r>
          </a:p>
          <a:p>
            <a:pPr marL="292100" lvl="1" indent="-177800"/>
            <a:r>
              <a:rPr lang="en-US" smtClean="0"/>
              <a:t>Example: RIP, OSPF,…</a:t>
            </a:r>
            <a:endParaRPr lang="en-US"/>
          </a:p>
        </p:txBody>
      </p:sp>
      <p:sp>
        <p:nvSpPr>
          <p:cNvPr id="279558" name="Rectangle 6"/>
          <p:cNvSpPr>
            <a:spLocks noGrp="1" noChangeArrowheads="1"/>
          </p:cNvSpPr>
          <p:nvPr>
            <p:ph type="title"/>
          </p:nvPr>
        </p:nvSpPr>
        <p:spPr/>
        <p:txBody>
          <a:bodyPr/>
          <a:lstStyle/>
          <a:p>
            <a:r>
              <a:rPr lang="en-US"/>
              <a:t>Static vs. Dynamic Routes</a:t>
            </a:r>
          </a:p>
        </p:txBody>
      </p:sp>
    </p:spTree>
    <p:extLst>
      <p:ext uri="{BB962C8B-B14F-4D97-AF65-F5344CB8AC3E}">
        <p14:creationId xmlns:p14="http://schemas.microsoft.com/office/powerpoint/2010/main" val="3313189558"/>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775" name="Picture 7" descr="301P_49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47800"/>
            <a:ext cx="8537575" cy="3108325"/>
          </a:xfrm>
          <a:prstGeom prst="rect">
            <a:avLst/>
          </a:prstGeom>
          <a:noFill/>
          <a:extLst>
            <a:ext uri="{909E8E84-426E-40DD-AFC4-6F175D3DCCD1}">
              <a14:hiddenFill xmlns:a14="http://schemas.microsoft.com/office/drawing/2010/main">
                <a:solidFill>
                  <a:srgbClr val="FFFFFF"/>
                </a:solidFill>
              </a14:hiddenFill>
            </a:ext>
          </a:extLst>
        </p:spPr>
      </p:pic>
      <p:sp>
        <p:nvSpPr>
          <p:cNvPr id="288771" name="Rectangle 3"/>
          <p:cNvSpPr>
            <a:spLocks noChangeArrowheads="1"/>
          </p:cNvSpPr>
          <p:nvPr/>
        </p:nvSpPr>
        <p:spPr bwMode="auto">
          <a:xfrm>
            <a:off x="747713" y="4724400"/>
            <a:ext cx="7386637" cy="1584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82100" tIns="41050" rIns="82100" bIns="41050" anchor="ctr" anchorCtr="1"/>
          <a:lstStyle/>
          <a:p>
            <a:pPr marL="347663" lvl="1" indent="-233363">
              <a:lnSpc>
                <a:spcPct val="95000"/>
              </a:lnSpc>
              <a:spcBef>
                <a:spcPct val="35000"/>
              </a:spcBef>
              <a:buClr>
                <a:schemeClr val="accent1"/>
              </a:buClr>
              <a:buFont typeface="Wingdings" pitchFamily="2" charset="2"/>
              <a:buChar char="§"/>
            </a:pPr>
            <a:r>
              <a:rPr lang="en-US" sz="2000" b="0"/>
              <a:t>An autonomous system is a collection of networks under a common administrative domain.</a:t>
            </a:r>
          </a:p>
          <a:p>
            <a:pPr marL="347663" lvl="1" indent="-233363">
              <a:lnSpc>
                <a:spcPct val="95000"/>
              </a:lnSpc>
              <a:spcBef>
                <a:spcPct val="35000"/>
              </a:spcBef>
              <a:buClr>
                <a:schemeClr val="accent1"/>
              </a:buClr>
              <a:buFont typeface="Wingdings" pitchFamily="2" charset="2"/>
              <a:buChar char="§"/>
            </a:pPr>
            <a:r>
              <a:rPr lang="en-US" sz="2000" b="0"/>
              <a:t>IGPs operate within an autonomous system.</a:t>
            </a:r>
          </a:p>
          <a:p>
            <a:pPr marL="347663" lvl="1" indent="-233363">
              <a:lnSpc>
                <a:spcPct val="95000"/>
              </a:lnSpc>
              <a:spcBef>
                <a:spcPct val="35000"/>
              </a:spcBef>
              <a:buClr>
                <a:schemeClr val="accent1"/>
              </a:buClr>
              <a:buFont typeface="Wingdings" pitchFamily="2" charset="2"/>
              <a:buChar char="§"/>
            </a:pPr>
            <a:r>
              <a:rPr lang="en-US" sz="2000" b="0"/>
              <a:t>EGPs connect different autonomous systems.</a:t>
            </a:r>
          </a:p>
        </p:txBody>
      </p:sp>
      <p:sp>
        <p:nvSpPr>
          <p:cNvPr id="288772" name="Rectangle 4"/>
          <p:cNvSpPr>
            <a:spLocks noGrp="1" noChangeArrowheads="1"/>
          </p:cNvSpPr>
          <p:nvPr>
            <p:ph type="title"/>
          </p:nvPr>
        </p:nvSpPr>
        <p:spPr/>
        <p:txBody>
          <a:bodyPr/>
          <a:lstStyle/>
          <a:p>
            <a:r>
              <a:rPr lang="en-US"/>
              <a:t>Autonomous Systems: Interior or Exterior Routing Protocols</a:t>
            </a:r>
          </a:p>
        </p:txBody>
      </p:sp>
    </p:spTree>
    <p:extLst>
      <p:ext uri="{BB962C8B-B14F-4D97-AF65-F5344CB8AC3E}">
        <p14:creationId xmlns:p14="http://schemas.microsoft.com/office/powerpoint/2010/main" val="3540791471"/>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2870" name="Picture 6" descr="301P_48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371600"/>
            <a:ext cx="8001000" cy="3132137"/>
          </a:xfrm>
          <a:prstGeom prst="rect">
            <a:avLst/>
          </a:prstGeom>
          <a:noFill/>
          <a:extLst>
            <a:ext uri="{909E8E84-426E-40DD-AFC4-6F175D3DCCD1}">
              <a14:hiddenFill xmlns:a14="http://schemas.microsoft.com/office/drawing/2010/main">
                <a:solidFill>
                  <a:srgbClr val="FFFFFF"/>
                </a:solidFill>
              </a14:hiddenFill>
            </a:ext>
          </a:extLst>
        </p:spPr>
      </p:pic>
      <p:sp>
        <p:nvSpPr>
          <p:cNvPr id="292867" name="Rectangle 3"/>
          <p:cNvSpPr>
            <a:spLocks noGrp="1" noChangeArrowheads="1"/>
          </p:cNvSpPr>
          <p:nvPr>
            <p:ph type="title"/>
          </p:nvPr>
        </p:nvSpPr>
        <p:spPr/>
        <p:txBody>
          <a:bodyPr/>
          <a:lstStyle/>
          <a:p>
            <a:r>
              <a:rPr lang="en-US"/>
              <a:t>Administrative Distance: </a:t>
            </a:r>
            <a:br>
              <a:rPr lang="en-US"/>
            </a:br>
            <a:r>
              <a:rPr lang="en-US"/>
              <a:t>Ranking Routes</a:t>
            </a:r>
          </a:p>
        </p:txBody>
      </p:sp>
      <p:sp>
        <p:nvSpPr>
          <p:cNvPr id="4" name="Text Box 5"/>
          <p:cNvSpPr txBox="1">
            <a:spLocks noChangeArrowheads="1"/>
          </p:cNvSpPr>
          <p:nvPr/>
        </p:nvSpPr>
        <p:spPr bwMode="auto">
          <a:xfrm>
            <a:off x="914400" y="4724400"/>
            <a:ext cx="7391400" cy="1772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lgn="ctr">
                <a:solidFill>
                  <a:schemeClr val="tx1"/>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square" lIns="0" tIns="0" rIns="0" bIns="0">
            <a:spAutoFit/>
          </a:bodyPr>
          <a:lstStyle>
            <a:lvl1pPr defTabSz="814388">
              <a:spcBef>
                <a:spcPct val="0"/>
              </a:spcBef>
              <a:defRPr sz="2400">
                <a:solidFill>
                  <a:schemeClr val="tx1"/>
                </a:solidFill>
                <a:latin typeface="Times" pitchFamily="18" charset="0"/>
              </a:defRPr>
            </a:lvl1pPr>
            <a:lvl2pPr indent="-223838" defTabSz="814388">
              <a:spcBef>
                <a:spcPct val="0"/>
              </a:spcBef>
              <a:defRPr sz="2400">
                <a:solidFill>
                  <a:schemeClr val="tx1"/>
                </a:solidFill>
                <a:latin typeface="Times" pitchFamily="18" charset="0"/>
              </a:defRPr>
            </a:lvl2pPr>
            <a:lvl3pPr defTabSz="814388">
              <a:spcBef>
                <a:spcPct val="0"/>
              </a:spcBef>
              <a:defRPr sz="2400">
                <a:solidFill>
                  <a:schemeClr val="tx1"/>
                </a:solidFill>
                <a:latin typeface="Times" pitchFamily="18" charset="0"/>
              </a:defRPr>
            </a:lvl3pPr>
            <a:lvl4pPr defTabSz="814388">
              <a:spcBef>
                <a:spcPct val="0"/>
              </a:spcBef>
              <a:defRPr sz="2400">
                <a:solidFill>
                  <a:schemeClr val="tx1"/>
                </a:solidFill>
                <a:latin typeface="Times" pitchFamily="18" charset="0"/>
              </a:defRPr>
            </a:lvl4pPr>
            <a:lvl5pPr defTabSz="814388">
              <a:spcBef>
                <a:spcPct val="0"/>
              </a:spcBef>
              <a:defRPr sz="2400">
                <a:solidFill>
                  <a:schemeClr val="tx1"/>
                </a:solidFill>
                <a:latin typeface="Times" pitchFamily="18" charset="0"/>
              </a:defRPr>
            </a:lvl5pPr>
            <a:lvl6pPr defTabSz="814388" fontAlgn="base">
              <a:spcBef>
                <a:spcPct val="0"/>
              </a:spcBef>
              <a:spcAft>
                <a:spcPct val="0"/>
              </a:spcAft>
              <a:defRPr sz="2400">
                <a:solidFill>
                  <a:schemeClr val="tx1"/>
                </a:solidFill>
                <a:latin typeface="Times" pitchFamily="18" charset="0"/>
              </a:defRPr>
            </a:lvl6pPr>
            <a:lvl7pPr defTabSz="814388" fontAlgn="base">
              <a:spcBef>
                <a:spcPct val="0"/>
              </a:spcBef>
              <a:spcAft>
                <a:spcPct val="0"/>
              </a:spcAft>
              <a:defRPr sz="2400">
                <a:solidFill>
                  <a:schemeClr val="tx1"/>
                </a:solidFill>
                <a:latin typeface="Times" pitchFamily="18" charset="0"/>
              </a:defRPr>
            </a:lvl7pPr>
            <a:lvl8pPr defTabSz="814388" fontAlgn="base">
              <a:spcBef>
                <a:spcPct val="0"/>
              </a:spcBef>
              <a:spcAft>
                <a:spcPct val="0"/>
              </a:spcAft>
              <a:defRPr sz="2400">
                <a:solidFill>
                  <a:schemeClr val="tx1"/>
                </a:solidFill>
                <a:latin typeface="Times" pitchFamily="18" charset="0"/>
              </a:defRPr>
            </a:lvl8pPr>
            <a:lvl9pPr defTabSz="814388" fontAlgn="base">
              <a:spcBef>
                <a:spcPct val="0"/>
              </a:spcBef>
              <a:spcAft>
                <a:spcPct val="0"/>
              </a:spcAft>
              <a:defRPr sz="2400">
                <a:solidFill>
                  <a:schemeClr val="tx1"/>
                </a:solidFill>
                <a:latin typeface="Times" pitchFamily="18" charset="0"/>
              </a:defRPr>
            </a:lvl9pPr>
          </a:lstStyle>
          <a:p>
            <a:pPr>
              <a:spcBef>
                <a:spcPct val="50000"/>
              </a:spcBef>
            </a:pPr>
            <a:r>
              <a:rPr lang="en-US" sz="2200">
                <a:latin typeface="Arial" charset="0"/>
              </a:rPr>
              <a:t>Routers choose the routing source with the </a:t>
            </a:r>
            <a:br>
              <a:rPr lang="en-US" sz="2200">
                <a:latin typeface="Arial" charset="0"/>
              </a:rPr>
            </a:br>
            <a:r>
              <a:rPr lang="en-US" sz="2200">
                <a:latin typeface="Arial" charset="0"/>
              </a:rPr>
              <a:t>best administrative distance:</a:t>
            </a:r>
          </a:p>
          <a:p>
            <a:pPr lvl="1">
              <a:spcBef>
                <a:spcPct val="50000"/>
              </a:spcBef>
              <a:buClr>
                <a:schemeClr val="accent1"/>
              </a:buClr>
              <a:buFont typeface="Wingdings" pitchFamily="2" charset="2"/>
              <a:buChar char="§"/>
            </a:pPr>
            <a:r>
              <a:rPr lang="en-US" sz="1800" smtClean="0">
                <a:latin typeface="Arial" charset="0"/>
              </a:rPr>
              <a:t>RIP </a:t>
            </a:r>
            <a:r>
              <a:rPr lang="en-US" sz="1800">
                <a:latin typeface="Arial" charset="0"/>
              </a:rPr>
              <a:t>has an administrative distance of </a:t>
            </a:r>
            <a:r>
              <a:rPr lang="en-US" sz="1800" smtClean="0">
                <a:latin typeface="Arial" charset="0"/>
              </a:rPr>
              <a:t>120.</a:t>
            </a:r>
            <a:endParaRPr lang="en-US" sz="1800">
              <a:latin typeface="Arial" charset="0"/>
            </a:endParaRPr>
          </a:p>
          <a:p>
            <a:pPr lvl="1">
              <a:spcBef>
                <a:spcPct val="50000"/>
              </a:spcBef>
              <a:buClr>
                <a:schemeClr val="accent1"/>
              </a:buClr>
              <a:buFont typeface="Wingdings" pitchFamily="2" charset="2"/>
              <a:buChar char="§"/>
            </a:pPr>
            <a:r>
              <a:rPr lang="en-US" sz="1800" smtClean="0">
                <a:latin typeface="Arial" charset="0"/>
              </a:rPr>
              <a:t>OSPF </a:t>
            </a:r>
            <a:r>
              <a:rPr lang="en-US" sz="1800">
                <a:latin typeface="Arial" charset="0"/>
              </a:rPr>
              <a:t>has an administrative distance of 110.</a:t>
            </a:r>
          </a:p>
          <a:p>
            <a:pPr lvl="1">
              <a:spcBef>
                <a:spcPct val="50000"/>
              </a:spcBef>
              <a:buClr>
                <a:schemeClr val="accent1"/>
              </a:buClr>
              <a:buFont typeface="Wingdings" pitchFamily="2" charset="2"/>
              <a:buChar char="§"/>
            </a:pPr>
            <a:r>
              <a:rPr lang="en-US" sz="1800">
                <a:latin typeface="Arial" charset="0"/>
              </a:rPr>
              <a:t>EIGRP has an administrative distance of 90.</a:t>
            </a:r>
          </a:p>
        </p:txBody>
      </p:sp>
    </p:spTree>
    <p:extLst>
      <p:ext uri="{BB962C8B-B14F-4D97-AF65-F5344CB8AC3E}">
        <p14:creationId xmlns:p14="http://schemas.microsoft.com/office/powerpoint/2010/main" val="4218607644"/>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4914" name="Rectangle 2"/>
          <p:cNvSpPr>
            <a:spLocks noGrp="1" noChangeArrowheads="1"/>
          </p:cNvSpPr>
          <p:nvPr>
            <p:ph type="title"/>
          </p:nvPr>
        </p:nvSpPr>
        <p:spPr>
          <a:xfrm>
            <a:off x="655638" y="798513"/>
            <a:ext cx="8145462" cy="496887"/>
          </a:xfrm>
        </p:spPr>
        <p:txBody>
          <a:bodyPr/>
          <a:lstStyle/>
          <a:p>
            <a:r>
              <a:rPr lang="en-US"/>
              <a:t>Classful Routing Protocol</a:t>
            </a:r>
          </a:p>
        </p:txBody>
      </p:sp>
      <p:sp>
        <p:nvSpPr>
          <p:cNvPr id="294915" name="Rectangle 3"/>
          <p:cNvSpPr>
            <a:spLocks noGrp="1" noChangeArrowheads="1"/>
          </p:cNvSpPr>
          <p:nvPr>
            <p:ph type="body" idx="1"/>
          </p:nvPr>
        </p:nvSpPr>
        <p:spPr/>
        <p:txBody>
          <a:bodyPr/>
          <a:lstStyle/>
          <a:p>
            <a:pPr lvl="1"/>
            <a:r>
              <a:rPr lang="en-US"/>
              <a:t>Classful routing protocols do not include the subnet mask with the route advertisement.</a:t>
            </a:r>
          </a:p>
          <a:p>
            <a:pPr lvl="1"/>
            <a:r>
              <a:rPr lang="en-US"/>
              <a:t>Within the same network, consistency of the subnet masks is assumed.</a:t>
            </a:r>
          </a:p>
          <a:p>
            <a:pPr lvl="1"/>
            <a:r>
              <a:rPr lang="en-US"/>
              <a:t>Summary routes are exchanged between foreign networks.</a:t>
            </a:r>
          </a:p>
          <a:p>
            <a:pPr lvl="1"/>
            <a:r>
              <a:rPr lang="en-US"/>
              <a:t>These are examples of classful routing protocols:</a:t>
            </a:r>
          </a:p>
          <a:p>
            <a:pPr lvl="2"/>
            <a:r>
              <a:rPr lang="en-US"/>
              <a:t>RIPv1</a:t>
            </a:r>
          </a:p>
          <a:p>
            <a:pPr lvl="2"/>
            <a:r>
              <a:rPr lang="en-US" smtClean="0"/>
              <a:t>IGRP (not now)</a:t>
            </a:r>
            <a:endParaRPr lang="en-US"/>
          </a:p>
          <a:p>
            <a:endParaRPr lang="en-US" sz="2000"/>
          </a:p>
        </p:txBody>
      </p:sp>
    </p:spTree>
    <p:extLst>
      <p:ext uri="{BB962C8B-B14F-4D97-AF65-F5344CB8AC3E}">
        <p14:creationId xmlns:p14="http://schemas.microsoft.com/office/powerpoint/2010/main" val="1102483120"/>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938" name="Rectangle 2"/>
          <p:cNvSpPr>
            <a:spLocks noGrp="1" noChangeArrowheads="1"/>
          </p:cNvSpPr>
          <p:nvPr>
            <p:ph type="title"/>
          </p:nvPr>
        </p:nvSpPr>
        <p:spPr/>
        <p:txBody>
          <a:bodyPr/>
          <a:lstStyle/>
          <a:p>
            <a:r>
              <a:rPr lang="en-US"/>
              <a:t>Classless Routing Protocol</a:t>
            </a:r>
          </a:p>
        </p:txBody>
      </p:sp>
      <p:sp>
        <p:nvSpPr>
          <p:cNvPr id="295939" name="Rectangle 3"/>
          <p:cNvSpPr>
            <a:spLocks noGrp="1" noChangeArrowheads="1"/>
          </p:cNvSpPr>
          <p:nvPr>
            <p:ph type="body" idx="1"/>
          </p:nvPr>
        </p:nvSpPr>
        <p:spPr>
          <a:xfrm>
            <a:off x="655638" y="1636713"/>
            <a:ext cx="7940675" cy="4514850"/>
          </a:xfrm>
        </p:spPr>
        <p:txBody>
          <a:bodyPr/>
          <a:lstStyle/>
          <a:p>
            <a:pPr lvl="1"/>
            <a:r>
              <a:rPr lang="en-US"/>
              <a:t>Classless routing protocols include the subnet mask with the route advertisement.</a:t>
            </a:r>
          </a:p>
          <a:p>
            <a:pPr lvl="1"/>
            <a:r>
              <a:rPr lang="en-US"/>
              <a:t>Classless routing protocols support a variable-length subnet mask (VLSM).</a:t>
            </a:r>
          </a:p>
          <a:p>
            <a:pPr lvl="1"/>
            <a:r>
              <a:rPr lang="en-US"/>
              <a:t>Summary routes can be manually controlled within the network.</a:t>
            </a:r>
          </a:p>
          <a:p>
            <a:pPr lvl="1"/>
            <a:r>
              <a:rPr lang="en-US"/>
              <a:t>These are examples of classless routing protocols:</a:t>
            </a:r>
          </a:p>
          <a:p>
            <a:pPr lvl="2"/>
            <a:r>
              <a:rPr lang="en-US"/>
              <a:t>RIPv2</a:t>
            </a:r>
          </a:p>
          <a:p>
            <a:pPr lvl="2"/>
            <a:r>
              <a:rPr lang="en-US"/>
              <a:t>EIGRP</a:t>
            </a:r>
          </a:p>
          <a:p>
            <a:pPr lvl="2"/>
            <a:r>
              <a:rPr lang="en-US"/>
              <a:t>OSPF</a:t>
            </a:r>
          </a:p>
          <a:p>
            <a:pPr lvl="2"/>
            <a:r>
              <a:rPr lang="en-US"/>
              <a:t>IS-IS</a:t>
            </a:r>
          </a:p>
          <a:p>
            <a:endParaRPr lang="en-US" sz="2000"/>
          </a:p>
        </p:txBody>
      </p:sp>
    </p:spTree>
    <p:extLst>
      <p:ext uri="{BB962C8B-B14F-4D97-AF65-F5344CB8AC3E}">
        <p14:creationId xmlns:p14="http://schemas.microsoft.com/office/powerpoint/2010/main" val="3556636585"/>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3109" name="Picture 5" descr="301P_13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0293" y="914400"/>
            <a:ext cx="8305800" cy="4191000"/>
          </a:xfrm>
          <a:prstGeom prst="rect">
            <a:avLst/>
          </a:prstGeom>
          <a:noFill/>
          <a:extLst>
            <a:ext uri="{909E8E84-426E-40DD-AFC4-6F175D3DCCD1}">
              <a14:hiddenFill xmlns:a14="http://schemas.microsoft.com/office/drawing/2010/main">
                <a:solidFill>
                  <a:srgbClr val="FFFFFF"/>
                </a:solidFill>
              </a14:hiddenFill>
            </a:ext>
          </a:extLst>
        </p:spPr>
      </p:pic>
      <p:sp>
        <p:nvSpPr>
          <p:cNvPr id="303107" name="Rectangle 3"/>
          <p:cNvSpPr>
            <a:spLocks noGrp="1" noChangeArrowheads="1"/>
          </p:cNvSpPr>
          <p:nvPr>
            <p:ph type="body" sz="half" idx="2"/>
          </p:nvPr>
        </p:nvSpPr>
        <p:spPr>
          <a:xfrm>
            <a:off x="429668" y="5486400"/>
            <a:ext cx="8226425" cy="1020763"/>
          </a:xfrm>
          <a:noFill/>
          <a:ln/>
          <a:extLst>
            <a:ext uri="{91240B29-F687-4F45-9708-019B960494DF}">
              <a14:hiddenLine xmlns:a14="http://schemas.microsoft.com/office/drawing/2010/main" w="9525">
                <a:solidFill>
                  <a:srgbClr val="000000"/>
                </a:solidFill>
                <a:miter lim="800000"/>
                <a:headEnd/>
                <a:tailEnd/>
              </a14:hiddenLine>
            </a:ext>
          </a:extLst>
        </p:spPr>
        <p:txBody>
          <a:bodyPr lIns="82147" tIns="41073" rIns="82147" bIns="41073" anchor="ctr" anchorCtr="1"/>
          <a:lstStyle/>
          <a:p>
            <a:pPr marL="347663" lvl="1" indent="-231775"/>
            <a:r>
              <a:rPr lang="en-US" sz="1800"/>
              <a:t>Routers pass periodic copies of their routing table to neighboring </a:t>
            </a:r>
            <a:br>
              <a:rPr lang="en-US" sz="1800"/>
            </a:br>
            <a:r>
              <a:rPr lang="en-US" sz="1800"/>
              <a:t>routers and accumulate distance vectors</a:t>
            </a:r>
          </a:p>
        </p:txBody>
      </p:sp>
      <p:sp>
        <p:nvSpPr>
          <p:cNvPr id="303108" name="Rectangle 4"/>
          <p:cNvSpPr>
            <a:spLocks noGrp="1" noChangeArrowheads="1"/>
          </p:cNvSpPr>
          <p:nvPr>
            <p:ph type="title"/>
          </p:nvPr>
        </p:nvSpPr>
        <p:spPr>
          <a:xfrm>
            <a:off x="350293" y="152400"/>
            <a:ext cx="8145462" cy="685800"/>
          </a:xfrm>
        </p:spPr>
        <p:txBody>
          <a:bodyPr/>
          <a:lstStyle/>
          <a:p>
            <a:r>
              <a:rPr lang="en-US"/>
              <a:t>Distance Vector Routing Protocols</a:t>
            </a:r>
          </a:p>
        </p:txBody>
      </p:sp>
    </p:spTree>
    <p:extLst>
      <p:ext uri="{BB962C8B-B14F-4D97-AF65-F5344CB8AC3E}">
        <p14:creationId xmlns:p14="http://schemas.microsoft.com/office/powerpoint/2010/main" val="1499412090"/>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5154" name="Rectangle 2"/>
          <p:cNvSpPr>
            <a:spLocks noGrp="1" noChangeArrowheads="1"/>
          </p:cNvSpPr>
          <p:nvPr>
            <p:ph type="body" sz="half" idx="2"/>
          </p:nvPr>
        </p:nvSpPr>
        <p:spPr>
          <a:xfrm>
            <a:off x="455613" y="5757863"/>
            <a:ext cx="8229600" cy="541337"/>
          </a:xfrm>
          <a:noFill/>
          <a:ln/>
          <a:extLst>
            <a:ext uri="{91240B29-F687-4F45-9708-019B960494DF}">
              <a14:hiddenLine xmlns:a14="http://schemas.microsoft.com/office/drawing/2010/main" w="9525">
                <a:solidFill>
                  <a:srgbClr val="000000"/>
                </a:solidFill>
                <a:miter lim="800000"/>
                <a:headEnd/>
                <a:tailEnd/>
              </a14:hiddenLine>
            </a:ext>
          </a:extLst>
        </p:spPr>
        <p:txBody>
          <a:bodyPr lIns="82147" tIns="41073" rIns="82147" bIns="41073" anchor="ctr" anchorCtr="1"/>
          <a:lstStyle/>
          <a:p>
            <a:pPr marL="347663" lvl="1" indent="-233363">
              <a:lnSpc>
                <a:spcPct val="85000"/>
              </a:lnSpc>
            </a:pPr>
            <a:r>
              <a:rPr lang="en-US"/>
              <a:t>Routers discover the best path to destinations from each neighbor.</a:t>
            </a:r>
          </a:p>
        </p:txBody>
      </p:sp>
      <p:sp>
        <p:nvSpPr>
          <p:cNvPr id="305155" name="Rectangle 3"/>
          <p:cNvSpPr>
            <a:spLocks noGrp="1" noChangeArrowheads="1"/>
          </p:cNvSpPr>
          <p:nvPr>
            <p:ph type="title"/>
          </p:nvPr>
        </p:nvSpPr>
        <p:spPr/>
        <p:txBody>
          <a:bodyPr/>
          <a:lstStyle/>
          <a:p>
            <a:r>
              <a:rPr lang="en-US"/>
              <a:t>Sources of Information and Discovering Routes</a:t>
            </a:r>
          </a:p>
        </p:txBody>
      </p:sp>
      <p:pic>
        <p:nvPicPr>
          <p:cNvPr id="305160" name="Picture 8" descr="301P_97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4338" y="1905000"/>
            <a:ext cx="8272462" cy="342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08733312"/>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3" name="Rectangle 3"/>
          <p:cNvSpPr>
            <a:spLocks noGrp="1" noChangeArrowheads="1"/>
          </p:cNvSpPr>
          <p:nvPr>
            <p:ph type="title"/>
          </p:nvPr>
        </p:nvSpPr>
        <p:spPr/>
        <p:txBody>
          <a:bodyPr/>
          <a:lstStyle/>
          <a:p>
            <a:r>
              <a:rPr lang="en-US"/>
              <a:t>Link-State Routing Protocols</a:t>
            </a:r>
          </a:p>
        </p:txBody>
      </p:sp>
      <p:sp>
        <p:nvSpPr>
          <p:cNvPr id="240649" name="Rectangle 9"/>
          <p:cNvSpPr>
            <a:spLocks noChangeArrowheads="1"/>
          </p:cNvSpPr>
          <p:nvPr/>
        </p:nvSpPr>
        <p:spPr bwMode="auto">
          <a:xfrm>
            <a:off x="1301750" y="5715000"/>
            <a:ext cx="6542088" cy="577850"/>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95000"/>
              </a:lnSpc>
              <a:spcBef>
                <a:spcPct val="35000"/>
              </a:spcBef>
              <a:buClr>
                <a:schemeClr val="accent1"/>
              </a:buClr>
              <a:buSzPct val="100000"/>
            </a:pPr>
            <a:r>
              <a:rPr lang="en-US" sz="2000">
                <a:solidFill>
                  <a:srgbClr val="000000"/>
                </a:solidFill>
              </a:rPr>
              <a:t>After an initial flood of LSAs, link-state routers pass small, </a:t>
            </a:r>
            <a:br>
              <a:rPr lang="en-US" sz="2000">
                <a:solidFill>
                  <a:srgbClr val="000000"/>
                </a:solidFill>
              </a:rPr>
            </a:br>
            <a:r>
              <a:rPr lang="en-US" sz="2000">
                <a:solidFill>
                  <a:srgbClr val="000000"/>
                </a:solidFill>
              </a:rPr>
              <a:t>event-triggered link-state updates to all other routers.</a:t>
            </a:r>
          </a:p>
        </p:txBody>
      </p:sp>
      <p:pic>
        <p:nvPicPr>
          <p:cNvPr id="240651" name="Picture 11" descr="327P_09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1813" y="1709738"/>
            <a:ext cx="5541962" cy="3548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1285337"/>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2089" name="Picture 9" descr="327P_09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1563" y="1323975"/>
            <a:ext cx="7002462" cy="2968625"/>
          </a:xfrm>
          <a:prstGeom prst="rect">
            <a:avLst/>
          </a:prstGeom>
          <a:noFill/>
          <a:extLst>
            <a:ext uri="{909E8E84-426E-40DD-AFC4-6F175D3DCCD1}">
              <a14:hiddenFill xmlns:a14="http://schemas.microsoft.com/office/drawing/2010/main">
                <a:solidFill>
                  <a:srgbClr val="FFFFFF"/>
                </a:solidFill>
              </a14:hiddenFill>
            </a:ext>
          </a:extLst>
        </p:spPr>
      </p:pic>
      <p:sp>
        <p:nvSpPr>
          <p:cNvPr id="302087" name="Rectangle 7"/>
          <p:cNvSpPr>
            <a:spLocks noGrp="1" noChangeArrowheads="1"/>
          </p:cNvSpPr>
          <p:nvPr>
            <p:ph type="title"/>
          </p:nvPr>
        </p:nvSpPr>
        <p:spPr>
          <a:xfrm>
            <a:off x="1905000" y="1069075"/>
            <a:ext cx="8145462" cy="838200"/>
          </a:xfrm>
        </p:spPr>
        <p:txBody>
          <a:bodyPr/>
          <a:lstStyle/>
          <a:p>
            <a:r>
              <a:rPr lang="en-US" sz="2400" smtClean="0"/>
              <a:t>EIGRP</a:t>
            </a:r>
            <a:endParaRPr lang="en-US" sz="2400"/>
          </a:p>
        </p:txBody>
      </p:sp>
      <p:sp>
        <p:nvSpPr>
          <p:cNvPr id="302090" name="Rectangle 10"/>
          <p:cNvSpPr>
            <a:spLocks noChangeArrowheads="1"/>
          </p:cNvSpPr>
          <p:nvPr/>
        </p:nvSpPr>
        <p:spPr bwMode="auto">
          <a:xfrm>
            <a:off x="4219575" y="4503738"/>
            <a:ext cx="4310063" cy="1798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Flexible network design</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Multicast and unicast instead of broadcast </a:t>
            </a:r>
            <a:br>
              <a:rPr lang="en-US" sz="1600">
                <a:latin typeface="Arial" charset="0"/>
              </a:rPr>
            </a:br>
            <a:r>
              <a:rPr lang="en-US" sz="1600">
                <a:latin typeface="Arial" charset="0"/>
              </a:rPr>
              <a:t>address</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Support for VLSM and discontiguous subnets</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Manual summarization at any point in the </a:t>
            </a:r>
            <a:br>
              <a:rPr lang="en-US" sz="1600">
                <a:latin typeface="Arial" charset="0"/>
              </a:rPr>
            </a:br>
            <a:r>
              <a:rPr lang="en-US" sz="1600">
                <a:latin typeface="Arial" charset="0"/>
              </a:rPr>
              <a:t>internetwork</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Support for multiple network layer protocols</a:t>
            </a:r>
          </a:p>
        </p:txBody>
      </p:sp>
      <p:sp>
        <p:nvSpPr>
          <p:cNvPr id="302091" name="Rectangle 11"/>
          <p:cNvSpPr>
            <a:spLocks noChangeArrowheads="1"/>
          </p:cNvSpPr>
          <p:nvPr/>
        </p:nvSpPr>
        <p:spPr bwMode="auto">
          <a:xfrm>
            <a:off x="736600" y="4503738"/>
            <a:ext cx="3168650" cy="1884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Advanced distance vector</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Rapid convergence</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100% loop-free classless routing</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Easy configuration</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Incremental updates</a:t>
            </a:r>
          </a:p>
          <a:p>
            <a:pPr marL="233363" indent="-233363" algn="l" defTabSz="814388">
              <a:lnSpc>
                <a:spcPct val="85000"/>
              </a:lnSpc>
              <a:spcBef>
                <a:spcPct val="35000"/>
              </a:spcBef>
              <a:buClr>
                <a:schemeClr val="accent1"/>
              </a:buClr>
              <a:buFont typeface="Wingdings" pitchFamily="2" charset="2"/>
              <a:buChar char="§"/>
            </a:pPr>
            <a:r>
              <a:rPr lang="en-US" sz="1600">
                <a:latin typeface="Arial" charset="0"/>
              </a:rPr>
              <a:t>Load balancing across equal</a:t>
            </a:r>
            <a:r>
              <a:rPr lang="en-US" sz="1600">
                <a:latin typeface="Arial" charset="0"/>
                <a:cs typeface="Arial" charset="0"/>
              </a:rPr>
              <a:t>- </a:t>
            </a:r>
            <a:br>
              <a:rPr lang="en-US" sz="1600">
                <a:latin typeface="Arial" charset="0"/>
                <a:cs typeface="Arial" charset="0"/>
              </a:rPr>
            </a:br>
            <a:r>
              <a:rPr lang="en-US" sz="1600">
                <a:latin typeface="Arial" charset="0"/>
              </a:rPr>
              <a:t>and unequal</a:t>
            </a:r>
            <a:r>
              <a:rPr lang="en-US" sz="1600">
                <a:latin typeface="Arial" charset="0"/>
                <a:cs typeface="Arial" charset="0"/>
              </a:rPr>
              <a:t>-</a:t>
            </a:r>
            <a:r>
              <a:rPr lang="en-US" sz="1600">
                <a:latin typeface="Arial" charset="0"/>
              </a:rPr>
              <a:t>cost pathways</a:t>
            </a:r>
          </a:p>
        </p:txBody>
      </p:sp>
      <p:sp>
        <p:nvSpPr>
          <p:cNvPr id="6" name="Rectangle 7"/>
          <p:cNvSpPr txBox="1">
            <a:spLocks noChangeArrowheads="1"/>
          </p:cNvSpPr>
          <p:nvPr/>
        </p:nvSpPr>
        <p:spPr bwMode="auto">
          <a:xfrm>
            <a:off x="384176" y="228600"/>
            <a:ext cx="8145462" cy="838200"/>
          </a:xfrm>
          <a:prstGeom prst="rect">
            <a:avLst/>
          </a:prstGeom>
          <a:noFill/>
          <a:ln>
            <a:noFill/>
          </a:ln>
          <a:effectLst/>
          <a:extLst>
            <a:ext uri="{909E8E84-426E-40DD-AFC4-6F175D3DCCD1}">
              <a14:hiddenFill xmlns:a14="http://schemas.microsoft.com/office/drawing/2010/main">
                <a:solidFill>
                  <a:srgbClr val="0183B7"/>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17961" dir="2700000" algn="ctr" rotWithShape="0">
                    <a:srgbClr val="000000"/>
                  </a:outerShdw>
                </a:effectLst>
              </a14:hiddenEffects>
            </a:ext>
          </a:extLst>
        </p:spPr>
        <p:txBody>
          <a:bodyPr vert="horz" wrap="square" lIns="82124" tIns="41061" rIns="82124" bIns="41061" numCol="1" anchor="b" anchorCtr="0" compatLnSpc="1">
            <a:prstTxWarp prst="textNoShape">
              <a:avLst/>
            </a:prstTxWarp>
          </a:bodyPr>
          <a:lstStyle>
            <a:lvl1pPr algn="l" defTabSz="814388" rtl="0" fontAlgn="base">
              <a:lnSpc>
                <a:spcPct val="90000"/>
              </a:lnSpc>
              <a:spcBef>
                <a:spcPct val="0"/>
              </a:spcBef>
              <a:spcAft>
                <a:spcPct val="0"/>
              </a:spcAft>
              <a:defRPr sz="3200" b="1">
                <a:solidFill>
                  <a:schemeClr val="tx2"/>
                </a:solidFill>
                <a:latin typeface="+mj-lt"/>
                <a:ea typeface="+mj-ea"/>
                <a:cs typeface="+mj-cs"/>
              </a:defRPr>
            </a:lvl1pPr>
            <a:lvl2pPr algn="l" defTabSz="814388" rtl="0" fontAlgn="base">
              <a:lnSpc>
                <a:spcPct val="90000"/>
              </a:lnSpc>
              <a:spcBef>
                <a:spcPct val="0"/>
              </a:spcBef>
              <a:spcAft>
                <a:spcPct val="0"/>
              </a:spcAft>
              <a:defRPr sz="3200" b="1">
                <a:solidFill>
                  <a:schemeClr val="tx2"/>
                </a:solidFill>
                <a:latin typeface="Arial" charset="0"/>
              </a:defRPr>
            </a:lvl2pPr>
            <a:lvl3pPr algn="l" defTabSz="814388" rtl="0" fontAlgn="base">
              <a:lnSpc>
                <a:spcPct val="90000"/>
              </a:lnSpc>
              <a:spcBef>
                <a:spcPct val="0"/>
              </a:spcBef>
              <a:spcAft>
                <a:spcPct val="0"/>
              </a:spcAft>
              <a:defRPr sz="3200" b="1">
                <a:solidFill>
                  <a:schemeClr val="tx2"/>
                </a:solidFill>
                <a:latin typeface="Arial" charset="0"/>
              </a:defRPr>
            </a:lvl3pPr>
            <a:lvl4pPr algn="l" defTabSz="814388" rtl="0" fontAlgn="base">
              <a:lnSpc>
                <a:spcPct val="90000"/>
              </a:lnSpc>
              <a:spcBef>
                <a:spcPct val="0"/>
              </a:spcBef>
              <a:spcAft>
                <a:spcPct val="0"/>
              </a:spcAft>
              <a:defRPr sz="3200" b="1">
                <a:solidFill>
                  <a:schemeClr val="tx2"/>
                </a:solidFill>
                <a:latin typeface="Arial" charset="0"/>
              </a:defRPr>
            </a:lvl4pPr>
            <a:lvl5pPr algn="l" defTabSz="814388" rtl="0" fontAlgn="base">
              <a:lnSpc>
                <a:spcPct val="90000"/>
              </a:lnSpc>
              <a:spcBef>
                <a:spcPct val="0"/>
              </a:spcBef>
              <a:spcAft>
                <a:spcPct val="0"/>
              </a:spcAft>
              <a:defRPr sz="3200" b="1">
                <a:solidFill>
                  <a:schemeClr val="tx2"/>
                </a:solidFill>
                <a:latin typeface="Arial" charset="0"/>
              </a:defRPr>
            </a:lvl5pPr>
            <a:lvl6pPr marL="457200" algn="l" defTabSz="814388" rtl="0" fontAlgn="base">
              <a:lnSpc>
                <a:spcPct val="90000"/>
              </a:lnSpc>
              <a:spcBef>
                <a:spcPct val="0"/>
              </a:spcBef>
              <a:spcAft>
                <a:spcPct val="0"/>
              </a:spcAft>
              <a:defRPr sz="3200" b="1">
                <a:solidFill>
                  <a:schemeClr val="tx2"/>
                </a:solidFill>
                <a:latin typeface="Arial" charset="0"/>
              </a:defRPr>
            </a:lvl6pPr>
            <a:lvl7pPr marL="914400" algn="l" defTabSz="814388" rtl="0" fontAlgn="base">
              <a:lnSpc>
                <a:spcPct val="90000"/>
              </a:lnSpc>
              <a:spcBef>
                <a:spcPct val="0"/>
              </a:spcBef>
              <a:spcAft>
                <a:spcPct val="0"/>
              </a:spcAft>
              <a:defRPr sz="3200" b="1">
                <a:solidFill>
                  <a:schemeClr val="tx2"/>
                </a:solidFill>
                <a:latin typeface="Arial" charset="0"/>
              </a:defRPr>
            </a:lvl7pPr>
            <a:lvl8pPr marL="1371600" algn="l" defTabSz="814388" rtl="0" fontAlgn="base">
              <a:lnSpc>
                <a:spcPct val="90000"/>
              </a:lnSpc>
              <a:spcBef>
                <a:spcPct val="0"/>
              </a:spcBef>
              <a:spcAft>
                <a:spcPct val="0"/>
              </a:spcAft>
              <a:defRPr sz="3200" b="1">
                <a:solidFill>
                  <a:schemeClr val="tx2"/>
                </a:solidFill>
                <a:latin typeface="Arial" charset="0"/>
              </a:defRPr>
            </a:lvl8pPr>
            <a:lvl9pPr marL="1828800" algn="l" defTabSz="814388" rtl="0" fontAlgn="base">
              <a:lnSpc>
                <a:spcPct val="90000"/>
              </a:lnSpc>
              <a:spcBef>
                <a:spcPct val="0"/>
              </a:spcBef>
              <a:spcAft>
                <a:spcPct val="0"/>
              </a:spcAft>
              <a:defRPr sz="3200" b="1">
                <a:solidFill>
                  <a:schemeClr val="tx2"/>
                </a:solidFill>
                <a:latin typeface="Arial" charset="0"/>
              </a:defRPr>
            </a:lvl9pPr>
          </a:lstStyle>
          <a:p>
            <a:r>
              <a:rPr lang="en-US" smtClean="0"/>
              <a:t>Hybrid</a:t>
            </a:r>
            <a:endParaRPr lang="en-US"/>
          </a:p>
        </p:txBody>
      </p:sp>
    </p:spTree>
    <p:extLst>
      <p:ext uri="{BB962C8B-B14F-4D97-AF65-F5344CB8AC3E}">
        <p14:creationId xmlns:p14="http://schemas.microsoft.com/office/powerpoint/2010/main" val="3361366079"/>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7" name="Rectangle 3"/>
          <p:cNvSpPr>
            <a:spLocks noGrp="1" noChangeArrowheads="1"/>
          </p:cNvSpPr>
          <p:nvPr>
            <p:ph type="body" idx="1"/>
          </p:nvPr>
        </p:nvSpPr>
        <p:spPr>
          <a:xfrm>
            <a:off x="609600" y="1295400"/>
            <a:ext cx="7986713" cy="5105400"/>
          </a:xfrm>
        </p:spPr>
        <p:txBody>
          <a:bodyPr/>
          <a:lstStyle/>
          <a:p>
            <a:pPr lvl="1">
              <a:lnSpc>
                <a:spcPct val="85000"/>
              </a:lnSpc>
            </a:pPr>
            <a:r>
              <a:rPr lang="en-GB" sz="2200"/>
              <a:t>Benefits of link-state routing:</a:t>
            </a:r>
          </a:p>
          <a:p>
            <a:pPr lvl="2">
              <a:lnSpc>
                <a:spcPct val="85000"/>
              </a:lnSpc>
            </a:pPr>
            <a:r>
              <a:rPr lang="en-GB" sz="1800"/>
              <a:t>Fast convergence</a:t>
            </a:r>
            <a:r>
              <a:rPr lang="en-US" sz="1800"/>
              <a:t>: </a:t>
            </a:r>
          </a:p>
          <a:p>
            <a:pPr lvl="3">
              <a:lnSpc>
                <a:spcPct val="85000"/>
              </a:lnSpc>
            </a:pPr>
            <a:r>
              <a:rPr lang="en-GB" sz="1800"/>
              <a:t>Changes are reported immediately by the affected source</a:t>
            </a:r>
          </a:p>
          <a:p>
            <a:pPr lvl="2">
              <a:lnSpc>
                <a:spcPct val="85000"/>
              </a:lnSpc>
            </a:pPr>
            <a:r>
              <a:rPr lang="en-GB" sz="1800"/>
              <a:t>Robustness against routing loops:</a:t>
            </a:r>
          </a:p>
          <a:p>
            <a:pPr lvl="3">
              <a:lnSpc>
                <a:spcPct val="85000"/>
              </a:lnSpc>
            </a:pPr>
            <a:r>
              <a:rPr lang="en-GB" sz="1800"/>
              <a:t>Routers know the topology</a:t>
            </a:r>
          </a:p>
          <a:p>
            <a:pPr lvl="3">
              <a:lnSpc>
                <a:spcPct val="85000"/>
              </a:lnSpc>
            </a:pPr>
            <a:r>
              <a:rPr lang="en-GB" sz="1800"/>
              <a:t>Link-state</a:t>
            </a:r>
            <a:r>
              <a:rPr lang="sl-SI" sz="1800"/>
              <a:t> packets</a:t>
            </a:r>
            <a:r>
              <a:rPr lang="en-GB" sz="1800"/>
              <a:t> </a:t>
            </a:r>
            <a:r>
              <a:rPr lang="en-US" sz="1800"/>
              <a:t>are sequenced</a:t>
            </a:r>
            <a:r>
              <a:rPr lang="en-GB" sz="1800"/>
              <a:t> and acknowledged</a:t>
            </a:r>
          </a:p>
          <a:p>
            <a:pPr lvl="2">
              <a:lnSpc>
                <a:spcPct val="85000"/>
              </a:lnSpc>
            </a:pPr>
            <a:r>
              <a:rPr lang="en-GB" sz="1800"/>
              <a:t>Hierarchical network design</a:t>
            </a:r>
            <a:r>
              <a:rPr lang="en-US" sz="1800"/>
              <a:t> enables optimization of</a:t>
            </a:r>
            <a:r>
              <a:rPr lang="en-GB" sz="1800"/>
              <a:t> resources.</a:t>
            </a:r>
          </a:p>
          <a:p>
            <a:pPr lvl="1">
              <a:lnSpc>
                <a:spcPct val="85000"/>
              </a:lnSpc>
              <a:buFont typeface="Wingdings" pitchFamily="2" charset="2"/>
              <a:buNone/>
            </a:pPr>
            <a:endParaRPr lang="en-GB" sz="1800"/>
          </a:p>
          <a:p>
            <a:pPr lvl="1">
              <a:lnSpc>
                <a:spcPct val="85000"/>
              </a:lnSpc>
            </a:pPr>
            <a:r>
              <a:rPr lang="en-GB" sz="2200"/>
              <a:t>Drawbacks of link-state routing:</a:t>
            </a:r>
          </a:p>
          <a:p>
            <a:pPr lvl="2">
              <a:lnSpc>
                <a:spcPct val="85000"/>
              </a:lnSpc>
            </a:pPr>
            <a:r>
              <a:rPr lang="en-GB" sz="1800"/>
              <a:t>Significant demands for resources:</a:t>
            </a:r>
          </a:p>
          <a:p>
            <a:pPr lvl="3">
              <a:lnSpc>
                <a:spcPct val="85000"/>
              </a:lnSpc>
            </a:pPr>
            <a:r>
              <a:rPr lang="en-GB" sz="1600"/>
              <a:t>Memory (three tables: adjacency, topology, forwarding)</a:t>
            </a:r>
          </a:p>
          <a:p>
            <a:pPr lvl="3">
              <a:lnSpc>
                <a:spcPct val="85000"/>
              </a:lnSpc>
            </a:pPr>
            <a:r>
              <a:rPr lang="en-GB" sz="1600"/>
              <a:t>CPU (Dijkstra’s algorithm </a:t>
            </a:r>
            <a:r>
              <a:rPr lang="sl-SI" sz="1600"/>
              <a:t>can be</a:t>
            </a:r>
            <a:r>
              <a:rPr lang="en-GB" sz="1600"/>
              <a:t> intensive, especially when there are </a:t>
            </a:r>
            <a:r>
              <a:rPr lang="en-US" sz="1600"/>
              <a:t>many</a:t>
            </a:r>
            <a:r>
              <a:rPr lang="sl-SI" sz="1600"/>
              <a:t> </a:t>
            </a:r>
            <a:r>
              <a:rPr lang="en-GB" sz="1600"/>
              <a:t>instabilities)</a:t>
            </a:r>
          </a:p>
          <a:p>
            <a:pPr lvl="2">
              <a:lnSpc>
                <a:spcPct val="85000"/>
              </a:lnSpc>
            </a:pPr>
            <a:r>
              <a:rPr lang="en-GB" sz="1800"/>
              <a:t>Requires very strict network design </a:t>
            </a:r>
            <a:endParaRPr lang="en-US" sz="1800"/>
          </a:p>
          <a:p>
            <a:pPr lvl="2">
              <a:lnSpc>
                <a:spcPct val="85000"/>
              </a:lnSpc>
            </a:pPr>
            <a:r>
              <a:rPr lang="sl-SI" sz="1800"/>
              <a:t>Configuration can be complex when tuning various parameters and when design is complex</a:t>
            </a:r>
            <a:endParaRPr lang="en-GB" sz="1800"/>
          </a:p>
        </p:txBody>
      </p:sp>
      <p:sp>
        <p:nvSpPr>
          <p:cNvPr id="246789" name="Rectangle 5"/>
          <p:cNvSpPr>
            <a:spLocks noGrp="1" noChangeArrowheads="1"/>
          </p:cNvSpPr>
          <p:nvPr>
            <p:ph type="title"/>
          </p:nvPr>
        </p:nvSpPr>
        <p:spPr>
          <a:xfrm>
            <a:off x="381000" y="381000"/>
            <a:ext cx="8610600" cy="609600"/>
          </a:xfrm>
          <a:noFill/>
          <a:ln/>
        </p:spPr>
        <p:txBody>
          <a:bodyPr/>
          <a:lstStyle/>
          <a:p>
            <a:r>
              <a:rPr lang="en-GB" sz="3000"/>
              <a:t>Benefits and Drawbacks of Link-</a:t>
            </a:r>
            <a:r>
              <a:rPr lang="sl-SI" sz="3000"/>
              <a:t>S</a:t>
            </a:r>
            <a:r>
              <a:rPr lang="en-GB" sz="3000"/>
              <a:t>tate Routing</a:t>
            </a:r>
            <a:r>
              <a:rPr lang="en-GB"/>
              <a:t> </a:t>
            </a:r>
          </a:p>
        </p:txBody>
      </p:sp>
    </p:spTree>
    <p:extLst>
      <p:ext uri="{BB962C8B-B14F-4D97-AF65-F5344CB8AC3E}">
        <p14:creationId xmlns:p14="http://schemas.microsoft.com/office/powerpoint/2010/main" val="2069007390"/>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890" name="Rectangle 2"/>
          <p:cNvSpPr>
            <a:spLocks noGrp="1" noChangeArrowheads="1"/>
          </p:cNvSpPr>
          <p:nvPr>
            <p:ph type="title"/>
          </p:nvPr>
        </p:nvSpPr>
        <p:spPr/>
        <p:txBody>
          <a:bodyPr/>
          <a:lstStyle/>
          <a:p>
            <a:r>
              <a:rPr lang="en-US"/>
              <a:t>Selecting the Best Route Using Metrics</a:t>
            </a:r>
          </a:p>
        </p:txBody>
      </p:sp>
      <p:pic>
        <p:nvPicPr>
          <p:cNvPr id="293896" name="Picture 8" descr="327P_0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600200"/>
            <a:ext cx="8153400" cy="48609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1" name="Rectangle 3"/>
          <p:cNvSpPr>
            <a:spLocks noGrp="1" noChangeArrowheads="1"/>
          </p:cNvSpPr>
          <p:nvPr>
            <p:ph type="title"/>
          </p:nvPr>
        </p:nvSpPr>
        <p:spPr/>
        <p:txBody>
          <a:bodyPr/>
          <a:lstStyle/>
          <a:p>
            <a:r>
              <a:rPr lang="en-US"/>
              <a:t>Maintaining Routing Information</a:t>
            </a:r>
          </a:p>
        </p:txBody>
      </p:sp>
      <p:sp>
        <p:nvSpPr>
          <p:cNvPr id="201735" name="Rectangle 7"/>
          <p:cNvSpPr>
            <a:spLocks noChangeArrowheads="1"/>
          </p:cNvSpPr>
          <p:nvPr/>
        </p:nvSpPr>
        <p:spPr bwMode="auto">
          <a:xfrm>
            <a:off x="1690688" y="5884863"/>
            <a:ext cx="5761037"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nchorCtr="1">
            <a:spAutoFit/>
          </a:bodyPr>
          <a:lstStyle/>
          <a:p>
            <a:pPr marL="228600" indent="-228600" defTabSz="814388">
              <a:lnSpc>
                <a:spcPct val="95000"/>
              </a:lnSpc>
              <a:spcBef>
                <a:spcPct val="35000"/>
              </a:spcBef>
              <a:buClr>
                <a:schemeClr val="accent1"/>
              </a:buClr>
              <a:buSzPct val="100000"/>
              <a:buFont typeface="Wingdings" pitchFamily="2" charset="2"/>
              <a:buNone/>
            </a:pPr>
            <a:r>
              <a:rPr lang="en-US" sz="2000">
                <a:solidFill>
                  <a:srgbClr val="000000"/>
                </a:solidFill>
              </a:rPr>
              <a:t>Updates proceed step by step from router to router.</a:t>
            </a:r>
          </a:p>
        </p:txBody>
      </p:sp>
      <p:pic>
        <p:nvPicPr>
          <p:cNvPr id="201736" name="Picture 8" descr="327P_01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9163" y="1797050"/>
            <a:ext cx="7304087" cy="31559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83" name="Rectangle 7"/>
          <p:cNvSpPr>
            <a:spLocks noGrp="1" noChangeArrowheads="1"/>
          </p:cNvSpPr>
          <p:nvPr>
            <p:ph type="title"/>
          </p:nvPr>
        </p:nvSpPr>
        <p:spPr>
          <a:noFill/>
          <a:ln/>
        </p:spPr>
        <p:txBody>
          <a:bodyPr/>
          <a:lstStyle/>
          <a:p>
            <a:r>
              <a:rPr lang="en-US"/>
              <a:t>Inconsistent Routing Entries:</a:t>
            </a:r>
            <a:br>
              <a:rPr lang="en-US"/>
            </a:br>
            <a:r>
              <a:rPr lang="en-US"/>
              <a:t>Counting to Infinity and Routing Loops</a:t>
            </a:r>
          </a:p>
        </p:txBody>
      </p:sp>
      <p:pic>
        <p:nvPicPr>
          <p:cNvPr id="203784" name="Picture 8" descr="327P_0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717675"/>
            <a:ext cx="8299450" cy="3427413"/>
          </a:xfrm>
          <a:prstGeom prst="rect">
            <a:avLst/>
          </a:prstGeom>
          <a:noFill/>
          <a:extLst>
            <a:ext uri="{909E8E84-426E-40DD-AFC4-6F175D3DCCD1}">
              <a14:hiddenFill xmlns:a14="http://schemas.microsoft.com/office/drawing/2010/main">
                <a:solidFill>
                  <a:srgbClr val="FFFFFF"/>
                </a:solidFill>
              </a14:hiddenFill>
            </a:ext>
          </a:extLst>
        </p:spPr>
      </p:pic>
      <p:sp>
        <p:nvSpPr>
          <p:cNvPr id="203786" name="Rectangle 10"/>
          <p:cNvSpPr>
            <a:spLocks noChangeArrowheads="1"/>
          </p:cNvSpPr>
          <p:nvPr/>
        </p:nvSpPr>
        <p:spPr bwMode="auto">
          <a:xfrm>
            <a:off x="2047875" y="5607050"/>
            <a:ext cx="5048250" cy="51752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85000"/>
              </a:lnSpc>
              <a:spcBef>
                <a:spcPct val="35000"/>
              </a:spcBef>
              <a:buClr>
                <a:schemeClr val="accent1"/>
              </a:buClr>
              <a:buSzPct val="100000"/>
              <a:buFont typeface="Wingdings" pitchFamily="2" charset="2"/>
              <a:buNone/>
            </a:pPr>
            <a:r>
              <a:rPr lang="en-US" sz="2000">
                <a:solidFill>
                  <a:srgbClr val="000000"/>
                </a:solidFill>
              </a:rPr>
              <a:t>Each node maintains the distance from itself </a:t>
            </a:r>
            <a:br>
              <a:rPr lang="en-US" sz="2000">
                <a:solidFill>
                  <a:srgbClr val="000000"/>
                </a:solidFill>
              </a:rPr>
            </a:br>
            <a:r>
              <a:rPr lang="en-US" sz="2000">
                <a:solidFill>
                  <a:srgbClr val="000000"/>
                </a:solidFill>
              </a:rPr>
              <a:t>to each possible destination network.</a:t>
            </a: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7" name="Rectangle 3"/>
          <p:cNvSpPr>
            <a:spLocks noGrp="1" noChangeArrowheads="1"/>
          </p:cNvSpPr>
          <p:nvPr>
            <p:ph type="title"/>
          </p:nvPr>
        </p:nvSpPr>
        <p:spPr/>
        <p:txBody>
          <a:bodyPr/>
          <a:lstStyle/>
          <a:p>
            <a:r>
              <a:rPr lang="en-US"/>
              <a:t>Counting to Infinity</a:t>
            </a:r>
          </a:p>
        </p:txBody>
      </p:sp>
      <p:pic>
        <p:nvPicPr>
          <p:cNvPr id="205885" name="Picture 61" descr="327P_0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563" y="1716088"/>
            <a:ext cx="8272462" cy="3430587"/>
          </a:xfrm>
          <a:prstGeom prst="rect">
            <a:avLst/>
          </a:prstGeom>
          <a:noFill/>
          <a:extLst>
            <a:ext uri="{909E8E84-426E-40DD-AFC4-6F175D3DCCD1}">
              <a14:hiddenFill xmlns:a14="http://schemas.microsoft.com/office/drawing/2010/main">
                <a:solidFill>
                  <a:srgbClr val="FFFFFF"/>
                </a:solidFill>
              </a14:hiddenFill>
            </a:ext>
          </a:extLst>
        </p:spPr>
      </p:pic>
      <p:sp>
        <p:nvSpPr>
          <p:cNvPr id="205886" name="Rectangle 62"/>
          <p:cNvSpPr>
            <a:spLocks noChangeArrowheads="1"/>
          </p:cNvSpPr>
          <p:nvPr/>
        </p:nvSpPr>
        <p:spPr bwMode="auto">
          <a:xfrm>
            <a:off x="1812925" y="5791200"/>
            <a:ext cx="5518150" cy="28892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177800" indent="-177800" defTabSz="814388">
              <a:lnSpc>
                <a:spcPct val="95000"/>
              </a:lnSpc>
              <a:spcBef>
                <a:spcPct val="35000"/>
              </a:spcBef>
              <a:buClr>
                <a:schemeClr val="accent1"/>
              </a:buClr>
              <a:buSzPct val="100000"/>
            </a:pPr>
            <a:r>
              <a:rPr lang="en-US" sz="2000">
                <a:solidFill>
                  <a:srgbClr val="000000"/>
                </a:solidFill>
              </a:rPr>
              <a:t>Slow convergence produces inconsistent routing.</a:t>
            </a:r>
          </a:p>
        </p:txBody>
      </p:sp>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5" name="Rectangle 3"/>
          <p:cNvSpPr>
            <a:spLocks noGrp="1" noChangeArrowheads="1"/>
          </p:cNvSpPr>
          <p:nvPr>
            <p:ph type="title"/>
          </p:nvPr>
        </p:nvSpPr>
        <p:spPr/>
        <p:txBody>
          <a:bodyPr/>
          <a:lstStyle/>
          <a:p>
            <a:r>
              <a:rPr lang="en-US"/>
              <a:t>Counting to Infinity (Cont.)</a:t>
            </a:r>
          </a:p>
        </p:txBody>
      </p:sp>
      <p:pic>
        <p:nvPicPr>
          <p:cNvPr id="207878" name="Picture 6" descr="327P_0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717675"/>
            <a:ext cx="8299450" cy="3427413"/>
          </a:xfrm>
          <a:prstGeom prst="rect">
            <a:avLst/>
          </a:prstGeom>
          <a:noFill/>
          <a:extLst>
            <a:ext uri="{909E8E84-426E-40DD-AFC4-6F175D3DCCD1}">
              <a14:hiddenFill xmlns:a14="http://schemas.microsoft.com/office/drawing/2010/main">
                <a:solidFill>
                  <a:srgbClr val="FFFFFF"/>
                </a:solidFill>
              </a14:hiddenFill>
            </a:ext>
          </a:extLst>
        </p:spPr>
      </p:pic>
      <p:sp>
        <p:nvSpPr>
          <p:cNvPr id="207879" name="Rectangle 7"/>
          <p:cNvSpPr>
            <a:spLocks noChangeArrowheads="1"/>
          </p:cNvSpPr>
          <p:nvPr/>
        </p:nvSpPr>
        <p:spPr bwMode="auto">
          <a:xfrm>
            <a:off x="2266950" y="5638800"/>
            <a:ext cx="460851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95000"/>
              </a:lnSpc>
              <a:spcBef>
                <a:spcPct val="35000"/>
              </a:spcBef>
              <a:buClr>
                <a:schemeClr val="accent1"/>
              </a:buClr>
              <a:buSzPct val="100000"/>
              <a:buFont typeface="Arial" charset="0"/>
              <a:buNone/>
            </a:pPr>
            <a:r>
              <a:rPr lang="en-US" sz="2000"/>
              <a:t>Router C concludes that the best path to </a:t>
            </a:r>
            <a:br>
              <a:rPr lang="en-US" sz="2000"/>
            </a:br>
            <a:r>
              <a:rPr lang="en-US" sz="2000"/>
              <a:t>network 10.4.0.0 is through router B</a:t>
            </a:r>
            <a:r>
              <a:rPr lang="en-US" sz="1800"/>
              <a:t>.</a:t>
            </a:r>
          </a:p>
        </p:txBody>
      </p:sp>
    </p:spTree>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3" name="Rectangle 3"/>
          <p:cNvSpPr>
            <a:spLocks noGrp="1" noChangeArrowheads="1"/>
          </p:cNvSpPr>
          <p:nvPr>
            <p:ph type="title"/>
          </p:nvPr>
        </p:nvSpPr>
        <p:spPr/>
        <p:txBody>
          <a:bodyPr/>
          <a:lstStyle/>
          <a:p>
            <a:r>
              <a:rPr lang="en-US"/>
              <a:t>Counting to Infinity (Cont.)</a:t>
            </a:r>
          </a:p>
        </p:txBody>
      </p:sp>
      <p:pic>
        <p:nvPicPr>
          <p:cNvPr id="209926" name="Picture 6" descr="327P_0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717675"/>
            <a:ext cx="8299450" cy="3427413"/>
          </a:xfrm>
          <a:prstGeom prst="rect">
            <a:avLst/>
          </a:prstGeom>
          <a:noFill/>
          <a:extLst>
            <a:ext uri="{909E8E84-426E-40DD-AFC4-6F175D3DCCD1}">
              <a14:hiddenFill xmlns:a14="http://schemas.microsoft.com/office/drawing/2010/main">
                <a:solidFill>
                  <a:srgbClr val="FFFFFF"/>
                </a:solidFill>
              </a14:hiddenFill>
            </a:ext>
          </a:extLst>
        </p:spPr>
      </p:pic>
      <p:sp>
        <p:nvSpPr>
          <p:cNvPr id="209927" name="Rectangle 7"/>
          <p:cNvSpPr>
            <a:spLocks noChangeArrowheads="1"/>
          </p:cNvSpPr>
          <p:nvPr/>
        </p:nvSpPr>
        <p:spPr bwMode="auto">
          <a:xfrm>
            <a:off x="2555875" y="5638800"/>
            <a:ext cx="4030663" cy="57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95000"/>
              </a:lnSpc>
              <a:spcBef>
                <a:spcPct val="35000"/>
              </a:spcBef>
              <a:buClr>
                <a:schemeClr val="accent1"/>
              </a:buClr>
              <a:buSzPct val="100000"/>
              <a:buFont typeface="Arial" charset="0"/>
              <a:buNone/>
            </a:pPr>
            <a:r>
              <a:rPr lang="en-US" sz="2000"/>
              <a:t>Router A updates its table to reflect </a:t>
            </a:r>
            <a:br>
              <a:rPr lang="en-US" sz="2000"/>
            </a:br>
            <a:r>
              <a:rPr lang="en-US" sz="2000"/>
              <a:t>the new but erroneous hop count.</a:t>
            </a:r>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71" name="Rectangle 3"/>
          <p:cNvSpPr>
            <a:spLocks noGrp="1" noChangeArrowheads="1"/>
          </p:cNvSpPr>
          <p:nvPr>
            <p:ph type="title"/>
          </p:nvPr>
        </p:nvSpPr>
        <p:spPr/>
        <p:txBody>
          <a:bodyPr/>
          <a:lstStyle/>
          <a:p>
            <a:r>
              <a:rPr lang="en-US"/>
              <a:t>Counting to Infinity (Cont.)</a:t>
            </a:r>
          </a:p>
        </p:txBody>
      </p:sp>
      <p:pic>
        <p:nvPicPr>
          <p:cNvPr id="211975" name="Picture 7" descr="327P_02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7038" y="1719263"/>
            <a:ext cx="8291512" cy="3424237"/>
          </a:xfrm>
          <a:prstGeom prst="rect">
            <a:avLst/>
          </a:prstGeom>
          <a:noFill/>
          <a:extLst>
            <a:ext uri="{909E8E84-426E-40DD-AFC4-6F175D3DCCD1}">
              <a14:hiddenFill xmlns:a14="http://schemas.microsoft.com/office/drawing/2010/main">
                <a:solidFill>
                  <a:srgbClr val="FFFFFF"/>
                </a:solidFill>
              </a14:hiddenFill>
            </a:ext>
          </a:extLst>
        </p:spPr>
      </p:pic>
      <p:sp>
        <p:nvSpPr>
          <p:cNvPr id="211977" name="Rectangle 9"/>
          <p:cNvSpPr>
            <a:spLocks noChangeArrowheads="1"/>
          </p:cNvSpPr>
          <p:nvPr/>
        </p:nvSpPr>
        <p:spPr bwMode="auto">
          <a:xfrm>
            <a:off x="1625600" y="5638800"/>
            <a:ext cx="5891213" cy="28892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228600" indent="-228600" defTabSz="814388">
              <a:lnSpc>
                <a:spcPct val="95000"/>
              </a:lnSpc>
              <a:spcBef>
                <a:spcPct val="35000"/>
              </a:spcBef>
              <a:buClr>
                <a:schemeClr val="accent1"/>
              </a:buClr>
              <a:buSzPct val="100000"/>
              <a:buFont typeface="Arial" charset="0"/>
              <a:buNone/>
            </a:pPr>
            <a:r>
              <a:rPr lang="en-US" sz="2000">
                <a:solidFill>
                  <a:srgbClr val="000000"/>
                </a:solidFill>
              </a:rPr>
              <a:t>The hop count for network 10.4.0.0 counts to infinity.</a:t>
            </a:r>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23" name="Rectangle 7"/>
          <p:cNvSpPr>
            <a:spLocks noGrp="1" noChangeArrowheads="1"/>
          </p:cNvSpPr>
          <p:nvPr>
            <p:ph type="title"/>
          </p:nvPr>
        </p:nvSpPr>
        <p:spPr>
          <a:noFill/>
          <a:ln/>
        </p:spPr>
        <p:txBody>
          <a:bodyPr/>
          <a:lstStyle/>
          <a:p>
            <a:r>
              <a:rPr lang="en-US"/>
              <a:t>Solution to Counting to Infinity:</a:t>
            </a:r>
            <a:br>
              <a:rPr lang="en-US"/>
            </a:br>
            <a:r>
              <a:rPr lang="en-US"/>
              <a:t>Defining a Maximum</a:t>
            </a:r>
          </a:p>
        </p:txBody>
      </p:sp>
      <p:pic>
        <p:nvPicPr>
          <p:cNvPr id="214024" name="Picture 8" descr="327P_02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717675"/>
            <a:ext cx="8299450" cy="3427413"/>
          </a:xfrm>
          <a:prstGeom prst="rect">
            <a:avLst/>
          </a:prstGeom>
          <a:noFill/>
          <a:extLst>
            <a:ext uri="{909E8E84-426E-40DD-AFC4-6F175D3DCCD1}">
              <a14:hiddenFill xmlns:a14="http://schemas.microsoft.com/office/drawing/2010/main">
                <a:solidFill>
                  <a:srgbClr val="FFFFFF"/>
                </a:solidFill>
              </a14:hiddenFill>
            </a:ext>
          </a:extLst>
        </p:spPr>
      </p:pic>
      <p:sp>
        <p:nvSpPr>
          <p:cNvPr id="214026" name="Rectangle 10"/>
          <p:cNvSpPr>
            <a:spLocks noChangeArrowheads="1"/>
          </p:cNvSpPr>
          <p:nvPr/>
        </p:nvSpPr>
        <p:spPr bwMode="auto">
          <a:xfrm>
            <a:off x="1216025" y="5791200"/>
            <a:ext cx="6710363" cy="258763"/>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177800" indent="-177800" defTabSz="814388">
              <a:lnSpc>
                <a:spcPct val="85000"/>
              </a:lnSpc>
              <a:spcBef>
                <a:spcPct val="35000"/>
              </a:spcBef>
              <a:buClr>
                <a:schemeClr val="accent1"/>
              </a:buClr>
              <a:buSzPct val="100000"/>
            </a:pPr>
            <a:r>
              <a:rPr lang="en-US" sz="2000">
                <a:solidFill>
                  <a:srgbClr val="000000"/>
                </a:solidFill>
              </a:rPr>
              <a:t>A limit is set on the number of hops to prevent infinite loops.</a:t>
            </a: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7" name="Rectangle 3"/>
          <p:cNvSpPr>
            <a:spLocks noGrp="1" noChangeArrowheads="1"/>
          </p:cNvSpPr>
          <p:nvPr>
            <p:ph type="title"/>
          </p:nvPr>
        </p:nvSpPr>
        <p:spPr/>
        <p:txBody>
          <a:bodyPr/>
          <a:lstStyle/>
          <a:p>
            <a:r>
              <a:rPr lang="en-US"/>
              <a:t>Routing Loops</a:t>
            </a:r>
          </a:p>
        </p:txBody>
      </p:sp>
      <p:pic>
        <p:nvPicPr>
          <p:cNvPr id="216070" name="Picture 6" descr="327P_0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275" y="1412875"/>
            <a:ext cx="8299450" cy="3844925"/>
          </a:xfrm>
          <a:prstGeom prst="rect">
            <a:avLst/>
          </a:prstGeom>
          <a:noFill/>
          <a:extLst>
            <a:ext uri="{909E8E84-426E-40DD-AFC4-6F175D3DCCD1}">
              <a14:hiddenFill xmlns:a14="http://schemas.microsoft.com/office/drawing/2010/main">
                <a:solidFill>
                  <a:srgbClr val="FFFFFF"/>
                </a:solidFill>
              </a14:hiddenFill>
            </a:ext>
          </a:extLst>
        </p:spPr>
      </p:pic>
      <p:sp>
        <p:nvSpPr>
          <p:cNvPr id="216071" name="Rectangle 7"/>
          <p:cNvSpPr>
            <a:spLocks noChangeArrowheads="1"/>
          </p:cNvSpPr>
          <p:nvPr/>
        </p:nvSpPr>
        <p:spPr bwMode="auto">
          <a:xfrm>
            <a:off x="2478088" y="5710238"/>
            <a:ext cx="4186237"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85000"/>
              </a:lnSpc>
              <a:spcBef>
                <a:spcPct val="35000"/>
              </a:spcBef>
              <a:buClr>
                <a:schemeClr val="accent1"/>
              </a:buClr>
              <a:buSzPct val="100000"/>
              <a:buFont typeface="Arial" charset="0"/>
              <a:buNone/>
            </a:pPr>
            <a:r>
              <a:rPr lang="en-US" sz="2000"/>
              <a:t>Packets for network 10.4.0.0 bounce </a:t>
            </a:r>
            <a:br>
              <a:rPr lang="en-US" sz="2000"/>
            </a:br>
            <a:r>
              <a:rPr lang="en-US" sz="2000"/>
              <a:t>(loop) between routers B and C.</a:t>
            </a:r>
          </a:p>
        </p:txBody>
      </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9" name="Rectangle 7"/>
          <p:cNvSpPr>
            <a:spLocks noGrp="1" noChangeArrowheads="1"/>
          </p:cNvSpPr>
          <p:nvPr>
            <p:ph type="title"/>
          </p:nvPr>
        </p:nvSpPr>
        <p:spPr>
          <a:noFill/>
          <a:ln/>
        </p:spPr>
        <p:txBody>
          <a:bodyPr/>
          <a:lstStyle/>
          <a:p>
            <a:r>
              <a:rPr lang="en-US"/>
              <a:t>Solution to Routing Loops: Split Horizon</a:t>
            </a:r>
          </a:p>
        </p:txBody>
      </p:sp>
      <p:pic>
        <p:nvPicPr>
          <p:cNvPr id="218120" name="Picture 8" descr="327P_02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0988" y="1662113"/>
            <a:ext cx="8583612" cy="3538537"/>
          </a:xfrm>
          <a:prstGeom prst="rect">
            <a:avLst/>
          </a:prstGeom>
          <a:noFill/>
          <a:extLst>
            <a:ext uri="{909E8E84-426E-40DD-AFC4-6F175D3DCCD1}">
              <a14:hiddenFill xmlns:a14="http://schemas.microsoft.com/office/drawing/2010/main">
                <a:solidFill>
                  <a:srgbClr val="FFFFFF"/>
                </a:solidFill>
              </a14:hiddenFill>
            </a:ext>
          </a:extLst>
        </p:spPr>
      </p:pic>
      <p:sp>
        <p:nvSpPr>
          <p:cNvPr id="218122" name="Rectangle 10"/>
          <p:cNvSpPr>
            <a:spLocks noChangeArrowheads="1"/>
          </p:cNvSpPr>
          <p:nvPr/>
        </p:nvSpPr>
        <p:spPr bwMode="auto">
          <a:xfrm>
            <a:off x="1398588" y="5737225"/>
            <a:ext cx="6346825" cy="51752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85000"/>
              </a:lnSpc>
              <a:spcBef>
                <a:spcPct val="35000"/>
              </a:spcBef>
              <a:buClr>
                <a:schemeClr val="accent1"/>
              </a:buClr>
              <a:buSzPct val="100000"/>
            </a:pPr>
            <a:r>
              <a:rPr lang="en-US" sz="2000">
                <a:solidFill>
                  <a:srgbClr val="000000"/>
                </a:solidFill>
              </a:rPr>
              <a:t>It is never useful to send information about a route back </a:t>
            </a:r>
            <a:br>
              <a:rPr lang="en-US" sz="2000">
                <a:solidFill>
                  <a:srgbClr val="000000"/>
                </a:solidFill>
              </a:rPr>
            </a:br>
            <a:r>
              <a:rPr lang="en-US" sz="2000">
                <a:solidFill>
                  <a:srgbClr val="000000"/>
                </a:solidFill>
              </a:rPr>
              <a:t>in the direction from which the original information came.</a:t>
            </a:r>
          </a:p>
        </p:txBody>
      </p:sp>
    </p:spTree>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70" name="Rectangle 10"/>
          <p:cNvSpPr>
            <a:spLocks noGrp="1" noChangeArrowheads="1"/>
          </p:cNvSpPr>
          <p:nvPr>
            <p:ph type="title"/>
          </p:nvPr>
        </p:nvSpPr>
        <p:spPr>
          <a:noFill/>
          <a:ln/>
        </p:spPr>
        <p:txBody>
          <a:bodyPr/>
          <a:lstStyle/>
          <a:p>
            <a:r>
              <a:rPr lang="en-US"/>
              <a:t>Solution to Routing Loops:</a:t>
            </a:r>
            <a:br>
              <a:rPr lang="en-US"/>
            </a:br>
            <a:r>
              <a:rPr lang="en-US"/>
              <a:t>Route Poisoning and Poison Reverse</a:t>
            </a:r>
          </a:p>
        </p:txBody>
      </p:sp>
      <p:sp>
        <p:nvSpPr>
          <p:cNvPr id="220174" name="Rectangle 14"/>
          <p:cNvSpPr>
            <a:spLocks noChangeArrowheads="1"/>
          </p:cNvSpPr>
          <p:nvPr/>
        </p:nvSpPr>
        <p:spPr bwMode="auto">
          <a:xfrm>
            <a:off x="2295525" y="5667375"/>
            <a:ext cx="4552950" cy="51752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85000"/>
              </a:lnSpc>
              <a:spcBef>
                <a:spcPct val="35000"/>
              </a:spcBef>
              <a:buClr>
                <a:schemeClr val="accent1"/>
              </a:buClr>
              <a:buSzPct val="100000"/>
            </a:pPr>
            <a:r>
              <a:rPr lang="en-US" sz="2000">
                <a:solidFill>
                  <a:srgbClr val="000000"/>
                </a:solidFill>
              </a:rPr>
              <a:t>Routers advertise the distance of routes </a:t>
            </a:r>
            <a:br>
              <a:rPr lang="en-US" sz="2000">
                <a:solidFill>
                  <a:srgbClr val="000000"/>
                </a:solidFill>
              </a:rPr>
            </a:br>
            <a:r>
              <a:rPr lang="en-US" sz="2000">
                <a:solidFill>
                  <a:srgbClr val="000000"/>
                </a:solidFill>
              </a:rPr>
              <a:t>that have gone down to infinity.</a:t>
            </a:r>
          </a:p>
        </p:txBody>
      </p:sp>
      <p:pic>
        <p:nvPicPr>
          <p:cNvPr id="220175" name="Picture 15" descr="327P_02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3" y="1558925"/>
            <a:ext cx="8601075" cy="35464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15" name="Rectangle 7"/>
          <p:cNvSpPr>
            <a:spLocks noGrp="1" noChangeArrowheads="1"/>
          </p:cNvSpPr>
          <p:nvPr>
            <p:ph type="title"/>
          </p:nvPr>
        </p:nvSpPr>
        <p:spPr>
          <a:noFill/>
          <a:ln/>
        </p:spPr>
        <p:txBody>
          <a:bodyPr/>
          <a:lstStyle/>
          <a:p>
            <a:r>
              <a:rPr lang="en-US" sz="2900"/>
              <a:t>Solution to Routing Loops:</a:t>
            </a:r>
            <a:br>
              <a:rPr lang="en-US" sz="2900"/>
            </a:br>
            <a:r>
              <a:rPr lang="en-US" sz="2900"/>
              <a:t>Route Poisoning and Poison Reverse (Cont.)</a:t>
            </a:r>
          </a:p>
        </p:txBody>
      </p:sp>
      <p:pic>
        <p:nvPicPr>
          <p:cNvPr id="222216" name="Picture 8" descr="327P_02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1463" y="1657350"/>
            <a:ext cx="8601075" cy="3546475"/>
          </a:xfrm>
          <a:prstGeom prst="rect">
            <a:avLst/>
          </a:prstGeom>
          <a:noFill/>
          <a:extLst>
            <a:ext uri="{909E8E84-426E-40DD-AFC4-6F175D3DCCD1}">
              <a14:hiddenFill xmlns:a14="http://schemas.microsoft.com/office/drawing/2010/main">
                <a:solidFill>
                  <a:srgbClr val="FFFFFF"/>
                </a:solidFill>
              </a14:hiddenFill>
            </a:ext>
          </a:extLst>
        </p:spPr>
      </p:pic>
      <p:sp>
        <p:nvSpPr>
          <p:cNvPr id="222218" name="Rectangle 10"/>
          <p:cNvSpPr>
            <a:spLocks noChangeArrowheads="1"/>
          </p:cNvSpPr>
          <p:nvPr/>
        </p:nvSpPr>
        <p:spPr bwMode="auto">
          <a:xfrm>
            <a:off x="2419350" y="5730875"/>
            <a:ext cx="4303713" cy="288925"/>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marL="177800" indent="-177800" defTabSz="814388">
              <a:lnSpc>
                <a:spcPct val="95000"/>
              </a:lnSpc>
              <a:spcBef>
                <a:spcPct val="35000"/>
              </a:spcBef>
              <a:buClr>
                <a:schemeClr val="accent1"/>
              </a:buClr>
              <a:buSzPct val="100000"/>
            </a:pPr>
            <a:r>
              <a:rPr lang="en-US" sz="2000">
                <a:solidFill>
                  <a:srgbClr val="000000"/>
                </a:solidFill>
              </a:rPr>
              <a:t>Poison reverse overrides split horizon.</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63" name="Rectangle 7"/>
          <p:cNvSpPr>
            <a:spLocks noGrp="1" noChangeArrowheads="1"/>
          </p:cNvSpPr>
          <p:nvPr>
            <p:ph type="title"/>
          </p:nvPr>
        </p:nvSpPr>
        <p:spPr>
          <a:noFill/>
          <a:ln/>
        </p:spPr>
        <p:txBody>
          <a:bodyPr/>
          <a:lstStyle/>
          <a:p>
            <a:r>
              <a:rPr lang="en-US"/>
              <a:t>Solution to Routing Loops: </a:t>
            </a:r>
            <a:br>
              <a:rPr lang="en-US"/>
            </a:br>
            <a:r>
              <a:rPr lang="en-US"/>
              <a:t>Hold-Down Timers</a:t>
            </a:r>
          </a:p>
        </p:txBody>
      </p:sp>
      <p:sp>
        <p:nvSpPr>
          <p:cNvPr id="224266" name="Rectangle 10"/>
          <p:cNvSpPr>
            <a:spLocks noChangeArrowheads="1"/>
          </p:cNvSpPr>
          <p:nvPr/>
        </p:nvSpPr>
        <p:spPr bwMode="auto">
          <a:xfrm>
            <a:off x="604838" y="5213350"/>
            <a:ext cx="7934325" cy="577850"/>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95000"/>
              </a:lnSpc>
              <a:spcBef>
                <a:spcPct val="35000"/>
              </a:spcBef>
              <a:buClr>
                <a:schemeClr val="accent1"/>
              </a:buClr>
              <a:buSzPct val="100000"/>
            </a:pPr>
            <a:r>
              <a:rPr lang="en-US" sz="2000">
                <a:solidFill>
                  <a:srgbClr val="000000"/>
                </a:solidFill>
              </a:rPr>
              <a:t>The router keeps an entry for the “possibly down”</a:t>
            </a:r>
            <a:r>
              <a:rPr lang="en-US" sz="2000" i="1">
                <a:solidFill>
                  <a:srgbClr val="000000"/>
                </a:solidFill>
              </a:rPr>
              <a:t> </a:t>
            </a:r>
            <a:r>
              <a:rPr lang="en-US" sz="2000">
                <a:solidFill>
                  <a:srgbClr val="000000"/>
                </a:solidFill>
              </a:rPr>
              <a:t>state in the network, </a:t>
            </a:r>
            <a:br>
              <a:rPr lang="en-US" sz="2000">
                <a:solidFill>
                  <a:srgbClr val="000000"/>
                </a:solidFill>
              </a:rPr>
            </a:br>
            <a:r>
              <a:rPr lang="en-US" sz="2000">
                <a:solidFill>
                  <a:srgbClr val="000000"/>
                </a:solidFill>
              </a:rPr>
              <a:t>allowing time for other routers to recompute for this topology change.</a:t>
            </a:r>
          </a:p>
        </p:txBody>
      </p:sp>
      <p:pic>
        <p:nvPicPr>
          <p:cNvPr id="224267" name="Picture 11" descr="327P_02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 y="1981200"/>
            <a:ext cx="8135938" cy="2495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7" name="Rectangle 3"/>
          <p:cNvSpPr>
            <a:spLocks noGrp="1" noChangeArrowheads="1"/>
          </p:cNvSpPr>
          <p:nvPr>
            <p:ph type="title"/>
          </p:nvPr>
        </p:nvSpPr>
        <p:spPr/>
        <p:txBody>
          <a:bodyPr/>
          <a:lstStyle/>
          <a:p>
            <a:r>
              <a:rPr lang="en-US"/>
              <a:t>Triggered Updates</a:t>
            </a:r>
          </a:p>
        </p:txBody>
      </p:sp>
      <p:sp>
        <p:nvSpPr>
          <p:cNvPr id="226312" name="Rectangle 8"/>
          <p:cNvSpPr>
            <a:spLocks noChangeArrowheads="1"/>
          </p:cNvSpPr>
          <p:nvPr/>
        </p:nvSpPr>
        <p:spPr bwMode="auto">
          <a:xfrm>
            <a:off x="757238" y="4999038"/>
            <a:ext cx="7629525" cy="258762"/>
          </a:xfrm>
          <a:prstGeom prst="rect">
            <a:avLst/>
          </a:prstGeom>
          <a:noFill/>
          <a:ln>
            <a:noFill/>
          </a:ln>
          <a:effectLst/>
          <a:extLst>
            <a:ext uri="{909E8E84-426E-40DD-AFC4-6F175D3DCCD1}">
              <a14:hiddenFill xmlns:a14="http://schemas.microsoft.com/office/drawing/2010/main">
                <a:solidFill>
                  <a:srgbClr val="306774"/>
                </a:soli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814388">
              <a:lnSpc>
                <a:spcPct val="85000"/>
              </a:lnSpc>
              <a:spcBef>
                <a:spcPct val="35000"/>
              </a:spcBef>
              <a:buClr>
                <a:schemeClr val="accent1"/>
              </a:buClr>
              <a:buSzPct val="100000"/>
            </a:pPr>
            <a:r>
              <a:rPr lang="en-US" sz="2000">
                <a:solidFill>
                  <a:srgbClr val="000000"/>
                </a:solidFill>
              </a:rPr>
              <a:t>The router sends updates when a change in its routing table occurs.</a:t>
            </a:r>
          </a:p>
        </p:txBody>
      </p:sp>
      <p:pic>
        <p:nvPicPr>
          <p:cNvPr id="226313" name="Picture 9" descr="327P_0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2133600"/>
            <a:ext cx="8126412" cy="16541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2" name="Rectangle 2"/>
          <p:cNvSpPr>
            <a:spLocks noGrp="1" noChangeArrowheads="1"/>
          </p:cNvSpPr>
          <p:nvPr>
            <p:ph type="title"/>
          </p:nvPr>
        </p:nvSpPr>
        <p:spPr/>
        <p:txBody>
          <a:bodyPr/>
          <a:lstStyle/>
          <a:p>
            <a:r>
              <a:rPr lang="en-US"/>
              <a:t>Eliminating Routing Loops</a:t>
            </a:r>
          </a:p>
        </p:txBody>
      </p:sp>
      <p:sp>
        <p:nvSpPr>
          <p:cNvPr id="230404" name="Line 4"/>
          <p:cNvSpPr>
            <a:spLocks noChangeShapeType="1"/>
          </p:cNvSpPr>
          <p:nvPr/>
        </p:nvSpPr>
        <p:spPr bwMode="auto">
          <a:xfrm flipH="1" flipV="1">
            <a:off x="4876800" y="2971800"/>
            <a:ext cx="457200" cy="457200"/>
          </a:xfrm>
          <a:prstGeom prst="line">
            <a:avLst/>
          </a:prstGeom>
          <a:noFill/>
          <a:ln w="476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82124" tIns="41061" rIns="82124" bIns="41061"/>
          <a:lstStyle/>
          <a:p>
            <a:endParaRPr lang="en-US"/>
          </a:p>
        </p:txBody>
      </p:sp>
      <p:sp>
        <p:nvSpPr>
          <p:cNvPr id="230405" name="Line 5"/>
          <p:cNvSpPr>
            <a:spLocks noChangeShapeType="1"/>
          </p:cNvSpPr>
          <p:nvPr/>
        </p:nvSpPr>
        <p:spPr bwMode="auto">
          <a:xfrm flipH="1">
            <a:off x="4800600" y="4572000"/>
            <a:ext cx="457200" cy="533400"/>
          </a:xfrm>
          <a:prstGeom prst="line">
            <a:avLst/>
          </a:prstGeom>
          <a:noFill/>
          <a:ln w="476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2700000" algn="ctr" rotWithShape="0">
                    <a:schemeClr val="bg2"/>
                  </a:outerShdw>
                </a:effectLst>
              </a14:hiddenEffects>
            </a:ext>
          </a:extLst>
        </p:spPr>
        <p:txBody>
          <a:bodyPr lIns="82124" tIns="41061" rIns="82124" bIns="41061"/>
          <a:lstStyle/>
          <a:p>
            <a:endParaRPr lang="en-US"/>
          </a:p>
        </p:txBody>
      </p:sp>
      <p:pic>
        <p:nvPicPr>
          <p:cNvPr id="230407" name="Picture 7" descr="327P_0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63" y="2032000"/>
            <a:ext cx="8245475" cy="3683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8" name="Rectangle 2"/>
          <p:cNvSpPr>
            <a:spLocks noGrp="1" noChangeArrowheads="1"/>
          </p:cNvSpPr>
          <p:nvPr>
            <p:ph type="title"/>
          </p:nvPr>
        </p:nvSpPr>
        <p:spPr/>
        <p:txBody>
          <a:bodyPr/>
          <a:lstStyle/>
          <a:p>
            <a:r>
              <a:rPr lang="en-US"/>
              <a:t>Eliminating Routing Loops (Cont.)</a:t>
            </a:r>
          </a:p>
        </p:txBody>
      </p:sp>
      <p:pic>
        <p:nvPicPr>
          <p:cNvPr id="234503" name="Picture 7" descr="327P_02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263" y="2032000"/>
            <a:ext cx="8245475" cy="3683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Rectangle 2"/>
          <p:cNvSpPr>
            <a:spLocks noGrp="1" noChangeArrowheads="1"/>
          </p:cNvSpPr>
          <p:nvPr>
            <p:ph type="title"/>
          </p:nvPr>
        </p:nvSpPr>
        <p:spPr/>
        <p:txBody>
          <a:bodyPr/>
          <a:lstStyle/>
          <a:p>
            <a:r>
              <a:rPr lang="en-US"/>
              <a:t>Eliminating Routing Loops (Cont.)</a:t>
            </a:r>
          </a:p>
        </p:txBody>
      </p:sp>
      <p:pic>
        <p:nvPicPr>
          <p:cNvPr id="236549" name="Picture 5" descr="327P_03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057400"/>
            <a:ext cx="7467600" cy="36830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7" name="Rectangle 3"/>
          <p:cNvSpPr>
            <a:spLocks noGrp="1" noChangeArrowheads="1"/>
          </p:cNvSpPr>
          <p:nvPr>
            <p:ph type="body" idx="1"/>
          </p:nvPr>
        </p:nvSpPr>
        <p:spPr>
          <a:xfrm>
            <a:off x="609600" y="1295400"/>
            <a:ext cx="7986713" cy="5105400"/>
          </a:xfrm>
        </p:spPr>
        <p:txBody>
          <a:bodyPr/>
          <a:lstStyle/>
          <a:p>
            <a:pPr lvl="1">
              <a:lnSpc>
                <a:spcPct val="85000"/>
              </a:lnSpc>
            </a:pPr>
            <a:r>
              <a:rPr lang="en-GB" sz="2200"/>
              <a:t>Benefits of link-state routing:</a:t>
            </a:r>
          </a:p>
          <a:p>
            <a:pPr lvl="2">
              <a:lnSpc>
                <a:spcPct val="85000"/>
              </a:lnSpc>
            </a:pPr>
            <a:r>
              <a:rPr lang="en-GB" sz="1800"/>
              <a:t>Fast convergence</a:t>
            </a:r>
            <a:r>
              <a:rPr lang="en-US" sz="1800"/>
              <a:t>: </a:t>
            </a:r>
          </a:p>
          <a:p>
            <a:pPr lvl="3">
              <a:lnSpc>
                <a:spcPct val="85000"/>
              </a:lnSpc>
            </a:pPr>
            <a:r>
              <a:rPr lang="en-GB" sz="1800"/>
              <a:t>Changes are reported immediately by the affected source</a:t>
            </a:r>
          </a:p>
          <a:p>
            <a:pPr lvl="2">
              <a:lnSpc>
                <a:spcPct val="85000"/>
              </a:lnSpc>
            </a:pPr>
            <a:r>
              <a:rPr lang="en-GB" sz="1800"/>
              <a:t>Robustness against routing loops:</a:t>
            </a:r>
          </a:p>
          <a:p>
            <a:pPr lvl="3">
              <a:lnSpc>
                <a:spcPct val="85000"/>
              </a:lnSpc>
            </a:pPr>
            <a:r>
              <a:rPr lang="en-GB" sz="1800"/>
              <a:t>Routers know the topology</a:t>
            </a:r>
          </a:p>
          <a:p>
            <a:pPr lvl="3">
              <a:lnSpc>
                <a:spcPct val="85000"/>
              </a:lnSpc>
            </a:pPr>
            <a:r>
              <a:rPr lang="en-GB" sz="1800"/>
              <a:t>Link-state</a:t>
            </a:r>
            <a:r>
              <a:rPr lang="sl-SI" sz="1800"/>
              <a:t> packets</a:t>
            </a:r>
            <a:r>
              <a:rPr lang="en-GB" sz="1800"/>
              <a:t> </a:t>
            </a:r>
            <a:r>
              <a:rPr lang="en-US" sz="1800"/>
              <a:t>are sequenced</a:t>
            </a:r>
            <a:r>
              <a:rPr lang="en-GB" sz="1800"/>
              <a:t> and acknowledged</a:t>
            </a:r>
          </a:p>
          <a:p>
            <a:pPr lvl="2">
              <a:lnSpc>
                <a:spcPct val="85000"/>
              </a:lnSpc>
            </a:pPr>
            <a:r>
              <a:rPr lang="en-GB" sz="1800"/>
              <a:t>Hierarchical network design</a:t>
            </a:r>
            <a:r>
              <a:rPr lang="en-US" sz="1800"/>
              <a:t> enables optimization of</a:t>
            </a:r>
            <a:r>
              <a:rPr lang="en-GB" sz="1800"/>
              <a:t> resources.</a:t>
            </a:r>
          </a:p>
          <a:p>
            <a:pPr lvl="1">
              <a:lnSpc>
                <a:spcPct val="85000"/>
              </a:lnSpc>
              <a:buFont typeface="Wingdings" pitchFamily="2" charset="2"/>
              <a:buNone/>
            </a:pPr>
            <a:endParaRPr lang="en-GB" sz="1800"/>
          </a:p>
          <a:p>
            <a:pPr lvl="1">
              <a:lnSpc>
                <a:spcPct val="85000"/>
              </a:lnSpc>
            </a:pPr>
            <a:r>
              <a:rPr lang="en-GB" sz="2200"/>
              <a:t>Drawbacks of link-state routing:</a:t>
            </a:r>
          </a:p>
          <a:p>
            <a:pPr lvl="2">
              <a:lnSpc>
                <a:spcPct val="85000"/>
              </a:lnSpc>
            </a:pPr>
            <a:r>
              <a:rPr lang="en-GB" sz="1800"/>
              <a:t>Significant demands for resources:</a:t>
            </a:r>
          </a:p>
          <a:p>
            <a:pPr lvl="3">
              <a:lnSpc>
                <a:spcPct val="85000"/>
              </a:lnSpc>
            </a:pPr>
            <a:r>
              <a:rPr lang="en-GB" sz="1600"/>
              <a:t>Memory (three tables: adjacency, topology, forwarding)</a:t>
            </a:r>
          </a:p>
          <a:p>
            <a:pPr lvl="3">
              <a:lnSpc>
                <a:spcPct val="85000"/>
              </a:lnSpc>
            </a:pPr>
            <a:r>
              <a:rPr lang="en-GB" sz="1600"/>
              <a:t>CPU (Dijkstra’s algorithm </a:t>
            </a:r>
            <a:r>
              <a:rPr lang="sl-SI" sz="1600"/>
              <a:t>can be</a:t>
            </a:r>
            <a:r>
              <a:rPr lang="en-GB" sz="1600"/>
              <a:t> intensive, especially when there are </a:t>
            </a:r>
            <a:r>
              <a:rPr lang="en-US" sz="1600"/>
              <a:t>many</a:t>
            </a:r>
            <a:r>
              <a:rPr lang="sl-SI" sz="1600"/>
              <a:t> </a:t>
            </a:r>
            <a:r>
              <a:rPr lang="en-GB" sz="1600"/>
              <a:t>instabilities)</a:t>
            </a:r>
          </a:p>
          <a:p>
            <a:pPr lvl="2">
              <a:lnSpc>
                <a:spcPct val="85000"/>
              </a:lnSpc>
            </a:pPr>
            <a:r>
              <a:rPr lang="en-GB" sz="1800"/>
              <a:t>Requires very strict network design </a:t>
            </a:r>
            <a:endParaRPr lang="en-US" sz="1800"/>
          </a:p>
          <a:p>
            <a:pPr lvl="2">
              <a:lnSpc>
                <a:spcPct val="85000"/>
              </a:lnSpc>
            </a:pPr>
            <a:r>
              <a:rPr lang="sl-SI" sz="1800"/>
              <a:t>Configuration can be complex when tuning various parameters and when design is complex</a:t>
            </a:r>
            <a:endParaRPr lang="en-GB" sz="1800"/>
          </a:p>
        </p:txBody>
      </p:sp>
      <p:sp>
        <p:nvSpPr>
          <p:cNvPr id="246789" name="Rectangle 5"/>
          <p:cNvSpPr>
            <a:spLocks noGrp="1" noChangeArrowheads="1"/>
          </p:cNvSpPr>
          <p:nvPr>
            <p:ph type="title"/>
          </p:nvPr>
        </p:nvSpPr>
        <p:spPr>
          <a:xfrm>
            <a:off x="381000" y="381000"/>
            <a:ext cx="8610600" cy="609600"/>
          </a:xfrm>
          <a:noFill/>
          <a:ln/>
        </p:spPr>
        <p:txBody>
          <a:bodyPr/>
          <a:lstStyle/>
          <a:p>
            <a:r>
              <a:rPr lang="en-GB" sz="3000"/>
              <a:t>Benefits and Drawbacks of Link-</a:t>
            </a:r>
            <a:r>
              <a:rPr lang="sl-SI" sz="3000"/>
              <a:t>S</a:t>
            </a:r>
            <a:r>
              <a:rPr lang="en-GB" sz="3000"/>
              <a:t>tate Routing</a:t>
            </a:r>
            <a:r>
              <a:rPr lang="en-GB"/>
              <a:t> </a:t>
            </a:r>
          </a:p>
        </p:txBody>
      </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t>Summary</a:t>
            </a:r>
          </a:p>
        </p:txBody>
      </p:sp>
      <p:sp>
        <p:nvSpPr>
          <p:cNvPr id="12297" name="Rectangle 9"/>
          <p:cNvSpPr>
            <a:spLocks noGrp="1" noChangeArrowheads="1"/>
          </p:cNvSpPr>
          <p:nvPr>
            <p:ph type="body" idx="1"/>
          </p:nvPr>
        </p:nvSpPr>
        <p:spPr/>
        <p:txBody>
          <a:bodyPr/>
          <a:lstStyle/>
          <a:p>
            <a:pPr lvl="1"/>
            <a:r>
              <a:rPr lang="en-US"/>
              <a:t>Dynamic routing requires administrators to configure either a distance vector or link-state routing protocol.</a:t>
            </a:r>
          </a:p>
          <a:p>
            <a:pPr lvl="1"/>
            <a:r>
              <a:rPr lang="en-US"/>
              <a:t>Distance vector routing protocols incorporate solutions such as split horizon, route poisoning, and hold-down timers to prevent routing loops. </a:t>
            </a:r>
          </a:p>
          <a:p>
            <a:pPr lvl="1"/>
            <a:r>
              <a:rPr lang="en-US"/>
              <a:t>Link-state routing protocols scale to large network infrastructures better than distance vector routing protocols, but they require more planning to implement.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7826" name="Group 2"/>
          <p:cNvGrpSpPr>
            <a:grpSpLocks/>
          </p:cNvGrpSpPr>
          <p:nvPr/>
        </p:nvGrpSpPr>
        <p:grpSpPr bwMode="auto">
          <a:xfrm>
            <a:off x="0" y="0"/>
            <a:ext cx="9144000" cy="4383088"/>
            <a:chOff x="0" y="0"/>
            <a:chExt cx="5760" cy="2761"/>
          </a:xfrm>
        </p:grpSpPr>
        <p:grpSp>
          <p:nvGrpSpPr>
            <p:cNvPr id="77827" name="Group 3"/>
            <p:cNvGrpSpPr>
              <a:grpSpLocks/>
            </p:cNvGrpSpPr>
            <p:nvPr/>
          </p:nvGrpSpPr>
          <p:grpSpPr bwMode="auto">
            <a:xfrm>
              <a:off x="1727" y="1485"/>
              <a:ext cx="2400" cy="1276"/>
              <a:chOff x="3272" y="1316"/>
              <a:chExt cx="1889" cy="1002"/>
            </a:xfrm>
          </p:grpSpPr>
          <p:sp>
            <p:nvSpPr>
              <p:cNvPr id="77828" name="AutoShape 4"/>
              <p:cNvSpPr>
                <a:spLocks noChangeAspect="1" noChangeArrowheads="1" noTextEdit="1"/>
              </p:cNvSpPr>
              <p:nvPr/>
            </p:nvSpPr>
            <p:spPr bwMode="auto">
              <a:xfrm>
                <a:off x="3272" y="1316"/>
                <a:ext cx="1889" cy="10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7829" name="Rectangle 5"/>
              <p:cNvSpPr>
                <a:spLocks noChangeArrowheads="1"/>
              </p:cNvSpPr>
              <p:nvPr/>
            </p:nvSpPr>
            <p:spPr bwMode="auto">
              <a:xfrm>
                <a:off x="3803" y="1980"/>
                <a:ext cx="86" cy="325"/>
              </a:xfrm>
              <a:prstGeom prst="rect">
                <a:avLst/>
              </a:prstGeom>
              <a:solidFill>
                <a:srgbClr val="B21A1A"/>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7830" name="Freeform 6"/>
              <p:cNvSpPr>
                <a:spLocks/>
              </p:cNvSpPr>
              <p:nvPr/>
            </p:nvSpPr>
            <p:spPr bwMode="auto">
              <a:xfrm>
                <a:off x="4304"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1 w 58"/>
                  <a:gd name="T13" fmla="*/ 80 h 80"/>
                  <a:gd name="T14" fmla="*/ 0 w 58"/>
                  <a:gd name="T15" fmla="*/ 40 h 80"/>
                  <a:gd name="T16" fmla="*/ 41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8" y="23"/>
                      <a:pt x="51" y="20"/>
                      <a:pt x="42" y="20"/>
                    </a:cubicBezTo>
                    <a:cubicBezTo>
                      <a:pt x="30" y="20"/>
                      <a:pt x="21" y="28"/>
                      <a:pt x="21" y="40"/>
                    </a:cubicBezTo>
                    <a:cubicBezTo>
                      <a:pt x="21" y="51"/>
                      <a:pt x="29" y="60"/>
                      <a:pt x="42" y="60"/>
                    </a:cubicBezTo>
                    <a:cubicBezTo>
                      <a:pt x="51" y="60"/>
                      <a:pt x="57" y="57"/>
                      <a:pt x="58" y="56"/>
                    </a:cubicBezTo>
                    <a:cubicBezTo>
                      <a:pt x="58" y="77"/>
                      <a:pt x="58" y="77"/>
                      <a:pt x="58" y="77"/>
                    </a:cubicBezTo>
                    <a:cubicBezTo>
                      <a:pt x="56" y="78"/>
                      <a:pt x="49" y="80"/>
                      <a:pt x="41" y="80"/>
                    </a:cubicBezTo>
                    <a:cubicBezTo>
                      <a:pt x="19" y="80"/>
                      <a:pt x="0" y="65"/>
                      <a:pt x="0" y="40"/>
                    </a:cubicBezTo>
                    <a:cubicBezTo>
                      <a:pt x="0" y="17"/>
                      <a:pt x="17" y="0"/>
                      <a:pt x="41" y="0"/>
                    </a:cubicBezTo>
                    <a:cubicBezTo>
                      <a:pt x="50"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1" name="Freeform 7"/>
              <p:cNvSpPr>
                <a:spLocks/>
              </p:cNvSpPr>
              <p:nvPr/>
            </p:nvSpPr>
            <p:spPr bwMode="auto">
              <a:xfrm>
                <a:off x="3443" y="1971"/>
                <a:ext cx="249" cy="343"/>
              </a:xfrm>
              <a:custGeom>
                <a:avLst/>
                <a:gdLst>
                  <a:gd name="T0" fmla="*/ 58 w 58"/>
                  <a:gd name="T1" fmla="*/ 24 h 80"/>
                  <a:gd name="T2" fmla="*/ 42 w 58"/>
                  <a:gd name="T3" fmla="*/ 20 h 80"/>
                  <a:gd name="T4" fmla="*/ 21 w 58"/>
                  <a:gd name="T5" fmla="*/ 40 h 80"/>
                  <a:gd name="T6" fmla="*/ 42 w 58"/>
                  <a:gd name="T7" fmla="*/ 60 h 80"/>
                  <a:gd name="T8" fmla="*/ 58 w 58"/>
                  <a:gd name="T9" fmla="*/ 56 h 80"/>
                  <a:gd name="T10" fmla="*/ 58 w 58"/>
                  <a:gd name="T11" fmla="*/ 77 h 80"/>
                  <a:gd name="T12" fmla="*/ 40 w 58"/>
                  <a:gd name="T13" fmla="*/ 80 h 80"/>
                  <a:gd name="T14" fmla="*/ 0 w 58"/>
                  <a:gd name="T15" fmla="*/ 40 h 80"/>
                  <a:gd name="T16" fmla="*/ 40 w 58"/>
                  <a:gd name="T17" fmla="*/ 0 h 80"/>
                  <a:gd name="T18" fmla="*/ 58 w 58"/>
                  <a:gd name="T19" fmla="*/ 3 h 80"/>
                  <a:gd name="T20" fmla="*/ 58 w 58"/>
                  <a:gd name="T21" fmla="*/ 24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0">
                    <a:moveTo>
                      <a:pt x="58" y="24"/>
                    </a:moveTo>
                    <a:cubicBezTo>
                      <a:pt x="57" y="23"/>
                      <a:pt x="51" y="20"/>
                      <a:pt x="42" y="20"/>
                    </a:cubicBezTo>
                    <a:cubicBezTo>
                      <a:pt x="29" y="20"/>
                      <a:pt x="21" y="28"/>
                      <a:pt x="21" y="40"/>
                    </a:cubicBezTo>
                    <a:cubicBezTo>
                      <a:pt x="21" y="51"/>
                      <a:pt x="29" y="60"/>
                      <a:pt x="42" y="60"/>
                    </a:cubicBezTo>
                    <a:cubicBezTo>
                      <a:pt x="51" y="60"/>
                      <a:pt x="57" y="57"/>
                      <a:pt x="58" y="56"/>
                    </a:cubicBezTo>
                    <a:cubicBezTo>
                      <a:pt x="58" y="77"/>
                      <a:pt x="58" y="77"/>
                      <a:pt x="58" y="77"/>
                    </a:cubicBezTo>
                    <a:cubicBezTo>
                      <a:pt x="56" y="78"/>
                      <a:pt x="49" y="80"/>
                      <a:pt x="40" y="80"/>
                    </a:cubicBezTo>
                    <a:cubicBezTo>
                      <a:pt x="19" y="80"/>
                      <a:pt x="0" y="65"/>
                      <a:pt x="0" y="40"/>
                    </a:cubicBezTo>
                    <a:cubicBezTo>
                      <a:pt x="0" y="17"/>
                      <a:pt x="17" y="0"/>
                      <a:pt x="40" y="0"/>
                    </a:cubicBezTo>
                    <a:cubicBezTo>
                      <a:pt x="49" y="0"/>
                      <a:pt x="56" y="3"/>
                      <a:pt x="58" y="3"/>
                    </a:cubicBezTo>
                    <a:lnTo>
                      <a:pt x="58" y="24"/>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2" name="Freeform 8"/>
              <p:cNvSpPr>
                <a:spLocks noEditPoints="1"/>
              </p:cNvSpPr>
              <p:nvPr/>
            </p:nvSpPr>
            <p:spPr bwMode="auto">
              <a:xfrm>
                <a:off x="4643" y="1971"/>
                <a:ext cx="342" cy="343"/>
              </a:xfrm>
              <a:custGeom>
                <a:avLst/>
                <a:gdLst>
                  <a:gd name="T0" fmla="*/ 80 w 80"/>
                  <a:gd name="T1" fmla="*/ 40 h 80"/>
                  <a:gd name="T2" fmla="*/ 40 w 80"/>
                  <a:gd name="T3" fmla="*/ 80 h 80"/>
                  <a:gd name="T4" fmla="*/ 0 w 80"/>
                  <a:gd name="T5" fmla="*/ 40 h 80"/>
                  <a:gd name="T6" fmla="*/ 40 w 80"/>
                  <a:gd name="T7" fmla="*/ 0 h 80"/>
                  <a:gd name="T8" fmla="*/ 80 w 80"/>
                  <a:gd name="T9" fmla="*/ 40 h 80"/>
                  <a:gd name="T10" fmla="*/ 40 w 80"/>
                  <a:gd name="T11" fmla="*/ 20 h 80"/>
                  <a:gd name="T12" fmla="*/ 20 w 80"/>
                  <a:gd name="T13" fmla="*/ 40 h 80"/>
                  <a:gd name="T14" fmla="*/ 40 w 80"/>
                  <a:gd name="T15" fmla="*/ 60 h 80"/>
                  <a:gd name="T16" fmla="*/ 60 w 80"/>
                  <a:gd name="T17" fmla="*/ 40 h 80"/>
                  <a:gd name="T18" fmla="*/ 40 w 80"/>
                  <a:gd name="T19" fmla="*/ 2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0" h="80">
                    <a:moveTo>
                      <a:pt x="80" y="40"/>
                    </a:moveTo>
                    <a:cubicBezTo>
                      <a:pt x="80" y="62"/>
                      <a:pt x="64" y="80"/>
                      <a:pt x="40" y="80"/>
                    </a:cubicBezTo>
                    <a:cubicBezTo>
                      <a:pt x="16" y="80"/>
                      <a:pt x="0" y="62"/>
                      <a:pt x="0" y="40"/>
                    </a:cubicBezTo>
                    <a:cubicBezTo>
                      <a:pt x="0" y="18"/>
                      <a:pt x="16" y="0"/>
                      <a:pt x="40" y="0"/>
                    </a:cubicBezTo>
                    <a:cubicBezTo>
                      <a:pt x="64" y="0"/>
                      <a:pt x="80" y="18"/>
                      <a:pt x="80" y="40"/>
                    </a:cubicBezTo>
                    <a:moveTo>
                      <a:pt x="40" y="20"/>
                    </a:moveTo>
                    <a:cubicBezTo>
                      <a:pt x="29" y="20"/>
                      <a:pt x="20" y="29"/>
                      <a:pt x="20" y="40"/>
                    </a:cubicBezTo>
                    <a:cubicBezTo>
                      <a:pt x="20" y="51"/>
                      <a:pt x="29" y="60"/>
                      <a:pt x="40" y="60"/>
                    </a:cubicBezTo>
                    <a:cubicBezTo>
                      <a:pt x="51" y="60"/>
                      <a:pt x="60" y="51"/>
                      <a:pt x="60" y="40"/>
                    </a:cubicBezTo>
                    <a:cubicBezTo>
                      <a:pt x="60" y="29"/>
                      <a:pt x="51" y="20"/>
                      <a:pt x="40" y="20"/>
                    </a:cubicBezTo>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3" name="Freeform 9"/>
              <p:cNvSpPr>
                <a:spLocks/>
              </p:cNvSpPr>
              <p:nvPr/>
            </p:nvSpPr>
            <p:spPr bwMode="auto">
              <a:xfrm>
                <a:off x="4000" y="1971"/>
                <a:ext cx="223" cy="343"/>
              </a:xfrm>
              <a:custGeom>
                <a:avLst/>
                <a:gdLst>
                  <a:gd name="T0" fmla="*/ 47 w 52"/>
                  <a:gd name="T1" fmla="*/ 19 h 80"/>
                  <a:gd name="T2" fmla="*/ 32 w 52"/>
                  <a:gd name="T3" fmla="*/ 17 h 80"/>
                  <a:gd name="T4" fmla="*/ 20 w 52"/>
                  <a:gd name="T5" fmla="*/ 23 h 80"/>
                  <a:gd name="T6" fmla="*/ 29 w 52"/>
                  <a:gd name="T7" fmla="*/ 30 h 80"/>
                  <a:gd name="T8" fmla="*/ 34 w 52"/>
                  <a:gd name="T9" fmla="*/ 32 h 80"/>
                  <a:gd name="T10" fmla="*/ 52 w 52"/>
                  <a:gd name="T11" fmla="*/ 54 h 80"/>
                  <a:gd name="T12" fmla="*/ 21 w 52"/>
                  <a:gd name="T13" fmla="*/ 80 h 80"/>
                  <a:gd name="T14" fmla="*/ 0 w 52"/>
                  <a:gd name="T15" fmla="*/ 77 h 80"/>
                  <a:gd name="T16" fmla="*/ 0 w 52"/>
                  <a:gd name="T17" fmla="*/ 60 h 80"/>
                  <a:gd name="T18" fmla="*/ 18 w 52"/>
                  <a:gd name="T19" fmla="*/ 63 h 80"/>
                  <a:gd name="T20" fmla="*/ 32 w 52"/>
                  <a:gd name="T21" fmla="*/ 56 h 80"/>
                  <a:gd name="T22" fmla="*/ 23 w 52"/>
                  <a:gd name="T23" fmla="*/ 48 h 80"/>
                  <a:gd name="T24" fmla="*/ 19 w 52"/>
                  <a:gd name="T25" fmla="*/ 47 h 80"/>
                  <a:gd name="T26" fmla="*/ 0 w 52"/>
                  <a:gd name="T27" fmla="*/ 24 h 80"/>
                  <a:gd name="T28" fmla="*/ 28 w 52"/>
                  <a:gd name="T29" fmla="*/ 0 h 80"/>
                  <a:gd name="T30" fmla="*/ 47 w 52"/>
                  <a:gd name="T31" fmla="*/ 3 h 80"/>
                  <a:gd name="T32" fmla="*/ 47 w 52"/>
                  <a:gd name="T33" fmla="*/ 19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80">
                    <a:moveTo>
                      <a:pt x="47" y="19"/>
                    </a:moveTo>
                    <a:cubicBezTo>
                      <a:pt x="47" y="19"/>
                      <a:pt x="38" y="17"/>
                      <a:pt x="32" y="17"/>
                    </a:cubicBezTo>
                    <a:cubicBezTo>
                      <a:pt x="24" y="17"/>
                      <a:pt x="20" y="19"/>
                      <a:pt x="20" y="23"/>
                    </a:cubicBezTo>
                    <a:cubicBezTo>
                      <a:pt x="20" y="28"/>
                      <a:pt x="26" y="29"/>
                      <a:pt x="29" y="30"/>
                    </a:cubicBezTo>
                    <a:cubicBezTo>
                      <a:pt x="34" y="32"/>
                      <a:pt x="34" y="32"/>
                      <a:pt x="34" y="32"/>
                    </a:cubicBezTo>
                    <a:cubicBezTo>
                      <a:pt x="47" y="36"/>
                      <a:pt x="52" y="45"/>
                      <a:pt x="52" y="54"/>
                    </a:cubicBezTo>
                    <a:cubicBezTo>
                      <a:pt x="52" y="73"/>
                      <a:pt x="35" y="80"/>
                      <a:pt x="21" y="80"/>
                    </a:cubicBezTo>
                    <a:cubicBezTo>
                      <a:pt x="10" y="80"/>
                      <a:pt x="1" y="78"/>
                      <a:pt x="0" y="77"/>
                    </a:cubicBezTo>
                    <a:cubicBezTo>
                      <a:pt x="0" y="60"/>
                      <a:pt x="0" y="60"/>
                      <a:pt x="0" y="60"/>
                    </a:cubicBezTo>
                    <a:cubicBezTo>
                      <a:pt x="2" y="60"/>
                      <a:pt x="10" y="63"/>
                      <a:pt x="18" y="63"/>
                    </a:cubicBezTo>
                    <a:cubicBezTo>
                      <a:pt x="28" y="63"/>
                      <a:pt x="32" y="60"/>
                      <a:pt x="32" y="56"/>
                    </a:cubicBezTo>
                    <a:cubicBezTo>
                      <a:pt x="32" y="52"/>
                      <a:pt x="28" y="49"/>
                      <a:pt x="23" y="48"/>
                    </a:cubicBezTo>
                    <a:cubicBezTo>
                      <a:pt x="22" y="48"/>
                      <a:pt x="21" y="47"/>
                      <a:pt x="19" y="47"/>
                    </a:cubicBezTo>
                    <a:cubicBezTo>
                      <a:pt x="9" y="43"/>
                      <a:pt x="0" y="37"/>
                      <a:pt x="0" y="24"/>
                    </a:cubicBezTo>
                    <a:cubicBezTo>
                      <a:pt x="0" y="10"/>
                      <a:pt x="10" y="0"/>
                      <a:pt x="28" y="0"/>
                    </a:cubicBezTo>
                    <a:cubicBezTo>
                      <a:pt x="37" y="0"/>
                      <a:pt x="46" y="3"/>
                      <a:pt x="47" y="3"/>
                    </a:cubicBezTo>
                    <a:lnTo>
                      <a:pt x="47" y="19"/>
                    </a:lnTo>
                    <a:close/>
                  </a:path>
                </a:pathLst>
              </a:custGeom>
              <a:solidFill>
                <a:srgbClr val="B21A1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4" name="Freeform 10"/>
              <p:cNvSpPr>
                <a:spLocks/>
              </p:cNvSpPr>
              <p:nvPr/>
            </p:nvSpPr>
            <p:spPr bwMode="auto">
              <a:xfrm>
                <a:off x="3272" y="1586"/>
                <a:ext cx="81" cy="167"/>
              </a:xfrm>
              <a:custGeom>
                <a:avLst/>
                <a:gdLst>
                  <a:gd name="T0" fmla="*/ 19 w 19"/>
                  <a:gd name="T1" fmla="*/ 10 h 39"/>
                  <a:gd name="T2" fmla="*/ 10 w 19"/>
                  <a:gd name="T3" fmla="*/ 0 h 39"/>
                  <a:gd name="T4" fmla="*/ 0 w 19"/>
                  <a:gd name="T5" fmla="*/ 10 h 39"/>
                  <a:gd name="T6" fmla="*/ 0 w 19"/>
                  <a:gd name="T7" fmla="*/ 30 h 39"/>
                  <a:gd name="T8" fmla="*/ 10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10" y="0"/>
                    </a:cubicBezTo>
                    <a:cubicBezTo>
                      <a:pt x="4" y="0"/>
                      <a:pt x="0" y="4"/>
                      <a:pt x="0" y="10"/>
                    </a:cubicBezTo>
                    <a:cubicBezTo>
                      <a:pt x="0" y="30"/>
                      <a:pt x="0" y="30"/>
                      <a:pt x="0" y="30"/>
                    </a:cubicBezTo>
                    <a:cubicBezTo>
                      <a:pt x="0" y="35"/>
                      <a:pt x="4" y="39"/>
                      <a:pt x="10"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5" name="Freeform 11"/>
              <p:cNvSpPr>
                <a:spLocks/>
              </p:cNvSpPr>
              <p:nvPr/>
            </p:nvSpPr>
            <p:spPr bwMode="auto">
              <a:xfrm>
                <a:off x="349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4" y="0"/>
                      <a:pt x="9" y="0"/>
                    </a:cubicBezTo>
                    <a:cubicBezTo>
                      <a:pt x="4" y="0"/>
                      <a:pt x="0" y="4"/>
                      <a:pt x="0" y="9"/>
                    </a:cubicBezTo>
                    <a:cubicBezTo>
                      <a:pt x="0" y="56"/>
                      <a:pt x="0" y="56"/>
                      <a:pt x="0" y="56"/>
                    </a:cubicBezTo>
                    <a:cubicBezTo>
                      <a:pt x="0" y="61"/>
                      <a:pt x="4" y="65"/>
                      <a:pt x="9" y="65"/>
                    </a:cubicBezTo>
                    <a:cubicBezTo>
                      <a:pt x="14"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6" name="Freeform 12"/>
              <p:cNvSpPr>
                <a:spLocks/>
              </p:cNvSpPr>
              <p:nvPr/>
            </p:nvSpPr>
            <p:spPr bwMode="auto">
              <a:xfrm>
                <a:off x="3722" y="1320"/>
                <a:ext cx="81" cy="514"/>
              </a:xfrm>
              <a:custGeom>
                <a:avLst/>
                <a:gdLst>
                  <a:gd name="T0" fmla="*/ 19 w 19"/>
                  <a:gd name="T1" fmla="*/ 9 h 120"/>
                  <a:gd name="T2" fmla="*/ 10 w 19"/>
                  <a:gd name="T3" fmla="*/ 0 h 120"/>
                  <a:gd name="T4" fmla="*/ 0 w 19"/>
                  <a:gd name="T5" fmla="*/ 9 h 120"/>
                  <a:gd name="T6" fmla="*/ 0 w 19"/>
                  <a:gd name="T7" fmla="*/ 111 h 120"/>
                  <a:gd name="T8" fmla="*/ 10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10" y="0"/>
                    </a:cubicBezTo>
                    <a:cubicBezTo>
                      <a:pt x="5" y="0"/>
                      <a:pt x="0" y="4"/>
                      <a:pt x="0" y="9"/>
                    </a:cubicBezTo>
                    <a:cubicBezTo>
                      <a:pt x="0" y="111"/>
                      <a:pt x="0" y="111"/>
                      <a:pt x="0" y="111"/>
                    </a:cubicBezTo>
                    <a:cubicBezTo>
                      <a:pt x="0" y="116"/>
                      <a:pt x="5" y="120"/>
                      <a:pt x="10"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7" name="Freeform 13"/>
              <p:cNvSpPr>
                <a:spLocks/>
              </p:cNvSpPr>
              <p:nvPr/>
            </p:nvSpPr>
            <p:spPr bwMode="auto">
              <a:xfrm>
                <a:off x="3949" y="1474"/>
                <a:ext cx="81" cy="279"/>
              </a:xfrm>
              <a:custGeom>
                <a:avLst/>
                <a:gdLst>
                  <a:gd name="T0" fmla="*/ 19 w 19"/>
                  <a:gd name="T1" fmla="*/ 9 h 65"/>
                  <a:gd name="T2" fmla="*/ 9 w 19"/>
                  <a:gd name="T3" fmla="*/ 0 h 65"/>
                  <a:gd name="T4" fmla="*/ 0 w 19"/>
                  <a:gd name="T5" fmla="*/ 9 h 65"/>
                  <a:gd name="T6" fmla="*/ 0 w 19"/>
                  <a:gd name="T7" fmla="*/ 56 h 65"/>
                  <a:gd name="T8" fmla="*/ 9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9" y="0"/>
                    </a:cubicBezTo>
                    <a:cubicBezTo>
                      <a:pt x="4" y="0"/>
                      <a:pt x="0" y="4"/>
                      <a:pt x="0" y="9"/>
                    </a:cubicBezTo>
                    <a:cubicBezTo>
                      <a:pt x="0" y="56"/>
                      <a:pt x="0" y="56"/>
                      <a:pt x="0" y="56"/>
                    </a:cubicBezTo>
                    <a:cubicBezTo>
                      <a:pt x="0" y="61"/>
                      <a:pt x="4" y="65"/>
                      <a:pt x="9"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8" name="Freeform 14"/>
              <p:cNvSpPr>
                <a:spLocks/>
              </p:cNvSpPr>
              <p:nvPr/>
            </p:nvSpPr>
            <p:spPr bwMode="auto">
              <a:xfrm>
                <a:off x="4171" y="1586"/>
                <a:ext cx="86" cy="167"/>
              </a:xfrm>
              <a:custGeom>
                <a:avLst/>
                <a:gdLst>
                  <a:gd name="T0" fmla="*/ 20 w 20"/>
                  <a:gd name="T1" fmla="*/ 10 h 39"/>
                  <a:gd name="T2" fmla="*/ 10 w 20"/>
                  <a:gd name="T3" fmla="*/ 0 h 39"/>
                  <a:gd name="T4" fmla="*/ 0 w 20"/>
                  <a:gd name="T5" fmla="*/ 10 h 39"/>
                  <a:gd name="T6" fmla="*/ 0 w 20"/>
                  <a:gd name="T7" fmla="*/ 30 h 39"/>
                  <a:gd name="T8" fmla="*/ 10 w 20"/>
                  <a:gd name="T9" fmla="*/ 39 h 39"/>
                  <a:gd name="T10" fmla="*/ 20 w 20"/>
                  <a:gd name="T11" fmla="*/ 30 h 39"/>
                  <a:gd name="T12" fmla="*/ 20 w 20"/>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20" h="39">
                    <a:moveTo>
                      <a:pt x="20" y="10"/>
                    </a:moveTo>
                    <a:cubicBezTo>
                      <a:pt x="20" y="4"/>
                      <a:pt x="15" y="0"/>
                      <a:pt x="10" y="0"/>
                    </a:cubicBezTo>
                    <a:cubicBezTo>
                      <a:pt x="5" y="0"/>
                      <a:pt x="0" y="4"/>
                      <a:pt x="0" y="10"/>
                    </a:cubicBezTo>
                    <a:cubicBezTo>
                      <a:pt x="0" y="30"/>
                      <a:pt x="0" y="30"/>
                      <a:pt x="0" y="30"/>
                    </a:cubicBezTo>
                    <a:cubicBezTo>
                      <a:pt x="0" y="35"/>
                      <a:pt x="5" y="39"/>
                      <a:pt x="10" y="39"/>
                    </a:cubicBezTo>
                    <a:cubicBezTo>
                      <a:pt x="15" y="39"/>
                      <a:pt x="20" y="35"/>
                      <a:pt x="20" y="30"/>
                    </a:cubicBezTo>
                    <a:lnTo>
                      <a:pt x="20"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39" name="Freeform 15"/>
              <p:cNvSpPr>
                <a:spLocks/>
              </p:cNvSpPr>
              <p:nvPr/>
            </p:nvSpPr>
            <p:spPr bwMode="auto">
              <a:xfrm>
                <a:off x="439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4" y="0"/>
                      <a:pt x="0" y="4"/>
                      <a:pt x="0" y="9"/>
                    </a:cubicBezTo>
                    <a:cubicBezTo>
                      <a:pt x="0" y="56"/>
                      <a:pt x="0" y="56"/>
                      <a:pt x="0" y="56"/>
                    </a:cubicBezTo>
                    <a:cubicBezTo>
                      <a:pt x="0" y="61"/>
                      <a:pt x="4"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40" name="Freeform 16"/>
              <p:cNvSpPr>
                <a:spLocks/>
              </p:cNvSpPr>
              <p:nvPr/>
            </p:nvSpPr>
            <p:spPr bwMode="auto">
              <a:xfrm>
                <a:off x="4625" y="1320"/>
                <a:ext cx="82" cy="514"/>
              </a:xfrm>
              <a:custGeom>
                <a:avLst/>
                <a:gdLst>
                  <a:gd name="T0" fmla="*/ 19 w 19"/>
                  <a:gd name="T1" fmla="*/ 9 h 120"/>
                  <a:gd name="T2" fmla="*/ 9 w 19"/>
                  <a:gd name="T3" fmla="*/ 0 h 120"/>
                  <a:gd name="T4" fmla="*/ 0 w 19"/>
                  <a:gd name="T5" fmla="*/ 9 h 120"/>
                  <a:gd name="T6" fmla="*/ 0 w 19"/>
                  <a:gd name="T7" fmla="*/ 111 h 120"/>
                  <a:gd name="T8" fmla="*/ 9 w 19"/>
                  <a:gd name="T9" fmla="*/ 120 h 120"/>
                  <a:gd name="T10" fmla="*/ 19 w 19"/>
                  <a:gd name="T11" fmla="*/ 111 h 120"/>
                  <a:gd name="T12" fmla="*/ 19 w 19"/>
                  <a:gd name="T13" fmla="*/ 9 h 120"/>
                </a:gdLst>
                <a:ahLst/>
                <a:cxnLst>
                  <a:cxn ang="0">
                    <a:pos x="T0" y="T1"/>
                  </a:cxn>
                  <a:cxn ang="0">
                    <a:pos x="T2" y="T3"/>
                  </a:cxn>
                  <a:cxn ang="0">
                    <a:pos x="T4" y="T5"/>
                  </a:cxn>
                  <a:cxn ang="0">
                    <a:pos x="T6" y="T7"/>
                  </a:cxn>
                  <a:cxn ang="0">
                    <a:pos x="T8" y="T9"/>
                  </a:cxn>
                  <a:cxn ang="0">
                    <a:pos x="T10" y="T11"/>
                  </a:cxn>
                  <a:cxn ang="0">
                    <a:pos x="T12" y="T13"/>
                  </a:cxn>
                </a:cxnLst>
                <a:rect l="0" t="0" r="r" b="b"/>
                <a:pathLst>
                  <a:path w="19" h="120">
                    <a:moveTo>
                      <a:pt x="19" y="9"/>
                    </a:moveTo>
                    <a:cubicBezTo>
                      <a:pt x="19" y="4"/>
                      <a:pt x="15" y="0"/>
                      <a:pt x="9" y="0"/>
                    </a:cubicBezTo>
                    <a:cubicBezTo>
                      <a:pt x="4" y="0"/>
                      <a:pt x="0" y="4"/>
                      <a:pt x="0" y="9"/>
                    </a:cubicBezTo>
                    <a:cubicBezTo>
                      <a:pt x="0" y="111"/>
                      <a:pt x="0" y="111"/>
                      <a:pt x="0" y="111"/>
                    </a:cubicBezTo>
                    <a:cubicBezTo>
                      <a:pt x="0" y="116"/>
                      <a:pt x="4" y="120"/>
                      <a:pt x="9" y="120"/>
                    </a:cubicBezTo>
                    <a:cubicBezTo>
                      <a:pt x="15" y="120"/>
                      <a:pt x="19" y="116"/>
                      <a:pt x="19" y="111"/>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41" name="Freeform 17"/>
              <p:cNvSpPr>
                <a:spLocks/>
              </p:cNvSpPr>
              <p:nvPr/>
            </p:nvSpPr>
            <p:spPr bwMode="auto">
              <a:xfrm>
                <a:off x="4848" y="1474"/>
                <a:ext cx="82" cy="279"/>
              </a:xfrm>
              <a:custGeom>
                <a:avLst/>
                <a:gdLst>
                  <a:gd name="T0" fmla="*/ 19 w 19"/>
                  <a:gd name="T1" fmla="*/ 9 h 65"/>
                  <a:gd name="T2" fmla="*/ 10 w 19"/>
                  <a:gd name="T3" fmla="*/ 0 h 65"/>
                  <a:gd name="T4" fmla="*/ 0 w 19"/>
                  <a:gd name="T5" fmla="*/ 9 h 65"/>
                  <a:gd name="T6" fmla="*/ 0 w 19"/>
                  <a:gd name="T7" fmla="*/ 56 h 65"/>
                  <a:gd name="T8" fmla="*/ 10 w 19"/>
                  <a:gd name="T9" fmla="*/ 65 h 65"/>
                  <a:gd name="T10" fmla="*/ 19 w 19"/>
                  <a:gd name="T11" fmla="*/ 56 h 65"/>
                  <a:gd name="T12" fmla="*/ 19 w 19"/>
                  <a:gd name="T13" fmla="*/ 9 h 65"/>
                </a:gdLst>
                <a:ahLst/>
                <a:cxnLst>
                  <a:cxn ang="0">
                    <a:pos x="T0" y="T1"/>
                  </a:cxn>
                  <a:cxn ang="0">
                    <a:pos x="T2" y="T3"/>
                  </a:cxn>
                  <a:cxn ang="0">
                    <a:pos x="T4" y="T5"/>
                  </a:cxn>
                  <a:cxn ang="0">
                    <a:pos x="T6" y="T7"/>
                  </a:cxn>
                  <a:cxn ang="0">
                    <a:pos x="T8" y="T9"/>
                  </a:cxn>
                  <a:cxn ang="0">
                    <a:pos x="T10" y="T11"/>
                  </a:cxn>
                  <a:cxn ang="0">
                    <a:pos x="T12" y="T13"/>
                  </a:cxn>
                </a:cxnLst>
                <a:rect l="0" t="0" r="r" b="b"/>
                <a:pathLst>
                  <a:path w="19" h="65">
                    <a:moveTo>
                      <a:pt x="19" y="9"/>
                    </a:moveTo>
                    <a:cubicBezTo>
                      <a:pt x="19" y="4"/>
                      <a:pt x="15" y="0"/>
                      <a:pt x="10" y="0"/>
                    </a:cubicBezTo>
                    <a:cubicBezTo>
                      <a:pt x="5" y="0"/>
                      <a:pt x="0" y="4"/>
                      <a:pt x="0" y="9"/>
                    </a:cubicBezTo>
                    <a:cubicBezTo>
                      <a:pt x="0" y="56"/>
                      <a:pt x="0" y="56"/>
                      <a:pt x="0" y="56"/>
                    </a:cubicBezTo>
                    <a:cubicBezTo>
                      <a:pt x="0" y="61"/>
                      <a:pt x="5" y="65"/>
                      <a:pt x="10" y="65"/>
                    </a:cubicBezTo>
                    <a:cubicBezTo>
                      <a:pt x="15" y="65"/>
                      <a:pt x="19" y="61"/>
                      <a:pt x="19" y="56"/>
                    </a:cubicBezTo>
                    <a:lnTo>
                      <a:pt x="19" y="9"/>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7842" name="Freeform 18"/>
              <p:cNvSpPr>
                <a:spLocks/>
              </p:cNvSpPr>
              <p:nvPr/>
            </p:nvSpPr>
            <p:spPr bwMode="auto">
              <a:xfrm>
                <a:off x="5075" y="1586"/>
                <a:ext cx="82" cy="167"/>
              </a:xfrm>
              <a:custGeom>
                <a:avLst/>
                <a:gdLst>
                  <a:gd name="T0" fmla="*/ 19 w 19"/>
                  <a:gd name="T1" fmla="*/ 10 h 39"/>
                  <a:gd name="T2" fmla="*/ 9 w 19"/>
                  <a:gd name="T3" fmla="*/ 0 h 39"/>
                  <a:gd name="T4" fmla="*/ 0 w 19"/>
                  <a:gd name="T5" fmla="*/ 10 h 39"/>
                  <a:gd name="T6" fmla="*/ 0 w 19"/>
                  <a:gd name="T7" fmla="*/ 30 h 39"/>
                  <a:gd name="T8" fmla="*/ 9 w 19"/>
                  <a:gd name="T9" fmla="*/ 39 h 39"/>
                  <a:gd name="T10" fmla="*/ 19 w 19"/>
                  <a:gd name="T11" fmla="*/ 30 h 39"/>
                  <a:gd name="T12" fmla="*/ 19 w 19"/>
                  <a:gd name="T13" fmla="*/ 10 h 39"/>
                </a:gdLst>
                <a:ahLst/>
                <a:cxnLst>
                  <a:cxn ang="0">
                    <a:pos x="T0" y="T1"/>
                  </a:cxn>
                  <a:cxn ang="0">
                    <a:pos x="T2" y="T3"/>
                  </a:cxn>
                  <a:cxn ang="0">
                    <a:pos x="T4" y="T5"/>
                  </a:cxn>
                  <a:cxn ang="0">
                    <a:pos x="T6" y="T7"/>
                  </a:cxn>
                  <a:cxn ang="0">
                    <a:pos x="T8" y="T9"/>
                  </a:cxn>
                  <a:cxn ang="0">
                    <a:pos x="T10" y="T11"/>
                  </a:cxn>
                  <a:cxn ang="0">
                    <a:pos x="T12" y="T13"/>
                  </a:cxn>
                </a:cxnLst>
                <a:rect l="0" t="0" r="r" b="b"/>
                <a:pathLst>
                  <a:path w="19" h="39">
                    <a:moveTo>
                      <a:pt x="19" y="10"/>
                    </a:moveTo>
                    <a:cubicBezTo>
                      <a:pt x="19" y="4"/>
                      <a:pt x="15" y="0"/>
                      <a:pt x="9" y="0"/>
                    </a:cubicBezTo>
                    <a:cubicBezTo>
                      <a:pt x="4" y="0"/>
                      <a:pt x="0" y="4"/>
                      <a:pt x="0" y="10"/>
                    </a:cubicBezTo>
                    <a:cubicBezTo>
                      <a:pt x="0" y="30"/>
                      <a:pt x="0" y="30"/>
                      <a:pt x="0" y="30"/>
                    </a:cubicBezTo>
                    <a:cubicBezTo>
                      <a:pt x="0" y="35"/>
                      <a:pt x="4" y="39"/>
                      <a:pt x="9" y="39"/>
                    </a:cubicBezTo>
                    <a:cubicBezTo>
                      <a:pt x="15" y="39"/>
                      <a:pt x="19" y="35"/>
                      <a:pt x="19" y="30"/>
                    </a:cubicBezTo>
                    <a:lnTo>
                      <a:pt x="19" y="10"/>
                    </a:lnTo>
                    <a:close/>
                  </a:path>
                </a:pathLst>
              </a:custGeom>
              <a:solidFill>
                <a:srgbClr val="015F8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77843" name="Rectangle 19"/>
            <p:cNvSpPr>
              <a:spLocks noChangeArrowheads="1"/>
            </p:cNvSpPr>
            <p:nvPr/>
          </p:nvSpPr>
          <p:spPr bwMode="auto">
            <a:xfrm>
              <a:off x="0" y="0"/>
              <a:ext cx="5760" cy="432"/>
            </a:xfrm>
            <a:prstGeom prst="rect">
              <a:avLst/>
            </a:prstGeom>
            <a:solidFill>
              <a:srgbClr val="FFFFFF"/>
            </a:solidFill>
            <a:ln>
              <a:noFill/>
            </a:ln>
            <a:effectLst/>
            <a:extLst>
              <a:ext uri="{91240B29-F687-4F45-9708-019B960494DF}">
                <a14:hiddenLine xmlns:a14="http://schemas.microsoft.com/office/drawing/2010/main" w="9525" algn="ctr">
                  <a:solidFill>
                    <a:srgbClr val="4798AB"/>
                  </a:solidFill>
                  <a:miter lim="800000"/>
                  <a:headEnd/>
                  <a:tailEnd/>
                </a14:hiddenLine>
              </a:ext>
              <a:ext uri="{AF507438-7753-43E0-B8FC-AC1667EBCBE1}">
                <a14:hiddenEffects xmlns:a14="http://schemas.microsoft.com/office/drawing/2010/main">
                  <a:effectLst>
                    <a:outerShdw dist="17961" dir="2700000" algn="ctr" rotWithShape="0">
                      <a:schemeClr val="bg2"/>
                    </a:outerShdw>
                  </a:effectLst>
                </a14:hiddenEffects>
              </a:ext>
            </a:extLst>
          </p:spPr>
          <p:txBody>
            <a:bodyPr wrap="none" lIns="82124" tIns="41061" rIns="82124" bIns="41061" anchor="ctr"/>
            <a:lstStyle/>
            <a:p>
              <a:endParaRPr lang="en-US"/>
            </a:p>
          </p:txBody>
        </p:sp>
      </p:grpSp>
    </p:spTree>
  </p:cSld>
  <p:clrMapOvr>
    <a:masterClrMapping/>
  </p:clrMapOvr>
  <p:transition spd="med"/>
  <p:timing>
    <p:tnLst>
      <p:par>
        <p:cTn id="1" dur="indefinite" restart="never" nodeType="tmRoot"/>
      </p:par>
    </p:tnLst>
  </p:timing>
</p:sld>
</file>

<file path=ppt/theme/theme1.xml><?xml version="1.0" encoding="utf-8"?>
<a:theme xmlns:a="http://schemas.openxmlformats.org/drawingml/2006/main" name="TMP-DEV-PPT-v8.1">
  <a:themeElements>
    <a:clrScheme name="">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83A2CF"/>
      </a:hlink>
      <a:folHlink>
        <a:srgbClr val="EFB525"/>
      </a:folHlink>
    </a:clrScheme>
    <a:fontScheme name="TMP-DEV-PPT-v8.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spAutoFit/>
      </a:bodyPr>
      <a:lstStyle>
        <a:defPPr marL="0" marR="0" indent="0" algn="l" defTabSz="814388" rtl="0" eaLnBrk="0" fontAlgn="base" latinLnBrk="0" hangingPunct="0">
          <a:lnSpc>
            <a:spcPct val="90000"/>
          </a:lnSpc>
          <a:spcBef>
            <a:spcPct val="5000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17961" dir="2700000" algn="ctr" rotWithShape="0">
                  <a:schemeClr val="bg2"/>
                </a:outerShdw>
              </a:effectLst>
            </a14:hiddenEffects>
          </a:ext>
        </a:extLst>
      </a:spPr>
      <a:bodyPr vert="horz" wrap="square" lIns="82124" tIns="41061" rIns="82124" bIns="41061" numCol="1" anchor="t" anchorCtr="0" compatLnSpc="1">
        <a:prstTxWarp prst="textNoShape">
          <a:avLst/>
        </a:prstTxWarp>
        <a:spAutoFit/>
      </a:bodyPr>
      <a:lstStyle>
        <a:defPPr marL="0" marR="0" indent="0" algn="l" defTabSz="814388" rtl="0" eaLnBrk="0" fontAlgn="base" latinLnBrk="0" hangingPunct="0">
          <a:lnSpc>
            <a:spcPct val="90000"/>
          </a:lnSpc>
          <a:spcBef>
            <a:spcPct val="50000"/>
          </a:spcBef>
          <a:spcAft>
            <a:spcPct val="0"/>
          </a:spcAft>
          <a:buClrTx/>
          <a:buSzTx/>
          <a:buFontTx/>
          <a:buNone/>
          <a:tabLst/>
          <a:defRPr kumimoji="0" lang="en-US" sz="1600" b="0" i="0" u="none" strike="noStrike" cap="none" normalizeH="0" baseline="0" smtClean="0">
            <a:ln>
              <a:noFill/>
            </a:ln>
            <a:solidFill>
              <a:schemeClr val="tx1"/>
            </a:solidFill>
            <a:effectLst/>
            <a:latin typeface="Arial" charset="0"/>
          </a:defRPr>
        </a:defPPr>
      </a:lstStyle>
    </a:lnDef>
  </a:objectDefaults>
  <a:extraClrSchemeLst>
    <a:extraClrScheme>
      <a:clrScheme name="TMP-DEV-PPT-v8.1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MP-DEV-PPT-v8.1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TMP-DEV-PPT-v8.1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MP-DEV-PPT-v8.1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MP-DEV-PPT-v8.1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MP-DEV-PPT-v8.1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TMP-DEV-PPT-v8.1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TMP-DEV-PPT-v8.1 8">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FF9900"/>
        </a:hlink>
        <a:folHlink>
          <a:srgbClr val="FF9900"/>
        </a:folHlink>
      </a:clrScheme>
      <a:clrMap bg1="lt1" tx1="dk1" bg2="lt2" tx2="dk2" accent1="accent1" accent2="accent2" accent3="accent3" accent4="accent4" accent5="accent5" accent6="accent6" hlink="hlink" folHlink="folHlink"/>
    </a:extraClrScheme>
    <a:extraClrScheme>
      <a:clrScheme name="TMP-DEV-PPT-v8.1 9">
        <a:dk1>
          <a:srgbClr val="000000"/>
        </a:dk1>
        <a:lt1>
          <a:srgbClr val="FFFFFF"/>
        </a:lt1>
        <a:dk2>
          <a:srgbClr val="FFFFFF"/>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0">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FF9900"/>
        </a:folHlink>
      </a:clrScheme>
      <a:clrMap bg1="lt1" tx1="dk1" bg2="lt2" tx2="dk2" accent1="accent1" accent2="accent2" accent3="accent3" accent4="accent4" accent5="accent5" accent6="accent6" hlink="hlink" folHlink="folHlink"/>
    </a:extraClrScheme>
    <a:extraClrScheme>
      <a:clrScheme name="TMP-DEV-PPT-v8.1 11">
        <a:dk1>
          <a:srgbClr val="000000"/>
        </a:dk1>
        <a:lt1>
          <a:srgbClr val="FFFFFF"/>
        </a:lt1>
        <a:dk2>
          <a:srgbClr val="000000"/>
        </a:dk2>
        <a:lt2>
          <a:srgbClr val="000000"/>
        </a:lt2>
        <a:accent1>
          <a:srgbClr val="339999"/>
        </a:accent1>
        <a:accent2>
          <a:srgbClr val="B92B38"/>
        </a:accent2>
        <a:accent3>
          <a:srgbClr val="FFFFFF"/>
        </a:accent3>
        <a:accent4>
          <a:srgbClr val="000000"/>
        </a:accent4>
        <a:accent5>
          <a:srgbClr val="ADCACA"/>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2">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9999CC"/>
        </a:hlink>
        <a:folHlink>
          <a:srgbClr val="EEB30E"/>
        </a:folHlink>
      </a:clrScheme>
      <a:clrMap bg1="lt1" tx1="dk1" bg2="lt2" tx2="dk2" accent1="accent1" accent2="accent2" accent3="accent3" accent4="accent4" accent5="accent5" accent6="accent6" hlink="hlink" folHlink="folHlink"/>
    </a:extraClrScheme>
    <a:extraClrScheme>
      <a:clrScheme name="TMP-DEV-PPT-v8.1 13">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336599"/>
        </a:hlink>
        <a:folHlink>
          <a:srgbClr val="EEB30E"/>
        </a:folHlink>
      </a:clrScheme>
      <a:clrMap bg1="lt1" tx1="dk1" bg2="lt2" tx2="dk2" accent1="accent1" accent2="accent2" accent3="accent3" accent4="accent4" accent5="accent5" accent6="accent6" hlink="hlink" folHlink="folHlink"/>
    </a:extraClrScheme>
    <a:extraClrScheme>
      <a:clrScheme name="TMP-DEV-PPT-v8.1 14">
        <a:dk1>
          <a:srgbClr val="000000"/>
        </a:dk1>
        <a:lt1>
          <a:srgbClr val="FFFFFF"/>
        </a:lt1>
        <a:dk2>
          <a:srgbClr val="000000"/>
        </a:dk2>
        <a:lt2>
          <a:srgbClr val="000000"/>
        </a:lt2>
        <a:accent1>
          <a:srgbClr val="306774"/>
        </a:accent1>
        <a:accent2>
          <a:srgbClr val="B92B38"/>
        </a:accent2>
        <a:accent3>
          <a:srgbClr val="FFFFFF"/>
        </a:accent3>
        <a:accent4>
          <a:srgbClr val="000000"/>
        </a:accent4>
        <a:accent5>
          <a:srgbClr val="ADB8BC"/>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5">
        <a:dk1>
          <a:srgbClr val="000000"/>
        </a:dk1>
        <a:lt1>
          <a:srgbClr val="FFFFFF"/>
        </a:lt1>
        <a:dk2>
          <a:srgbClr val="0183B7"/>
        </a:dk2>
        <a:lt2>
          <a:srgbClr val="000000"/>
        </a:lt2>
        <a:accent1>
          <a:srgbClr val="0183B7"/>
        </a:accent1>
        <a:accent2>
          <a:srgbClr val="B92B38"/>
        </a:accent2>
        <a:accent3>
          <a:srgbClr val="FFFFFF"/>
        </a:accent3>
        <a:accent4>
          <a:srgbClr val="000000"/>
        </a:accent4>
        <a:accent5>
          <a:srgbClr val="AAC1D8"/>
        </a:accent5>
        <a:accent6>
          <a:srgbClr val="A72632"/>
        </a:accent6>
        <a:hlink>
          <a:srgbClr val="4B87C3"/>
        </a:hlink>
        <a:folHlink>
          <a:srgbClr val="EEB30E"/>
        </a:folHlink>
      </a:clrScheme>
      <a:clrMap bg1="lt1" tx1="dk1" bg2="lt2" tx2="dk2" accent1="accent1" accent2="accent2" accent3="accent3" accent4="accent4" accent5="accent5" accent6="accent6" hlink="hlink" folHlink="folHlink"/>
    </a:extraClrScheme>
    <a:extraClrScheme>
      <a:clrScheme name="TMP-DEV-PPT-v8.1 16">
        <a:dk1>
          <a:srgbClr val="000000"/>
        </a:dk1>
        <a:lt1>
          <a:srgbClr val="FFFFFF"/>
        </a:lt1>
        <a:dk2>
          <a:srgbClr val="0183B7"/>
        </a:dk2>
        <a:lt2>
          <a:srgbClr val="000000"/>
        </a:lt2>
        <a:accent1>
          <a:srgbClr val="0183B7"/>
        </a:accent1>
        <a:accent2>
          <a:srgbClr val="B21A1A"/>
        </a:accent2>
        <a:accent3>
          <a:srgbClr val="FFFFFF"/>
        </a:accent3>
        <a:accent4>
          <a:srgbClr val="000000"/>
        </a:accent4>
        <a:accent5>
          <a:srgbClr val="AAC1D8"/>
        </a:accent5>
        <a:accent6>
          <a:srgbClr val="A11616"/>
        </a:accent6>
        <a:hlink>
          <a:srgbClr val="4B87C3"/>
        </a:hlink>
        <a:folHlink>
          <a:srgbClr val="EEB30E"/>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TMP-DEV-PPT-v8.0</Template>
  <TotalTime>3788</TotalTime>
  <Words>3117</Words>
  <Application>Microsoft Office PowerPoint</Application>
  <PresentationFormat>On-screen Show (4:3)</PresentationFormat>
  <Paragraphs>259</Paragraphs>
  <Slides>35</Slides>
  <Notes>32</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TMP-DEV-PPT-v8.1</vt:lpstr>
      <vt:lpstr>Medium-Sized Routed Network Construction </vt:lpstr>
      <vt:lpstr>Module Overview </vt:lpstr>
      <vt:lpstr>What Is a Routing Protocol?</vt:lpstr>
      <vt:lpstr>Routing Protocol</vt:lpstr>
      <vt:lpstr>Overview routing</vt:lpstr>
      <vt:lpstr>Static vs. Dynamic Routes</vt:lpstr>
      <vt:lpstr>Autonomous Systems: Interior or Exterior Routing Protocols</vt:lpstr>
      <vt:lpstr>Administrative Distance:  Ranking Routes</vt:lpstr>
      <vt:lpstr>Classful Routing Protocol</vt:lpstr>
      <vt:lpstr>Classless Routing Protocol</vt:lpstr>
      <vt:lpstr>Distance Vector Routing Protocols</vt:lpstr>
      <vt:lpstr>Sources of Information and Discovering Routes</vt:lpstr>
      <vt:lpstr>Link-State Routing Protocols</vt:lpstr>
      <vt:lpstr>EIGRP</vt:lpstr>
      <vt:lpstr>Benefits and Drawbacks of Link-State Routing </vt:lpstr>
      <vt:lpstr>Selecting the Best Route Using Metrics</vt:lpstr>
      <vt:lpstr>Maintaining Routing Information</vt:lpstr>
      <vt:lpstr>Inconsistent Routing Entries: Counting to Infinity and Routing Loops</vt:lpstr>
      <vt:lpstr>Counting to Infinity</vt:lpstr>
      <vt:lpstr>Counting to Infinity (Cont.)</vt:lpstr>
      <vt:lpstr>Counting to Infinity (Cont.)</vt:lpstr>
      <vt:lpstr>Counting to Infinity (Cont.)</vt:lpstr>
      <vt:lpstr>Solution to Counting to Infinity: Defining a Maximum</vt:lpstr>
      <vt:lpstr>Routing Loops</vt:lpstr>
      <vt:lpstr>Solution to Routing Loops: Split Horizon</vt:lpstr>
      <vt:lpstr>Solution to Routing Loops: Route Poisoning and Poison Reverse</vt:lpstr>
      <vt:lpstr>Solution to Routing Loops: Route Poisoning and Poison Reverse (Cont.)</vt:lpstr>
      <vt:lpstr>Solution to Routing Loops:  Hold-Down Timers</vt:lpstr>
      <vt:lpstr>Triggered Updates</vt:lpstr>
      <vt:lpstr>Eliminating Routing Loops</vt:lpstr>
      <vt:lpstr>Eliminating Routing Loops (Cont.)</vt:lpstr>
      <vt:lpstr>Eliminating Routing Loops (Cont.)</vt:lpstr>
      <vt:lpstr>Benefits and Drawbacks of Link-State Routing </vt:lpstr>
      <vt:lpstr>Summary</vt:lpstr>
      <vt:lpstr>PowerPoint Presentation</vt:lpstr>
    </vt:vector>
  </TitlesOfParts>
  <Manager>Erin Stanley</Manager>
  <Company>Cisco Systems,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MA-ILT-Lesson-v4.2.ppt</dc:title>
  <dc:creator>Editorial, Production, and Graphics Services (EPGS)</dc:creator>
  <dc:description>04/04, v3.1, Libby Goga_x000d_
applied new ILSG learning design_x000d_
04/24/04, v3.1, Erin Stanley_x000d_
prepared for production_x000d_
Updated; dmachado:  01.04.05_x000d_
04.07.06: jbangloy: Applied Template QACS-PPT-v7.0_x000d_
04.10.06: kayclark: DTP Check_x000d_
Edit: Michele Gilfether: 04.24.06</dc:description>
  <cp:lastModifiedBy>phamthaikhanh@gmail.com</cp:lastModifiedBy>
  <cp:revision>164</cp:revision>
  <dcterms:created xsi:type="dcterms:W3CDTF">2003-04-02T15:29:42Z</dcterms:created>
  <dcterms:modified xsi:type="dcterms:W3CDTF">2014-09-26T03:34:28Z</dcterms:modified>
  <cp:category>Masters</cp:category>
</cp:coreProperties>
</file>