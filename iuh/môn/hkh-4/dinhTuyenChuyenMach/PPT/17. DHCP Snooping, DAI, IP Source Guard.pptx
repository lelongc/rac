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  <p:sldMasterId id="2147483938" r:id="rId2"/>
  </p:sldMasterIdLst>
  <p:notesMasterIdLst>
    <p:notesMasterId r:id="rId23"/>
  </p:notesMasterIdLst>
  <p:sldIdLst>
    <p:sldId id="444" r:id="rId3"/>
    <p:sldId id="419" r:id="rId4"/>
    <p:sldId id="420" r:id="rId5"/>
    <p:sldId id="440" r:id="rId6"/>
    <p:sldId id="341" r:id="rId7"/>
    <p:sldId id="342" r:id="rId8"/>
    <p:sldId id="436" r:id="rId9"/>
    <p:sldId id="441" r:id="rId10"/>
    <p:sldId id="459" r:id="rId11"/>
    <p:sldId id="421" r:id="rId12"/>
    <p:sldId id="345" r:id="rId13"/>
    <p:sldId id="423" r:id="rId14"/>
    <p:sldId id="437" r:id="rId15"/>
    <p:sldId id="442" r:id="rId16"/>
    <p:sldId id="455" r:id="rId17"/>
    <p:sldId id="346" r:id="rId18"/>
    <p:sldId id="347" r:id="rId19"/>
    <p:sldId id="349" r:id="rId20"/>
    <p:sldId id="351" r:id="rId21"/>
    <p:sldId id="316" r:id="rId22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435153"/>
    <a:srgbClr val="6B6B6B"/>
    <a:srgbClr val="264DAE"/>
    <a:srgbClr val="4ADAD7"/>
    <a:srgbClr val="90A3A6"/>
    <a:srgbClr val="EDDFF5"/>
    <a:srgbClr val="493B9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0" autoAdjust="0"/>
    <p:restoredTop sz="94484" autoAdjust="0"/>
  </p:normalViewPr>
  <p:slideViewPr>
    <p:cSldViewPr snapToGrid="0">
      <p:cViewPr varScale="1">
        <p:scale>
          <a:sx n="64" d="100"/>
          <a:sy n="64" d="100"/>
        </p:scale>
        <p:origin x="172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33006-993C-46CE-BE81-A42F2D8A6269}" type="datetimeFigureOut">
              <a:rPr lang="en-US" smtClean="0"/>
              <a:t>03/11/21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2CD79-D36A-4E01-AE1C-064887FE9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6.2.5.1 DHCP Spoofing</a:t>
            </a:r>
            <a:r>
              <a:rPr lang="en-US" baseline="0" dirty="0"/>
              <a:t>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6.2.5.2 DHCP Starvation </a:t>
            </a:r>
            <a:r>
              <a:rPr lang="en-US" baseline="0" dirty="0"/>
              <a:t>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6.2.5.2 DHCP Starvation </a:t>
            </a:r>
            <a:r>
              <a:rPr lang="en-US" baseline="0" dirty="0"/>
              <a:t>Attack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1.2.3.3 Trojan Horses</a:t>
            </a:r>
          </a:p>
          <a:p>
            <a:r>
              <a:rPr lang="en-US" dirty="0"/>
              <a:t>1.2.3.4 Trojan Horse 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6.2.5.4 Configuring DHCP Snooping</a:t>
            </a:r>
          </a:p>
          <a:p>
            <a:r>
              <a:rPr lang="en-US" dirty="0"/>
              <a:t>6.2.5.5 Configuring DHCP Snooping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6.2.5.5 Configuring DHCP Snooping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6.2.5.5 Configuring DHCP Snooping Example (Cont.)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6.2.6.1 </a:t>
            </a:r>
            <a:r>
              <a:rPr lang="en-US" sz="1200" dirty="0"/>
              <a:t>ARP Spoofing and ARP Poisoning Attack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6.2.6.2 Mitigating</a:t>
            </a:r>
            <a:r>
              <a:rPr lang="en-US" baseline="0" dirty="0"/>
              <a:t> ARP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6.2.6.4 </a:t>
            </a:r>
            <a:r>
              <a:rPr lang="en-US" sz="1200" dirty="0"/>
              <a:t>Configuring Dynamic ARP Inspection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6.2.6.5 </a:t>
            </a:r>
            <a:r>
              <a:rPr lang="en-US" sz="1200" dirty="0"/>
              <a:t>Configuring Dynamic ARP Inspection Example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6.2.6.4 Configuring Dynamic</a:t>
            </a:r>
            <a:r>
              <a:rPr lang="en-US" baseline="0" dirty="0"/>
              <a:t> ARP Inspection Example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6.2.6.4 Configuring Dynamic</a:t>
            </a:r>
            <a:r>
              <a:rPr lang="en-US" baseline="0" dirty="0"/>
              <a:t> ARP Inspection Example (Cont.)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4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6.2.7.1 </a:t>
            </a:r>
            <a:r>
              <a:rPr lang="en-US" sz="1200" dirty="0"/>
              <a:t>Address Spoofing Attack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6.2.7.2 </a:t>
            </a:r>
            <a:r>
              <a:rPr lang="en-US" sz="1200" dirty="0"/>
              <a:t>Mitigating Address Spoofing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6.2.7.3 </a:t>
            </a:r>
            <a:r>
              <a:rPr lang="en-US" sz="1200" dirty="0"/>
              <a:t>Configuring IP Source Guard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6.2.8.1 </a:t>
            </a:r>
            <a:r>
              <a:rPr lang="en-US" sz="1200" dirty="0"/>
              <a:t>Introduction to the Spanning Tree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3657600" cy="384721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2" y="4464066"/>
            <a:ext cx="3657600" cy="384721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>
                <a:srgbClr val="92D050"/>
              </a:buClr>
              <a:buSzPct val="90000"/>
              <a:buFont typeface="Arial" pitchFamily="34" charset="0"/>
              <a:buNone/>
              <a:tabLst/>
              <a:defRPr/>
            </a:pPr>
            <a:r>
              <a:rPr lang="en-US" dirty="0"/>
              <a:t>Speaker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algn="l" defTabSz="914400" rtl="0" eaLnBrk="1" latinLnBrk="0" hangingPunct="1">
              <a:lnSpc>
                <a:spcPts val="6200"/>
              </a:lnSpc>
              <a:spcBef>
                <a:spcPct val="0"/>
              </a:spcBef>
              <a:buNone/>
              <a:defRPr lang="en-US" sz="5400" b="0" kern="120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pic>
        <p:nvPicPr>
          <p:cNvPr id="44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12068" y="330200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3" y="4862154"/>
            <a:ext cx="3657600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2" y="5231003"/>
            <a:ext cx="3657600" cy="297004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70477232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464066"/>
            <a:ext cx="8110728" cy="384175"/>
          </a:xfr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>
            <a:lvl1pPr marL="0" indent="0" algn="l"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  <p:pic>
        <p:nvPicPr>
          <p:cNvPr id="51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3" y="325971"/>
            <a:ext cx="2920207" cy="48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36382" y="4862154"/>
            <a:ext cx="8110728" cy="35548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8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36381" y="5231003"/>
            <a:ext cx="8110728" cy="297004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400">
                <a:solidFill>
                  <a:srgbClr val="493B93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1248229"/>
            <a:ext cx="8112125" cy="290723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7793137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712451"/>
            <a:ext cx="8477250" cy="1828800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4696378"/>
            <a:ext cx="8477250" cy="1844873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571527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Seg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399142"/>
            <a:ext cx="8548802" cy="4134758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marL="0" algn="l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9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7243975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554809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06781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29702" y="1339745"/>
            <a:ext cx="4122425" cy="496570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ts val="1480"/>
              </a:spcBef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spcBef>
                <a:spcPts val="600"/>
              </a:spcBef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39713" y="1339745"/>
            <a:ext cx="4103687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ounded Rectangle 9"/>
          <p:cNvSpPr/>
          <p:nvPr userDrawn="1"/>
        </p:nvSpPr>
        <p:spPr>
          <a:xfrm>
            <a:off x="4984231" y="1416140"/>
            <a:ext cx="3759720" cy="459903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rgbClr val="EDDFF5"/>
              </a:gs>
            </a:gsLst>
            <a:lin ang="2700000" scaled="1"/>
            <a:tileRect/>
          </a:gra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221224" y="1747683"/>
            <a:ext cx="3236976" cy="1900292"/>
          </a:xfrm>
        </p:spPr>
        <p:txBody>
          <a:bodyPr/>
          <a:lstStyle>
            <a:lvl1pPr marL="114300" indent="-114300">
              <a:buFontTx/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6"/>
          </p:nvPr>
        </p:nvSpPr>
        <p:spPr>
          <a:xfrm>
            <a:off x="5310124" y="4876800"/>
            <a:ext cx="3044497" cy="326243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 flipH="1">
            <a:off x="4990141" y="1335313"/>
            <a:ext cx="1" cy="4760687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2592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301752"/>
            <a:ext cx="4123944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19455" y="1600200"/>
            <a:ext cx="4142232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06400" indent="0">
              <a:buClr>
                <a:schemeClr val="accent5"/>
              </a:buClr>
              <a:buFontTx/>
              <a:buNone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818888" y="1600200"/>
            <a:ext cx="4005072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406400" indent="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None/>
              <a:defRPr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18887" y="301752"/>
            <a:ext cx="3951308" cy="838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Two Column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rPr>
              <a:t>Title Right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44475" y="1866900"/>
            <a:ext cx="2622550" cy="439102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292474" y="1866900"/>
            <a:ext cx="2593975" cy="4362450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75388" y="1866900"/>
            <a:ext cx="2633662" cy="4333875"/>
          </a:xfr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defRPr lang="en-US" sz="20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95000"/>
              </a:lnSpc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2pPr>
            <a:lvl3pPr marL="569912" indent="0" algn="l" defTabSz="914400" rtl="0" eaLnBrk="1" latinLnBrk="0" hangingPunct="1">
              <a:lnSpc>
                <a:spcPct val="95000"/>
              </a:lnSpc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3pPr>
            <a:lvl4pPr algn="l" defTabSz="914400" rtl="0" eaLnBrk="1" latinLnBrk="0" hangingPunct="1">
              <a:lnSpc>
                <a:spcPct val="95000"/>
              </a:lnSpc>
              <a:defRPr lang="en-US" sz="1200" kern="1200" dirty="0" smtClean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95000"/>
              </a:lnSpc>
              <a:defRPr lang="en-US" sz="1200" kern="1200" dirty="0">
                <a:solidFill>
                  <a:srgbClr val="435153"/>
                </a:solidFill>
                <a:latin typeface="+mj-lt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7"/>
          </p:nvPr>
        </p:nvSpPr>
        <p:spPr>
          <a:xfrm>
            <a:off x="219456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3255264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Text Placeholder 20"/>
          <p:cNvSpPr>
            <a:spLocks noGrp="1" noChangeAspect="1"/>
          </p:cNvSpPr>
          <p:nvPr>
            <p:ph type="body" sz="quarter" idx="19"/>
          </p:nvPr>
        </p:nvSpPr>
        <p:spPr>
          <a:xfrm>
            <a:off x="6247902" y="319099"/>
            <a:ext cx="2670048" cy="1200329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082817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6083084" y="869003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246972" y="439710"/>
            <a:ext cx="8567244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359764" y="1476375"/>
            <a:ext cx="8439461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49466" y="6062114"/>
            <a:ext cx="7461250" cy="276999"/>
          </a:xfrm>
        </p:spPr>
        <p:txBody>
          <a:bodyPr wrap="square" anchor="b" anchorCtr="0">
            <a:sp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rgbClr val="435153"/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6888" y="1600200"/>
            <a:ext cx="4005072" cy="3749040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24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873752" y="1947672"/>
            <a:ext cx="3429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5430244"/>
            <a:ext cx="85586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744" y="484632"/>
            <a:ext cx="8755128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Format large quotes using this slide layout. Be sure to cite your source below.”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0248" y="5358903"/>
            <a:ext cx="8574685" cy="61436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21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1918741"/>
            <a:ext cx="4117446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922519" y="777667"/>
            <a:ext cx="3895344" cy="5287676"/>
          </a:xfr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+mn-cs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marL="0" lv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Clr>
                <a:srgbClr val="435153"/>
              </a:buClr>
              <a:buFont typeface="Arial" pitchFamily="34" charset="0"/>
              <a:buNone/>
            </a:pPr>
            <a:r>
              <a:rPr lang="en-US" dirty="0"/>
              <a:t>Tell your story here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486587" y="777667"/>
            <a:ext cx="0" cy="5287676"/>
          </a:xfrm>
          <a:prstGeom prst="line">
            <a:avLst/>
          </a:prstGeom>
          <a:ln w="76200" cap="rnd">
            <a:gradFill>
              <a:gsLst>
                <a:gs pos="0">
                  <a:schemeClr val="tx1"/>
                </a:gs>
                <a:gs pos="50000">
                  <a:schemeClr val="accent4"/>
                </a:gs>
                <a:gs pos="100000">
                  <a:schemeClr val="tx2"/>
                </a:gs>
              </a:gsLst>
              <a:lin ang="12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1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6383" y="4279392"/>
            <a:ext cx="4684867" cy="38417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rgbClr val="493B93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8693" y="3282696"/>
            <a:ext cx="4712557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60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5540375" y="1917700"/>
            <a:ext cx="2676525" cy="2889250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891875" y="795528"/>
            <a:ext cx="534924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91874" y="4794352"/>
            <a:ext cx="5347552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1900238" y="795528"/>
            <a:ext cx="5329238" cy="400507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65871" y="4873438"/>
            <a:ext cx="5074070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8328" y="310896"/>
            <a:ext cx="3273552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38328" y="310896"/>
            <a:ext cx="3273552" cy="2459736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29703" y="3429000"/>
            <a:ext cx="7009298" cy="1421928"/>
          </a:xfrm>
        </p:spPr>
        <p:txBody>
          <a:bodyPr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92624" y="859536"/>
            <a:ext cx="3630168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992624" y="859536"/>
            <a:ext cx="3630168" cy="502920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9703" y="728972"/>
            <a:ext cx="4349918" cy="108952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668713" y="311149"/>
            <a:ext cx="3268136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89" y="311149"/>
            <a:ext cx="326786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963" y="311149"/>
            <a:ext cx="3258612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4" y="311149"/>
            <a:ext cx="3272751" cy="2660652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1988" y="311149"/>
            <a:ext cx="1806574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8" y="311149"/>
            <a:ext cx="1806573" cy="1308101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4963" y="3028951"/>
            <a:ext cx="250196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3028951"/>
            <a:ext cx="2516104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1476" y="3028951"/>
            <a:ext cx="4025374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3028951"/>
            <a:ext cx="4028516" cy="3458934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11988" y="1683657"/>
            <a:ext cx="1806574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8" y="1676400"/>
            <a:ext cx="1806573" cy="344941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11988" y="5182960"/>
            <a:ext cx="1806574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8" y="5182960"/>
            <a:ext cx="1806573" cy="1304925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7762659" y="6584513"/>
            <a:ext cx="81299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Public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FFFFFF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1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0896"/>
            <a:ext cx="8476488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333375" y="339924"/>
            <a:ext cx="8474869" cy="6054185"/>
          </a:xfrm>
          <a:ln>
            <a:solidFill>
              <a:srgbClr val="FFFFFF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-91440" y="-91440"/>
            <a:ext cx="9326880" cy="704088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2642616" y="777240"/>
            <a:ext cx="5897880" cy="4425696"/>
          </a:xfrm>
          <a:solidFill>
            <a:srgbClr val="000000"/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148" y="6042098"/>
            <a:ext cx="2889136" cy="48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36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blue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7" y="-1587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black">
          <a:xfrm>
            <a:off x="4373702" y="5844550"/>
            <a:ext cx="41443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black">
          <a:xfrm>
            <a:off x="4615130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black">
          <a:xfrm>
            <a:off x="4200221" y="5840202"/>
            <a:ext cx="119991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7" name="Freeform 6"/>
          <p:cNvSpPr>
            <a:spLocks noEditPoints="1"/>
          </p:cNvSpPr>
          <p:nvPr userDrawn="1"/>
        </p:nvSpPr>
        <p:spPr bwMode="black">
          <a:xfrm>
            <a:off x="4778491" y="5840202"/>
            <a:ext cx="164807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black">
          <a:xfrm>
            <a:off x="4468634" y="5840202"/>
            <a:ext cx="107462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black">
          <a:xfrm>
            <a:off x="4117817" y="5654198"/>
            <a:ext cx="3903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black">
          <a:xfrm>
            <a:off x="4227206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black">
          <a:xfrm>
            <a:off x="4334669" y="5525687"/>
            <a:ext cx="3903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black">
          <a:xfrm>
            <a:off x="4444058" y="5600088"/>
            <a:ext cx="3903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black">
          <a:xfrm>
            <a:off x="4551038" y="5654198"/>
            <a:ext cx="41443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black">
          <a:xfrm>
            <a:off x="4660428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black">
          <a:xfrm>
            <a:off x="4769818" y="5525687"/>
            <a:ext cx="3951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black">
          <a:xfrm>
            <a:off x="4877279" y="5600088"/>
            <a:ext cx="3951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  <p:sp>
        <p:nvSpPr>
          <p:cNvPr id="18" name="Freeform 17"/>
          <p:cNvSpPr>
            <a:spLocks/>
          </p:cNvSpPr>
          <p:nvPr/>
        </p:nvSpPr>
        <p:spPr bwMode="black">
          <a:xfrm>
            <a:off x="4986669" y="5654198"/>
            <a:ext cx="3951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96D6"/>
              </a:solidFill>
              <a:latin typeface="+mj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3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5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TextBox 33"/>
          <p:cNvSpPr txBox="1"/>
          <p:nvPr userDrawn="1"/>
        </p:nvSpPr>
        <p:spPr>
          <a:xfrm>
            <a:off x="644691" y="3060488"/>
            <a:ext cx="2437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9746" y="3078070"/>
            <a:ext cx="3669899" cy="61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6564313"/>
            <a:ext cx="9144000" cy="29845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43863" y="6634163"/>
            <a:ext cx="852487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>
            <a:spAutoFit/>
          </a:bodyPr>
          <a:lstStyle>
            <a:lvl1pPr defTabSz="814388">
              <a:defRPr sz="3000"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814388">
              <a:defRPr sz="3000"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14388">
              <a:defRPr sz="3000"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r>
              <a:rPr lang="en-US" altLang="zh-CN" sz="700">
                <a:solidFill>
                  <a:srgbClr val="C0C0C0"/>
                </a:solidFill>
                <a:ea typeface="宋体" charset="-122"/>
              </a:rPr>
              <a:t>BSCI v3.0—2-</a:t>
            </a:r>
            <a:fld id="{65D8D174-AB76-4995-8CE0-7E461344EFBC}" type="slidenum">
              <a:rPr lang="en-US" altLang="zh-CN" sz="700">
                <a:solidFill>
                  <a:srgbClr val="C0C0C0"/>
                </a:solidFill>
                <a:ea typeface="宋体" charset="-122"/>
              </a:rPr>
              <a:pPr algn="r"/>
              <a:t>‹#›</a:t>
            </a:fld>
            <a:endParaRPr lang="en-US" altLang="zh-CN" sz="700">
              <a:solidFill>
                <a:srgbClr val="C0C0C0"/>
              </a:solidFill>
              <a:ea typeface="宋体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454275"/>
            <a:ext cx="9144000" cy="4111625"/>
          </a:xfrm>
          <a:prstGeom prst="rect">
            <a:avLst/>
          </a:prstGeom>
          <a:solidFill>
            <a:srgbClr val="3067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" name="Picture 8" descr="MAD00558_j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70" b="64130"/>
          <a:stretch>
            <a:fillRect/>
          </a:stretch>
        </p:blipFill>
        <p:spPr bwMode="auto">
          <a:xfrm>
            <a:off x="0" y="0"/>
            <a:ext cx="91408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2406" name="Rectangle 6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55638" y="2951163"/>
            <a:ext cx="7797800" cy="5048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>
              <a:defRPr sz="20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42407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5638" y="3606800"/>
            <a:ext cx="7802562" cy="533400"/>
          </a:xfrm>
        </p:spPr>
        <p:txBody>
          <a:bodyPr lIns="91440" tIns="45720" rIns="91440" bIns="45720"/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78296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59004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467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636713"/>
            <a:ext cx="3894137" cy="3571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636713"/>
            <a:ext cx="3894138" cy="3571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159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0316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3686977"/>
      </p:ext>
    </p:extLst>
  </p:cSld>
  <p:clrMapOvr>
    <a:masterClrMapping/>
  </p:clrMapOvr>
  <p:transition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4" name="Rectangle 7"/>
          <p:cNvSpPr>
            <a:spLocks noChangeArrowheads="1"/>
          </p:cNvSpPr>
          <p:nvPr userDrawn="1"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83175984"/>
      </p:ext>
    </p:extLst>
  </p:cSld>
  <p:clrMapOvr>
    <a:masterClrMapping/>
  </p:clrMapOvr>
  <p:transition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35931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8910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3229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225425"/>
            <a:ext cx="2035175" cy="4983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225425"/>
            <a:ext cx="5957887" cy="49831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8603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2" y="432215"/>
            <a:ext cx="8588861" cy="838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44168"/>
            <a:ext cx="8577072" cy="4965192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4400356"/>
      </p:ext>
    </p:extLst>
  </p:cSld>
  <p:clrMapOvr>
    <a:masterClrMapping/>
  </p:clrMapOvr>
  <p:transition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5852160"/>
            <a:ext cx="8112126" cy="38417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493B93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456" y="649224"/>
            <a:ext cx="8112125" cy="4480560"/>
          </a:xfrm>
        </p:spPr>
        <p:txBody>
          <a:bodyPr/>
          <a:lstStyle>
            <a:lvl1pPr marL="236538" indent="-236538" algn="l" defTabSz="914400" rtl="0" eaLnBrk="1" latinLnBrk="0" hangingPunct="1">
              <a:lnSpc>
                <a:spcPts val="52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kumimoji="0" lang="en-US" sz="5400" b="0" i="0" u="none" strike="noStrike" kern="1200" cap="none" spc="0" normalizeH="0" baseline="0" dirty="0">
                <a:ln>
                  <a:noFill/>
                </a:ln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“Format large quotes using this slide layout. Be sure to cite your source below.”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0" y="0"/>
            <a:ext cx="9144000" cy="17780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2990680"/>
      </p:ext>
    </p:extLst>
  </p:cSld>
  <p:clrMapOvr>
    <a:masterClrMapping/>
  </p:clrMapOvr>
  <p:transition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421137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5" y="6380780"/>
            <a:ext cx="8477250" cy="160471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702" y="432215"/>
            <a:ext cx="858886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pPr lvl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9702" y="1339745"/>
            <a:ext cx="8577072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251373" y="6586246"/>
            <a:ext cx="3420515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© 2013 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7983399" y="6584512"/>
            <a:ext cx="592251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808080"/>
                </a:solidFill>
                <a:latin typeface="+mj-lt"/>
              </a:rPr>
              <a:t>Cisco Public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8639981" y="6580408"/>
            <a:ext cx="26042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80808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808080"/>
              </a:solidFill>
              <a:latin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930" r:id="rId2"/>
    <p:sldLayoutId id="2147483929" r:id="rId3"/>
    <p:sldLayoutId id="2147483937" r:id="rId4"/>
    <p:sldLayoutId id="2147483900" r:id="rId5"/>
    <p:sldLayoutId id="2147483931" r:id="rId6"/>
    <p:sldLayoutId id="2147483932" r:id="rId7"/>
    <p:sldLayoutId id="2147483933" r:id="rId8"/>
    <p:sldLayoutId id="2147483902" r:id="rId9"/>
    <p:sldLayoutId id="2147483903" r:id="rId10"/>
    <p:sldLayoutId id="2147483935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3" r:id="rId18"/>
    <p:sldLayoutId id="2147483911" r:id="rId19"/>
    <p:sldLayoutId id="2147483912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1" r:id="rId27"/>
    <p:sldLayoutId id="2147483922" r:id="rId28"/>
    <p:sldLayoutId id="2147483936" r:id="rId29"/>
    <p:sldLayoutId id="2147483923" r:id="rId30"/>
    <p:sldLayoutId id="2147483924" r:id="rId31"/>
    <p:sldLayoutId id="2147483925" r:id="rId32"/>
    <p:sldLayoutId id="2147483926" r:id="rId33"/>
    <p:sldLayoutId id="2147483927" r:id="rId34"/>
  </p:sldLayoutIdLst>
  <p:transition>
    <p:wipe dir="r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0" lang="en-US" sz="3600" b="0" i="0" u="none" strike="noStrike" kern="1200" cap="none" spc="0" normalizeH="0" baseline="0" dirty="0">
          <a:ln>
            <a:noFill/>
          </a:ln>
          <a:gradFill flip="none" rotWithShape="1">
            <a:gsLst>
              <a:gs pos="16000">
                <a:schemeClr val="tx2"/>
              </a:gs>
              <a:gs pos="100000">
                <a:srgbClr val="28A7DF"/>
              </a:gs>
            </a:gsLst>
            <a:lin ang="1800000" scaled="0"/>
            <a:tileRect/>
          </a:gradFill>
          <a:effectLst/>
          <a:uLnTx/>
          <a:uFillTx/>
          <a:latin typeface="+mj-lt"/>
          <a:ea typeface="+mj-ea"/>
          <a:cs typeface="Arial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rgbClr val="493B93"/>
        </a:buClr>
        <a:buSzPct val="90000"/>
        <a:buFont typeface="Arial" pitchFamily="34" charset="0"/>
        <a:buChar char="•"/>
        <a:tabLst/>
        <a:defRPr lang="en-US" sz="2200" kern="1200" dirty="0" smtClean="0">
          <a:solidFill>
            <a:srgbClr val="435153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435153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435153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435153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435153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1228725"/>
          </a:xfrm>
          <a:prstGeom prst="rect">
            <a:avLst/>
          </a:prstGeom>
          <a:solidFill>
            <a:srgbClr val="3067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white">
          <a:xfrm>
            <a:off x="655638" y="225425"/>
            <a:ext cx="8145462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 Title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636713"/>
            <a:ext cx="79406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Body Text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AutoShape 6"/>
          <p:cNvSpPr>
            <a:spLocks noChangeArrowheads="1"/>
          </p:cNvSpPr>
          <p:nvPr/>
        </p:nvSpPr>
        <p:spPr bwMode="white">
          <a:xfrm rot="10800000">
            <a:off x="8756650" y="-9525"/>
            <a:ext cx="387350" cy="377825"/>
          </a:xfrm>
          <a:prstGeom prst="rtTriangl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6564313"/>
            <a:ext cx="9144000" cy="298450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124" tIns="41061" rIns="82124" bIns="41061" anchor="ctr"/>
          <a:lstStyle>
            <a:lvl1pPr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19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3" r:id="rId12"/>
    <p:sldLayoutId id="2147483954" r:id="rId13"/>
    <p:sldLayoutId id="2147483955" r:id="rId14"/>
  </p:sldLayoutIdLst>
  <p:transition>
    <p:wipe dir="r"/>
  </p:transition>
  <p:txStyles>
    <p:titleStyle>
      <a:lvl1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2pPr>
      <a:lvl3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3pPr>
      <a:lvl4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4pPr>
      <a:lvl5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SzPct val="100000"/>
        <a:buFont typeface="Arial" charset="0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chemeClr val="accent1"/>
        </a:buClr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8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pngimg.com/download/380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2224" y="2898532"/>
            <a:ext cx="8548802" cy="1311671"/>
          </a:xfrm>
        </p:spPr>
        <p:txBody>
          <a:bodyPr/>
          <a:lstStyle/>
          <a:p>
            <a:r>
              <a:rPr lang="en-US" sz="3600"/>
              <a:t>DHCP Attacks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960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DHCP Spoofing Attack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84" y="1271473"/>
            <a:ext cx="7782079" cy="5019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38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DHCP Starvation Attack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08" y="1691031"/>
            <a:ext cx="5906364" cy="156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384811" y="1199892"/>
            <a:ext cx="8044812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Attacker Initiates a Starvation Attack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4008211"/>
            <a:ext cx="6358286" cy="156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384808" y="3603018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DHCP Server Offers Parameters</a:t>
            </a:r>
          </a:p>
        </p:txBody>
      </p:sp>
    </p:spTree>
    <p:extLst>
      <p:ext uri="{BB962C8B-B14F-4D97-AF65-F5344CB8AC3E}">
        <p14:creationId xmlns:p14="http://schemas.microsoft.com/office/powerpoint/2010/main" val="274231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DHCP Starvation Attack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384807" y="1243172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Client Requests all Offers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384808" y="3603018"/>
            <a:ext cx="8044815" cy="4051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DHCP Server Acknowledges All Requests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08" y="1740501"/>
            <a:ext cx="6599478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" y="4019324"/>
            <a:ext cx="6741071" cy="156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3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VLAN Attacks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384810" y="1237488"/>
            <a:ext cx="3815715" cy="40736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switch will deny packets containing specific information:</a:t>
            </a:r>
          </a:p>
          <a:p>
            <a:r>
              <a:rPr lang="en-US" sz="2000" dirty="0">
                <a:solidFill>
                  <a:schemeClr val="tx1"/>
                </a:solidFill>
              </a:rPr>
              <a:t>Unauthorized DHCP server messages from an untrusted port</a:t>
            </a:r>
          </a:p>
          <a:p>
            <a:r>
              <a:rPr lang="en-US" sz="2000" dirty="0">
                <a:solidFill>
                  <a:schemeClr val="tx1"/>
                </a:solidFill>
              </a:rPr>
              <a:t>Unauthorized DHCP client messages not adhering to the snooping binding table or rate limits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DHCP relay-agent packets that include option-82 information on an untrusted port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1266062"/>
            <a:ext cx="4531837" cy="398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55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Configuring DHCP Snooping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594" y="1282648"/>
            <a:ext cx="5484813" cy="4986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7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DHCP Snooping Example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906588"/>
            <a:ext cx="8400683" cy="13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315913" y="1380363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DHCP Snooping Reference Topology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3848100"/>
            <a:ext cx="6654800" cy="245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6"/>
          <p:cNvSpPr txBox="1">
            <a:spLocks/>
          </p:cNvSpPr>
          <p:nvPr/>
        </p:nvSpPr>
        <p:spPr>
          <a:xfrm>
            <a:off x="315913" y="3399663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Configuring a Maximum Number of MAC Addresses</a:t>
            </a:r>
          </a:p>
        </p:txBody>
      </p:sp>
    </p:spTree>
    <p:extLst>
      <p:ext uri="{BB962C8B-B14F-4D97-AF65-F5344CB8AC3E}">
        <p14:creationId xmlns:p14="http://schemas.microsoft.com/office/powerpoint/2010/main" val="258852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DHCP Snooping Example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315913" y="1380363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Verifying DHCP Snooping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315913" y="5119305"/>
            <a:ext cx="8168640" cy="448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Configuring a Maximum Number of MAC Addresses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768094"/>
            <a:ext cx="4321175" cy="325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5488538"/>
            <a:ext cx="6969125" cy="797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465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8" y="4411226"/>
            <a:ext cx="7880168" cy="1730828"/>
          </a:xfrm>
          <a:prstGeom prst="rect">
            <a:avLst/>
          </a:prstGeom>
        </p:spPr>
      </p:pic>
      <p:sp>
        <p:nvSpPr>
          <p:cNvPr id="5" name="Title 2"/>
          <p:cNvSpPr>
            <a:spLocks noGrp="1"/>
          </p:cNvSpPr>
          <p:nvPr>
            <p:ph type="ctrTitle"/>
          </p:nvPr>
        </p:nvSpPr>
        <p:spPr>
          <a:xfrm>
            <a:off x="195111" y="2489200"/>
            <a:ext cx="8548802" cy="952500"/>
          </a:xfrm>
        </p:spPr>
        <p:txBody>
          <a:bodyPr/>
          <a:lstStyle/>
          <a:p>
            <a:r>
              <a:rPr lang="en-US" sz="2800"/>
              <a:t>Mitigating ARP Spoofing and ARP Poisoning Attack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040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ARP Spoofing and ARP Poisoning Attack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58" y="1339338"/>
            <a:ext cx="849568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653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ARP Attacks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518160" y="1321307"/>
            <a:ext cx="2539366" cy="40323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Dynamic ARP </a:t>
            </a:r>
            <a:r>
              <a:rPr lang="en-US" sz="2000">
                <a:solidFill>
                  <a:schemeClr val="tx1"/>
                </a:solidFill>
              </a:rPr>
              <a:t>Inspection:</a:t>
            </a:r>
          </a:p>
          <a:p>
            <a:pPr lvl="1">
              <a:buFontTx/>
              <a:buChar char="•"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DAI associates each interface with a trusted state or an untrusted state.</a:t>
            </a:r>
          </a:p>
          <a:p>
            <a:pPr lvl="1">
              <a:buFontTx/>
              <a:buChar char="•"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Trusted interfaces bypass all DAI.</a:t>
            </a:r>
          </a:p>
          <a:p>
            <a:pPr lvl="1">
              <a:buFontTx/>
              <a:buChar char="•"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Untrusted interfaces undergo DAI validation.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6" y="1321307"/>
            <a:ext cx="5118100" cy="4683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11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Configuring Dynamic ARP Inspection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369" y="1289305"/>
            <a:ext cx="6037263" cy="4969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75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02" y="166751"/>
            <a:ext cx="8588861" cy="838200"/>
          </a:xfrm>
        </p:spPr>
        <p:txBody>
          <a:bodyPr/>
          <a:lstStyle/>
          <a:p>
            <a:r>
              <a:rPr lang="en-US" dirty="0"/>
              <a:t>Configuring DHCP Snooping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603766" y="2066925"/>
            <a:ext cx="3524250" cy="3848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ARP Reference Topology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355725"/>
            <a:ext cx="5329704" cy="350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4" y="4403725"/>
            <a:ext cx="5202155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 txBox="1">
            <a:spLocks/>
          </p:cNvSpPr>
          <p:nvPr/>
        </p:nvSpPr>
        <p:spPr>
          <a:xfrm>
            <a:off x="501649" y="5235575"/>
            <a:ext cx="2898776" cy="73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olidFill>
                  <a:schemeClr val="tx1"/>
                </a:solidFill>
              </a:rPr>
              <a:t>Configuring Dynamic ARP Inspection</a:t>
            </a:r>
          </a:p>
        </p:txBody>
      </p:sp>
    </p:spTree>
    <p:extLst>
      <p:ext uri="{BB962C8B-B14F-4D97-AF65-F5344CB8AC3E}">
        <p14:creationId xmlns:p14="http://schemas.microsoft.com/office/powerpoint/2010/main" val="51731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569" y="181493"/>
            <a:ext cx="8588861" cy="838200"/>
          </a:xfrm>
        </p:spPr>
        <p:txBody>
          <a:bodyPr/>
          <a:lstStyle/>
          <a:p>
            <a:r>
              <a:rPr lang="en-US" dirty="0"/>
              <a:t>Configuring DHCP Snooping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1475" y="1485900"/>
            <a:ext cx="7543800" cy="3848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Checking Source, Destination, and IP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2076449"/>
            <a:ext cx="6289675" cy="4017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56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8" y="4411226"/>
            <a:ext cx="7880168" cy="1730828"/>
          </a:xfrm>
          <a:prstGeom prst="rect">
            <a:avLst/>
          </a:prstGeom>
        </p:spPr>
      </p:pic>
      <p:sp>
        <p:nvSpPr>
          <p:cNvPr id="5" name="Title 2"/>
          <p:cNvSpPr>
            <a:spLocks noGrp="1"/>
          </p:cNvSpPr>
          <p:nvPr>
            <p:ph type="ctrTitle"/>
          </p:nvPr>
        </p:nvSpPr>
        <p:spPr>
          <a:xfrm>
            <a:off x="182411" y="2514600"/>
            <a:ext cx="8548802" cy="774700"/>
          </a:xfrm>
        </p:spPr>
        <p:txBody>
          <a:bodyPr/>
          <a:lstStyle/>
          <a:p>
            <a:r>
              <a:rPr lang="en-US" sz="2800"/>
              <a:t>Mitigating </a:t>
            </a:r>
            <a:r>
              <a:rPr lang="en-US" sz="2800" dirty="0"/>
              <a:t>Address Spoofing Attacks</a:t>
            </a:r>
          </a:p>
        </p:txBody>
      </p:sp>
    </p:spTree>
    <p:extLst>
      <p:ext uri="{BB962C8B-B14F-4D97-AF65-F5344CB8AC3E}">
        <p14:creationId xmlns:p14="http://schemas.microsoft.com/office/powerpoint/2010/main" val="402900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Address Spoofing Attack</a:t>
            </a: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31" y="1276144"/>
            <a:ext cx="5083898" cy="280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2" y="2543175"/>
            <a:ext cx="3910831" cy="375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Mitigating Address Spoofing Attacks</a:t>
            </a:r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220979" y="1260348"/>
            <a:ext cx="8519638" cy="31135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For each untrusted port, there are two possible levels of IP traffic security filtering:</a:t>
            </a:r>
          </a:p>
          <a:p>
            <a:r>
              <a:rPr lang="en-US" sz="1800" dirty="0">
                <a:solidFill>
                  <a:schemeClr val="bg2"/>
                </a:solidFill>
              </a:rPr>
              <a:t>Source IP address filter</a:t>
            </a:r>
          </a:p>
          <a:p>
            <a:r>
              <a:rPr lang="en-US" sz="1800" dirty="0">
                <a:solidFill>
                  <a:schemeClr val="bg2"/>
                </a:solidFill>
              </a:rPr>
              <a:t>Source IP and MAC address filter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776413"/>
            <a:ext cx="4784726" cy="413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1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Configuring IP Source Guard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58" y="1268772"/>
            <a:ext cx="4024768" cy="232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4669154" y="1793748"/>
            <a:ext cx="4014606" cy="371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IP Source Guard Reference Topology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552" y="3651942"/>
            <a:ext cx="5263453" cy="8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715" y="5025722"/>
            <a:ext cx="6223285" cy="111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6"/>
          <p:cNvSpPr txBox="1">
            <a:spLocks/>
          </p:cNvSpPr>
          <p:nvPr/>
        </p:nvSpPr>
        <p:spPr>
          <a:xfrm>
            <a:off x="5101021" y="3280364"/>
            <a:ext cx="3150872" cy="371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Configuring IP Source Guard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163954" y="4654145"/>
            <a:ext cx="3150872" cy="371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Checking IP Source Guard</a:t>
            </a:r>
          </a:p>
        </p:txBody>
      </p:sp>
    </p:spTree>
    <p:extLst>
      <p:ext uri="{BB962C8B-B14F-4D97-AF65-F5344CB8AC3E}">
        <p14:creationId xmlns:p14="http://schemas.microsoft.com/office/powerpoint/2010/main" val="335399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29702" y="104555"/>
            <a:ext cx="8588861" cy="83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Introduction to the Spanning Tree Protocol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86" y="1514474"/>
            <a:ext cx="8276828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1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6" descr="Diagram&#10;&#10;Description automatically generated">
            <a:extLst>
              <a:ext uri="{FF2B5EF4-FFF2-40B4-BE49-F238E27FC236}">
                <a16:creationId xmlns:a16="http://schemas.microsoft.com/office/drawing/2014/main" id="{70E75BB7-3FC5-4A8F-8954-C132AAC8337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5" r="24008" b="79613"/>
          <a:stretch>
            <a:fillRect/>
          </a:stretch>
        </p:blipFill>
        <p:spPr bwMode="auto">
          <a:xfrm>
            <a:off x="0" y="0"/>
            <a:ext cx="5029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DD9C03-03AA-47DE-87EB-4FE2C9FB0B18}"/>
              </a:ext>
            </a:extLst>
          </p:cNvPr>
          <p:cNvSpPr/>
          <p:nvPr/>
        </p:nvSpPr>
        <p:spPr bwMode="auto">
          <a:xfrm>
            <a:off x="4343400" y="-19050"/>
            <a:ext cx="4800600" cy="12801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034D05"/>
              </a:gs>
            </a:gsLst>
            <a:path path="circle">
              <a:fillToRect r="100000" b="100000"/>
            </a:path>
            <a:tileRect l="-100000" t="-100000"/>
          </a:gra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82124" tIns="41061" rIns="82124" bIns="41061" anchor="ctr"/>
          <a:lstStyle/>
          <a:p>
            <a:pPr algn="ctr" defTabSz="814388">
              <a:lnSpc>
                <a:spcPct val="90000"/>
              </a:lnSpc>
              <a:defRPr/>
            </a:pPr>
            <a:r>
              <a:rPr lang="en-US" sz="2800">
                <a:solidFill>
                  <a:srgbClr val="034D05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phamthaikhanh@gmail.com</a:t>
            </a:r>
          </a:p>
        </p:txBody>
      </p:sp>
      <p:sp>
        <p:nvSpPr>
          <p:cNvPr id="76806" name="Rectangle 16">
            <a:extLst>
              <a:ext uri="{FF2B5EF4-FFF2-40B4-BE49-F238E27FC236}">
                <a16:creationId xmlns:a16="http://schemas.microsoft.com/office/drawing/2014/main" id="{A3BE49B5-1D73-4E35-8072-E98E2E6C2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5225"/>
            <a:ext cx="9144000" cy="225425"/>
          </a:xfrm>
          <a:prstGeom prst="rect">
            <a:avLst/>
          </a:prstGeom>
          <a:solidFill>
            <a:srgbClr val="00B0F0"/>
          </a:solidFill>
          <a:ln w="28575" algn="ctr">
            <a:solidFill>
              <a:srgbClr val="00B0F0"/>
            </a:solidFill>
            <a:round/>
            <a:headEnd/>
            <a:tailEnd type="triangle" w="med" len="med"/>
          </a:ln>
        </p:spPr>
        <p:txBody>
          <a:bodyPr lIns="82124" tIns="41061" rIns="82124" bIns="41061"/>
          <a:lstStyle>
            <a:lvl1pPr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000"/>
          </a:p>
        </p:txBody>
      </p:sp>
      <p:pic>
        <p:nvPicPr>
          <p:cNvPr id="76807" name="Picture 20" descr="Icon&#10;&#10;Description automatically generated">
            <a:extLst>
              <a:ext uri="{FF2B5EF4-FFF2-40B4-BE49-F238E27FC236}">
                <a16:creationId xmlns:a16="http://schemas.microsoft.com/office/drawing/2014/main" id="{CA05779A-1B6B-47E1-AC99-2EA441F15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1390650"/>
            <a:ext cx="4664075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8" name="TextBox 21">
            <a:extLst>
              <a:ext uri="{FF2B5EF4-FFF2-40B4-BE49-F238E27FC236}">
                <a16:creationId xmlns:a16="http://schemas.microsoft.com/office/drawing/2014/main" id="{B842D278-B843-48DC-AEFB-615A28247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0" y="8248650"/>
            <a:ext cx="46640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>
                <a:hlinkClick r:id="rId4" tooltip="https://pngimg.com/download/38094"/>
              </a:rPr>
              <a:t>This Photo</a:t>
            </a:r>
            <a:r>
              <a:rPr lang="en-US" altLang="en-US" sz="900"/>
              <a:t> by Unknown Author is licensed under </a:t>
            </a:r>
            <a:r>
              <a:rPr lang="en-US" altLang="en-US" sz="900">
                <a:hlinkClick r:id="rId5" tooltip="https://creativecommons.org/licenses/by-nc/3.0/"/>
              </a:rPr>
              <a:t>CC BY-NC</a:t>
            </a:r>
            <a:endParaRPr lang="en-US" alt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Acad_White_PPT_Template 05Oct12">
  <a:themeElements>
    <a:clrScheme name="Cisco NetAcad">
      <a:dk1>
        <a:srgbClr val="2AA7DF"/>
      </a:dk1>
      <a:lt1>
        <a:srgbClr val="FFFFFF"/>
      </a:lt1>
      <a:dk2>
        <a:srgbClr val="6B308E"/>
      </a:dk2>
      <a:lt2>
        <a:srgbClr val="000000"/>
      </a:lt2>
      <a:accent1>
        <a:srgbClr val="00938E"/>
      </a:accent1>
      <a:accent2>
        <a:srgbClr val="3EB549"/>
      </a:accent2>
      <a:accent3>
        <a:srgbClr val="D81673"/>
      </a:accent3>
      <a:accent4>
        <a:srgbClr val="234493"/>
      </a:accent4>
      <a:accent5>
        <a:srgbClr val="ED2D28"/>
      </a:accent5>
      <a:accent6>
        <a:srgbClr val="F68B21"/>
      </a:accent6>
      <a:hlink>
        <a:srgbClr val="2AA7DF"/>
      </a:hlink>
      <a:folHlink>
        <a:srgbClr val="ACB2C2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eme1">
  <a:themeElements>
    <a:clrScheme name="CLS_PPT_v6.0 12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306774"/>
      </a:accent1>
      <a:accent2>
        <a:srgbClr val="B92B38"/>
      </a:accent2>
      <a:accent3>
        <a:srgbClr val="FFFFFF"/>
      </a:accent3>
      <a:accent4>
        <a:srgbClr val="000000"/>
      </a:accent4>
      <a:accent5>
        <a:srgbClr val="ADB8BC"/>
      </a:accent5>
      <a:accent6>
        <a:srgbClr val="A72632"/>
      </a:accent6>
      <a:hlink>
        <a:srgbClr val="9999CC"/>
      </a:hlink>
      <a:folHlink>
        <a:srgbClr val="EEB30E"/>
      </a:folHlink>
    </a:clrScheme>
    <a:fontScheme name="CLS_PPT_v6.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124" tIns="41061" rIns="82124" bIns="41061" numCol="1" anchor="t" anchorCtr="0" compatLnSpc="1">
        <a:prstTxWarp prst="textNoShape">
          <a:avLst/>
        </a:prstTxWarp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LS_PPT_v6.0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S_PPT_v6.0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8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FF99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9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0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39999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CACA"/>
        </a:accent5>
        <a:accent6>
          <a:srgbClr val="A72632"/>
        </a:accent6>
        <a:hlink>
          <a:srgbClr val="9999CC"/>
        </a:hlink>
        <a:folHlink>
          <a:srgbClr val="EEB30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S_PPT_v6.0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306774"/>
        </a:accent1>
        <a:accent2>
          <a:srgbClr val="B92B38"/>
        </a:accent2>
        <a:accent3>
          <a:srgbClr val="FFFFFF"/>
        </a:accent3>
        <a:accent4>
          <a:srgbClr val="000000"/>
        </a:accent4>
        <a:accent5>
          <a:srgbClr val="ADB8BC"/>
        </a:accent5>
        <a:accent6>
          <a:srgbClr val="A72632"/>
        </a:accent6>
        <a:hlink>
          <a:srgbClr val="9999CC"/>
        </a:hlink>
        <a:folHlink>
          <a:srgbClr val="EEB30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NetAcad_White_PPT_Template 05Oct12</Template>
  <TotalTime>7301</TotalTime>
  <Words>370</Words>
  <Application>Microsoft Office PowerPoint</Application>
  <PresentationFormat>On-screen Show (4:3)</PresentationFormat>
  <Paragraphs>81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Ciscolight</vt:lpstr>
      <vt:lpstr>Times New Roman</vt:lpstr>
      <vt:lpstr>NetAcad_White_PPT_Template 05Oct12</vt:lpstr>
      <vt:lpstr>Theme1</vt:lpstr>
      <vt:lpstr>DHCP Attacks</vt:lpstr>
      <vt:lpstr>DHCP Spoofing Attack</vt:lpstr>
      <vt:lpstr>DHCP Starvation Attack</vt:lpstr>
      <vt:lpstr>DHCP Starvation Attack</vt:lpstr>
      <vt:lpstr>Mitigating VLAN Attacks</vt:lpstr>
      <vt:lpstr>Configuring DHCP Snooping</vt:lpstr>
      <vt:lpstr>Configuring DHCP Snooping Example</vt:lpstr>
      <vt:lpstr>Configuring DHCP Snooping Example</vt:lpstr>
      <vt:lpstr>Mitigating ARP Spoofing and ARP Poisoning Attack</vt:lpstr>
      <vt:lpstr>ARP Spoofing and ARP Poisoning Attack</vt:lpstr>
      <vt:lpstr>Mitigating ARP Attacks</vt:lpstr>
      <vt:lpstr>Configuring Dynamic ARP Inspection</vt:lpstr>
      <vt:lpstr>Configuring DHCP Snooping Example</vt:lpstr>
      <vt:lpstr>Configuring DHCP Snooping Example</vt:lpstr>
      <vt:lpstr>Mitigating Address Spoofing Attacks</vt:lpstr>
      <vt:lpstr>Address Spoofing Attack</vt:lpstr>
      <vt:lpstr>Mitigating Address Spoofing Attacks</vt:lpstr>
      <vt:lpstr>Configuring IP Source Guard</vt:lpstr>
      <vt:lpstr>Introduction to the Spanning Tree Protocol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Relevant,  Surprising and Fresh: Cisco Brand</dc:title>
  <dc:creator>Melissa Gabriel</dc:creator>
  <cp:lastModifiedBy>Phạm Thái Khanh</cp:lastModifiedBy>
  <cp:revision>158</cp:revision>
  <dcterms:created xsi:type="dcterms:W3CDTF">2012-10-09T16:58:47Z</dcterms:created>
  <dcterms:modified xsi:type="dcterms:W3CDTF">2021-11-03T11:37:05Z</dcterms:modified>
</cp:coreProperties>
</file>