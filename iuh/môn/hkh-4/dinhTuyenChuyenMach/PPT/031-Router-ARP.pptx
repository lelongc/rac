
<file path=[Content_Types].xml><?xml version="1.0" encoding="utf-8"?>
<Types xmlns="http://schemas.openxmlformats.org/package/2006/content-types">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Lst>
  <p:notesMasterIdLst>
    <p:notesMasterId r:id="rId13"/>
  </p:notesMasterIdLst>
  <p:handoutMasterIdLst>
    <p:handoutMasterId r:id="rId14"/>
  </p:handoutMasterIdLst>
  <p:sldIdLst>
    <p:sldId id="272" r:id="rId2"/>
    <p:sldId id="328" r:id="rId3"/>
    <p:sldId id="329" r:id="rId4"/>
    <p:sldId id="342" r:id="rId5"/>
    <p:sldId id="343" r:id="rId6"/>
    <p:sldId id="344" r:id="rId7"/>
    <p:sldId id="345" r:id="rId8"/>
    <p:sldId id="347" r:id="rId9"/>
    <p:sldId id="348" r:id="rId10"/>
    <p:sldId id="341" r:id="rId11"/>
    <p:sldId id="330" r:id="rId12"/>
  </p:sldIdLst>
  <p:sldSz cx="9144000" cy="6858000" type="screen4x3"/>
  <p:notesSz cx="6858000" cy="9144000"/>
  <p:defaultTextStyle>
    <a:defPPr>
      <a:defRPr lang="en-US"/>
    </a:defPPr>
    <a:lvl1pPr algn="l" rtl="0" eaLnBrk="0" fontAlgn="base" hangingPunct="0">
      <a:lnSpc>
        <a:spcPct val="90000"/>
      </a:lnSpc>
      <a:spcBef>
        <a:spcPct val="50000"/>
      </a:spcBef>
      <a:spcAft>
        <a:spcPct val="0"/>
      </a:spcAft>
      <a:defRPr sz="1600" kern="1200">
        <a:solidFill>
          <a:schemeClr val="tx1"/>
        </a:solidFill>
        <a:latin typeface="Arial" charset="0"/>
        <a:ea typeface="+mn-ea"/>
        <a:cs typeface="+mn-cs"/>
      </a:defRPr>
    </a:lvl1pPr>
    <a:lvl2pPr marL="457200" algn="l" rtl="0" eaLnBrk="0" fontAlgn="base" hangingPunct="0">
      <a:lnSpc>
        <a:spcPct val="90000"/>
      </a:lnSpc>
      <a:spcBef>
        <a:spcPct val="50000"/>
      </a:spcBef>
      <a:spcAft>
        <a:spcPct val="0"/>
      </a:spcAft>
      <a:defRPr sz="1600" kern="1200">
        <a:solidFill>
          <a:schemeClr val="tx1"/>
        </a:solidFill>
        <a:latin typeface="Arial" charset="0"/>
        <a:ea typeface="+mn-ea"/>
        <a:cs typeface="+mn-cs"/>
      </a:defRPr>
    </a:lvl2pPr>
    <a:lvl3pPr marL="914400" algn="l" rtl="0" eaLnBrk="0" fontAlgn="base" hangingPunct="0">
      <a:lnSpc>
        <a:spcPct val="90000"/>
      </a:lnSpc>
      <a:spcBef>
        <a:spcPct val="50000"/>
      </a:spcBef>
      <a:spcAft>
        <a:spcPct val="0"/>
      </a:spcAft>
      <a:defRPr sz="1600" kern="1200">
        <a:solidFill>
          <a:schemeClr val="tx1"/>
        </a:solidFill>
        <a:latin typeface="Arial" charset="0"/>
        <a:ea typeface="+mn-ea"/>
        <a:cs typeface="+mn-cs"/>
      </a:defRPr>
    </a:lvl3pPr>
    <a:lvl4pPr marL="1371600" algn="l" rtl="0" eaLnBrk="0" fontAlgn="base" hangingPunct="0">
      <a:lnSpc>
        <a:spcPct val="90000"/>
      </a:lnSpc>
      <a:spcBef>
        <a:spcPct val="50000"/>
      </a:spcBef>
      <a:spcAft>
        <a:spcPct val="0"/>
      </a:spcAft>
      <a:defRPr sz="1600" kern="1200">
        <a:solidFill>
          <a:schemeClr val="tx1"/>
        </a:solidFill>
        <a:latin typeface="Arial" charset="0"/>
        <a:ea typeface="+mn-ea"/>
        <a:cs typeface="+mn-cs"/>
      </a:defRPr>
    </a:lvl4pPr>
    <a:lvl5pPr marL="1828800" algn="l" rtl="0" eaLnBrk="0" fontAlgn="base" hangingPunct="0">
      <a:lnSpc>
        <a:spcPct val="90000"/>
      </a:lnSpc>
      <a:spcBef>
        <a:spcPct val="50000"/>
      </a:spcBef>
      <a:spcAft>
        <a:spcPct val="0"/>
      </a:spcAft>
      <a:defRPr sz="1600" kern="1200">
        <a:solidFill>
          <a:schemeClr val="tx1"/>
        </a:solidFill>
        <a:latin typeface="Arial" charset="0"/>
        <a:ea typeface="+mn-ea"/>
        <a:cs typeface="+mn-cs"/>
      </a:defRPr>
    </a:lvl5pPr>
    <a:lvl6pPr marL="2286000" algn="l" defTabSz="914400" rtl="0" eaLnBrk="1" latinLnBrk="0" hangingPunct="1">
      <a:defRPr sz="1600" kern="1200">
        <a:solidFill>
          <a:schemeClr val="tx1"/>
        </a:solidFill>
        <a:latin typeface="Arial" charset="0"/>
        <a:ea typeface="+mn-ea"/>
        <a:cs typeface="+mn-cs"/>
      </a:defRPr>
    </a:lvl6pPr>
    <a:lvl7pPr marL="2743200" algn="l" defTabSz="914400" rtl="0" eaLnBrk="1" latinLnBrk="0" hangingPunct="1">
      <a:defRPr sz="1600" kern="1200">
        <a:solidFill>
          <a:schemeClr val="tx1"/>
        </a:solidFill>
        <a:latin typeface="Arial" charset="0"/>
        <a:ea typeface="+mn-ea"/>
        <a:cs typeface="+mn-cs"/>
      </a:defRPr>
    </a:lvl7pPr>
    <a:lvl8pPr marL="3200400" algn="l" defTabSz="914400" rtl="0" eaLnBrk="1" latinLnBrk="0" hangingPunct="1">
      <a:defRPr sz="1600" kern="1200">
        <a:solidFill>
          <a:schemeClr val="tx1"/>
        </a:solidFill>
        <a:latin typeface="Arial" charset="0"/>
        <a:ea typeface="+mn-ea"/>
        <a:cs typeface="+mn-cs"/>
      </a:defRPr>
    </a:lvl8pPr>
    <a:lvl9pPr marL="3657600" algn="l" defTabSz="914400" rtl="0" eaLnBrk="1" latinLnBrk="0" hangingPunct="1">
      <a:defRPr sz="1600" kern="1200">
        <a:solidFill>
          <a:schemeClr val="tx1"/>
        </a:solidFill>
        <a:latin typeface="Arial" charset="0"/>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ary Pfitzer" initials="" lastIdx="2" clrIdx="0"/>
  <p:cmAuthor id="1" name="Cisco Systems, Inc." initials="" lastIdx="1" clrIdx="1"/>
  <p:cmAuthor id="2" name="Kayce M. Clark" initials="" lastIdx="1"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15F85"/>
    <a:srgbClr val="8E8E95"/>
    <a:srgbClr val="D2D2D4"/>
    <a:srgbClr val="FAE8BC"/>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53" autoAdjust="0"/>
    <p:restoredTop sz="68861" autoAdjust="0"/>
  </p:normalViewPr>
  <p:slideViewPr>
    <p:cSldViewPr>
      <p:cViewPr>
        <p:scale>
          <a:sx n="66" d="100"/>
          <a:sy n="66" d="100"/>
        </p:scale>
        <p:origin x="-1524" y="-72"/>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75" d="100"/>
        <a:sy n="7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_rels/viewProps.xml.rels><?xml version="1.0" encoding="UTF-8" standalone="yes"?>
<Relationships xmlns="http://schemas.openxmlformats.org/package/2006/relationships"><Relationship Id="rId1"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nSpc>
                <a:spcPct val="100000"/>
              </a:lnSpc>
              <a:spcBef>
                <a:spcPct val="0"/>
              </a:spcBef>
              <a:defRPr sz="1200" b="1"/>
            </a:lvl1pPr>
          </a:lstStyle>
          <a:p>
            <a:endParaRPr lang="en-US"/>
          </a:p>
        </p:txBody>
      </p:sp>
      <p:sp>
        <p:nvSpPr>
          <p:cNvPr id="24579"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lnSpc>
                <a:spcPct val="100000"/>
              </a:lnSpc>
              <a:spcBef>
                <a:spcPct val="0"/>
              </a:spcBef>
              <a:defRPr sz="1200" b="1"/>
            </a:lvl1pPr>
          </a:lstStyle>
          <a:p>
            <a:endParaRPr lang="en-US"/>
          </a:p>
        </p:txBody>
      </p:sp>
      <p:sp>
        <p:nvSpPr>
          <p:cNvPr id="24580"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nSpc>
                <a:spcPct val="100000"/>
              </a:lnSpc>
              <a:spcBef>
                <a:spcPct val="0"/>
              </a:spcBef>
              <a:defRPr sz="1200" b="1"/>
            </a:lvl1pPr>
          </a:lstStyle>
          <a:p>
            <a:endParaRPr lang="en-US"/>
          </a:p>
        </p:txBody>
      </p:sp>
      <p:sp>
        <p:nvSpPr>
          <p:cNvPr id="24581"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lnSpc>
                <a:spcPct val="100000"/>
              </a:lnSpc>
              <a:spcBef>
                <a:spcPct val="0"/>
              </a:spcBef>
              <a:defRPr sz="1200" b="1"/>
            </a:lvl1pPr>
          </a:lstStyle>
          <a:p>
            <a:fld id="{160E9677-0005-4495-BBDE-4154EDCC7EF4}" type="slidenum">
              <a:rPr lang="en-US"/>
              <a:pPr/>
              <a:t>‹#›</a:t>
            </a:fld>
            <a:endParaRPr lang="en-US"/>
          </a:p>
        </p:txBody>
      </p:sp>
    </p:spTree>
    <p:extLst>
      <p:ext uri="{BB962C8B-B14F-4D97-AF65-F5344CB8AC3E}">
        <p14:creationId xmlns:p14="http://schemas.microsoft.com/office/powerpoint/2010/main" val="24716786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nSpc>
                <a:spcPct val="100000"/>
              </a:lnSpc>
              <a:spcBef>
                <a:spcPct val="0"/>
              </a:spcBef>
              <a:defRPr sz="1200" b="1"/>
            </a:lvl1pPr>
          </a:lstStyle>
          <a:p>
            <a:endParaRPr lang="en-US"/>
          </a:p>
        </p:txBody>
      </p:sp>
      <p:sp>
        <p:nvSpPr>
          <p:cNvPr id="8195"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lnSpc>
                <a:spcPct val="100000"/>
              </a:lnSpc>
              <a:spcBef>
                <a:spcPct val="0"/>
              </a:spcBef>
              <a:defRPr sz="1200" b="1"/>
            </a:lvl1pPr>
          </a:lstStyle>
          <a:p>
            <a:endParaRPr lang="en-US"/>
          </a:p>
        </p:txBody>
      </p:sp>
      <p:sp>
        <p:nvSpPr>
          <p:cNvPr id="819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7"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8198"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nSpc>
                <a:spcPct val="100000"/>
              </a:lnSpc>
              <a:spcBef>
                <a:spcPct val="0"/>
              </a:spcBef>
              <a:defRPr sz="1200" b="1"/>
            </a:lvl1pPr>
          </a:lstStyle>
          <a:p>
            <a:endParaRPr lang="en-US"/>
          </a:p>
        </p:txBody>
      </p:sp>
      <p:sp>
        <p:nvSpPr>
          <p:cNvPr id="8199"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lnSpc>
                <a:spcPct val="100000"/>
              </a:lnSpc>
              <a:spcBef>
                <a:spcPct val="0"/>
              </a:spcBef>
              <a:defRPr sz="1200" b="1"/>
            </a:lvl1pPr>
          </a:lstStyle>
          <a:p>
            <a:fld id="{C77F8422-0F18-4303-94B4-08D082304586}" type="slidenum">
              <a:rPr lang="en-US"/>
              <a:pPr/>
              <a:t>‹#›</a:t>
            </a:fld>
            <a:endParaRPr lang="en-US"/>
          </a:p>
        </p:txBody>
      </p:sp>
    </p:spTree>
    <p:extLst>
      <p:ext uri="{BB962C8B-B14F-4D97-AF65-F5344CB8AC3E}">
        <p14:creationId xmlns:p14="http://schemas.microsoft.com/office/powerpoint/2010/main" val="308866900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pitchFamily="18" charset="0"/>
        <a:ea typeface="+mn-ea"/>
        <a:cs typeface="+mn-cs"/>
      </a:defRPr>
    </a:lvl1pPr>
    <a:lvl2pPr marL="457200" algn="l" rtl="0" fontAlgn="base">
      <a:spcBef>
        <a:spcPct val="30000"/>
      </a:spcBef>
      <a:spcAft>
        <a:spcPct val="0"/>
      </a:spcAft>
      <a:defRPr sz="1200" kern="1200">
        <a:solidFill>
          <a:schemeClr val="tx1"/>
        </a:solidFill>
        <a:latin typeface="Times" pitchFamily="18" charset="0"/>
        <a:ea typeface="+mn-ea"/>
        <a:cs typeface="+mn-cs"/>
      </a:defRPr>
    </a:lvl2pPr>
    <a:lvl3pPr marL="914400" algn="l" rtl="0" fontAlgn="base">
      <a:spcBef>
        <a:spcPct val="30000"/>
      </a:spcBef>
      <a:spcAft>
        <a:spcPct val="0"/>
      </a:spcAft>
      <a:defRPr sz="1200" kern="1200">
        <a:solidFill>
          <a:schemeClr val="tx1"/>
        </a:solidFill>
        <a:latin typeface="Times" pitchFamily="18" charset="0"/>
        <a:ea typeface="+mn-ea"/>
        <a:cs typeface="+mn-cs"/>
      </a:defRPr>
    </a:lvl3pPr>
    <a:lvl4pPr marL="1371600" algn="l" rtl="0" fontAlgn="base">
      <a:spcBef>
        <a:spcPct val="30000"/>
      </a:spcBef>
      <a:spcAft>
        <a:spcPct val="0"/>
      </a:spcAft>
      <a:defRPr sz="1200" kern="1200">
        <a:solidFill>
          <a:schemeClr val="tx1"/>
        </a:solidFill>
        <a:latin typeface="Times" pitchFamily="18" charset="0"/>
        <a:ea typeface="+mn-ea"/>
        <a:cs typeface="+mn-cs"/>
      </a:defRPr>
    </a:lvl4pPr>
    <a:lvl5pPr marL="1828800" algn="l" rtl="0" fontAlgn="base">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ACC6DB6-12AE-4C73-A45C-C463F2FFAF89}" type="slidenum">
              <a:rPr lang="en-US"/>
              <a:pPr/>
              <a:t>1</a:t>
            </a:fld>
            <a:endParaRPr lang="en-US"/>
          </a:p>
        </p:txBody>
      </p:sp>
      <p:sp>
        <p:nvSpPr>
          <p:cNvPr id="47106" name="Rectangle 2"/>
          <p:cNvSpPr>
            <a:spLocks noGrp="1" noRot="1" noChangeAspect="1" noChangeArrowheads="1" noTextEdit="1"/>
          </p:cNvSpPr>
          <p:nvPr>
            <p:ph type="sldImg"/>
          </p:nvPr>
        </p:nvSpPr>
        <p:spPr>
          <a:xfrm>
            <a:off x="841375" y="241300"/>
            <a:ext cx="5233988" cy="3925888"/>
          </a:xfrm>
          <a:ln/>
        </p:spPr>
      </p:sp>
      <p:sp>
        <p:nvSpPr>
          <p:cNvPr id="47107" name="Rectangle 3"/>
          <p:cNvSpPr>
            <a:spLocks noGrp="1" noChangeArrowheads="1"/>
          </p:cNvSpPr>
          <p:nvPr>
            <p:ph type="body" idx="1"/>
          </p:nvPr>
        </p:nvSpPr>
        <p:spPr>
          <a:xfrm>
            <a:off x="395288" y="4305300"/>
            <a:ext cx="5988050" cy="4184650"/>
          </a:xfrm>
        </p:spPr>
        <p:txBody>
          <a:bodyPr/>
          <a:lstStyle/>
          <a:p>
            <a:pPr marL="112713" indent="-112713" defTabSz="1020763"/>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ARP- </a:t>
            </a:r>
            <a:r>
              <a:rPr lang="en-US" sz="1200" kern="1200" smtClean="0">
                <a:solidFill>
                  <a:schemeClr val="tx1"/>
                </a:solidFill>
                <a:effectLst/>
                <a:latin typeface="Times" pitchFamily="18" charset="0"/>
                <a:ea typeface="+mn-ea"/>
                <a:cs typeface="+mn-cs"/>
              </a:rPr>
              <a:t>Address Resolution Protocol</a:t>
            </a:r>
            <a:endParaRPr lang="en-US"/>
          </a:p>
        </p:txBody>
      </p:sp>
      <p:sp>
        <p:nvSpPr>
          <p:cNvPr id="4" name="Slide Number Placeholder 3"/>
          <p:cNvSpPr>
            <a:spLocks noGrp="1"/>
          </p:cNvSpPr>
          <p:nvPr>
            <p:ph type="sldNum" sz="quarter" idx="10"/>
          </p:nvPr>
        </p:nvSpPr>
        <p:spPr/>
        <p:txBody>
          <a:bodyPr/>
          <a:lstStyle/>
          <a:p>
            <a:fld id="{C77F8422-0F18-4303-94B4-08D082304586}" type="slidenum">
              <a:rPr lang="en-US" smtClean="0"/>
              <a:pPr/>
              <a:t>2</a:t>
            </a:fld>
            <a:endParaRPr lang="en-US"/>
          </a:p>
        </p:txBody>
      </p:sp>
    </p:spTree>
    <p:extLst>
      <p:ext uri="{BB962C8B-B14F-4D97-AF65-F5344CB8AC3E}">
        <p14:creationId xmlns:p14="http://schemas.microsoft.com/office/powerpoint/2010/main" val="26747280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4F21554-E1DD-4C2F-885A-CFD75E3958B2}" type="slidenum">
              <a:rPr lang="en-US"/>
              <a:pPr/>
              <a:t>3</a:t>
            </a:fld>
            <a:endParaRPr lang="en-US"/>
          </a:p>
        </p:txBody>
      </p:sp>
      <p:sp>
        <p:nvSpPr>
          <p:cNvPr id="287746" name="Rectangle 2"/>
          <p:cNvSpPr>
            <a:spLocks noGrp="1" noRot="1" noChangeAspect="1" noChangeArrowheads="1" noTextEdit="1"/>
          </p:cNvSpPr>
          <p:nvPr>
            <p:ph type="sldImg"/>
          </p:nvPr>
        </p:nvSpPr>
        <p:spPr>
          <a:xfrm>
            <a:off x="1092200" y="301625"/>
            <a:ext cx="4700588" cy="3525838"/>
          </a:xfrm>
          <a:ln/>
        </p:spPr>
      </p:sp>
      <p:sp>
        <p:nvSpPr>
          <p:cNvPr id="287747" name="Rectangle 3"/>
          <p:cNvSpPr>
            <a:spLocks noGrp="1" noChangeArrowheads="1"/>
          </p:cNvSpPr>
          <p:nvPr>
            <p:ph type="body" idx="1"/>
          </p:nvPr>
        </p:nvSpPr>
        <p:spPr>
          <a:xfrm>
            <a:off x="523875" y="4052888"/>
            <a:ext cx="5835650" cy="4579937"/>
          </a:xfrm>
        </p:spPr>
        <p:txBody>
          <a:bodyPr/>
          <a:lstStyle/>
          <a:p>
            <a:pPr>
              <a:lnSpc>
                <a:spcPct val="96000"/>
              </a:lnSpc>
              <a:spcAft>
                <a:spcPts val="600"/>
              </a:spcAft>
            </a:pPr>
            <a:r>
              <a:rPr lang="en-US" b="1" smtClean="0">
                <a:latin typeface="VNI-Times" pitchFamily="2" charset="0"/>
              </a:rPr>
              <a:t>ARP laø moät protocol döïa treân nguyeân taéc: Khi moät thieát bò maïng muoán bieát ñòa chæ MAC cuûa moät thieát bò maïng naøo ñoù maø noù ñaõ bieát ñòa chæ ôû taàng network (IP, IPX…) noù seõ göûi moät ARP request bao goàm ñòa chæ MAC address cuûa noù vaø ñòa chæ IP cuûa thieát bò maø noù caàn bieát MAC address treân  toaøn boä moät mieàn broadcast. Moãi moät thieát bò nhaän ñöôïc request naøy seõ so saùnh ñòa chæ IP trong request vôùi ñòa chæ taàng network cuûa mình. Neáu truøng ñòa chæ thì thieát bò ñoù phaûi göûi ngöôïc laïi cho thieát bò göûi ARP request moät packet (trong ñoù coù chöùa ñòa chæ MAC cuûa mình). </a:t>
            </a:r>
            <a:endParaRPr lang="en-US" b="1">
              <a:latin typeface="VNI-Times" pitchFamily="2" charset="0"/>
            </a:endParaRPr>
          </a:p>
          <a:p>
            <a:r>
              <a:rPr lang="en-US" smtClean="0">
                <a:latin typeface="VNI-Times" pitchFamily="2" charset="0"/>
              </a:rPr>
              <a:t>Trong moät heä thoáng maïng ñôn giaûn nhö hình 1.1, ví duï nhö maùy A muoán guûi packet ñeán maùy B vaø noù chæ bieát ñöôïc ñòa chæ  IP cuûa maùy B. Khi ñoù maùy A seõ phaûi göûi moät ARP broadcast cho toaøn maïng ñeå hoûi xem “ñòa chæ MAC cuûa maùy coù ñòa chæ IP naøy laø gì” Khi maùy B nhaän ñöôïc broadcast naøy, coù seõ so saùnh ñòa chæ IP trong packet naøy vôùi ñòa chæ IP cuûa noù. Nhaän thaáy ñòa chæ ñoù laø ñòa chæ cuûa mình, maùy B seõ göûi laïi moät packet cho maùy B trong ñoù coù chöùa ñòa chæ MAC cuûa B. Sau ñoù  maùy A môùi baét ñaàu truyeàn packet cho B. </a:t>
            </a:r>
            <a:endParaRPr lang="en-US">
              <a:latin typeface="VNI-Times" pitchFamily="2"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latin typeface="VNI-Times" pitchFamily="2" charset="0"/>
              </a:rPr>
              <a:t>Treân thöïc teá ngoaøi daïng routing table naøy ngöôøi ta coøn duøng phöông phaùp proxy ARP, trong ñoù coù moät thieát bò ñaûm nhaän nhieäm vuï phaân giaûi ñòa chæ cho taát caû caùc thieát bò khaùc</a:t>
            </a:r>
            <a:endParaRPr lang="en-US">
              <a:latin typeface="VNI-Times" pitchFamily="2" charset="0"/>
            </a:endParaRPr>
          </a:p>
        </p:txBody>
      </p:sp>
      <p:sp>
        <p:nvSpPr>
          <p:cNvPr id="4" name="Slide Number Placeholder 3"/>
          <p:cNvSpPr>
            <a:spLocks noGrp="1"/>
          </p:cNvSpPr>
          <p:nvPr>
            <p:ph type="sldNum" sz="quarter" idx="10"/>
          </p:nvPr>
        </p:nvSpPr>
        <p:spPr/>
        <p:txBody>
          <a:bodyPr/>
          <a:lstStyle/>
          <a:p>
            <a:fld id="{C77F8422-0F18-4303-94B4-08D082304586}" type="slidenum">
              <a:rPr lang="en-US" smtClean="0"/>
              <a:pPr/>
              <a:t>4</a:t>
            </a:fld>
            <a:endParaRPr lang="en-US"/>
          </a:p>
        </p:txBody>
      </p:sp>
    </p:spTree>
    <p:extLst>
      <p:ext uri="{BB962C8B-B14F-4D97-AF65-F5344CB8AC3E}">
        <p14:creationId xmlns:p14="http://schemas.microsoft.com/office/powerpoint/2010/main" val="4765250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Xác</a:t>
            </a:r>
            <a:r>
              <a:rPr lang="en-US" baseline="0" smtClean="0"/>
              <a:t> định tường đi</a:t>
            </a:r>
            <a:endParaRPr lang="en-US"/>
          </a:p>
        </p:txBody>
      </p:sp>
      <p:sp>
        <p:nvSpPr>
          <p:cNvPr id="4" name="Slide Number Placeholder 3"/>
          <p:cNvSpPr>
            <a:spLocks noGrp="1"/>
          </p:cNvSpPr>
          <p:nvPr>
            <p:ph type="sldNum" sz="quarter" idx="10"/>
          </p:nvPr>
        </p:nvSpPr>
        <p:spPr/>
        <p:txBody>
          <a:bodyPr/>
          <a:lstStyle/>
          <a:p>
            <a:fld id="{C77F8422-0F18-4303-94B4-08D082304586}" type="slidenum">
              <a:rPr lang="en-US" smtClean="0"/>
              <a:pPr/>
              <a:t>5</a:t>
            </a:fld>
            <a:endParaRPr lang="en-US"/>
          </a:p>
        </p:txBody>
      </p:sp>
    </p:spTree>
    <p:extLst>
      <p:ext uri="{BB962C8B-B14F-4D97-AF65-F5344CB8AC3E}">
        <p14:creationId xmlns:p14="http://schemas.microsoft.com/office/powerpoint/2010/main" val="17851507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77F8422-0F18-4303-94B4-08D082304586}" type="slidenum">
              <a:rPr lang="en-US" smtClean="0"/>
              <a:pPr/>
              <a:t>6</a:t>
            </a:fld>
            <a:endParaRPr lang="en-US"/>
          </a:p>
        </p:txBody>
      </p:sp>
    </p:spTree>
    <p:extLst>
      <p:ext uri="{BB962C8B-B14F-4D97-AF65-F5344CB8AC3E}">
        <p14:creationId xmlns:p14="http://schemas.microsoft.com/office/powerpoint/2010/main" val="37543749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Thuật toán flat routing dùng trong các hệ thống có cấu trúc ngang hàng với nhau, được trải rộng với chức năng và nhiệm vụ như nhau</a:t>
            </a:r>
            <a:r>
              <a:rPr lang="en-US" smtClean="0"/>
              <a:t>, hierachical là thuật toán phân cấp, có cấu trúc cây.</a:t>
            </a:r>
          </a:p>
          <a:p>
            <a:endParaRPr lang="en-US" smtClean="0"/>
          </a:p>
          <a:p>
            <a:r>
              <a:rPr lang="en-US" smtClean="0"/>
              <a:t>Thuật toán distance vector (còn gọi là thuật toán Bellman-Ford).</a:t>
            </a:r>
          </a:p>
          <a:p>
            <a:r>
              <a:rPr lang="vi-VN" smtClean="0"/>
              <a:t>Thuật toán link state (còn được gọi là thuật toán shortest path first)</a:t>
            </a:r>
            <a:endParaRPr lang="en-US"/>
          </a:p>
        </p:txBody>
      </p:sp>
      <p:sp>
        <p:nvSpPr>
          <p:cNvPr id="4" name="Slide Number Placeholder 3"/>
          <p:cNvSpPr>
            <a:spLocks noGrp="1"/>
          </p:cNvSpPr>
          <p:nvPr>
            <p:ph type="sldNum" sz="quarter" idx="10"/>
          </p:nvPr>
        </p:nvSpPr>
        <p:spPr/>
        <p:txBody>
          <a:bodyPr/>
          <a:lstStyle/>
          <a:p>
            <a:fld id="{C77F8422-0F18-4303-94B4-08D082304586}" type="slidenum">
              <a:rPr lang="en-US" smtClean="0"/>
              <a:pPr/>
              <a:t>7</a:t>
            </a:fld>
            <a:endParaRPr lang="en-US"/>
          </a:p>
        </p:txBody>
      </p:sp>
    </p:spTree>
    <p:extLst>
      <p:ext uri="{BB962C8B-B14F-4D97-AF65-F5344CB8AC3E}">
        <p14:creationId xmlns:p14="http://schemas.microsoft.com/office/powerpoint/2010/main" val="9399445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itchFamily="34" charset="0"/>
              <a:buChar char="•"/>
            </a:pPr>
            <a:r>
              <a:rPr lang="vi-VN" sz="1200" smtClean="0"/>
              <a:t>Path Length</a:t>
            </a:r>
            <a:r>
              <a:rPr lang="en-US" sz="1200" smtClean="0"/>
              <a:t> </a:t>
            </a:r>
            <a:r>
              <a:rPr lang="vi-VN" sz="1200" smtClean="0"/>
              <a:t>metric cơ bản, thường dùng nhất. Path length trong router còn được xác dịnh bằng số hop giữa nguồn và đích. Một hop được hiểu là một liên kết giữa hai router</a:t>
            </a:r>
            <a:r>
              <a:rPr lang="en-US" sz="1200" smtClean="0"/>
              <a:t>.</a:t>
            </a:r>
          </a:p>
          <a:p>
            <a:pPr marL="342900" indent="-342900">
              <a:buFont typeface="Arial" pitchFamily="34" charset="0"/>
              <a:buChar char="•"/>
            </a:pPr>
            <a:r>
              <a:rPr lang="en-US" sz="1200" smtClean="0"/>
              <a:t>Reliability l</a:t>
            </a:r>
            <a:r>
              <a:rPr lang="vi-VN" sz="1200" smtClean="0"/>
              <a:t>à khái niệm chỉ độ tin cậy của một liên kết</a:t>
            </a:r>
            <a:r>
              <a:rPr lang="en-US" sz="1200" smtClean="0"/>
              <a:t>.</a:t>
            </a:r>
          </a:p>
          <a:p>
            <a:pPr marL="342900" indent="-342900">
              <a:buFont typeface="Arial" pitchFamily="34" charset="0"/>
              <a:buChar char="•"/>
            </a:pPr>
            <a:r>
              <a:rPr lang="vi-VN" sz="1200" smtClean="0"/>
              <a:t>Delay</a:t>
            </a:r>
            <a:r>
              <a:rPr lang="en-US" sz="1200" smtClean="0"/>
              <a:t> k</a:t>
            </a:r>
            <a:r>
              <a:rPr lang="vi-VN" sz="1200" smtClean="0"/>
              <a:t>hái niệm delay dùng để chỉ khoảng thới gian cần để chuyển packet từ nguồn đến đích trong hệ thống</a:t>
            </a:r>
            <a:r>
              <a:rPr lang="en-US" sz="1200" smtClean="0"/>
              <a:t>.</a:t>
            </a:r>
          </a:p>
          <a:p>
            <a:pPr marL="342900" indent="-342900">
              <a:buFont typeface="Arial" pitchFamily="34" charset="0"/>
              <a:buChar char="•"/>
            </a:pPr>
            <a:r>
              <a:rPr lang="vi-VN" sz="1200" smtClean="0"/>
              <a:t>Bandwidth </a:t>
            </a:r>
            <a:r>
              <a:rPr lang="en-US" sz="1200" smtClean="0"/>
              <a:t>l</a:t>
            </a:r>
            <a:r>
              <a:rPr lang="vi-VN" sz="1200" smtClean="0"/>
              <a:t>à một metric quan trọng để đánh giá</a:t>
            </a:r>
            <a:r>
              <a:rPr lang="en-US" sz="1200" smtClean="0"/>
              <a:t>, b</a:t>
            </a:r>
            <a:r>
              <a:rPr lang="vi-VN" sz="1200" smtClean="0"/>
              <a:t>andwidth chỉ lưu lượng dữ liệu  tối đa có thể truyền trên liên kết.</a:t>
            </a:r>
            <a:endParaRPr lang="en-US" sz="1200" smtClean="0"/>
          </a:p>
          <a:p>
            <a:pPr marL="342900" indent="-342900">
              <a:buFont typeface="Arial" pitchFamily="34" charset="0"/>
              <a:buChar char="•"/>
            </a:pPr>
            <a:r>
              <a:rPr lang="vi-VN" sz="1200" smtClean="0"/>
              <a:t>Load nhằm chỉ phần trăm network resource đang trong trạng thái bận {busy). Load có thể là lưu lượng dữ liệu trên liên kết, là độ chiếm dụng bộ nhớ, CPU…</a:t>
            </a:r>
            <a:endParaRPr lang="en-US"/>
          </a:p>
        </p:txBody>
      </p:sp>
      <p:sp>
        <p:nvSpPr>
          <p:cNvPr id="4" name="Slide Number Placeholder 3"/>
          <p:cNvSpPr>
            <a:spLocks noGrp="1"/>
          </p:cNvSpPr>
          <p:nvPr>
            <p:ph type="sldNum" sz="quarter" idx="10"/>
          </p:nvPr>
        </p:nvSpPr>
        <p:spPr/>
        <p:txBody>
          <a:bodyPr/>
          <a:lstStyle/>
          <a:p>
            <a:fld id="{C77F8422-0F18-4303-94B4-08D082304586}" type="slidenum">
              <a:rPr lang="en-US" smtClean="0"/>
              <a:pPr/>
              <a:t>8</a:t>
            </a:fld>
            <a:endParaRPr lang="en-US"/>
          </a:p>
        </p:txBody>
      </p:sp>
    </p:spTree>
    <p:extLst>
      <p:ext uri="{BB962C8B-B14F-4D97-AF65-F5344CB8AC3E}">
        <p14:creationId xmlns:p14="http://schemas.microsoft.com/office/powerpoint/2010/main" val="25844329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8306" name="Rectangle 2"/>
          <p:cNvSpPr>
            <a:spLocks noChangeArrowheads="1"/>
          </p:cNvSpPr>
          <p:nvPr/>
        </p:nvSpPr>
        <p:spPr bwMode="auto">
          <a:xfrm>
            <a:off x="0" y="0"/>
            <a:ext cx="5257800" cy="3144838"/>
          </a:xfrm>
          <a:prstGeom prst="rect">
            <a:avLst/>
          </a:prstGeom>
          <a:solidFill>
            <a:srgbClr val="015F85"/>
          </a:solidFill>
          <a:ln>
            <a:noFill/>
          </a:ln>
          <a:effectLst/>
          <a:extLst>
            <a:ext uri="{91240B29-F687-4F45-9708-019B960494DF}">
              <a14:hiddenLine xmlns:a14="http://schemas.microsoft.com/office/drawing/2010/main" w="25400"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98307" name="Picture 3" descr="MAE00784"/>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3350" y="0"/>
            <a:ext cx="3930650" cy="3144838"/>
          </a:xfrm>
          <a:prstGeom prst="rect">
            <a:avLst/>
          </a:prstGeom>
          <a:noFill/>
          <a:extLst>
            <a:ext uri="{909E8E84-426E-40DD-AFC4-6F175D3DCCD1}">
              <a14:hiddenFill xmlns:a14="http://schemas.microsoft.com/office/drawing/2010/main">
                <a:solidFill>
                  <a:srgbClr val="FFFFFF"/>
                </a:solidFill>
              </a14:hiddenFill>
            </a:ext>
          </a:extLst>
        </p:spPr>
      </p:pic>
      <p:sp>
        <p:nvSpPr>
          <p:cNvPr id="98308" name="Rectangle 4"/>
          <p:cNvSpPr>
            <a:spLocks noChangeArrowheads="1"/>
          </p:cNvSpPr>
          <p:nvPr/>
        </p:nvSpPr>
        <p:spPr bwMode="auto">
          <a:xfrm>
            <a:off x="277813" y="6672263"/>
            <a:ext cx="2022475" cy="188912"/>
          </a:xfrm>
          <a:prstGeom prst="rect">
            <a:avLst/>
          </a:prstGeom>
          <a:noFill/>
          <a:ln>
            <a:noFill/>
          </a:ln>
          <a:effectLst/>
          <a:extLst>
            <a:ext uri="{909E8E84-426E-40DD-AFC4-6F175D3DCCD1}">
              <a14:hiddenFill xmlns:a14="http://schemas.microsoft.com/office/drawing/2010/main">
                <a:solidFill>
                  <a:srgbClr val="339999"/>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nchorCtr="1">
            <a:spAutoFit/>
          </a:bodyPr>
          <a:lstStyle/>
          <a:p>
            <a:pPr defTabSz="814388">
              <a:lnSpc>
                <a:spcPct val="100000"/>
              </a:lnSpc>
              <a:spcBef>
                <a:spcPct val="0"/>
              </a:spcBef>
            </a:pPr>
            <a:r>
              <a:rPr lang="en-US" sz="700">
                <a:solidFill>
                  <a:srgbClr val="999999"/>
                </a:solidFill>
              </a:rPr>
              <a:t>© 2007 Cisco Systems, Inc. All rights reserved.</a:t>
            </a:r>
          </a:p>
        </p:txBody>
      </p:sp>
      <p:sp>
        <p:nvSpPr>
          <p:cNvPr id="98309" name="Rectangle 5"/>
          <p:cNvSpPr>
            <a:spLocks noChangeArrowheads="1"/>
          </p:cNvSpPr>
          <p:nvPr/>
        </p:nvSpPr>
        <p:spPr bwMode="auto">
          <a:xfrm>
            <a:off x="8015288" y="6672263"/>
            <a:ext cx="901700" cy="188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spAutoFit/>
          </a:bodyPr>
          <a:lstStyle/>
          <a:p>
            <a:pPr algn="r" defTabSz="814388">
              <a:lnSpc>
                <a:spcPct val="100000"/>
              </a:lnSpc>
              <a:spcBef>
                <a:spcPct val="0"/>
              </a:spcBef>
            </a:pPr>
            <a:r>
              <a:rPr lang="en-US" sz="700">
                <a:solidFill>
                  <a:srgbClr val="999999"/>
                </a:solidFill>
              </a:rPr>
              <a:t>ICND2 v1.0—3-</a:t>
            </a:r>
            <a:fld id="{14875BE6-0889-424C-8E4E-7594E2D7507F}" type="slidenum">
              <a:rPr lang="en-US" sz="700">
                <a:solidFill>
                  <a:srgbClr val="999999"/>
                </a:solidFill>
              </a:rPr>
              <a:pPr algn="r" defTabSz="814388">
                <a:lnSpc>
                  <a:spcPct val="100000"/>
                </a:lnSpc>
                <a:spcBef>
                  <a:spcPct val="0"/>
                </a:spcBef>
              </a:pPr>
              <a:t>‹#›</a:t>
            </a:fld>
            <a:endParaRPr lang="en-US" sz="700">
              <a:solidFill>
                <a:srgbClr val="999999"/>
              </a:solidFill>
            </a:endParaRPr>
          </a:p>
        </p:txBody>
      </p:sp>
      <p:sp>
        <p:nvSpPr>
          <p:cNvPr id="98310" name="Rectangle 6"/>
          <p:cNvSpPr>
            <a:spLocks noGrp="1" noChangeArrowheads="1"/>
          </p:cNvSpPr>
          <p:nvPr>
            <p:ph type="ctrTitle"/>
          </p:nvPr>
        </p:nvSpPr>
        <p:spPr bwMode="white">
          <a:xfrm>
            <a:off x="650875" y="3390900"/>
            <a:ext cx="6937375" cy="420688"/>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nchor="t"/>
          <a:lstStyle>
            <a:lvl1pPr>
              <a:defRPr sz="2000">
                <a:solidFill>
                  <a:schemeClr val="bg2"/>
                </a:solidFill>
              </a:defRPr>
            </a:lvl1pPr>
          </a:lstStyle>
          <a:p>
            <a:pPr lvl="0"/>
            <a:r>
              <a:rPr lang="en-US" noProof="0" smtClean="0"/>
              <a:t>Module Title, Size 20</a:t>
            </a:r>
          </a:p>
        </p:txBody>
      </p:sp>
      <p:sp>
        <p:nvSpPr>
          <p:cNvPr id="98311" name="Rectangle 7"/>
          <p:cNvSpPr>
            <a:spLocks noGrp="1" noChangeArrowheads="1"/>
          </p:cNvSpPr>
          <p:nvPr>
            <p:ph type="subTitle" idx="1"/>
          </p:nvPr>
        </p:nvSpPr>
        <p:spPr>
          <a:xfrm>
            <a:off x="650875" y="1312863"/>
            <a:ext cx="3546475" cy="841375"/>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rotWithShape="0">
                    <a:schemeClr val="tx1"/>
                  </a:outerShdw>
                </a:effectLst>
              </a14:hiddenEffects>
            </a:ext>
          </a:extLst>
        </p:spPr>
        <p:txBody>
          <a:bodyPr anchor="ctr"/>
          <a:lstStyle>
            <a:lvl1pPr>
              <a:lnSpc>
                <a:spcPct val="90000"/>
              </a:lnSpc>
              <a:spcBef>
                <a:spcPct val="0"/>
              </a:spcBef>
              <a:defRPr sz="3000">
                <a:solidFill>
                  <a:schemeClr val="bg1"/>
                </a:solidFill>
              </a:defRPr>
            </a:lvl1pPr>
          </a:lstStyle>
          <a:p>
            <a:pPr lvl="0"/>
            <a:r>
              <a:rPr lang="en-US" noProof="0" smtClean="0"/>
              <a:t>Lesson Title,</a:t>
            </a:r>
            <a:br>
              <a:rPr lang="en-US" noProof="0" smtClean="0"/>
            </a:br>
            <a:r>
              <a:rPr lang="en-US" noProof="0" smtClean="0"/>
              <a:t>Size 30</a:t>
            </a: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146154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6033645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55638" y="1781175"/>
            <a:ext cx="3894137"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02175" y="1781175"/>
            <a:ext cx="3894138"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5813082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270308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109603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96196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303100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36646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7979323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5925" y="457200"/>
            <a:ext cx="2035175" cy="48958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55638" y="457200"/>
            <a:ext cx="5957887" cy="48958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89796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verTx" preserve="1">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655638" y="457200"/>
            <a:ext cx="8145462" cy="8382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55638" y="1781175"/>
            <a:ext cx="7940675" cy="17097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55638" y="3643313"/>
            <a:ext cx="7940675" cy="17097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9609333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55638" y="457200"/>
            <a:ext cx="8145462" cy="8382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55638" y="1781175"/>
            <a:ext cx="3894137" cy="35718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02175" y="1781175"/>
            <a:ext cx="3894138" cy="35718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8022512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bwMode="auto">
          <a:xfrm>
            <a:off x="655638" y="457200"/>
            <a:ext cx="8145462" cy="838200"/>
          </a:xfrm>
          <a:prstGeom prst="rect">
            <a:avLst/>
          </a:prstGeom>
          <a:noFill/>
          <a:ln>
            <a:noFill/>
          </a:ln>
          <a:effectLst/>
          <a:extLst>
            <a:ext uri="{909E8E84-426E-40DD-AFC4-6F175D3DCCD1}">
              <a14:hiddenFill xmlns:a14="http://schemas.microsoft.com/office/drawing/2010/main">
                <a:solidFill>
                  <a:srgbClr val="0183B7"/>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vert="horz" wrap="square" lIns="82124" tIns="41061" rIns="82124" bIns="41061" numCol="1" anchor="b" anchorCtr="0" compatLnSpc="1">
            <a:prstTxWarp prst="textNoShape">
              <a:avLst/>
            </a:prstTxWarp>
          </a:bodyPr>
          <a:lstStyle/>
          <a:p>
            <a:pPr lvl="0"/>
            <a:r>
              <a:rPr lang="en-US" smtClean="0"/>
              <a:t>Slide Title</a:t>
            </a:r>
          </a:p>
        </p:txBody>
      </p:sp>
      <p:sp>
        <p:nvSpPr>
          <p:cNvPr id="97284" name="Rectangle 4"/>
          <p:cNvSpPr>
            <a:spLocks noChangeArrowheads="1"/>
          </p:cNvSpPr>
          <p:nvPr/>
        </p:nvSpPr>
        <p:spPr bwMode="auto">
          <a:xfrm>
            <a:off x="0" y="0"/>
            <a:ext cx="9144000" cy="177800"/>
          </a:xfrm>
          <a:prstGeom prst="rect">
            <a:avLst/>
          </a:prstGeom>
          <a:solidFill>
            <a:srgbClr val="015F85"/>
          </a:solidFill>
          <a:ln>
            <a:noFill/>
          </a:ln>
          <a:effectLst/>
          <a:extLst>
            <a:ext uri="{91240B29-F687-4F45-9708-019B960494DF}">
              <a14:hiddenLine xmlns:a14="http://schemas.microsoft.com/office/drawing/2010/main" w="25400"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7285" name="Rectangle 5"/>
          <p:cNvSpPr>
            <a:spLocks noChangeArrowheads="1"/>
          </p:cNvSpPr>
          <p:nvPr/>
        </p:nvSpPr>
        <p:spPr bwMode="auto">
          <a:xfrm>
            <a:off x="277813" y="6672263"/>
            <a:ext cx="2022475" cy="188912"/>
          </a:xfrm>
          <a:prstGeom prst="rect">
            <a:avLst/>
          </a:prstGeom>
          <a:noFill/>
          <a:ln>
            <a:noFill/>
          </a:ln>
          <a:effectLst/>
          <a:extLst>
            <a:ext uri="{909E8E84-426E-40DD-AFC4-6F175D3DCCD1}">
              <a14:hiddenFill xmlns:a14="http://schemas.microsoft.com/office/drawing/2010/main">
                <a:solidFill>
                  <a:srgbClr val="339999"/>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nchorCtr="1">
            <a:spAutoFit/>
          </a:bodyPr>
          <a:lstStyle/>
          <a:p>
            <a:pPr defTabSz="814388">
              <a:lnSpc>
                <a:spcPct val="100000"/>
              </a:lnSpc>
              <a:spcBef>
                <a:spcPct val="0"/>
              </a:spcBef>
            </a:pPr>
            <a:r>
              <a:rPr lang="en-US" sz="700">
                <a:solidFill>
                  <a:srgbClr val="999999"/>
                </a:solidFill>
              </a:rPr>
              <a:t>© 2007 Cisco Systems, Inc. All rights reserved.</a:t>
            </a:r>
          </a:p>
        </p:txBody>
      </p:sp>
      <p:sp>
        <p:nvSpPr>
          <p:cNvPr id="97286" name="Rectangle 6"/>
          <p:cNvSpPr>
            <a:spLocks noChangeArrowheads="1"/>
          </p:cNvSpPr>
          <p:nvPr/>
        </p:nvSpPr>
        <p:spPr bwMode="auto">
          <a:xfrm>
            <a:off x="8015288" y="6672263"/>
            <a:ext cx="901700" cy="188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spAutoFit/>
          </a:bodyPr>
          <a:lstStyle/>
          <a:p>
            <a:pPr algn="r" defTabSz="814388">
              <a:lnSpc>
                <a:spcPct val="100000"/>
              </a:lnSpc>
              <a:spcBef>
                <a:spcPct val="0"/>
              </a:spcBef>
            </a:pPr>
            <a:r>
              <a:rPr lang="en-US" sz="700">
                <a:solidFill>
                  <a:srgbClr val="999999"/>
                </a:solidFill>
              </a:rPr>
              <a:t>ICND2 v1.0—3-</a:t>
            </a:r>
            <a:fld id="{B48F843E-53ED-4A5A-B9DA-7841F4263920}" type="slidenum">
              <a:rPr lang="en-US" sz="700">
                <a:solidFill>
                  <a:srgbClr val="999999"/>
                </a:solidFill>
              </a:rPr>
              <a:pPr algn="r" defTabSz="814388">
                <a:lnSpc>
                  <a:spcPct val="100000"/>
                </a:lnSpc>
                <a:spcBef>
                  <a:spcPct val="0"/>
                </a:spcBef>
              </a:pPr>
              <a:t>‹#›</a:t>
            </a:fld>
            <a:endParaRPr lang="en-US" sz="700">
              <a:solidFill>
                <a:srgbClr val="999999"/>
              </a:solidFill>
            </a:endParaRPr>
          </a:p>
        </p:txBody>
      </p:sp>
      <p:sp>
        <p:nvSpPr>
          <p:cNvPr id="97287" name="Rectangle 7"/>
          <p:cNvSpPr>
            <a:spLocks noGrp="1" noChangeArrowheads="1"/>
          </p:cNvSpPr>
          <p:nvPr>
            <p:ph type="body" idx="1"/>
          </p:nvPr>
        </p:nvSpPr>
        <p:spPr bwMode="auto">
          <a:xfrm>
            <a:off x="655638" y="1781175"/>
            <a:ext cx="7940675" cy="3571875"/>
          </a:xfrm>
          <a:prstGeom prst="rect">
            <a:avLst/>
          </a:prstGeom>
          <a:noFill/>
          <a:ln>
            <a:noFill/>
          </a:ln>
          <a:effectLst/>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124" tIns="41061" rIns="82124" bIns="41061" numCol="1" anchor="t" anchorCtr="0" compatLnSpc="1">
            <a:prstTxWarp prst="textNoShape">
              <a:avLst/>
            </a:prstTxWarp>
          </a:bodyPr>
          <a:lstStyle/>
          <a:p>
            <a:pPr lvl="0"/>
            <a:r>
              <a:rPr lang="en-US" smtClean="0"/>
              <a:t>Body Text</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Lst>
  <p:timing>
    <p:tnLst>
      <p:par>
        <p:cTn id="1" dur="indefinite" restart="never" nodeType="tmRoot"/>
      </p:par>
    </p:tnLst>
  </p:timing>
  <p:txStyles>
    <p:titleStyle>
      <a:lvl1pPr algn="l" defTabSz="814388" rtl="0" eaLnBrk="0" fontAlgn="base" hangingPunct="0">
        <a:lnSpc>
          <a:spcPct val="90000"/>
        </a:lnSpc>
        <a:spcBef>
          <a:spcPct val="0"/>
        </a:spcBef>
        <a:spcAft>
          <a:spcPct val="0"/>
        </a:spcAft>
        <a:defRPr sz="3200" b="1">
          <a:solidFill>
            <a:schemeClr val="tx2"/>
          </a:solidFill>
          <a:latin typeface="+mj-lt"/>
          <a:ea typeface="+mj-ea"/>
          <a:cs typeface="+mj-cs"/>
        </a:defRPr>
      </a:lvl1pPr>
      <a:lvl2pPr algn="l" defTabSz="814388" rtl="0" eaLnBrk="0" fontAlgn="base" hangingPunct="0">
        <a:lnSpc>
          <a:spcPct val="90000"/>
        </a:lnSpc>
        <a:spcBef>
          <a:spcPct val="0"/>
        </a:spcBef>
        <a:spcAft>
          <a:spcPct val="0"/>
        </a:spcAft>
        <a:defRPr sz="3200" b="1">
          <a:solidFill>
            <a:schemeClr val="tx2"/>
          </a:solidFill>
          <a:latin typeface="Arial" charset="0"/>
        </a:defRPr>
      </a:lvl2pPr>
      <a:lvl3pPr algn="l" defTabSz="814388" rtl="0" eaLnBrk="0" fontAlgn="base" hangingPunct="0">
        <a:lnSpc>
          <a:spcPct val="90000"/>
        </a:lnSpc>
        <a:spcBef>
          <a:spcPct val="0"/>
        </a:spcBef>
        <a:spcAft>
          <a:spcPct val="0"/>
        </a:spcAft>
        <a:defRPr sz="3200" b="1">
          <a:solidFill>
            <a:schemeClr val="tx2"/>
          </a:solidFill>
          <a:latin typeface="Arial" charset="0"/>
        </a:defRPr>
      </a:lvl3pPr>
      <a:lvl4pPr algn="l" defTabSz="814388" rtl="0" eaLnBrk="0" fontAlgn="base" hangingPunct="0">
        <a:lnSpc>
          <a:spcPct val="90000"/>
        </a:lnSpc>
        <a:spcBef>
          <a:spcPct val="0"/>
        </a:spcBef>
        <a:spcAft>
          <a:spcPct val="0"/>
        </a:spcAft>
        <a:defRPr sz="3200" b="1">
          <a:solidFill>
            <a:schemeClr val="tx2"/>
          </a:solidFill>
          <a:latin typeface="Arial" charset="0"/>
        </a:defRPr>
      </a:lvl4pPr>
      <a:lvl5pPr algn="l" defTabSz="814388" rtl="0" eaLnBrk="0" fontAlgn="base" hangingPunct="0">
        <a:lnSpc>
          <a:spcPct val="90000"/>
        </a:lnSpc>
        <a:spcBef>
          <a:spcPct val="0"/>
        </a:spcBef>
        <a:spcAft>
          <a:spcPct val="0"/>
        </a:spcAft>
        <a:defRPr sz="3200" b="1">
          <a:solidFill>
            <a:schemeClr val="tx2"/>
          </a:solidFill>
          <a:latin typeface="Arial" charset="0"/>
        </a:defRPr>
      </a:lvl5pPr>
      <a:lvl6pPr marL="457200" algn="l" defTabSz="814388" rtl="0" eaLnBrk="0" fontAlgn="base" hangingPunct="0">
        <a:lnSpc>
          <a:spcPct val="90000"/>
        </a:lnSpc>
        <a:spcBef>
          <a:spcPct val="0"/>
        </a:spcBef>
        <a:spcAft>
          <a:spcPct val="0"/>
        </a:spcAft>
        <a:defRPr sz="3200" b="1">
          <a:solidFill>
            <a:schemeClr val="tx2"/>
          </a:solidFill>
          <a:latin typeface="Arial" charset="0"/>
        </a:defRPr>
      </a:lvl6pPr>
      <a:lvl7pPr marL="914400" algn="l" defTabSz="814388" rtl="0" eaLnBrk="0" fontAlgn="base" hangingPunct="0">
        <a:lnSpc>
          <a:spcPct val="90000"/>
        </a:lnSpc>
        <a:spcBef>
          <a:spcPct val="0"/>
        </a:spcBef>
        <a:spcAft>
          <a:spcPct val="0"/>
        </a:spcAft>
        <a:defRPr sz="3200" b="1">
          <a:solidFill>
            <a:schemeClr val="tx2"/>
          </a:solidFill>
          <a:latin typeface="Arial" charset="0"/>
        </a:defRPr>
      </a:lvl7pPr>
      <a:lvl8pPr marL="1371600" algn="l" defTabSz="814388" rtl="0" eaLnBrk="0" fontAlgn="base" hangingPunct="0">
        <a:lnSpc>
          <a:spcPct val="90000"/>
        </a:lnSpc>
        <a:spcBef>
          <a:spcPct val="0"/>
        </a:spcBef>
        <a:spcAft>
          <a:spcPct val="0"/>
        </a:spcAft>
        <a:defRPr sz="3200" b="1">
          <a:solidFill>
            <a:schemeClr val="tx2"/>
          </a:solidFill>
          <a:latin typeface="Arial" charset="0"/>
        </a:defRPr>
      </a:lvl8pPr>
      <a:lvl9pPr marL="1828800" algn="l" defTabSz="814388" rtl="0" eaLnBrk="0" fontAlgn="base" hangingPunct="0">
        <a:lnSpc>
          <a:spcPct val="90000"/>
        </a:lnSpc>
        <a:spcBef>
          <a:spcPct val="0"/>
        </a:spcBef>
        <a:spcAft>
          <a:spcPct val="0"/>
        </a:spcAft>
        <a:defRPr sz="3200" b="1">
          <a:solidFill>
            <a:schemeClr val="tx2"/>
          </a:solidFill>
          <a:latin typeface="Arial" charset="0"/>
        </a:defRPr>
      </a:lvl9pPr>
    </p:titleStyle>
    <p:bodyStyle>
      <a:lvl1pPr algn="l" defTabSz="814388" rtl="0" eaLnBrk="0" fontAlgn="base" hangingPunct="0">
        <a:lnSpc>
          <a:spcPct val="95000"/>
        </a:lnSpc>
        <a:spcBef>
          <a:spcPct val="35000"/>
        </a:spcBef>
        <a:spcAft>
          <a:spcPct val="0"/>
        </a:spcAft>
        <a:buClr>
          <a:schemeClr val="accent1"/>
        </a:buClr>
        <a:buSzPct val="100000"/>
        <a:buFont typeface="Arial" charset="0"/>
        <a:defRPr sz="2400">
          <a:solidFill>
            <a:srgbClr val="000000"/>
          </a:solidFill>
          <a:latin typeface="+mn-lt"/>
          <a:ea typeface="+mn-ea"/>
          <a:cs typeface="+mn-cs"/>
        </a:defRPr>
      </a:lvl1pPr>
      <a:lvl2pPr marL="3429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2pPr>
      <a:lvl3pPr marL="6858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3pPr>
      <a:lvl4pPr marL="10287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4pPr>
      <a:lvl5pPr marL="13716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5pPr>
      <a:lvl6pPr marL="18288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6pPr>
      <a:lvl7pPr marL="22860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7pPr>
      <a:lvl8pPr marL="27432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8pPr>
      <a:lvl9pPr marL="32004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03" name="Rectangle 23"/>
          <p:cNvSpPr>
            <a:spLocks noGrp="1" noChangeArrowheads="1"/>
          </p:cNvSpPr>
          <p:nvPr>
            <p:ph type="subTitle" idx="1"/>
          </p:nvPr>
        </p:nvSpPr>
        <p:spPr>
          <a:xfrm>
            <a:off x="0" y="1312863"/>
            <a:ext cx="5638799" cy="841375"/>
          </a:xfrm>
        </p:spPr>
        <p:txBody>
          <a:bodyPr/>
          <a:lstStyle/>
          <a:p>
            <a:r>
              <a:rPr lang="en-US" sz="2800" smtClean="0"/>
              <a:t>Routes and </a:t>
            </a:r>
            <a:r>
              <a:rPr lang="en-US" sz="2800"/>
              <a:t>Routing </a:t>
            </a:r>
            <a:r>
              <a:rPr lang="en-US" sz="2800" smtClean="0"/>
              <a:t>Operations</a:t>
            </a:r>
            <a:endParaRPr lang="en-US" sz="2800"/>
          </a:p>
        </p:txBody>
      </p:sp>
      <p:sp>
        <p:nvSpPr>
          <p:cNvPr id="2" name="Title 1"/>
          <p:cNvSpPr>
            <a:spLocks noGrp="1"/>
          </p:cNvSpPr>
          <p:nvPr>
            <p:ph type="ctrTitle"/>
          </p:nvPr>
        </p:nvSpPr>
        <p:spPr/>
        <p:txBody>
          <a:bodyPr/>
          <a:lstStyle/>
          <a:p>
            <a:endParaRPr lang="en-US"/>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Module Overview </a:t>
            </a:r>
          </a:p>
        </p:txBody>
      </p:sp>
      <p:sp>
        <p:nvSpPr>
          <p:cNvPr id="3" name="Content Placeholder 2"/>
          <p:cNvSpPr>
            <a:spLocks noGrp="1"/>
          </p:cNvSpPr>
          <p:nvPr>
            <p:ph idx="1"/>
          </p:nvPr>
        </p:nvSpPr>
        <p:spPr/>
        <p:txBody>
          <a:bodyPr/>
          <a:lstStyle/>
          <a:p>
            <a:pPr marL="342900" indent="-342900">
              <a:buFont typeface="Wingdings" pitchFamily="2" charset="2"/>
              <a:buChar char="§"/>
            </a:pPr>
            <a:r>
              <a:rPr lang="en-US" smtClean="0"/>
              <a:t>Hoạt đông của Router  </a:t>
            </a:r>
            <a:r>
              <a:rPr lang="en-US"/>
              <a:t>–  </a:t>
            </a:r>
            <a:r>
              <a:rPr lang="en-US" smtClean="0"/>
              <a:t>ARP Protocol.</a:t>
            </a:r>
          </a:p>
          <a:p>
            <a:pPr marL="342900" indent="-342900">
              <a:buFont typeface="Wingdings" pitchFamily="2" charset="2"/>
              <a:buChar char="§"/>
            </a:pPr>
            <a:r>
              <a:rPr lang="en-US" smtClean="0"/>
              <a:t>Các khái niệm</a:t>
            </a:r>
            <a:endParaRPr lang="en-US"/>
          </a:p>
          <a:p>
            <a:pPr marL="342900" indent="-342900">
              <a:buFont typeface="Wingdings" pitchFamily="2" charset="2"/>
              <a:buChar char="§"/>
            </a:pPr>
            <a:r>
              <a:rPr lang="en-US" smtClean="0"/>
              <a:t>Khái niệm về cấu hình router</a:t>
            </a:r>
            <a:endParaRPr lang="en-GB" smtClean="0"/>
          </a:p>
          <a:p>
            <a:pPr marL="342900" indent="-342900">
              <a:buFont typeface="Wingdings" pitchFamily="2" charset="2"/>
              <a:buChar char="§"/>
            </a:pPr>
            <a:endParaRPr lang="en-US" smtClean="0"/>
          </a:p>
          <a:p>
            <a:pPr marL="342900" indent="-342900">
              <a:buFont typeface="Wingdings" pitchFamily="2" charset="2"/>
              <a:buChar char="§"/>
            </a:pPr>
            <a:endParaRPr lang="en-US" smtClean="0"/>
          </a:p>
          <a:p>
            <a:endParaRPr lang="en-US"/>
          </a:p>
        </p:txBody>
      </p:sp>
    </p:spTree>
    <p:extLst>
      <p:ext uri="{BB962C8B-B14F-4D97-AF65-F5344CB8AC3E}">
        <p14:creationId xmlns:p14="http://schemas.microsoft.com/office/powerpoint/2010/main" val="31217591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2"/>
          <p:cNvSpPr>
            <a:spLocks noGrp="1" noChangeArrowheads="1"/>
          </p:cNvSpPr>
          <p:nvPr>
            <p:ph type="body" sz="half" idx="1"/>
          </p:nvPr>
        </p:nvSpPr>
        <p:spPr>
          <a:xfrm>
            <a:off x="685800" y="1524000"/>
            <a:ext cx="7696200" cy="3852863"/>
          </a:xfrm>
          <a:noFill/>
          <a:ln/>
          <a:extLst>
            <a:ext uri="{91240B29-F687-4F45-9708-019B960494DF}">
              <a14:hiddenLine xmlns:a14="http://schemas.microsoft.com/office/drawing/2010/main" w="9525">
                <a:solidFill>
                  <a:srgbClr val="000000"/>
                </a:solidFill>
                <a:miter lim="800000"/>
                <a:headEnd/>
                <a:tailEnd/>
              </a14:hiddenLine>
            </a:ext>
          </a:extLst>
        </p:spPr>
        <p:txBody>
          <a:bodyPr lIns="82100" tIns="41050" rIns="82100" bIns="41050"/>
          <a:lstStyle/>
          <a:p>
            <a:pPr marL="347663" lvl="1" indent="-233363">
              <a:buClr>
                <a:schemeClr val="tx2"/>
              </a:buClr>
            </a:pPr>
            <a:endParaRPr lang="en-US" sz="1800"/>
          </a:p>
          <a:p>
            <a:pPr marL="347663" lvl="1" indent="-233363">
              <a:buClr>
                <a:schemeClr val="tx2"/>
              </a:buClr>
            </a:pPr>
            <a:r>
              <a:rPr lang="en-US" smtClean="0"/>
              <a:t>Tầng network mô hình OSI chủ yếu dùng các loại địa chỉ mang tính qui ước như:</a:t>
            </a:r>
          </a:p>
          <a:p>
            <a:pPr marL="690563" lvl="2" indent="-233363">
              <a:buClr>
                <a:schemeClr val="tx2"/>
              </a:buClr>
            </a:pPr>
            <a:r>
              <a:rPr lang="en-US" smtClean="0"/>
              <a:t>IP</a:t>
            </a:r>
          </a:p>
          <a:p>
            <a:pPr marL="690563" lvl="2" indent="-233363">
              <a:buClr>
                <a:schemeClr val="tx2"/>
              </a:buClr>
            </a:pPr>
            <a:r>
              <a:rPr lang="en-US" smtClean="0"/>
              <a:t>IPX</a:t>
            </a:r>
          </a:p>
          <a:p>
            <a:pPr marL="690563" lvl="2" indent="-233363">
              <a:buClr>
                <a:schemeClr val="tx2"/>
              </a:buClr>
            </a:pPr>
            <a:r>
              <a:rPr lang="en-US" smtClean="0"/>
              <a:t>...</a:t>
            </a:r>
          </a:p>
          <a:p>
            <a:pPr marL="457200" lvl="2" indent="0">
              <a:buClr>
                <a:schemeClr val="tx2"/>
              </a:buClr>
              <a:buNone/>
            </a:pPr>
            <a:r>
              <a:rPr lang="en-US" smtClean="0"/>
              <a:t>Đây là địa chỉ có hướng nghĩa là có 2 phần network.host</a:t>
            </a:r>
            <a:endParaRPr lang="en-US"/>
          </a:p>
          <a:p>
            <a:pPr marL="347663" lvl="1" indent="-233363">
              <a:buClr>
                <a:schemeClr val="tx2"/>
              </a:buClr>
            </a:pPr>
            <a:r>
              <a:rPr lang="en-US"/>
              <a:t>After the path is determined, a router can route a </a:t>
            </a:r>
            <a:r>
              <a:rPr lang="en-US" b="1">
                <a:solidFill>
                  <a:schemeClr val="accent2"/>
                </a:solidFill>
              </a:rPr>
              <a:t>routed</a:t>
            </a:r>
            <a:r>
              <a:rPr lang="en-US"/>
              <a:t> protocol.</a:t>
            </a:r>
          </a:p>
        </p:txBody>
      </p:sp>
      <p:sp>
        <p:nvSpPr>
          <p:cNvPr id="286723" name="Rectangle 3"/>
          <p:cNvSpPr>
            <a:spLocks noGrp="1" noChangeArrowheads="1"/>
          </p:cNvSpPr>
          <p:nvPr>
            <p:ph type="title"/>
          </p:nvPr>
        </p:nvSpPr>
        <p:spPr/>
        <p:txBody>
          <a:bodyPr/>
          <a:lstStyle/>
          <a:p>
            <a:r>
              <a:rPr lang="en-US" smtClean="0"/>
              <a:t>Hoạt động Router-ARP Protocol</a:t>
            </a:r>
            <a:endParaRPr lang="en-US"/>
          </a:p>
        </p:txBody>
      </p:sp>
    </p:spTree>
    <p:extLst>
      <p:ext uri="{BB962C8B-B14F-4D97-AF65-F5344CB8AC3E}">
        <p14:creationId xmlns:p14="http://schemas.microsoft.com/office/powerpoint/2010/main" val="3805170211"/>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Môi trường thực tế phức tạp</a:t>
            </a:r>
            <a:endParaRPr lang="en-US"/>
          </a:p>
        </p:txBody>
      </p:sp>
      <p:sp>
        <p:nvSpPr>
          <p:cNvPr id="3" name="Content Placeholder 2"/>
          <p:cNvSpPr>
            <a:spLocks noGrp="1"/>
          </p:cNvSpPr>
          <p:nvPr>
            <p:ph idx="1"/>
          </p:nvPr>
        </p:nvSpPr>
        <p:spPr>
          <a:xfrm>
            <a:off x="685800" y="1781175"/>
            <a:ext cx="8458200" cy="5076825"/>
          </a:xfrm>
        </p:spPr>
        <p:txBody>
          <a:bodyPr/>
          <a:lstStyle/>
          <a:p>
            <a:pPr marL="342900" indent="-342900">
              <a:buFont typeface="Wingdings" pitchFamily="2" charset="2"/>
              <a:buChar char="Ø"/>
            </a:pPr>
            <a:r>
              <a:rPr lang="en-US" sz="2000">
                <a:latin typeface="VNI-Times" pitchFamily="2" charset="0"/>
              </a:rPr>
              <a:t>•   Maùy A göûi moät ARP request (broadcast) ñeå tìm ñòa chæ MAC cuûa  port X. </a:t>
            </a:r>
          </a:p>
          <a:p>
            <a:pPr marL="342900" indent="-342900">
              <a:buFont typeface="Wingdings" pitchFamily="2" charset="2"/>
              <a:buChar char="Ø"/>
            </a:pPr>
            <a:r>
              <a:rPr lang="en-US" sz="2000">
                <a:latin typeface="VNI-Times" pitchFamily="2" charset="0"/>
              </a:rPr>
              <a:t>•   Router C traû lôøi, cung caáp cho maùy A ñòa chæ MAC cuûa port X. </a:t>
            </a:r>
          </a:p>
          <a:p>
            <a:pPr marL="342900" indent="-342900">
              <a:buFont typeface="Wingdings" pitchFamily="2" charset="2"/>
              <a:buChar char="Ø"/>
            </a:pPr>
            <a:r>
              <a:rPr lang="en-US" sz="2000">
                <a:latin typeface="VNI-Times" pitchFamily="2" charset="0"/>
              </a:rPr>
              <a:t>•   Maùy A truyeàn packet ñeán port X </a:t>
            </a:r>
            <a:r>
              <a:rPr lang="en-US" sz="2000" smtClean="0">
                <a:latin typeface="VNI-Times" pitchFamily="2" charset="0"/>
              </a:rPr>
              <a:t>cuûa </a:t>
            </a:r>
            <a:r>
              <a:rPr lang="en-US" sz="2000">
                <a:latin typeface="VNI-Times" pitchFamily="2" charset="0"/>
              </a:rPr>
              <a:t>router. </a:t>
            </a:r>
            <a:endParaRPr lang="en-US" sz="2000" smtClean="0">
              <a:latin typeface="VNI-Times" pitchFamily="2" charset="0"/>
            </a:endParaRPr>
          </a:p>
          <a:p>
            <a:pPr marL="342900" indent="-342900">
              <a:buFont typeface="Wingdings" pitchFamily="2" charset="2"/>
              <a:buChar char="Ø"/>
            </a:pPr>
            <a:r>
              <a:rPr lang="en-US" sz="2000">
                <a:latin typeface="VNI-Times" pitchFamily="2" charset="0"/>
              </a:rPr>
              <a:t>•   Router nhaän ñöôïc packet töø maùy A, chuyeån packet ra port Y cuûa router. Trong </a:t>
            </a:r>
            <a:r>
              <a:rPr lang="en-US" sz="2000" smtClean="0">
                <a:latin typeface="VNI-Times" pitchFamily="2" charset="0"/>
              </a:rPr>
              <a:t>packet </a:t>
            </a:r>
            <a:r>
              <a:rPr lang="en-US" sz="2000">
                <a:latin typeface="VNI-Times" pitchFamily="2" charset="0"/>
              </a:rPr>
              <a:t>coù chöùa ñòa chæ IP cuûa maùy B. </a:t>
            </a:r>
          </a:p>
          <a:p>
            <a:pPr marL="342900" indent="-342900">
              <a:buFont typeface="Wingdings" pitchFamily="2" charset="2"/>
              <a:buChar char="Ø"/>
            </a:pPr>
            <a:r>
              <a:rPr lang="en-US" sz="2000">
                <a:latin typeface="VNI-Times" pitchFamily="2" charset="0"/>
              </a:rPr>
              <a:t>•   Router seõ göûi ARP request ñeå tìm ñòa chæ MAC cuûa maùy B. </a:t>
            </a:r>
          </a:p>
          <a:p>
            <a:pPr marL="342900" indent="-342900">
              <a:buFont typeface="Wingdings" pitchFamily="2" charset="2"/>
              <a:buChar char="Ø"/>
            </a:pPr>
            <a:r>
              <a:rPr lang="en-US" sz="2000">
                <a:latin typeface="VNI-Times" pitchFamily="2" charset="0"/>
              </a:rPr>
              <a:t>•   Maùy B seõ traû lôøi cho router bieát ñòa chæ MAC cuûa mình. </a:t>
            </a:r>
          </a:p>
          <a:p>
            <a:pPr marL="342900" indent="-342900">
              <a:buFont typeface="Wingdings" pitchFamily="2" charset="2"/>
              <a:buChar char="Ø"/>
            </a:pPr>
            <a:r>
              <a:rPr lang="en-US" sz="2000">
                <a:latin typeface="VNI-Times" pitchFamily="2" charset="0"/>
              </a:rPr>
              <a:t>•   Sau khi nhaän ñöôïc ñòa chæ MAC cuûa  maùy B, router C göûi packet cuûa A ñeán B. </a:t>
            </a:r>
          </a:p>
        </p:txBody>
      </p:sp>
    </p:spTree>
    <p:extLst>
      <p:ext uri="{BB962C8B-B14F-4D97-AF65-F5344CB8AC3E}">
        <p14:creationId xmlns:p14="http://schemas.microsoft.com/office/powerpoint/2010/main" val="349157876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mtClean="0"/>
              <a:t>CÁC KHÁI NIỆM</a:t>
            </a:r>
            <a:endParaRPr lang="en-US"/>
          </a:p>
        </p:txBody>
      </p:sp>
      <p:sp>
        <p:nvSpPr>
          <p:cNvPr id="3" name="Content Placeholder 2"/>
          <p:cNvSpPr>
            <a:spLocks noGrp="1"/>
          </p:cNvSpPr>
          <p:nvPr>
            <p:ph idx="1"/>
          </p:nvPr>
        </p:nvSpPr>
        <p:spPr>
          <a:xfrm>
            <a:off x="655638" y="1781175"/>
            <a:ext cx="7940675" cy="4314825"/>
          </a:xfrm>
        </p:spPr>
        <p:txBody>
          <a:bodyPr/>
          <a:lstStyle/>
          <a:p>
            <a:pPr marL="342900" indent="-342900">
              <a:buFont typeface="Wingdings" pitchFamily="2" charset="2"/>
              <a:buChar char="§"/>
            </a:pPr>
            <a:r>
              <a:rPr lang="en-US"/>
              <a:t>Path </a:t>
            </a:r>
            <a:r>
              <a:rPr lang="en-US" smtClean="0"/>
              <a:t>determination.</a:t>
            </a:r>
          </a:p>
          <a:p>
            <a:pPr marL="685800" lvl="1" indent="-342900">
              <a:buFont typeface="Wingdings" pitchFamily="2" charset="2"/>
              <a:buChar char="ü"/>
            </a:pPr>
            <a:r>
              <a:rPr lang="vi-VN"/>
              <a:t>Việc xác định đường dựa trên các thuật toán </a:t>
            </a:r>
            <a:r>
              <a:rPr lang="vi-VN" smtClean="0"/>
              <a:t>routing</a:t>
            </a:r>
            <a:r>
              <a:rPr lang="en-US" smtClean="0"/>
              <a:t>.</a:t>
            </a:r>
          </a:p>
          <a:p>
            <a:pPr marL="685800" lvl="1" indent="-342900">
              <a:buFont typeface="Wingdings" pitchFamily="2" charset="2"/>
              <a:buChar char="ü"/>
            </a:pPr>
            <a:r>
              <a:rPr lang="en-US" smtClean="0"/>
              <a:t>Đưa</a:t>
            </a:r>
            <a:r>
              <a:rPr lang="vi-VN" smtClean="0"/>
              <a:t> </a:t>
            </a:r>
            <a:r>
              <a:rPr lang="vi-VN"/>
              <a:t>ra được một số đo gọi là metric để so sánh giữa các đường với </a:t>
            </a:r>
            <a:r>
              <a:rPr lang="vi-VN" smtClean="0"/>
              <a:t>nhau</a:t>
            </a:r>
            <a:r>
              <a:rPr lang="en-US" smtClean="0"/>
              <a:t>.</a:t>
            </a:r>
          </a:p>
          <a:p>
            <a:pPr marL="685800" lvl="1" indent="-342900">
              <a:buFont typeface="Wingdings" pitchFamily="2" charset="2"/>
              <a:buChar char="ü"/>
            </a:pPr>
            <a:r>
              <a:rPr lang="vi-VN"/>
              <a:t>Sau khi thực hiện việc kiểm tra trạng thái của các đường liên kết bằng các thuật toán </a:t>
            </a:r>
            <a:r>
              <a:rPr lang="en-US" smtClean="0"/>
              <a:t>r</a:t>
            </a:r>
            <a:r>
              <a:rPr lang="vi-VN" smtClean="0"/>
              <a:t>outing </a:t>
            </a:r>
            <a:r>
              <a:rPr lang="vi-VN"/>
              <a:t>protocol, router </a:t>
            </a:r>
            <a:r>
              <a:rPr lang="en-US" smtClean="0"/>
              <a:t>có số</a:t>
            </a:r>
            <a:r>
              <a:rPr lang="vi-VN" smtClean="0"/>
              <a:t> </a:t>
            </a:r>
            <a:r>
              <a:rPr lang="vi-VN"/>
              <a:t>metric tương ứng cho mỗi </a:t>
            </a:r>
            <a:r>
              <a:rPr lang="vi-VN" smtClean="0"/>
              <a:t>đường</a:t>
            </a:r>
            <a:endParaRPr lang="en-US" smtClean="0"/>
          </a:p>
          <a:p>
            <a:pPr marL="685800" lvl="1" indent="-342900">
              <a:buFont typeface="Wingdings" pitchFamily="2" charset="2"/>
              <a:buChar char="ü"/>
            </a:pPr>
            <a:r>
              <a:rPr lang="en-US" smtClean="0"/>
              <a:t>Cập </a:t>
            </a:r>
            <a:r>
              <a:rPr lang="en-US"/>
              <a:t>nhật </a:t>
            </a:r>
            <a:r>
              <a:rPr lang="en-US" smtClean="0"/>
              <a:t>vào </a:t>
            </a:r>
            <a:r>
              <a:rPr lang="en-US"/>
              <a:t>routing </a:t>
            </a:r>
            <a:r>
              <a:rPr lang="en-US" smtClean="0"/>
              <a:t>table.</a:t>
            </a:r>
          </a:p>
          <a:p>
            <a:pPr marL="685800" lvl="1" indent="-342900">
              <a:buFont typeface="Wingdings" pitchFamily="2" charset="2"/>
              <a:buChar char="ü"/>
            </a:pPr>
            <a:r>
              <a:rPr lang="vi-VN"/>
              <a:t>Router sẽ chọn đường nào có metric nhỏ nhất để truyền dữ liệu</a:t>
            </a:r>
            <a:endParaRPr lang="en-US"/>
          </a:p>
          <a:p>
            <a:pPr marL="342900" indent="-342900">
              <a:buFont typeface="Wingdings" pitchFamily="2" charset="2"/>
              <a:buChar char="§"/>
            </a:pPr>
            <a:endParaRPr lang="en-US"/>
          </a:p>
        </p:txBody>
      </p:sp>
    </p:spTree>
    <p:extLst>
      <p:ext uri="{BB962C8B-B14F-4D97-AF65-F5344CB8AC3E}">
        <p14:creationId xmlns:p14="http://schemas.microsoft.com/office/powerpoint/2010/main" val="37834508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685800" y="1295400"/>
            <a:ext cx="7940675" cy="5562600"/>
          </a:xfrm>
        </p:spPr>
        <p:txBody>
          <a:bodyPr/>
          <a:lstStyle/>
          <a:p>
            <a:pPr marL="342900" indent="-342900">
              <a:buFont typeface="Wingdings" pitchFamily="2" charset="2"/>
              <a:buChar char="§"/>
            </a:pPr>
            <a:r>
              <a:rPr lang="en-US"/>
              <a:t>Switching </a:t>
            </a:r>
            <a:r>
              <a:rPr lang="en-US" smtClean="0"/>
              <a:t>ARP protocol</a:t>
            </a:r>
            <a:endParaRPr lang="en-US"/>
          </a:p>
          <a:p>
            <a:pPr marL="685800" lvl="1" indent="-342900">
              <a:buFont typeface="Wingdings" pitchFamily="2" charset="2"/>
              <a:buChar char="ü"/>
            </a:pPr>
            <a:r>
              <a:rPr lang="vi-VN"/>
              <a:t>Khi một máy muốn gửi packet qua router cho một máy thuộc </a:t>
            </a:r>
            <a:r>
              <a:rPr lang="vi-VN" b="1"/>
              <a:t>mạng khác</a:t>
            </a:r>
            <a:r>
              <a:rPr lang="vi-VN"/>
              <a:t>, nó gửi </a:t>
            </a:r>
            <a:r>
              <a:rPr lang="vi-VN" smtClean="0"/>
              <a:t>packet </a:t>
            </a:r>
            <a:r>
              <a:rPr lang="vi-VN"/>
              <a:t>đó đến router theo địa chỉ MAC của router, kèm theo địa chỉ protocol (network </a:t>
            </a:r>
            <a:r>
              <a:rPr lang="vi-VN" smtClean="0"/>
              <a:t>address</a:t>
            </a:r>
            <a:r>
              <a:rPr lang="vi-VN"/>
              <a:t>) của máy </a:t>
            </a:r>
            <a:r>
              <a:rPr lang="vi-VN" smtClean="0"/>
              <a:t>nhận</a:t>
            </a:r>
            <a:r>
              <a:rPr lang="en-US" smtClean="0"/>
              <a:t>.</a:t>
            </a:r>
          </a:p>
          <a:p>
            <a:pPr marL="685800" lvl="1" indent="-342900">
              <a:buFont typeface="Wingdings" pitchFamily="2" charset="2"/>
              <a:buChar char="ü"/>
            </a:pPr>
            <a:r>
              <a:rPr lang="vi-VN"/>
              <a:t>Router sẽ xem xét network address của máy nhận để biết xem </a:t>
            </a:r>
            <a:r>
              <a:rPr lang="vi-VN" smtClean="0"/>
              <a:t>nó </a:t>
            </a:r>
            <a:r>
              <a:rPr lang="vi-VN"/>
              <a:t>thuộc mạng nào. </a:t>
            </a:r>
            <a:endParaRPr lang="en-US" smtClean="0"/>
          </a:p>
          <a:p>
            <a:pPr marL="1028700" lvl="2" indent="-342900">
              <a:buFont typeface="Courier New" pitchFamily="49" charset="0"/>
              <a:buChar char="o"/>
            </a:pPr>
            <a:r>
              <a:rPr lang="vi-VN" smtClean="0"/>
              <a:t>Nếu không </a:t>
            </a:r>
            <a:r>
              <a:rPr lang="vi-VN"/>
              <a:t>biết được phải chuyển packet đi đâu, nó sẽ loại bỏ </a:t>
            </a:r>
            <a:r>
              <a:rPr lang="vi-VN" smtClean="0"/>
              <a:t>(</a:t>
            </a:r>
            <a:r>
              <a:rPr lang="vi-VN"/>
              <a:t>drop) packet. </a:t>
            </a:r>
            <a:endParaRPr lang="en-US" smtClean="0"/>
          </a:p>
          <a:p>
            <a:pPr marL="1028700" lvl="2" indent="-342900">
              <a:buFont typeface="Courier New" pitchFamily="49" charset="0"/>
              <a:buChar char="o"/>
            </a:pPr>
            <a:r>
              <a:rPr lang="vi-VN" smtClean="0"/>
              <a:t>Nếu nhận </a:t>
            </a:r>
            <a:r>
              <a:rPr lang="vi-VN"/>
              <a:t>thấy có thể chuyển packet đến đích, nó sẽ bổ sung  MAC </a:t>
            </a:r>
            <a:r>
              <a:rPr lang="vi-VN" smtClean="0"/>
              <a:t>address </a:t>
            </a:r>
            <a:r>
              <a:rPr lang="vi-VN"/>
              <a:t>của máy nhận vào packet và gởi packet đi</a:t>
            </a:r>
            <a:r>
              <a:rPr lang="vi-VN" smtClean="0"/>
              <a:t>.</a:t>
            </a:r>
            <a:endParaRPr lang="en-US" smtClean="0"/>
          </a:p>
          <a:p>
            <a:pPr lvl="2" indent="0">
              <a:buNone/>
            </a:pPr>
            <a:r>
              <a:rPr lang="en-US" smtClean="0"/>
              <a:t>D</a:t>
            </a:r>
            <a:r>
              <a:rPr lang="vi-VN" smtClean="0"/>
              <a:t>ữ </a:t>
            </a:r>
            <a:r>
              <a:rPr lang="vi-VN"/>
              <a:t>liệu có thể phải đi qua nhiều router, khi đó mỗi router phải biết được </a:t>
            </a:r>
            <a:r>
              <a:rPr lang="vi-VN" smtClean="0"/>
              <a:t>thông </a:t>
            </a:r>
            <a:r>
              <a:rPr lang="vi-VN"/>
              <a:t>tin về tất cả các mạng mà nó có thể truyền dữ liệu tới</a:t>
            </a:r>
            <a:endParaRPr lang="en-US" smtClean="0"/>
          </a:p>
        </p:txBody>
      </p:sp>
    </p:spTree>
    <p:extLst>
      <p:ext uri="{BB962C8B-B14F-4D97-AF65-F5344CB8AC3E}">
        <p14:creationId xmlns:p14="http://schemas.microsoft.com/office/powerpoint/2010/main" val="3111684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342900" indent="-342900">
              <a:buFont typeface="Arial" pitchFamily="34" charset="0"/>
              <a:buChar char="•"/>
            </a:pPr>
            <a:r>
              <a:rPr lang="en-US"/>
              <a:t>Thuật toán </a:t>
            </a:r>
            <a:r>
              <a:rPr lang="en-US" smtClean="0"/>
              <a:t>routing: mục đích </a:t>
            </a:r>
            <a:r>
              <a:rPr lang="vi-VN"/>
              <a:t>chọn đường truyền tốt nhất của thuật </a:t>
            </a:r>
            <a:r>
              <a:rPr lang="vi-VN" smtClean="0"/>
              <a:t>toán</a:t>
            </a:r>
            <a:r>
              <a:rPr lang="en-US" smtClean="0"/>
              <a:t>, </a:t>
            </a:r>
            <a:r>
              <a:rPr lang="vi-VN"/>
              <a:t>dễ thực hiện, ít chiếm </a:t>
            </a:r>
            <a:r>
              <a:rPr lang="vi-VN" smtClean="0"/>
              <a:t>dụng </a:t>
            </a:r>
            <a:r>
              <a:rPr lang="vi-VN"/>
              <a:t>băng thông đường truyền</a:t>
            </a:r>
            <a:r>
              <a:rPr lang="vi-VN" smtClean="0"/>
              <a:t>.</a:t>
            </a:r>
            <a:endParaRPr lang="en-US" smtClean="0"/>
          </a:p>
          <a:p>
            <a:pPr marL="342900" indent="-342900">
              <a:buFont typeface="Arial" pitchFamily="34" charset="0"/>
              <a:buChar char="•"/>
            </a:pPr>
            <a:r>
              <a:rPr lang="vi-VN"/>
              <a:t>Thuật toán routing có thể thuộc một hay nhiều loại sau đây</a:t>
            </a:r>
            <a:r>
              <a:rPr lang="vi-VN" smtClean="0"/>
              <a:t>:</a:t>
            </a:r>
            <a:endParaRPr lang="en-US" smtClean="0"/>
          </a:p>
          <a:p>
            <a:pPr marL="685800" lvl="1" indent="-342900">
              <a:buFont typeface="Wingdings" pitchFamily="2" charset="2"/>
              <a:buChar char="ü"/>
            </a:pPr>
            <a:r>
              <a:rPr lang="en-US"/>
              <a:t>Static hay </a:t>
            </a:r>
            <a:r>
              <a:rPr lang="en-US" smtClean="0"/>
              <a:t>dynamic</a:t>
            </a:r>
          </a:p>
          <a:p>
            <a:pPr marL="685800" lvl="1" indent="-342900">
              <a:buFont typeface="Wingdings" pitchFamily="2" charset="2"/>
              <a:buChar char="ü"/>
            </a:pPr>
            <a:r>
              <a:rPr lang="en-US"/>
              <a:t>Single-Path hay Multipath</a:t>
            </a:r>
            <a:r>
              <a:rPr lang="en-US" smtClean="0"/>
              <a:t>.</a:t>
            </a:r>
          </a:p>
          <a:p>
            <a:pPr marL="685800" lvl="1" indent="-342900">
              <a:buFont typeface="Wingdings" pitchFamily="2" charset="2"/>
              <a:buChar char="ü"/>
            </a:pPr>
            <a:r>
              <a:rPr lang="en-US"/>
              <a:t>Flat hay </a:t>
            </a:r>
            <a:r>
              <a:rPr lang="en-US" smtClean="0"/>
              <a:t>Hierarchical.</a:t>
            </a:r>
          </a:p>
          <a:p>
            <a:pPr marL="685800" lvl="1" indent="-342900">
              <a:buFont typeface="Wingdings" pitchFamily="2" charset="2"/>
              <a:buChar char="ü"/>
            </a:pPr>
            <a:r>
              <a:rPr lang="en-US"/>
              <a:t>Link State or Distance Vector.</a:t>
            </a:r>
          </a:p>
        </p:txBody>
      </p:sp>
    </p:spTree>
    <p:extLst>
      <p:ext uri="{BB962C8B-B14F-4D97-AF65-F5344CB8AC3E}">
        <p14:creationId xmlns:p14="http://schemas.microsoft.com/office/powerpoint/2010/main" val="41653459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7038" y="228600"/>
            <a:ext cx="8488362" cy="838200"/>
          </a:xfrm>
        </p:spPr>
        <p:txBody>
          <a:bodyPr/>
          <a:lstStyle/>
          <a:p>
            <a:r>
              <a:rPr lang="vi-VN"/>
              <a:t>Các số đo cơ bản trong thuật toán routing</a:t>
            </a:r>
            <a:endParaRPr lang="en-US"/>
          </a:p>
        </p:txBody>
      </p:sp>
      <p:sp>
        <p:nvSpPr>
          <p:cNvPr id="3" name="Content Placeholder 2"/>
          <p:cNvSpPr>
            <a:spLocks noGrp="1"/>
          </p:cNvSpPr>
          <p:nvPr>
            <p:ph idx="1"/>
          </p:nvPr>
        </p:nvSpPr>
        <p:spPr>
          <a:xfrm>
            <a:off x="655638" y="1143000"/>
            <a:ext cx="8488362" cy="5714999"/>
          </a:xfrm>
        </p:spPr>
        <p:txBody>
          <a:bodyPr/>
          <a:lstStyle/>
          <a:p>
            <a:r>
              <a:rPr lang="en-US"/>
              <a:t>Mỗi thuật toán có thể </a:t>
            </a:r>
            <a:r>
              <a:rPr lang="en-US" smtClean="0"/>
              <a:t>sử </a:t>
            </a:r>
            <a:r>
              <a:rPr lang="en-US"/>
              <a:t>dụng kiểu sử dụng metric khác </a:t>
            </a:r>
            <a:r>
              <a:rPr lang="en-US" smtClean="0"/>
              <a:t>nhau. </a:t>
            </a:r>
            <a:r>
              <a:rPr lang="vi-VN"/>
              <a:t>Các metric thường được dùng </a:t>
            </a:r>
            <a:r>
              <a:rPr lang="en-US" smtClean="0"/>
              <a:t>là:</a:t>
            </a:r>
          </a:p>
          <a:p>
            <a:pPr marL="342900" indent="-342900">
              <a:buFont typeface="Arial" pitchFamily="34" charset="0"/>
              <a:buChar char="•"/>
            </a:pPr>
            <a:r>
              <a:rPr lang="vi-VN"/>
              <a:t>Path </a:t>
            </a:r>
            <a:r>
              <a:rPr lang="vi-VN" smtClean="0"/>
              <a:t>Length</a:t>
            </a:r>
            <a:r>
              <a:rPr lang="en-US" smtClean="0"/>
              <a:t> </a:t>
            </a:r>
          </a:p>
          <a:p>
            <a:pPr marL="342900" indent="-342900">
              <a:buFont typeface="Arial" pitchFamily="34" charset="0"/>
              <a:buChar char="•"/>
            </a:pPr>
            <a:r>
              <a:rPr lang="en-US" smtClean="0"/>
              <a:t>Reliability.</a:t>
            </a:r>
          </a:p>
          <a:p>
            <a:pPr marL="342900" indent="-342900">
              <a:buFont typeface="Arial" pitchFamily="34" charset="0"/>
              <a:buChar char="•"/>
            </a:pPr>
            <a:r>
              <a:rPr lang="vi-VN" smtClean="0"/>
              <a:t>Delay</a:t>
            </a:r>
            <a:r>
              <a:rPr lang="en-US" smtClean="0"/>
              <a:t> </a:t>
            </a:r>
          </a:p>
          <a:p>
            <a:pPr marL="342900" indent="-342900">
              <a:buFont typeface="Arial" pitchFamily="34" charset="0"/>
              <a:buChar char="•"/>
            </a:pPr>
            <a:r>
              <a:rPr lang="vi-VN" smtClean="0"/>
              <a:t>Bandwidth</a:t>
            </a:r>
            <a:r>
              <a:rPr lang="en-US" smtClean="0"/>
              <a:t>.</a:t>
            </a:r>
          </a:p>
          <a:p>
            <a:pPr marL="342900" indent="-342900">
              <a:buFont typeface="Arial" pitchFamily="34" charset="0"/>
              <a:buChar char="•"/>
            </a:pPr>
            <a:r>
              <a:rPr lang="vi-VN" smtClean="0"/>
              <a:t>Load</a:t>
            </a:r>
            <a:endParaRPr lang="en-US"/>
          </a:p>
        </p:txBody>
      </p:sp>
    </p:spTree>
    <p:extLst>
      <p:ext uri="{BB962C8B-B14F-4D97-AF65-F5344CB8AC3E}">
        <p14:creationId xmlns:p14="http://schemas.microsoft.com/office/powerpoint/2010/main" val="4646824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8145462" cy="838200"/>
          </a:xfrm>
        </p:spPr>
        <p:txBody>
          <a:bodyPr/>
          <a:lstStyle/>
          <a:p>
            <a:r>
              <a:rPr lang="en-US"/>
              <a:t>Routed protocol và Routing Protocol</a:t>
            </a:r>
          </a:p>
        </p:txBody>
      </p:sp>
      <p:sp>
        <p:nvSpPr>
          <p:cNvPr id="3" name="Content Placeholder 2"/>
          <p:cNvSpPr>
            <a:spLocks noGrp="1"/>
          </p:cNvSpPr>
          <p:nvPr>
            <p:ph idx="1"/>
          </p:nvPr>
        </p:nvSpPr>
        <p:spPr>
          <a:xfrm>
            <a:off x="457200" y="1295400"/>
            <a:ext cx="8686800" cy="5181599"/>
          </a:xfrm>
        </p:spPr>
        <p:txBody>
          <a:bodyPr/>
          <a:lstStyle/>
          <a:p>
            <a:pPr marL="342900" indent="-342900">
              <a:buFont typeface="Arial" pitchFamily="34" charset="0"/>
              <a:buChar char="•"/>
            </a:pPr>
            <a:r>
              <a:rPr lang="vi-VN"/>
              <a:t>Routed protocol quy định dạng format và cách sử dụng của các trường trong packet </a:t>
            </a:r>
            <a:r>
              <a:rPr lang="vi-VN" smtClean="0"/>
              <a:t>nhằm </a:t>
            </a:r>
            <a:r>
              <a:rPr lang="vi-VN"/>
              <a:t>chuyển các packet từ nơi này sang nơi khác (đến tận người sử dụng) Ví dụ: IP, </a:t>
            </a:r>
            <a:r>
              <a:rPr lang="vi-VN" smtClean="0"/>
              <a:t>IPX…</a:t>
            </a:r>
            <a:endParaRPr lang="en-US" smtClean="0"/>
          </a:p>
          <a:p>
            <a:pPr marL="342900" indent="-342900">
              <a:buFont typeface="Arial" pitchFamily="34" charset="0"/>
              <a:buChar char="•"/>
            </a:pPr>
            <a:endParaRPr lang="en-US" smtClean="0"/>
          </a:p>
          <a:p>
            <a:pPr marL="342900" indent="-342900">
              <a:buFont typeface="Arial" pitchFamily="34" charset="0"/>
              <a:buChar char="•"/>
            </a:pPr>
            <a:r>
              <a:rPr lang="vi-VN" smtClean="0"/>
              <a:t>Routing </a:t>
            </a:r>
            <a:r>
              <a:rPr lang="vi-VN"/>
              <a:t>protocol: cho phép các router kết nối với nhau và cập nhật các thông tin của </a:t>
            </a:r>
            <a:r>
              <a:rPr lang="vi-VN" smtClean="0"/>
              <a:t>nhau </a:t>
            </a:r>
            <a:r>
              <a:rPr lang="vi-VN"/>
              <a:t>nhờ các bảng routing. </a:t>
            </a:r>
            <a:r>
              <a:rPr lang="vi-VN" smtClean="0"/>
              <a:t>outing </a:t>
            </a:r>
            <a:r>
              <a:rPr lang="vi-VN"/>
              <a:t>protocol có thể sử dụng các routed protocol để </a:t>
            </a:r>
            <a:r>
              <a:rPr lang="en-US" smtClean="0"/>
              <a:t>t</a:t>
            </a:r>
            <a:r>
              <a:rPr lang="vi-VN" smtClean="0"/>
              <a:t>ruyền </a:t>
            </a:r>
            <a:r>
              <a:rPr lang="vi-VN"/>
              <a:t>thông tin giữa các router. Ví dụ: RIP (</a:t>
            </a:r>
            <a:r>
              <a:rPr lang="vi-VN" smtClean="0"/>
              <a:t>Router</a:t>
            </a:r>
            <a:r>
              <a:rPr lang="en-US" smtClean="0"/>
              <a:t> i</a:t>
            </a:r>
            <a:r>
              <a:rPr lang="vi-VN" smtClean="0"/>
              <a:t>nformation </a:t>
            </a:r>
            <a:r>
              <a:rPr lang="vi-VN"/>
              <a:t>Protocol), IGRP (Interior </a:t>
            </a:r>
            <a:r>
              <a:rPr lang="vi-VN" smtClean="0"/>
              <a:t>Gateway </a:t>
            </a:r>
            <a:r>
              <a:rPr lang="vi-VN"/>
              <a:t>Routing Protocol)…</a:t>
            </a:r>
            <a:endParaRPr lang="en-US"/>
          </a:p>
        </p:txBody>
      </p:sp>
    </p:spTree>
    <p:extLst>
      <p:ext uri="{BB962C8B-B14F-4D97-AF65-F5344CB8AC3E}">
        <p14:creationId xmlns:p14="http://schemas.microsoft.com/office/powerpoint/2010/main" val="4734210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Routing Protocol</a:t>
            </a:r>
          </a:p>
        </p:txBody>
      </p:sp>
      <p:sp>
        <p:nvSpPr>
          <p:cNvPr id="5" name="Rectangle 3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7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2137" name="Picture 8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6800" y="1502228"/>
            <a:ext cx="8229600" cy="4822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4407905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Overview routing</a:t>
            </a:r>
            <a:endParaRPr lang="en-US"/>
          </a:p>
        </p:txBody>
      </p:sp>
      <p:pic>
        <p:nvPicPr>
          <p:cNvPr id="4" name="Content Placeholder 3" descr="[Hình: hinh1.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9600" y="1524000"/>
            <a:ext cx="7848600" cy="4724400"/>
          </a:xfrm>
          <a:prstGeom prst="rect">
            <a:avLst/>
          </a:prstGeom>
          <a:noFill/>
          <a:ln>
            <a:noFill/>
          </a:ln>
        </p:spPr>
      </p:pic>
    </p:spTree>
    <p:extLst>
      <p:ext uri="{BB962C8B-B14F-4D97-AF65-F5344CB8AC3E}">
        <p14:creationId xmlns:p14="http://schemas.microsoft.com/office/powerpoint/2010/main" val="297726482"/>
      </p:ext>
    </p:extLst>
  </p:cSld>
  <p:clrMapOvr>
    <a:masterClrMapping/>
  </p:clrMapOvr>
  <p:timing>
    <p:tnLst>
      <p:par>
        <p:cTn id="1" dur="indefinite" restart="never" nodeType="tmRoot"/>
      </p:par>
    </p:tnLst>
  </p:timing>
</p:sld>
</file>

<file path=ppt/theme/theme1.xml><?xml version="1.0" encoding="utf-8"?>
<a:theme xmlns:a="http://schemas.openxmlformats.org/drawingml/2006/main" name="TMP-DEV-PPT-v8.1">
  <a:themeElements>
    <a:clrScheme name="">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fontScheme name="TMP-DEV-PPT-v8.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17961" dir="2700000" algn="ctr" rotWithShape="0">
                  <a:schemeClr val="bg2"/>
                </a:outerShdw>
              </a:effectLst>
            </a14:hiddenEffects>
          </a:ext>
        </a:extLst>
      </a:spPr>
      <a:bodyPr vert="horz" wrap="square" lIns="82124" tIns="41061" rIns="82124" bIns="41061" numCol="1" anchor="t" anchorCtr="0" compatLnSpc="1">
        <a:prstTxWarp prst="textNoShape">
          <a:avLst/>
        </a:prstTxWarp>
        <a:spAutoFit/>
      </a:bodyPr>
      <a:lstStyle>
        <a:defPPr marL="0" marR="0" indent="0" algn="l" defTabSz="814388" rtl="0" eaLnBrk="0" fontAlgn="base" latinLnBrk="0" hangingPunct="0">
          <a:lnSpc>
            <a:spcPct val="90000"/>
          </a:lnSpc>
          <a:spcBef>
            <a:spcPct val="50000"/>
          </a:spcBef>
          <a:spcAft>
            <a:spcPct val="0"/>
          </a:spcAft>
          <a:buClrTx/>
          <a:buSzTx/>
          <a:buFontTx/>
          <a:buNone/>
          <a:tabLst/>
          <a:defRPr kumimoji="0" lang="en-US" sz="16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17961" dir="2700000" algn="ctr" rotWithShape="0">
                  <a:schemeClr val="bg2"/>
                </a:outerShdw>
              </a:effectLst>
            </a14:hiddenEffects>
          </a:ext>
        </a:extLst>
      </a:spPr>
      <a:bodyPr vert="horz" wrap="square" lIns="82124" tIns="41061" rIns="82124" bIns="41061" numCol="1" anchor="t" anchorCtr="0" compatLnSpc="1">
        <a:prstTxWarp prst="textNoShape">
          <a:avLst/>
        </a:prstTxWarp>
        <a:spAutoFit/>
      </a:bodyPr>
      <a:lstStyle>
        <a:defPPr marL="0" marR="0" indent="0" algn="l" defTabSz="814388" rtl="0" eaLnBrk="0" fontAlgn="base" latinLnBrk="0" hangingPunct="0">
          <a:lnSpc>
            <a:spcPct val="90000"/>
          </a:lnSpc>
          <a:spcBef>
            <a:spcPct val="50000"/>
          </a:spcBef>
          <a:spcAft>
            <a:spcPct val="0"/>
          </a:spcAft>
          <a:buClrTx/>
          <a:buSzTx/>
          <a:buFontTx/>
          <a:buNone/>
          <a:tabLst/>
          <a:defRPr kumimoji="0" lang="en-US" sz="1600" b="0" i="0" u="none" strike="noStrike" cap="none" normalizeH="0" baseline="0" smtClean="0">
            <a:ln>
              <a:noFill/>
            </a:ln>
            <a:solidFill>
              <a:schemeClr val="tx1"/>
            </a:solidFill>
            <a:effectLst/>
            <a:latin typeface="Arial" charset="0"/>
          </a:defRPr>
        </a:defPPr>
      </a:lstStyle>
    </a:lnDef>
  </a:objectDefaults>
  <a:extraClrSchemeLst>
    <a:extraClrScheme>
      <a:clrScheme name="TMP-DEV-PPT-v8.1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MP-DEV-PPT-v8.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TMP-DEV-PPT-v8.1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MP-DEV-PPT-v8.1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MP-DEV-PPT-v8.1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MP-DEV-PPT-v8.1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TMP-DEV-PPT-v8.1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TMP-DEV-PPT-v8.1 8">
        <a:dk1>
          <a:srgbClr val="000000"/>
        </a:dk1>
        <a:lt1>
          <a:srgbClr val="FFFFFF"/>
        </a:lt1>
        <a:dk2>
          <a:srgbClr val="FFFFFF"/>
        </a:dk2>
        <a:lt2>
          <a:srgbClr val="000000"/>
        </a:lt2>
        <a:accent1>
          <a:srgbClr val="339999"/>
        </a:accent1>
        <a:accent2>
          <a:srgbClr val="B92B38"/>
        </a:accent2>
        <a:accent3>
          <a:srgbClr val="FFFFFF"/>
        </a:accent3>
        <a:accent4>
          <a:srgbClr val="000000"/>
        </a:accent4>
        <a:accent5>
          <a:srgbClr val="ADCACA"/>
        </a:accent5>
        <a:accent6>
          <a:srgbClr val="A72632"/>
        </a:accent6>
        <a:hlink>
          <a:srgbClr val="FF9900"/>
        </a:hlink>
        <a:folHlink>
          <a:srgbClr val="FF9900"/>
        </a:folHlink>
      </a:clrScheme>
      <a:clrMap bg1="lt1" tx1="dk1" bg2="lt2" tx2="dk2" accent1="accent1" accent2="accent2" accent3="accent3" accent4="accent4" accent5="accent5" accent6="accent6" hlink="hlink" folHlink="folHlink"/>
    </a:extraClrScheme>
    <a:extraClrScheme>
      <a:clrScheme name="TMP-DEV-PPT-v8.1 9">
        <a:dk1>
          <a:srgbClr val="000000"/>
        </a:dk1>
        <a:lt1>
          <a:srgbClr val="FFFFFF"/>
        </a:lt1>
        <a:dk2>
          <a:srgbClr val="FFFFFF"/>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FF9900"/>
        </a:folHlink>
      </a:clrScheme>
      <a:clrMap bg1="lt1" tx1="dk1" bg2="lt2" tx2="dk2" accent1="accent1" accent2="accent2" accent3="accent3" accent4="accent4" accent5="accent5" accent6="accent6" hlink="hlink" folHlink="folHlink"/>
    </a:extraClrScheme>
    <a:extraClrScheme>
      <a:clrScheme name="TMP-DEV-PPT-v8.1 10">
        <a:dk1>
          <a:srgbClr val="000000"/>
        </a:dk1>
        <a:lt1>
          <a:srgbClr val="FFFFFF"/>
        </a:lt1>
        <a:dk2>
          <a:srgbClr val="000000"/>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FF9900"/>
        </a:folHlink>
      </a:clrScheme>
      <a:clrMap bg1="lt1" tx1="dk1" bg2="lt2" tx2="dk2" accent1="accent1" accent2="accent2" accent3="accent3" accent4="accent4" accent5="accent5" accent6="accent6" hlink="hlink" folHlink="folHlink"/>
    </a:extraClrScheme>
    <a:extraClrScheme>
      <a:clrScheme name="TMP-DEV-PPT-v8.1 11">
        <a:dk1>
          <a:srgbClr val="000000"/>
        </a:dk1>
        <a:lt1>
          <a:srgbClr val="FFFFFF"/>
        </a:lt1>
        <a:dk2>
          <a:srgbClr val="000000"/>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EEB30E"/>
        </a:folHlink>
      </a:clrScheme>
      <a:clrMap bg1="lt1" tx1="dk1" bg2="lt2" tx2="dk2" accent1="accent1" accent2="accent2" accent3="accent3" accent4="accent4" accent5="accent5" accent6="accent6" hlink="hlink" folHlink="folHlink"/>
    </a:extraClrScheme>
    <a:extraClrScheme>
      <a:clrScheme name="TMP-DEV-PPT-v8.1 12">
        <a:dk1>
          <a:srgbClr val="000000"/>
        </a:dk1>
        <a:lt1>
          <a:srgbClr val="FFFFFF"/>
        </a:lt1>
        <a:dk2>
          <a:srgbClr val="000000"/>
        </a:dk2>
        <a:lt2>
          <a:srgbClr val="000000"/>
        </a:lt2>
        <a:accent1>
          <a:srgbClr val="306774"/>
        </a:accent1>
        <a:accent2>
          <a:srgbClr val="B92B38"/>
        </a:accent2>
        <a:accent3>
          <a:srgbClr val="FFFFFF"/>
        </a:accent3>
        <a:accent4>
          <a:srgbClr val="000000"/>
        </a:accent4>
        <a:accent5>
          <a:srgbClr val="ADB8BC"/>
        </a:accent5>
        <a:accent6>
          <a:srgbClr val="A72632"/>
        </a:accent6>
        <a:hlink>
          <a:srgbClr val="9999CC"/>
        </a:hlink>
        <a:folHlink>
          <a:srgbClr val="EEB30E"/>
        </a:folHlink>
      </a:clrScheme>
      <a:clrMap bg1="lt1" tx1="dk1" bg2="lt2" tx2="dk2" accent1="accent1" accent2="accent2" accent3="accent3" accent4="accent4" accent5="accent5" accent6="accent6" hlink="hlink" folHlink="folHlink"/>
    </a:extraClrScheme>
    <a:extraClrScheme>
      <a:clrScheme name="TMP-DEV-PPT-v8.1 13">
        <a:dk1>
          <a:srgbClr val="000000"/>
        </a:dk1>
        <a:lt1>
          <a:srgbClr val="FFFFFF"/>
        </a:lt1>
        <a:dk2>
          <a:srgbClr val="000000"/>
        </a:dk2>
        <a:lt2>
          <a:srgbClr val="000000"/>
        </a:lt2>
        <a:accent1>
          <a:srgbClr val="306774"/>
        </a:accent1>
        <a:accent2>
          <a:srgbClr val="B92B38"/>
        </a:accent2>
        <a:accent3>
          <a:srgbClr val="FFFFFF"/>
        </a:accent3>
        <a:accent4>
          <a:srgbClr val="000000"/>
        </a:accent4>
        <a:accent5>
          <a:srgbClr val="ADB8BC"/>
        </a:accent5>
        <a:accent6>
          <a:srgbClr val="A72632"/>
        </a:accent6>
        <a:hlink>
          <a:srgbClr val="336599"/>
        </a:hlink>
        <a:folHlink>
          <a:srgbClr val="EEB30E"/>
        </a:folHlink>
      </a:clrScheme>
      <a:clrMap bg1="lt1" tx1="dk1" bg2="lt2" tx2="dk2" accent1="accent1" accent2="accent2" accent3="accent3" accent4="accent4" accent5="accent5" accent6="accent6" hlink="hlink" folHlink="folHlink"/>
    </a:extraClrScheme>
    <a:extraClrScheme>
      <a:clrScheme name="TMP-DEV-PPT-v8.1 14">
        <a:dk1>
          <a:srgbClr val="000000"/>
        </a:dk1>
        <a:lt1>
          <a:srgbClr val="FFFFFF"/>
        </a:lt1>
        <a:dk2>
          <a:srgbClr val="000000"/>
        </a:dk2>
        <a:lt2>
          <a:srgbClr val="000000"/>
        </a:lt2>
        <a:accent1>
          <a:srgbClr val="306774"/>
        </a:accent1>
        <a:accent2>
          <a:srgbClr val="B92B38"/>
        </a:accent2>
        <a:accent3>
          <a:srgbClr val="FFFFFF"/>
        </a:accent3>
        <a:accent4>
          <a:srgbClr val="000000"/>
        </a:accent4>
        <a:accent5>
          <a:srgbClr val="ADB8BC"/>
        </a:accent5>
        <a:accent6>
          <a:srgbClr val="A72632"/>
        </a:accent6>
        <a:hlink>
          <a:srgbClr val="4B87C3"/>
        </a:hlink>
        <a:folHlink>
          <a:srgbClr val="EEB30E"/>
        </a:folHlink>
      </a:clrScheme>
      <a:clrMap bg1="lt1" tx1="dk1" bg2="lt2" tx2="dk2" accent1="accent1" accent2="accent2" accent3="accent3" accent4="accent4" accent5="accent5" accent6="accent6" hlink="hlink" folHlink="folHlink"/>
    </a:extraClrScheme>
    <a:extraClrScheme>
      <a:clrScheme name="TMP-DEV-PPT-v8.1 15">
        <a:dk1>
          <a:srgbClr val="000000"/>
        </a:dk1>
        <a:lt1>
          <a:srgbClr val="FFFFFF"/>
        </a:lt1>
        <a:dk2>
          <a:srgbClr val="0183B7"/>
        </a:dk2>
        <a:lt2>
          <a:srgbClr val="000000"/>
        </a:lt2>
        <a:accent1>
          <a:srgbClr val="0183B7"/>
        </a:accent1>
        <a:accent2>
          <a:srgbClr val="B92B38"/>
        </a:accent2>
        <a:accent3>
          <a:srgbClr val="FFFFFF"/>
        </a:accent3>
        <a:accent4>
          <a:srgbClr val="000000"/>
        </a:accent4>
        <a:accent5>
          <a:srgbClr val="AAC1D8"/>
        </a:accent5>
        <a:accent6>
          <a:srgbClr val="A72632"/>
        </a:accent6>
        <a:hlink>
          <a:srgbClr val="4B87C3"/>
        </a:hlink>
        <a:folHlink>
          <a:srgbClr val="EEB30E"/>
        </a:folHlink>
      </a:clrScheme>
      <a:clrMap bg1="lt1" tx1="dk1" bg2="lt2" tx2="dk2" accent1="accent1" accent2="accent2" accent3="accent3" accent4="accent4" accent5="accent5" accent6="accent6" hlink="hlink" folHlink="folHlink"/>
    </a:extraClrScheme>
    <a:extraClrScheme>
      <a:clrScheme name="TMP-DEV-PPT-v8.1 16">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4B87C3"/>
        </a:hlink>
        <a:folHlink>
          <a:srgbClr val="EEB30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TMP-DEV-PPT-v8.0</Template>
  <TotalTime>3864</TotalTime>
  <Words>1154</Words>
  <Application>Microsoft Office PowerPoint</Application>
  <PresentationFormat>On-screen Show (4:3)</PresentationFormat>
  <Paragraphs>76</Paragraphs>
  <Slides>11</Slides>
  <Notes>8</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TMP-DEV-PPT-v8.1</vt:lpstr>
      <vt:lpstr>PowerPoint Presentation</vt:lpstr>
      <vt:lpstr>Module Overview </vt:lpstr>
      <vt:lpstr>Hoạt động Router-ARP Protocol</vt:lpstr>
      <vt:lpstr>Môi trường thực tế phức tạp</vt:lpstr>
      <vt:lpstr>CÁC KHÁI NIỆM</vt:lpstr>
      <vt:lpstr>PowerPoint Presentation</vt:lpstr>
      <vt:lpstr>PowerPoint Presentation</vt:lpstr>
      <vt:lpstr>Các số đo cơ bản trong thuật toán routing</vt:lpstr>
      <vt:lpstr>Routed protocol và Routing Protocol</vt:lpstr>
      <vt:lpstr>Routing Protocol</vt:lpstr>
      <vt:lpstr>Overview routing</vt:lpstr>
    </vt:vector>
  </TitlesOfParts>
  <Manager>Erin Stanley</Manager>
  <Company>Cisco Systems,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MA-ILT-Lesson-v4.2.ppt</dc:title>
  <dc:creator>Editorial, Production, and Graphics Services (EPGS)</dc:creator>
  <dc:description>04/04, v3.1, Libby Goga_x000d_
applied new ILSG learning design_x000d_
04/24/04, v3.1, Erin Stanley_x000d_
prepared for production_x000d_
Updated; dmachado:  01.04.05_x000d_
04.07.06: jbangloy: Applied Template QACS-PPT-v7.0_x000d_
04.10.06: kayclark: DTP Check_x000d_
Edit: Michele Gilfether: 04.24.06</dc:description>
  <cp:lastModifiedBy>phamthaikhanh@gmail.com</cp:lastModifiedBy>
  <cp:revision>174</cp:revision>
  <dcterms:created xsi:type="dcterms:W3CDTF">2003-04-02T15:29:42Z</dcterms:created>
  <dcterms:modified xsi:type="dcterms:W3CDTF">2014-10-03T06:37:57Z</dcterms:modified>
  <cp:category>Masters</cp:category>
</cp:coreProperties>
</file>