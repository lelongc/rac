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3" r:id="rId3"/>
    <p:sldId id="262" r:id="rId4"/>
    <p:sldId id="264" r:id="rId5"/>
    <p:sldId id="266" r:id="rId6"/>
    <p:sldId id="265" r:id="rId7"/>
    <p:sldId id="272" r:id="rId8"/>
    <p:sldId id="273" r:id="rId9"/>
    <p:sldId id="274" r:id="rId10"/>
    <p:sldId id="276" r:id="rId11"/>
    <p:sldId id="277" r:id="rId12"/>
    <p:sldId id="267" r:id="rId13"/>
    <p:sldId id="268" r:id="rId14"/>
    <p:sldId id="278" r:id="rId15"/>
    <p:sldId id="269" r:id="rId16"/>
    <p:sldId id="284" r:id="rId17"/>
    <p:sldId id="285" r:id="rId18"/>
    <p:sldId id="287" r:id="rId19"/>
    <p:sldId id="270" r:id="rId20"/>
    <p:sldId id="282" r:id="rId21"/>
    <p:sldId id="283" r:id="rId22"/>
    <p:sldId id="292" r:id="rId23"/>
    <p:sldId id="293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F6"/>
    <a:srgbClr val="0EE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9FA29B-180C-41F9-91F4-38BD87ECA4BE}" v="2" dt="2023-09-06T06:17:24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187" autoAdjust="0"/>
  </p:normalViewPr>
  <p:slideViewPr>
    <p:cSldViewPr>
      <p:cViewPr varScale="1">
        <p:scale>
          <a:sx n="92" d="100"/>
          <a:sy n="92" d="100"/>
        </p:scale>
        <p:origin x="1374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52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Thái Khanh" userId="785eafab-1e25-4d9f-8e79-206295f15406" providerId="ADAL" clId="{F89FA29B-180C-41F9-91F4-38BD87ECA4BE}"/>
    <pc:docChg chg="modSld">
      <pc:chgData name="Phạm Thái Khanh" userId="785eafab-1e25-4d9f-8e79-206295f15406" providerId="ADAL" clId="{F89FA29B-180C-41F9-91F4-38BD87ECA4BE}" dt="2023-09-06T06:17:24.323" v="1" actId="20577"/>
      <pc:docMkLst>
        <pc:docMk/>
      </pc:docMkLst>
      <pc:sldChg chg="modSp modAnim">
        <pc:chgData name="Phạm Thái Khanh" userId="785eafab-1e25-4d9f-8e79-206295f15406" providerId="ADAL" clId="{F89FA29B-180C-41F9-91F4-38BD87ECA4BE}" dt="2023-09-06T06:17:24.323" v="1" actId="20577"/>
        <pc:sldMkLst>
          <pc:docMk/>
          <pc:sldMk cId="3326529421" sldId="285"/>
        </pc:sldMkLst>
        <pc:spChg chg="mod">
          <ac:chgData name="Phạm Thái Khanh" userId="785eafab-1e25-4d9f-8e79-206295f15406" providerId="ADAL" clId="{F89FA29B-180C-41F9-91F4-38BD87ECA4BE}" dt="2023-09-06T06:17:24.323" v="1" actId="20577"/>
          <ac:spMkLst>
            <pc:docMk/>
            <pc:sldMk cId="3326529421" sldId="28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5D79B-55EB-41F6-812C-A3AA2570D7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D5C56-44F8-47C9-AB39-1FBC7C22B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08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F8170-F0E9-4D8E-9FAE-381FACEE3E04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1545-F9A5-41F7-926C-B5F1ACFA50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1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1545-F9A5-41F7-926C-B5F1ACFA508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6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886200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Phạm Thái Khanh</a:t>
            </a:r>
            <a:endParaRPr lang="en-US" dirty="0"/>
          </a:p>
        </p:txBody>
      </p:sp>
      <p:pic>
        <p:nvPicPr>
          <p:cNvPr id="1027" name="Picture 3" descr="D:\HUI\FIT HUI - logo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94197"/>
            <a:ext cx="2377440" cy="1025003"/>
          </a:xfrm>
          <a:prstGeom prst="rect">
            <a:avLst/>
          </a:prstGeom>
          <a:noFill/>
        </p:spPr>
      </p:pic>
      <p:sp>
        <p:nvSpPr>
          <p:cNvPr id="9" name="Chevron 8"/>
          <p:cNvSpPr/>
          <p:nvPr userDrawn="1"/>
        </p:nvSpPr>
        <p:spPr>
          <a:xfrm>
            <a:off x="2133600" y="1219200"/>
            <a:ext cx="4937760" cy="91440"/>
          </a:xfrm>
          <a:prstGeom prst="chevron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US">
              <a:solidFill>
                <a:schemeClr val="tx1"/>
              </a:solidFill>
              <a:effectLst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194197"/>
            <a:ext cx="2324100" cy="98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Font typeface="Wingdings" pitchFamily="2" charset="2"/>
              <a:buChar char="q"/>
              <a:defRPr sz="2800"/>
            </a:lvl1pPr>
            <a:lvl2pPr>
              <a:buFont typeface="Courier New" pitchFamily="49" charset="0"/>
              <a:buChar char="o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531079"/>
            <a:ext cx="762000" cy="331932"/>
          </a:xfrm>
          <a:prstGeom prst="rect">
            <a:avLst/>
          </a:prstGeom>
        </p:spPr>
        <p:txBody>
          <a:bodyPr/>
          <a:lstStyle/>
          <a:p>
            <a:fld id="{EA0FE73C-30D5-4BBD-B58E-97F034B4EF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1" name="Picture 3" descr="D:\HUI\FIT HUI - small logo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526" y="152400"/>
            <a:ext cx="548640" cy="548640"/>
          </a:xfrm>
          <a:prstGeom prst="rect">
            <a:avLst/>
          </a:prstGeom>
          <a:noFill/>
        </p:spPr>
      </p:pic>
      <p:grpSp>
        <p:nvGrpSpPr>
          <p:cNvPr id="20" name="Group 19"/>
          <p:cNvGrpSpPr/>
          <p:nvPr userDrawn="1"/>
        </p:nvGrpSpPr>
        <p:grpSpPr>
          <a:xfrm>
            <a:off x="853440" y="1225296"/>
            <a:ext cx="7833360" cy="146304"/>
            <a:chOff x="731520" y="1331915"/>
            <a:chExt cx="7833360" cy="146304"/>
          </a:xfrm>
        </p:grpSpPr>
        <p:sp>
          <p:nvSpPr>
            <p:cNvPr id="11" name="Chevron 10"/>
            <p:cNvSpPr/>
            <p:nvPr userDrawn="1"/>
          </p:nvSpPr>
          <p:spPr>
            <a:xfrm>
              <a:off x="731520" y="1371600"/>
              <a:ext cx="1554480" cy="73152"/>
            </a:xfrm>
            <a:prstGeom prst="chevron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Chevron 11"/>
            <p:cNvSpPr/>
            <p:nvPr userDrawn="1"/>
          </p:nvSpPr>
          <p:spPr>
            <a:xfrm>
              <a:off x="2560320" y="1371600"/>
              <a:ext cx="1554480" cy="73152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hevron 12"/>
            <p:cNvSpPr/>
            <p:nvPr userDrawn="1"/>
          </p:nvSpPr>
          <p:spPr>
            <a:xfrm>
              <a:off x="4617720" y="1371600"/>
              <a:ext cx="1554480" cy="73152"/>
            </a:xfrm>
            <a:prstGeom prst="chevron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Notched Right Arrow 16"/>
            <p:cNvSpPr/>
            <p:nvPr userDrawn="1"/>
          </p:nvSpPr>
          <p:spPr>
            <a:xfrm>
              <a:off x="7010400" y="1331915"/>
              <a:ext cx="1554480" cy="146304"/>
            </a:xfrm>
            <a:prstGeom prst="notched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slide">
    <p:bg>
      <p:bgPr>
        <a:pattFill prst="horzBrick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853440" y="1225296"/>
            <a:ext cx="7833360" cy="146304"/>
            <a:chOff x="731520" y="1331915"/>
            <a:chExt cx="7833360" cy="146304"/>
          </a:xfrm>
        </p:grpSpPr>
        <p:sp>
          <p:nvSpPr>
            <p:cNvPr id="8" name="Chevron 7"/>
            <p:cNvSpPr/>
            <p:nvPr userDrawn="1"/>
          </p:nvSpPr>
          <p:spPr>
            <a:xfrm>
              <a:off x="731520" y="1371600"/>
              <a:ext cx="1554480" cy="73152"/>
            </a:xfrm>
            <a:prstGeom prst="chevron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/>
            <p:cNvSpPr/>
            <p:nvPr userDrawn="1"/>
          </p:nvSpPr>
          <p:spPr>
            <a:xfrm>
              <a:off x="2560320" y="1371600"/>
              <a:ext cx="1554480" cy="73152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/>
            <p:cNvSpPr/>
            <p:nvPr userDrawn="1"/>
          </p:nvSpPr>
          <p:spPr>
            <a:xfrm>
              <a:off x="4617720" y="1371600"/>
              <a:ext cx="1554480" cy="73152"/>
            </a:xfrm>
            <a:prstGeom prst="chevron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Notched Right Arrow 10"/>
            <p:cNvSpPr/>
            <p:nvPr userDrawn="1"/>
          </p:nvSpPr>
          <p:spPr>
            <a:xfrm>
              <a:off x="7010400" y="1331915"/>
              <a:ext cx="1554480" cy="146304"/>
            </a:xfrm>
            <a:prstGeom prst="notched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q"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>
              <a:buFont typeface="Courier New" pitchFamily="49" charset="0"/>
              <a:buChar char="o"/>
              <a:defRPr sz="2400">
                <a:solidFill>
                  <a:schemeClr val="bg1">
                    <a:lumMod val="6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6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6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3" descr="D:\HUI\FIT HUI - small logo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526" y="152400"/>
            <a:ext cx="548640" cy="548640"/>
          </a:xfrm>
          <a:prstGeom prst="rect">
            <a:avLst/>
          </a:prstGeom>
          <a:noFill/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76400" y="6492875"/>
            <a:ext cx="54864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531079"/>
            <a:ext cx="762000" cy="331932"/>
          </a:xfrm>
          <a:prstGeom prst="rect">
            <a:avLst/>
          </a:prstGeom>
        </p:spPr>
        <p:txBody>
          <a:bodyPr/>
          <a:lstStyle/>
          <a:p>
            <a:fld id="{EA0FE73C-30D5-4BBD-B58E-97F034B4EF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2875"/>
            <a:ext cx="548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531079"/>
            <a:ext cx="762000" cy="331932"/>
          </a:xfrm>
          <a:prstGeom prst="rect">
            <a:avLst/>
          </a:prstGeom>
        </p:spPr>
        <p:txBody>
          <a:bodyPr/>
          <a:lstStyle/>
          <a:p>
            <a:fld id="{EA0FE73C-30D5-4BBD-B58E-97F034B4E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914400" rtl="0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q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ve-ng.net/index.php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hyperlink" Target="https://www.eve-ng.net/index.php/download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7" Type="http://schemas.openxmlformats.org/officeDocument/2006/relationships/image" Target="../media/image15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tm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hyperlink" Target="https://www.eve-ng.net/index.php/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zilla-project.org/download.php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tmp"/><Relationship Id="rId4" Type="http://schemas.openxmlformats.org/officeDocument/2006/relationships/image" Target="../media/image40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5562600"/>
            <a:ext cx="5766706" cy="1135598"/>
          </a:xfrm>
        </p:spPr>
        <p:txBody>
          <a:bodyPr>
            <a:normAutofit/>
          </a:bodyPr>
          <a:lstStyle/>
          <a:p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Phạm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Thái Khanh</a:t>
            </a:r>
          </a:p>
          <a:p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phamthaikhanh@iuh.edu.vn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CNTT- ĐH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Công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Nghiệp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TP.HCM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1905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b="1" kern="120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HƯỚNG DẪN CÔNG CỤ</a:t>
            </a:r>
            <a:endParaRPr lang="vi-VN"/>
          </a:p>
        </p:txBody>
      </p:sp>
      <p:pic>
        <p:nvPicPr>
          <p:cNvPr id="1026" name="Picture 2" descr="EVE-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048000"/>
            <a:ext cx="48768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48006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vi-VN" sz="4000" b="1">
                <a:solidFill>
                  <a:srgbClr val="002060"/>
                </a:solidFill>
              </a:rPr>
              <a:t>UNetLab</a:t>
            </a:r>
            <a:endParaRPr lang="en-US" sz="4000" b="1">
              <a:solidFill>
                <a:srgbClr val="002060"/>
              </a:solidFill>
            </a:endParaRPr>
          </a:p>
          <a:p>
            <a:r>
              <a:rPr lang="vi-VN"/>
              <a:t>EVE-NG (Emulated Virtual Environment – Next Generation)</a:t>
            </a:r>
            <a:endParaRPr lang="en-US"/>
          </a:p>
          <a:p>
            <a:r>
              <a:rPr lang="en-US"/>
              <a:t>C</a:t>
            </a:r>
            <a:r>
              <a:rPr lang="vi-VN"/>
              <a:t>ông cụ giả lập (emulator) mạnh nhất hiện nay. thừa hưởng các tính năng của UnetLab</a:t>
            </a:r>
            <a:r>
              <a:rPr lang="en-US"/>
              <a:t>.</a:t>
            </a:r>
          </a:p>
          <a:p>
            <a:r>
              <a:rPr lang="vi-VN"/>
              <a:t>EVE-NG có thể giả lập được rất nhiều loại thiết bị mạng đang được sử dụng rộng rãi, với nhiều nền tảng hệ điều hành khác nhau: </a:t>
            </a:r>
            <a:endParaRPr lang="en-US"/>
          </a:p>
          <a:p>
            <a:pPr lvl="1"/>
            <a:r>
              <a:rPr lang="en-US"/>
              <a:t>R</a:t>
            </a:r>
            <a:r>
              <a:rPr lang="vi-VN"/>
              <a:t>outer/switch của Cisco (Cisco IOL hoặc IOS trên nền Dynamip Server)</a:t>
            </a:r>
            <a:endParaRPr lang="en-US"/>
          </a:p>
          <a:p>
            <a:pPr lvl="1"/>
            <a:r>
              <a:rPr lang="vi-VN"/>
              <a:t>Juniper</a:t>
            </a:r>
            <a:endParaRPr lang="en-US"/>
          </a:p>
          <a:p>
            <a:pPr lvl="1"/>
            <a:r>
              <a:rPr lang="vi-VN"/>
              <a:t>Firewall </a:t>
            </a:r>
            <a:endParaRPr lang="en-US"/>
          </a:p>
          <a:p>
            <a:pPr lvl="1"/>
            <a:r>
              <a:rPr lang="vi-VN"/>
              <a:t>Các thiết bị cuối </a:t>
            </a:r>
            <a:endParaRPr lang="en-US"/>
          </a:p>
          <a:p>
            <a:pPr marL="0" lvl="1" indent="0">
              <a:buNone/>
            </a:pPr>
            <a:r>
              <a:rPr lang="en-US"/>
              <a:t>Đ</a:t>
            </a:r>
            <a:r>
              <a:rPr lang="vi-VN"/>
              <a:t>ể kiểm tra thiết kế, kiểm thử</a:t>
            </a:r>
            <a:r>
              <a:rPr lang="en-US"/>
              <a:t>, vận hành thệ thống thực trên nền tảng ảo hóa</a:t>
            </a:r>
            <a:r>
              <a:rPr lang="vi-VN"/>
              <a:t> </a:t>
            </a:r>
            <a:r>
              <a:rPr lang="en-US"/>
              <a:t>tiết kiệm chi phí</a:t>
            </a:r>
            <a:r>
              <a:rPr lang="vi-VN"/>
              <a:t>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2" descr="EVE-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280" y="60330"/>
            <a:ext cx="2834640" cy="117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63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</a:t>
            </a:r>
            <a:r>
              <a:rPr lang="en-US">
                <a:solidFill>
                  <a:srgbClr val="FF0000"/>
                </a:solidFill>
              </a:rPr>
              <a:t>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https://www.eve-ng.net/index.php/download/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EVE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002060"/>
                </a:solidFill>
              </a:rPr>
              <a:t>Vmware</a:t>
            </a:r>
            <a:r>
              <a:rPr lang="en-US" dirty="0">
                <a:solidFill>
                  <a:srgbClr val="002060"/>
                </a:solidFill>
              </a:rPr>
              <a:t> free (</a:t>
            </a:r>
            <a:r>
              <a:rPr lang="en-US" dirty="0" err="1">
                <a:solidFill>
                  <a:srgbClr val="002060"/>
                </a:solidFill>
              </a:rPr>
              <a:t>nếu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chưa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có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33" y="2740244"/>
            <a:ext cx="8869680" cy="3508156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9939" y="2438400"/>
            <a:ext cx="7200900" cy="3624228"/>
            <a:chOff x="38100" y="2438400"/>
            <a:chExt cx="7200900" cy="3624228"/>
          </a:xfrm>
        </p:grpSpPr>
        <p:cxnSp>
          <p:nvCxnSpPr>
            <p:cNvPr id="8" name="Straight Arrow Connector 7"/>
            <p:cNvCxnSpPr>
              <a:cxnSpLocks/>
            </p:cNvCxnSpPr>
            <p:nvPr/>
          </p:nvCxnSpPr>
          <p:spPr>
            <a:xfrm flipH="1">
              <a:off x="2209800" y="2438400"/>
              <a:ext cx="106680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38100" y="3960922"/>
              <a:ext cx="2514600" cy="10668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81000" y="5410199"/>
              <a:ext cx="2133600" cy="47649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2707005" y="2438400"/>
              <a:ext cx="4531995" cy="3624228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CC7EDD3-509E-D7F8-B18B-37B8FF33CB03}"/>
              </a:ext>
            </a:extLst>
          </p:cNvPr>
          <p:cNvSpPr/>
          <p:nvPr/>
        </p:nvSpPr>
        <p:spPr>
          <a:xfrm>
            <a:off x="152401" y="2740244"/>
            <a:ext cx="4419600" cy="38395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3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Thiết lập Vmware –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Vào Vmware -&gt; open</a:t>
            </a:r>
          </a:p>
          <a:p>
            <a:r>
              <a:rPr lang="en-US" sz="2000"/>
              <a:t>Browse đến</a:t>
            </a:r>
            <a:r>
              <a:rPr lang="en-US" sz="2000" baseline="0"/>
              <a:t> </a:t>
            </a:r>
            <a:r>
              <a:rPr lang="en-US" sz="2000"/>
              <a:t>folder chứa </a:t>
            </a:r>
            <a:r>
              <a:rPr lang="en-US" sz="2000" b="1">
                <a:solidFill>
                  <a:srgbClr val="002060"/>
                </a:solidFill>
              </a:rPr>
              <a:t>EVE-COMM-VM </a:t>
            </a:r>
            <a:r>
              <a:rPr lang="en-US" sz="2000"/>
              <a:t>-&gt; Open</a:t>
            </a:r>
            <a:endParaRPr lang="en-US" sz="2000" b="1">
              <a:solidFill>
                <a:srgbClr val="002060"/>
              </a:solidFill>
            </a:endParaRPr>
          </a:p>
          <a:p>
            <a:r>
              <a:rPr lang="en-US" sz="2000"/>
              <a:t>Nhập</a:t>
            </a:r>
            <a:r>
              <a:rPr lang="en-US" sz="2000" baseline="0"/>
              <a:t> tên máy ảo-&gt;</a:t>
            </a:r>
            <a:r>
              <a:rPr lang="vi-VN" sz="2000"/>
              <a:t>Browse để chọn</a:t>
            </a:r>
            <a:r>
              <a:rPr lang="en-US" sz="2000"/>
              <a:t> nơi</a:t>
            </a:r>
            <a:r>
              <a:rPr lang="vi-VN" sz="2000"/>
              <a:t> lưu </a:t>
            </a:r>
            <a:r>
              <a:rPr lang="en-US" sz="2000"/>
              <a:t>máy ảo -&gt; Import</a:t>
            </a:r>
            <a:endParaRPr lang="vi-VN" sz="2000"/>
          </a:p>
          <a:p>
            <a:endParaRPr lang="vi-VN" sz="2000" b="1">
              <a:solidFill>
                <a:srgbClr val="002060"/>
              </a:solidFill>
            </a:endParaRPr>
          </a:p>
          <a:p>
            <a:endParaRPr lang="en-US" sz="2000" b="1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76889" b="71204"/>
          <a:stretch/>
        </p:blipFill>
        <p:spPr>
          <a:xfrm>
            <a:off x="1090680" y="1947795"/>
            <a:ext cx="2468880" cy="24609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596918"/>
            <a:ext cx="4876800" cy="39341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674" y="3505200"/>
            <a:ext cx="3286125" cy="2200275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10200" y="6096000"/>
            <a:ext cx="990600" cy="3773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743200" y="4572000"/>
            <a:ext cx="3225599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745129" y="5057885"/>
            <a:ext cx="3225599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419599" y="5438885"/>
            <a:ext cx="685801" cy="226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705600" y="2432282"/>
            <a:ext cx="2288272" cy="234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48" y="3674469"/>
            <a:ext cx="5263448" cy="143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0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4699 L 0.16076 0.02777 C 0.19444 0.04467 0.24496 0.05393 0.29739 0.05393 C 0.35746 0.05393 0.40538 0.04467 0.43889 0.02777 L 0.6 -0.04699 " pathEditMode="relative" rAng="0" ptsTypes="AAAAA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0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" presetClass="exit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50"/>
                            </p:stCondLst>
                            <p:childTnLst>
                              <p:par>
                                <p:cTn id="54" presetID="6" presetClass="exit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550"/>
                            </p:stCondLst>
                            <p:childTnLst>
                              <p:par>
                                <p:cTn id="61" presetID="6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50"/>
                            </p:stCondLst>
                            <p:childTnLst>
                              <p:par>
                                <p:cTn id="65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50"/>
                            </p:stCondLst>
                            <p:childTnLst>
                              <p:par>
                                <p:cTn id="69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4" grpId="0" animBg="1"/>
      <p:bldP spid="17" grpId="0" animBg="1"/>
      <p:bldP spid="18" grpId="0" animBg="1"/>
      <p:bldP spid="1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30"/>
          <a:stretch/>
        </p:blipFill>
        <p:spPr>
          <a:xfrm>
            <a:off x="0" y="2057400"/>
            <a:ext cx="2320525" cy="27889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Vmware-Edit Virtual Machine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4800600"/>
          </a:xfrm>
        </p:spPr>
        <p:txBody>
          <a:bodyPr/>
          <a:lstStyle/>
          <a:p>
            <a:r>
              <a:rPr lang="en-US"/>
              <a:t>Cấu hình máy ảo, 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vi-VN">
                <a:solidFill>
                  <a:srgbClr val="FF0000"/>
                </a:solidFill>
              </a:rPr>
              <a:t>ùy </a:t>
            </a:r>
            <a:r>
              <a:rPr lang="en-US">
                <a:solidFill>
                  <a:srgbClr val="FF0000"/>
                </a:solidFill>
              </a:rPr>
              <a:t>cấu hình máy thật</a:t>
            </a:r>
            <a:r>
              <a:rPr lang="en-US"/>
              <a:t> thiết lập máy ảo phù hợp:</a:t>
            </a:r>
          </a:p>
          <a:p>
            <a:pPr marL="1885950" lvl="1" indent="-342900"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vi-VN"/>
              <a:t>RAM </a:t>
            </a:r>
            <a:endParaRPr lang="en-US"/>
          </a:p>
          <a:p>
            <a:pPr marL="1885950" lvl="1" indent="-342900"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en-US"/>
              <a:t>CPU</a:t>
            </a:r>
          </a:p>
          <a:p>
            <a:pPr marL="1885950" lvl="1" indent="-342900"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en-US"/>
              <a:t>HDD</a:t>
            </a:r>
          </a:p>
          <a:p>
            <a:pPr marL="1885950" lvl="1" indent="-342900"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en-US"/>
              <a:t>Network</a:t>
            </a:r>
            <a:r>
              <a:rPr lang="en-US" baseline="0"/>
              <a:t> Adapter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Content Placeholder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990600"/>
            <a:ext cx="4867954" cy="21243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640" y="2362200"/>
            <a:ext cx="3931920" cy="3731895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429" y="2724041"/>
            <a:ext cx="6220693" cy="15623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181600" y="2895600"/>
            <a:ext cx="2667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64775" y="3676759"/>
            <a:ext cx="2667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95" y="3842110"/>
            <a:ext cx="182880" cy="186089"/>
          </a:xfrm>
          <a:prstGeom prst="rect">
            <a:avLst/>
          </a:prstGeom>
        </p:spPr>
      </p:pic>
      <p:pic>
        <p:nvPicPr>
          <p:cNvPr id="15" name="Picture 14" descr="Virtual Machine Setting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04" y="1375505"/>
            <a:ext cx="5669280" cy="533009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29891" y="2569736"/>
            <a:ext cx="1920240" cy="122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852960" y="6291114"/>
            <a:ext cx="26677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 và start máy ảo lên</a:t>
            </a:r>
          </a:p>
        </p:txBody>
      </p:sp>
    </p:spTree>
    <p:extLst>
      <p:ext uri="{BB962C8B-B14F-4D97-AF65-F5344CB8AC3E}">
        <p14:creationId xmlns:p14="http://schemas.microsoft.com/office/powerpoint/2010/main" val="29334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xit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81481E-6 L 0.29635 0.07524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9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35 0.07524 L 0.23681 0.56875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6" y="2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53" presetClass="exit" presetSubtype="3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6" grpId="1" animBg="1"/>
      <p:bldP spid="16" grpId="2" animBg="1"/>
      <p:bldP spid="16" grpId="3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/>
          <a:lstStyle/>
          <a:p>
            <a:r>
              <a:rPr lang="en-US"/>
              <a:t>Sau khi máy ảo khởi động xong 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Tài khoản/mật khẩu mặc định của EVE-NG là </a:t>
            </a:r>
          </a:p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</a:rPr>
              <a:t>root </a:t>
            </a:r>
            <a:r>
              <a:rPr lang="en-US" b="1"/>
              <a:t>/ </a:t>
            </a:r>
            <a:r>
              <a:rPr lang="en-US" b="1">
                <a:solidFill>
                  <a:srgbClr val="0070C0"/>
                </a:solidFill>
              </a:rPr>
              <a:t>eve</a:t>
            </a:r>
          </a:p>
          <a:p>
            <a:r>
              <a:rPr lang="en-US"/>
              <a:t>Nhập mật khẩu mới cho EVE-NG và xác nhận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057400"/>
            <a:ext cx="5844886" cy="13716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953000"/>
            <a:ext cx="2898648" cy="1828800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733" y="5125727"/>
            <a:ext cx="3077004" cy="1238423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3813048" y="5715000"/>
            <a:ext cx="98755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0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/>
          <a:lstStyle/>
          <a:p>
            <a:r>
              <a:rPr lang="en-US"/>
              <a:t>Đặt tên máy ảo 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Cấu hình DNS domain mane: </a:t>
            </a:r>
            <a:r>
              <a:rPr lang="en-US">
                <a:solidFill>
                  <a:srgbClr val="FF0000"/>
                </a:solidFill>
              </a:rPr>
              <a:t>mssvten.com</a:t>
            </a:r>
          </a:p>
          <a:p>
            <a:pPr lvl="1"/>
            <a:r>
              <a:rPr lang="en-US"/>
              <a:t>VD </a:t>
            </a:r>
            <a:r>
              <a:rPr lang="en-US">
                <a:solidFill>
                  <a:srgbClr val="FF0000"/>
                </a:solidFill>
              </a:rPr>
              <a:t>Phan Văn Trúng MSSV 17181921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057399"/>
            <a:ext cx="3230471" cy="1463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667000" y="2632360"/>
            <a:ext cx="2667000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máy ảo: EVE_Trung</a:t>
            </a:r>
          </a:p>
        </p:txBody>
      </p:sp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631773"/>
            <a:ext cx="3196642" cy="14630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90800" y="5172793"/>
            <a:ext cx="2819400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17181921trung.com</a:t>
            </a:r>
          </a:p>
        </p:txBody>
      </p:sp>
    </p:spTree>
    <p:extLst>
      <p:ext uri="{BB962C8B-B14F-4D97-AF65-F5344CB8AC3E}">
        <p14:creationId xmlns:p14="http://schemas.microsoft.com/office/powerpoint/2010/main" val="160106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>
            <a:normAutofit/>
          </a:bodyPr>
          <a:lstStyle/>
          <a:p>
            <a:r>
              <a:rPr lang="en-US"/>
              <a:t>Chọn phương thức cấu hình IP cho card mạng server ubuntu.</a:t>
            </a:r>
          </a:p>
          <a:p>
            <a:pPr lvl="1"/>
            <a:r>
              <a:rPr lang="en-US"/>
              <a:t>DHCP (nếu lab có thể chọn dhcp cho nhanh)</a:t>
            </a:r>
          </a:p>
          <a:p>
            <a:pPr lvl="1"/>
            <a:r>
              <a:rPr lang="en-US"/>
              <a:t>Static (nếu hệ thống thật nên chọn static vì là server)</a:t>
            </a:r>
          </a:p>
          <a:p>
            <a:pPr marL="0" indent="0">
              <a:buNone/>
            </a:pPr>
            <a:r>
              <a:rPr lang="en-US"/>
              <a:t>            (Để lựa chọn dung spacebar)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049518"/>
            <a:ext cx="3077004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>
            <a:normAutofit/>
          </a:bodyPr>
          <a:lstStyle/>
          <a:p>
            <a:r>
              <a:rPr lang="en-US"/>
              <a:t>Tiếp theo là máy chủ đồng bộ thời gian thực. (đễ trống nếu không dùng)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Proxy Server (chúng ta kết nối trực tiếp nên để direct)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796" y="2341395"/>
            <a:ext cx="3077004" cy="1571844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573197"/>
            <a:ext cx="3019846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4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>
            <a:normAutofit/>
          </a:bodyPr>
          <a:lstStyle/>
          <a:p>
            <a:r>
              <a:rPr lang="en-US"/>
              <a:t>Sau khi EVE-NG khởi động lên tài khoản và mật khẩu mặc định của EVE-NG là </a:t>
            </a:r>
            <a:r>
              <a:rPr lang="en-US">
                <a:solidFill>
                  <a:srgbClr val="FF0000"/>
                </a:solidFill>
              </a:rPr>
              <a:t>root/eve</a:t>
            </a:r>
          </a:p>
          <a:p>
            <a:r>
              <a:rPr lang="en-US"/>
              <a:t>Thực hiện cập nhật: </a:t>
            </a:r>
            <a:r>
              <a:rPr lang="en-US">
                <a:solidFill>
                  <a:srgbClr val="FF0000"/>
                </a:solidFill>
              </a:rPr>
              <a:t>apt-get update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09"/>
          <a:stretch/>
        </p:blipFill>
        <p:spPr>
          <a:xfrm>
            <a:off x="914400" y="3124200"/>
            <a:ext cx="7315200" cy="29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1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799"/>
            <a:ext cx="8229600" cy="5083279"/>
          </a:xfrm>
        </p:spPr>
        <p:txBody>
          <a:bodyPr>
            <a:normAutofit/>
          </a:bodyPr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EVE-NG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EVE-NG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root/eve</a:t>
            </a:r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apt-get update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apt-get upgrade (</a:t>
            </a:r>
            <a:r>
              <a:rPr lang="en-US" dirty="0" err="1">
                <a:solidFill>
                  <a:srgbClr val="FF0000"/>
                </a:solidFill>
              </a:rPr>
              <a:t>chấp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hết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09"/>
          <a:stretch/>
        </p:blipFill>
        <p:spPr>
          <a:xfrm>
            <a:off x="914400" y="2895600"/>
            <a:ext cx="7315200" cy="29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7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0"/>
              <a:t>Khởi Động EVE-NG Và Thiết Lập Ban Đầu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Đăng nhập qua web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003848"/>
            <a:ext cx="6400800" cy="3818783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590800" y="2133600"/>
            <a:ext cx="2438400" cy="762000"/>
            <a:chOff x="2590800" y="2133600"/>
            <a:chExt cx="2438400" cy="762000"/>
          </a:xfrm>
        </p:grpSpPr>
        <p:sp>
          <p:nvSpPr>
            <p:cNvPr id="7" name="Rectangle 6"/>
            <p:cNvSpPr/>
            <p:nvPr/>
          </p:nvSpPr>
          <p:spPr>
            <a:xfrm>
              <a:off x="2590800" y="2133600"/>
              <a:ext cx="990600" cy="228600"/>
            </a:xfrm>
            <a:prstGeom prst="rect">
              <a:avLst/>
            </a:prstGeom>
            <a:noFill/>
            <a:ln>
              <a:solidFill>
                <a:srgbClr val="0EEC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urved Connector 8"/>
            <p:cNvCxnSpPr/>
            <p:nvPr/>
          </p:nvCxnSpPr>
          <p:spPr>
            <a:xfrm>
              <a:off x="3581400" y="2286000"/>
              <a:ext cx="1447800" cy="609600"/>
            </a:xfrm>
            <a:prstGeom prst="curvedConnector3">
              <a:avLst/>
            </a:prstGeom>
            <a:ln w="28575">
              <a:solidFill>
                <a:srgbClr val="0EEC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4038600" y="3913239"/>
            <a:ext cx="12192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>
                <a:solidFill>
                  <a:srgbClr val="FF0000"/>
                </a:solidFill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8600" y="4272317"/>
            <a:ext cx="12192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>
                <a:solidFill>
                  <a:srgbClr val="FF0000"/>
                </a:solidFill>
              </a:rPr>
              <a:t>eve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9250" y="4981575"/>
            <a:ext cx="533400" cy="304800"/>
          </a:xfrm>
          <a:prstGeom prst="rect">
            <a:avLst/>
          </a:prstGeom>
          <a:noFill/>
          <a:ln w="38100">
            <a:solidFill>
              <a:srgbClr val="0EE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143802"/>
            <a:ext cx="6400800" cy="512064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8675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8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7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Bộ Công Cụ Windows Client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4800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Bộ công cụ</a:t>
            </a:r>
            <a:r>
              <a:rPr lang="vi-VN"/>
              <a:t> Windows</a:t>
            </a:r>
            <a:r>
              <a:rPr lang="en-US"/>
              <a:t> client cung cấp </a:t>
            </a:r>
            <a:r>
              <a:rPr lang="vi-VN"/>
              <a:t>mọi thứ cần thiết để </a:t>
            </a:r>
            <a:r>
              <a:rPr lang="en-US"/>
              <a:t>phục vụ công việc/ Lab để </a:t>
            </a:r>
            <a:r>
              <a:rPr lang="vi-VN"/>
              <a:t>chạy các ứng dụng telnet, vnc, wirehark, rdp</a:t>
            </a:r>
            <a:r>
              <a:rPr lang="en-US"/>
              <a:t> </a:t>
            </a:r>
            <a:r>
              <a:rPr lang="vi-VN"/>
              <a:t>khi </a:t>
            </a:r>
            <a:r>
              <a:rPr lang="en-US"/>
              <a:t>thực hiện </a:t>
            </a:r>
            <a:r>
              <a:rPr lang="vi-VN"/>
              <a:t>trên EVE-NG Nó bao gồm:</a:t>
            </a:r>
            <a:endParaRPr lang="en-US"/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Wireshark 3.0.6.0  installation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UltraVNC 1.2.3.1  installation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putty 0.73 (used as default telnet client)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plink 0.73 (for wireshark)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all necessary wrappers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It will modify windows registry files for proper work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It will save all the files on the local PC if one would like to modify for example, using SecureCRT instead of default Putty.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Windows 8 and 10 reg files to support tabbed SecureCRT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Auto detection of Windows version (7, 8, 10) ( x64 only supported 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Bộ Công Cụ Windows Client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hlinkClick r:id="rId2"/>
              </a:rPr>
              <a:t>https://www.eve-ng.net/index.php/download/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lvl="1">
              <a:buFont typeface="Wingdings" panose="05000000000000000000" pitchFamily="2" charset="2"/>
              <a:buChar char="ü"/>
            </a:pPr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8229600" cy="42392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5794779"/>
            <a:ext cx="1600200" cy="188925"/>
          </a:xfrm>
          <a:prstGeom prst="rect">
            <a:avLst/>
          </a:prstGeom>
          <a:noFill/>
          <a:ln w="38100">
            <a:solidFill>
              <a:srgbClr val="0EE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267200"/>
            <a:ext cx="7155177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4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Install Windows Client Side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Install EVE-NG-Win-Client (run as admin)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8666" t="24444" r="18000" b="68889"/>
          <a:stretch/>
        </p:blipFill>
        <p:spPr>
          <a:xfrm>
            <a:off x="617621" y="2057400"/>
            <a:ext cx="7315200" cy="7315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39448"/>
            <a:ext cx="4572000" cy="35916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0" y="2514600"/>
            <a:ext cx="2971800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7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25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52F6"/>
                </a:solidFill>
              </a:rPr>
              <a:t>Giới Thiệu Về IOL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0060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IOL</a:t>
            </a:r>
            <a:r>
              <a:rPr lang="en-US" dirty="0"/>
              <a:t> là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OS </a:t>
            </a:r>
            <a:r>
              <a:rPr lang="en-US" b="1" u="sng" dirty="0">
                <a:solidFill>
                  <a:srgbClr val="FF0000"/>
                </a:solidFill>
              </a:rPr>
              <a:t>O</a:t>
            </a:r>
            <a:r>
              <a:rPr lang="en-US" dirty="0"/>
              <a:t>n </a:t>
            </a:r>
            <a:r>
              <a:rPr lang="en-US" b="1" u="sng" dirty="0">
                <a:solidFill>
                  <a:srgbClr val="FF0000"/>
                </a:solidFill>
              </a:rPr>
              <a:t>L</a:t>
            </a:r>
            <a:r>
              <a:rPr lang="en-US" dirty="0"/>
              <a:t>inux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Cisco IOS </a:t>
            </a:r>
            <a:r>
              <a:rPr lang="en-US" dirty="0"/>
              <a:t>là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nternetwork </a:t>
            </a:r>
            <a:r>
              <a:rPr lang="en-US" b="1" dirty="0">
                <a:solidFill>
                  <a:srgbClr val="FF0000"/>
                </a:solidFill>
              </a:rPr>
              <a:t>O</a:t>
            </a:r>
            <a:r>
              <a:rPr lang="en-US" dirty="0"/>
              <a:t>perating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ystem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Free </a:t>
            </a:r>
            <a:r>
              <a:rPr lang="en-US" dirty="0" err="1"/>
              <a:t>và</a:t>
            </a:r>
            <a:r>
              <a:rPr lang="en-US" dirty="0"/>
              <a:t> Professional/Learning. </a:t>
            </a:r>
          </a:p>
          <a:p>
            <a:pPr lvl="1">
              <a:spcBef>
                <a:spcPts val="1200"/>
              </a:spcBef>
            </a:pPr>
            <a:r>
              <a:rPr lang="en-US" dirty="0" err="1"/>
              <a:t>Bản</a:t>
            </a:r>
            <a:r>
              <a:rPr lang="en-US" dirty="0"/>
              <a:t> Pro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IOL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US" dirty="0" err="1"/>
              <a:t>Bản</a:t>
            </a:r>
            <a:r>
              <a:rPr lang="en-US" dirty="0"/>
              <a:t> Pro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400$.</a:t>
            </a:r>
          </a:p>
          <a:p>
            <a:pPr lvl="1">
              <a:spcBef>
                <a:spcPts val="1200"/>
              </a:spcBef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user.</a:t>
            </a:r>
          </a:p>
          <a:p>
            <a:pPr>
              <a:spcBef>
                <a:spcPts val="1200"/>
              </a:spcBef>
            </a:pP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EVE-NG?</a:t>
            </a:r>
          </a:p>
          <a:p>
            <a:pPr marL="0" indent="0" algn="ctr">
              <a:spcBef>
                <a:spcPts val="2400"/>
              </a:spcBef>
              <a:buNone/>
            </a:pPr>
            <a:r>
              <a:rPr lang="en-US" sz="3200" dirty="0">
                <a:solidFill>
                  <a:srgbClr val="FF0000"/>
                </a:solidFill>
              </a:rPr>
              <a:t>/opt/</a:t>
            </a:r>
            <a:r>
              <a:rPr lang="en-US" sz="3200" dirty="0" err="1">
                <a:solidFill>
                  <a:srgbClr val="FF0000"/>
                </a:solidFill>
              </a:rPr>
              <a:t>unetlab</a:t>
            </a:r>
            <a:r>
              <a:rPr lang="en-US" sz="3200" dirty="0">
                <a:solidFill>
                  <a:srgbClr val="FF0000"/>
                </a:solidFill>
              </a:rPr>
              <a:t>/addons/</a:t>
            </a:r>
            <a:r>
              <a:rPr lang="en-US" sz="3200" dirty="0" err="1">
                <a:solidFill>
                  <a:srgbClr val="FF0000"/>
                </a:solidFill>
              </a:rPr>
              <a:t>iol</a:t>
            </a:r>
            <a:r>
              <a:rPr lang="en-US" sz="3200" dirty="0">
                <a:solidFill>
                  <a:srgbClr val="FF0000"/>
                </a:solidFill>
              </a:rPr>
              <a:t>/bin/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2" presetClass="entr" presetSubtype="3" fill="hold" nodeType="after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650"/>
                            </p:stCondLst>
                            <p:childTnLst>
                              <p:par>
                                <p:cTn id="15" presetID="2" presetClass="entr" presetSubtype="9" fill="hold" nodeType="after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950"/>
                            </p:stCondLst>
                            <p:childTnLst>
                              <p:par>
                                <p:cTn id="20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350"/>
                            </p:stCondLst>
                            <p:childTnLst>
                              <p:par>
                                <p:cTn id="25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600"/>
                            </p:stCondLst>
                            <p:childTnLst>
                              <p:par>
                                <p:cTn id="30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4250"/>
                            </p:stCondLst>
                            <p:childTnLst>
                              <p:par>
                                <p:cTn id="35" presetID="2" presetClass="entr" presetSubtype="3" fill="hold" nodeType="after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650"/>
                            </p:stCondLst>
                            <p:childTnLst>
                              <p:par>
                                <p:cTn id="40" presetID="2" presetClass="entr" presetSubtype="9" fill="hold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425"/>
                            </p:stCondLst>
                            <p:childTnLst>
                              <p:par>
                                <p:cTn id="45" presetID="19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EEC33"/>
                                      </p:to>
                                    </p:animClr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EEC33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52F6"/>
                </a:solidFill>
              </a:rPr>
              <a:t>Giới Thiệu Về IOL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Một số bản IOL thông dụng:</a:t>
            </a:r>
          </a:p>
          <a:p>
            <a:pPr marL="914400" indent="-4508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52F6"/>
                </a:solidFill>
              </a:rPr>
              <a:t>L3-ADVENTERPRISEK9-M-15.2-M5.3.bin</a:t>
            </a:r>
            <a:r>
              <a:rPr lang="en-US" dirty="0"/>
              <a:t> -&gt; </a:t>
            </a:r>
            <a:br>
              <a:rPr lang="en-US" dirty="0"/>
            </a:br>
            <a:r>
              <a:rPr lang="en-US" dirty="0"/>
              <a:t>IOL </a:t>
            </a:r>
            <a:r>
              <a:rPr lang="en-US" dirty="0" err="1"/>
              <a:t>đùng</a:t>
            </a:r>
            <a:r>
              <a:rPr lang="en-US" dirty="0"/>
              <a:t> để giả </a:t>
            </a:r>
            <a:r>
              <a:rPr lang="en-US" dirty="0" err="1"/>
              <a:t>lập</a:t>
            </a:r>
            <a:r>
              <a:rPr lang="en-US" dirty="0"/>
              <a:t> Router </a:t>
            </a:r>
          </a:p>
          <a:p>
            <a:pPr marL="914400" indent="-4508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52F6"/>
                </a:solidFill>
              </a:rPr>
              <a:t>L3-ADVENTERPRISEK9-M-15.4-2T.bin</a:t>
            </a:r>
            <a:r>
              <a:rPr lang="en-US" dirty="0"/>
              <a:t> -&gt; </a:t>
            </a:r>
            <a:br>
              <a:rPr lang="en-US" dirty="0"/>
            </a:br>
            <a:r>
              <a:rPr lang="en-US" dirty="0"/>
              <a:t>IOL </a:t>
            </a:r>
            <a:r>
              <a:rPr lang="en-US" dirty="0" err="1"/>
              <a:t>đùng</a:t>
            </a:r>
            <a:r>
              <a:rPr lang="en-US" dirty="0"/>
              <a:t> để giả </a:t>
            </a:r>
            <a:r>
              <a:rPr lang="en-US" dirty="0" err="1"/>
              <a:t>lập</a:t>
            </a:r>
            <a:r>
              <a:rPr lang="en-US" dirty="0"/>
              <a:t> Router </a:t>
            </a:r>
          </a:p>
          <a:p>
            <a:pPr marL="914400" indent="-4508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52F6"/>
                </a:solidFill>
              </a:rPr>
              <a:t>L2-ADVENTERPRISEK9-M-15.2-20150703.bin </a:t>
            </a: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IOL </a:t>
            </a:r>
            <a:r>
              <a:rPr lang="en-US" dirty="0" err="1"/>
              <a:t>đùng</a:t>
            </a:r>
            <a:r>
              <a:rPr lang="en-US" dirty="0"/>
              <a:t> để giả </a:t>
            </a:r>
            <a:r>
              <a:rPr lang="en-US" dirty="0" err="1"/>
              <a:t>lập</a:t>
            </a:r>
            <a:r>
              <a:rPr lang="en-US" dirty="0"/>
              <a:t> Switch L2 </a:t>
            </a:r>
          </a:p>
          <a:p>
            <a:pPr marL="914400" indent="-4508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52F6"/>
                </a:solidFill>
              </a:rPr>
              <a:t>L2-ADVENTERPRISEK9-M-15.2-IRON-20151103.bin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IOL </a:t>
            </a:r>
            <a:r>
              <a:rPr lang="en-US" dirty="0" err="1"/>
              <a:t>đùng</a:t>
            </a:r>
            <a:r>
              <a:rPr lang="en-US" dirty="0"/>
              <a:t> để giả </a:t>
            </a:r>
            <a:r>
              <a:rPr lang="en-US" dirty="0" err="1"/>
              <a:t>lập</a:t>
            </a:r>
            <a:r>
              <a:rPr lang="en-US"/>
              <a:t> Switch L2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Có </a:t>
            </a:r>
            <a:r>
              <a:rPr lang="en-US" dirty="0" err="1"/>
              <a:t>thể</a:t>
            </a:r>
            <a:r>
              <a:rPr lang="en-US" dirty="0"/>
              <a:t> trong </a:t>
            </a:r>
            <a:r>
              <a:rPr lang="en-US" dirty="0" err="1"/>
              <a:t>quá</a:t>
            </a:r>
            <a:r>
              <a:rPr lang="en-US" dirty="0"/>
              <a:t> trình </a:t>
            </a:r>
            <a:r>
              <a:rPr lang="vi-VN" dirty="0"/>
              <a:t>lưu lạc trong dân gian </a:t>
            </a:r>
            <a:r>
              <a:rPr lang="en-US" dirty="0"/>
              <a:t>mạng </a:t>
            </a:r>
            <a:r>
              <a:rPr lang="vi-VN" dirty="0"/>
              <a:t>có tên </a:t>
            </a:r>
            <a:r>
              <a:rPr lang="en-US" dirty="0"/>
              <a:t>file </a:t>
            </a:r>
            <a:r>
              <a:rPr lang="vi-VN" dirty="0"/>
              <a:t>khác nhau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2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450"/>
                            </p:stCondLst>
                            <p:childTnLst>
                              <p:par>
                                <p:cTn id="15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650"/>
                            </p:stCondLst>
                            <p:childTnLst>
                              <p:par>
                                <p:cTn id="20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700"/>
                            </p:stCondLst>
                            <p:childTnLst>
                              <p:par>
                                <p:cTn id="25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COPY VÀO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copy </a:t>
            </a:r>
            <a:r>
              <a:rPr lang="en-US" dirty="0" err="1"/>
              <a:t>vào</a:t>
            </a:r>
            <a:r>
              <a:rPr lang="en-US" dirty="0"/>
              <a:t> EVE-NG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miễn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WinSCP </a:t>
            </a:r>
          </a:p>
          <a:p>
            <a:pPr>
              <a:spcBef>
                <a:spcPts val="1200"/>
              </a:spcBef>
            </a:pPr>
            <a:r>
              <a:rPr lang="en-US" dirty="0"/>
              <a:t>FileZilla </a:t>
            </a:r>
            <a:r>
              <a:rPr lang="en-US" dirty="0" err="1"/>
              <a:t>cũng</a:t>
            </a:r>
            <a:r>
              <a:rPr lang="en-US" dirty="0"/>
              <a:t> ok </a:t>
            </a:r>
            <a:r>
              <a:rPr lang="en-US" dirty="0" err="1"/>
              <a:t>tất</a:t>
            </a:r>
            <a:r>
              <a:rPr lang="en-US" dirty="0"/>
              <a:t>.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094" y="2514600"/>
            <a:ext cx="685800" cy="697835"/>
          </a:xfrm>
          <a:prstGeom prst="rect">
            <a:avLst/>
          </a:prstGeom>
        </p:spPr>
      </p:pic>
      <p:pic>
        <p:nvPicPr>
          <p:cNvPr id="10" name="Picture 9" descr="A red and white sign&#10;&#10;Description automatically generated with medium confidence">
            <a:hlinkClick r:id="rId3"/>
            <a:extLst>
              <a:ext uri="{FF2B5EF4-FFF2-40B4-BE49-F238E27FC236}">
                <a16:creationId xmlns="" xmlns:a16="http://schemas.microsoft.com/office/drawing/2014/main" id="{CFC2EBC9-5783-20B7-C757-47C3636FB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470" y="4015942"/>
            <a:ext cx="2194560" cy="49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6" presetID="2" presetClass="entr" presetSubtype="3" fill="hold" nodeType="after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0"/>
                            </p:stCondLst>
                            <p:childTnLst>
                              <p:par>
                                <p:cTn id="21" presetID="2" presetClass="entr" presetSubtype="3" fill="hold" nodeType="after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12" y="103453"/>
            <a:ext cx="82296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Dùng WinSCP connect vào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Run WinSCP kết nối vào EVE-NG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5" y="1905000"/>
            <a:ext cx="5486400" cy="4297129"/>
          </a:xfrm>
          <a:prstGeom prst="rect">
            <a:avLst/>
          </a:prstGeom>
        </p:spPr>
      </p:pic>
      <p:sp>
        <p:nvSpPr>
          <p:cNvPr id="8" name="Curved Left Arrow 7"/>
          <p:cNvSpPr/>
          <p:nvPr/>
        </p:nvSpPr>
        <p:spPr>
          <a:xfrm rot="1258593">
            <a:off x="5374577" y="2185674"/>
            <a:ext cx="600075" cy="2475339"/>
          </a:xfrm>
          <a:prstGeom prst="curvedLef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Explosion 2 10"/>
          <p:cNvSpPr/>
          <p:nvPr/>
        </p:nvSpPr>
        <p:spPr>
          <a:xfrm>
            <a:off x="5666994" y="4114800"/>
            <a:ext cx="962406" cy="533400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312447" y="4667250"/>
            <a:ext cx="990600" cy="12007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root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0" y="4659599"/>
            <a:ext cx="990600" cy="12007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eve</a:t>
            </a:r>
          </a:p>
        </p:txBody>
      </p:sp>
      <p:sp>
        <p:nvSpPr>
          <p:cNvPr id="14" name="Explosion 2 13"/>
          <p:cNvSpPr/>
          <p:nvPr/>
        </p:nvSpPr>
        <p:spPr>
          <a:xfrm>
            <a:off x="4594412" y="5668729"/>
            <a:ext cx="962406" cy="533400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2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/>
      <p:bldP spid="13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381000" y="2590800"/>
            <a:ext cx="85725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Dùng WinSCP connect vào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Chép</a:t>
            </a:r>
            <a:r>
              <a:rPr lang="en-US" dirty="0"/>
              <a:t> IOL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 ?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/opt/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unetlab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/addons/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iol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Explosion 1 5"/>
          <p:cNvSpPr/>
          <p:nvPr/>
        </p:nvSpPr>
        <p:spPr>
          <a:xfrm>
            <a:off x="1188720" y="5578475"/>
            <a:ext cx="2590800" cy="91440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rgbClr val="FF0000"/>
                  </a:solidFill>
                </a:ln>
                <a:solidFill>
                  <a:srgbClr val="0EEC33"/>
                </a:solidFill>
              </a:rPr>
              <a:t>Source</a:t>
            </a:r>
          </a:p>
          <a:p>
            <a:pPr algn="ctr"/>
            <a:r>
              <a:rPr lang="en-US">
                <a:ln>
                  <a:solidFill>
                    <a:srgbClr val="FF0000"/>
                  </a:solidFill>
                </a:ln>
                <a:solidFill>
                  <a:srgbClr val="0EEC33"/>
                </a:solidFill>
              </a:rPr>
              <a:t>IOL</a:t>
            </a:r>
          </a:p>
        </p:txBody>
      </p:sp>
      <p:sp>
        <p:nvSpPr>
          <p:cNvPr id="9" name="Explosion 1 8"/>
          <p:cNvSpPr/>
          <p:nvPr/>
        </p:nvSpPr>
        <p:spPr>
          <a:xfrm>
            <a:off x="5257800" y="4876800"/>
            <a:ext cx="2590800" cy="1423168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rgbClr val="FF0000"/>
                  </a:solidFill>
                </a:ln>
                <a:solidFill>
                  <a:srgbClr val="0EEC33"/>
                </a:solidFill>
              </a:rPr>
              <a:t>destination</a:t>
            </a:r>
          </a:p>
        </p:txBody>
      </p:sp>
      <p:sp>
        <p:nvSpPr>
          <p:cNvPr id="10" name="Curved Left Arrow 9"/>
          <p:cNvSpPr/>
          <p:nvPr/>
        </p:nvSpPr>
        <p:spPr>
          <a:xfrm rot="19680075" flipV="1">
            <a:off x="6241037" y="3322049"/>
            <a:ext cx="467772" cy="1821400"/>
          </a:xfrm>
          <a:prstGeom prst="curvedLeftArrow">
            <a:avLst>
              <a:gd name="adj1" fmla="val 1064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Explosion 1 11"/>
          <p:cNvSpPr/>
          <p:nvPr/>
        </p:nvSpPr>
        <p:spPr>
          <a:xfrm rot="16200000" flipV="1">
            <a:off x="507894" y="2599786"/>
            <a:ext cx="467772" cy="1821400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96" y="3950703"/>
            <a:ext cx="2743200" cy="157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3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Tạo file Li vào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5639"/>
            <a:ext cx="8534400" cy="4800600"/>
          </a:xfrm>
        </p:spPr>
        <p:txBody>
          <a:bodyPr/>
          <a:lstStyle/>
          <a:p>
            <a:r>
              <a:rPr lang="en-US"/>
              <a:t>Sau khi đã copy xong ta vào EVE-NG tạo key</a:t>
            </a:r>
          </a:p>
          <a:p>
            <a:r>
              <a:rPr lang="en-US"/>
              <a:t>Login: root và pass:eve </a:t>
            </a:r>
          </a:p>
          <a:p>
            <a:r>
              <a:rPr lang="en-US"/>
              <a:t>Vào nơi lưu IOL trên EVE </a:t>
            </a:r>
          </a:p>
          <a:p>
            <a:pPr marL="0" indent="0" algn="ctr">
              <a:buNone/>
            </a:pPr>
            <a:r>
              <a:rPr lang="en-US"/>
              <a:t>root@eve-ng:~#</a:t>
            </a:r>
            <a:r>
              <a:rPr lang="en-US">
                <a:solidFill>
                  <a:srgbClr val="0052F6"/>
                </a:solidFill>
              </a:rPr>
              <a:t>cd </a:t>
            </a:r>
            <a:r>
              <a:rPr lang="en-US">
                <a:solidFill>
                  <a:srgbClr val="FF0000"/>
                </a:solidFill>
              </a:rPr>
              <a:t>/opt/unetlab/addons/iol/bin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18" y="914400"/>
            <a:ext cx="5782482" cy="2124371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18" y="3542944"/>
            <a:ext cx="561100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7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8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800"/>
                            </p:stCondLst>
                            <p:childTnLst>
                              <p:par>
                                <p:cTn id="13" presetID="2" presetClass="exit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Lấy License IOU và Tạo file iourc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Vào folder: cd /opt/unetlab/addons/iol/bin</a:t>
            </a:r>
          </a:p>
          <a:p>
            <a:pPr marL="914400" indent="0">
              <a:buNone/>
            </a:pPr>
            <a:r>
              <a:rPr lang="en-US"/>
              <a:t>Lệnh lis: </a:t>
            </a:r>
            <a:r>
              <a:rPr lang="en-US">
                <a:solidFill>
                  <a:srgbClr val="FF0000"/>
                </a:solidFill>
              </a:rPr>
              <a:t>ls –l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Để tạo key thực hiện lệnh</a:t>
            </a:r>
          </a:p>
          <a:p>
            <a:pPr marL="0" indent="0">
              <a:buNone/>
            </a:pPr>
            <a:r>
              <a:rPr lang="en-US"/>
              <a:t>	#</a:t>
            </a:r>
            <a:r>
              <a:rPr lang="en-US">
                <a:solidFill>
                  <a:srgbClr val="FF0000"/>
                </a:solidFill>
              </a:rPr>
              <a:t>python</a:t>
            </a:r>
            <a:r>
              <a:rPr lang="en-US"/>
              <a:t> CiscoIOUKeygen.py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1247" t="55634" r="1797" b="20704"/>
          <a:stretch/>
        </p:blipFill>
        <p:spPr>
          <a:xfrm>
            <a:off x="1676400" y="2514600"/>
            <a:ext cx="6934201" cy="16002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25641"/>
          <a:stretch/>
        </p:blipFill>
        <p:spPr>
          <a:xfrm>
            <a:off x="1676400" y="4235451"/>
            <a:ext cx="5048250" cy="260349"/>
          </a:xfrm>
          <a:prstGeom prst="rect">
            <a:avLst/>
          </a:prstGeom>
        </p:spPr>
      </p:pic>
      <p:sp>
        <p:nvSpPr>
          <p:cNvPr id="11" name="Curved Left Arrow 10"/>
          <p:cNvSpPr/>
          <p:nvPr/>
        </p:nvSpPr>
        <p:spPr>
          <a:xfrm flipH="1">
            <a:off x="1295400" y="2971800"/>
            <a:ext cx="381000" cy="1371600"/>
          </a:xfrm>
          <a:prstGeom prst="curvedLef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Down Arrow Callout 11"/>
          <p:cNvSpPr/>
          <p:nvPr/>
        </p:nvSpPr>
        <p:spPr>
          <a:xfrm>
            <a:off x="5130800" y="4235451"/>
            <a:ext cx="1981200" cy="1022349"/>
          </a:xfrm>
          <a:prstGeom prst="downArrowCallout">
            <a:avLst>
              <a:gd name="adj1" fmla="val 25000"/>
              <a:gd name="adj2" fmla="val 12879"/>
              <a:gd name="adj3" fmla="val 25000"/>
              <a:gd name="adj4" fmla="val 6497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4114801"/>
            <a:ext cx="5896798" cy="1914792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04" y="2886076"/>
            <a:ext cx="5441789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01800" y="6034744"/>
            <a:ext cx="5896798" cy="5014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#echo ‘[license]</a:t>
            </a:r>
          </a:p>
          <a:p>
            <a:r>
              <a:rPr lang="en-US" sz="160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&gt;eve-ng = 972f30267ef51616;’ &gt;&gt;iourc</a:t>
            </a:r>
          </a:p>
        </p:txBody>
      </p:sp>
    </p:spTree>
    <p:extLst>
      <p:ext uri="{BB962C8B-B14F-4D97-AF65-F5344CB8AC3E}">
        <p14:creationId xmlns:p14="http://schemas.microsoft.com/office/powerpoint/2010/main" val="362679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1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150"/>
                            </p:stCondLst>
                            <p:childTnLst>
                              <p:par>
                                <p:cTn id="1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Dùng WinSCP connect vào EVE-NG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91600" cy="4800600"/>
          </a:xfrm>
        </p:spPr>
        <p:txBody>
          <a:bodyPr>
            <a:norm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license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license key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run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save</a:t>
            </a:r>
          </a:p>
          <a:p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fix permission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2060"/>
                </a:solidFill>
              </a:rPr>
              <a:t>chmod</a:t>
            </a:r>
            <a:r>
              <a:rPr lang="en-US" dirty="0" smtClean="0">
                <a:solidFill>
                  <a:srgbClr val="002060"/>
                </a:solidFill>
              </a:rPr>
              <a:t>(0755)</a:t>
            </a:r>
            <a:endParaRPr lang="en-US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/opt/</a:t>
            </a:r>
            <a:r>
              <a:rPr lang="en-US" dirty="0" err="1">
                <a:solidFill>
                  <a:srgbClr val="FF0000"/>
                </a:solidFill>
              </a:rPr>
              <a:t>unetlab</a:t>
            </a:r>
            <a:r>
              <a:rPr lang="en-US" dirty="0">
                <a:solidFill>
                  <a:srgbClr val="FF0000"/>
                </a:solidFill>
              </a:rPr>
              <a:t>/wrappers/</a:t>
            </a:r>
            <a:r>
              <a:rPr lang="en-US" dirty="0" err="1">
                <a:solidFill>
                  <a:srgbClr val="FF0000"/>
                </a:solidFill>
              </a:rPr>
              <a:t>unl_wrapper</a:t>
            </a:r>
            <a:r>
              <a:rPr lang="en-US" dirty="0">
                <a:solidFill>
                  <a:srgbClr val="FF0000"/>
                </a:solidFill>
              </a:rPr>
              <a:t> –a </a:t>
            </a:r>
            <a:r>
              <a:rPr lang="en-US" dirty="0" err="1">
                <a:solidFill>
                  <a:srgbClr val="FF0000"/>
                </a:solidFill>
              </a:rPr>
              <a:t>fixpermissions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3778" t="8889" r="8222" b="58889"/>
          <a:stretch/>
        </p:blipFill>
        <p:spPr>
          <a:xfrm>
            <a:off x="3810000" y="1577975"/>
            <a:ext cx="4114800" cy="2209800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360" y="2209800"/>
            <a:ext cx="4696480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6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xit" presetSubtype="2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Tạm</a:t>
            </a:r>
            <a:r>
              <a:rPr lang="en-US" dirty="0"/>
              <a:t> Hoàn Thành </a:t>
            </a:r>
            <a:r>
              <a:rPr lang="en-US" dirty="0" err="1"/>
              <a:t>Cài</a:t>
            </a:r>
            <a:r>
              <a:rPr lang="en-US" dirty="0"/>
              <a:t> EVE-NG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6252278" cy="48006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Phạm Thái Khanh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FE73C-30D5-4BBD-B58E-97F034B4EF2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4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862</Words>
  <Application>Microsoft Office PowerPoint</Application>
  <PresentationFormat>On-screen Show (4:3)</PresentationFormat>
  <Paragraphs>196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DOWNLOAD EVE-NG</vt:lpstr>
      <vt:lpstr>Thiết lập Vmware – EVE-NG</vt:lpstr>
      <vt:lpstr>Vmware-Edit Virtual Machine Settings</vt:lpstr>
      <vt:lpstr>Khởi Động EVE-NG Và Thiết Lập Ban Đầu</vt:lpstr>
      <vt:lpstr>Khởi Động EVE-NG Và Thiết Lập Ban Đầu</vt:lpstr>
      <vt:lpstr>Khởi Động EVE-NG Và Thiết Lập Ban Đầu</vt:lpstr>
      <vt:lpstr>Khởi Động EVE-NG Và Thiết Lập Ban Đầu</vt:lpstr>
      <vt:lpstr>Khởi Động EVE-NG Và Thiết Lập Ban Đầu</vt:lpstr>
      <vt:lpstr>Khởi Động EVE-NG Và Thiết Lập Ban Đầu</vt:lpstr>
      <vt:lpstr>Khởi Động EVE-NG Và Thiết Lập Ban Đầu</vt:lpstr>
      <vt:lpstr>Bộ Công Cụ Windows Client Side</vt:lpstr>
      <vt:lpstr>Bộ Công Cụ Windows Client Side</vt:lpstr>
      <vt:lpstr>Install Windows Client Side</vt:lpstr>
      <vt:lpstr>Giới Thiệu Về IOL</vt:lpstr>
      <vt:lpstr>Giới Thiệu Về IOL</vt:lpstr>
      <vt:lpstr>COPY VÀO EVE-NG</vt:lpstr>
      <vt:lpstr>Dùng WinSCP connect vào EVE-NG</vt:lpstr>
      <vt:lpstr>Dùng WinSCP connect vào EVE-NG</vt:lpstr>
      <vt:lpstr>Tạo file Li vào EVE-NG</vt:lpstr>
      <vt:lpstr>Lấy License IOU và Tạo file iourc</vt:lpstr>
      <vt:lpstr>Dùng WinSCP connect vào EVE-NG</vt:lpstr>
      <vt:lpstr>Tạm Hoàn Thành Cài EVE-NG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Khanh Pham Thai</dc:creator>
  <cp:lastModifiedBy>Student</cp:lastModifiedBy>
  <cp:revision>12</cp:revision>
  <dcterms:modified xsi:type="dcterms:W3CDTF">2026-01-25T01:43:53Z</dcterms:modified>
</cp:coreProperties>
</file>