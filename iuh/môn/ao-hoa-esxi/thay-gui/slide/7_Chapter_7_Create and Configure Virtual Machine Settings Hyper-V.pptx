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4"/>
  </p:notesMasterIdLst>
  <p:sldIdLst>
    <p:sldId id="256" r:id="rId2"/>
    <p:sldId id="257" r:id="rId3"/>
    <p:sldId id="258" r:id="rId4"/>
    <p:sldId id="369" r:id="rId5"/>
    <p:sldId id="371" r:id="rId6"/>
    <p:sldId id="370" r:id="rId7"/>
    <p:sldId id="372" r:id="rId8"/>
    <p:sldId id="373" r:id="rId9"/>
    <p:sldId id="374" r:id="rId10"/>
    <p:sldId id="375" r:id="rId11"/>
    <p:sldId id="376" r:id="rId12"/>
    <p:sldId id="366" r:id="rId13"/>
    <p:sldId id="377" r:id="rId14"/>
    <p:sldId id="378" r:id="rId15"/>
    <p:sldId id="379" r:id="rId16"/>
    <p:sldId id="381" r:id="rId17"/>
    <p:sldId id="382" r:id="rId18"/>
    <p:sldId id="383" r:id="rId19"/>
    <p:sldId id="384" r:id="rId20"/>
    <p:sldId id="367" r:id="rId21"/>
    <p:sldId id="385" r:id="rId22"/>
    <p:sldId id="386" r:id="rId23"/>
    <p:sldId id="387" r:id="rId24"/>
    <p:sldId id="388" r:id="rId25"/>
    <p:sldId id="389" r:id="rId26"/>
    <p:sldId id="390" r:id="rId27"/>
    <p:sldId id="392" r:id="rId28"/>
    <p:sldId id="393" r:id="rId29"/>
    <p:sldId id="395" r:id="rId30"/>
    <p:sldId id="410" r:id="rId31"/>
    <p:sldId id="411" r:id="rId32"/>
    <p:sldId id="412" r:id="rId33"/>
    <p:sldId id="396" r:id="rId34"/>
    <p:sldId id="397" r:id="rId35"/>
    <p:sldId id="398" r:id="rId36"/>
    <p:sldId id="399" r:id="rId37"/>
    <p:sldId id="400" r:id="rId38"/>
    <p:sldId id="413" r:id="rId39"/>
    <p:sldId id="414" r:id="rId40"/>
    <p:sldId id="401" r:id="rId41"/>
    <p:sldId id="402" r:id="rId42"/>
    <p:sldId id="403" r:id="rId43"/>
    <p:sldId id="404" r:id="rId44"/>
    <p:sldId id="405" r:id="rId45"/>
    <p:sldId id="415" r:id="rId46"/>
    <p:sldId id="416" r:id="rId47"/>
    <p:sldId id="368" r:id="rId48"/>
    <p:sldId id="406" r:id="rId49"/>
    <p:sldId id="407" r:id="rId50"/>
    <p:sldId id="408" r:id="rId51"/>
    <p:sldId id="365" r:id="rId52"/>
    <p:sldId id="409"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119A87E-50D2-47AF-A6D5-37817BD07C31}">
          <p14:sldIdLst>
            <p14:sldId id="256"/>
            <p14:sldId id="257"/>
            <p14:sldId id="258"/>
            <p14:sldId id="369"/>
            <p14:sldId id="371"/>
            <p14:sldId id="370"/>
            <p14:sldId id="372"/>
            <p14:sldId id="373"/>
            <p14:sldId id="374"/>
            <p14:sldId id="375"/>
            <p14:sldId id="376"/>
            <p14:sldId id="366"/>
            <p14:sldId id="377"/>
            <p14:sldId id="378"/>
            <p14:sldId id="379"/>
            <p14:sldId id="381"/>
            <p14:sldId id="382"/>
            <p14:sldId id="383"/>
            <p14:sldId id="384"/>
            <p14:sldId id="367"/>
            <p14:sldId id="385"/>
            <p14:sldId id="386"/>
            <p14:sldId id="387"/>
            <p14:sldId id="388"/>
            <p14:sldId id="389"/>
            <p14:sldId id="390"/>
            <p14:sldId id="392"/>
            <p14:sldId id="393"/>
            <p14:sldId id="395"/>
            <p14:sldId id="410"/>
            <p14:sldId id="411"/>
            <p14:sldId id="412"/>
            <p14:sldId id="396"/>
            <p14:sldId id="397"/>
            <p14:sldId id="398"/>
            <p14:sldId id="399"/>
            <p14:sldId id="400"/>
            <p14:sldId id="413"/>
            <p14:sldId id="414"/>
            <p14:sldId id="401"/>
            <p14:sldId id="402"/>
            <p14:sldId id="403"/>
            <p14:sldId id="404"/>
            <p14:sldId id="405"/>
            <p14:sldId id="415"/>
            <p14:sldId id="416"/>
            <p14:sldId id="368"/>
            <p14:sldId id="406"/>
            <p14:sldId id="407"/>
            <p14:sldId id="408"/>
            <p14:sldId id="365"/>
            <p14:sldId id="40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t" initials="P" lastIdx="1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86967" autoAdjust="0"/>
  </p:normalViewPr>
  <p:slideViewPr>
    <p:cSldViewPr>
      <p:cViewPr varScale="1">
        <p:scale>
          <a:sx n="64" d="100"/>
          <a:sy n="64" d="100"/>
        </p:scale>
        <p:origin x="1330" y="5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A1C3222-B412-4ABB-89D4-2A6AB69FE23C}" type="datetimeFigureOut">
              <a:rPr lang="en-US" smtClean="0"/>
              <a:pPr/>
              <a:t>14-09-2025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75B6552-A50C-44EE-8B6A-2A4E0DCBE81F}" type="slidenum">
              <a:rPr lang="en-US" smtClean="0"/>
              <a:pPr/>
              <a:t>‹#›</a:t>
            </a:fld>
            <a:endParaRPr lang="en-US" dirty="0"/>
          </a:p>
        </p:txBody>
      </p:sp>
    </p:spTree>
    <p:extLst>
      <p:ext uri="{BB962C8B-B14F-4D97-AF65-F5344CB8AC3E}">
        <p14:creationId xmlns:p14="http://schemas.microsoft.com/office/powerpoint/2010/main" val="5797850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notes go here</a:t>
            </a:r>
          </a:p>
        </p:txBody>
      </p:sp>
      <p:sp>
        <p:nvSpPr>
          <p:cNvPr id="4" name="Slide Number Placeholder 3"/>
          <p:cNvSpPr>
            <a:spLocks noGrp="1"/>
          </p:cNvSpPr>
          <p:nvPr>
            <p:ph type="sldNum" sz="quarter" idx="10"/>
          </p:nvPr>
        </p:nvSpPr>
        <p:spPr/>
        <p:txBody>
          <a:bodyPr/>
          <a:lstStyle/>
          <a:p>
            <a:fld id="{E75B6552-A50C-44EE-8B6A-2A4E0DCBE81F}" type="slidenum">
              <a:rPr lang="en-US" smtClean="0"/>
              <a:pPr/>
              <a:t>2</a:t>
            </a:fld>
            <a:endParaRPr lang="en-US" dirty="0"/>
          </a:p>
        </p:txBody>
      </p:sp>
    </p:spTree>
    <p:extLst>
      <p:ext uri="{BB962C8B-B14F-4D97-AF65-F5344CB8AC3E}">
        <p14:creationId xmlns:p14="http://schemas.microsoft.com/office/powerpoint/2010/main" val="1045051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notes go here</a:t>
            </a:r>
          </a:p>
        </p:txBody>
      </p:sp>
      <p:sp>
        <p:nvSpPr>
          <p:cNvPr id="4" name="Slide Number Placeholder 3"/>
          <p:cNvSpPr>
            <a:spLocks noGrp="1"/>
          </p:cNvSpPr>
          <p:nvPr>
            <p:ph type="sldNum" sz="quarter" idx="10"/>
          </p:nvPr>
        </p:nvSpPr>
        <p:spPr/>
        <p:txBody>
          <a:bodyPr/>
          <a:lstStyle/>
          <a:p>
            <a:fld id="{E75B6552-A50C-44EE-8B6A-2A4E0DCBE81F}" type="slidenum">
              <a:rPr lang="en-US" smtClean="0"/>
              <a:pPr/>
              <a:t>3</a:t>
            </a:fld>
            <a:endParaRPr lang="en-US" dirty="0"/>
          </a:p>
        </p:txBody>
      </p:sp>
    </p:spTree>
    <p:extLst>
      <p:ext uri="{BB962C8B-B14F-4D97-AF65-F5344CB8AC3E}">
        <p14:creationId xmlns:p14="http://schemas.microsoft.com/office/powerpoint/2010/main" val="20665825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notes go here</a:t>
            </a:r>
          </a:p>
        </p:txBody>
      </p:sp>
      <p:sp>
        <p:nvSpPr>
          <p:cNvPr id="4" name="Slide Number Placeholder 3"/>
          <p:cNvSpPr>
            <a:spLocks noGrp="1"/>
          </p:cNvSpPr>
          <p:nvPr>
            <p:ph type="sldNum" sz="quarter" idx="10"/>
          </p:nvPr>
        </p:nvSpPr>
        <p:spPr/>
        <p:txBody>
          <a:bodyPr/>
          <a:lstStyle/>
          <a:p>
            <a:fld id="{E75B6552-A50C-44EE-8B6A-2A4E0DCBE81F}" type="slidenum">
              <a:rPr lang="en-US" smtClean="0"/>
              <a:pPr/>
              <a:t>12</a:t>
            </a:fld>
            <a:endParaRPr lang="en-US" dirty="0"/>
          </a:p>
        </p:txBody>
      </p:sp>
    </p:spTree>
    <p:extLst>
      <p:ext uri="{BB962C8B-B14F-4D97-AF65-F5344CB8AC3E}">
        <p14:creationId xmlns:p14="http://schemas.microsoft.com/office/powerpoint/2010/main" val="20665825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notes go here</a:t>
            </a:r>
          </a:p>
        </p:txBody>
      </p:sp>
      <p:sp>
        <p:nvSpPr>
          <p:cNvPr id="4" name="Slide Number Placeholder 3"/>
          <p:cNvSpPr>
            <a:spLocks noGrp="1"/>
          </p:cNvSpPr>
          <p:nvPr>
            <p:ph type="sldNum" sz="quarter" idx="10"/>
          </p:nvPr>
        </p:nvSpPr>
        <p:spPr/>
        <p:txBody>
          <a:bodyPr/>
          <a:lstStyle/>
          <a:p>
            <a:fld id="{E75B6552-A50C-44EE-8B6A-2A4E0DCBE81F}" type="slidenum">
              <a:rPr lang="en-US" smtClean="0"/>
              <a:pPr/>
              <a:t>20</a:t>
            </a:fld>
            <a:endParaRPr lang="en-US" dirty="0"/>
          </a:p>
        </p:txBody>
      </p:sp>
    </p:spTree>
    <p:extLst>
      <p:ext uri="{BB962C8B-B14F-4D97-AF65-F5344CB8AC3E}">
        <p14:creationId xmlns:p14="http://schemas.microsoft.com/office/powerpoint/2010/main" val="2066582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75B6552-A50C-44EE-8B6A-2A4E0DCBE81F}" type="slidenum">
              <a:rPr lang="en-US" smtClean="0"/>
              <a:pPr/>
              <a:t>32</a:t>
            </a:fld>
            <a:endParaRPr lang="en-US" dirty="0"/>
          </a:p>
        </p:txBody>
      </p:sp>
    </p:spTree>
    <p:extLst>
      <p:ext uri="{BB962C8B-B14F-4D97-AF65-F5344CB8AC3E}">
        <p14:creationId xmlns:p14="http://schemas.microsoft.com/office/powerpoint/2010/main" val="14640454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US" sz="1200" kern="1200" dirty="0">
                <a:solidFill>
                  <a:schemeClr val="tx1"/>
                </a:solidFill>
                <a:effectLst/>
                <a:latin typeface="+mn-lt"/>
                <a:ea typeface="+mn-ea"/>
                <a:cs typeface="+mn-cs"/>
              </a:rPr>
              <a:t>Graphics adapter virtualization: With an appropriate graphics adapter installed in the server, client systems can offload some of the graphics processing tasks they would normally perform locally. By rendering graphics on a high-performance adapter installed on the host server and sending the resulting bitmaps to the client in a highly-compressed format, </a:t>
            </a:r>
            <a:r>
              <a:rPr lang="en-US" sz="1200" kern="1200" dirty="0" err="1">
                <a:solidFill>
                  <a:schemeClr val="tx1"/>
                </a:solidFill>
                <a:effectLst/>
                <a:latin typeface="+mn-lt"/>
                <a:ea typeface="+mn-ea"/>
                <a:cs typeface="+mn-cs"/>
              </a:rPr>
              <a:t>RemoteFX</a:t>
            </a:r>
            <a:r>
              <a:rPr lang="en-US" sz="1200" kern="1200" dirty="0">
                <a:solidFill>
                  <a:schemeClr val="tx1"/>
                </a:solidFill>
                <a:effectLst/>
                <a:latin typeface="+mn-lt"/>
                <a:ea typeface="+mn-ea"/>
                <a:cs typeface="+mn-cs"/>
              </a:rPr>
              <a:t> conserves resources on the client system, as well as network bandwidth.</a:t>
            </a:r>
          </a:p>
          <a:p>
            <a:pPr marL="171450" indent="-171450">
              <a:buFont typeface="Arial" pitchFamily="34" charset="0"/>
              <a:buChar char="•"/>
            </a:pPr>
            <a:r>
              <a:rPr lang="en-US" sz="1200" kern="1200" dirty="0">
                <a:solidFill>
                  <a:schemeClr val="tx1"/>
                </a:solidFill>
                <a:effectLst/>
                <a:latin typeface="+mn-lt"/>
                <a:ea typeface="+mn-ea"/>
                <a:cs typeface="+mn-cs"/>
              </a:rPr>
              <a:t>USB redirection: Enables USB devices connected to client computers to be redirected to the host server, including printer, scanner, interface, storage, and audio devices. </a:t>
            </a:r>
          </a:p>
          <a:p>
            <a:pPr marL="171450" indent="-171450">
              <a:buFont typeface="Arial" pitchFamily="34" charset="0"/>
              <a:buChar char="•"/>
            </a:pPr>
            <a:r>
              <a:rPr lang="en-US" sz="1200" kern="1200" dirty="0">
                <a:solidFill>
                  <a:schemeClr val="tx1"/>
                </a:solidFill>
                <a:effectLst/>
                <a:latin typeface="+mn-lt"/>
                <a:ea typeface="+mn-ea"/>
                <a:cs typeface="+mn-cs"/>
              </a:rPr>
              <a:t>Intelligent encoding and decoding: The </a:t>
            </a:r>
            <a:r>
              <a:rPr lang="en-US" sz="1200" kern="1200" dirty="0" err="1">
                <a:solidFill>
                  <a:schemeClr val="tx1"/>
                </a:solidFill>
                <a:effectLst/>
                <a:latin typeface="+mn-lt"/>
                <a:ea typeface="+mn-ea"/>
                <a:cs typeface="+mn-cs"/>
              </a:rPr>
              <a:t>RemoteFX</a:t>
            </a:r>
            <a:r>
              <a:rPr lang="en-US" sz="1200" kern="1200" dirty="0">
                <a:solidFill>
                  <a:schemeClr val="tx1"/>
                </a:solidFill>
                <a:effectLst/>
                <a:latin typeface="+mn-lt"/>
                <a:ea typeface="+mn-ea"/>
                <a:cs typeface="+mn-cs"/>
              </a:rPr>
              <a:t> server can encode data using the system’s CPU, GPU, or dedicated hardware. In the same way, the client system can decode incoming data using its CPU, GPU, or a hardware decoder. The systems can select different codecs, depending on the data type.</a:t>
            </a:r>
          </a:p>
          <a:p>
            <a:endParaRPr lang="en-US" dirty="0"/>
          </a:p>
        </p:txBody>
      </p:sp>
      <p:sp>
        <p:nvSpPr>
          <p:cNvPr id="4" name="Slide Number Placeholder 3"/>
          <p:cNvSpPr>
            <a:spLocks noGrp="1"/>
          </p:cNvSpPr>
          <p:nvPr>
            <p:ph type="sldNum" sz="quarter" idx="10"/>
          </p:nvPr>
        </p:nvSpPr>
        <p:spPr/>
        <p:txBody>
          <a:bodyPr/>
          <a:lstStyle/>
          <a:p>
            <a:fld id="{E75B6552-A50C-44EE-8B6A-2A4E0DCBE81F}" type="slidenum">
              <a:rPr lang="en-US" smtClean="0"/>
              <a:pPr/>
              <a:t>45</a:t>
            </a:fld>
            <a:endParaRPr lang="en-US" dirty="0"/>
          </a:p>
        </p:txBody>
      </p:sp>
    </p:spTree>
    <p:extLst>
      <p:ext uri="{BB962C8B-B14F-4D97-AF65-F5344CB8AC3E}">
        <p14:creationId xmlns:p14="http://schemas.microsoft.com/office/powerpoint/2010/main" val="11787059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notes go here</a:t>
            </a:r>
          </a:p>
        </p:txBody>
      </p:sp>
      <p:sp>
        <p:nvSpPr>
          <p:cNvPr id="4" name="Slide Number Placeholder 3"/>
          <p:cNvSpPr>
            <a:spLocks noGrp="1"/>
          </p:cNvSpPr>
          <p:nvPr>
            <p:ph type="sldNum" sz="quarter" idx="10"/>
          </p:nvPr>
        </p:nvSpPr>
        <p:spPr/>
        <p:txBody>
          <a:bodyPr/>
          <a:lstStyle/>
          <a:p>
            <a:fld id="{E75B6552-A50C-44EE-8B6A-2A4E0DCBE81F}" type="slidenum">
              <a:rPr lang="en-US" smtClean="0"/>
              <a:pPr/>
              <a:t>47</a:t>
            </a:fld>
            <a:endParaRPr lang="en-US" dirty="0"/>
          </a:p>
        </p:txBody>
      </p:sp>
    </p:spTree>
    <p:extLst>
      <p:ext uri="{BB962C8B-B14F-4D97-AF65-F5344CB8AC3E}">
        <p14:creationId xmlns:p14="http://schemas.microsoft.com/office/powerpoint/2010/main" val="20665825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notes go here</a:t>
            </a:r>
          </a:p>
        </p:txBody>
      </p:sp>
      <p:sp>
        <p:nvSpPr>
          <p:cNvPr id="4" name="Slide Number Placeholder 3"/>
          <p:cNvSpPr>
            <a:spLocks noGrp="1"/>
          </p:cNvSpPr>
          <p:nvPr>
            <p:ph type="sldNum" sz="quarter" idx="10"/>
          </p:nvPr>
        </p:nvSpPr>
        <p:spPr/>
        <p:txBody>
          <a:bodyPr/>
          <a:lstStyle/>
          <a:p>
            <a:fld id="{E75B6552-A50C-44EE-8B6A-2A4E0DCBE81F}" type="slidenum">
              <a:rPr lang="en-US" smtClean="0"/>
              <a:pPr/>
              <a:t>51</a:t>
            </a:fld>
            <a:endParaRPr lang="en-US" dirty="0"/>
          </a:p>
        </p:txBody>
      </p:sp>
    </p:spTree>
    <p:extLst>
      <p:ext uri="{BB962C8B-B14F-4D97-AF65-F5344CB8AC3E}">
        <p14:creationId xmlns:p14="http://schemas.microsoft.com/office/powerpoint/2010/main" val="2785310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notes go here</a:t>
            </a:r>
          </a:p>
        </p:txBody>
      </p:sp>
      <p:sp>
        <p:nvSpPr>
          <p:cNvPr id="4" name="Slide Number Placeholder 3"/>
          <p:cNvSpPr>
            <a:spLocks noGrp="1"/>
          </p:cNvSpPr>
          <p:nvPr>
            <p:ph type="sldNum" sz="quarter" idx="10"/>
          </p:nvPr>
        </p:nvSpPr>
        <p:spPr/>
        <p:txBody>
          <a:bodyPr/>
          <a:lstStyle/>
          <a:p>
            <a:fld id="{E75B6552-A50C-44EE-8B6A-2A4E0DCBE81F}" type="slidenum">
              <a:rPr lang="en-US" smtClean="0"/>
              <a:pPr/>
              <a:t>52</a:t>
            </a:fld>
            <a:endParaRPr lang="en-US" dirty="0"/>
          </a:p>
        </p:txBody>
      </p:sp>
    </p:spTree>
    <p:extLst>
      <p:ext uri="{BB962C8B-B14F-4D97-AF65-F5344CB8AC3E}">
        <p14:creationId xmlns:p14="http://schemas.microsoft.com/office/powerpoint/2010/main" val="27853106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93EF2E70-E7C6-4AD7-AEA5-90837A95C90A}" type="datetime1">
              <a:rPr lang="en-US" smtClean="0"/>
              <a:pPr/>
              <a:t>14-09-2025</a:t>
            </a:fld>
            <a:endParaRPr lang="en-US" dirty="0"/>
          </a:p>
        </p:txBody>
      </p:sp>
      <p:sp>
        <p:nvSpPr>
          <p:cNvPr id="8" name="Slide Number Placeholder 7"/>
          <p:cNvSpPr>
            <a:spLocks noGrp="1"/>
          </p:cNvSpPr>
          <p:nvPr>
            <p:ph type="sldNum" sz="quarter" idx="11"/>
          </p:nvPr>
        </p:nvSpPr>
        <p:spPr/>
        <p:txBody>
          <a:bodyPr/>
          <a:lstStyle/>
          <a:p>
            <a:fld id="{0FFCD9FE-85A8-4732-8641-B4CD942B9CFA}" type="slidenum">
              <a:rPr lang="en-US" smtClean="0"/>
              <a:pPr/>
              <a:t>‹#›</a:t>
            </a:fld>
            <a:endParaRPr lang="en-US" dirty="0"/>
          </a:p>
        </p:txBody>
      </p:sp>
      <p:sp>
        <p:nvSpPr>
          <p:cNvPr id="9" name="Footer Placeholder 8"/>
          <p:cNvSpPr>
            <a:spLocks noGrp="1"/>
          </p:cNvSpPr>
          <p:nvPr>
            <p:ph type="ftr" sz="quarter" idx="12"/>
          </p:nvPr>
        </p:nvSpPr>
        <p:spPr/>
        <p:txBody>
          <a:bodyPr/>
          <a:lstStyle/>
          <a:p>
            <a:r>
              <a:rPr lang="en-US" dirty="0"/>
              <a:t>© 2013 John Wiley &amp; Sons, Inc.</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400"/>
            </a:lvl3pPr>
            <a:lvl4pPr>
              <a:defRPr sz="2400"/>
            </a:lvl4pPr>
            <a:lvl5pPr>
              <a:defRPr sz="2400"/>
            </a:lvl5pPr>
            <a:lvl6pPr>
              <a:defRPr/>
            </a:lvl6pPr>
            <a:lvl7pPr>
              <a:defRPr/>
            </a:lvl7pPr>
            <a:lvl8pPr>
              <a:defRPr/>
            </a:lvl8pPr>
            <a:lvl9pPr>
              <a:buFont typeface="Arial" pitchFamily="34" charset="0"/>
              <a:buChar cha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C1EBDD44-19AD-43F0-946D-42DC3CACB577}" type="datetime1">
              <a:rPr lang="en-US" smtClean="0"/>
              <a:pPr/>
              <a:t>14-09-2025</a:t>
            </a:fld>
            <a:endParaRPr lang="en-US" dirty="0"/>
          </a:p>
        </p:txBody>
      </p:sp>
      <p:sp>
        <p:nvSpPr>
          <p:cNvPr id="5" name="Footer Placeholder 4"/>
          <p:cNvSpPr>
            <a:spLocks noGrp="1"/>
          </p:cNvSpPr>
          <p:nvPr>
            <p:ph type="ftr" sz="quarter" idx="11"/>
          </p:nvPr>
        </p:nvSpPr>
        <p:spPr>
          <a:xfrm>
            <a:off x="659165" y="6324600"/>
            <a:ext cx="2847975" cy="365125"/>
          </a:xfrm>
        </p:spPr>
        <p:txBody>
          <a:bodyPr/>
          <a:lstStyle/>
          <a:p>
            <a:r>
              <a:rPr lang="en-US" dirty="0"/>
              <a:t>© 2013 John Wiley &amp; Sons, Inc.</a:t>
            </a:r>
          </a:p>
        </p:txBody>
      </p:sp>
      <p:sp>
        <p:nvSpPr>
          <p:cNvPr id="6" name="Slide Number Placeholder 5"/>
          <p:cNvSpPr>
            <a:spLocks noGrp="1"/>
          </p:cNvSpPr>
          <p:nvPr>
            <p:ph type="sldNum" sz="quarter" idx="12"/>
          </p:nvPr>
        </p:nvSpPr>
        <p:spPr/>
        <p:txBody>
          <a:bodyPr/>
          <a:lstStyle/>
          <a:p>
            <a:fld id="{0FFCD9FE-85A8-4732-8641-B4CD942B9CFA}"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AA4A0B-1087-44C1-9D37-DC20ACAD1033}" type="datetime1">
              <a:rPr lang="en-US" smtClean="0"/>
              <a:pPr/>
              <a:t>14-09-2025</a:t>
            </a:fld>
            <a:endParaRPr lang="en-US" dirty="0"/>
          </a:p>
        </p:txBody>
      </p:sp>
      <p:sp>
        <p:nvSpPr>
          <p:cNvPr id="5" name="Footer Placeholder 4"/>
          <p:cNvSpPr>
            <a:spLocks noGrp="1"/>
          </p:cNvSpPr>
          <p:nvPr>
            <p:ph type="ftr" sz="quarter" idx="11"/>
          </p:nvPr>
        </p:nvSpPr>
        <p:spPr/>
        <p:txBody>
          <a:bodyPr/>
          <a:lstStyle/>
          <a:p>
            <a:r>
              <a:rPr lang="en-US" dirty="0"/>
              <a:t>© 2013 John Wiley &amp; Sons, Inc.</a:t>
            </a:r>
          </a:p>
        </p:txBody>
      </p:sp>
      <p:sp>
        <p:nvSpPr>
          <p:cNvPr id="6" name="Slide Number Placeholder 5"/>
          <p:cNvSpPr>
            <a:spLocks noGrp="1"/>
          </p:cNvSpPr>
          <p:nvPr>
            <p:ph type="sldNum" sz="quarter" idx="12"/>
          </p:nvPr>
        </p:nvSpPr>
        <p:spPr/>
        <p:txBody>
          <a:bodyPr/>
          <a:lstStyle/>
          <a:p>
            <a:fld id="{0FFCD9FE-85A8-4732-8641-B4CD942B9CFA}" type="slidenum">
              <a:rPr lang="en-US" smtClean="0"/>
              <a:pPr/>
              <a:t>‹#›</a:t>
            </a:fld>
            <a:endParaRPr lang="en-US" dirty="0"/>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D84B1D3-6D49-472E-BC6F-99489766C9E7}" type="datetime1">
              <a:rPr lang="en-US" smtClean="0"/>
              <a:pPr/>
              <a:t>14-09-2025</a:t>
            </a:fld>
            <a:endParaRPr lang="en-US" dirty="0"/>
          </a:p>
        </p:txBody>
      </p:sp>
      <p:sp>
        <p:nvSpPr>
          <p:cNvPr id="6" name="Footer Placeholder 5"/>
          <p:cNvSpPr>
            <a:spLocks noGrp="1"/>
          </p:cNvSpPr>
          <p:nvPr>
            <p:ph type="ftr" sz="quarter" idx="11"/>
          </p:nvPr>
        </p:nvSpPr>
        <p:spPr/>
        <p:txBody>
          <a:bodyPr/>
          <a:lstStyle/>
          <a:p>
            <a:r>
              <a:rPr lang="en-US" dirty="0"/>
              <a:t>© 2013 John Wiley &amp; Sons, Inc.</a:t>
            </a:r>
          </a:p>
        </p:txBody>
      </p:sp>
      <p:sp>
        <p:nvSpPr>
          <p:cNvPr id="7" name="Slide Number Placeholder 6"/>
          <p:cNvSpPr>
            <a:spLocks noGrp="1"/>
          </p:cNvSpPr>
          <p:nvPr>
            <p:ph type="sldNum" sz="quarter" idx="12"/>
          </p:nvPr>
        </p:nvSpPr>
        <p:spPr/>
        <p:txBody>
          <a:bodyPr/>
          <a:lstStyle/>
          <a:p>
            <a:fld id="{0FFCD9FE-85A8-4732-8641-B4CD942B9CFA}" type="slidenum">
              <a:rPr lang="en-US" smtClean="0"/>
              <a:pPr/>
              <a:t>‹#›</a:t>
            </a:fld>
            <a:endParaRPr lang="en-US" dirty="0"/>
          </a:p>
        </p:txBody>
      </p:sp>
      <p:sp>
        <p:nvSpPr>
          <p:cNvPr id="9" name="Content Placeholder 8"/>
          <p:cNvSpPr>
            <a:spLocks noGrp="1"/>
          </p:cNvSpPr>
          <p:nvPr>
            <p:ph sz="quarter" idx="13"/>
          </p:nvPr>
        </p:nvSpPr>
        <p:spPr>
          <a:xfrm>
            <a:off x="365760" y="1600200"/>
            <a:ext cx="4041648" cy="4526280"/>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267BE45E-64B4-4872-8B75-0432BAABF59F}" type="datetime1">
              <a:rPr lang="en-US" smtClean="0"/>
              <a:pPr/>
              <a:t>14-09-2025</a:t>
            </a:fld>
            <a:endParaRPr lang="en-US" dirty="0"/>
          </a:p>
        </p:txBody>
      </p:sp>
      <p:sp>
        <p:nvSpPr>
          <p:cNvPr id="8" name="Footer Placeholder 7"/>
          <p:cNvSpPr>
            <a:spLocks noGrp="1"/>
          </p:cNvSpPr>
          <p:nvPr>
            <p:ph type="ftr" sz="quarter" idx="11"/>
          </p:nvPr>
        </p:nvSpPr>
        <p:spPr/>
        <p:txBody>
          <a:bodyPr/>
          <a:lstStyle/>
          <a:p>
            <a:r>
              <a:rPr lang="en-US" dirty="0"/>
              <a:t>© 2013 John Wiley &amp; Sons, Inc.</a:t>
            </a:r>
          </a:p>
        </p:txBody>
      </p:sp>
      <p:sp>
        <p:nvSpPr>
          <p:cNvPr id="9" name="Slide Number Placeholder 8"/>
          <p:cNvSpPr>
            <a:spLocks noGrp="1"/>
          </p:cNvSpPr>
          <p:nvPr>
            <p:ph type="sldNum" sz="quarter" idx="12"/>
          </p:nvPr>
        </p:nvSpPr>
        <p:spPr/>
        <p:txBody>
          <a:bodyPr/>
          <a:lstStyle/>
          <a:p>
            <a:fld id="{0FFCD9FE-85A8-4732-8641-B4CD942B9CFA}" type="slidenum">
              <a:rPr lang="en-US" smtClean="0"/>
              <a:pPr/>
              <a:t>‹#›</a:t>
            </a:fld>
            <a:endParaRPr lang="en-US" dirty="0"/>
          </a:p>
        </p:txBody>
      </p:sp>
      <p:sp>
        <p:nvSpPr>
          <p:cNvPr id="11" name="Content Placeholder 10"/>
          <p:cNvSpPr>
            <a:spLocks noGrp="1"/>
          </p:cNvSpPr>
          <p:nvPr>
            <p:ph sz="quarter" idx="13"/>
          </p:nvPr>
        </p:nvSpPr>
        <p:spPr>
          <a:xfrm>
            <a:off x="457200" y="2212848"/>
            <a:ext cx="4041648" cy="3913632"/>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p:cNvSpPr>
            <a:spLocks noGrp="1"/>
          </p:cNvSpPr>
          <p:nvPr>
            <p:ph sz="quarter" idx="14"/>
          </p:nvPr>
        </p:nvSpPr>
        <p:spPr>
          <a:xfrm>
            <a:off x="4672584" y="2212848"/>
            <a:ext cx="4041648" cy="3913187"/>
          </a:xfrm>
        </p:spPr>
        <p:txBody>
          <a:bodyPr/>
          <a:lstStyle>
            <a:lvl2pPr>
              <a:defRPr sz="2000"/>
            </a:lvl2pPr>
            <a:lvl3pPr>
              <a:defRPr sz="2000"/>
            </a:lvl3pPr>
            <a:lvl4pPr>
              <a:defRPr sz="2000"/>
            </a:lvl4pPr>
            <a:lvl5pPr>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7CB4DF8-C030-4875-9D2B-AE84F01AF6E0}" type="datetime1">
              <a:rPr lang="en-US" smtClean="0"/>
              <a:pPr/>
              <a:t>14-09-2025</a:t>
            </a:fld>
            <a:endParaRPr lang="en-US" dirty="0"/>
          </a:p>
        </p:txBody>
      </p:sp>
      <p:sp>
        <p:nvSpPr>
          <p:cNvPr id="4" name="Footer Placeholder 3"/>
          <p:cNvSpPr>
            <a:spLocks noGrp="1"/>
          </p:cNvSpPr>
          <p:nvPr>
            <p:ph type="ftr" sz="quarter" idx="11"/>
          </p:nvPr>
        </p:nvSpPr>
        <p:spPr/>
        <p:txBody>
          <a:bodyPr/>
          <a:lstStyle/>
          <a:p>
            <a:r>
              <a:rPr lang="en-US" dirty="0"/>
              <a:t>© 2013 John Wiley &amp; Sons, Inc.</a:t>
            </a:r>
          </a:p>
        </p:txBody>
      </p:sp>
      <p:sp>
        <p:nvSpPr>
          <p:cNvPr id="5" name="Slide Number Placeholder 4"/>
          <p:cNvSpPr>
            <a:spLocks noGrp="1"/>
          </p:cNvSpPr>
          <p:nvPr>
            <p:ph type="sldNum" sz="quarter" idx="12"/>
          </p:nvPr>
        </p:nvSpPr>
        <p:spPr/>
        <p:txBody>
          <a:bodyPr/>
          <a:lstStyle/>
          <a:p>
            <a:fld id="{0FFCD9FE-85A8-4732-8641-B4CD942B9CFA}"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660964-C561-4D09-A2EC-48F9564EDE48}" type="datetime1">
              <a:rPr lang="en-US" smtClean="0"/>
              <a:pPr/>
              <a:t>14-09-2025</a:t>
            </a:fld>
            <a:endParaRPr lang="en-US" dirty="0"/>
          </a:p>
        </p:txBody>
      </p:sp>
      <p:sp>
        <p:nvSpPr>
          <p:cNvPr id="3" name="Footer Placeholder 2"/>
          <p:cNvSpPr>
            <a:spLocks noGrp="1"/>
          </p:cNvSpPr>
          <p:nvPr>
            <p:ph type="ftr" sz="quarter" idx="11"/>
          </p:nvPr>
        </p:nvSpPr>
        <p:spPr/>
        <p:txBody>
          <a:bodyPr/>
          <a:lstStyle/>
          <a:p>
            <a:r>
              <a:rPr lang="en-US" dirty="0"/>
              <a:t>© 2013 John Wiley &amp; Sons, Inc.</a:t>
            </a:r>
          </a:p>
        </p:txBody>
      </p:sp>
      <p:sp>
        <p:nvSpPr>
          <p:cNvPr id="4" name="Slide Number Placeholder 3"/>
          <p:cNvSpPr>
            <a:spLocks noGrp="1"/>
          </p:cNvSpPr>
          <p:nvPr>
            <p:ph type="sldNum" sz="quarter" idx="12"/>
          </p:nvPr>
        </p:nvSpPr>
        <p:spPr/>
        <p:txBody>
          <a:bodyPr/>
          <a:lstStyle/>
          <a:p>
            <a:fld id="{0FFCD9FE-85A8-4732-8641-B4CD942B9CFA}"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673B4F-365D-4034-9398-D76F5F48DE8F}" type="datetime1">
              <a:rPr lang="en-US" smtClean="0"/>
              <a:pPr/>
              <a:t>14-09-2025</a:t>
            </a:fld>
            <a:endParaRPr lang="en-US" dirty="0"/>
          </a:p>
        </p:txBody>
      </p:sp>
      <p:sp>
        <p:nvSpPr>
          <p:cNvPr id="6" name="Footer Placeholder 5"/>
          <p:cNvSpPr>
            <a:spLocks noGrp="1"/>
          </p:cNvSpPr>
          <p:nvPr>
            <p:ph type="ftr" sz="quarter" idx="11"/>
          </p:nvPr>
        </p:nvSpPr>
        <p:spPr/>
        <p:txBody>
          <a:bodyPr/>
          <a:lstStyle/>
          <a:p>
            <a:r>
              <a:rPr lang="en-US" dirty="0"/>
              <a:t>© 2013 John Wiley &amp; Sons, Inc.</a:t>
            </a:r>
          </a:p>
        </p:txBody>
      </p:sp>
      <p:sp>
        <p:nvSpPr>
          <p:cNvPr id="7" name="Slide Number Placeholder 6"/>
          <p:cNvSpPr>
            <a:spLocks noGrp="1"/>
          </p:cNvSpPr>
          <p:nvPr>
            <p:ph type="sldNum" sz="quarter" idx="12"/>
          </p:nvPr>
        </p:nvSpPr>
        <p:spPr/>
        <p:txBody>
          <a:bodyPr/>
          <a:lstStyle/>
          <a:p>
            <a:fld id="{0FFCD9FE-85A8-4732-8641-B4CD942B9CFA}"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E257C48-3A46-4A9B-A872-03B3A9C260CB}" type="datetime1">
              <a:rPr lang="en-US" smtClean="0"/>
              <a:pPr/>
              <a:t>14-09-2025</a:t>
            </a:fld>
            <a:endParaRPr lang="en-US" dirty="0"/>
          </a:p>
        </p:txBody>
      </p:sp>
      <p:sp>
        <p:nvSpPr>
          <p:cNvPr id="6" name="Footer Placeholder 5"/>
          <p:cNvSpPr>
            <a:spLocks noGrp="1"/>
          </p:cNvSpPr>
          <p:nvPr>
            <p:ph type="ftr" sz="quarter" idx="11"/>
          </p:nvPr>
        </p:nvSpPr>
        <p:spPr/>
        <p:txBody>
          <a:bodyPr/>
          <a:lstStyle/>
          <a:p>
            <a:r>
              <a:rPr lang="en-US" dirty="0"/>
              <a:t>© 2013 John Wiley &amp; Sons, Inc.</a:t>
            </a:r>
          </a:p>
        </p:txBody>
      </p:sp>
      <p:sp>
        <p:nvSpPr>
          <p:cNvPr id="7" name="Slide Number Placeholder 6"/>
          <p:cNvSpPr>
            <a:spLocks noGrp="1"/>
          </p:cNvSpPr>
          <p:nvPr>
            <p:ph type="sldNum" sz="quarter" idx="12"/>
          </p:nvPr>
        </p:nvSpPr>
        <p:spPr/>
        <p:txBody>
          <a:bodyPr/>
          <a:lstStyle/>
          <a:p>
            <a:fld id="{0FFCD9FE-85A8-4732-8641-B4CD942B9CFA}"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03F130-A705-4DEA-A0AC-C4F98437935B}" type="datetime1">
              <a:rPr lang="en-US" smtClean="0"/>
              <a:pPr/>
              <a:t>14-09-2025</a:t>
            </a:fld>
            <a:endParaRPr lang="en-US" dirty="0"/>
          </a:p>
        </p:txBody>
      </p:sp>
      <p:sp>
        <p:nvSpPr>
          <p:cNvPr id="5" name="Footer Placeholder 4"/>
          <p:cNvSpPr>
            <a:spLocks noGrp="1"/>
          </p:cNvSpPr>
          <p:nvPr>
            <p:ph type="ftr" sz="quarter" idx="11"/>
          </p:nvPr>
        </p:nvSpPr>
        <p:spPr/>
        <p:txBody>
          <a:bodyPr/>
          <a:lstStyle/>
          <a:p>
            <a:r>
              <a:rPr lang="en-US" dirty="0"/>
              <a:t>© 2013 John Wiley &amp; Sons, Inc.</a:t>
            </a:r>
          </a:p>
        </p:txBody>
      </p:sp>
      <p:sp>
        <p:nvSpPr>
          <p:cNvPr id="6" name="Slide Number Placeholder 5"/>
          <p:cNvSpPr>
            <a:spLocks noGrp="1"/>
          </p:cNvSpPr>
          <p:nvPr>
            <p:ph type="sldNum" sz="quarter" idx="12"/>
          </p:nvPr>
        </p:nvSpPr>
        <p:spPr/>
        <p:txBody>
          <a:bodyPr/>
          <a:lstStyle/>
          <a:p>
            <a:fld id="{0FFCD9FE-85A8-4732-8641-B4CD942B9CFA}"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548CC80-FABA-4ABC-8CED-DB8A8C4DF454}" type="datetime1">
              <a:rPr lang="en-US" smtClean="0"/>
              <a:pPr/>
              <a:t>14-09-2025</a:t>
            </a:fld>
            <a:endParaRPr lang="en-US" dirty="0"/>
          </a:p>
        </p:txBody>
      </p:sp>
      <p:sp>
        <p:nvSpPr>
          <p:cNvPr id="5" name="Footer Placeholder 4"/>
          <p:cNvSpPr>
            <a:spLocks noGrp="1"/>
          </p:cNvSpPr>
          <p:nvPr>
            <p:ph type="ftr" sz="quarter" idx="11"/>
          </p:nvPr>
        </p:nvSpPr>
        <p:spPr/>
        <p:txBody>
          <a:bodyPr/>
          <a:lstStyle/>
          <a:p>
            <a:r>
              <a:rPr lang="en-US" dirty="0"/>
              <a:t>© 2013 John Wiley &amp; Sons, Inc.</a:t>
            </a:r>
          </a:p>
        </p:txBody>
      </p:sp>
      <p:sp>
        <p:nvSpPr>
          <p:cNvPr id="6" name="Slide Number Placeholder 5"/>
          <p:cNvSpPr>
            <a:spLocks noGrp="1"/>
          </p:cNvSpPr>
          <p:nvPr>
            <p:ph type="sldNum" sz="quarter" idx="12"/>
          </p:nvPr>
        </p:nvSpPr>
        <p:spPr/>
        <p:txBody>
          <a:bodyPr/>
          <a:lstStyle/>
          <a:p>
            <a:fld id="{0FFCD9FE-85A8-4732-8641-B4CD942B9CFA}"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BFCE91DE-C508-4633-94A9-79DABFF485B5}" type="datetime1">
              <a:rPr lang="en-US" smtClean="0"/>
              <a:pPr/>
              <a:t>14-09-2025</a:t>
            </a:fld>
            <a:endParaRPr lang="en-US" dirty="0"/>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r>
              <a:rPr lang="en-US" dirty="0"/>
              <a:t>© 2013 John Wiley &amp; Sons, Inc.</a:t>
            </a:r>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0FFCD9FE-85A8-4732-8641-B4CD942B9CFA}" type="slidenum">
              <a:rPr lang="en-US" smtClean="0"/>
              <a:pPr/>
              <a:t>‹#›</a:t>
            </a:fld>
            <a:endParaRPr lang="en-US" dirty="0"/>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dirty="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8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24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24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19200"/>
            <a:ext cx="8382000" cy="2286000"/>
          </a:xfrm>
        </p:spPr>
        <p:txBody>
          <a:bodyPr>
            <a:normAutofit/>
          </a:bodyPr>
          <a:lstStyle/>
          <a:p>
            <a:r>
              <a:rPr lang="en-US" sz="4800">
                <a:solidFill>
                  <a:srgbClr val="FF0000"/>
                </a:solidFill>
              </a:rPr>
              <a:t>Creating </a:t>
            </a:r>
            <a:r>
              <a:rPr lang="en-US" sz="4800" dirty="0">
                <a:solidFill>
                  <a:srgbClr val="FF0000"/>
                </a:solidFill>
              </a:rPr>
              <a:t>and Configuring Virtual </a:t>
            </a:r>
            <a:br>
              <a:rPr lang="en-US" sz="4800" dirty="0">
                <a:solidFill>
                  <a:srgbClr val="FF0000"/>
                </a:solidFill>
              </a:rPr>
            </a:br>
            <a:r>
              <a:rPr lang="en-US" sz="4800" dirty="0">
                <a:solidFill>
                  <a:srgbClr val="FF0000"/>
                </a:solidFill>
              </a:rPr>
              <a:t>Machine Settings</a:t>
            </a:r>
          </a:p>
        </p:txBody>
      </p:sp>
    </p:spTree>
    <p:extLst>
      <p:ext uri="{BB962C8B-B14F-4D97-AF65-F5344CB8AC3E}">
        <p14:creationId xmlns:p14="http://schemas.microsoft.com/office/powerpoint/2010/main" val="2519551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3569" y="297655"/>
            <a:ext cx="8229600" cy="868363"/>
          </a:xfrm>
        </p:spPr>
        <p:txBody>
          <a:bodyPr/>
          <a:lstStyle/>
          <a:p>
            <a:r>
              <a:rPr lang="en-US" dirty="0">
                <a:solidFill>
                  <a:srgbClr val="FF0000"/>
                </a:solidFill>
              </a:rPr>
              <a:t>Overview</a:t>
            </a:r>
          </a:p>
        </p:txBody>
      </p:sp>
      <p:sp>
        <p:nvSpPr>
          <p:cNvPr id="3" name="Content Placeholder 2"/>
          <p:cNvSpPr>
            <a:spLocks noGrp="1"/>
          </p:cNvSpPr>
          <p:nvPr>
            <p:ph idx="1"/>
          </p:nvPr>
        </p:nvSpPr>
        <p:spPr/>
        <p:txBody>
          <a:bodyPr/>
          <a:lstStyle/>
          <a:p>
            <a:r>
              <a:rPr lang="en-US" dirty="0">
                <a:solidFill>
                  <a:schemeClr val="tx1"/>
                </a:solidFill>
              </a:rPr>
              <a:t>Exam Objective 3.1: Create and Configure Virtual Machine Settings</a:t>
            </a:r>
          </a:p>
          <a:p>
            <a:r>
              <a:rPr lang="en-US" dirty="0">
                <a:solidFill>
                  <a:schemeClr val="tx1"/>
                </a:solidFill>
              </a:rPr>
              <a:t>Virtualizing Servers</a:t>
            </a:r>
          </a:p>
          <a:p>
            <a:r>
              <a:rPr lang="en-US" dirty="0">
                <a:solidFill>
                  <a:schemeClr val="tx1"/>
                </a:solidFill>
              </a:rPr>
              <a:t>Installing Hyper-V</a:t>
            </a:r>
          </a:p>
          <a:p>
            <a:r>
              <a:rPr lang="en-US" dirty="0">
                <a:solidFill>
                  <a:schemeClr val="tx1"/>
                </a:solidFill>
              </a:rPr>
              <a:t>Using Hyper-V Manager</a:t>
            </a:r>
          </a:p>
          <a:p>
            <a:r>
              <a:rPr lang="en-US" dirty="0">
                <a:solidFill>
                  <a:schemeClr val="tx1"/>
                </a:solidFill>
              </a:rPr>
              <a:t>Configuring Resource Metering</a:t>
            </a:r>
          </a:p>
        </p:txBody>
      </p:sp>
      <p:sp>
        <p:nvSpPr>
          <p:cNvPr id="11" name="Slide Number Placeholder 10"/>
          <p:cNvSpPr>
            <a:spLocks noGrp="1"/>
          </p:cNvSpPr>
          <p:nvPr>
            <p:ph type="sldNum" sz="quarter" idx="12"/>
          </p:nvPr>
        </p:nvSpPr>
        <p:spPr/>
        <p:txBody>
          <a:bodyPr/>
          <a:lstStyle/>
          <a:p>
            <a:fld id="{0FFCD9FE-85A8-4732-8641-B4CD942B9CFA}" type="slidenum">
              <a:rPr lang="en-US" smtClean="0"/>
              <a:pPr/>
              <a:t>2</a:t>
            </a:fld>
            <a:endParaRPr lang="en-US" dirty="0"/>
          </a:p>
        </p:txBody>
      </p:sp>
    </p:spTree>
    <p:extLst>
      <p:ext uri="{BB962C8B-B14F-4D97-AF65-F5344CB8AC3E}">
        <p14:creationId xmlns:p14="http://schemas.microsoft.com/office/powerpoint/2010/main" val="2093665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1"/>
            <a:ext cx="7772400" cy="609599"/>
          </a:xfrm>
        </p:spPr>
        <p:txBody>
          <a:bodyPr/>
          <a:lstStyle/>
          <a:p>
            <a:r>
              <a:rPr lang="en-US" dirty="0">
                <a:solidFill>
                  <a:srgbClr val="FF0000"/>
                </a:solidFill>
              </a:rPr>
              <a:t>Virtualizing Servers</a:t>
            </a:r>
          </a:p>
        </p:txBody>
      </p:sp>
      <p:sp>
        <p:nvSpPr>
          <p:cNvPr id="3" name="Text Placeholder 2"/>
          <p:cNvSpPr>
            <a:spLocks noGrp="1"/>
          </p:cNvSpPr>
          <p:nvPr>
            <p:ph type="body" idx="1"/>
          </p:nvPr>
        </p:nvSpPr>
        <p:spPr>
          <a:xfrm>
            <a:off x="1051865" y="3124200"/>
            <a:ext cx="7772400" cy="1066800"/>
          </a:xfrm>
        </p:spPr>
        <p:txBody>
          <a:bodyPr>
            <a:normAutofit/>
          </a:bodyPr>
          <a:lstStyle/>
          <a:p>
            <a:r>
              <a:rPr lang="en-US" sz="2400" b="1">
                <a:solidFill>
                  <a:srgbClr val="FF0000"/>
                </a:solidFill>
              </a:rPr>
              <a:t>Creating </a:t>
            </a:r>
            <a:r>
              <a:rPr lang="en-US" sz="2400" b="1" dirty="0">
                <a:solidFill>
                  <a:srgbClr val="FF0000"/>
                </a:solidFill>
              </a:rPr>
              <a:t>and Configuring Virtual </a:t>
            </a:r>
          </a:p>
          <a:p>
            <a:r>
              <a:rPr lang="en-US" sz="2400" b="1" dirty="0">
                <a:solidFill>
                  <a:srgbClr val="FF0000"/>
                </a:solidFill>
              </a:rPr>
              <a:t>Machine Settings</a:t>
            </a:r>
          </a:p>
        </p:txBody>
      </p:sp>
      <p:sp>
        <p:nvSpPr>
          <p:cNvPr id="5" name="Slide Number Placeholder 4"/>
          <p:cNvSpPr>
            <a:spLocks noGrp="1"/>
          </p:cNvSpPr>
          <p:nvPr>
            <p:ph type="sldNum" sz="quarter" idx="12"/>
          </p:nvPr>
        </p:nvSpPr>
        <p:spPr/>
        <p:txBody>
          <a:bodyPr/>
          <a:lstStyle/>
          <a:p>
            <a:fld id="{0FFCD9FE-85A8-4732-8641-B4CD942B9CFA}" type="slidenum">
              <a:rPr lang="en-US" smtClean="0"/>
              <a:pPr/>
              <a:t>3</a:t>
            </a:fld>
            <a:endParaRPr lang="en-US" dirty="0"/>
          </a:p>
        </p:txBody>
      </p:sp>
    </p:spTree>
    <p:extLst>
      <p:ext uri="{BB962C8B-B14F-4D97-AF65-F5344CB8AC3E}">
        <p14:creationId xmlns:p14="http://schemas.microsoft.com/office/powerpoint/2010/main" val="4210093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10" y="172620"/>
            <a:ext cx="8648053" cy="914400"/>
          </a:xfrm>
        </p:spPr>
        <p:txBody>
          <a:bodyPr/>
          <a:lstStyle/>
          <a:p>
            <a:r>
              <a:rPr lang="en-US" dirty="0">
                <a:solidFill>
                  <a:srgbClr val="FF0000"/>
                </a:solidFill>
              </a:rPr>
              <a:t>Virtualization Architectures</a:t>
            </a:r>
          </a:p>
        </p:txBody>
      </p:sp>
      <p:sp>
        <p:nvSpPr>
          <p:cNvPr id="3" name="Content Placeholder 2"/>
          <p:cNvSpPr>
            <a:spLocks noGrp="1"/>
          </p:cNvSpPr>
          <p:nvPr>
            <p:ph idx="1"/>
          </p:nvPr>
        </p:nvSpPr>
        <p:spPr>
          <a:xfrm>
            <a:off x="457200" y="1600200"/>
            <a:ext cx="8229600" cy="4756150"/>
          </a:xfrm>
        </p:spPr>
        <p:txBody>
          <a:bodyPr>
            <a:normAutofit fontScale="92500" lnSpcReduction="10000"/>
          </a:bodyPr>
          <a:lstStyle/>
          <a:p>
            <a:pPr>
              <a:buNone/>
            </a:pPr>
            <a:r>
              <a:rPr lang="en-US" b="1" dirty="0">
                <a:solidFill>
                  <a:schemeClr val="tx1"/>
                </a:solidFill>
              </a:rPr>
              <a:t>Type II Virtualization</a:t>
            </a:r>
          </a:p>
          <a:p>
            <a:r>
              <a:rPr lang="en-US" dirty="0">
                <a:solidFill>
                  <a:schemeClr val="tx1"/>
                </a:solidFill>
              </a:rPr>
              <a:t>Requires a “host” operating system</a:t>
            </a:r>
          </a:p>
          <a:p>
            <a:r>
              <a:rPr lang="en-US" dirty="0">
                <a:solidFill>
                  <a:schemeClr val="tx1"/>
                </a:solidFill>
              </a:rPr>
              <a:t>Using the Type II Hypervisor, you create a virtual hardware environment for each VM</a:t>
            </a:r>
          </a:p>
          <a:p>
            <a:r>
              <a:rPr lang="en-US" dirty="0">
                <a:solidFill>
                  <a:schemeClr val="tx1"/>
                </a:solidFill>
              </a:rPr>
              <a:t>Install a “guest” operating system on each VM, just like installing a new computer</a:t>
            </a:r>
          </a:p>
          <a:p>
            <a:r>
              <a:rPr lang="en-US" dirty="0">
                <a:solidFill>
                  <a:schemeClr val="tx1"/>
                </a:solidFill>
              </a:rPr>
              <a:t>The host operating system shares access to the computer’s processor with the hypervisor</a:t>
            </a:r>
          </a:p>
          <a:p>
            <a:r>
              <a:rPr lang="en-US" dirty="0">
                <a:solidFill>
                  <a:schemeClr val="tx1"/>
                </a:solidFill>
              </a:rPr>
              <a:t>Does not provide the same performance as separate physical computers</a:t>
            </a:r>
          </a:p>
          <a:p>
            <a:r>
              <a:rPr lang="en-US" dirty="0">
                <a:solidFill>
                  <a:schemeClr val="tx1"/>
                </a:solidFill>
              </a:rPr>
              <a:t>Good testing or lab environment</a:t>
            </a:r>
          </a:p>
        </p:txBody>
      </p:sp>
      <p:sp>
        <p:nvSpPr>
          <p:cNvPr id="5" name="Slide Number Placeholder 4"/>
          <p:cNvSpPr>
            <a:spLocks noGrp="1"/>
          </p:cNvSpPr>
          <p:nvPr>
            <p:ph type="sldNum" sz="quarter" idx="12"/>
          </p:nvPr>
        </p:nvSpPr>
        <p:spPr/>
        <p:txBody>
          <a:bodyPr/>
          <a:lstStyle/>
          <a:p>
            <a:fld id="{0FFCD9FE-85A8-4732-8641-B4CD942B9CFA}" type="slidenum">
              <a:rPr lang="en-US" smtClean="0"/>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Virtualization Architectures</a:t>
            </a:r>
          </a:p>
        </p:txBody>
      </p:sp>
      <p:sp>
        <p:nvSpPr>
          <p:cNvPr id="4" name="Text Placeholder 3"/>
          <p:cNvSpPr>
            <a:spLocks noGrp="1"/>
          </p:cNvSpPr>
          <p:nvPr>
            <p:ph type="body" sz="half" idx="2"/>
          </p:nvPr>
        </p:nvSpPr>
        <p:spPr/>
        <p:txBody>
          <a:bodyPr>
            <a:normAutofit lnSpcReduction="10000"/>
          </a:bodyPr>
          <a:lstStyle/>
          <a:p>
            <a:r>
              <a:rPr lang="en-US" b="1" dirty="0">
                <a:solidFill>
                  <a:schemeClr val="tx1"/>
                </a:solidFill>
              </a:rPr>
              <a:t>A hybrid VMM sharing hardware access with a host operating system</a:t>
            </a:r>
          </a:p>
        </p:txBody>
      </p:sp>
      <p:sp>
        <p:nvSpPr>
          <p:cNvPr id="6" name="Slide Number Placeholder 5"/>
          <p:cNvSpPr>
            <a:spLocks noGrp="1"/>
          </p:cNvSpPr>
          <p:nvPr>
            <p:ph type="sldNum" sz="quarter" idx="12"/>
          </p:nvPr>
        </p:nvSpPr>
        <p:spPr/>
        <p:txBody>
          <a:bodyPr/>
          <a:lstStyle/>
          <a:p>
            <a:fld id="{0FFCD9FE-85A8-4732-8641-B4CD942B9CFA}" type="slidenum">
              <a:rPr lang="en-US" smtClean="0"/>
              <a:pPr/>
              <a:t>5</a:t>
            </a:fld>
            <a:endParaRPr lang="en-US" dirty="0"/>
          </a:p>
        </p:txBody>
      </p:sp>
      <p:pic>
        <p:nvPicPr>
          <p:cNvPr id="3" name="Picture 2" descr="fg07-01.bmp"/>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295400"/>
            <a:ext cx="7429030" cy="4191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9232" y="136525"/>
            <a:ext cx="8229600" cy="868363"/>
          </a:xfrm>
        </p:spPr>
        <p:txBody>
          <a:bodyPr/>
          <a:lstStyle/>
          <a:p>
            <a:r>
              <a:rPr lang="en-US" sz="4800" dirty="0">
                <a:solidFill>
                  <a:srgbClr val="FF0000"/>
                </a:solidFill>
              </a:rPr>
              <a:t>Virtualization Architectures</a:t>
            </a:r>
          </a:p>
        </p:txBody>
      </p:sp>
      <p:sp>
        <p:nvSpPr>
          <p:cNvPr id="3" name="Content Placeholder 2"/>
          <p:cNvSpPr>
            <a:spLocks noGrp="1"/>
          </p:cNvSpPr>
          <p:nvPr>
            <p:ph idx="1"/>
          </p:nvPr>
        </p:nvSpPr>
        <p:spPr/>
        <p:txBody>
          <a:bodyPr>
            <a:normAutofit fontScale="92500"/>
          </a:bodyPr>
          <a:lstStyle/>
          <a:p>
            <a:pPr>
              <a:buNone/>
            </a:pPr>
            <a:r>
              <a:rPr lang="en-US" b="1" dirty="0">
                <a:solidFill>
                  <a:schemeClr val="tx1"/>
                </a:solidFill>
              </a:rPr>
              <a:t>Type I Virtualization</a:t>
            </a:r>
          </a:p>
          <a:p>
            <a:r>
              <a:rPr lang="en-US" dirty="0">
                <a:solidFill>
                  <a:schemeClr val="tx1"/>
                </a:solidFill>
              </a:rPr>
              <a:t>Hypervisor is an abstraction layer that interacts directly with the computer’s physical hardware</a:t>
            </a:r>
          </a:p>
          <a:p>
            <a:r>
              <a:rPr lang="en-US" dirty="0">
                <a:solidFill>
                  <a:schemeClr val="tx1"/>
                </a:solidFill>
              </a:rPr>
              <a:t>No host operating system required</a:t>
            </a:r>
          </a:p>
          <a:p>
            <a:r>
              <a:rPr lang="en-US" dirty="0">
                <a:solidFill>
                  <a:schemeClr val="tx1"/>
                </a:solidFill>
              </a:rPr>
              <a:t>Individual environments, called partitions have their own operating systems installed and accesses hardware through the hypervisor</a:t>
            </a:r>
          </a:p>
          <a:p>
            <a:r>
              <a:rPr lang="en-US" dirty="0">
                <a:solidFill>
                  <a:schemeClr val="tx1"/>
                </a:solidFill>
              </a:rPr>
              <a:t>No host operating system is sharing processor</a:t>
            </a:r>
          </a:p>
          <a:p>
            <a:r>
              <a:rPr lang="en-US" dirty="0">
                <a:solidFill>
                  <a:schemeClr val="tx1"/>
                </a:solidFill>
              </a:rPr>
              <a:t>Parent partition runs the virtualization stack which creates and manages the child partitions</a:t>
            </a:r>
          </a:p>
        </p:txBody>
      </p:sp>
      <p:sp>
        <p:nvSpPr>
          <p:cNvPr id="5" name="Slide Number Placeholder 4"/>
          <p:cNvSpPr>
            <a:spLocks noGrp="1"/>
          </p:cNvSpPr>
          <p:nvPr>
            <p:ph type="sldNum" sz="quarter" idx="12"/>
          </p:nvPr>
        </p:nvSpPr>
        <p:spPr/>
        <p:txBody>
          <a:bodyPr/>
          <a:lstStyle/>
          <a:p>
            <a:fld id="{0FFCD9FE-85A8-4732-8641-B4CD942B9CFA}"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FF0000"/>
                </a:solidFill>
              </a:rPr>
              <a:t>Virtualization Architectures</a:t>
            </a:r>
          </a:p>
        </p:txBody>
      </p:sp>
      <p:sp>
        <p:nvSpPr>
          <p:cNvPr id="4" name="Text Placeholder 3"/>
          <p:cNvSpPr>
            <a:spLocks noGrp="1"/>
          </p:cNvSpPr>
          <p:nvPr>
            <p:ph type="body" sz="half" idx="2"/>
          </p:nvPr>
        </p:nvSpPr>
        <p:spPr>
          <a:xfrm>
            <a:off x="1679576" y="5486400"/>
            <a:ext cx="5711824" cy="857250"/>
          </a:xfrm>
        </p:spPr>
        <p:txBody>
          <a:bodyPr>
            <a:normAutofit/>
          </a:bodyPr>
          <a:lstStyle/>
          <a:p>
            <a:r>
              <a:rPr lang="en-US" b="1" dirty="0">
                <a:solidFill>
                  <a:schemeClr val="tx1"/>
                </a:solidFill>
              </a:rPr>
              <a:t>A Type 1 VMM, with the hypervisor providing all hardware access</a:t>
            </a:r>
          </a:p>
        </p:txBody>
      </p:sp>
      <p:sp>
        <p:nvSpPr>
          <p:cNvPr id="6" name="Slide Number Placeholder 5"/>
          <p:cNvSpPr>
            <a:spLocks noGrp="1"/>
          </p:cNvSpPr>
          <p:nvPr>
            <p:ph type="sldNum" sz="quarter" idx="12"/>
          </p:nvPr>
        </p:nvSpPr>
        <p:spPr/>
        <p:txBody>
          <a:bodyPr/>
          <a:lstStyle/>
          <a:p>
            <a:fld id="{0FFCD9FE-85A8-4732-8641-B4CD942B9CFA}" type="slidenum">
              <a:rPr lang="en-US" smtClean="0"/>
              <a:pPr/>
              <a:t>7</a:t>
            </a:fld>
            <a:endParaRPr lang="en-US" dirty="0"/>
          </a:p>
        </p:txBody>
      </p:sp>
      <p:grpSp>
        <p:nvGrpSpPr>
          <p:cNvPr id="7" name="Group 6"/>
          <p:cNvGrpSpPr>
            <a:grpSpLocks noGrp="1" noUngrp="1" noChangeAspect="1"/>
          </p:cNvGrpSpPr>
          <p:nvPr/>
        </p:nvGrpSpPr>
        <p:grpSpPr>
          <a:xfrm>
            <a:off x="685800" y="1952625"/>
            <a:ext cx="7772400" cy="3333750"/>
            <a:chOff x="685800" y="1952625"/>
            <a:chExt cx="7772400" cy="3333750"/>
          </a:xfrm>
        </p:grpSpPr>
        <p:pic>
          <p:nvPicPr>
            <p:cNvPr id="8" name="Picture 7" descr="fg07-02"/>
            <p:cNvPicPr>
              <a:picLocks noRot="1" noChangeAspect="1" noMove="1" noResize="1"/>
            </p:cNvPicPr>
            <p:nvPr isPhoto="1"/>
          </p:nvPicPr>
          <p:blipFill>
            <a:blip r:embed="rId2">
              <a:lum/>
              <a:extLst>
                <a:ext uri="{28A0092B-C50C-407E-A947-70E740481C1C}">
                  <a14:useLocalDpi xmlns:a14="http://schemas.microsoft.com/office/drawing/2010/main" val="0"/>
                </a:ext>
              </a:extLst>
            </a:blip>
            <a:stretch>
              <a:fillRect/>
            </a:stretch>
          </p:blipFill>
          <p:spPr>
            <a:xfrm>
              <a:off x="685800" y="1952625"/>
              <a:ext cx="7772400" cy="2952750"/>
            </a:xfrm>
            <a:prstGeom prst="rect">
              <a:avLst/>
            </a:prstGeom>
            <a:noFill/>
            <a:ln>
              <a:noFill/>
            </a:ln>
          </p:spPr>
        </p:pic>
        <p:sp>
          <p:nvSpPr>
            <p:cNvPr id="9" name="Rectangle 8"/>
            <p:cNvSpPr/>
            <p:nvPr/>
          </p:nvSpPr>
          <p:spPr>
            <a:xfrm>
              <a:off x="685800" y="4943475"/>
              <a:ext cx="7772400" cy="342900"/>
            </a:xfrm>
            <a:prstGeom prst="rect">
              <a:avLst/>
            </a:prstGeom>
            <a:noFill/>
            <a:ln>
              <a:noFill/>
            </a:ln>
          </p:spPr>
          <p:txBody>
            <a:bodyPr anchor="ctr">
              <a:normAutofit fontScale="85000" lnSpcReduction="20000"/>
            </a:bodyPr>
            <a:lstStyle/>
            <a:p>
              <a:pPr algn="ctr"/>
              <a:endParaRPr lang="en-US" sz="2400"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Hyper-V Implementations</a:t>
            </a:r>
          </a:p>
        </p:txBody>
      </p:sp>
      <p:sp>
        <p:nvSpPr>
          <p:cNvPr id="3" name="Content Placeholder 2"/>
          <p:cNvSpPr>
            <a:spLocks noGrp="1"/>
          </p:cNvSpPr>
          <p:nvPr>
            <p:ph idx="1"/>
          </p:nvPr>
        </p:nvSpPr>
        <p:spPr/>
        <p:txBody>
          <a:bodyPr/>
          <a:lstStyle/>
          <a:p>
            <a:r>
              <a:rPr lang="en-US" dirty="0">
                <a:solidFill>
                  <a:schemeClr val="tx1"/>
                </a:solidFill>
              </a:rPr>
              <a:t>Hyper-V role is required for the operating system to function as the computer’s parent partition, enabling it to host VMs.</a:t>
            </a:r>
          </a:p>
          <a:p>
            <a:r>
              <a:rPr lang="en-US" dirty="0">
                <a:solidFill>
                  <a:schemeClr val="tx1"/>
                </a:solidFill>
              </a:rPr>
              <a:t>Only Standard and Datacenter editions support Hyper-V.</a:t>
            </a:r>
          </a:p>
          <a:p>
            <a:r>
              <a:rPr lang="en-US" dirty="0">
                <a:solidFill>
                  <a:schemeClr val="tx1"/>
                </a:solidFill>
              </a:rPr>
              <a:t>No special requirements are needed for the guest operating systems (Microsoft or non-Microsoft).</a:t>
            </a:r>
          </a:p>
        </p:txBody>
      </p:sp>
      <p:sp>
        <p:nvSpPr>
          <p:cNvPr id="5" name="Slide Number Placeholder 4"/>
          <p:cNvSpPr>
            <a:spLocks noGrp="1"/>
          </p:cNvSpPr>
          <p:nvPr>
            <p:ph type="sldNum" sz="quarter" idx="12"/>
          </p:nvPr>
        </p:nvSpPr>
        <p:spPr/>
        <p:txBody>
          <a:bodyPr/>
          <a:lstStyle/>
          <a:p>
            <a:fld id="{0FFCD9FE-85A8-4732-8641-B4CD942B9CFA}" type="slidenum">
              <a:rPr lang="en-US" smtClean="0"/>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665" y="388937"/>
            <a:ext cx="8229600" cy="685800"/>
          </a:xfrm>
        </p:spPr>
        <p:txBody>
          <a:bodyPr/>
          <a:lstStyle/>
          <a:p>
            <a:r>
              <a:rPr lang="en-US" dirty="0">
                <a:solidFill>
                  <a:srgbClr val="FF0000"/>
                </a:solidFill>
              </a:rPr>
              <a:t>Hyper-V Licensing</a:t>
            </a:r>
          </a:p>
        </p:txBody>
      </p:sp>
      <p:sp>
        <p:nvSpPr>
          <p:cNvPr id="3" name="Content Placeholder 2"/>
          <p:cNvSpPr>
            <a:spLocks noGrp="1"/>
          </p:cNvSpPr>
          <p:nvPr>
            <p:ph idx="1"/>
          </p:nvPr>
        </p:nvSpPr>
        <p:spPr>
          <a:xfrm>
            <a:off x="457200" y="1143000"/>
            <a:ext cx="8229600" cy="4983163"/>
          </a:xfrm>
        </p:spPr>
        <p:txBody>
          <a:bodyPr>
            <a:normAutofit/>
          </a:bodyPr>
          <a:lstStyle/>
          <a:p>
            <a:pPr algn="just"/>
            <a:r>
              <a:rPr lang="en-US" sz="3200" dirty="0">
                <a:solidFill>
                  <a:schemeClr val="tx1"/>
                </a:solidFill>
              </a:rPr>
              <a:t>You must have licenses for both physical and virtual instances of the operating system.</a:t>
            </a:r>
          </a:p>
          <a:p>
            <a:pPr algn="just"/>
            <a:r>
              <a:rPr lang="en-US" sz="3200" dirty="0">
                <a:solidFill>
                  <a:schemeClr val="tx1"/>
                </a:solidFill>
              </a:rPr>
              <a:t>Datacenter licensing allows you to create and run an unlimited number of VMs.</a:t>
            </a:r>
          </a:p>
          <a:p>
            <a:pPr algn="just"/>
            <a:r>
              <a:rPr lang="en-US" sz="3200" dirty="0">
                <a:solidFill>
                  <a:schemeClr val="tx1"/>
                </a:solidFill>
              </a:rPr>
              <a:t>Standard provides 2 virtual instances only.</a:t>
            </a:r>
          </a:p>
        </p:txBody>
      </p:sp>
      <p:sp>
        <p:nvSpPr>
          <p:cNvPr id="5" name="Slide Number Placeholder 4"/>
          <p:cNvSpPr>
            <a:spLocks noGrp="1"/>
          </p:cNvSpPr>
          <p:nvPr>
            <p:ph type="sldNum" sz="quarter" idx="12"/>
          </p:nvPr>
        </p:nvSpPr>
        <p:spPr/>
        <p:txBody>
          <a:bodyPr/>
          <a:lstStyle/>
          <a:p>
            <a:fld id="{0FFCD9FE-85A8-4732-8641-B4CD942B9CFA}" type="slidenum">
              <a:rPr lang="en-US" smtClean="0"/>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Hyper-V Hardware Limitations</a:t>
            </a:r>
          </a:p>
        </p:txBody>
      </p:sp>
      <p:sp>
        <p:nvSpPr>
          <p:cNvPr id="3" name="Content Placeholder 2"/>
          <p:cNvSpPr>
            <a:spLocks noGrp="1"/>
          </p:cNvSpPr>
          <p:nvPr>
            <p:ph idx="1"/>
          </p:nvPr>
        </p:nvSpPr>
        <p:spPr/>
        <p:txBody>
          <a:bodyPr>
            <a:normAutofit fontScale="92500"/>
          </a:bodyPr>
          <a:lstStyle/>
          <a:p>
            <a:r>
              <a:rPr lang="en-US" dirty="0">
                <a:solidFill>
                  <a:schemeClr val="tx1"/>
                </a:solidFill>
              </a:rPr>
              <a:t>Windows Server 2012 R2 Hyper-V host system:</a:t>
            </a:r>
          </a:p>
          <a:p>
            <a:pPr lvl="1"/>
            <a:r>
              <a:rPr lang="en-US" dirty="0">
                <a:solidFill>
                  <a:schemeClr val="tx1"/>
                </a:solidFill>
              </a:rPr>
              <a:t>Up to 320 logical processors</a:t>
            </a:r>
          </a:p>
          <a:p>
            <a:pPr lvl="1"/>
            <a:r>
              <a:rPr lang="en-US" dirty="0">
                <a:solidFill>
                  <a:schemeClr val="tx1"/>
                </a:solidFill>
              </a:rPr>
              <a:t>Supporting up to 2,048 virtual CPUs</a:t>
            </a:r>
          </a:p>
          <a:p>
            <a:pPr lvl="1"/>
            <a:r>
              <a:rPr lang="en-US" dirty="0">
                <a:solidFill>
                  <a:schemeClr val="tx1"/>
                </a:solidFill>
              </a:rPr>
              <a:t>Up to 4 TB of physical memory</a:t>
            </a:r>
          </a:p>
          <a:p>
            <a:r>
              <a:rPr lang="en-US" dirty="0">
                <a:solidFill>
                  <a:schemeClr val="tx1"/>
                </a:solidFill>
              </a:rPr>
              <a:t>One server can host as many as 1,024 active VMs</a:t>
            </a:r>
          </a:p>
          <a:p>
            <a:r>
              <a:rPr lang="en-US" dirty="0">
                <a:solidFill>
                  <a:schemeClr val="tx1"/>
                </a:solidFill>
              </a:rPr>
              <a:t>Each VM can have up to 64 virtual CPUs and up to 1 TB of memory</a:t>
            </a:r>
          </a:p>
          <a:p>
            <a:r>
              <a:rPr lang="en-US" dirty="0">
                <a:solidFill>
                  <a:schemeClr val="tx1"/>
                </a:solidFill>
              </a:rPr>
              <a:t>Hyper-V can support clusters with up to 64 nodes and 8,000 VMs</a:t>
            </a:r>
          </a:p>
        </p:txBody>
      </p:sp>
      <p:sp>
        <p:nvSpPr>
          <p:cNvPr id="5" name="Slide Number Placeholder 4"/>
          <p:cNvSpPr>
            <a:spLocks noGrp="1"/>
          </p:cNvSpPr>
          <p:nvPr>
            <p:ph type="sldNum" sz="quarter" idx="12"/>
          </p:nvPr>
        </p:nvSpPr>
        <p:spPr/>
        <p:txBody>
          <a:bodyPr/>
          <a:lstStyle/>
          <a:p>
            <a:fld id="{0FFCD9FE-85A8-4732-8641-B4CD942B9CFA}" type="slidenum">
              <a:rPr lang="en-US" smtClean="0"/>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36525"/>
            <a:ext cx="8229600" cy="868363"/>
          </a:xfrm>
        </p:spPr>
        <p:txBody>
          <a:bodyPr/>
          <a:lstStyle/>
          <a:p>
            <a:r>
              <a:rPr lang="en-US" dirty="0">
                <a:solidFill>
                  <a:srgbClr val="FF0000"/>
                </a:solidFill>
              </a:rPr>
              <a:t>Hyper-V Server</a:t>
            </a:r>
          </a:p>
        </p:txBody>
      </p:sp>
      <p:sp>
        <p:nvSpPr>
          <p:cNvPr id="3" name="Content Placeholder 2"/>
          <p:cNvSpPr>
            <a:spLocks noGrp="1"/>
          </p:cNvSpPr>
          <p:nvPr>
            <p:ph idx="1"/>
          </p:nvPr>
        </p:nvSpPr>
        <p:spPr/>
        <p:txBody>
          <a:bodyPr/>
          <a:lstStyle/>
          <a:p>
            <a:r>
              <a:rPr lang="en-US" dirty="0">
                <a:solidFill>
                  <a:schemeClr val="tx1"/>
                </a:solidFill>
              </a:rPr>
              <a:t>Subset of Windows Server 2012 R2</a:t>
            </a:r>
          </a:p>
          <a:p>
            <a:r>
              <a:rPr lang="en-US" dirty="0">
                <a:solidFill>
                  <a:schemeClr val="tx1"/>
                </a:solidFill>
              </a:rPr>
              <a:t>Free downloadable product, but does not include licenses for operating systems installed in the VMs</a:t>
            </a:r>
          </a:p>
          <a:p>
            <a:r>
              <a:rPr lang="en-US" dirty="0">
                <a:solidFill>
                  <a:schemeClr val="tx1"/>
                </a:solidFill>
              </a:rPr>
              <a:t>Includes the Hyper-V role and limited File and Storage services and Remote Desktop capabilities</a:t>
            </a:r>
          </a:p>
          <a:p>
            <a:r>
              <a:rPr lang="en-US" dirty="0">
                <a:solidFill>
                  <a:schemeClr val="tx1"/>
                </a:solidFill>
              </a:rPr>
              <a:t>Hyper-V role is installed by default</a:t>
            </a:r>
          </a:p>
          <a:p>
            <a:r>
              <a:rPr lang="en-US" dirty="0">
                <a:solidFill>
                  <a:schemeClr val="tx1"/>
                </a:solidFill>
              </a:rPr>
              <a:t>Only uses Server Core interface</a:t>
            </a:r>
          </a:p>
        </p:txBody>
      </p:sp>
      <p:sp>
        <p:nvSpPr>
          <p:cNvPr id="5" name="Slide Number Placeholder 4"/>
          <p:cNvSpPr>
            <a:spLocks noGrp="1"/>
          </p:cNvSpPr>
          <p:nvPr>
            <p:ph type="sldNum" sz="quarter" idx="12"/>
          </p:nvPr>
        </p:nvSpPr>
        <p:spPr/>
        <p:txBody>
          <a:bodyPr/>
          <a:lstStyle/>
          <a:p>
            <a:fld id="{0FFCD9FE-85A8-4732-8641-B4CD942B9CFA}" type="slidenum">
              <a:rPr lang="en-US" smtClean="0"/>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990600"/>
            <a:ext cx="7772400" cy="762001"/>
          </a:xfrm>
        </p:spPr>
        <p:txBody>
          <a:bodyPr/>
          <a:lstStyle/>
          <a:p>
            <a:r>
              <a:rPr lang="en-US" dirty="0">
                <a:solidFill>
                  <a:srgbClr val="FF0000"/>
                </a:solidFill>
              </a:rPr>
              <a:t>Installing Hyper-V</a:t>
            </a:r>
          </a:p>
        </p:txBody>
      </p:sp>
      <p:sp>
        <p:nvSpPr>
          <p:cNvPr id="3" name="Text Placeholder 2"/>
          <p:cNvSpPr>
            <a:spLocks noGrp="1"/>
          </p:cNvSpPr>
          <p:nvPr>
            <p:ph type="body" idx="1"/>
          </p:nvPr>
        </p:nvSpPr>
        <p:spPr>
          <a:xfrm>
            <a:off x="770878" y="2590800"/>
            <a:ext cx="7772400" cy="1390650"/>
          </a:xfrm>
        </p:spPr>
        <p:txBody>
          <a:bodyPr>
            <a:normAutofit/>
          </a:bodyPr>
          <a:lstStyle/>
          <a:p>
            <a:r>
              <a:rPr lang="en-US" sz="2400" b="1">
                <a:solidFill>
                  <a:srgbClr val="FF0000"/>
                </a:solidFill>
              </a:rPr>
              <a:t>Creating </a:t>
            </a:r>
            <a:r>
              <a:rPr lang="en-US" sz="2400" b="1" dirty="0">
                <a:solidFill>
                  <a:srgbClr val="FF0000"/>
                </a:solidFill>
              </a:rPr>
              <a:t>and Configuring Virtual </a:t>
            </a:r>
          </a:p>
          <a:p>
            <a:r>
              <a:rPr lang="en-US" sz="2400" b="1" dirty="0">
                <a:solidFill>
                  <a:srgbClr val="FF0000"/>
                </a:solidFill>
              </a:rPr>
              <a:t>Machine Settings</a:t>
            </a:r>
          </a:p>
        </p:txBody>
      </p:sp>
      <p:sp>
        <p:nvSpPr>
          <p:cNvPr id="5" name="Slide Number Placeholder 4"/>
          <p:cNvSpPr>
            <a:spLocks noGrp="1"/>
          </p:cNvSpPr>
          <p:nvPr>
            <p:ph type="sldNum" sz="quarter" idx="12"/>
          </p:nvPr>
        </p:nvSpPr>
        <p:spPr/>
        <p:txBody>
          <a:bodyPr/>
          <a:lstStyle/>
          <a:p>
            <a:fld id="{0FFCD9FE-85A8-4732-8641-B4CD942B9CFA}" type="slidenum">
              <a:rPr lang="en-US" smtClean="0"/>
              <a:pPr/>
              <a:t>12</a:t>
            </a:fld>
            <a:endParaRPr lang="en-US" dirty="0"/>
          </a:p>
        </p:txBody>
      </p:sp>
    </p:spTree>
    <p:extLst>
      <p:ext uri="{BB962C8B-B14F-4D97-AF65-F5344CB8AC3E}">
        <p14:creationId xmlns:p14="http://schemas.microsoft.com/office/powerpoint/2010/main" val="42100932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89618"/>
            <a:ext cx="8229600" cy="868363"/>
          </a:xfrm>
        </p:spPr>
        <p:txBody>
          <a:bodyPr/>
          <a:lstStyle/>
          <a:p>
            <a:r>
              <a:rPr lang="en-US" b="1" dirty="0">
                <a:solidFill>
                  <a:srgbClr val="FF0000"/>
                </a:solidFill>
              </a:rPr>
              <a:t>Installing Hyper-V</a:t>
            </a:r>
          </a:p>
        </p:txBody>
      </p:sp>
      <p:sp>
        <p:nvSpPr>
          <p:cNvPr id="3" name="Content Placeholder 2"/>
          <p:cNvSpPr>
            <a:spLocks noGrp="1"/>
          </p:cNvSpPr>
          <p:nvPr>
            <p:ph idx="1"/>
          </p:nvPr>
        </p:nvSpPr>
        <p:spPr/>
        <p:txBody>
          <a:bodyPr/>
          <a:lstStyle/>
          <a:p>
            <a:r>
              <a:rPr lang="en-US" dirty="0">
                <a:solidFill>
                  <a:schemeClr val="tx1"/>
                </a:solidFill>
              </a:rPr>
              <a:t>Installing the Hyper-V role installs the hypervisor software and Hyper-V Manager (GUI only)</a:t>
            </a:r>
          </a:p>
          <a:p>
            <a:r>
              <a:rPr lang="en-US" dirty="0">
                <a:solidFill>
                  <a:schemeClr val="tx1"/>
                </a:solidFill>
              </a:rPr>
              <a:t>Recommendations:</a:t>
            </a:r>
          </a:p>
          <a:p>
            <a:pPr lvl="1"/>
            <a:r>
              <a:rPr lang="en-US" dirty="0">
                <a:solidFill>
                  <a:schemeClr val="tx1"/>
                </a:solidFill>
              </a:rPr>
              <a:t>Use Hyper-V role on the host without any other roles</a:t>
            </a:r>
          </a:p>
          <a:p>
            <a:pPr lvl="1"/>
            <a:r>
              <a:rPr lang="en-US" dirty="0">
                <a:solidFill>
                  <a:schemeClr val="tx1"/>
                </a:solidFill>
              </a:rPr>
              <a:t>Put other roles on VMs</a:t>
            </a:r>
          </a:p>
          <a:p>
            <a:pPr lvl="1"/>
            <a:r>
              <a:rPr lang="en-US" dirty="0">
                <a:solidFill>
                  <a:schemeClr val="tx1"/>
                </a:solidFill>
              </a:rPr>
              <a:t>Use Server Core installation</a:t>
            </a:r>
          </a:p>
        </p:txBody>
      </p:sp>
      <p:sp>
        <p:nvSpPr>
          <p:cNvPr id="5" name="Slide Number Placeholder 4"/>
          <p:cNvSpPr>
            <a:spLocks noGrp="1"/>
          </p:cNvSpPr>
          <p:nvPr>
            <p:ph type="sldNum" sz="quarter" idx="12"/>
          </p:nvPr>
        </p:nvSpPr>
        <p:spPr/>
        <p:txBody>
          <a:bodyPr/>
          <a:lstStyle/>
          <a:p>
            <a:fld id="{0FFCD9FE-85A8-4732-8641-B4CD942B9CFA}" type="slidenum">
              <a:rPr lang="en-US" smtClean="0"/>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Hyper-V Hardware Requirements</a:t>
            </a:r>
          </a:p>
        </p:txBody>
      </p:sp>
      <p:sp>
        <p:nvSpPr>
          <p:cNvPr id="3" name="Content Placeholder 2"/>
          <p:cNvSpPr>
            <a:spLocks noGrp="1"/>
          </p:cNvSpPr>
          <p:nvPr>
            <p:ph idx="1"/>
          </p:nvPr>
        </p:nvSpPr>
        <p:spPr>
          <a:xfrm>
            <a:off x="457200" y="1600200"/>
            <a:ext cx="8229600" cy="4876800"/>
          </a:xfrm>
        </p:spPr>
        <p:txBody>
          <a:bodyPr>
            <a:normAutofit/>
          </a:bodyPr>
          <a:lstStyle/>
          <a:p>
            <a:pPr algn="just"/>
            <a:r>
              <a:rPr lang="en-US" dirty="0">
                <a:solidFill>
                  <a:schemeClr val="tx1"/>
                </a:solidFill>
              </a:rPr>
              <a:t>64-bit processors that include hardware-assisted virtualization. </a:t>
            </a:r>
          </a:p>
          <a:p>
            <a:pPr algn="just"/>
            <a:r>
              <a:rPr lang="en-US" dirty="0">
                <a:solidFill>
                  <a:schemeClr val="tx1"/>
                </a:solidFill>
              </a:rPr>
              <a:t>A system BIOS that supports the virtualization hardware, on which the virtualization feature has been enabled.</a:t>
            </a:r>
          </a:p>
          <a:p>
            <a:pPr algn="just"/>
            <a:r>
              <a:rPr lang="en-US" dirty="0">
                <a:solidFill>
                  <a:schemeClr val="tx1"/>
                </a:solidFill>
              </a:rPr>
              <a:t>Hardware-enforced Data Execution Prevention (DEP), which Intel describes as </a:t>
            </a:r>
            <a:r>
              <a:rPr lang="en-US" dirty="0" err="1">
                <a:solidFill>
                  <a:schemeClr val="tx1"/>
                </a:solidFill>
              </a:rPr>
              <a:t>eXecuted</a:t>
            </a:r>
            <a:r>
              <a:rPr lang="en-US" dirty="0">
                <a:solidFill>
                  <a:schemeClr val="tx1"/>
                </a:solidFill>
              </a:rPr>
              <a:t> Disable (XD) and AMD describes as No </a:t>
            </a:r>
            <a:r>
              <a:rPr lang="en-US" dirty="0" err="1">
                <a:solidFill>
                  <a:schemeClr val="tx1"/>
                </a:solidFill>
              </a:rPr>
              <a:t>eXecute</a:t>
            </a:r>
            <a:r>
              <a:rPr lang="en-US" dirty="0">
                <a:solidFill>
                  <a:schemeClr val="tx1"/>
                </a:solidFill>
              </a:rPr>
              <a:t> (NS). </a:t>
            </a:r>
          </a:p>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0FFCD9FE-85A8-4732-8641-B4CD942B9CFA}" type="slidenum">
              <a:rPr lang="en-US" smtClean="0"/>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166688"/>
            <a:ext cx="5711824" cy="609600"/>
          </a:xfrm>
        </p:spPr>
        <p:txBody>
          <a:bodyPr/>
          <a:lstStyle/>
          <a:p>
            <a:r>
              <a:rPr lang="en-US" sz="3600" dirty="0">
                <a:solidFill>
                  <a:srgbClr val="FF0000"/>
                </a:solidFill>
              </a:rPr>
              <a:t>Install the Hyper-V Role</a:t>
            </a:r>
          </a:p>
        </p:txBody>
      </p:sp>
      <p:sp>
        <p:nvSpPr>
          <p:cNvPr id="4" name="Text Placeholder 3"/>
          <p:cNvSpPr>
            <a:spLocks noGrp="1"/>
          </p:cNvSpPr>
          <p:nvPr>
            <p:ph type="body" sz="half" idx="2"/>
          </p:nvPr>
        </p:nvSpPr>
        <p:spPr>
          <a:xfrm>
            <a:off x="1679576" y="5715000"/>
            <a:ext cx="5711824" cy="628650"/>
          </a:xfrm>
        </p:spPr>
        <p:txBody>
          <a:bodyPr>
            <a:normAutofit/>
          </a:bodyPr>
          <a:lstStyle/>
          <a:p>
            <a:r>
              <a:rPr lang="en-US" b="1" dirty="0">
                <a:solidFill>
                  <a:schemeClr val="tx1"/>
                </a:solidFill>
              </a:rPr>
              <a:t>The Select Server Roles page of the Add Roles and Features Wizard</a:t>
            </a:r>
          </a:p>
        </p:txBody>
      </p:sp>
      <p:sp>
        <p:nvSpPr>
          <p:cNvPr id="6" name="Slide Number Placeholder 5"/>
          <p:cNvSpPr>
            <a:spLocks noGrp="1"/>
          </p:cNvSpPr>
          <p:nvPr>
            <p:ph type="sldNum" sz="quarter" idx="12"/>
          </p:nvPr>
        </p:nvSpPr>
        <p:spPr/>
        <p:txBody>
          <a:bodyPr/>
          <a:lstStyle/>
          <a:p>
            <a:fld id="{0FFCD9FE-85A8-4732-8641-B4CD942B9CFA}" type="slidenum">
              <a:rPr lang="en-US" smtClean="0"/>
              <a:pPr/>
              <a:t>15</a:t>
            </a:fld>
            <a:endParaRPr lang="en-US" dirty="0"/>
          </a:p>
        </p:txBody>
      </p:sp>
      <p:grpSp>
        <p:nvGrpSpPr>
          <p:cNvPr id="7" name="Picture Placeholder 6"/>
          <p:cNvGrpSpPr>
            <a:grpSpLocks noGrp="1" noUngrp="1" noChangeAspect="1"/>
          </p:cNvGrpSpPr>
          <p:nvPr/>
        </p:nvGrpSpPr>
        <p:grpSpPr>
          <a:xfrm>
            <a:off x="609600" y="1143000"/>
            <a:ext cx="8153400" cy="4541838"/>
            <a:chOff x="701675" y="685800"/>
            <a:chExt cx="7740650" cy="5867400"/>
          </a:xfrm>
        </p:grpSpPr>
        <p:pic>
          <p:nvPicPr>
            <p:cNvPr id="8" name="Picture 7" descr="fg07-05"/>
            <p:cNvPicPr>
              <a:picLocks noRot="1" noChangeAspect="1" noMove="1" noResize="1"/>
            </p:cNvPicPr>
            <p:nvPr isPhoto="1"/>
          </p:nvPicPr>
          <p:blipFill>
            <a:blip r:embed="rId2">
              <a:lum/>
              <a:extLst>
                <a:ext uri="{28A0092B-C50C-407E-A947-70E740481C1C}">
                  <a14:useLocalDpi xmlns:a14="http://schemas.microsoft.com/office/drawing/2010/main" val="0"/>
                </a:ext>
              </a:extLst>
            </a:blip>
            <a:stretch>
              <a:fillRect/>
            </a:stretch>
          </p:blipFill>
          <p:spPr>
            <a:xfrm>
              <a:off x="701675" y="685800"/>
              <a:ext cx="7740650" cy="5486400"/>
            </a:xfrm>
            <a:prstGeom prst="rect">
              <a:avLst/>
            </a:prstGeom>
            <a:noFill/>
            <a:ln>
              <a:noFill/>
            </a:ln>
          </p:spPr>
        </p:pic>
        <p:sp>
          <p:nvSpPr>
            <p:cNvPr id="9" name="Rectangle 8"/>
            <p:cNvSpPr/>
            <p:nvPr/>
          </p:nvSpPr>
          <p:spPr>
            <a:xfrm>
              <a:off x="701675" y="6210300"/>
              <a:ext cx="7740650" cy="342900"/>
            </a:xfrm>
            <a:prstGeom prst="rect">
              <a:avLst/>
            </a:prstGeom>
            <a:noFill/>
            <a:ln>
              <a:noFill/>
            </a:ln>
          </p:spPr>
          <p:txBody>
            <a:bodyPr anchor="ctr">
              <a:normAutofit fontScale="55000" lnSpcReduction="20000"/>
            </a:bodyPr>
            <a:lstStyle/>
            <a:p>
              <a:pPr algn="ctr"/>
              <a:endParaRPr lang="en-US" sz="2400"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 the Hyper-V Role</a:t>
            </a:r>
          </a:p>
        </p:txBody>
      </p:sp>
      <p:sp>
        <p:nvSpPr>
          <p:cNvPr id="4" name="Text Placeholder 3"/>
          <p:cNvSpPr>
            <a:spLocks noGrp="1"/>
          </p:cNvSpPr>
          <p:nvPr>
            <p:ph type="body" sz="half" idx="2"/>
          </p:nvPr>
        </p:nvSpPr>
        <p:spPr>
          <a:xfrm>
            <a:off x="1679576" y="5638800"/>
            <a:ext cx="5711824" cy="704850"/>
          </a:xfrm>
        </p:spPr>
        <p:txBody>
          <a:bodyPr>
            <a:normAutofit/>
          </a:bodyPr>
          <a:lstStyle/>
          <a:p>
            <a:r>
              <a:rPr lang="en-US" b="1" dirty="0">
                <a:solidFill>
                  <a:schemeClr val="tx1"/>
                </a:solidFill>
              </a:rPr>
              <a:t>The Hyper-V page of the Add Roles and </a:t>
            </a:r>
          </a:p>
          <a:p>
            <a:r>
              <a:rPr lang="en-US" b="1" dirty="0">
                <a:solidFill>
                  <a:schemeClr val="tx1"/>
                </a:solidFill>
              </a:rPr>
              <a:t>Features Wizard </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16</a:t>
            </a:fld>
            <a:endParaRPr lang="en-US" dirty="0"/>
          </a:p>
        </p:txBody>
      </p:sp>
      <p:grpSp>
        <p:nvGrpSpPr>
          <p:cNvPr id="7" name="Picture Placeholder 6"/>
          <p:cNvGrpSpPr>
            <a:grpSpLocks noGrp="1" noUngrp="1" noChangeAspect="1"/>
          </p:cNvGrpSpPr>
          <p:nvPr/>
        </p:nvGrpSpPr>
        <p:grpSpPr>
          <a:xfrm>
            <a:off x="1508125" y="1143000"/>
            <a:ext cx="6054725" cy="4541838"/>
            <a:chOff x="701675" y="685800"/>
            <a:chExt cx="7740650" cy="5867400"/>
          </a:xfrm>
        </p:grpSpPr>
        <p:pic>
          <p:nvPicPr>
            <p:cNvPr id="8" name="Picture 7" descr="fg07-07"/>
            <p:cNvPicPr>
              <a:picLocks noRot="1" noChangeAspect="1" noMove="1" noResize="1"/>
            </p:cNvPicPr>
            <p:nvPr isPhoto="1"/>
          </p:nvPicPr>
          <p:blipFill>
            <a:blip r:embed="rId2">
              <a:lum/>
              <a:extLst>
                <a:ext uri="{28A0092B-C50C-407E-A947-70E740481C1C}">
                  <a14:useLocalDpi xmlns:a14="http://schemas.microsoft.com/office/drawing/2010/main" val="0"/>
                </a:ext>
              </a:extLst>
            </a:blip>
            <a:stretch>
              <a:fillRect/>
            </a:stretch>
          </p:blipFill>
          <p:spPr>
            <a:xfrm>
              <a:off x="701675" y="685800"/>
              <a:ext cx="7740650" cy="5486400"/>
            </a:xfrm>
            <a:prstGeom prst="rect">
              <a:avLst/>
            </a:prstGeom>
            <a:noFill/>
            <a:ln>
              <a:noFill/>
            </a:ln>
          </p:spPr>
        </p:pic>
        <p:sp>
          <p:nvSpPr>
            <p:cNvPr id="9" name="Rectangle 8"/>
            <p:cNvSpPr/>
            <p:nvPr/>
          </p:nvSpPr>
          <p:spPr>
            <a:xfrm>
              <a:off x="701675" y="6210300"/>
              <a:ext cx="7740650" cy="342900"/>
            </a:xfrm>
            <a:prstGeom prst="rect">
              <a:avLst/>
            </a:prstGeom>
            <a:noFill/>
            <a:ln>
              <a:noFill/>
            </a:ln>
          </p:spPr>
          <p:txBody>
            <a:bodyPr anchor="ctr">
              <a:normAutofit fontScale="55000" lnSpcReduction="20000"/>
            </a:bodyPr>
            <a:lstStyle/>
            <a:p>
              <a:pPr algn="ctr"/>
              <a:endParaRPr lang="en-US" sz="2400"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 the Hyper-V Role</a:t>
            </a:r>
          </a:p>
        </p:txBody>
      </p:sp>
      <p:sp>
        <p:nvSpPr>
          <p:cNvPr id="4" name="Text Placeholder 3"/>
          <p:cNvSpPr>
            <a:spLocks noGrp="1"/>
          </p:cNvSpPr>
          <p:nvPr>
            <p:ph type="body" sz="half" idx="2"/>
          </p:nvPr>
        </p:nvSpPr>
        <p:spPr/>
        <p:txBody>
          <a:bodyPr>
            <a:normAutofit lnSpcReduction="10000"/>
          </a:bodyPr>
          <a:lstStyle/>
          <a:p>
            <a:r>
              <a:rPr lang="en-US" b="1" dirty="0">
                <a:solidFill>
                  <a:schemeClr val="tx1"/>
                </a:solidFill>
              </a:rPr>
              <a:t>The Create Virtual Switches page of the Add Roles and Features Wizard </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17</a:t>
            </a:fld>
            <a:endParaRPr lang="en-US" dirty="0"/>
          </a:p>
        </p:txBody>
      </p:sp>
      <p:grpSp>
        <p:nvGrpSpPr>
          <p:cNvPr id="7" name="Picture Placeholder 6"/>
          <p:cNvGrpSpPr>
            <a:grpSpLocks noGrp="1" noUngrp="1" noChangeAspect="1"/>
          </p:cNvGrpSpPr>
          <p:nvPr/>
        </p:nvGrpSpPr>
        <p:grpSpPr>
          <a:xfrm>
            <a:off x="1508125" y="1143000"/>
            <a:ext cx="6054725" cy="4541838"/>
            <a:chOff x="701675" y="685800"/>
            <a:chExt cx="7740650" cy="5867400"/>
          </a:xfrm>
        </p:grpSpPr>
        <p:pic>
          <p:nvPicPr>
            <p:cNvPr id="8" name="Picture 7" descr="fg07-08"/>
            <p:cNvPicPr>
              <a:picLocks noRot="1" noChangeAspect="1" noMove="1" noResize="1"/>
            </p:cNvPicPr>
            <p:nvPr isPhoto="1"/>
          </p:nvPicPr>
          <p:blipFill>
            <a:blip r:embed="rId2">
              <a:lum/>
              <a:extLst>
                <a:ext uri="{28A0092B-C50C-407E-A947-70E740481C1C}">
                  <a14:useLocalDpi xmlns:a14="http://schemas.microsoft.com/office/drawing/2010/main" val="0"/>
                </a:ext>
              </a:extLst>
            </a:blip>
            <a:stretch>
              <a:fillRect/>
            </a:stretch>
          </p:blipFill>
          <p:spPr>
            <a:xfrm>
              <a:off x="701675" y="685800"/>
              <a:ext cx="7740650" cy="5486400"/>
            </a:xfrm>
            <a:prstGeom prst="rect">
              <a:avLst/>
            </a:prstGeom>
            <a:noFill/>
            <a:ln>
              <a:noFill/>
            </a:ln>
          </p:spPr>
        </p:pic>
        <p:sp>
          <p:nvSpPr>
            <p:cNvPr id="9" name="Rectangle 8"/>
            <p:cNvSpPr/>
            <p:nvPr/>
          </p:nvSpPr>
          <p:spPr>
            <a:xfrm>
              <a:off x="701675" y="6210300"/>
              <a:ext cx="7740650" cy="342900"/>
            </a:xfrm>
            <a:prstGeom prst="rect">
              <a:avLst/>
            </a:prstGeom>
            <a:noFill/>
            <a:ln>
              <a:noFill/>
            </a:ln>
          </p:spPr>
          <p:txBody>
            <a:bodyPr anchor="ctr">
              <a:normAutofit fontScale="55000" lnSpcReduction="20000"/>
            </a:bodyPr>
            <a:lstStyle/>
            <a:p>
              <a:pPr algn="ctr"/>
              <a:endParaRPr lang="en-US" sz="2400"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 the Hyper-V Role</a:t>
            </a:r>
          </a:p>
        </p:txBody>
      </p:sp>
      <p:sp>
        <p:nvSpPr>
          <p:cNvPr id="4" name="Text Placeholder 3"/>
          <p:cNvSpPr>
            <a:spLocks noGrp="1"/>
          </p:cNvSpPr>
          <p:nvPr>
            <p:ph type="body" sz="half" idx="2"/>
          </p:nvPr>
        </p:nvSpPr>
        <p:spPr/>
        <p:txBody>
          <a:bodyPr>
            <a:normAutofit lnSpcReduction="10000"/>
          </a:bodyPr>
          <a:lstStyle/>
          <a:p>
            <a:r>
              <a:rPr lang="en-US" b="1" dirty="0">
                <a:solidFill>
                  <a:schemeClr val="tx1"/>
                </a:solidFill>
              </a:rPr>
              <a:t>The Virtual Machine Migration page of the Add Roles and Features Wizard </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18</a:t>
            </a:fld>
            <a:endParaRPr lang="en-US" dirty="0"/>
          </a:p>
        </p:txBody>
      </p:sp>
      <p:grpSp>
        <p:nvGrpSpPr>
          <p:cNvPr id="7" name="Picture Placeholder 6"/>
          <p:cNvGrpSpPr>
            <a:grpSpLocks noGrp="1" noUngrp="1" noChangeAspect="1"/>
          </p:cNvGrpSpPr>
          <p:nvPr/>
        </p:nvGrpSpPr>
        <p:grpSpPr>
          <a:xfrm>
            <a:off x="1508125" y="1143000"/>
            <a:ext cx="6054725" cy="4541838"/>
            <a:chOff x="701675" y="685800"/>
            <a:chExt cx="7740650" cy="5867400"/>
          </a:xfrm>
        </p:grpSpPr>
        <p:pic>
          <p:nvPicPr>
            <p:cNvPr id="8" name="Picture 7" descr="fg07-09"/>
            <p:cNvPicPr>
              <a:picLocks noRot="1" noChangeAspect="1" noMove="1" noResize="1"/>
            </p:cNvPicPr>
            <p:nvPr isPhoto="1"/>
          </p:nvPicPr>
          <p:blipFill>
            <a:blip r:embed="rId2">
              <a:lum/>
              <a:extLst>
                <a:ext uri="{28A0092B-C50C-407E-A947-70E740481C1C}">
                  <a14:useLocalDpi xmlns:a14="http://schemas.microsoft.com/office/drawing/2010/main" val="0"/>
                </a:ext>
              </a:extLst>
            </a:blip>
            <a:stretch>
              <a:fillRect/>
            </a:stretch>
          </p:blipFill>
          <p:spPr>
            <a:xfrm>
              <a:off x="701675" y="685800"/>
              <a:ext cx="7740650" cy="5486400"/>
            </a:xfrm>
            <a:prstGeom prst="rect">
              <a:avLst/>
            </a:prstGeom>
            <a:noFill/>
            <a:ln>
              <a:noFill/>
            </a:ln>
          </p:spPr>
        </p:pic>
        <p:sp>
          <p:nvSpPr>
            <p:cNvPr id="9" name="Rectangle 8"/>
            <p:cNvSpPr/>
            <p:nvPr/>
          </p:nvSpPr>
          <p:spPr>
            <a:xfrm>
              <a:off x="701675" y="6210300"/>
              <a:ext cx="7740650" cy="342900"/>
            </a:xfrm>
            <a:prstGeom prst="rect">
              <a:avLst/>
            </a:prstGeom>
            <a:noFill/>
            <a:ln>
              <a:noFill/>
            </a:ln>
          </p:spPr>
          <p:txBody>
            <a:bodyPr anchor="ctr">
              <a:normAutofit fontScale="55000" lnSpcReduction="20000"/>
            </a:bodyPr>
            <a:lstStyle/>
            <a:p>
              <a:pPr algn="ctr"/>
              <a:endParaRPr lang="en-US" sz="2400"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 the Hyper-V Role</a:t>
            </a:r>
          </a:p>
        </p:txBody>
      </p:sp>
      <p:sp>
        <p:nvSpPr>
          <p:cNvPr id="4" name="Text Placeholder 3"/>
          <p:cNvSpPr>
            <a:spLocks noGrp="1"/>
          </p:cNvSpPr>
          <p:nvPr>
            <p:ph type="body" sz="half" idx="2"/>
          </p:nvPr>
        </p:nvSpPr>
        <p:spPr>
          <a:xfrm>
            <a:off x="1679576" y="5638800"/>
            <a:ext cx="5711824" cy="704850"/>
          </a:xfrm>
        </p:spPr>
        <p:txBody>
          <a:bodyPr>
            <a:normAutofit/>
          </a:bodyPr>
          <a:lstStyle/>
          <a:p>
            <a:r>
              <a:rPr lang="en-US" b="1" dirty="0">
                <a:solidFill>
                  <a:schemeClr val="tx1"/>
                </a:solidFill>
              </a:rPr>
              <a:t>The Default Stores page of the Add Roles and </a:t>
            </a:r>
          </a:p>
          <a:p>
            <a:r>
              <a:rPr lang="en-US" b="1" dirty="0">
                <a:solidFill>
                  <a:schemeClr val="tx1"/>
                </a:solidFill>
              </a:rPr>
              <a:t>Features Wizard </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19</a:t>
            </a:fld>
            <a:endParaRPr lang="en-US" dirty="0"/>
          </a:p>
        </p:txBody>
      </p:sp>
      <p:grpSp>
        <p:nvGrpSpPr>
          <p:cNvPr id="7" name="Picture Placeholder 6"/>
          <p:cNvGrpSpPr>
            <a:grpSpLocks noGrp="1" noUngrp="1" noChangeAspect="1"/>
          </p:cNvGrpSpPr>
          <p:nvPr/>
        </p:nvGrpSpPr>
        <p:grpSpPr>
          <a:xfrm>
            <a:off x="1508125" y="1143000"/>
            <a:ext cx="6054725" cy="4541838"/>
            <a:chOff x="701675" y="685800"/>
            <a:chExt cx="7740650" cy="5867400"/>
          </a:xfrm>
        </p:grpSpPr>
        <p:pic>
          <p:nvPicPr>
            <p:cNvPr id="8" name="Picture 7" descr="fg07-10"/>
            <p:cNvPicPr>
              <a:picLocks noRot="1" noChangeAspect="1" noMove="1" noResize="1"/>
            </p:cNvPicPr>
            <p:nvPr isPhoto="1"/>
          </p:nvPicPr>
          <p:blipFill>
            <a:blip r:embed="rId2">
              <a:lum/>
              <a:extLst>
                <a:ext uri="{28A0092B-C50C-407E-A947-70E740481C1C}">
                  <a14:useLocalDpi xmlns:a14="http://schemas.microsoft.com/office/drawing/2010/main" val="0"/>
                </a:ext>
              </a:extLst>
            </a:blip>
            <a:stretch>
              <a:fillRect/>
            </a:stretch>
          </p:blipFill>
          <p:spPr>
            <a:xfrm>
              <a:off x="701675" y="685800"/>
              <a:ext cx="7740650" cy="5486400"/>
            </a:xfrm>
            <a:prstGeom prst="rect">
              <a:avLst/>
            </a:prstGeom>
            <a:noFill/>
            <a:ln>
              <a:noFill/>
            </a:ln>
          </p:spPr>
        </p:pic>
        <p:sp>
          <p:nvSpPr>
            <p:cNvPr id="9" name="Rectangle 8"/>
            <p:cNvSpPr/>
            <p:nvPr/>
          </p:nvSpPr>
          <p:spPr>
            <a:xfrm>
              <a:off x="701675" y="6210300"/>
              <a:ext cx="7740650" cy="342900"/>
            </a:xfrm>
            <a:prstGeom prst="rect">
              <a:avLst/>
            </a:prstGeom>
            <a:noFill/>
            <a:ln>
              <a:noFill/>
            </a:ln>
          </p:spPr>
          <p:txBody>
            <a:bodyPr anchor="ctr">
              <a:normAutofit fontScale="55000" lnSpcReduction="20000"/>
            </a:bodyPr>
            <a:lstStyle/>
            <a:p>
              <a:pPr algn="ctr"/>
              <a:endParaRPr lang="en-US" sz="2400" dirty="0"/>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Using Hyper-V Manager</a:t>
            </a:r>
          </a:p>
        </p:txBody>
      </p:sp>
      <p:sp>
        <p:nvSpPr>
          <p:cNvPr id="3" name="Text Placeholder 2"/>
          <p:cNvSpPr>
            <a:spLocks noGrp="1"/>
          </p:cNvSpPr>
          <p:nvPr>
            <p:ph type="body" idx="1"/>
          </p:nvPr>
        </p:nvSpPr>
        <p:spPr/>
        <p:txBody>
          <a:bodyPr>
            <a:normAutofit/>
          </a:bodyPr>
          <a:lstStyle/>
          <a:p>
            <a:r>
              <a:rPr lang="en-US" sz="2400" b="1">
                <a:solidFill>
                  <a:schemeClr val="tx1"/>
                </a:solidFill>
              </a:rPr>
              <a:t>Creating </a:t>
            </a:r>
            <a:r>
              <a:rPr lang="en-US" sz="2400" b="1" dirty="0">
                <a:solidFill>
                  <a:schemeClr val="tx1"/>
                </a:solidFill>
              </a:rPr>
              <a:t>and Configuring Virtual </a:t>
            </a:r>
          </a:p>
          <a:p>
            <a:r>
              <a:rPr lang="en-US" sz="2400" b="1" dirty="0">
                <a:solidFill>
                  <a:schemeClr val="tx1"/>
                </a:solidFill>
              </a:rPr>
              <a:t>Machine Settings</a:t>
            </a:r>
          </a:p>
        </p:txBody>
      </p:sp>
      <p:sp>
        <p:nvSpPr>
          <p:cNvPr id="5" name="Slide Number Placeholder 4"/>
          <p:cNvSpPr>
            <a:spLocks noGrp="1"/>
          </p:cNvSpPr>
          <p:nvPr>
            <p:ph type="sldNum" sz="quarter" idx="12"/>
          </p:nvPr>
        </p:nvSpPr>
        <p:spPr/>
        <p:txBody>
          <a:bodyPr/>
          <a:lstStyle/>
          <a:p>
            <a:fld id="{0FFCD9FE-85A8-4732-8641-B4CD942B9CFA}" type="slidenum">
              <a:rPr lang="en-US" smtClean="0"/>
              <a:pPr/>
              <a:t>20</a:t>
            </a:fld>
            <a:endParaRPr lang="en-US" dirty="0"/>
          </a:p>
        </p:txBody>
      </p:sp>
    </p:spTree>
    <p:extLst>
      <p:ext uri="{BB962C8B-B14F-4D97-AF65-F5344CB8AC3E}">
        <p14:creationId xmlns:p14="http://schemas.microsoft.com/office/powerpoint/2010/main" val="42100932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Hyper-V Manager</a:t>
            </a:r>
          </a:p>
        </p:txBody>
      </p:sp>
      <p:sp>
        <p:nvSpPr>
          <p:cNvPr id="3" name="Content Placeholder 2"/>
          <p:cNvSpPr>
            <a:spLocks noGrp="1"/>
          </p:cNvSpPr>
          <p:nvPr>
            <p:ph idx="1"/>
          </p:nvPr>
        </p:nvSpPr>
        <p:spPr/>
        <p:txBody>
          <a:bodyPr/>
          <a:lstStyle/>
          <a:p>
            <a:r>
              <a:rPr lang="en-US" dirty="0">
                <a:solidFill>
                  <a:schemeClr val="tx1"/>
                </a:solidFill>
              </a:rPr>
              <a:t>The primary graphical tool for creating and managing VMs</a:t>
            </a:r>
          </a:p>
          <a:p>
            <a:r>
              <a:rPr lang="en-US" dirty="0">
                <a:solidFill>
                  <a:schemeClr val="tx1"/>
                </a:solidFill>
              </a:rPr>
              <a:t>Can be used to manage VMs on multiple servers</a:t>
            </a:r>
          </a:p>
          <a:p>
            <a:r>
              <a:rPr lang="en-US" dirty="0">
                <a:solidFill>
                  <a:schemeClr val="tx1"/>
                </a:solidFill>
              </a:rPr>
              <a:t>Installed with the Hyper-V Role, or you can install the Hyper-V Management Tools feature, or RSAT package for Windows 8</a:t>
            </a:r>
          </a:p>
        </p:txBody>
      </p:sp>
      <p:sp>
        <p:nvSpPr>
          <p:cNvPr id="5" name="Slide Number Placeholder 4"/>
          <p:cNvSpPr>
            <a:spLocks noGrp="1"/>
          </p:cNvSpPr>
          <p:nvPr>
            <p:ph type="sldNum" sz="quarter" idx="12"/>
          </p:nvPr>
        </p:nvSpPr>
        <p:spPr/>
        <p:txBody>
          <a:bodyPr/>
          <a:lstStyle/>
          <a:p>
            <a:fld id="{0FFCD9FE-85A8-4732-8641-B4CD942B9CFA}" type="slidenum">
              <a:rPr lang="en-US" smtClean="0"/>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Hyper-V Manager</a:t>
            </a:r>
          </a:p>
        </p:txBody>
      </p:sp>
      <p:sp>
        <p:nvSpPr>
          <p:cNvPr id="4" name="Text Placeholder 3"/>
          <p:cNvSpPr>
            <a:spLocks noGrp="1"/>
          </p:cNvSpPr>
          <p:nvPr>
            <p:ph type="body" sz="half" idx="2"/>
          </p:nvPr>
        </p:nvSpPr>
        <p:spPr/>
        <p:txBody>
          <a:bodyPr/>
          <a:lstStyle/>
          <a:p>
            <a:r>
              <a:rPr lang="en-US" b="1" dirty="0">
                <a:solidFill>
                  <a:schemeClr val="tx1"/>
                </a:solidFill>
              </a:rPr>
              <a:t>The Hyper-V Manager console </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22</a:t>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219200"/>
            <a:ext cx="6584574" cy="4324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Creating a </a:t>
            </a:r>
            <a:br>
              <a:rPr lang="en-US" dirty="0">
                <a:solidFill>
                  <a:srgbClr val="FF0000"/>
                </a:solidFill>
              </a:rPr>
            </a:br>
            <a:r>
              <a:rPr lang="en-US" dirty="0">
                <a:solidFill>
                  <a:srgbClr val="FF0000"/>
                </a:solidFill>
              </a:rPr>
              <a:t>Virtual Machine</a:t>
            </a:r>
          </a:p>
        </p:txBody>
      </p:sp>
      <p:sp>
        <p:nvSpPr>
          <p:cNvPr id="3" name="Content Placeholder 2"/>
          <p:cNvSpPr>
            <a:spLocks noGrp="1"/>
          </p:cNvSpPr>
          <p:nvPr>
            <p:ph idx="1"/>
          </p:nvPr>
        </p:nvSpPr>
        <p:spPr/>
        <p:txBody>
          <a:bodyPr/>
          <a:lstStyle/>
          <a:p>
            <a:r>
              <a:rPr lang="en-US" b="1" dirty="0">
                <a:solidFill>
                  <a:schemeClr val="tx1"/>
                </a:solidFill>
              </a:rPr>
              <a:t>To create a virtual machine (VM), you define the hardware resources that the system should allocate to them:</a:t>
            </a:r>
          </a:p>
          <a:p>
            <a:pPr lvl="1"/>
            <a:r>
              <a:rPr lang="en-US" b="1" dirty="0">
                <a:solidFill>
                  <a:schemeClr val="tx1"/>
                </a:solidFill>
              </a:rPr>
              <a:t>Number of processors</a:t>
            </a:r>
          </a:p>
          <a:p>
            <a:pPr lvl="1"/>
            <a:r>
              <a:rPr lang="en-US" b="1" dirty="0">
                <a:solidFill>
                  <a:schemeClr val="tx1"/>
                </a:solidFill>
              </a:rPr>
              <a:t>Memory</a:t>
            </a:r>
          </a:p>
          <a:p>
            <a:pPr lvl="1"/>
            <a:r>
              <a:rPr lang="en-US" b="1" dirty="0">
                <a:solidFill>
                  <a:schemeClr val="tx1"/>
                </a:solidFill>
              </a:rPr>
              <a:t>Virtual network adapters</a:t>
            </a:r>
          </a:p>
          <a:p>
            <a:pPr lvl="1"/>
            <a:r>
              <a:rPr lang="en-US" b="1" dirty="0">
                <a:solidFill>
                  <a:schemeClr val="tx1"/>
                </a:solidFill>
              </a:rPr>
              <a:t>Virtual disks</a:t>
            </a:r>
          </a:p>
        </p:txBody>
      </p:sp>
      <p:sp>
        <p:nvSpPr>
          <p:cNvPr id="5" name="Slide Number Placeholder 4"/>
          <p:cNvSpPr>
            <a:spLocks noGrp="1"/>
          </p:cNvSpPr>
          <p:nvPr>
            <p:ph type="sldNum" sz="quarter" idx="12"/>
          </p:nvPr>
        </p:nvSpPr>
        <p:spPr/>
        <p:txBody>
          <a:bodyPr/>
          <a:lstStyle/>
          <a:p>
            <a:fld id="{0FFCD9FE-85A8-4732-8641-B4CD942B9CFA}"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a:t>
            </a:r>
            <a:br>
              <a:rPr lang="en-US" dirty="0"/>
            </a:br>
            <a:r>
              <a:rPr lang="en-US" dirty="0"/>
              <a:t>Virtual Machine</a:t>
            </a:r>
          </a:p>
        </p:txBody>
      </p:sp>
      <p:sp>
        <p:nvSpPr>
          <p:cNvPr id="3" name="Content Placeholder 2"/>
          <p:cNvSpPr>
            <a:spLocks noGrp="1"/>
          </p:cNvSpPr>
          <p:nvPr>
            <p:ph idx="1"/>
          </p:nvPr>
        </p:nvSpPr>
        <p:spPr/>
        <p:txBody>
          <a:bodyPr>
            <a:normAutofit lnSpcReduction="10000"/>
          </a:bodyPr>
          <a:lstStyle/>
          <a:p>
            <a:pPr>
              <a:buNone/>
            </a:pPr>
            <a:r>
              <a:rPr lang="en-US" dirty="0">
                <a:solidFill>
                  <a:schemeClr val="tx1"/>
                </a:solidFill>
              </a:rPr>
              <a:t>Each virtual machine uses the following files:</a:t>
            </a:r>
          </a:p>
          <a:p>
            <a:pPr lvl="0"/>
            <a:r>
              <a:rPr lang="en-US" b="1" dirty="0">
                <a:solidFill>
                  <a:schemeClr val="tx1"/>
                </a:solidFill>
              </a:rPr>
              <a:t>Virtual machine configuration (.</a:t>
            </a:r>
            <a:r>
              <a:rPr lang="en-US" b="1" dirty="0" err="1">
                <a:solidFill>
                  <a:schemeClr val="tx1"/>
                </a:solidFill>
              </a:rPr>
              <a:t>vmc</a:t>
            </a:r>
            <a:r>
              <a:rPr lang="en-US" b="1" dirty="0">
                <a:solidFill>
                  <a:schemeClr val="tx1"/>
                </a:solidFill>
              </a:rPr>
              <a:t>) file:</a:t>
            </a:r>
            <a:r>
              <a:rPr lang="en-US" dirty="0">
                <a:solidFill>
                  <a:schemeClr val="tx1"/>
                </a:solidFill>
              </a:rPr>
              <a:t> This file in XML format contains the VM configuration information, including all settings for the VM.</a:t>
            </a:r>
          </a:p>
          <a:p>
            <a:pPr lvl="0"/>
            <a:r>
              <a:rPr lang="en-US" b="1" dirty="0">
                <a:solidFill>
                  <a:schemeClr val="tx1"/>
                </a:solidFill>
              </a:rPr>
              <a:t>Virtual hard disk (.</a:t>
            </a:r>
            <a:r>
              <a:rPr lang="en-US" b="1" dirty="0" err="1">
                <a:solidFill>
                  <a:schemeClr val="tx1"/>
                </a:solidFill>
              </a:rPr>
              <a:t>vhd</a:t>
            </a:r>
            <a:r>
              <a:rPr lang="en-US" b="1" dirty="0">
                <a:solidFill>
                  <a:schemeClr val="tx1"/>
                </a:solidFill>
              </a:rPr>
              <a:t> or .</a:t>
            </a:r>
            <a:r>
              <a:rPr lang="en-US" b="1" dirty="0" err="1">
                <a:solidFill>
                  <a:schemeClr val="tx1"/>
                </a:solidFill>
              </a:rPr>
              <a:t>vhdx</a:t>
            </a:r>
            <a:r>
              <a:rPr lang="en-US" b="1" dirty="0">
                <a:solidFill>
                  <a:schemeClr val="tx1"/>
                </a:solidFill>
              </a:rPr>
              <a:t>) files:</a:t>
            </a:r>
            <a:r>
              <a:rPr lang="en-US" dirty="0">
                <a:solidFill>
                  <a:schemeClr val="tx1"/>
                </a:solidFill>
              </a:rPr>
              <a:t> One or more files used to store the guest operating system, applications, and data for the VM.</a:t>
            </a:r>
          </a:p>
          <a:p>
            <a:r>
              <a:rPr lang="en-US" b="1" dirty="0">
                <a:solidFill>
                  <a:schemeClr val="tx1"/>
                </a:solidFill>
              </a:rPr>
              <a:t>Saved-state (.</a:t>
            </a:r>
            <a:r>
              <a:rPr lang="en-US" b="1" dirty="0" err="1">
                <a:solidFill>
                  <a:schemeClr val="tx1"/>
                </a:solidFill>
              </a:rPr>
              <a:t>vsv</a:t>
            </a:r>
            <a:r>
              <a:rPr lang="en-US" b="1" dirty="0">
                <a:solidFill>
                  <a:schemeClr val="tx1"/>
                </a:solidFill>
              </a:rPr>
              <a:t>) file:</a:t>
            </a:r>
            <a:r>
              <a:rPr lang="en-US" dirty="0">
                <a:solidFill>
                  <a:schemeClr val="tx1"/>
                </a:solidFill>
              </a:rPr>
              <a:t> The VM may use this if it has been placed into a saved state.</a:t>
            </a:r>
          </a:p>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0FFCD9FE-85A8-4732-8641-B4CD942B9CFA}" type="slidenum">
              <a:rPr lang="en-US" smtClean="0"/>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Virtual Machine</a:t>
            </a:r>
          </a:p>
        </p:txBody>
      </p:sp>
      <p:sp>
        <p:nvSpPr>
          <p:cNvPr id="4" name="Text Placeholder 3"/>
          <p:cNvSpPr>
            <a:spLocks noGrp="1"/>
          </p:cNvSpPr>
          <p:nvPr>
            <p:ph type="body" sz="half" idx="2"/>
          </p:nvPr>
        </p:nvSpPr>
        <p:spPr/>
        <p:txBody>
          <a:bodyPr>
            <a:normAutofit lnSpcReduction="10000"/>
          </a:bodyPr>
          <a:lstStyle/>
          <a:p>
            <a:r>
              <a:rPr lang="en-US" b="1" dirty="0">
                <a:solidFill>
                  <a:schemeClr val="tx1"/>
                </a:solidFill>
              </a:rPr>
              <a:t>The Specify Name and Location page of the New Virtual Machine Wizard</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25</a:t>
            </a:fld>
            <a:endParaRPr lang="en-US" dirty="0"/>
          </a:p>
        </p:txBody>
      </p:sp>
      <p:grpSp>
        <p:nvGrpSpPr>
          <p:cNvPr id="7" name="Picture Placeholder 6"/>
          <p:cNvGrpSpPr>
            <a:grpSpLocks noGrp="1" noUngrp="1" noChangeAspect="1"/>
          </p:cNvGrpSpPr>
          <p:nvPr/>
        </p:nvGrpSpPr>
        <p:grpSpPr>
          <a:xfrm>
            <a:off x="1508125" y="1143000"/>
            <a:ext cx="6054725" cy="4541838"/>
            <a:chOff x="923925" y="685800"/>
            <a:chExt cx="7294563" cy="5867400"/>
          </a:xfrm>
        </p:grpSpPr>
        <p:pic>
          <p:nvPicPr>
            <p:cNvPr id="8" name="Picture 7" descr="fg07-15"/>
            <p:cNvPicPr>
              <a:picLocks noRot="1" noChangeAspect="1" noMove="1" noResize="1"/>
            </p:cNvPicPr>
            <p:nvPr isPhoto="1"/>
          </p:nvPicPr>
          <p:blipFill>
            <a:blip r:embed="rId2">
              <a:lum/>
              <a:extLst>
                <a:ext uri="{28A0092B-C50C-407E-A947-70E740481C1C}">
                  <a14:useLocalDpi xmlns:a14="http://schemas.microsoft.com/office/drawing/2010/main" val="0"/>
                </a:ext>
              </a:extLst>
            </a:blip>
            <a:stretch>
              <a:fillRect/>
            </a:stretch>
          </p:blipFill>
          <p:spPr>
            <a:xfrm>
              <a:off x="923925" y="685800"/>
              <a:ext cx="7294563" cy="5486400"/>
            </a:xfrm>
            <a:prstGeom prst="rect">
              <a:avLst/>
            </a:prstGeom>
            <a:noFill/>
            <a:ln>
              <a:noFill/>
            </a:ln>
          </p:spPr>
        </p:pic>
        <p:sp>
          <p:nvSpPr>
            <p:cNvPr id="9" name="Rectangle 8"/>
            <p:cNvSpPr/>
            <p:nvPr/>
          </p:nvSpPr>
          <p:spPr>
            <a:xfrm>
              <a:off x="923925" y="6210300"/>
              <a:ext cx="7294563" cy="342900"/>
            </a:xfrm>
            <a:prstGeom prst="rect">
              <a:avLst/>
            </a:prstGeom>
            <a:noFill/>
            <a:ln>
              <a:noFill/>
            </a:ln>
          </p:spPr>
          <p:txBody>
            <a:bodyPr anchor="ctr">
              <a:normAutofit fontScale="55000" lnSpcReduction="20000"/>
            </a:bodyPr>
            <a:lstStyle/>
            <a:p>
              <a:pPr algn="ctr"/>
              <a:endParaRPr lang="en-US" sz="2400" dirty="0"/>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Virtual Machine</a:t>
            </a:r>
          </a:p>
        </p:txBody>
      </p:sp>
      <p:sp>
        <p:nvSpPr>
          <p:cNvPr id="4" name="Text Placeholder 3"/>
          <p:cNvSpPr>
            <a:spLocks noGrp="1"/>
          </p:cNvSpPr>
          <p:nvPr>
            <p:ph type="body" sz="half" idx="2"/>
          </p:nvPr>
        </p:nvSpPr>
        <p:spPr>
          <a:xfrm>
            <a:off x="1679576" y="5638800"/>
            <a:ext cx="5711824" cy="704850"/>
          </a:xfrm>
        </p:spPr>
        <p:txBody>
          <a:bodyPr>
            <a:normAutofit/>
          </a:bodyPr>
          <a:lstStyle/>
          <a:p>
            <a:r>
              <a:rPr lang="en-US" b="1" dirty="0">
                <a:solidFill>
                  <a:schemeClr val="tx1"/>
                </a:solidFill>
              </a:rPr>
              <a:t>The Assign Memory page of the New Virtual </a:t>
            </a:r>
          </a:p>
          <a:p>
            <a:r>
              <a:rPr lang="en-US" b="1" dirty="0">
                <a:solidFill>
                  <a:schemeClr val="tx1"/>
                </a:solidFill>
              </a:rPr>
              <a:t>Machine Wizard</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26</a:t>
            </a:fld>
            <a:endParaRPr lang="en-US" dirty="0"/>
          </a:p>
        </p:txBody>
      </p:sp>
      <p:pic>
        <p:nvPicPr>
          <p:cNvPr id="1026" name="Picture 2" descr="C:\Users\Pat\Desktop\Updates\70-410 Second Edition\70-410 PowerPoints Second Edition\Pics\70-410 R2 Lesson 7 New Images\fg07-6new.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219200"/>
            <a:ext cx="5925712" cy="445769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Virtual Machine</a:t>
            </a:r>
          </a:p>
        </p:txBody>
      </p:sp>
      <p:sp>
        <p:nvSpPr>
          <p:cNvPr id="4" name="Text Placeholder 3"/>
          <p:cNvSpPr>
            <a:spLocks noGrp="1"/>
          </p:cNvSpPr>
          <p:nvPr>
            <p:ph type="body" sz="half" idx="2"/>
          </p:nvPr>
        </p:nvSpPr>
        <p:spPr/>
        <p:txBody>
          <a:bodyPr>
            <a:normAutofit lnSpcReduction="10000"/>
          </a:bodyPr>
          <a:lstStyle/>
          <a:p>
            <a:r>
              <a:rPr lang="en-US" b="1" dirty="0">
                <a:solidFill>
                  <a:schemeClr val="tx1"/>
                </a:solidFill>
              </a:rPr>
              <a:t>The Connect Virtual Hard Disk page of the New Virtual Machine Wizard</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27</a:t>
            </a:fld>
            <a:endParaRPr lang="en-US" dirty="0"/>
          </a:p>
        </p:txBody>
      </p:sp>
      <p:pic>
        <p:nvPicPr>
          <p:cNvPr id="2050" name="Picture 2" descr="C:\Users\Pat\Desktop\Updates\70-410 Second Edition\70-410 PowerPoints Second Edition\Pics\70-410 R2 Lesson 7 New Images\fg07-7new.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219200"/>
            <a:ext cx="5993244" cy="4508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Virtual Machine</a:t>
            </a:r>
          </a:p>
        </p:txBody>
      </p:sp>
      <p:sp>
        <p:nvSpPr>
          <p:cNvPr id="4" name="Text Placeholder 3"/>
          <p:cNvSpPr>
            <a:spLocks noGrp="1"/>
          </p:cNvSpPr>
          <p:nvPr>
            <p:ph type="body" sz="half" idx="2"/>
          </p:nvPr>
        </p:nvSpPr>
        <p:spPr/>
        <p:txBody>
          <a:bodyPr>
            <a:normAutofit lnSpcReduction="10000"/>
          </a:bodyPr>
          <a:lstStyle/>
          <a:p>
            <a:r>
              <a:rPr lang="en-US" b="1" dirty="0">
                <a:solidFill>
                  <a:schemeClr val="tx1"/>
                </a:solidFill>
              </a:rPr>
              <a:t>The Installation Options page of the New Virtual Machine Wizard</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28</a:t>
            </a:fld>
            <a:endParaRPr lang="en-US" dirty="0"/>
          </a:p>
        </p:txBody>
      </p:sp>
      <p:pic>
        <p:nvPicPr>
          <p:cNvPr id="3074" name="Picture 2" descr="C:\Users\Pat\Desktop\Updates\70-410 Second Edition\70-410 PowerPoints Second Edition\Pics\70-410 R2 Lesson 7 New Images\fg07-8new.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143000"/>
            <a:ext cx="6128302" cy="4610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Virtual Machine</a:t>
            </a:r>
          </a:p>
        </p:txBody>
      </p:sp>
      <p:sp>
        <p:nvSpPr>
          <p:cNvPr id="4" name="Text Placeholder 3"/>
          <p:cNvSpPr>
            <a:spLocks noGrp="1"/>
          </p:cNvSpPr>
          <p:nvPr>
            <p:ph type="body" sz="half" idx="2"/>
          </p:nvPr>
        </p:nvSpPr>
        <p:spPr/>
        <p:txBody>
          <a:bodyPr/>
          <a:lstStyle/>
          <a:p>
            <a:r>
              <a:rPr lang="en-US" b="1" dirty="0">
                <a:solidFill>
                  <a:schemeClr val="tx1"/>
                </a:solidFill>
              </a:rPr>
              <a:t>The Settings dialog box for a virtual machine</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29</a:t>
            </a:fld>
            <a:endParaRPr lang="en-US" dirty="0"/>
          </a:p>
        </p:txBody>
      </p:sp>
      <p:grpSp>
        <p:nvGrpSpPr>
          <p:cNvPr id="7" name="Group 6"/>
          <p:cNvGrpSpPr>
            <a:grpSpLocks noGrp="1" noUngrp="1" noChangeAspect="1"/>
          </p:cNvGrpSpPr>
          <p:nvPr/>
        </p:nvGrpSpPr>
        <p:grpSpPr>
          <a:xfrm>
            <a:off x="914400" y="1219200"/>
            <a:ext cx="7391400" cy="4419600"/>
            <a:chOff x="1662113" y="685800"/>
            <a:chExt cx="5818187" cy="5867400"/>
          </a:xfrm>
        </p:grpSpPr>
        <p:pic>
          <p:nvPicPr>
            <p:cNvPr id="8" name="Picture 7" descr="fg07-21"/>
            <p:cNvPicPr>
              <a:picLocks noRot="1" noChangeAspect="1" noMove="1" noResize="1"/>
            </p:cNvPicPr>
            <p:nvPr isPhoto="1"/>
          </p:nvPicPr>
          <p:blipFill>
            <a:blip r:embed="rId2">
              <a:lum/>
              <a:extLst>
                <a:ext uri="{28A0092B-C50C-407E-A947-70E740481C1C}">
                  <a14:useLocalDpi xmlns:a14="http://schemas.microsoft.com/office/drawing/2010/main" val="0"/>
                </a:ext>
              </a:extLst>
            </a:blip>
            <a:stretch>
              <a:fillRect/>
            </a:stretch>
          </p:blipFill>
          <p:spPr>
            <a:xfrm>
              <a:off x="1662113" y="685800"/>
              <a:ext cx="5818187" cy="5486400"/>
            </a:xfrm>
            <a:prstGeom prst="rect">
              <a:avLst/>
            </a:prstGeom>
            <a:noFill/>
            <a:ln>
              <a:noFill/>
            </a:ln>
          </p:spPr>
        </p:pic>
        <p:sp>
          <p:nvSpPr>
            <p:cNvPr id="9" name="Rectangle 8"/>
            <p:cNvSpPr/>
            <p:nvPr/>
          </p:nvSpPr>
          <p:spPr>
            <a:xfrm>
              <a:off x="1662113" y="6210300"/>
              <a:ext cx="5818187" cy="342900"/>
            </a:xfrm>
            <a:prstGeom prst="rect">
              <a:avLst/>
            </a:prstGeom>
            <a:noFill/>
            <a:ln>
              <a:noFill/>
            </a:ln>
          </p:spPr>
          <p:txBody>
            <a:bodyPr anchor="ctr">
              <a:normAutofit fontScale="55000" lnSpcReduction="20000"/>
            </a:bodyPr>
            <a:lstStyle/>
            <a:p>
              <a:pPr algn="ctr"/>
              <a:endParaRPr lang="en-US" sz="2400" dirty="0"/>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Generation 1 and Generation 2 VMs</a:t>
            </a:r>
          </a:p>
        </p:txBody>
      </p:sp>
      <p:sp>
        <p:nvSpPr>
          <p:cNvPr id="3" name="Content Placeholder 2"/>
          <p:cNvSpPr>
            <a:spLocks noGrp="1"/>
          </p:cNvSpPr>
          <p:nvPr>
            <p:ph idx="1"/>
          </p:nvPr>
        </p:nvSpPr>
        <p:spPr/>
        <p:txBody>
          <a:bodyPr>
            <a:normAutofit/>
          </a:bodyPr>
          <a:lstStyle/>
          <a:p>
            <a:pPr algn="just"/>
            <a:r>
              <a:rPr lang="en-US" dirty="0">
                <a:solidFill>
                  <a:schemeClr val="tx1"/>
                </a:solidFill>
              </a:rPr>
              <a:t>Generation 1 VMs are designed to emulate the hardware found in a typical computer, and to do this, they use drivers for specific devices, such as an AMI BIOS, an S3 graphics adapter, and an Intel chipset and network adapter. Generation 1 VMs that you create with Windows Server 2012 R2 Hyper-V are completely compatible with all previous Hyper-V versions.</a:t>
            </a:r>
          </a:p>
        </p:txBody>
      </p:sp>
      <p:sp>
        <p:nvSpPr>
          <p:cNvPr id="5" name="Slide Number Placeholder 4"/>
          <p:cNvSpPr>
            <a:spLocks noGrp="1"/>
          </p:cNvSpPr>
          <p:nvPr>
            <p:ph type="sldNum" sz="quarter" idx="12"/>
          </p:nvPr>
        </p:nvSpPr>
        <p:spPr/>
        <p:txBody>
          <a:bodyPr/>
          <a:lstStyle/>
          <a:p>
            <a:fld id="{0FFCD9FE-85A8-4732-8641-B4CD942B9CFA}" type="slidenum">
              <a:rPr lang="en-US" smtClean="0"/>
              <a:pPr/>
              <a:t>30</a:t>
            </a:fld>
            <a:endParaRPr lang="en-US" dirty="0"/>
          </a:p>
        </p:txBody>
      </p:sp>
    </p:spTree>
    <p:extLst>
      <p:ext uri="{BB962C8B-B14F-4D97-AF65-F5344CB8AC3E}">
        <p14:creationId xmlns:p14="http://schemas.microsoft.com/office/powerpoint/2010/main" val="27582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Generation 1 and Generation 2 VMs</a:t>
            </a:r>
          </a:p>
        </p:txBody>
      </p:sp>
      <p:sp>
        <p:nvSpPr>
          <p:cNvPr id="3" name="Content Placeholder 2"/>
          <p:cNvSpPr>
            <a:spLocks noGrp="1"/>
          </p:cNvSpPr>
          <p:nvPr>
            <p:ph idx="1"/>
          </p:nvPr>
        </p:nvSpPr>
        <p:spPr/>
        <p:txBody>
          <a:bodyPr>
            <a:normAutofit fontScale="92500" lnSpcReduction="10000"/>
          </a:bodyPr>
          <a:lstStyle/>
          <a:p>
            <a:r>
              <a:rPr lang="en-US" dirty="0">
                <a:solidFill>
                  <a:schemeClr val="tx1"/>
                </a:solidFill>
              </a:rPr>
              <a:t>In Windows Server 2012 R2, the Hyper-V implementation includes a new type of virtual machine, which it refers to as Generation 2. </a:t>
            </a:r>
          </a:p>
          <a:p>
            <a:r>
              <a:rPr lang="en-US" dirty="0">
                <a:solidFill>
                  <a:schemeClr val="tx1"/>
                </a:solidFill>
              </a:rPr>
              <a:t>Generation 2 VMs use synthetic drivers and software-based devices instead, and provide advantages that include the following:</a:t>
            </a:r>
          </a:p>
          <a:p>
            <a:pPr lvl="1"/>
            <a:r>
              <a:rPr lang="en-US" dirty="0">
                <a:solidFill>
                  <a:schemeClr val="tx1"/>
                </a:solidFill>
              </a:rPr>
              <a:t>UEFI boot</a:t>
            </a:r>
          </a:p>
          <a:p>
            <a:pPr lvl="1"/>
            <a:r>
              <a:rPr lang="en-US" dirty="0">
                <a:solidFill>
                  <a:schemeClr val="tx1"/>
                </a:solidFill>
              </a:rPr>
              <a:t>SCSI disks</a:t>
            </a:r>
          </a:p>
          <a:p>
            <a:r>
              <a:rPr lang="en-US" dirty="0">
                <a:solidFill>
                  <a:schemeClr val="tx1"/>
                </a:solidFill>
              </a:rPr>
              <a:t>Generation 2 VMs only support Windows Server 2012, Windows Server 2012 R2, and Windows 8 (64-bit).</a:t>
            </a:r>
          </a:p>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0FFCD9FE-85A8-4732-8641-B4CD942B9CFA}" type="slidenum">
              <a:rPr lang="en-US" smtClean="0"/>
              <a:pPr/>
              <a:t>31</a:t>
            </a:fld>
            <a:endParaRPr lang="en-US" dirty="0"/>
          </a:p>
        </p:txBody>
      </p:sp>
    </p:spTree>
    <p:extLst>
      <p:ext uri="{BB962C8B-B14F-4D97-AF65-F5344CB8AC3E}">
        <p14:creationId xmlns:p14="http://schemas.microsoft.com/office/powerpoint/2010/main" val="18290116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Creating Generation 1 and Generation 2 VMs</a:t>
            </a:r>
          </a:p>
        </p:txBody>
      </p:sp>
      <p:sp>
        <p:nvSpPr>
          <p:cNvPr id="3" name="Content Placeholder 2"/>
          <p:cNvSpPr>
            <a:spLocks noGrp="1"/>
          </p:cNvSpPr>
          <p:nvPr>
            <p:ph idx="1"/>
          </p:nvPr>
        </p:nvSpPr>
        <p:spPr/>
        <p:txBody>
          <a:bodyPr/>
          <a:lstStyle/>
          <a:p>
            <a:endParaRPr lang="en-US"/>
          </a:p>
        </p:txBody>
      </p:sp>
      <p:sp>
        <p:nvSpPr>
          <p:cNvPr id="5" name="Slide Number Placeholder 4"/>
          <p:cNvSpPr>
            <a:spLocks noGrp="1"/>
          </p:cNvSpPr>
          <p:nvPr>
            <p:ph type="sldNum" sz="quarter" idx="12"/>
          </p:nvPr>
        </p:nvSpPr>
        <p:spPr/>
        <p:txBody>
          <a:bodyPr/>
          <a:lstStyle/>
          <a:p>
            <a:fld id="{0FFCD9FE-85A8-4732-8641-B4CD942B9CFA}" type="slidenum">
              <a:rPr lang="en-US" smtClean="0"/>
              <a:pPr/>
              <a:t>32</a:t>
            </a:fld>
            <a:endParaRPr lang="en-US" dirty="0"/>
          </a:p>
        </p:txBody>
      </p:sp>
      <p:pic>
        <p:nvPicPr>
          <p:cNvPr id="4098" name="Picture 2" descr="C:\Users\Pat\Desktop\Updates\70-410 Second Edition\70-410 PowerPoints Second Edition\Pics\70-410 R2 Lesson 7 New Images\fg07-10new.bm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640024"/>
            <a:ext cx="6075363" cy="4570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99929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Installing an </a:t>
            </a:r>
            <a:br>
              <a:rPr lang="en-US" dirty="0"/>
            </a:br>
            <a:r>
              <a:rPr lang="en-US" dirty="0"/>
              <a:t>Operating System</a:t>
            </a:r>
          </a:p>
        </p:txBody>
      </p:sp>
      <p:sp>
        <p:nvSpPr>
          <p:cNvPr id="3" name="Content Placeholder 2"/>
          <p:cNvSpPr>
            <a:spLocks noGrp="1"/>
          </p:cNvSpPr>
          <p:nvPr>
            <p:ph idx="1"/>
          </p:nvPr>
        </p:nvSpPr>
        <p:spPr>
          <a:xfrm>
            <a:off x="457200" y="1600200"/>
            <a:ext cx="8229600" cy="4756150"/>
          </a:xfrm>
        </p:spPr>
        <p:txBody>
          <a:bodyPr>
            <a:normAutofit fontScale="40000" lnSpcReduction="20000"/>
          </a:bodyPr>
          <a:lstStyle/>
          <a:p>
            <a:pPr>
              <a:buNone/>
            </a:pPr>
            <a:r>
              <a:rPr lang="en-US" sz="5100" b="1" dirty="0">
                <a:solidFill>
                  <a:schemeClr val="tx1"/>
                </a:solidFill>
              </a:rPr>
              <a:t>Hyper-V in Windows Server 2012 supports the following as operating systems you can install in virtual machines:</a:t>
            </a:r>
          </a:p>
          <a:p>
            <a:pPr lvl="1"/>
            <a:r>
              <a:rPr lang="en-US" sz="3600" b="1" dirty="0">
                <a:solidFill>
                  <a:schemeClr val="tx1"/>
                </a:solidFill>
              </a:rPr>
              <a:t>Windows Server 2012 R2</a:t>
            </a:r>
          </a:p>
          <a:p>
            <a:pPr lvl="1"/>
            <a:r>
              <a:rPr lang="en-US" sz="3600" b="1" dirty="0">
                <a:solidFill>
                  <a:schemeClr val="tx1"/>
                </a:solidFill>
              </a:rPr>
              <a:t>Windows Server 2012</a:t>
            </a:r>
          </a:p>
          <a:p>
            <a:pPr lvl="1"/>
            <a:r>
              <a:rPr lang="en-US" sz="3600" b="1" dirty="0">
                <a:solidFill>
                  <a:schemeClr val="tx1"/>
                </a:solidFill>
              </a:rPr>
              <a:t>Windows Server 2008 R2</a:t>
            </a:r>
          </a:p>
          <a:p>
            <a:pPr lvl="1"/>
            <a:r>
              <a:rPr lang="en-US" sz="3600" b="1" dirty="0">
                <a:solidFill>
                  <a:schemeClr val="tx1"/>
                </a:solidFill>
              </a:rPr>
              <a:t>Windows Server 2008 </a:t>
            </a:r>
          </a:p>
          <a:p>
            <a:pPr lvl="1"/>
            <a:r>
              <a:rPr lang="en-US" sz="3600" b="1" dirty="0">
                <a:solidFill>
                  <a:schemeClr val="tx1"/>
                </a:solidFill>
              </a:rPr>
              <a:t>Windows Home Server 2011</a:t>
            </a:r>
          </a:p>
          <a:p>
            <a:pPr lvl="1"/>
            <a:r>
              <a:rPr lang="en-US" sz="3600" b="1" dirty="0">
                <a:solidFill>
                  <a:schemeClr val="tx1"/>
                </a:solidFill>
              </a:rPr>
              <a:t>Windows Small Business Server 2011</a:t>
            </a:r>
          </a:p>
          <a:p>
            <a:pPr lvl="1"/>
            <a:r>
              <a:rPr lang="en-US" sz="3600" b="1" dirty="0">
                <a:solidFill>
                  <a:schemeClr val="tx1"/>
                </a:solidFill>
              </a:rPr>
              <a:t>Windows Server 2003 R2</a:t>
            </a:r>
          </a:p>
          <a:p>
            <a:pPr lvl="1"/>
            <a:r>
              <a:rPr lang="en-US" sz="3600" b="1" dirty="0">
                <a:solidFill>
                  <a:schemeClr val="tx1"/>
                </a:solidFill>
              </a:rPr>
              <a:t>Windows Server 2003 SP2</a:t>
            </a:r>
          </a:p>
          <a:p>
            <a:pPr lvl="1"/>
            <a:r>
              <a:rPr lang="en-US" sz="3600" b="1" dirty="0">
                <a:solidFill>
                  <a:schemeClr val="tx1"/>
                </a:solidFill>
              </a:rPr>
              <a:t>Windows 8 (including Windows 8.1)</a:t>
            </a:r>
          </a:p>
          <a:p>
            <a:pPr lvl="1"/>
            <a:r>
              <a:rPr lang="en-US" sz="3600" b="1" dirty="0">
                <a:solidFill>
                  <a:schemeClr val="tx1"/>
                </a:solidFill>
              </a:rPr>
              <a:t>Windows 7 Enterprise and Ultimate</a:t>
            </a:r>
          </a:p>
          <a:p>
            <a:pPr lvl="1"/>
            <a:r>
              <a:rPr lang="en-US" sz="3600" b="1" dirty="0">
                <a:solidFill>
                  <a:schemeClr val="tx1"/>
                </a:solidFill>
              </a:rPr>
              <a:t>Windows Vista Business, Enterprise, and Ultimate SP2</a:t>
            </a:r>
          </a:p>
          <a:p>
            <a:pPr lvl="1"/>
            <a:r>
              <a:rPr lang="en-US" sz="3600" b="1" dirty="0">
                <a:solidFill>
                  <a:schemeClr val="tx1"/>
                </a:solidFill>
              </a:rPr>
              <a:t>Windows XP Professional SP3</a:t>
            </a:r>
          </a:p>
          <a:p>
            <a:pPr lvl="1"/>
            <a:r>
              <a:rPr lang="en-US" sz="3600" b="1" dirty="0">
                <a:solidFill>
                  <a:schemeClr val="tx1"/>
                </a:solidFill>
              </a:rPr>
              <a:t>Windows XP x64 Professional SP2 		</a:t>
            </a:r>
          </a:p>
          <a:p>
            <a:pPr lvl="1"/>
            <a:r>
              <a:rPr lang="en-US" sz="3600" b="1" dirty="0" err="1">
                <a:solidFill>
                  <a:schemeClr val="tx1"/>
                </a:solidFill>
              </a:rPr>
              <a:t>CentOS</a:t>
            </a:r>
            <a:r>
              <a:rPr lang="en-US" sz="3600" b="1" dirty="0">
                <a:solidFill>
                  <a:schemeClr val="tx1"/>
                </a:solidFill>
              </a:rPr>
              <a:t> 6.0–6.2</a:t>
            </a:r>
          </a:p>
          <a:p>
            <a:pPr lvl="1"/>
            <a:r>
              <a:rPr lang="en-US" sz="3600" b="1" dirty="0">
                <a:solidFill>
                  <a:schemeClr val="tx1"/>
                </a:solidFill>
              </a:rPr>
              <a:t>Red Hat Enterprise Linux 6.0–6.2</a:t>
            </a:r>
          </a:p>
          <a:p>
            <a:pPr lvl="1"/>
            <a:r>
              <a:rPr lang="en-US" sz="3600" b="1" dirty="0">
                <a:solidFill>
                  <a:schemeClr val="tx1"/>
                </a:solidFill>
              </a:rPr>
              <a:t>SUSE Linux Enterprise Server 11 SP2</a:t>
            </a:r>
            <a:endParaRPr lang="en-US" sz="2900" b="1" dirty="0">
              <a:solidFill>
                <a:schemeClr val="tx1"/>
              </a:solidFill>
            </a:endParaRPr>
          </a:p>
          <a:p>
            <a:pPr>
              <a:buNone/>
            </a:pPr>
            <a:endParaRPr lang="en-US" b="1" dirty="0">
              <a:solidFill>
                <a:schemeClr val="tx1"/>
              </a:solidFill>
            </a:endParaRPr>
          </a:p>
        </p:txBody>
      </p:sp>
      <p:sp>
        <p:nvSpPr>
          <p:cNvPr id="5" name="Slide Number Placeholder 4"/>
          <p:cNvSpPr>
            <a:spLocks noGrp="1"/>
          </p:cNvSpPr>
          <p:nvPr>
            <p:ph type="sldNum" sz="quarter" idx="12"/>
          </p:nvPr>
        </p:nvSpPr>
        <p:spPr/>
        <p:txBody>
          <a:bodyPr/>
          <a:lstStyle/>
          <a:p>
            <a:fld id="{0FFCD9FE-85A8-4732-8641-B4CD942B9CFA}" type="slidenum">
              <a:rPr lang="en-US" smtClean="0"/>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Installing an </a:t>
            </a:r>
            <a:br>
              <a:rPr lang="en-US" dirty="0"/>
            </a:br>
            <a:r>
              <a:rPr lang="en-US" dirty="0"/>
              <a:t>Operating System</a:t>
            </a:r>
          </a:p>
        </p:txBody>
      </p:sp>
      <p:sp>
        <p:nvSpPr>
          <p:cNvPr id="3" name="Content Placeholder 2"/>
          <p:cNvSpPr>
            <a:spLocks noGrp="1"/>
          </p:cNvSpPr>
          <p:nvPr>
            <p:ph idx="1"/>
          </p:nvPr>
        </p:nvSpPr>
        <p:spPr/>
        <p:txBody>
          <a:bodyPr>
            <a:normAutofit lnSpcReduction="10000"/>
          </a:bodyPr>
          <a:lstStyle/>
          <a:p>
            <a:r>
              <a:rPr lang="en-US" dirty="0">
                <a:solidFill>
                  <a:schemeClr val="tx1"/>
                </a:solidFill>
              </a:rPr>
              <a:t>To start an installation from a DVD, or image file, you must configure the VM’s virtual DVD drive in the Settings dialog box. Enter one of the following options:</a:t>
            </a:r>
          </a:p>
          <a:p>
            <a:pPr lvl="1"/>
            <a:r>
              <a:rPr lang="en-US" b="1" dirty="0">
                <a:solidFill>
                  <a:schemeClr val="tx1"/>
                </a:solidFill>
              </a:rPr>
              <a:t>None</a:t>
            </a:r>
            <a:r>
              <a:rPr lang="en-US" dirty="0">
                <a:solidFill>
                  <a:schemeClr val="tx1"/>
                </a:solidFill>
              </a:rPr>
              <a:t>: The equivalent of a drive with no disk inserted.</a:t>
            </a:r>
          </a:p>
          <a:p>
            <a:pPr lvl="1"/>
            <a:r>
              <a:rPr lang="en-US" b="1" dirty="0">
                <a:solidFill>
                  <a:schemeClr val="tx1"/>
                </a:solidFill>
              </a:rPr>
              <a:t>Image file</a:t>
            </a:r>
            <a:r>
              <a:rPr lang="en-US" dirty="0">
                <a:solidFill>
                  <a:schemeClr val="tx1"/>
                </a:solidFill>
              </a:rPr>
              <a:t>: Points to a disk image file with an .</a:t>
            </a:r>
            <a:r>
              <a:rPr lang="en-US" dirty="0" err="1">
                <a:solidFill>
                  <a:schemeClr val="tx1"/>
                </a:solidFill>
              </a:rPr>
              <a:t>iso</a:t>
            </a:r>
            <a:r>
              <a:rPr lang="en-US" dirty="0">
                <a:solidFill>
                  <a:schemeClr val="tx1"/>
                </a:solidFill>
              </a:rPr>
              <a:t> extension stored on one of the host computer’s drives or on a shared network drive.</a:t>
            </a:r>
          </a:p>
          <a:p>
            <a:pPr lvl="1"/>
            <a:r>
              <a:rPr lang="en-US" b="1" dirty="0">
                <a:solidFill>
                  <a:schemeClr val="tx1"/>
                </a:solidFill>
              </a:rPr>
              <a:t>Physical CD/DVD drive</a:t>
            </a:r>
            <a:r>
              <a:rPr lang="en-US" dirty="0">
                <a:solidFill>
                  <a:schemeClr val="tx1"/>
                </a:solidFill>
              </a:rPr>
              <a:t>: Links the virtual DVD drive to one of the physical DVD drives in the host computer.</a:t>
            </a:r>
          </a:p>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0FFCD9FE-85A8-4732-8641-B4CD942B9CFA}" type="slidenum">
              <a:rPr lang="en-US" smtClean="0"/>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Configuring Guest Integration Services</a:t>
            </a:r>
          </a:p>
        </p:txBody>
      </p:sp>
      <p:sp>
        <p:nvSpPr>
          <p:cNvPr id="3" name="Content Placeholder 2"/>
          <p:cNvSpPr>
            <a:spLocks noGrp="1"/>
          </p:cNvSpPr>
          <p:nvPr>
            <p:ph idx="1"/>
          </p:nvPr>
        </p:nvSpPr>
        <p:spPr/>
        <p:txBody>
          <a:bodyPr>
            <a:normAutofit fontScale="47500" lnSpcReduction="20000"/>
          </a:bodyPr>
          <a:lstStyle/>
          <a:p>
            <a:pPr>
              <a:buNone/>
            </a:pPr>
            <a:r>
              <a:rPr lang="en-US" sz="4000" dirty="0">
                <a:solidFill>
                  <a:schemeClr val="tx1"/>
                </a:solidFill>
              </a:rPr>
              <a:t>Some of the functions added to solve compatibility issues with guest operating systems (OSs):</a:t>
            </a:r>
          </a:p>
          <a:p>
            <a:pPr>
              <a:buFont typeface="Arial"/>
              <a:buChar char="•"/>
            </a:pPr>
            <a:r>
              <a:rPr lang="en-US" sz="4000" b="1" dirty="0">
                <a:solidFill>
                  <a:schemeClr val="tx1"/>
                </a:solidFill>
              </a:rPr>
              <a:t>Operating system shutdown:</a:t>
            </a:r>
            <a:r>
              <a:rPr lang="en-US" sz="4000" dirty="0">
                <a:solidFill>
                  <a:schemeClr val="tx1"/>
                </a:solidFill>
              </a:rPr>
              <a:t> Enables the Hyper-V Manager console to remotely shut down a guest OS in a controlled manner, eliminating the need for an administrator to log on and manually shut the system down.</a:t>
            </a:r>
          </a:p>
          <a:p>
            <a:pPr>
              <a:buFont typeface="Arial"/>
              <a:buChar char="•"/>
            </a:pPr>
            <a:r>
              <a:rPr lang="en-US" sz="4000" b="1" dirty="0">
                <a:solidFill>
                  <a:schemeClr val="tx1"/>
                </a:solidFill>
              </a:rPr>
              <a:t>Time synchronization</a:t>
            </a:r>
            <a:r>
              <a:rPr lang="en-US" sz="4000" dirty="0">
                <a:solidFill>
                  <a:schemeClr val="tx1"/>
                </a:solidFill>
              </a:rPr>
              <a:t>: Enables Hyper-V to synchronize the OS clocks in parent and child partitions. </a:t>
            </a:r>
          </a:p>
          <a:p>
            <a:pPr>
              <a:buFont typeface="Arial"/>
              <a:buChar char="•"/>
            </a:pPr>
            <a:r>
              <a:rPr lang="en-US" sz="4000" b="1" dirty="0">
                <a:solidFill>
                  <a:schemeClr val="tx1"/>
                </a:solidFill>
              </a:rPr>
              <a:t>Data Exchange</a:t>
            </a:r>
            <a:r>
              <a:rPr lang="en-US" sz="4000" dirty="0">
                <a:solidFill>
                  <a:schemeClr val="tx1"/>
                </a:solidFill>
              </a:rPr>
              <a:t>: Enables the OSs on the parent and child partitions to exchange information, such as OS version information and fully qualified domain names. </a:t>
            </a:r>
          </a:p>
          <a:p>
            <a:pPr>
              <a:buFont typeface="Arial"/>
              <a:buChar char="•"/>
            </a:pPr>
            <a:r>
              <a:rPr lang="en-US" sz="4000" b="1" dirty="0">
                <a:solidFill>
                  <a:schemeClr val="tx1"/>
                </a:solidFill>
              </a:rPr>
              <a:t>Heartbeat</a:t>
            </a:r>
            <a:r>
              <a:rPr lang="en-US" sz="4000" dirty="0">
                <a:solidFill>
                  <a:schemeClr val="tx1"/>
                </a:solidFill>
              </a:rPr>
              <a:t>: Implements a service in which the parent partition sends regular heartbeat signals to the child partitions, which are expected to respond in kind. A failure of a child partition to respond indicates that the guest OS has frozen or malfunctioned.  </a:t>
            </a:r>
          </a:p>
          <a:p>
            <a:pPr>
              <a:buFont typeface="Arial"/>
              <a:buChar char="•"/>
            </a:pPr>
            <a:r>
              <a:rPr lang="en-US" sz="4000" b="1" dirty="0">
                <a:solidFill>
                  <a:schemeClr val="tx1"/>
                </a:solidFill>
              </a:rPr>
              <a:t>Backup</a:t>
            </a:r>
            <a:r>
              <a:rPr lang="en-US" sz="4000" dirty="0">
                <a:solidFill>
                  <a:schemeClr val="tx1"/>
                </a:solidFill>
              </a:rPr>
              <a:t>: Allows backup of Windows VMs using Volume Shadow Copy Services.</a:t>
            </a:r>
          </a:p>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0FFCD9FE-85A8-4732-8641-B4CD942B9CFA}" type="slidenum">
              <a:rPr lang="en-US" smtClean="0"/>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 Guest Integration Services</a:t>
            </a:r>
          </a:p>
        </p:txBody>
      </p:sp>
      <p:sp>
        <p:nvSpPr>
          <p:cNvPr id="4" name="Text Placeholder 3"/>
          <p:cNvSpPr>
            <a:spLocks noGrp="1"/>
          </p:cNvSpPr>
          <p:nvPr>
            <p:ph type="body" sz="half" idx="2"/>
          </p:nvPr>
        </p:nvSpPr>
        <p:spPr>
          <a:xfrm>
            <a:off x="1679576" y="5334000"/>
            <a:ext cx="5711824" cy="1009650"/>
          </a:xfrm>
        </p:spPr>
        <p:txBody>
          <a:bodyPr/>
          <a:lstStyle/>
          <a:p>
            <a:r>
              <a:rPr lang="en-US" b="1" dirty="0">
                <a:solidFill>
                  <a:schemeClr val="tx1"/>
                </a:solidFill>
              </a:rPr>
              <a:t>Launching Hyper-V Integration Services</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36</a:t>
            </a:fld>
            <a:endParaRPr lang="en-US" dirty="0"/>
          </a:p>
        </p:txBody>
      </p:sp>
      <p:grpSp>
        <p:nvGrpSpPr>
          <p:cNvPr id="7" name="Group 6"/>
          <p:cNvGrpSpPr>
            <a:grpSpLocks noGrp="1" noUngrp="1" noChangeAspect="1"/>
          </p:cNvGrpSpPr>
          <p:nvPr/>
        </p:nvGrpSpPr>
        <p:grpSpPr>
          <a:xfrm>
            <a:off x="2743200" y="1676400"/>
            <a:ext cx="3562350" cy="3633125"/>
            <a:chOff x="1695450" y="685800"/>
            <a:chExt cx="5753100" cy="5867400"/>
          </a:xfrm>
        </p:grpSpPr>
        <p:pic>
          <p:nvPicPr>
            <p:cNvPr id="8" name="Picture 7" descr="fg07-23"/>
            <p:cNvPicPr>
              <a:picLocks noRot="1" noChangeAspect="1" noMove="1" noResize="1"/>
            </p:cNvPicPr>
            <p:nvPr isPhoto="1"/>
          </p:nvPicPr>
          <p:blipFill>
            <a:blip r:embed="rId2">
              <a:lum/>
              <a:extLst>
                <a:ext uri="{28A0092B-C50C-407E-A947-70E740481C1C}">
                  <a14:useLocalDpi xmlns:a14="http://schemas.microsoft.com/office/drawing/2010/main" val="0"/>
                </a:ext>
              </a:extLst>
            </a:blip>
            <a:stretch>
              <a:fillRect/>
            </a:stretch>
          </p:blipFill>
          <p:spPr>
            <a:xfrm>
              <a:off x="1695450" y="685800"/>
              <a:ext cx="5753100" cy="5486400"/>
            </a:xfrm>
            <a:prstGeom prst="rect">
              <a:avLst/>
            </a:prstGeom>
            <a:noFill/>
            <a:ln>
              <a:noFill/>
            </a:ln>
          </p:spPr>
        </p:pic>
        <p:sp>
          <p:nvSpPr>
            <p:cNvPr id="9" name="Rectangle 8"/>
            <p:cNvSpPr/>
            <p:nvPr/>
          </p:nvSpPr>
          <p:spPr>
            <a:xfrm>
              <a:off x="1695450" y="6210300"/>
              <a:ext cx="5753100" cy="342900"/>
            </a:xfrm>
            <a:prstGeom prst="rect">
              <a:avLst/>
            </a:prstGeom>
            <a:noFill/>
            <a:ln>
              <a:noFill/>
            </a:ln>
          </p:spPr>
          <p:txBody>
            <a:bodyPr anchor="ctr">
              <a:normAutofit fontScale="32500" lnSpcReduction="20000"/>
            </a:bodyPr>
            <a:lstStyle/>
            <a:p>
              <a:pPr algn="ctr"/>
              <a:endParaRPr lang="en-US" sz="2400" dirty="0"/>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Installing Guest </a:t>
            </a:r>
            <a:br>
              <a:rPr lang="en-US" dirty="0"/>
            </a:br>
            <a:r>
              <a:rPr lang="en-US" dirty="0"/>
              <a:t>Integration Services</a:t>
            </a:r>
          </a:p>
        </p:txBody>
      </p:sp>
      <p:sp>
        <p:nvSpPr>
          <p:cNvPr id="4" name="Text Placeholder 3"/>
          <p:cNvSpPr>
            <a:spLocks noGrp="1"/>
          </p:cNvSpPr>
          <p:nvPr>
            <p:ph type="body" sz="half" idx="2"/>
          </p:nvPr>
        </p:nvSpPr>
        <p:spPr/>
        <p:txBody>
          <a:bodyPr/>
          <a:lstStyle/>
          <a:p>
            <a:r>
              <a:rPr lang="en-US" dirty="0"/>
              <a:t>Integration Services settings for a virtual machine</a:t>
            </a:r>
          </a:p>
          <a:p>
            <a:endParaRPr lang="en-US" dirty="0"/>
          </a:p>
        </p:txBody>
      </p:sp>
      <p:sp>
        <p:nvSpPr>
          <p:cNvPr id="6" name="Slide Number Placeholder 5"/>
          <p:cNvSpPr>
            <a:spLocks noGrp="1"/>
          </p:cNvSpPr>
          <p:nvPr>
            <p:ph type="sldNum" sz="quarter" idx="12"/>
          </p:nvPr>
        </p:nvSpPr>
        <p:spPr/>
        <p:txBody>
          <a:bodyPr/>
          <a:lstStyle/>
          <a:p>
            <a:fld id="{0FFCD9FE-85A8-4732-8641-B4CD942B9CFA}" type="slidenum">
              <a:rPr lang="en-US" smtClean="0"/>
              <a:pPr/>
              <a:t>37</a:t>
            </a:fld>
            <a:endParaRPr lang="en-US" dirty="0"/>
          </a:p>
        </p:txBody>
      </p:sp>
      <p:pic>
        <p:nvPicPr>
          <p:cNvPr id="5122" name="Picture 2" descr="C:\Users\Pat\Desktop\Updates\70-410 Second Edition\70-410 PowerPoints Second Edition\Pics\70-410 R2 Lesson 7 New Images\fg07-12new.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151860"/>
            <a:ext cx="5414446" cy="5105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Enhanced Session Mode</a:t>
            </a:r>
          </a:p>
        </p:txBody>
      </p:sp>
      <p:sp>
        <p:nvSpPr>
          <p:cNvPr id="3" name="Content Placeholder 2"/>
          <p:cNvSpPr>
            <a:spLocks noGrp="1"/>
          </p:cNvSpPr>
          <p:nvPr>
            <p:ph idx="1"/>
          </p:nvPr>
        </p:nvSpPr>
        <p:spPr/>
        <p:txBody>
          <a:bodyPr>
            <a:normAutofit lnSpcReduction="10000"/>
          </a:bodyPr>
          <a:lstStyle/>
          <a:p>
            <a:pPr algn="just"/>
            <a:r>
              <a:rPr lang="en-US" dirty="0">
                <a:solidFill>
                  <a:schemeClr val="tx1"/>
                </a:solidFill>
              </a:rPr>
              <a:t>In previous versions of Hyper-V, when you open a Virtual Machine Connection window in the Hyper-V Manager console, you receive mouse and keyboard connectivity, plus a limited cut and paste functionality. </a:t>
            </a:r>
          </a:p>
          <a:p>
            <a:pPr algn="just"/>
            <a:r>
              <a:rPr lang="en-US" dirty="0">
                <a:solidFill>
                  <a:schemeClr val="tx1"/>
                </a:solidFill>
              </a:rPr>
              <a:t>To obtain any further access, such as audio or print functionality, you could establish a Remote Desktop Services connection to the VM, but this requires the computers to be connected to the same network, which is not always possible. </a:t>
            </a:r>
          </a:p>
          <a:p>
            <a:pPr algn="just"/>
            <a:endParaRPr lang="en-US" dirty="0">
              <a:solidFill>
                <a:schemeClr val="tx1"/>
              </a:solidFill>
            </a:endParaRPr>
          </a:p>
        </p:txBody>
      </p:sp>
      <p:sp>
        <p:nvSpPr>
          <p:cNvPr id="5" name="Slide Number Placeholder 4"/>
          <p:cNvSpPr>
            <a:spLocks noGrp="1"/>
          </p:cNvSpPr>
          <p:nvPr>
            <p:ph type="sldNum" sz="quarter" idx="12"/>
          </p:nvPr>
        </p:nvSpPr>
        <p:spPr/>
        <p:txBody>
          <a:bodyPr/>
          <a:lstStyle/>
          <a:p>
            <a:fld id="{0FFCD9FE-85A8-4732-8641-B4CD942B9CFA}" type="slidenum">
              <a:rPr lang="en-US" smtClean="0"/>
              <a:pPr/>
              <a:t>38</a:t>
            </a:fld>
            <a:endParaRPr lang="en-US" dirty="0"/>
          </a:p>
        </p:txBody>
      </p:sp>
    </p:spTree>
    <p:extLst>
      <p:ext uri="{BB962C8B-B14F-4D97-AF65-F5344CB8AC3E}">
        <p14:creationId xmlns:p14="http://schemas.microsoft.com/office/powerpoint/2010/main" val="12747416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Enhanced Session Mode</a:t>
            </a:r>
          </a:p>
        </p:txBody>
      </p:sp>
      <p:sp>
        <p:nvSpPr>
          <p:cNvPr id="3" name="Content Placeholder 2"/>
          <p:cNvSpPr>
            <a:spLocks noGrp="1"/>
          </p:cNvSpPr>
          <p:nvPr>
            <p:ph idx="1"/>
          </p:nvPr>
        </p:nvSpPr>
        <p:spPr/>
        <p:txBody>
          <a:bodyPr>
            <a:normAutofit fontScale="85000" lnSpcReduction="10000"/>
          </a:bodyPr>
          <a:lstStyle/>
          <a:p>
            <a:r>
              <a:rPr lang="en-US" dirty="0">
                <a:solidFill>
                  <a:schemeClr val="tx1"/>
                </a:solidFill>
              </a:rPr>
              <a:t>Starting in Windows Server 2012 R2, Hyper-V supports an enhanced session mode that enables the Virtual Machine Connection window to redirect any of the following local resources to VMs running Windows Server 2012 R2 or Windows 8.1:</a:t>
            </a:r>
          </a:p>
          <a:p>
            <a:pPr lvl="1"/>
            <a:r>
              <a:rPr lang="en-US" dirty="0">
                <a:solidFill>
                  <a:schemeClr val="tx1"/>
                </a:solidFill>
              </a:rPr>
              <a:t>Display configuration</a:t>
            </a:r>
          </a:p>
          <a:p>
            <a:pPr lvl="1"/>
            <a:r>
              <a:rPr lang="en-US" dirty="0">
                <a:solidFill>
                  <a:schemeClr val="tx1"/>
                </a:solidFill>
              </a:rPr>
              <a:t>Audio</a:t>
            </a:r>
          </a:p>
          <a:p>
            <a:pPr lvl="1"/>
            <a:r>
              <a:rPr lang="en-US" dirty="0">
                <a:solidFill>
                  <a:schemeClr val="tx1"/>
                </a:solidFill>
              </a:rPr>
              <a:t>Printers</a:t>
            </a:r>
          </a:p>
          <a:p>
            <a:pPr lvl="1"/>
            <a:r>
              <a:rPr lang="en-US" dirty="0">
                <a:solidFill>
                  <a:schemeClr val="tx1"/>
                </a:solidFill>
              </a:rPr>
              <a:t>Clipboard</a:t>
            </a:r>
          </a:p>
          <a:p>
            <a:pPr lvl="1"/>
            <a:r>
              <a:rPr lang="en-US" dirty="0">
                <a:solidFill>
                  <a:schemeClr val="tx1"/>
                </a:solidFill>
              </a:rPr>
              <a:t>Smart cards</a:t>
            </a:r>
          </a:p>
          <a:p>
            <a:pPr lvl="1"/>
            <a:r>
              <a:rPr lang="en-US" dirty="0">
                <a:solidFill>
                  <a:schemeClr val="tx1"/>
                </a:solidFill>
              </a:rPr>
              <a:t>USB devices</a:t>
            </a:r>
          </a:p>
          <a:p>
            <a:pPr lvl="1"/>
            <a:r>
              <a:rPr lang="en-US" dirty="0">
                <a:solidFill>
                  <a:schemeClr val="tx1"/>
                </a:solidFill>
              </a:rPr>
              <a:t>Drives</a:t>
            </a:r>
          </a:p>
          <a:p>
            <a:pPr lvl="1"/>
            <a:r>
              <a:rPr lang="en-US" dirty="0">
                <a:solidFill>
                  <a:schemeClr val="tx1"/>
                </a:solidFill>
              </a:rPr>
              <a:t>Supported Plug and Play devices</a:t>
            </a:r>
          </a:p>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0FFCD9FE-85A8-4732-8641-B4CD942B9CFA}" type="slidenum">
              <a:rPr lang="en-US" smtClean="0"/>
              <a:pPr/>
              <a:t>39</a:t>
            </a:fld>
            <a:endParaRPr lang="en-US" dirty="0"/>
          </a:p>
        </p:txBody>
      </p:sp>
    </p:spTree>
    <p:extLst>
      <p:ext uri="{BB962C8B-B14F-4D97-AF65-F5344CB8AC3E}">
        <p14:creationId xmlns:p14="http://schemas.microsoft.com/office/powerpoint/2010/main" val="10385238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Allocating Memory</a:t>
            </a:r>
          </a:p>
        </p:txBody>
      </p:sp>
      <p:sp>
        <p:nvSpPr>
          <p:cNvPr id="3" name="Content Placeholder 2"/>
          <p:cNvSpPr>
            <a:spLocks noGrp="1"/>
          </p:cNvSpPr>
          <p:nvPr>
            <p:ph idx="1"/>
          </p:nvPr>
        </p:nvSpPr>
        <p:spPr/>
        <p:txBody>
          <a:bodyPr/>
          <a:lstStyle/>
          <a:p>
            <a:r>
              <a:rPr lang="en-US" dirty="0">
                <a:solidFill>
                  <a:schemeClr val="tx1"/>
                </a:solidFill>
              </a:rPr>
              <a:t>When you create a new VM you specify the amount of memory allocated to the VM.</a:t>
            </a:r>
          </a:p>
          <a:p>
            <a:r>
              <a:rPr lang="en-US" dirty="0">
                <a:solidFill>
                  <a:schemeClr val="tx1"/>
                </a:solidFill>
              </a:rPr>
              <a:t>Based on the amount of physical memory on the computer.</a:t>
            </a:r>
          </a:p>
          <a:p>
            <a:r>
              <a:rPr lang="en-US" dirty="0">
                <a:solidFill>
                  <a:schemeClr val="tx1"/>
                </a:solidFill>
              </a:rPr>
              <a:t>Change the allocated memory by shutting down the VM, opening Settings, and changing the Startup Ram setting.</a:t>
            </a:r>
          </a:p>
          <a:p>
            <a:r>
              <a:rPr lang="en-US" dirty="0">
                <a:solidFill>
                  <a:schemeClr val="tx1"/>
                </a:solidFill>
              </a:rPr>
              <a:t>Experiment to find the optimum performance.</a:t>
            </a:r>
          </a:p>
        </p:txBody>
      </p:sp>
      <p:sp>
        <p:nvSpPr>
          <p:cNvPr id="5" name="Slide Number Placeholder 4"/>
          <p:cNvSpPr>
            <a:spLocks noGrp="1"/>
          </p:cNvSpPr>
          <p:nvPr>
            <p:ph type="sldNum" sz="quarter" idx="12"/>
          </p:nvPr>
        </p:nvSpPr>
        <p:spPr/>
        <p:txBody>
          <a:bodyPr/>
          <a:lstStyle/>
          <a:p>
            <a:fld id="{0FFCD9FE-85A8-4732-8641-B4CD942B9CFA}" type="slidenum">
              <a:rPr lang="en-US" smtClean="0"/>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Dynamic Memory</a:t>
            </a:r>
          </a:p>
        </p:txBody>
      </p:sp>
      <p:sp>
        <p:nvSpPr>
          <p:cNvPr id="3" name="Content Placeholder 2"/>
          <p:cNvSpPr>
            <a:spLocks noGrp="1"/>
          </p:cNvSpPr>
          <p:nvPr>
            <p:ph idx="1"/>
          </p:nvPr>
        </p:nvSpPr>
        <p:spPr/>
        <p:txBody>
          <a:bodyPr>
            <a:normAutofit fontScale="92500" lnSpcReduction="10000"/>
          </a:bodyPr>
          <a:lstStyle/>
          <a:p>
            <a:r>
              <a:rPr lang="en-US" dirty="0">
                <a:solidFill>
                  <a:schemeClr val="tx1"/>
                </a:solidFill>
              </a:rPr>
              <a:t>Allows the VM to automatically reallocate memory to the VM from a shared memory pool as its demands change</a:t>
            </a:r>
          </a:p>
          <a:p>
            <a:r>
              <a:rPr lang="en-US" dirty="0">
                <a:solidFill>
                  <a:schemeClr val="tx1"/>
                </a:solidFill>
              </a:rPr>
              <a:t>Must be enabled by selecting the Enable Dynamic Memory check box on the VM’s memory page, and the following settings must be configured:</a:t>
            </a:r>
          </a:p>
          <a:p>
            <a:pPr lvl="1"/>
            <a:r>
              <a:rPr lang="en-US" dirty="0">
                <a:solidFill>
                  <a:schemeClr val="tx1"/>
                </a:solidFill>
              </a:rPr>
              <a:t>Startup RAM</a:t>
            </a:r>
          </a:p>
          <a:p>
            <a:pPr lvl="1"/>
            <a:r>
              <a:rPr lang="en-US" dirty="0">
                <a:solidFill>
                  <a:schemeClr val="tx1"/>
                </a:solidFill>
              </a:rPr>
              <a:t>Minimum RAM</a:t>
            </a:r>
          </a:p>
          <a:p>
            <a:pPr lvl="1"/>
            <a:r>
              <a:rPr lang="en-US" dirty="0">
                <a:solidFill>
                  <a:schemeClr val="tx1"/>
                </a:solidFill>
              </a:rPr>
              <a:t>Maximum RAM</a:t>
            </a:r>
          </a:p>
          <a:p>
            <a:pPr lvl="1"/>
            <a:r>
              <a:rPr lang="en-US" dirty="0">
                <a:solidFill>
                  <a:schemeClr val="tx1"/>
                </a:solidFill>
              </a:rPr>
              <a:t>Memory Buffer</a:t>
            </a:r>
          </a:p>
          <a:p>
            <a:pPr lvl="1"/>
            <a:r>
              <a:rPr lang="en-US" dirty="0">
                <a:solidFill>
                  <a:schemeClr val="tx1"/>
                </a:solidFill>
              </a:rPr>
              <a:t>Memory Weight</a:t>
            </a:r>
          </a:p>
        </p:txBody>
      </p:sp>
      <p:sp>
        <p:nvSpPr>
          <p:cNvPr id="5" name="Slide Number Placeholder 4"/>
          <p:cNvSpPr>
            <a:spLocks noGrp="1"/>
          </p:cNvSpPr>
          <p:nvPr>
            <p:ph type="sldNum" sz="quarter" idx="12"/>
          </p:nvPr>
        </p:nvSpPr>
        <p:spPr/>
        <p:txBody>
          <a:bodyPr/>
          <a:lstStyle/>
          <a:p>
            <a:fld id="{0FFCD9FE-85A8-4732-8641-B4CD942B9CFA}" type="slidenum">
              <a:rPr lang="en-US" smtClean="0"/>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Monitor Memory Allocation</a:t>
            </a:r>
          </a:p>
        </p:txBody>
      </p:sp>
      <p:sp>
        <p:nvSpPr>
          <p:cNvPr id="4" name="Text Placeholder 3"/>
          <p:cNvSpPr>
            <a:spLocks noGrp="1"/>
          </p:cNvSpPr>
          <p:nvPr>
            <p:ph type="body" sz="half" idx="2"/>
          </p:nvPr>
        </p:nvSpPr>
        <p:spPr>
          <a:xfrm>
            <a:off x="1679576" y="5334000"/>
            <a:ext cx="5711824" cy="685800"/>
          </a:xfrm>
        </p:spPr>
        <p:txBody>
          <a:bodyPr/>
          <a:lstStyle/>
          <a:p>
            <a:r>
              <a:rPr lang="en-US" b="1" dirty="0">
                <a:solidFill>
                  <a:schemeClr val="tx1"/>
                </a:solidFill>
              </a:rPr>
              <a:t>Memory statistics for a virtual machine</a:t>
            </a:r>
          </a:p>
          <a:p>
            <a:endParaRPr lang="en-US" b="1" dirty="0">
              <a:solidFill>
                <a:schemeClr val="tx1"/>
              </a:solidFill>
            </a:endParaRPr>
          </a:p>
        </p:txBody>
      </p:sp>
      <p:sp>
        <p:nvSpPr>
          <p:cNvPr id="5" name="Footer Placeholder 4"/>
          <p:cNvSpPr>
            <a:spLocks noGrp="1"/>
          </p:cNvSpPr>
          <p:nvPr>
            <p:ph type="ftr" sz="quarter" idx="11"/>
          </p:nvPr>
        </p:nvSpPr>
        <p:spPr/>
        <p:txBody>
          <a:bodyPr/>
          <a:lstStyle/>
          <a:p>
            <a:r>
              <a:rPr lang="en-US"/>
              <a:t>© 2013 John Wiley &amp; Sons, Inc.</a:t>
            </a:r>
            <a:endParaRPr lang="en-US" dirty="0"/>
          </a:p>
        </p:txBody>
      </p:sp>
      <p:sp>
        <p:nvSpPr>
          <p:cNvPr id="6" name="Slide Number Placeholder 5"/>
          <p:cNvSpPr>
            <a:spLocks noGrp="1"/>
          </p:cNvSpPr>
          <p:nvPr>
            <p:ph type="sldNum" sz="quarter" idx="12"/>
          </p:nvPr>
        </p:nvSpPr>
        <p:spPr/>
        <p:txBody>
          <a:bodyPr/>
          <a:lstStyle/>
          <a:p>
            <a:fld id="{0FFCD9FE-85A8-4732-8641-B4CD942B9CFA}" type="slidenum">
              <a:rPr lang="en-US" smtClean="0"/>
              <a:pPr/>
              <a:t>42</a:t>
            </a:fld>
            <a:endParaRPr lang="en-US" dirty="0"/>
          </a:p>
        </p:txBody>
      </p:sp>
      <p:pic>
        <p:nvPicPr>
          <p:cNvPr id="6146" name="Picture 2" descr="C:\Users\Pat\Desktop\Updates\70-410 Second Edition\70-410 PowerPoints Second Edition\Pics\70-410 R2 Lesson 7 New Images\fg07-15new.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153" y="1722473"/>
            <a:ext cx="8406352" cy="293315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Configure Smart Paging</a:t>
            </a:r>
          </a:p>
        </p:txBody>
      </p:sp>
      <p:sp>
        <p:nvSpPr>
          <p:cNvPr id="3" name="Content Placeholder 2"/>
          <p:cNvSpPr>
            <a:spLocks noGrp="1"/>
          </p:cNvSpPr>
          <p:nvPr>
            <p:ph idx="1"/>
          </p:nvPr>
        </p:nvSpPr>
        <p:spPr/>
        <p:txBody>
          <a:bodyPr>
            <a:normAutofit lnSpcReduction="10000"/>
          </a:bodyPr>
          <a:lstStyle/>
          <a:p>
            <a:r>
              <a:rPr lang="en-US" b="1" dirty="0">
                <a:solidFill>
                  <a:schemeClr val="tx1"/>
                </a:solidFill>
              </a:rPr>
              <a:t>Smart paging </a:t>
            </a:r>
            <a:r>
              <a:rPr lang="en-US" dirty="0">
                <a:solidFill>
                  <a:schemeClr val="tx1"/>
                </a:solidFill>
              </a:rPr>
              <a:t>is a new feature.</a:t>
            </a:r>
          </a:p>
          <a:p>
            <a:r>
              <a:rPr lang="en-US" dirty="0">
                <a:solidFill>
                  <a:schemeClr val="tx1"/>
                </a:solidFill>
              </a:rPr>
              <a:t>If a VM has to restart, and there is not enough memory available to allocate its Startup RAM value, the system uses hard disk space to make up the difference and begins paging memory contents to disk.</a:t>
            </a:r>
          </a:p>
          <a:p>
            <a:r>
              <a:rPr lang="en-US" dirty="0">
                <a:solidFill>
                  <a:schemeClr val="tx1"/>
                </a:solidFill>
              </a:rPr>
              <a:t>Because of slow disk access, performance degrades.</a:t>
            </a:r>
          </a:p>
          <a:p>
            <a:r>
              <a:rPr lang="en-US" dirty="0">
                <a:solidFill>
                  <a:schemeClr val="tx1"/>
                </a:solidFill>
              </a:rPr>
              <a:t>Select the fastest possible hard drive for the Smart Paging file.</a:t>
            </a:r>
          </a:p>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0FFCD9FE-85A8-4732-8641-B4CD942B9CFA}" type="slidenum">
              <a:rPr lang="en-US" smtClean="0"/>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Configure Smart Paging</a:t>
            </a:r>
          </a:p>
        </p:txBody>
      </p:sp>
      <p:sp>
        <p:nvSpPr>
          <p:cNvPr id="4" name="Text Placeholder 3"/>
          <p:cNvSpPr>
            <a:spLocks noGrp="1"/>
          </p:cNvSpPr>
          <p:nvPr>
            <p:ph type="body" sz="half" idx="2"/>
          </p:nvPr>
        </p:nvSpPr>
        <p:spPr/>
        <p:txBody>
          <a:bodyPr>
            <a:normAutofit lnSpcReduction="10000"/>
          </a:bodyPr>
          <a:lstStyle/>
          <a:p>
            <a:r>
              <a:rPr lang="en-US" b="1" dirty="0">
                <a:solidFill>
                  <a:schemeClr val="tx1"/>
                </a:solidFill>
              </a:rPr>
              <a:t>The Smart Paging File Location page in a VM’s Settings dialog box</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44</a:t>
            </a:fld>
            <a:endParaRPr lang="en-US" dirty="0"/>
          </a:p>
        </p:txBody>
      </p:sp>
      <p:grpSp>
        <p:nvGrpSpPr>
          <p:cNvPr id="7" name="Group 6"/>
          <p:cNvGrpSpPr>
            <a:grpSpLocks noGrp="1" noUngrp="1" noChangeAspect="1"/>
          </p:cNvGrpSpPr>
          <p:nvPr/>
        </p:nvGrpSpPr>
        <p:grpSpPr>
          <a:xfrm>
            <a:off x="2362200" y="1295400"/>
            <a:ext cx="4584700" cy="4623480"/>
            <a:chOff x="1662113" y="685800"/>
            <a:chExt cx="5818187" cy="5867400"/>
          </a:xfrm>
        </p:grpSpPr>
        <p:pic>
          <p:nvPicPr>
            <p:cNvPr id="8" name="Picture 7" descr="fg07-27"/>
            <p:cNvPicPr>
              <a:picLocks noRot="1" noChangeAspect="1" noMove="1" noResize="1"/>
            </p:cNvPicPr>
            <p:nvPr isPhoto="1"/>
          </p:nvPicPr>
          <p:blipFill>
            <a:blip r:embed="rId2">
              <a:lum/>
              <a:extLst>
                <a:ext uri="{28A0092B-C50C-407E-A947-70E740481C1C}">
                  <a14:useLocalDpi xmlns:a14="http://schemas.microsoft.com/office/drawing/2010/main" val="0"/>
                </a:ext>
              </a:extLst>
            </a:blip>
            <a:stretch>
              <a:fillRect/>
            </a:stretch>
          </p:blipFill>
          <p:spPr>
            <a:xfrm>
              <a:off x="1662113" y="685800"/>
              <a:ext cx="5818187" cy="5486400"/>
            </a:xfrm>
            <a:prstGeom prst="rect">
              <a:avLst/>
            </a:prstGeom>
            <a:noFill/>
            <a:ln>
              <a:noFill/>
            </a:ln>
          </p:spPr>
        </p:pic>
        <p:sp>
          <p:nvSpPr>
            <p:cNvPr id="9" name="Rectangle 8"/>
            <p:cNvSpPr/>
            <p:nvPr/>
          </p:nvSpPr>
          <p:spPr>
            <a:xfrm>
              <a:off x="1662113" y="6210300"/>
              <a:ext cx="5818187" cy="342900"/>
            </a:xfrm>
            <a:prstGeom prst="rect">
              <a:avLst/>
            </a:prstGeom>
            <a:noFill/>
            <a:ln>
              <a:noFill/>
            </a:ln>
          </p:spPr>
          <p:txBody>
            <a:bodyPr anchor="ctr">
              <a:normAutofit fontScale="55000" lnSpcReduction="20000"/>
            </a:bodyPr>
            <a:lstStyle/>
            <a:p>
              <a:pPr algn="ctr"/>
              <a:endParaRPr lang="en-US" sz="2400" dirty="0"/>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RemoteFX</a:t>
            </a:r>
            <a:endParaRPr lang="en-US" dirty="0"/>
          </a:p>
        </p:txBody>
      </p:sp>
      <p:sp>
        <p:nvSpPr>
          <p:cNvPr id="3" name="Content Placeholder 2"/>
          <p:cNvSpPr>
            <a:spLocks noGrp="1"/>
          </p:cNvSpPr>
          <p:nvPr>
            <p:ph idx="1"/>
          </p:nvPr>
        </p:nvSpPr>
        <p:spPr/>
        <p:txBody>
          <a:bodyPr/>
          <a:lstStyle/>
          <a:p>
            <a:r>
              <a:rPr lang="en-US" dirty="0" err="1">
                <a:solidFill>
                  <a:schemeClr val="tx1"/>
                </a:solidFill>
              </a:rPr>
              <a:t>RemoteFX</a:t>
            </a:r>
            <a:r>
              <a:rPr lang="en-US" dirty="0">
                <a:solidFill>
                  <a:schemeClr val="tx1"/>
                </a:solidFill>
              </a:rPr>
              <a:t> is a Windows Server feature that enables remote computers to connect Hyper-V guest VMs with an enhanced desktop experience:</a:t>
            </a:r>
          </a:p>
          <a:p>
            <a:r>
              <a:rPr lang="en-US" dirty="0">
                <a:solidFill>
                  <a:schemeClr val="tx1"/>
                </a:solidFill>
              </a:rPr>
              <a:t>It includes:</a:t>
            </a:r>
          </a:p>
          <a:p>
            <a:pPr lvl="1"/>
            <a:r>
              <a:rPr lang="en-US" dirty="0">
                <a:solidFill>
                  <a:schemeClr val="tx1"/>
                </a:solidFill>
              </a:rPr>
              <a:t>Graphics adapter virtualization</a:t>
            </a:r>
          </a:p>
          <a:p>
            <a:pPr lvl="1"/>
            <a:r>
              <a:rPr lang="en-US" dirty="0">
                <a:solidFill>
                  <a:schemeClr val="tx1"/>
                </a:solidFill>
              </a:rPr>
              <a:t>USB redirection</a:t>
            </a:r>
          </a:p>
          <a:p>
            <a:pPr lvl="1"/>
            <a:r>
              <a:rPr lang="en-US" dirty="0">
                <a:solidFill>
                  <a:schemeClr val="tx1"/>
                </a:solidFill>
              </a:rPr>
              <a:t>Intelligence encoding and decoding</a:t>
            </a:r>
          </a:p>
        </p:txBody>
      </p:sp>
      <p:sp>
        <p:nvSpPr>
          <p:cNvPr id="5" name="Slide Number Placeholder 4"/>
          <p:cNvSpPr>
            <a:spLocks noGrp="1"/>
          </p:cNvSpPr>
          <p:nvPr>
            <p:ph type="sldNum" sz="quarter" idx="12"/>
          </p:nvPr>
        </p:nvSpPr>
        <p:spPr/>
        <p:txBody>
          <a:bodyPr/>
          <a:lstStyle/>
          <a:p>
            <a:fld id="{0FFCD9FE-85A8-4732-8641-B4CD942B9CFA}" type="slidenum">
              <a:rPr lang="en-US" smtClean="0"/>
              <a:pPr/>
              <a:t>45</a:t>
            </a:fld>
            <a:endParaRPr lang="en-US" dirty="0"/>
          </a:p>
        </p:txBody>
      </p:sp>
    </p:spTree>
    <p:extLst>
      <p:ext uri="{BB962C8B-B14F-4D97-AF65-F5344CB8AC3E}">
        <p14:creationId xmlns:p14="http://schemas.microsoft.com/office/powerpoint/2010/main" val="25492309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RemoteFX</a:t>
            </a:r>
            <a:endParaRPr lang="en-US" dirty="0"/>
          </a:p>
        </p:txBody>
      </p:sp>
      <p:sp>
        <p:nvSpPr>
          <p:cNvPr id="3" name="Content Placeholder 2"/>
          <p:cNvSpPr>
            <a:spLocks noGrp="1"/>
          </p:cNvSpPr>
          <p:nvPr>
            <p:ph idx="1"/>
          </p:nvPr>
        </p:nvSpPr>
        <p:spPr/>
        <p:txBody>
          <a:bodyPr>
            <a:normAutofit fontScale="92500" lnSpcReduction="10000"/>
          </a:bodyPr>
          <a:lstStyle/>
          <a:p>
            <a:r>
              <a:rPr lang="en-US" dirty="0">
                <a:solidFill>
                  <a:schemeClr val="tx1"/>
                </a:solidFill>
              </a:rPr>
              <a:t>To use </a:t>
            </a:r>
            <a:r>
              <a:rPr lang="en-US" dirty="0" err="1">
                <a:solidFill>
                  <a:schemeClr val="tx1"/>
                </a:solidFill>
              </a:rPr>
              <a:t>RemoteFX</a:t>
            </a:r>
            <a:r>
              <a:rPr lang="en-US" dirty="0">
                <a:solidFill>
                  <a:schemeClr val="tx1"/>
                </a:solidFill>
              </a:rPr>
              <a:t> with Hyper-V, you need:</a:t>
            </a:r>
          </a:p>
          <a:p>
            <a:pPr lvl="1"/>
            <a:r>
              <a:rPr lang="en-US" dirty="0">
                <a:solidFill>
                  <a:schemeClr val="tx1"/>
                </a:solidFill>
              </a:rPr>
              <a:t>The server's CPU must support Second Level Address Translation (SLAT), which must be enabled.</a:t>
            </a:r>
          </a:p>
          <a:p>
            <a:pPr lvl="1"/>
            <a:r>
              <a:rPr lang="en-US" dirty="0">
                <a:solidFill>
                  <a:schemeClr val="tx1"/>
                </a:solidFill>
              </a:rPr>
              <a:t>For Windows Server 2012,/Windows Server 2012 R2, at least one DirectX 11.1 capable graphics card with a WDDM 1.2 driver must be installed on the server.</a:t>
            </a:r>
          </a:p>
          <a:p>
            <a:pPr lvl="1"/>
            <a:r>
              <a:rPr lang="en-US" dirty="0">
                <a:solidFill>
                  <a:schemeClr val="tx1"/>
                </a:solidFill>
              </a:rPr>
              <a:t>Requires the Remote Desktop Virtualization Host role.</a:t>
            </a:r>
          </a:p>
          <a:p>
            <a:pPr lvl="1"/>
            <a:r>
              <a:rPr lang="en-US" dirty="0">
                <a:solidFill>
                  <a:schemeClr val="tx1"/>
                </a:solidFill>
              </a:rPr>
              <a:t>In Hyper-V Manager, you must select </a:t>
            </a:r>
            <a:r>
              <a:rPr lang="en-US" dirty="0" err="1">
                <a:solidFill>
                  <a:schemeClr val="tx1"/>
                </a:solidFill>
              </a:rPr>
              <a:t>RemoteFX</a:t>
            </a:r>
            <a:r>
              <a:rPr lang="en-US" dirty="0">
                <a:solidFill>
                  <a:schemeClr val="tx1"/>
                </a:solidFill>
              </a:rPr>
              <a:t> 3D Video Adapter, then specify the screen resolution and number of monitors.</a:t>
            </a:r>
          </a:p>
          <a:p>
            <a:r>
              <a:rPr lang="en-US" dirty="0">
                <a:solidFill>
                  <a:schemeClr val="tx1"/>
                </a:solidFill>
              </a:rPr>
              <a:t>When installing </a:t>
            </a:r>
            <a:r>
              <a:rPr lang="en-US" dirty="0" err="1">
                <a:solidFill>
                  <a:schemeClr val="tx1"/>
                </a:solidFill>
              </a:rPr>
              <a:t>RemoteFX</a:t>
            </a:r>
            <a:r>
              <a:rPr lang="en-US" dirty="0">
                <a:solidFill>
                  <a:schemeClr val="tx1"/>
                </a:solidFill>
              </a:rPr>
              <a:t>, the host machine cannot be a Domain Controller.</a:t>
            </a:r>
          </a:p>
        </p:txBody>
      </p:sp>
      <p:sp>
        <p:nvSpPr>
          <p:cNvPr id="5" name="Slide Number Placeholder 4"/>
          <p:cNvSpPr>
            <a:spLocks noGrp="1"/>
          </p:cNvSpPr>
          <p:nvPr>
            <p:ph type="sldNum" sz="quarter" idx="12"/>
          </p:nvPr>
        </p:nvSpPr>
        <p:spPr/>
        <p:txBody>
          <a:bodyPr/>
          <a:lstStyle/>
          <a:p>
            <a:fld id="{0FFCD9FE-85A8-4732-8641-B4CD942B9CFA}" type="slidenum">
              <a:rPr lang="en-US" smtClean="0"/>
              <a:pPr/>
              <a:t>46</a:t>
            </a:fld>
            <a:endParaRPr lang="en-US" dirty="0"/>
          </a:p>
        </p:txBody>
      </p:sp>
    </p:spTree>
    <p:extLst>
      <p:ext uri="{BB962C8B-B14F-4D97-AF65-F5344CB8AC3E}">
        <p14:creationId xmlns:p14="http://schemas.microsoft.com/office/powerpoint/2010/main" val="906708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Configuring Resource Metering</a:t>
            </a:r>
          </a:p>
        </p:txBody>
      </p:sp>
      <p:sp>
        <p:nvSpPr>
          <p:cNvPr id="3" name="Text Placeholder 2"/>
          <p:cNvSpPr>
            <a:spLocks noGrp="1"/>
          </p:cNvSpPr>
          <p:nvPr>
            <p:ph type="body" idx="1"/>
          </p:nvPr>
        </p:nvSpPr>
        <p:spPr/>
        <p:txBody>
          <a:bodyPr>
            <a:normAutofit/>
          </a:bodyPr>
          <a:lstStyle/>
          <a:p>
            <a:r>
              <a:rPr lang="en-US" sz="2400">
                <a:solidFill>
                  <a:schemeClr val="tx1"/>
                </a:solidFill>
              </a:rPr>
              <a:t>Creating </a:t>
            </a:r>
            <a:r>
              <a:rPr lang="en-US" sz="2400" dirty="0">
                <a:solidFill>
                  <a:schemeClr val="tx1"/>
                </a:solidFill>
              </a:rPr>
              <a:t>and Configuring Virtual </a:t>
            </a:r>
          </a:p>
          <a:p>
            <a:r>
              <a:rPr lang="en-US" sz="2400" dirty="0">
                <a:solidFill>
                  <a:schemeClr val="tx1"/>
                </a:solidFill>
              </a:rPr>
              <a:t>Machine Settings</a:t>
            </a:r>
          </a:p>
        </p:txBody>
      </p:sp>
      <p:sp>
        <p:nvSpPr>
          <p:cNvPr id="5" name="Slide Number Placeholder 4"/>
          <p:cNvSpPr>
            <a:spLocks noGrp="1"/>
          </p:cNvSpPr>
          <p:nvPr>
            <p:ph type="sldNum" sz="quarter" idx="12"/>
          </p:nvPr>
        </p:nvSpPr>
        <p:spPr/>
        <p:txBody>
          <a:bodyPr/>
          <a:lstStyle/>
          <a:p>
            <a:fld id="{0FFCD9FE-85A8-4732-8641-B4CD942B9CFA}" type="slidenum">
              <a:rPr lang="en-US" smtClean="0"/>
              <a:pPr/>
              <a:t>47</a:t>
            </a:fld>
            <a:endParaRPr lang="en-US" dirty="0"/>
          </a:p>
        </p:txBody>
      </p:sp>
    </p:spTree>
    <p:extLst>
      <p:ext uri="{BB962C8B-B14F-4D97-AF65-F5344CB8AC3E}">
        <p14:creationId xmlns:p14="http://schemas.microsoft.com/office/powerpoint/2010/main" val="42100932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 Metering</a:t>
            </a:r>
          </a:p>
        </p:txBody>
      </p:sp>
      <p:sp>
        <p:nvSpPr>
          <p:cNvPr id="3" name="Content Placeholder 2"/>
          <p:cNvSpPr>
            <a:spLocks noGrp="1"/>
          </p:cNvSpPr>
          <p:nvPr>
            <p:ph idx="1"/>
          </p:nvPr>
        </p:nvSpPr>
        <p:spPr/>
        <p:txBody>
          <a:bodyPr/>
          <a:lstStyle/>
          <a:p>
            <a:pPr>
              <a:buNone/>
            </a:pPr>
            <a:r>
              <a:rPr lang="en-US" dirty="0">
                <a:solidFill>
                  <a:schemeClr val="tx1"/>
                </a:solidFill>
              </a:rPr>
              <a:t>Resource metering uses PowerShell </a:t>
            </a:r>
            <a:r>
              <a:rPr lang="en-US" dirty="0" err="1">
                <a:solidFill>
                  <a:schemeClr val="tx1"/>
                </a:solidFill>
              </a:rPr>
              <a:t>cmdlets</a:t>
            </a:r>
            <a:r>
              <a:rPr lang="en-US" dirty="0">
                <a:solidFill>
                  <a:schemeClr val="tx1"/>
                </a:solidFill>
              </a:rPr>
              <a:t> to track a variety of performance metrics for individual VMs, including:</a:t>
            </a:r>
          </a:p>
          <a:p>
            <a:pPr lvl="1"/>
            <a:r>
              <a:rPr lang="en-US" dirty="0">
                <a:solidFill>
                  <a:schemeClr val="tx1"/>
                </a:solidFill>
              </a:rPr>
              <a:t>CPU utilization</a:t>
            </a:r>
          </a:p>
          <a:p>
            <a:pPr lvl="1"/>
            <a:r>
              <a:rPr lang="en-US" dirty="0">
                <a:solidFill>
                  <a:schemeClr val="tx1"/>
                </a:solidFill>
              </a:rPr>
              <a:t>Minimum/Maximum/Average memory utilization</a:t>
            </a:r>
          </a:p>
          <a:p>
            <a:pPr lvl="1"/>
            <a:r>
              <a:rPr lang="en-US" dirty="0">
                <a:solidFill>
                  <a:schemeClr val="tx1"/>
                </a:solidFill>
              </a:rPr>
              <a:t>Disk space utilization</a:t>
            </a:r>
          </a:p>
          <a:p>
            <a:pPr lvl="1"/>
            <a:r>
              <a:rPr lang="en-US">
                <a:solidFill>
                  <a:schemeClr val="tx1"/>
                </a:solidFill>
              </a:rPr>
              <a:t>Incoming/Outgoing </a:t>
            </a:r>
            <a:r>
              <a:rPr lang="en-US" dirty="0">
                <a:solidFill>
                  <a:schemeClr val="tx1"/>
                </a:solidFill>
              </a:rPr>
              <a:t>network traffic</a:t>
            </a:r>
          </a:p>
          <a:p>
            <a:endParaRPr lang="en-US" dirty="0">
              <a:solidFill>
                <a:schemeClr val="tx1"/>
              </a:solidFill>
            </a:endParaRPr>
          </a:p>
        </p:txBody>
      </p:sp>
      <p:sp>
        <p:nvSpPr>
          <p:cNvPr id="5" name="Slide Number Placeholder 4"/>
          <p:cNvSpPr>
            <a:spLocks noGrp="1"/>
          </p:cNvSpPr>
          <p:nvPr>
            <p:ph type="sldNum" sz="quarter" idx="12"/>
          </p:nvPr>
        </p:nvSpPr>
        <p:spPr/>
        <p:txBody>
          <a:bodyPr/>
          <a:lstStyle/>
          <a:p>
            <a:fld id="{0FFCD9FE-85A8-4732-8641-B4CD942B9CFA}" type="slidenum">
              <a:rPr lang="en-US" smtClean="0"/>
              <a:pPr/>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1219200"/>
          </a:xfrm>
        </p:spPr>
        <p:txBody>
          <a:bodyPr/>
          <a:lstStyle/>
          <a:p>
            <a:r>
              <a:rPr lang="en-US" dirty="0"/>
              <a:t>Configuring Resource Metering</a:t>
            </a:r>
          </a:p>
        </p:txBody>
      </p:sp>
      <p:sp>
        <p:nvSpPr>
          <p:cNvPr id="4" name="Text Placeholder 3"/>
          <p:cNvSpPr>
            <a:spLocks noGrp="1"/>
          </p:cNvSpPr>
          <p:nvPr>
            <p:ph type="body" sz="half" idx="2"/>
          </p:nvPr>
        </p:nvSpPr>
        <p:spPr>
          <a:xfrm>
            <a:off x="1679576" y="5257800"/>
            <a:ext cx="5711824" cy="838200"/>
          </a:xfrm>
        </p:spPr>
        <p:txBody>
          <a:bodyPr/>
          <a:lstStyle/>
          <a:p>
            <a:r>
              <a:rPr lang="en-US" b="1" dirty="0">
                <a:solidFill>
                  <a:schemeClr val="tx1"/>
                </a:solidFill>
              </a:rPr>
              <a:t>Enabling Resource Metering with Windows PowerShell</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49</a:t>
            </a:fld>
            <a:endParaRPr lang="en-US" dirty="0"/>
          </a:p>
        </p:txBody>
      </p:sp>
      <p:grpSp>
        <p:nvGrpSpPr>
          <p:cNvPr id="7" name="Group 6"/>
          <p:cNvGrpSpPr>
            <a:grpSpLocks noGrp="1" noUngrp="1" noChangeAspect="1"/>
          </p:cNvGrpSpPr>
          <p:nvPr/>
        </p:nvGrpSpPr>
        <p:grpSpPr>
          <a:xfrm>
            <a:off x="685800" y="2185988"/>
            <a:ext cx="7772400" cy="2865437"/>
            <a:chOff x="685800" y="2185988"/>
            <a:chExt cx="7772400" cy="2865437"/>
          </a:xfrm>
        </p:grpSpPr>
        <p:pic>
          <p:nvPicPr>
            <p:cNvPr id="8" name="Picture 7" descr="fg07-28"/>
            <p:cNvPicPr>
              <a:picLocks noRot="1" noChangeAspect="1" noMove="1" noResize="1"/>
            </p:cNvPicPr>
            <p:nvPr isPhoto="1"/>
          </p:nvPicPr>
          <p:blipFill>
            <a:blip r:embed="rId2">
              <a:lum/>
              <a:extLst>
                <a:ext uri="{28A0092B-C50C-407E-A947-70E740481C1C}">
                  <a14:useLocalDpi xmlns:a14="http://schemas.microsoft.com/office/drawing/2010/main" val="0"/>
                </a:ext>
              </a:extLst>
            </a:blip>
            <a:stretch>
              <a:fillRect/>
            </a:stretch>
          </p:blipFill>
          <p:spPr>
            <a:xfrm>
              <a:off x="685800" y="2185988"/>
              <a:ext cx="7772400" cy="2484437"/>
            </a:xfrm>
            <a:prstGeom prst="rect">
              <a:avLst/>
            </a:prstGeom>
            <a:noFill/>
            <a:ln>
              <a:noFill/>
            </a:ln>
          </p:spPr>
        </p:pic>
        <p:sp>
          <p:nvSpPr>
            <p:cNvPr id="9" name="Rectangle 8"/>
            <p:cNvSpPr/>
            <p:nvPr/>
          </p:nvSpPr>
          <p:spPr>
            <a:xfrm>
              <a:off x="685800" y="4708525"/>
              <a:ext cx="7772400" cy="342900"/>
            </a:xfrm>
            <a:prstGeom prst="rect">
              <a:avLst/>
            </a:prstGeom>
            <a:noFill/>
            <a:ln>
              <a:noFill/>
            </a:ln>
          </p:spPr>
          <p:txBody>
            <a:bodyPr anchor="ctr">
              <a:normAutofit fontScale="85000" lnSpcReduction="20000"/>
            </a:bodyPr>
            <a:lstStyle/>
            <a:p>
              <a:pPr algn="ctr"/>
              <a:endParaRPr lang="en-US" sz="2400" dirty="0"/>
            </a:p>
          </p:txBody>
        </p:sp>
      </p:gr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1143000"/>
          </a:xfrm>
        </p:spPr>
        <p:txBody>
          <a:bodyPr/>
          <a:lstStyle/>
          <a:p>
            <a:r>
              <a:rPr lang="en-US" dirty="0"/>
              <a:t>Configuring Resource Metering</a:t>
            </a:r>
          </a:p>
        </p:txBody>
      </p:sp>
      <p:sp>
        <p:nvSpPr>
          <p:cNvPr id="4" name="Text Placeholder 3"/>
          <p:cNvSpPr>
            <a:spLocks noGrp="1"/>
          </p:cNvSpPr>
          <p:nvPr>
            <p:ph type="body" sz="half" idx="2"/>
          </p:nvPr>
        </p:nvSpPr>
        <p:spPr>
          <a:xfrm>
            <a:off x="1679576" y="5257800"/>
            <a:ext cx="5711824" cy="762000"/>
          </a:xfrm>
        </p:spPr>
        <p:txBody>
          <a:bodyPr/>
          <a:lstStyle/>
          <a:p>
            <a:r>
              <a:rPr lang="en-US" b="1" dirty="0">
                <a:solidFill>
                  <a:schemeClr val="tx1"/>
                </a:solidFill>
              </a:rPr>
              <a:t>Displaying metering data with Windows PowerShell</a:t>
            </a:r>
          </a:p>
          <a:p>
            <a:endParaRPr lang="en-US" b="1" dirty="0">
              <a:solidFill>
                <a:schemeClr val="tx1"/>
              </a:solidFill>
            </a:endParaRPr>
          </a:p>
        </p:txBody>
      </p:sp>
      <p:sp>
        <p:nvSpPr>
          <p:cNvPr id="6" name="Slide Number Placeholder 5"/>
          <p:cNvSpPr>
            <a:spLocks noGrp="1"/>
          </p:cNvSpPr>
          <p:nvPr>
            <p:ph type="sldNum" sz="quarter" idx="12"/>
          </p:nvPr>
        </p:nvSpPr>
        <p:spPr/>
        <p:txBody>
          <a:bodyPr/>
          <a:lstStyle/>
          <a:p>
            <a:fld id="{0FFCD9FE-85A8-4732-8641-B4CD942B9CFA}" type="slidenum">
              <a:rPr lang="en-US" smtClean="0"/>
              <a:pPr/>
              <a:t>50</a:t>
            </a:fld>
            <a:endParaRPr lang="en-US" dirty="0"/>
          </a:p>
        </p:txBody>
      </p:sp>
      <p:grpSp>
        <p:nvGrpSpPr>
          <p:cNvPr id="7" name="Group 6"/>
          <p:cNvGrpSpPr>
            <a:grpSpLocks noGrp="1" noUngrp="1" noChangeAspect="1"/>
          </p:cNvGrpSpPr>
          <p:nvPr/>
        </p:nvGrpSpPr>
        <p:grpSpPr>
          <a:xfrm>
            <a:off x="685800" y="2185988"/>
            <a:ext cx="7772400" cy="2865437"/>
            <a:chOff x="685800" y="2185988"/>
            <a:chExt cx="7772400" cy="2865437"/>
          </a:xfrm>
        </p:grpSpPr>
        <p:pic>
          <p:nvPicPr>
            <p:cNvPr id="8" name="Picture 7" descr="fg07-29"/>
            <p:cNvPicPr>
              <a:picLocks noRot="1" noChangeAspect="1" noMove="1" noResize="1"/>
            </p:cNvPicPr>
            <p:nvPr isPhoto="1"/>
          </p:nvPicPr>
          <p:blipFill>
            <a:blip r:embed="rId2">
              <a:lum/>
              <a:extLst>
                <a:ext uri="{28A0092B-C50C-407E-A947-70E740481C1C}">
                  <a14:useLocalDpi xmlns:a14="http://schemas.microsoft.com/office/drawing/2010/main" val="0"/>
                </a:ext>
              </a:extLst>
            </a:blip>
            <a:stretch>
              <a:fillRect/>
            </a:stretch>
          </p:blipFill>
          <p:spPr>
            <a:xfrm>
              <a:off x="685800" y="2185988"/>
              <a:ext cx="7772400" cy="2484437"/>
            </a:xfrm>
            <a:prstGeom prst="rect">
              <a:avLst/>
            </a:prstGeom>
            <a:noFill/>
            <a:ln>
              <a:noFill/>
            </a:ln>
          </p:spPr>
        </p:pic>
        <p:sp>
          <p:nvSpPr>
            <p:cNvPr id="9" name="Rectangle 8"/>
            <p:cNvSpPr/>
            <p:nvPr/>
          </p:nvSpPr>
          <p:spPr>
            <a:xfrm>
              <a:off x="685800" y="4708525"/>
              <a:ext cx="7772400" cy="342900"/>
            </a:xfrm>
            <a:prstGeom prst="rect">
              <a:avLst/>
            </a:prstGeom>
            <a:noFill/>
            <a:ln>
              <a:noFill/>
            </a:ln>
          </p:spPr>
          <p:txBody>
            <a:bodyPr anchor="ctr">
              <a:normAutofit fontScale="85000" lnSpcReduction="20000"/>
            </a:bodyPr>
            <a:lstStyle/>
            <a:p>
              <a:pPr algn="ctr"/>
              <a:endParaRPr lang="en-US" sz="2400" dirty="0"/>
            </a:p>
          </p:txBody>
        </p:sp>
      </p:gr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Lesson Summary</a:t>
            </a:r>
          </a:p>
        </p:txBody>
      </p:sp>
      <p:sp>
        <p:nvSpPr>
          <p:cNvPr id="3" name="Content Placeholder 2"/>
          <p:cNvSpPr>
            <a:spLocks noGrp="1"/>
          </p:cNvSpPr>
          <p:nvPr>
            <p:ph idx="1"/>
          </p:nvPr>
        </p:nvSpPr>
        <p:spPr/>
        <p:txBody>
          <a:bodyPr>
            <a:normAutofit fontScale="77500" lnSpcReduction="20000"/>
          </a:bodyPr>
          <a:lstStyle/>
          <a:p>
            <a:r>
              <a:rPr lang="en-US" dirty="0">
                <a:solidFill>
                  <a:schemeClr val="tx1"/>
                </a:solidFill>
              </a:rPr>
              <a:t>Virtualization is a process that adds a layer of abstraction between actual, physical hardware and the system making use of it. Instead of having the server access the computer’s hardware directly, an intervening component called a hypervisor creates a virtual machine environment, and the server operating system runs in that environment. </a:t>
            </a:r>
          </a:p>
          <a:p>
            <a:r>
              <a:rPr lang="en-US" dirty="0">
                <a:solidFill>
                  <a:schemeClr val="tx1"/>
                </a:solidFill>
              </a:rPr>
              <a:t>Virtualization is the process of deploying and maintaining multiple instances of an operating system, called virtual machines (VMs), on a single computer.</a:t>
            </a:r>
          </a:p>
          <a:p>
            <a:r>
              <a:rPr lang="en-US" dirty="0">
                <a:solidFill>
                  <a:schemeClr val="tx1"/>
                </a:solidFill>
              </a:rPr>
              <a:t>Microsoft Hyper-V is a hypervisor-based virtualization system for x64 computers starting with Windows Server 2008. The hypervisor is installed between the hardware and the operating system and is the main component that manages the virtual computers.</a:t>
            </a:r>
          </a:p>
        </p:txBody>
      </p:sp>
      <p:sp>
        <p:nvSpPr>
          <p:cNvPr id="5" name="Slide Number Placeholder 4"/>
          <p:cNvSpPr>
            <a:spLocks noGrp="1"/>
          </p:cNvSpPr>
          <p:nvPr>
            <p:ph type="sldNum" sz="quarter" idx="12"/>
          </p:nvPr>
        </p:nvSpPr>
        <p:spPr/>
        <p:txBody>
          <a:bodyPr/>
          <a:lstStyle/>
          <a:p>
            <a:fld id="{0FFCD9FE-85A8-4732-8641-B4CD942B9CFA}" type="slidenum">
              <a:rPr lang="en-US" smtClean="0"/>
              <a:pPr/>
              <a:t>51</a:t>
            </a:fld>
            <a:endParaRPr lang="en-US" dirty="0"/>
          </a:p>
        </p:txBody>
      </p:sp>
    </p:spTree>
    <p:extLst>
      <p:ext uri="{BB962C8B-B14F-4D97-AF65-F5344CB8AC3E}">
        <p14:creationId xmlns:p14="http://schemas.microsoft.com/office/powerpoint/2010/main" val="140241645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Lesson Summary</a:t>
            </a:r>
          </a:p>
        </p:txBody>
      </p:sp>
      <p:sp>
        <p:nvSpPr>
          <p:cNvPr id="3" name="Content Placeholder 2"/>
          <p:cNvSpPr>
            <a:spLocks noGrp="1"/>
          </p:cNvSpPr>
          <p:nvPr>
            <p:ph idx="1"/>
          </p:nvPr>
        </p:nvSpPr>
        <p:spPr/>
        <p:txBody>
          <a:bodyPr>
            <a:normAutofit/>
          </a:bodyPr>
          <a:lstStyle/>
          <a:p>
            <a:r>
              <a:rPr lang="en-US">
                <a:solidFill>
                  <a:schemeClr val="tx1"/>
                </a:solidFill>
              </a:rPr>
              <a:t>For </a:t>
            </a:r>
            <a:r>
              <a:rPr lang="en-US" dirty="0">
                <a:solidFill>
                  <a:schemeClr val="tx1"/>
                </a:solidFill>
              </a:rPr>
              <a:t>licensing purposes, Microsoft refers to each virtual machine that you create on a Hyper-V server as a virtual instance. Each Windows Server 2012 version includes a set number of virtual instances; you must purchase licenses to create additional ones.</a:t>
            </a:r>
          </a:p>
          <a:p>
            <a:r>
              <a:rPr lang="en-US" dirty="0">
                <a:solidFill>
                  <a:schemeClr val="tx1"/>
                </a:solidFill>
              </a:rPr>
              <a:t>To keep a small footprint and minimal overhead, Hyper-V Server contains only the Windows Hypervisor, Windows Server driver model, and virtualization components. </a:t>
            </a:r>
          </a:p>
        </p:txBody>
      </p:sp>
      <p:sp>
        <p:nvSpPr>
          <p:cNvPr id="5" name="Slide Number Placeholder 4"/>
          <p:cNvSpPr>
            <a:spLocks noGrp="1"/>
          </p:cNvSpPr>
          <p:nvPr>
            <p:ph type="sldNum" sz="quarter" idx="12"/>
          </p:nvPr>
        </p:nvSpPr>
        <p:spPr/>
        <p:txBody>
          <a:bodyPr/>
          <a:lstStyle/>
          <a:p>
            <a:fld id="{0FFCD9FE-85A8-4732-8641-B4CD942B9CFA}" type="slidenum">
              <a:rPr lang="en-US" smtClean="0"/>
              <a:pPr/>
              <a:t>52</a:t>
            </a:fld>
            <a:endParaRPr lang="en-US" dirty="0"/>
          </a:p>
        </p:txBody>
      </p:sp>
    </p:spTree>
    <p:extLst>
      <p:ext uri="{BB962C8B-B14F-4D97-AF65-F5344CB8AC3E}">
        <p14:creationId xmlns:p14="http://schemas.microsoft.com/office/powerpoint/2010/main" val="14024164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980</TotalTime>
  <Words>2361</Words>
  <Application>Microsoft Office PowerPoint</Application>
  <PresentationFormat>On-screen Show (4:3)</PresentationFormat>
  <Paragraphs>289</Paragraphs>
  <Slides>52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Arial</vt:lpstr>
      <vt:lpstr>Calibri</vt:lpstr>
      <vt:lpstr>Century Gothic</vt:lpstr>
      <vt:lpstr>Courier New</vt:lpstr>
      <vt:lpstr>Palatino Linotype</vt:lpstr>
      <vt:lpstr>Executive</vt:lpstr>
      <vt:lpstr>Creating and Configuring Virtual  Machine Settings</vt:lpstr>
      <vt:lpstr>Overview</vt:lpstr>
      <vt:lpstr>Virtualizing Servers</vt:lpstr>
      <vt:lpstr>Virtualization Architectures</vt:lpstr>
      <vt:lpstr>Virtualization Architectures</vt:lpstr>
      <vt:lpstr>Virtualization Architectures</vt:lpstr>
      <vt:lpstr>Virtualization Architectures</vt:lpstr>
      <vt:lpstr>Hyper-V Implementations</vt:lpstr>
      <vt:lpstr>Hyper-V Licensing</vt:lpstr>
      <vt:lpstr>Hyper-V Hardware Limitations</vt:lpstr>
      <vt:lpstr>Hyper-V Server</vt:lpstr>
      <vt:lpstr>Installing Hyper-V</vt:lpstr>
      <vt:lpstr>Installing Hyper-V</vt:lpstr>
      <vt:lpstr>Hyper-V Hardware Requirements</vt:lpstr>
      <vt:lpstr>Install the Hyper-V Role</vt:lpstr>
      <vt:lpstr>Install the Hyper-V Role</vt:lpstr>
      <vt:lpstr>Install the Hyper-V Role</vt:lpstr>
      <vt:lpstr>Install the Hyper-V Role</vt:lpstr>
      <vt:lpstr>Install the Hyper-V Role</vt:lpstr>
      <vt:lpstr>Using Hyper-V Manager</vt:lpstr>
      <vt:lpstr>Using Hyper-V Manager</vt:lpstr>
      <vt:lpstr>Using Hyper-V Manager</vt:lpstr>
      <vt:lpstr>Creating a  Virtual Machine</vt:lpstr>
      <vt:lpstr>Creating a  Virtual Machine</vt:lpstr>
      <vt:lpstr>Creating a Virtual Machine</vt:lpstr>
      <vt:lpstr>Creating a Virtual Machine</vt:lpstr>
      <vt:lpstr>Creating a Virtual Machine</vt:lpstr>
      <vt:lpstr>Creating a Virtual Machine</vt:lpstr>
      <vt:lpstr>Creating a Virtual Machine</vt:lpstr>
      <vt:lpstr>Creating Generation 1 and Generation 2 VMs</vt:lpstr>
      <vt:lpstr>Creating Generation 1 and Generation 2 VMs</vt:lpstr>
      <vt:lpstr>Creating Generation 1 and Generation 2 VMs</vt:lpstr>
      <vt:lpstr>Installing an  Operating System</vt:lpstr>
      <vt:lpstr>Installing an  Operating System</vt:lpstr>
      <vt:lpstr>Configuring Guest Integration Services</vt:lpstr>
      <vt:lpstr>Install Guest Integration Services</vt:lpstr>
      <vt:lpstr>Installing Guest  Integration Services</vt:lpstr>
      <vt:lpstr>Using Enhanced Session Mode</vt:lpstr>
      <vt:lpstr>Using Enhanced Session Mode</vt:lpstr>
      <vt:lpstr>Allocating Memory</vt:lpstr>
      <vt:lpstr>Using Dynamic Memory</vt:lpstr>
      <vt:lpstr>Monitor Memory Allocation</vt:lpstr>
      <vt:lpstr>Configure Smart Paging</vt:lpstr>
      <vt:lpstr>Configure Smart Paging</vt:lpstr>
      <vt:lpstr>RemoteFX</vt:lpstr>
      <vt:lpstr>RemoteFX</vt:lpstr>
      <vt:lpstr>Configuring Resource Metering</vt:lpstr>
      <vt:lpstr>Resource Metering</vt:lpstr>
      <vt:lpstr>Configuring Resource Metering</vt:lpstr>
      <vt:lpstr>Configuring Resource Metering</vt:lpstr>
      <vt:lpstr>Lesson Summary</vt:lpstr>
      <vt:lpstr>Lesson Summary</vt:lpstr>
    </vt:vector>
  </TitlesOfParts>
  <Company>John Wiley and Sons,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Kane, John - Indianapolis</dc:creator>
  <cp:lastModifiedBy>Hoàng Đình Hạnh</cp:lastModifiedBy>
  <cp:revision>123</cp:revision>
  <dcterms:created xsi:type="dcterms:W3CDTF">2012-09-05T19:13:01Z</dcterms:created>
  <dcterms:modified xsi:type="dcterms:W3CDTF">2025-09-14T10:09:59Z</dcterms:modified>
</cp:coreProperties>
</file>