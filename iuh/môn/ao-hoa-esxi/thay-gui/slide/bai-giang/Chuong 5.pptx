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05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08BB3-2883-454A-A33F-7F9B8924F8C0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5C4C7-0C94-494D-9922-F3ED6DF35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5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EC96F-F3F1-44B2-A20E-400ACF95D5F0}" type="datetime1">
              <a:rPr lang="en-US" smtClean="0"/>
              <a:t>07-08-2024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CFF3-8146-4B12-8703-4C03C63BB127}" type="datetime1">
              <a:rPr lang="en-US" smtClean="0"/>
              <a:t>07-08-2024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15665-2858-40E7-A0B3-A72BED416429}" type="datetime1">
              <a:rPr lang="en-US" smtClean="0"/>
              <a:t>07-08-2024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A4B61-9AB6-438B-938A-8C2F6B1570A4}" type="datetime1">
              <a:rPr lang="en-US" smtClean="0"/>
              <a:t>07-08-2024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4B48A-D91D-4C73-B998-A785F12CC43B}" type="datetime1">
              <a:rPr lang="en-US" smtClean="0"/>
              <a:t>07-08-2024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84503"/>
            <a:ext cx="12187428" cy="56448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1999" cy="98907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08" y="2517991"/>
            <a:ext cx="6307541" cy="41008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" y="6629398"/>
            <a:ext cx="12187427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3933" y="148539"/>
            <a:ext cx="11124133" cy="606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841" y="1086052"/>
            <a:ext cx="11324590" cy="4234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429CA-E0E3-496A-90F4-1082B182EC47}" type="datetime1">
              <a:rPr lang="en-US" smtClean="0"/>
              <a:t>07-08-2024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thehackernews.com/2023/02/new-wave-of-ransomware-attack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thehackernews.com/2023/10/elektra-leak-cryptojacking-attack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99210" y="2229688"/>
            <a:ext cx="99949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HỆ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THỐNG</a:t>
            </a:r>
            <a:r>
              <a:rPr sz="4000" b="1" spc="-4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VÀ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KHẢ</a:t>
            </a:r>
            <a:r>
              <a:rPr sz="4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NĂNG</a:t>
            </a:r>
            <a:r>
              <a:rPr sz="4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MỞ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rgbClr val="CC3300"/>
                </a:solidFill>
                <a:latin typeface="Arial"/>
                <a:cs typeface="Arial"/>
              </a:rPr>
              <a:t>RỘNG </a:t>
            </a:r>
            <a:r>
              <a:rPr sz="4000" b="1">
                <a:solidFill>
                  <a:srgbClr val="CC3300"/>
                </a:solidFill>
                <a:latin typeface="Arial"/>
                <a:cs typeface="Arial"/>
              </a:rPr>
              <a:t>DỮ </a:t>
            </a:r>
            <a:r>
              <a:rPr sz="4000" b="1" spc="-20">
                <a:solidFill>
                  <a:srgbClr val="CC3300"/>
                </a:solidFill>
                <a:latin typeface="Arial"/>
                <a:cs typeface="Arial"/>
              </a:rPr>
              <a:t>LIỆU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5395C-6513-0FE9-952F-F6319275A1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08" y="2517991"/>
              <a:ext cx="6307541" cy="410086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70201" y="2229688"/>
            <a:ext cx="745109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3150" marR="5080" indent="-10610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CHƯƠNG</a:t>
            </a:r>
            <a:r>
              <a:rPr sz="4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5:</a:t>
            </a:r>
            <a:r>
              <a:rPr sz="4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BẢO</a:t>
            </a:r>
            <a:r>
              <a:rPr sz="4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MẬT</a:t>
            </a:r>
            <a:r>
              <a:rPr sz="4000" b="1" spc="-5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CC3300"/>
                </a:solidFill>
                <a:latin typeface="Arial"/>
                <a:cs typeface="Arial"/>
              </a:rPr>
              <a:t>TRONG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CÔNG</a:t>
            </a:r>
            <a:r>
              <a:rPr sz="4000" b="1" spc="-8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NGHỆ</a:t>
            </a:r>
            <a:r>
              <a:rPr sz="4000" b="1" spc="-9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CC3300"/>
                </a:solidFill>
                <a:latin typeface="Arial"/>
                <a:cs typeface="Arial"/>
              </a:rPr>
              <a:t>ẢO</a:t>
            </a:r>
            <a:r>
              <a:rPr sz="4000" b="1" spc="-9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4000" b="1" spc="-25" dirty="0">
                <a:solidFill>
                  <a:srgbClr val="CC3300"/>
                </a:solidFill>
                <a:latin typeface="Arial"/>
                <a:cs typeface="Arial"/>
              </a:rPr>
              <a:t>HÓA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F6C77-3D21-8199-7C33-9E33DB0E79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8330">
              <a:lnSpc>
                <a:spcPct val="100000"/>
              </a:lnSpc>
              <a:spcBef>
                <a:spcPts val="100"/>
              </a:spcBef>
            </a:pPr>
            <a:r>
              <a:rPr dirty="0"/>
              <a:t>NỘI </a:t>
            </a:r>
            <a:r>
              <a:rPr spc="-20" dirty="0"/>
              <a:t>DUNG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9246870" cy="19469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305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endParaRPr sz="32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35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cuộc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tấn công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phổ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biến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endParaRPr sz="3200">
              <a:latin typeface="Times New Roman"/>
              <a:cs typeface="Times New Roman"/>
            </a:endParaRPr>
          </a:p>
          <a:p>
            <a:pPr marL="582930" indent="-570230">
              <a:lnSpc>
                <a:spcPct val="100000"/>
              </a:lnSpc>
              <a:spcBef>
                <a:spcPts val="1200"/>
              </a:spcBef>
              <a:buAutoNum type="romanUcPeriod"/>
              <a:tabLst>
                <a:tab pos="58293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mật.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9D314-4627-6DB1-E5DF-6743531257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320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mang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lại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rất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tiện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lợi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triển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dành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5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CNTT.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nhiên,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thân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công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mối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nhau.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7316" y="2799588"/>
            <a:ext cx="7897368" cy="37536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CBDB1-FC69-B454-24ED-95B3A41392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269980" cy="526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rất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mối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(risk)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đối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 hóa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thực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tế. Ở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đây,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ta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xem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xét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phổ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biến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sau: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VM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Sprawl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Complexity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3000" spc="-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monitor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Data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loss,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theft,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hacking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Lack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3000" spc="-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visibility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into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virtual</a:t>
            </a:r>
            <a:r>
              <a:rPr sz="30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network</a:t>
            </a:r>
            <a:r>
              <a:rPr sz="3000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traffic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Offline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sz="3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dormant</a:t>
            </a:r>
            <a:r>
              <a:rPr sz="3000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VMs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Hypervisor</a:t>
            </a:r>
            <a:r>
              <a:rPr sz="3000" spc="-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security</a:t>
            </a:r>
            <a:endParaRPr sz="3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5650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Execution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3000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VMs</a:t>
            </a:r>
            <a:r>
              <a:rPr sz="3000" spc="-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with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different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trust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levels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2AE8E-FDCD-786E-4086-06E376E323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VM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Sprawl: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mở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rộng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nhanh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chóng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dễ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dàng.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dẫn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đến,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mở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rộng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vượt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quá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năng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Ngoài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ra,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nhanh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chóng,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nhưng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lại</a:t>
            </a:r>
            <a:r>
              <a:rPr sz="3200" spc="5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nhật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update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đối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OS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gói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cài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lỗ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hỏng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mật.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đó,</a:t>
            </a:r>
            <a:r>
              <a:rPr sz="3200" spc="5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giảm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thiểu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5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5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5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5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5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5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 để quản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 việc mở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rộng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8FDB6-38A7-1D3D-4608-0D57CDECB8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7379" y="1086052"/>
            <a:ext cx="3622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Sprawl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Control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714500"/>
            <a:ext cx="8010144" cy="50063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C49B0-EF0E-D08D-5A0A-A072BE12A5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Complexity</a:t>
            </a:r>
            <a:r>
              <a:rPr spc="459" dirty="0"/>
              <a:t> </a:t>
            </a:r>
            <a:r>
              <a:rPr dirty="0"/>
              <a:t>of</a:t>
            </a:r>
            <a:r>
              <a:rPr spc="450" dirty="0"/>
              <a:t> </a:t>
            </a:r>
            <a:r>
              <a:rPr dirty="0"/>
              <a:t>monitor:</a:t>
            </a:r>
            <a:r>
              <a:rPr spc="450" dirty="0"/>
              <a:t> </a:t>
            </a:r>
            <a:r>
              <a:rPr dirty="0"/>
              <a:t>một</a:t>
            </a:r>
            <a:r>
              <a:rPr spc="459" dirty="0"/>
              <a:t> </a:t>
            </a:r>
            <a:r>
              <a:rPr dirty="0"/>
              <a:t>trong</a:t>
            </a:r>
            <a:r>
              <a:rPr spc="459" dirty="0"/>
              <a:t> </a:t>
            </a:r>
            <a:r>
              <a:rPr dirty="0"/>
              <a:t>những</a:t>
            </a:r>
            <a:r>
              <a:rPr spc="459" dirty="0"/>
              <a:t> </a:t>
            </a:r>
            <a:r>
              <a:rPr dirty="0"/>
              <a:t>rủi</a:t>
            </a:r>
            <a:r>
              <a:rPr spc="455" dirty="0"/>
              <a:t> </a:t>
            </a:r>
            <a:r>
              <a:rPr dirty="0"/>
              <a:t>ro</a:t>
            </a:r>
            <a:r>
              <a:rPr spc="450" dirty="0"/>
              <a:t> </a:t>
            </a:r>
            <a:r>
              <a:rPr dirty="0"/>
              <a:t>với</a:t>
            </a:r>
            <a:r>
              <a:rPr spc="455" dirty="0"/>
              <a:t> </a:t>
            </a:r>
            <a:r>
              <a:rPr dirty="0"/>
              <a:t>nền</a:t>
            </a:r>
            <a:r>
              <a:rPr spc="475" dirty="0"/>
              <a:t> </a:t>
            </a:r>
            <a:r>
              <a:rPr dirty="0"/>
              <a:t>tảng</a:t>
            </a:r>
            <a:r>
              <a:rPr spc="470" dirty="0"/>
              <a:t> </a:t>
            </a:r>
            <a:r>
              <a:rPr spc="-25" dirty="0"/>
              <a:t>ảo </a:t>
            </a:r>
            <a:r>
              <a:rPr dirty="0"/>
              <a:t>hóa</a:t>
            </a:r>
            <a:r>
              <a:rPr spc="-10" dirty="0"/>
              <a:t> </a:t>
            </a:r>
            <a:r>
              <a:rPr dirty="0"/>
              <a:t>là</a:t>
            </a:r>
            <a:r>
              <a:rPr spc="-10" dirty="0"/>
              <a:t> </a:t>
            </a:r>
            <a:r>
              <a:rPr dirty="0"/>
              <a:t>cơ</a:t>
            </a:r>
            <a:r>
              <a:rPr spc="-3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hạ</a:t>
            </a:r>
            <a:r>
              <a:rPr spc="-10" dirty="0"/>
              <a:t> </a:t>
            </a:r>
            <a:r>
              <a:rPr dirty="0"/>
              <a:t>tầng</a:t>
            </a:r>
            <a:r>
              <a:rPr spc="-25" dirty="0"/>
              <a:t> </a:t>
            </a:r>
            <a:r>
              <a:rPr dirty="0"/>
              <a:t>để</a:t>
            </a:r>
            <a:r>
              <a:rPr spc="-5" dirty="0"/>
              <a:t> </a:t>
            </a:r>
            <a:r>
              <a:rPr dirty="0"/>
              <a:t>triển</a:t>
            </a:r>
            <a:r>
              <a:rPr spc="-20" dirty="0"/>
              <a:t> </a:t>
            </a:r>
            <a:r>
              <a:rPr dirty="0"/>
              <a:t>khai</a:t>
            </a:r>
            <a:r>
              <a:rPr spc="-25" dirty="0"/>
              <a:t> </a:t>
            </a:r>
            <a:r>
              <a:rPr dirty="0"/>
              <a:t>máy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là</a:t>
            </a:r>
            <a:r>
              <a:rPr spc="-20" dirty="0"/>
              <a:t> </a:t>
            </a:r>
            <a:r>
              <a:rPr dirty="0"/>
              <a:t>rất</a:t>
            </a:r>
            <a:r>
              <a:rPr spc="-15" dirty="0"/>
              <a:t> </a:t>
            </a:r>
            <a:r>
              <a:rPr dirty="0"/>
              <a:t>lớn.</a:t>
            </a:r>
            <a:r>
              <a:rPr spc="-10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đó,</a:t>
            </a:r>
            <a:r>
              <a:rPr spc="-25" dirty="0"/>
              <a:t> </a:t>
            </a:r>
            <a:r>
              <a:rPr dirty="0"/>
              <a:t>việc</a:t>
            </a:r>
            <a:r>
              <a:rPr spc="-10" dirty="0"/>
              <a:t> </a:t>
            </a:r>
            <a:r>
              <a:rPr spc="-25" dirty="0"/>
              <a:t>lưu </a:t>
            </a:r>
            <a:r>
              <a:rPr dirty="0"/>
              <a:t>lại</a:t>
            </a:r>
            <a:r>
              <a:rPr spc="-15" dirty="0"/>
              <a:t> </a:t>
            </a:r>
            <a:r>
              <a:rPr dirty="0"/>
              <a:t>nhật</a:t>
            </a:r>
            <a:r>
              <a:rPr spc="-30" dirty="0"/>
              <a:t> </a:t>
            </a:r>
            <a:r>
              <a:rPr dirty="0"/>
              <a:t>ký</a:t>
            </a:r>
            <a:r>
              <a:rPr spc="-5" dirty="0"/>
              <a:t> </a:t>
            </a:r>
            <a:r>
              <a:rPr dirty="0"/>
              <a:t>hoạt</a:t>
            </a:r>
            <a:r>
              <a:rPr spc="-30" dirty="0"/>
              <a:t> </a:t>
            </a:r>
            <a:r>
              <a:rPr dirty="0"/>
              <a:t>động,</a:t>
            </a:r>
            <a:r>
              <a:rPr spc="-45" dirty="0"/>
              <a:t> </a:t>
            </a:r>
            <a:r>
              <a:rPr dirty="0"/>
              <a:t>khắc</a:t>
            </a:r>
            <a:r>
              <a:rPr spc="-25" dirty="0"/>
              <a:t> </a:t>
            </a:r>
            <a:r>
              <a:rPr dirty="0"/>
              <a:t>phục</a:t>
            </a:r>
            <a:r>
              <a:rPr spc="-20" dirty="0"/>
              <a:t> </a:t>
            </a:r>
            <a:r>
              <a:rPr dirty="0"/>
              <a:t>sự</a:t>
            </a:r>
            <a:r>
              <a:rPr spc="-15" dirty="0"/>
              <a:t> </a:t>
            </a:r>
            <a:r>
              <a:rPr dirty="0"/>
              <a:t>cố</a:t>
            </a:r>
            <a:r>
              <a:rPr spc="-5" dirty="0"/>
              <a:t> </a:t>
            </a:r>
            <a:r>
              <a:rPr dirty="0"/>
              <a:t>có</a:t>
            </a:r>
            <a:r>
              <a:rPr spc="-10" dirty="0"/>
              <a:t> </a:t>
            </a:r>
            <a:r>
              <a:rPr dirty="0"/>
              <a:t>thể</a:t>
            </a:r>
            <a:r>
              <a:rPr spc="-5" dirty="0"/>
              <a:t> </a:t>
            </a:r>
            <a:r>
              <a:rPr dirty="0"/>
              <a:t>gây</a:t>
            </a:r>
            <a:r>
              <a:rPr spc="-15" dirty="0"/>
              <a:t> </a:t>
            </a:r>
            <a:r>
              <a:rPr dirty="0"/>
              <a:t>khó</a:t>
            </a:r>
            <a:r>
              <a:rPr spc="-35" dirty="0"/>
              <a:t> </a:t>
            </a:r>
            <a:r>
              <a:rPr spc="-10" dirty="0"/>
              <a:t>khăn.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947416"/>
            <a:ext cx="6409943" cy="3605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6811" y="2947416"/>
            <a:ext cx="5695188" cy="356006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AAC9B-6D31-F250-4ADF-D4DFB5CDBC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loss,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thef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hacking: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thống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về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mất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mát,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đánh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cắp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hack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đối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liệu.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 nhiên,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sánh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lý,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thì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xâm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phạm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năng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cao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hơn,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khai,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phải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 kết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mạng.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khôi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phục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khai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image,</a:t>
            </a:r>
            <a:r>
              <a:rPr sz="320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snapshot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hệ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cũng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đánh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cắp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liệu.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85C71-B505-25CE-9265-6237397375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955" cy="3105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Lack</a:t>
            </a:r>
            <a:r>
              <a:rPr sz="320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of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visibility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into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network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traffic:</a:t>
            </a:r>
            <a:r>
              <a:rPr sz="3200" spc="4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4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4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ảo,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khi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chuyển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nhau,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hiển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thị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được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(data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flow)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vật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lý.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này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khó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khăn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xâm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nhập.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Đối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ảo,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cần</a:t>
            </a:r>
            <a:r>
              <a:rPr sz="3200" spc="1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phải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1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cụ</a:t>
            </a:r>
            <a:r>
              <a:rPr sz="3200" spc="2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1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mềm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đặc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thù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lượng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283DD-FAE3-160B-066E-46DB41EF88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Offline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dormant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VMs: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hóa,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những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khoản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thời</a:t>
            </a:r>
            <a:r>
              <a:rPr sz="320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gian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(ngoại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tuyến)</a:t>
            </a:r>
            <a:r>
              <a:rPr sz="32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vì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số</a:t>
            </a:r>
            <a:r>
              <a:rPr sz="320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đó.</a:t>
            </a:r>
            <a:endParaRPr sz="320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tình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huống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này,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nếu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1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nhật,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1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sẽ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kịp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thời.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sẽ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nguy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cơ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đánh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mất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khoản</a:t>
            </a:r>
            <a:r>
              <a:rPr sz="3200" spc="2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thời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gian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này.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2313D-AC22-58F2-4C0C-5B1E784020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Hypervisor</a:t>
            </a:r>
            <a:r>
              <a:rPr spc="75" dirty="0"/>
              <a:t> </a:t>
            </a:r>
            <a:r>
              <a:rPr dirty="0"/>
              <a:t>security:</a:t>
            </a:r>
            <a:r>
              <a:rPr spc="75" dirty="0"/>
              <a:t> </a:t>
            </a:r>
            <a:r>
              <a:rPr dirty="0"/>
              <a:t>Hypervisor</a:t>
            </a:r>
            <a:r>
              <a:rPr spc="70" dirty="0"/>
              <a:t> </a:t>
            </a:r>
            <a:r>
              <a:rPr dirty="0"/>
              <a:t>là</a:t>
            </a:r>
            <a:r>
              <a:rPr spc="70" dirty="0"/>
              <a:t> </a:t>
            </a:r>
            <a:r>
              <a:rPr dirty="0"/>
              <a:t>một</a:t>
            </a:r>
            <a:r>
              <a:rPr spc="70" dirty="0"/>
              <a:t> </a:t>
            </a:r>
            <a:r>
              <a:rPr dirty="0"/>
              <a:t>phần</a:t>
            </a:r>
            <a:r>
              <a:rPr spc="65" dirty="0"/>
              <a:t> </a:t>
            </a:r>
            <a:r>
              <a:rPr dirty="0"/>
              <a:t>mềm</a:t>
            </a:r>
            <a:r>
              <a:rPr spc="70" dirty="0"/>
              <a:t> </a:t>
            </a:r>
            <a:r>
              <a:rPr dirty="0"/>
              <a:t>giúp</a:t>
            </a:r>
            <a:r>
              <a:rPr spc="75" dirty="0"/>
              <a:t> </a:t>
            </a:r>
            <a:r>
              <a:rPr dirty="0"/>
              <a:t>ảo</a:t>
            </a:r>
            <a:r>
              <a:rPr spc="70" dirty="0"/>
              <a:t> </a:t>
            </a:r>
            <a:r>
              <a:rPr dirty="0"/>
              <a:t>hóa</a:t>
            </a:r>
            <a:r>
              <a:rPr spc="70" dirty="0"/>
              <a:t> </a:t>
            </a:r>
            <a:r>
              <a:rPr spc="-25" dirty="0"/>
              <a:t>các </a:t>
            </a:r>
            <a:r>
              <a:rPr dirty="0"/>
              <a:t>thiết</a:t>
            </a:r>
            <a:r>
              <a:rPr spc="235" dirty="0"/>
              <a:t> </a:t>
            </a:r>
            <a:r>
              <a:rPr dirty="0"/>
              <a:t>bị</a:t>
            </a:r>
            <a:r>
              <a:rPr spc="220" dirty="0"/>
              <a:t> </a:t>
            </a:r>
            <a:r>
              <a:rPr dirty="0"/>
              <a:t>máy</a:t>
            </a:r>
            <a:r>
              <a:rPr spc="250" dirty="0"/>
              <a:t> </a:t>
            </a:r>
            <a:r>
              <a:rPr dirty="0"/>
              <a:t>ảo</a:t>
            </a:r>
            <a:r>
              <a:rPr spc="240" dirty="0"/>
              <a:t> </a:t>
            </a:r>
            <a:r>
              <a:rPr dirty="0"/>
              <a:t>trên</a:t>
            </a:r>
            <a:r>
              <a:rPr spc="235" dirty="0"/>
              <a:t> </a:t>
            </a:r>
            <a:r>
              <a:rPr dirty="0"/>
              <a:t>nền</a:t>
            </a:r>
            <a:r>
              <a:rPr spc="245" dirty="0"/>
              <a:t> </a:t>
            </a:r>
            <a:r>
              <a:rPr dirty="0"/>
              <a:t>tảng</a:t>
            </a:r>
            <a:r>
              <a:rPr spc="240" dirty="0"/>
              <a:t> </a:t>
            </a:r>
            <a:r>
              <a:rPr dirty="0"/>
              <a:t>phần</a:t>
            </a:r>
            <a:r>
              <a:rPr spc="245" dirty="0"/>
              <a:t> </a:t>
            </a:r>
            <a:r>
              <a:rPr dirty="0"/>
              <a:t>cứng.</a:t>
            </a:r>
            <a:r>
              <a:rPr spc="250" dirty="0"/>
              <a:t> </a:t>
            </a:r>
            <a:r>
              <a:rPr dirty="0"/>
              <a:t>Chính</a:t>
            </a:r>
            <a:r>
              <a:rPr spc="235" dirty="0"/>
              <a:t> </a:t>
            </a:r>
            <a:r>
              <a:rPr dirty="0"/>
              <a:t>điều</a:t>
            </a:r>
            <a:r>
              <a:rPr spc="235" dirty="0"/>
              <a:t> </a:t>
            </a:r>
            <a:r>
              <a:rPr dirty="0"/>
              <a:t>này</a:t>
            </a:r>
            <a:r>
              <a:rPr spc="245" dirty="0"/>
              <a:t> </a:t>
            </a:r>
            <a:r>
              <a:rPr dirty="0"/>
              <a:t>làm</a:t>
            </a:r>
            <a:r>
              <a:rPr spc="225" dirty="0"/>
              <a:t> </a:t>
            </a:r>
            <a:r>
              <a:rPr spc="-25" dirty="0"/>
              <a:t>cho </a:t>
            </a:r>
            <a:r>
              <a:rPr dirty="0"/>
              <a:t>Hypervisor</a:t>
            </a:r>
            <a:r>
              <a:rPr spc="-35" dirty="0"/>
              <a:t> </a:t>
            </a:r>
            <a:r>
              <a:rPr dirty="0"/>
              <a:t>có</a:t>
            </a:r>
            <a:r>
              <a:rPr spc="-10" dirty="0"/>
              <a:t> </a:t>
            </a:r>
            <a:r>
              <a:rPr dirty="0"/>
              <a:t>khả</a:t>
            </a:r>
            <a:r>
              <a:rPr spc="-5" dirty="0"/>
              <a:t> </a:t>
            </a:r>
            <a:r>
              <a:rPr dirty="0"/>
              <a:t>năng</a:t>
            </a:r>
            <a:r>
              <a:rPr spc="-20" dirty="0"/>
              <a:t> </a:t>
            </a:r>
            <a:r>
              <a:rPr dirty="0"/>
              <a:t>bị</a:t>
            </a:r>
            <a:r>
              <a:rPr spc="-10" dirty="0"/>
              <a:t> </a:t>
            </a:r>
            <a:r>
              <a:rPr dirty="0"/>
              <a:t>tấn </a:t>
            </a:r>
            <a:r>
              <a:rPr spc="-10" dirty="0"/>
              <a:t>công.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Nếu</a:t>
            </a:r>
            <a:r>
              <a:rPr spc="85" dirty="0"/>
              <a:t> </a:t>
            </a:r>
            <a:r>
              <a:rPr dirty="0"/>
              <a:t>Hypervisor</a:t>
            </a:r>
            <a:r>
              <a:rPr spc="80" dirty="0"/>
              <a:t> </a:t>
            </a:r>
            <a:r>
              <a:rPr dirty="0"/>
              <a:t>bị</a:t>
            </a:r>
            <a:r>
              <a:rPr spc="70" dirty="0"/>
              <a:t> </a:t>
            </a:r>
            <a:r>
              <a:rPr dirty="0"/>
              <a:t>tấn</a:t>
            </a:r>
            <a:r>
              <a:rPr spc="80" dirty="0"/>
              <a:t> </a:t>
            </a:r>
            <a:r>
              <a:rPr dirty="0"/>
              <a:t>công</a:t>
            </a:r>
            <a:r>
              <a:rPr spc="75" dirty="0"/>
              <a:t> </a:t>
            </a:r>
            <a:r>
              <a:rPr dirty="0"/>
              <a:t>và</a:t>
            </a:r>
            <a:r>
              <a:rPr spc="80" dirty="0"/>
              <a:t> </a:t>
            </a:r>
            <a:r>
              <a:rPr dirty="0"/>
              <a:t>mất</a:t>
            </a:r>
            <a:r>
              <a:rPr spc="65" dirty="0"/>
              <a:t> </a:t>
            </a:r>
            <a:r>
              <a:rPr dirty="0"/>
              <a:t>kiểm</a:t>
            </a:r>
            <a:r>
              <a:rPr spc="85" dirty="0"/>
              <a:t> </a:t>
            </a:r>
            <a:r>
              <a:rPr dirty="0"/>
              <a:t>soát,</a:t>
            </a:r>
            <a:r>
              <a:rPr spc="75" dirty="0"/>
              <a:t> </a:t>
            </a:r>
            <a:r>
              <a:rPr dirty="0"/>
              <a:t>virus</a:t>
            </a:r>
            <a:r>
              <a:rPr spc="70" dirty="0"/>
              <a:t> </a:t>
            </a:r>
            <a:r>
              <a:rPr dirty="0"/>
              <a:t>hoặc</a:t>
            </a:r>
            <a:r>
              <a:rPr spc="95" dirty="0"/>
              <a:t> </a:t>
            </a:r>
            <a:r>
              <a:rPr dirty="0"/>
              <a:t>các</a:t>
            </a:r>
            <a:r>
              <a:rPr spc="80" dirty="0"/>
              <a:t> </a:t>
            </a:r>
            <a:r>
              <a:rPr spc="-20" dirty="0"/>
              <a:t>phần </a:t>
            </a:r>
            <a:r>
              <a:rPr dirty="0"/>
              <a:t>mềm</a:t>
            </a:r>
            <a:r>
              <a:rPr spc="305" dirty="0"/>
              <a:t> </a:t>
            </a:r>
            <a:r>
              <a:rPr dirty="0"/>
              <a:t>độc</a:t>
            </a:r>
            <a:r>
              <a:rPr spc="310" dirty="0"/>
              <a:t> </a:t>
            </a:r>
            <a:r>
              <a:rPr dirty="0"/>
              <a:t>hại</a:t>
            </a:r>
            <a:r>
              <a:rPr spc="300" dirty="0"/>
              <a:t> </a:t>
            </a:r>
            <a:r>
              <a:rPr dirty="0"/>
              <a:t>có</a:t>
            </a:r>
            <a:r>
              <a:rPr spc="330" dirty="0"/>
              <a:t> </a:t>
            </a:r>
            <a:r>
              <a:rPr dirty="0"/>
              <a:t>thể</a:t>
            </a:r>
            <a:r>
              <a:rPr spc="330" dirty="0"/>
              <a:t> </a:t>
            </a:r>
            <a:r>
              <a:rPr dirty="0"/>
              <a:t>lây</a:t>
            </a:r>
            <a:r>
              <a:rPr spc="320" dirty="0"/>
              <a:t> </a:t>
            </a:r>
            <a:r>
              <a:rPr dirty="0"/>
              <a:t>lan</a:t>
            </a:r>
            <a:r>
              <a:rPr spc="310" dirty="0"/>
              <a:t> </a:t>
            </a:r>
            <a:r>
              <a:rPr dirty="0"/>
              <a:t>ra</a:t>
            </a:r>
            <a:r>
              <a:rPr spc="310" dirty="0"/>
              <a:t> </a:t>
            </a:r>
            <a:r>
              <a:rPr dirty="0"/>
              <a:t>nhiều</a:t>
            </a:r>
            <a:r>
              <a:rPr spc="305" dirty="0"/>
              <a:t> </a:t>
            </a:r>
            <a:r>
              <a:rPr dirty="0"/>
              <a:t>máy</a:t>
            </a:r>
            <a:r>
              <a:rPr spc="325" dirty="0"/>
              <a:t> </a:t>
            </a:r>
            <a:r>
              <a:rPr dirty="0"/>
              <a:t>ảo</a:t>
            </a:r>
            <a:r>
              <a:rPr spc="315" dirty="0"/>
              <a:t> </a:t>
            </a:r>
            <a:r>
              <a:rPr dirty="0"/>
              <a:t>khác</a:t>
            </a:r>
            <a:r>
              <a:rPr spc="315" dirty="0"/>
              <a:t> </a:t>
            </a:r>
            <a:r>
              <a:rPr dirty="0"/>
              <a:t>do</a:t>
            </a:r>
            <a:r>
              <a:rPr spc="325" dirty="0"/>
              <a:t> </a:t>
            </a:r>
            <a:r>
              <a:rPr spc="-10" dirty="0"/>
              <a:t>Hypervisor </a:t>
            </a:r>
            <a:r>
              <a:rPr dirty="0"/>
              <a:t>này</a:t>
            </a:r>
            <a:r>
              <a:rPr spc="-15" dirty="0"/>
              <a:t> </a:t>
            </a:r>
            <a:r>
              <a:rPr dirty="0"/>
              <a:t>quản</a:t>
            </a:r>
            <a:r>
              <a:rPr spc="-15" dirty="0"/>
              <a:t> </a:t>
            </a:r>
            <a:r>
              <a:rPr spc="-25" dirty="0"/>
              <a:t>lý.</a:t>
            </a:r>
          </a:p>
          <a:p>
            <a:pPr marL="354965" indent="-342265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/>
              <a:t>Do</a:t>
            </a:r>
            <a:r>
              <a:rPr spc="-20" dirty="0"/>
              <a:t> </a:t>
            </a:r>
            <a:r>
              <a:rPr dirty="0"/>
              <a:t>đó,</a:t>
            </a:r>
            <a:r>
              <a:rPr spc="-30" dirty="0"/>
              <a:t> </a:t>
            </a:r>
            <a:r>
              <a:rPr dirty="0"/>
              <a:t>cần</a:t>
            </a:r>
            <a:r>
              <a:rPr spc="-25" dirty="0"/>
              <a:t> </a:t>
            </a:r>
            <a:r>
              <a:rPr dirty="0"/>
              <a:t>rất</a:t>
            </a:r>
            <a:r>
              <a:rPr spc="-20" dirty="0"/>
              <a:t> </a:t>
            </a:r>
            <a:r>
              <a:rPr dirty="0"/>
              <a:t>nhiều</a:t>
            </a:r>
            <a:r>
              <a:rPr spc="-25" dirty="0"/>
              <a:t> </a:t>
            </a:r>
            <a:r>
              <a:rPr dirty="0"/>
              <a:t>công</a:t>
            </a:r>
            <a:r>
              <a:rPr spc="-35" dirty="0"/>
              <a:t> </a:t>
            </a:r>
            <a:r>
              <a:rPr dirty="0"/>
              <a:t>cụ</a:t>
            </a:r>
            <a:r>
              <a:rPr spc="-20" dirty="0"/>
              <a:t> </a:t>
            </a:r>
            <a:r>
              <a:rPr dirty="0"/>
              <a:t>và</a:t>
            </a:r>
            <a:r>
              <a:rPr spc="-30" dirty="0"/>
              <a:t> </a:t>
            </a:r>
            <a:r>
              <a:rPr dirty="0"/>
              <a:t>chính</a:t>
            </a:r>
            <a:r>
              <a:rPr spc="-20" dirty="0"/>
              <a:t> </a:t>
            </a:r>
            <a:r>
              <a:rPr dirty="0"/>
              <a:t>sách</a:t>
            </a:r>
            <a:r>
              <a:rPr spc="-25" dirty="0"/>
              <a:t> </a:t>
            </a:r>
            <a:r>
              <a:rPr dirty="0"/>
              <a:t>để</a:t>
            </a:r>
            <a:r>
              <a:rPr spc="-20" dirty="0"/>
              <a:t> </a:t>
            </a:r>
            <a:r>
              <a:rPr dirty="0"/>
              <a:t>bảo</a:t>
            </a:r>
            <a:r>
              <a:rPr spc="-25" dirty="0"/>
              <a:t> </a:t>
            </a:r>
            <a:r>
              <a:rPr dirty="0"/>
              <a:t>vệ</a:t>
            </a:r>
            <a:r>
              <a:rPr spc="-20" dirty="0"/>
              <a:t> </a:t>
            </a:r>
            <a:r>
              <a:rPr spc="-10" dirty="0"/>
              <a:t>Hypervisor.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597C7-AA8E-494E-D0A5-6839550A63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NHỮNG NGUY CƠ TRONG CÔNG NGHỆ ẢO </a:t>
            </a:r>
            <a:r>
              <a:rPr spc="-25" dirty="0"/>
              <a:t>HÓA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Execution</a:t>
            </a:r>
            <a:r>
              <a:rPr spc="165" dirty="0"/>
              <a:t> </a:t>
            </a:r>
            <a:r>
              <a:rPr dirty="0"/>
              <a:t>of</a:t>
            </a:r>
            <a:r>
              <a:rPr spc="160" dirty="0"/>
              <a:t> </a:t>
            </a:r>
            <a:r>
              <a:rPr dirty="0"/>
              <a:t>VMs</a:t>
            </a:r>
            <a:r>
              <a:rPr spc="175" dirty="0"/>
              <a:t> </a:t>
            </a:r>
            <a:r>
              <a:rPr dirty="0"/>
              <a:t>with</a:t>
            </a:r>
            <a:r>
              <a:rPr spc="165" dirty="0"/>
              <a:t> </a:t>
            </a:r>
            <a:r>
              <a:rPr dirty="0"/>
              <a:t>different</a:t>
            </a:r>
            <a:r>
              <a:rPr spc="185" dirty="0"/>
              <a:t> </a:t>
            </a:r>
            <a:r>
              <a:rPr dirty="0"/>
              <a:t>trust</a:t>
            </a:r>
            <a:r>
              <a:rPr spc="180" dirty="0"/>
              <a:t> </a:t>
            </a:r>
            <a:r>
              <a:rPr dirty="0"/>
              <a:t>levels:</a:t>
            </a:r>
            <a:r>
              <a:rPr spc="175" dirty="0"/>
              <a:t> </a:t>
            </a:r>
            <a:r>
              <a:rPr dirty="0"/>
              <a:t>các</a:t>
            </a:r>
            <a:r>
              <a:rPr spc="165" dirty="0"/>
              <a:t> </a:t>
            </a:r>
            <a:r>
              <a:rPr dirty="0"/>
              <a:t>máy</a:t>
            </a:r>
            <a:r>
              <a:rPr spc="180" dirty="0"/>
              <a:t> </a:t>
            </a:r>
            <a:r>
              <a:rPr dirty="0"/>
              <a:t>ảo</a:t>
            </a:r>
            <a:r>
              <a:rPr spc="165" dirty="0"/>
              <a:t> </a:t>
            </a:r>
            <a:r>
              <a:rPr dirty="0"/>
              <a:t>khi</a:t>
            </a:r>
            <a:r>
              <a:rPr spc="155" dirty="0"/>
              <a:t> </a:t>
            </a:r>
            <a:r>
              <a:rPr spc="-20" dirty="0"/>
              <a:t>thực </a:t>
            </a:r>
            <a:r>
              <a:rPr dirty="0"/>
              <a:t>thi</a:t>
            </a:r>
            <a:r>
              <a:rPr spc="295" dirty="0"/>
              <a:t> </a:t>
            </a:r>
            <a:r>
              <a:rPr dirty="0"/>
              <a:t>sẽ</a:t>
            </a:r>
            <a:r>
              <a:rPr spc="285" dirty="0"/>
              <a:t> </a:t>
            </a:r>
            <a:r>
              <a:rPr dirty="0"/>
              <a:t>có</a:t>
            </a:r>
            <a:r>
              <a:rPr spc="295" dirty="0"/>
              <a:t> </a:t>
            </a:r>
            <a:r>
              <a:rPr dirty="0"/>
              <a:t>những</a:t>
            </a:r>
            <a:r>
              <a:rPr spc="285" dirty="0"/>
              <a:t> </a:t>
            </a:r>
            <a:r>
              <a:rPr dirty="0"/>
              <a:t>chính</a:t>
            </a:r>
            <a:r>
              <a:rPr spc="280" dirty="0"/>
              <a:t> </a:t>
            </a:r>
            <a:r>
              <a:rPr dirty="0"/>
              <a:t>sách</a:t>
            </a:r>
            <a:r>
              <a:rPr spc="295" dirty="0"/>
              <a:t> </a:t>
            </a:r>
            <a:r>
              <a:rPr dirty="0"/>
              <a:t>về</a:t>
            </a:r>
            <a:r>
              <a:rPr spc="285" dirty="0"/>
              <a:t> </a:t>
            </a:r>
            <a:r>
              <a:rPr dirty="0"/>
              <a:t>độ</a:t>
            </a:r>
            <a:r>
              <a:rPr spc="295" dirty="0"/>
              <a:t> </a:t>
            </a:r>
            <a:r>
              <a:rPr dirty="0"/>
              <a:t>bảo</a:t>
            </a:r>
            <a:r>
              <a:rPr spc="290" dirty="0"/>
              <a:t> </a:t>
            </a:r>
            <a:r>
              <a:rPr dirty="0"/>
              <a:t>mật</a:t>
            </a:r>
            <a:r>
              <a:rPr spc="275" dirty="0"/>
              <a:t> </a:t>
            </a:r>
            <a:r>
              <a:rPr dirty="0"/>
              <a:t>khác</a:t>
            </a:r>
            <a:r>
              <a:rPr spc="300" dirty="0"/>
              <a:t> </a:t>
            </a:r>
            <a:r>
              <a:rPr dirty="0"/>
              <a:t>nhau.</a:t>
            </a:r>
            <a:r>
              <a:rPr spc="285" dirty="0"/>
              <a:t> </a:t>
            </a:r>
            <a:r>
              <a:rPr dirty="0"/>
              <a:t>Tuy</a:t>
            </a:r>
            <a:r>
              <a:rPr spc="300" dirty="0"/>
              <a:t> </a:t>
            </a:r>
            <a:r>
              <a:rPr spc="-10" dirty="0"/>
              <a:t>nhiên,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máy</a:t>
            </a:r>
            <a:r>
              <a:rPr spc="-1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này</a:t>
            </a:r>
            <a:r>
              <a:rPr spc="-20" dirty="0"/>
              <a:t> </a:t>
            </a:r>
            <a:r>
              <a:rPr dirty="0"/>
              <a:t>có</a:t>
            </a:r>
            <a:r>
              <a:rPr spc="-5" dirty="0"/>
              <a:t> </a:t>
            </a:r>
            <a:r>
              <a:rPr dirty="0"/>
              <a:t>thể</a:t>
            </a:r>
            <a:r>
              <a:rPr spc="-20" dirty="0"/>
              <a:t> </a:t>
            </a:r>
            <a:r>
              <a:rPr dirty="0"/>
              <a:t>nằm</a:t>
            </a:r>
            <a:r>
              <a:rPr spc="-25" dirty="0"/>
              <a:t> </a:t>
            </a:r>
            <a:r>
              <a:rPr dirty="0"/>
              <a:t>trên</a:t>
            </a:r>
            <a:r>
              <a:rPr spc="-5" dirty="0"/>
              <a:t> </a:t>
            </a:r>
            <a:r>
              <a:rPr dirty="0"/>
              <a:t>cùng</a:t>
            </a:r>
            <a:r>
              <a:rPr spc="-30" dirty="0"/>
              <a:t> </a:t>
            </a:r>
            <a:r>
              <a:rPr dirty="0"/>
              <a:t>một</a:t>
            </a:r>
            <a:r>
              <a:rPr spc="-25" dirty="0"/>
              <a:t> </a:t>
            </a:r>
            <a:r>
              <a:rPr dirty="0"/>
              <a:t>phần</a:t>
            </a:r>
            <a:r>
              <a:rPr spc="-20" dirty="0"/>
              <a:t> </a:t>
            </a:r>
            <a:r>
              <a:rPr dirty="0"/>
              <a:t>cứng</a:t>
            </a:r>
            <a:r>
              <a:rPr spc="-20" dirty="0"/>
              <a:t> </a:t>
            </a:r>
            <a:r>
              <a:rPr dirty="0"/>
              <a:t>vật</a:t>
            </a:r>
            <a:r>
              <a:rPr spc="-30" dirty="0"/>
              <a:t> </a:t>
            </a:r>
            <a:r>
              <a:rPr spc="-25" dirty="0"/>
              <a:t>lý.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Từ</a:t>
            </a:r>
            <a:r>
              <a:rPr spc="105" dirty="0"/>
              <a:t> </a:t>
            </a:r>
            <a:r>
              <a:rPr dirty="0"/>
              <a:t>đó,</a:t>
            </a:r>
            <a:r>
              <a:rPr spc="105" dirty="0"/>
              <a:t> </a:t>
            </a:r>
            <a:r>
              <a:rPr dirty="0"/>
              <a:t>có</a:t>
            </a:r>
            <a:r>
              <a:rPr spc="110" dirty="0"/>
              <a:t> </a:t>
            </a:r>
            <a:r>
              <a:rPr dirty="0"/>
              <a:t>một</a:t>
            </a:r>
            <a:r>
              <a:rPr spc="95" dirty="0"/>
              <a:t> </a:t>
            </a:r>
            <a:r>
              <a:rPr dirty="0"/>
              <a:t>nguy</a:t>
            </a:r>
            <a:r>
              <a:rPr spc="114" dirty="0"/>
              <a:t> </a:t>
            </a:r>
            <a:r>
              <a:rPr dirty="0"/>
              <a:t>cơ</a:t>
            </a:r>
            <a:r>
              <a:rPr spc="114" dirty="0"/>
              <a:t> </a:t>
            </a:r>
            <a:r>
              <a:rPr dirty="0"/>
              <a:t>là</a:t>
            </a:r>
            <a:r>
              <a:rPr spc="110" dirty="0"/>
              <a:t> </a:t>
            </a:r>
            <a:r>
              <a:rPr dirty="0"/>
              <a:t>các</a:t>
            </a:r>
            <a:r>
              <a:rPr spc="110" dirty="0"/>
              <a:t> </a:t>
            </a:r>
            <a:r>
              <a:rPr dirty="0"/>
              <a:t>máy</a:t>
            </a:r>
            <a:r>
              <a:rPr spc="100" dirty="0"/>
              <a:t> </a:t>
            </a:r>
            <a:r>
              <a:rPr dirty="0"/>
              <a:t>ảo</a:t>
            </a:r>
            <a:r>
              <a:rPr spc="110" dirty="0"/>
              <a:t> </a:t>
            </a:r>
            <a:r>
              <a:rPr dirty="0"/>
              <a:t>có</a:t>
            </a:r>
            <a:r>
              <a:rPr spc="110" dirty="0"/>
              <a:t> </a:t>
            </a:r>
            <a:r>
              <a:rPr dirty="0"/>
              <a:t>mức</a:t>
            </a:r>
            <a:r>
              <a:rPr spc="100" dirty="0"/>
              <a:t> </a:t>
            </a:r>
            <a:r>
              <a:rPr dirty="0"/>
              <a:t>độ</a:t>
            </a:r>
            <a:r>
              <a:rPr spc="110" dirty="0"/>
              <a:t> </a:t>
            </a:r>
            <a:r>
              <a:rPr dirty="0"/>
              <a:t>tin</a:t>
            </a:r>
            <a:r>
              <a:rPr spc="105" dirty="0"/>
              <a:t> </a:t>
            </a:r>
            <a:r>
              <a:rPr dirty="0"/>
              <a:t>cậy</a:t>
            </a:r>
            <a:r>
              <a:rPr spc="110" dirty="0"/>
              <a:t> </a:t>
            </a:r>
            <a:r>
              <a:rPr dirty="0"/>
              <a:t>cao</a:t>
            </a:r>
            <a:r>
              <a:rPr spc="105" dirty="0"/>
              <a:t> </a:t>
            </a:r>
            <a:r>
              <a:rPr spc="-10" dirty="0"/>
              <a:t>(triển </a:t>
            </a:r>
            <a:r>
              <a:rPr dirty="0"/>
              <a:t>khai</a:t>
            </a:r>
            <a:r>
              <a:rPr spc="405" dirty="0"/>
              <a:t> </a:t>
            </a:r>
            <a:r>
              <a:rPr dirty="0"/>
              <a:t>chính</a:t>
            </a:r>
            <a:r>
              <a:rPr spc="409" dirty="0"/>
              <a:t> </a:t>
            </a:r>
            <a:r>
              <a:rPr dirty="0"/>
              <a:t>sách</a:t>
            </a:r>
            <a:r>
              <a:rPr spc="385" dirty="0"/>
              <a:t> </a:t>
            </a:r>
            <a:r>
              <a:rPr dirty="0"/>
              <a:t>bảo</a:t>
            </a:r>
            <a:r>
              <a:rPr spc="400" dirty="0"/>
              <a:t> </a:t>
            </a:r>
            <a:r>
              <a:rPr dirty="0"/>
              <a:t>mật</a:t>
            </a:r>
            <a:r>
              <a:rPr spc="405" dirty="0"/>
              <a:t> </a:t>
            </a:r>
            <a:r>
              <a:rPr dirty="0"/>
              <a:t>tốt)</a:t>
            </a:r>
            <a:r>
              <a:rPr spc="390" dirty="0"/>
              <a:t> </a:t>
            </a:r>
            <a:r>
              <a:rPr dirty="0"/>
              <a:t>có</a:t>
            </a:r>
            <a:r>
              <a:rPr spc="415" dirty="0"/>
              <a:t> </a:t>
            </a:r>
            <a:r>
              <a:rPr dirty="0"/>
              <a:t>thể</a:t>
            </a:r>
            <a:r>
              <a:rPr spc="405" dirty="0"/>
              <a:t> </a:t>
            </a:r>
            <a:r>
              <a:rPr dirty="0"/>
              <a:t>bị</a:t>
            </a:r>
            <a:r>
              <a:rPr spc="390" dirty="0"/>
              <a:t> </a:t>
            </a:r>
            <a:r>
              <a:rPr dirty="0"/>
              <a:t>xâm</a:t>
            </a:r>
            <a:r>
              <a:rPr spc="400" dirty="0"/>
              <a:t> </a:t>
            </a:r>
            <a:r>
              <a:rPr dirty="0"/>
              <a:t>phạm</a:t>
            </a:r>
            <a:r>
              <a:rPr spc="405" dirty="0"/>
              <a:t> </a:t>
            </a:r>
            <a:r>
              <a:rPr dirty="0"/>
              <a:t>thông</a:t>
            </a:r>
            <a:r>
              <a:rPr spc="395" dirty="0"/>
              <a:t> </a:t>
            </a:r>
            <a:r>
              <a:rPr dirty="0"/>
              <a:t>qua</a:t>
            </a:r>
            <a:r>
              <a:rPr spc="390" dirty="0"/>
              <a:t> </a:t>
            </a:r>
            <a:r>
              <a:rPr spc="-25" dirty="0"/>
              <a:t>các </a:t>
            </a:r>
            <a:r>
              <a:rPr dirty="0"/>
              <a:t>máy</a:t>
            </a:r>
            <a:r>
              <a:rPr spc="-20" dirty="0"/>
              <a:t> </a:t>
            </a:r>
            <a:r>
              <a:rPr dirty="0"/>
              <a:t>ảo</a:t>
            </a:r>
            <a:r>
              <a:rPr spc="-10" dirty="0"/>
              <a:t> </a:t>
            </a:r>
            <a:r>
              <a:rPr dirty="0"/>
              <a:t>có</a:t>
            </a:r>
            <a:r>
              <a:rPr spc="-10" dirty="0"/>
              <a:t> </a:t>
            </a:r>
            <a:r>
              <a:rPr dirty="0"/>
              <a:t>mức</a:t>
            </a:r>
            <a:r>
              <a:rPr spc="-20" dirty="0"/>
              <a:t> </a:t>
            </a:r>
            <a:r>
              <a:rPr dirty="0"/>
              <a:t>độ</a:t>
            </a:r>
            <a:r>
              <a:rPr spc="-25" dirty="0"/>
              <a:t> </a:t>
            </a:r>
            <a:r>
              <a:rPr dirty="0"/>
              <a:t>tin</a:t>
            </a:r>
            <a:r>
              <a:rPr spc="-10" dirty="0"/>
              <a:t> </a:t>
            </a:r>
            <a:r>
              <a:rPr dirty="0"/>
              <a:t>cậy</a:t>
            </a:r>
            <a:r>
              <a:rPr spc="-10" dirty="0"/>
              <a:t> </a:t>
            </a:r>
            <a:r>
              <a:rPr dirty="0"/>
              <a:t>thấp</a:t>
            </a:r>
            <a:r>
              <a:rPr spc="-15" dirty="0"/>
              <a:t> </a:t>
            </a:r>
            <a:r>
              <a:rPr spc="-20" dirty="0"/>
              <a:t>hơn.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Lý</a:t>
            </a:r>
            <a:r>
              <a:rPr spc="95" dirty="0"/>
              <a:t> </a:t>
            </a:r>
            <a:r>
              <a:rPr dirty="0"/>
              <a:t>tưởng</a:t>
            </a:r>
            <a:r>
              <a:rPr spc="100" dirty="0"/>
              <a:t> </a:t>
            </a:r>
            <a:r>
              <a:rPr dirty="0"/>
              <a:t>nhất</a:t>
            </a:r>
            <a:r>
              <a:rPr spc="90" dirty="0"/>
              <a:t> </a:t>
            </a:r>
            <a:r>
              <a:rPr dirty="0"/>
              <a:t>để</a:t>
            </a:r>
            <a:r>
              <a:rPr spc="95" dirty="0"/>
              <a:t> </a:t>
            </a:r>
            <a:r>
              <a:rPr dirty="0"/>
              <a:t>đảm</a:t>
            </a:r>
            <a:r>
              <a:rPr spc="95" dirty="0"/>
              <a:t> </a:t>
            </a:r>
            <a:r>
              <a:rPr dirty="0"/>
              <a:t>bảo</a:t>
            </a:r>
            <a:r>
              <a:rPr spc="100" dirty="0"/>
              <a:t> </a:t>
            </a:r>
            <a:r>
              <a:rPr dirty="0"/>
              <a:t>vấn</a:t>
            </a:r>
            <a:r>
              <a:rPr spc="95" dirty="0"/>
              <a:t> </a:t>
            </a:r>
            <a:r>
              <a:rPr dirty="0"/>
              <a:t>đề</a:t>
            </a:r>
            <a:r>
              <a:rPr spc="95" dirty="0"/>
              <a:t> </a:t>
            </a:r>
            <a:r>
              <a:rPr dirty="0"/>
              <a:t>này</a:t>
            </a:r>
            <a:r>
              <a:rPr spc="110" dirty="0"/>
              <a:t> </a:t>
            </a:r>
            <a:r>
              <a:rPr dirty="0"/>
              <a:t>là</a:t>
            </a:r>
            <a:r>
              <a:rPr spc="95" dirty="0"/>
              <a:t> </a:t>
            </a:r>
            <a:r>
              <a:rPr dirty="0"/>
              <a:t>chạy</a:t>
            </a:r>
            <a:r>
              <a:rPr spc="100" dirty="0"/>
              <a:t> </a:t>
            </a:r>
            <a:r>
              <a:rPr dirty="0"/>
              <a:t>các</a:t>
            </a:r>
            <a:r>
              <a:rPr spc="95" dirty="0"/>
              <a:t> </a:t>
            </a:r>
            <a:r>
              <a:rPr dirty="0"/>
              <a:t>máy</a:t>
            </a:r>
            <a:r>
              <a:rPr spc="110" dirty="0"/>
              <a:t> </a:t>
            </a:r>
            <a:r>
              <a:rPr dirty="0"/>
              <a:t>ảo</a:t>
            </a:r>
            <a:r>
              <a:rPr spc="110" dirty="0"/>
              <a:t> </a:t>
            </a:r>
            <a:r>
              <a:rPr dirty="0"/>
              <a:t>có</a:t>
            </a:r>
            <a:r>
              <a:rPr spc="95" dirty="0"/>
              <a:t> </a:t>
            </a:r>
            <a:r>
              <a:rPr spc="-20" dirty="0"/>
              <a:t>cùng </a:t>
            </a:r>
            <a:r>
              <a:rPr dirty="0"/>
              <a:t>độ</a:t>
            </a:r>
            <a:r>
              <a:rPr spc="-20" dirty="0"/>
              <a:t> </a:t>
            </a:r>
            <a:r>
              <a:rPr dirty="0"/>
              <a:t>tin</a:t>
            </a:r>
            <a:r>
              <a:rPr spc="-10" dirty="0"/>
              <a:t> </a:t>
            </a:r>
            <a:r>
              <a:rPr dirty="0"/>
              <a:t>cậy</a:t>
            </a:r>
            <a:r>
              <a:rPr spc="-5" dirty="0"/>
              <a:t> </a:t>
            </a:r>
            <a:r>
              <a:rPr dirty="0"/>
              <a:t>trên</a:t>
            </a:r>
            <a:r>
              <a:rPr spc="-20" dirty="0"/>
              <a:t> </a:t>
            </a:r>
            <a:r>
              <a:rPr dirty="0"/>
              <a:t>cùng</a:t>
            </a:r>
            <a:r>
              <a:rPr spc="-30" dirty="0"/>
              <a:t> </a:t>
            </a:r>
            <a:r>
              <a:rPr dirty="0"/>
              <a:t>một</a:t>
            </a:r>
            <a:r>
              <a:rPr spc="-10" dirty="0"/>
              <a:t> </a:t>
            </a:r>
            <a:r>
              <a:rPr dirty="0"/>
              <a:t>hệ</a:t>
            </a:r>
            <a:r>
              <a:rPr spc="-20" dirty="0"/>
              <a:t> </a:t>
            </a:r>
            <a:r>
              <a:rPr dirty="0"/>
              <a:t>thống</a:t>
            </a:r>
            <a:r>
              <a:rPr spc="-30" dirty="0"/>
              <a:t> </a:t>
            </a:r>
            <a:r>
              <a:rPr dirty="0"/>
              <a:t>vật</a:t>
            </a:r>
            <a:r>
              <a:rPr spc="-15" dirty="0"/>
              <a:t> </a:t>
            </a:r>
            <a:r>
              <a:rPr spc="-25" dirty="0"/>
              <a:t>lý.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9D508-BD70-3EAB-AAB0-1302CB0BE0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6319">
              <a:lnSpc>
                <a:spcPct val="100000"/>
              </a:lnSpc>
              <a:spcBef>
                <a:spcPts val="100"/>
              </a:spcBef>
            </a:pP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SỐ NGUY CƠ KHI</a:t>
            </a:r>
            <a:r>
              <a:rPr spc="-15" dirty="0"/>
              <a:t> </a:t>
            </a:r>
            <a:r>
              <a:rPr dirty="0"/>
              <a:t>SỬ DỤNG</a:t>
            </a:r>
            <a:r>
              <a:rPr spc="-15" dirty="0"/>
              <a:t> </a:t>
            </a:r>
            <a:r>
              <a:rPr spc="-1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33828"/>
            <a:ext cx="4943475" cy="45078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breaches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</a:t>
            </a:r>
            <a:r>
              <a:rPr sz="320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loss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Data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leakage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Account</a:t>
            </a:r>
            <a:r>
              <a:rPr sz="3200" spc="-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hijacking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Insider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threats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Insecure</a:t>
            </a:r>
            <a:r>
              <a:rPr sz="32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API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No control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over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repositories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8B67F-DBB7-F1BB-C636-15A61F0702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93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20" dirty="0"/>
              <a:t> </a:t>
            </a: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SỐ</a:t>
            </a:r>
            <a:r>
              <a:rPr spc="-5" dirty="0"/>
              <a:t> </a:t>
            </a:r>
            <a:r>
              <a:rPr dirty="0"/>
              <a:t>CUỘC</a:t>
            </a:r>
            <a:r>
              <a:rPr spc="-5" dirty="0"/>
              <a:t> </a:t>
            </a:r>
            <a:r>
              <a:rPr dirty="0"/>
              <a:t>TẤN</a:t>
            </a:r>
            <a:r>
              <a:rPr spc="-5" dirty="0"/>
              <a:t> </a:t>
            </a:r>
            <a:r>
              <a:rPr dirty="0"/>
              <a:t>CÔNG</a:t>
            </a:r>
            <a:r>
              <a:rPr spc="-15" dirty="0"/>
              <a:t> </a:t>
            </a:r>
            <a:r>
              <a:rPr dirty="0"/>
              <a:t>PHỔ</a:t>
            </a:r>
            <a:r>
              <a:rPr spc="-15" dirty="0"/>
              <a:t> </a:t>
            </a:r>
            <a:r>
              <a:rPr spc="-20" dirty="0"/>
              <a:t>BIẾN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5393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sóng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ransomware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mới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nhắm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mục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tiêu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vào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máy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chủ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ESXi:</a:t>
            </a:r>
            <a:endParaRPr sz="3200">
              <a:latin typeface="Times New Roman"/>
              <a:cs typeface="Times New Roman"/>
            </a:endParaRPr>
          </a:p>
          <a:p>
            <a:pPr marL="755015" marR="762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Nhóm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phó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khẩn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tính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(CERT)</a:t>
            </a:r>
            <a:r>
              <a:rPr sz="3000" spc="1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Pháp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biết: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“Các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chiến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tấn</a:t>
            </a:r>
            <a:r>
              <a:rPr sz="3000" spc="3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dường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khai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thác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lỗ</a:t>
            </a:r>
            <a:r>
              <a:rPr sz="30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hổng</a:t>
            </a:r>
            <a:r>
              <a:rPr sz="3000" spc="3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CVE-2021-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21974,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đã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bản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vá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từ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ngày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23/2/2021”.</a:t>
            </a:r>
            <a:endParaRPr sz="30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1210"/>
              </a:spcBef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Nhà</a:t>
            </a:r>
            <a:r>
              <a:rPr sz="2800" spc="3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28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28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28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28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28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28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2800" spc="3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ý:</a:t>
            </a:r>
            <a:r>
              <a:rPr sz="28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“Một</a:t>
            </a:r>
            <a:r>
              <a:rPr sz="28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tác</a:t>
            </a:r>
            <a:r>
              <a:rPr sz="28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nhân</a:t>
            </a:r>
            <a:r>
              <a:rPr sz="28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độc</a:t>
            </a:r>
            <a:r>
              <a:rPr sz="28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hại</a:t>
            </a:r>
            <a:r>
              <a:rPr sz="28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nằm</a:t>
            </a:r>
            <a:r>
              <a:rPr sz="2800" spc="3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trong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cùng</a:t>
            </a:r>
            <a:r>
              <a:rPr sz="28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28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phân</a:t>
            </a:r>
            <a:r>
              <a:rPr sz="28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đoạn</a:t>
            </a:r>
            <a:r>
              <a:rPr sz="28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28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28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ESXi</a:t>
            </a:r>
            <a:r>
              <a:rPr sz="28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28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quyền</a:t>
            </a:r>
            <a:r>
              <a:rPr sz="28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28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r>
              <a:rPr sz="28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vào</a:t>
            </a:r>
            <a:r>
              <a:rPr sz="28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cổng</a:t>
            </a:r>
            <a:r>
              <a:rPr sz="28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427,</a:t>
            </a:r>
            <a:r>
              <a:rPr sz="28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có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28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kích</a:t>
            </a:r>
            <a:r>
              <a:rPr sz="28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28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sự</a:t>
            </a:r>
            <a:r>
              <a:rPr sz="28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cố</a:t>
            </a:r>
            <a:r>
              <a:rPr sz="28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tràn</a:t>
            </a:r>
            <a:r>
              <a:rPr sz="28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28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nhớ</a:t>
            </a:r>
            <a:r>
              <a:rPr sz="28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28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28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2800" spc="1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OpenSLP</a:t>
            </a:r>
            <a:r>
              <a:rPr sz="28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dẫn</a:t>
            </a:r>
            <a:r>
              <a:rPr sz="2800" spc="1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đến</a:t>
            </a:r>
            <a:r>
              <a:rPr sz="28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28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C00000"/>
                </a:solidFill>
                <a:latin typeface="Times New Roman"/>
                <a:cs typeface="Times New Roman"/>
              </a:rPr>
              <a:t>thi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mã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từ</a:t>
            </a:r>
            <a:r>
              <a:rPr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xa”.</a:t>
            </a:r>
            <a:endParaRPr sz="2800">
              <a:latin typeface="Times New Roman"/>
              <a:cs typeface="Times New Roman"/>
            </a:endParaRPr>
          </a:p>
          <a:p>
            <a:pPr marL="755015" marR="6985" lvl="1" indent="-285750" algn="just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Links</a:t>
            </a:r>
            <a:r>
              <a:rPr sz="2800" spc="57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800" spc="560" dirty="0">
                <a:solidFill>
                  <a:srgbClr val="C00000"/>
                </a:solidFill>
                <a:latin typeface="Times New Roman"/>
                <a:cs typeface="Times New Roman"/>
              </a:rPr>
              <a:t>  </a:t>
            </a:r>
            <a:r>
              <a:rPr sz="2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  <a:hlinkClick r:id="rId2"/>
              </a:rPr>
              <a:t>https://thehackernews.com/2023/02/new-</a:t>
            </a:r>
            <a:r>
              <a:rPr sz="2800" u="sng" spc="-2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  <a:hlinkClick r:id="rId2"/>
              </a:rPr>
              <a:t>wave-</a:t>
            </a:r>
            <a:r>
              <a:rPr sz="2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  <a:hlinkClick r:id="rId2"/>
              </a:rPr>
              <a:t>of-ransomware-</a:t>
            </a:r>
            <a:r>
              <a:rPr sz="2800" u="none" spc="-10" dirty="0">
                <a:solidFill>
                  <a:srgbClr val="009999"/>
                </a:solidFill>
                <a:latin typeface="Times New Roman"/>
                <a:cs typeface="Times New Roman"/>
              </a:rPr>
              <a:t> 	</a:t>
            </a:r>
            <a:r>
              <a:rPr sz="28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  <a:hlinkClick r:id="rId2"/>
              </a:rPr>
              <a:t>attacks.html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027FB-C3E4-4F7B-D0A3-6C3521C578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93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20" dirty="0"/>
              <a:t> </a:t>
            </a: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SỐ</a:t>
            </a:r>
            <a:r>
              <a:rPr spc="-5" dirty="0"/>
              <a:t> </a:t>
            </a:r>
            <a:r>
              <a:rPr dirty="0"/>
              <a:t>CUỘC</a:t>
            </a:r>
            <a:r>
              <a:rPr spc="-5" dirty="0"/>
              <a:t> </a:t>
            </a:r>
            <a:r>
              <a:rPr dirty="0"/>
              <a:t>TẤN</a:t>
            </a:r>
            <a:r>
              <a:rPr spc="-5" dirty="0"/>
              <a:t> </a:t>
            </a:r>
            <a:r>
              <a:rPr dirty="0"/>
              <a:t>CÔNG</a:t>
            </a:r>
            <a:r>
              <a:rPr spc="-15" dirty="0"/>
              <a:t> </a:t>
            </a:r>
            <a:r>
              <a:rPr dirty="0"/>
              <a:t>PHỔ</a:t>
            </a:r>
            <a:r>
              <a:rPr spc="-15" dirty="0"/>
              <a:t> </a:t>
            </a:r>
            <a:r>
              <a:rPr spc="-20" dirty="0"/>
              <a:t>BIẾN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8044" y="1328927"/>
            <a:ext cx="6915911" cy="51145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5F08C-F198-5F81-C54D-BA277FB695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93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20" dirty="0"/>
              <a:t> </a:t>
            </a: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SỐ</a:t>
            </a:r>
            <a:r>
              <a:rPr spc="-5" dirty="0"/>
              <a:t> </a:t>
            </a:r>
            <a:r>
              <a:rPr dirty="0"/>
              <a:t>CUỘC</a:t>
            </a:r>
            <a:r>
              <a:rPr spc="-5" dirty="0"/>
              <a:t> </a:t>
            </a:r>
            <a:r>
              <a:rPr dirty="0"/>
              <a:t>TẤN</a:t>
            </a:r>
            <a:r>
              <a:rPr spc="-5" dirty="0"/>
              <a:t> </a:t>
            </a:r>
            <a:r>
              <a:rPr dirty="0"/>
              <a:t>CÔNG</a:t>
            </a:r>
            <a:r>
              <a:rPr spc="-15" dirty="0"/>
              <a:t> </a:t>
            </a:r>
            <a:r>
              <a:rPr dirty="0"/>
              <a:t>PHỔ</a:t>
            </a:r>
            <a:r>
              <a:rPr spc="-15" dirty="0"/>
              <a:t> </a:t>
            </a:r>
            <a:r>
              <a:rPr spc="-20" dirty="0"/>
              <a:t>BIẾN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33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  <a:tab pos="3025775" algn="l"/>
                <a:tab pos="5807075" algn="l"/>
                <a:tab pos="7506970" algn="l"/>
                <a:tab pos="9158605" algn="l"/>
                <a:tab pos="10520045" algn="l"/>
              </a:tabLst>
            </a:pP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EleKtra-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Leak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Cryptojacking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Attacks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Exploit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AWS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IAM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841" y="1422628"/>
            <a:ext cx="11323320" cy="2921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300"/>
              </a:spcBef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Credentials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Exposed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GitHub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Cuộc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tấn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xác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quyền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cập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AWS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lộ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kho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GitHub.</a:t>
            </a:r>
            <a:endParaRPr sz="3200">
              <a:latin typeface="Times New Roman"/>
              <a:cs typeface="Times New Roman"/>
            </a:endParaRPr>
          </a:p>
          <a:p>
            <a:pPr marL="355600" marR="635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tấn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ra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nhiều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phiên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AWS</a:t>
            </a:r>
            <a:r>
              <a:rPr sz="32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EC2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thống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tiền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điện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tử.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41" y="4470653"/>
            <a:ext cx="1132713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  <a:tab pos="3350260" algn="l"/>
              </a:tabLst>
            </a:pP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Link: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32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  <a:hlinkClick r:id="rId2"/>
              </a:rPr>
              <a:t>https://thehackernews.com/2023/10/elektra-leak-</a:t>
            </a:r>
            <a:r>
              <a:rPr sz="3200" u="none" spc="-1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20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  <a:hlinkClick r:id="rId2"/>
              </a:rPr>
              <a:t>cryptojacking-attacks.html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EE22C-2AB7-CA73-2F7B-9D7DCDE516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793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20" dirty="0"/>
              <a:t> </a:t>
            </a: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SỐ</a:t>
            </a:r>
            <a:r>
              <a:rPr spc="-5" dirty="0"/>
              <a:t> </a:t>
            </a:r>
            <a:r>
              <a:rPr dirty="0"/>
              <a:t>CUỘC</a:t>
            </a:r>
            <a:r>
              <a:rPr spc="-5" dirty="0"/>
              <a:t> </a:t>
            </a:r>
            <a:r>
              <a:rPr dirty="0"/>
              <a:t>TẤN</a:t>
            </a:r>
            <a:r>
              <a:rPr spc="-5" dirty="0"/>
              <a:t> </a:t>
            </a:r>
            <a:r>
              <a:rPr dirty="0"/>
              <a:t>CÔNG</a:t>
            </a:r>
            <a:r>
              <a:rPr spc="-15" dirty="0"/>
              <a:t> </a:t>
            </a:r>
            <a:r>
              <a:rPr dirty="0"/>
              <a:t>PHỔ</a:t>
            </a:r>
            <a:r>
              <a:rPr spc="-15" dirty="0"/>
              <a:t> </a:t>
            </a:r>
            <a:r>
              <a:rPr spc="-20" dirty="0"/>
              <a:t>BIẾN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6495" cy="57067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Cuộc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tấn công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VPN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bởi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Tunnel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Crack:</a:t>
            </a:r>
            <a:endParaRPr sz="32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Mạng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riêng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hay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(Virtual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Private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Network)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giúp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đảm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an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hệ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thống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tổ</a:t>
            </a:r>
            <a:r>
              <a:rPr sz="3000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chức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bằng</a:t>
            </a:r>
            <a:r>
              <a:rPr sz="3000" spc="4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cách</a:t>
            </a:r>
            <a:r>
              <a:rPr sz="3000" spc="4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4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4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4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đường</a:t>
            </a:r>
            <a:r>
              <a:rPr sz="3000" spc="4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hầm</a:t>
            </a:r>
            <a:r>
              <a:rPr sz="3000" spc="4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(tunnel)</a:t>
            </a:r>
            <a:r>
              <a:rPr sz="3000" spc="4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mã</a:t>
            </a:r>
            <a:r>
              <a:rPr sz="3000" spc="4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hóa</a:t>
            </a:r>
            <a:r>
              <a:rPr sz="3000" spc="4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dữ</a:t>
            </a:r>
            <a:r>
              <a:rPr sz="3000" spc="45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liệu</a:t>
            </a:r>
            <a:r>
              <a:rPr sz="3000" spc="4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khi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người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dùng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Internet.</a:t>
            </a:r>
            <a:endParaRPr sz="3000">
              <a:latin typeface="Times New Roman"/>
              <a:cs typeface="Times New Roman"/>
            </a:endParaRPr>
          </a:p>
          <a:p>
            <a:pPr marL="755015" marR="6985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3000" spc="2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tặc</a:t>
            </a:r>
            <a:r>
              <a:rPr sz="3000" spc="2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lợi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lỗ</a:t>
            </a:r>
            <a:r>
              <a:rPr sz="3000" spc="2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hổng</a:t>
            </a:r>
            <a:r>
              <a:rPr sz="3000" spc="2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trong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VPN,</a:t>
            </a:r>
            <a:r>
              <a:rPr sz="3000" spc="2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2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tấn</a:t>
            </a:r>
            <a:r>
              <a:rPr sz="3000" spc="2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công</a:t>
            </a:r>
            <a:r>
              <a:rPr sz="3000" spc="2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TunnelCrack</a:t>
            </a:r>
            <a:r>
              <a:rPr sz="3000" spc="2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với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kỹ</a:t>
            </a:r>
            <a:r>
              <a:rPr sz="30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thuật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chưa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từng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kể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từ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năm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1996.</a:t>
            </a:r>
            <a:endParaRPr sz="3000">
              <a:latin typeface="Times New Roman"/>
              <a:cs typeface="Times New Roman"/>
            </a:endParaRPr>
          </a:p>
          <a:p>
            <a:pPr marL="755015" marR="6985" lvl="1" indent="-285750" algn="just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đánh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giá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giới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chuyên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môn,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iOS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MacOS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khả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bị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ảnh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hưởng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nhiều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nhất.</a:t>
            </a:r>
            <a:r>
              <a:rPr sz="3000" spc="7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Windows</a:t>
            </a:r>
            <a:r>
              <a:rPr sz="3000" spc="7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Linux</a:t>
            </a:r>
            <a:r>
              <a:rPr sz="3000" spc="7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ở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mức</a:t>
            </a:r>
            <a:r>
              <a:rPr sz="3000" spc="7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thấp</a:t>
            </a:r>
            <a:r>
              <a:rPr sz="3000" spc="7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hơn.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Android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chỉ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với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¼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ứng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VPN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tồn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tại</a:t>
            </a:r>
            <a:r>
              <a:rPr sz="3000" spc="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lỗ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hổng,</a:t>
            </a:r>
            <a:r>
              <a:rPr sz="3000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mức</a:t>
            </a:r>
            <a:r>
              <a:rPr sz="300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</a:t>
            </a:r>
            <a:r>
              <a:rPr sz="3000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rủi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ro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thấp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nhất.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ADEAD-2F47-83F1-22CB-41B2567705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5544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Trusted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platform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module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TPM</a:t>
            </a:r>
            <a:r>
              <a:rPr sz="3200" spc="25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(Đảm</a:t>
            </a:r>
            <a:r>
              <a:rPr sz="3200" spc="2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dựa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Mô-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đun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nền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tảng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tin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cậy):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cứng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động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bộ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đồng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xử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mã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hỗ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trợ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tốc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thuật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mã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niêm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phong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liệu,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khởi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chứng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thực.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Virtualizing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the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trusted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platform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module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vTPM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triển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bởi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Wang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cộng</a:t>
            </a:r>
            <a:r>
              <a:rPr sz="3200" spc="45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sự.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4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phát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triển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mô</a:t>
            </a:r>
            <a:r>
              <a:rPr sz="3200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4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vTPM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đảm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 toàn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điện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toán đám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mây, cung cấp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 chức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năng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lưu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trữ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mã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TPM</a:t>
            </a:r>
            <a:r>
              <a:rPr sz="3200" spc="1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2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ứng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chạy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r>
              <a:rPr sz="3200" spc="5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vTPM,</a:t>
            </a:r>
            <a:r>
              <a:rPr sz="3200" spc="5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5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phiên</a:t>
            </a:r>
            <a:r>
              <a:rPr sz="3200" spc="5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bản</a:t>
            </a:r>
            <a:r>
              <a:rPr sz="3200" spc="5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vTPM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lẻ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quản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lý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vTPM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để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khởi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tạo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vTPM</a:t>
            </a:r>
            <a:r>
              <a:rPr sz="32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ghép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yêu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cầu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5DCBA-7E7C-ACB8-10F5-F5C558CF35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3011" y="1066800"/>
            <a:ext cx="7019544" cy="53035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8FF2F-919E-2E1B-A1C1-1B545CA30F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5544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3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40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ảo:</a:t>
            </a:r>
            <a:r>
              <a:rPr sz="320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Cách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đơn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giản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nhất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vệ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mềm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biết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hành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nó</a:t>
            </a:r>
            <a:r>
              <a:rPr sz="3200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giám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phân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hoạt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động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nhiên,</a:t>
            </a:r>
            <a:r>
              <a:rPr sz="32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điều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có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khả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vì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nhà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cấp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không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nhận</a:t>
            </a:r>
            <a:r>
              <a:rPr sz="320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chi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tiết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từ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người</a:t>
            </a:r>
            <a:r>
              <a:rPr sz="3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dùng.</a:t>
            </a:r>
            <a:endParaRPr sz="32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210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tiếp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cận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là: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nằm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phần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mềm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sát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đáng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tin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cậy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thập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tương</a:t>
            </a:r>
            <a:r>
              <a:rPr sz="32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tác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giữa</a:t>
            </a:r>
            <a:r>
              <a:rPr sz="32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1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Trình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giám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sát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gửi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được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thu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thập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đặc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biệt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theo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dõi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 phân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tích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FF46B-3A91-8651-2C2F-7D5279CBC1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923477"/>
            <a:ext cx="11325860" cy="463994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385"/>
              </a:spcBef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image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của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ảo:</a:t>
            </a:r>
            <a:endParaRPr sz="3200">
              <a:latin typeface="Times New Roman"/>
              <a:cs typeface="Times New Roman"/>
            </a:endParaRPr>
          </a:p>
          <a:p>
            <a:pPr marL="755015" marR="762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Khung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kiểm</a:t>
            </a:r>
            <a:r>
              <a:rPr sz="3000" spc="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soát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cập: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lý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chia</a:t>
            </a:r>
            <a:r>
              <a:rPr sz="3000" spc="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sẻ</a:t>
            </a:r>
            <a:r>
              <a:rPr sz="3000" spc="1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ảo.</a:t>
            </a:r>
            <a:r>
              <a:rPr sz="3000" spc="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Điều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rủi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nhà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cập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trái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phép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image.</a:t>
            </a:r>
            <a:endParaRPr sz="3000">
              <a:latin typeface="Times New Roman"/>
              <a:cs typeface="Times New Roman"/>
            </a:endParaRPr>
          </a:p>
          <a:p>
            <a:pPr marL="755015" marR="5080" lvl="1" indent="-285750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562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Filter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VM: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áp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dụng</a:t>
            </a:r>
            <a:r>
              <a:rPr sz="3000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cho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tại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thời</a:t>
            </a:r>
            <a:r>
              <a:rPr sz="3000" spc="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điểm</a:t>
            </a:r>
            <a:r>
              <a:rPr sz="3000" spc="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cung</a:t>
            </a:r>
            <a:r>
              <a:rPr sz="3000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cấp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xuất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thời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gian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để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loại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bỏ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mong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muốn</a:t>
            </a:r>
            <a:r>
              <a:rPr sz="3000" spc="1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trong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máy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ảo.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không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mong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muốn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thể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thông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tin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riêng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tư cho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người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dùng,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chẳng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hạn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 mật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khẩu,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mã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độc, phần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độc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hại,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bất</a:t>
            </a:r>
            <a:r>
              <a:rPr sz="30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hợp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pháp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lậu.</a:t>
            </a:r>
            <a:r>
              <a:rPr sz="3000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lọc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giải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quyết</a:t>
            </a:r>
            <a:r>
              <a:rPr sz="3000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các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rủi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ro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cả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ba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bên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tham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gia.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F7289-B0C6-2489-87D1-EC835D3973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4041" y="1086053"/>
            <a:ext cx="10868660" cy="520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Cơ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chế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dõi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xuất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xứ: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theo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dõi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lịch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sử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phái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sinh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một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và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hoạt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động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liên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quan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đã</a:t>
            </a:r>
            <a:r>
              <a:rPr sz="3000" spc="3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thực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3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trên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3000" spc="3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(thông</a:t>
            </a:r>
            <a:r>
              <a:rPr sz="3000" spc="3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qua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API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kho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image).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Chức</a:t>
            </a:r>
            <a:r>
              <a:rPr sz="30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năng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mật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kiểm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toán</a:t>
            </a:r>
            <a:r>
              <a:rPr sz="30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xây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dựng trên</a:t>
            </a:r>
            <a:r>
              <a:rPr sz="3000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lớp theo</a:t>
            </a:r>
            <a:r>
              <a:rPr sz="30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dõi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xuất xứ. Đồng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thời cung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cấp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bằng</a:t>
            </a:r>
            <a:r>
              <a:rPr sz="3000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chứng,</a:t>
            </a:r>
            <a:r>
              <a:rPr sz="3000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quy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trách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nhiệm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hạn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chế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nội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dung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độc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hại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bất</a:t>
            </a:r>
            <a:r>
              <a:rPr sz="3000" spc="2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hợp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pháp,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do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đó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rủi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ro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quản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trị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viên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về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việc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có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chứa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nội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dung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 đó.</a:t>
            </a:r>
            <a:endParaRPr sz="3000">
              <a:latin typeface="Times New Roman"/>
              <a:cs typeface="Times New Roman"/>
            </a:endParaRPr>
          </a:p>
          <a:p>
            <a:pPr marL="297815" marR="5715" indent="-285750" algn="just">
              <a:lnSpc>
                <a:spcPct val="100000"/>
              </a:lnSpc>
              <a:spcBef>
                <a:spcPts val="1210"/>
              </a:spcBef>
              <a:buFont typeface="Wingdings"/>
              <a:buChar char=""/>
              <a:tabLst>
                <a:tab pos="299085" algn="l"/>
              </a:tabLst>
            </a:pP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1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bảo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trì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kho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trữ: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như</a:t>
            </a:r>
            <a:r>
              <a:rPr sz="3000" spc="11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quét</a:t>
            </a:r>
            <a:r>
              <a:rPr sz="3000" spc="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virus</a:t>
            </a:r>
            <a:r>
              <a:rPr sz="3000" spc="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định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kỳ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toàn</a:t>
            </a:r>
            <a:r>
              <a:rPr sz="3000" spc="1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bộ</a:t>
            </a:r>
            <a:r>
              <a:rPr sz="3000" spc="1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kho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lưu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trữ,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phát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và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khắc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phục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các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lỗ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hổng</a:t>
            </a:r>
            <a:r>
              <a:rPr sz="3000" spc="17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được</a:t>
            </a:r>
            <a:r>
              <a:rPr sz="3000" spc="19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phát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hiện</a:t>
            </a:r>
            <a:r>
              <a:rPr sz="3000" spc="1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sau</a:t>
            </a:r>
            <a:r>
              <a:rPr sz="3000" spc="18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khi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public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image.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Dịch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vụ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này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làm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giảm</a:t>
            </a:r>
            <a:r>
              <a:rPr sz="3000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rủi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ro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của</a:t>
            </a:r>
            <a:r>
              <a:rPr sz="3000" spc="2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người</a:t>
            </a:r>
            <a:r>
              <a:rPr sz="3000" spc="19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truy</a:t>
            </a:r>
            <a:r>
              <a:rPr sz="3000" spc="20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xuất</a:t>
            </a:r>
            <a:r>
              <a:rPr sz="3000" spc="2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Times New Roman"/>
                <a:cs typeface="Times New Roman"/>
              </a:rPr>
              <a:t>khi 	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chạy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phần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mềm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độc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hại</a:t>
            </a:r>
            <a:r>
              <a:rPr sz="30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hoặc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bất</a:t>
            </a:r>
            <a:r>
              <a:rPr sz="3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C00000"/>
                </a:solidFill>
                <a:latin typeface="Times New Roman"/>
                <a:cs typeface="Times New Roman"/>
              </a:rPr>
              <a:t>hợp</a:t>
            </a:r>
            <a:r>
              <a:rPr sz="30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Times New Roman"/>
                <a:cs typeface="Times New Roman"/>
              </a:rPr>
              <a:t>pháp.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282CA-99C4-7DFB-AD33-8856B1B7DE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5860" cy="520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Giải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pháp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toàn,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truyền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ảo: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3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dụng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chung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bộ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tuyến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thiết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bị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3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khác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cùng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với</a:t>
            </a:r>
            <a:r>
              <a:rPr sz="32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các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kênh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lạc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chia</a:t>
            </a:r>
            <a:r>
              <a:rPr sz="32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sẻ</a:t>
            </a:r>
            <a:r>
              <a:rPr sz="320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dẫn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đến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vấn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toàn,</a:t>
            </a:r>
            <a:r>
              <a:rPr sz="32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</a:t>
            </a:r>
            <a:r>
              <a:rPr sz="320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truyền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hệ thống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ảo.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Wu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cộng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xuất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khung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bao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gồm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ba</a:t>
            </a:r>
            <a:r>
              <a:rPr sz="3200" spc="2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lớp:</a:t>
            </a:r>
            <a:r>
              <a:rPr sz="3200" spc="2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lớp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tuyến,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tường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lửa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chia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sẻ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ngăn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dò</a:t>
            </a:r>
            <a:r>
              <a:rPr sz="3200" spc="2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tìm</a:t>
            </a:r>
            <a:r>
              <a:rPr sz="3200" spc="2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và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giả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mạo.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Họ</a:t>
            </a:r>
            <a:r>
              <a:rPr sz="3200" spc="2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đã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thử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nghiệm</a:t>
            </a:r>
            <a:r>
              <a:rPr sz="320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khung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này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Xen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hai</a:t>
            </a:r>
            <a:r>
              <a:rPr sz="320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cấu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hình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chế</a:t>
            </a:r>
            <a:r>
              <a:rPr sz="320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độ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bridging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routing.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Họ</a:t>
            </a:r>
            <a:r>
              <a:rPr sz="3200" spc="3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sử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dụng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con</a:t>
            </a:r>
            <a:r>
              <a:rPr sz="3200" spc="3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(subnet)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để</a:t>
            </a:r>
            <a:r>
              <a:rPr sz="3200" spc="3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cung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cấp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 chống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lại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việc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tiết lộ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tin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trái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phép.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BF010-B950-DE20-1799-30FE25FDD0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086052"/>
            <a:ext cx="11326495" cy="472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Klymash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cộng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sự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đề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xuất</a:t>
            </a:r>
            <a:r>
              <a:rPr sz="3200" spc="5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hóa</a:t>
            </a:r>
            <a:r>
              <a:rPr sz="3200" spc="5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tăng</a:t>
            </a:r>
            <a:r>
              <a:rPr sz="3200" spc="5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cường</a:t>
            </a:r>
            <a:r>
              <a:rPr sz="3200" spc="5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5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mật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trong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trung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tâm</a:t>
            </a:r>
            <a:r>
              <a:rPr sz="320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dữ</a:t>
            </a:r>
            <a:r>
              <a:rPr sz="3200" spc="3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liệu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dựa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khái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niệm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miền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đáng</a:t>
            </a:r>
            <a:r>
              <a:rPr sz="3200" spc="3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tin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cậy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(Trusted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Virtual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Domains</a:t>
            </a:r>
            <a:r>
              <a:rPr sz="32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-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TVDs).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TVD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cho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phép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liên</a:t>
            </a:r>
            <a:r>
              <a:rPr sz="3200" spc="3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quan</a:t>
            </a:r>
            <a:r>
              <a:rPr sz="3200" spc="3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3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máy</a:t>
            </a:r>
            <a:r>
              <a:rPr sz="3200" spc="3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chủ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biệt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được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nối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thể</a:t>
            </a:r>
            <a:r>
              <a:rPr sz="3200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chúng</a:t>
            </a:r>
            <a:r>
              <a:rPr sz="3200" spc="2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ở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trên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cùng</a:t>
            </a:r>
            <a:r>
              <a:rPr sz="3200" spc="2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một</a:t>
            </a:r>
            <a:r>
              <a:rPr sz="3200" spc="2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229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lưới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đảm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 các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yêu cầu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 mật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nhóm chéo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bảo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mật,</a:t>
            </a:r>
            <a:r>
              <a:rPr sz="32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tính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toàn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vẹn,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lập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kiểm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soát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luồng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thông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tin.</a:t>
            </a:r>
            <a:endParaRPr sz="320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Thực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TVD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bằng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cách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kết</a:t>
            </a:r>
            <a:r>
              <a:rPr sz="320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hợp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công</a:t>
            </a:r>
            <a:r>
              <a:rPr sz="32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nghệ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hiện</a:t>
            </a:r>
            <a:r>
              <a:rPr sz="320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có</a:t>
            </a:r>
            <a:r>
              <a:rPr sz="320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như</a:t>
            </a:r>
            <a:r>
              <a:rPr sz="320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gắn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thẻ</a:t>
            </a:r>
            <a:r>
              <a:rPr sz="32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Vlan,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đóng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gói</a:t>
            </a:r>
            <a:r>
              <a:rPr sz="320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Ethernet</a:t>
            </a:r>
            <a:r>
              <a:rPr sz="32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và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mạng</a:t>
            </a:r>
            <a:r>
              <a:rPr sz="32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riêng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CC"/>
                </a:solidFill>
                <a:latin typeface="Times New Roman"/>
                <a:cs typeface="Times New Roman"/>
              </a:rPr>
              <a:t>ảo</a:t>
            </a:r>
            <a:r>
              <a:rPr sz="3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Times New Roman"/>
                <a:cs typeface="Times New Roman"/>
              </a:rPr>
              <a:t>(VPN).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EC959-F9A7-886E-2146-2283BA845D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239011"/>
            <a:ext cx="914400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DD7A4-FB93-5978-0F23-9A323AB3F7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239011"/>
            <a:ext cx="914400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1683F-4F25-CFA8-49B9-4EDC3EA526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239011"/>
            <a:ext cx="914400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B4AEE-A956-C9E8-1AC3-4396065322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239011"/>
            <a:ext cx="914400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83D3A-EDD9-18BD-4069-4F8F0D1F8D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304544"/>
            <a:ext cx="914400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2FE43-08AC-3E12-68BC-37872EA4DA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33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" dirty="0"/>
              <a:t> </a:t>
            </a:r>
            <a:r>
              <a:rPr dirty="0"/>
              <a:t>CÁC</a:t>
            </a:r>
            <a:r>
              <a:rPr spc="-10" dirty="0"/>
              <a:t> </a:t>
            </a:r>
            <a:r>
              <a:rPr dirty="0"/>
              <a:t>GIẢI</a:t>
            </a:r>
            <a:r>
              <a:rPr spc="-5" dirty="0"/>
              <a:t> </a:t>
            </a:r>
            <a:r>
              <a:rPr dirty="0"/>
              <a:t>PHÁP</a:t>
            </a:r>
            <a:r>
              <a:rPr spc="-10" dirty="0"/>
              <a:t> </a:t>
            </a:r>
            <a:r>
              <a:rPr dirty="0"/>
              <a:t>BẢO</a:t>
            </a:r>
            <a:r>
              <a:rPr spc="-15" dirty="0"/>
              <a:t> </a:t>
            </a:r>
            <a:r>
              <a:rPr spc="-25" dirty="0"/>
              <a:t>MẬT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066800"/>
            <a:ext cx="9144000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97868-0A9A-1FCC-F9E2-E063465AF1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2262</Words>
  <Application>Microsoft Office PowerPoint</Application>
  <PresentationFormat>Widescreen</PresentationFormat>
  <Paragraphs>128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NỘI DUNG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I. NHỮNG NGUY CƠ TRONG CÔNG NGHỆ ẢO HÓA</vt:lpstr>
      <vt:lpstr>MỘT SỐ NGUY CƠ KHI SỬ DỤNG CLOUD</vt:lpstr>
      <vt:lpstr>II. MỘT SỐ CUỘC TẤN CÔNG PHỔ BIẾN</vt:lpstr>
      <vt:lpstr>II. MỘT SỐ CUỘC TẤN CÔNG PHỔ BIẾN</vt:lpstr>
      <vt:lpstr>II. MỘT SỐ CUỘC TẤN CÔNG PHỔ BIẾN</vt:lpstr>
      <vt:lpstr>II. MỘT SỐ CUỘC TẤN CÔNG PHỔ BIẾN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  <vt:lpstr>III. CÁC GIẢI PHÁP BẢO MẬT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ẢO VÀ KHẢ NĂNG MỞ RỘNG DỮ LIỆU</dc:title>
  <dc:creator>huan luong</dc:creator>
  <cp:lastModifiedBy>Hoàng Đình Hạnh</cp:lastModifiedBy>
  <cp:revision>1</cp:revision>
  <dcterms:created xsi:type="dcterms:W3CDTF">2024-08-06T05:05:03Z</dcterms:created>
  <dcterms:modified xsi:type="dcterms:W3CDTF">2024-08-07T08:26:02Z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2024-08-06T00:00:00Z</vt:filetime>
  </property>
  <property fmtid="{D5CDD505-2E9C-101B-9397-08002B2CF9AE}" pid="5" name="Producer">
    <vt:lpwstr>3-Heights(TM) PDF Security Shell 4.8.25.2 (http://www.pdf-tools.com)</vt:lpwstr>
  </property>
</Properties>
</file>