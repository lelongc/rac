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906000" cy="6858000" type="A4"/>
  <p:notesSz cx="9906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56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7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199" cy="1714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C</a:t>
            </a:r>
            <a:r>
              <a:rPr sz="1200" spc="-10" dirty="0">
                <a:latin typeface="Arial"/>
                <a:cs typeface="Arial"/>
              </a:rPr>
              <a:t>OSC301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Le</a:t>
            </a:r>
            <a:r>
              <a:rPr sz="1200" spc="-5" dirty="0">
                <a:latin typeface="Arial"/>
                <a:cs typeface="Arial"/>
              </a:rPr>
              <a:t>cture </a:t>
            </a:r>
            <a:r>
              <a:rPr sz="1200" spc="0" dirty="0">
                <a:latin typeface="Arial"/>
                <a:cs typeface="Arial"/>
              </a:rPr>
              <a:t>16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spc="0" dirty="0">
                <a:latin typeface="Arial"/>
                <a:cs typeface="Arial"/>
              </a:rPr>
              <a:t>SSL</a:t>
            </a:r>
            <a:r>
              <a:rPr sz="1200" spc="-10" dirty="0">
                <a:latin typeface="Arial"/>
                <a:cs typeface="Arial"/>
              </a:rPr>
              <a:t>/TLS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‹#›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C</a:t>
            </a:r>
            <a:r>
              <a:rPr sz="1200" spc="-10" dirty="0">
                <a:latin typeface="Arial"/>
                <a:cs typeface="Arial"/>
              </a:rPr>
              <a:t>OSC301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Le</a:t>
            </a:r>
            <a:r>
              <a:rPr sz="1200" spc="-5" dirty="0">
                <a:latin typeface="Arial"/>
                <a:cs typeface="Arial"/>
              </a:rPr>
              <a:t>cture </a:t>
            </a:r>
            <a:r>
              <a:rPr sz="1200" spc="0" dirty="0">
                <a:latin typeface="Arial"/>
                <a:cs typeface="Arial"/>
              </a:rPr>
              <a:t>16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spc="0" dirty="0">
                <a:latin typeface="Arial"/>
                <a:cs typeface="Arial"/>
              </a:rPr>
              <a:t>SSL</a:t>
            </a:r>
            <a:r>
              <a:rPr sz="1200" spc="-10" dirty="0">
                <a:latin typeface="Arial"/>
                <a:cs typeface="Arial"/>
              </a:rPr>
              <a:t>/TLS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‹#›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89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C</a:t>
            </a:r>
            <a:r>
              <a:rPr sz="1200" spc="-10" dirty="0">
                <a:latin typeface="Arial"/>
                <a:cs typeface="Arial"/>
              </a:rPr>
              <a:t>OSC301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Le</a:t>
            </a:r>
            <a:r>
              <a:rPr sz="1200" spc="-5" dirty="0">
                <a:latin typeface="Arial"/>
                <a:cs typeface="Arial"/>
              </a:rPr>
              <a:t>cture </a:t>
            </a:r>
            <a:r>
              <a:rPr sz="1200" spc="0" dirty="0">
                <a:latin typeface="Arial"/>
                <a:cs typeface="Arial"/>
              </a:rPr>
              <a:t>16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spc="0" dirty="0">
                <a:latin typeface="Arial"/>
                <a:cs typeface="Arial"/>
              </a:rPr>
              <a:t>SSL</a:t>
            </a:r>
            <a:r>
              <a:rPr sz="1200" spc="-10" dirty="0">
                <a:latin typeface="Arial"/>
                <a:cs typeface="Arial"/>
              </a:rPr>
              <a:t>/TLS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‹#›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C</a:t>
            </a:r>
            <a:r>
              <a:rPr sz="1200" spc="-10" dirty="0">
                <a:latin typeface="Arial"/>
                <a:cs typeface="Arial"/>
              </a:rPr>
              <a:t>OSC301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Le</a:t>
            </a:r>
            <a:r>
              <a:rPr sz="1200" spc="-5" dirty="0">
                <a:latin typeface="Arial"/>
                <a:cs typeface="Arial"/>
              </a:rPr>
              <a:t>cture </a:t>
            </a:r>
            <a:r>
              <a:rPr sz="1200" spc="0" dirty="0">
                <a:latin typeface="Arial"/>
                <a:cs typeface="Arial"/>
              </a:rPr>
              <a:t>16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spc="0" dirty="0">
                <a:latin typeface="Arial"/>
                <a:cs typeface="Arial"/>
              </a:rPr>
              <a:t>SSL</a:t>
            </a:r>
            <a:r>
              <a:rPr sz="1200" spc="-10" dirty="0">
                <a:latin typeface="Arial"/>
                <a:cs typeface="Arial"/>
              </a:rPr>
              <a:t>/TLS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‹#›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C</a:t>
            </a:r>
            <a:r>
              <a:rPr sz="1200" spc="-10" dirty="0">
                <a:latin typeface="Arial"/>
                <a:cs typeface="Arial"/>
              </a:rPr>
              <a:t>OSC301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Le</a:t>
            </a:r>
            <a:r>
              <a:rPr sz="1200" spc="-5" dirty="0">
                <a:latin typeface="Arial"/>
                <a:cs typeface="Arial"/>
              </a:rPr>
              <a:t>cture </a:t>
            </a:r>
            <a:r>
              <a:rPr sz="1200" spc="0" dirty="0">
                <a:latin typeface="Arial"/>
                <a:cs typeface="Arial"/>
              </a:rPr>
              <a:t>16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spc="0" dirty="0">
                <a:latin typeface="Arial"/>
                <a:cs typeface="Arial"/>
              </a:rPr>
              <a:t>SSL</a:t>
            </a:r>
            <a:r>
              <a:rPr sz="1200" spc="-10" dirty="0">
                <a:latin typeface="Arial"/>
                <a:cs typeface="Arial"/>
              </a:rPr>
              <a:t>/TLS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‹#›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88503" y="980728"/>
            <a:ext cx="8928989" cy="1"/>
          </a:xfrm>
          <a:custGeom>
            <a:avLst/>
            <a:gdLst/>
            <a:ahLst/>
            <a:cxnLst/>
            <a:rect l="l" t="t" r="r" b="b"/>
            <a:pathLst>
              <a:path w="8928989" h="1">
                <a:moveTo>
                  <a:pt x="0" y="0"/>
                </a:moveTo>
                <a:lnTo>
                  <a:pt x="8928989" y="1"/>
                </a:lnTo>
              </a:path>
            </a:pathLst>
          </a:custGeom>
          <a:ln w="22224">
            <a:solidFill>
              <a:srgbClr val="0433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5803" y="298103"/>
            <a:ext cx="8954392" cy="635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1012" y="1094011"/>
            <a:ext cx="9103975" cy="396282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2212" y="6569793"/>
            <a:ext cx="720001" cy="19400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C</a:t>
            </a:r>
            <a:r>
              <a:rPr sz="1200" spc="-10" dirty="0">
                <a:latin typeface="Arial"/>
                <a:cs typeface="Arial"/>
              </a:rPr>
              <a:t>OSC301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22674" y="6569793"/>
            <a:ext cx="2278692" cy="19400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Le</a:t>
            </a:r>
            <a:r>
              <a:rPr sz="1200" spc="-5" dirty="0">
                <a:latin typeface="Arial"/>
                <a:cs typeface="Arial"/>
              </a:rPr>
              <a:t>cture </a:t>
            </a:r>
            <a:r>
              <a:rPr sz="1200" spc="0" dirty="0">
                <a:latin typeface="Arial"/>
                <a:cs typeface="Arial"/>
              </a:rPr>
              <a:t>16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spc="0" dirty="0">
                <a:latin typeface="Arial"/>
                <a:cs typeface="Arial"/>
              </a:rPr>
              <a:t>SSL</a:t>
            </a:r>
            <a:r>
              <a:rPr sz="1200" spc="-10" dirty="0">
                <a:latin typeface="Arial"/>
                <a:cs typeface="Arial"/>
              </a:rPr>
              <a:t>/TLS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438523" y="6569793"/>
            <a:ext cx="220299" cy="19400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‹#›</a:t>
            </a:fld>
            <a:endParaRPr sz="120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astmail.com/help/technical/ssltlsstarttl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b.kiwibank.co.nz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695780" y="1681480"/>
            <a:ext cx="6785609" cy="17475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800" b="1" spc="0">
                <a:solidFill>
                  <a:srgbClr val="FF0000"/>
                </a:solidFill>
                <a:latin typeface="Arial"/>
                <a:cs typeface="Arial"/>
              </a:rPr>
              <a:t>SSL</a:t>
            </a:r>
            <a:r>
              <a:rPr sz="4800" b="1" spc="-15">
                <a:solidFill>
                  <a:srgbClr val="FF0000"/>
                </a:solidFill>
                <a:latin typeface="Arial"/>
                <a:cs typeface="Arial"/>
              </a:rPr>
              <a:t>/</a:t>
            </a:r>
            <a:r>
              <a:rPr sz="4800" b="1" spc="-3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4800" b="1" spc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4800" b="1" spc="-25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4800" b="1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800" b="1" spc="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4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800" b="1" spc="0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4800" b="1" spc="-30" dirty="0">
                <a:solidFill>
                  <a:srgbClr val="FF0000"/>
                </a:solidFill>
                <a:latin typeface="Arial"/>
                <a:cs typeface="Arial"/>
              </a:rPr>
              <a:t>TT</a:t>
            </a:r>
            <a:r>
              <a:rPr sz="4800" b="1" spc="-25" dirty="0">
                <a:solidFill>
                  <a:srgbClr val="FF0000"/>
                </a:solidFill>
                <a:latin typeface="Arial"/>
                <a:cs typeface="Arial"/>
              </a:rPr>
              <a:t>PS</a:t>
            </a:r>
            <a:endParaRPr sz="4800" b="1">
              <a:solidFill>
                <a:srgbClr val="FF0000"/>
              </a:solidFill>
              <a:latin typeface="Arial"/>
              <a:cs typeface="Arial"/>
            </a:endParaRPr>
          </a:p>
          <a:p>
            <a:pPr algn="ctr">
              <a:lnSpc>
                <a:spcPts val="750"/>
              </a:lnSpc>
              <a:spcBef>
                <a:spcPts val="30"/>
              </a:spcBef>
            </a:pPr>
            <a:endParaRPr sz="1000" b="1">
              <a:solidFill>
                <a:srgbClr val="FF0000"/>
              </a:solidFill>
            </a:endParaRPr>
          </a:p>
          <a:p>
            <a:pPr algn="ctr">
              <a:lnSpc>
                <a:spcPts val="1000"/>
              </a:lnSpc>
            </a:pPr>
            <a:endParaRPr sz="1200" b="1">
              <a:solidFill>
                <a:srgbClr val="FF0000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1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790190">
              <a:lnSpc>
                <a:spcPct val="100000"/>
              </a:lnSpc>
            </a:pP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oday’s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F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ocus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331" y="4210476"/>
            <a:ext cx="6811645" cy="19107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latin typeface="Arial"/>
                <a:cs typeface="Arial"/>
              </a:rPr>
              <a:t>How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spc="-15" dirty="0">
                <a:latin typeface="Arial"/>
                <a:cs typeface="Arial"/>
              </a:rPr>
              <a:t>to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b="1" spc="0" dirty="0">
                <a:latin typeface="Arial"/>
                <a:cs typeface="Arial"/>
              </a:rPr>
              <a:t>secure</a:t>
            </a:r>
            <a:r>
              <a:rPr sz="3600" b="1" spc="-5" dirty="0">
                <a:latin typeface="Arial"/>
                <a:cs typeface="Arial"/>
              </a:rPr>
              <a:t> </a:t>
            </a:r>
            <a:r>
              <a:rPr sz="3600" spc="0" dirty="0">
                <a:latin typeface="Arial"/>
                <a:cs typeface="Arial"/>
              </a:rPr>
              <a:t>web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spc="0" dirty="0">
                <a:latin typeface="Arial"/>
                <a:cs typeface="Arial"/>
              </a:rPr>
              <a:t>applica</a:t>
            </a:r>
            <a:r>
              <a:rPr sz="3600" spc="-15" dirty="0">
                <a:latin typeface="Arial"/>
                <a:cs typeface="Arial"/>
              </a:rPr>
              <a:t>t</a:t>
            </a:r>
            <a:r>
              <a:rPr sz="3600" spc="0" dirty="0">
                <a:latin typeface="Arial"/>
                <a:cs typeface="Arial"/>
              </a:rPr>
              <a:t>ions?</a:t>
            </a:r>
            <a:endParaRPr sz="3600">
              <a:latin typeface="Arial"/>
              <a:cs typeface="Arial"/>
            </a:endParaRPr>
          </a:p>
          <a:p>
            <a:pPr marL="619125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latin typeface="Arial"/>
                <a:cs typeface="Arial"/>
              </a:rPr>
              <a:t>--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Secure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Socke</a:t>
            </a:r>
            <a:r>
              <a:rPr sz="2800" spc="-10" dirty="0">
                <a:latin typeface="Arial"/>
                <a:cs typeface="Arial"/>
              </a:rPr>
              <a:t>t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Layer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(SSL)</a:t>
            </a:r>
            <a:endParaRPr sz="2800">
              <a:latin typeface="Arial"/>
              <a:cs typeface="Arial"/>
            </a:endParaRPr>
          </a:p>
          <a:p>
            <a:pPr marL="605155">
              <a:lnSpc>
                <a:spcPct val="100000"/>
              </a:lnSpc>
              <a:spcBef>
                <a:spcPts val="40"/>
              </a:spcBef>
            </a:pPr>
            <a:r>
              <a:rPr sz="2800" dirty="0">
                <a:latin typeface="Arial"/>
                <a:cs typeface="Arial"/>
              </a:rPr>
              <a:t>--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T</a:t>
            </a:r>
            <a:r>
              <a:rPr sz="2800" spc="0" dirty="0">
                <a:latin typeface="Arial"/>
                <a:cs typeface="Arial"/>
              </a:rPr>
              <a:t>ranspo</a:t>
            </a:r>
            <a:r>
              <a:rPr sz="2800" spc="-10" dirty="0">
                <a:latin typeface="Arial"/>
                <a:cs typeface="Arial"/>
              </a:rPr>
              <a:t>rt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Layer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Securi</a:t>
            </a:r>
            <a:r>
              <a:rPr sz="2800" spc="-10" dirty="0">
                <a:latin typeface="Arial"/>
                <a:cs typeface="Arial"/>
              </a:rPr>
              <a:t>ty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</a:t>
            </a:r>
            <a:r>
              <a:rPr sz="2800" spc="-25" dirty="0">
                <a:latin typeface="Arial"/>
                <a:cs typeface="Arial"/>
              </a:rPr>
              <a:t>T</a:t>
            </a:r>
            <a:r>
              <a:rPr sz="2800" spc="0" dirty="0">
                <a:latin typeface="Arial"/>
                <a:cs typeface="Arial"/>
              </a:rPr>
              <a:t>LS)</a:t>
            </a:r>
            <a:endParaRPr sz="2800">
              <a:latin typeface="Arial"/>
              <a:cs typeface="Arial"/>
            </a:endParaRPr>
          </a:p>
          <a:p>
            <a:pPr marL="605155">
              <a:lnSpc>
                <a:spcPct val="100000"/>
              </a:lnSpc>
              <a:spcBef>
                <a:spcPts val="40"/>
              </a:spcBef>
            </a:pPr>
            <a:r>
              <a:rPr sz="2800" dirty="0">
                <a:latin typeface="Arial"/>
                <a:cs typeface="Arial"/>
              </a:rPr>
              <a:t>--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H</a:t>
            </a:r>
            <a:r>
              <a:rPr sz="2800" spc="-25" dirty="0">
                <a:latin typeface="Arial"/>
                <a:cs typeface="Arial"/>
              </a:rPr>
              <a:t>TT</a:t>
            </a:r>
            <a:r>
              <a:rPr sz="2800" spc="-20" dirty="0">
                <a:latin typeface="Arial"/>
                <a:cs typeface="Arial"/>
              </a:rPr>
              <a:t>PS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7095" y="2040948"/>
            <a:ext cx="3677285" cy="15322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26084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Arial Black"/>
                <a:cs typeface="Arial Black"/>
              </a:rPr>
              <a:t>WWW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17095" y="1772817"/>
            <a:ext cx="3676865" cy="1800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63987" y="2106569"/>
            <a:ext cx="787400" cy="3225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 Black"/>
                <a:cs typeface="Arial Black"/>
              </a:rPr>
              <a:t>WWW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89102" y="2276872"/>
            <a:ext cx="576064" cy="504055"/>
          </a:xfrm>
          <a:custGeom>
            <a:avLst/>
            <a:gdLst/>
            <a:ahLst/>
            <a:cxnLst/>
            <a:rect l="l" t="t" r="r" b="b"/>
            <a:pathLst>
              <a:path w="576064" h="504055">
                <a:moveTo>
                  <a:pt x="0" y="0"/>
                </a:moveTo>
                <a:lnTo>
                  <a:pt x="576064" y="0"/>
                </a:lnTo>
                <a:lnTo>
                  <a:pt x="576064" y="504055"/>
                </a:lnTo>
                <a:lnTo>
                  <a:pt x="0" y="5040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84648" y="2675012"/>
            <a:ext cx="4608510" cy="33908"/>
          </a:xfrm>
          <a:custGeom>
            <a:avLst/>
            <a:gdLst/>
            <a:ahLst/>
            <a:cxnLst/>
            <a:rect l="l" t="t" r="r" b="b"/>
            <a:pathLst>
              <a:path w="4608510" h="33908">
                <a:moveTo>
                  <a:pt x="0" y="33908"/>
                </a:moveTo>
                <a:lnTo>
                  <a:pt x="4608510" y="0"/>
                </a:lnTo>
              </a:path>
            </a:pathLst>
          </a:custGeom>
          <a:ln w="38099">
            <a:solidFill>
              <a:srgbClr val="4180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04849" y="1844824"/>
            <a:ext cx="2164173" cy="14401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8464" y="2132857"/>
            <a:ext cx="1839548" cy="12241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2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90930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H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TTP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Basic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Au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hen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ica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ion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(1)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7933" y="1109251"/>
            <a:ext cx="8592820" cy="3284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17500" marR="12700" indent="-304800">
              <a:lnSpc>
                <a:spcPts val="3100"/>
              </a:lnSpc>
              <a:buFont typeface="Arial"/>
              <a:buChar char="•"/>
              <a:tabLst>
                <a:tab pos="320040" algn="l"/>
              </a:tabLst>
            </a:pPr>
            <a:r>
              <a:rPr sz="2600" spc="-25" dirty="0">
                <a:latin typeface="Arial"/>
                <a:cs typeface="Arial"/>
              </a:rPr>
              <a:t>T</a:t>
            </a:r>
            <a:r>
              <a:rPr sz="2600" spc="0" dirty="0">
                <a:latin typeface="Arial"/>
                <a:cs typeface="Arial"/>
              </a:rPr>
              <a:t>he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simple</a:t>
            </a:r>
            <a:r>
              <a:rPr sz="2600" spc="-10" dirty="0">
                <a:latin typeface="Arial"/>
                <a:cs typeface="Arial"/>
              </a:rPr>
              <a:t>st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me</a:t>
            </a:r>
            <a:r>
              <a:rPr sz="2600" spc="-10" dirty="0">
                <a:latin typeface="Arial"/>
                <a:cs typeface="Arial"/>
              </a:rPr>
              <a:t>thod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for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en</a:t>
            </a:r>
            <a:r>
              <a:rPr sz="2600" spc="-10" dirty="0">
                <a:latin typeface="Arial"/>
                <a:cs typeface="Arial"/>
              </a:rPr>
              <a:t>forcing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access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con</a:t>
            </a:r>
            <a:r>
              <a:rPr sz="2600" spc="-10" dirty="0">
                <a:latin typeface="Arial"/>
                <a:cs typeface="Arial"/>
              </a:rPr>
              <a:t>trol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to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web resources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using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a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username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and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password</a:t>
            </a:r>
            <a:r>
              <a:rPr sz="2600" spc="-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ts val="1000"/>
              </a:lnSpc>
              <a:spcBef>
                <a:spcPts val="80"/>
              </a:spcBef>
              <a:buFont typeface="Arial"/>
              <a:buChar char="•"/>
            </a:pPr>
            <a:endParaRPr sz="1000"/>
          </a:p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2600" dirty="0">
                <a:latin typeface="Arial"/>
                <a:cs typeface="Arial"/>
              </a:rPr>
              <a:t>Uses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static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standard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H</a:t>
            </a:r>
            <a:r>
              <a:rPr sz="2600" spc="-25" dirty="0">
                <a:latin typeface="Arial"/>
                <a:cs typeface="Arial"/>
              </a:rPr>
              <a:t>TT</a:t>
            </a:r>
            <a:r>
              <a:rPr sz="2600" spc="-20" dirty="0">
                <a:latin typeface="Arial"/>
                <a:cs typeface="Arial"/>
              </a:rPr>
              <a:t>P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headers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wi</a:t>
            </a:r>
            <a:r>
              <a:rPr sz="2600" spc="-10" dirty="0">
                <a:latin typeface="Arial"/>
                <a:cs typeface="Arial"/>
              </a:rPr>
              <a:t>th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no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handshake</a:t>
            </a:r>
            <a:endParaRPr sz="2600">
              <a:latin typeface="Arial"/>
              <a:cs typeface="Arial"/>
            </a:endParaRPr>
          </a:p>
          <a:p>
            <a:pPr>
              <a:lnSpc>
                <a:spcPts val="1100"/>
              </a:lnSpc>
              <a:spcBef>
                <a:spcPts val="80"/>
              </a:spcBef>
              <a:buFont typeface="Arial"/>
              <a:buChar char="•"/>
            </a:pPr>
            <a:endParaRPr sz="1100"/>
          </a:p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2600" b="1" dirty="0">
                <a:latin typeface="Arial"/>
                <a:cs typeface="Arial"/>
              </a:rPr>
              <a:t>Server</a:t>
            </a:r>
            <a:r>
              <a:rPr sz="2600" b="1" spc="-5" dirty="0">
                <a:latin typeface="Arial"/>
                <a:cs typeface="Arial"/>
              </a:rPr>
              <a:t> </a:t>
            </a:r>
            <a:r>
              <a:rPr sz="2600" b="1" spc="0" dirty="0">
                <a:latin typeface="Arial"/>
                <a:cs typeface="Arial"/>
              </a:rPr>
              <a:t>s</a:t>
            </a:r>
            <a:r>
              <a:rPr sz="2600" b="1" spc="-10" dirty="0">
                <a:latin typeface="Arial"/>
                <a:cs typeface="Arial"/>
              </a:rPr>
              <a:t>i</a:t>
            </a:r>
            <a:r>
              <a:rPr sz="2600" b="1" spc="-25" dirty="0">
                <a:latin typeface="Arial"/>
                <a:cs typeface="Arial"/>
              </a:rPr>
              <a:t>d</a:t>
            </a:r>
            <a:r>
              <a:rPr sz="2600" b="1" spc="0" dirty="0">
                <a:latin typeface="Arial"/>
                <a:cs typeface="Arial"/>
              </a:rPr>
              <a:t>e:</a:t>
            </a:r>
            <a:r>
              <a:rPr sz="2600" b="1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uses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a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30" dirty="0">
                <a:latin typeface="Arial"/>
                <a:cs typeface="Arial"/>
              </a:rPr>
              <a:t>WWW</a:t>
            </a:r>
            <a:r>
              <a:rPr sz="2600" spc="0" dirty="0">
                <a:latin typeface="Arial"/>
                <a:cs typeface="Arial"/>
              </a:rPr>
              <a:t>-au</a:t>
            </a:r>
            <a:r>
              <a:rPr sz="2600" spc="-10" dirty="0">
                <a:latin typeface="Arial"/>
                <a:cs typeface="Arial"/>
              </a:rPr>
              <a:t>thenticate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H</a:t>
            </a:r>
            <a:r>
              <a:rPr sz="2600" spc="-25" dirty="0">
                <a:latin typeface="Arial"/>
                <a:cs typeface="Arial"/>
              </a:rPr>
              <a:t>TT</a:t>
            </a:r>
            <a:r>
              <a:rPr sz="2600" spc="-20" dirty="0">
                <a:latin typeface="Arial"/>
                <a:cs typeface="Arial"/>
              </a:rPr>
              <a:t>P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header</a:t>
            </a:r>
            <a:endParaRPr sz="2600">
              <a:latin typeface="Arial"/>
              <a:cs typeface="Arial"/>
            </a:endParaRPr>
          </a:p>
          <a:p>
            <a:pPr>
              <a:lnSpc>
                <a:spcPts val="750"/>
              </a:lnSpc>
              <a:spcBef>
                <a:spcPts val="30"/>
              </a:spcBef>
              <a:buFont typeface="Arial"/>
              <a:buChar char="•"/>
            </a:pPr>
            <a:endParaRPr sz="750"/>
          </a:p>
          <a:p>
            <a:pPr marL="704215">
              <a:lnSpc>
                <a:spcPct val="100000"/>
              </a:lnSpc>
            </a:pPr>
            <a:r>
              <a:rPr sz="2000" spc="-20" dirty="0">
                <a:latin typeface="Arial"/>
                <a:cs typeface="Arial"/>
              </a:rPr>
              <a:t>WWW-Au</a:t>
            </a:r>
            <a:r>
              <a:rPr sz="2000" spc="-10" dirty="0">
                <a:latin typeface="Arial"/>
                <a:cs typeface="Arial"/>
              </a:rPr>
              <a:t>thenticate: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Basic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real</a:t>
            </a:r>
            <a:r>
              <a:rPr sz="2000" spc="-15" dirty="0">
                <a:latin typeface="Arial"/>
                <a:cs typeface="Arial"/>
              </a:rPr>
              <a:t>m=”Wally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World”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300"/>
              </a:lnSpc>
              <a:spcBef>
                <a:spcPts val="99"/>
              </a:spcBef>
            </a:pPr>
            <a:endParaRPr sz="1300"/>
          </a:p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2600" b="1" dirty="0">
                <a:latin typeface="Arial"/>
                <a:cs typeface="Arial"/>
              </a:rPr>
              <a:t>C</a:t>
            </a:r>
            <a:r>
              <a:rPr sz="2600" b="1" spc="-10" dirty="0">
                <a:latin typeface="Arial"/>
                <a:cs typeface="Arial"/>
              </a:rPr>
              <a:t>lie</a:t>
            </a:r>
            <a:r>
              <a:rPr sz="2600" b="1" spc="-25" dirty="0">
                <a:latin typeface="Arial"/>
                <a:cs typeface="Arial"/>
              </a:rPr>
              <a:t>n</a:t>
            </a:r>
            <a:r>
              <a:rPr sz="2600" b="1" spc="0" dirty="0">
                <a:latin typeface="Arial"/>
                <a:cs typeface="Arial"/>
              </a:rPr>
              <a:t>t</a:t>
            </a:r>
            <a:r>
              <a:rPr sz="2600" b="1" spc="-5" dirty="0">
                <a:latin typeface="Arial"/>
                <a:cs typeface="Arial"/>
              </a:rPr>
              <a:t> </a:t>
            </a:r>
            <a:r>
              <a:rPr sz="2600" b="1" spc="0" dirty="0">
                <a:latin typeface="Arial"/>
                <a:cs typeface="Arial"/>
              </a:rPr>
              <a:t>s</a:t>
            </a:r>
            <a:r>
              <a:rPr sz="2600" b="1" spc="-10" dirty="0">
                <a:latin typeface="Arial"/>
                <a:cs typeface="Arial"/>
              </a:rPr>
              <a:t>i</a:t>
            </a:r>
            <a:r>
              <a:rPr sz="2600" b="1" spc="-25" dirty="0">
                <a:latin typeface="Arial"/>
                <a:cs typeface="Arial"/>
              </a:rPr>
              <a:t>d</a:t>
            </a:r>
            <a:r>
              <a:rPr sz="2600" b="1" spc="0" dirty="0">
                <a:latin typeface="Arial"/>
                <a:cs typeface="Arial"/>
              </a:rPr>
              <a:t>e:</a:t>
            </a:r>
            <a:r>
              <a:rPr sz="2600" b="1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uses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an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Au</a:t>
            </a:r>
            <a:r>
              <a:rPr sz="2600" spc="-10" dirty="0">
                <a:latin typeface="Arial"/>
                <a:cs typeface="Arial"/>
              </a:rPr>
              <a:t>thorization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header</a:t>
            </a:r>
            <a:endParaRPr sz="2600">
              <a:latin typeface="Arial"/>
              <a:cs typeface="Arial"/>
            </a:endParaRPr>
          </a:p>
          <a:p>
            <a:pPr>
              <a:lnSpc>
                <a:spcPts val="950"/>
              </a:lnSpc>
              <a:spcBef>
                <a:spcPts val="30"/>
              </a:spcBef>
            </a:pPr>
            <a:endParaRPr sz="950"/>
          </a:p>
          <a:p>
            <a:pPr marL="6858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Au</a:t>
            </a:r>
            <a:r>
              <a:rPr sz="2000" spc="-10" dirty="0">
                <a:latin typeface="Arial"/>
                <a:cs typeface="Arial"/>
              </a:rPr>
              <a:t>thorization: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base64(username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+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“:”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+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password)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24808" y="4653136"/>
            <a:ext cx="6336701" cy="16635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43822" y="5025876"/>
            <a:ext cx="2460971" cy="261609"/>
          </a:xfrm>
          <a:custGeom>
            <a:avLst/>
            <a:gdLst/>
            <a:ahLst/>
            <a:cxnLst/>
            <a:rect l="l" t="t" r="r" b="b"/>
            <a:pathLst>
              <a:path w="2460971" h="261609">
                <a:moveTo>
                  <a:pt x="0" y="0"/>
                </a:moveTo>
                <a:lnTo>
                  <a:pt x="2460971" y="0"/>
                </a:lnTo>
                <a:lnTo>
                  <a:pt x="2460971" y="261609"/>
                </a:lnTo>
                <a:lnTo>
                  <a:pt x="0" y="26160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2562" y="5071596"/>
            <a:ext cx="855980" cy="1847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Arial"/>
                <a:cs typeface="Arial"/>
              </a:rPr>
              <a:t>“</a:t>
            </a:r>
            <a:r>
              <a:rPr sz="1100" spc="-60" dirty="0">
                <a:latin typeface="Arial"/>
                <a:cs typeface="Arial"/>
              </a:rPr>
              <a:t>W</a:t>
            </a:r>
            <a:r>
              <a:rPr sz="1100" spc="0" dirty="0">
                <a:latin typeface="Arial"/>
                <a:cs typeface="Arial"/>
              </a:rPr>
              <a:t>ally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W</a:t>
            </a:r>
            <a:r>
              <a:rPr sz="1100" spc="0" dirty="0">
                <a:latin typeface="Arial"/>
                <a:cs typeface="Arial"/>
              </a:rPr>
              <a:t>orld”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3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09625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H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TTP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Basic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Au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hen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ica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ion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(2)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22433" y="1816207"/>
            <a:ext cx="610285" cy="4931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57254" y="1768266"/>
            <a:ext cx="576063" cy="6130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44687" y="2852936"/>
            <a:ext cx="0" cy="2422525"/>
          </a:xfrm>
          <a:custGeom>
            <a:avLst/>
            <a:gdLst/>
            <a:ahLst/>
            <a:cxnLst/>
            <a:rect l="l" t="t" r="r" b="b"/>
            <a:pathLst>
              <a:path h="2422525">
                <a:moveTo>
                  <a:pt x="0" y="0"/>
                </a:moveTo>
                <a:lnTo>
                  <a:pt x="0" y="2422525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06587" y="5224661"/>
            <a:ext cx="76200" cy="76199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9303" y="2852936"/>
            <a:ext cx="0" cy="2592287"/>
          </a:xfrm>
          <a:custGeom>
            <a:avLst/>
            <a:gdLst/>
            <a:ahLst/>
            <a:cxnLst/>
            <a:rect l="l" t="t" r="r" b="b"/>
            <a:pathLst>
              <a:path h="2592287">
                <a:moveTo>
                  <a:pt x="-7689303" y="4005063"/>
                </a:moveTo>
                <a:lnTo>
                  <a:pt x="-7689303" y="4005063"/>
                </a:lnTo>
              </a:path>
            </a:pathLst>
          </a:custGeom>
          <a:ln w="3175">
            <a:solidFill>
              <a:srgbClr val="73A4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89303" y="2852936"/>
            <a:ext cx="0" cy="2566987"/>
          </a:xfrm>
          <a:custGeom>
            <a:avLst/>
            <a:gdLst/>
            <a:ahLst/>
            <a:cxnLst/>
            <a:rect l="l" t="t" r="r" b="b"/>
            <a:pathLst>
              <a:path h="2566987">
                <a:moveTo>
                  <a:pt x="0" y="0"/>
                </a:moveTo>
                <a:lnTo>
                  <a:pt x="0" y="2566987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51203" y="536912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00681" y="2406727"/>
            <a:ext cx="288019" cy="288023"/>
          </a:xfrm>
          <a:custGeom>
            <a:avLst/>
            <a:gdLst/>
            <a:ahLst/>
            <a:cxnLst/>
            <a:rect l="l" t="t" r="r" b="b"/>
            <a:pathLst>
              <a:path w="288019" h="288023">
                <a:moveTo>
                  <a:pt x="143456" y="0"/>
                </a:moveTo>
                <a:lnTo>
                  <a:pt x="100775" y="6600"/>
                </a:lnTo>
                <a:lnTo>
                  <a:pt x="63221" y="24773"/>
                </a:lnTo>
                <a:lnTo>
                  <a:pt x="32734" y="52579"/>
                </a:lnTo>
                <a:lnTo>
                  <a:pt x="11257" y="88076"/>
                </a:lnTo>
                <a:lnTo>
                  <a:pt x="730" y="129323"/>
                </a:lnTo>
                <a:lnTo>
                  <a:pt x="0" y="145703"/>
                </a:lnTo>
                <a:lnTo>
                  <a:pt x="899" y="160281"/>
                </a:lnTo>
                <a:lnTo>
                  <a:pt x="11800" y="201168"/>
                </a:lnTo>
                <a:lnTo>
                  <a:pt x="33558" y="236299"/>
                </a:lnTo>
                <a:lnTo>
                  <a:pt x="64315" y="263761"/>
                </a:lnTo>
                <a:lnTo>
                  <a:pt x="102211" y="281640"/>
                </a:lnTo>
                <a:lnTo>
                  <a:pt x="145384" y="288023"/>
                </a:lnTo>
                <a:lnTo>
                  <a:pt x="159989" y="287152"/>
                </a:lnTo>
                <a:lnTo>
                  <a:pt x="200959" y="276313"/>
                </a:lnTo>
                <a:lnTo>
                  <a:pt x="236168" y="254598"/>
                </a:lnTo>
                <a:lnTo>
                  <a:pt x="263694" y="223887"/>
                </a:lnTo>
                <a:lnTo>
                  <a:pt x="281618" y="186065"/>
                </a:lnTo>
                <a:lnTo>
                  <a:pt x="288019" y="143011"/>
                </a:lnTo>
                <a:lnTo>
                  <a:pt x="287182" y="128373"/>
                </a:lnTo>
                <a:lnTo>
                  <a:pt x="276418" y="87305"/>
                </a:lnTo>
                <a:lnTo>
                  <a:pt x="254755" y="52003"/>
                </a:lnTo>
                <a:lnTo>
                  <a:pt x="224101" y="24399"/>
                </a:lnTo>
                <a:lnTo>
                  <a:pt x="186366" y="6421"/>
                </a:lnTo>
                <a:lnTo>
                  <a:pt x="143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00671" y="2406727"/>
            <a:ext cx="288028" cy="288024"/>
          </a:xfrm>
          <a:custGeom>
            <a:avLst/>
            <a:gdLst/>
            <a:ahLst/>
            <a:cxnLst/>
            <a:rect l="l" t="t" r="r" b="b"/>
            <a:pathLst>
              <a:path w="288028" h="288024">
                <a:moveTo>
                  <a:pt x="0" y="144014"/>
                </a:moveTo>
                <a:lnTo>
                  <a:pt x="6445" y="101282"/>
                </a:lnTo>
                <a:lnTo>
                  <a:pt x="24488" y="63653"/>
                </a:lnTo>
                <a:lnTo>
                  <a:pt x="52187" y="33068"/>
                </a:lnTo>
                <a:lnTo>
                  <a:pt x="87601" y="11468"/>
                </a:lnTo>
                <a:lnTo>
                  <a:pt x="128789" y="794"/>
                </a:lnTo>
                <a:lnTo>
                  <a:pt x="143466" y="0"/>
                </a:lnTo>
                <a:lnTo>
                  <a:pt x="158226" y="737"/>
                </a:lnTo>
                <a:lnTo>
                  <a:pt x="199622" y="11225"/>
                </a:lnTo>
                <a:lnTo>
                  <a:pt x="235209" y="32626"/>
                </a:lnTo>
                <a:lnTo>
                  <a:pt x="263078" y="63011"/>
                </a:lnTo>
                <a:lnTo>
                  <a:pt x="281321" y="100449"/>
                </a:lnTo>
                <a:lnTo>
                  <a:pt x="288028" y="143011"/>
                </a:lnTo>
                <a:lnTo>
                  <a:pt x="287294" y="157827"/>
                </a:lnTo>
                <a:lnTo>
                  <a:pt x="276839" y="199347"/>
                </a:lnTo>
                <a:lnTo>
                  <a:pt x="255501" y="235008"/>
                </a:lnTo>
                <a:lnTo>
                  <a:pt x="225200" y="262929"/>
                </a:lnTo>
                <a:lnTo>
                  <a:pt x="187858" y="281228"/>
                </a:lnTo>
                <a:lnTo>
                  <a:pt x="145395" y="288024"/>
                </a:lnTo>
                <a:lnTo>
                  <a:pt x="130532" y="287292"/>
                </a:lnTo>
                <a:lnTo>
                  <a:pt x="88911" y="276865"/>
                </a:lnTo>
                <a:lnTo>
                  <a:pt x="53188" y="255579"/>
                </a:lnTo>
                <a:lnTo>
                  <a:pt x="25224" y="225348"/>
                </a:lnTo>
                <a:lnTo>
                  <a:pt x="6878" y="188086"/>
                </a:lnTo>
                <a:lnTo>
                  <a:pt x="9" y="145705"/>
                </a:lnTo>
                <a:lnTo>
                  <a:pt x="0" y="144014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20751" y="2309317"/>
            <a:ext cx="2808311" cy="288032"/>
          </a:xfrm>
          <a:custGeom>
            <a:avLst/>
            <a:gdLst/>
            <a:ahLst/>
            <a:cxnLst/>
            <a:rect l="l" t="t" r="r" b="b"/>
            <a:pathLst>
              <a:path w="2808311" h="288032">
                <a:moveTo>
                  <a:pt x="0" y="0"/>
                </a:moveTo>
                <a:lnTo>
                  <a:pt x="2808311" y="0"/>
                </a:lnTo>
                <a:lnTo>
                  <a:pt x="2808311" y="288032"/>
                </a:lnTo>
                <a:lnTo>
                  <a:pt x="0" y="288032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20751" y="2309317"/>
            <a:ext cx="2808311" cy="288032"/>
          </a:xfrm>
          <a:custGeom>
            <a:avLst/>
            <a:gdLst/>
            <a:ahLst/>
            <a:cxnLst/>
            <a:rect l="l" t="t" r="r" b="b"/>
            <a:pathLst>
              <a:path w="2808311" h="288032">
                <a:moveTo>
                  <a:pt x="0" y="0"/>
                </a:moveTo>
                <a:lnTo>
                  <a:pt x="2808311" y="0"/>
                </a:lnTo>
                <a:lnTo>
                  <a:pt x="2808311" y="288032"/>
                </a:lnTo>
                <a:lnTo>
                  <a:pt x="0" y="28803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20751" y="2597349"/>
            <a:ext cx="2808311" cy="184665"/>
          </a:xfrm>
          <a:custGeom>
            <a:avLst/>
            <a:gdLst/>
            <a:ahLst/>
            <a:cxnLst/>
            <a:rect l="l" t="t" r="r" b="b"/>
            <a:pathLst>
              <a:path w="2808311" h="184665">
                <a:moveTo>
                  <a:pt x="0" y="0"/>
                </a:moveTo>
                <a:lnTo>
                  <a:pt x="2808311" y="0"/>
                </a:lnTo>
                <a:lnTo>
                  <a:pt x="2808311" y="184665"/>
                </a:lnTo>
                <a:lnTo>
                  <a:pt x="0" y="18466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99491" y="2597349"/>
            <a:ext cx="177800" cy="200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…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16696" y="2550741"/>
            <a:ext cx="504055" cy="1"/>
          </a:xfrm>
          <a:custGeom>
            <a:avLst/>
            <a:gdLst/>
            <a:ahLst/>
            <a:cxnLst/>
            <a:rect l="l" t="t" r="r" b="b"/>
            <a:pathLst>
              <a:path w="504055" h="1">
                <a:moveTo>
                  <a:pt x="0" y="0"/>
                </a:moveTo>
                <a:lnTo>
                  <a:pt x="504055" y="1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01269" y="3356992"/>
            <a:ext cx="216023" cy="1"/>
          </a:xfrm>
          <a:custGeom>
            <a:avLst/>
            <a:gdLst/>
            <a:ahLst/>
            <a:cxnLst/>
            <a:rect l="l" t="t" r="r" b="b"/>
            <a:pathLst>
              <a:path w="216023" h="1">
                <a:moveTo>
                  <a:pt x="0" y="1"/>
                </a:moveTo>
                <a:lnTo>
                  <a:pt x="21602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45296" y="3217168"/>
            <a:ext cx="288019" cy="288024"/>
          </a:xfrm>
          <a:custGeom>
            <a:avLst/>
            <a:gdLst/>
            <a:ahLst/>
            <a:cxnLst/>
            <a:rect l="l" t="t" r="r" b="b"/>
            <a:pathLst>
              <a:path w="288019" h="288024">
                <a:moveTo>
                  <a:pt x="143455" y="0"/>
                </a:moveTo>
                <a:lnTo>
                  <a:pt x="100774" y="6600"/>
                </a:lnTo>
                <a:lnTo>
                  <a:pt x="63220" y="24774"/>
                </a:lnTo>
                <a:lnTo>
                  <a:pt x="32734" y="52580"/>
                </a:lnTo>
                <a:lnTo>
                  <a:pt x="11257" y="88077"/>
                </a:lnTo>
                <a:lnTo>
                  <a:pt x="730" y="129324"/>
                </a:lnTo>
                <a:lnTo>
                  <a:pt x="0" y="145706"/>
                </a:lnTo>
                <a:lnTo>
                  <a:pt x="899" y="160283"/>
                </a:lnTo>
                <a:lnTo>
                  <a:pt x="11800" y="201170"/>
                </a:lnTo>
                <a:lnTo>
                  <a:pt x="33559" y="236301"/>
                </a:lnTo>
                <a:lnTo>
                  <a:pt x="64316" y="263763"/>
                </a:lnTo>
                <a:lnTo>
                  <a:pt x="102212" y="281642"/>
                </a:lnTo>
                <a:lnTo>
                  <a:pt x="145386" y="288024"/>
                </a:lnTo>
                <a:lnTo>
                  <a:pt x="159990" y="287153"/>
                </a:lnTo>
                <a:lnTo>
                  <a:pt x="200959" y="276314"/>
                </a:lnTo>
                <a:lnTo>
                  <a:pt x="236168" y="254598"/>
                </a:lnTo>
                <a:lnTo>
                  <a:pt x="263694" y="223888"/>
                </a:lnTo>
                <a:lnTo>
                  <a:pt x="281618" y="186065"/>
                </a:lnTo>
                <a:lnTo>
                  <a:pt x="288019" y="143010"/>
                </a:lnTo>
                <a:lnTo>
                  <a:pt x="287182" y="128373"/>
                </a:lnTo>
                <a:lnTo>
                  <a:pt x="276417" y="87305"/>
                </a:lnTo>
                <a:lnTo>
                  <a:pt x="254754" y="52003"/>
                </a:lnTo>
                <a:lnTo>
                  <a:pt x="224100" y="24399"/>
                </a:lnTo>
                <a:lnTo>
                  <a:pt x="186364" y="6421"/>
                </a:lnTo>
                <a:lnTo>
                  <a:pt x="1434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45286" y="3217168"/>
            <a:ext cx="288028" cy="288024"/>
          </a:xfrm>
          <a:custGeom>
            <a:avLst/>
            <a:gdLst/>
            <a:ahLst/>
            <a:cxnLst/>
            <a:rect l="l" t="t" r="r" b="b"/>
            <a:pathLst>
              <a:path w="288028" h="288024">
                <a:moveTo>
                  <a:pt x="0" y="144014"/>
                </a:moveTo>
                <a:lnTo>
                  <a:pt x="6445" y="101282"/>
                </a:lnTo>
                <a:lnTo>
                  <a:pt x="24488" y="63653"/>
                </a:lnTo>
                <a:lnTo>
                  <a:pt x="52187" y="33068"/>
                </a:lnTo>
                <a:lnTo>
                  <a:pt x="87601" y="11468"/>
                </a:lnTo>
                <a:lnTo>
                  <a:pt x="128789" y="794"/>
                </a:lnTo>
                <a:lnTo>
                  <a:pt x="143466" y="0"/>
                </a:lnTo>
                <a:lnTo>
                  <a:pt x="158226" y="737"/>
                </a:lnTo>
                <a:lnTo>
                  <a:pt x="199622" y="11225"/>
                </a:lnTo>
                <a:lnTo>
                  <a:pt x="235209" y="32626"/>
                </a:lnTo>
                <a:lnTo>
                  <a:pt x="263078" y="63011"/>
                </a:lnTo>
                <a:lnTo>
                  <a:pt x="281321" y="100449"/>
                </a:lnTo>
                <a:lnTo>
                  <a:pt x="288028" y="143011"/>
                </a:lnTo>
                <a:lnTo>
                  <a:pt x="287294" y="157827"/>
                </a:lnTo>
                <a:lnTo>
                  <a:pt x="276839" y="199347"/>
                </a:lnTo>
                <a:lnTo>
                  <a:pt x="255501" y="235008"/>
                </a:lnTo>
                <a:lnTo>
                  <a:pt x="225200" y="262929"/>
                </a:lnTo>
                <a:lnTo>
                  <a:pt x="187858" y="281228"/>
                </a:lnTo>
                <a:lnTo>
                  <a:pt x="145395" y="288024"/>
                </a:lnTo>
                <a:lnTo>
                  <a:pt x="130532" y="287292"/>
                </a:lnTo>
                <a:lnTo>
                  <a:pt x="88911" y="276865"/>
                </a:lnTo>
                <a:lnTo>
                  <a:pt x="53188" y="255579"/>
                </a:lnTo>
                <a:lnTo>
                  <a:pt x="25224" y="225348"/>
                </a:lnTo>
                <a:lnTo>
                  <a:pt x="6878" y="188085"/>
                </a:lnTo>
                <a:lnTo>
                  <a:pt x="9" y="145705"/>
                </a:lnTo>
                <a:lnTo>
                  <a:pt x="0" y="144014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624026" y="3237487"/>
            <a:ext cx="124460" cy="2317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40831" y="3068960"/>
            <a:ext cx="3960439" cy="276999"/>
          </a:xfrm>
          <a:custGeom>
            <a:avLst/>
            <a:gdLst/>
            <a:ahLst/>
            <a:cxnLst/>
            <a:rect l="l" t="t" r="r" b="b"/>
            <a:pathLst>
              <a:path w="3960439" h="276999">
                <a:moveTo>
                  <a:pt x="0" y="0"/>
                </a:moveTo>
                <a:lnTo>
                  <a:pt x="3960439" y="0"/>
                </a:lnTo>
                <a:lnTo>
                  <a:pt x="3960439" y="276999"/>
                </a:lnTo>
                <a:lnTo>
                  <a:pt x="0" y="27699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440831" y="3068960"/>
            <a:ext cx="3960438" cy="276998"/>
          </a:xfrm>
          <a:custGeom>
            <a:avLst/>
            <a:gdLst/>
            <a:ahLst/>
            <a:cxnLst/>
            <a:rect l="l" t="t" r="r" b="b"/>
            <a:pathLst>
              <a:path w="3960438" h="276998">
                <a:moveTo>
                  <a:pt x="0" y="0"/>
                </a:moveTo>
                <a:lnTo>
                  <a:pt x="3960438" y="0"/>
                </a:lnTo>
                <a:lnTo>
                  <a:pt x="3960438" y="276998"/>
                </a:lnTo>
                <a:lnTo>
                  <a:pt x="0" y="2769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40831" y="3346829"/>
            <a:ext cx="3960438" cy="312357"/>
          </a:xfrm>
          <a:custGeom>
            <a:avLst/>
            <a:gdLst/>
            <a:ahLst/>
            <a:cxnLst/>
            <a:rect l="l" t="t" r="r" b="b"/>
            <a:pathLst>
              <a:path w="3960438" h="312357">
                <a:moveTo>
                  <a:pt x="0" y="0"/>
                </a:moveTo>
                <a:lnTo>
                  <a:pt x="3960438" y="0"/>
                </a:lnTo>
                <a:lnTo>
                  <a:pt x="3960438" y="312357"/>
                </a:lnTo>
                <a:lnTo>
                  <a:pt x="0" y="31235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519571" y="3114680"/>
            <a:ext cx="3668395" cy="43243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833755" algn="l"/>
              </a:tabLst>
            </a:pPr>
            <a:r>
              <a:rPr sz="120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TTP/1</a:t>
            </a:r>
            <a:r>
              <a:rPr sz="1200" spc="-5" dirty="0">
                <a:latin typeface="Arial"/>
                <a:cs typeface="Arial"/>
              </a:rPr>
              <a:t>.1	401  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Au</a:t>
            </a:r>
            <a:r>
              <a:rPr sz="1200" spc="-5" dirty="0">
                <a:latin typeface="Arial"/>
                <a:cs typeface="Arial"/>
              </a:rPr>
              <a:t>thentication </a:t>
            </a:r>
            <a:r>
              <a:rPr sz="1200" spc="0" dirty="0">
                <a:latin typeface="Arial"/>
                <a:cs typeface="Arial"/>
              </a:rPr>
              <a:t>Required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b="1" spc="-15" dirty="0">
                <a:latin typeface="Arial"/>
                <a:cs typeface="Arial"/>
              </a:rPr>
              <a:t>WW</a:t>
            </a:r>
            <a:r>
              <a:rPr sz="1200" b="1" spc="-40" dirty="0">
                <a:latin typeface="Arial"/>
                <a:cs typeface="Arial"/>
              </a:rPr>
              <a:t>W</a:t>
            </a:r>
            <a:r>
              <a:rPr sz="1200" b="1" spc="0" dirty="0">
                <a:latin typeface="Arial"/>
                <a:cs typeface="Arial"/>
              </a:rPr>
              <a:t>-A</a:t>
            </a:r>
            <a:r>
              <a:rPr sz="1200" b="1" spc="-10" dirty="0">
                <a:latin typeface="Arial"/>
                <a:cs typeface="Arial"/>
              </a:rPr>
              <a:t>uthe</a:t>
            </a:r>
            <a:r>
              <a:rPr sz="1200" b="1" spc="-5" dirty="0">
                <a:latin typeface="Arial"/>
                <a:cs typeface="Arial"/>
              </a:rPr>
              <a:t>nticate: </a:t>
            </a:r>
            <a:r>
              <a:rPr sz="1200" b="1" spc="0" dirty="0">
                <a:latin typeface="Arial"/>
                <a:cs typeface="Arial"/>
              </a:rPr>
              <a:t>Bas</a:t>
            </a:r>
            <a:r>
              <a:rPr sz="1200" b="1" spc="-5" dirty="0">
                <a:latin typeface="Arial"/>
                <a:cs typeface="Arial"/>
              </a:rPr>
              <a:t>ic </a:t>
            </a:r>
            <a:r>
              <a:rPr sz="1200" b="1" spc="0" dirty="0">
                <a:latin typeface="Arial"/>
                <a:cs typeface="Arial"/>
              </a:rPr>
              <a:t>rea</a:t>
            </a:r>
            <a:r>
              <a:rPr sz="1200" b="1" spc="-5" dirty="0">
                <a:latin typeface="Arial"/>
                <a:cs typeface="Arial"/>
              </a:rPr>
              <a:t>lm </a:t>
            </a:r>
            <a:r>
              <a:rPr sz="1200" b="1" spc="-10" dirty="0">
                <a:latin typeface="Arial"/>
                <a:cs typeface="Arial"/>
              </a:rPr>
              <a:t>=</a:t>
            </a:r>
            <a:r>
              <a:rPr sz="1200" b="1" spc="-5" dirty="0">
                <a:latin typeface="Arial"/>
                <a:cs typeface="Arial"/>
              </a:rPr>
              <a:t> “</a:t>
            </a:r>
            <a:r>
              <a:rPr sz="1200" b="1" spc="-15" dirty="0">
                <a:latin typeface="Arial"/>
                <a:cs typeface="Arial"/>
              </a:rPr>
              <a:t>webcallenda</a:t>
            </a:r>
            <a:r>
              <a:rPr sz="1200" b="1" spc="-5" dirty="0">
                <a:latin typeface="Arial"/>
                <a:cs typeface="Arial"/>
              </a:rPr>
              <a:t>r”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70087" y="3356992"/>
            <a:ext cx="1270793" cy="0"/>
          </a:xfrm>
          <a:custGeom>
            <a:avLst/>
            <a:gdLst/>
            <a:ahLst/>
            <a:cxnLst/>
            <a:rect l="l" t="t" r="r" b="b"/>
            <a:pathLst>
              <a:path w="1270793">
                <a:moveTo>
                  <a:pt x="0" y="0"/>
                </a:moveTo>
                <a:lnTo>
                  <a:pt x="1270793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44687" y="331889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29063" y="2525341"/>
            <a:ext cx="2135187" cy="0"/>
          </a:xfrm>
          <a:custGeom>
            <a:avLst/>
            <a:gdLst/>
            <a:ahLst/>
            <a:cxnLst/>
            <a:rect l="l" t="t" r="r" b="b"/>
            <a:pathLst>
              <a:path w="2135187">
                <a:moveTo>
                  <a:pt x="0" y="0"/>
                </a:moveTo>
                <a:lnTo>
                  <a:pt x="2135187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13450" y="248724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00681" y="3990902"/>
            <a:ext cx="288019" cy="288024"/>
          </a:xfrm>
          <a:custGeom>
            <a:avLst/>
            <a:gdLst/>
            <a:ahLst/>
            <a:cxnLst/>
            <a:rect l="l" t="t" r="r" b="b"/>
            <a:pathLst>
              <a:path w="288019" h="288024">
                <a:moveTo>
                  <a:pt x="143456" y="0"/>
                </a:moveTo>
                <a:lnTo>
                  <a:pt x="100775" y="6600"/>
                </a:lnTo>
                <a:lnTo>
                  <a:pt x="63221" y="24773"/>
                </a:lnTo>
                <a:lnTo>
                  <a:pt x="32734" y="52579"/>
                </a:lnTo>
                <a:lnTo>
                  <a:pt x="11257" y="88076"/>
                </a:lnTo>
                <a:lnTo>
                  <a:pt x="730" y="129323"/>
                </a:lnTo>
                <a:lnTo>
                  <a:pt x="0" y="145705"/>
                </a:lnTo>
                <a:lnTo>
                  <a:pt x="899" y="160283"/>
                </a:lnTo>
                <a:lnTo>
                  <a:pt x="11800" y="201170"/>
                </a:lnTo>
                <a:lnTo>
                  <a:pt x="33559" y="236301"/>
                </a:lnTo>
                <a:lnTo>
                  <a:pt x="64316" y="263763"/>
                </a:lnTo>
                <a:lnTo>
                  <a:pt x="102212" y="281642"/>
                </a:lnTo>
                <a:lnTo>
                  <a:pt x="145385" y="288024"/>
                </a:lnTo>
                <a:lnTo>
                  <a:pt x="159990" y="287153"/>
                </a:lnTo>
                <a:lnTo>
                  <a:pt x="200960" y="276314"/>
                </a:lnTo>
                <a:lnTo>
                  <a:pt x="236168" y="254598"/>
                </a:lnTo>
                <a:lnTo>
                  <a:pt x="263695" y="223888"/>
                </a:lnTo>
                <a:lnTo>
                  <a:pt x="281618" y="186065"/>
                </a:lnTo>
                <a:lnTo>
                  <a:pt x="288019" y="143011"/>
                </a:lnTo>
                <a:lnTo>
                  <a:pt x="287182" y="128373"/>
                </a:lnTo>
                <a:lnTo>
                  <a:pt x="276418" y="87305"/>
                </a:lnTo>
                <a:lnTo>
                  <a:pt x="254755" y="52003"/>
                </a:lnTo>
                <a:lnTo>
                  <a:pt x="224101" y="24399"/>
                </a:lnTo>
                <a:lnTo>
                  <a:pt x="186366" y="6421"/>
                </a:lnTo>
                <a:lnTo>
                  <a:pt x="143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00671" y="3990902"/>
            <a:ext cx="288028" cy="288024"/>
          </a:xfrm>
          <a:custGeom>
            <a:avLst/>
            <a:gdLst/>
            <a:ahLst/>
            <a:cxnLst/>
            <a:rect l="l" t="t" r="r" b="b"/>
            <a:pathLst>
              <a:path w="288028" h="288024">
                <a:moveTo>
                  <a:pt x="0" y="144014"/>
                </a:moveTo>
                <a:lnTo>
                  <a:pt x="6445" y="101282"/>
                </a:lnTo>
                <a:lnTo>
                  <a:pt x="24488" y="63653"/>
                </a:lnTo>
                <a:lnTo>
                  <a:pt x="52187" y="33068"/>
                </a:lnTo>
                <a:lnTo>
                  <a:pt x="87601" y="11468"/>
                </a:lnTo>
                <a:lnTo>
                  <a:pt x="128789" y="794"/>
                </a:lnTo>
                <a:lnTo>
                  <a:pt x="143466" y="0"/>
                </a:lnTo>
                <a:lnTo>
                  <a:pt x="158226" y="737"/>
                </a:lnTo>
                <a:lnTo>
                  <a:pt x="199622" y="11225"/>
                </a:lnTo>
                <a:lnTo>
                  <a:pt x="235209" y="32626"/>
                </a:lnTo>
                <a:lnTo>
                  <a:pt x="263078" y="63011"/>
                </a:lnTo>
                <a:lnTo>
                  <a:pt x="281321" y="100449"/>
                </a:lnTo>
                <a:lnTo>
                  <a:pt x="288028" y="143011"/>
                </a:lnTo>
                <a:lnTo>
                  <a:pt x="287294" y="157827"/>
                </a:lnTo>
                <a:lnTo>
                  <a:pt x="276839" y="199347"/>
                </a:lnTo>
                <a:lnTo>
                  <a:pt x="255501" y="235008"/>
                </a:lnTo>
                <a:lnTo>
                  <a:pt x="225200" y="262929"/>
                </a:lnTo>
                <a:lnTo>
                  <a:pt x="187858" y="281228"/>
                </a:lnTo>
                <a:lnTo>
                  <a:pt x="145395" y="288024"/>
                </a:lnTo>
                <a:lnTo>
                  <a:pt x="130532" y="287292"/>
                </a:lnTo>
                <a:lnTo>
                  <a:pt x="88911" y="276865"/>
                </a:lnTo>
                <a:lnTo>
                  <a:pt x="53188" y="255579"/>
                </a:lnTo>
                <a:lnTo>
                  <a:pt x="25224" y="225348"/>
                </a:lnTo>
                <a:lnTo>
                  <a:pt x="6878" y="188085"/>
                </a:lnTo>
                <a:lnTo>
                  <a:pt x="9" y="145705"/>
                </a:lnTo>
                <a:lnTo>
                  <a:pt x="0" y="144014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079411" y="4011221"/>
            <a:ext cx="124460" cy="2317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720751" y="3924851"/>
            <a:ext cx="4464495" cy="288032"/>
          </a:xfrm>
          <a:custGeom>
            <a:avLst/>
            <a:gdLst/>
            <a:ahLst/>
            <a:cxnLst/>
            <a:rect l="l" t="t" r="r" b="b"/>
            <a:pathLst>
              <a:path w="4464495" h="288032">
                <a:moveTo>
                  <a:pt x="0" y="0"/>
                </a:moveTo>
                <a:lnTo>
                  <a:pt x="4464495" y="0"/>
                </a:lnTo>
                <a:lnTo>
                  <a:pt x="4464495" y="288032"/>
                </a:lnTo>
                <a:lnTo>
                  <a:pt x="0" y="288032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20751" y="3924851"/>
            <a:ext cx="4464494" cy="288032"/>
          </a:xfrm>
          <a:custGeom>
            <a:avLst/>
            <a:gdLst/>
            <a:ahLst/>
            <a:cxnLst/>
            <a:rect l="l" t="t" r="r" b="b"/>
            <a:pathLst>
              <a:path w="4464494" h="288032">
                <a:moveTo>
                  <a:pt x="0" y="0"/>
                </a:moveTo>
                <a:lnTo>
                  <a:pt x="4464494" y="0"/>
                </a:lnTo>
                <a:lnTo>
                  <a:pt x="4464494" y="288032"/>
                </a:lnTo>
                <a:lnTo>
                  <a:pt x="0" y="28803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799491" y="3970571"/>
            <a:ext cx="2496185" cy="200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spc="-10" dirty="0">
                <a:latin typeface="Arial"/>
                <a:cs typeface="Arial"/>
              </a:rPr>
              <a:t>GET  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TTP/1</a:t>
            </a:r>
            <a:r>
              <a:rPr sz="1200" spc="-5" dirty="0">
                <a:latin typeface="Arial"/>
                <a:cs typeface="Arial"/>
              </a:rPr>
              <a:t>.1  </a:t>
            </a:r>
            <a:r>
              <a:rPr sz="1200" spc="0" dirty="0">
                <a:latin typeface="Arial"/>
                <a:cs typeface="Arial"/>
              </a:rPr>
              <a:t>webcallenda</a:t>
            </a:r>
            <a:r>
              <a:rPr sz="1200" spc="-70" dirty="0">
                <a:latin typeface="Arial"/>
                <a:cs typeface="Arial"/>
              </a:rPr>
              <a:t>r</a:t>
            </a:r>
            <a:r>
              <a:rPr sz="1200" spc="-5" dirty="0">
                <a:latin typeface="Arial"/>
                <a:cs typeface="Arial"/>
              </a:rPr>
              <a:t>.co.nz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720751" y="4212883"/>
            <a:ext cx="4464494" cy="184666"/>
          </a:xfrm>
          <a:custGeom>
            <a:avLst/>
            <a:gdLst/>
            <a:ahLst/>
            <a:cxnLst/>
            <a:rect l="l" t="t" r="r" b="b"/>
            <a:pathLst>
              <a:path w="4464494" h="184666">
                <a:moveTo>
                  <a:pt x="0" y="0"/>
                </a:moveTo>
                <a:lnTo>
                  <a:pt x="4464494" y="0"/>
                </a:lnTo>
                <a:lnTo>
                  <a:pt x="4464494" y="184666"/>
                </a:lnTo>
                <a:lnTo>
                  <a:pt x="0" y="184666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799491" y="4212883"/>
            <a:ext cx="4117975" cy="200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10" dirty="0">
                <a:latin typeface="Arial"/>
                <a:cs typeface="Arial"/>
              </a:rPr>
              <a:t>uthor</a:t>
            </a:r>
            <a:r>
              <a:rPr sz="1200" b="1" spc="-5" dirty="0">
                <a:latin typeface="Arial"/>
                <a:cs typeface="Arial"/>
              </a:rPr>
              <a:t>iza</a:t>
            </a:r>
            <a:r>
              <a:rPr sz="1200" b="1" spc="-10" dirty="0">
                <a:latin typeface="Arial"/>
                <a:cs typeface="Arial"/>
              </a:rPr>
              <a:t>tion: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0" dirty="0">
                <a:latin typeface="Arial"/>
                <a:cs typeface="Arial"/>
              </a:rPr>
              <a:t>Bas</a:t>
            </a:r>
            <a:r>
              <a:rPr sz="1200" b="1" spc="-5" dirty="0">
                <a:latin typeface="Arial"/>
                <a:cs typeface="Arial"/>
              </a:rPr>
              <a:t>ic </a:t>
            </a:r>
            <a:r>
              <a:rPr sz="1200" b="1" spc="-15" dirty="0">
                <a:latin typeface="Arial"/>
                <a:cs typeface="Arial"/>
              </a:rPr>
              <a:t>QWx</a:t>
            </a:r>
            <a:r>
              <a:rPr sz="1200" b="1" spc="-10" dirty="0">
                <a:latin typeface="Arial"/>
                <a:cs typeface="Arial"/>
              </a:rPr>
              <a:t>hZGRpbjpvcG</a:t>
            </a:r>
            <a:r>
              <a:rPr sz="1200" b="1" spc="-55" dirty="0">
                <a:latin typeface="Arial"/>
                <a:cs typeface="Arial"/>
              </a:rPr>
              <a:t>V</a:t>
            </a:r>
            <a:r>
              <a:rPr sz="1200" b="1" spc="-10" dirty="0">
                <a:latin typeface="Arial"/>
                <a:cs typeface="Arial"/>
              </a:rPr>
              <a:t>uIHN</a:t>
            </a:r>
            <a:r>
              <a:rPr sz="1200" b="1" spc="-5" dirty="0">
                <a:latin typeface="Arial"/>
                <a:cs typeface="Arial"/>
              </a:rPr>
              <a:t>lc2</a:t>
            </a:r>
            <a:r>
              <a:rPr sz="1200" b="1" spc="-10" dirty="0">
                <a:latin typeface="Arial"/>
                <a:cs typeface="Arial"/>
              </a:rPr>
              <a:t>FtZQ==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216696" y="4168825"/>
            <a:ext cx="504055" cy="0"/>
          </a:xfrm>
          <a:custGeom>
            <a:avLst/>
            <a:gdLst/>
            <a:ahLst/>
            <a:cxnLst/>
            <a:rect l="l" t="t" r="r" b="b"/>
            <a:pathLst>
              <a:path w="504055">
                <a:moveTo>
                  <a:pt x="-2216696" y="2689174"/>
                </a:moveTo>
                <a:lnTo>
                  <a:pt x="-2216696" y="2689174"/>
                </a:lnTo>
              </a:path>
            </a:pathLst>
          </a:custGeom>
          <a:ln w="3175">
            <a:solidFill>
              <a:srgbClr val="73A4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16696" y="4168825"/>
            <a:ext cx="504055" cy="0"/>
          </a:xfrm>
          <a:custGeom>
            <a:avLst/>
            <a:gdLst/>
            <a:ahLst/>
            <a:cxnLst/>
            <a:rect l="l" t="t" r="r" b="b"/>
            <a:pathLst>
              <a:path w="504055">
                <a:moveTo>
                  <a:pt x="0" y="0"/>
                </a:moveTo>
                <a:lnTo>
                  <a:pt x="504055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85247" y="4221087"/>
            <a:ext cx="478631" cy="0"/>
          </a:xfrm>
          <a:custGeom>
            <a:avLst/>
            <a:gdLst/>
            <a:ahLst/>
            <a:cxnLst/>
            <a:rect l="l" t="t" r="r" b="b"/>
            <a:pathLst>
              <a:path w="478631">
                <a:moveTo>
                  <a:pt x="0" y="0"/>
                </a:moveTo>
                <a:lnTo>
                  <a:pt x="478631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613078" y="418298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95236" y="1026448"/>
            <a:ext cx="4041775" cy="7683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challenge-response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paradigm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1300"/>
              </a:lnSpc>
              <a:spcBef>
                <a:spcPts val="44"/>
              </a:spcBef>
            </a:pPr>
            <a:endParaRPr sz="1300"/>
          </a:p>
          <a:p>
            <a:pPr marR="536575" algn="ctr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Client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63987" y="1530505"/>
            <a:ext cx="549275" cy="2317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79411" y="2427044"/>
            <a:ext cx="124460" cy="2317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99491" y="2355037"/>
            <a:ext cx="2496185" cy="200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spc="-10" dirty="0">
                <a:latin typeface="Arial"/>
                <a:cs typeface="Arial"/>
              </a:rPr>
              <a:t>GET  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TTP/1</a:t>
            </a:r>
            <a:r>
              <a:rPr sz="1200" spc="-5" dirty="0">
                <a:latin typeface="Arial"/>
                <a:cs typeface="Arial"/>
              </a:rPr>
              <a:t>.1  </a:t>
            </a:r>
            <a:r>
              <a:rPr sz="1200" spc="0" dirty="0">
                <a:latin typeface="Arial"/>
                <a:cs typeface="Arial"/>
              </a:rPr>
              <a:t>webcallenda</a:t>
            </a:r>
            <a:r>
              <a:rPr sz="1200" spc="-70" dirty="0">
                <a:latin typeface="Arial"/>
                <a:cs typeface="Arial"/>
              </a:rPr>
              <a:t>r</a:t>
            </a:r>
            <a:r>
              <a:rPr sz="1200" spc="-5" dirty="0">
                <a:latin typeface="Arial"/>
                <a:cs typeface="Arial"/>
              </a:rPr>
              <a:t>.co.nz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72479" y="5517231"/>
            <a:ext cx="9433045" cy="892551"/>
          </a:xfrm>
          <a:custGeom>
            <a:avLst/>
            <a:gdLst/>
            <a:ahLst/>
            <a:cxnLst/>
            <a:rect l="l" t="t" r="r" b="b"/>
            <a:pathLst>
              <a:path w="9433045" h="892551">
                <a:moveTo>
                  <a:pt x="0" y="0"/>
                </a:moveTo>
                <a:lnTo>
                  <a:pt x="9433045" y="0"/>
                </a:lnTo>
                <a:lnTo>
                  <a:pt x="9433045" y="892551"/>
                </a:lnTo>
                <a:lnTo>
                  <a:pt x="0" y="892551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51219" y="5562951"/>
            <a:ext cx="9234170" cy="7842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640205" marR="12700" indent="-1628139">
              <a:lnSpc>
                <a:spcPct val="100000"/>
              </a:lnSpc>
            </a:pPr>
            <a:r>
              <a:rPr sz="2500" spc="-20" dirty="0">
                <a:latin typeface="Arial"/>
                <a:cs typeface="Arial"/>
              </a:rPr>
              <a:t>The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0" dirty="0">
                <a:latin typeface="Arial"/>
                <a:cs typeface="Arial"/>
              </a:rPr>
              <a:t>basic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0" dirty="0">
                <a:latin typeface="Arial"/>
                <a:cs typeface="Arial"/>
              </a:rPr>
              <a:t>mechanism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b="1" spc="-20" dirty="0">
                <a:solidFill>
                  <a:srgbClr val="FF0000"/>
                </a:solidFill>
                <a:latin typeface="Arial"/>
                <a:cs typeface="Arial"/>
              </a:rPr>
              <a:t>does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spc="-20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spc="-20" dirty="0">
                <a:solidFill>
                  <a:srgbClr val="FF0000"/>
                </a:solidFill>
                <a:latin typeface="Arial"/>
                <a:cs typeface="Arial"/>
              </a:rPr>
              <a:t>prov</a:t>
            </a:r>
            <a:r>
              <a:rPr sz="2500" b="1" spc="-15" dirty="0">
                <a:solidFill>
                  <a:srgbClr val="FF0000"/>
                </a:solidFill>
                <a:latin typeface="Arial"/>
                <a:cs typeface="Arial"/>
              </a:rPr>
              <a:t>ide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spc="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500" b="1" spc="-20" dirty="0">
                <a:solidFill>
                  <a:srgbClr val="FF0000"/>
                </a:solidFill>
                <a:latin typeface="Arial"/>
                <a:cs typeface="Arial"/>
              </a:rPr>
              <a:t>nough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spc="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500" b="1" spc="-15" dirty="0">
                <a:solidFill>
                  <a:srgbClr val="FF0000"/>
                </a:solidFill>
                <a:latin typeface="Arial"/>
                <a:cs typeface="Arial"/>
              </a:rPr>
              <a:t>onfidentia</a:t>
            </a:r>
            <a:r>
              <a:rPr sz="2500" b="1" spc="-10" dirty="0">
                <a:solidFill>
                  <a:srgbClr val="FF0000"/>
                </a:solidFill>
                <a:latin typeface="Arial"/>
                <a:cs typeface="Arial"/>
              </a:rPr>
              <a:t>lity </a:t>
            </a:r>
            <a:r>
              <a:rPr sz="2500" b="1" spc="-20" dirty="0">
                <a:solidFill>
                  <a:srgbClr val="FF0000"/>
                </a:solidFill>
                <a:latin typeface="Arial"/>
                <a:cs typeface="Arial"/>
              </a:rPr>
              <a:t>protec</a:t>
            </a:r>
            <a:r>
              <a:rPr sz="2500" b="1" spc="-15" dirty="0">
                <a:solidFill>
                  <a:srgbClr val="FF0000"/>
                </a:solidFill>
                <a:latin typeface="Arial"/>
                <a:cs typeface="Arial"/>
              </a:rPr>
              <a:t>tion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for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the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transmitted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0" dirty="0">
                <a:latin typeface="Arial"/>
                <a:cs typeface="Arial"/>
              </a:rPr>
              <a:t>creden</a:t>
            </a:r>
            <a:r>
              <a:rPr sz="2500" spc="-10" dirty="0">
                <a:latin typeface="Arial"/>
                <a:cs typeface="Arial"/>
              </a:rPr>
              <a:t>tials.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545296" y="4699083"/>
            <a:ext cx="288019" cy="288024"/>
          </a:xfrm>
          <a:custGeom>
            <a:avLst/>
            <a:gdLst/>
            <a:ahLst/>
            <a:cxnLst/>
            <a:rect l="l" t="t" r="r" b="b"/>
            <a:pathLst>
              <a:path w="288019" h="288024">
                <a:moveTo>
                  <a:pt x="143456" y="0"/>
                </a:moveTo>
                <a:lnTo>
                  <a:pt x="100775" y="6600"/>
                </a:lnTo>
                <a:lnTo>
                  <a:pt x="63221" y="24773"/>
                </a:lnTo>
                <a:lnTo>
                  <a:pt x="32734" y="52579"/>
                </a:lnTo>
                <a:lnTo>
                  <a:pt x="11257" y="88076"/>
                </a:lnTo>
                <a:lnTo>
                  <a:pt x="730" y="129323"/>
                </a:lnTo>
                <a:lnTo>
                  <a:pt x="0" y="145705"/>
                </a:lnTo>
                <a:lnTo>
                  <a:pt x="899" y="160282"/>
                </a:lnTo>
                <a:lnTo>
                  <a:pt x="11800" y="201169"/>
                </a:lnTo>
                <a:lnTo>
                  <a:pt x="33559" y="236301"/>
                </a:lnTo>
                <a:lnTo>
                  <a:pt x="64316" y="263763"/>
                </a:lnTo>
                <a:lnTo>
                  <a:pt x="102211" y="281642"/>
                </a:lnTo>
                <a:lnTo>
                  <a:pt x="145385" y="288024"/>
                </a:lnTo>
                <a:lnTo>
                  <a:pt x="159990" y="287153"/>
                </a:lnTo>
                <a:lnTo>
                  <a:pt x="200959" y="276314"/>
                </a:lnTo>
                <a:lnTo>
                  <a:pt x="236168" y="254598"/>
                </a:lnTo>
                <a:lnTo>
                  <a:pt x="263694" y="223888"/>
                </a:lnTo>
                <a:lnTo>
                  <a:pt x="281618" y="186064"/>
                </a:lnTo>
                <a:lnTo>
                  <a:pt x="288019" y="143011"/>
                </a:lnTo>
                <a:lnTo>
                  <a:pt x="287182" y="128373"/>
                </a:lnTo>
                <a:lnTo>
                  <a:pt x="276418" y="87305"/>
                </a:lnTo>
                <a:lnTo>
                  <a:pt x="254754" y="52003"/>
                </a:lnTo>
                <a:lnTo>
                  <a:pt x="224101" y="24399"/>
                </a:lnTo>
                <a:lnTo>
                  <a:pt x="186365" y="6421"/>
                </a:lnTo>
                <a:lnTo>
                  <a:pt x="143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545286" y="4699083"/>
            <a:ext cx="288028" cy="288024"/>
          </a:xfrm>
          <a:custGeom>
            <a:avLst/>
            <a:gdLst/>
            <a:ahLst/>
            <a:cxnLst/>
            <a:rect l="l" t="t" r="r" b="b"/>
            <a:pathLst>
              <a:path w="288028" h="288024">
                <a:moveTo>
                  <a:pt x="0" y="144015"/>
                </a:moveTo>
                <a:lnTo>
                  <a:pt x="6445" y="101282"/>
                </a:lnTo>
                <a:lnTo>
                  <a:pt x="24488" y="63653"/>
                </a:lnTo>
                <a:lnTo>
                  <a:pt x="52187" y="33068"/>
                </a:lnTo>
                <a:lnTo>
                  <a:pt x="87601" y="11468"/>
                </a:lnTo>
                <a:lnTo>
                  <a:pt x="128789" y="794"/>
                </a:lnTo>
                <a:lnTo>
                  <a:pt x="143466" y="0"/>
                </a:lnTo>
                <a:lnTo>
                  <a:pt x="158226" y="737"/>
                </a:lnTo>
                <a:lnTo>
                  <a:pt x="199622" y="11225"/>
                </a:lnTo>
                <a:lnTo>
                  <a:pt x="235209" y="32626"/>
                </a:lnTo>
                <a:lnTo>
                  <a:pt x="263078" y="63011"/>
                </a:lnTo>
                <a:lnTo>
                  <a:pt x="281321" y="100449"/>
                </a:lnTo>
                <a:lnTo>
                  <a:pt x="288028" y="143011"/>
                </a:lnTo>
                <a:lnTo>
                  <a:pt x="287294" y="157827"/>
                </a:lnTo>
                <a:lnTo>
                  <a:pt x="276839" y="199347"/>
                </a:lnTo>
                <a:lnTo>
                  <a:pt x="255501" y="235008"/>
                </a:lnTo>
                <a:lnTo>
                  <a:pt x="225200" y="262929"/>
                </a:lnTo>
                <a:lnTo>
                  <a:pt x="187858" y="281228"/>
                </a:lnTo>
                <a:lnTo>
                  <a:pt x="145395" y="288024"/>
                </a:lnTo>
                <a:lnTo>
                  <a:pt x="130532" y="287292"/>
                </a:lnTo>
                <a:lnTo>
                  <a:pt x="88911" y="276865"/>
                </a:lnTo>
                <a:lnTo>
                  <a:pt x="53188" y="255579"/>
                </a:lnTo>
                <a:lnTo>
                  <a:pt x="25224" y="225348"/>
                </a:lnTo>
                <a:lnTo>
                  <a:pt x="6878" y="188085"/>
                </a:lnTo>
                <a:lnTo>
                  <a:pt x="9" y="145705"/>
                </a:lnTo>
                <a:lnTo>
                  <a:pt x="0" y="144015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624026" y="4719402"/>
            <a:ext cx="124460" cy="2317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241030" y="4627073"/>
            <a:ext cx="2016224" cy="276999"/>
          </a:xfrm>
          <a:custGeom>
            <a:avLst/>
            <a:gdLst/>
            <a:ahLst/>
            <a:cxnLst/>
            <a:rect l="l" t="t" r="r" b="b"/>
            <a:pathLst>
              <a:path w="2016224" h="276999">
                <a:moveTo>
                  <a:pt x="0" y="0"/>
                </a:moveTo>
                <a:lnTo>
                  <a:pt x="2016224" y="0"/>
                </a:lnTo>
                <a:lnTo>
                  <a:pt x="2016224" y="276999"/>
                </a:lnTo>
                <a:lnTo>
                  <a:pt x="0" y="27699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241030" y="4627073"/>
            <a:ext cx="2016223" cy="276999"/>
          </a:xfrm>
          <a:custGeom>
            <a:avLst/>
            <a:gdLst/>
            <a:ahLst/>
            <a:cxnLst/>
            <a:rect l="l" t="t" r="r" b="b"/>
            <a:pathLst>
              <a:path w="2016223" h="276999">
                <a:moveTo>
                  <a:pt x="0" y="0"/>
                </a:moveTo>
                <a:lnTo>
                  <a:pt x="2016223" y="0"/>
                </a:lnTo>
                <a:lnTo>
                  <a:pt x="2016223" y="276999"/>
                </a:lnTo>
                <a:lnTo>
                  <a:pt x="0" y="276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241030" y="4900518"/>
            <a:ext cx="2016223" cy="184666"/>
          </a:xfrm>
          <a:custGeom>
            <a:avLst/>
            <a:gdLst/>
            <a:ahLst/>
            <a:cxnLst/>
            <a:rect l="l" t="t" r="r" b="b"/>
            <a:pathLst>
              <a:path w="2016223" h="184666">
                <a:moveTo>
                  <a:pt x="0" y="0"/>
                </a:moveTo>
                <a:lnTo>
                  <a:pt x="2016223" y="0"/>
                </a:lnTo>
                <a:lnTo>
                  <a:pt x="2016223" y="184666"/>
                </a:lnTo>
                <a:lnTo>
                  <a:pt x="0" y="184666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319771" y="4672793"/>
            <a:ext cx="1406525" cy="4279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833755" algn="l"/>
              </a:tabLst>
            </a:pPr>
            <a:r>
              <a:rPr sz="120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TTP/1</a:t>
            </a:r>
            <a:r>
              <a:rPr sz="1200" spc="-5" dirty="0">
                <a:latin typeface="Arial"/>
                <a:cs typeface="Arial"/>
              </a:rPr>
              <a:t>.1	200  </a:t>
            </a:r>
            <a:r>
              <a:rPr sz="1200" spc="-10" dirty="0">
                <a:latin typeface="Arial"/>
                <a:cs typeface="Arial"/>
              </a:rPr>
              <a:t>OK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00" b="1" spc="-25" dirty="0">
                <a:latin typeface="Arial"/>
                <a:cs typeface="Arial"/>
              </a:rPr>
              <a:t>W</a:t>
            </a:r>
            <a:r>
              <a:rPr sz="1200" b="1" spc="0" dirty="0">
                <a:latin typeface="Arial"/>
                <a:cs typeface="Arial"/>
              </a:rPr>
              <a:t>e</a:t>
            </a:r>
            <a:r>
              <a:rPr sz="1200" b="1" spc="-10" dirty="0">
                <a:latin typeface="Arial"/>
                <a:cs typeface="Arial"/>
              </a:rPr>
              <a:t>bca</a:t>
            </a:r>
            <a:r>
              <a:rPr sz="1200" b="1" spc="-5" dirty="0">
                <a:latin typeface="Arial"/>
                <a:cs typeface="Arial"/>
              </a:rPr>
              <a:t>lle</a:t>
            </a:r>
            <a:r>
              <a:rPr sz="1200" b="1" spc="-10" dirty="0">
                <a:latin typeface="Arial"/>
                <a:cs typeface="Arial"/>
              </a:rPr>
              <a:t>nda</a:t>
            </a:r>
            <a:r>
              <a:rPr sz="1200" b="1" spc="-70" dirty="0">
                <a:latin typeface="Arial"/>
                <a:cs typeface="Arial"/>
              </a:rPr>
              <a:t>r</a:t>
            </a:r>
            <a:r>
              <a:rPr sz="1200" b="1" spc="-10" dirty="0">
                <a:latin typeface="Arial"/>
                <a:cs typeface="Arial"/>
              </a:rPr>
              <a:t>.php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257254" y="4843098"/>
            <a:ext cx="351531" cy="0"/>
          </a:xfrm>
          <a:custGeom>
            <a:avLst/>
            <a:gdLst/>
            <a:ahLst/>
            <a:cxnLst/>
            <a:rect l="l" t="t" r="r" b="b"/>
            <a:pathLst>
              <a:path w="351531">
                <a:moveTo>
                  <a:pt x="0" y="0"/>
                </a:moveTo>
                <a:lnTo>
                  <a:pt x="351531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16696" y="4941168"/>
            <a:ext cx="3096342" cy="0"/>
          </a:xfrm>
          <a:custGeom>
            <a:avLst/>
            <a:gdLst/>
            <a:ahLst/>
            <a:cxnLst/>
            <a:rect l="l" t="t" r="r" b="b"/>
            <a:pathLst>
              <a:path w="3096342">
                <a:moveTo>
                  <a:pt x="-2216696" y="1916831"/>
                </a:moveTo>
                <a:lnTo>
                  <a:pt x="-2216696" y="1916831"/>
                </a:lnTo>
              </a:path>
            </a:pathLst>
          </a:custGeom>
          <a:ln w="3175">
            <a:solidFill>
              <a:srgbClr val="73A4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242096" y="4941168"/>
            <a:ext cx="3071018" cy="0"/>
          </a:xfrm>
          <a:custGeom>
            <a:avLst/>
            <a:gdLst/>
            <a:ahLst/>
            <a:cxnLst/>
            <a:rect l="l" t="t" r="r" b="b"/>
            <a:pathLst>
              <a:path w="3071018">
                <a:moveTo>
                  <a:pt x="0" y="0"/>
                </a:moveTo>
                <a:lnTo>
                  <a:pt x="307101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216696" y="49030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4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891790" algn="l"/>
                <a:tab pos="8941435" algn="l"/>
              </a:tabLst>
            </a:pPr>
            <a:r>
              <a:rPr sz="4000" u="heavy" dirty="0">
                <a:solidFill>
                  <a:srgbClr val="660066"/>
                </a:solidFill>
                <a:latin typeface="Times New Roman"/>
                <a:cs typeface="Times New Roman"/>
              </a:rPr>
              <a:t> 	M</a:t>
            </a:r>
            <a:r>
              <a:rPr sz="4000" u="heavy" spc="-25" dirty="0">
                <a:solidFill>
                  <a:srgbClr val="660066"/>
                </a:solidFill>
                <a:latin typeface="Times New Roman"/>
                <a:cs typeface="Times New Roman"/>
              </a:rPr>
              <a:t>e</a:t>
            </a:r>
            <a:r>
              <a:rPr sz="4000" u="heavy" spc="0" dirty="0">
                <a:solidFill>
                  <a:srgbClr val="660066"/>
                </a:solidFill>
                <a:latin typeface="Times New Roman"/>
                <a:cs typeface="Times New Roman"/>
              </a:rPr>
              <a:t>ss</a:t>
            </a:r>
            <a:r>
              <a:rPr sz="4000" u="heavy" spc="-25" dirty="0">
                <a:solidFill>
                  <a:srgbClr val="660066"/>
                </a:solidFill>
                <a:latin typeface="Times New Roman"/>
                <a:cs typeface="Times New Roman"/>
              </a:rPr>
              <a:t>a</a:t>
            </a:r>
            <a:r>
              <a:rPr sz="4000" u="heavy" spc="-20" dirty="0">
                <a:solidFill>
                  <a:srgbClr val="660066"/>
                </a:solidFill>
                <a:latin typeface="Times New Roman"/>
                <a:cs typeface="Times New Roman"/>
              </a:rPr>
              <a:t>ge</a:t>
            </a:r>
            <a:r>
              <a:rPr sz="4000" u="heavy" spc="-5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4000" u="heavy" spc="0" dirty="0">
                <a:solidFill>
                  <a:srgbClr val="660066"/>
                </a:solidFill>
                <a:latin typeface="Times New Roman"/>
                <a:cs typeface="Times New Roman"/>
              </a:rPr>
              <a:t>D</a:t>
            </a:r>
            <a:r>
              <a:rPr sz="4000" u="heavy" spc="-20" dirty="0">
                <a:solidFill>
                  <a:srgbClr val="660066"/>
                </a:solidFill>
                <a:latin typeface="Times New Roman"/>
                <a:cs typeface="Times New Roman"/>
              </a:rPr>
              <a:t>ig</a:t>
            </a:r>
            <a:r>
              <a:rPr sz="4000" u="heavy" spc="-25" dirty="0">
                <a:solidFill>
                  <a:srgbClr val="660066"/>
                </a:solidFill>
                <a:latin typeface="Times New Roman"/>
                <a:cs typeface="Times New Roman"/>
              </a:rPr>
              <a:t>e</a:t>
            </a:r>
            <a:r>
              <a:rPr sz="4000" u="heavy" spc="0" dirty="0">
                <a:solidFill>
                  <a:srgbClr val="660066"/>
                </a:solidFill>
                <a:latin typeface="Times New Roman"/>
                <a:cs typeface="Times New Roman"/>
              </a:rPr>
              <a:t>s</a:t>
            </a:r>
            <a:r>
              <a:rPr sz="4000" u="heavy" spc="-15" dirty="0">
                <a:solidFill>
                  <a:srgbClr val="660066"/>
                </a:solidFill>
                <a:latin typeface="Times New Roman"/>
                <a:cs typeface="Times New Roman"/>
              </a:rPr>
              <a:t>t 	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9743" y="1022003"/>
            <a:ext cx="6628130" cy="1778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Times New Roman"/>
              <a:buChar char="•"/>
              <a:tabLst>
                <a:tab pos="320040" algn="l"/>
              </a:tabLst>
            </a:pPr>
            <a:r>
              <a:rPr sz="3000" dirty="0">
                <a:latin typeface="Times New Roman"/>
                <a:cs typeface="Times New Roman"/>
              </a:rPr>
              <a:t>V</a:t>
            </a:r>
            <a:r>
              <a:rPr sz="3000" spc="-20" dirty="0">
                <a:latin typeface="Times New Roman"/>
                <a:cs typeface="Times New Roman"/>
              </a:rPr>
              <a:t>e</a:t>
            </a:r>
            <a:r>
              <a:rPr sz="3000" spc="-10" dirty="0">
                <a:latin typeface="Times New Roman"/>
                <a:cs typeface="Times New Roman"/>
              </a:rPr>
              <a:t>r</a:t>
            </a:r>
            <a:r>
              <a:rPr sz="3000" spc="-15" dirty="0">
                <a:latin typeface="Times New Roman"/>
                <a:cs typeface="Times New Roman"/>
              </a:rPr>
              <a:t>i</a:t>
            </a:r>
            <a:r>
              <a:rPr sz="3000" spc="-85" dirty="0">
                <a:latin typeface="Times New Roman"/>
                <a:cs typeface="Times New Roman"/>
              </a:rPr>
              <a:t>fi</a:t>
            </a:r>
            <a:r>
              <a:rPr sz="3000" spc="-20" dirty="0">
                <a:latin typeface="Times New Roman"/>
                <a:cs typeface="Times New Roman"/>
              </a:rPr>
              <a:t>e</a:t>
            </a:r>
            <a:r>
              <a:rPr sz="3000" spc="0" dirty="0">
                <a:latin typeface="Times New Roman"/>
                <a:cs typeface="Times New Roman"/>
              </a:rPr>
              <a:t>s </a:t>
            </a:r>
            <a:r>
              <a:rPr sz="3000" spc="-15" dirty="0">
                <a:latin typeface="Times New Roman"/>
                <a:cs typeface="Times New Roman"/>
              </a:rPr>
              <a:t>th</a:t>
            </a:r>
            <a:r>
              <a:rPr sz="3000" spc="-20" dirty="0">
                <a:latin typeface="Times New Roman"/>
                <a:cs typeface="Times New Roman"/>
              </a:rPr>
              <a:t>a</a:t>
            </a:r>
            <a:r>
              <a:rPr sz="3000" spc="-10" dirty="0">
                <a:latin typeface="Times New Roman"/>
                <a:cs typeface="Times New Roman"/>
              </a:rPr>
              <a:t>t </a:t>
            </a:r>
            <a:r>
              <a:rPr sz="3000" spc="-15" dirty="0">
                <a:latin typeface="Times New Roman"/>
                <a:cs typeface="Times New Roman"/>
              </a:rPr>
              <a:t>a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m</a:t>
            </a:r>
            <a:r>
              <a:rPr sz="3000" spc="-20" dirty="0">
                <a:latin typeface="Times New Roman"/>
                <a:cs typeface="Times New Roman"/>
              </a:rPr>
              <a:t>e</a:t>
            </a:r>
            <a:r>
              <a:rPr sz="3000" spc="0" dirty="0">
                <a:latin typeface="Times New Roman"/>
                <a:cs typeface="Times New Roman"/>
              </a:rPr>
              <a:t>ss</a:t>
            </a:r>
            <a:r>
              <a:rPr sz="3000" spc="-20" dirty="0">
                <a:latin typeface="Times New Roman"/>
                <a:cs typeface="Times New Roman"/>
              </a:rPr>
              <a:t>a</a:t>
            </a:r>
            <a:r>
              <a:rPr sz="3000" spc="-15" dirty="0">
                <a:latin typeface="Times New Roman"/>
                <a:cs typeface="Times New Roman"/>
              </a:rPr>
              <a:t>ge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h</a:t>
            </a:r>
            <a:r>
              <a:rPr sz="3000" spc="-20" dirty="0">
                <a:latin typeface="Times New Roman"/>
                <a:cs typeface="Times New Roman"/>
              </a:rPr>
              <a:t>a</a:t>
            </a:r>
            <a:r>
              <a:rPr sz="3000" spc="0" dirty="0">
                <a:latin typeface="Times New Roman"/>
                <a:cs typeface="Times New Roman"/>
              </a:rPr>
              <a:t>s </a:t>
            </a:r>
            <a:r>
              <a:rPr sz="3000" spc="-15" dirty="0">
                <a:latin typeface="Times New Roman"/>
                <a:cs typeface="Times New Roman"/>
              </a:rPr>
              <a:t>not be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a</a:t>
            </a:r>
            <a:r>
              <a:rPr sz="3000" spc="-10" dirty="0">
                <a:latin typeface="Times New Roman"/>
                <a:cs typeface="Times New Roman"/>
              </a:rPr>
              <a:t>lt</a:t>
            </a:r>
            <a:r>
              <a:rPr sz="3000" spc="-20" dirty="0">
                <a:latin typeface="Times New Roman"/>
                <a:cs typeface="Times New Roman"/>
              </a:rPr>
              <a:t>e</a:t>
            </a:r>
            <a:r>
              <a:rPr sz="3000" spc="-10" dirty="0">
                <a:latin typeface="Times New Roman"/>
                <a:cs typeface="Times New Roman"/>
              </a:rPr>
              <a:t>r</a:t>
            </a:r>
            <a:r>
              <a:rPr sz="3000" spc="-20" dirty="0">
                <a:latin typeface="Times New Roman"/>
                <a:cs typeface="Times New Roman"/>
              </a:rPr>
              <a:t>e</a:t>
            </a:r>
            <a:r>
              <a:rPr sz="3000" spc="0" dirty="0">
                <a:latin typeface="Times New Roman"/>
                <a:cs typeface="Times New Roman"/>
              </a:rPr>
              <a:t>d</a:t>
            </a:r>
            <a:endParaRPr sz="3000">
              <a:latin typeface="Times New Roman"/>
              <a:cs typeface="Times New Roman"/>
            </a:endParaRPr>
          </a:p>
          <a:p>
            <a:pPr marL="320675" indent="-307975">
              <a:lnSpc>
                <a:spcPct val="100000"/>
              </a:lnSpc>
              <a:buFont typeface="Times New Roman"/>
              <a:buChar char="•"/>
              <a:tabLst>
                <a:tab pos="320040" algn="l"/>
              </a:tabLst>
            </a:pPr>
            <a:r>
              <a:rPr sz="3000" dirty="0">
                <a:latin typeface="Times New Roman"/>
                <a:cs typeface="Times New Roman"/>
              </a:rPr>
              <a:t>Us</a:t>
            </a:r>
            <a:r>
              <a:rPr sz="3000" spc="-20" dirty="0">
                <a:latin typeface="Times New Roman"/>
                <a:cs typeface="Times New Roman"/>
              </a:rPr>
              <a:t>e</a:t>
            </a:r>
            <a:r>
              <a:rPr sz="3000" spc="0" dirty="0">
                <a:latin typeface="Times New Roman"/>
                <a:cs typeface="Times New Roman"/>
              </a:rPr>
              <a:t>s </a:t>
            </a:r>
            <a:r>
              <a:rPr sz="3000" spc="-15" dirty="0">
                <a:latin typeface="Times New Roman"/>
                <a:cs typeface="Times New Roman"/>
              </a:rPr>
              <a:t>a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h</a:t>
            </a:r>
            <a:r>
              <a:rPr sz="3000" spc="-20" dirty="0">
                <a:latin typeface="Times New Roman"/>
                <a:cs typeface="Times New Roman"/>
              </a:rPr>
              <a:t>a</a:t>
            </a:r>
            <a:r>
              <a:rPr sz="3000" spc="0" dirty="0">
                <a:latin typeface="Times New Roman"/>
                <a:cs typeface="Times New Roman"/>
              </a:rPr>
              <a:t>sh </a:t>
            </a:r>
            <a:r>
              <a:rPr sz="3000" spc="-15" dirty="0">
                <a:latin typeface="Times New Roman"/>
                <a:cs typeface="Times New Roman"/>
              </a:rPr>
              <a:t>fun</a:t>
            </a:r>
            <a:r>
              <a:rPr sz="3000" spc="-20" dirty="0">
                <a:latin typeface="Times New Roman"/>
                <a:cs typeface="Times New Roman"/>
              </a:rPr>
              <a:t>c</a:t>
            </a:r>
            <a:r>
              <a:rPr sz="3000" spc="-10" dirty="0">
                <a:latin typeface="Times New Roman"/>
                <a:cs typeface="Times New Roman"/>
              </a:rPr>
              <a:t>tion</a:t>
            </a:r>
            <a:endParaRPr sz="3000">
              <a:latin typeface="Times New Roman"/>
              <a:cs typeface="Times New Roman"/>
            </a:endParaRPr>
          </a:p>
          <a:p>
            <a:pPr marL="679450" lvl="1" indent="-247650">
              <a:lnSpc>
                <a:spcPct val="100000"/>
              </a:lnSpc>
              <a:buFont typeface="Times New Roman"/>
              <a:buChar char="–"/>
              <a:tabLst>
                <a:tab pos="679450" algn="l"/>
              </a:tabLst>
            </a:pPr>
            <a:r>
              <a:rPr sz="2800" spc="0" dirty="0">
                <a:latin typeface="Times New Roman"/>
                <a:cs typeface="Times New Roman"/>
              </a:rPr>
              <a:t>MD5</a:t>
            </a:r>
            <a:endParaRPr sz="2800">
              <a:latin typeface="Times New Roman"/>
              <a:cs typeface="Times New Roman"/>
            </a:endParaRPr>
          </a:p>
          <a:p>
            <a:pPr marL="679450" lvl="1" indent="-247650">
              <a:lnSpc>
                <a:spcPts val="3300"/>
              </a:lnSpc>
              <a:buFont typeface="Times New Roman"/>
              <a:buChar char="–"/>
              <a:tabLst>
                <a:tab pos="679450" algn="l"/>
              </a:tabLst>
            </a:pPr>
            <a:r>
              <a:rPr sz="2800" spc="0" dirty="0">
                <a:latin typeface="Times New Roman"/>
                <a:cs typeface="Times New Roman"/>
              </a:rPr>
              <a:t>SHA-1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0711" y="2276872"/>
            <a:ext cx="7272806" cy="42131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5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91869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H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TTP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Dige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Au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hen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ica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ion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(1)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56656" y="4005064"/>
            <a:ext cx="5688630" cy="1200327"/>
          </a:xfrm>
          <a:custGeom>
            <a:avLst/>
            <a:gdLst/>
            <a:ahLst/>
            <a:cxnLst/>
            <a:rect l="l" t="t" r="r" b="b"/>
            <a:pathLst>
              <a:path w="5688630" h="1200327">
                <a:moveTo>
                  <a:pt x="0" y="0"/>
                </a:moveTo>
                <a:lnTo>
                  <a:pt x="5688630" y="0"/>
                </a:lnTo>
                <a:lnTo>
                  <a:pt x="5688630" y="1200327"/>
                </a:lnTo>
                <a:lnTo>
                  <a:pt x="0" y="120032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7933" y="1037243"/>
            <a:ext cx="9129395" cy="412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17500" marR="438150" indent="-304800">
              <a:lnSpc>
                <a:spcPts val="3100"/>
              </a:lnSpc>
              <a:buFont typeface="Arial"/>
              <a:buChar char="•"/>
              <a:tabLst>
                <a:tab pos="320040" algn="l"/>
              </a:tabLst>
            </a:pPr>
            <a:r>
              <a:rPr sz="2600" dirty="0">
                <a:latin typeface="Arial"/>
                <a:cs typeface="Arial"/>
              </a:rPr>
              <a:t>Avoids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the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mo</a:t>
            </a:r>
            <a:r>
              <a:rPr sz="2600" spc="-10" dirty="0">
                <a:latin typeface="Arial"/>
                <a:cs typeface="Arial"/>
              </a:rPr>
              <a:t>st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serious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flaws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o</a:t>
            </a:r>
            <a:r>
              <a:rPr sz="2600" spc="-10" dirty="0">
                <a:latin typeface="Arial"/>
                <a:cs typeface="Arial"/>
              </a:rPr>
              <a:t>f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basic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au</a:t>
            </a:r>
            <a:r>
              <a:rPr sz="2600" spc="-10" dirty="0">
                <a:latin typeface="Arial"/>
                <a:cs typeface="Arial"/>
              </a:rPr>
              <a:t>thentication,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bu</a:t>
            </a:r>
            <a:r>
              <a:rPr sz="2600" spc="-10" dirty="0">
                <a:latin typeface="Arial"/>
                <a:cs typeface="Arial"/>
              </a:rPr>
              <a:t>t not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in</a:t>
            </a:r>
            <a:r>
              <a:rPr sz="2600" spc="-10" dirty="0">
                <a:latin typeface="Arial"/>
                <a:cs typeface="Arial"/>
              </a:rPr>
              <a:t>tents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to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be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a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comple</a:t>
            </a:r>
            <a:r>
              <a:rPr sz="2600" spc="-10" dirty="0">
                <a:latin typeface="Arial"/>
                <a:cs typeface="Arial"/>
              </a:rPr>
              <a:t>te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solu</a:t>
            </a:r>
            <a:r>
              <a:rPr sz="2600" spc="-10" dirty="0">
                <a:latin typeface="Arial"/>
                <a:cs typeface="Arial"/>
              </a:rPr>
              <a:t>tion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to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web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securi</a:t>
            </a:r>
            <a:r>
              <a:rPr sz="2600" spc="-10" dirty="0">
                <a:latin typeface="Arial"/>
                <a:cs typeface="Arial"/>
              </a:rPr>
              <a:t>ty.</a:t>
            </a:r>
            <a:endParaRPr sz="2600">
              <a:latin typeface="Arial"/>
              <a:cs typeface="Arial"/>
            </a:endParaRPr>
          </a:p>
          <a:p>
            <a:pPr>
              <a:lnSpc>
                <a:spcPts val="1000"/>
              </a:lnSpc>
              <a:spcBef>
                <a:spcPts val="80"/>
              </a:spcBef>
              <a:buFont typeface="Arial"/>
              <a:buChar char="•"/>
            </a:pPr>
            <a:endParaRPr sz="1000"/>
          </a:p>
          <a:p>
            <a:pPr marL="673100" lvl="1" indent="-241300">
              <a:lnSpc>
                <a:spcPct val="100000"/>
              </a:lnSpc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Sever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challenges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using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nonc</a:t>
            </a:r>
            <a:r>
              <a:rPr sz="2400" b="1" spc="-15" dirty="0">
                <a:latin typeface="Arial"/>
                <a:cs typeface="Arial"/>
              </a:rPr>
              <a:t>e </a:t>
            </a:r>
            <a:r>
              <a:rPr sz="2400" spc="-15" dirty="0">
                <a:latin typeface="Arial"/>
                <a:cs typeface="Arial"/>
              </a:rPr>
              <a:t>value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ts val="1200"/>
              </a:lnSpc>
              <a:spcBef>
                <a:spcPts val="48"/>
              </a:spcBef>
              <a:buFont typeface="Arial"/>
              <a:buChar char="–"/>
            </a:pPr>
            <a:endParaRPr sz="1200"/>
          </a:p>
          <a:p>
            <a:pPr marL="673100" marR="12700" lvl="1" indent="-241300">
              <a:lnSpc>
                <a:spcPct val="99000"/>
              </a:lnSpc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Clien</a:t>
            </a:r>
            <a:r>
              <a:rPr sz="2400" spc="-10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responses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wi</a:t>
            </a:r>
            <a:r>
              <a:rPr sz="2400" spc="-10" dirty="0">
                <a:latin typeface="Arial"/>
                <a:cs typeface="Arial"/>
              </a:rPr>
              <a:t>th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dige</a:t>
            </a:r>
            <a:r>
              <a:rPr sz="2400" spc="-10" dirty="0">
                <a:latin typeface="Arial"/>
                <a:cs typeface="Arial"/>
              </a:rPr>
              <a:t>st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(by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de</a:t>
            </a:r>
            <a:r>
              <a:rPr sz="2400" spc="-10" dirty="0">
                <a:latin typeface="Arial"/>
                <a:cs typeface="Arial"/>
              </a:rPr>
              <a:t>fault,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MD5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checksum) o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username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password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nonce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value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H</a:t>
            </a:r>
            <a:r>
              <a:rPr sz="2400" spc="-15" dirty="0">
                <a:latin typeface="Arial"/>
                <a:cs typeface="Arial"/>
              </a:rPr>
              <a:t>TTP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me</a:t>
            </a:r>
            <a:r>
              <a:rPr sz="2400" spc="-10" dirty="0">
                <a:latin typeface="Arial"/>
                <a:cs typeface="Arial"/>
              </a:rPr>
              <a:t>thod,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and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reque</a:t>
            </a:r>
            <a:r>
              <a:rPr sz="2400" spc="-10" dirty="0">
                <a:latin typeface="Arial"/>
                <a:cs typeface="Arial"/>
              </a:rPr>
              <a:t>sted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UR</a:t>
            </a:r>
            <a:r>
              <a:rPr sz="2400" spc="-10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750"/>
              </a:lnSpc>
              <a:spcBef>
                <a:spcPts val="47"/>
              </a:spcBef>
            </a:pPr>
            <a:endParaRPr sz="7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459865" marR="2459990">
              <a:lnSpc>
                <a:spcPct val="99000"/>
              </a:lnSpc>
            </a:pPr>
            <a:r>
              <a:rPr sz="2400" dirty="0">
                <a:latin typeface="Arial"/>
                <a:cs typeface="Arial"/>
              </a:rPr>
              <a:t>HA1</a:t>
            </a:r>
            <a:r>
              <a:rPr sz="2400" spc="-20" dirty="0">
                <a:latin typeface="Arial"/>
                <a:cs typeface="Arial"/>
              </a:rPr>
              <a:t>=</a:t>
            </a:r>
            <a:r>
              <a:rPr sz="2400" u="heavy" spc="0" dirty="0">
                <a:solidFill>
                  <a:srgbClr val="FC0128"/>
                </a:solidFill>
                <a:latin typeface="Arial"/>
                <a:cs typeface="Arial"/>
              </a:rPr>
              <a:t>MD5</a:t>
            </a:r>
            <a:r>
              <a:rPr sz="2400" u="heavy" spc="-5" dirty="0">
                <a:solidFill>
                  <a:srgbClr val="FC0128"/>
                </a:solidFill>
                <a:latin typeface="Arial"/>
                <a:cs typeface="Arial"/>
              </a:rPr>
              <a:t>(</a:t>
            </a:r>
            <a:r>
              <a:rPr sz="2400" u="heavy" spc="0" dirty="0">
                <a:solidFill>
                  <a:srgbClr val="FC0128"/>
                </a:solidFill>
                <a:latin typeface="Arial"/>
                <a:cs typeface="Arial"/>
              </a:rPr>
              <a:t>username</a:t>
            </a:r>
            <a:r>
              <a:rPr sz="2400" u="heavy" spc="-10" dirty="0">
                <a:solidFill>
                  <a:srgbClr val="FC0128"/>
                </a:solidFill>
                <a:latin typeface="Arial"/>
                <a:cs typeface="Arial"/>
              </a:rPr>
              <a:t>:real</a:t>
            </a:r>
            <a:r>
              <a:rPr sz="2400" u="heavy" spc="-15" dirty="0">
                <a:solidFill>
                  <a:srgbClr val="FC0128"/>
                </a:solidFill>
                <a:latin typeface="Arial"/>
                <a:cs typeface="Arial"/>
              </a:rPr>
              <a:t>m:passwor</a:t>
            </a:r>
            <a:r>
              <a:rPr sz="2400" u="heavy" spc="-5" dirty="0">
                <a:solidFill>
                  <a:srgbClr val="FC0128"/>
                </a:solidFill>
                <a:latin typeface="Arial"/>
                <a:cs typeface="Arial"/>
              </a:rPr>
              <a:t>d</a:t>
            </a:r>
            <a:r>
              <a:rPr sz="2400" u="heavy" spc="0" dirty="0">
                <a:solidFill>
                  <a:srgbClr val="FC0128"/>
                </a:solidFill>
                <a:latin typeface="Arial"/>
                <a:cs typeface="Arial"/>
              </a:rPr>
              <a:t>)</a:t>
            </a:r>
            <a:r>
              <a:rPr sz="2400" spc="0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HA2</a:t>
            </a:r>
            <a:r>
              <a:rPr sz="2400" spc="-20" dirty="0">
                <a:latin typeface="Arial"/>
                <a:cs typeface="Arial"/>
              </a:rPr>
              <a:t>=</a:t>
            </a:r>
            <a:r>
              <a:rPr sz="2400" u="heavy" spc="0" dirty="0">
                <a:solidFill>
                  <a:srgbClr val="FC0128"/>
                </a:solidFill>
                <a:latin typeface="Arial"/>
                <a:cs typeface="Arial"/>
              </a:rPr>
              <a:t>MD5(me</a:t>
            </a:r>
            <a:r>
              <a:rPr sz="2400" u="heavy" spc="-10" dirty="0">
                <a:solidFill>
                  <a:srgbClr val="FC0128"/>
                </a:solidFill>
                <a:latin typeface="Arial"/>
                <a:cs typeface="Arial"/>
              </a:rPr>
              <a:t>thod:digestURI)</a:t>
            </a:r>
            <a:r>
              <a:rPr sz="2400" spc="-10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response</a:t>
            </a:r>
            <a:r>
              <a:rPr sz="2400" spc="-20" dirty="0">
                <a:latin typeface="Arial"/>
                <a:cs typeface="Arial"/>
              </a:rPr>
              <a:t>=</a:t>
            </a:r>
            <a:r>
              <a:rPr sz="2400" u="heavy" spc="0" dirty="0">
                <a:solidFill>
                  <a:srgbClr val="FC0128"/>
                </a:solidFill>
                <a:latin typeface="Arial"/>
                <a:cs typeface="Arial"/>
              </a:rPr>
              <a:t>MD5(HA1</a:t>
            </a:r>
            <a:r>
              <a:rPr sz="2400" u="heavy" spc="-10" dirty="0">
                <a:solidFill>
                  <a:srgbClr val="FC0128"/>
                </a:solidFill>
                <a:latin typeface="Arial"/>
                <a:cs typeface="Arial"/>
              </a:rPr>
              <a:t>:nonce:HA2)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6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95930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SSL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1022003"/>
            <a:ext cx="7068184" cy="9232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SSL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–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Secure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Socke</a:t>
            </a:r>
            <a:r>
              <a:rPr sz="3000" spc="-10" dirty="0">
                <a:latin typeface="Arial"/>
                <a:cs typeface="Arial"/>
              </a:rPr>
              <a:t>ts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Layer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pro</a:t>
            </a:r>
            <a:r>
              <a:rPr sz="3000" spc="-10" dirty="0">
                <a:latin typeface="Arial"/>
                <a:cs typeface="Arial"/>
              </a:rPr>
              <a:t>tocol</a:t>
            </a:r>
            <a:endParaRPr sz="3000">
              <a:latin typeface="Arial"/>
              <a:cs typeface="Arial"/>
            </a:endParaRPr>
          </a:p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spc="-2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L</a:t>
            </a:r>
            <a:r>
              <a:rPr sz="3000" spc="-20" dirty="0">
                <a:latin typeface="Arial"/>
                <a:cs typeface="Arial"/>
              </a:rPr>
              <a:t>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–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spc="-13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ranspo</a:t>
            </a:r>
            <a:r>
              <a:rPr sz="3000" spc="-10" dirty="0">
                <a:latin typeface="Arial"/>
                <a:cs typeface="Arial"/>
              </a:rPr>
              <a:t>rt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Layer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Securi</a:t>
            </a:r>
            <a:r>
              <a:rPr sz="3000" spc="-10" dirty="0">
                <a:latin typeface="Arial"/>
                <a:cs typeface="Arial"/>
              </a:rPr>
              <a:t>ty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pro</a:t>
            </a:r>
            <a:r>
              <a:rPr sz="3000" spc="-10" dirty="0">
                <a:latin typeface="Arial"/>
                <a:cs typeface="Arial"/>
              </a:rPr>
              <a:t>tocol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12639" y="2564904"/>
            <a:ext cx="4536503" cy="576064"/>
          </a:xfrm>
          <a:custGeom>
            <a:avLst/>
            <a:gdLst/>
            <a:ahLst/>
            <a:cxnLst/>
            <a:rect l="l" t="t" r="r" b="b"/>
            <a:pathLst>
              <a:path w="4536503" h="576064">
                <a:moveTo>
                  <a:pt x="0" y="0"/>
                </a:moveTo>
                <a:lnTo>
                  <a:pt x="4536503" y="0"/>
                </a:lnTo>
                <a:lnTo>
                  <a:pt x="4536503" y="576064"/>
                </a:lnTo>
                <a:lnTo>
                  <a:pt x="0" y="576064"/>
                </a:lnTo>
                <a:lnTo>
                  <a:pt x="0" y="0"/>
                </a:lnTo>
                <a:close/>
              </a:path>
            </a:pathLst>
          </a:custGeom>
          <a:solidFill>
            <a:srgbClr val="73A4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2639" y="2564904"/>
            <a:ext cx="4536502" cy="576064"/>
          </a:xfrm>
          <a:custGeom>
            <a:avLst/>
            <a:gdLst/>
            <a:ahLst/>
            <a:cxnLst/>
            <a:rect l="l" t="t" r="r" b="b"/>
            <a:pathLst>
              <a:path w="4536502" h="576064">
                <a:moveTo>
                  <a:pt x="0" y="0"/>
                </a:moveTo>
                <a:lnTo>
                  <a:pt x="4536502" y="0"/>
                </a:lnTo>
                <a:lnTo>
                  <a:pt x="4536502" y="576064"/>
                </a:lnTo>
                <a:lnTo>
                  <a:pt x="0" y="576064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2639" y="3933056"/>
            <a:ext cx="4536503" cy="576063"/>
          </a:xfrm>
          <a:custGeom>
            <a:avLst/>
            <a:gdLst/>
            <a:ahLst/>
            <a:cxnLst/>
            <a:rect l="l" t="t" r="r" b="b"/>
            <a:pathLst>
              <a:path w="4536503" h="576063">
                <a:moveTo>
                  <a:pt x="0" y="0"/>
                </a:moveTo>
                <a:lnTo>
                  <a:pt x="4536503" y="0"/>
                </a:lnTo>
                <a:lnTo>
                  <a:pt x="4536503" y="576063"/>
                </a:lnTo>
                <a:lnTo>
                  <a:pt x="0" y="576063"/>
                </a:lnTo>
                <a:lnTo>
                  <a:pt x="0" y="0"/>
                </a:lnTo>
                <a:close/>
              </a:path>
            </a:pathLst>
          </a:custGeom>
          <a:solidFill>
            <a:srgbClr val="73A4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2639" y="3933056"/>
            <a:ext cx="4536502" cy="576063"/>
          </a:xfrm>
          <a:custGeom>
            <a:avLst/>
            <a:gdLst/>
            <a:ahLst/>
            <a:cxnLst/>
            <a:rect l="l" t="t" r="r" b="b"/>
            <a:pathLst>
              <a:path w="4536502" h="576063">
                <a:moveTo>
                  <a:pt x="0" y="0"/>
                </a:moveTo>
                <a:lnTo>
                  <a:pt x="4536502" y="0"/>
                </a:lnTo>
                <a:lnTo>
                  <a:pt x="4536502" y="576063"/>
                </a:lnTo>
                <a:lnTo>
                  <a:pt x="0" y="576063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2639" y="4581128"/>
            <a:ext cx="4536503" cy="576063"/>
          </a:xfrm>
          <a:custGeom>
            <a:avLst/>
            <a:gdLst/>
            <a:ahLst/>
            <a:cxnLst/>
            <a:rect l="l" t="t" r="r" b="b"/>
            <a:pathLst>
              <a:path w="4536503" h="576063">
                <a:moveTo>
                  <a:pt x="0" y="0"/>
                </a:moveTo>
                <a:lnTo>
                  <a:pt x="4536503" y="0"/>
                </a:lnTo>
                <a:lnTo>
                  <a:pt x="4536503" y="576063"/>
                </a:lnTo>
                <a:lnTo>
                  <a:pt x="0" y="576063"/>
                </a:lnTo>
                <a:lnTo>
                  <a:pt x="0" y="0"/>
                </a:lnTo>
                <a:close/>
              </a:path>
            </a:pathLst>
          </a:custGeom>
          <a:solidFill>
            <a:srgbClr val="73A4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12639" y="4581128"/>
            <a:ext cx="4536502" cy="576063"/>
          </a:xfrm>
          <a:custGeom>
            <a:avLst/>
            <a:gdLst/>
            <a:ahLst/>
            <a:cxnLst/>
            <a:rect l="l" t="t" r="r" b="b"/>
            <a:pathLst>
              <a:path w="4536502" h="576063">
                <a:moveTo>
                  <a:pt x="0" y="0"/>
                </a:moveTo>
                <a:lnTo>
                  <a:pt x="4536502" y="0"/>
                </a:lnTo>
                <a:lnTo>
                  <a:pt x="4536502" y="576063"/>
                </a:lnTo>
                <a:lnTo>
                  <a:pt x="0" y="576063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60711" y="3259584"/>
            <a:ext cx="3303983" cy="576063"/>
          </a:xfrm>
          <a:custGeom>
            <a:avLst/>
            <a:gdLst/>
            <a:ahLst/>
            <a:cxnLst/>
            <a:rect l="l" t="t" r="r" b="b"/>
            <a:pathLst>
              <a:path w="3303983" h="576063">
                <a:moveTo>
                  <a:pt x="0" y="0"/>
                </a:moveTo>
                <a:lnTo>
                  <a:pt x="3303983" y="0"/>
                </a:lnTo>
                <a:lnTo>
                  <a:pt x="3303983" y="576063"/>
                </a:lnTo>
                <a:lnTo>
                  <a:pt x="0" y="576063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60711" y="3259584"/>
            <a:ext cx="3303983" cy="576063"/>
          </a:xfrm>
          <a:custGeom>
            <a:avLst/>
            <a:gdLst/>
            <a:ahLst/>
            <a:cxnLst/>
            <a:rect l="l" t="t" r="r" b="b"/>
            <a:pathLst>
              <a:path w="3303983" h="576063">
                <a:moveTo>
                  <a:pt x="0" y="0"/>
                </a:moveTo>
                <a:lnTo>
                  <a:pt x="3303983" y="0"/>
                </a:lnTo>
                <a:lnTo>
                  <a:pt x="3303983" y="576063"/>
                </a:lnTo>
                <a:lnTo>
                  <a:pt x="0" y="576063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20751" y="2636912"/>
            <a:ext cx="2520279" cy="400110"/>
          </a:xfrm>
          <a:custGeom>
            <a:avLst/>
            <a:gdLst/>
            <a:ahLst/>
            <a:cxnLst/>
            <a:rect l="l" t="t" r="r" b="b"/>
            <a:pathLst>
              <a:path w="2520279" h="400110">
                <a:moveTo>
                  <a:pt x="0" y="0"/>
                </a:moveTo>
                <a:lnTo>
                  <a:pt x="2520279" y="0"/>
                </a:lnTo>
                <a:lnTo>
                  <a:pt x="2520279" y="400110"/>
                </a:lnTo>
                <a:lnTo>
                  <a:pt x="0" y="4001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92759" y="4005064"/>
            <a:ext cx="2520279" cy="400109"/>
          </a:xfrm>
          <a:custGeom>
            <a:avLst/>
            <a:gdLst/>
            <a:ahLst/>
            <a:cxnLst/>
            <a:rect l="l" t="t" r="r" b="b"/>
            <a:pathLst>
              <a:path w="2520279" h="400109">
                <a:moveTo>
                  <a:pt x="0" y="0"/>
                </a:moveTo>
                <a:lnTo>
                  <a:pt x="2520279" y="0"/>
                </a:lnTo>
                <a:lnTo>
                  <a:pt x="2520279" y="400109"/>
                </a:lnTo>
                <a:lnTo>
                  <a:pt x="0" y="4001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01268" y="4665836"/>
            <a:ext cx="2520279" cy="400109"/>
          </a:xfrm>
          <a:custGeom>
            <a:avLst/>
            <a:gdLst/>
            <a:ahLst/>
            <a:cxnLst/>
            <a:rect l="l" t="t" r="r" b="b"/>
            <a:pathLst>
              <a:path w="2520279" h="400109">
                <a:moveTo>
                  <a:pt x="0" y="0"/>
                </a:moveTo>
                <a:lnTo>
                  <a:pt x="2520279" y="0"/>
                </a:lnTo>
                <a:lnTo>
                  <a:pt x="2520279" y="400109"/>
                </a:lnTo>
                <a:lnTo>
                  <a:pt x="0" y="4001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96800" y="2682632"/>
            <a:ext cx="1974214" cy="23545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Applica</a:t>
            </a:r>
            <a:r>
              <a:rPr sz="2000" spc="-10" dirty="0">
                <a:latin typeface="Arial"/>
                <a:cs typeface="Arial"/>
              </a:rPr>
              <a:t>tion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Layer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500"/>
              </a:lnSpc>
              <a:spcBef>
                <a:spcPts val="17"/>
              </a:spcBef>
            </a:pPr>
            <a:endParaRPr sz="500"/>
          </a:p>
          <a:p>
            <a:pPr marL="408940" marR="265430" indent="0" algn="ctr">
              <a:lnSpc>
                <a:spcPct val="214699"/>
              </a:lnSpc>
            </a:pPr>
            <a:r>
              <a:rPr sz="2000" dirty="0">
                <a:latin typeface="Arial"/>
                <a:cs typeface="Arial"/>
              </a:rPr>
              <a:t>SSL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or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TLS</a:t>
            </a:r>
            <a:r>
              <a:rPr sz="2000" spc="-10" dirty="0">
                <a:latin typeface="Arial"/>
                <a:cs typeface="Arial"/>
              </a:rPr>
              <a:t> TCP/UD</a:t>
            </a:r>
            <a:r>
              <a:rPr sz="2000" spc="-15" dirty="0">
                <a:latin typeface="Arial"/>
                <a:cs typeface="Arial"/>
              </a:rPr>
              <a:t>P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IP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7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95930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SSL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4567" y="2204864"/>
            <a:ext cx="936103" cy="504055"/>
          </a:xfrm>
          <a:custGeom>
            <a:avLst/>
            <a:gdLst/>
            <a:ahLst/>
            <a:cxnLst/>
            <a:rect l="l" t="t" r="r" b="b"/>
            <a:pathLst>
              <a:path w="936103" h="504055">
                <a:moveTo>
                  <a:pt x="0" y="0"/>
                </a:moveTo>
                <a:lnTo>
                  <a:pt x="936103" y="0"/>
                </a:lnTo>
                <a:lnTo>
                  <a:pt x="936103" y="504055"/>
                </a:lnTo>
                <a:lnTo>
                  <a:pt x="0" y="504055"/>
                </a:lnTo>
                <a:lnTo>
                  <a:pt x="0" y="0"/>
                </a:lnTo>
                <a:close/>
              </a:path>
            </a:pathLst>
          </a:custGeom>
          <a:solidFill>
            <a:srgbClr val="73A4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4567" y="2204864"/>
            <a:ext cx="936103" cy="504056"/>
          </a:xfrm>
          <a:custGeom>
            <a:avLst/>
            <a:gdLst/>
            <a:ahLst/>
            <a:cxnLst/>
            <a:rect l="l" t="t" r="r" b="b"/>
            <a:pathLst>
              <a:path w="936103" h="504056">
                <a:moveTo>
                  <a:pt x="0" y="0"/>
                </a:moveTo>
                <a:lnTo>
                  <a:pt x="936103" y="0"/>
                </a:lnTo>
                <a:lnTo>
                  <a:pt x="936103" y="504056"/>
                </a:lnTo>
                <a:lnTo>
                  <a:pt x="0" y="504056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37559" y="2286000"/>
            <a:ext cx="349134" cy="598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72679" y="2492897"/>
            <a:ext cx="1198757" cy="0"/>
          </a:xfrm>
          <a:custGeom>
            <a:avLst/>
            <a:gdLst/>
            <a:ahLst/>
            <a:cxnLst/>
            <a:rect l="l" t="t" r="r" b="b"/>
            <a:pathLst>
              <a:path w="1198757">
                <a:moveTo>
                  <a:pt x="0" y="0"/>
                </a:moveTo>
                <a:lnTo>
                  <a:pt x="1198757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80732" y="2433942"/>
            <a:ext cx="115910" cy="117908"/>
          </a:xfrm>
          <a:custGeom>
            <a:avLst/>
            <a:gdLst/>
            <a:ahLst/>
            <a:cxnLst/>
            <a:rect l="l" t="t" r="r" b="b"/>
            <a:pathLst>
              <a:path w="115910" h="117908">
                <a:moveTo>
                  <a:pt x="14845" y="0"/>
                </a:moveTo>
                <a:lnTo>
                  <a:pt x="7068" y="2047"/>
                </a:lnTo>
                <a:lnTo>
                  <a:pt x="0" y="14164"/>
                </a:lnTo>
                <a:lnTo>
                  <a:pt x="2047" y="21940"/>
                </a:lnTo>
                <a:lnTo>
                  <a:pt x="65500" y="58954"/>
                </a:lnTo>
                <a:lnTo>
                  <a:pt x="2047" y="95968"/>
                </a:lnTo>
                <a:lnTo>
                  <a:pt x="0" y="103745"/>
                </a:lnTo>
                <a:lnTo>
                  <a:pt x="7068" y="115862"/>
                </a:lnTo>
                <a:lnTo>
                  <a:pt x="14845" y="117908"/>
                </a:lnTo>
                <a:lnTo>
                  <a:pt x="115910" y="58954"/>
                </a:lnTo>
                <a:lnTo>
                  <a:pt x="148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32919" y="2492897"/>
            <a:ext cx="1486888" cy="0"/>
          </a:xfrm>
          <a:custGeom>
            <a:avLst/>
            <a:gdLst/>
            <a:ahLst/>
            <a:cxnLst/>
            <a:rect l="l" t="t" r="r" b="b"/>
            <a:pathLst>
              <a:path w="1486888">
                <a:moveTo>
                  <a:pt x="0" y="0"/>
                </a:moveTo>
                <a:lnTo>
                  <a:pt x="148688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29103" y="2433942"/>
            <a:ext cx="115910" cy="117908"/>
          </a:xfrm>
          <a:custGeom>
            <a:avLst/>
            <a:gdLst/>
            <a:ahLst/>
            <a:cxnLst/>
            <a:rect l="l" t="t" r="r" b="b"/>
            <a:pathLst>
              <a:path w="115910" h="117908">
                <a:moveTo>
                  <a:pt x="14845" y="0"/>
                </a:moveTo>
                <a:lnTo>
                  <a:pt x="7068" y="2047"/>
                </a:lnTo>
                <a:lnTo>
                  <a:pt x="0" y="14164"/>
                </a:lnTo>
                <a:lnTo>
                  <a:pt x="2047" y="21940"/>
                </a:lnTo>
                <a:lnTo>
                  <a:pt x="65500" y="58954"/>
                </a:lnTo>
                <a:lnTo>
                  <a:pt x="2047" y="95968"/>
                </a:lnTo>
                <a:lnTo>
                  <a:pt x="0" y="103745"/>
                </a:lnTo>
                <a:lnTo>
                  <a:pt x="7068" y="115862"/>
                </a:lnTo>
                <a:lnTo>
                  <a:pt x="14845" y="117908"/>
                </a:lnTo>
                <a:lnTo>
                  <a:pt x="115910" y="58954"/>
                </a:lnTo>
                <a:lnTo>
                  <a:pt x="148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59729" y="2286000"/>
            <a:ext cx="349134" cy="598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5925" y="1022003"/>
            <a:ext cx="7583170" cy="12128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SSL</a:t>
            </a:r>
            <a:r>
              <a:rPr sz="3000" spc="-10" dirty="0">
                <a:latin typeface="Arial"/>
                <a:cs typeface="Arial"/>
              </a:rPr>
              <a:t>/</a:t>
            </a:r>
            <a:r>
              <a:rPr sz="3000" spc="-2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SL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provides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three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essen</a:t>
            </a:r>
            <a:r>
              <a:rPr sz="3000" spc="-10" dirty="0">
                <a:latin typeface="Arial"/>
                <a:cs typeface="Arial"/>
              </a:rPr>
              <a:t>tial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service</a:t>
            </a:r>
            <a:r>
              <a:rPr sz="3000" spc="-15" dirty="0">
                <a:latin typeface="Arial"/>
                <a:cs typeface="Arial"/>
              </a:rPr>
              <a:t>s:</a:t>
            </a:r>
            <a:endParaRPr sz="300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</a:pP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–</a:t>
            </a:r>
            <a:r>
              <a:rPr sz="2800" spc="-3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0433FF"/>
                </a:solidFill>
                <a:latin typeface="Arial"/>
                <a:cs typeface="Arial"/>
              </a:rPr>
              <a:t>Encryp</a:t>
            </a:r>
            <a:r>
              <a:rPr sz="2800" spc="-10" dirty="0">
                <a:solidFill>
                  <a:srgbClr val="0433FF"/>
                </a:solidFill>
                <a:latin typeface="Arial"/>
                <a:cs typeface="Arial"/>
              </a:rPr>
              <a:t>tio</a:t>
            </a:r>
            <a:r>
              <a:rPr sz="2800" spc="-5" dirty="0">
                <a:solidFill>
                  <a:srgbClr val="0433FF"/>
                </a:solidFill>
                <a:latin typeface="Arial"/>
                <a:cs typeface="Arial"/>
              </a:rPr>
              <a:t>n</a:t>
            </a:r>
            <a:r>
              <a:rPr sz="2800" spc="-10" dirty="0">
                <a:latin typeface="Arial"/>
                <a:cs typeface="Arial"/>
              </a:rPr>
              <a:t>: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ensure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only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au</a:t>
            </a:r>
            <a:r>
              <a:rPr sz="2800" spc="-10" dirty="0">
                <a:latin typeface="Arial"/>
                <a:cs typeface="Arial"/>
              </a:rPr>
              <a:t>thorized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access</a:t>
            </a:r>
            <a:endParaRPr sz="2800">
              <a:latin typeface="Arial"/>
              <a:cs typeface="Arial"/>
            </a:endParaRPr>
          </a:p>
          <a:p>
            <a:pPr>
              <a:lnSpc>
                <a:spcPts val="1000"/>
              </a:lnSpc>
              <a:spcBef>
                <a:spcPts val="12"/>
              </a:spcBef>
            </a:pPr>
            <a:endParaRPr sz="1000"/>
          </a:p>
          <a:p>
            <a:pPr marL="2540000">
              <a:lnSpc>
                <a:spcPct val="100000"/>
              </a:lnSpc>
              <a:tabLst>
                <a:tab pos="5276215" algn="l"/>
              </a:tabLst>
            </a:pPr>
            <a:r>
              <a:rPr sz="1200" b="1" spc="-10" dirty="0">
                <a:latin typeface="Arial"/>
                <a:cs typeface="Arial"/>
              </a:rPr>
              <a:t>Bob</a:t>
            </a:r>
            <a:r>
              <a:rPr sz="1200" b="1" spc="-50" dirty="0">
                <a:latin typeface="Arial"/>
                <a:cs typeface="Arial"/>
              </a:rPr>
              <a:t>’</a:t>
            </a:r>
            <a:r>
              <a:rPr sz="1200" b="1" spc="0" dirty="0">
                <a:latin typeface="Arial"/>
                <a:cs typeface="Arial"/>
              </a:rPr>
              <a:t>s </a:t>
            </a:r>
            <a:r>
              <a:rPr sz="1200" b="1" spc="-10" dirty="0">
                <a:latin typeface="Arial"/>
                <a:cs typeface="Arial"/>
              </a:rPr>
              <a:t>public key	Bob</a:t>
            </a:r>
            <a:r>
              <a:rPr sz="1200" b="1" spc="-50" dirty="0">
                <a:latin typeface="Arial"/>
                <a:cs typeface="Arial"/>
              </a:rPr>
              <a:t>’</a:t>
            </a:r>
            <a:r>
              <a:rPr sz="1200" b="1" spc="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pr</a:t>
            </a:r>
            <a:r>
              <a:rPr sz="1200" b="1" spc="-5" dirty="0">
                <a:latin typeface="Arial"/>
                <a:cs typeface="Arial"/>
              </a:rPr>
              <a:t>ivate </a:t>
            </a:r>
            <a:r>
              <a:rPr sz="1200" b="1" spc="0" dirty="0"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5024" y="3181003"/>
            <a:ext cx="7706359" cy="4362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–</a:t>
            </a:r>
            <a:r>
              <a:rPr sz="2800" spc="-3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0" dirty="0">
                <a:solidFill>
                  <a:srgbClr val="0433FF"/>
                </a:solidFill>
                <a:latin typeface="Arial"/>
                <a:cs typeface="Arial"/>
              </a:rPr>
              <a:t>Au</a:t>
            </a:r>
            <a:r>
              <a:rPr sz="2800" spc="-10" dirty="0">
                <a:solidFill>
                  <a:srgbClr val="0433FF"/>
                </a:solidFill>
                <a:latin typeface="Arial"/>
                <a:cs typeface="Arial"/>
              </a:rPr>
              <a:t>thenticatio</a:t>
            </a:r>
            <a:r>
              <a:rPr sz="2800" spc="-5" dirty="0">
                <a:solidFill>
                  <a:srgbClr val="0433FF"/>
                </a:solidFill>
                <a:latin typeface="Arial"/>
                <a:cs typeface="Arial"/>
              </a:rPr>
              <a:t>n</a:t>
            </a:r>
            <a:r>
              <a:rPr sz="2800" spc="-10" dirty="0">
                <a:latin typeface="Arial"/>
                <a:cs typeface="Arial"/>
              </a:rPr>
              <a:t>: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veri</a:t>
            </a:r>
            <a:r>
              <a:rPr sz="2800" spc="-10" dirty="0">
                <a:latin typeface="Arial"/>
                <a:cs typeface="Arial"/>
              </a:rPr>
              <a:t>fy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the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provided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iden</a:t>
            </a:r>
            <a:r>
              <a:rPr sz="2800" spc="-10" dirty="0">
                <a:latin typeface="Arial"/>
                <a:cs typeface="Arial"/>
              </a:rPr>
              <a:t>tification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5024" y="4000545"/>
            <a:ext cx="8456930" cy="16897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70205">
              <a:lnSpc>
                <a:spcPct val="100000"/>
              </a:lnSpc>
              <a:tabLst>
                <a:tab pos="1452245" algn="l"/>
                <a:tab pos="6153150" algn="l"/>
                <a:tab pos="7359015" algn="l"/>
              </a:tabLst>
            </a:pPr>
            <a:r>
              <a:rPr sz="3600" spc="-22" baseline="-27777" dirty="0">
                <a:latin typeface="Times New Roman"/>
                <a:cs typeface="Times New Roman"/>
              </a:rPr>
              <a:t>Alice	</a:t>
            </a:r>
            <a:r>
              <a:rPr sz="1200" b="1" spc="-10" dirty="0">
                <a:latin typeface="Arial"/>
                <a:cs typeface="Arial"/>
              </a:rPr>
              <a:t>sign	ver</a:t>
            </a:r>
            <a:r>
              <a:rPr sz="1200" b="1" spc="-5" dirty="0">
                <a:latin typeface="Arial"/>
                <a:cs typeface="Arial"/>
              </a:rPr>
              <a:t>ify	</a:t>
            </a:r>
            <a:r>
              <a:rPr sz="3600" spc="-22" baseline="-27777" dirty="0">
                <a:latin typeface="Times New Roman"/>
                <a:cs typeface="Times New Roman"/>
              </a:rPr>
              <a:t>Bob</a:t>
            </a:r>
            <a:endParaRPr sz="3600" baseline="-27777">
              <a:latin typeface="Times New Roman"/>
              <a:cs typeface="Times New Roman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66"/>
              </a:spcBef>
            </a:pPr>
            <a:endParaRPr sz="1000"/>
          </a:p>
          <a:p>
            <a:pPr marL="260350" indent="-247650">
              <a:lnSpc>
                <a:spcPct val="100000"/>
              </a:lnSpc>
              <a:buClr>
                <a:srgbClr val="0000FF"/>
              </a:buClr>
              <a:buFont typeface="Arial"/>
              <a:buChar char="–"/>
              <a:tabLst>
                <a:tab pos="260350" algn="l"/>
              </a:tabLst>
            </a:pPr>
            <a:r>
              <a:rPr sz="2800" spc="0" dirty="0">
                <a:solidFill>
                  <a:srgbClr val="0433FF"/>
                </a:solidFill>
                <a:latin typeface="Arial"/>
                <a:cs typeface="Arial"/>
              </a:rPr>
              <a:t>Da</a:t>
            </a:r>
            <a:r>
              <a:rPr sz="2800" spc="-10" dirty="0">
                <a:solidFill>
                  <a:srgbClr val="0433FF"/>
                </a:solidFill>
                <a:latin typeface="Arial"/>
                <a:cs typeface="Arial"/>
              </a:rPr>
              <a:t>ta</a:t>
            </a:r>
            <a:r>
              <a:rPr sz="2800" spc="-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433FF"/>
                </a:solidFill>
                <a:latin typeface="Arial"/>
                <a:cs typeface="Arial"/>
              </a:rPr>
              <a:t>Integrit</a:t>
            </a:r>
            <a:r>
              <a:rPr sz="2800" spc="-5" dirty="0">
                <a:solidFill>
                  <a:srgbClr val="0433FF"/>
                </a:solidFill>
                <a:latin typeface="Arial"/>
                <a:cs typeface="Arial"/>
              </a:rPr>
              <a:t>y</a:t>
            </a:r>
            <a:r>
              <a:rPr sz="2800" spc="-10" dirty="0">
                <a:latin typeface="Arial"/>
                <a:cs typeface="Arial"/>
              </a:rPr>
              <a:t>: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de</a:t>
            </a:r>
            <a:r>
              <a:rPr sz="2800" spc="-10" dirty="0">
                <a:latin typeface="Arial"/>
                <a:cs typeface="Arial"/>
              </a:rPr>
              <a:t>te</a:t>
            </a:r>
            <a:r>
              <a:rPr sz="2800" spc="-15" dirty="0">
                <a:latin typeface="Arial"/>
                <a:cs typeface="Arial"/>
              </a:rPr>
              <a:t>ct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message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tampering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and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forgin</a:t>
            </a:r>
            <a:endParaRPr sz="2800">
              <a:latin typeface="Arial"/>
              <a:cs typeface="Arial"/>
            </a:endParaRPr>
          </a:p>
          <a:p>
            <a:pPr marL="612775" lvl="1" indent="-20637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612775" algn="l"/>
              </a:tabLst>
            </a:pPr>
            <a:r>
              <a:rPr sz="2400" spc="0" dirty="0">
                <a:latin typeface="Arial"/>
                <a:cs typeface="Arial"/>
              </a:rPr>
              <a:t>Message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dige</a:t>
            </a:r>
            <a:r>
              <a:rPr sz="2400" spc="-10" dirty="0">
                <a:latin typeface="Arial"/>
                <a:cs typeface="Arial"/>
              </a:rPr>
              <a:t>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2694" y="2250584"/>
            <a:ext cx="685800" cy="393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Times New Roman"/>
                <a:cs typeface="Times New Roman"/>
              </a:rPr>
              <a:t>Alice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95275" y="2492897"/>
            <a:ext cx="1184470" cy="0"/>
          </a:xfrm>
          <a:custGeom>
            <a:avLst/>
            <a:gdLst/>
            <a:ahLst/>
            <a:cxnLst/>
            <a:rect l="l" t="t" r="r" b="b"/>
            <a:pathLst>
              <a:path w="1184470">
                <a:moveTo>
                  <a:pt x="0" y="0"/>
                </a:moveTo>
                <a:lnTo>
                  <a:pt x="118447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89042" y="2433942"/>
            <a:ext cx="115907" cy="117908"/>
          </a:xfrm>
          <a:custGeom>
            <a:avLst/>
            <a:gdLst/>
            <a:ahLst/>
            <a:cxnLst/>
            <a:rect l="l" t="t" r="r" b="b"/>
            <a:pathLst>
              <a:path w="115907" h="117908">
                <a:moveTo>
                  <a:pt x="14843" y="0"/>
                </a:moveTo>
                <a:lnTo>
                  <a:pt x="7067" y="2047"/>
                </a:lnTo>
                <a:lnTo>
                  <a:pt x="0" y="14164"/>
                </a:lnTo>
                <a:lnTo>
                  <a:pt x="2045" y="21940"/>
                </a:lnTo>
                <a:lnTo>
                  <a:pt x="65498" y="58954"/>
                </a:lnTo>
                <a:lnTo>
                  <a:pt x="2045" y="95968"/>
                </a:lnTo>
                <a:lnTo>
                  <a:pt x="0" y="103745"/>
                </a:lnTo>
                <a:lnTo>
                  <a:pt x="7067" y="115862"/>
                </a:lnTo>
                <a:lnTo>
                  <a:pt x="14843" y="117908"/>
                </a:lnTo>
                <a:lnTo>
                  <a:pt x="115907" y="58954"/>
                </a:lnTo>
                <a:lnTo>
                  <a:pt x="14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77334" y="2204864"/>
            <a:ext cx="936104" cy="504055"/>
          </a:xfrm>
          <a:custGeom>
            <a:avLst/>
            <a:gdLst/>
            <a:ahLst/>
            <a:cxnLst/>
            <a:rect l="l" t="t" r="r" b="b"/>
            <a:pathLst>
              <a:path w="936104" h="504055">
                <a:moveTo>
                  <a:pt x="0" y="0"/>
                </a:moveTo>
                <a:lnTo>
                  <a:pt x="936104" y="0"/>
                </a:lnTo>
                <a:lnTo>
                  <a:pt x="936104" y="504055"/>
                </a:lnTo>
                <a:lnTo>
                  <a:pt x="0" y="504055"/>
                </a:lnTo>
                <a:lnTo>
                  <a:pt x="0" y="0"/>
                </a:lnTo>
                <a:close/>
              </a:path>
            </a:pathLst>
          </a:custGeom>
          <a:solidFill>
            <a:srgbClr val="73A4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977334" y="2204864"/>
            <a:ext cx="936103" cy="504056"/>
          </a:xfrm>
          <a:custGeom>
            <a:avLst/>
            <a:gdLst/>
            <a:ahLst/>
            <a:cxnLst/>
            <a:rect l="l" t="t" r="r" b="b"/>
            <a:pathLst>
              <a:path w="936103" h="504056">
                <a:moveTo>
                  <a:pt x="0" y="0"/>
                </a:moveTo>
                <a:lnTo>
                  <a:pt x="936103" y="0"/>
                </a:lnTo>
                <a:lnTo>
                  <a:pt x="936103" y="504056"/>
                </a:lnTo>
                <a:lnTo>
                  <a:pt x="0" y="504056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274958" y="2250584"/>
            <a:ext cx="5276850" cy="200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4713605" algn="l"/>
              </a:tabLst>
            </a:pPr>
            <a:r>
              <a:rPr sz="1200" b="1" dirty="0">
                <a:latin typeface="Arial"/>
                <a:cs typeface="Arial"/>
              </a:rPr>
              <a:t>encrypt	</a:t>
            </a:r>
            <a:r>
              <a:rPr sz="1200" b="1" spc="-5" dirty="0">
                <a:latin typeface="Arial"/>
                <a:cs typeface="Arial"/>
              </a:rPr>
              <a:t>decrypt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81437" y="2250584"/>
            <a:ext cx="534035" cy="393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Times New Roman"/>
                <a:cs typeface="Times New Roman"/>
              </a:rPr>
              <a:t>Bob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64567" y="4107225"/>
            <a:ext cx="936103" cy="504056"/>
          </a:xfrm>
          <a:custGeom>
            <a:avLst/>
            <a:gdLst/>
            <a:ahLst/>
            <a:cxnLst/>
            <a:rect l="l" t="t" r="r" b="b"/>
            <a:pathLst>
              <a:path w="936103" h="504056">
                <a:moveTo>
                  <a:pt x="0" y="0"/>
                </a:moveTo>
                <a:lnTo>
                  <a:pt x="936103" y="0"/>
                </a:lnTo>
                <a:lnTo>
                  <a:pt x="936103" y="504056"/>
                </a:lnTo>
                <a:lnTo>
                  <a:pt x="0" y="504056"/>
                </a:lnTo>
                <a:lnTo>
                  <a:pt x="0" y="0"/>
                </a:lnTo>
                <a:close/>
              </a:path>
            </a:pathLst>
          </a:custGeom>
          <a:solidFill>
            <a:srgbClr val="73A4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64567" y="4107225"/>
            <a:ext cx="936103" cy="504055"/>
          </a:xfrm>
          <a:custGeom>
            <a:avLst/>
            <a:gdLst/>
            <a:ahLst/>
            <a:cxnLst/>
            <a:rect l="l" t="t" r="r" b="b"/>
            <a:pathLst>
              <a:path w="936103" h="504055">
                <a:moveTo>
                  <a:pt x="0" y="0"/>
                </a:moveTo>
                <a:lnTo>
                  <a:pt x="936103" y="0"/>
                </a:lnTo>
                <a:lnTo>
                  <a:pt x="936103" y="504055"/>
                </a:lnTo>
                <a:lnTo>
                  <a:pt x="0" y="504055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37559" y="4189614"/>
            <a:ext cx="349134" cy="598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72679" y="4395258"/>
            <a:ext cx="1198757" cy="0"/>
          </a:xfrm>
          <a:custGeom>
            <a:avLst/>
            <a:gdLst/>
            <a:ahLst/>
            <a:cxnLst/>
            <a:rect l="l" t="t" r="r" b="b"/>
            <a:pathLst>
              <a:path w="1198757">
                <a:moveTo>
                  <a:pt x="0" y="0"/>
                </a:moveTo>
                <a:lnTo>
                  <a:pt x="1198757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80732" y="4336304"/>
            <a:ext cx="115910" cy="117908"/>
          </a:xfrm>
          <a:custGeom>
            <a:avLst/>
            <a:gdLst/>
            <a:ahLst/>
            <a:cxnLst/>
            <a:rect l="l" t="t" r="r" b="b"/>
            <a:pathLst>
              <a:path w="115910" h="117908">
                <a:moveTo>
                  <a:pt x="14845" y="0"/>
                </a:moveTo>
                <a:lnTo>
                  <a:pt x="7068" y="2045"/>
                </a:lnTo>
                <a:lnTo>
                  <a:pt x="0" y="14163"/>
                </a:lnTo>
                <a:lnTo>
                  <a:pt x="2047" y="21939"/>
                </a:lnTo>
                <a:lnTo>
                  <a:pt x="65500" y="58953"/>
                </a:lnTo>
                <a:lnTo>
                  <a:pt x="2047" y="95967"/>
                </a:lnTo>
                <a:lnTo>
                  <a:pt x="0" y="103745"/>
                </a:lnTo>
                <a:lnTo>
                  <a:pt x="7068" y="115862"/>
                </a:lnTo>
                <a:lnTo>
                  <a:pt x="14845" y="117908"/>
                </a:lnTo>
                <a:lnTo>
                  <a:pt x="115910" y="58953"/>
                </a:lnTo>
                <a:lnTo>
                  <a:pt x="148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943508" y="3936922"/>
            <a:ext cx="1350010" cy="200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lice</a:t>
            </a:r>
            <a:r>
              <a:rPr sz="1200" b="1" spc="-50" dirty="0">
                <a:latin typeface="Arial"/>
                <a:cs typeface="Arial"/>
              </a:rPr>
              <a:t>’</a:t>
            </a:r>
            <a:r>
              <a:rPr sz="1200" b="1" spc="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pr</a:t>
            </a:r>
            <a:r>
              <a:rPr sz="1200" b="1" spc="-5" dirty="0">
                <a:latin typeface="Arial"/>
                <a:cs typeface="Arial"/>
              </a:rPr>
              <a:t>ivate </a:t>
            </a:r>
            <a:r>
              <a:rPr sz="1200" b="1" spc="0" dirty="0"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232919" y="4395258"/>
            <a:ext cx="1486888" cy="0"/>
          </a:xfrm>
          <a:custGeom>
            <a:avLst/>
            <a:gdLst/>
            <a:ahLst/>
            <a:cxnLst/>
            <a:rect l="l" t="t" r="r" b="b"/>
            <a:pathLst>
              <a:path w="1486888">
                <a:moveTo>
                  <a:pt x="0" y="0"/>
                </a:moveTo>
                <a:lnTo>
                  <a:pt x="148688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29103" y="4336304"/>
            <a:ext cx="115910" cy="117908"/>
          </a:xfrm>
          <a:custGeom>
            <a:avLst/>
            <a:gdLst/>
            <a:ahLst/>
            <a:cxnLst/>
            <a:rect l="l" t="t" r="r" b="b"/>
            <a:pathLst>
              <a:path w="115910" h="117908">
                <a:moveTo>
                  <a:pt x="14845" y="0"/>
                </a:moveTo>
                <a:lnTo>
                  <a:pt x="7068" y="2045"/>
                </a:lnTo>
                <a:lnTo>
                  <a:pt x="0" y="14163"/>
                </a:lnTo>
                <a:lnTo>
                  <a:pt x="2047" y="21939"/>
                </a:lnTo>
                <a:lnTo>
                  <a:pt x="65500" y="58953"/>
                </a:lnTo>
                <a:lnTo>
                  <a:pt x="2047" y="95967"/>
                </a:lnTo>
                <a:lnTo>
                  <a:pt x="0" y="103745"/>
                </a:lnTo>
                <a:lnTo>
                  <a:pt x="7068" y="115862"/>
                </a:lnTo>
                <a:lnTo>
                  <a:pt x="14845" y="117908"/>
                </a:lnTo>
                <a:lnTo>
                  <a:pt x="115910" y="58953"/>
                </a:lnTo>
                <a:lnTo>
                  <a:pt x="148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59729" y="4189614"/>
            <a:ext cx="349134" cy="598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679810" y="3936922"/>
            <a:ext cx="1299845" cy="200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Alice</a:t>
            </a:r>
            <a:r>
              <a:rPr sz="1200" b="1" spc="-50" dirty="0">
                <a:latin typeface="Arial"/>
                <a:cs typeface="Arial"/>
              </a:rPr>
              <a:t>’</a:t>
            </a:r>
            <a:r>
              <a:rPr sz="1200" b="1" spc="0" dirty="0">
                <a:latin typeface="Arial"/>
                <a:cs typeface="Arial"/>
              </a:rPr>
              <a:t>s </a:t>
            </a:r>
            <a:r>
              <a:rPr sz="1200" b="1" spc="-10" dirty="0">
                <a:latin typeface="Arial"/>
                <a:cs typeface="Arial"/>
              </a:rPr>
              <a:t>public key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695275" y="4395258"/>
            <a:ext cx="1184470" cy="0"/>
          </a:xfrm>
          <a:custGeom>
            <a:avLst/>
            <a:gdLst/>
            <a:ahLst/>
            <a:cxnLst/>
            <a:rect l="l" t="t" r="r" b="b"/>
            <a:pathLst>
              <a:path w="1184470">
                <a:moveTo>
                  <a:pt x="0" y="0"/>
                </a:moveTo>
                <a:lnTo>
                  <a:pt x="118447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89042" y="4336304"/>
            <a:ext cx="115907" cy="117908"/>
          </a:xfrm>
          <a:custGeom>
            <a:avLst/>
            <a:gdLst/>
            <a:ahLst/>
            <a:cxnLst/>
            <a:rect l="l" t="t" r="r" b="b"/>
            <a:pathLst>
              <a:path w="115907" h="117908">
                <a:moveTo>
                  <a:pt x="14843" y="0"/>
                </a:moveTo>
                <a:lnTo>
                  <a:pt x="7067" y="2045"/>
                </a:lnTo>
                <a:lnTo>
                  <a:pt x="0" y="14163"/>
                </a:lnTo>
                <a:lnTo>
                  <a:pt x="2045" y="21939"/>
                </a:lnTo>
                <a:lnTo>
                  <a:pt x="65498" y="58953"/>
                </a:lnTo>
                <a:lnTo>
                  <a:pt x="2045" y="95967"/>
                </a:lnTo>
                <a:lnTo>
                  <a:pt x="0" y="103745"/>
                </a:lnTo>
                <a:lnTo>
                  <a:pt x="7067" y="115862"/>
                </a:lnTo>
                <a:lnTo>
                  <a:pt x="14843" y="117908"/>
                </a:lnTo>
                <a:lnTo>
                  <a:pt x="115907" y="58953"/>
                </a:lnTo>
                <a:lnTo>
                  <a:pt x="14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77334" y="4107225"/>
            <a:ext cx="936104" cy="504056"/>
          </a:xfrm>
          <a:custGeom>
            <a:avLst/>
            <a:gdLst/>
            <a:ahLst/>
            <a:cxnLst/>
            <a:rect l="l" t="t" r="r" b="b"/>
            <a:pathLst>
              <a:path w="936104" h="504056">
                <a:moveTo>
                  <a:pt x="0" y="0"/>
                </a:moveTo>
                <a:lnTo>
                  <a:pt x="936104" y="0"/>
                </a:lnTo>
                <a:lnTo>
                  <a:pt x="936104" y="504056"/>
                </a:lnTo>
                <a:lnTo>
                  <a:pt x="0" y="504056"/>
                </a:lnTo>
                <a:lnTo>
                  <a:pt x="0" y="0"/>
                </a:lnTo>
                <a:close/>
              </a:path>
            </a:pathLst>
          </a:custGeom>
          <a:solidFill>
            <a:srgbClr val="73A4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977334" y="4107225"/>
            <a:ext cx="936103" cy="504055"/>
          </a:xfrm>
          <a:custGeom>
            <a:avLst/>
            <a:gdLst/>
            <a:ahLst/>
            <a:cxnLst/>
            <a:rect l="l" t="t" r="r" b="b"/>
            <a:pathLst>
              <a:path w="936103" h="504055">
                <a:moveTo>
                  <a:pt x="0" y="0"/>
                </a:moveTo>
                <a:lnTo>
                  <a:pt x="936103" y="0"/>
                </a:lnTo>
                <a:lnTo>
                  <a:pt x="936103" y="504055"/>
                </a:lnTo>
                <a:lnTo>
                  <a:pt x="0" y="504055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8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05990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Digi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al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Ce</a:t>
            </a:r>
            <a:r>
              <a:rPr sz="4000" spc="-15" dirty="0">
                <a:solidFill>
                  <a:srgbClr val="660066"/>
                </a:solidFill>
                <a:latin typeface="Arial"/>
                <a:cs typeface="Arial"/>
              </a:rPr>
              <a:t>r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f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ica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e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(1)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16188" y="2585384"/>
            <a:ext cx="5957289" cy="3867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925" y="1022003"/>
            <a:ext cx="9079865" cy="19253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spc="-35" dirty="0">
                <a:latin typeface="Arial"/>
                <a:cs typeface="Arial"/>
              </a:rPr>
              <a:t>W</a:t>
            </a:r>
            <a:r>
              <a:rPr sz="3000" spc="0" dirty="0">
                <a:latin typeface="Arial"/>
                <a:cs typeface="Arial"/>
              </a:rPr>
              <a:t>ha</a:t>
            </a:r>
            <a:r>
              <a:rPr sz="3000" spc="-10" dirty="0">
                <a:latin typeface="Arial"/>
                <a:cs typeface="Arial"/>
              </a:rPr>
              <a:t>t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is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digi</a:t>
            </a:r>
            <a:r>
              <a:rPr sz="3000" spc="-10" dirty="0">
                <a:latin typeface="Arial"/>
                <a:cs typeface="Arial"/>
              </a:rPr>
              <a:t>tal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ce</a:t>
            </a:r>
            <a:r>
              <a:rPr sz="3000" spc="-10" dirty="0">
                <a:latin typeface="Arial"/>
                <a:cs typeface="Arial"/>
              </a:rPr>
              <a:t>r</a:t>
            </a:r>
            <a:r>
              <a:rPr sz="3000" spc="-1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i</a:t>
            </a:r>
            <a:r>
              <a:rPr sz="3000" spc="-10" dirty="0">
                <a:latin typeface="Arial"/>
                <a:cs typeface="Arial"/>
              </a:rPr>
              <a:t>ficate?</a:t>
            </a:r>
            <a:endParaRPr sz="3000">
              <a:latin typeface="Arial"/>
              <a:cs typeface="Arial"/>
            </a:endParaRPr>
          </a:p>
          <a:p>
            <a:pPr marL="673100" marR="12700" lvl="1" indent="-241300">
              <a:lnSpc>
                <a:spcPts val="2800"/>
              </a:lnSpc>
              <a:spcBef>
                <a:spcPts val="160"/>
              </a:spcBef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Used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guaran</a:t>
            </a:r>
            <a:r>
              <a:rPr sz="2400" spc="-10" dirty="0">
                <a:latin typeface="Arial"/>
                <a:cs typeface="Arial"/>
              </a:rPr>
              <a:t>tee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one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talking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pa</a:t>
            </a:r>
            <a:r>
              <a:rPr sz="2400" spc="-10" dirty="0">
                <a:latin typeface="Arial"/>
                <a:cs typeface="Arial"/>
              </a:rPr>
              <a:t>rtner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wi</a:t>
            </a:r>
            <a:r>
              <a:rPr sz="2400" spc="-10" dirty="0">
                <a:latin typeface="Arial"/>
                <a:cs typeface="Arial"/>
              </a:rPr>
              <a:t>th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whom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one wan</a:t>
            </a:r>
            <a:r>
              <a:rPr sz="2400" spc="-10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talk.</a:t>
            </a:r>
            <a:endParaRPr sz="2400">
              <a:latin typeface="Arial"/>
              <a:cs typeface="Arial"/>
            </a:endParaRPr>
          </a:p>
          <a:p>
            <a:pPr marL="673100" marR="62865" lvl="1" indent="-241300">
              <a:lnSpc>
                <a:spcPts val="2900"/>
              </a:lnSpc>
              <a:spcBef>
                <a:spcPts val="20"/>
              </a:spcBef>
              <a:buFont typeface="Arial"/>
              <a:buChar char="–"/>
              <a:tabLst>
                <a:tab pos="679450" algn="l"/>
              </a:tabLst>
            </a:pPr>
            <a:r>
              <a:rPr sz="2400" spc="-20" dirty="0">
                <a:latin typeface="Arial"/>
                <a:cs typeface="Arial"/>
              </a:rPr>
              <a:t>Genera</a:t>
            </a:r>
            <a:r>
              <a:rPr sz="2400" spc="-10" dirty="0">
                <a:latin typeface="Arial"/>
                <a:cs typeface="Arial"/>
              </a:rPr>
              <a:t>ted,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signed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and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managed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by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ce</a:t>
            </a:r>
            <a:r>
              <a:rPr sz="2400" spc="-10" dirty="0">
                <a:latin typeface="Arial"/>
                <a:cs typeface="Arial"/>
              </a:rPr>
              <a:t>rtificate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au</a:t>
            </a:r>
            <a:r>
              <a:rPr sz="2400" spc="-10" dirty="0">
                <a:latin typeface="Arial"/>
                <a:cs typeface="Arial"/>
              </a:rPr>
              <a:t>thorities (CA)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9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6775" y="6569793"/>
            <a:ext cx="6616700" cy="2882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98550">
              <a:lnSpc>
                <a:spcPct val="100000"/>
              </a:lnSpc>
              <a:tabLst>
                <a:tab pos="6611620" algn="r"/>
              </a:tabLst>
            </a:pPr>
            <a:r>
              <a:rPr sz="1200" dirty="0">
                <a:latin typeface="Arial"/>
                <a:cs typeface="Arial"/>
              </a:rPr>
              <a:t>Le</a:t>
            </a:r>
            <a:r>
              <a:rPr sz="1200" spc="-5" dirty="0">
                <a:latin typeface="Arial"/>
                <a:cs typeface="Arial"/>
              </a:rPr>
              <a:t>cture </a:t>
            </a:r>
            <a:r>
              <a:rPr sz="1200" spc="0" dirty="0">
                <a:latin typeface="Arial"/>
                <a:cs typeface="Arial"/>
              </a:rPr>
              <a:t>16</a:t>
            </a:r>
            <a:r>
              <a:rPr sz="1200" spc="-5" dirty="0">
                <a:latin typeface="Arial"/>
                <a:cs typeface="Arial"/>
              </a:rPr>
              <a:t>: </a:t>
            </a:r>
            <a:r>
              <a:rPr sz="1200" spc="0" dirty="0">
                <a:latin typeface="Arial"/>
                <a:cs typeface="Arial"/>
              </a:rPr>
              <a:t>SSL</a:t>
            </a:r>
            <a:r>
              <a:rPr sz="1200" spc="-10" dirty="0">
                <a:latin typeface="Arial"/>
                <a:cs typeface="Arial"/>
              </a:rPr>
              <a:t>/TLS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H</a:t>
            </a:r>
            <a:r>
              <a:rPr sz="1200" spc="-10" dirty="0">
                <a:latin typeface="Arial"/>
                <a:cs typeface="Arial"/>
              </a:rPr>
              <a:t>TTPS 	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8503" y="980728"/>
            <a:ext cx="8928989" cy="1"/>
          </a:xfrm>
          <a:custGeom>
            <a:avLst/>
            <a:gdLst/>
            <a:ahLst/>
            <a:cxnLst/>
            <a:rect l="l" t="t" r="r" b="b"/>
            <a:pathLst>
              <a:path w="8928989" h="1">
                <a:moveTo>
                  <a:pt x="0" y="0"/>
                </a:moveTo>
                <a:lnTo>
                  <a:pt x="8928989" y="1"/>
                </a:lnTo>
              </a:path>
            </a:pathLst>
          </a:custGeom>
          <a:ln w="22224">
            <a:solidFill>
              <a:srgbClr val="0433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05990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Digi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al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Ce</a:t>
            </a:r>
            <a:r>
              <a:rPr sz="4000" spc="-15" dirty="0">
                <a:solidFill>
                  <a:srgbClr val="660066"/>
                </a:solidFill>
                <a:latin typeface="Arial"/>
                <a:cs typeface="Arial"/>
              </a:rPr>
              <a:t>r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f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ica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e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(2)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925" y="1022003"/>
            <a:ext cx="8044815" cy="2661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Can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you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tru</a:t>
            </a:r>
            <a:r>
              <a:rPr sz="3000" spc="-15" dirty="0">
                <a:latin typeface="Arial"/>
                <a:cs typeface="Arial"/>
              </a:rPr>
              <a:t>st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a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ce</a:t>
            </a:r>
            <a:r>
              <a:rPr sz="3000" spc="-10" dirty="0">
                <a:latin typeface="Arial"/>
                <a:cs typeface="Arial"/>
              </a:rPr>
              <a:t>r</a:t>
            </a:r>
            <a:r>
              <a:rPr sz="3000" spc="-1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i</a:t>
            </a:r>
            <a:r>
              <a:rPr sz="3000" spc="-10" dirty="0">
                <a:latin typeface="Arial"/>
                <a:cs typeface="Arial"/>
              </a:rPr>
              <a:t>ficate?</a:t>
            </a:r>
            <a:endParaRPr sz="3000">
              <a:latin typeface="Arial"/>
              <a:cs typeface="Arial"/>
            </a:endParaRPr>
          </a:p>
          <a:p>
            <a:pPr marL="673100" marR="96520" lvl="1" indent="-241300">
              <a:lnSpc>
                <a:spcPts val="2800"/>
              </a:lnSpc>
              <a:spcBef>
                <a:spcPts val="160"/>
              </a:spcBef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Check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i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web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address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ma</a:t>
            </a:r>
            <a:r>
              <a:rPr sz="2400" spc="-10" dirty="0">
                <a:latin typeface="Arial"/>
                <a:cs typeface="Arial"/>
              </a:rPr>
              <a:t>tches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address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 certificate</a:t>
            </a:r>
            <a:endParaRPr sz="2400">
              <a:latin typeface="Arial"/>
              <a:cs typeface="Arial"/>
            </a:endParaRPr>
          </a:p>
          <a:p>
            <a:pPr marL="673100" marR="12700" lvl="1" indent="-241300">
              <a:lnSpc>
                <a:spcPts val="2900"/>
              </a:lnSpc>
              <a:spcBef>
                <a:spcPts val="20"/>
              </a:spcBef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Check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i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ce</a:t>
            </a:r>
            <a:r>
              <a:rPr sz="2400" spc="-10" dirty="0">
                <a:latin typeface="Arial"/>
                <a:cs typeface="Arial"/>
              </a:rPr>
              <a:t>rtificate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signed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by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trusted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ce</a:t>
            </a:r>
            <a:r>
              <a:rPr sz="2400" spc="-10" dirty="0">
                <a:latin typeface="Arial"/>
                <a:cs typeface="Arial"/>
              </a:rPr>
              <a:t>rtificate authorit</a:t>
            </a:r>
            <a:r>
              <a:rPr sz="2400" spc="-180" dirty="0">
                <a:latin typeface="Arial"/>
                <a:cs typeface="Arial"/>
              </a:rPr>
              <a:t>y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and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da</a:t>
            </a:r>
            <a:r>
              <a:rPr sz="2400" spc="-10" dirty="0">
                <a:latin typeface="Arial"/>
                <a:cs typeface="Arial"/>
              </a:rPr>
              <a:t>te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valid</a:t>
            </a:r>
            <a:endParaRPr sz="2400">
              <a:latin typeface="Arial"/>
              <a:cs typeface="Arial"/>
            </a:endParaRPr>
          </a:p>
          <a:p>
            <a:pPr marL="673100" marR="299085" lvl="1" indent="-241300">
              <a:lnSpc>
                <a:spcPts val="2900"/>
              </a:lnSpc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Check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key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leng</a:t>
            </a:r>
            <a:r>
              <a:rPr sz="2400" spc="-10" dirty="0">
                <a:latin typeface="Arial"/>
                <a:cs typeface="Arial"/>
              </a:rPr>
              <a:t>th,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e</a:t>
            </a:r>
            <a:r>
              <a:rPr sz="2400" spc="-10" dirty="0">
                <a:latin typeface="Arial"/>
                <a:cs typeface="Arial"/>
              </a:rPr>
              <a:t>xtensions,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encryp</a:t>
            </a:r>
            <a:r>
              <a:rPr sz="2400" spc="-10" dirty="0">
                <a:latin typeface="Arial"/>
                <a:cs typeface="Arial"/>
              </a:rPr>
              <a:t>tion algorithms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36775" y="3531716"/>
            <a:ext cx="6616698" cy="33262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35988" y="6569793"/>
            <a:ext cx="110489" cy="194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389505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SSL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&amp;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S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Hi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ory</a:t>
            </a:r>
            <a:endParaRPr sz="4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11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7933" y="1238027"/>
            <a:ext cx="1865630" cy="9232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SSL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v2</a:t>
            </a:r>
            <a:r>
              <a:rPr sz="3000" spc="-10" dirty="0">
                <a:latin typeface="Arial"/>
                <a:cs typeface="Arial"/>
              </a:rPr>
              <a:t>.0</a:t>
            </a:r>
            <a:endParaRPr sz="3000">
              <a:latin typeface="Arial"/>
              <a:cs typeface="Arial"/>
            </a:endParaRPr>
          </a:p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SSL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v3</a:t>
            </a:r>
            <a:r>
              <a:rPr sz="3000" spc="-10" dirty="0">
                <a:latin typeface="Arial"/>
                <a:cs typeface="Arial"/>
              </a:rPr>
              <a:t>.0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9233" y="1238027"/>
            <a:ext cx="4515485" cy="18376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00000"/>
              </a:lnSpc>
            </a:pPr>
            <a:r>
              <a:rPr sz="3000" dirty="0">
                <a:latin typeface="Arial"/>
                <a:cs typeface="Arial"/>
              </a:rPr>
              <a:t>by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Ne</a:t>
            </a:r>
            <a:r>
              <a:rPr sz="3000" spc="-10" dirty="0">
                <a:latin typeface="Arial"/>
                <a:cs typeface="Arial"/>
              </a:rPr>
              <a:t>tscape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(disable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thi</a:t>
            </a:r>
            <a:r>
              <a:rPr sz="3000" spc="-15" dirty="0">
                <a:latin typeface="Arial"/>
                <a:cs typeface="Arial"/>
              </a:rPr>
              <a:t>s!) more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scru</a:t>
            </a:r>
            <a:r>
              <a:rPr sz="3000" spc="-10" dirty="0">
                <a:latin typeface="Arial"/>
                <a:cs typeface="Arial"/>
              </a:rPr>
              <a:t>tin</a:t>
            </a:r>
            <a:r>
              <a:rPr sz="3000" spc="-225" dirty="0">
                <a:latin typeface="Arial"/>
                <a:cs typeface="Arial"/>
              </a:rPr>
              <a:t>y</a:t>
            </a:r>
            <a:r>
              <a:rPr sz="3000" spc="-10" dirty="0">
                <a:latin typeface="Arial"/>
                <a:cs typeface="Arial"/>
              </a:rPr>
              <a:t>,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fixes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a</a:t>
            </a:r>
            <a:r>
              <a:rPr sz="3000" spc="-10" dirty="0">
                <a:latin typeface="Arial"/>
                <a:cs typeface="Arial"/>
              </a:rPr>
              <a:t>ttack ve</a:t>
            </a:r>
            <a:r>
              <a:rPr sz="3000" spc="-15" dirty="0">
                <a:latin typeface="Arial"/>
                <a:cs typeface="Arial"/>
              </a:rPr>
              <a:t>ctors</a:t>
            </a:r>
            <a:endParaRPr sz="3000">
              <a:latin typeface="Arial"/>
              <a:cs typeface="Arial"/>
            </a:endParaRPr>
          </a:p>
          <a:p>
            <a:pPr marL="12700" marR="948055" algn="just">
              <a:lnSpc>
                <a:spcPct val="100000"/>
              </a:lnSpc>
            </a:pPr>
            <a:r>
              <a:rPr sz="3000" spc="-15" dirty="0">
                <a:latin typeface="Arial"/>
                <a:cs typeface="Arial"/>
              </a:rPr>
              <a:t>(=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SSL</a:t>
            </a:r>
            <a:r>
              <a:rPr sz="3000" spc="-114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v3</a:t>
            </a:r>
            <a:r>
              <a:rPr sz="3000" spc="-10" dirty="0">
                <a:latin typeface="Arial"/>
                <a:cs typeface="Arial"/>
              </a:rPr>
              <a:t>.1)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by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IETF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933" y="2609627"/>
            <a:ext cx="1858645" cy="4660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spc="-2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L</a:t>
            </a:r>
            <a:r>
              <a:rPr sz="3000" spc="-20" dirty="0">
                <a:latin typeface="Arial"/>
                <a:cs typeface="Arial"/>
              </a:rPr>
              <a:t>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v1</a:t>
            </a:r>
            <a:r>
              <a:rPr sz="3000" spc="-10" dirty="0">
                <a:latin typeface="Arial"/>
                <a:cs typeface="Arial"/>
              </a:rPr>
              <a:t>.0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7243" y="3066827"/>
            <a:ext cx="6887845" cy="4660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000" spc="-25" dirty="0">
                <a:latin typeface="Arial"/>
                <a:cs typeface="Arial"/>
              </a:rPr>
              <a:t>F</a:t>
            </a:r>
            <a:r>
              <a:rPr sz="3000" spc="0" dirty="0">
                <a:latin typeface="Arial"/>
                <a:cs typeface="Arial"/>
              </a:rPr>
              <a:t>ew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change</a:t>
            </a:r>
            <a:r>
              <a:rPr sz="3000" spc="-15" dirty="0">
                <a:latin typeface="Arial"/>
                <a:cs typeface="Arial"/>
              </a:rPr>
              <a:t>s,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bu</a:t>
            </a:r>
            <a:r>
              <a:rPr sz="3000" spc="-10" dirty="0">
                <a:latin typeface="Arial"/>
                <a:cs typeface="Arial"/>
              </a:rPr>
              <a:t>t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incompa</a:t>
            </a:r>
            <a:r>
              <a:rPr sz="3000" spc="-10" dirty="0">
                <a:latin typeface="Arial"/>
                <a:cs typeface="Arial"/>
              </a:rPr>
              <a:t>tible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wi</a:t>
            </a:r>
            <a:r>
              <a:rPr sz="3000" spc="-10" dirty="0">
                <a:latin typeface="Arial"/>
                <a:cs typeface="Arial"/>
              </a:rPr>
              <a:t>th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v3</a:t>
            </a:r>
            <a:r>
              <a:rPr sz="3000" spc="-10" dirty="0">
                <a:latin typeface="Arial"/>
                <a:cs typeface="Arial"/>
              </a:rPr>
              <a:t>.0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33" y="3524027"/>
            <a:ext cx="1858645" cy="4660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spc="-2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L</a:t>
            </a:r>
            <a:r>
              <a:rPr sz="3000" spc="-20" dirty="0">
                <a:latin typeface="Arial"/>
                <a:cs typeface="Arial"/>
              </a:rPr>
              <a:t>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v1</a:t>
            </a:r>
            <a:r>
              <a:rPr sz="3000" spc="-10" dirty="0">
                <a:latin typeface="Arial"/>
                <a:cs typeface="Arial"/>
              </a:rPr>
              <a:t>.1</a:t>
            </a:r>
            <a:endParaRPr sz="3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9233" y="3524027"/>
            <a:ext cx="4558665" cy="18376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8900" marR="1440180" indent="-76835">
              <a:lnSpc>
                <a:spcPct val="100000"/>
              </a:lnSpc>
            </a:pPr>
            <a:r>
              <a:rPr sz="3000" dirty="0">
                <a:latin typeface="Arial"/>
                <a:cs typeface="Arial"/>
              </a:rPr>
              <a:t>clari</a:t>
            </a:r>
            <a:r>
              <a:rPr sz="3000" spc="-10" dirty="0">
                <a:latin typeface="Arial"/>
                <a:cs typeface="Arial"/>
              </a:rPr>
              <a:t>fie</a:t>
            </a:r>
            <a:r>
              <a:rPr sz="3000" spc="-15" dirty="0">
                <a:latin typeface="Arial"/>
                <a:cs typeface="Arial"/>
              </a:rPr>
              <a:t>s,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adds recommenda</a:t>
            </a:r>
            <a:r>
              <a:rPr sz="3000" spc="-10" dirty="0">
                <a:latin typeface="Arial"/>
                <a:cs typeface="Arial"/>
              </a:rPr>
              <a:t>tions</a:t>
            </a:r>
            <a:endParaRPr sz="3000">
              <a:latin typeface="Arial"/>
              <a:cs typeface="Arial"/>
            </a:endParaRPr>
          </a:p>
          <a:p>
            <a:pPr marL="16510" marR="12700" indent="-4445">
              <a:lnSpc>
                <a:spcPct val="100000"/>
              </a:lnSpc>
            </a:pPr>
            <a:r>
              <a:rPr sz="3000" dirty="0">
                <a:latin typeface="Arial"/>
                <a:cs typeface="Arial"/>
              </a:rPr>
              <a:t>cipher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upda</a:t>
            </a:r>
            <a:r>
              <a:rPr sz="3000" spc="-10" dirty="0">
                <a:latin typeface="Arial"/>
                <a:cs typeface="Arial"/>
              </a:rPr>
              <a:t>te</a:t>
            </a:r>
            <a:r>
              <a:rPr sz="3000" spc="-15" dirty="0">
                <a:latin typeface="Arial"/>
                <a:cs typeface="Arial"/>
              </a:rPr>
              <a:t>s,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e</a:t>
            </a:r>
            <a:r>
              <a:rPr sz="3000" spc="-15" dirty="0">
                <a:latin typeface="Arial"/>
                <a:cs typeface="Arial"/>
              </a:rPr>
              <a:t>xtensions released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in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2018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933" y="4438427"/>
            <a:ext cx="1858645" cy="9232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spc="-2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L</a:t>
            </a:r>
            <a:r>
              <a:rPr sz="3000" spc="-20" dirty="0">
                <a:latin typeface="Arial"/>
                <a:cs typeface="Arial"/>
              </a:rPr>
              <a:t>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v1</a:t>
            </a:r>
            <a:r>
              <a:rPr sz="3000" spc="-10" dirty="0">
                <a:latin typeface="Arial"/>
                <a:cs typeface="Arial"/>
              </a:rPr>
              <a:t>.2</a:t>
            </a:r>
            <a:endParaRPr sz="3000">
              <a:latin typeface="Arial"/>
              <a:cs typeface="Arial"/>
            </a:endParaRPr>
          </a:p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spc="-2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L</a:t>
            </a:r>
            <a:r>
              <a:rPr sz="3000" spc="-20" dirty="0">
                <a:latin typeface="Arial"/>
                <a:cs typeface="Arial"/>
              </a:rPr>
              <a:t>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v1</a:t>
            </a:r>
            <a:r>
              <a:rPr sz="3000" spc="-10" dirty="0">
                <a:latin typeface="Arial"/>
                <a:cs typeface="Arial"/>
              </a:rPr>
              <a:t>.3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360930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SSL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/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S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Pro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ocols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8543" y="1268760"/>
            <a:ext cx="7992887" cy="648072"/>
          </a:xfrm>
          <a:custGeom>
            <a:avLst/>
            <a:gdLst/>
            <a:ahLst/>
            <a:cxnLst/>
            <a:rect l="l" t="t" r="r" b="b"/>
            <a:pathLst>
              <a:path w="7992887" h="648072">
                <a:moveTo>
                  <a:pt x="0" y="0"/>
                </a:moveTo>
                <a:lnTo>
                  <a:pt x="7992887" y="0"/>
                </a:lnTo>
                <a:lnTo>
                  <a:pt x="7992887" y="648072"/>
                </a:lnTo>
                <a:lnTo>
                  <a:pt x="0" y="648072"/>
                </a:lnTo>
                <a:lnTo>
                  <a:pt x="0" y="0"/>
                </a:lnTo>
                <a:close/>
              </a:path>
            </a:pathLst>
          </a:custGeom>
          <a:solidFill>
            <a:srgbClr val="73A4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8543" y="1268760"/>
            <a:ext cx="7992885" cy="648072"/>
          </a:xfrm>
          <a:custGeom>
            <a:avLst/>
            <a:gdLst/>
            <a:ahLst/>
            <a:cxnLst/>
            <a:rect l="l" t="t" r="r" b="b"/>
            <a:pathLst>
              <a:path w="7992885" h="648072">
                <a:moveTo>
                  <a:pt x="0" y="0"/>
                </a:moveTo>
                <a:lnTo>
                  <a:pt x="7992885" y="0"/>
                </a:lnTo>
                <a:lnTo>
                  <a:pt x="7992885" y="648072"/>
                </a:lnTo>
                <a:lnTo>
                  <a:pt x="0" y="648072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91579" y="1390779"/>
            <a:ext cx="2364105" cy="3879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Applica</a:t>
            </a:r>
            <a:r>
              <a:rPr sz="2400" spc="-10" dirty="0">
                <a:latin typeface="Arial"/>
                <a:cs typeface="Arial"/>
              </a:rPr>
              <a:t>tion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Layer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543" y="5157191"/>
            <a:ext cx="7992887" cy="648071"/>
          </a:xfrm>
          <a:custGeom>
            <a:avLst/>
            <a:gdLst/>
            <a:ahLst/>
            <a:cxnLst/>
            <a:rect l="l" t="t" r="r" b="b"/>
            <a:pathLst>
              <a:path w="7992887" h="648071">
                <a:moveTo>
                  <a:pt x="0" y="0"/>
                </a:moveTo>
                <a:lnTo>
                  <a:pt x="7992887" y="0"/>
                </a:lnTo>
                <a:lnTo>
                  <a:pt x="7992887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solidFill>
            <a:srgbClr val="73A4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8543" y="5157191"/>
            <a:ext cx="7992885" cy="648071"/>
          </a:xfrm>
          <a:custGeom>
            <a:avLst/>
            <a:gdLst/>
            <a:ahLst/>
            <a:cxnLst/>
            <a:rect l="l" t="t" r="r" b="b"/>
            <a:pathLst>
              <a:path w="7992885" h="648071">
                <a:moveTo>
                  <a:pt x="0" y="0"/>
                </a:moveTo>
                <a:lnTo>
                  <a:pt x="7992885" y="0"/>
                </a:lnTo>
                <a:lnTo>
                  <a:pt x="7992885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8543" y="4005064"/>
            <a:ext cx="7992887" cy="648072"/>
          </a:xfrm>
          <a:custGeom>
            <a:avLst/>
            <a:gdLst/>
            <a:ahLst/>
            <a:cxnLst/>
            <a:rect l="l" t="t" r="r" b="b"/>
            <a:pathLst>
              <a:path w="7992887" h="648072">
                <a:moveTo>
                  <a:pt x="0" y="0"/>
                </a:moveTo>
                <a:lnTo>
                  <a:pt x="7992887" y="0"/>
                </a:lnTo>
                <a:lnTo>
                  <a:pt x="7992887" y="648072"/>
                </a:lnTo>
                <a:lnTo>
                  <a:pt x="0" y="648072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8543" y="4005064"/>
            <a:ext cx="7992885" cy="648071"/>
          </a:xfrm>
          <a:custGeom>
            <a:avLst/>
            <a:gdLst/>
            <a:ahLst/>
            <a:cxnLst/>
            <a:rect l="l" t="t" r="r" b="b"/>
            <a:pathLst>
              <a:path w="7992885" h="648071">
                <a:moveTo>
                  <a:pt x="0" y="0"/>
                </a:moveTo>
                <a:lnTo>
                  <a:pt x="7992885" y="0"/>
                </a:lnTo>
                <a:lnTo>
                  <a:pt x="7992885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19571" y="4122792"/>
            <a:ext cx="2211070" cy="1539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Record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Pro</a:t>
            </a:r>
            <a:r>
              <a:rPr sz="2400" spc="-10" dirty="0">
                <a:latin typeface="Arial"/>
                <a:cs typeface="Arial"/>
              </a:rPr>
              <a:t>tocol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91"/>
              </a:spcBef>
            </a:pPr>
            <a:endParaRPr sz="1100"/>
          </a:p>
          <a:p>
            <a:pPr marL="12700">
              <a:lnSpc>
                <a:spcPct val="100000"/>
              </a:lnSpc>
            </a:pPr>
            <a:r>
              <a:rPr sz="2400" spc="-105" dirty="0">
                <a:latin typeface="Arial"/>
                <a:cs typeface="Arial"/>
              </a:rPr>
              <a:t>T</a:t>
            </a:r>
            <a:r>
              <a:rPr sz="2400" spc="0" dirty="0">
                <a:latin typeface="Arial"/>
                <a:cs typeface="Arial"/>
              </a:rPr>
              <a:t>ranspo</a:t>
            </a:r>
            <a:r>
              <a:rPr sz="2400" spc="-10" dirty="0">
                <a:latin typeface="Arial"/>
                <a:cs typeface="Arial"/>
              </a:rPr>
              <a:t>rt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Layer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8543" y="2636912"/>
            <a:ext cx="2151855" cy="648072"/>
          </a:xfrm>
          <a:custGeom>
            <a:avLst/>
            <a:gdLst/>
            <a:ahLst/>
            <a:cxnLst/>
            <a:rect l="l" t="t" r="r" b="b"/>
            <a:pathLst>
              <a:path w="2151855" h="648072">
                <a:moveTo>
                  <a:pt x="0" y="0"/>
                </a:moveTo>
                <a:lnTo>
                  <a:pt x="2151855" y="0"/>
                </a:lnTo>
                <a:lnTo>
                  <a:pt x="2151855" y="648072"/>
                </a:lnTo>
                <a:lnTo>
                  <a:pt x="0" y="648072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48543" y="2636912"/>
            <a:ext cx="2151855" cy="648071"/>
          </a:xfrm>
          <a:custGeom>
            <a:avLst/>
            <a:gdLst/>
            <a:ahLst/>
            <a:cxnLst/>
            <a:rect l="l" t="t" r="r" b="b"/>
            <a:pathLst>
              <a:path w="2151855" h="648071">
                <a:moveTo>
                  <a:pt x="0" y="0"/>
                </a:moveTo>
                <a:lnTo>
                  <a:pt x="2151855" y="0"/>
                </a:lnTo>
                <a:lnTo>
                  <a:pt x="2151855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24808" y="2636912"/>
            <a:ext cx="2448271" cy="648072"/>
          </a:xfrm>
          <a:custGeom>
            <a:avLst/>
            <a:gdLst/>
            <a:ahLst/>
            <a:cxnLst/>
            <a:rect l="l" t="t" r="r" b="b"/>
            <a:pathLst>
              <a:path w="2448271" h="648072">
                <a:moveTo>
                  <a:pt x="0" y="0"/>
                </a:moveTo>
                <a:lnTo>
                  <a:pt x="2448271" y="0"/>
                </a:lnTo>
                <a:lnTo>
                  <a:pt x="2448271" y="648072"/>
                </a:lnTo>
                <a:lnTo>
                  <a:pt x="0" y="648072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24808" y="2636912"/>
            <a:ext cx="2448271" cy="648071"/>
          </a:xfrm>
          <a:custGeom>
            <a:avLst/>
            <a:gdLst/>
            <a:ahLst/>
            <a:cxnLst/>
            <a:rect l="l" t="t" r="r" b="b"/>
            <a:pathLst>
              <a:path w="2448271" h="648071">
                <a:moveTo>
                  <a:pt x="0" y="0"/>
                </a:moveTo>
                <a:lnTo>
                  <a:pt x="2448271" y="0"/>
                </a:lnTo>
                <a:lnTo>
                  <a:pt x="2448271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1110" y="2636912"/>
            <a:ext cx="2151856" cy="648072"/>
          </a:xfrm>
          <a:custGeom>
            <a:avLst/>
            <a:gdLst/>
            <a:ahLst/>
            <a:cxnLst/>
            <a:rect l="l" t="t" r="r" b="b"/>
            <a:pathLst>
              <a:path w="2151856" h="648072">
                <a:moveTo>
                  <a:pt x="0" y="0"/>
                </a:moveTo>
                <a:lnTo>
                  <a:pt x="2151856" y="0"/>
                </a:lnTo>
                <a:lnTo>
                  <a:pt x="2151856" y="648072"/>
                </a:lnTo>
                <a:lnTo>
                  <a:pt x="0" y="648072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1110" y="2636912"/>
            <a:ext cx="2151855" cy="648071"/>
          </a:xfrm>
          <a:custGeom>
            <a:avLst/>
            <a:gdLst/>
            <a:ahLst/>
            <a:cxnLst/>
            <a:rect l="l" t="t" r="r" b="b"/>
            <a:pathLst>
              <a:path w="2151855" h="648071">
                <a:moveTo>
                  <a:pt x="0" y="0"/>
                </a:moveTo>
                <a:lnTo>
                  <a:pt x="2151855" y="0"/>
                </a:lnTo>
                <a:lnTo>
                  <a:pt x="2151855" y="648071"/>
                </a:lnTo>
                <a:lnTo>
                  <a:pt x="0" y="648071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32207" y="2631832"/>
            <a:ext cx="1310640" cy="629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4154" marR="12700" indent="-21209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Handshake Pro</a:t>
            </a:r>
            <a:r>
              <a:rPr sz="2000" spc="-10" dirty="0">
                <a:latin typeface="Arial"/>
                <a:cs typeface="Arial"/>
              </a:rPr>
              <a:t>tocol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03547" y="2648724"/>
            <a:ext cx="2242820" cy="629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4154" marR="12700" indent="-21209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ChangeCipherSpec Pro</a:t>
            </a:r>
            <a:r>
              <a:rPr sz="2000" spc="-10" dirty="0">
                <a:latin typeface="Arial"/>
                <a:cs typeface="Arial"/>
              </a:rPr>
              <a:t>tocol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31058" y="2631832"/>
            <a:ext cx="957580" cy="629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indent="19748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Ale</a:t>
            </a:r>
            <a:r>
              <a:rPr sz="2000" spc="-10" dirty="0">
                <a:latin typeface="Arial"/>
                <a:cs typeface="Arial"/>
              </a:rPr>
              <a:t>rt Protocol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56656" y="3310384"/>
            <a:ext cx="0" cy="694726"/>
          </a:xfrm>
          <a:custGeom>
            <a:avLst/>
            <a:gdLst/>
            <a:ahLst/>
            <a:cxnLst/>
            <a:rect l="l" t="t" r="r" b="b"/>
            <a:pathLst>
              <a:path h="694726">
                <a:moveTo>
                  <a:pt x="0" y="0"/>
                </a:moveTo>
                <a:lnTo>
                  <a:pt x="0" y="6947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7701" y="3914406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3" y="0"/>
                </a:moveTo>
                <a:lnTo>
                  <a:pt x="2045" y="7068"/>
                </a:lnTo>
                <a:lnTo>
                  <a:pt x="0" y="14845"/>
                </a:lnTo>
                <a:lnTo>
                  <a:pt x="58954" y="115909"/>
                </a:lnTo>
                <a:lnTo>
                  <a:pt x="88360" y="65498"/>
                </a:lnTo>
                <a:lnTo>
                  <a:pt x="58954" y="65498"/>
                </a:lnTo>
                <a:lnTo>
                  <a:pt x="21940" y="2045"/>
                </a:lnTo>
                <a:lnTo>
                  <a:pt x="14163" y="0"/>
                </a:lnTo>
                <a:close/>
              </a:path>
              <a:path w="117908" h="115909">
                <a:moveTo>
                  <a:pt x="103745" y="0"/>
                </a:moveTo>
                <a:lnTo>
                  <a:pt x="95968" y="2045"/>
                </a:lnTo>
                <a:lnTo>
                  <a:pt x="58954" y="65498"/>
                </a:lnTo>
                <a:lnTo>
                  <a:pt x="88360" y="65498"/>
                </a:lnTo>
                <a:lnTo>
                  <a:pt x="117908" y="14845"/>
                </a:lnTo>
                <a:lnTo>
                  <a:pt x="115862" y="7068"/>
                </a:lnTo>
                <a:lnTo>
                  <a:pt x="1037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32919" y="3310384"/>
            <a:ext cx="0" cy="694726"/>
          </a:xfrm>
          <a:custGeom>
            <a:avLst/>
            <a:gdLst/>
            <a:ahLst/>
            <a:cxnLst/>
            <a:rect l="l" t="t" r="r" b="b"/>
            <a:pathLst>
              <a:path h="694726">
                <a:moveTo>
                  <a:pt x="0" y="0"/>
                </a:moveTo>
                <a:lnTo>
                  <a:pt x="0" y="6947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73965" y="3914406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3" y="0"/>
                </a:moveTo>
                <a:lnTo>
                  <a:pt x="2045" y="7068"/>
                </a:lnTo>
                <a:lnTo>
                  <a:pt x="0" y="14845"/>
                </a:lnTo>
                <a:lnTo>
                  <a:pt x="58954" y="115909"/>
                </a:lnTo>
                <a:lnTo>
                  <a:pt x="88360" y="65498"/>
                </a:lnTo>
                <a:lnTo>
                  <a:pt x="58954" y="65498"/>
                </a:lnTo>
                <a:lnTo>
                  <a:pt x="21940" y="2045"/>
                </a:lnTo>
                <a:lnTo>
                  <a:pt x="14163" y="0"/>
                </a:lnTo>
                <a:close/>
              </a:path>
              <a:path w="117908" h="115909">
                <a:moveTo>
                  <a:pt x="103745" y="0"/>
                </a:moveTo>
                <a:lnTo>
                  <a:pt x="95967" y="2045"/>
                </a:lnTo>
                <a:lnTo>
                  <a:pt x="58954" y="65498"/>
                </a:lnTo>
                <a:lnTo>
                  <a:pt x="88360" y="65498"/>
                </a:lnTo>
                <a:lnTo>
                  <a:pt x="117908" y="14845"/>
                </a:lnTo>
                <a:lnTo>
                  <a:pt x="115862" y="7068"/>
                </a:lnTo>
                <a:lnTo>
                  <a:pt x="1037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69222" y="3310384"/>
            <a:ext cx="0" cy="694726"/>
          </a:xfrm>
          <a:custGeom>
            <a:avLst/>
            <a:gdLst/>
            <a:ahLst/>
            <a:cxnLst/>
            <a:rect l="l" t="t" r="r" b="b"/>
            <a:pathLst>
              <a:path h="694726">
                <a:moveTo>
                  <a:pt x="0" y="0"/>
                </a:moveTo>
                <a:lnTo>
                  <a:pt x="0" y="6947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10269" y="3914406"/>
            <a:ext cx="117906" cy="115909"/>
          </a:xfrm>
          <a:custGeom>
            <a:avLst/>
            <a:gdLst/>
            <a:ahLst/>
            <a:cxnLst/>
            <a:rect l="l" t="t" r="r" b="b"/>
            <a:pathLst>
              <a:path w="117906" h="115909">
                <a:moveTo>
                  <a:pt x="14163" y="0"/>
                </a:moveTo>
                <a:lnTo>
                  <a:pt x="2045" y="7068"/>
                </a:lnTo>
                <a:lnTo>
                  <a:pt x="0" y="14845"/>
                </a:lnTo>
                <a:lnTo>
                  <a:pt x="58953" y="115909"/>
                </a:lnTo>
                <a:lnTo>
                  <a:pt x="88358" y="65498"/>
                </a:lnTo>
                <a:lnTo>
                  <a:pt x="58953" y="65498"/>
                </a:lnTo>
                <a:lnTo>
                  <a:pt x="21939" y="2045"/>
                </a:lnTo>
                <a:lnTo>
                  <a:pt x="14163" y="0"/>
                </a:lnTo>
                <a:close/>
              </a:path>
              <a:path w="117906" h="115909">
                <a:moveTo>
                  <a:pt x="103743" y="0"/>
                </a:moveTo>
                <a:lnTo>
                  <a:pt x="95967" y="2045"/>
                </a:lnTo>
                <a:lnTo>
                  <a:pt x="58953" y="65498"/>
                </a:lnTo>
                <a:lnTo>
                  <a:pt x="88358" y="65498"/>
                </a:lnTo>
                <a:lnTo>
                  <a:pt x="117906" y="14845"/>
                </a:lnTo>
                <a:lnTo>
                  <a:pt x="115860" y="7068"/>
                </a:lnTo>
                <a:lnTo>
                  <a:pt x="103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481390" y="1916832"/>
            <a:ext cx="0" cy="2063151"/>
          </a:xfrm>
          <a:custGeom>
            <a:avLst/>
            <a:gdLst/>
            <a:ahLst/>
            <a:cxnLst/>
            <a:rect l="l" t="t" r="r" b="b"/>
            <a:pathLst>
              <a:path h="2063151">
                <a:moveTo>
                  <a:pt x="0" y="0"/>
                </a:moveTo>
                <a:lnTo>
                  <a:pt x="0" y="2063151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422437" y="3889279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4" y="0"/>
                </a:moveTo>
                <a:lnTo>
                  <a:pt x="2047" y="7068"/>
                </a:lnTo>
                <a:lnTo>
                  <a:pt x="0" y="14845"/>
                </a:lnTo>
                <a:lnTo>
                  <a:pt x="58953" y="115909"/>
                </a:lnTo>
                <a:lnTo>
                  <a:pt x="88359" y="65498"/>
                </a:lnTo>
                <a:lnTo>
                  <a:pt x="58953" y="65498"/>
                </a:lnTo>
                <a:lnTo>
                  <a:pt x="21940" y="2045"/>
                </a:lnTo>
                <a:lnTo>
                  <a:pt x="14164" y="0"/>
                </a:lnTo>
                <a:close/>
              </a:path>
              <a:path w="117908" h="115909">
                <a:moveTo>
                  <a:pt x="103743" y="0"/>
                </a:moveTo>
                <a:lnTo>
                  <a:pt x="95967" y="2045"/>
                </a:lnTo>
                <a:lnTo>
                  <a:pt x="58953" y="65498"/>
                </a:lnTo>
                <a:lnTo>
                  <a:pt x="88359" y="65498"/>
                </a:lnTo>
                <a:lnTo>
                  <a:pt x="117908" y="14845"/>
                </a:lnTo>
                <a:lnTo>
                  <a:pt x="115860" y="7068"/>
                </a:lnTo>
                <a:lnTo>
                  <a:pt x="103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736975" y="4653136"/>
            <a:ext cx="0" cy="478826"/>
          </a:xfrm>
          <a:custGeom>
            <a:avLst/>
            <a:gdLst/>
            <a:ahLst/>
            <a:cxnLst/>
            <a:rect l="l" t="t" r="r" b="b"/>
            <a:pathLst>
              <a:path h="478826">
                <a:moveTo>
                  <a:pt x="0" y="0"/>
                </a:moveTo>
                <a:lnTo>
                  <a:pt x="0" y="4788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678021" y="5041258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3" y="0"/>
                </a:moveTo>
                <a:lnTo>
                  <a:pt x="2045" y="7067"/>
                </a:lnTo>
                <a:lnTo>
                  <a:pt x="0" y="14843"/>
                </a:lnTo>
                <a:lnTo>
                  <a:pt x="58954" y="115909"/>
                </a:lnTo>
                <a:lnTo>
                  <a:pt x="88359" y="65498"/>
                </a:lnTo>
                <a:lnTo>
                  <a:pt x="58954" y="65498"/>
                </a:lnTo>
                <a:lnTo>
                  <a:pt x="21940" y="2045"/>
                </a:lnTo>
                <a:lnTo>
                  <a:pt x="14163" y="0"/>
                </a:lnTo>
                <a:close/>
              </a:path>
              <a:path w="117908" h="115909">
                <a:moveTo>
                  <a:pt x="103745" y="0"/>
                </a:moveTo>
                <a:lnTo>
                  <a:pt x="95968" y="2045"/>
                </a:lnTo>
                <a:lnTo>
                  <a:pt x="58954" y="65498"/>
                </a:lnTo>
                <a:lnTo>
                  <a:pt x="88359" y="65498"/>
                </a:lnTo>
                <a:lnTo>
                  <a:pt x="117908" y="14843"/>
                </a:lnTo>
                <a:lnTo>
                  <a:pt x="115862" y="7067"/>
                </a:lnTo>
                <a:lnTo>
                  <a:pt x="1037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12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711325">
              <a:lnSpc>
                <a:spcPct val="100000"/>
              </a:lnSpc>
            </a:pP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he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Handshake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Pro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ocol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949995"/>
            <a:ext cx="4962525" cy="11887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Uses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messages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to</a:t>
            </a:r>
            <a:endParaRPr sz="3000">
              <a:latin typeface="Arial"/>
              <a:cs typeface="Arial"/>
            </a:endParaRPr>
          </a:p>
          <a:p>
            <a:pPr marL="679450" lvl="1" indent="-247650">
              <a:lnSpc>
                <a:spcPct val="100000"/>
              </a:lnSpc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Nego</a:t>
            </a:r>
            <a:r>
              <a:rPr sz="2400" spc="-10" dirty="0">
                <a:latin typeface="Arial"/>
                <a:cs typeface="Arial"/>
              </a:rPr>
              <a:t>tiate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cipher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sui</a:t>
            </a:r>
            <a:r>
              <a:rPr sz="2400" spc="-10" dirty="0">
                <a:latin typeface="Arial"/>
                <a:cs typeface="Arial"/>
              </a:rPr>
              <a:t>te</a:t>
            </a:r>
            <a:endParaRPr sz="2400">
              <a:latin typeface="Arial"/>
              <a:cs typeface="Arial"/>
            </a:endParaRPr>
          </a:p>
          <a:p>
            <a:pPr marL="679450" lvl="1" indent="-247650">
              <a:lnSpc>
                <a:spcPts val="2800"/>
              </a:lnSpc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Au</a:t>
            </a:r>
            <a:r>
              <a:rPr sz="2400" spc="-10" dirty="0">
                <a:latin typeface="Arial"/>
                <a:cs typeface="Arial"/>
              </a:rPr>
              <a:t>thenticate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sever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/or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clien</a:t>
            </a:r>
            <a:r>
              <a:rPr sz="2400" spc="-10" dirty="0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024" y="2131095"/>
            <a:ext cx="7778750" cy="375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Exchange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formation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building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cryp</a:t>
            </a:r>
            <a:r>
              <a:rPr sz="2400" spc="-10" dirty="0">
                <a:latin typeface="Arial"/>
                <a:cs typeface="Arial"/>
              </a:rPr>
              <a:t>tographic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secre</a:t>
            </a:r>
            <a:r>
              <a:rPr sz="2400" spc="-10" dirty="0">
                <a:latin typeface="Arial"/>
                <a:cs typeface="Arial"/>
              </a:rPr>
              <a:t>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2433" y="2935890"/>
            <a:ext cx="610285" cy="4931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57254" y="2887949"/>
            <a:ext cx="576063" cy="6130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07403" y="2682632"/>
            <a:ext cx="480695" cy="2317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Client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63987" y="2650187"/>
            <a:ext cx="549275" cy="2317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44687" y="3429000"/>
            <a:ext cx="0" cy="3286918"/>
          </a:xfrm>
          <a:custGeom>
            <a:avLst/>
            <a:gdLst/>
            <a:ahLst/>
            <a:cxnLst/>
            <a:rect l="l" t="t" r="r" b="b"/>
            <a:pathLst>
              <a:path h="3286918">
                <a:moveTo>
                  <a:pt x="0" y="0"/>
                </a:moveTo>
                <a:lnTo>
                  <a:pt x="0" y="32869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06587" y="6665118"/>
            <a:ext cx="76200" cy="76199"/>
          </a:xfrm>
          <a:custGeom>
            <a:avLst/>
            <a:gdLst/>
            <a:ahLst/>
            <a:cxnLst/>
            <a:rect l="l" t="t" r="r" b="b"/>
            <a:pathLst>
              <a:path w="76200" h="76199">
                <a:moveTo>
                  <a:pt x="76200" y="0"/>
                </a:moveTo>
                <a:lnTo>
                  <a:pt x="0" y="0"/>
                </a:lnTo>
                <a:lnTo>
                  <a:pt x="381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89303" y="3429000"/>
            <a:ext cx="0" cy="3312367"/>
          </a:xfrm>
          <a:custGeom>
            <a:avLst/>
            <a:gdLst/>
            <a:ahLst/>
            <a:cxnLst/>
            <a:rect l="l" t="t" r="r" b="b"/>
            <a:pathLst>
              <a:path h="3312367">
                <a:moveTo>
                  <a:pt x="-7689303" y="3429000"/>
                </a:moveTo>
                <a:lnTo>
                  <a:pt x="-7689303" y="3429000"/>
                </a:lnTo>
              </a:path>
            </a:pathLst>
          </a:custGeom>
          <a:ln w="3175">
            <a:solidFill>
              <a:srgbClr val="73A4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89303" y="3429000"/>
            <a:ext cx="0" cy="3286918"/>
          </a:xfrm>
          <a:custGeom>
            <a:avLst/>
            <a:gdLst/>
            <a:ahLst/>
            <a:cxnLst/>
            <a:rect l="l" t="t" r="r" b="b"/>
            <a:pathLst>
              <a:path h="3286918">
                <a:moveTo>
                  <a:pt x="0" y="0"/>
                </a:moveTo>
                <a:lnTo>
                  <a:pt x="0" y="32869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51203" y="6665118"/>
            <a:ext cx="76200" cy="76199"/>
          </a:xfrm>
          <a:custGeom>
            <a:avLst/>
            <a:gdLst/>
            <a:ahLst/>
            <a:cxnLst/>
            <a:rect l="l" t="t" r="r" b="b"/>
            <a:pathLst>
              <a:path w="76200" h="76199">
                <a:moveTo>
                  <a:pt x="76200" y="0"/>
                </a:moveTo>
                <a:lnTo>
                  <a:pt x="0" y="0"/>
                </a:lnTo>
                <a:lnTo>
                  <a:pt x="381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44687" y="3645024"/>
            <a:ext cx="5544615" cy="360039"/>
          </a:xfrm>
          <a:custGeom>
            <a:avLst/>
            <a:gdLst/>
            <a:ahLst/>
            <a:cxnLst/>
            <a:rect l="l" t="t" r="r" b="b"/>
            <a:pathLst>
              <a:path w="5544615" h="360039">
                <a:moveTo>
                  <a:pt x="0" y="0"/>
                </a:moveTo>
                <a:lnTo>
                  <a:pt x="5544615" y="0"/>
                </a:lnTo>
                <a:lnTo>
                  <a:pt x="5544615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44687" y="3645024"/>
            <a:ext cx="5544614" cy="360039"/>
          </a:xfrm>
          <a:custGeom>
            <a:avLst/>
            <a:gdLst/>
            <a:ahLst/>
            <a:cxnLst/>
            <a:rect l="l" t="t" r="r" b="b"/>
            <a:pathLst>
              <a:path w="5544614" h="360039">
                <a:moveTo>
                  <a:pt x="0" y="0"/>
                </a:moveTo>
                <a:lnTo>
                  <a:pt x="5544614" y="0"/>
                </a:lnTo>
                <a:lnTo>
                  <a:pt x="5544614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64467" y="3656835"/>
            <a:ext cx="3668395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Establishing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securi</a:t>
            </a:r>
            <a:r>
              <a:rPr sz="2000" spc="-10" dirty="0">
                <a:latin typeface="Arial"/>
                <a:cs typeface="Arial"/>
              </a:rPr>
              <a:t>ty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capabili</a:t>
            </a:r>
            <a:r>
              <a:rPr sz="2000" spc="-10" dirty="0">
                <a:latin typeface="Arial"/>
                <a:cs typeface="Arial"/>
              </a:rPr>
              <a:t>ties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44687" y="4286934"/>
            <a:ext cx="5544615" cy="360039"/>
          </a:xfrm>
          <a:custGeom>
            <a:avLst/>
            <a:gdLst/>
            <a:ahLst/>
            <a:cxnLst/>
            <a:rect l="l" t="t" r="r" b="b"/>
            <a:pathLst>
              <a:path w="5544615" h="360039">
                <a:moveTo>
                  <a:pt x="0" y="0"/>
                </a:moveTo>
                <a:lnTo>
                  <a:pt x="5544615" y="0"/>
                </a:lnTo>
                <a:lnTo>
                  <a:pt x="5544615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44687" y="4286934"/>
            <a:ext cx="5544614" cy="360039"/>
          </a:xfrm>
          <a:custGeom>
            <a:avLst/>
            <a:gdLst/>
            <a:ahLst/>
            <a:cxnLst/>
            <a:rect l="l" t="t" r="r" b="b"/>
            <a:pathLst>
              <a:path w="5544614" h="360039">
                <a:moveTo>
                  <a:pt x="0" y="0"/>
                </a:moveTo>
                <a:lnTo>
                  <a:pt x="5544614" y="0"/>
                </a:lnTo>
                <a:lnTo>
                  <a:pt x="5544614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964467" y="4298745"/>
            <a:ext cx="4558665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Server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au</a:t>
            </a:r>
            <a:r>
              <a:rPr sz="2000" spc="-10" dirty="0">
                <a:latin typeface="Arial"/>
                <a:cs typeface="Arial"/>
              </a:rPr>
              <a:t>thentication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and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key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exchange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44687" y="5047084"/>
            <a:ext cx="5544615" cy="360039"/>
          </a:xfrm>
          <a:custGeom>
            <a:avLst/>
            <a:gdLst/>
            <a:ahLst/>
            <a:cxnLst/>
            <a:rect l="l" t="t" r="r" b="b"/>
            <a:pathLst>
              <a:path w="5544615" h="360039">
                <a:moveTo>
                  <a:pt x="0" y="0"/>
                </a:moveTo>
                <a:lnTo>
                  <a:pt x="5544615" y="0"/>
                </a:lnTo>
                <a:lnTo>
                  <a:pt x="5544615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solidFill>
            <a:srgbClr val="73A4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44687" y="5047084"/>
            <a:ext cx="5544614" cy="360039"/>
          </a:xfrm>
          <a:custGeom>
            <a:avLst/>
            <a:gdLst/>
            <a:ahLst/>
            <a:cxnLst/>
            <a:rect l="l" t="t" r="r" b="b"/>
            <a:pathLst>
              <a:path w="5544614" h="360039">
                <a:moveTo>
                  <a:pt x="0" y="0"/>
                </a:moveTo>
                <a:lnTo>
                  <a:pt x="5544614" y="0"/>
                </a:lnTo>
                <a:lnTo>
                  <a:pt x="5544614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964467" y="5058896"/>
            <a:ext cx="4459605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Clien</a:t>
            </a:r>
            <a:r>
              <a:rPr sz="2000" spc="-10" dirty="0">
                <a:latin typeface="Arial"/>
                <a:cs typeface="Arial"/>
              </a:rPr>
              <a:t>t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au</a:t>
            </a:r>
            <a:r>
              <a:rPr sz="2000" spc="-10" dirty="0">
                <a:latin typeface="Arial"/>
                <a:cs typeface="Arial"/>
              </a:rPr>
              <a:t>thentication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and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key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exchange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144687" y="5799101"/>
            <a:ext cx="5544615" cy="360039"/>
          </a:xfrm>
          <a:custGeom>
            <a:avLst/>
            <a:gdLst/>
            <a:ahLst/>
            <a:cxnLst/>
            <a:rect l="l" t="t" r="r" b="b"/>
            <a:pathLst>
              <a:path w="5544615" h="360039">
                <a:moveTo>
                  <a:pt x="0" y="0"/>
                </a:moveTo>
                <a:lnTo>
                  <a:pt x="5544615" y="0"/>
                </a:lnTo>
                <a:lnTo>
                  <a:pt x="5544615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44687" y="5799101"/>
            <a:ext cx="5544614" cy="360039"/>
          </a:xfrm>
          <a:custGeom>
            <a:avLst/>
            <a:gdLst/>
            <a:ahLst/>
            <a:cxnLst/>
            <a:rect l="l" t="t" r="r" b="b"/>
            <a:pathLst>
              <a:path w="5544614" h="360039">
                <a:moveTo>
                  <a:pt x="0" y="0"/>
                </a:moveTo>
                <a:lnTo>
                  <a:pt x="5544614" y="0"/>
                </a:lnTo>
                <a:lnTo>
                  <a:pt x="5544614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64467" y="5810913"/>
            <a:ext cx="3852545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Arial"/>
                <a:cs typeface="Arial"/>
              </a:rPr>
              <a:t>Finalizing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Handshake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pro</a:t>
            </a:r>
            <a:r>
              <a:rPr sz="2000" spc="-10" dirty="0">
                <a:latin typeface="Arial"/>
                <a:cs typeface="Arial"/>
              </a:rPr>
              <a:t>tocol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87324" y="3665344"/>
            <a:ext cx="737235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5" dirty="0">
                <a:latin typeface="Arial"/>
                <a:cs typeface="Arial"/>
              </a:rPr>
              <a:t>Phase</a:t>
            </a:r>
            <a:r>
              <a:rPr sz="1600" b="1" spc="-5" dirty="0">
                <a:latin typeface="Arial"/>
                <a:cs typeface="Arial"/>
              </a:rPr>
              <a:t> I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18842" y="4343007"/>
            <a:ext cx="793750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5" dirty="0">
                <a:latin typeface="Arial"/>
                <a:cs typeface="Arial"/>
              </a:rPr>
              <a:t>Phase</a:t>
            </a:r>
            <a:r>
              <a:rPr sz="1600" b="1" spc="-5" dirty="0">
                <a:latin typeface="Arial"/>
                <a:cs typeface="Arial"/>
              </a:rPr>
              <a:t> II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17907" y="5096996"/>
            <a:ext cx="850265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5" dirty="0">
                <a:latin typeface="Arial"/>
                <a:cs typeface="Arial"/>
              </a:rPr>
              <a:t>Phase</a:t>
            </a:r>
            <a:r>
              <a:rPr sz="1600" b="1" spc="-5" dirty="0">
                <a:latin typeface="Arial"/>
                <a:cs typeface="Arial"/>
              </a:rPr>
              <a:t> III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18842" y="5863683"/>
            <a:ext cx="873125" cy="2628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5" dirty="0">
                <a:latin typeface="Arial"/>
                <a:cs typeface="Arial"/>
              </a:rPr>
              <a:t>Phase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IV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080791" y="2636912"/>
            <a:ext cx="1470162" cy="1010215"/>
          </a:xfrm>
          <a:custGeom>
            <a:avLst/>
            <a:gdLst/>
            <a:ahLst/>
            <a:cxnLst/>
            <a:rect l="l" t="t" r="r" b="b"/>
            <a:pathLst>
              <a:path w="1470162" h="1010215">
                <a:moveTo>
                  <a:pt x="1470162" y="864096"/>
                </a:moveTo>
                <a:lnTo>
                  <a:pt x="588064" y="864096"/>
                </a:lnTo>
                <a:lnTo>
                  <a:pt x="16371" y="1010215"/>
                </a:lnTo>
                <a:lnTo>
                  <a:pt x="1470162" y="864096"/>
                </a:lnTo>
                <a:close/>
              </a:path>
              <a:path w="1470162" h="1010215">
                <a:moveTo>
                  <a:pt x="3528391" y="0"/>
                </a:moveTo>
                <a:lnTo>
                  <a:pt x="0" y="0"/>
                </a:lnTo>
                <a:lnTo>
                  <a:pt x="0" y="864096"/>
                </a:lnTo>
                <a:lnTo>
                  <a:pt x="3528391" y="864096"/>
                </a:lnTo>
                <a:lnTo>
                  <a:pt x="3528391" y="0"/>
                </a:lnTo>
                <a:close/>
              </a:path>
            </a:pathLst>
          </a:custGeom>
          <a:solidFill>
            <a:srgbClr val="C1FD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80791" y="2636912"/>
            <a:ext cx="3528391" cy="1010214"/>
          </a:xfrm>
          <a:custGeom>
            <a:avLst/>
            <a:gdLst/>
            <a:ahLst/>
            <a:cxnLst/>
            <a:rect l="l" t="t" r="r" b="b"/>
            <a:pathLst>
              <a:path w="3528391" h="1010214">
                <a:moveTo>
                  <a:pt x="0" y="0"/>
                </a:moveTo>
                <a:lnTo>
                  <a:pt x="588064" y="0"/>
                </a:lnTo>
                <a:lnTo>
                  <a:pt x="1470162" y="0"/>
                </a:lnTo>
                <a:lnTo>
                  <a:pt x="3528391" y="0"/>
                </a:lnTo>
                <a:lnTo>
                  <a:pt x="3528391" y="504056"/>
                </a:lnTo>
                <a:lnTo>
                  <a:pt x="3528391" y="720079"/>
                </a:lnTo>
                <a:lnTo>
                  <a:pt x="3528391" y="864095"/>
                </a:lnTo>
                <a:lnTo>
                  <a:pt x="1470162" y="864095"/>
                </a:lnTo>
                <a:lnTo>
                  <a:pt x="16372" y="1010214"/>
                </a:lnTo>
                <a:lnTo>
                  <a:pt x="588064" y="864095"/>
                </a:lnTo>
                <a:lnTo>
                  <a:pt x="0" y="864095"/>
                </a:lnTo>
                <a:lnTo>
                  <a:pt x="0" y="720079"/>
                </a:lnTo>
                <a:lnTo>
                  <a:pt x="0" y="504056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159531" y="2692792"/>
            <a:ext cx="3213735" cy="7391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513205">
              <a:lnSpc>
                <a:spcPts val="1900"/>
              </a:lnSpc>
            </a:pPr>
            <a:r>
              <a:rPr sz="1600" spc="-10" dirty="0">
                <a:latin typeface="Times New Roman"/>
                <a:cs typeface="Times New Roman"/>
              </a:rPr>
              <a:t>cipher suite compress</a:t>
            </a:r>
            <a:r>
              <a:rPr sz="1600" spc="-5" dirty="0">
                <a:latin typeface="Times New Roman"/>
                <a:cs typeface="Times New Roman"/>
              </a:rPr>
              <a:t>ion </a:t>
            </a:r>
            <a:r>
              <a:rPr sz="1600" spc="-10" dirty="0">
                <a:latin typeface="Times New Roman"/>
                <a:cs typeface="Times New Roman"/>
              </a:rPr>
              <a:t>method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839"/>
              </a:lnSpc>
            </a:pPr>
            <a:r>
              <a:rPr sz="1600" spc="-5" dirty="0">
                <a:latin typeface="Times New Roman"/>
                <a:cs typeface="Times New Roman"/>
              </a:rPr>
              <a:t>two </a:t>
            </a:r>
            <a:r>
              <a:rPr sz="1600" spc="-10" dirty="0">
                <a:latin typeface="Times New Roman"/>
                <a:cs typeface="Times New Roman"/>
              </a:rPr>
              <a:t>random number for key generation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29063" y="1135777"/>
            <a:ext cx="3897143" cy="276998"/>
          </a:xfrm>
          <a:custGeom>
            <a:avLst/>
            <a:gdLst/>
            <a:ahLst/>
            <a:cxnLst/>
            <a:rect l="l" t="t" r="r" b="b"/>
            <a:pathLst>
              <a:path w="3897143" h="276998">
                <a:moveTo>
                  <a:pt x="0" y="0"/>
                </a:moveTo>
                <a:lnTo>
                  <a:pt x="3897143" y="0"/>
                </a:lnTo>
                <a:lnTo>
                  <a:pt x="3897143" y="276998"/>
                </a:lnTo>
                <a:lnTo>
                  <a:pt x="0" y="2769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607803" y="1181497"/>
            <a:ext cx="3668395" cy="200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Re</a:t>
            </a:r>
            <a:r>
              <a:rPr sz="1200" spc="-5" dirty="0">
                <a:latin typeface="Arial"/>
                <a:cs typeface="Arial"/>
              </a:rPr>
              <a:t>fer to </a:t>
            </a:r>
            <a:r>
              <a:rPr sz="1200" u="heavy" spc="0" dirty="0">
                <a:solidFill>
                  <a:srgbClr val="FC0128"/>
                </a:solidFill>
                <a:latin typeface="Arial"/>
                <a:cs typeface="Arial"/>
              </a:rPr>
              <a:t>h</a:t>
            </a:r>
            <a:r>
              <a:rPr sz="1200" u="heavy" spc="-5" dirty="0">
                <a:solidFill>
                  <a:srgbClr val="FC0128"/>
                </a:solidFill>
                <a:latin typeface="Arial"/>
                <a:cs typeface="Arial"/>
              </a:rPr>
              <a:t>ttps://tls.ulfhei</a:t>
            </a:r>
            <a:r>
              <a:rPr sz="1200" u="heavy" spc="-10" dirty="0">
                <a:solidFill>
                  <a:srgbClr val="FC0128"/>
                </a:solidFill>
                <a:latin typeface="Arial"/>
                <a:cs typeface="Arial"/>
              </a:rPr>
              <a:t>m.ne</a:t>
            </a:r>
            <a:r>
              <a:rPr sz="1200" u="heavy" spc="-5" dirty="0">
                <a:solidFill>
                  <a:srgbClr val="FC0128"/>
                </a:solidFill>
                <a:latin typeface="Arial"/>
                <a:cs typeface="Arial"/>
              </a:rPr>
              <a:t>t</a:t>
            </a:r>
            <a:r>
              <a:rPr sz="1200" spc="-5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for </a:t>
            </a:r>
            <a:r>
              <a:rPr sz="1200" spc="0" dirty="0">
                <a:latin typeface="Arial"/>
                <a:cs typeface="Arial"/>
              </a:rPr>
              <a:t>de</a:t>
            </a:r>
            <a:r>
              <a:rPr sz="1200" spc="-5" dirty="0">
                <a:latin typeface="Arial"/>
                <a:cs typeface="Arial"/>
              </a:rPr>
              <a:t>tailed </a:t>
            </a:r>
            <a:r>
              <a:rPr sz="1200" spc="0" dirty="0">
                <a:latin typeface="Arial"/>
                <a:cs typeface="Arial"/>
              </a:rPr>
              <a:t>explana</a:t>
            </a:r>
            <a:r>
              <a:rPr sz="1200" spc="-5" dirty="0">
                <a:latin typeface="Arial"/>
                <a:cs typeface="Arial"/>
              </a:rPr>
              <a:t>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13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387475">
              <a:lnSpc>
                <a:spcPct val="100000"/>
              </a:lnSpc>
            </a:pP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Closer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Look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4000" spc="-15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Handshake</a:t>
            </a:r>
            <a:endParaRPr sz="4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14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983944"/>
            <a:ext cx="141605" cy="27806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>
              <a:lnSpc>
                <a:spcPts val="950"/>
              </a:lnSpc>
              <a:spcBef>
                <a:spcPts val="30"/>
              </a:spcBef>
            </a:pPr>
            <a:endParaRPr sz="950"/>
          </a:p>
          <a:p>
            <a:pPr marL="12700">
              <a:lnSpc>
                <a:spcPct val="100000"/>
              </a:lnSpc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>
              <a:lnSpc>
                <a:spcPts val="1000"/>
              </a:lnSpc>
              <a:spcBef>
                <a:spcPts val="80"/>
              </a:spcBef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>
              <a:lnSpc>
                <a:spcPts val="950"/>
              </a:lnSpc>
              <a:spcBef>
                <a:spcPts val="30"/>
              </a:spcBef>
            </a:pPr>
            <a:endParaRPr sz="950"/>
          </a:p>
          <a:p>
            <a:pPr marL="12700">
              <a:lnSpc>
                <a:spcPts val="2855"/>
              </a:lnSpc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ts val="2365"/>
              </a:lnSpc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>
              <a:lnSpc>
                <a:spcPts val="1000"/>
              </a:lnSpc>
              <a:spcBef>
                <a:spcPts val="80"/>
              </a:spcBef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724" y="1011884"/>
            <a:ext cx="8838565" cy="5528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342265" indent="3175">
              <a:lnSpc>
                <a:spcPts val="2000"/>
              </a:lnSpc>
            </a:pPr>
            <a:r>
              <a:rPr sz="1700" spc="5" dirty="0">
                <a:latin typeface="Arial"/>
                <a:cs typeface="Arial"/>
              </a:rPr>
              <a:t>The client sends a "Client hello" message to the serve</a:t>
            </a:r>
            <a:r>
              <a:rPr sz="1700" spc="-95" dirty="0">
                <a:latin typeface="Arial"/>
                <a:cs typeface="Arial"/>
              </a:rPr>
              <a:t>r</a:t>
            </a:r>
            <a:r>
              <a:rPr sz="1700" spc="0" dirty="0">
                <a:latin typeface="Arial"/>
                <a:cs typeface="Arial"/>
              </a:rPr>
              <a:t>,</a:t>
            </a:r>
            <a:r>
              <a:rPr sz="1700" spc="5" dirty="0">
                <a:latin typeface="Arial"/>
                <a:cs typeface="Arial"/>
              </a:rPr>
              <a:t> along </a:t>
            </a:r>
            <a:r>
              <a:rPr sz="1700" spc="10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ith the 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client's 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random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 value </a:t>
            </a:r>
            <a:r>
              <a:rPr sz="1700" spc="5" dirty="0">
                <a:latin typeface="Arial"/>
                <a:cs typeface="Arial"/>
              </a:rPr>
              <a:t>and 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suppor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ted ciphe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 suites</a:t>
            </a:r>
            <a:r>
              <a:rPr sz="1700" spc="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The server responds by sending a "Server hello" message to the client, along </a:t>
            </a:r>
            <a:r>
              <a:rPr sz="1700" spc="10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ith the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server's 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random 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valu</a:t>
            </a:r>
            <a:r>
              <a:rPr sz="1700" b="1" spc="-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700" spc="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12700" marR="12700" indent="3175">
              <a:lnSpc>
                <a:spcPts val="2000"/>
              </a:lnSpc>
              <a:spcBef>
                <a:spcPts val="160"/>
              </a:spcBef>
            </a:pPr>
            <a:r>
              <a:rPr sz="1700" spc="5" dirty="0">
                <a:latin typeface="Arial"/>
                <a:cs typeface="Arial"/>
              </a:rPr>
              <a:t>The server sends its certi</a:t>
            </a:r>
            <a:r>
              <a:rPr sz="1700" spc="0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icate to the client for authentication and </a:t>
            </a:r>
            <a:r>
              <a:rPr sz="1700" spc="10" dirty="0">
                <a:latin typeface="Arial"/>
                <a:cs typeface="Arial"/>
              </a:rPr>
              <a:t>may</a:t>
            </a:r>
            <a:r>
              <a:rPr sz="1700" spc="5" dirty="0">
                <a:latin typeface="Arial"/>
                <a:cs typeface="Arial"/>
              </a:rPr>
              <a:t> request a certi</a:t>
            </a:r>
            <a:r>
              <a:rPr sz="1700" spc="0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icate from the client.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The server sends the "Server hello done" message.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</a:pPr>
            <a:r>
              <a:rPr sz="1700" spc="0" dirty="0">
                <a:latin typeface="Arial"/>
                <a:cs typeface="Arial"/>
              </a:rPr>
              <a:t>If</a:t>
            </a:r>
            <a:r>
              <a:rPr sz="1700" spc="5" dirty="0">
                <a:latin typeface="Arial"/>
                <a:cs typeface="Arial"/>
              </a:rPr>
              <a:t> the server has requested a certi</a:t>
            </a:r>
            <a:r>
              <a:rPr sz="1700" spc="0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icate from the client, the client sends i</a:t>
            </a:r>
            <a:r>
              <a:rPr sz="1700" spc="0" dirty="0">
                <a:latin typeface="Arial"/>
                <a:cs typeface="Arial"/>
              </a:rPr>
              <a:t>t.</a:t>
            </a:r>
            <a:endParaRPr sz="1700">
              <a:latin typeface="Arial"/>
              <a:cs typeface="Arial"/>
            </a:endParaRPr>
          </a:p>
          <a:p>
            <a:pPr marL="12700" marR="245745" indent="3175">
              <a:lnSpc>
                <a:spcPct val="102899"/>
              </a:lnSpc>
            </a:pPr>
            <a:r>
              <a:rPr sz="1700" spc="5" dirty="0">
                <a:latin typeface="Arial"/>
                <a:cs typeface="Arial"/>
              </a:rPr>
              <a:t>The client creates a 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random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 Pre-Maste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Secr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et </a:t>
            </a:r>
            <a:r>
              <a:rPr sz="1700" spc="5" dirty="0">
                <a:latin typeface="Arial"/>
                <a:cs typeface="Arial"/>
              </a:rPr>
              <a:t>and encrypts i</a:t>
            </a:r>
            <a:r>
              <a:rPr sz="1700" spc="0" dirty="0">
                <a:latin typeface="Arial"/>
                <a:cs typeface="Arial"/>
              </a:rPr>
              <a:t>t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ith the public key from the server's certi</a:t>
            </a:r>
            <a:r>
              <a:rPr sz="1700" spc="0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icate, sending the encrypted Pre-Master Secret to the serve</a:t>
            </a:r>
            <a:r>
              <a:rPr sz="1700" spc="-95" dirty="0">
                <a:latin typeface="Arial"/>
                <a:cs typeface="Arial"/>
              </a:rPr>
              <a:t>r</a:t>
            </a:r>
            <a:r>
              <a:rPr sz="1700" spc="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12700" marR="664845" indent="3175" algn="just">
              <a:lnSpc>
                <a:spcPct val="100499"/>
              </a:lnSpc>
              <a:spcBef>
                <a:spcPts val="50"/>
              </a:spcBef>
            </a:pPr>
            <a:r>
              <a:rPr sz="1700" spc="5" dirty="0">
                <a:latin typeface="Arial"/>
                <a:cs typeface="Arial"/>
              </a:rPr>
              <a:t>The server receives the Pre-Master Secret.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The server and client each generate the</a:t>
            </a:r>
            <a:r>
              <a:rPr sz="1700" spc="0" dirty="0">
                <a:latin typeface="Arial"/>
                <a:cs typeface="Arial"/>
              </a:rPr>
              <a:t> 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Maste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Secr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et </a:t>
            </a:r>
            <a:r>
              <a:rPr sz="1700" b="1" spc="10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700" b="1" spc="5" dirty="0">
                <a:solidFill>
                  <a:srgbClr val="0000FF"/>
                </a:solidFill>
                <a:latin typeface="Arial"/>
                <a:cs typeface="Arial"/>
              </a:rPr>
              <a:t> session keys </a:t>
            </a:r>
            <a:r>
              <a:rPr sz="1700" spc="5" dirty="0">
                <a:latin typeface="Arial"/>
                <a:cs typeface="Arial"/>
              </a:rPr>
              <a:t>based on the Pre-Master Secret and the random numbers.</a:t>
            </a:r>
            <a:endParaRPr sz="1700">
              <a:latin typeface="Arial"/>
              <a:cs typeface="Arial"/>
            </a:endParaRPr>
          </a:p>
          <a:p>
            <a:pPr marL="12700" marR="137160" indent="3175">
              <a:lnSpc>
                <a:spcPct val="102899"/>
              </a:lnSpc>
            </a:pPr>
            <a:r>
              <a:rPr sz="1700" spc="5" dirty="0">
                <a:latin typeface="Arial"/>
                <a:cs typeface="Arial"/>
              </a:rPr>
              <a:t>The client sends "Change cipher spec" noti</a:t>
            </a:r>
            <a:r>
              <a:rPr sz="1700" spc="0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ication to server to indicate that the client </a:t>
            </a:r>
            <a:r>
              <a:rPr sz="1700" spc="10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ill start using the </a:t>
            </a:r>
            <a:r>
              <a:rPr sz="1700" spc="10" dirty="0">
                <a:latin typeface="Arial"/>
                <a:cs typeface="Arial"/>
              </a:rPr>
              <a:t>new</a:t>
            </a:r>
            <a:r>
              <a:rPr sz="1700" spc="5" dirty="0">
                <a:latin typeface="Arial"/>
                <a:cs typeface="Arial"/>
              </a:rPr>
              <a:t> session keys for hashing and encrypting messages. </a:t>
            </a:r>
            <a:r>
              <a:rPr sz="1700" spc="1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lient also sends "Client </a:t>
            </a:r>
            <a:r>
              <a:rPr sz="1700" spc="0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inished" message.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ts val="2000"/>
              </a:lnSpc>
            </a:pPr>
            <a:r>
              <a:rPr sz="1700" spc="5" dirty="0">
                <a:latin typeface="Arial"/>
                <a:cs typeface="Arial"/>
              </a:rPr>
              <a:t>Server receives "Change cipher spec" and </a:t>
            </a:r>
            <a:r>
              <a:rPr sz="1700" spc="10" dirty="0">
                <a:latin typeface="Arial"/>
                <a:cs typeface="Arial"/>
              </a:rPr>
              <a:t>sw</a:t>
            </a:r>
            <a:r>
              <a:rPr sz="1700" spc="5" dirty="0">
                <a:latin typeface="Arial"/>
                <a:cs typeface="Arial"/>
              </a:rPr>
              <a:t>itches its record layer security state to</a:t>
            </a:r>
            <a:endParaRPr sz="1700">
              <a:latin typeface="Arial"/>
              <a:cs typeface="Arial"/>
            </a:endParaRPr>
          </a:p>
          <a:p>
            <a:pPr marL="12700" marR="165735">
              <a:lnSpc>
                <a:spcPct val="102899"/>
              </a:lnSpc>
            </a:pPr>
            <a:r>
              <a:rPr sz="1700" spc="5" dirty="0">
                <a:latin typeface="Arial"/>
                <a:cs typeface="Arial"/>
              </a:rPr>
              <a:t>symmetric encryption using the session keys. Server sends "Server </a:t>
            </a:r>
            <a:r>
              <a:rPr sz="1700" spc="0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inished" message to the client.</a:t>
            </a:r>
            <a:endParaRPr sz="1700">
              <a:latin typeface="Arial"/>
              <a:cs typeface="Arial"/>
            </a:endParaRPr>
          </a:p>
          <a:p>
            <a:pPr marL="12700" marR="108585" indent="3175">
              <a:lnSpc>
                <a:spcPct val="100499"/>
              </a:lnSpc>
              <a:spcBef>
                <a:spcPts val="50"/>
              </a:spcBef>
            </a:pPr>
            <a:r>
              <a:rPr sz="1700" spc="1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lient and server can </a:t>
            </a:r>
            <a:r>
              <a:rPr sz="1700" spc="10" dirty="0">
                <a:latin typeface="Arial"/>
                <a:cs typeface="Arial"/>
              </a:rPr>
              <a:t>now</a:t>
            </a:r>
            <a:r>
              <a:rPr sz="1700" spc="5" dirty="0">
                <a:latin typeface="Arial"/>
                <a:cs typeface="Arial"/>
              </a:rPr>
              <a:t> exchange application data over the secured channel they have established.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All messages sent from client to server and from server to client are encrypted using session ke</a:t>
            </a:r>
            <a:r>
              <a:rPr sz="1700" spc="-125" dirty="0">
                <a:latin typeface="Arial"/>
                <a:cs typeface="Arial"/>
              </a:rPr>
              <a:t>y</a:t>
            </a:r>
            <a:r>
              <a:rPr sz="1700" spc="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925" y="4146244"/>
            <a:ext cx="141605" cy="4057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925" y="4933644"/>
            <a:ext cx="141605" cy="4057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925" y="5733744"/>
            <a:ext cx="141605" cy="4057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1325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ChangeCipherSpec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&amp;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Ale</a:t>
            </a:r>
            <a:r>
              <a:rPr sz="4000" spc="-15" dirty="0">
                <a:solidFill>
                  <a:srgbClr val="660066"/>
                </a:solidFill>
                <a:latin typeface="Arial"/>
                <a:cs typeface="Arial"/>
              </a:rPr>
              <a:t>rt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Pro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ocols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15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1094011"/>
            <a:ext cx="8868410" cy="32080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17500" marR="12700" indent="-304800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spc="-35" dirty="0">
                <a:latin typeface="Arial"/>
                <a:cs typeface="Arial"/>
              </a:rPr>
              <a:t>W</a:t>
            </a:r>
            <a:r>
              <a:rPr sz="3000" spc="0" dirty="0">
                <a:latin typeface="Arial"/>
                <a:cs typeface="Arial"/>
              </a:rPr>
              <a:t>hen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can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the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two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pa</a:t>
            </a:r>
            <a:r>
              <a:rPr sz="3000" spc="-10" dirty="0">
                <a:latin typeface="Arial"/>
                <a:cs typeface="Arial"/>
              </a:rPr>
              <a:t>r</a:t>
            </a:r>
            <a:r>
              <a:rPr sz="3000" spc="-1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ies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use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these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parame</a:t>
            </a:r>
            <a:r>
              <a:rPr sz="3000" spc="-10" dirty="0">
                <a:latin typeface="Arial"/>
                <a:cs typeface="Arial"/>
              </a:rPr>
              <a:t>ters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or secre</a:t>
            </a:r>
            <a:r>
              <a:rPr sz="3000" spc="-10" dirty="0">
                <a:latin typeface="Arial"/>
                <a:cs typeface="Arial"/>
              </a:rPr>
              <a:t>ts?</a:t>
            </a:r>
            <a:endParaRPr sz="3000">
              <a:latin typeface="Arial"/>
              <a:cs typeface="Arial"/>
            </a:endParaRPr>
          </a:p>
          <a:p>
            <a:pPr marL="673100" marR="275590" lvl="1" indent="-241300">
              <a:lnSpc>
                <a:spcPts val="2800"/>
              </a:lnSpc>
              <a:spcBef>
                <a:spcPts val="160"/>
              </a:spcBef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Canno</a:t>
            </a:r>
            <a:r>
              <a:rPr sz="2400" spc="-10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use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them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un</a:t>
            </a:r>
            <a:r>
              <a:rPr sz="2400" spc="-10" dirty="0">
                <a:latin typeface="Arial"/>
                <a:cs typeface="Arial"/>
              </a:rPr>
              <a:t>til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have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sen</a:t>
            </a:r>
            <a:r>
              <a:rPr sz="2400" spc="-10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or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received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special message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-&gt;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ChangeCipherSpec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message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ts val="800"/>
              </a:lnSpc>
              <a:spcBef>
                <a:spcPts val="39"/>
              </a:spcBef>
              <a:buFont typeface="Arial"/>
              <a:buChar char="–"/>
            </a:pPr>
            <a:endParaRPr sz="800"/>
          </a:p>
          <a:p>
            <a:pPr lvl="1">
              <a:lnSpc>
                <a:spcPts val="1000"/>
              </a:lnSpc>
              <a:buFont typeface="Arial"/>
              <a:buChar char="–"/>
            </a:pPr>
            <a:endParaRPr sz="1000"/>
          </a:p>
          <a:p>
            <a:pPr lvl="1">
              <a:lnSpc>
                <a:spcPts val="1000"/>
              </a:lnSpc>
              <a:buFont typeface="Arial"/>
              <a:buChar char="–"/>
            </a:pPr>
            <a:endParaRPr sz="1000"/>
          </a:p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How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to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deal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wi</a:t>
            </a:r>
            <a:r>
              <a:rPr sz="3000" spc="-10" dirty="0">
                <a:latin typeface="Arial"/>
                <a:cs typeface="Arial"/>
              </a:rPr>
              <a:t>th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errors?</a:t>
            </a:r>
            <a:endParaRPr sz="3000">
              <a:latin typeface="Arial"/>
              <a:cs typeface="Arial"/>
            </a:endParaRPr>
          </a:p>
          <a:p>
            <a:pPr marL="673100" marR="1072515" lvl="1" indent="-241300">
              <a:lnSpc>
                <a:spcPts val="2900"/>
              </a:lnSpc>
              <a:spcBef>
                <a:spcPts val="80"/>
              </a:spcBef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Uses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Ale</a:t>
            </a:r>
            <a:r>
              <a:rPr sz="2400" spc="-10" dirty="0">
                <a:latin typeface="Arial"/>
                <a:cs typeface="Arial"/>
              </a:rPr>
              <a:t>rt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pro</a:t>
            </a:r>
            <a:r>
              <a:rPr sz="2400" spc="-10" dirty="0">
                <a:latin typeface="Arial"/>
                <a:cs typeface="Arial"/>
              </a:rPr>
              <a:t>tocol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repo</a:t>
            </a:r>
            <a:r>
              <a:rPr sz="2400" spc="-10" dirty="0">
                <a:latin typeface="Arial"/>
                <a:cs typeface="Arial"/>
              </a:rPr>
              <a:t>rt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errors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and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abnormal condi</a:t>
            </a:r>
            <a:r>
              <a:rPr sz="2400" spc="-10" dirty="0">
                <a:latin typeface="Arial"/>
                <a:cs typeface="Arial"/>
              </a:rPr>
              <a:t>tions.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177415">
              <a:lnSpc>
                <a:spcPct val="100000"/>
              </a:lnSpc>
            </a:pP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he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Record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Pro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ocol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1094011"/>
            <a:ext cx="7110095" cy="4660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Carries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messages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from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the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upper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layers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024" y="1627411"/>
            <a:ext cx="4678045" cy="1252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60350" indent="-247650">
              <a:lnSpc>
                <a:spcPct val="100000"/>
              </a:lnSpc>
              <a:buFont typeface="Arial"/>
              <a:buChar char="–"/>
              <a:tabLst>
                <a:tab pos="260350" algn="l"/>
              </a:tabLst>
            </a:pPr>
            <a:r>
              <a:rPr sz="2400" spc="0" dirty="0">
                <a:latin typeface="Arial"/>
                <a:cs typeface="Arial"/>
              </a:rPr>
              <a:t>Message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fragmentation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500"/>
              </a:lnSpc>
              <a:spcBef>
                <a:spcPts val="19"/>
              </a:spcBef>
              <a:buFont typeface="Arial"/>
              <a:buChar char="–"/>
            </a:pPr>
            <a:endParaRPr sz="500"/>
          </a:p>
          <a:p>
            <a:pPr marL="260350" indent="-247650">
              <a:lnSpc>
                <a:spcPct val="100000"/>
              </a:lnSpc>
              <a:buFont typeface="Arial"/>
              <a:buChar char="–"/>
              <a:tabLst>
                <a:tab pos="260350" algn="l"/>
              </a:tabLst>
            </a:pPr>
            <a:r>
              <a:rPr sz="2400" spc="0" dirty="0">
                <a:latin typeface="Arial"/>
                <a:cs typeface="Arial"/>
              </a:rPr>
              <a:t>Message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compression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(op</a:t>
            </a:r>
            <a:r>
              <a:rPr sz="2400" spc="-10" dirty="0">
                <a:latin typeface="Arial"/>
                <a:cs typeface="Arial"/>
              </a:rPr>
              <a:t>tional)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600"/>
              </a:lnSpc>
              <a:spcBef>
                <a:spcPts val="19"/>
              </a:spcBef>
              <a:buFont typeface="Arial"/>
              <a:buChar char="–"/>
            </a:pPr>
            <a:endParaRPr sz="600"/>
          </a:p>
          <a:p>
            <a:pPr marL="260350" indent="-247650">
              <a:lnSpc>
                <a:spcPct val="100000"/>
              </a:lnSpc>
              <a:buFont typeface="Arial"/>
              <a:buChar char="–"/>
              <a:tabLst>
                <a:tab pos="260350" algn="l"/>
              </a:tabLst>
            </a:pPr>
            <a:r>
              <a:rPr sz="2400" spc="0" dirty="0">
                <a:latin typeface="Arial"/>
                <a:cs typeface="Arial"/>
              </a:rPr>
              <a:t>Message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encryp</a:t>
            </a:r>
            <a:r>
              <a:rPr sz="2400" spc="-10" dirty="0">
                <a:latin typeface="Arial"/>
                <a:cs typeface="Arial"/>
              </a:rPr>
              <a:t>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12159" y="1950740"/>
            <a:ext cx="3456383" cy="360039"/>
          </a:xfrm>
          <a:custGeom>
            <a:avLst/>
            <a:gdLst/>
            <a:ahLst/>
            <a:cxnLst/>
            <a:rect l="l" t="t" r="r" b="b"/>
            <a:pathLst>
              <a:path w="3456383" h="360039">
                <a:moveTo>
                  <a:pt x="0" y="0"/>
                </a:moveTo>
                <a:lnTo>
                  <a:pt x="3456383" y="0"/>
                </a:lnTo>
                <a:lnTo>
                  <a:pt x="3456383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12159" y="1950740"/>
            <a:ext cx="3456383" cy="360040"/>
          </a:xfrm>
          <a:custGeom>
            <a:avLst/>
            <a:gdLst/>
            <a:ahLst/>
            <a:cxnLst/>
            <a:rect l="l" t="t" r="r" b="b"/>
            <a:pathLst>
              <a:path w="3456383" h="360040">
                <a:moveTo>
                  <a:pt x="0" y="0"/>
                </a:moveTo>
                <a:lnTo>
                  <a:pt x="3456383" y="0"/>
                </a:lnTo>
                <a:lnTo>
                  <a:pt x="3456383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5875" y="1962552"/>
            <a:ext cx="2877820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Payload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from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upper-layer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12159" y="2670820"/>
            <a:ext cx="2109190" cy="360039"/>
          </a:xfrm>
          <a:custGeom>
            <a:avLst/>
            <a:gdLst/>
            <a:ahLst/>
            <a:cxnLst/>
            <a:rect l="l" t="t" r="r" b="b"/>
            <a:pathLst>
              <a:path w="2109190" h="360039">
                <a:moveTo>
                  <a:pt x="0" y="0"/>
                </a:moveTo>
                <a:lnTo>
                  <a:pt x="2109190" y="0"/>
                </a:lnTo>
                <a:lnTo>
                  <a:pt x="2109190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12159" y="2670820"/>
            <a:ext cx="2109191" cy="360039"/>
          </a:xfrm>
          <a:custGeom>
            <a:avLst/>
            <a:gdLst/>
            <a:ahLst/>
            <a:cxnLst/>
            <a:rect l="l" t="t" r="r" b="b"/>
            <a:pathLst>
              <a:path w="2109191" h="360039">
                <a:moveTo>
                  <a:pt x="0" y="0"/>
                </a:moveTo>
                <a:lnTo>
                  <a:pt x="2109191" y="0"/>
                </a:lnTo>
                <a:lnTo>
                  <a:pt x="2109191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99890" y="2682632"/>
            <a:ext cx="1112520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Arial"/>
                <a:cs typeface="Arial"/>
              </a:rPr>
              <a:t>Fragmen</a:t>
            </a:r>
            <a:r>
              <a:rPr sz="2000" spc="-10" dirty="0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33592" y="2682632"/>
            <a:ext cx="279400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21150" y="5119091"/>
            <a:ext cx="1512168" cy="360039"/>
          </a:xfrm>
          <a:custGeom>
            <a:avLst/>
            <a:gdLst/>
            <a:ahLst/>
            <a:cxnLst/>
            <a:rect l="l" t="t" r="r" b="b"/>
            <a:pathLst>
              <a:path w="1512168" h="360039">
                <a:moveTo>
                  <a:pt x="0" y="0"/>
                </a:moveTo>
                <a:lnTo>
                  <a:pt x="1512168" y="0"/>
                </a:lnTo>
                <a:lnTo>
                  <a:pt x="1512168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21150" y="5119091"/>
            <a:ext cx="1512167" cy="360039"/>
          </a:xfrm>
          <a:custGeom>
            <a:avLst/>
            <a:gdLst/>
            <a:ahLst/>
            <a:cxnLst/>
            <a:rect l="l" t="t" r="r" b="b"/>
            <a:pathLst>
              <a:path w="1512167" h="360039">
                <a:moveTo>
                  <a:pt x="0" y="0"/>
                </a:moveTo>
                <a:lnTo>
                  <a:pt x="1512167" y="0"/>
                </a:lnTo>
                <a:lnTo>
                  <a:pt x="1512167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90083" y="3206814"/>
            <a:ext cx="1749151" cy="360039"/>
          </a:xfrm>
          <a:custGeom>
            <a:avLst/>
            <a:gdLst/>
            <a:ahLst/>
            <a:cxnLst/>
            <a:rect l="l" t="t" r="r" b="b"/>
            <a:pathLst>
              <a:path w="1749151" h="360039">
                <a:moveTo>
                  <a:pt x="0" y="0"/>
                </a:moveTo>
                <a:lnTo>
                  <a:pt x="1749151" y="0"/>
                </a:lnTo>
                <a:lnTo>
                  <a:pt x="1749151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90082" y="3206814"/>
            <a:ext cx="1749151" cy="360039"/>
          </a:xfrm>
          <a:custGeom>
            <a:avLst/>
            <a:gdLst/>
            <a:ahLst/>
            <a:cxnLst/>
            <a:rect l="l" t="t" r="r" b="b"/>
            <a:pathLst>
              <a:path w="1749151" h="360039">
                <a:moveTo>
                  <a:pt x="0" y="0"/>
                </a:moveTo>
                <a:lnTo>
                  <a:pt x="1749151" y="0"/>
                </a:lnTo>
                <a:lnTo>
                  <a:pt x="1749151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12159" y="3854885"/>
            <a:ext cx="2109190" cy="360039"/>
          </a:xfrm>
          <a:custGeom>
            <a:avLst/>
            <a:gdLst/>
            <a:ahLst/>
            <a:cxnLst/>
            <a:rect l="l" t="t" r="r" b="b"/>
            <a:pathLst>
              <a:path w="2109190" h="360039">
                <a:moveTo>
                  <a:pt x="0" y="0"/>
                </a:moveTo>
                <a:lnTo>
                  <a:pt x="2109190" y="0"/>
                </a:lnTo>
                <a:lnTo>
                  <a:pt x="2109190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12159" y="3854885"/>
            <a:ext cx="2109191" cy="360039"/>
          </a:xfrm>
          <a:custGeom>
            <a:avLst/>
            <a:gdLst/>
            <a:ahLst/>
            <a:cxnLst/>
            <a:rect l="l" t="t" r="r" b="b"/>
            <a:pathLst>
              <a:path w="2109191" h="360039">
                <a:moveTo>
                  <a:pt x="0" y="0"/>
                </a:moveTo>
                <a:lnTo>
                  <a:pt x="2109191" y="0"/>
                </a:lnTo>
                <a:lnTo>
                  <a:pt x="2109191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553399" y="3818756"/>
            <a:ext cx="792088" cy="400109"/>
          </a:xfrm>
          <a:custGeom>
            <a:avLst/>
            <a:gdLst/>
            <a:ahLst/>
            <a:cxnLst/>
            <a:rect l="l" t="t" r="r" b="b"/>
            <a:pathLst>
              <a:path w="792088" h="400109">
                <a:moveTo>
                  <a:pt x="0" y="0"/>
                </a:moveTo>
                <a:lnTo>
                  <a:pt x="792088" y="0"/>
                </a:lnTo>
                <a:lnTo>
                  <a:pt x="792088" y="400109"/>
                </a:lnTo>
                <a:lnTo>
                  <a:pt x="0" y="40010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33119" y="4502957"/>
            <a:ext cx="2109190" cy="360039"/>
          </a:xfrm>
          <a:custGeom>
            <a:avLst/>
            <a:gdLst/>
            <a:ahLst/>
            <a:cxnLst/>
            <a:rect l="l" t="t" r="r" b="b"/>
            <a:pathLst>
              <a:path w="2109190" h="360039">
                <a:moveTo>
                  <a:pt x="0" y="0"/>
                </a:moveTo>
                <a:lnTo>
                  <a:pt x="2109190" y="0"/>
                </a:lnTo>
                <a:lnTo>
                  <a:pt x="2109190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33119" y="4502957"/>
            <a:ext cx="2109191" cy="360039"/>
          </a:xfrm>
          <a:custGeom>
            <a:avLst/>
            <a:gdLst/>
            <a:ahLst/>
            <a:cxnLst/>
            <a:rect l="l" t="t" r="r" b="b"/>
            <a:pathLst>
              <a:path w="2109191" h="360039">
                <a:moveTo>
                  <a:pt x="0" y="0"/>
                </a:moveTo>
                <a:lnTo>
                  <a:pt x="2109191" y="0"/>
                </a:lnTo>
                <a:lnTo>
                  <a:pt x="2109191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146750" y="4504928"/>
            <a:ext cx="792087" cy="353942"/>
          </a:xfrm>
          <a:custGeom>
            <a:avLst/>
            <a:gdLst/>
            <a:ahLst/>
            <a:cxnLst/>
            <a:rect l="l" t="t" r="r" b="b"/>
            <a:pathLst>
              <a:path w="792087" h="353942">
                <a:moveTo>
                  <a:pt x="0" y="0"/>
                </a:moveTo>
                <a:lnTo>
                  <a:pt x="792087" y="0"/>
                </a:lnTo>
                <a:lnTo>
                  <a:pt x="792087" y="353942"/>
                </a:lnTo>
                <a:lnTo>
                  <a:pt x="0" y="35394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05127" y="5583077"/>
            <a:ext cx="2376262" cy="360040"/>
          </a:xfrm>
          <a:custGeom>
            <a:avLst/>
            <a:gdLst/>
            <a:ahLst/>
            <a:cxnLst/>
            <a:rect l="l" t="t" r="r" b="b"/>
            <a:pathLst>
              <a:path w="2376262" h="360040">
                <a:moveTo>
                  <a:pt x="0" y="0"/>
                </a:moveTo>
                <a:lnTo>
                  <a:pt x="2376262" y="0"/>
                </a:lnTo>
                <a:lnTo>
                  <a:pt x="2376262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05127" y="5583077"/>
            <a:ext cx="2376263" cy="360039"/>
          </a:xfrm>
          <a:custGeom>
            <a:avLst/>
            <a:gdLst/>
            <a:ahLst/>
            <a:cxnLst/>
            <a:rect l="l" t="t" r="r" b="b"/>
            <a:pathLst>
              <a:path w="2376263" h="360039">
                <a:moveTo>
                  <a:pt x="0" y="0"/>
                </a:moveTo>
                <a:lnTo>
                  <a:pt x="2376263" y="0"/>
                </a:lnTo>
                <a:lnTo>
                  <a:pt x="2376263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33119" y="6159141"/>
            <a:ext cx="2109190" cy="360040"/>
          </a:xfrm>
          <a:custGeom>
            <a:avLst/>
            <a:gdLst/>
            <a:ahLst/>
            <a:cxnLst/>
            <a:rect l="l" t="t" r="r" b="b"/>
            <a:pathLst>
              <a:path w="2109190" h="360040">
                <a:moveTo>
                  <a:pt x="0" y="0"/>
                </a:moveTo>
                <a:lnTo>
                  <a:pt x="2109190" y="0"/>
                </a:lnTo>
                <a:lnTo>
                  <a:pt x="2109190" y="360040"/>
                </a:lnTo>
                <a:lnTo>
                  <a:pt x="0" y="360040"/>
                </a:lnTo>
                <a:lnTo>
                  <a:pt x="0" y="0"/>
                </a:lnTo>
                <a:close/>
              </a:path>
            </a:pathLst>
          </a:custGeom>
          <a:solidFill>
            <a:srgbClr val="C3D2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33119" y="6159141"/>
            <a:ext cx="2109191" cy="360039"/>
          </a:xfrm>
          <a:custGeom>
            <a:avLst/>
            <a:gdLst/>
            <a:ahLst/>
            <a:cxnLst/>
            <a:rect l="l" t="t" r="r" b="b"/>
            <a:pathLst>
              <a:path w="2109191" h="360039">
                <a:moveTo>
                  <a:pt x="0" y="0"/>
                </a:moveTo>
                <a:lnTo>
                  <a:pt x="2109191" y="0"/>
                </a:lnTo>
                <a:lnTo>
                  <a:pt x="2109191" y="360039"/>
                </a:lnTo>
                <a:lnTo>
                  <a:pt x="0" y="3600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46750" y="6161111"/>
            <a:ext cx="1126727" cy="353942"/>
          </a:xfrm>
          <a:custGeom>
            <a:avLst/>
            <a:gdLst/>
            <a:ahLst/>
            <a:cxnLst/>
            <a:rect l="l" t="t" r="r" b="b"/>
            <a:pathLst>
              <a:path w="1126727" h="353942">
                <a:moveTo>
                  <a:pt x="0" y="0"/>
                </a:moveTo>
                <a:lnTo>
                  <a:pt x="1126727" y="0"/>
                </a:lnTo>
                <a:lnTo>
                  <a:pt x="1126727" y="353942"/>
                </a:lnTo>
                <a:lnTo>
                  <a:pt x="0" y="35394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158467" y="4971798"/>
            <a:ext cx="2926080" cy="15246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695960" indent="313055">
              <a:lnSpc>
                <a:spcPct val="152200"/>
              </a:lnSpc>
            </a:pPr>
            <a:r>
              <a:rPr sz="2000" dirty="0">
                <a:latin typeface="Arial"/>
                <a:cs typeface="Arial"/>
              </a:rPr>
              <a:t>Encryp</a:t>
            </a:r>
            <a:r>
              <a:rPr sz="2000" spc="-10" dirty="0">
                <a:latin typeface="Arial"/>
                <a:cs typeface="Arial"/>
              </a:rPr>
              <a:t>tion Encrypted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fragment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35"/>
              </a:spcBef>
            </a:pPr>
            <a:endParaRPr sz="1100"/>
          </a:p>
          <a:p>
            <a:pPr marL="274955">
              <a:lnSpc>
                <a:spcPct val="100000"/>
              </a:lnSpc>
              <a:tabLst>
                <a:tab pos="2079625" algn="l"/>
              </a:tabLst>
            </a:pPr>
            <a:r>
              <a:rPr sz="2000" spc="-15" dirty="0">
                <a:latin typeface="Arial"/>
                <a:cs typeface="Arial"/>
              </a:rPr>
              <a:t>TLS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payload	</a:t>
            </a:r>
            <a:r>
              <a:rPr sz="3000" spc="0" baseline="2777" dirty="0">
                <a:latin typeface="Arial"/>
                <a:cs typeface="Arial"/>
              </a:rPr>
              <a:t>Header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10990" y="3218627"/>
            <a:ext cx="1522095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Compression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99890" y="3866698"/>
            <a:ext cx="1465580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Compressed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32138" y="3864476"/>
            <a:ext cx="618490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Hash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20851" y="4514770"/>
            <a:ext cx="1465580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Compressed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25491" y="4504928"/>
            <a:ext cx="589915" cy="325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MAC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97215" y="2348880"/>
            <a:ext cx="0" cy="262926"/>
          </a:xfrm>
          <a:custGeom>
            <a:avLst/>
            <a:gdLst/>
            <a:ahLst/>
            <a:cxnLst/>
            <a:rect l="l" t="t" r="r" b="b"/>
            <a:pathLst>
              <a:path h="262926">
                <a:moveTo>
                  <a:pt x="0" y="0"/>
                </a:moveTo>
                <a:lnTo>
                  <a:pt x="0" y="2629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38261" y="2521102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3" y="0"/>
                </a:moveTo>
                <a:lnTo>
                  <a:pt x="2045" y="7067"/>
                </a:lnTo>
                <a:lnTo>
                  <a:pt x="0" y="14845"/>
                </a:lnTo>
                <a:lnTo>
                  <a:pt x="58953" y="115909"/>
                </a:lnTo>
                <a:lnTo>
                  <a:pt x="88359" y="65498"/>
                </a:lnTo>
                <a:lnTo>
                  <a:pt x="58953" y="65498"/>
                </a:lnTo>
                <a:lnTo>
                  <a:pt x="21939" y="2045"/>
                </a:lnTo>
                <a:lnTo>
                  <a:pt x="14163" y="0"/>
                </a:lnTo>
                <a:close/>
              </a:path>
              <a:path w="117908" h="115909">
                <a:moveTo>
                  <a:pt x="103743" y="0"/>
                </a:moveTo>
                <a:lnTo>
                  <a:pt x="95967" y="2045"/>
                </a:lnTo>
                <a:lnTo>
                  <a:pt x="58953" y="65498"/>
                </a:lnTo>
                <a:lnTo>
                  <a:pt x="88359" y="65498"/>
                </a:lnTo>
                <a:lnTo>
                  <a:pt x="117908" y="14845"/>
                </a:lnTo>
                <a:lnTo>
                  <a:pt x="115860" y="7067"/>
                </a:lnTo>
                <a:lnTo>
                  <a:pt x="103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18424" y="2971552"/>
            <a:ext cx="0" cy="262926"/>
          </a:xfrm>
          <a:custGeom>
            <a:avLst/>
            <a:gdLst/>
            <a:ahLst/>
            <a:cxnLst/>
            <a:rect l="l" t="t" r="r" b="b"/>
            <a:pathLst>
              <a:path h="262926">
                <a:moveTo>
                  <a:pt x="0" y="0"/>
                </a:moveTo>
                <a:lnTo>
                  <a:pt x="0" y="2629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59469" y="3143774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4" y="0"/>
                </a:moveTo>
                <a:lnTo>
                  <a:pt x="2047" y="7067"/>
                </a:lnTo>
                <a:lnTo>
                  <a:pt x="0" y="14845"/>
                </a:lnTo>
                <a:lnTo>
                  <a:pt x="58954" y="115909"/>
                </a:lnTo>
                <a:lnTo>
                  <a:pt x="88360" y="65498"/>
                </a:lnTo>
                <a:lnTo>
                  <a:pt x="58954" y="65498"/>
                </a:lnTo>
                <a:lnTo>
                  <a:pt x="21940" y="2045"/>
                </a:lnTo>
                <a:lnTo>
                  <a:pt x="14164" y="0"/>
                </a:lnTo>
                <a:close/>
              </a:path>
              <a:path w="117908" h="115909">
                <a:moveTo>
                  <a:pt x="103743" y="0"/>
                </a:moveTo>
                <a:lnTo>
                  <a:pt x="95967" y="2045"/>
                </a:lnTo>
                <a:lnTo>
                  <a:pt x="58954" y="65498"/>
                </a:lnTo>
                <a:lnTo>
                  <a:pt x="88360" y="65498"/>
                </a:lnTo>
                <a:lnTo>
                  <a:pt x="117908" y="14845"/>
                </a:lnTo>
                <a:lnTo>
                  <a:pt x="115860" y="7067"/>
                </a:lnTo>
                <a:lnTo>
                  <a:pt x="103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97215" y="3573016"/>
            <a:ext cx="0" cy="262926"/>
          </a:xfrm>
          <a:custGeom>
            <a:avLst/>
            <a:gdLst/>
            <a:ahLst/>
            <a:cxnLst/>
            <a:rect l="l" t="t" r="r" b="b"/>
            <a:pathLst>
              <a:path h="262926">
                <a:moveTo>
                  <a:pt x="0" y="0"/>
                </a:moveTo>
                <a:lnTo>
                  <a:pt x="0" y="2629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38261" y="3745238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3" y="0"/>
                </a:moveTo>
                <a:lnTo>
                  <a:pt x="2045" y="7067"/>
                </a:lnTo>
                <a:lnTo>
                  <a:pt x="0" y="14845"/>
                </a:lnTo>
                <a:lnTo>
                  <a:pt x="58953" y="115909"/>
                </a:lnTo>
                <a:lnTo>
                  <a:pt x="88359" y="65498"/>
                </a:lnTo>
                <a:lnTo>
                  <a:pt x="58953" y="65498"/>
                </a:lnTo>
                <a:lnTo>
                  <a:pt x="21939" y="2045"/>
                </a:lnTo>
                <a:lnTo>
                  <a:pt x="14163" y="0"/>
                </a:lnTo>
                <a:close/>
              </a:path>
              <a:path w="117908" h="115909">
                <a:moveTo>
                  <a:pt x="103743" y="0"/>
                </a:moveTo>
                <a:lnTo>
                  <a:pt x="95967" y="2045"/>
                </a:lnTo>
                <a:lnTo>
                  <a:pt x="58953" y="65498"/>
                </a:lnTo>
                <a:lnTo>
                  <a:pt x="88359" y="65498"/>
                </a:lnTo>
                <a:lnTo>
                  <a:pt x="117908" y="14845"/>
                </a:lnTo>
                <a:lnTo>
                  <a:pt x="115860" y="7067"/>
                </a:lnTo>
                <a:lnTo>
                  <a:pt x="103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897215" y="4221087"/>
            <a:ext cx="0" cy="262926"/>
          </a:xfrm>
          <a:custGeom>
            <a:avLst/>
            <a:gdLst/>
            <a:ahLst/>
            <a:cxnLst/>
            <a:rect l="l" t="t" r="r" b="b"/>
            <a:pathLst>
              <a:path h="262926">
                <a:moveTo>
                  <a:pt x="0" y="0"/>
                </a:moveTo>
                <a:lnTo>
                  <a:pt x="0" y="2629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838261" y="4393309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3" y="0"/>
                </a:moveTo>
                <a:lnTo>
                  <a:pt x="2045" y="7068"/>
                </a:lnTo>
                <a:lnTo>
                  <a:pt x="0" y="14845"/>
                </a:lnTo>
                <a:lnTo>
                  <a:pt x="58953" y="115909"/>
                </a:lnTo>
                <a:lnTo>
                  <a:pt x="88358" y="65500"/>
                </a:lnTo>
                <a:lnTo>
                  <a:pt x="58953" y="65500"/>
                </a:lnTo>
                <a:lnTo>
                  <a:pt x="21939" y="2047"/>
                </a:lnTo>
                <a:lnTo>
                  <a:pt x="14163" y="0"/>
                </a:lnTo>
                <a:close/>
              </a:path>
              <a:path w="117908" h="115909">
                <a:moveTo>
                  <a:pt x="103743" y="0"/>
                </a:moveTo>
                <a:lnTo>
                  <a:pt x="95967" y="2047"/>
                </a:lnTo>
                <a:lnTo>
                  <a:pt x="58953" y="65500"/>
                </a:lnTo>
                <a:lnTo>
                  <a:pt x="88358" y="65500"/>
                </a:lnTo>
                <a:lnTo>
                  <a:pt x="117908" y="14845"/>
                </a:lnTo>
                <a:lnTo>
                  <a:pt x="115860" y="7068"/>
                </a:lnTo>
                <a:lnTo>
                  <a:pt x="103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897215" y="4869160"/>
            <a:ext cx="0" cy="262926"/>
          </a:xfrm>
          <a:custGeom>
            <a:avLst/>
            <a:gdLst/>
            <a:ahLst/>
            <a:cxnLst/>
            <a:rect l="l" t="t" r="r" b="b"/>
            <a:pathLst>
              <a:path h="262926">
                <a:moveTo>
                  <a:pt x="0" y="0"/>
                </a:moveTo>
                <a:lnTo>
                  <a:pt x="0" y="2629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838261" y="5041382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3" y="0"/>
                </a:moveTo>
                <a:lnTo>
                  <a:pt x="2045" y="7067"/>
                </a:lnTo>
                <a:lnTo>
                  <a:pt x="0" y="14843"/>
                </a:lnTo>
                <a:lnTo>
                  <a:pt x="58953" y="115909"/>
                </a:lnTo>
                <a:lnTo>
                  <a:pt x="88359" y="65498"/>
                </a:lnTo>
                <a:lnTo>
                  <a:pt x="58953" y="65498"/>
                </a:lnTo>
                <a:lnTo>
                  <a:pt x="21939" y="2045"/>
                </a:lnTo>
                <a:lnTo>
                  <a:pt x="14163" y="0"/>
                </a:lnTo>
                <a:close/>
              </a:path>
              <a:path w="117908" h="115909">
                <a:moveTo>
                  <a:pt x="103743" y="0"/>
                </a:moveTo>
                <a:lnTo>
                  <a:pt x="95967" y="2045"/>
                </a:lnTo>
                <a:lnTo>
                  <a:pt x="58953" y="65498"/>
                </a:lnTo>
                <a:lnTo>
                  <a:pt x="88359" y="65498"/>
                </a:lnTo>
                <a:lnTo>
                  <a:pt x="117908" y="14843"/>
                </a:lnTo>
                <a:lnTo>
                  <a:pt x="115860" y="7067"/>
                </a:lnTo>
                <a:lnTo>
                  <a:pt x="103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905724" y="5445224"/>
            <a:ext cx="0" cy="190695"/>
          </a:xfrm>
          <a:custGeom>
            <a:avLst/>
            <a:gdLst/>
            <a:ahLst/>
            <a:cxnLst/>
            <a:rect l="l" t="t" r="r" b="b"/>
            <a:pathLst>
              <a:path h="190695">
                <a:moveTo>
                  <a:pt x="0" y="0"/>
                </a:moveTo>
                <a:lnTo>
                  <a:pt x="0" y="190695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846769" y="5545215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4" y="0"/>
                </a:moveTo>
                <a:lnTo>
                  <a:pt x="2047" y="7068"/>
                </a:lnTo>
                <a:lnTo>
                  <a:pt x="0" y="14845"/>
                </a:lnTo>
                <a:lnTo>
                  <a:pt x="58954" y="115909"/>
                </a:lnTo>
                <a:lnTo>
                  <a:pt x="88360" y="65499"/>
                </a:lnTo>
                <a:lnTo>
                  <a:pt x="58954" y="65499"/>
                </a:lnTo>
                <a:lnTo>
                  <a:pt x="21940" y="2045"/>
                </a:lnTo>
                <a:lnTo>
                  <a:pt x="14164" y="0"/>
                </a:lnTo>
                <a:close/>
              </a:path>
              <a:path w="117908" h="115909">
                <a:moveTo>
                  <a:pt x="103743" y="0"/>
                </a:moveTo>
                <a:lnTo>
                  <a:pt x="95967" y="2045"/>
                </a:lnTo>
                <a:lnTo>
                  <a:pt x="58954" y="65499"/>
                </a:lnTo>
                <a:lnTo>
                  <a:pt x="88360" y="65499"/>
                </a:lnTo>
                <a:lnTo>
                  <a:pt x="117908" y="14845"/>
                </a:lnTo>
                <a:lnTo>
                  <a:pt x="115860" y="7068"/>
                </a:lnTo>
                <a:lnTo>
                  <a:pt x="103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897215" y="5877272"/>
            <a:ext cx="0" cy="262926"/>
          </a:xfrm>
          <a:custGeom>
            <a:avLst/>
            <a:gdLst/>
            <a:ahLst/>
            <a:cxnLst/>
            <a:rect l="l" t="t" r="r" b="b"/>
            <a:pathLst>
              <a:path h="262926">
                <a:moveTo>
                  <a:pt x="0" y="0"/>
                </a:moveTo>
                <a:lnTo>
                  <a:pt x="0" y="2629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838261" y="6049494"/>
            <a:ext cx="117908" cy="115908"/>
          </a:xfrm>
          <a:custGeom>
            <a:avLst/>
            <a:gdLst/>
            <a:ahLst/>
            <a:cxnLst/>
            <a:rect l="l" t="t" r="r" b="b"/>
            <a:pathLst>
              <a:path w="117908" h="115908">
                <a:moveTo>
                  <a:pt x="14163" y="0"/>
                </a:moveTo>
                <a:lnTo>
                  <a:pt x="2045" y="7068"/>
                </a:lnTo>
                <a:lnTo>
                  <a:pt x="0" y="14844"/>
                </a:lnTo>
                <a:lnTo>
                  <a:pt x="58953" y="115908"/>
                </a:lnTo>
                <a:lnTo>
                  <a:pt x="88359" y="65499"/>
                </a:lnTo>
                <a:lnTo>
                  <a:pt x="58953" y="65499"/>
                </a:lnTo>
                <a:lnTo>
                  <a:pt x="21939" y="2046"/>
                </a:lnTo>
                <a:lnTo>
                  <a:pt x="14163" y="0"/>
                </a:lnTo>
                <a:close/>
              </a:path>
              <a:path w="117908" h="115908">
                <a:moveTo>
                  <a:pt x="103743" y="0"/>
                </a:moveTo>
                <a:lnTo>
                  <a:pt x="95967" y="2046"/>
                </a:lnTo>
                <a:lnTo>
                  <a:pt x="58953" y="65499"/>
                </a:lnTo>
                <a:lnTo>
                  <a:pt x="88359" y="65499"/>
                </a:lnTo>
                <a:lnTo>
                  <a:pt x="117908" y="14844"/>
                </a:lnTo>
                <a:lnTo>
                  <a:pt x="115860" y="7068"/>
                </a:lnTo>
                <a:lnTo>
                  <a:pt x="103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97550" y="4026272"/>
            <a:ext cx="262926" cy="0"/>
          </a:xfrm>
          <a:custGeom>
            <a:avLst/>
            <a:gdLst/>
            <a:ahLst/>
            <a:cxnLst/>
            <a:rect l="l" t="t" r="r" b="b"/>
            <a:pathLst>
              <a:path w="262926">
                <a:moveTo>
                  <a:pt x="0" y="0"/>
                </a:moveTo>
                <a:lnTo>
                  <a:pt x="26292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369773" y="3967318"/>
            <a:ext cx="115907" cy="117908"/>
          </a:xfrm>
          <a:custGeom>
            <a:avLst/>
            <a:gdLst/>
            <a:ahLst/>
            <a:cxnLst/>
            <a:rect l="l" t="t" r="r" b="b"/>
            <a:pathLst>
              <a:path w="115907" h="117908">
                <a:moveTo>
                  <a:pt x="14843" y="0"/>
                </a:moveTo>
                <a:lnTo>
                  <a:pt x="7067" y="2045"/>
                </a:lnTo>
                <a:lnTo>
                  <a:pt x="0" y="14163"/>
                </a:lnTo>
                <a:lnTo>
                  <a:pt x="2045" y="21939"/>
                </a:lnTo>
                <a:lnTo>
                  <a:pt x="65498" y="58953"/>
                </a:lnTo>
                <a:lnTo>
                  <a:pt x="2045" y="95967"/>
                </a:lnTo>
                <a:lnTo>
                  <a:pt x="0" y="103743"/>
                </a:lnTo>
                <a:lnTo>
                  <a:pt x="7067" y="115860"/>
                </a:lnTo>
                <a:lnTo>
                  <a:pt x="14843" y="117908"/>
                </a:lnTo>
                <a:lnTo>
                  <a:pt x="115907" y="58953"/>
                </a:lnTo>
                <a:lnTo>
                  <a:pt x="14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739831" y="4212580"/>
            <a:ext cx="0" cy="262926"/>
          </a:xfrm>
          <a:custGeom>
            <a:avLst/>
            <a:gdLst/>
            <a:ahLst/>
            <a:cxnLst/>
            <a:rect l="l" t="t" r="r" b="b"/>
            <a:pathLst>
              <a:path h="262926">
                <a:moveTo>
                  <a:pt x="0" y="0"/>
                </a:moveTo>
                <a:lnTo>
                  <a:pt x="0" y="2629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680877" y="4384802"/>
            <a:ext cx="117908" cy="115909"/>
          </a:xfrm>
          <a:custGeom>
            <a:avLst/>
            <a:gdLst/>
            <a:ahLst/>
            <a:cxnLst/>
            <a:rect l="l" t="t" r="r" b="b"/>
            <a:pathLst>
              <a:path w="117908" h="115909">
                <a:moveTo>
                  <a:pt x="14164" y="0"/>
                </a:moveTo>
                <a:lnTo>
                  <a:pt x="2047" y="7068"/>
                </a:lnTo>
                <a:lnTo>
                  <a:pt x="0" y="14845"/>
                </a:lnTo>
                <a:lnTo>
                  <a:pt x="58954" y="115909"/>
                </a:lnTo>
                <a:lnTo>
                  <a:pt x="88359" y="65500"/>
                </a:lnTo>
                <a:lnTo>
                  <a:pt x="58954" y="65500"/>
                </a:lnTo>
                <a:lnTo>
                  <a:pt x="21940" y="2047"/>
                </a:lnTo>
                <a:lnTo>
                  <a:pt x="14164" y="0"/>
                </a:lnTo>
                <a:close/>
              </a:path>
              <a:path w="117908" h="115909">
                <a:moveTo>
                  <a:pt x="103745" y="0"/>
                </a:moveTo>
                <a:lnTo>
                  <a:pt x="95967" y="2047"/>
                </a:lnTo>
                <a:lnTo>
                  <a:pt x="58954" y="65500"/>
                </a:lnTo>
                <a:lnTo>
                  <a:pt x="88359" y="65500"/>
                </a:lnTo>
                <a:lnTo>
                  <a:pt x="117908" y="14845"/>
                </a:lnTo>
                <a:lnTo>
                  <a:pt x="115862" y="7068"/>
                </a:lnTo>
                <a:lnTo>
                  <a:pt x="1037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913437" y="3501009"/>
            <a:ext cx="0" cy="262926"/>
          </a:xfrm>
          <a:custGeom>
            <a:avLst/>
            <a:gdLst/>
            <a:ahLst/>
            <a:cxnLst/>
            <a:rect l="l" t="t" r="r" b="b"/>
            <a:pathLst>
              <a:path h="262926">
                <a:moveTo>
                  <a:pt x="0" y="0"/>
                </a:moveTo>
                <a:lnTo>
                  <a:pt x="0" y="26292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854484" y="3673231"/>
            <a:ext cx="117906" cy="115909"/>
          </a:xfrm>
          <a:custGeom>
            <a:avLst/>
            <a:gdLst/>
            <a:ahLst/>
            <a:cxnLst/>
            <a:rect l="l" t="t" r="r" b="b"/>
            <a:pathLst>
              <a:path w="117906" h="115909">
                <a:moveTo>
                  <a:pt x="14163" y="0"/>
                </a:moveTo>
                <a:lnTo>
                  <a:pt x="2045" y="7067"/>
                </a:lnTo>
                <a:lnTo>
                  <a:pt x="0" y="14843"/>
                </a:lnTo>
                <a:lnTo>
                  <a:pt x="58953" y="115909"/>
                </a:lnTo>
                <a:lnTo>
                  <a:pt x="88358" y="65498"/>
                </a:lnTo>
                <a:lnTo>
                  <a:pt x="58953" y="65498"/>
                </a:lnTo>
                <a:lnTo>
                  <a:pt x="21939" y="2045"/>
                </a:lnTo>
                <a:lnTo>
                  <a:pt x="14163" y="0"/>
                </a:lnTo>
                <a:close/>
              </a:path>
              <a:path w="117906" h="115909">
                <a:moveTo>
                  <a:pt x="103743" y="0"/>
                </a:moveTo>
                <a:lnTo>
                  <a:pt x="95967" y="2045"/>
                </a:lnTo>
                <a:lnTo>
                  <a:pt x="58953" y="65498"/>
                </a:lnTo>
                <a:lnTo>
                  <a:pt x="88358" y="65498"/>
                </a:lnTo>
                <a:lnTo>
                  <a:pt x="117906" y="14843"/>
                </a:lnTo>
                <a:lnTo>
                  <a:pt x="115860" y="7067"/>
                </a:lnTo>
                <a:lnTo>
                  <a:pt x="103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998773" y="3474720"/>
            <a:ext cx="821690" cy="200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MAC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0" dirty="0">
                <a:latin typeface="Arial"/>
                <a:cs typeface="Arial"/>
              </a:rPr>
              <a:t>secre</a:t>
            </a:r>
            <a:r>
              <a:rPr sz="1200" spc="-5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16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5236" y="3855079"/>
            <a:ext cx="5031105" cy="11010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320165" marR="12700" indent="-1308100">
              <a:lnSpc>
                <a:spcPts val="4300"/>
              </a:lnSpc>
            </a:pPr>
            <a:r>
              <a:rPr sz="3600" b="1" dirty="0">
                <a:latin typeface="Arial"/>
                <a:cs typeface="Arial"/>
              </a:rPr>
              <a:t>A</a:t>
            </a:r>
            <a:r>
              <a:rPr sz="3600" b="1" spc="-15" dirty="0">
                <a:latin typeface="Arial"/>
                <a:cs typeface="Arial"/>
              </a:rPr>
              <a:t>l</a:t>
            </a:r>
            <a:r>
              <a:rPr sz="3600" b="1" spc="-10" dirty="0">
                <a:latin typeface="Arial"/>
                <a:cs typeface="Arial"/>
              </a:rPr>
              <a:t>l</a:t>
            </a:r>
            <a:r>
              <a:rPr sz="3600" b="1" spc="-5" dirty="0">
                <a:latin typeface="Arial"/>
                <a:cs typeface="Arial"/>
              </a:rPr>
              <a:t> </a:t>
            </a:r>
            <a:r>
              <a:rPr sz="3600" b="1" spc="0" dirty="0">
                <a:latin typeface="Arial"/>
                <a:cs typeface="Arial"/>
              </a:rPr>
              <a:t>e</a:t>
            </a:r>
            <a:r>
              <a:rPr sz="3600" b="1" spc="-30" dirty="0">
                <a:latin typeface="Arial"/>
                <a:cs typeface="Arial"/>
              </a:rPr>
              <a:t>n</a:t>
            </a:r>
            <a:r>
              <a:rPr sz="3600" b="1" spc="0" dirty="0">
                <a:latin typeface="Arial"/>
                <a:cs typeface="Arial"/>
              </a:rPr>
              <a:t>cry</a:t>
            </a:r>
            <a:r>
              <a:rPr sz="3600" b="1" spc="-30" dirty="0">
                <a:latin typeface="Arial"/>
                <a:cs typeface="Arial"/>
              </a:rPr>
              <a:t>p</a:t>
            </a:r>
            <a:r>
              <a:rPr sz="3600" b="1" spc="0" dirty="0">
                <a:latin typeface="Arial"/>
                <a:cs typeface="Arial"/>
              </a:rPr>
              <a:t>te</a:t>
            </a:r>
            <a:r>
              <a:rPr sz="3600" b="1" spc="-25" dirty="0">
                <a:latin typeface="Arial"/>
                <a:cs typeface="Arial"/>
              </a:rPr>
              <a:t>d</a:t>
            </a:r>
            <a:r>
              <a:rPr sz="3600" b="1" spc="-5" dirty="0">
                <a:latin typeface="Arial"/>
                <a:cs typeface="Arial"/>
              </a:rPr>
              <a:t> </a:t>
            </a:r>
            <a:r>
              <a:rPr sz="3600" b="1" spc="0" dirty="0">
                <a:latin typeface="Arial"/>
                <a:cs typeface="Arial"/>
              </a:rPr>
              <a:t>exce</a:t>
            </a:r>
            <a:r>
              <a:rPr sz="3600" b="1" spc="-30" dirty="0">
                <a:latin typeface="Arial"/>
                <a:cs typeface="Arial"/>
              </a:rPr>
              <a:t>p</a:t>
            </a:r>
            <a:r>
              <a:rPr sz="3600" b="1" spc="0" dirty="0">
                <a:latin typeface="Arial"/>
                <a:cs typeface="Arial"/>
              </a:rPr>
              <a:t>te</a:t>
            </a:r>
            <a:r>
              <a:rPr sz="3600" b="1" spc="-25" dirty="0">
                <a:latin typeface="Arial"/>
                <a:cs typeface="Arial"/>
              </a:rPr>
              <a:t>d</a:t>
            </a:r>
            <a:r>
              <a:rPr sz="3600" b="1" spc="-15" dirty="0">
                <a:latin typeface="Arial"/>
                <a:cs typeface="Arial"/>
              </a:rPr>
              <a:t> t</a:t>
            </a:r>
            <a:r>
              <a:rPr sz="3600" b="1" spc="-30" dirty="0">
                <a:latin typeface="Arial"/>
                <a:cs typeface="Arial"/>
              </a:rPr>
              <a:t>h</a:t>
            </a:r>
            <a:r>
              <a:rPr sz="3600" b="1" spc="0" dirty="0">
                <a:latin typeface="Arial"/>
                <a:cs typeface="Arial"/>
              </a:rPr>
              <a:t>e</a:t>
            </a:r>
            <a:r>
              <a:rPr sz="3600" b="1" spc="-5" dirty="0">
                <a:latin typeface="Arial"/>
                <a:cs typeface="Arial"/>
              </a:rPr>
              <a:t> </a:t>
            </a:r>
            <a:r>
              <a:rPr sz="3600" b="1" spc="-30" dirty="0">
                <a:latin typeface="Arial"/>
                <a:cs typeface="Arial"/>
              </a:rPr>
              <a:t>h</a:t>
            </a:r>
            <a:r>
              <a:rPr sz="3600" b="1" spc="0" dirty="0">
                <a:latin typeface="Arial"/>
                <a:cs typeface="Arial"/>
              </a:rPr>
              <a:t>ea</a:t>
            </a:r>
            <a:r>
              <a:rPr sz="3600" b="1" spc="-30" dirty="0">
                <a:latin typeface="Arial"/>
                <a:cs typeface="Arial"/>
              </a:rPr>
              <a:t>d</a:t>
            </a:r>
            <a:r>
              <a:rPr sz="3600" b="1" spc="0" dirty="0">
                <a:latin typeface="Arial"/>
                <a:cs typeface="Arial"/>
              </a:rPr>
              <a:t>er!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542415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Examples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o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use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SSL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/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S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17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1094011"/>
            <a:ext cx="9037320" cy="3119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17500" marR="1981835" indent="-304800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openssl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s_clien</a:t>
            </a:r>
            <a:r>
              <a:rPr sz="3000" spc="-10" dirty="0">
                <a:latin typeface="Arial"/>
                <a:cs typeface="Arial"/>
              </a:rPr>
              <a:t>t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–</a:t>
            </a:r>
            <a:r>
              <a:rPr sz="3000" spc="-15" dirty="0">
                <a:latin typeface="Arial"/>
                <a:cs typeface="Arial"/>
              </a:rPr>
              <a:t>sta</a:t>
            </a:r>
            <a:r>
              <a:rPr sz="3000" spc="-10" dirty="0">
                <a:latin typeface="Arial"/>
                <a:cs typeface="Arial"/>
              </a:rPr>
              <a:t>r</a:t>
            </a:r>
            <a:r>
              <a:rPr sz="3000" spc="-15" dirty="0">
                <a:latin typeface="Arial"/>
                <a:cs typeface="Arial"/>
              </a:rPr>
              <a:t>t</a:t>
            </a:r>
            <a:r>
              <a:rPr sz="3000" spc="-10" dirty="0">
                <a:latin typeface="Arial"/>
                <a:cs typeface="Arial"/>
              </a:rPr>
              <a:t>tls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sm</a:t>
            </a:r>
            <a:r>
              <a:rPr sz="3000" spc="-1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p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–conne</a:t>
            </a:r>
            <a:r>
              <a:rPr sz="3000" spc="-15" dirty="0">
                <a:latin typeface="Arial"/>
                <a:cs typeface="Arial"/>
              </a:rPr>
              <a:t>ct</a:t>
            </a:r>
            <a:r>
              <a:rPr sz="3000" spc="-20" dirty="0">
                <a:latin typeface="Arial"/>
                <a:cs typeface="Arial"/>
              </a:rPr>
              <a:t> sm</a:t>
            </a:r>
            <a:r>
              <a:rPr sz="3000" spc="-1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p</a:t>
            </a:r>
            <a:r>
              <a:rPr sz="3000" spc="-10" dirty="0">
                <a:latin typeface="Arial"/>
                <a:cs typeface="Arial"/>
              </a:rPr>
              <a:t>.gmail.co</a:t>
            </a:r>
            <a:r>
              <a:rPr sz="3000" spc="-25" dirty="0">
                <a:latin typeface="Arial"/>
                <a:cs typeface="Arial"/>
              </a:rPr>
              <a:t>m</a:t>
            </a:r>
            <a:r>
              <a:rPr sz="3000" spc="-15" dirty="0">
                <a:latin typeface="Arial"/>
                <a:cs typeface="Arial"/>
              </a:rPr>
              <a:t>:</a:t>
            </a:r>
            <a:r>
              <a:rPr sz="3000" spc="0" dirty="0">
                <a:latin typeface="Arial"/>
                <a:cs typeface="Arial"/>
              </a:rPr>
              <a:t>587</a:t>
            </a:r>
            <a:r>
              <a:rPr sz="3000" spc="-5" dirty="0">
                <a:latin typeface="Arial"/>
                <a:cs typeface="Arial"/>
              </a:rPr>
              <a:t> –</a:t>
            </a:r>
            <a:r>
              <a:rPr sz="3000" spc="0" dirty="0">
                <a:latin typeface="Arial"/>
                <a:cs typeface="Arial"/>
              </a:rPr>
              <a:t>crl</a:t>
            </a:r>
            <a:r>
              <a:rPr sz="3000" spc="-10" dirty="0">
                <a:latin typeface="Arial"/>
                <a:cs typeface="Arial"/>
              </a:rPr>
              <a:t>f</a:t>
            </a:r>
            <a:endParaRPr sz="3000">
              <a:latin typeface="Arial"/>
              <a:cs typeface="Arial"/>
            </a:endParaRPr>
          </a:p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openssl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s_clien</a:t>
            </a:r>
            <a:r>
              <a:rPr sz="3000" spc="-10" dirty="0">
                <a:latin typeface="Arial"/>
                <a:cs typeface="Arial"/>
              </a:rPr>
              <a:t>t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–conne</a:t>
            </a:r>
            <a:r>
              <a:rPr sz="3000" spc="-15" dirty="0">
                <a:latin typeface="Arial"/>
                <a:cs typeface="Arial"/>
              </a:rPr>
              <a:t>ct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sm</a:t>
            </a:r>
            <a:r>
              <a:rPr sz="3000" spc="-1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p</a:t>
            </a:r>
            <a:r>
              <a:rPr sz="3000" spc="-10" dirty="0">
                <a:latin typeface="Arial"/>
                <a:cs typeface="Arial"/>
              </a:rPr>
              <a:t>.gmail.co</a:t>
            </a:r>
            <a:r>
              <a:rPr sz="3000" spc="-25" dirty="0">
                <a:latin typeface="Arial"/>
                <a:cs typeface="Arial"/>
              </a:rPr>
              <a:t>m</a:t>
            </a:r>
            <a:r>
              <a:rPr sz="3000" spc="-15" dirty="0">
                <a:latin typeface="Arial"/>
                <a:cs typeface="Arial"/>
              </a:rPr>
              <a:t>:</a:t>
            </a:r>
            <a:r>
              <a:rPr sz="3000" spc="0" dirty="0">
                <a:latin typeface="Arial"/>
                <a:cs typeface="Arial"/>
              </a:rPr>
              <a:t>465</a:t>
            </a:r>
            <a:r>
              <a:rPr sz="3000" spc="-5" dirty="0">
                <a:latin typeface="Arial"/>
                <a:cs typeface="Arial"/>
              </a:rPr>
              <a:t> –</a:t>
            </a:r>
            <a:r>
              <a:rPr sz="3000" spc="0" dirty="0">
                <a:latin typeface="Arial"/>
                <a:cs typeface="Arial"/>
              </a:rPr>
              <a:t>crl</a:t>
            </a:r>
            <a:r>
              <a:rPr sz="3000" spc="-10" dirty="0">
                <a:latin typeface="Arial"/>
                <a:cs typeface="Arial"/>
              </a:rPr>
              <a:t>f</a:t>
            </a:r>
            <a:endParaRPr sz="3000">
              <a:latin typeface="Arial"/>
              <a:cs typeface="Arial"/>
            </a:endParaRPr>
          </a:p>
          <a:p>
            <a:pPr>
              <a:lnSpc>
                <a:spcPts val="600"/>
              </a:lnSpc>
              <a:buFont typeface="Arial"/>
              <a:buChar char="•"/>
            </a:pPr>
            <a:endParaRPr sz="600"/>
          </a:p>
          <a:p>
            <a:pPr>
              <a:lnSpc>
                <a:spcPts val="1000"/>
              </a:lnSpc>
              <a:buFont typeface="Arial"/>
              <a:buChar char="•"/>
            </a:pPr>
            <a:endParaRPr sz="1000"/>
          </a:p>
          <a:p>
            <a:pPr>
              <a:lnSpc>
                <a:spcPts val="1000"/>
              </a:lnSpc>
              <a:buFont typeface="Arial"/>
              <a:buChar char="•"/>
            </a:pPr>
            <a:endParaRPr sz="1000"/>
          </a:p>
          <a:p>
            <a:pPr>
              <a:lnSpc>
                <a:spcPts val="1000"/>
              </a:lnSpc>
              <a:buFont typeface="Arial"/>
              <a:buChar char="•"/>
            </a:pPr>
            <a:endParaRPr sz="1000"/>
          </a:p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See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more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de</a:t>
            </a:r>
            <a:r>
              <a:rPr sz="3000" spc="-10" dirty="0">
                <a:latin typeface="Arial"/>
                <a:cs typeface="Arial"/>
              </a:rPr>
              <a:t>tails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o</a:t>
            </a:r>
            <a:r>
              <a:rPr sz="3000" spc="-10" dirty="0">
                <a:latin typeface="Arial"/>
                <a:cs typeface="Arial"/>
              </a:rPr>
              <a:t>f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20" dirty="0">
                <a:latin typeface="Arial"/>
                <a:cs typeface="Arial"/>
              </a:rPr>
              <a:t>S</a:t>
            </a:r>
            <a:r>
              <a:rPr sz="3000" spc="-24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A</a:t>
            </a:r>
            <a:r>
              <a:rPr sz="3000" spc="-55" dirty="0">
                <a:latin typeface="Arial"/>
                <a:cs typeface="Arial"/>
              </a:rPr>
              <a:t>R</a:t>
            </a:r>
            <a:r>
              <a:rPr sz="3000" spc="-25" dirty="0">
                <a:latin typeface="Arial"/>
                <a:cs typeface="Arial"/>
              </a:rPr>
              <a:t>TT</a:t>
            </a:r>
            <a:r>
              <a:rPr sz="3000" spc="0" dirty="0">
                <a:latin typeface="Arial"/>
                <a:cs typeface="Arial"/>
              </a:rPr>
              <a:t>L</a:t>
            </a:r>
            <a:r>
              <a:rPr sz="3000" spc="-20" dirty="0">
                <a:latin typeface="Arial"/>
                <a:cs typeface="Arial"/>
              </a:rPr>
              <a:t>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a</a:t>
            </a:r>
            <a:r>
              <a:rPr sz="3000" spc="-10" dirty="0">
                <a:latin typeface="Arial"/>
                <a:cs typeface="Arial"/>
              </a:rPr>
              <a:t>t</a:t>
            </a:r>
            <a:endParaRPr sz="30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49"/>
              </a:spcBef>
            </a:pPr>
            <a:endParaRPr sz="5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605155">
              <a:lnSpc>
                <a:spcPct val="100000"/>
              </a:lnSpc>
            </a:pPr>
            <a:r>
              <a:rPr sz="2400" u="heavy" dirty="0">
                <a:solidFill>
                  <a:srgbClr val="FC0128"/>
                </a:solidFill>
                <a:latin typeface="Arial"/>
                <a:cs typeface="Arial"/>
              </a:rPr>
              <a:t>h</a:t>
            </a:r>
            <a:r>
              <a:rPr sz="2400" u="heavy" spc="-10" dirty="0">
                <a:solidFill>
                  <a:srgbClr val="FC0128"/>
                </a:solidFill>
                <a:latin typeface="Arial"/>
                <a:cs typeface="Arial"/>
              </a:rPr>
              <a:t>ttps://</a:t>
            </a:r>
            <a:r>
              <a:rPr sz="2400" u="heavy" spc="-10" dirty="0">
                <a:solidFill>
                  <a:srgbClr val="FC0128"/>
                </a:solidFill>
                <a:latin typeface="Arial"/>
                <a:cs typeface="Arial"/>
                <a:hlinkClick r:id="rId2"/>
              </a:rPr>
              <a:t>ww</a:t>
            </a:r>
            <a:r>
              <a:rPr sz="2400" u="heavy" spc="-135" dirty="0">
                <a:solidFill>
                  <a:srgbClr val="FC0128"/>
                </a:solidFill>
                <a:latin typeface="Arial"/>
                <a:cs typeface="Arial"/>
                <a:hlinkClick r:id="rId2"/>
              </a:rPr>
              <a:t>w</a:t>
            </a:r>
            <a:r>
              <a:rPr sz="2400" u="heavy" spc="-10" dirty="0">
                <a:solidFill>
                  <a:srgbClr val="FC0128"/>
                </a:solidFill>
                <a:latin typeface="Arial"/>
                <a:cs typeface="Arial"/>
                <a:hlinkClick r:id="rId2"/>
              </a:rPr>
              <a:t>.fastmail.co</a:t>
            </a:r>
            <a:r>
              <a:rPr sz="2400" u="heavy" spc="-15" dirty="0">
                <a:solidFill>
                  <a:srgbClr val="FC0128"/>
                </a:solidFill>
                <a:latin typeface="Arial"/>
                <a:cs typeface="Arial"/>
                <a:hlinkClick r:id="rId2"/>
              </a:rPr>
              <a:t>m/help</a:t>
            </a:r>
            <a:r>
              <a:rPr sz="2400" u="heavy" spc="-10" dirty="0">
                <a:solidFill>
                  <a:srgbClr val="FC0128"/>
                </a:solidFill>
                <a:latin typeface="Arial"/>
                <a:cs typeface="Arial"/>
                <a:hlinkClick r:id="rId2"/>
              </a:rPr>
              <a:t>/technical/ssltl</a:t>
            </a:r>
            <a:r>
              <a:rPr sz="2400" u="heavy" spc="-15" dirty="0">
                <a:solidFill>
                  <a:srgbClr val="FC0128"/>
                </a:solidFill>
                <a:latin typeface="Arial"/>
                <a:cs typeface="Arial"/>
                <a:hlinkClick r:id="rId2"/>
              </a:rPr>
              <a:t>ssta</a:t>
            </a:r>
            <a:r>
              <a:rPr sz="2400" u="heavy" spc="-10" dirty="0">
                <a:solidFill>
                  <a:srgbClr val="FC0128"/>
                </a:solidFill>
                <a:latin typeface="Arial"/>
                <a:cs typeface="Arial"/>
                <a:hlinkClick r:id="rId2"/>
              </a:rPr>
              <a:t>rttls.html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787775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H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TTPS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92759" y="4623518"/>
            <a:ext cx="4392486" cy="461664"/>
          </a:xfrm>
          <a:custGeom>
            <a:avLst/>
            <a:gdLst/>
            <a:ahLst/>
            <a:cxnLst/>
            <a:rect l="l" t="t" r="r" b="b"/>
            <a:pathLst>
              <a:path w="4392486" h="461664">
                <a:moveTo>
                  <a:pt x="0" y="0"/>
                </a:moveTo>
                <a:lnTo>
                  <a:pt x="4392486" y="0"/>
                </a:lnTo>
                <a:lnTo>
                  <a:pt x="4392486" y="461664"/>
                </a:lnTo>
                <a:lnTo>
                  <a:pt x="0" y="46166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H</a:t>
            </a:r>
            <a:r>
              <a:rPr sz="3000" spc="-25" dirty="0">
                <a:latin typeface="Arial"/>
                <a:cs typeface="Arial"/>
              </a:rPr>
              <a:t>TT</a:t>
            </a:r>
            <a:r>
              <a:rPr sz="3000" spc="-20" dirty="0">
                <a:latin typeface="Arial"/>
                <a:cs typeface="Arial"/>
              </a:rPr>
              <a:t>P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over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L</a:t>
            </a:r>
            <a:r>
              <a:rPr sz="3000" spc="-20" dirty="0">
                <a:latin typeface="Arial"/>
                <a:cs typeface="Arial"/>
              </a:rPr>
              <a:t>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or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H</a:t>
            </a:r>
            <a:r>
              <a:rPr sz="3000" spc="-25" dirty="0">
                <a:latin typeface="Arial"/>
                <a:cs typeface="Arial"/>
              </a:rPr>
              <a:t>TT</a:t>
            </a:r>
            <a:r>
              <a:rPr sz="3000" spc="-20" dirty="0">
                <a:latin typeface="Arial"/>
                <a:cs typeface="Arial"/>
              </a:rPr>
              <a:t>P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over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SSL</a:t>
            </a:r>
            <a:endParaRPr sz="3000">
              <a:latin typeface="Arial"/>
              <a:cs typeface="Arial"/>
            </a:endParaRPr>
          </a:p>
          <a:p>
            <a:pPr marL="679450" lvl="1" indent="-247650">
              <a:lnSpc>
                <a:spcPct val="100000"/>
              </a:lnSpc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Layering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H</a:t>
            </a:r>
            <a:r>
              <a:rPr sz="2400" spc="-15" dirty="0">
                <a:latin typeface="Arial"/>
                <a:cs typeface="Arial"/>
              </a:rPr>
              <a:t>TTP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top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SSL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TL</a:t>
            </a:r>
            <a:r>
              <a:rPr sz="2400" spc="-2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79450" lvl="1" indent="-247650">
              <a:lnSpc>
                <a:spcPts val="2800"/>
              </a:lnSpc>
              <a:buFont typeface="Arial"/>
              <a:buChar char="–"/>
              <a:tabLst>
                <a:tab pos="679450" algn="l"/>
              </a:tabLst>
            </a:pPr>
            <a:r>
              <a:rPr sz="2400" spc="0" dirty="0">
                <a:latin typeface="Arial"/>
                <a:cs typeface="Arial"/>
              </a:rPr>
              <a:t>Adding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securi</a:t>
            </a:r>
            <a:r>
              <a:rPr sz="2400" spc="-10" dirty="0">
                <a:latin typeface="Arial"/>
                <a:cs typeface="Arial"/>
              </a:rPr>
              <a:t>ty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capabili</a:t>
            </a:r>
            <a:r>
              <a:rPr sz="2400" spc="-10" dirty="0">
                <a:latin typeface="Arial"/>
                <a:cs typeface="Arial"/>
              </a:rPr>
              <a:t>ties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SSL</a:t>
            </a:r>
            <a:r>
              <a:rPr sz="2400" spc="-15" dirty="0">
                <a:latin typeface="Arial"/>
                <a:cs typeface="Arial"/>
              </a:rPr>
              <a:t>/TL</a:t>
            </a:r>
            <a:r>
              <a:rPr sz="2400" spc="-20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standard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H</a:t>
            </a:r>
            <a:r>
              <a:rPr sz="2400" spc="-15" dirty="0">
                <a:latin typeface="Arial"/>
                <a:cs typeface="Arial"/>
              </a:rPr>
              <a:t>TTP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ts val="900"/>
              </a:lnSpc>
              <a:spcBef>
                <a:spcPts val="19"/>
              </a:spcBef>
              <a:buFont typeface="Arial"/>
              <a:buChar char="–"/>
            </a:pPr>
            <a:endParaRPr sz="900"/>
          </a:p>
          <a:p>
            <a:pPr lvl="1">
              <a:lnSpc>
                <a:spcPts val="1000"/>
              </a:lnSpc>
              <a:buFont typeface="Arial"/>
              <a:buChar char="–"/>
            </a:pPr>
            <a:endParaRPr sz="1000"/>
          </a:p>
          <a:p>
            <a:pPr lvl="1">
              <a:lnSpc>
                <a:spcPts val="1000"/>
              </a:lnSpc>
              <a:buFont typeface="Arial"/>
              <a:buChar char="–"/>
            </a:pPr>
            <a:endParaRPr sz="1000"/>
          </a:p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Di</a:t>
            </a:r>
            <a:r>
              <a:rPr sz="3000" spc="-65" dirty="0">
                <a:latin typeface="Arial"/>
                <a:cs typeface="Arial"/>
              </a:rPr>
              <a:t>f</a:t>
            </a:r>
            <a:r>
              <a:rPr sz="3000" spc="-10" dirty="0">
                <a:latin typeface="Arial"/>
                <a:cs typeface="Arial"/>
              </a:rPr>
              <a:t>ference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from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H</a:t>
            </a:r>
            <a:r>
              <a:rPr sz="3000" spc="-25" dirty="0">
                <a:latin typeface="Arial"/>
                <a:cs typeface="Arial"/>
              </a:rPr>
              <a:t>TT</a:t>
            </a:r>
            <a:r>
              <a:rPr sz="3000" spc="-20" dirty="0">
                <a:latin typeface="Arial"/>
                <a:cs typeface="Arial"/>
              </a:rPr>
              <a:t>P</a:t>
            </a:r>
            <a:endParaRPr sz="3000">
              <a:latin typeface="Arial"/>
              <a:cs typeface="Arial"/>
            </a:endParaRPr>
          </a:p>
          <a:p>
            <a:pPr marL="673100" indent="-304800">
              <a:lnSpc>
                <a:spcPct val="100000"/>
              </a:lnSpc>
              <a:buFont typeface="Arial"/>
              <a:buChar char="•"/>
              <a:tabLst>
                <a:tab pos="675640" algn="l"/>
              </a:tabLst>
            </a:pPr>
            <a:r>
              <a:rPr sz="2600" dirty="0">
                <a:latin typeface="Arial"/>
                <a:cs typeface="Arial"/>
              </a:rPr>
              <a:t>H</a:t>
            </a:r>
            <a:r>
              <a:rPr sz="2600" spc="-25" dirty="0">
                <a:latin typeface="Arial"/>
                <a:cs typeface="Arial"/>
              </a:rPr>
              <a:t>TT</a:t>
            </a:r>
            <a:r>
              <a:rPr sz="2600" spc="-20" dirty="0">
                <a:latin typeface="Arial"/>
                <a:cs typeface="Arial"/>
              </a:rPr>
              <a:t>P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URLs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begin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wi</a:t>
            </a:r>
            <a:r>
              <a:rPr sz="2600" spc="-10" dirty="0">
                <a:latin typeface="Arial"/>
                <a:cs typeface="Arial"/>
              </a:rPr>
              <a:t>th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u="heavy" spc="0" dirty="0">
                <a:solidFill>
                  <a:srgbClr val="FC0128"/>
                </a:solidFill>
                <a:latin typeface="Arial"/>
                <a:cs typeface="Arial"/>
              </a:rPr>
              <a:t>“h</a:t>
            </a:r>
            <a:r>
              <a:rPr sz="2600" u="heavy" spc="-10" dirty="0">
                <a:solidFill>
                  <a:srgbClr val="FC0128"/>
                </a:solidFill>
                <a:latin typeface="Arial"/>
                <a:cs typeface="Arial"/>
              </a:rPr>
              <a:t>ttp://</a:t>
            </a:r>
            <a:r>
              <a:rPr sz="2600" spc="-10" dirty="0">
                <a:latin typeface="Arial"/>
                <a:cs typeface="Arial"/>
              </a:rPr>
              <a:t>”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and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use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po</a:t>
            </a:r>
            <a:r>
              <a:rPr sz="2600" spc="-10" dirty="0">
                <a:latin typeface="Arial"/>
                <a:cs typeface="Arial"/>
              </a:rPr>
              <a:t>rt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80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by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de</a:t>
            </a:r>
            <a:r>
              <a:rPr sz="2600" spc="-10" dirty="0">
                <a:latin typeface="Arial"/>
                <a:cs typeface="Arial"/>
              </a:rPr>
              <a:t>fault</a:t>
            </a:r>
            <a:endParaRPr sz="2600">
              <a:latin typeface="Arial"/>
              <a:cs typeface="Arial"/>
            </a:endParaRPr>
          </a:p>
          <a:p>
            <a:pPr marL="673100" marR="428625" indent="-304800">
              <a:lnSpc>
                <a:spcPts val="3100"/>
              </a:lnSpc>
              <a:spcBef>
                <a:spcPts val="100"/>
              </a:spcBef>
              <a:buFont typeface="Arial"/>
              <a:buChar char="•"/>
              <a:tabLst>
                <a:tab pos="675640" algn="l"/>
                <a:tab pos="5740400" algn="l"/>
              </a:tabLst>
            </a:pPr>
            <a:r>
              <a:rPr sz="2600" dirty="0">
                <a:latin typeface="Arial"/>
                <a:cs typeface="Arial"/>
              </a:rPr>
              <a:t>H</a:t>
            </a:r>
            <a:r>
              <a:rPr sz="2600" spc="-25" dirty="0">
                <a:latin typeface="Arial"/>
                <a:cs typeface="Arial"/>
              </a:rPr>
              <a:t>TT</a:t>
            </a:r>
            <a:r>
              <a:rPr sz="2600" spc="-20" dirty="0">
                <a:latin typeface="Arial"/>
                <a:cs typeface="Arial"/>
              </a:rPr>
              <a:t>PS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URLs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begin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wi</a:t>
            </a:r>
            <a:r>
              <a:rPr sz="2600" spc="-10" dirty="0">
                <a:latin typeface="Arial"/>
                <a:cs typeface="Arial"/>
              </a:rPr>
              <a:t>th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u="heavy" spc="0" dirty="0">
                <a:solidFill>
                  <a:srgbClr val="FC0128"/>
                </a:solidFill>
                <a:latin typeface="Arial"/>
                <a:cs typeface="Arial"/>
              </a:rPr>
              <a:t>“h</a:t>
            </a:r>
            <a:r>
              <a:rPr sz="2600" u="heavy" spc="-10" dirty="0">
                <a:solidFill>
                  <a:srgbClr val="FC0128"/>
                </a:solidFill>
                <a:latin typeface="Arial"/>
                <a:cs typeface="Arial"/>
              </a:rPr>
              <a:t>ttps://</a:t>
            </a:r>
            <a:r>
              <a:rPr sz="2600" spc="-10" dirty="0">
                <a:latin typeface="Arial"/>
                <a:cs typeface="Arial"/>
              </a:rPr>
              <a:t>”	and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use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po</a:t>
            </a:r>
            <a:r>
              <a:rPr sz="2600" spc="-10" dirty="0">
                <a:latin typeface="Arial"/>
                <a:cs typeface="Arial"/>
              </a:rPr>
              <a:t>rt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443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0" dirty="0">
                <a:latin typeface="Arial"/>
                <a:cs typeface="Arial"/>
              </a:rPr>
              <a:t>by default</a:t>
            </a:r>
            <a:endParaRPr sz="2600">
              <a:latin typeface="Arial"/>
              <a:cs typeface="Arial"/>
            </a:endParaRPr>
          </a:p>
          <a:p>
            <a:pPr>
              <a:lnSpc>
                <a:spcPts val="900"/>
              </a:lnSpc>
              <a:spcBef>
                <a:spcPts val="31"/>
              </a:spcBef>
            </a:pPr>
            <a:endParaRPr sz="9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R="205104" algn="ctr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ttps://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  <a:hlinkClick r:id="rId2"/>
              </a:rPr>
              <a:t>ww</a:t>
            </a:r>
            <a:r>
              <a:rPr sz="2400" spc="-135" dirty="0">
                <a:solidFill>
                  <a:srgbClr val="FF0000"/>
                </a:solidFill>
                <a:latin typeface="Arial"/>
                <a:cs typeface="Arial"/>
                <a:hlinkClick r:id="rId2"/>
              </a:rPr>
              <a:t>w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  <a:hlinkClick r:id="rId2"/>
              </a:rPr>
              <a:t>.ib.kiwibank.co.nz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18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674745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H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TTPS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1022003"/>
            <a:ext cx="7915909" cy="8331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dirty="0">
                <a:latin typeface="Arial"/>
                <a:cs typeface="Arial"/>
              </a:rPr>
              <a:t>How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do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we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know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a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websi</a:t>
            </a:r>
            <a:r>
              <a:rPr sz="3000" spc="-10" dirty="0">
                <a:latin typeface="Arial"/>
                <a:cs typeface="Arial"/>
              </a:rPr>
              <a:t>te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uses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encryp</a:t>
            </a:r>
            <a:r>
              <a:rPr sz="3000" spc="-10" dirty="0">
                <a:latin typeface="Arial"/>
                <a:cs typeface="Arial"/>
              </a:rPr>
              <a:t>tion?</a:t>
            </a:r>
            <a:endParaRPr sz="300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A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closed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padlock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024" y="2939703"/>
            <a:ext cx="6818630" cy="375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A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URL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that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begins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wi</a:t>
            </a:r>
            <a:r>
              <a:rPr sz="2400" spc="-10" dirty="0">
                <a:latin typeface="Arial"/>
                <a:cs typeface="Arial"/>
              </a:rPr>
              <a:t>th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“h</a:t>
            </a:r>
            <a:r>
              <a:rPr sz="2400" spc="-10" dirty="0">
                <a:latin typeface="Arial"/>
                <a:cs typeface="Arial"/>
              </a:rPr>
              <a:t>ttps:”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ra</a:t>
            </a:r>
            <a:r>
              <a:rPr sz="2400" spc="-10" dirty="0">
                <a:latin typeface="Arial"/>
                <a:cs typeface="Arial"/>
              </a:rPr>
              <a:t>ther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than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“h</a:t>
            </a:r>
            <a:r>
              <a:rPr sz="2400" spc="-10" dirty="0">
                <a:latin typeface="Arial"/>
                <a:cs typeface="Arial"/>
              </a:rPr>
              <a:t>ttp:”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16696" y="2060848"/>
            <a:ext cx="4248471" cy="547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40631" y="3573016"/>
            <a:ext cx="6912767" cy="2615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19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303020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Man-in</a:t>
            </a:r>
            <a:r>
              <a:rPr sz="4000" spc="-15" dirty="0">
                <a:solidFill>
                  <a:srgbClr val="660066"/>
                </a:solidFill>
                <a:latin typeface="Arial"/>
                <a:cs typeface="Arial"/>
              </a:rPr>
              <a:t>-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he-middle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Att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ack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(1)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1022003"/>
            <a:ext cx="9038590" cy="15570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20675" indent="-307975">
              <a:lnSpc>
                <a:spcPct val="100000"/>
              </a:lnSpc>
              <a:buFont typeface="Arial"/>
              <a:buChar char="•"/>
              <a:tabLst>
                <a:tab pos="320040" algn="l"/>
              </a:tabLst>
            </a:pPr>
            <a:r>
              <a:rPr sz="3000" spc="-35" dirty="0">
                <a:latin typeface="Arial"/>
                <a:cs typeface="Arial"/>
              </a:rPr>
              <a:t>W</a:t>
            </a:r>
            <a:r>
              <a:rPr sz="3000" spc="0" dirty="0">
                <a:latin typeface="Arial"/>
                <a:cs typeface="Arial"/>
              </a:rPr>
              <a:t>ha</a:t>
            </a:r>
            <a:r>
              <a:rPr sz="3000" spc="-10" dirty="0">
                <a:latin typeface="Arial"/>
                <a:cs typeface="Arial"/>
              </a:rPr>
              <a:t>t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is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M</a:t>
            </a:r>
            <a:r>
              <a:rPr sz="3000" spc="-15" dirty="0">
                <a:latin typeface="Arial"/>
                <a:cs typeface="Arial"/>
              </a:rPr>
              <a:t>I</a:t>
            </a:r>
            <a:r>
              <a:rPr sz="3000" spc="-25" dirty="0">
                <a:latin typeface="Arial"/>
                <a:cs typeface="Arial"/>
              </a:rPr>
              <a:t>T</a:t>
            </a:r>
            <a:r>
              <a:rPr sz="3000" spc="0" dirty="0">
                <a:latin typeface="Arial"/>
                <a:cs typeface="Arial"/>
              </a:rPr>
              <a:t>M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0" dirty="0">
                <a:latin typeface="Arial"/>
                <a:cs typeface="Arial"/>
              </a:rPr>
              <a:t>a</a:t>
            </a:r>
            <a:r>
              <a:rPr sz="3000" spc="-10" dirty="0">
                <a:latin typeface="Arial"/>
                <a:cs typeface="Arial"/>
              </a:rPr>
              <a:t>ttack?</a:t>
            </a:r>
            <a:endParaRPr sz="3000">
              <a:latin typeface="Arial"/>
              <a:cs typeface="Arial"/>
            </a:endParaRPr>
          </a:p>
          <a:p>
            <a:pPr marL="673100" marR="12700" indent="-241300">
              <a:lnSpc>
                <a:spcPct val="99000"/>
              </a:lnSpc>
              <a:spcBef>
                <a:spcPts val="25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ttacker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secre</a:t>
            </a:r>
            <a:r>
              <a:rPr sz="2400" spc="-10" dirty="0">
                <a:latin typeface="Arial"/>
                <a:cs typeface="Arial"/>
              </a:rPr>
              <a:t>tly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relays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communica</a:t>
            </a:r>
            <a:r>
              <a:rPr sz="2400" spc="-10" dirty="0">
                <a:latin typeface="Arial"/>
                <a:cs typeface="Arial"/>
              </a:rPr>
              <a:t>tions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be</a:t>
            </a:r>
            <a:r>
              <a:rPr sz="2400" spc="-10" dirty="0">
                <a:latin typeface="Arial"/>
                <a:cs typeface="Arial"/>
              </a:rPr>
              <a:t>tween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two parties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who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believe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are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dire</a:t>
            </a:r>
            <a:r>
              <a:rPr sz="2400" spc="-10" dirty="0">
                <a:latin typeface="Arial"/>
                <a:cs typeface="Arial"/>
              </a:rPr>
              <a:t>ctly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communica</a:t>
            </a:r>
            <a:r>
              <a:rPr sz="2400" spc="-10" dirty="0">
                <a:latin typeface="Arial"/>
                <a:cs typeface="Arial"/>
              </a:rPr>
              <a:t>ting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wi</a:t>
            </a:r>
            <a:r>
              <a:rPr sz="2400" spc="-10" dirty="0">
                <a:latin typeface="Arial"/>
                <a:cs typeface="Arial"/>
              </a:rPr>
              <a:t>th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each oth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spc="-135" dirty="0">
                <a:latin typeface="Arial"/>
                <a:cs typeface="Arial"/>
              </a:rPr>
              <a:t>r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6536" y="3501009"/>
            <a:ext cx="1152127" cy="1152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77336" y="3501009"/>
            <a:ext cx="1291083" cy="12910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48943" y="3356992"/>
            <a:ext cx="1363090" cy="13630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8663" y="3933056"/>
            <a:ext cx="2376262" cy="0"/>
          </a:xfrm>
          <a:custGeom>
            <a:avLst/>
            <a:gdLst/>
            <a:ahLst/>
            <a:cxnLst/>
            <a:rect l="l" t="t" r="r" b="b"/>
            <a:pathLst>
              <a:path w="2376262">
                <a:moveTo>
                  <a:pt x="-1928663" y="2924943"/>
                </a:moveTo>
                <a:lnTo>
                  <a:pt x="-1928663" y="2924943"/>
                </a:lnTo>
              </a:path>
            </a:pathLst>
          </a:custGeom>
          <a:ln w="3175">
            <a:solidFill>
              <a:srgbClr val="73A4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28663" y="3933056"/>
            <a:ext cx="2351087" cy="0"/>
          </a:xfrm>
          <a:custGeom>
            <a:avLst/>
            <a:gdLst/>
            <a:ahLst/>
            <a:cxnLst/>
            <a:rect l="l" t="t" r="r" b="b"/>
            <a:pathLst>
              <a:path w="2351087">
                <a:moveTo>
                  <a:pt x="0" y="0"/>
                </a:moveTo>
                <a:lnTo>
                  <a:pt x="2351087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28951" y="389495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45087" y="3933056"/>
            <a:ext cx="2376262" cy="0"/>
          </a:xfrm>
          <a:custGeom>
            <a:avLst/>
            <a:gdLst/>
            <a:ahLst/>
            <a:cxnLst/>
            <a:rect l="l" t="t" r="r" b="b"/>
            <a:pathLst>
              <a:path w="2376262">
                <a:moveTo>
                  <a:pt x="-5745087" y="2924943"/>
                </a:moveTo>
                <a:lnTo>
                  <a:pt x="-5745087" y="2924943"/>
                </a:lnTo>
              </a:path>
            </a:pathLst>
          </a:custGeom>
          <a:ln w="3175">
            <a:solidFill>
              <a:srgbClr val="73A4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45087" y="3933056"/>
            <a:ext cx="2351087" cy="0"/>
          </a:xfrm>
          <a:custGeom>
            <a:avLst/>
            <a:gdLst/>
            <a:ahLst/>
            <a:cxnLst/>
            <a:rect l="l" t="t" r="r" b="b"/>
            <a:pathLst>
              <a:path w="2351087">
                <a:moveTo>
                  <a:pt x="0" y="0"/>
                </a:moveTo>
                <a:lnTo>
                  <a:pt x="2351087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45374" y="389495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4063" y="4365104"/>
            <a:ext cx="2350863" cy="0"/>
          </a:xfrm>
          <a:custGeom>
            <a:avLst/>
            <a:gdLst/>
            <a:ahLst/>
            <a:cxnLst/>
            <a:rect l="l" t="t" r="r" b="b"/>
            <a:pathLst>
              <a:path w="2350863">
                <a:moveTo>
                  <a:pt x="2350863" y="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28663" y="432700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70486" y="4365104"/>
            <a:ext cx="2350863" cy="0"/>
          </a:xfrm>
          <a:custGeom>
            <a:avLst/>
            <a:gdLst/>
            <a:ahLst/>
            <a:cxnLst/>
            <a:rect l="l" t="t" r="r" b="b"/>
            <a:pathLst>
              <a:path w="2350863">
                <a:moveTo>
                  <a:pt x="2350863" y="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45087" y="432700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536" y="3491716"/>
            <a:ext cx="1152127" cy="1152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977336" y="3491716"/>
            <a:ext cx="1291083" cy="12910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8663" y="3923764"/>
            <a:ext cx="5951536" cy="0"/>
          </a:xfrm>
          <a:custGeom>
            <a:avLst/>
            <a:gdLst/>
            <a:ahLst/>
            <a:cxnLst/>
            <a:rect l="l" t="t" r="r" b="b"/>
            <a:pathLst>
              <a:path w="5951536">
                <a:moveTo>
                  <a:pt x="0" y="0"/>
                </a:moveTo>
                <a:lnTo>
                  <a:pt x="5951536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29401" y="38856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4064" y="4355812"/>
            <a:ext cx="5879254" cy="0"/>
          </a:xfrm>
          <a:custGeom>
            <a:avLst/>
            <a:gdLst/>
            <a:ahLst/>
            <a:cxnLst/>
            <a:rect l="l" t="t" r="r" b="b"/>
            <a:pathLst>
              <a:path w="5879254">
                <a:moveTo>
                  <a:pt x="5879254" y="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28663" y="431771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43307" y="4833580"/>
            <a:ext cx="572135" cy="2940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Alice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20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0131" y="4905588"/>
            <a:ext cx="469900" cy="2940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Arial"/>
                <a:cs typeface="Arial"/>
              </a:rPr>
              <a:t>Bob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303020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Man-in</a:t>
            </a:r>
            <a:r>
              <a:rPr sz="4000" spc="-15" dirty="0">
                <a:solidFill>
                  <a:srgbClr val="660066"/>
                </a:solidFill>
                <a:latin typeface="Arial"/>
                <a:cs typeface="Arial"/>
              </a:rPr>
              <a:t>-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he-middle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Att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ack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(2)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40631" y="1052737"/>
            <a:ext cx="6768750" cy="5472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21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303020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Man-in</a:t>
            </a:r>
            <a:r>
              <a:rPr sz="4000" spc="-15" dirty="0">
                <a:solidFill>
                  <a:srgbClr val="660066"/>
                </a:solidFill>
                <a:latin typeface="Arial"/>
                <a:cs typeface="Arial"/>
              </a:rPr>
              <a:t>-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he-middle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Att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ack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(3)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200" dirty="0" smtClean="0">
                <a:latin typeface="Arial"/>
                <a:cs typeface="Arial"/>
              </a:rPr>
              <a:t>22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9613" y="2733288"/>
            <a:ext cx="7904480" cy="12268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413635" marR="12700" indent="-2401570">
              <a:lnSpc>
                <a:spcPct val="100000"/>
              </a:lnSpc>
            </a:pPr>
            <a:r>
              <a:rPr sz="4000" dirty="0">
                <a:solidFill>
                  <a:srgbClr val="660066"/>
                </a:solidFill>
                <a:latin typeface="Arial"/>
                <a:cs typeface="Arial"/>
              </a:rPr>
              <a:t>How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can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SSL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/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S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de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f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ense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again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4000" spc="-25" dirty="0">
                <a:solidFill>
                  <a:srgbClr val="660066"/>
                </a:solidFill>
                <a:latin typeface="Arial"/>
                <a:cs typeface="Arial"/>
              </a:rPr>
              <a:t> M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4000" spc="-30" dirty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M</a:t>
            </a:r>
            <a:r>
              <a:rPr sz="4000" spc="-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4000" spc="-20" dirty="0">
                <a:solidFill>
                  <a:srgbClr val="660066"/>
                </a:solidFill>
                <a:latin typeface="Arial"/>
                <a:cs typeface="Arial"/>
              </a:rPr>
              <a:t>tt</a:t>
            </a:r>
            <a:r>
              <a:rPr sz="4000" spc="0" dirty="0">
                <a:solidFill>
                  <a:srgbClr val="660066"/>
                </a:solidFill>
                <a:latin typeface="Arial"/>
                <a:cs typeface="Arial"/>
              </a:rPr>
              <a:t>ack?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1195</Words>
  <Application>Microsoft Office PowerPoint</Application>
  <PresentationFormat>A4 Paper (210x297 mm)</PresentationFormat>
  <Paragraphs>247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Times New Roman</vt:lpstr>
      <vt:lpstr>Office Theme</vt:lpstr>
      <vt:lpstr>PowerPoint Presentation</vt:lpstr>
      <vt:lpstr>Today’s Focus</vt:lpstr>
      <vt:lpstr>HTTP Basic Authentication (1)</vt:lpstr>
      <vt:lpstr>HTTP Basic Authentication (2)</vt:lpstr>
      <vt:lpstr>  Message Digest  </vt:lpstr>
      <vt:lpstr>HTTP Digest Authentication (1)</vt:lpstr>
      <vt:lpstr>SSL and TLS</vt:lpstr>
      <vt:lpstr>SSL and TLS</vt:lpstr>
      <vt:lpstr>Digital Certificate (1)</vt:lpstr>
      <vt:lpstr>Digital Certificate (2)</vt:lpstr>
      <vt:lpstr>SSL &amp; TLS History</vt:lpstr>
      <vt:lpstr>SSL/TLS Protocols</vt:lpstr>
      <vt:lpstr>The Handshake Protocol</vt:lpstr>
      <vt:lpstr>A Closer Look at Handshake</vt:lpstr>
      <vt:lpstr>ChangeCipherSpec &amp; Alert Protocols</vt:lpstr>
      <vt:lpstr>The Record Protocol</vt:lpstr>
      <vt:lpstr>Examples to use SSL/TLS</vt:lpstr>
      <vt:lpstr>HTTPS</vt:lpstr>
      <vt:lpstr>HTTPS</vt:lpstr>
      <vt:lpstr>Man-in-the-middle Attack (1)</vt:lpstr>
      <vt:lpstr>Man-in-the-middle Attack (2)</vt:lpstr>
      <vt:lpstr>Man-in-the-middle Attack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Hoàng Đình Hạnh</cp:lastModifiedBy>
  <cp:revision>3</cp:revision>
  <dcterms:created xsi:type="dcterms:W3CDTF">2019-12-26T11:28:16Z</dcterms:created>
  <dcterms:modified xsi:type="dcterms:W3CDTF">2025-09-14T10:10:43Z</dcterms:modified>
</cp:coreProperties>
</file>