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728"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jpeg"/><Relationship Id="rId7" Type="http://schemas.openxmlformats.org/officeDocument/2006/relationships/image" Target="../media/image20.jpeg"/><Relationship Id="rId2" Type="http://schemas.openxmlformats.org/officeDocument/2006/relationships/image" Target="../media/image15.jpeg"/><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2001" y="1615439"/>
            <a:ext cx="7543800" cy="4306389"/>
          </a:xfrm>
          <a:prstGeom prst="rect">
            <a:avLst/>
          </a:prstGeom>
        </p:spPr>
      </p:pic>
      <p:sp>
        <p:nvSpPr>
          <p:cNvPr id="3" name="Rectangle 2"/>
          <p:cNvSpPr/>
          <p:nvPr/>
        </p:nvSpPr>
        <p:spPr>
          <a:xfrm>
            <a:off x="348779" y="613084"/>
            <a:ext cx="8101584" cy="646176"/>
          </a:xfrm>
          <a:prstGeom prst="rect">
            <a:avLst/>
          </a:prstGeom>
        </p:spPr>
        <p:txBody>
          <a:bodyPr wrap="none" lIns="0" tIns="0" rIns="0" bIns="0">
            <a:noAutofit/>
          </a:bodyPr>
          <a:lstStyle/>
          <a:p>
            <a:pPr indent="0" algn="ctr">
              <a:spcAft>
                <a:spcPts val="1680"/>
              </a:spcAft>
            </a:pPr>
            <a:r>
              <a:rPr lang="en-US" sz="5300" b="1" spc="-50">
                <a:solidFill>
                  <a:srgbClr val="FC0128"/>
                </a:solidFill>
                <a:latin typeface="Times New Roman"/>
              </a:rPr>
              <a:t>Storage Virtualization</a:t>
            </a:r>
          </a:p>
        </p:txBody>
      </p:sp>
      <p:sp>
        <p:nvSpPr>
          <p:cNvPr id="6" name="Rectangle 5"/>
          <p:cNvSpPr/>
          <p:nvPr/>
        </p:nvSpPr>
        <p:spPr>
          <a:xfrm>
            <a:off x="4671713" y="6376416"/>
            <a:ext cx="307848" cy="195072"/>
          </a:xfrm>
          <a:prstGeom prst="rect">
            <a:avLst/>
          </a:prstGeom>
        </p:spPr>
        <p:txBody>
          <a:bodyPr wrap="none" lIns="0" tIns="0" rIns="0" bIns="0">
            <a:noAutofit/>
          </a:bodyPr>
          <a:lstStyle/>
          <a:p>
            <a:pPr indent="0"/>
            <a:r>
              <a:rPr lang="en-US" sz="1800">
                <a:latin typeface="Times New Roman"/>
              </a:rPr>
              <a:t>1</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54708" y="39624"/>
            <a:ext cx="4959096" cy="2298192"/>
          </a:xfrm>
          <a:prstGeom prst="rect">
            <a:avLst/>
          </a:prstGeom>
        </p:spPr>
      </p:pic>
      <p:sp>
        <p:nvSpPr>
          <p:cNvPr id="3" name="Rectangle 2"/>
          <p:cNvSpPr/>
          <p:nvPr/>
        </p:nvSpPr>
        <p:spPr>
          <a:xfrm>
            <a:off x="454152" y="3078479"/>
            <a:ext cx="8156448" cy="3148149"/>
          </a:xfrm>
          <a:prstGeom prst="rect">
            <a:avLst/>
          </a:prstGeom>
        </p:spPr>
        <p:txBody>
          <a:bodyPr lIns="0" tIns="0" rIns="0" bIns="0">
            <a:noAutofit/>
          </a:bodyPr>
          <a:lstStyle/>
          <a:p>
            <a:pPr indent="0" algn="just">
              <a:lnSpc>
                <a:spcPts val="3432"/>
              </a:lnSpc>
              <a:spcBef>
                <a:spcPts val="1680"/>
              </a:spcBef>
            </a:pPr>
            <a:r>
              <a:rPr lang="en-US" sz="1900">
                <a:solidFill>
                  <a:srgbClr val="063DE8"/>
                </a:solidFill>
                <a:latin typeface="Times New Roman"/>
              </a:rPr>
              <a:t>1.    </a:t>
            </a:r>
            <a:r>
              <a:rPr lang="en-US" sz="1900">
                <a:latin typeface="Times New Roman"/>
              </a:rPr>
              <a:t>Storage Interfaces: SCSI and Fibre Channel</a:t>
            </a:r>
          </a:p>
          <a:p>
            <a:pPr indent="0" algn="just">
              <a:lnSpc>
                <a:spcPts val="3432"/>
              </a:lnSpc>
            </a:pPr>
            <a:r>
              <a:rPr lang="en-US" sz="1800">
                <a:solidFill>
                  <a:srgbClr val="063DE8"/>
                </a:solidFill>
                <a:latin typeface="Times New Roman"/>
              </a:rPr>
              <a:t>2</a:t>
            </a:r>
            <a:r>
              <a:rPr lang="en-US" sz="1900">
                <a:solidFill>
                  <a:srgbClr val="063DE8"/>
                </a:solidFill>
                <a:latin typeface="Times New Roman"/>
              </a:rPr>
              <a:t>.    </a:t>
            </a:r>
            <a:r>
              <a:rPr lang="en-US" sz="1900">
                <a:latin typeface="Times New Roman"/>
              </a:rPr>
              <a:t>Storage Area Networks</a:t>
            </a:r>
          </a:p>
          <a:p>
            <a:pPr indent="0" algn="just">
              <a:lnSpc>
                <a:spcPts val="3432"/>
              </a:lnSpc>
            </a:pPr>
            <a:r>
              <a:rPr lang="en-US" sz="1900">
                <a:solidFill>
                  <a:srgbClr val="063DE8"/>
                </a:solidFill>
                <a:latin typeface="Times New Roman"/>
              </a:rPr>
              <a:t>3.    </a:t>
            </a:r>
            <a:r>
              <a:rPr lang="en-US" sz="1900">
                <a:latin typeface="Times New Roman"/>
              </a:rPr>
              <a:t>Storage Virtualization</a:t>
            </a:r>
          </a:p>
          <a:p>
            <a:pPr marL="533400" indent="0" algn="just">
              <a:lnSpc>
                <a:spcPts val="3432"/>
              </a:lnSpc>
            </a:pPr>
            <a:r>
              <a:rPr lang="en-US" sz="1800">
                <a:latin typeface="Times New Roman"/>
              </a:rPr>
              <a:t>1</a:t>
            </a:r>
            <a:r>
              <a:rPr lang="en-US" sz="1900">
                <a:latin typeface="Times New Roman"/>
              </a:rPr>
              <a:t>.    Device Virtualization: RAID</a:t>
            </a:r>
          </a:p>
          <a:p>
            <a:pPr marL="533400" indent="0" algn="just">
              <a:lnSpc>
                <a:spcPts val="3432"/>
              </a:lnSpc>
            </a:pPr>
            <a:r>
              <a:rPr lang="en-US" sz="1900">
                <a:latin typeface="Times New Roman"/>
              </a:rPr>
              <a:t>2.    F abric Virtualization: Storage access over Ethernet or IP</a:t>
            </a:r>
          </a:p>
          <a:p>
            <a:pPr indent="0" algn="just">
              <a:lnSpc>
                <a:spcPts val="3432"/>
              </a:lnSpc>
            </a:pPr>
            <a:r>
              <a:rPr lang="en-US" sz="1900">
                <a:solidFill>
                  <a:srgbClr val="063DE8"/>
                </a:solidFill>
                <a:latin typeface="Times New Roman"/>
              </a:rPr>
              <a:t>4.    </a:t>
            </a:r>
            <a:r>
              <a:rPr lang="en-US" sz="1900">
                <a:latin typeface="Times New Roman"/>
              </a:rPr>
              <a:t>SAN vs. NAS</a:t>
            </a:r>
          </a:p>
        </p:txBody>
      </p:sp>
      <p:sp>
        <p:nvSpPr>
          <p:cNvPr id="5" name="Rectangle 4"/>
          <p:cNvSpPr/>
          <p:nvPr/>
        </p:nvSpPr>
        <p:spPr>
          <a:xfrm>
            <a:off x="4334256" y="6623304"/>
            <a:ext cx="326136" cy="195072"/>
          </a:xfrm>
          <a:prstGeom prst="rect">
            <a:avLst/>
          </a:prstGeom>
        </p:spPr>
        <p:txBody>
          <a:bodyPr wrap="none" lIns="0" tIns="0" rIns="0" bIns="0">
            <a:noAutofit/>
          </a:bodyPr>
          <a:lstStyle/>
          <a:p>
            <a:pPr indent="0"/>
            <a:r>
              <a:rPr lang="en-US" sz="1800">
                <a:latin typeface="Times New Roman"/>
              </a:rPr>
              <a:t>2</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2001" y="3113314"/>
            <a:ext cx="7674428" cy="3509990"/>
          </a:xfrm>
          <a:prstGeom prst="rect">
            <a:avLst/>
          </a:prstGeom>
        </p:spPr>
      </p:pic>
      <p:sp>
        <p:nvSpPr>
          <p:cNvPr id="3" name="Rectangle 2"/>
          <p:cNvSpPr/>
          <p:nvPr/>
        </p:nvSpPr>
        <p:spPr>
          <a:xfrm>
            <a:off x="446532" y="0"/>
            <a:ext cx="8089392" cy="2368296"/>
          </a:xfrm>
          <a:prstGeom prst="rect">
            <a:avLst/>
          </a:prstGeom>
        </p:spPr>
        <p:txBody>
          <a:bodyPr lIns="0" tIns="0" rIns="0" bIns="0">
            <a:noAutofit/>
          </a:bodyPr>
          <a:lstStyle/>
          <a:p>
            <a:pPr indent="0" algn="ctr">
              <a:spcAft>
                <a:spcPts val="2520"/>
              </a:spcAft>
            </a:pPr>
            <a:r>
              <a:rPr lang="en-US" sz="3600" b="1">
                <a:solidFill>
                  <a:srgbClr val="FC0128"/>
                </a:solidFill>
                <a:latin typeface="Times New Roman"/>
              </a:rPr>
              <a:t>Disk Arrays</a:t>
            </a:r>
          </a:p>
          <a:p>
            <a:pPr indent="0" algn="just">
              <a:spcAft>
                <a:spcPts val="630"/>
              </a:spcAft>
            </a:pPr>
            <a:r>
              <a:rPr lang="en-US" sz="2400">
                <a:solidFill>
                  <a:srgbClr val="063DE8"/>
                </a:solidFill>
                <a:latin typeface="Times New Roman"/>
              </a:rPr>
              <a:t>□    </a:t>
            </a:r>
            <a:r>
              <a:rPr lang="en-US" sz="2400">
                <a:latin typeface="Times New Roman"/>
              </a:rPr>
              <a:t>In data centers, all disks are external to the server</a:t>
            </a:r>
          </a:p>
          <a:p>
            <a:pPr marL="355600" indent="0">
              <a:spcAft>
                <a:spcPts val="1050"/>
              </a:spcAft>
            </a:pPr>
            <a:r>
              <a:rPr lang="en-US" sz="2400">
                <a:latin typeface="Times New Roman"/>
              </a:rPr>
              <a:t>^Data accessible by other servers in case of a server failure</a:t>
            </a:r>
          </a:p>
          <a:p>
            <a:pPr indent="0" algn="just">
              <a:spcAft>
                <a:spcPts val="1050"/>
              </a:spcAft>
            </a:pPr>
            <a:r>
              <a:rPr lang="en-US" sz="2400">
                <a:solidFill>
                  <a:srgbClr val="063DE8"/>
                </a:solidFill>
                <a:latin typeface="Times New Roman"/>
              </a:rPr>
              <a:t>□    </a:t>
            </a:r>
            <a:r>
              <a:rPr lang="en-US" sz="2400">
                <a:latin typeface="Times New Roman"/>
              </a:rPr>
              <a:t>JBODs (Just a bunch of disks): Difficult to manage</a:t>
            </a:r>
          </a:p>
          <a:p>
            <a:pPr indent="0" algn="just"/>
            <a:r>
              <a:rPr lang="en-US" sz="2400">
                <a:solidFill>
                  <a:srgbClr val="063DE8"/>
                </a:solidFill>
                <a:latin typeface="Times New Roman"/>
              </a:rPr>
              <a:t>□    </a:t>
            </a:r>
            <a:r>
              <a:rPr lang="en-US" sz="2400">
                <a:latin typeface="Times New Roman"/>
              </a:rPr>
              <a:t>Disk Arrays: An easy to manage pool of disks with redundancy</a:t>
            </a:r>
          </a:p>
        </p:txBody>
      </p:sp>
      <p:sp>
        <p:nvSpPr>
          <p:cNvPr id="5" name="Rectangle 4"/>
          <p:cNvSpPr/>
          <p:nvPr/>
        </p:nvSpPr>
        <p:spPr>
          <a:xfrm>
            <a:off x="4334256" y="6623304"/>
            <a:ext cx="313944" cy="195072"/>
          </a:xfrm>
          <a:prstGeom prst="rect">
            <a:avLst/>
          </a:prstGeom>
        </p:spPr>
        <p:txBody>
          <a:bodyPr wrap="none" lIns="0" tIns="0" rIns="0" bIns="0">
            <a:noAutofit/>
          </a:bodyPr>
          <a:lstStyle/>
          <a:p>
            <a:pPr indent="0"/>
            <a:r>
              <a:rPr lang="en-US" sz="1800">
                <a:latin typeface="Times New Roman"/>
              </a:rPr>
              <a:t>3</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3776" y="152834"/>
            <a:ext cx="8156448" cy="6470469"/>
          </a:xfrm>
          <a:prstGeom prst="rect">
            <a:avLst/>
          </a:prstGeom>
        </p:spPr>
        <p:txBody>
          <a:bodyPr lIns="0" tIns="0" rIns="0" bIns="0">
            <a:noAutofit/>
          </a:bodyPr>
          <a:lstStyle/>
          <a:p>
            <a:pPr indent="0" algn="ctr">
              <a:spcAft>
                <a:spcPts val="840"/>
              </a:spcAft>
            </a:pPr>
            <a:r>
              <a:rPr lang="en-US" sz="3600" b="1">
                <a:solidFill>
                  <a:srgbClr val="FC0128"/>
                </a:solidFill>
                <a:latin typeface="Times New Roman"/>
              </a:rPr>
              <a:t>Data Access Methods</a:t>
            </a:r>
          </a:p>
          <a:p>
            <a:pPr indent="0" algn="just">
              <a:lnSpc>
                <a:spcPts val="2616"/>
              </a:lnSpc>
            </a:pPr>
            <a:r>
              <a:rPr lang="en-US" sz="2200">
                <a:latin typeface="Times New Roman"/>
              </a:rPr>
              <a:t>Three ways for applications to access data:</a:t>
            </a:r>
          </a:p>
          <a:p>
            <a:pPr marL="368300" marR="1955800" indent="-368300">
              <a:lnSpc>
                <a:spcPts val="2616"/>
              </a:lnSpc>
            </a:pPr>
            <a:r>
              <a:rPr lang="en-US" sz="2200">
                <a:solidFill>
                  <a:srgbClr val="063DE8"/>
                </a:solidFill>
                <a:latin typeface="Times New Roman"/>
              </a:rPr>
              <a:t>□</a:t>
            </a:r>
            <a:r>
              <a:rPr lang="en-US" sz="2200" b="1">
                <a:solidFill>
                  <a:srgbClr val="063DE8"/>
                </a:solidFill>
                <a:latin typeface="Times New Roman"/>
              </a:rPr>
              <a:t>    Block Access</a:t>
            </a:r>
            <a:r>
              <a:rPr lang="en-US" sz="2200">
                <a:latin typeface="Times New Roman"/>
              </a:rPr>
              <a:t>: A fixed number of bytes (block-size), e.g., 1 sector, 4 sectors, 16 sectors</a:t>
            </a:r>
          </a:p>
          <a:p>
            <a:pPr marL="368300" indent="-368300">
              <a:lnSpc>
                <a:spcPts val="2616"/>
              </a:lnSpc>
            </a:pPr>
            <a:r>
              <a:rPr lang="en-US" sz="2200">
                <a:solidFill>
                  <a:srgbClr val="063DE8"/>
                </a:solidFill>
                <a:latin typeface="Times New Roman"/>
              </a:rPr>
              <a:t>□</a:t>
            </a:r>
            <a:r>
              <a:rPr lang="en-US" sz="2200" b="1">
                <a:solidFill>
                  <a:srgbClr val="063DE8"/>
                </a:solidFill>
                <a:latin typeface="Times New Roman"/>
              </a:rPr>
              <a:t>    File Access</a:t>
            </a:r>
            <a:r>
              <a:rPr lang="en-US" sz="2200">
                <a:latin typeface="Times New Roman"/>
              </a:rPr>
              <a:t>: A set of bytes with name, creation date, and other meta data.</a:t>
            </a:r>
          </a:p>
          <a:p>
            <a:pPr marL="482600" indent="0" algn="just">
              <a:lnSpc>
                <a:spcPts val="2616"/>
              </a:lnSpc>
            </a:pPr>
            <a:r>
              <a:rPr lang="en-US" sz="2200">
                <a:latin typeface="Times New Roman"/>
              </a:rPr>
              <a:t>&gt;    May or may not be contiguous.</a:t>
            </a:r>
          </a:p>
          <a:p>
            <a:pPr marL="774700" indent="-292100">
              <a:lnSpc>
                <a:spcPts val="2616"/>
              </a:lnSpc>
            </a:pPr>
            <a:r>
              <a:rPr lang="en-US" sz="2200">
                <a:latin typeface="Times New Roman"/>
              </a:rPr>
              <a:t>&gt;    A file system, such as, FAT-32 (File Allocation Table) or NTFS (New Technology File System) defines how the meta-data is stored and files are organized.</a:t>
            </a:r>
          </a:p>
          <a:p>
            <a:pPr marL="482600" indent="0" algn="just">
              <a:lnSpc>
                <a:spcPts val="2616"/>
              </a:lnSpc>
            </a:pPr>
            <a:r>
              <a:rPr lang="en-US" sz="2200">
                <a:latin typeface="Times New Roman"/>
              </a:rPr>
              <a:t>&gt;    File systems vary with the operating systems.</a:t>
            </a:r>
          </a:p>
          <a:p>
            <a:pPr indent="0" algn="just">
              <a:lnSpc>
                <a:spcPts val="2616"/>
              </a:lnSpc>
            </a:pPr>
            <a:r>
              <a:rPr lang="en-US" sz="2200">
                <a:solidFill>
                  <a:srgbClr val="063DE8"/>
                </a:solidFill>
                <a:latin typeface="Times New Roman"/>
              </a:rPr>
              <a:t>□</a:t>
            </a:r>
            <a:r>
              <a:rPr lang="en-US" sz="2200" b="1">
                <a:solidFill>
                  <a:srgbClr val="063DE8"/>
                </a:solidFill>
                <a:latin typeface="Times New Roman"/>
              </a:rPr>
              <a:t>    Record Access</a:t>
            </a:r>
            <a:r>
              <a:rPr lang="en-US" sz="2200">
                <a:latin typeface="Times New Roman"/>
              </a:rPr>
              <a:t>: Used for highly structured data in databases.</a:t>
            </a:r>
          </a:p>
          <a:p>
            <a:pPr marL="368300" indent="0">
              <a:lnSpc>
                <a:spcPts val="2616"/>
              </a:lnSpc>
            </a:pPr>
            <a:r>
              <a:rPr lang="en-US" sz="2200">
                <a:latin typeface="Times New Roman"/>
              </a:rPr>
              <a:t>Each record has a particular format and set of fields.</a:t>
            </a:r>
          </a:p>
          <a:p>
            <a:pPr marL="368300" indent="0">
              <a:lnSpc>
                <a:spcPts val="2616"/>
              </a:lnSpc>
            </a:pPr>
            <a:r>
              <a:rPr lang="en-US" sz="2200">
                <a:latin typeface="Times New Roman"/>
              </a:rPr>
              <a:t>Accessed using Structured Query Language (SQL), Open DataBase Connectivity (ODBC), Java DataBase Connectivity (JDBC)</a:t>
            </a:r>
          </a:p>
          <a:p>
            <a:pPr marL="368300" indent="-368300">
              <a:lnSpc>
                <a:spcPts val="2616"/>
              </a:lnSpc>
            </a:pPr>
            <a:r>
              <a:rPr lang="en-US" sz="2200">
                <a:solidFill>
                  <a:srgbClr val="063DE8"/>
                </a:solidFill>
                <a:latin typeface="Times New Roman"/>
              </a:rPr>
              <a:t>□    </a:t>
            </a:r>
            <a:r>
              <a:rPr lang="en-US" sz="2200">
                <a:latin typeface="Times New Roman"/>
              </a:rPr>
              <a:t>Storage systems provide block access. A logical volume manager in the OS provides other “virtual” views, e.g., file or record</a:t>
            </a:r>
          </a:p>
          <a:p>
            <a:pPr indent="0" algn="just"/>
            <a:endParaRPr lang="en-US" sz="1200">
              <a:latin typeface="Times New Roman"/>
            </a:endParaRPr>
          </a:p>
        </p:txBody>
      </p:sp>
      <p:sp>
        <p:nvSpPr>
          <p:cNvPr id="3" name="Rectangle 2"/>
          <p:cNvSpPr/>
          <p:nvPr/>
        </p:nvSpPr>
        <p:spPr>
          <a:xfrm>
            <a:off x="4334256" y="6623304"/>
            <a:ext cx="326136" cy="195072"/>
          </a:xfrm>
          <a:prstGeom prst="rect">
            <a:avLst/>
          </a:prstGeom>
        </p:spPr>
        <p:txBody>
          <a:bodyPr wrap="none" lIns="0" tIns="0" rIns="0" bIns="0">
            <a:noAutofit/>
          </a:bodyPr>
          <a:lstStyle/>
          <a:p>
            <a:pPr indent="0"/>
            <a:r>
              <a:rPr lang="en-US" sz="1800">
                <a:latin typeface="Times New Roman"/>
              </a:rPr>
              <a:t>4</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781800" y="1676400"/>
            <a:ext cx="1648968" cy="1100328"/>
          </a:xfrm>
          <a:prstGeom prst="rect">
            <a:avLst/>
          </a:prstGeom>
        </p:spPr>
      </p:pic>
      <p:sp>
        <p:nvSpPr>
          <p:cNvPr id="3" name="Rectangle 2"/>
          <p:cNvSpPr/>
          <p:nvPr/>
        </p:nvSpPr>
        <p:spPr>
          <a:xfrm>
            <a:off x="429768" y="0"/>
            <a:ext cx="7808976" cy="1164336"/>
          </a:xfrm>
          <a:prstGeom prst="rect">
            <a:avLst/>
          </a:prstGeom>
        </p:spPr>
        <p:txBody>
          <a:bodyPr lIns="0" tIns="0" rIns="0" bIns="0">
            <a:noAutofit/>
          </a:bodyPr>
          <a:lstStyle/>
          <a:p>
            <a:pPr indent="0" algn="ctr">
              <a:spcAft>
                <a:spcPts val="1050"/>
              </a:spcAft>
            </a:pPr>
            <a:r>
              <a:rPr lang="en-US" sz="2800" b="1">
                <a:solidFill>
                  <a:srgbClr val="FC0128"/>
                </a:solidFill>
                <a:latin typeface="Times New Roman"/>
              </a:rPr>
              <a:t>SCSI (Small Computer System Interface)</a:t>
            </a:r>
          </a:p>
          <a:p>
            <a:pPr indent="0" algn="just">
              <a:spcAft>
                <a:spcPts val="840"/>
              </a:spcAft>
            </a:pPr>
            <a:r>
              <a:rPr lang="en-US" sz="2400">
                <a:solidFill>
                  <a:srgbClr val="063DE8"/>
                </a:solidFill>
                <a:latin typeface="Times New Roman"/>
              </a:rPr>
              <a:t>□    </a:t>
            </a:r>
            <a:r>
              <a:rPr lang="en-US" sz="2400">
                <a:latin typeface="Times New Roman"/>
              </a:rPr>
              <a:t>Used to connect disk drives and tapes to computer</a:t>
            </a:r>
          </a:p>
          <a:p>
            <a:pPr indent="-355600">
              <a:lnSpc>
                <a:spcPts val="2880"/>
              </a:lnSpc>
            </a:pPr>
            <a:r>
              <a:rPr lang="en-US" sz="2400">
                <a:solidFill>
                  <a:srgbClr val="063DE8"/>
                </a:solidFill>
                <a:latin typeface="Times New Roman"/>
              </a:rPr>
              <a:t>□    </a:t>
            </a:r>
            <a:r>
              <a:rPr lang="en-US" sz="2400">
                <a:latin typeface="Times New Roman"/>
              </a:rPr>
              <a:t>8-16 devices on a single bus. Any number of hosts on the bus </a:t>
            </a:r>
          </a:p>
        </p:txBody>
      </p:sp>
      <p:sp>
        <p:nvSpPr>
          <p:cNvPr id="4" name="Rectangle 3"/>
          <p:cNvSpPr/>
          <p:nvPr/>
        </p:nvSpPr>
        <p:spPr>
          <a:xfrm>
            <a:off x="484632" y="1722120"/>
            <a:ext cx="5955792" cy="1045464"/>
          </a:xfrm>
          <a:prstGeom prst="rect">
            <a:avLst/>
          </a:prstGeom>
        </p:spPr>
        <p:txBody>
          <a:bodyPr lIns="0" tIns="0" rIns="0" bIns="0">
            <a:noAutofit/>
          </a:bodyPr>
          <a:lstStyle/>
          <a:p>
            <a:pPr indent="-355600">
              <a:lnSpc>
                <a:spcPts val="2880"/>
              </a:lnSpc>
            </a:pPr>
            <a:r>
              <a:rPr lang="en-US" sz="2400">
                <a:latin typeface="Times New Roman"/>
              </a:rPr>
              <a:t>At least one host with host bus adapter (HBA)</a:t>
            </a:r>
          </a:p>
          <a:p>
            <a:pPr indent="-355600">
              <a:lnSpc>
                <a:spcPts val="2856"/>
              </a:lnSpc>
            </a:pPr>
            <a:r>
              <a:rPr lang="en-US" sz="2400">
                <a:solidFill>
                  <a:srgbClr val="063DE8"/>
                </a:solidFill>
                <a:latin typeface="Times New Roman"/>
              </a:rPr>
              <a:t>□    </a:t>
            </a:r>
            <a:r>
              <a:rPr lang="en-US" sz="2400">
                <a:latin typeface="Times New Roman"/>
              </a:rPr>
              <a:t>Standard commands, protocols, and optical and electrical interfaces.</a:t>
            </a:r>
          </a:p>
        </p:txBody>
      </p:sp>
      <p:sp>
        <p:nvSpPr>
          <p:cNvPr id="5" name="Rectangle 4"/>
          <p:cNvSpPr/>
          <p:nvPr/>
        </p:nvSpPr>
        <p:spPr>
          <a:xfrm>
            <a:off x="472440" y="2892552"/>
            <a:ext cx="8119872" cy="3657600"/>
          </a:xfrm>
          <a:prstGeom prst="rect">
            <a:avLst/>
          </a:prstGeom>
        </p:spPr>
        <p:txBody>
          <a:bodyPr lIns="0" tIns="0" rIns="0" bIns="0">
            <a:noAutofit/>
          </a:bodyPr>
          <a:lstStyle/>
          <a:p>
            <a:pPr indent="-355600">
              <a:lnSpc>
                <a:spcPts val="2856"/>
              </a:lnSpc>
            </a:pPr>
            <a:r>
              <a:rPr lang="en-US" sz="2400">
                <a:solidFill>
                  <a:srgbClr val="063DE8"/>
                </a:solidFill>
                <a:latin typeface="Times New Roman"/>
              </a:rPr>
              <a:t>□    </a:t>
            </a:r>
            <a:r>
              <a:rPr lang="en-US" sz="2400">
                <a:latin typeface="Times New Roman"/>
              </a:rPr>
              <a:t>Peer-to-peer: host-to-device, device-to-device, host-to-host But most devices implement only targets. Can't be initiators.</a:t>
            </a:r>
          </a:p>
          <a:p>
            <a:pPr indent="0" algn="just">
              <a:spcAft>
                <a:spcPts val="840"/>
              </a:spcAft>
            </a:pPr>
            <a:r>
              <a:rPr lang="en-US" sz="2400">
                <a:solidFill>
                  <a:srgbClr val="063DE8"/>
                </a:solidFill>
                <a:latin typeface="Times New Roman"/>
              </a:rPr>
              <a:t>□    </a:t>
            </a:r>
            <a:r>
              <a:rPr lang="en-US" sz="2400">
                <a:latin typeface="Times New Roman"/>
              </a:rPr>
              <a:t>Each device on the SCSI bus has a "ID".</a:t>
            </a:r>
          </a:p>
          <a:p>
            <a:pPr indent="-355600">
              <a:lnSpc>
                <a:spcPts val="2880"/>
              </a:lnSpc>
            </a:pPr>
            <a:r>
              <a:rPr lang="en-US" sz="2400">
                <a:solidFill>
                  <a:srgbClr val="063DE8"/>
                </a:solidFill>
                <a:latin typeface="Times New Roman"/>
              </a:rPr>
              <a:t>□    </a:t>
            </a:r>
            <a:r>
              <a:rPr lang="en-US" sz="2400">
                <a:latin typeface="Times New Roman"/>
              </a:rPr>
              <a:t>Each device may consist of multiple logical units (LUNs). LUNS are like apartments in a building.</a:t>
            </a:r>
          </a:p>
          <a:p>
            <a:pPr indent="-355600">
              <a:lnSpc>
                <a:spcPts val="2880"/>
              </a:lnSpc>
            </a:pPr>
            <a:r>
              <a:rPr lang="en-US" sz="2400">
                <a:solidFill>
                  <a:srgbClr val="063DE8"/>
                </a:solidFill>
                <a:latin typeface="Times New Roman"/>
              </a:rPr>
              <a:t>□    </a:t>
            </a:r>
            <a:r>
              <a:rPr lang="en-US" sz="2400">
                <a:latin typeface="Times New Roman"/>
              </a:rPr>
              <a:t>A direct access (disk) storage is addressed by a Logical Block Address (LBA). Each LB is typically 512 bytes.</a:t>
            </a:r>
          </a:p>
          <a:p>
            <a:pPr indent="-355600">
              <a:lnSpc>
                <a:spcPts val="2808"/>
              </a:lnSpc>
            </a:pPr>
            <a:r>
              <a:rPr lang="en-US" sz="2400">
                <a:solidFill>
                  <a:srgbClr val="063DE8"/>
                </a:solidFill>
                <a:latin typeface="Times New Roman"/>
              </a:rPr>
              <a:t>□    </a:t>
            </a:r>
            <a:r>
              <a:rPr lang="en-US" sz="2400">
                <a:latin typeface="Times New Roman"/>
              </a:rPr>
              <a:t>Initially used a parallel interface (Parallel SCSI) ^ Skew Now Serial Attached SCSI (SAS) for higher speed</a:t>
            </a:r>
          </a:p>
          <a:p>
            <a:pPr indent="0" algn="just"/>
            <a:endParaRPr lang="en-US" sz="1200">
              <a:latin typeface="Times New Roman"/>
            </a:endParaRPr>
          </a:p>
        </p:txBody>
      </p:sp>
      <p:sp>
        <p:nvSpPr>
          <p:cNvPr id="6" name="Rectangle 5"/>
          <p:cNvSpPr/>
          <p:nvPr/>
        </p:nvSpPr>
        <p:spPr>
          <a:xfrm>
            <a:off x="4334256" y="6623304"/>
            <a:ext cx="320040" cy="195072"/>
          </a:xfrm>
          <a:prstGeom prst="rect">
            <a:avLst/>
          </a:prstGeom>
        </p:spPr>
        <p:txBody>
          <a:bodyPr wrap="none" lIns="0" tIns="0" rIns="0" bIns="0">
            <a:noAutofit/>
          </a:bodyPr>
          <a:lstStyle/>
          <a:p>
            <a:pPr indent="0"/>
            <a:r>
              <a:rPr lang="en-US" sz="1800">
                <a:latin typeface="Times New Roman"/>
              </a:rPr>
              <a:t>5</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93637" y="286511"/>
            <a:ext cx="8156448" cy="6070745"/>
          </a:xfrm>
          <a:prstGeom prst="rect">
            <a:avLst/>
          </a:prstGeom>
        </p:spPr>
        <p:txBody>
          <a:bodyPr lIns="0" tIns="0" rIns="0" bIns="0">
            <a:noAutofit/>
          </a:bodyPr>
          <a:lstStyle/>
          <a:p>
            <a:pPr indent="0">
              <a:spcAft>
                <a:spcPts val="2520"/>
              </a:spcAft>
            </a:pPr>
            <a:r>
              <a:rPr lang="en-US" sz="3100" b="1">
                <a:solidFill>
                  <a:srgbClr val="FC0128"/>
                </a:solidFill>
                <a:latin typeface="Times New Roman"/>
              </a:rPr>
              <a:t>Advanced Technology Attachment (ATA)</a:t>
            </a:r>
          </a:p>
          <a:p>
            <a:pPr indent="0" algn="just">
              <a:spcAft>
                <a:spcPts val="1050"/>
              </a:spcAft>
            </a:pPr>
            <a:r>
              <a:rPr lang="en-US" sz="2400">
                <a:solidFill>
                  <a:srgbClr val="063DE8"/>
                </a:solidFill>
                <a:latin typeface="Times New Roman"/>
              </a:rPr>
              <a:t>□    </a:t>
            </a:r>
            <a:r>
              <a:rPr lang="en-US" sz="2400">
                <a:latin typeface="Times New Roman"/>
              </a:rPr>
              <a:t>Parallel Advanced Technology Attachment (PATA):</a:t>
            </a:r>
          </a:p>
          <a:p>
            <a:pPr marL="762000" indent="-279400">
              <a:lnSpc>
                <a:spcPts val="2952"/>
              </a:lnSpc>
              <a:spcAft>
                <a:spcPts val="210"/>
              </a:spcAft>
            </a:pPr>
            <a:r>
              <a:rPr lang="en-US" sz="2400">
                <a:latin typeface="Times New Roman"/>
              </a:rPr>
              <a:t>&gt;    Designed in 1986 for PCs. Controller integrated in the disk ^ Integrated Device Electronics (IDE).</a:t>
            </a:r>
          </a:p>
          <a:p>
            <a:pPr marL="482600" indent="0" algn="just">
              <a:spcAft>
                <a:spcPts val="1050"/>
              </a:spcAft>
            </a:pPr>
            <a:r>
              <a:rPr lang="en-US" sz="2400">
                <a:latin typeface="Times New Roman"/>
              </a:rPr>
              <a:t>&gt;    133 Mbps using parallel ribbon cables</a:t>
            </a:r>
          </a:p>
          <a:p>
            <a:pPr marL="368300" indent="-368300">
              <a:lnSpc>
                <a:spcPts val="2880"/>
              </a:lnSpc>
              <a:spcAft>
                <a:spcPts val="210"/>
              </a:spcAft>
            </a:pPr>
            <a:r>
              <a:rPr lang="en-US" sz="2400">
                <a:solidFill>
                  <a:srgbClr val="063DE8"/>
                </a:solidFill>
                <a:latin typeface="Times New Roman"/>
              </a:rPr>
              <a:t>□    </a:t>
            </a:r>
            <a:r>
              <a:rPr lang="en-US" sz="2400">
                <a:latin typeface="Times New Roman"/>
              </a:rPr>
              <a:t>ATA Packet Interface (ATAPI): Extended PATA to CD-ROMS, DVD-ROMs, and Tape drives</a:t>
            </a:r>
          </a:p>
          <a:p>
            <a:pPr indent="0" algn="just">
              <a:spcAft>
                <a:spcPts val="1050"/>
              </a:spcAft>
            </a:pPr>
            <a:r>
              <a:rPr lang="en-US" sz="2400">
                <a:solidFill>
                  <a:srgbClr val="063DE8"/>
                </a:solidFill>
                <a:latin typeface="Times New Roman"/>
              </a:rPr>
              <a:t>□    </a:t>
            </a:r>
            <a:r>
              <a:rPr lang="en-US" sz="2400">
                <a:latin typeface="Times New Roman"/>
              </a:rPr>
              <a:t>Serial Advanced Technology Attachment (SATA):</a:t>
            </a:r>
          </a:p>
          <a:p>
            <a:pPr marL="482600" indent="0" algn="just">
              <a:spcAft>
                <a:spcPts val="1050"/>
              </a:spcAft>
            </a:pPr>
            <a:r>
              <a:rPr lang="en-US" sz="2400">
                <a:latin typeface="Times New Roman"/>
              </a:rPr>
              <a:t>&gt;    Designed in 2003 for internal hard disks. 6 Gbps.</a:t>
            </a:r>
          </a:p>
          <a:p>
            <a:pPr marL="368300" indent="-368300">
              <a:lnSpc>
                <a:spcPts val="2856"/>
              </a:lnSpc>
            </a:pPr>
            <a:r>
              <a:rPr lang="en-US" sz="2400">
                <a:solidFill>
                  <a:srgbClr val="063DE8"/>
                </a:solidFill>
                <a:latin typeface="Times New Roman"/>
              </a:rPr>
              <a:t>□    </a:t>
            </a:r>
            <a:r>
              <a:rPr lang="en-US" sz="2400">
                <a:latin typeface="Times New Roman"/>
              </a:rPr>
              <a:t>PATA Enhancements: ATA-2 (Ultra ATA), ATA-3 (EIDE) SATA Enhancements: external SATA (eSATA), mini SATA (mSATA)</a:t>
            </a:r>
          </a:p>
        </p:txBody>
      </p:sp>
      <p:sp>
        <p:nvSpPr>
          <p:cNvPr id="4" name="Rectangle 3"/>
          <p:cNvSpPr/>
          <p:nvPr/>
        </p:nvSpPr>
        <p:spPr>
          <a:xfrm>
            <a:off x="4334256" y="6623304"/>
            <a:ext cx="326136" cy="195072"/>
          </a:xfrm>
          <a:prstGeom prst="rect">
            <a:avLst/>
          </a:prstGeom>
        </p:spPr>
        <p:txBody>
          <a:bodyPr wrap="none" lIns="0" tIns="0" rIns="0" bIns="0">
            <a:noAutofit/>
          </a:bodyPr>
          <a:lstStyle/>
          <a:p>
            <a:pPr indent="0"/>
            <a:r>
              <a:rPr lang="en-US" sz="1800">
                <a:latin typeface="Times New Roman"/>
              </a:rPr>
              <a:t>6</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82168" y="174605"/>
            <a:ext cx="8156448" cy="5954051"/>
          </a:xfrm>
          <a:prstGeom prst="rect">
            <a:avLst/>
          </a:prstGeom>
        </p:spPr>
        <p:txBody>
          <a:bodyPr lIns="0" tIns="0" rIns="0" bIns="0">
            <a:noAutofit/>
          </a:bodyPr>
          <a:lstStyle/>
          <a:p>
            <a:pPr indent="0" algn="ctr">
              <a:spcAft>
                <a:spcPts val="2520"/>
              </a:spcAft>
            </a:pPr>
            <a:r>
              <a:rPr lang="en-US" sz="3600" b="1">
                <a:solidFill>
                  <a:srgbClr val="FC0128"/>
                </a:solidFill>
                <a:latin typeface="Times New Roman"/>
              </a:rPr>
              <a:t>ESCON and FICON</a:t>
            </a:r>
          </a:p>
          <a:p>
            <a:pPr indent="0" algn="just">
              <a:lnSpc>
                <a:spcPts val="3432"/>
              </a:lnSpc>
            </a:pPr>
            <a:r>
              <a:rPr lang="en-US" sz="2400">
                <a:solidFill>
                  <a:srgbClr val="063DE8"/>
                </a:solidFill>
                <a:latin typeface="Times New Roman"/>
              </a:rPr>
              <a:t>□    </a:t>
            </a:r>
            <a:r>
              <a:rPr lang="en-US" sz="2400">
                <a:latin typeface="Times New Roman"/>
              </a:rPr>
              <a:t>Enterprise System Connection (ESCON):</a:t>
            </a:r>
          </a:p>
          <a:p>
            <a:pPr marL="825500" indent="-342900" algn="just">
              <a:lnSpc>
                <a:spcPts val="3432"/>
              </a:lnSpc>
              <a:buFontTx/>
              <a:buChar char="-"/>
            </a:pPr>
            <a:r>
              <a:rPr lang="en-US" sz="2400">
                <a:latin typeface="Times New Roman"/>
              </a:rPr>
              <a:t>Designed by IBM for main frames.</a:t>
            </a:r>
          </a:p>
          <a:p>
            <a:pPr marL="482600" indent="0" algn="just">
              <a:lnSpc>
                <a:spcPts val="3432"/>
              </a:lnSpc>
            </a:pPr>
            <a:r>
              <a:rPr lang="en-US" sz="2400">
                <a:latin typeface="Times New Roman"/>
              </a:rPr>
              <a:t>-   Includes switches enabling sharing by multiple servers</a:t>
            </a:r>
          </a:p>
          <a:p>
            <a:pPr marL="482600" indent="0" algn="just">
              <a:lnSpc>
                <a:spcPts val="3432"/>
              </a:lnSpc>
            </a:pPr>
            <a:r>
              <a:rPr lang="en-US" sz="2400">
                <a:latin typeface="Times New Roman"/>
              </a:rPr>
              <a:t>-   Fibers allowed 17 Mbps over 3-43 KM</a:t>
            </a:r>
          </a:p>
          <a:p>
            <a:pPr marL="482600" indent="0" algn="just">
              <a:lnSpc>
                <a:spcPts val="3432"/>
              </a:lnSpc>
            </a:pPr>
            <a:r>
              <a:rPr lang="en-US" sz="2400">
                <a:latin typeface="Times New Roman"/>
              </a:rPr>
              <a:t>-   Half-duplex</a:t>
            </a:r>
          </a:p>
          <a:p>
            <a:pPr indent="0" algn="just">
              <a:lnSpc>
                <a:spcPts val="3432"/>
              </a:lnSpc>
            </a:pPr>
            <a:r>
              <a:rPr lang="en-US" sz="2400">
                <a:solidFill>
                  <a:srgbClr val="063DE8"/>
                </a:solidFill>
                <a:latin typeface="Times New Roman"/>
              </a:rPr>
              <a:t>□    </a:t>
            </a:r>
            <a:r>
              <a:rPr lang="en-US" sz="2400">
                <a:latin typeface="Times New Roman"/>
              </a:rPr>
              <a:t>Fiber Connectivity (FICON):</a:t>
            </a:r>
          </a:p>
          <a:p>
            <a:pPr marL="482600" indent="0" algn="just">
              <a:lnSpc>
                <a:spcPts val="3432"/>
              </a:lnSpc>
            </a:pPr>
            <a:r>
              <a:rPr lang="en-US" sz="2400">
                <a:latin typeface="Times New Roman"/>
              </a:rPr>
              <a:t>-   Supports point-to-point and cascaded topologies</a:t>
            </a:r>
          </a:p>
          <a:p>
            <a:pPr marL="482600" indent="0" algn="just">
              <a:lnSpc>
                <a:spcPts val="3432"/>
              </a:lnSpc>
            </a:pPr>
            <a:r>
              <a:rPr lang="en-US" sz="2400">
                <a:latin typeface="Times New Roman"/>
              </a:rPr>
              <a:t>-   Supports multiple concurrent I/O operations per channel</a:t>
            </a:r>
          </a:p>
          <a:p>
            <a:pPr marL="482600" indent="0" algn="just">
              <a:lnSpc>
                <a:spcPts val="3432"/>
              </a:lnSpc>
            </a:pPr>
            <a:r>
              <a:rPr lang="en-US" sz="2400">
                <a:latin typeface="Times New Roman"/>
              </a:rPr>
              <a:t>-   Uses Single Byte Command Code Sets (SBCCS)</a:t>
            </a:r>
          </a:p>
          <a:p>
            <a:pPr marL="482600" indent="0" algn="just">
              <a:lnSpc>
                <a:spcPts val="3432"/>
              </a:lnSpc>
            </a:pPr>
            <a:r>
              <a:rPr lang="en-US" sz="2400">
                <a:latin typeface="Times New Roman"/>
              </a:rPr>
              <a:t>-    Uses Fibre Channel as a transport</a:t>
            </a:r>
          </a:p>
        </p:txBody>
      </p:sp>
      <p:sp>
        <p:nvSpPr>
          <p:cNvPr id="4" name="Rectangle 3"/>
          <p:cNvSpPr/>
          <p:nvPr/>
        </p:nvSpPr>
        <p:spPr>
          <a:xfrm>
            <a:off x="4334256" y="6623304"/>
            <a:ext cx="326136" cy="195072"/>
          </a:xfrm>
          <a:prstGeom prst="rect">
            <a:avLst/>
          </a:prstGeom>
        </p:spPr>
        <p:txBody>
          <a:bodyPr wrap="none" lIns="0" tIns="0" rIns="0" bIns="0">
            <a:noAutofit/>
          </a:bodyPr>
          <a:lstStyle/>
          <a:p>
            <a:pPr indent="0"/>
            <a:r>
              <a:rPr lang="en-US" sz="1800">
                <a:latin typeface="Times New Roman"/>
              </a:rPr>
              <a:t>7</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3032760" y="140208"/>
            <a:ext cx="2602992" cy="350520"/>
          </a:xfrm>
          <a:prstGeom prst="rect">
            <a:avLst/>
          </a:prstGeom>
        </p:spPr>
        <p:txBody>
          <a:bodyPr wrap="none" lIns="0" tIns="0" rIns="0" bIns="0">
            <a:noAutofit/>
          </a:bodyPr>
          <a:lstStyle/>
          <a:p>
            <a:pPr indent="0"/>
            <a:r>
              <a:rPr lang="en-US" sz="3600" b="1">
                <a:solidFill>
                  <a:srgbClr val="FC0128"/>
                </a:solidFill>
                <a:latin typeface="Times New Roman"/>
              </a:rPr>
              <a:t>Fibre Chanel</a:t>
            </a:r>
          </a:p>
        </p:txBody>
      </p:sp>
      <p:sp>
        <p:nvSpPr>
          <p:cNvPr id="5" name="Rectangle 4"/>
          <p:cNvSpPr/>
          <p:nvPr/>
        </p:nvSpPr>
        <p:spPr>
          <a:xfrm>
            <a:off x="624840" y="1249680"/>
            <a:ext cx="4148328" cy="3014472"/>
          </a:xfrm>
          <a:prstGeom prst="rect">
            <a:avLst/>
          </a:prstGeom>
        </p:spPr>
        <p:txBody>
          <a:bodyPr lIns="0" tIns="0" rIns="0" bIns="0">
            <a:noAutofit/>
          </a:bodyPr>
          <a:lstStyle/>
          <a:p>
            <a:pPr marL="350012" indent="-330200" algn="just">
              <a:lnSpc>
                <a:spcPts val="2856"/>
              </a:lnSpc>
              <a:spcAft>
                <a:spcPts val="210"/>
              </a:spcAft>
            </a:pPr>
            <a:r>
              <a:rPr lang="en-US" sz="2400">
                <a:solidFill>
                  <a:srgbClr val="063DE8"/>
                </a:solidFill>
                <a:latin typeface="Times New Roman"/>
              </a:rPr>
              <a:t>□    </a:t>
            </a:r>
            <a:r>
              <a:rPr lang="en-US" sz="2400">
                <a:latin typeface="Times New Roman"/>
              </a:rPr>
              <a:t>ANSI T11 standard for highspeed </a:t>
            </a:r>
            <a:r>
              <a:rPr lang="en-US" sz="2400" i="1">
                <a:latin typeface="Times New Roman"/>
              </a:rPr>
              <a:t>storage area network </a:t>
            </a:r>
            <a:r>
              <a:rPr lang="en-US" sz="2400">
                <a:latin typeface="Times New Roman"/>
              </a:rPr>
              <a:t>(SAN)</a:t>
            </a:r>
          </a:p>
          <a:p>
            <a:pPr marL="350012" indent="-330200" algn="just">
              <a:lnSpc>
                <a:spcPts val="2952"/>
              </a:lnSpc>
              <a:spcAft>
                <a:spcPts val="210"/>
              </a:spcAft>
            </a:pPr>
            <a:r>
              <a:rPr lang="en-US" sz="2400">
                <a:solidFill>
                  <a:srgbClr val="063DE8"/>
                </a:solidFill>
                <a:latin typeface="Times New Roman"/>
              </a:rPr>
              <a:t>□    </a:t>
            </a:r>
            <a:r>
              <a:rPr lang="en-US" sz="2400">
                <a:latin typeface="Times New Roman"/>
              </a:rPr>
              <a:t>2, 4, 8, 16, 32 GBps. Can run on TP or fiber</a:t>
            </a:r>
          </a:p>
          <a:p>
            <a:pPr marL="350012" indent="-330200" algn="just"/>
            <a:r>
              <a:rPr lang="en-US" sz="2400">
                <a:solidFill>
                  <a:srgbClr val="063DE8"/>
                </a:solidFill>
                <a:latin typeface="Times New Roman"/>
              </a:rPr>
              <a:t>□    </a:t>
            </a:r>
            <a:r>
              <a:rPr lang="en-US" sz="2400">
                <a:latin typeface="Times New Roman"/>
              </a:rPr>
              <a:t>Allows point-to-point,</a:t>
            </a:r>
          </a:p>
          <a:p>
            <a:pPr marL="350012" indent="0" algn="just">
              <a:lnSpc>
                <a:spcPts val="2856"/>
              </a:lnSpc>
            </a:pPr>
            <a:r>
              <a:rPr lang="en-US" sz="2400">
                <a:latin typeface="Times New Roman"/>
              </a:rPr>
              <a:t>arbitrated loop (ring), switched fabric topologies</a:t>
            </a:r>
          </a:p>
        </p:txBody>
      </p:sp>
      <p:sp>
        <p:nvSpPr>
          <p:cNvPr id="19" name="Rectangle 18"/>
          <p:cNvSpPr/>
          <p:nvPr/>
        </p:nvSpPr>
        <p:spPr>
          <a:xfrm>
            <a:off x="4334256" y="6623304"/>
            <a:ext cx="323088" cy="195072"/>
          </a:xfrm>
          <a:prstGeom prst="rect">
            <a:avLst/>
          </a:prstGeom>
        </p:spPr>
        <p:txBody>
          <a:bodyPr wrap="none" lIns="0" tIns="0" rIns="0" bIns="0">
            <a:noAutofit/>
          </a:bodyPr>
          <a:lstStyle/>
          <a:p>
            <a:pPr indent="0"/>
            <a:r>
              <a:rPr lang="en-US" sz="1800">
                <a:latin typeface="Times New Roman"/>
              </a:rPr>
              <a:t>8</a:t>
            </a:r>
          </a:p>
        </p:txBody>
      </p:sp>
      <p:pic>
        <p:nvPicPr>
          <p:cNvPr id="20" name="Picture 19" descr="A diagram of a computer network&#10;&#10;AI-generated content may be incorrect.">
            <a:extLst>
              <a:ext uri="{FF2B5EF4-FFF2-40B4-BE49-F238E27FC236}">
                <a16:creationId xmlns:a16="http://schemas.microsoft.com/office/drawing/2014/main" id="{11BD5C7B-B73E-8F9F-67D2-175B4140BF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8461" y="1249680"/>
            <a:ext cx="3475021" cy="2408129"/>
          </a:xfrm>
          <a:prstGeom prst="rect">
            <a:avLst/>
          </a:prstGeom>
        </p:spPr>
      </p:pic>
      <p:pic>
        <p:nvPicPr>
          <p:cNvPr id="22" name="Picture 21" descr="A diagram of a network&#10;&#10;AI-generated content may be incorrect.">
            <a:extLst>
              <a:ext uri="{FF2B5EF4-FFF2-40B4-BE49-F238E27FC236}">
                <a16:creationId xmlns:a16="http://schemas.microsoft.com/office/drawing/2014/main" id="{D1DCBC57-E636-3677-8C42-4BBEFD3BA271}"/>
              </a:ext>
            </a:extLst>
          </p:cNvPr>
          <p:cNvPicPr>
            <a:picLocks noChangeAspect="1"/>
          </p:cNvPicPr>
          <p:nvPr/>
        </p:nvPicPr>
        <p:blipFill>
          <a:blip r:embed="rId3">
            <a:extLst>
              <a:ext uri="{28A0092B-C50C-407E-A947-70E740481C1C}">
                <a14:useLocalDpi xmlns:a14="http://schemas.microsoft.com/office/drawing/2010/main" val="0"/>
              </a:ext>
            </a:extLst>
          </a:blip>
          <a:srcRect l="1225"/>
          <a:stretch>
            <a:fillRect/>
          </a:stretch>
        </p:blipFill>
        <p:spPr>
          <a:xfrm>
            <a:off x="1045029" y="4409002"/>
            <a:ext cx="7549899" cy="1607959"/>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407920" y="512064"/>
            <a:ext cx="4291584" cy="512064"/>
          </a:xfrm>
          <a:prstGeom prst="rect">
            <a:avLst/>
          </a:prstGeom>
        </p:spPr>
        <p:txBody>
          <a:bodyPr wrap="none" lIns="0" tIns="0" rIns="0" bIns="0">
            <a:noAutofit/>
          </a:bodyPr>
          <a:lstStyle/>
          <a:p>
            <a:pPr indent="0"/>
            <a:r>
              <a:rPr lang="en-US" sz="3600" b="1">
                <a:solidFill>
                  <a:srgbClr val="FC0128"/>
                </a:solidFill>
                <a:latin typeface="Times New Roman"/>
              </a:rPr>
              <a:t>Fibre Channel (Cont)</a:t>
            </a:r>
          </a:p>
        </p:txBody>
      </p:sp>
      <p:sp>
        <p:nvSpPr>
          <p:cNvPr id="3" name="Rectangle 2"/>
          <p:cNvSpPr/>
          <p:nvPr/>
        </p:nvSpPr>
        <p:spPr>
          <a:xfrm>
            <a:off x="643128" y="1271016"/>
            <a:ext cx="7632192" cy="1810512"/>
          </a:xfrm>
          <a:prstGeom prst="rect">
            <a:avLst/>
          </a:prstGeom>
        </p:spPr>
        <p:txBody>
          <a:bodyPr lIns="0" tIns="0" rIns="0" bIns="0">
            <a:noAutofit/>
          </a:bodyPr>
          <a:lstStyle/>
          <a:p>
            <a:pPr indent="-330200">
              <a:lnSpc>
                <a:spcPts val="2856"/>
              </a:lnSpc>
              <a:spcAft>
                <a:spcPts val="210"/>
              </a:spcAft>
            </a:pPr>
            <a:r>
              <a:rPr lang="en-US" sz="2400">
                <a:solidFill>
                  <a:srgbClr val="063DE8"/>
                </a:solidFill>
                <a:latin typeface="Times New Roman"/>
              </a:rPr>
              <a:t>□    </a:t>
            </a:r>
            <a:r>
              <a:rPr lang="en-US" sz="2400">
                <a:latin typeface="Times New Roman"/>
              </a:rPr>
              <a:t>FC host bus adapters (HBA) have a unique 64-bit WorldWide Name (WWN) similar to 48-bit Ethernet MAC addresses with OUI, and vendor specific identifiers (VSID), e.g., 20000000C8328FE6</a:t>
            </a:r>
          </a:p>
          <a:p>
            <a:pPr indent="215900">
              <a:lnSpc>
                <a:spcPts val="3672"/>
              </a:lnSpc>
            </a:pPr>
            <a:r>
              <a:rPr lang="en-US" sz="2400">
                <a:solidFill>
                  <a:srgbClr val="063DE8"/>
                </a:solidFill>
                <a:latin typeface="Times New Roman"/>
              </a:rPr>
              <a:t>□    </a:t>
            </a:r>
            <a:r>
              <a:rPr lang="en-US" sz="2400">
                <a:latin typeface="Times New Roman"/>
              </a:rPr>
              <a:t>Several different network addressing authorities (NAA) </a:t>
            </a:r>
          </a:p>
        </p:txBody>
      </p:sp>
      <p:sp>
        <p:nvSpPr>
          <p:cNvPr id="13" name="Rectangle 12"/>
          <p:cNvSpPr/>
          <p:nvPr/>
        </p:nvSpPr>
        <p:spPr>
          <a:xfrm>
            <a:off x="4334256" y="6623304"/>
            <a:ext cx="326136" cy="195072"/>
          </a:xfrm>
          <a:prstGeom prst="rect">
            <a:avLst/>
          </a:prstGeom>
        </p:spPr>
        <p:txBody>
          <a:bodyPr wrap="none" lIns="0" tIns="0" rIns="0" bIns="0">
            <a:noAutofit/>
          </a:bodyPr>
          <a:lstStyle/>
          <a:p>
            <a:pPr indent="0"/>
            <a:r>
              <a:rPr lang="en-US" sz="1800">
                <a:latin typeface="Times New Roman"/>
              </a:rPr>
              <a:t>9</a:t>
            </a:r>
          </a:p>
        </p:txBody>
      </p:sp>
      <p:pic>
        <p:nvPicPr>
          <p:cNvPr id="11" name="Picture 10" descr="A black and white rectangular object with numbers and letters&#10;&#10;AI-generated content may be incorrect.">
            <a:extLst>
              <a:ext uri="{FF2B5EF4-FFF2-40B4-BE49-F238E27FC236}">
                <a16:creationId xmlns:a16="http://schemas.microsoft.com/office/drawing/2014/main" id="{BB6EACD1-668E-3846-F441-3285D1DDC1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6593" y="3429000"/>
            <a:ext cx="4915326" cy="1607959"/>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202680" y="1517904"/>
            <a:ext cx="2529840" cy="2023872"/>
          </a:xfrm>
          <a:prstGeom prst="rect">
            <a:avLst/>
          </a:prstGeom>
        </p:spPr>
      </p:pic>
      <p:pic>
        <p:nvPicPr>
          <p:cNvPr id="3" name="Picture 2"/>
          <p:cNvPicPr>
            <a:picLocks noChangeAspect="1"/>
          </p:cNvPicPr>
          <p:nvPr/>
        </p:nvPicPr>
        <p:blipFill>
          <a:blip r:embed="rId3"/>
          <a:stretch>
            <a:fillRect/>
          </a:stretch>
        </p:blipFill>
        <p:spPr>
          <a:xfrm>
            <a:off x="6147816" y="3895344"/>
            <a:ext cx="2523744" cy="2066544"/>
          </a:xfrm>
          <a:prstGeom prst="rect">
            <a:avLst/>
          </a:prstGeom>
        </p:spPr>
      </p:pic>
      <p:sp>
        <p:nvSpPr>
          <p:cNvPr id="4" name="Rectangle 3"/>
          <p:cNvSpPr/>
          <p:nvPr/>
        </p:nvSpPr>
        <p:spPr>
          <a:xfrm>
            <a:off x="2316480" y="111252"/>
            <a:ext cx="4425696" cy="350520"/>
          </a:xfrm>
          <a:prstGeom prst="rect">
            <a:avLst/>
          </a:prstGeom>
        </p:spPr>
        <p:txBody>
          <a:bodyPr wrap="none" lIns="0" tIns="0" rIns="0" bIns="0">
            <a:noAutofit/>
          </a:bodyPr>
          <a:lstStyle/>
          <a:p>
            <a:pPr indent="0"/>
            <a:r>
              <a:rPr lang="en-US" sz="3600" b="1">
                <a:solidFill>
                  <a:srgbClr val="FC0128"/>
                </a:solidFill>
                <a:latin typeface="Times New Roman"/>
              </a:rPr>
              <a:t>Fibre Channel Devices</a:t>
            </a:r>
          </a:p>
        </p:txBody>
      </p:sp>
      <p:sp>
        <p:nvSpPr>
          <p:cNvPr id="5" name="Rectangle 4"/>
          <p:cNvSpPr/>
          <p:nvPr/>
        </p:nvSpPr>
        <p:spPr>
          <a:xfrm>
            <a:off x="469392" y="1283208"/>
            <a:ext cx="192024" cy="4477512"/>
          </a:xfrm>
          <a:prstGeom prst="rect">
            <a:avLst/>
          </a:prstGeom>
        </p:spPr>
        <p:txBody>
          <a:bodyPr lIns="0" tIns="0" rIns="0" bIns="0">
            <a:noAutofit/>
          </a:bodyPr>
          <a:lstStyle/>
          <a:p>
            <a:pPr indent="0">
              <a:spcAft>
                <a:spcPts val="2940"/>
              </a:spcAft>
            </a:pPr>
            <a:r>
              <a:rPr lang="en-US" sz="2200">
                <a:solidFill>
                  <a:srgbClr val="063DE8"/>
                </a:solidFill>
                <a:latin typeface="Times New Roman"/>
              </a:rPr>
              <a:t>□</a:t>
            </a:r>
          </a:p>
          <a:p>
            <a:pPr indent="0">
              <a:lnSpc>
                <a:spcPts val="11064"/>
              </a:lnSpc>
            </a:pPr>
            <a:r>
              <a:rPr lang="en-US" sz="2200">
                <a:solidFill>
                  <a:srgbClr val="063DE8"/>
                </a:solidFill>
                <a:latin typeface="Times New Roman"/>
              </a:rPr>
              <a:t>□</a:t>
            </a:r>
          </a:p>
          <a:p>
            <a:pPr indent="0">
              <a:lnSpc>
                <a:spcPts val="11064"/>
              </a:lnSpc>
            </a:pPr>
            <a:r>
              <a:rPr lang="en-US" sz="2200">
                <a:solidFill>
                  <a:srgbClr val="063DE8"/>
                </a:solidFill>
                <a:latin typeface="Times New Roman"/>
              </a:rPr>
              <a:t>□</a:t>
            </a:r>
          </a:p>
          <a:p>
            <a:pPr indent="0">
              <a:lnSpc>
                <a:spcPts val="11064"/>
              </a:lnSpc>
            </a:pPr>
            <a:r>
              <a:rPr lang="en-US" sz="2200">
                <a:solidFill>
                  <a:srgbClr val="063DE8"/>
                </a:solidFill>
                <a:latin typeface="Times New Roman"/>
              </a:rPr>
              <a:t>□</a:t>
            </a:r>
          </a:p>
          <a:p>
            <a:pPr indent="0"/>
            <a:r>
              <a:rPr lang="en-US" sz="2200">
                <a:solidFill>
                  <a:srgbClr val="063DE8"/>
                </a:solidFill>
                <a:latin typeface="Times New Roman"/>
              </a:rPr>
              <a:t>□</a:t>
            </a:r>
          </a:p>
        </p:txBody>
      </p:sp>
      <p:sp>
        <p:nvSpPr>
          <p:cNvPr id="6" name="Rectangle 5"/>
          <p:cNvSpPr/>
          <p:nvPr/>
        </p:nvSpPr>
        <p:spPr>
          <a:xfrm>
            <a:off x="798576" y="1243584"/>
            <a:ext cx="5196840" cy="4916424"/>
          </a:xfrm>
          <a:prstGeom prst="rect">
            <a:avLst/>
          </a:prstGeom>
        </p:spPr>
        <p:txBody>
          <a:bodyPr lIns="0" tIns="0" rIns="0" bIns="0">
            <a:noAutofit/>
          </a:bodyPr>
          <a:lstStyle/>
          <a:p>
            <a:pPr indent="0">
              <a:lnSpc>
                <a:spcPts val="2640"/>
              </a:lnSpc>
              <a:spcAft>
                <a:spcPts val="210"/>
              </a:spcAft>
            </a:pPr>
            <a:r>
              <a:rPr lang="en-US" sz="2200">
                <a:latin typeface="Times New Roman"/>
              </a:rPr>
              <a:t>Host Bus Adapters (HBA): Network interface card.</a:t>
            </a:r>
          </a:p>
          <a:p>
            <a:pPr indent="0">
              <a:lnSpc>
                <a:spcPts val="2616"/>
              </a:lnSpc>
            </a:pPr>
            <a:r>
              <a:rPr lang="en-US" sz="2200">
                <a:latin typeface="Times New Roman"/>
              </a:rPr>
              <a:t>Gigabit Interface Converter (GBIC):</a:t>
            </a:r>
          </a:p>
          <a:p>
            <a:pPr indent="0">
              <a:lnSpc>
                <a:spcPts val="2616"/>
              </a:lnSpc>
            </a:pPr>
            <a:r>
              <a:rPr lang="en-US" sz="2200">
                <a:latin typeface="Times New Roman"/>
              </a:rPr>
              <a:t>Single mode fiber for long-distance. Multimode fiber for short distance.</a:t>
            </a:r>
          </a:p>
          <a:p>
            <a:pPr indent="0">
              <a:lnSpc>
                <a:spcPts val="2616"/>
              </a:lnSpc>
              <a:spcAft>
                <a:spcPts val="210"/>
              </a:spcAft>
            </a:pPr>
            <a:r>
              <a:rPr lang="en-US" sz="2200">
                <a:latin typeface="Times New Roman"/>
              </a:rPr>
              <a:t>HBA ports are empty. Plug in GBIC.</a:t>
            </a:r>
          </a:p>
          <a:p>
            <a:pPr indent="0">
              <a:lnSpc>
                <a:spcPts val="2640"/>
              </a:lnSpc>
              <a:spcAft>
                <a:spcPts val="210"/>
              </a:spcAft>
            </a:pPr>
            <a:r>
              <a:rPr lang="en-US" sz="2200">
                <a:latin typeface="Times New Roman"/>
              </a:rPr>
              <a:t>Hubs: Physical layer Device. Like a active patch panel. Multiple hosts or storage devices. Only one host can talk to one device at a time using an arbitrated loop (FC-AL) protocol.</a:t>
            </a:r>
          </a:p>
          <a:p>
            <a:pPr indent="0">
              <a:lnSpc>
                <a:spcPts val="2640"/>
              </a:lnSpc>
              <a:spcAft>
                <a:spcPts val="210"/>
              </a:spcAft>
            </a:pPr>
            <a:r>
              <a:rPr lang="en-US" sz="2200">
                <a:latin typeface="Times New Roman"/>
              </a:rPr>
              <a:t>Switches: A link layer device. Forwards FC frames according to destination address.</a:t>
            </a:r>
          </a:p>
          <a:p>
            <a:pPr indent="0">
              <a:spcAft>
                <a:spcPts val="630"/>
              </a:spcAft>
            </a:pPr>
            <a:r>
              <a:rPr lang="en-US" sz="2200">
                <a:latin typeface="Times New Roman"/>
              </a:rPr>
              <a:t>Routers and Gateways:</a:t>
            </a:r>
          </a:p>
          <a:p>
            <a:pPr indent="0">
              <a:spcAft>
                <a:spcPts val="630"/>
              </a:spcAft>
            </a:pPr>
            <a:r>
              <a:rPr lang="en-US" sz="2200">
                <a:latin typeface="Times New Roman"/>
              </a:rPr>
              <a:t>Connect FC to other types of storage (SCSI)</a:t>
            </a:r>
          </a:p>
        </p:txBody>
      </p:sp>
      <p:sp>
        <p:nvSpPr>
          <p:cNvPr id="7" name="Rectangle 6"/>
          <p:cNvSpPr/>
          <p:nvPr/>
        </p:nvSpPr>
        <p:spPr>
          <a:xfrm>
            <a:off x="7421880" y="3596640"/>
            <a:ext cx="1246632" cy="176784"/>
          </a:xfrm>
          <a:prstGeom prst="rect">
            <a:avLst/>
          </a:prstGeom>
        </p:spPr>
        <p:txBody>
          <a:bodyPr wrap="none" lIns="0" tIns="0" rIns="0" bIns="0">
            <a:noAutofit/>
          </a:bodyPr>
          <a:lstStyle/>
          <a:p>
            <a:pPr indent="0"/>
            <a:r>
              <a:rPr lang="en-US" sz="1200">
                <a:latin typeface="Times New Roman"/>
              </a:rPr>
              <a:t>Source: Softel-optic</a:t>
            </a:r>
          </a:p>
        </p:txBody>
      </p:sp>
      <p:sp>
        <p:nvSpPr>
          <p:cNvPr id="10" name="Rectangle 9"/>
          <p:cNvSpPr/>
          <p:nvPr/>
        </p:nvSpPr>
        <p:spPr>
          <a:xfrm>
            <a:off x="4334256" y="6623304"/>
            <a:ext cx="438912" cy="195072"/>
          </a:xfrm>
          <a:prstGeom prst="rect">
            <a:avLst/>
          </a:prstGeom>
        </p:spPr>
        <p:txBody>
          <a:bodyPr wrap="none" lIns="0" tIns="0" rIns="0" bIns="0">
            <a:noAutofit/>
          </a:bodyPr>
          <a:lstStyle/>
          <a:p>
            <a:pPr indent="0"/>
            <a:r>
              <a:rPr lang="en-US" sz="1800">
                <a:latin typeface="Times New Roman"/>
              </a:rPr>
              <a:t>10</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359408" y="86868"/>
            <a:ext cx="6065520" cy="441960"/>
          </a:xfrm>
          <a:prstGeom prst="rect">
            <a:avLst/>
          </a:prstGeom>
        </p:spPr>
        <p:txBody>
          <a:bodyPr wrap="none" lIns="0" tIns="0" rIns="0" bIns="0">
            <a:noAutofit/>
          </a:bodyPr>
          <a:lstStyle/>
          <a:p>
            <a:pPr indent="0"/>
            <a:r>
              <a:rPr lang="en-US" sz="3600" b="1">
                <a:solidFill>
                  <a:srgbClr val="FC0128"/>
                </a:solidFill>
                <a:latin typeface="Times New Roman"/>
              </a:rPr>
              <a:t>Fibre Channel Protocol Layers</a:t>
            </a:r>
          </a:p>
        </p:txBody>
      </p:sp>
      <p:sp>
        <p:nvSpPr>
          <p:cNvPr id="3" name="Rectangle 2"/>
          <p:cNvSpPr/>
          <p:nvPr/>
        </p:nvSpPr>
        <p:spPr>
          <a:xfrm>
            <a:off x="6416040" y="807720"/>
            <a:ext cx="1844040" cy="185928"/>
          </a:xfrm>
          <a:prstGeom prst="rect">
            <a:avLst/>
          </a:prstGeom>
        </p:spPr>
        <p:txBody>
          <a:bodyPr wrap="none" lIns="0" tIns="0" rIns="0" bIns="0">
            <a:noAutofit/>
          </a:bodyPr>
          <a:lstStyle/>
          <a:p>
            <a:pPr indent="0" algn="just">
              <a:spcAft>
                <a:spcPts val="2520"/>
              </a:spcAft>
            </a:pPr>
            <a:r>
              <a:rPr lang="en-US" sz="1900">
                <a:latin typeface="Times New Roman"/>
              </a:rPr>
              <a:t>Upper Layer Protocols</a:t>
            </a:r>
          </a:p>
        </p:txBody>
      </p:sp>
      <p:sp>
        <p:nvSpPr>
          <p:cNvPr id="4" name="Rectangle 3"/>
          <p:cNvSpPr/>
          <p:nvPr/>
        </p:nvSpPr>
        <p:spPr>
          <a:xfrm>
            <a:off x="6412992" y="1338072"/>
            <a:ext cx="1996440" cy="185928"/>
          </a:xfrm>
          <a:prstGeom prst="rect">
            <a:avLst/>
          </a:prstGeom>
        </p:spPr>
        <p:txBody>
          <a:bodyPr wrap="none" lIns="0" tIns="0" rIns="0" bIns="0">
            <a:noAutofit/>
          </a:bodyPr>
          <a:lstStyle/>
          <a:p>
            <a:pPr indent="0" algn="just">
              <a:spcAft>
                <a:spcPts val="1680"/>
              </a:spcAft>
            </a:pPr>
            <a:r>
              <a:rPr lang="en-US" sz="1900">
                <a:latin typeface="Times New Roman"/>
              </a:rPr>
              <a:t>FC-4: Protocol Mapping</a:t>
            </a:r>
          </a:p>
        </p:txBody>
      </p:sp>
      <p:sp>
        <p:nvSpPr>
          <p:cNvPr id="5" name="Rectangle 4"/>
          <p:cNvSpPr/>
          <p:nvPr/>
        </p:nvSpPr>
        <p:spPr>
          <a:xfrm>
            <a:off x="6412992" y="1907286"/>
            <a:ext cx="2023872" cy="185928"/>
          </a:xfrm>
          <a:prstGeom prst="rect">
            <a:avLst/>
          </a:prstGeom>
        </p:spPr>
        <p:txBody>
          <a:bodyPr wrap="none" lIns="0" tIns="0" rIns="0" bIns="0">
            <a:noAutofit/>
          </a:bodyPr>
          <a:lstStyle/>
          <a:p>
            <a:pPr indent="0" algn="just">
              <a:spcAft>
                <a:spcPts val="1680"/>
              </a:spcAft>
            </a:pPr>
            <a:r>
              <a:rPr lang="en-US" sz="1900">
                <a:latin typeface="Times New Roman"/>
              </a:rPr>
              <a:t>FC-3: RAID, Encryption</a:t>
            </a:r>
          </a:p>
        </p:txBody>
      </p:sp>
      <p:sp>
        <p:nvSpPr>
          <p:cNvPr id="6" name="Rectangle 5"/>
          <p:cNvSpPr/>
          <p:nvPr/>
        </p:nvSpPr>
        <p:spPr>
          <a:xfrm>
            <a:off x="6412992" y="2344674"/>
            <a:ext cx="1758696" cy="185928"/>
          </a:xfrm>
          <a:prstGeom prst="rect">
            <a:avLst/>
          </a:prstGeom>
        </p:spPr>
        <p:txBody>
          <a:bodyPr wrap="none" lIns="0" tIns="0" rIns="0" bIns="0">
            <a:noAutofit/>
          </a:bodyPr>
          <a:lstStyle/>
          <a:p>
            <a:pPr indent="0" algn="just">
              <a:spcAft>
                <a:spcPts val="1470"/>
              </a:spcAft>
            </a:pPr>
            <a:r>
              <a:rPr lang="en-US" sz="1900">
                <a:latin typeface="Times New Roman"/>
              </a:rPr>
              <a:t>FC-2: Network Layer</a:t>
            </a:r>
          </a:p>
        </p:txBody>
      </p:sp>
      <p:sp>
        <p:nvSpPr>
          <p:cNvPr id="7" name="Rectangle 6"/>
          <p:cNvSpPr/>
          <p:nvPr/>
        </p:nvSpPr>
        <p:spPr>
          <a:xfrm>
            <a:off x="6426926" y="2782062"/>
            <a:ext cx="2097024" cy="600456"/>
          </a:xfrm>
          <a:prstGeom prst="rect">
            <a:avLst/>
          </a:prstGeom>
        </p:spPr>
        <p:txBody>
          <a:bodyPr lIns="0" tIns="0" rIns="0" bIns="0">
            <a:noAutofit/>
          </a:bodyPr>
          <a:lstStyle/>
          <a:p>
            <a:pPr indent="0">
              <a:lnSpc>
                <a:spcPts val="2784"/>
              </a:lnSpc>
              <a:spcAft>
                <a:spcPts val="630"/>
              </a:spcAft>
            </a:pPr>
            <a:r>
              <a:rPr lang="en-US" sz="1900">
                <a:latin typeface="Times New Roman"/>
              </a:rPr>
              <a:t>FC-1: Encoding FC-0: Cables, Connectors</a:t>
            </a:r>
          </a:p>
        </p:txBody>
      </p:sp>
      <p:sp>
        <p:nvSpPr>
          <p:cNvPr id="8" name="Rectangle 7"/>
          <p:cNvSpPr/>
          <p:nvPr/>
        </p:nvSpPr>
        <p:spPr>
          <a:xfrm>
            <a:off x="484632" y="4520184"/>
            <a:ext cx="8016240" cy="585216"/>
          </a:xfrm>
          <a:prstGeom prst="rect">
            <a:avLst/>
          </a:prstGeom>
        </p:spPr>
        <p:txBody>
          <a:bodyPr lIns="0" tIns="0" rIns="0" bIns="0">
            <a:noAutofit/>
          </a:bodyPr>
          <a:lstStyle/>
          <a:p>
            <a:pPr indent="-368300">
              <a:lnSpc>
                <a:spcPts val="2544"/>
              </a:lnSpc>
              <a:spcAft>
                <a:spcPts val="210"/>
              </a:spcAft>
            </a:pPr>
            <a:r>
              <a:rPr lang="en-US" sz="2400">
                <a:solidFill>
                  <a:srgbClr val="063DE8"/>
                </a:solidFill>
                <a:latin typeface="Times New Roman"/>
              </a:rPr>
              <a:t>□    </a:t>
            </a:r>
            <a:r>
              <a:rPr lang="en-US" sz="2400">
                <a:latin typeface="Times New Roman"/>
              </a:rPr>
              <a:t>New extensions are named by adding a number, e.g., FC-SW-3 extends FC-SW-2, which extended FC-SW</a:t>
            </a:r>
          </a:p>
        </p:txBody>
      </p:sp>
      <p:sp>
        <p:nvSpPr>
          <p:cNvPr id="9" name="Rectangle 8"/>
          <p:cNvSpPr/>
          <p:nvPr/>
        </p:nvSpPr>
        <p:spPr>
          <a:xfrm>
            <a:off x="484632" y="5245608"/>
            <a:ext cx="7595616" cy="609600"/>
          </a:xfrm>
          <a:prstGeom prst="rect">
            <a:avLst/>
          </a:prstGeom>
        </p:spPr>
        <p:txBody>
          <a:bodyPr lIns="0" tIns="0" rIns="0" bIns="0">
            <a:noAutofit/>
          </a:bodyPr>
          <a:lstStyle/>
          <a:p>
            <a:pPr indent="-368300">
              <a:lnSpc>
                <a:spcPts val="2592"/>
              </a:lnSpc>
              <a:spcAft>
                <a:spcPts val="210"/>
              </a:spcAft>
            </a:pPr>
            <a:r>
              <a:rPr lang="en-US" sz="2400">
                <a:solidFill>
                  <a:srgbClr val="063DE8"/>
                </a:solidFill>
                <a:latin typeface="Times New Roman"/>
              </a:rPr>
              <a:t>□    </a:t>
            </a:r>
            <a:r>
              <a:rPr lang="en-US" sz="2400">
                <a:latin typeface="Times New Roman"/>
              </a:rPr>
              <a:t>Fibre Channel Shortest Path (FSPF) protocol is used to find routes through the fabric. It is a link-state protocol.</a:t>
            </a:r>
          </a:p>
        </p:txBody>
      </p:sp>
      <p:sp>
        <p:nvSpPr>
          <p:cNvPr id="10" name="Rectangle 9"/>
          <p:cNvSpPr/>
          <p:nvPr/>
        </p:nvSpPr>
        <p:spPr>
          <a:xfrm>
            <a:off x="484632" y="5977128"/>
            <a:ext cx="5791200" cy="280416"/>
          </a:xfrm>
          <a:prstGeom prst="rect">
            <a:avLst/>
          </a:prstGeom>
        </p:spPr>
        <p:txBody>
          <a:bodyPr wrap="none" lIns="0" tIns="0" rIns="0" bIns="0">
            <a:noAutofit/>
          </a:bodyPr>
          <a:lstStyle/>
          <a:p>
            <a:pPr indent="0" algn="just">
              <a:spcAft>
                <a:spcPts val="630"/>
              </a:spcAft>
            </a:pPr>
            <a:r>
              <a:rPr lang="en-US" sz="2400">
                <a:solidFill>
                  <a:srgbClr val="063DE8"/>
                </a:solidFill>
                <a:latin typeface="Times New Roman"/>
              </a:rPr>
              <a:t>□    </a:t>
            </a:r>
            <a:r>
              <a:rPr lang="en-US" sz="2400">
                <a:latin typeface="Times New Roman"/>
              </a:rPr>
              <a:t>Vendor specific equal cost path multiplexing</a:t>
            </a:r>
          </a:p>
        </p:txBody>
      </p:sp>
      <p:graphicFrame>
        <p:nvGraphicFramePr>
          <p:cNvPr id="12" name="Table 11"/>
          <p:cNvGraphicFramePr>
            <a:graphicFrameLocks noGrp="1"/>
          </p:cNvGraphicFramePr>
          <p:nvPr>
            <p:extLst>
              <p:ext uri="{D42A27DB-BD31-4B8C-83A1-F6EECF244321}">
                <p14:modId xmlns:p14="http://schemas.microsoft.com/office/powerpoint/2010/main" val="2818532688"/>
              </p:ext>
            </p:extLst>
          </p:nvPr>
        </p:nvGraphicFramePr>
        <p:xfrm>
          <a:off x="674479" y="894588"/>
          <a:ext cx="5669280" cy="3188208"/>
        </p:xfrm>
        <a:graphic>
          <a:graphicData uri="http://schemas.openxmlformats.org/drawingml/2006/table">
            <a:tbl>
              <a:tblPr/>
              <a:tblGrid>
                <a:gridCol w="1743456">
                  <a:extLst>
                    <a:ext uri="{9D8B030D-6E8A-4147-A177-3AD203B41FA5}">
                      <a16:colId xmlns:a16="http://schemas.microsoft.com/office/drawing/2014/main" val="20000"/>
                    </a:ext>
                  </a:extLst>
                </a:gridCol>
                <a:gridCol w="1399032">
                  <a:extLst>
                    <a:ext uri="{9D8B030D-6E8A-4147-A177-3AD203B41FA5}">
                      <a16:colId xmlns:a16="http://schemas.microsoft.com/office/drawing/2014/main" val="20001"/>
                    </a:ext>
                  </a:extLst>
                </a:gridCol>
                <a:gridCol w="2526792">
                  <a:extLst>
                    <a:ext uri="{9D8B030D-6E8A-4147-A177-3AD203B41FA5}">
                      <a16:colId xmlns:a16="http://schemas.microsoft.com/office/drawing/2014/main" val="20002"/>
                    </a:ext>
                  </a:extLst>
                </a:gridCol>
              </a:tblGrid>
              <a:tr h="615696">
                <a:tc>
                  <a:txBody>
                    <a:bodyPr/>
                    <a:lstStyle/>
                    <a:p>
                      <a:pPr indent="0" algn="ctr"/>
                      <a:r>
                        <a:rPr lang="en-US" sz="1900">
                          <a:latin typeface="Times New Roman"/>
                        </a:rPr>
                        <a:t>SCSI</a:t>
                      </a:r>
                    </a:p>
                  </a:txBody>
                  <a:tcPr marL="0" marR="0" marT="0" marB="0"/>
                </a:tc>
                <a:tc>
                  <a:txBody>
                    <a:bodyPr/>
                    <a:lstStyle/>
                    <a:p>
                      <a:pPr indent="0" algn="ctr"/>
                      <a:r>
                        <a:rPr lang="en-US" sz="1900">
                          <a:latin typeface="Times New Roman"/>
                        </a:rPr>
                        <a:t>IP</a:t>
                      </a:r>
                    </a:p>
                  </a:txBody>
                  <a:tcPr marL="0" marR="0" marT="0" marB="0"/>
                </a:tc>
                <a:tc>
                  <a:txBody>
                    <a:bodyPr/>
                    <a:lstStyle/>
                    <a:p>
                      <a:pPr indent="0" algn="ctr">
                        <a:lnSpc>
                          <a:spcPts val="1920"/>
                        </a:lnSpc>
                      </a:pPr>
                      <a:r>
                        <a:rPr lang="en-US" sz="1900">
                          <a:latin typeface="Times New Roman"/>
                        </a:rPr>
                        <a:t>Single Byte Command Code Sets (SBCCS)</a:t>
                      </a:r>
                    </a:p>
                  </a:txBody>
                  <a:tcPr marL="0" marR="0" marT="0" marB="0" anchor="b"/>
                </a:tc>
                <a:extLst>
                  <a:ext uri="{0D108BD9-81ED-4DB2-BD59-A6C34878D82A}">
                    <a16:rowId xmlns:a16="http://schemas.microsoft.com/office/drawing/2014/main" val="10000"/>
                  </a:ext>
                </a:extLst>
              </a:tr>
              <a:tr h="655320">
                <a:tc>
                  <a:txBody>
                    <a:bodyPr/>
                    <a:lstStyle/>
                    <a:p>
                      <a:pPr marL="177800" indent="0">
                        <a:lnSpc>
                          <a:spcPts val="1944"/>
                        </a:lnSpc>
                      </a:pPr>
                      <a:r>
                        <a:rPr lang="en-US" sz="1900">
                          <a:latin typeface="Times New Roman"/>
                        </a:rPr>
                        <a:t>FC Protocol for SCSI (SCSI-FCP)</a:t>
                      </a:r>
                    </a:p>
                  </a:txBody>
                  <a:tcPr marL="0" marR="0" marT="0" marB="0" anchor="ctr"/>
                </a:tc>
                <a:tc>
                  <a:txBody>
                    <a:bodyPr/>
                    <a:lstStyle/>
                    <a:p>
                      <a:pPr indent="0" algn="ctr">
                        <a:lnSpc>
                          <a:spcPts val="1896"/>
                        </a:lnSpc>
                      </a:pPr>
                      <a:r>
                        <a:rPr lang="en-US" sz="1900">
                          <a:latin typeface="Times New Roman"/>
                        </a:rPr>
                        <a:t>IPv4 Over FC (IPv4FC)</a:t>
                      </a:r>
                    </a:p>
                  </a:txBody>
                  <a:tcPr marL="0" marR="0" marT="0" marB="0" anchor="ctr"/>
                </a:tc>
                <a:tc>
                  <a:txBody>
                    <a:bodyPr/>
                    <a:lstStyle/>
                    <a:p>
                      <a:pPr indent="0" algn="ctr">
                        <a:lnSpc>
                          <a:spcPts val="1920"/>
                        </a:lnSpc>
                      </a:pPr>
                      <a:r>
                        <a:rPr lang="en-US" sz="1900">
                          <a:latin typeface="Times New Roman"/>
                        </a:rPr>
                        <a:t>FC Single Byte Command (FC-SB)</a:t>
                      </a:r>
                    </a:p>
                  </a:txBody>
                  <a:tcPr marL="0" marR="0" marT="0" marB="0" anchor="ctr"/>
                </a:tc>
                <a:extLst>
                  <a:ext uri="{0D108BD9-81ED-4DB2-BD59-A6C34878D82A}">
                    <a16:rowId xmlns:a16="http://schemas.microsoft.com/office/drawing/2014/main" val="10001"/>
                  </a:ext>
                </a:extLst>
              </a:tr>
              <a:tr h="362712">
                <a:tc gridSpan="3">
                  <a:txBody>
                    <a:bodyPr/>
                    <a:lstStyle/>
                    <a:p>
                      <a:pPr indent="0" algn="ctr"/>
                      <a:r>
                        <a:rPr lang="en-US" sz="1900">
                          <a:latin typeface="Times New Roman"/>
                        </a:rPr>
                        <a:t>FC Generic Services (FC-GS)</a:t>
                      </a:r>
                    </a:p>
                  </a:txBody>
                  <a:tcPr marL="0" marR="0" marT="0" marB="0" anchor="b"/>
                </a:tc>
                <a:tc hMerge="1">
                  <a:txBody>
                    <a:bodyPr/>
                    <a:lstStyle/>
                    <a:p>
                      <a:endParaRPr sz="1800"/>
                    </a:p>
                  </a:txBody>
                  <a:tcPr marL="0" marR="0" marT="0" marB="0"/>
                </a:tc>
                <a:tc hMerge="1">
                  <a:txBody>
                    <a:bodyPr/>
                    <a:lstStyle/>
                    <a:p>
                      <a:endParaRPr sz="1800"/>
                    </a:p>
                  </a:txBody>
                  <a:tcPr marL="0" marR="0" marT="0" marB="0"/>
                </a:tc>
                <a:extLst>
                  <a:ext uri="{0D108BD9-81ED-4DB2-BD59-A6C34878D82A}">
                    <a16:rowId xmlns:a16="http://schemas.microsoft.com/office/drawing/2014/main" val="10002"/>
                  </a:ext>
                </a:extLst>
              </a:tr>
              <a:tr h="606552">
                <a:tc rowSpan="3">
                  <a:txBody>
                    <a:bodyPr/>
                    <a:lstStyle/>
                    <a:p>
                      <a:pPr indent="0" algn="ctr">
                        <a:lnSpc>
                          <a:spcPts val="1872"/>
                        </a:lnSpc>
                      </a:pPr>
                      <a:r>
                        <a:rPr lang="en-US" sz="1900">
                          <a:latin typeface="Times New Roman"/>
                        </a:rPr>
                        <a:t>FC Framing and Signaling Interface (FC-PH)</a:t>
                      </a:r>
                    </a:p>
                  </a:txBody>
                  <a:tcPr marL="0" marR="0" marT="0" marB="0"/>
                </a:tc>
                <a:tc gridSpan="2">
                  <a:txBody>
                    <a:bodyPr/>
                    <a:lstStyle/>
                    <a:p>
                      <a:pPr marL="977900" marR="127000" indent="0" algn="just">
                        <a:lnSpc>
                          <a:spcPts val="1920"/>
                        </a:lnSpc>
                      </a:pPr>
                      <a:r>
                        <a:rPr lang="en-US" sz="1900">
                          <a:latin typeface="Times New Roman"/>
                        </a:rPr>
                        <a:t>FC Arbitrated FC Switch Fabric Loop (FC-AL) (FC-SW)</a:t>
                      </a:r>
                    </a:p>
                  </a:txBody>
                  <a:tcPr marL="0" marR="0" marT="0" marB="0" anchor="b"/>
                </a:tc>
                <a:tc hMerge="1">
                  <a:txBody>
                    <a:bodyPr/>
                    <a:lstStyle/>
                    <a:p>
                      <a:endParaRPr sz="2900"/>
                    </a:p>
                  </a:txBody>
                  <a:tcPr marL="0" marR="0" marT="0" marB="0"/>
                </a:tc>
                <a:extLst>
                  <a:ext uri="{0D108BD9-81ED-4DB2-BD59-A6C34878D82A}">
                    <a16:rowId xmlns:a16="http://schemas.microsoft.com/office/drawing/2014/main" val="10003"/>
                  </a:ext>
                </a:extLst>
              </a:tr>
              <a:tr h="384048">
                <a:tc vMerge="1">
                  <a:txBody>
                    <a:bodyPr/>
                    <a:lstStyle/>
                    <a:p>
                      <a:endParaRPr sz="1900"/>
                    </a:p>
                  </a:txBody>
                  <a:tcPr marL="0" marR="0" marT="0" marB="0"/>
                </a:tc>
                <a:tc gridSpan="2">
                  <a:txBody>
                    <a:bodyPr/>
                    <a:lstStyle/>
                    <a:p>
                      <a:pPr indent="0" algn="ctr"/>
                      <a:r>
                        <a:rPr lang="en-US" sz="1900">
                          <a:latin typeface="Times New Roman"/>
                        </a:rPr>
                        <a:t>FC Framing and Signaling (FC-FS)</a:t>
                      </a:r>
                    </a:p>
                  </a:txBody>
                  <a:tcPr marL="0" marR="0" marT="0" marB="0" anchor="b"/>
                </a:tc>
                <a:tc hMerge="1">
                  <a:txBody>
                    <a:bodyPr/>
                    <a:lstStyle/>
                    <a:p>
                      <a:endParaRPr sz="1900"/>
                    </a:p>
                  </a:txBody>
                  <a:tcPr marL="0" marR="0" marT="0" marB="0"/>
                </a:tc>
                <a:extLst>
                  <a:ext uri="{0D108BD9-81ED-4DB2-BD59-A6C34878D82A}">
                    <a16:rowId xmlns:a16="http://schemas.microsoft.com/office/drawing/2014/main" val="10004"/>
                  </a:ext>
                </a:extLst>
              </a:tr>
              <a:tr h="377952">
                <a:tc vMerge="1">
                  <a:txBody>
                    <a:bodyPr/>
                    <a:lstStyle/>
                    <a:p>
                      <a:endParaRPr sz="1800"/>
                    </a:p>
                  </a:txBody>
                  <a:tcPr marL="0" marR="0" marT="0" marB="0"/>
                </a:tc>
                <a:tc gridSpan="2">
                  <a:txBody>
                    <a:bodyPr/>
                    <a:lstStyle/>
                    <a:p>
                      <a:pPr indent="0" algn="ctr"/>
                      <a:r>
                        <a:rPr lang="en-US" sz="1900">
                          <a:latin typeface="Times New Roman"/>
                        </a:rPr>
                        <a:t>FC-Physical Interface (FC-PI)</a:t>
                      </a:r>
                    </a:p>
                  </a:txBody>
                  <a:tcPr marL="0" marR="0" marT="0" marB="0" anchor="b"/>
                </a:tc>
                <a:tc hMerge="1">
                  <a:txBody>
                    <a:bodyPr/>
                    <a:lstStyle/>
                    <a:p>
                      <a:endParaRPr sz="1800"/>
                    </a:p>
                  </a:txBody>
                  <a:tcPr marL="0" marR="0" marT="0" marB="0"/>
                </a:tc>
                <a:extLst>
                  <a:ext uri="{0D108BD9-81ED-4DB2-BD59-A6C34878D82A}">
                    <a16:rowId xmlns:a16="http://schemas.microsoft.com/office/drawing/2014/main" val="10005"/>
                  </a:ext>
                </a:extLst>
              </a:tr>
            </a:tbl>
          </a:graphicData>
        </a:graphic>
      </p:graphicFrame>
      <p:sp>
        <p:nvSpPr>
          <p:cNvPr id="13" name="Rectangle 12"/>
          <p:cNvSpPr/>
          <p:nvPr/>
        </p:nvSpPr>
        <p:spPr>
          <a:xfrm>
            <a:off x="4334256" y="6623304"/>
            <a:ext cx="420624" cy="195072"/>
          </a:xfrm>
          <a:prstGeom prst="rect">
            <a:avLst/>
          </a:prstGeom>
        </p:spPr>
        <p:txBody>
          <a:bodyPr wrap="none" lIns="0" tIns="0" rIns="0" bIns="0">
            <a:noAutofit/>
          </a:bodyPr>
          <a:lstStyle/>
          <a:p>
            <a:pPr indent="0"/>
            <a:r>
              <a:rPr lang="en-US" sz="1800">
                <a:latin typeface="Times New Roman"/>
              </a:rPr>
              <a:t>11</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463295" y="588264"/>
            <a:ext cx="8277933" cy="350520"/>
          </a:xfrm>
          <a:prstGeom prst="rect">
            <a:avLst/>
          </a:prstGeom>
        </p:spPr>
        <p:txBody>
          <a:bodyPr wrap="none" lIns="0" tIns="0" rIns="0" bIns="0">
            <a:noAutofit/>
          </a:bodyPr>
          <a:lstStyle/>
          <a:p>
            <a:pPr indent="0" algn="ctr"/>
            <a:r>
              <a:rPr lang="en-US" sz="3600" b="1">
                <a:solidFill>
                  <a:srgbClr val="FC0128"/>
                </a:solidFill>
                <a:latin typeface="Times New Roman"/>
              </a:rPr>
              <a:t>Fibre Channel Flow Control</a:t>
            </a:r>
          </a:p>
        </p:txBody>
      </p:sp>
      <p:sp>
        <p:nvSpPr>
          <p:cNvPr id="4" name="Rectangle 3"/>
          <p:cNvSpPr/>
          <p:nvPr/>
        </p:nvSpPr>
        <p:spPr>
          <a:xfrm>
            <a:off x="490728" y="1423416"/>
            <a:ext cx="7687056" cy="280416"/>
          </a:xfrm>
          <a:prstGeom prst="rect">
            <a:avLst/>
          </a:prstGeom>
        </p:spPr>
        <p:txBody>
          <a:bodyPr wrap="none" lIns="0" tIns="0" rIns="0" bIns="0">
            <a:noAutofit/>
          </a:bodyPr>
          <a:lstStyle/>
          <a:p>
            <a:pPr indent="0" algn="just">
              <a:spcAft>
                <a:spcPts val="1050"/>
              </a:spcAft>
            </a:pPr>
            <a:r>
              <a:rPr lang="en-US" sz="2400">
                <a:solidFill>
                  <a:srgbClr val="063DE8"/>
                </a:solidFill>
                <a:latin typeface="Times New Roman"/>
              </a:rPr>
              <a:t>□    </a:t>
            </a:r>
            <a:r>
              <a:rPr lang="en-US" sz="2400">
                <a:latin typeface="Times New Roman"/>
              </a:rPr>
              <a:t>Transmitter sends frames only when allowed by the receiver</a:t>
            </a:r>
          </a:p>
        </p:txBody>
      </p:sp>
      <p:sp>
        <p:nvSpPr>
          <p:cNvPr id="5" name="Rectangle 4"/>
          <p:cNvSpPr/>
          <p:nvPr/>
        </p:nvSpPr>
        <p:spPr>
          <a:xfrm>
            <a:off x="490728" y="1862328"/>
            <a:ext cx="3450336" cy="219456"/>
          </a:xfrm>
          <a:prstGeom prst="rect">
            <a:avLst/>
          </a:prstGeom>
        </p:spPr>
        <p:txBody>
          <a:bodyPr wrap="none" lIns="0" tIns="0" rIns="0" bIns="0">
            <a:noAutofit/>
          </a:bodyPr>
          <a:lstStyle/>
          <a:p>
            <a:pPr indent="0" algn="just">
              <a:spcAft>
                <a:spcPts val="1050"/>
              </a:spcAft>
            </a:pPr>
            <a:r>
              <a:rPr lang="en-US" sz="2400">
                <a:solidFill>
                  <a:srgbClr val="063DE8"/>
                </a:solidFill>
                <a:latin typeface="Times New Roman"/>
              </a:rPr>
              <a:t>□    </a:t>
            </a:r>
            <a:r>
              <a:rPr lang="en-US" sz="2400">
                <a:latin typeface="Times New Roman"/>
              </a:rPr>
              <a:t>Credit-based flow control</a:t>
            </a:r>
          </a:p>
        </p:txBody>
      </p:sp>
      <p:sp>
        <p:nvSpPr>
          <p:cNvPr id="6" name="Rectangle 5"/>
          <p:cNvSpPr/>
          <p:nvPr/>
        </p:nvSpPr>
        <p:spPr>
          <a:xfrm>
            <a:off x="490728" y="2295144"/>
            <a:ext cx="4523232" cy="646176"/>
          </a:xfrm>
          <a:prstGeom prst="rect">
            <a:avLst/>
          </a:prstGeom>
        </p:spPr>
        <p:txBody>
          <a:bodyPr lIns="0" tIns="0" rIns="0" bIns="0">
            <a:noAutofit/>
          </a:bodyPr>
          <a:lstStyle/>
          <a:p>
            <a:pPr indent="-355600">
              <a:lnSpc>
                <a:spcPts val="2856"/>
              </a:lnSpc>
              <a:spcAft>
                <a:spcPts val="2310"/>
              </a:spcAft>
            </a:pPr>
            <a:r>
              <a:rPr lang="en-US" sz="2400">
                <a:solidFill>
                  <a:srgbClr val="063DE8"/>
                </a:solidFill>
                <a:latin typeface="Times New Roman"/>
              </a:rPr>
              <a:t>□    </a:t>
            </a:r>
            <a:r>
              <a:rPr lang="en-US" sz="2400">
                <a:latin typeface="Times New Roman"/>
              </a:rPr>
              <a:t>For optimal performance, the Credit &gt;=Round-trip path delay</a:t>
            </a:r>
          </a:p>
        </p:txBody>
      </p:sp>
      <p:sp>
        <p:nvSpPr>
          <p:cNvPr id="12" name="Rectangle 11"/>
          <p:cNvSpPr/>
          <p:nvPr/>
        </p:nvSpPr>
        <p:spPr>
          <a:xfrm>
            <a:off x="4334256" y="6623304"/>
            <a:ext cx="438912" cy="195072"/>
          </a:xfrm>
          <a:prstGeom prst="rect">
            <a:avLst/>
          </a:prstGeom>
        </p:spPr>
        <p:txBody>
          <a:bodyPr wrap="none" lIns="0" tIns="0" rIns="0" bIns="0">
            <a:noAutofit/>
          </a:bodyPr>
          <a:lstStyle/>
          <a:p>
            <a:pPr indent="0"/>
            <a:r>
              <a:rPr lang="en-US" sz="1800">
                <a:latin typeface="Times New Roman"/>
              </a:rPr>
              <a:t>12</a:t>
            </a:r>
          </a:p>
        </p:txBody>
      </p:sp>
      <p:pic>
        <p:nvPicPr>
          <p:cNvPr id="13" name="Picture 12" descr="A diagram of a line&#10;&#10;AI-generated content may be incorrect.">
            <a:extLst>
              <a:ext uri="{FF2B5EF4-FFF2-40B4-BE49-F238E27FC236}">
                <a16:creationId xmlns:a16="http://schemas.microsoft.com/office/drawing/2014/main" id="{44BA252C-D9C5-52CD-9DFE-67597F74FD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5462" y="1972056"/>
            <a:ext cx="1364098" cy="2004234"/>
          </a:xfrm>
          <a:prstGeom prst="rect">
            <a:avLst/>
          </a:prstGeom>
        </p:spPr>
      </p:pic>
      <p:pic>
        <p:nvPicPr>
          <p:cNvPr id="17" name="Picture 16">
            <a:extLst>
              <a:ext uri="{FF2B5EF4-FFF2-40B4-BE49-F238E27FC236}">
                <a16:creationId xmlns:a16="http://schemas.microsoft.com/office/drawing/2014/main" id="{8F5C7A5A-47AB-6CB7-F4E1-30E2FFD15AC5}"/>
              </a:ext>
            </a:extLst>
          </p:cNvPr>
          <p:cNvPicPr>
            <a:picLocks noChangeAspect="1"/>
          </p:cNvPicPr>
          <p:nvPr/>
        </p:nvPicPr>
        <p:blipFill>
          <a:blip r:embed="rId3"/>
          <a:stretch>
            <a:fillRect/>
          </a:stretch>
        </p:blipFill>
        <p:spPr>
          <a:xfrm>
            <a:off x="636995" y="3826828"/>
            <a:ext cx="7173326" cy="2600688"/>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514856" y="446750"/>
            <a:ext cx="6416040" cy="350520"/>
          </a:xfrm>
          <a:prstGeom prst="rect">
            <a:avLst/>
          </a:prstGeom>
        </p:spPr>
        <p:txBody>
          <a:bodyPr wrap="none" lIns="0" tIns="0" rIns="0" bIns="0">
            <a:noAutofit/>
          </a:bodyPr>
          <a:lstStyle/>
          <a:p>
            <a:pPr indent="0" algn="ctr"/>
            <a:r>
              <a:rPr lang="en-US" sz="3600" b="1">
                <a:solidFill>
                  <a:srgbClr val="FC0128"/>
                </a:solidFill>
                <a:latin typeface="Times New Roman"/>
              </a:rPr>
              <a:t>Fibre Channel Classes of Service</a:t>
            </a:r>
          </a:p>
        </p:txBody>
      </p:sp>
      <p:sp>
        <p:nvSpPr>
          <p:cNvPr id="3" name="Rectangle 2"/>
          <p:cNvSpPr/>
          <p:nvPr/>
        </p:nvSpPr>
        <p:spPr>
          <a:xfrm>
            <a:off x="454152" y="1402080"/>
            <a:ext cx="8537448" cy="5169408"/>
          </a:xfrm>
          <a:prstGeom prst="rect">
            <a:avLst/>
          </a:prstGeom>
        </p:spPr>
        <p:txBody>
          <a:bodyPr lIns="0" tIns="0" rIns="0" bIns="0">
            <a:noAutofit/>
          </a:bodyPr>
          <a:lstStyle/>
          <a:p>
            <a:pPr marL="368300" indent="-368300">
              <a:lnSpc>
                <a:spcPts val="2880"/>
              </a:lnSpc>
              <a:spcAft>
                <a:spcPts val="210"/>
              </a:spcAft>
            </a:pPr>
            <a:r>
              <a:rPr lang="en-US" sz="2400">
                <a:solidFill>
                  <a:srgbClr val="063DE8"/>
                </a:solidFill>
                <a:latin typeface="Times New Roman"/>
              </a:rPr>
              <a:t>□    Class 1</a:t>
            </a:r>
            <a:r>
              <a:rPr lang="en-US" sz="2400">
                <a:latin typeface="Times New Roman"/>
              </a:rPr>
              <a:t>: Connection-oriented dedicated (physical links). Frame order guaranteed. Delivery confirmation. End-to-end flow control.</a:t>
            </a:r>
          </a:p>
          <a:p>
            <a:pPr marL="368300" indent="-368300">
              <a:lnSpc>
                <a:spcPts val="2784"/>
              </a:lnSpc>
              <a:spcAft>
                <a:spcPts val="210"/>
              </a:spcAft>
            </a:pPr>
            <a:r>
              <a:rPr lang="en-US" sz="2400">
                <a:solidFill>
                  <a:srgbClr val="063DE8"/>
                </a:solidFill>
                <a:latin typeface="Times New Roman"/>
              </a:rPr>
              <a:t>□    Class 2</a:t>
            </a:r>
            <a:r>
              <a:rPr lang="en-US" sz="2400">
                <a:latin typeface="Times New Roman"/>
              </a:rPr>
              <a:t>: Connectionless. Multiple paths ^ order not guaranteed. Hop-by-hop and end-to-end flow control.</a:t>
            </a:r>
          </a:p>
          <a:p>
            <a:pPr marL="368300" indent="-368300">
              <a:lnSpc>
                <a:spcPts val="2904"/>
              </a:lnSpc>
              <a:spcAft>
                <a:spcPts val="210"/>
              </a:spcAft>
            </a:pPr>
            <a:r>
              <a:rPr lang="en-US" sz="2400">
                <a:solidFill>
                  <a:srgbClr val="063DE8"/>
                </a:solidFill>
                <a:latin typeface="Times New Roman"/>
              </a:rPr>
              <a:t>□    Class 3</a:t>
            </a:r>
            <a:r>
              <a:rPr lang="en-US" sz="2400">
                <a:latin typeface="Times New Roman"/>
              </a:rPr>
              <a:t>: Datagram service. No delivery confirmation. Only hop-by-hop flow control. Most common.</a:t>
            </a:r>
          </a:p>
          <a:p>
            <a:pPr marL="368300" indent="-368300">
              <a:lnSpc>
                <a:spcPts val="2880"/>
              </a:lnSpc>
              <a:spcAft>
                <a:spcPts val="210"/>
              </a:spcAft>
            </a:pPr>
            <a:r>
              <a:rPr lang="en-US" sz="2400">
                <a:solidFill>
                  <a:srgbClr val="063DE8"/>
                </a:solidFill>
                <a:latin typeface="Times New Roman"/>
              </a:rPr>
              <a:t>□    Class 4</a:t>
            </a:r>
            <a:r>
              <a:rPr lang="en-US" sz="2400">
                <a:latin typeface="Times New Roman"/>
              </a:rPr>
              <a:t>: Connection-oriented virtual circuits (fractional links) with delivery confirmation</a:t>
            </a:r>
          </a:p>
          <a:p>
            <a:pPr indent="0" algn="just">
              <a:spcAft>
                <a:spcPts val="1050"/>
              </a:spcAft>
            </a:pPr>
            <a:r>
              <a:rPr lang="en-US" sz="2400">
                <a:solidFill>
                  <a:srgbClr val="063DE8"/>
                </a:solidFill>
                <a:latin typeface="Times New Roman"/>
              </a:rPr>
              <a:t>□    Class 5</a:t>
            </a:r>
            <a:r>
              <a:rPr lang="en-US" sz="2400">
                <a:latin typeface="Times New Roman"/>
              </a:rPr>
              <a:t>: Not yet defined</a:t>
            </a:r>
          </a:p>
          <a:p>
            <a:pPr indent="0" algn="just">
              <a:spcAft>
                <a:spcPts val="1050"/>
              </a:spcAft>
            </a:pPr>
            <a:r>
              <a:rPr lang="en-US" sz="2400">
                <a:solidFill>
                  <a:srgbClr val="063DE8"/>
                </a:solidFill>
                <a:latin typeface="Times New Roman"/>
              </a:rPr>
              <a:t>□   Class 6</a:t>
            </a:r>
            <a:r>
              <a:rPr lang="en-US" sz="2400">
                <a:latin typeface="Times New Roman"/>
              </a:rPr>
              <a:t>: Connection-oriented multicast with delivery confirmation</a:t>
            </a:r>
          </a:p>
          <a:p>
            <a:pPr marL="368300" indent="-368300">
              <a:lnSpc>
                <a:spcPts val="2880"/>
              </a:lnSpc>
            </a:pPr>
            <a:r>
              <a:rPr lang="en-US" sz="2400">
                <a:solidFill>
                  <a:srgbClr val="063DE8"/>
                </a:solidFill>
                <a:latin typeface="Times New Roman"/>
              </a:rPr>
              <a:t>□    Class F</a:t>
            </a:r>
            <a:r>
              <a:rPr lang="en-US" sz="2400">
                <a:latin typeface="Times New Roman"/>
              </a:rPr>
              <a:t>: Packet-switched delivery with confirmation. For interswitch communication</a:t>
            </a:r>
          </a:p>
        </p:txBody>
      </p:sp>
      <p:sp>
        <p:nvSpPr>
          <p:cNvPr id="4" name="Rectangle 3"/>
          <p:cNvSpPr/>
          <p:nvPr/>
        </p:nvSpPr>
        <p:spPr>
          <a:xfrm>
            <a:off x="4334255" y="6623304"/>
            <a:ext cx="662287" cy="234696"/>
          </a:xfrm>
          <a:prstGeom prst="rect">
            <a:avLst/>
          </a:prstGeom>
        </p:spPr>
        <p:txBody>
          <a:bodyPr wrap="none" lIns="0" tIns="0" rIns="0" bIns="0">
            <a:noAutofit/>
          </a:bodyPr>
          <a:lstStyle/>
          <a:p>
            <a:pPr indent="0"/>
            <a:r>
              <a:rPr lang="en-US" sz="1800">
                <a:latin typeface="Times New Roman"/>
              </a:rPr>
              <a:t>13</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4152" y="588264"/>
            <a:ext cx="8156448" cy="5093208"/>
          </a:xfrm>
          <a:prstGeom prst="rect">
            <a:avLst/>
          </a:prstGeom>
        </p:spPr>
        <p:txBody>
          <a:bodyPr lIns="0" tIns="0" rIns="0" bIns="0">
            <a:noAutofit/>
          </a:bodyPr>
          <a:lstStyle/>
          <a:p>
            <a:pPr indent="0" algn="ctr">
              <a:spcAft>
                <a:spcPts val="2520"/>
              </a:spcAft>
            </a:pPr>
            <a:r>
              <a:rPr lang="en-US" sz="3600" b="1">
                <a:solidFill>
                  <a:srgbClr val="FC0128"/>
                </a:solidFill>
                <a:latin typeface="Times New Roman"/>
              </a:rPr>
              <a:t>What is Storage Virtualization?</a:t>
            </a:r>
          </a:p>
          <a:p>
            <a:pPr marL="368300" marR="76200" indent="-368300">
              <a:lnSpc>
                <a:spcPts val="2400"/>
              </a:lnSpc>
              <a:spcAft>
                <a:spcPts val="210"/>
              </a:spcAft>
            </a:pPr>
            <a:r>
              <a:rPr lang="en-US" sz="2000">
                <a:solidFill>
                  <a:srgbClr val="063DE8"/>
                </a:solidFill>
                <a:latin typeface="Times New Roman"/>
              </a:rPr>
              <a:t>□    </a:t>
            </a:r>
            <a:r>
              <a:rPr lang="en-US" sz="2000" u="sng">
                <a:latin typeface="Times New Roman"/>
              </a:rPr>
              <a:t>Restating</a:t>
            </a:r>
            <a:r>
              <a:rPr lang="en-US" sz="2000">
                <a:latin typeface="Times New Roman"/>
              </a:rPr>
              <a:t> Rick F. Van der Lans: </a:t>
            </a:r>
            <a:r>
              <a:rPr lang="en-US" sz="2000" i="1">
                <a:latin typeface="Times New Roman"/>
              </a:rPr>
              <a:t>Storage virtualization means that Applications can use storage without any concern for where it resides, what the technical interface is, how it has been implemented, which platform it uses, and how much of it is available</a:t>
            </a:r>
          </a:p>
          <a:p>
            <a:pPr indent="0" algn="just">
              <a:spcAft>
                <a:spcPts val="840"/>
              </a:spcAft>
            </a:pPr>
            <a:r>
              <a:rPr lang="en-US" sz="2000">
                <a:solidFill>
                  <a:srgbClr val="063DE8"/>
                </a:solidFill>
                <a:latin typeface="Times New Roman"/>
              </a:rPr>
              <a:t>□    </a:t>
            </a:r>
            <a:r>
              <a:rPr lang="en-US" sz="2000">
                <a:latin typeface="Times New Roman"/>
              </a:rPr>
              <a:t>Distance: Remote storage devices appear local</a:t>
            </a:r>
          </a:p>
          <a:p>
            <a:pPr indent="0" algn="just">
              <a:spcAft>
                <a:spcPts val="840"/>
              </a:spcAft>
            </a:pPr>
            <a:r>
              <a:rPr lang="en-US" sz="2000">
                <a:solidFill>
                  <a:srgbClr val="063DE8"/>
                </a:solidFill>
                <a:latin typeface="Times New Roman"/>
              </a:rPr>
              <a:t>□    </a:t>
            </a:r>
            <a:r>
              <a:rPr lang="en-US" sz="2000">
                <a:latin typeface="Times New Roman"/>
              </a:rPr>
              <a:t>Size: Multiple smaller volume appear as a single large volume</a:t>
            </a:r>
          </a:p>
          <a:p>
            <a:pPr marL="368300" marR="76200" indent="-368300">
              <a:lnSpc>
                <a:spcPts val="2400"/>
              </a:lnSpc>
              <a:spcAft>
                <a:spcPts val="210"/>
              </a:spcAft>
            </a:pPr>
            <a:r>
              <a:rPr lang="en-US" sz="2000">
                <a:solidFill>
                  <a:srgbClr val="063DE8"/>
                </a:solidFill>
                <a:latin typeface="Times New Roman"/>
              </a:rPr>
              <a:t>□    </a:t>
            </a:r>
            <a:r>
              <a:rPr lang="en-US" sz="2000">
                <a:latin typeface="Times New Roman"/>
              </a:rPr>
              <a:t>Spread: Data is spread over multiple physical disks to improve reliability and performance</a:t>
            </a:r>
          </a:p>
          <a:p>
            <a:pPr indent="0" algn="just">
              <a:spcAft>
                <a:spcPts val="840"/>
              </a:spcAft>
            </a:pPr>
            <a:r>
              <a:rPr lang="en-US" sz="2000">
                <a:solidFill>
                  <a:srgbClr val="063DE8"/>
                </a:solidFill>
                <a:latin typeface="Times New Roman"/>
              </a:rPr>
              <a:t>□    </a:t>
            </a:r>
            <a:r>
              <a:rPr lang="en-US" sz="2000">
                <a:latin typeface="Times New Roman"/>
              </a:rPr>
              <a:t>File System: Windows, Linux, and UNIX all use the same storage device</a:t>
            </a:r>
          </a:p>
          <a:p>
            <a:pPr marL="368300" marR="76200" indent="-368300">
              <a:lnSpc>
                <a:spcPts val="2400"/>
              </a:lnSpc>
              <a:spcAft>
                <a:spcPts val="210"/>
              </a:spcAft>
            </a:pPr>
            <a:r>
              <a:rPr lang="en-US" sz="2000">
                <a:solidFill>
                  <a:srgbClr val="063DE8"/>
                </a:solidFill>
                <a:latin typeface="Times New Roman"/>
              </a:rPr>
              <a:t>□    </a:t>
            </a:r>
            <a:r>
              <a:rPr lang="en-US" sz="2000">
                <a:latin typeface="Times New Roman"/>
              </a:rPr>
              <a:t>Virtual Interface: A SCSI disk connected to a computer with no SCSI interface</a:t>
            </a:r>
          </a:p>
          <a:p>
            <a:pPr marL="368300" indent="-368300">
              <a:lnSpc>
                <a:spcPts val="2400"/>
              </a:lnSpc>
            </a:pPr>
            <a:r>
              <a:rPr lang="en-US" sz="2000">
                <a:solidFill>
                  <a:srgbClr val="063DE8"/>
                </a:solidFill>
                <a:latin typeface="Times New Roman"/>
              </a:rPr>
              <a:t>□    </a:t>
            </a:r>
            <a:r>
              <a:rPr lang="en-US" sz="2000">
                <a:latin typeface="Times New Roman"/>
              </a:rPr>
              <a:t>Advantages: High availability, Disaster recovery, improved performance, sharing (better CapEx)</a:t>
            </a:r>
          </a:p>
        </p:txBody>
      </p:sp>
      <p:sp>
        <p:nvSpPr>
          <p:cNvPr id="4" name="Rectangle 3"/>
          <p:cNvSpPr/>
          <p:nvPr/>
        </p:nvSpPr>
        <p:spPr>
          <a:xfrm>
            <a:off x="4334256" y="6623304"/>
            <a:ext cx="438912" cy="195072"/>
          </a:xfrm>
          <a:prstGeom prst="rect">
            <a:avLst/>
          </a:prstGeom>
        </p:spPr>
        <p:txBody>
          <a:bodyPr wrap="none" lIns="0" tIns="0" rIns="0" bIns="0">
            <a:noAutofit/>
          </a:bodyPr>
          <a:lstStyle/>
          <a:p>
            <a:pPr indent="0"/>
            <a:r>
              <a:rPr lang="en-US" sz="1800">
                <a:latin typeface="Times New Roman"/>
              </a:rPr>
              <a:t>14</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54152" y="588264"/>
            <a:ext cx="8156448" cy="5446776"/>
          </a:xfrm>
          <a:prstGeom prst="rect">
            <a:avLst/>
          </a:prstGeom>
        </p:spPr>
        <p:txBody>
          <a:bodyPr lIns="0" tIns="0" rIns="0" bIns="0">
            <a:noAutofit/>
          </a:bodyPr>
          <a:lstStyle/>
          <a:p>
            <a:pPr indent="0" algn="ctr">
              <a:spcAft>
                <a:spcPts val="2520"/>
              </a:spcAft>
            </a:pPr>
            <a:r>
              <a:rPr lang="en-US" sz="3600" b="1">
                <a:solidFill>
                  <a:srgbClr val="FC0128"/>
                </a:solidFill>
                <a:latin typeface="Times New Roman"/>
              </a:rPr>
              <a:t>Benefits of Storage Virtualization</a:t>
            </a:r>
          </a:p>
          <a:p>
            <a:pPr indent="0" algn="just">
              <a:lnSpc>
                <a:spcPts val="3432"/>
              </a:lnSpc>
            </a:pPr>
            <a:r>
              <a:rPr lang="en-US" sz="2400">
                <a:solidFill>
                  <a:srgbClr val="063DE8"/>
                </a:solidFill>
                <a:latin typeface="Times New Roman"/>
              </a:rPr>
              <a:t>□    </a:t>
            </a:r>
            <a:r>
              <a:rPr lang="en-US" sz="2400">
                <a:latin typeface="Times New Roman"/>
              </a:rPr>
              <a:t>Much larger distances</a:t>
            </a:r>
          </a:p>
          <a:p>
            <a:pPr indent="0" algn="just">
              <a:lnSpc>
                <a:spcPts val="3432"/>
              </a:lnSpc>
            </a:pPr>
            <a:r>
              <a:rPr lang="en-US" sz="2400">
                <a:solidFill>
                  <a:srgbClr val="063DE8"/>
                </a:solidFill>
                <a:latin typeface="Times New Roman"/>
              </a:rPr>
              <a:t>□    </a:t>
            </a:r>
            <a:r>
              <a:rPr lang="en-US" sz="2400">
                <a:latin typeface="Times New Roman"/>
              </a:rPr>
              <a:t>Greater performance</a:t>
            </a:r>
          </a:p>
          <a:p>
            <a:pPr indent="0" algn="just">
              <a:lnSpc>
                <a:spcPts val="3432"/>
              </a:lnSpc>
            </a:pPr>
            <a:r>
              <a:rPr lang="en-US" sz="2400">
                <a:solidFill>
                  <a:srgbClr val="063DE8"/>
                </a:solidFill>
                <a:latin typeface="Times New Roman"/>
              </a:rPr>
              <a:t>□    </a:t>
            </a:r>
            <a:r>
              <a:rPr lang="en-US" sz="2400">
                <a:latin typeface="Times New Roman"/>
              </a:rPr>
              <a:t>Increased disk utilization</a:t>
            </a:r>
          </a:p>
          <a:p>
            <a:pPr indent="0" algn="just">
              <a:lnSpc>
                <a:spcPts val="3432"/>
              </a:lnSpc>
            </a:pPr>
            <a:r>
              <a:rPr lang="en-US" sz="2400">
                <a:solidFill>
                  <a:srgbClr val="063DE8"/>
                </a:solidFill>
                <a:latin typeface="Times New Roman"/>
              </a:rPr>
              <a:t>□    </a:t>
            </a:r>
            <a:r>
              <a:rPr lang="en-US" sz="2400">
                <a:latin typeface="Times New Roman"/>
              </a:rPr>
              <a:t>Higher availability with multiple access path</a:t>
            </a:r>
          </a:p>
          <a:p>
            <a:pPr indent="0" algn="just">
              <a:lnSpc>
                <a:spcPts val="3432"/>
              </a:lnSpc>
            </a:pPr>
            <a:r>
              <a:rPr lang="en-US" sz="2400">
                <a:solidFill>
                  <a:srgbClr val="063DE8"/>
                </a:solidFill>
                <a:latin typeface="Times New Roman"/>
              </a:rPr>
              <a:t>□    </a:t>
            </a:r>
            <a:r>
              <a:rPr lang="en-US" sz="2400">
                <a:latin typeface="Times New Roman"/>
              </a:rPr>
              <a:t>Higher availability due to redundant storage</a:t>
            </a:r>
          </a:p>
          <a:p>
            <a:pPr indent="0" algn="just">
              <a:lnSpc>
                <a:spcPts val="3432"/>
              </a:lnSpc>
            </a:pPr>
            <a:r>
              <a:rPr lang="en-US" sz="2400">
                <a:solidFill>
                  <a:srgbClr val="063DE8"/>
                </a:solidFill>
                <a:latin typeface="Times New Roman"/>
              </a:rPr>
              <a:t>□    </a:t>
            </a:r>
            <a:r>
              <a:rPr lang="en-US" sz="2400">
                <a:latin typeface="Times New Roman"/>
              </a:rPr>
              <a:t>Disaster recovery capability</a:t>
            </a:r>
          </a:p>
          <a:p>
            <a:pPr indent="0" algn="just">
              <a:lnSpc>
                <a:spcPts val="3432"/>
              </a:lnSpc>
            </a:pPr>
            <a:r>
              <a:rPr lang="en-US" sz="2400">
                <a:solidFill>
                  <a:srgbClr val="063DE8"/>
                </a:solidFill>
                <a:latin typeface="Times New Roman"/>
              </a:rPr>
              <a:t>□    </a:t>
            </a:r>
            <a:r>
              <a:rPr lang="en-US" sz="2400">
                <a:latin typeface="Times New Roman"/>
              </a:rPr>
              <a:t>Continuous on-line back</a:t>
            </a:r>
          </a:p>
          <a:p>
            <a:pPr indent="0" algn="just">
              <a:lnSpc>
                <a:spcPts val="3432"/>
              </a:lnSpc>
            </a:pPr>
            <a:r>
              <a:rPr lang="en-US" sz="2400">
                <a:solidFill>
                  <a:srgbClr val="063DE8"/>
                </a:solidFill>
                <a:latin typeface="Times New Roman"/>
              </a:rPr>
              <a:t>□    </a:t>
            </a:r>
            <a:r>
              <a:rPr lang="en-US" sz="2400">
                <a:latin typeface="Times New Roman"/>
              </a:rPr>
              <a:t>Easier testing</a:t>
            </a:r>
          </a:p>
          <a:p>
            <a:pPr indent="0" algn="just">
              <a:lnSpc>
                <a:spcPts val="3432"/>
              </a:lnSpc>
            </a:pPr>
            <a:r>
              <a:rPr lang="en-US" sz="2400">
                <a:solidFill>
                  <a:srgbClr val="063DE8"/>
                </a:solidFill>
                <a:latin typeface="Times New Roman"/>
              </a:rPr>
              <a:t>□    </a:t>
            </a:r>
            <a:r>
              <a:rPr lang="en-US" sz="2400">
                <a:latin typeface="Times New Roman"/>
              </a:rPr>
              <a:t>Increased scalability</a:t>
            </a:r>
          </a:p>
          <a:p>
            <a:pPr marL="355600" indent="-355600">
              <a:lnSpc>
                <a:spcPts val="2880"/>
              </a:lnSpc>
            </a:pPr>
            <a:r>
              <a:rPr lang="en-US" sz="2400">
                <a:solidFill>
                  <a:srgbClr val="063DE8"/>
                </a:solidFill>
                <a:latin typeface="Times New Roman"/>
              </a:rPr>
              <a:t>□    </a:t>
            </a:r>
            <a:r>
              <a:rPr lang="en-US" sz="2400">
                <a:latin typeface="Times New Roman"/>
              </a:rPr>
              <a:t>Allows thin provisioning (Appears as if there is more disk than physical)</a:t>
            </a:r>
          </a:p>
        </p:txBody>
      </p:sp>
      <p:sp>
        <p:nvSpPr>
          <p:cNvPr id="4" name="Rectangle 3"/>
          <p:cNvSpPr/>
          <p:nvPr/>
        </p:nvSpPr>
        <p:spPr>
          <a:xfrm>
            <a:off x="4334256" y="6623304"/>
            <a:ext cx="432816" cy="195072"/>
          </a:xfrm>
          <a:prstGeom prst="rect">
            <a:avLst/>
          </a:prstGeom>
        </p:spPr>
        <p:txBody>
          <a:bodyPr wrap="none" lIns="0" tIns="0" rIns="0" bIns="0">
            <a:noAutofit/>
          </a:bodyPr>
          <a:lstStyle/>
          <a:p>
            <a:pPr indent="0"/>
            <a:r>
              <a:rPr lang="en-US" sz="1800">
                <a:latin typeface="Times New Roman"/>
              </a:rPr>
              <a:t>15</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3776" y="39624"/>
            <a:ext cx="8156448" cy="6583680"/>
          </a:xfrm>
          <a:prstGeom prst="rect">
            <a:avLst/>
          </a:prstGeom>
        </p:spPr>
        <p:txBody>
          <a:bodyPr lIns="0" tIns="0" rIns="0" bIns="0">
            <a:noAutofit/>
          </a:bodyPr>
          <a:lstStyle/>
          <a:p>
            <a:pPr marL="381000" indent="0" algn="ctr">
              <a:spcAft>
                <a:spcPts val="2520"/>
              </a:spcAft>
            </a:pPr>
            <a:r>
              <a:rPr lang="en-US" sz="3600" b="1">
                <a:solidFill>
                  <a:srgbClr val="FC0128"/>
                </a:solidFill>
                <a:latin typeface="Times New Roman"/>
              </a:rPr>
              <a:t>Virtualizing Storage</a:t>
            </a:r>
          </a:p>
          <a:p>
            <a:pPr indent="0" algn="just">
              <a:spcAft>
                <a:spcPts val="1050"/>
              </a:spcAft>
            </a:pPr>
            <a:r>
              <a:rPr lang="en-US" sz="2400">
                <a:solidFill>
                  <a:srgbClr val="063DE8"/>
                </a:solidFill>
                <a:latin typeface="Times New Roman"/>
              </a:rPr>
              <a:t>□    </a:t>
            </a:r>
            <a:r>
              <a:rPr lang="en-US" sz="2400">
                <a:latin typeface="Times New Roman"/>
              </a:rPr>
              <a:t>Partitions and file systems are “Virtual” views of the storage</a:t>
            </a:r>
          </a:p>
          <a:p>
            <a:pPr marL="368300" marR="469900" indent="-368300">
              <a:lnSpc>
                <a:spcPts val="2832"/>
              </a:lnSpc>
              <a:spcAft>
                <a:spcPts val="210"/>
              </a:spcAft>
            </a:pPr>
            <a:r>
              <a:rPr lang="en-US" sz="2400">
                <a:solidFill>
                  <a:srgbClr val="063DE8"/>
                </a:solidFill>
                <a:latin typeface="Times New Roman"/>
              </a:rPr>
              <a:t>□    </a:t>
            </a:r>
            <a:r>
              <a:rPr lang="en-US" sz="2400">
                <a:latin typeface="Times New Roman"/>
              </a:rPr>
              <a:t>A disk array can be partitioned into virtual (logical) devices with LUNs, File systems assigned to different tenants</a:t>
            </a:r>
          </a:p>
          <a:p>
            <a:pPr marL="368300" marR="1574800" indent="-368300">
              <a:lnSpc>
                <a:spcPts val="2928"/>
              </a:lnSpc>
              <a:spcAft>
                <a:spcPts val="210"/>
              </a:spcAft>
            </a:pPr>
            <a:r>
              <a:rPr lang="en-US" sz="2400">
                <a:solidFill>
                  <a:srgbClr val="063DE8"/>
                </a:solidFill>
                <a:latin typeface="Times New Roman"/>
              </a:rPr>
              <a:t>□    </a:t>
            </a:r>
            <a:r>
              <a:rPr lang="en-US" sz="2400">
                <a:latin typeface="Times New Roman"/>
              </a:rPr>
              <a:t>Thin Provisioning: Allocate blocks only when used ^ Overbooking</a:t>
            </a:r>
          </a:p>
          <a:p>
            <a:pPr marL="368300" indent="-368300">
              <a:lnSpc>
                <a:spcPts val="2904"/>
              </a:lnSpc>
              <a:spcAft>
                <a:spcPts val="210"/>
              </a:spcAft>
            </a:pPr>
            <a:r>
              <a:rPr lang="en-US" sz="2400">
                <a:solidFill>
                  <a:srgbClr val="063DE8"/>
                </a:solidFill>
                <a:latin typeface="Times New Roman"/>
              </a:rPr>
              <a:t>□    </a:t>
            </a:r>
            <a:r>
              <a:rPr lang="en-US" sz="2400">
                <a:latin typeface="Times New Roman"/>
              </a:rPr>
              <a:t>Another way to virtualize storage is use multiple physical disks to look like a single disk using RAID</a:t>
            </a:r>
          </a:p>
          <a:p>
            <a:pPr indent="0" algn="just">
              <a:spcAft>
                <a:spcPts val="1050"/>
              </a:spcAft>
            </a:pPr>
            <a:r>
              <a:rPr lang="en-US" sz="2400">
                <a:solidFill>
                  <a:srgbClr val="063DE8"/>
                </a:solidFill>
                <a:latin typeface="Times New Roman"/>
              </a:rPr>
              <a:t>□    </a:t>
            </a:r>
            <a:r>
              <a:rPr lang="en-US" sz="2400">
                <a:latin typeface="Times New Roman"/>
              </a:rPr>
              <a:t>RAID (Redundant array of </a:t>
            </a:r>
            <a:r>
              <a:rPr lang="en-US" sz="2400" u="sng">
                <a:latin typeface="Times New Roman"/>
              </a:rPr>
              <a:t>independent</a:t>
            </a:r>
            <a:r>
              <a:rPr lang="en-US" sz="2400">
                <a:latin typeface="Times New Roman"/>
              </a:rPr>
              <a:t> disks)</a:t>
            </a:r>
          </a:p>
          <a:p>
            <a:pPr marL="368300" marR="1892300" indent="-368300">
              <a:lnSpc>
                <a:spcPts val="2880"/>
              </a:lnSpc>
              <a:spcAft>
                <a:spcPts val="210"/>
              </a:spcAft>
            </a:pPr>
            <a:r>
              <a:rPr lang="en-US" sz="2400">
                <a:solidFill>
                  <a:srgbClr val="063DE8"/>
                </a:solidFill>
                <a:latin typeface="Times New Roman"/>
              </a:rPr>
              <a:t>□    </a:t>
            </a:r>
            <a:r>
              <a:rPr lang="en-US" sz="2400">
                <a:latin typeface="Times New Roman"/>
              </a:rPr>
              <a:t>Originally Redundant array of </a:t>
            </a:r>
            <a:r>
              <a:rPr lang="en-US" sz="2400" u="sng">
                <a:latin typeface="Times New Roman"/>
              </a:rPr>
              <a:t>inexpensive</a:t>
            </a:r>
            <a:r>
              <a:rPr lang="en-US" sz="2400">
                <a:latin typeface="Times New Roman"/>
              </a:rPr>
              <a:t> disks (as invented by Patterson, Gibson, and Katz)</a:t>
            </a:r>
          </a:p>
          <a:p>
            <a:pPr indent="0" algn="just">
              <a:spcAft>
                <a:spcPts val="1050"/>
              </a:spcAft>
            </a:pPr>
            <a:r>
              <a:rPr lang="en-US" sz="2400">
                <a:solidFill>
                  <a:srgbClr val="063DE8"/>
                </a:solidFill>
                <a:latin typeface="Times New Roman"/>
              </a:rPr>
              <a:t>□    </a:t>
            </a:r>
            <a:r>
              <a:rPr lang="en-US" sz="2400">
                <a:latin typeface="Times New Roman"/>
              </a:rPr>
              <a:t>Trick: Divide and replicate data among multiple drives</a:t>
            </a:r>
          </a:p>
          <a:p>
            <a:pPr indent="0" algn="just">
              <a:spcAft>
                <a:spcPts val="1050"/>
              </a:spcAft>
            </a:pPr>
            <a:r>
              <a:rPr lang="en-US" sz="2400">
                <a:solidFill>
                  <a:srgbClr val="063DE8"/>
                </a:solidFill>
                <a:latin typeface="Times New Roman"/>
              </a:rPr>
              <a:t>□    </a:t>
            </a:r>
            <a:r>
              <a:rPr lang="en-US" sz="2400">
                <a:latin typeface="Times New Roman"/>
              </a:rPr>
              <a:t>Provides availability, performance and/or capacity.</a:t>
            </a:r>
          </a:p>
          <a:p>
            <a:pPr indent="0" algn="just"/>
            <a:endParaRPr lang="en-US" sz="1200">
              <a:latin typeface="Times New Roman"/>
            </a:endParaRPr>
          </a:p>
        </p:txBody>
      </p:sp>
      <p:sp>
        <p:nvSpPr>
          <p:cNvPr id="3" name="Rectangle 2"/>
          <p:cNvSpPr/>
          <p:nvPr/>
        </p:nvSpPr>
        <p:spPr>
          <a:xfrm>
            <a:off x="4334256" y="6623304"/>
            <a:ext cx="438912" cy="195072"/>
          </a:xfrm>
          <a:prstGeom prst="rect">
            <a:avLst/>
          </a:prstGeom>
        </p:spPr>
        <p:txBody>
          <a:bodyPr wrap="none" lIns="0" tIns="0" rIns="0" bIns="0">
            <a:noAutofit/>
          </a:bodyPr>
          <a:lstStyle/>
          <a:p>
            <a:pPr indent="0"/>
            <a:r>
              <a:rPr lang="en-US" sz="1800">
                <a:latin typeface="Times New Roman"/>
              </a:rPr>
              <a:t>16</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364122" y="140208"/>
            <a:ext cx="2596896" cy="396240"/>
          </a:xfrm>
          <a:prstGeom prst="rect">
            <a:avLst/>
          </a:prstGeom>
        </p:spPr>
        <p:txBody>
          <a:bodyPr wrap="none" lIns="0" tIns="0" rIns="0" bIns="0">
            <a:noAutofit/>
          </a:bodyPr>
          <a:lstStyle/>
          <a:p>
            <a:pPr indent="0" algn="ctr">
              <a:spcAft>
                <a:spcPts val="1260"/>
              </a:spcAft>
            </a:pPr>
            <a:r>
              <a:rPr lang="en-US" sz="3600" b="1">
                <a:solidFill>
                  <a:srgbClr val="FC0128"/>
                </a:solidFill>
                <a:latin typeface="Times New Roman"/>
              </a:rPr>
              <a:t>RAID Levels</a:t>
            </a:r>
          </a:p>
        </p:txBody>
      </p:sp>
      <p:sp>
        <p:nvSpPr>
          <p:cNvPr id="3" name="Rectangle 2"/>
          <p:cNvSpPr/>
          <p:nvPr/>
        </p:nvSpPr>
        <p:spPr>
          <a:xfrm>
            <a:off x="438912" y="1121663"/>
            <a:ext cx="6224016" cy="4702193"/>
          </a:xfrm>
          <a:prstGeom prst="rect">
            <a:avLst/>
          </a:prstGeom>
        </p:spPr>
        <p:txBody>
          <a:bodyPr lIns="0" tIns="0" rIns="0" bIns="0">
            <a:noAutofit/>
          </a:bodyPr>
          <a:lstStyle/>
          <a:p>
            <a:pPr marL="381000" indent="-381000">
              <a:lnSpc>
                <a:spcPts val="2880"/>
              </a:lnSpc>
              <a:spcBef>
                <a:spcPts val="1260"/>
              </a:spcBef>
              <a:spcAft>
                <a:spcPts val="210"/>
              </a:spcAft>
            </a:pPr>
            <a:r>
              <a:rPr lang="en-US" sz="2400">
                <a:solidFill>
                  <a:srgbClr val="063DE8"/>
                </a:solidFill>
                <a:latin typeface="Times New Roman"/>
              </a:rPr>
              <a:t>□    </a:t>
            </a:r>
            <a:r>
              <a:rPr lang="en-US" sz="2400">
                <a:latin typeface="Times New Roman"/>
              </a:rPr>
              <a:t>RAID 0: block-level </a:t>
            </a:r>
            <a:r>
              <a:rPr lang="en-US" sz="2400" i="1">
                <a:solidFill>
                  <a:srgbClr val="063DE8"/>
                </a:solidFill>
                <a:latin typeface="Times New Roman"/>
              </a:rPr>
              <a:t>striping</a:t>
            </a:r>
            <a:r>
              <a:rPr lang="en-US" sz="2400">
                <a:solidFill>
                  <a:srgbClr val="063DE8"/>
                </a:solidFill>
                <a:latin typeface="Times New Roman"/>
              </a:rPr>
              <a:t> </a:t>
            </a:r>
            <a:r>
              <a:rPr lang="en-US" sz="2400">
                <a:latin typeface="Times New Roman"/>
              </a:rPr>
              <a:t>without parity. Zero redundancy. Higher performance and capacity.</a:t>
            </a:r>
          </a:p>
          <a:p>
            <a:pPr marL="381000" indent="-381000">
              <a:lnSpc>
                <a:spcPts val="2880"/>
              </a:lnSpc>
              <a:spcAft>
                <a:spcPts val="210"/>
              </a:spcAft>
            </a:pPr>
            <a:r>
              <a:rPr lang="en-US" sz="2400">
                <a:solidFill>
                  <a:srgbClr val="063DE8"/>
                </a:solidFill>
                <a:latin typeface="Times New Roman"/>
              </a:rPr>
              <a:t>□    </a:t>
            </a:r>
            <a:r>
              <a:rPr lang="en-US" sz="2400">
                <a:latin typeface="Times New Roman"/>
              </a:rPr>
              <a:t>RAID 1: </a:t>
            </a:r>
            <a:r>
              <a:rPr lang="en-US" sz="2400" i="1">
                <a:solidFill>
                  <a:srgbClr val="063DE8"/>
                </a:solidFill>
                <a:latin typeface="Times New Roman"/>
              </a:rPr>
              <a:t>Mirroring</a:t>
            </a:r>
            <a:r>
              <a:rPr lang="en-US" sz="2400">
                <a:solidFill>
                  <a:srgbClr val="063DE8"/>
                </a:solidFill>
                <a:latin typeface="Times New Roman"/>
              </a:rPr>
              <a:t> </a:t>
            </a:r>
            <a:r>
              <a:rPr lang="en-US" sz="2400">
                <a:latin typeface="Times New Roman"/>
              </a:rPr>
              <a:t>without parity. Higher read performance. Two or more mirrors.</a:t>
            </a:r>
          </a:p>
          <a:p>
            <a:pPr marL="381000" indent="-381000">
              <a:lnSpc>
                <a:spcPts val="2880"/>
              </a:lnSpc>
            </a:pPr>
            <a:r>
              <a:rPr lang="en-US" sz="2400">
                <a:solidFill>
                  <a:srgbClr val="063DE8"/>
                </a:solidFill>
                <a:latin typeface="Times New Roman"/>
              </a:rPr>
              <a:t>□    </a:t>
            </a:r>
            <a:r>
              <a:rPr lang="en-US" sz="2400">
                <a:latin typeface="Times New Roman"/>
              </a:rPr>
              <a:t>RAID 2: Bit-level striping with dedicated Hamming code </a:t>
            </a:r>
            <a:r>
              <a:rPr lang="en-US" sz="2400" i="1">
                <a:solidFill>
                  <a:srgbClr val="063DE8"/>
                </a:solidFill>
                <a:latin typeface="Times New Roman"/>
              </a:rPr>
              <a:t>parity</a:t>
            </a:r>
            <a:r>
              <a:rPr lang="en-US" sz="2400" i="1">
                <a:latin typeface="Times New Roman"/>
              </a:rPr>
              <a:t>.</a:t>
            </a:r>
            <a:r>
              <a:rPr lang="en-US" sz="2400">
                <a:latin typeface="Times New Roman"/>
              </a:rPr>
              <a:t> Each sequential bit is on a different drive.</a:t>
            </a:r>
          </a:p>
          <a:p>
            <a:pPr marL="381000" indent="0">
              <a:lnSpc>
                <a:spcPts val="2880"/>
              </a:lnSpc>
              <a:spcAft>
                <a:spcPts val="210"/>
              </a:spcAft>
            </a:pPr>
            <a:r>
              <a:rPr lang="en-US" sz="2400">
                <a:latin typeface="Times New Roman"/>
              </a:rPr>
              <a:t>Not used in practice.</a:t>
            </a:r>
          </a:p>
          <a:p>
            <a:pPr marL="381000" indent="-381000">
              <a:lnSpc>
                <a:spcPts val="2880"/>
              </a:lnSpc>
            </a:pPr>
            <a:r>
              <a:rPr lang="en-US" sz="2400">
                <a:solidFill>
                  <a:srgbClr val="063DE8"/>
                </a:solidFill>
                <a:latin typeface="Times New Roman"/>
              </a:rPr>
              <a:t>□    </a:t>
            </a:r>
            <a:r>
              <a:rPr lang="en-US" sz="2400">
                <a:latin typeface="Times New Roman"/>
              </a:rPr>
              <a:t>RAID 3: Byte-level striping with dedicated Hamming code parity. Not commonly used.</a:t>
            </a:r>
          </a:p>
        </p:txBody>
      </p:sp>
      <p:sp>
        <p:nvSpPr>
          <p:cNvPr id="12" name="Rectangle 11"/>
          <p:cNvSpPr/>
          <p:nvPr/>
        </p:nvSpPr>
        <p:spPr>
          <a:xfrm>
            <a:off x="4334256" y="6623304"/>
            <a:ext cx="438912" cy="195072"/>
          </a:xfrm>
          <a:prstGeom prst="rect">
            <a:avLst/>
          </a:prstGeom>
        </p:spPr>
        <p:txBody>
          <a:bodyPr wrap="none" lIns="0" tIns="0" rIns="0" bIns="0">
            <a:noAutofit/>
          </a:bodyPr>
          <a:lstStyle/>
          <a:p>
            <a:pPr indent="0"/>
            <a:r>
              <a:rPr lang="en-US" sz="1800">
                <a:latin typeface="Times New Roman"/>
              </a:rPr>
              <a:t>17</a:t>
            </a:r>
          </a:p>
        </p:txBody>
      </p:sp>
      <p:pic>
        <p:nvPicPr>
          <p:cNvPr id="10" name="Picture 9" descr="A diagram of a computer server&#10;&#10;AI-generated content may be incorrect.">
            <a:extLst>
              <a:ext uri="{FF2B5EF4-FFF2-40B4-BE49-F238E27FC236}">
                <a16:creationId xmlns:a16="http://schemas.microsoft.com/office/drawing/2014/main" id="{273E124F-6808-37CC-0580-B0B47BD5B4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9131" y="1460182"/>
            <a:ext cx="1188823" cy="3132091"/>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0728" y="606552"/>
            <a:ext cx="6010656" cy="2834640"/>
          </a:xfrm>
          <a:prstGeom prst="rect">
            <a:avLst/>
          </a:prstGeom>
        </p:spPr>
        <p:txBody>
          <a:bodyPr lIns="0" tIns="0" rIns="0" bIns="0">
            <a:noAutofit/>
          </a:bodyPr>
          <a:lstStyle/>
          <a:p>
            <a:pPr indent="0" algn="r">
              <a:spcAft>
                <a:spcPts val="1260"/>
              </a:spcAft>
            </a:pPr>
            <a:r>
              <a:rPr lang="en-US" sz="3600" b="1">
                <a:solidFill>
                  <a:srgbClr val="FC0128"/>
                </a:solidFill>
                <a:latin typeface="Times New Roman"/>
              </a:rPr>
              <a:t>RAID Levels (Cont)</a:t>
            </a:r>
          </a:p>
          <a:p>
            <a:pPr indent="-381000">
              <a:lnSpc>
                <a:spcPts val="2880"/>
              </a:lnSpc>
              <a:spcAft>
                <a:spcPts val="210"/>
              </a:spcAft>
            </a:pPr>
            <a:r>
              <a:rPr lang="en-US" sz="2400">
                <a:solidFill>
                  <a:srgbClr val="063DE8"/>
                </a:solidFill>
                <a:latin typeface="Times New Roman"/>
              </a:rPr>
              <a:t>□    </a:t>
            </a:r>
            <a:r>
              <a:rPr lang="en-US" sz="2400">
                <a:latin typeface="Times New Roman"/>
              </a:rPr>
              <a:t>RAID 4: Block-level striping with dedicated parity. Allows I/O requests to be performed in parallel.</a:t>
            </a:r>
          </a:p>
          <a:p>
            <a:pPr indent="-381000">
              <a:lnSpc>
                <a:spcPts val="2832"/>
              </a:lnSpc>
              <a:spcAft>
                <a:spcPts val="210"/>
              </a:spcAft>
            </a:pPr>
            <a:r>
              <a:rPr lang="en-US" sz="2400">
                <a:solidFill>
                  <a:srgbClr val="063DE8"/>
                </a:solidFill>
                <a:latin typeface="Times New Roman"/>
              </a:rPr>
              <a:t>□    </a:t>
            </a:r>
            <a:r>
              <a:rPr lang="en-US" sz="2400">
                <a:latin typeface="Times New Roman"/>
              </a:rPr>
              <a:t>RAID 5: Block-level striping with </a:t>
            </a:r>
            <a:r>
              <a:rPr lang="en-US" sz="2400" i="1">
                <a:solidFill>
                  <a:srgbClr val="063DE8"/>
                </a:solidFill>
                <a:latin typeface="Times New Roman"/>
              </a:rPr>
              <a:t>distributed parity</a:t>
            </a:r>
            <a:r>
              <a:rPr lang="en-US" sz="2400" i="1">
                <a:latin typeface="Times New Roman"/>
              </a:rPr>
              <a:t>.</a:t>
            </a:r>
            <a:r>
              <a:rPr lang="en-US" sz="2400">
                <a:latin typeface="Times New Roman"/>
              </a:rPr>
              <a:t> Masks failure of 1 drive.</a:t>
            </a:r>
          </a:p>
          <a:p>
            <a:pPr indent="-381000">
              <a:lnSpc>
                <a:spcPts val="2856"/>
              </a:lnSpc>
              <a:spcAft>
                <a:spcPts val="7770"/>
              </a:spcAft>
            </a:pPr>
            <a:r>
              <a:rPr lang="en-US" sz="2400">
                <a:solidFill>
                  <a:srgbClr val="063DE8"/>
                </a:solidFill>
                <a:latin typeface="Times New Roman"/>
              </a:rPr>
              <a:t>□    </a:t>
            </a:r>
            <a:r>
              <a:rPr lang="en-US" sz="2400">
                <a:latin typeface="Times New Roman"/>
              </a:rPr>
              <a:t>RAID 6: Block-level striping with double </a:t>
            </a:r>
          </a:p>
        </p:txBody>
      </p:sp>
      <p:sp>
        <p:nvSpPr>
          <p:cNvPr id="3" name="Rectangle 2"/>
          <p:cNvSpPr/>
          <p:nvPr/>
        </p:nvSpPr>
        <p:spPr>
          <a:xfrm>
            <a:off x="819912" y="3526536"/>
            <a:ext cx="5907024" cy="950976"/>
          </a:xfrm>
          <a:prstGeom prst="rect">
            <a:avLst/>
          </a:prstGeom>
        </p:spPr>
        <p:txBody>
          <a:bodyPr lIns="0" tIns="0" rIns="0" bIns="0">
            <a:noAutofit/>
          </a:bodyPr>
          <a:lstStyle/>
          <a:p>
            <a:pPr indent="-381000">
              <a:lnSpc>
                <a:spcPts val="2856"/>
              </a:lnSpc>
              <a:spcAft>
                <a:spcPts val="7770"/>
              </a:spcAft>
            </a:pPr>
            <a:r>
              <a:rPr lang="en-US" sz="2400">
                <a:latin typeface="Times New Roman"/>
              </a:rPr>
              <a:t>distributed parity. Masks up to two failed drives. Better for large drives that take long time to recover.</a:t>
            </a:r>
          </a:p>
        </p:txBody>
      </p:sp>
      <p:sp>
        <p:nvSpPr>
          <p:cNvPr id="10" name="Rectangle 9"/>
          <p:cNvSpPr/>
          <p:nvPr/>
        </p:nvSpPr>
        <p:spPr>
          <a:xfrm>
            <a:off x="4334256" y="6623304"/>
            <a:ext cx="435864" cy="195072"/>
          </a:xfrm>
          <a:prstGeom prst="rect">
            <a:avLst/>
          </a:prstGeom>
        </p:spPr>
        <p:txBody>
          <a:bodyPr wrap="none" lIns="0" tIns="0" rIns="0" bIns="0">
            <a:noAutofit/>
          </a:bodyPr>
          <a:lstStyle/>
          <a:p>
            <a:pPr indent="0"/>
            <a:r>
              <a:rPr lang="en-US" sz="1800">
                <a:latin typeface="Times New Roman"/>
              </a:rPr>
              <a:t>18</a:t>
            </a:r>
          </a:p>
        </p:txBody>
      </p:sp>
      <p:pic>
        <p:nvPicPr>
          <p:cNvPr id="12" name="Picture 11" descr="A diagram of several columns with text&#10;&#10;AI-generated content may be incorrect.">
            <a:extLst>
              <a:ext uri="{FF2B5EF4-FFF2-40B4-BE49-F238E27FC236}">
                <a16:creationId xmlns:a16="http://schemas.microsoft.com/office/drawing/2014/main" id="{C2055739-1424-E8EA-AE4F-6A67EA5C65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9745" y="1466181"/>
            <a:ext cx="2994256" cy="288061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3197352" y="92964"/>
            <a:ext cx="3102864" cy="387096"/>
          </a:xfrm>
          <a:prstGeom prst="rect">
            <a:avLst/>
          </a:prstGeom>
        </p:spPr>
        <p:txBody>
          <a:bodyPr wrap="none" lIns="0" tIns="0" rIns="0" bIns="0">
            <a:noAutofit/>
          </a:bodyPr>
          <a:lstStyle/>
          <a:p>
            <a:pPr indent="0" algn="ctr">
              <a:spcAft>
                <a:spcPts val="1890"/>
              </a:spcAft>
            </a:pPr>
            <a:r>
              <a:rPr lang="en-US" sz="3900" b="1">
                <a:solidFill>
                  <a:srgbClr val="FC0128"/>
                </a:solidFill>
                <a:latin typeface="Times New Roman"/>
              </a:rPr>
              <a:t>Nested RAIDs</a:t>
            </a:r>
          </a:p>
        </p:txBody>
      </p:sp>
      <p:sp>
        <p:nvSpPr>
          <p:cNvPr id="5" name="Rectangle 4"/>
          <p:cNvSpPr/>
          <p:nvPr/>
        </p:nvSpPr>
        <p:spPr>
          <a:xfrm>
            <a:off x="461772" y="760476"/>
            <a:ext cx="4788408" cy="2587752"/>
          </a:xfrm>
          <a:prstGeom prst="rect">
            <a:avLst/>
          </a:prstGeom>
        </p:spPr>
        <p:txBody>
          <a:bodyPr lIns="0" tIns="0" rIns="0" bIns="0">
            <a:noAutofit/>
          </a:bodyPr>
          <a:lstStyle/>
          <a:p>
            <a:pPr indent="0" algn="just">
              <a:spcBef>
                <a:spcPts val="1890"/>
              </a:spcBef>
              <a:spcAft>
                <a:spcPts val="1050"/>
              </a:spcAft>
            </a:pPr>
            <a:r>
              <a:rPr lang="en-US" sz="2400">
                <a:solidFill>
                  <a:srgbClr val="063DE8"/>
                </a:solidFill>
                <a:latin typeface="Times New Roman"/>
              </a:rPr>
              <a:t>□    </a:t>
            </a:r>
            <a:r>
              <a:rPr lang="en-US" sz="2400">
                <a:latin typeface="Times New Roman"/>
              </a:rPr>
              <a:t>RAID of RAID drives</a:t>
            </a:r>
          </a:p>
          <a:p>
            <a:pPr marL="350520" indent="-381000">
              <a:lnSpc>
                <a:spcPts val="2856"/>
              </a:lnSpc>
            </a:pPr>
            <a:r>
              <a:rPr lang="en-US" sz="2400">
                <a:solidFill>
                  <a:srgbClr val="063DE8"/>
                </a:solidFill>
                <a:latin typeface="Times New Roman"/>
              </a:rPr>
              <a:t>□    </a:t>
            </a:r>
            <a:r>
              <a:rPr lang="en-US" sz="2400">
                <a:latin typeface="Times New Roman"/>
              </a:rPr>
              <a:t>RAID 01: Stripe and then mirror = RAID 0+1</a:t>
            </a:r>
          </a:p>
          <a:p>
            <a:pPr marL="350520" indent="0">
              <a:lnSpc>
                <a:spcPts val="2856"/>
              </a:lnSpc>
              <a:spcAft>
                <a:spcPts val="210"/>
              </a:spcAft>
            </a:pPr>
            <a:r>
              <a:rPr lang="en-US" sz="2400">
                <a:latin typeface="Times New Roman"/>
              </a:rPr>
              <a:t>Data is striped across primary disks that are mirrored to secondary disks.</a:t>
            </a:r>
          </a:p>
          <a:p>
            <a:pPr marL="350520" indent="-381000">
              <a:lnSpc>
                <a:spcPts val="2832"/>
              </a:lnSpc>
              <a:spcAft>
                <a:spcPts val="210"/>
              </a:spcAft>
            </a:pPr>
            <a:r>
              <a:rPr lang="en-US" sz="2400">
                <a:solidFill>
                  <a:srgbClr val="063DE8"/>
                </a:solidFill>
                <a:latin typeface="Times New Roman"/>
              </a:rPr>
              <a:t>□    </a:t>
            </a:r>
            <a:r>
              <a:rPr lang="en-US" sz="2400">
                <a:latin typeface="Times New Roman"/>
              </a:rPr>
              <a:t>RAID 10: Mirror then stripe =   RAID 1+0</a:t>
            </a:r>
          </a:p>
        </p:txBody>
      </p:sp>
      <p:sp>
        <p:nvSpPr>
          <p:cNvPr id="8" name="Rectangle 7"/>
          <p:cNvSpPr/>
          <p:nvPr/>
        </p:nvSpPr>
        <p:spPr>
          <a:xfrm>
            <a:off x="349650" y="3895344"/>
            <a:ext cx="4773168" cy="2212848"/>
          </a:xfrm>
          <a:prstGeom prst="rect">
            <a:avLst/>
          </a:prstGeom>
        </p:spPr>
        <p:txBody>
          <a:bodyPr lIns="0" tIns="0" rIns="0" bIns="0">
            <a:noAutofit/>
          </a:bodyPr>
          <a:lstStyle/>
          <a:p>
            <a:pPr marL="350520" indent="-381000">
              <a:lnSpc>
                <a:spcPts val="2856"/>
              </a:lnSpc>
              <a:spcBef>
                <a:spcPts val="210"/>
              </a:spcBef>
            </a:pPr>
            <a:r>
              <a:rPr lang="en-US" sz="2400">
                <a:solidFill>
                  <a:srgbClr val="063DE8"/>
                </a:solidFill>
                <a:latin typeface="Times New Roman"/>
              </a:rPr>
              <a:t>□    </a:t>
            </a:r>
            <a:r>
              <a:rPr lang="en-US" sz="2400">
                <a:latin typeface="Times New Roman"/>
              </a:rPr>
              <a:t>The order of digits is the order in which the set is built.</a:t>
            </a:r>
          </a:p>
          <a:p>
            <a:pPr marL="350520" indent="0">
              <a:lnSpc>
                <a:spcPts val="2856"/>
              </a:lnSpc>
              <a:spcAft>
                <a:spcPts val="210"/>
              </a:spcAft>
            </a:pPr>
            <a:r>
              <a:rPr lang="en-US" sz="2400">
                <a:latin typeface="Times New Roman"/>
              </a:rPr>
              <a:t>RAID 0+1 ^ Stripping first and then mirroring</a:t>
            </a:r>
          </a:p>
          <a:p>
            <a:pPr marL="350520" indent="-381000">
              <a:lnSpc>
                <a:spcPts val="2904"/>
              </a:lnSpc>
            </a:pPr>
            <a:r>
              <a:rPr lang="en-US" sz="2400">
                <a:solidFill>
                  <a:srgbClr val="063DE8"/>
                </a:solidFill>
                <a:latin typeface="Times New Roman"/>
              </a:rPr>
              <a:t>□    </a:t>
            </a:r>
            <a:r>
              <a:rPr lang="en-US" sz="2400">
                <a:latin typeface="Times New Roman"/>
              </a:rPr>
              <a:t>Mirrored striped set with distributed parity = RAID 5+3 or RAID 53</a:t>
            </a:r>
          </a:p>
        </p:txBody>
      </p:sp>
      <p:sp>
        <p:nvSpPr>
          <p:cNvPr id="12" name="Rectangle 11"/>
          <p:cNvSpPr/>
          <p:nvPr/>
        </p:nvSpPr>
        <p:spPr>
          <a:xfrm>
            <a:off x="4334256" y="6623303"/>
            <a:ext cx="788562" cy="485067"/>
          </a:xfrm>
          <a:prstGeom prst="rect">
            <a:avLst/>
          </a:prstGeom>
        </p:spPr>
        <p:txBody>
          <a:bodyPr wrap="none" lIns="0" tIns="0" rIns="0" bIns="0">
            <a:noAutofit/>
          </a:bodyPr>
          <a:lstStyle/>
          <a:p>
            <a:pPr indent="0"/>
            <a:r>
              <a:rPr lang="en-US">
                <a:latin typeface="Times New Roman"/>
              </a:rPr>
              <a:t>19</a:t>
            </a:r>
          </a:p>
          <a:p>
            <a:pPr indent="0"/>
            <a:endParaRPr lang="en-US" sz="1800">
              <a:latin typeface="Times New Roman"/>
            </a:endParaRPr>
          </a:p>
        </p:txBody>
      </p:sp>
      <p:pic>
        <p:nvPicPr>
          <p:cNvPr id="13" name="Picture 12" descr="A diagram of a server&#10;&#10;AI-generated content may be incorrect.">
            <a:extLst>
              <a:ext uri="{FF2B5EF4-FFF2-40B4-BE49-F238E27FC236}">
                <a16:creationId xmlns:a16="http://schemas.microsoft.com/office/drawing/2014/main" id="{A3705399-5F01-28A8-9784-CD2A916682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5616" y="1168718"/>
            <a:ext cx="2453853" cy="4939473"/>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29640" y="3660648"/>
            <a:ext cx="1258824" cy="1932432"/>
          </a:xfrm>
          <a:prstGeom prst="rect">
            <a:avLst/>
          </a:prstGeom>
        </p:spPr>
      </p:pic>
      <p:pic>
        <p:nvPicPr>
          <p:cNvPr id="3" name="Picture 2"/>
          <p:cNvPicPr>
            <a:picLocks noChangeAspect="1"/>
          </p:cNvPicPr>
          <p:nvPr/>
        </p:nvPicPr>
        <p:blipFill>
          <a:blip r:embed="rId3"/>
          <a:stretch>
            <a:fillRect/>
          </a:stretch>
        </p:blipFill>
        <p:spPr>
          <a:xfrm>
            <a:off x="2328672" y="4800600"/>
            <a:ext cx="1725168" cy="838200"/>
          </a:xfrm>
          <a:prstGeom prst="rect">
            <a:avLst/>
          </a:prstGeom>
        </p:spPr>
      </p:pic>
      <p:pic>
        <p:nvPicPr>
          <p:cNvPr id="4" name="Picture 3"/>
          <p:cNvPicPr>
            <a:picLocks noChangeAspect="1"/>
          </p:cNvPicPr>
          <p:nvPr/>
        </p:nvPicPr>
        <p:blipFill>
          <a:blip r:embed="rId4"/>
          <a:stretch>
            <a:fillRect/>
          </a:stretch>
        </p:blipFill>
        <p:spPr>
          <a:xfrm>
            <a:off x="5004816" y="3660648"/>
            <a:ext cx="463296" cy="624840"/>
          </a:xfrm>
          <a:prstGeom prst="rect">
            <a:avLst/>
          </a:prstGeom>
        </p:spPr>
      </p:pic>
      <p:pic>
        <p:nvPicPr>
          <p:cNvPr id="5" name="Picture 4"/>
          <p:cNvPicPr>
            <a:picLocks noChangeAspect="1"/>
          </p:cNvPicPr>
          <p:nvPr/>
        </p:nvPicPr>
        <p:blipFill>
          <a:blip r:embed="rId5"/>
          <a:stretch>
            <a:fillRect/>
          </a:stretch>
        </p:blipFill>
        <p:spPr>
          <a:xfrm>
            <a:off x="4791456" y="4306824"/>
            <a:ext cx="356616" cy="569976"/>
          </a:xfrm>
          <a:prstGeom prst="rect">
            <a:avLst/>
          </a:prstGeom>
        </p:spPr>
      </p:pic>
      <p:pic>
        <p:nvPicPr>
          <p:cNvPr id="6" name="Picture 5"/>
          <p:cNvPicPr>
            <a:picLocks noChangeAspect="1"/>
          </p:cNvPicPr>
          <p:nvPr/>
        </p:nvPicPr>
        <p:blipFill>
          <a:blip r:embed="rId6"/>
          <a:stretch>
            <a:fillRect/>
          </a:stretch>
        </p:blipFill>
        <p:spPr>
          <a:xfrm>
            <a:off x="5236464" y="4312920"/>
            <a:ext cx="356616" cy="576072"/>
          </a:xfrm>
          <a:prstGeom prst="rect">
            <a:avLst/>
          </a:prstGeom>
        </p:spPr>
      </p:pic>
      <p:pic>
        <p:nvPicPr>
          <p:cNvPr id="7" name="Picture 6"/>
          <p:cNvPicPr>
            <a:picLocks noChangeAspect="1"/>
          </p:cNvPicPr>
          <p:nvPr/>
        </p:nvPicPr>
        <p:blipFill>
          <a:blip r:embed="rId7"/>
          <a:stretch>
            <a:fillRect/>
          </a:stretch>
        </p:blipFill>
        <p:spPr>
          <a:xfrm>
            <a:off x="4636008" y="5023104"/>
            <a:ext cx="1002792" cy="569976"/>
          </a:xfrm>
          <a:prstGeom prst="rect">
            <a:avLst/>
          </a:prstGeom>
        </p:spPr>
      </p:pic>
      <p:pic>
        <p:nvPicPr>
          <p:cNvPr id="8" name="Picture 7"/>
          <p:cNvPicPr>
            <a:picLocks noChangeAspect="1"/>
          </p:cNvPicPr>
          <p:nvPr/>
        </p:nvPicPr>
        <p:blipFill>
          <a:blip r:embed="rId8"/>
          <a:stretch>
            <a:fillRect/>
          </a:stretch>
        </p:blipFill>
        <p:spPr>
          <a:xfrm>
            <a:off x="5739384" y="4800600"/>
            <a:ext cx="2020824" cy="838200"/>
          </a:xfrm>
          <a:prstGeom prst="rect">
            <a:avLst/>
          </a:prstGeom>
        </p:spPr>
      </p:pic>
      <p:sp>
        <p:nvSpPr>
          <p:cNvPr id="9" name="Rectangle 8"/>
          <p:cNvSpPr/>
          <p:nvPr/>
        </p:nvSpPr>
        <p:spPr>
          <a:xfrm>
            <a:off x="472440" y="679704"/>
            <a:ext cx="7996646" cy="353568"/>
          </a:xfrm>
          <a:prstGeom prst="rect">
            <a:avLst/>
          </a:prstGeom>
        </p:spPr>
        <p:txBody>
          <a:bodyPr wrap="none" lIns="0" tIns="0" rIns="0" bIns="0">
            <a:noAutofit/>
          </a:bodyPr>
          <a:lstStyle/>
          <a:p>
            <a:pPr indent="0" algn="ctr">
              <a:spcAft>
                <a:spcPts val="2520"/>
              </a:spcAft>
            </a:pPr>
            <a:r>
              <a:rPr lang="en-US" sz="2800" b="1">
                <a:solidFill>
                  <a:srgbClr val="FC0128"/>
                </a:solidFill>
                <a:latin typeface="Times New Roman"/>
              </a:rPr>
              <a:t>Synchronous vs. Asynchronous Replication</a:t>
            </a:r>
          </a:p>
        </p:txBody>
      </p:sp>
      <p:sp>
        <p:nvSpPr>
          <p:cNvPr id="10" name="Rectangle 9"/>
          <p:cNvSpPr/>
          <p:nvPr/>
        </p:nvSpPr>
        <p:spPr>
          <a:xfrm>
            <a:off x="469392" y="1402080"/>
            <a:ext cx="7415784" cy="1051560"/>
          </a:xfrm>
          <a:prstGeom prst="rect">
            <a:avLst/>
          </a:prstGeom>
        </p:spPr>
        <p:txBody>
          <a:bodyPr lIns="0" tIns="0" rIns="0" bIns="0">
            <a:noAutofit/>
          </a:bodyPr>
          <a:lstStyle/>
          <a:p>
            <a:pPr indent="0">
              <a:lnSpc>
                <a:spcPts val="2904"/>
              </a:lnSpc>
              <a:spcBef>
                <a:spcPts val="2520"/>
              </a:spcBef>
            </a:pPr>
            <a:r>
              <a:rPr lang="en-US" sz="2400">
                <a:solidFill>
                  <a:srgbClr val="063DE8"/>
                </a:solidFill>
                <a:latin typeface="Times New Roman"/>
              </a:rPr>
              <a:t>□ </a:t>
            </a:r>
            <a:r>
              <a:rPr lang="en-US" sz="2400">
                <a:latin typeface="Times New Roman"/>
              </a:rPr>
              <a:t>Synchronous: Immediate secondary writes.</a:t>
            </a:r>
          </a:p>
          <a:p>
            <a:pPr marL="353060" indent="0">
              <a:lnSpc>
                <a:spcPts val="2904"/>
              </a:lnSpc>
              <a:spcAft>
                <a:spcPts val="210"/>
              </a:spcAft>
            </a:pPr>
            <a:r>
              <a:rPr lang="en-US" sz="2400">
                <a:latin typeface="Times New Roman"/>
              </a:rPr>
              <a:t>Write completes only after finishing on secondary storage ^ Guaranteed recovery but slow</a:t>
            </a:r>
          </a:p>
        </p:txBody>
      </p:sp>
      <p:sp>
        <p:nvSpPr>
          <p:cNvPr id="11" name="Rectangle 10"/>
          <p:cNvSpPr/>
          <p:nvPr/>
        </p:nvSpPr>
        <p:spPr>
          <a:xfrm>
            <a:off x="469392" y="2569464"/>
            <a:ext cx="7790688" cy="1045464"/>
          </a:xfrm>
          <a:prstGeom prst="rect">
            <a:avLst/>
          </a:prstGeom>
        </p:spPr>
        <p:txBody>
          <a:bodyPr lIns="0" tIns="0" rIns="0" bIns="0">
            <a:noAutofit/>
          </a:bodyPr>
          <a:lstStyle/>
          <a:p>
            <a:pPr indent="0">
              <a:lnSpc>
                <a:spcPts val="2880"/>
              </a:lnSpc>
              <a:spcBef>
                <a:spcPts val="210"/>
              </a:spcBef>
            </a:pPr>
            <a:r>
              <a:rPr lang="en-US" sz="2400">
                <a:solidFill>
                  <a:srgbClr val="063DE8"/>
                </a:solidFill>
                <a:latin typeface="Times New Roman"/>
              </a:rPr>
              <a:t>□ </a:t>
            </a:r>
            <a:r>
              <a:rPr lang="en-US" sz="2400">
                <a:latin typeface="Times New Roman"/>
              </a:rPr>
              <a:t>Asynchronous: Delayed secondary writes</a:t>
            </a:r>
          </a:p>
          <a:p>
            <a:pPr marL="353060" indent="0">
              <a:lnSpc>
                <a:spcPts val="2880"/>
              </a:lnSpc>
            </a:pPr>
            <a:r>
              <a:rPr lang="en-US" sz="2400">
                <a:latin typeface="Times New Roman"/>
              </a:rPr>
              <a:t>Writes acked to server even before completion on secondary. Writes to secondary are queued in the primary</a:t>
            </a:r>
          </a:p>
        </p:txBody>
      </p:sp>
      <p:sp>
        <p:nvSpPr>
          <p:cNvPr id="12" name="Rectangle 11"/>
          <p:cNvSpPr/>
          <p:nvPr/>
        </p:nvSpPr>
        <p:spPr>
          <a:xfrm>
            <a:off x="896112" y="5641848"/>
            <a:ext cx="1063752" cy="201168"/>
          </a:xfrm>
          <a:prstGeom prst="rect">
            <a:avLst/>
          </a:prstGeom>
        </p:spPr>
        <p:txBody>
          <a:bodyPr wrap="none" lIns="0" tIns="0" rIns="0" bIns="0">
            <a:noAutofit/>
          </a:bodyPr>
          <a:lstStyle/>
          <a:p>
            <a:pPr indent="0"/>
            <a:r>
              <a:rPr lang="en-US" sz="1300">
                <a:solidFill>
                  <a:srgbClr val="2B2B2A"/>
                </a:solidFill>
                <a:latin typeface="Microsoft Sans Serif"/>
              </a:rPr>
              <a:t>Primary Array</a:t>
            </a:r>
          </a:p>
        </p:txBody>
      </p:sp>
      <p:sp>
        <p:nvSpPr>
          <p:cNvPr id="13" name="Rectangle 12"/>
          <p:cNvSpPr/>
          <p:nvPr/>
        </p:nvSpPr>
        <p:spPr>
          <a:xfrm>
            <a:off x="2478024" y="3874008"/>
            <a:ext cx="1036320" cy="396240"/>
          </a:xfrm>
          <a:prstGeom prst="rect">
            <a:avLst/>
          </a:prstGeom>
        </p:spPr>
        <p:txBody>
          <a:bodyPr lIns="0" tIns="0" rIns="0" bIns="0">
            <a:noAutofit/>
          </a:bodyPr>
          <a:lstStyle/>
          <a:p>
            <a:pPr indent="0">
              <a:spcAft>
                <a:spcPts val="210"/>
              </a:spcAft>
            </a:pPr>
            <a:r>
              <a:rPr lang="en-US" sz="1300">
                <a:solidFill>
                  <a:srgbClr val="2B2B2A"/>
                </a:solidFill>
                <a:latin typeface="Microsoft Sans Serif"/>
              </a:rPr>
              <a:t>Synchronous</a:t>
            </a:r>
          </a:p>
          <a:p>
            <a:pPr indent="0"/>
            <a:r>
              <a:rPr lang="en-US" sz="1300">
                <a:solidFill>
                  <a:srgbClr val="2B2B2A"/>
                </a:solidFill>
                <a:latin typeface="Microsoft Sans Serif"/>
              </a:rPr>
              <a:t>Replication</a:t>
            </a:r>
          </a:p>
        </p:txBody>
      </p:sp>
      <p:sp>
        <p:nvSpPr>
          <p:cNvPr id="14" name="Rectangle 13"/>
          <p:cNvSpPr/>
          <p:nvPr/>
        </p:nvSpPr>
        <p:spPr>
          <a:xfrm>
            <a:off x="3023616" y="5641848"/>
            <a:ext cx="850392" cy="396240"/>
          </a:xfrm>
          <a:prstGeom prst="rect">
            <a:avLst/>
          </a:prstGeom>
        </p:spPr>
        <p:txBody>
          <a:bodyPr lIns="0" tIns="0" rIns="0" bIns="0">
            <a:noAutofit/>
          </a:bodyPr>
          <a:lstStyle/>
          <a:p>
            <a:pPr indent="0">
              <a:spcAft>
                <a:spcPts val="210"/>
              </a:spcAft>
            </a:pPr>
            <a:r>
              <a:rPr lang="en-US" sz="1300">
                <a:solidFill>
                  <a:srgbClr val="2B2B2A"/>
                </a:solidFill>
                <a:latin typeface="Microsoft Sans Serif"/>
              </a:rPr>
              <a:t>Secondary</a:t>
            </a:r>
          </a:p>
          <a:p>
            <a:pPr marL="203200" indent="0"/>
            <a:r>
              <a:rPr lang="en-US" sz="1300">
                <a:solidFill>
                  <a:srgbClr val="2B2B2A"/>
                </a:solidFill>
                <a:latin typeface="Microsoft Sans Serif"/>
              </a:rPr>
              <a:t>Array</a:t>
            </a:r>
          </a:p>
        </p:txBody>
      </p:sp>
      <p:sp>
        <p:nvSpPr>
          <p:cNvPr id="15" name="Rectangle 14"/>
          <p:cNvSpPr/>
          <p:nvPr/>
        </p:nvSpPr>
        <p:spPr>
          <a:xfrm>
            <a:off x="4608576" y="5641848"/>
            <a:ext cx="1063752" cy="201168"/>
          </a:xfrm>
          <a:prstGeom prst="rect">
            <a:avLst/>
          </a:prstGeom>
        </p:spPr>
        <p:txBody>
          <a:bodyPr wrap="none" lIns="0" tIns="0" rIns="0" bIns="0">
            <a:noAutofit/>
          </a:bodyPr>
          <a:lstStyle/>
          <a:p>
            <a:pPr indent="0"/>
            <a:r>
              <a:rPr lang="en-US" sz="1300">
                <a:solidFill>
                  <a:srgbClr val="2B2B2A"/>
                </a:solidFill>
                <a:latin typeface="Microsoft Sans Serif"/>
              </a:rPr>
              <a:t>Primary Array</a:t>
            </a:r>
          </a:p>
        </p:txBody>
      </p:sp>
      <p:sp>
        <p:nvSpPr>
          <p:cNvPr id="16" name="Rectangle 15"/>
          <p:cNvSpPr/>
          <p:nvPr/>
        </p:nvSpPr>
        <p:spPr>
          <a:xfrm>
            <a:off x="6181344" y="3874008"/>
            <a:ext cx="1115568" cy="396240"/>
          </a:xfrm>
          <a:prstGeom prst="rect">
            <a:avLst/>
          </a:prstGeom>
        </p:spPr>
        <p:txBody>
          <a:bodyPr lIns="0" tIns="0" rIns="0" bIns="0">
            <a:noAutofit/>
          </a:bodyPr>
          <a:lstStyle/>
          <a:p>
            <a:pPr indent="0">
              <a:spcAft>
                <a:spcPts val="210"/>
              </a:spcAft>
            </a:pPr>
            <a:r>
              <a:rPr lang="en-US" sz="1300">
                <a:solidFill>
                  <a:srgbClr val="2B2B2A"/>
                </a:solidFill>
                <a:latin typeface="Microsoft Sans Serif"/>
              </a:rPr>
              <a:t>Asynchronous</a:t>
            </a:r>
          </a:p>
          <a:p>
            <a:pPr marL="127000" indent="0"/>
            <a:r>
              <a:rPr lang="en-US" sz="1300">
                <a:solidFill>
                  <a:srgbClr val="2B2B2A"/>
                </a:solidFill>
                <a:latin typeface="Microsoft Sans Serif"/>
              </a:rPr>
              <a:t>Replication</a:t>
            </a:r>
          </a:p>
        </p:txBody>
      </p:sp>
      <p:sp>
        <p:nvSpPr>
          <p:cNvPr id="17" name="Rectangle 16"/>
          <p:cNvSpPr/>
          <p:nvPr/>
        </p:nvSpPr>
        <p:spPr>
          <a:xfrm>
            <a:off x="6736080" y="5641848"/>
            <a:ext cx="850392" cy="201168"/>
          </a:xfrm>
          <a:prstGeom prst="rect">
            <a:avLst/>
          </a:prstGeom>
        </p:spPr>
        <p:txBody>
          <a:bodyPr wrap="none" lIns="0" tIns="0" rIns="0" bIns="0">
            <a:noAutofit/>
          </a:bodyPr>
          <a:lstStyle/>
          <a:p>
            <a:pPr indent="0"/>
            <a:r>
              <a:rPr lang="en-US" sz="1300">
                <a:solidFill>
                  <a:srgbClr val="2B2B2A"/>
                </a:solidFill>
                <a:latin typeface="Microsoft Sans Serif"/>
              </a:rPr>
              <a:t>Secondary</a:t>
            </a:r>
          </a:p>
        </p:txBody>
      </p:sp>
      <p:sp>
        <p:nvSpPr>
          <p:cNvPr id="20" name="Rectangle 19"/>
          <p:cNvSpPr/>
          <p:nvPr/>
        </p:nvSpPr>
        <p:spPr>
          <a:xfrm>
            <a:off x="4334256" y="6623304"/>
            <a:ext cx="420624" cy="195072"/>
          </a:xfrm>
          <a:prstGeom prst="rect">
            <a:avLst/>
          </a:prstGeom>
        </p:spPr>
        <p:txBody>
          <a:bodyPr wrap="none" lIns="0" tIns="0" rIns="0" bIns="0">
            <a:noAutofit/>
          </a:bodyPr>
          <a:lstStyle/>
          <a:p>
            <a:pPr indent="0"/>
            <a:r>
              <a:rPr lang="en-US" sz="1800">
                <a:latin typeface="Times New Roman"/>
              </a:rPr>
              <a:t>20</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264920" y="521208"/>
            <a:ext cx="6827520" cy="457200"/>
          </a:xfrm>
          <a:prstGeom prst="rect">
            <a:avLst/>
          </a:prstGeom>
        </p:spPr>
        <p:txBody>
          <a:bodyPr wrap="none" lIns="0" tIns="0" rIns="0" bIns="0">
            <a:noAutofit/>
          </a:bodyPr>
          <a:lstStyle/>
          <a:p>
            <a:pPr indent="0" algn="ctr">
              <a:spcAft>
                <a:spcPts val="2310"/>
              </a:spcAft>
            </a:pPr>
            <a:r>
              <a:rPr lang="en-US" sz="3100" b="1">
                <a:solidFill>
                  <a:srgbClr val="FC0128"/>
                </a:solidFill>
                <a:latin typeface="Times New Roman"/>
              </a:rPr>
              <a:t>Virtual Storage Area Network (VSAN)</a:t>
            </a:r>
          </a:p>
        </p:txBody>
      </p:sp>
      <p:sp>
        <p:nvSpPr>
          <p:cNvPr id="3" name="Rectangle 2"/>
          <p:cNvSpPr/>
          <p:nvPr/>
        </p:nvSpPr>
        <p:spPr>
          <a:xfrm>
            <a:off x="490728" y="1216152"/>
            <a:ext cx="8083296" cy="1005840"/>
          </a:xfrm>
          <a:prstGeom prst="rect">
            <a:avLst/>
          </a:prstGeom>
        </p:spPr>
        <p:txBody>
          <a:bodyPr lIns="0" tIns="0" rIns="0" bIns="0">
            <a:noAutofit/>
          </a:bodyPr>
          <a:lstStyle/>
          <a:p>
            <a:pPr indent="0" algn="just">
              <a:spcAft>
                <a:spcPts val="210"/>
              </a:spcAft>
            </a:pPr>
            <a:r>
              <a:rPr lang="en-US" sz="2400">
                <a:solidFill>
                  <a:srgbClr val="063DE8"/>
                </a:solidFill>
                <a:latin typeface="Times New Roman"/>
              </a:rPr>
              <a:t>□    </a:t>
            </a:r>
            <a:r>
              <a:rPr lang="en-US" sz="2400">
                <a:latin typeface="Times New Roman"/>
              </a:rPr>
              <a:t>Zones in a FC SAN provide isolation</a:t>
            </a:r>
          </a:p>
          <a:p>
            <a:pPr indent="0" algn="just">
              <a:lnSpc>
                <a:spcPts val="2832"/>
              </a:lnSpc>
            </a:pPr>
            <a:r>
              <a:rPr lang="en-US" sz="2400">
                <a:latin typeface="Times New Roman"/>
              </a:rPr>
              <a:t>among tenants. Some switch ports can see</a:t>
            </a:r>
            <a:endParaRPr lang="en-US" sz="2400" baseline="30000">
              <a:latin typeface="Times New Roman"/>
            </a:endParaRPr>
          </a:p>
          <a:p>
            <a:pPr indent="0" algn="just">
              <a:lnSpc>
                <a:spcPts val="2832"/>
              </a:lnSpc>
              <a:spcAft>
                <a:spcPts val="210"/>
              </a:spcAft>
            </a:pPr>
            <a:r>
              <a:rPr lang="en-US" sz="2400">
                <a:latin typeface="Times New Roman"/>
              </a:rPr>
              <a:t>only some other switch ports.    </a:t>
            </a:r>
            <a:endParaRPr lang="en-US" sz="2400" i="1">
              <a:latin typeface="Times New Roman"/>
            </a:endParaRPr>
          </a:p>
        </p:txBody>
      </p:sp>
      <p:sp>
        <p:nvSpPr>
          <p:cNvPr id="4" name="Rectangle 3"/>
          <p:cNvSpPr/>
          <p:nvPr/>
        </p:nvSpPr>
        <p:spPr>
          <a:xfrm>
            <a:off x="490728" y="2459736"/>
            <a:ext cx="5376672" cy="1499616"/>
          </a:xfrm>
          <a:prstGeom prst="rect">
            <a:avLst/>
          </a:prstGeom>
        </p:spPr>
        <p:txBody>
          <a:bodyPr lIns="0" tIns="0" rIns="0" bIns="0">
            <a:noAutofit/>
          </a:bodyPr>
          <a:lstStyle/>
          <a:p>
            <a:pPr indent="-393700">
              <a:lnSpc>
                <a:spcPts val="2904"/>
              </a:lnSpc>
              <a:spcAft>
                <a:spcPts val="210"/>
              </a:spcAft>
            </a:pPr>
            <a:r>
              <a:rPr lang="en-US" sz="2400">
                <a:solidFill>
                  <a:srgbClr val="063DE8"/>
                </a:solidFill>
                <a:latin typeface="Times New Roman"/>
              </a:rPr>
              <a:t>□    </a:t>
            </a:r>
            <a:r>
              <a:rPr lang="en-US" sz="2400">
                <a:latin typeface="Times New Roman"/>
              </a:rPr>
              <a:t>Different zones share a zone server,  name server, and login server Subject to common failures</a:t>
            </a:r>
          </a:p>
          <a:p>
            <a:pPr indent="-393700">
              <a:lnSpc>
                <a:spcPts val="2856"/>
              </a:lnSpc>
              <a:spcAft>
                <a:spcPts val="2310"/>
              </a:spcAft>
            </a:pPr>
            <a:r>
              <a:rPr lang="en-US" sz="2400">
                <a:solidFill>
                  <a:srgbClr val="063DE8"/>
                </a:solidFill>
                <a:latin typeface="Times New Roman"/>
              </a:rPr>
              <a:t>□    </a:t>
            </a:r>
            <a:r>
              <a:rPr lang="en-US" sz="2400">
                <a:latin typeface="Times New Roman"/>
              </a:rPr>
              <a:t>Virtual Storage Area Network (VSAN) </a:t>
            </a:r>
          </a:p>
        </p:txBody>
      </p:sp>
      <p:sp>
        <p:nvSpPr>
          <p:cNvPr id="5" name="Rectangle 4"/>
          <p:cNvSpPr/>
          <p:nvPr/>
        </p:nvSpPr>
        <p:spPr>
          <a:xfrm>
            <a:off x="874994" y="3922776"/>
            <a:ext cx="6330696" cy="432816"/>
          </a:xfrm>
          <a:prstGeom prst="rect">
            <a:avLst/>
          </a:prstGeom>
        </p:spPr>
        <p:txBody>
          <a:bodyPr wrap="none" lIns="0" tIns="0" rIns="0" bIns="0">
            <a:noAutofit/>
          </a:bodyPr>
          <a:lstStyle/>
          <a:p>
            <a:pPr indent="-393700">
              <a:lnSpc>
                <a:spcPts val="2856"/>
              </a:lnSpc>
              <a:spcAft>
                <a:spcPts val="2310"/>
              </a:spcAft>
            </a:pPr>
            <a:r>
              <a:rPr lang="en-US" sz="2400">
                <a:latin typeface="Times New Roman"/>
              </a:rPr>
              <a:t>technology allows different partitions with  </a:t>
            </a:r>
          </a:p>
        </p:txBody>
      </p:sp>
      <p:sp>
        <p:nvSpPr>
          <p:cNvPr id="6" name="Rectangle 5"/>
          <p:cNvSpPr/>
          <p:nvPr/>
        </p:nvSpPr>
        <p:spPr>
          <a:xfrm>
            <a:off x="813816" y="4410456"/>
            <a:ext cx="4632960" cy="216408"/>
          </a:xfrm>
          <a:prstGeom prst="rect">
            <a:avLst/>
          </a:prstGeom>
        </p:spPr>
        <p:txBody>
          <a:bodyPr wrap="none" lIns="0" tIns="0" rIns="0" bIns="0">
            <a:noAutofit/>
          </a:bodyPr>
          <a:lstStyle/>
          <a:p>
            <a:pPr indent="-393700">
              <a:lnSpc>
                <a:spcPts val="2856"/>
              </a:lnSpc>
              <a:spcAft>
                <a:spcPts val="2310"/>
              </a:spcAft>
            </a:pPr>
            <a:r>
              <a:rPr lang="en-US" sz="2400">
                <a:latin typeface="Times New Roman"/>
              </a:rPr>
              <a:t>their own servers. Similar to VLANs.</a:t>
            </a:r>
          </a:p>
        </p:txBody>
      </p:sp>
      <p:sp>
        <p:nvSpPr>
          <p:cNvPr id="15" name="Rectangle 14"/>
          <p:cNvSpPr/>
          <p:nvPr/>
        </p:nvSpPr>
        <p:spPr>
          <a:xfrm>
            <a:off x="438912" y="5169408"/>
            <a:ext cx="6041136" cy="664464"/>
          </a:xfrm>
          <a:prstGeom prst="rect">
            <a:avLst/>
          </a:prstGeom>
        </p:spPr>
        <p:txBody>
          <a:bodyPr lIns="0" tIns="0" rIns="0" bIns="0">
            <a:noAutofit/>
          </a:bodyPr>
          <a:lstStyle/>
          <a:p>
            <a:pPr marR="82804" indent="0" algn="r">
              <a:lnSpc>
                <a:spcPts val="2928"/>
              </a:lnSpc>
              <a:spcBef>
                <a:spcPts val="2310"/>
              </a:spcBef>
            </a:pPr>
            <a:r>
              <a:rPr lang="en-US" sz="2400">
                <a:solidFill>
                  <a:srgbClr val="063DE8"/>
                </a:solidFill>
                <a:latin typeface="Times New Roman"/>
              </a:rPr>
              <a:t>□ </a:t>
            </a:r>
            <a:r>
              <a:rPr lang="en-US" sz="2400">
                <a:latin typeface="Times New Roman"/>
              </a:rPr>
              <a:t>Each VSAN provide complete fabric services Each VSAN can be subdivided in to zones.</a:t>
            </a:r>
          </a:p>
        </p:txBody>
      </p:sp>
      <p:sp>
        <p:nvSpPr>
          <p:cNvPr id="19" name="Rectangle 18"/>
          <p:cNvSpPr/>
          <p:nvPr/>
        </p:nvSpPr>
        <p:spPr>
          <a:xfrm>
            <a:off x="4334256" y="6623304"/>
            <a:ext cx="438912" cy="195072"/>
          </a:xfrm>
          <a:prstGeom prst="rect">
            <a:avLst/>
          </a:prstGeom>
        </p:spPr>
        <p:txBody>
          <a:bodyPr wrap="none" lIns="0" tIns="0" rIns="0" bIns="0">
            <a:noAutofit/>
          </a:bodyPr>
          <a:lstStyle/>
          <a:p>
            <a:pPr indent="0"/>
            <a:r>
              <a:rPr lang="en-US" sz="1800">
                <a:latin typeface="Times New Roman"/>
              </a:rPr>
              <a:t>21</a:t>
            </a:r>
          </a:p>
        </p:txBody>
      </p:sp>
      <p:pic>
        <p:nvPicPr>
          <p:cNvPr id="21" name="Picture 20">
            <a:extLst>
              <a:ext uri="{FF2B5EF4-FFF2-40B4-BE49-F238E27FC236}">
                <a16:creationId xmlns:a16="http://schemas.microsoft.com/office/drawing/2014/main" id="{F1F6AD32-C3CD-BD6D-73ED-DA7EA0D08BFA}"/>
              </a:ext>
            </a:extLst>
          </p:cNvPr>
          <p:cNvPicPr>
            <a:picLocks noChangeAspect="1"/>
          </p:cNvPicPr>
          <p:nvPr/>
        </p:nvPicPr>
        <p:blipFill>
          <a:blip r:embed="rId2"/>
          <a:stretch>
            <a:fillRect/>
          </a:stretch>
        </p:blipFill>
        <p:spPr>
          <a:xfrm>
            <a:off x="6251666" y="1216152"/>
            <a:ext cx="2720169" cy="4075611"/>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b="4293"/>
          <a:stretch>
            <a:fillRect/>
          </a:stretch>
        </p:blipFill>
        <p:spPr>
          <a:xfrm>
            <a:off x="362712" y="228601"/>
            <a:ext cx="8418576" cy="5823856"/>
          </a:xfrm>
          <a:prstGeom prst="rect">
            <a:avLst/>
          </a:prstGeom>
        </p:spPr>
      </p:pic>
      <p:sp>
        <p:nvSpPr>
          <p:cNvPr id="3" name="Rectangle 2"/>
          <p:cNvSpPr/>
          <p:nvPr/>
        </p:nvSpPr>
        <p:spPr>
          <a:xfrm>
            <a:off x="4572000" y="6253189"/>
            <a:ext cx="705830" cy="234696"/>
          </a:xfrm>
          <a:prstGeom prst="rect">
            <a:avLst/>
          </a:prstGeom>
        </p:spPr>
        <p:txBody>
          <a:bodyPr wrap="none" lIns="0" tIns="0" rIns="0" bIns="0">
            <a:noAutofit/>
          </a:bodyPr>
          <a:lstStyle/>
          <a:p>
            <a:pPr indent="0"/>
            <a:endParaRPr lang="en-US">
              <a:latin typeface="Times New Roman"/>
            </a:endParaRPr>
          </a:p>
          <a:p>
            <a:pPr indent="0"/>
            <a:r>
              <a:rPr lang="en-US" sz="1800">
                <a:latin typeface="Times New Roman"/>
              </a:rPr>
              <a:t>2</a:t>
            </a:r>
            <a:r>
              <a:rPr lang="en-US">
                <a:latin typeface="Times New Roman"/>
              </a:rPr>
              <a:t>2</a:t>
            </a:r>
            <a:endParaRPr lang="en-US" sz="1800">
              <a:latin typeface="Times New Roman"/>
            </a:endParaRP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090928" y="512064"/>
            <a:ext cx="4949952" cy="512064"/>
          </a:xfrm>
          <a:prstGeom prst="rect">
            <a:avLst/>
          </a:prstGeom>
        </p:spPr>
        <p:txBody>
          <a:bodyPr wrap="none" lIns="0" tIns="0" rIns="0" bIns="0">
            <a:noAutofit/>
          </a:bodyPr>
          <a:lstStyle/>
          <a:p>
            <a:pPr indent="0"/>
            <a:r>
              <a:rPr lang="en-US" sz="3600" b="1">
                <a:solidFill>
                  <a:srgbClr val="FC0128"/>
                </a:solidFill>
                <a:latin typeface="Times New Roman"/>
              </a:rPr>
              <a:t>Virtual Storage Network</a:t>
            </a:r>
          </a:p>
        </p:txBody>
      </p:sp>
      <p:sp>
        <p:nvSpPr>
          <p:cNvPr id="3" name="Rectangle 2"/>
          <p:cNvSpPr/>
          <p:nvPr/>
        </p:nvSpPr>
        <p:spPr>
          <a:xfrm>
            <a:off x="438912" y="1420368"/>
            <a:ext cx="7888224" cy="359664"/>
          </a:xfrm>
          <a:prstGeom prst="rect">
            <a:avLst/>
          </a:prstGeom>
        </p:spPr>
        <p:txBody>
          <a:bodyPr wrap="none" lIns="0" tIns="0" rIns="0" bIns="0">
            <a:noAutofit/>
          </a:bodyPr>
          <a:lstStyle/>
          <a:p>
            <a:pPr marL="381000" indent="-330200">
              <a:spcAft>
                <a:spcPts val="1260"/>
              </a:spcAft>
            </a:pPr>
            <a:r>
              <a:rPr lang="en-US" sz="2400">
                <a:solidFill>
                  <a:srgbClr val="063DE8"/>
                </a:solidFill>
                <a:latin typeface="Times New Roman"/>
              </a:rPr>
              <a:t>□ </a:t>
            </a:r>
            <a:r>
              <a:rPr lang="en-US" sz="2400">
                <a:latin typeface="Times New Roman"/>
              </a:rPr>
              <a:t>In-Band: All control and data goes to virtualization appliance</a:t>
            </a:r>
          </a:p>
        </p:txBody>
      </p:sp>
      <p:graphicFrame>
        <p:nvGraphicFramePr>
          <p:cNvPr id="4" name="Table 3"/>
          <p:cNvGraphicFramePr>
            <a:graphicFrameLocks noGrp="1"/>
          </p:cNvGraphicFramePr>
          <p:nvPr/>
        </p:nvGraphicFramePr>
        <p:xfrm>
          <a:off x="2118360" y="1965960"/>
          <a:ext cx="3276600" cy="1240536"/>
        </p:xfrm>
        <a:graphic>
          <a:graphicData uri="http://schemas.openxmlformats.org/drawingml/2006/table">
            <a:tbl>
              <a:tblPr/>
              <a:tblGrid>
                <a:gridCol w="463296">
                  <a:extLst>
                    <a:ext uri="{9D8B030D-6E8A-4147-A177-3AD203B41FA5}">
                      <a16:colId xmlns:a16="http://schemas.microsoft.com/office/drawing/2014/main" val="20000"/>
                    </a:ext>
                  </a:extLst>
                </a:gridCol>
                <a:gridCol w="621792">
                  <a:extLst>
                    <a:ext uri="{9D8B030D-6E8A-4147-A177-3AD203B41FA5}">
                      <a16:colId xmlns:a16="http://schemas.microsoft.com/office/drawing/2014/main" val="20001"/>
                    </a:ext>
                  </a:extLst>
                </a:gridCol>
                <a:gridCol w="490728">
                  <a:extLst>
                    <a:ext uri="{9D8B030D-6E8A-4147-A177-3AD203B41FA5}">
                      <a16:colId xmlns:a16="http://schemas.microsoft.com/office/drawing/2014/main" val="20002"/>
                    </a:ext>
                  </a:extLst>
                </a:gridCol>
                <a:gridCol w="600456">
                  <a:extLst>
                    <a:ext uri="{9D8B030D-6E8A-4147-A177-3AD203B41FA5}">
                      <a16:colId xmlns:a16="http://schemas.microsoft.com/office/drawing/2014/main" val="20003"/>
                    </a:ext>
                  </a:extLst>
                </a:gridCol>
                <a:gridCol w="1100328">
                  <a:extLst>
                    <a:ext uri="{9D8B030D-6E8A-4147-A177-3AD203B41FA5}">
                      <a16:colId xmlns:a16="http://schemas.microsoft.com/office/drawing/2014/main" val="20004"/>
                    </a:ext>
                  </a:extLst>
                </a:gridCol>
              </a:tblGrid>
              <a:tr h="435864">
                <a:tc gridSpan="2">
                  <a:txBody>
                    <a:bodyPr/>
                    <a:lstStyle/>
                    <a:p>
                      <a:pPr marL="139700" indent="0"/>
                      <a:r>
                        <a:rPr lang="en-US" sz="2000">
                          <a:latin typeface="Times New Roman"/>
                        </a:rPr>
                        <a:t>Server 1</a:t>
                      </a:r>
                    </a:p>
                  </a:txBody>
                  <a:tcPr marL="0" marR="0" marT="0" marB="0" anchor="b"/>
                </a:tc>
                <a:tc hMerge="1">
                  <a:txBody>
                    <a:bodyPr/>
                    <a:lstStyle/>
                    <a:p>
                      <a:endParaRPr sz="2100"/>
                    </a:p>
                  </a:txBody>
                  <a:tcPr marL="0" marR="0" marT="0" marB="0"/>
                </a:tc>
                <a:tc gridSpan="2">
                  <a:txBody>
                    <a:bodyPr/>
                    <a:lstStyle/>
                    <a:p>
                      <a:pPr marL="127000" indent="0"/>
                      <a:r>
                        <a:rPr lang="en-US" sz="2000">
                          <a:latin typeface="Times New Roman"/>
                        </a:rPr>
                        <a:t>Server 2</a:t>
                      </a:r>
                    </a:p>
                  </a:txBody>
                  <a:tcPr marL="0" marR="0" marT="0" marB="0" anchor="b"/>
                </a:tc>
                <a:tc hMerge="1">
                  <a:txBody>
                    <a:bodyPr/>
                    <a:lstStyle/>
                    <a:p>
                      <a:endParaRPr sz="2100"/>
                    </a:p>
                  </a:txBody>
                  <a:tcPr marL="0" marR="0" marT="0" marB="0"/>
                </a:tc>
                <a:tc>
                  <a:txBody>
                    <a:bodyPr/>
                    <a:lstStyle/>
                    <a:p>
                      <a:pPr marL="139700" indent="0"/>
                      <a:r>
                        <a:rPr lang="en-US" sz="2000">
                          <a:latin typeface="Times New Roman"/>
                        </a:rPr>
                        <a:t>Server 3</a:t>
                      </a:r>
                    </a:p>
                  </a:txBody>
                  <a:tcPr marL="0" marR="0" marT="0" marB="0" anchor="b"/>
                </a:tc>
                <a:extLst>
                  <a:ext uri="{0D108BD9-81ED-4DB2-BD59-A6C34878D82A}">
                    <a16:rowId xmlns:a16="http://schemas.microsoft.com/office/drawing/2014/main" val="10000"/>
                  </a:ext>
                </a:extLst>
              </a:tr>
              <a:tr h="365760">
                <a:tc>
                  <a:txBody>
                    <a:bodyPr/>
                    <a:lstStyle/>
                    <a:p>
                      <a:endParaRPr sz="1800"/>
                    </a:p>
                  </a:txBody>
                  <a:tcPr marL="0" marR="0" marT="0" marB="0"/>
                </a:tc>
                <a:tc gridSpan="2">
                  <a:txBody>
                    <a:bodyPr/>
                    <a:lstStyle/>
                    <a:p>
                      <a:endParaRPr sz="1800"/>
                    </a:p>
                  </a:txBody>
                  <a:tcPr marL="0" marR="0" marT="0" marB="0"/>
                </a:tc>
                <a:tc hMerge="1">
                  <a:txBody>
                    <a:bodyPr/>
                    <a:lstStyle/>
                    <a:p>
                      <a:endParaRPr sz="1800"/>
                    </a:p>
                  </a:txBody>
                  <a:tcPr marL="0" marR="0" marT="0" marB="0"/>
                </a:tc>
                <a:tc gridSpan="2">
                  <a:txBody>
                    <a:bodyPr/>
                    <a:lstStyle/>
                    <a:p>
                      <a:endParaRPr sz="1800"/>
                    </a:p>
                  </a:txBody>
                  <a:tcPr marL="0" marR="0" marT="0" marB="0"/>
                </a:tc>
                <a:tc hMerge="1">
                  <a:txBody>
                    <a:bodyPr/>
                    <a:lstStyle/>
                    <a:p>
                      <a:endParaRPr sz="1800"/>
                    </a:p>
                  </a:txBody>
                  <a:tcPr marL="0" marR="0" marT="0" marB="0"/>
                </a:tc>
                <a:extLst>
                  <a:ext uri="{0D108BD9-81ED-4DB2-BD59-A6C34878D82A}">
                    <a16:rowId xmlns:a16="http://schemas.microsoft.com/office/drawing/2014/main" val="10001"/>
                  </a:ext>
                </a:extLst>
              </a:tr>
              <a:tr h="438912">
                <a:tc>
                  <a:txBody>
                    <a:bodyPr/>
                    <a:lstStyle/>
                    <a:p>
                      <a:endParaRPr sz="2100"/>
                    </a:p>
                  </a:txBody>
                  <a:tcPr marL="0" marR="0" marT="0" marB="0"/>
                </a:tc>
                <a:tc gridSpan="4">
                  <a:txBody>
                    <a:bodyPr/>
                    <a:lstStyle/>
                    <a:p>
                      <a:pPr marL="101600" indent="0"/>
                      <a:r>
                        <a:rPr lang="en-US" sz="2000">
                          <a:latin typeface="Times New Roman"/>
                        </a:rPr>
                        <a:t>Virtualization Appliance</a:t>
                      </a:r>
                    </a:p>
                  </a:txBody>
                  <a:tcPr marL="0" marR="0" marT="0" marB="0" anchor="b"/>
                </a:tc>
                <a:tc hMerge="1">
                  <a:txBody>
                    <a:bodyPr/>
                    <a:lstStyle/>
                    <a:p>
                      <a:endParaRPr sz="2100"/>
                    </a:p>
                  </a:txBody>
                  <a:tcPr marL="0" marR="0" marT="0" marB="0"/>
                </a:tc>
                <a:tc hMerge="1">
                  <a:txBody>
                    <a:bodyPr/>
                    <a:lstStyle/>
                    <a:p>
                      <a:endParaRPr sz="2100"/>
                    </a:p>
                  </a:txBody>
                  <a:tcPr marL="0" marR="0" marT="0" marB="0"/>
                </a:tc>
                <a:tc hMerge="1">
                  <a:txBody>
                    <a:bodyPr/>
                    <a:lstStyle/>
                    <a:p>
                      <a:endParaRPr sz="2100"/>
                    </a:p>
                  </a:txBody>
                  <a:tcPr marL="0" marR="0" marT="0" marB="0"/>
                </a:tc>
                <a:extLst>
                  <a:ext uri="{0D108BD9-81ED-4DB2-BD59-A6C34878D82A}">
                    <a16:rowId xmlns:a16="http://schemas.microsoft.com/office/drawing/2014/main" val="10002"/>
                  </a:ext>
                </a:extLst>
              </a:tr>
            </a:tbl>
          </a:graphicData>
        </a:graphic>
      </p:graphicFrame>
      <p:sp>
        <p:nvSpPr>
          <p:cNvPr id="5" name="Rectangle 4"/>
          <p:cNvSpPr/>
          <p:nvPr/>
        </p:nvSpPr>
        <p:spPr>
          <a:xfrm>
            <a:off x="2267712" y="3438144"/>
            <a:ext cx="2913888" cy="298704"/>
          </a:xfrm>
          <a:prstGeom prst="rect">
            <a:avLst/>
          </a:prstGeom>
        </p:spPr>
        <p:txBody>
          <a:bodyPr wrap="none" lIns="0" tIns="0" rIns="0" bIns="0">
            <a:noAutofit/>
          </a:bodyPr>
          <a:lstStyle/>
          <a:p>
            <a:pPr indent="0"/>
            <a:r>
              <a:rPr lang="en-US" sz="2000">
                <a:latin typeface="Times New Roman"/>
              </a:rPr>
              <a:t>Disk Arrays Disk Arrays</a:t>
            </a:r>
          </a:p>
        </p:txBody>
      </p:sp>
      <p:sp>
        <p:nvSpPr>
          <p:cNvPr id="6" name="Rectangle 5"/>
          <p:cNvSpPr/>
          <p:nvPr/>
        </p:nvSpPr>
        <p:spPr>
          <a:xfrm>
            <a:off x="490728" y="4117848"/>
            <a:ext cx="7363968" cy="280416"/>
          </a:xfrm>
          <a:prstGeom prst="rect">
            <a:avLst/>
          </a:prstGeom>
        </p:spPr>
        <p:txBody>
          <a:bodyPr wrap="none" lIns="0" tIns="0" rIns="0" bIns="0">
            <a:noAutofit/>
          </a:bodyPr>
          <a:lstStyle/>
          <a:p>
            <a:pPr indent="-330200">
              <a:lnSpc>
                <a:spcPts val="2904"/>
              </a:lnSpc>
            </a:pPr>
            <a:r>
              <a:rPr lang="en-US" sz="2400">
                <a:solidFill>
                  <a:srgbClr val="063DE8"/>
                </a:solidFill>
                <a:latin typeface="Times New Roman"/>
              </a:rPr>
              <a:t>□ </a:t>
            </a:r>
            <a:r>
              <a:rPr lang="en-US" sz="2400">
                <a:latin typeface="Times New Roman"/>
              </a:rPr>
              <a:t>Out-Band: All control goes to Namespace root. Data goes </a:t>
            </a:r>
          </a:p>
        </p:txBody>
      </p:sp>
      <p:sp>
        <p:nvSpPr>
          <p:cNvPr id="7" name="Rectangle 6"/>
          <p:cNvSpPr/>
          <p:nvPr/>
        </p:nvSpPr>
        <p:spPr>
          <a:xfrm>
            <a:off x="822960" y="4386072"/>
            <a:ext cx="4062984" cy="402336"/>
          </a:xfrm>
          <a:prstGeom prst="rect">
            <a:avLst/>
          </a:prstGeom>
        </p:spPr>
        <p:txBody>
          <a:bodyPr wrap="none" lIns="0" tIns="0" rIns="0" bIns="0">
            <a:noAutofit/>
          </a:bodyPr>
          <a:lstStyle/>
          <a:p>
            <a:pPr indent="-330200">
              <a:lnSpc>
                <a:spcPts val="2904"/>
              </a:lnSpc>
            </a:pPr>
            <a:r>
              <a:rPr lang="en-US" sz="2400">
                <a:latin typeface="Times New Roman"/>
              </a:rPr>
              <a:t>directly between host and storage</a:t>
            </a:r>
          </a:p>
        </p:txBody>
      </p:sp>
      <p:sp>
        <p:nvSpPr>
          <p:cNvPr id="8" name="Rectangle 7"/>
          <p:cNvSpPr/>
          <p:nvPr/>
        </p:nvSpPr>
        <p:spPr>
          <a:xfrm>
            <a:off x="6010656" y="4742688"/>
            <a:ext cx="701040" cy="231648"/>
          </a:xfrm>
          <a:prstGeom prst="rect">
            <a:avLst/>
          </a:prstGeom>
        </p:spPr>
        <p:txBody>
          <a:bodyPr wrap="none" lIns="0" tIns="0" rIns="0" bIns="0">
            <a:noAutofit/>
          </a:bodyPr>
          <a:lstStyle/>
          <a:p>
            <a:pPr indent="0"/>
            <a:r>
              <a:rPr lang="en-US" sz="2000">
                <a:latin typeface="Times New Roman"/>
              </a:rPr>
              <a:t>Client</a:t>
            </a:r>
          </a:p>
        </p:txBody>
      </p:sp>
      <p:graphicFrame>
        <p:nvGraphicFramePr>
          <p:cNvPr id="9" name="Table 8"/>
          <p:cNvGraphicFramePr>
            <a:graphicFrameLocks noGrp="1"/>
          </p:cNvGraphicFramePr>
          <p:nvPr/>
        </p:nvGraphicFramePr>
        <p:xfrm>
          <a:off x="4175760" y="5431536"/>
          <a:ext cx="4476496" cy="755904"/>
        </p:xfrm>
        <a:graphic>
          <a:graphicData uri="http://schemas.openxmlformats.org/drawingml/2006/table">
            <a:tbl>
              <a:tblPr/>
              <a:tblGrid>
                <a:gridCol w="1392936">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1341120">
                  <a:extLst>
                    <a:ext uri="{9D8B030D-6E8A-4147-A177-3AD203B41FA5}">
                      <a16:colId xmlns:a16="http://schemas.microsoft.com/office/drawing/2014/main" val="20004"/>
                    </a:ext>
                  </a:extLst>
                </a:gridCol>
              </a:tblGrid>
              <a:tr h="405384">
                <a:tc>
                  <a:txBody>
                    <a:bodyPr/>
                    <a:lstStyle/>
                    <a:p>
                      <a:pPr marL="114300" indent="0"/>
                      <a:r>
                        <a:rPr lang="en-US" sz="2000">
                          <a:latin typeface="Times New Roman"/>
                        </a:rPr>
                        <a:t>Namespace</a:t>
                      </a:r>
                    </a:p>
                  </a:txBody>
                  <a:tcPr marL="0" marR="0" marT="0" marB="0" anchor="b"/>
                </a:tc>
                <a:tc>
                  <a:txBody>
                    <a:bodyPr/>
                    <a:lstStyle/>
                    <a:p>
                      <a:endParaRPr sz="2000"/>
                    </a:p>
                  </a:txBody>
                  <a:tcPr marL="0" marR="0" marT="0" marB="0"/>
                </a:tc>
                <a:tc>
                  <a:txBody>
                    <a:bodyPr/>
                    <a:lstStyle/>
                    <a:p>
                      <a:pPr marL="114300" indent="0"/>
                      <a:r>
                        <a:rPr lang="en-US" sz="2000">
                          <a:latin typeface="Times New Roman"/>
                        </a:rPr>
                        <a:t>Windows</a:t>
                      </a:r>
                    </a:p>
                  </a:txBody>
                  <a:tcPr marL="0" marR="0" marT="0" marB="0" anchor="b"/>
                </a:tc>
                <a:tc>
                  <a:txBody>
                    <a:bodyPr/>
                    <a:lstStyle/>
                    <a:p>
                      <a:endParaRPr sz="2000"/>
                    </a:p>
                  </a:txBody>
                  <a:tcPr marL="0" marR="0" marT="0" marB="0"/>
                </a:tc>
                <a:tc>
                  <a:txBody>
                    <a:bodyPr/>
                    <a:lstStyle/>
                    <a:p>
                      <a:pPr indent="0" algn="ctr"/>
                      <a:r>
                        <a:rPr lang="en-US" sz="2000">
                          <a:latin typeface="Times New Roman"/>
                        </a:rPr>
                        <a:t>Unix</a:t>
                      </a:r>
                    </a:p>
                  </a:txBody>
                  <a:tcPr marL="0" marR="0" marT="0" marB="0" anchor="b"/>
                </a:tc>
                <a:extLst>
                  <a:ext uri="{0D108BD9-81ED-4DB2-BD59-A6C34878D82A}">
                    <a16:rowId xmlns:a16="http://schemas.microsoft.com/office/drawing/2014/main" val="10000"/>
                  </a:ext>
                </a:extLst>
              </a:tr>
              <a:tr h="350520">
                <a:tc>
                  <a:txBody>
                    <a:bodyPr/>
                    <a:lstStyle/>
                    <a:p>
                      <a:pPr indent="0" algn="ctr"/>
                      <a:r>
                        <a:rPr lang="en-US" sz="2000">
                          <a:latin typeface="Times New Roman"/>
                        </a:rPr>
                        <a:t>Root</a:t>
                      </a:r>
                    </a:p>
                  </a:txBody>
                  <a:tcPr marL="0" marR="0" marT="0" marB="0"/>
                </a:tc>
                <a:tc>
                  <a:txBody>
                    <a:bodyPr/>
                    <a:lstStyle/>
                    <a:p>
                      <a:endParaRPr sz="1700"/>
                    </a:p>
                  </a:txBody>
                  <a:tcPr marL="0" marR="0" marT="0" marB="0"/>
                </a:tc>
                <a:tc>
                  <a:txBody>
                    <a:bodyPr/>
                    <a:lstStyle/>
                    <a:p>
                      <a:pPr marL="114300" indent="0"/>
                      <a:r>
                        <a:rPr lang="en-US" sz="2000">
                          <a:latin typeface="Times New Roman"/>
                        </a:rPr>
                        <a:t>File Server</a:t>
                      </a:r>
                    </a:p>
                  </a:txBody>
                  <a:tcPr marL="0" marR="0" marT="0" marB="0"/>
                </a:tc>
                <a:tc>
                  <a:txBody>
                    <a:bodyPr/>
                    <a:lstStyle/>
                    <a:p>
                      <a:endParaRPr sz="1700"/>
                    </a:p>
                  </a:txBody>
                  <a:tcPr marL="0" marR="0" marT="0" marB="0"/>
                </a:tc>
                <a:tc>
                  <a:txBody>
                    <a:bodyPr/>
                    <a:lstStyle/>
                    <a:p>
                      <a:pPr marL="101600" indent="0"/>
                      <a:r>
                        <a:rPr lang="en-US" sz="2000">
                          <a:latin typeface="Times New Roman"/>
                        </a:rPr>
                        <a:t>File Server</a:t>
                      </a:r>
                    </a:p>
                  </a:txBody>
                  <a:tcPr marL="0" marR="0" marT="0" marB="0"/>
                </a:tc>
                <a:extLst>
                  <a:ext uri="{0D108BD9-81ED-4DB2-BD59-A6C34878D82A}">
                    <a16:rowId xmlns:a16="http://schemas.microsoft.com/office/drawing/2014/main" val="10001"/>
                  </a:ext>
                </a:extLst>
              </a:tr>
            </a:tbl>
          </a:graphicData>
        </a:graphic>
      </p:graphicFrame>
      <p:sp>
        <p:nvSpPr>
          <p:cNvPr id="13" name="Rectangle 12"/>
          <p:cNvSpPr/>
          <p:nvPr/>
        </p:nvSpPr>
        <p:spPr>
          <a:xfrm>
            <a:off x="4334256" y="6623304"/>
            <a:ext cx="438912" cy="195072"/>
          </a:xfrm>
          <a:prstGeom prst="rect">
            <a:avLst/>
          </a:prstGeom>
        </p:spPr>
        <p:txBody>
          <a:bodyPr wrap="none" lIns="0" tIns="0" rIns="0" bIns="0">
            <a:noAutofit/>
          </a:bodyPr>
          <a:lstStyle/>
          <a:p>
            <a:pPr indent="0"/>
            <a:r>
              <a:rPr lang="en-US" sz="1800">
                <a:latin typeface="Times New Roman"/>
              </a:rPr>
              <a:t>23</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69392" y="588264"/>
            <a:ext cx="8122920" cy="3099816"/>
          </a:xfrm>
          <a:prstGeom prst="rect">
            <a:avLst/>
          </a:prstGeom>
        </p:spPr>
        <p:txBody>
          <a:bodyPr lIns="0" tIns="0" rIns="0" bIns="0">
            <a:noAutofit/>
          </a:bodyPr>
          <a:lstStyle/>
          <a:p>
            <a:pPr indent="0" algn="ctr">
              <a:spcAft>
                <a:spcPts val="2520"/>
              </a:spcAft>
            </a:pPr>
            <a:r>
              <a:rPr lang="en-US" sz="3600" b="1">
                <a:solidFill>
                  <a:srgbClr val="FC0128"/>
                </a:solidFill>
                <a:latin typeface="Times New Roman"/>
              </a:rPr>
              <a:t>SAN vs. NAS</a:t>
            </a:r>
          </a:p>
          <a:p>
            <a:pPr indent="0" algn="just">
              <a:spcAft>
                <a:spcPts val="630"/>
              </a:spcAft>
            </a:pPr>
            <a:r>
              <a:rPr lang="en-US" sz="2400">
                <a:solidFill>
                  <a:srgbClr val="063DE8"/>
                </a:solidFill>
                <a:latin typeface="Times New Roman"/>
              </a:rPr>
              <a:t>□    </a:t>
            </a:r>
            <a:r>
              <a:rPr lang="en-US" sz="2400">
                <a:latin typeface="Times New Roman"/>
              </a:rPr>
              <a:t>Storage Area Network (SAN)</a:t>
            </a:r>
          </a:p>
          <a:p>
            <a:pPr marL="350520" indent="0">
              <a:spcAft>
                <a:spcPts val="1050"/>
              </a:spcAft>
            </a:pPr>
            <a:r>
              <a:rPr lang="en-US" sz="2400">
                <a:latin typeface="Times New Roman"/>
              </a:rPr>
              <a:t>Network attached storage (NAS)</a:t>
            </a:r>
          </a:p>
          <a:p>
            <a:pPr marL="350520" indent="-330200">
              <a:lnSpc>
                <a:spcPts val="2856"/>
              </a:lnSpc>
              <a:spcAft>
                <a:spcPts val="210"/>
              </a:spcAft>
            </a:pPr>
            <a:r>
              <a:rPr lang="en-US" sz="2400">
                <a:solidFill>
                  <a:srgbClr val="063DE8"/>
                </a:solidFill>
                <a:latin typeface="Times New Roman"/>
              </a:rPr>
              <a:t>□    </a:t>
            </a:r>
            <a:r>
              <a:rPr lang="en-US" sz="2400">
                <a:latin typeface="Times New Roman"/>
              </a:rPr>
              <a:t>SAN: Storage servers connected via special purpose storage network, e.g., Fibre Channel</a:t>
            </a:r>
          </a:p>
          <a:p>
            <a:pPr marL="350520" indent="-330200">
              <a:lnSpc>
                <a:spcPts val="2880"/>
              </a:lnSpc>
            </a:pPr>
            <a:r>
              <a:rPr lang="en-US" sz="2400">
                <a:solidFill>
                  <a:srgbClr val="063DE8"/>
                </a:solidFill>
                <a:latin typeface="Times New Roman"/>
              </a:rPr>
              <a:t>□    </a:t>
            </a:r>
            <a:r>
              <a:rPr lang="en-US" sz="2400">
                <a:latin typeface="Times New Roman"/>
              </a:rPr>
              <a:t>NAS: Storage servers accessed over a general purpose network, e.g., Ethernet</a:t>
            </a:r>
          </a:p>
        </p:txBody>
      </p:sp>
      <p:sp>
        <p:nvSpPr>
          <p:cNvPr id="4" name="Rectangle 3"/>
          <p:cNvSpPr/>
          <p:nvPr/>
        </p:nvSpPr>
        <p:spPr>
          <a:xfrm>
            <a:off x="4334256" y="6623304"/>
            <a:ext cx="432816" cy="195072"/>
          </a:xfrm>
          <a:prstGeom prst="rect">
            <a:avLst/>
          </a:prstGeom>
        </p:spPr>
        <p:txBody>
          <a:bodyPr wrap="none" lIns="0" tIns="0" rIns="0" bIns="0">
            <a:noAutofit/>
          </a:bodyPr>
          <a:lstStyle/>
          <a:p>
            <a:pPr indent="0"/>
            <a:r>
              <a:rPr lang="en-US" sz="1800">
                <a:latin typeface="Times New Roman"/>
              </a:rPr>
              <a:t>24</a:t>
            </a: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484632" y="356616"/>
            <a:ext cx="6591082" cy="853440"/>
          </a:xfrm>
          <a:prstGeom prst="rect">
            <a:avLst/>
          </a:prstGeom>
        </p:spPr>
        <p:txBody>
          <a:bodyPr lIns="0" tIns="0" rIns="0" bIns="0">
            <a:noAutofit/>
          </a:bodyPr>
          <a:lstStyle/>
          <a:p>
            <a:pPr indent="0">
              <a:lnSpc>
                <a:spcPts val="3840"/>
              </a:lnSpc>
              <a:spcAft>
                <a:spcPts val="2310"/>
              </a:spcAft>
            </a:pPr>
            <a:r>
              <a:rPr lang="en-US" sz="4000" b="1">
                <a:solidFill>
                  <a:srgbClr val="FC0128"/>
                </a:solidFill>
                <a:latin typeface="Times New Roman"/>
              </a:rPr>
              <a:t>iSCSI (Internet Small Computer System Interface)</a:t>
            </a:r>
          </a:p>
        </p:txBody>
      </p:sp>
      <p:sp>
        <p:nvSpPr>
          <p:cNvPr id="4" name="Rectangle 3"/>
          <p:cNvSpPr/>
          <p:nvPr/>
        </p:nvSpPr>
        <p:spPr>
          <a:xfrm>
            <a:off x="512064" y="1380744"/>
            <a:ext cx="5187696" cy="585216"/>
          </a:xfrm>
          <a:prstGeom prst="rect">
            <a:avLst/>
          </a:prstGeom>
        </p:spPr>
        <p:txBody>
          <a:bodyPr lIns="0" tIns="0" rIns="0" bIns="0">
            <a:noAutofit/>
          </a:bodyPr>
          <a:lstStyle/>
          <a:p>
            <a:pPr indent="-444500">
              <a:lnSpc>
                <a:spcPts val="2904"/>
              </a:lnSpc>
              <a:spcAft>
                <a:spcPts val="210"/>
              </a:spcAft>
            </a:pPr>
            <a:r>
              <a:rPr lang="en-US" sz="2400">
                <a:solidFill>
                  <a:srgbClr val="063DE8"/>
                </a:solidFill>
                <a:latin typeface="Times New Roman"/>
              </a:rPr>
              <a:t>□    </a:t>
            </a:r>
            <a:r>
              <a:rPr lang="en-US" sz="2400">
                <a:latin typeface="Times New Roman"/>
              </a:rPr>
              <a:t>IETF protocol to carry SCSI commands over traditional TCP/IP/Ethernet</a:t>
            </a:r>
          </a:p>
        </p:txBody>
      </p:sp>
      <p:sp>
        <p:nvSpPr>
          <p:cNvPr id="5" name="Rectangle 4"/>
          <p:cNvSpPr/>
          <p:nvPr/>
        </p:nvSpPr>
        <p:spPr>
          <a:xfrm>
            <a:off x="523167" y="2532888"/>
            <a:ext cx="4059936" cy="280416"/>
          </a:xfrm>
          <a:prstGeom prst="rect">
            <a:avLst/>
          </a:prstGeom>
        </p:spPr>
        <p:txBody>
          <a:bodyPr wrap="none" lIns="0" tIns="0" rIns="0" bIns="0">
            <a:noAutofit/>
          </a:bodyPr>
          <a:lstStyle/>
          <a:p>
            <a:pPr indent="0" algn="just">
              <a:spcAft>
                <a:spcPts val="1050"/>
              </a:spcAft>
            </a:pPr>
            <a:r>
              <a:rPr lang="en-US" sz="2400">
                <a:solidFill>
                  <a:srgbClr val="063DE8"/>
                </a:solidFill>
                <a:latin typeface="Times New Roman"/>
              </a:rPr>
              <a:t>□    </a:t>
            </a:r>
            <a:r>
              <a:rPr lang="en-US" sz="2400">
                <a:latin typeface="Times New Roman"/>
              </a:rPr>
              <a:t>Requires no dedicated cabling.</a:t>
            </a:r>
          </a:p>
        </p:txBody>
      </p:sp>
      <p:sp>
        <p:nvSpPr>
          <p:cNvPr id="6" name="Rectangle 5"/>
          <p:cNvSpPr/>
          <p:nvPr/>
        </p:nvSpPr>
        <p:spPr>
          <a:xfrm>
            <a:off x="563880" y="3087624"/>
            <a:ext cx="5279136" cy="280416"/>
          </a:xfrm>
          <a:prstGeom prst="rect">
            <a:avLst/>
          </a:prstGeom>
        </p:spPr>
        <p:txBody>
          <a:bodyPr wrap="none" lIns="0" tIns="0" rIns="0" bIns="0">
            <a:noAutofit/>
          </a:bodyPr>
          <a:lstStyle/>
          <a:p>
            <a:pPr indent="0" algn="just">
              <a:spcAft>
                <a:spcPts val="1470"/>
              </a:spcAft>
            </a:pPr>
            <a:r>
              <a:rPr lang="en-US" sz="2400">
                <a:solidFill>
                  <a:srgbClr val="063DE8"/>
                </a:solidFill>
                <a:latin typeface="Times New Roman"/>
              </a:rPr>
              <a:t>□    </a:t>
            </a:r>
            <a:r>
              <a:rPr lang="en-US" sz="2400">
                <a:latin typeface="Times New Roman"/>
              </a:rPr>
              <a:t>Uses TCP end-to-end congestion control</a:t>
            </a:r>
          </a:p>
        </p:txBody>
      </p:sp>
      <p:sp>
        <p:nvSpPr>
          <p:cNvPr id="7" name="Rectangle 6"/>
          <p:cNvSpPr/>
          <p:nvPr/>
        </p:nvSpPr>
        <p:spPr>
          <a:xfrm>
            <a:off x="563880" y="3782568"/>
            <a:ext cx="7936992" cy="670560"/>
          </a:xfrm>
          <a:prstGeom prst="rect">
            <a:avLst/>
          </a:prstGeom>
        </p:spPr>
        <p:txBody>
          <a:bodyPr lIns="0" tIns="0" rIns="0" bIns="0">
            <a:noAutofit/>
          </a:bodyPr>
          <a:lstStyle/>
          <a:p>
            <a:pPr indent="-444500">
              <a:lnSpc>
                <a:spcPts val="2904"/>
              </a:lnSpc>
              <a:spcAft>
                <a:spcPts val="210"/>
              </a:spcAft>
            </a:pPr>
            <a:r>
              <a:rPr lang="en-US" sz="2400">
                <a:solidFill>
                  <a:srgbClr val="063DE8"/>
                </a:solidFill>
                <a:latin typeface="Times New Roman"/>
              </a:rPr>
              <a:t>□    </a:t>
            </a:r>
            <a:r>
              <a:rPr lang="en-US" sz="2400">
                <a:latin typeface="Times New Roman"/>
              </a:rPr>
              <a:t>Can use the same Ethernet port on the computers to connect to storage devices on different computers</a:t>
            </a:r>
          </a:p>
        </p:txBody>
      </p:sp>
      <p:sp>
        <p:nvSpPr>
          <p:cNvPr id="8" name="Rectangle 7"/>
          <p:cNvSpPr/>
          <p:nvPr/>
        </p:nvSpPr>
        <p:spPr>
          <a:xfrm>
            <a:off x="563880" y="4587240"/>
            <a:ext cx="7601712" cy="646176"/>
          </a:xfrm>
          <a:prstGeom prst="rect">
            <a:avLst/>
          </a:prstGeom>
        </p:spPr>
        <p:txBody>
          <a:bodyPr lIns="0" tIns="0" rIns="0" bIns="0">
            <a:noAutofit/>
          </a:bodyPr>
          <a:lstStyle/>
          <a:p>
            <a:pPr indent="-444500">
              <a:lnSpc>
                <a:spcPts val="2880"/>
              </a:lnSpc>
              <a:spcAft>
                <a:spcPts val="3150"/>
              </a:spcAft>
            </a:pPr>
            <a:r>
              <a:rPr lang="en-US" sz="2400">
                <a:solidFill>
                  <a:srgbClr val="063DE8"/>
                </a:solidFill>
                <a:latin typeface="Times New Roman"/>
              </a:rPr>
              <a:t>□    </a:t>
            </a:r>
            <a:r>
              <a:rPr lang="en-US" sz="2400">
                <a:latin typeface="Times New Roman"/>
              </a:rPr>
              <a:t>iSNS (Internet Storage Name Service) can be used to locate storage resources</a:t>
            </a:r>
          </a:p>
        </p:txBody>
      </p:sp>
      <p:sp>
        <p:nvSpPr>
          <p:cNvPr id="13" name="Rectangle 12"/>
          <p:cNvSpPr/>
          <p:nvPr/>
        </p:nvSpPr>
        <p:spPr>
          <a:xfrm>
            <a:off x="4334256" y="6623304"/>
            <a:ext cx="438912" cy="195072"/>
          </a:xfrm>
          <a:prstGeom prst="rect">
            <a:avLst/>
          </a:prstGeom>
        </p:spPr>
        <p:txBody>
          <a:bodyPr wrap="none" lIns="0" tIns="0" rIns="0" bIns="0">
            <a:noAutofit/>
          </a:bodyPr>
          <a:lstStyle/>
          <a:p>
            <a:pPr indent="0"/>
            <a:r>
              <a:rPr lang="en-US" sz="1800">
                <a:latin typeface="Times New Roman"/>
              </a:rPr>
              <a:t>25</a:t>
            </a:r>
          </a:p>
        </p:txBody>
      </p:sp>
      <p:pic>
        <p:nvPicPr>
          <p:cNvPr id="15" name="Picture 14" descr="A computer server with many different components&#10;&#10;AI-generated content may be incorrect.">
            <a:extLst>
              <a:ext uri="{FF2B5EF4-FFF2-40B4-BE49-F238E27FC236}">
                <a16:creationId xmlns:a16="http://schemas.microsoft.com/office/drawing/2014/main" id="{E9EC523A-548F-78BA-50E9-C59D0EF0CA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2743" y="1515530"/>
            <a:ext cx="2408129" cy="2034716"/>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432816" y="566928"/>
            <a:ext cx="8022336" cy="3200400"/>
          </a:xfrm>
          <a:prstGeom prst="rect">
            <a:avLst/>
          </a:prstGeom>
        </p:spPr>
        <p:txBody>
          <a:bodyPr lIns="0" tIns="0" rIns="0" bIns="0">
            <a:noAutofit/>
          </a:bodyPr>
          <a:lstStyle/>
          <a:p>
            <a:pPr indent="0" algn="ctr">
              <a:spcAft>
                <a:spcPts val="2520"/>
              </a:spcAft>
            </a:pPr>
            <a:r>
              <a:rPr lang="en-US" sz="3100" b="1">
                <a:solidFill>
                  <a:srgbClr val="FC0128"/>
                </a:solidFill>
                <a:latin typeface="Times New Roman"/>
              </a:rPr>
              <a:t>iFCP (Internet Fiber Channel Protocol)</a:t>
            </a:r>
          </a:p>
          <a:p>
            <a:pPr indent="0" algn="just">
              <a:spcAft>
                <a:spcPts val="1050"/>
              </a:spcAft>
            </a:pPr>
            <a:r>
              <a:rPr lang="en-US" sz="2400">
                <a:solidFill>
                  <a:srgbClr val="063DE8"/>
                </a:solidFill>
                <a:latin typeface="Times New Roman"/>
              </a:rPr>
              <a:t>□    </a:t>
            </a:r>
            <a:r>
              <a:rPr lang="en-US" sz="2400">
                <a:latin typeface="Times New Roman"/>
              </a:rPr>
              <a:t>Interconnect FC devices using TCP/IP</a:t>
            </a:r>
          </a:p>
          <a:p>
            <a:pPr indent="0" algn="just">
              <a:spcAft>
                <a:spcPts val="1050"/>
              </a:spcAft>
            </a:pPr>
            <a:r>
              <a:rPr lang="en-US" sz="2400">
                <a:solidFill>
                  <a:srgbClr val="063DE8"/>
                </a:solidFill>
                <a:latin typeface="Times New Roman"/>
              </a:rPr>
              <a:t>□    </a:t>
            </a:r>
            <a:r>
              <a:rPr lang="en-US" sz="2400">
                <a:latin typeface="Times New Roman"/>
              </a:rPr>
              <a:t>Can connect native IP based storage and FC devices</a:t>
            </a:r>
          </a:p>
          <a:p>
            <a:pPr marL="374904" indent="-381000">
              <a:lnSpc>
                <a:spcPts val="2880"/>
              </a:lnSpc>
              <a:spcAft>
                <a:spcPts val="210"/>
              </a:spcAft>
            </a:pPr>
            <a:r>
              <a:rPr lang="en-US" sz="2400">
                <a:solidFill>
                  <a:srgbClr val="063DE8"/>
                </a:solidFill>
                <a:latin typeface="Times New Roman"/>
              </a:rPr>
              <a:t>□    </a:t>
            </a:r>
            <a:r>
              <a:rPr lang="en-US" sz="2400">
                <a:latin typeface="Times New Roman"/>
              </a:rPr>
              <a:t>SAN frames are converted to IP packets at the source and sent to the destination</a:t>
            </a:r>
          </a:p>
          <a:p>
            <a:pPr indent="0" algn="just">
              <a:spcAft>
                <a:spcPts val="1050"/>
              </a:spcAft>
            </a:pPr>
            <a:r>
              <a:rPr lang="en-US" sz="2400">
                <a:solidFill>
                  <a:srgbClr val="063DE8"/>
                </a:solidFill>
                <a:latin typeface="Times New Roman"/>
              </a:rPr>
              <a:t>□    </a:t>
            </a:r>
            <a:r>
              <a:rPr lang="en-US" sz="2400">
                <a:latin typeface="Times New Roman"/>
              </a:rPr>
              <a:t>Uses TCP Congestion Control (end-to-end)</a:t>
            </a:r>
          </a:p>
          <a:p>
            <a:pPr indent="0" algn="just"/>
            <a:r>
              <a:rPr lang="en-US" sz="2400">
                <a:solidFill>
                  <a:srgbClr val="063DE8"/>
                </a:solidFill>
                <a:latin typeface="Times New Roman"/>
              </a:rPr>
              <a:t>□    </a:t>
            </a:r>
            <a:r>
              <a:rPr lang="en-US" sz="2400">
                <a:latin typeface="Times New Roman"/>
              </a:rPr>
              <a:t>IP to iFCP</a:t>
            </a:r>
          </a:p>
        </p:txBody>
      </p:sp>
      <p:sp>
        <p:nvSpPr>
          <p:cNvPr id="17" name="Rectangle 16"/>
          <p:cNvSpPr/>
          <p:nvPr/>
        </p:nvSpPr>
        <p:spPr>
          <a:xfrm>
            <a:off x="4334256" y="6623304"/>
            <a:ext cx="438912" cy="195072"/>
          </a:xfrm>
          <a:prstGeom prst="rect">
            <a:avLst/>
          </a:prstGeom>
        </p:spPr>
        <p:txBody>
          <a:bodyPr wrap="none" lIns="0" tIns="0" rIns="0" bIns="0">
            <a:noAutofit/>
          </a:bodyPr>
          <a:lstStyle/>
          <a:p>
            <a:pPr indent="0"/>
            <a:r>
              <a:rPr lang="en-US" sz="1800">
                <a:latin typeface="Times New Roman"/>
              </a:rPr>
              <a:t>26</a:t>
            </a:r>
          </a:p>
        </p:txBody>
      </p:sp>
      <p:pic>
        <p:nvPicPr>
          <p:cNvPr id="19" name="Picture 18" descr="A diagram of a company&#10;&#10;AI-generated content may be incorrect.">
            <a:extLst>
              <a:ext uri="{FF2B5EF4-FFF2-40B4-BE49-F238E27FC236}">
                <a16:creationId xmlns:a16="http://schemas.microsoft.com/office/drawing/2014/main" id="{3DD57610-144E-91D4-DE9A-4315F434EF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8562" y="4138680"/>
            <a:ext cx="7529212" cy="1585097"/>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2"/>
          <p:cNvSpPr/>
          <p:nvPr/>
        </p:nvSpPr>
        <p:spPr>
          <a:xfrm>
            <a:off x="432816" y="512064"/>
            <a:ext cx="7906512" cy="2487168"/>
          </a:xfrm>
          <a:prstGeom prst="rect">
            <a:avLst/>
          </a:prstGeom>
        </p:spPr>
        <p:txBody>
          <a:bodyPr lIns="0" tIns="0" rIns="0" bIns="0">
            <a:noAutofit/>
          </a:bodyPr>
          <a:lstStyle/>
          <a:p>
            <a:pPr indent="0" algn="ctr">
              <a:spcAft>
                <a:spcPts val="2520"/>
              </a:spcAft>
            </a:pPr>
            <a:r>
              <a:rPr lang="en-US" sz="3600" b="1">
                <a:solidFill>
                  <a:srgbClr val="FC0128"/>
                </a:solidFill>
                <a:latin typeface="Times New Roman"/>
              </a:rPr>
              <a:t>FCIP (Fibre Channel over IP)</a:t>
            </a:r>
          </a:p>
          <a:p>
            <a:pPr indent="0" algn="just">
              <a:lnSpc>
                <a:spcPts val="2568"/>
              </a:lnSpc>
            </a:pPr>
            <a:r>
              <a:rPr lang="en-US" sz="2400">
                <a:solidFill>
                  <a:srgbClr val="063DE8"/>
                </a:solidFill>
                <a:latin typeface="Times New Roman"/>
              </a:rPr>
              <a:t>□    </a:t>
            </a:r>
            <a:r>
              <a:rPr lang="en-US" sz="2400" u="sng">
                <a:latin typeface="Times New Roman"/>
              </a:rPr>
              <a:t>Tunneling</a:t>
            </a:r>
            <a:r>
              <a:rPr lang="en-US" sz="2400">
                <a:latin typeface="Times New Roman"/>
              </a:rPr>
              <a:t> protocol for passing FC frames over TCP/IP.</a:t>
            </a:r>
          </a:p>
          <a:p>
            <a:pPr marL="387604" indent="-393700">
              <a:lnSpc>
                <a:spcPts val="2568"/>
              </a:lnSpc>
            </a:pPr>
            <a:r>
              <a:rPr lang="en-US" sz="2400">
                <a:solidFill>
                  <a:srgbClr val="063DE8"/>
                </a:solidFill>
                <a:latin typeface="Times New Roman"/>
              </a:rPr>
              <a:t>□    </a:t>
            </a:r>
            <a:r>
              <a:rPr lang="en-US" sz="2400">
                <a:latin typeface="Times New Roman"/>
              </a:rPr>
              <a:t>SAN packets are encapsulated in IP packets at the source and decapsulated back at the destination</a:t>
            </a:r>
          </a:p>
          <a:p>
            <a:pPr indent="0" algn="just">
              <a:lnSpc>
                <a:spcPts val="2568"/>
              </a:lnSpc>
            </a:pPr>
            <a:r>
              <a:rPr lang="en-US" sz="2400">
                <a:solidFill>
                  <a:srgbClr val="063DE8"/>
                </a:solidFill>
                <a:latin typeface="Times New Roman"/>
              </a:rPr>
              <a:t>□    </a:t>
            </a:r>
            <a:r>
              <a:rPr lang="en-US" sz="2400">
                <a:latin typeface="Times New Roman"/>
              </a:rPr>
              <a:t>Doesn't allow to directly interface with a FC device.</a:t>
            </a:r>
          </a:p>
          <a:p>
            <a:pPr indent="0" algn="just">
              <a:lnSpc>
                <a:spcPts val="2568"/>
              </a:lnSpc>
              <a:spcAft>
                <a:spcPts val="1890"/>
              </a:spcAft>
            </a:pPr>
            <a:r>
              <a:rPr lang="en-US" sz="2400">
                <a:solidFill>
                  <a:srgbClr val="063DE8"/>
                </a:solidFill>
                <a:latin typeface="Times New Roman"/>
              </a:rPr>
              <a:t>□    </a:t>
            </a:r>
            <a:r>
              <a:rPr lang="en-US" sz="2400">
                <a:latin typeface="Times New Roman"/>
              </a:rPr>
              <a:t>Some FC switches have FCIP ports.</a:t>
            </a:r>
          </a:p>
        </p:txBody>
      </p:sp>
      <p:sp>
        <p:nvSpPr>
          <p:cNvPr id="10" name="Rectangle 9"/>
          <p:cNvSpPr/>
          <p:nvPr/>
        </p:nvSpPr>
        <p:spPr>
          <a:xfrm>
            <a:off x="4334256" y="6623304"/>
            <a:ext cx="435864" cy="195072"/>
          </a:xfrm>
          <a:prstGeom prst="rect">
            <a:avLst/>
          </a:prstGeom>
        </p:spPr>
        <p:txBody>
          <a:bodyPr wrap="none" lIns="0" tIns="0" rIns="0" bIns="0">
            <a:noAutofit/>
          </a:bodyPr>
          <a:lstStyle/>
          <a:p>
            <a:pPr indent="0"/>
            <a:r>
              <a:rPr lang="en-US" sz="1800">
                <a:latin typeface="Times New Roman"/>
              </a:rPr>
              <a:t>27</a:t>
            </a:r>
          </a:p>
        </p:txBody>
      </p:sp>
      <p:pic>
        <p:nvPicPr>
          <p:cNvPr id="12" name="Picture 11" descr="A diagram of a computer&#10;&#10;AI-generated content may be incorrect.">
            <a:extLst>
              <a:ext uri="{FF2B5EF4-FFF2-40B4-BE49-F238E27FC236}">
                <a16:creationId xmlns:a16="http://schemas.microsoft.com/office/drawing/2014/main" id="{8688D74E-81C5-D225-08CC-356AF3E01A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221" y="3120277"/>
            <a:ext cx="7597798" cy="259864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b="5594"/>
          <a:stretch>
            <a:fillRect/>
          </a:stretch>
        </p:blipFill>
        <p:spPr>
          <a:xfrm>
            <a:off x="362712" y="266700"/>
            <a:ext cx="8418576" cy="5970814"/>
          </a:xfrm>
          <a:prstGeom prst="rect">
            <a:avLst/>
          </a:prstGeom>
        </p:spPr>
      </p:pic>
      <p:sp>
        <p:nvSpPr>
          <p:cNvPr id="3" name="Rectangle 2"/>
          <p:cNvSpPr/>
          <p:nvPr/>
        </p:nvSpPr>
        <p:spPr>
          <a:xfrm>
            <a:off x="4334255" y="6623304"/>
            <a:ext cx="662287" cy="234696"/>
          </a:xfrm>
          <a:prstGeom prst="rect">
            <a:avLst/>
          </a:prstGeom>
        </p:spPr>
        <p:txBody>
          <a:bodyPr wrap="none" lIns="0" tIns="0" rIns="0" bIns="0">
            <a:noAutofit/>
          </a:bodyPr>
          <a:lstStyle/>
          <a:p>
            <a:pPr indent="0"/>
            <a:r>
              <a:rPr lang="en-US" sz="1800">
                <a:latin typeface="Times New Roman"/>
              </a:rPr>
              <a:t>28</a:t>
            </a:r>
          </a:p>
          <a:p>
            <a:pPr indent="0"/>
            <a:endParaRPr lang="en-US" sz="1800">
              <a:latin typeface="Times New Roman"/>
            </a:endParaRPr>
          </a:p>
        </p:txBody>
      </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493776" y="39624"/>
            <a:ext cx="8156448" cy="5983224"/>
          </a:xfrm>
          <a:prstGeom prst="rect">
            <a:avLst/>
          </a:prstGeom>
        </p:spPr>
        <p:txBody>
          <a:bodyPr lIns="0" tIns="0" rIns="0" bIns="0">
            <a:noAutofit/>
          </a:bodyPr>
          <a:lstStyle/>
          <a:p>
            <a:pPr indent="0" algn="ctr">
              <a:spcAft>
                <a:spcPts val="2520"/>
              </a:spcAft>
            </a:pPr>
            <a:r>
              <a:rPr lang="en-US" sz="3600" b="1">
                <a:solidFill>
                  <a:srgbClr val="FC0128"/>
                </a:solidFill>
                <a:latin typeface="Times New Roman"/>
              </a:rPr>
              <a:t>Virtual File Systems</a:t>
            </a:r>
          </a:p>
          <a:p>
            <a:pPr indent="0" algn="just">
              <a:spcAft>
                <a:spcPts val="1050"/>
              </a:spcAft>
            </a:pPr>
            <a:r>
              <a:rPr lang="en-US" sz="2400">
                <a:solidFill>
                  <a:srgbClr val="063DE8"/>
                </a:solidFill>
                <a:latin typeface="Times New Roman"/>
              </a:rPr>
              <a:t>□    </a:t>
            </a:r>
            <a:r>
              <a:rPr lang="en-US" sz="2400">
                <a:latin typeface="Times New Roman"/>
              </a:rPr>
              <a:t>Storage access is either block based or file based</a:t>
            </a:r>
          </a:p>
          <a:p>
            <a:pPr marL="368300" indent="-368300">
              <a:lnSpc>
                <a:spcPts val="2856"/>
              </a:lnSpc>
              <a:spcAft>
                <a:spcPts val="210"/>
              </a:spcAft>
            </a:pPr>
            <a:r>
              <a:rPr lang="en-US" sz="2400">
                <a:solidFill>
                  <a:srgbClr val="063DE8"/>
                </a:solidFill>
                <a:latin typeface="Times New Roman"/>
              </a:rPr>
              <a:t>□    </a:t>
            </a:r>
            <a:r>
              <a:rPr lang="en-US" sz="2400">
                <a:latin typeface="Times New Roman"/>
              </a:rPr>
              <a:t>File systems, e.g., NTFS or FAT32 store files on a block based storage.</a:t>
            </a:r>
          </a:p>
          <a:p>
            <a:pPr marL="368300" indent="-368300">
              <a:lnSpc>
                <a:spcPts val="2904"/>
              </a:lnSpc>
            </a:pPr>
            <a:r>
              <a:rPr lang="en-US" sz="2400">
                <a:solidFill>
                  <a:srgbClr val="063DE8"/>
                </a:solidFill>
                <a:latin typeface="Times New Roman"/>
              </a:rPr>
              <a:t>□    </a:t>
            </a:r>
            <a:r>
              <a:rPr lang="en-US" sz="2400">
                <a:latin typeface="Times New Roman"/>
              </a:rPr>
              <a:t>Virtual file systems allows files located on multiple network drives to appear as if on a single local drive</a:t>
            </a:r>
          </a:p>
          <a:p>
            <a:pPr marL="368300" indent="0">
              <a:spcAft>
                <a:spcPts val="1050"/>
              </a:spcAft>
            </a:pPr>
            <a:r>
              <a:rPr lang="en-US" sz="2400">
                <a:latin typeface="Times New Roman"/>
              </a:rPr>
              <a:t> Network drives can be replicated, relocated, reconstructed</a:t>
            </a:r>
          </a:p>
          <a:p>
            <a:pPr indent="0" algn="just">
              <a:spcAft>
                <a:spcPts val="1050"/>
              </a:spcAft>
            </a:pPr>
            <a:r>
              <a:rPr lang="en-US" sz="2400">
                <a:solidFill>
                  <a:srgbClr val="063DE8"/>
                </a:solidFill>
                <a:latin typeface="Times New Roman"/>
              </a:rPr>
              <a:t>□    </a:t>
            </a:r>
            <a:r>
              <a:rPr lang="en-US" sz="2400">
                <a:latin typeface="Times New Roman"/>
              </a:rPr>
              <a:t>Windows DFS</a:t>
            </a:r>
          </a:p>
          <a:p>
            <a:pPr marL="368300" indent="-368300">
              <a:lnSpc>
                <a:spcPts val="2880"/>
              </a:lnSpc>
              <a:spcAft>
                <a:spcPts val="210"/>
              </a:spcAft>
            </a:pPr>
            <a:r>
              <a:rPr lang="en-US" sz="2400">
                <a:solidFill>
                  <a:srgbClr val="063DE8"/>
                </a:solidFill>
                <a:latin typeface="Times New Roman"/>
              </a:rPr>
              <a:t>□    </a:t>
            </a:r>
            <a:r>
              <a:rPr lang="en-US" sz="2400">
                <a:latin typeface="Times New Roman"/>
              </a:rPr>
              <a:t>Linux DFS: Open source implementation of Windows DFS on Linux</a:t>
            </a:r>
          </a:p>
          <a:p>
            <a:pPr indent="0" algn="just">
              <a:spcAft>
                <a:spcPts val="1050"/>
              </a:spcAft>
            </a:pPr>
            <a:r>
              <a:rPr lang="en-US" sz="2400">
                <a:solidFill>
                  <a:srgbClr val="063DE8"/>
                </a:solidFill>
                <a:latin typeface="Times New Roman"/>
              </a:rPr>
              <a:t>□    </a:t>
            </a:r>
            <a:r>
              <a:rPr lang="en-US" sz="2400">
                <a:latin typeface="Times New Roman"/>
              </a:rPr>
              <a:t>AFS: Andrew File System from CMU (Andrew Carnegie)</a:t>
            </a:r>
          </a:p>
          <a:p>
            <a:pPr marL="368300" indent="-368300">
              <a:lnSpc>
                <a:spcPts val="2904"/>
              </a:lnSpc>
            </a:pPr>
            <a:r>
              <a:rPr lang="en-US" sz="2400">
                <a:solidFill>
                  <a:srgbClr val="063DE8"/>
                </a:solidFill>
                <a:latin typeface="Times New Roman"/>
              </a:rPr>
              <a:t>□    </a:t>
            </a:r>
            <a:r>
              <a:rPr lang="en-US" sz="2400">
                <a:latin typeface="Times New Roman"/>
              </a:rPr>
              <a:t>Parallel Virtual File System (PVFS) distributes data across multiple servers to provide concurrent access for parallel task</a:t>
            </a:r>
          </a:p>
        </p:txBody>
      </p:sp>
      <p:sp>
        <p:nvSpPr>
          <p:cNvPr id="3" name="Rectangle 2"/>
          <p:cNvSpPr/>
          <p:nvPr/>
        </p:nvSpPr>
        <p:spPr>
          <a:xfrm>
            <a:off x="4334256" y="6623304"/>
            <a:ext cx="438912" cy="195072"/>
          </a:xfrm>
          <a:prstGeom prst="rect">
            <a:avLst/>
          </a:prstGeom>
        </p:spPr>
        <p:txBody>
          <a:bodyPr wrap="none" lIns="0" tIns="0" rIns="0" bIns="0">
            <a:noAutofit/>
          </a:bodyPr>
          <a:lstStyle/>
          <a:p>
            <a:pPr indent="0"/>
            <a:r>
              <a:rPr lang="en-US" sz="1800">
                <a:latin typeface="Times New Roman"/>
              </a:rPr>
              <a:t>39</a:t>
            </a:r>
          </a:p>
        </p:txBody>
      </p:sp>
    </p:spTree>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37657" y="171123"/>
            <a:ext cx="5029200" cy="2626506"/>
          </a:xfrm>
          <a:prstGeom prst="rect">
            <a:avLst/>
          </a:prstGeom>
        </p:spPr>
      </p:pic>
      <p:sp>
        <p:nvSpPr>
          <p:cNvPr id="3" name="Rectangle 2"/>
          <p:cNvSpPr/>
          <p:nvPr/>
        </p:nvSpPr>
        <p:spPr>
          <a:xfrm>
            <a:off x="454152" y="3172968"/>
            <a:ext cx="8156448" cy="2999232"/>
          </a:xfrm>
          <a:prstGeom prst="rect">
            <a:avLst/>
          </a:prstGeom>
        </p:spPr>
        <p:txBody>
          <a:bodyPr lIns="0" tIns="0" rIns="0" bIns="0">
            <a:noAutofit/>
          </a:bodyPr>
          <a:lstStyle/>
          <a:p>
            <a:pPr indent="0" algn="just">
              <a:spcBef>
                <a:spcPts val="1890"/>
              </a:spcBef>
              <a:spcAft>
                <a:spcPts val="630"/>
              </a:spcAft>
            </a:pPr>
            <a:r>
              <a:rPr lang="en-US" sz="2400">
                <a:solidFill>
                  <a:srgbClr val="063DE8"/>
                </a:solidFill>
                <a:latin typeface="Times New Roman"/>
              </a:rPr>
              <a:t>1.    </a:t>
            </a:r>
            <a:r>
              <a:rPr lang="en-US" sz="2400">
                <a:latin typeface="Times New Roman"/>
              </a:rPr>
              <a:t>SCSI is a common interface used on storage devices</a:t>
            </a:r>
          </a:p>
          <a:p>
            <a:pPr indent="0" algn="just">
              <a:spcAft>
                <a:spcPts val="630"/>
              </a:spcAft>
            </a:pPr>
            <a:r>
              <a:rPr lang="en-US" sz="1800" b="1">
                <a:solidFill>
                  <a:srgbClr val="063DE8"/>
                </a:solidFill>
                <a:latin typeface="Times New Roman"/>
              </a:rPr>
              <a:t>2</a:t>
            </a:r>
            <a:r>
              <a:rPr lang="en-US" sz="2400">
                <a:solidFill>
                  <a:srgbClr val="063DE8"/>
                </a:solidFill>
                <a:latin typeface="Times New Roman"/>
              </a:rPr>
              <a:t>.    </a:t>
            </a:r>
            <a:r>
              <a:rPr lang="en-US" sz="2400">
                <a:latin typeface="Times New Roman"/>
              </a:rPr>
              <a:t>Fibre channel is a storage area network</a:t>
            </a:r>
          </a:p>
          <a:p>
            <a:pPr marL="406400" indent="-406400">
              <a:lnSpc>
                <a:spcPts val="2304"/>
              </a:lnSpc>
              <a:spcAft>
                <a:spcPts val="210"/>
              </a:spcAft>
            </a:pPr>
            <a:r>
              <a:rPr lang="en-US" sz="2400">
                <a:solidFill>
                  <a:srgbClr val="063DE8"/>
                </a:solidFill>
                <a:latin typeface="Times New Roman"/>
              </a:rPr>
              <a:t>3.    </a:t>
            </a:r>
            <a:r>
              <a:rPr lang="en-US" sz="2400">
                <a:latin typeface="Times New Roman"/>
              </a:rPr>
              <a:t>RAID allows data to be partitioned over multiple drives for performance and fault tolerance</a:t>
            </a:r>
          </a:p>
          <a:p>
            <a:pPr marL="406400" indent="-406400">
              <a:lnSpc>
                <a:spcPts val="2280"/>
              </a:lnSpc>
              <a:spcAft>
                <a:spcPts val="210"/>
              </a:spcAft>
            </a:pPr>
            <a:r>
              <a:rPr lang="en-US" sz="2400">
                <a:solidFill>
                  <a:srgbClr val="063DE8"/>
                </a:solidFill>
                <a:latin typeface="Times New Roman"/>
              </a:rPr>
              <a:t>4.    </a:t>
            </a:r>
            <a:r>
              <a:rPr lang="en-US" sz="2400">
                <a:latin typeface="Times New Roman"/>
              </a:rPr>
              <a:t>iSCSI, iFCP, FCIP, FCoE are protocols for interconnecting storage over Ethernet/IP.</a:t>
            </a:r>
          </a:p>
          <a:p>
            <a:pPr indent="0" algn="just">
              <a:spcAft>
                <a:spcPts val="630"/>
              </a:spcAft>
            </a:pPr>
            <a:r>
              <a:rPr lang="en-US" sz="2400">
                <a:solidFill>
                  <a:srgbClr val="063DE8"/>
                </a:solidFill>
                <a:latin typeface="Times New Roman"/>
              </a:rPr>
              <a:t>5.    </a:t>
            </a:r>
            <a:r>
              <a:rPr lang="en-US" sz="2400">
                <a:latin typeface="Times New Roman"/>
              </a:rPr>
              <a:t>SAN is FC based. NAS is Ethernet based.</a:t>
            </a:r>
          </a:p>
          <a:p>
            <a:pPr marL="406400" indent="-406400">
              <a:lnSpc>
                <a:spcPts val="2304"/>
              </a:lnSpc>
            </a:pPr>
            <a:r>
              <a:rPr lang="en-US" sz="2400">
                <a:solidFill>
                  <a:srgbClr val="063DE8"/>
                </a:solidFill>
                <a:latin typeface="Times New Roman"/>
              </a:rPr>
              <a:t>6.    </a:t>
            </a:r>
            <a:r>
              <a:rPr lang="en-US" sz="2400">
                <a:latin typeface="Times New Roman"/>
              </a:rPr>
              <a:t>Virtual file systems allow files to be accessed in multiple views from the same storage system.</a:t>
            </a:r>
          </a:p>
        </p:txBody>
      </p:sp>
      <p:sp>
        <p:nvSpPr>
          <p:cNvPr id="5" name="Rectangle 4"/>
          <p:cNvSpPr/>
          <p:nvPr/>
        </p:nvSpPr>
        <p:spPr>
          <a:xfrm>
            <a:off x="4334256" y="6623304"/>
            <a:ext cx="420624" cy="195072"/>
          </a:xfrm>
          <a:prstGeom prst="rect">
            <a:avLst/>
          </a:prstGeom>
        </p:spPr>
        <p:txBody>
          <a:bodyPr wrap="none" lIns="0" tIns="0" rIns="0" bIns="0">
            <a:noAutofit/>
          </a:bodyPr>
          <a:lstStyle/>
          <a:p>
            <a:pPr indent="0"/>
            <a:r>
              <a:rPr lang="en-US" sz="1800">
                <a:latin typeface="Times New Roman"/>
              </a:rPr>
              <a:t>30</a:t>
            </a:r>
          </a:p>
        </p:txBody>
      </p:sp>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3511296" y="512064"/>
            <a:ext cx="2078736" cy="512064"/>
          </a:xfrm>
          <a:prstGeom prst="rect">
            <a:avLst/>
          </a:prstGeom>
        </p:spPr>
        <p:txBody>
          <a:bodyPr wrap="none" lIns="0" tIns="0" rIns="0" bIns="0">
            <a:noAutofit/>
          </a:bodyPr>
          <a:lstStyle/>
          <a:p>
            <a:pPr indent="0" algn="ctr">
              <a:spcAft>
                <a:spcPts val="2520"/>
              </a:spcAft>
            </a:pPr>
            <a:r>
              <a:rPr lang="en-US" sz="3600" b="1">
                <a:solidFill>
                  <a:srgbClr val="FC0128"/>
                </a:solidFill>
                <a:latin typeface="Times New Roman"/>
              </a:rPr>
              <a:t>Acronyms</a:t>
            </a:r>
          </a:p>
        </p:txBody>
      </p:sp>
      <p:graphicFrame>
        <p:nvGraphicFramePr>
          <p:cNvPr id="3" name="Table 2"/>
          <p:cNvGraphicFramePr>
            <a:graphicFrameLocks noGrp="1"/>
          </p:cNvGraphicFramePr>
          <p:nvPr>
            <p:extLst>
              <p:ext uri="{D42A27DB-BD31-4B8C-83A1-F6EECF244321}">
                <p14:modId xmlns:p14="http://schemas.microsoft.com/office/powerpoint/2010/main" val="2041243388"/>
              </p:ext>
            </p:extLst>
          </p:nvPr>
        </p:nvGraphicFramePr>
        <p:xfrm>
          <a:off x="454152" y="1395984"/>
          <a:ext cx="1450848" cy="5233416"/>
        </p:xfrm>
        <a:graphic>
          <a:graphicData uri="http://schemas.openxmlformats.org/drawingml/2006/table">
            <a:tbl>
              <a:tblPr/>
              <a:tblGrid>
                <a:gridCol w="265176">
                  <a:extLst>
                    <a:ext uri="{9D8B030D-6E8A-4147-A177-3AD203B41FA5}">
                      <a16:colId xmlns:a16="http://schemas.microsoft.com/office/drawing/2014/main" val="20000"/>
                    </a:ext>
                  </a:extLst>
                </a:gridCol>
                <a:gridCol w="1185672">
                  <a:extLst>
                    <a:ext uri="{9D8B030D-6E8A-4147-A177-3AD203B41FA5}">
                      <a16:colId xmlns:a16="http://schemas.microsoft.com/office/drawing/2014/main" val="20001"/>
                    </a:ext>
                  </a:extLst>
                </a:gridCol>
              </a:tblGrid>
              <a:tr h="259080">
                <a:tc>
                  <a:txBody>
                    <a:bodyPr/>
                    <a:lstStyle/>
                    <a:p>
                      <a:pPr indent="0"/>
                      <a:r>
                        <a:rPr lang="en-US" sz="2000">
                          <a:solidFill>
                            <a:srgbClr val="063DE8"/>
                          </a:solidFill>
                          <a:latin typeface="Times New Roman"/>
                        </a:rPr>
                        <a:t>□</a:t>
                      </a:r>
                    </a:p>
                  </a:txBody>
                  <a:tcPr marL="0" marR="0" marT="0" marB="0"/>
                </a:tc>
                <a:tc>
                  <a:txBody>
                    <a:bodyPr/>
                    <a:lstStyle/>
                    <a:p>
                      <a:pPr marL="101600" indent="0"/>
                      <a:r>
                        <a:rPr lang="en-US" sz="2000">
                          <a:latin typeface="Times New Roman"/>
                        </a:rPr>
                        <a:t>AFS</a:t>
                      </a:r>
                    </a:p>
                  </a:txBody>
                  <a:tcPr marL="0" marR="0" marT="0" marB="0"/>
                </a:tc>
                <a:extLst>
                  <a:ext uri="{0D108BD9-81ED-4DB2-BD59-A6C34878D82A}">
                    <a16:rowId xmlns:a16="http://schemas.microsoft.com/office/drawing/2014/main" val="10000"/>
                  </a:ext>
                </a:extLst>
              </a:tr>
              <a:tr h="301752">
                <a:tc>
                  <a:txBody>
                    <a:bodyPr/>
                    <a:lstStyle/>
                    <a:p>
                      <a:pPr indent="0"/>
                      <a:r>
                        <a:rPr lang="en-US" sz="2000">
                          <a:solidFill>
                            <a:srgbClr val="063DE8"/>
                          </a:solidFill>
                          <a:latin typeface="Times New Roman"/>
                        </a:rPr>
                        <a:t>□</a:t>
                      </a:r>
                    </a:p>
                  </a:txBody>
                  <a:tcPr marL="0" marR="0" marT="0" marB="0" anchor="ctr"/>
                </a:tc>
                <a:tc>
                  <a:txBody>
                    <a:bodyPr/>
                    <a:lstStyle/>
                    <a:p>
                      <a:pPr marL="101600" indent="0"/>
                      <a:r>
                        <a:rPr lang="en-US" sz="2000">
                          <a:latin typeface="Times New Roman"/>
                        </a:rPr>
                        <a:t>ATA</a:t>
                      </a:r>
                    </a:p>
                  </a:txBody>
                  <a:tcPr marL="0" marR="0" marT="0" marB="0" anchor="ctr"/>
                </a:tc>
                <a:extLst>
                  <a:ext uri="{0D108BD9-81ED-4DB2-BD59-A6C34878D82A}">
                    <a16:rowId xmlns:a16="http://schemas.microsoft.com/office/drawing/2014/main" val="10001"/>
                  </a:ext>
                </a:extLst>
              </a:tr>
              <a:tr h="304800">
                <a:tc>
                  <a:txBody>
                    <a:bodyPr/>
                    <a:lstStyle/>
                    <a:p>
                      <a:pPr indent="0"/>
                      <a:r>
                        <a:rPr lang="en-US" sz="2000">
                          <a:solidFill>
                            <a:srgbClr val="063DE8"/>
                          </a:solidFill>
                          <a:latin typeface="Times New Roman"/>
                        </a:rPr>
                        <a:t>□</a:t>
                      </a:r>
                    </a:p>
                  </a:txBody>
                  <a:tcPr marL="0" marR="0" marT="0" marB="0" anchor="ctr"/>
                </a:tc>
                <a:tc>
                  <a:txBody>
                    <a:bodyPr/>
                    <a:lstStyle/>
                    <a:p>
                      <a:pPr marL="101600" indent="0"/>
                      <a:r>
                        <a:rPr lang="en-US" sz="2000">
                          <a:latin typeface="Times New Roman"/>
                        </a:rPr>
                        <a:t>ATAPI</a:t>
                      </a:r>
                    </a:p>
                  </a:txBody>
                  <a:tcPr marL="0" marR="0" marT="0" marB="0" anchor="ctr"/>
                </a:tc>
                <a:extLst>
                  <a:ext uri="{0D108BD9-81ED-4DB2-BD59-A6C34878D82A}">
                    <a16:rowId xmlns:a16="http://schemas.microsoft.com/office/drawing/2014/main" val="10002"/>
                  </a:ext>
                </a:extLst>
              </a:tr>
              <a:tr h="307848">
                <a:tc>
                  <a:txBody>
                    <a:bodyPr/>
                    <a:lstStyle/>
                    <a:p>
                      <a:pPr indent="0"/>
                      <a:r>
                        <a:rPr lang="en-US" sz="2000">
                          <a:solidFill>
                            <a:srgbClr val="063DE8"/>
                          </a:solidFill>
                          <a:latin typeface="Times New Roman"/>
                        </a:rPr>
                        <a:t>□</a:t>
                      </a:r>
                    </a:p>
                  </a:txBody>
                  <a:tcPr marL="0" marR="0" marT="0" marB="0" anchor="ctr"/>
                </a:tc>
                <a:tc>
                  <a:txBody>
                    <a:bodyPr/>
                    <a:lstStyle/>
                    <a:p>
                      <a:pPr marL="101600" indent="0"/>
                      <a:r>
                        <a:rPr lang="en-US" sz="2000">
                          <a:latin typeface="Times New Roman"/>
                        </a:rPr>
                        <a:t>ANSI</a:t>
                      </a:r>
                    </a:p>
                  </a:txBody>
                  <a:tcPr marL="0" marR="0" marT="0" marB="0" anchor="ctr"/>
                </a:tc>
                <a:extLst>
                  <a:ext uri="{0D108BD9-81ED-4DB2-BD59-A6C34878D82A}">
                    <a16:rowId xmlns:a16="http://schemas.microsoft.com/office/drawing/2014/main" val="10003"/>
                  </a:ext>
                </a:extLst>
              </a:tr>
              <a:tr h="326136">
                <a:tc>
                  <a:txBody>
                    <a:bodyPr/>
                    <a:lstStyle/>
                    <a:p>
                      <a:pPr indent="0"/>
                      <a:r>
                        <a:rPr lang="en-US" sz="2000">
                          <a:solidFill>
                            <a:srgbClr val="063DE8"/>
                          </a:solidFill>
                          <a:latin typeface="Times New Roman"/>
                        </a:rPr>
                        <a:t>□</a:t>
                      </a:r>
                    </a:p>
                  </a:txBody>
                  <a:tcPr marL="0" marR="0" marT="0" marB="0" anchor="ctr"/>
                </a:tc>
                <a:tc>
                  <a:txBody>
                    <a:bodyPr/>
                    <a:lstStyle/>
                    <a:p>
                      <a:pPr marL="101600" indent="0"/>
                      <a:r>
                        <a:rPr lang="en-US" sz="2000">
                          <a:latin typeface="Times New Roman"/>
                        </a:rPr>
                        <a:t>CapEx</a:t>
                      </a:r>
                    </a:p>
                  </a:txBody>
                  <a:tcPr marL="0" marR="0" marT="0" marB="0" anchor="ctr"/>
                </a:tc>
                <a:extLst>
                  <a:ext uri="{0D108BD9-81ED-4DB2-BD59-A6C34878D82A}">
                    <a16:rowId xmlns:a16="http://schemas.microsoft.com/office/drawing/2014/main" val="10004"/>
                  </a:ext>
                </a:extLst>
              </a:tr>
              <a:tr h="283464">
                <a:tc>
                  <a:txBody>
                    <a:bodyPr/>
                    <a:lstStyle/>
                    <a:p>
                      <a:pPr indent="0"/>
                      <a:r>
                        <a:rPr lang="en-US" sz="2000">
                          <a:solidFill>
                            <a:srgbClr val="063DE8"/>
                          </a:solidFill>
                          <a:latin typeface="Times New Roman"/>
                        </a:rPr>
                        <a:t>□</a:t>
                      </a:r>
                    </a:p>
                  </a:txBody>
                  <a:tcPr marL="0" marR="0" marT="0" marB="0"/>
                </a:tc>
                <a:tc>
                  <a:txBody>
                    <a:bodyPr/>
                    <a:lstStyle/>
                    <a:p>
                      <a:pPr marL="101600" indent="0"/>
                      <a:r>
                        <a:rPr lang="en-US" sz="2000">
                          <a:latin typeface="Times New Roman"/>
                        </a:rPr>
                        <a:t>CMU</a:t>
                      </a:r>
                    </a:p>
                  </a:txBody>
                  <a:tcPr marL="0" marR="0" marT="0" marB="0"/>
                </a:tc>
                <a:extLst>
                  <a:ext uri="{0D108BD9-81ED-4DB2-BD59-A6C34878D82A}">
                    <a16:rowId xmlns:a16="http://schemas.microsoft.com/office/drawing/2014/main" val="10005"/>
                  </a:ext>
                </a:extLst>
              </a:tr>
              <a:tr h="304800">
                <a:tc>
                  <a:txBody>
                    <a:bodyPr/>
                    <a:lstStyle/>
                    <a:p>
                      <a:pPr indent="0"/>
                      <a:r>
                        <a:rPr lang="en-US" sz="2000">
                          <a:solidFill>
                            <a:srgbClr val="063DE8"/>
                          </a:solidFill>
                          <a:latin typeface="Times New Roman"/>
                        </a:rPr>
                        <a:t>□</a:t>
                      </a:r>
                    </a:p>
                  </a:txBody>
                  <a:tcPr marL="0" marR="0" marT="0" marB="0" anchor="ctr"/>
                </a:tc>
                <a:tc>
                  <a:txBody>
                    <a:bodyPr/>
                    <a:lstStyle/>
                    <a:p>
                      <a:pPr marL="101600" indent="0"/>
                      <a:r>
                        <a:rPr lang="en-US" sz="2000">
                          <a:latin typeface="Times New Roman"/>
                        </a:rPr>
                        <a:t>DFS</a:t>
                      </a:r>
                    </a:p>
                  </a:txBody>
                  <a:tcPr marL="0" marR="0" marT="0" marB="0" anchor="ctr"/>
                </a:tc>
                <a:extLst>
                  <a:ext uri="{0D108BD9-81ED-4DB2-BD59-A6C34878D82A}">
                    <a16:rowId xmlns:a16="http://schemas.microsoft.com/office/drawing/2014/main" val="10006"/>
                  </a:ext>
                </a:extLst>
              </a:tr>
              <a:tr h="301752">
                <a:tc>
                  <a:txBody>
                    <a:bodyPr/>
                    <a:lstStyle/>
                    <a:p>
                      <a:pPr indent="0"/>
                      <a:r>
                        <a:rPr lang="en-US" sz="2000">
                          <a:solidFill>
                            <a:srgbClr val="063DE8"/>
                          </a:solidFill>
                          <a:latin typeface="Times New Roman"/>
                        </a:rPr>
                        <a:t>□</a:t>
                      </a:r>
                    </a:p>
                  </a:txBody>
                  <a:tcPr marL="0" marR="0" marT="0" marB="0" anchor="ctr"/>
                </a:tc>
                <a:tc>
                  <a:txBody>
                    <a:bodyPr/>
                    <a:lstStyle/>
                    <a:p>
                      <a:pPr marL="101600" indent="0"/>
                      <a:r>
                        <a:rPr lang="en-US" sz="2000">
                          <a:latin typeface="Times New Roman"/>
                        </a:rPr>
                        <a:t>EIDE</a:t>
                      </a:r>
                    </a:p>
                  </a:txBody>
                  <a:tcPr marL="0" marR="0" marT="0" marB="0" anchor="ctr"/>
                </a:tc>
                <a:extLst>
                  <a:ext uri="{0D108BD9-81ED-4DB2-BD59-A6C34878D82A}">
                    <a16:rowId xmlns:a16="http://schemas.microsoft.com/office/drawing/2014/main" val="10007"/>
                  </a:ext>
                </a:extLst>
              </a:tr>
              <a:tr h="307848">
                <a:tc>
                  <a:txBody>
                    <a:bodyPr/>
                    <a:lstStyle/>
                    <a:p>
                      <a:pPr indent="0"/>
                      <a:r>
                        <a:rPr lang="en-US" sz="2000">
                          <a:solidFill>
                            <a:srgbClr val="063DE8"/>
                          </a:solidFill>
                          <a:latin typeface="Times New Roman"/>
                        </a:rPr>
                        <a:t>□</a:t>
                      </a:r>
                    </a:p>
                  </a:txBody>
                  <a:tcPr marL="0" marR="0" marT="0" marB="0" anchor="ctr"/>
                </a:tc>
                <a:tc>
                  <a:txBody>
                    <a:bodyPr/>
                    <a:lstStyle/>
                    <a:p>
                      <a:pPr marL="101600" indent="0"/>
                      <a:r>
                        <a:rPr lang="en-US" sz="2000">
                          <a:latin typeface="Times New Roman"/>
                        </a:rPr>
                        <a:t>eSATA</a:t>
                      </a:r>
                    </a:p>
                  </a:txBody>
                  <a:tcPr marL="0" marR="0" marT="0" marB="0" anchor="ctr"/>
                </a:tc>
                <a:extLst>
                  <a:ext uri="{0D108BD9-81ED-4DB2-BD59-A6C34878D82A}">
                    <a16:rowId xmlns:a16="http://schemas.microsoft.com/office/drawing/2014/main" val="10008"/>
                  </a:ext>
                </a:extLst>
              </a:tr>
              <a:tr h="301752">
                <a:tc>
                  <a:txBody>
                    <a:bodyPr/>
                    <a:lstStyle/>
                    <a:p>
                      <a:pPr indent="0"/>
                      <a:r>
                        <a:rPr lang="en-US" sz="2000">
                          <a:solidFill>
                            <a:srgbClr val="063DE8"/>
                          </a:solidFill>
                          <a:latin typeface="Times New Roman"/>
                        </a:rPr>
                        <a:t>□</a:t>
                      </a:r>
                    </a:p>
                  </a:txBody>
                  <a:tcPr marL="0" marR="0" marT="0" marB="0" anchor="ctr"/>
                </a:tc>
                <a:tc>
                  <a:txBody>
                    <a:bodyPr/>
                    <a:lstStyle/>
                    <a:p>
                      <a:pPr marL="101600" indent="0"/>
                      <a:r>
                        <a:rPr lang="en-US" sz="2000">
                          <a:latin typeface="Times New Roman"/>
                        </a:rPr>
                        <a:t>FAT</a:t>
                      </a:r>
                    </a:p>
                  </a:txBody>
                  <a:tcPr marL="0" marR="0" marT="0" marB="0" anchor="ctr"/>
                </a:tc>
                <a:extLst>
                  <a:ext uri="{0D108BD9-81ED-4DB2-BD59-A6C34878D82A}">
                    <a16:rowId xmlns:a16="http://schemas.microsoft.com/office/drawing/2014/main" val="10009"/>
                  </a:ext>
                </a:extLst>
              </a:tr>
              <a:tr h="307848">
                <a:tc>
                  <a:txBody>
                    <a:bodyPr/>
                    <a:lstStyle/>
                    <a:p>
                      <a:pPr indent="0"/>
                      <a:r>
                        <a:rPr lang="en-US" sz="2000">
                          <a:solidFill>
                            <a:srgbClr val="063DE8"/>
                          </a:solidFill>
                          <a:latin typeface="Times New Roman"/>
                        </a:rPr>
                        <a:t>□</a:t>
                      </a:r>
                    </a:p>
                  </a:txBody>
                  <a:tcPr marL="0" marR="0" marT="0" marB="0" anchor="ctr"/>
                </a:tc>
                <a:tc>
                  <a:txBody>
                    <a:bodyPr/>
                    <a:lstStyle/>
                    <a:p>
                      <a:pPr marL="101600" indent="0"/>
                      <a:r>
                        <a:rPr lang="en-US" sz="2000">
                          <a:latin typeface="Times New Roman"/>
                        </a:rPr>
                        <a:t>FC</a:t>
                      </a:r>
                    </a:p>
                  </a:txBody>
                  <a:tcPr marL="0" marR="0" marT="0" marB="0" anchor="ctr"/>
                </a:tc>
                <a:extLst>
                  <a:ext uri="{0D108BD9-81ED-4DB2-BD59-A6C34878D82A}">
                    <a16:rowId xmlns:a16="http://schemas.microsoft.com/office/drawing/2014/main" val="10010"/>
                  </a:ext>
                </a:extLst>
              </a:tr>
              <a:tr h="304800">
                <a:tc>
                  <a:txBody>
                    <a:bodyPr/>
                    <a:lstStyle/>
                    <a:p>
                      <a:pPr indent="0"/>
                      <a:r>
                        <a:rPr lang="en-US" sz="2000">
                          <a:solidFill>
                            <a:srgbClr val="063DE8"/>
                          </a:solidFill>
                          <a:latin typeface="Times New Roman"/>
                        </a:rPr>
                        <a:t>□</a:t>
                      </a:r>
                    </a:p>
                  </a:txBody>
                  <a:tcPr marL="0" marR="0" marT="0" marB="0" anchor="ctr"/>
                </a:tc>
                <a:tc>
                  <a:txBody>
                    <a:bodyPr/>
                    <a:lstStyle/>
                    <a:p>
                      <a:pPr marL="101600" indent="0"/>
                      <a:r>
                        <a:rPr lang="en-US" sz="2000">
                          <a:latin typeface="Times New Roman"/>
                        </a:rPr>
                        <a:t>FC-AL</a:t>
                      </a:r>
                    </a:p>
                  </a:txBody>
                  <a:tcPr marL="0" marR="0" marT="0" marB="0" anchor="ctr"/>
                </a:tc>
                <a:extLst>
                  <a:ext uri="{0D108BD9-81ED-4DB2-BD59-A6C34878D82A}">
                    <a16:rowId xmlns:a16="http://schemas.microsoft.com/office/drawing/2014/main" val="10011"/>
                  </a:ext>
                </a:extLst>
              </a:tr>
              <a:tr h="304800">
                <a:tc>
                  <a:txBody>
                    <a:bodyPr/>
                    <a:lstStyle/>
                    <a:p>
                      <a:pPr indent="0"/>
                      <a:r>
                        <a:rPr lang="en-US" sz="2000">
                          <a:solidFill>
                            <a:srgbClr val="063DE8"/>
                          </a:solidFill>
                          <a:latin typeface="Times New Roman"/>
                        </a:rPr>
                        <a:t>□</a:t>
                      </a:r>
                    </a:p>
                  </a:txBody>
                  <a:tcPr marL="0" marR="0" marT="0" marB="0" anchor="ctr"/>
                </a:tc>
                <a:tc>
                  <a:txBody>
                    <a:bodyPr/>
                    <a:lstStyle/>
                    <a:p>
                      <a:pPr marL="101600" indent="0"/>
                      <a:r>
                        <a:rPr lang="en-US" sz="2000">
                          <a:latin typeface="Times New Roman"/>
                        </a:rPr>
                        <a:t>FC-FS</a:t>
                      </a:r>
                    </a:p>
                  </a:txBody>
                  <a:tcPr marL="0" marR="0" marT="0" marB="0" anchor="ctr"/>
                </a:tc>
                <a:extLst>
                  <a:ext uri="{0D108BD9-81ED-4DB2-BD59-A6C34878D82A}">
                    <a16:rowId xmlns:a16="http://schemas.microsoft.com/office/drawing/2014/main" val="10012"/>
                  </a:ext>
                </a:extLst>
              </a:tr>
              <a:tr h="304800">
                <a:tc>
                  <a:txBody>
                    <a:bodyPr/>
                    <a:lstStyle/>
                    <a:p>
                      <a:pPr indent="0"/>
                      <a:r>
                        <a:rPr lang="en-US" sz="2000">
                          <a:solidFill>
                            <a:srgbClr val="063DE8"/>
                          </a:solidFill>
                          <a:latin typeface="Times New Roman"/>
                        </a:rPr>
                        <a:t>□</a:t>
                      </a:r>
                    </a:p>
                  </a:txBody>
                  <a:tcPr marL="0" marR="0" marT="0" marB="0" anchor="ctr"/>
                </a:tc>
                <a:tc>
                  <a:txBody>
                    <a:bodyPr/>
                    <a:lstStyle/>
                    <a:p>
                      <a:pPr marL="101600" indent="0"/>
                      <a:r>
                        <a:rPr lang="en-US" sz="2000">
                          <a:latin typeface="Times New Roman"/>
                        </a:rPr>
                        <a:t>FC-GS</a:t>
                      </a:r>
                    </a:p>
                  </a:txBody>
                  <a:tcPr marL="0" marR="0" marT="0" marB="0" anchor="ctr"/>
                </a:tc>
                <a:extLst>
                  <a:ext uri="{0D108BD9-81ED-4DB2-BD59-A6C34878D82A}">
                    <a16:rowId xmlns:a16="http://schemas.microsoft.com/office/drawing/2014/main" val="10013"/>
                  </a:ext>
                </a:extLst>
              </a:tr>
              <a:tr h="304800">
                <a:tc>
                  <a:txBody>
                    <a:bodyPr/>
                    <a:lstStyle/>
                    <a:p>
                      <a:pPr indent="0"/>
                      <a:r>
                        <a:rPr lang="en-US" sz="2000">
                          <a:solidFill>
                            <a:srgbClr val="063DE8"/>
                          </a:solidFill>
                          <a:latin typeface="Times New Roman"/>
                        </a:rPr>
                        <a:t>□</a:t>
                      </a:r>
                    </a:p>
                  </a:txBody>
                  <a:tcPr marL="0" marR="0" marT="0" marB="0" anchor="ctr"/>
                </a:tc>
                <a:tc>
                  <a:txBody>
                    <a:bodyPr/>
                    <a:lstStyle/>
                    <a:p>
                      <a:pPr marL="101600" indent="0"/>
                      <a:r>
                        <a:rPr lang="en-US" sz="2000">
                          <a:latin typeface="Times New Roman"/>
                        </a:rPr>
                        <a:t>FC-PH</a:t>
                      </a:r>
                    </a:p>
                  </a:txBody>
                  <a:tcPr marL="0" marR="0" marT="0" marB="0" anchor="ctr"/>
                </a:tc>
                <a:extLst>
                  <a:ext uri="{0D108BD9-81ED-4DB2-BD59-A6C34878D82A}">
                    <a16:rowId xmlns:a16="http://schemas.microsoft.com/office/drawing/2014/main" val="10014"/>
                  </a:ext>
                </a:extLst>
              </a:tr>
              <a:tr h="359664">
                <a:tc>
                  <a:txBody>
                    <a:bodyPr/>
                    <a:lstStyle/>
                    <a:p>
                      <a:pPr indent="0"/>
                      <a:r>
                        <a:rPr lang="en-US" sz="2000">
                          <a:solidFill>
                            <a:srgbClr val="063DE8"/>
                          </a:solidFill>
                          <a:latin typeface="Times New Roman"/>
                        </a:rPr>
                        <a:t>□</a:t>
                      </a:r>
                    </a:p>
                  </a:txBody>
                  <a:tcPr marL="0" marR="0" marT="0" marB="0" anchor="ctr"/>
                </a:tc>
                <a:tc>
                  <a:txBody>
                    <a:bodyPr/>
                    <a:lstStyle/>
                    <a:p>
                      <a:pPr marL="101600" indent="0"/>
                      <a:r>
                        <a:rPr lang="en-US" sz="2000">
                          <a:latin typeface="Times New Roman"/>
                        </a:rPr>
                        <a:t>FC-PI</a:t>
                      </a:r>
                    </a:p>
                  </a:txBody>
                  <a:tcPr marL="0" marR="0" marT="0" marB="0" anchor="ctr"/>
                </a:tc>
                <a:extLst>
                  <a:ext uri="{0D108BD9-81ED-4DB2-BD59-A6C34878D82A}">
                    <a16:rowId xmlns:a16="http://schemas.microsoft.com/office/drawing/2014/main" val="10015"/>
                  </a:ext>
                </a:extLst>
              </a:tr>
              <a:tr h="271272">
                <a:tc gridSpan="2">
                  <a:txBody>
                    <a:bodyPr/>
                    <a:lstStyle/>
                    <a:p>
                      <a:pPr indent="0"/>
                      <a:endParaRPr lang="en-US" sz="1200">
                        <a:latin typeface="Times New Roman"/>
                      </a:endParaRPr>
                    </a:p>
                  </a:txBody>
                  <a:tcPr marL="0" marR="0" marT="0" marB="0" anchor="b"/>
                </a:tc>
                <a:tc hMerge="1">
                  <a:txBody>
                    <a:bodyPr/>
                    <a:lstStyle/>
                    <a:p>
                      <a:endParaRPr sz="1300"/>
                    </a:p>
                  </a:txBody>
                  <a:tcPr marL="0" marR="0" marT="0" marB="0"/>
                </a:tc>
                <a:extLst>
                  <a:ext uri="{0D108BD9-81ED-4DB2-BD59-A6C34878D82A}">
                    <a16:rowId xmlns:a16="http://schemas.microsoft.com/office/drawing/2014/main" val="10016"/>
                  </a:ext>
                </a:extLst>
              </a:tr>
            </a:tbl>
          </a:graphicData>
        </a:graphic>
      </p:graphicFrame>
      <p:sp>
        <p:nvSpPr>
          <p:cNvPr id="4" name="Rectangle 3"/>
          <p:cNvSpPr/>
          <p:nvPr/>
        </p:nvSpPr>
        <p:spPr>
          <a:xfrm>
            <a:off x="2070463" y="1395984"/>
            <a:ext cx="6619385" cy="5205984"/>
          </a:xfrm>
          <a:prstGeom prst="rect">
            <a:avLst/>
          </a:prstGeom>
        </p:spPr>
        <p:txBody>
          <a:bodyPr lIns="0" tIns="0" rIns="0" bIns="0">
            <a:noAutofit/>
          </a:bodyPr>
          <a:lstStyle/>
          <a:p>
            <a:pPr indent="0">
              <a:lnSpc>
                <a:spcPts val="2400"/>
              </a:lnSpc>
              <a:spcBef>
                <a:spcPts val="2520"/>
              </a:spcBef>
            </a:pPr>
            <a:r>
              <a:rPr lang="en-US" sz="2000">
                <a:latin typeface="Times New Roman"/>
              </a:rPr>
              <a:t>Andrew File System</a:t>
            </a:r>
          </a:p>
          <a:p>
            <a:pPr indent="0">
              <a:lnSpc>
                <a:spcPts val="2400"/>
              </a:lnSpc>
            </a:pPr>
            <a:r>
              <a:rPr lang="en-US" sz="2000">
                <a:latin typeface="Times New Roman"/>
              </a:rPr>
              <a:t>Advanced Technology Attachment</a:t>
            </a:r>
          </a:p>
          <a:p>
            <a:pPr indent="0">
              <a:lnSpc>
                <a:spcPts val="2400"/>
              </a:lnSpc>
            </a:pPr>
            <a:r>
              <a:rPr lang="en-US" sz="2000">
                <a:latin typeface="Times New Roman"/>
              </a:rPr>
              <a:t>Advanced Technology Attachment Programming Interface</a:t>
            </a:r>
          </a:p>
          <a:p>
            <a:pPr indent="0">
              <a:lnSpc>
                <a:spcPts val="2400"/>
              </a:lnSpc>
            </a:pPr>
            <a:r>
              <a:rPr lang="en-US" sz="2000">
                <a:latin typeface="Times New Roman"/>
              </a:rPr>
              <a:t>American National Standards Institute</a:t>
            </a:r>
          </a:p>
          <a:p>
            <a:pPr indent="0">
              <a:lnSpc>
                <a:spcPts val="2400"/>
              </a:lnSpc>
            </a:pPr>
            <a:r>
              <a:rPr lang="en-US" sz="2000">
                <a:latin typeface="Times New Roman"/>
              </a:rPr>
              <a:t>Capital Expenditure</a:t>
            </a:r>
          </a:p>
          <a:p>
            <a:pPr indent="0">
              <a:lnSpc>
                <a:spcPts val="2400"/>
              </a:lnSpc>
            </a:pPr>
            <a:r>
              <a:rPr lang="en-US" sz="2000">
                <a:latin typeface="Times New Roman"/>
              </a:rPr>
              <a:t>Carnegie Mellon University</a:t>
            </a:r>
          </a:p>
          <a:p>
            <a:pPr indent="0">
              <a:lnSpc>
                <a:spcPts val="2400"/>
              </a:lnSpc>
            </a:pPr>
            <a:r>
              <a:rPr lang="en-US" sz="2000">
                <a:latin typeface="Times New Roman"/>
              </a:rPr>
              <a:t>Distributed File System</a:t>
            </a:r>
          </a:p>
          <a:p>
            <a:pPr indent="0">
              <a:lnSpc>
                <a:spcPts val="2400"/>
              </a:lnSpc>
            </a:pPr>
            <a:r>
              <a:rPr lang="en-US" sz="2000">
                <a:latin typeface="Times New Roman"/>
              </a:rPr>
              <a:t>Enhanced Integrated Device Electronics</a:t>
            </a:r>
          </a:p>
          <a:p>
            <a:pPr indent="0">
              <a:lnSpc>
                <a:spcPts val="2400"/>
              </a:lnSpc>
            </a:pPr>
            <a:r>
              <a:rPr lang="en-US" sz="2000">
                <a:latin typeface="Times New Roman"/>
              </a:rPr>
              <a:t>External Serial Advanced Technology Interface</a:t>
            </a:r>
          </a:p>
          <a:p>
            <a:pPr indent="0">
              <a:lnSpc>
                <a:spcPts val="2400"/>
              </a:lnSpc>
            </a:pPr>
            <a:r>
              <a:rPr lang="en-US" sz="2000">
                <a:latin typeface="Times New Roman"/>
              </a:rPr>
              <a:t>File Allocation Table</a:t>
            </a:r>
          </a:p>
          <a:p>
            <a:pPr indent="0">
              <a:lnSpc>
                <a:spcPts val="2400"/>
              </a:lnSpc>
            </a:pPr>
            <a:r>
              <a:rPr lang="en-US" sz="2000">
                <a:latin typeface="Times New Roman"/>
              </a:rPr>
              <a:t>Fibre Channel</a:t>
            </a:r>
          </a:p>
          <a:p>
            <a:pPr indent="0">
              <a:lnSpc>
                <a:spcPts val="2400"/>
              </a:lnSpc>
            </a:pPr>
            <a:r>
              <a:rPr lang="en-US" sz="2000">
                <a:latin typeface="Times New Roman"/>
              </a:rPr>
              <a:t>Fibre Channel Arbitrated Loop</a:t>
            </a:r>
          </a:p>
          <a:p>
            <a:pPr indent="0">
              <a:lnSpc>
                <a:spcPts val="2400"/>
              </a:lnSpc>
            </a:pPr>
            <a:r>
              <a:rPr lang="en-US" sz="2000">
                <a:latin typeface="Times New Roman"/>
              </a:rPr>
              <a:t>Fibre Chanel Framing and Signaling</a:t>
            </a:r>
          </a:p>
          <a:p>
            <a:pPr indent="0">
              <a:lnSpc>
                <a:spcPts val="2400"/>
              </a:lnSpc>
            </a:pPr>
            <a:r>
              <a:rPr lang="en-US" sz="2000">
                <a:latin typeface="Times New Roman"/>
              </a:rPr>
              <a:t>Fibre Chanel generic services</a:t>
            </a:r>
          </a:p>
          <a:p>
            <a:pPr indent="0">
              <a:lnSpc>
                <a:spcPts val="2400"/>
              </a:lnSpc>
            </a:pPr>
            <a:r>
              <a:rPr lang="en-US" sz="2000">
                <a:latin typeface="Times New Roman"/>
              </a:rPr>
              <a:t>Fibre Chanel Framing and signaling interface</a:t>
            </a:r>
          </a:p>
          <a:p>
            <a:pPr indent="0">
              <a:lnSpc>
                <a:spcPts val="2400"/>
              </a:lnSpc>
            </a:pPr>
            <a:r>
              <a:rPr lang="en-US" sz="2000">
                <a:latin typeface="Times New Roman"/>
              </a:rPr>
              <a:t>Fibre Chanel physical Interface</a:t>
            </a:r>
          </a:p>
        </p:txBody>
      </p:sp>
      <p:sp>
        <p:nvSpPr>
          <p:cNvPr id="5" name="Rectangle 4"/>
          <p:cNvSpPr/>
          <p:nvPr/>
        </p:nvSpPr>
        <p:spPr>
          <a:xfrm>
            <a:off x="4334256" y="6623304"/>
            <a:ext cx="438912" cy="195072"/>
          </a:xfrm>
          <a:prstGeom prst="rect">
            <a:avLst/>
          </a:prstGeom>
        </p:spPr>
        <p:txBody>
          <a:bodyPr wrap="none" lIns="0" tIns="0" rIns="0" bIns="0">
            <a:noAutofit/>
          </a:bodyPr>
          <a:lstStyle/>
          <a:p>
            <a:pPr indent="0"/>
            <a:r>
              <a:rPr lang="en-US" sz="1800">
                <a:latin typeface="Times New Roman"/>
              </a:rPr>
              <a:t>31</a:t>
            </a:r>
          </a:p>
        </p:txBody>
      </p:sp>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786228629"/>
              </p:ext>
            </p:extLst>
          </p:nvPr>
        </p:nvGraphicFramePr>
        <p:xfrm>
          <a:off x="362712" y="178525"/>
          <a:ext cx="8418576" cy="6532301"/>
        </p:xfrm>
        <a:graphic>
          <a:graphicData uri="http://schemas.openxmlformats.org/drawingml/2006/table">
            <a:tbl>
              <a:tblPr/>
              <a:tblGrid>
                <a:gridCol w="1575816">
                  <a:extLst>
                    <a:ext uri="{9D8B030D-6E8A-4147-A177-3AD203B41FA5}">
                      <a16:colId xmlns:a16="http://schemas.microsoft.com/office/drawing/2014/main" val="20000"/>
                    </a:ext>
                  </a:extLst>
                </a:gridCol>
                <a:gridCol w="5594386">
                  <a:extLst>
                    <a:ext uri="{9D8B030D-6E8A-4147-A177-3AD203B41FA5}">
                      <a16:colId xmlns:a16="http://schemas.microsoft.com/office/drawing/2014/main" val="20001"/>
                    </a:ext>
                  </a:extLst>
                </a:gridCol>
                <a:gridCol w="1248374">
                  <a:extLst>
                    <a:ext uri="{9D8B030D-6E8A-4147-A177-3AD203B41FA5}">
                      <a16:colId xmlns:a16="http://schemas.microsoft.com/office/drawing/2014/main" val="20002"/>
                    </a:ext>
                  </a:extLst>
                </a:gridCol>
              </a:tblGrid>
              <a:tr h="975360">
                <a:tc>
                  <a:txBody>
                    <a:bodyPr/>
                    <a:lstStyle/>
                    <a:p>
                      <a:endParaRPr sz="4700"/>
                    </a:p>
                  </a:txBody>
                  <a:tcPr marL="0" marR="0" marT="0" marB="0"/>
                </a:tc>
                <a:tc>
                  <a:txBody>
                    <a:bodyPr/>
                    <a:lstStyle/>
                    <a:p>
                      <a:pPr indent="0" algn="ctr"/>
                      <a:r>
                        <a:rPr lang="en-US" sz="4400" b="1">
                          <a:solidFill>
                            <a:srgbClr val="FC0128"/>
                          </a:solidFill>
                          <a:latin typeface="Times New Roman"/>
                        </a:rPr>
                        <a:t>Acronyms (Cont)</a:t>
                      </a:r>
                    </a:p>
                  </a:txBody>
                  <a:tcPr marL="0" marR="0" marT="0" marB="0" anchor="b"/>
                </a:tc>
                <a:tc>
                  <a:txBody>
                    <a:bodyPr/>
                    <a:lstStyle/>
                    <a:p>
                      <a:endParaRPr sz="4700"/>
                    </a:p>
                  </a:txBody>
                  <a:tcPr marL="0" marR="0" marT="0" marB="0"/>
                </a:tc>
                <a:extLst>
                  <a:ext uri="{0D108BD9-81ED-4DB2-BD59-A6C34878D82A}">
                    <a16:rowId xmlns:a16="http://schemas.microsoft.com/office/drawing/2014/main" val="10000"/>
                  </a:ext>
                </a:extLst>
              </a:tr>
              <a:tr h="457200">
                <a:tc>
                  <a:txBody>
                    <a:bodyPr/>
                    <a:lstStyle/>
                    <a:p>
                      <a:pPr marL="127000" indent="0"/>
                      <a:r>
                        <a:rPr lang="en-US" sz="2000">
                          <a:solidFill>
                            <a:srgbClr val="063DE8"/>
                          </a:solidFill>
                          <a:latin typeface="Times New Roman"/>
                        </a:rPr>
                        <a:t>□ </a:t>
                      </a:r>
                      <a:r>
                        <a:rPr lang="en-US" sz="2000">
                          <a:latin typeface="Times New Roman"/>
                        </a:rPr>
                        <a:t>FC-SB</a:t>
                      </a:r>
                    </a:p>
                  </a:txBody>
                  <a:tcPr marL="0" marR="0" marT="0" marB="0" anchor="b"/>
                </a:tc>
                <a:tc>
                  <a:txBody>
                    <a:bodyPr/>
                    <a:lstStyle/>
                    <a:p>
                      <a:pPr marL="368300" indent="0"/>
                      <a:r>
                        <a:rPr lang="en-US" sz="2000">
                          <a:latin typeface="Times New Roman"/>
                        </a:rPr>
                        <a:t>Fibre Chanel Single Byte Command</a:t>
                      </a:r>
                    </a:p>
                  </a:txBody>
                  <a:tcPr marL="0" marR="0" marT="0" marB="0" anchor="b"/>
                </a:tc>
                <a:tc>
                  <a:txBody>
                    <a:bodyPr/>
                    <a:lstStyle/>
                    <a:p>
                      <a:endParaRPr sz="2200"/>
                    </a:p>
                  </a:txBody>
                  <a:tcPr marL="0" marR="0" marT="0" marB="0"/>
                </a:tc>
                <a:extLst>
                  <a:ext uri="{0D108BD9-81ED-4DB2-BD59-A6C34878D82A}">
                    <a16:rowId xmlns:a16="http://schemas.microsoft.com/office/drawing/2014/main" val="10001"/>
                  </a:ext>
                </a:extLst>
              </a:tr>
              <a:tr h="295656">
                <a:tc>
                  <a:txBody>
                    <a:bodyPr/>
                    <a:lstStyle/>
                    <a:p>
                      <a:pPr marL="127000" indent="0"/>
                      <a:r>
                        <a:rPr lang="en-US" sz="2000">
                          <a:solidFill>
                            <a:srgbClr val="063DE8"/>
                          </a:solidFill>
                          <a:latin typeface="Times New Roman"/>
                        </a:rPr>
                        <a:t>□ </a:t>
                      </a:r>
                      <a:r>
                        <a:rPr lang="en-US" sz="2000">
                          <a:latin typeface="Times New Roman"/>
                        </a:rPr>
                        <a:t>FC-SW</a:t>
                      </a:r>
                    </a:p>
                  </a:txBody>
                  <a:tcPr marL="0" marR="0" marT="0" marB="0"/>
                </a:tc>
                <a:tc>
                  <a:txBody>
                    <a:bodyPr/>
                    <a:lstStyle/>
                    <a:p>
                      <a:pPr marL="368300" indent="0"/>
                      <a:r>
                        <a:rPr lang="en-US" sz="2000">
                          <a:latin typeface="Times New Roman"/>
                        </a:rPr>
                        <a:t>Fibre Chanel Switch Fabric</a:t>
                      </a:r>
                    </a:p>
                  </a:txBody>
                  <a:tcPr marL="0" marR="0" marT="0" marB="0"/>
                </a:tc>
                <a:tc>
                  <a:txBody>
                    <a:bodyPr/>
                    <a:lstStyle/>
                    <a:p>
                      <a:endParaRPr sz="1400"/>
                    </a:p>
                  </a:txBody>
                  <a:tcPr marL="0" marR="0" marT="0" marB="0"/>
                </a:tc>
                <a:extLst>
                  <a:ext uri="{0D108BD9-81ED-4DB2-BD59-A6C34878D82A}">
                    <a16:rowId xmlns:a16="http://schemas.microsoft.com/office/drawing/2014/main" val="10002"/>
                  </a:ext>
                </a:extLst>
              </a:tr>
              <a:tr h="316992">
                <a:tc>
                  <a:txBody>
                    <a:bodyPr/>
                    <a:lstStyle/>
                    <a:p>
                      <a:pPr marL="127000" indent="0"/>
                      <a:r>
                        <a:rPr lang="en-US" sz="2000">
                          <a:solidFill>
                            <a:srgbClr val="063DE8"/>
                          </a:solidFill>
                          <a:latin typeface="Times New Roman"/>
                        </a:rPr>
                        <a:t>□ </a:t>
                      </a:r>
                      <a:r>
                        <a:rPr lang="en-US" sz="2000">
                          <a:latin typeface="Times New Roman"/>
                        </a:rPr>
                        <a:t>FC-PI</a:t>
                      </a:r>
                    </a:p>
                  </a:txBody>
                  <a:tcPr marL="0" marR="0" marT="0" marB="0"/>
                </a:tc>
                <a:tc>
                  <a:txBody>
                    <a:bodyPr/>
                    <a:lstStyle/>
                    <a:p>
                      <a:pPr marL="368300" indent="0"/>
                      <a:r>
                        <a:rPr lang="en-US" sz="2000">
                          <a:latin typeface="Times New Roman"/>
                        </a:rPr>
                        <a:t>Fibre Chanel physical</a:t>
                      </a:r>
                    </a:p>
                  </a:txBody>
                  <a:tcPr marL="0" marR="0" marT="0" marB="0"/>
                </a:tc>
                <a:tc>
                  <a:txBody>
                    <a:bodyPr/>
                    <a:lstStyle/>
                    <a:p>
                      <a:endParaRPr sz="1500"/>
                    </a:p>
                  </a:txBody>
                  <a:tcPr marL="0" marR="0" marT="0" marB="0"/>
                </a:tc>
                <a:extLst>
                  <a:ext uri="{0D108BD9-81ED-4DB2-BD59-A6C34878D82A}">
                    <a16:rowId xmlns:a16="http://schemas.microsoft.com/office/drawing/2014/main" val="10003"/>
                  </a:ext>
                </a:extLst>
              </a:tr>
              <a:tr h="280417">
                <a:tc>
                  <a:txBody>
                    <a:bodyPr/>
                    <a:lstStyle/>
                    <a:p>
                      <a:pPr marL="127000" indent="0"/>
                      <a:r>
                        <a:rPr lang="en-US" sz="2000">
                          <a:solidFill>
                            <a:srgbClr val="063DE8"/>
                          </a:solidFill>
                          <a:latin typeface="Times New Roman"/>
                        </a:rPr>
                        <a:t>□ </a:t>
                      </a:r>
                      <a:r>
                        <a:rPr lang="en-US" sz="2000">
                          <a:latin typeface="Times New Roman"/>
                        </a:rPr>
                        <a:t>FCID</a:t>
                      </a:r>
                    </a:p>
                  </a:txBody>
                  <a:tcPr marL="0" marR="0" marT="0" marB="0"/>
                </a:tc>
                <a:tc>
                  <a:txBody>
                    <a:bodyPr/>
                    <a:lstStyle/>
                    <a:p>
                      <a:pPr marL="368300" indent="0"/>
                      <a:r>
                        <a:rPr lang="en-US" sz="2000">
                          <a:latin typeface="Times New Roman"/>
                        </a:rPr>
                        <a:t>Fibre Channel Identifier</a:t>
                      </a:r>
                    </a:p>
                  </a:txBody>
                  <a:tcPr marL="0" marR="0" marT="0" marB="0"/>
                </a:tc>
                <a:tc>
                  <a:txBody>
                    <a:bodyPr/>
                    <a:lstStyle/>
                    <a:p>
                      <a:endParaRPr sz="1400"/>
                    </a:p>
                  </a:txBody>
                  <a:tcPr marL="0" marR="0" marT="0" marB="0"/>
                </a:tc>
                <a:extLst>
                  <a:ext uri="{0D108BD9-81ED-4DB2-BD59-A6C34878D82A}">
                    <a16:rowId xmlns:a16="http://schemas.microsoft.com/office/drawing/2014/main" val="10004"/>
                  </a:ext>
                </a:extLst>
              </a:tr>
              <a:tr h="304800">
                <a:tc>
                  <a:txBody>
                    <a:bodyPr/>
                    <a:lstStyle/>
                    <a:p>
                      <a:pPr marL="127000" indent="0"/>
                      <a:r>
                        <a:rPr lang="en-US" sz="2000">
                          <a:solidFill>
                            <a:srgbClr val="063DE8"/>
                          </a:solidFill>
                          <a:latin typeface="Times New Roman"/>
                        </a:rPr>
                        <a:t>□ </a:t>
                      </a:r>
                      <a:r>
                        <a:rPr lang="en-US" sz="2000">
                          <a:latin typeface="Times New Roman"/>
                        </a:rPr>
                        <a:t>FCIP</a:t>
                      </a:r>
                    </a:p>
                  </a:txBody>
                  <a:tcPr marL="0" marR="0" marT="0" marB="0"/>
                </a:tc>
                <a:tc>
                  <a:txBody>
                    <a:bodyPr/>
                    <a:lstStyle/>
                    <a:p>
                      <a:pPr marL="368300" indent="0"/>
                      <a:r>
                        <a:rPr lang="en-US" sz="2000">
                          <a:latin typeface="Times New Roman"/>
                        </a:rPr>
                        <a:t>Fibre Channel over IP</a:t>
                      </a:r>
                    </a:p>
                  </a:txBody>
                  <a:tcPr marL="0" marR="0" marT="0" marB="0"/>
                </a:tc>
                <a:tc>
                  <a:txBody>
                    <a:bodyPr/>
                    <a:lstStyle/>
                    <a:p>
                      <a:endParaRPr sz="1500"/>
                    </a:p>
                  </a:txBody>
                  <a:tcPr marL="0" marR="0" marT="0" marB="0"/>
                </a:tc>
                <a:extLst>
                  <a:ext uri="{0D108BD9-81ED-4DB2-BD59-A6C34878D82A}">
                    <a16:rowId xmlns:a16="http://schemas.microsoft.com/office/drawing/2014/main" val="10005"/>
                  </a:ext>
                </a:extLst>
              </a:tr>
              <a:tr h="336152">
                <a:tc>
                  <a:txBody>
                    <a:bodyPr/>
                    <a:lstStyle/>
                    <a:p>
                      <a:pPr marL="127000" indent="0"/>
                      <a:r>
                        <a:rPr lang="en-US" sz="2000">
                          <a:solidFill>
                            <a:srgbClr val="063DE8"/>
                          </a:solidFill>
                          <a:latin typeface="Times New Roman"/>
                        </a:rPr>
                        <a:t>□ </a:t>
                      </a:r>
                      <a:r>
                        <a:rPr lang="en-US" sz="2000">
                          <a:latin typeface="Times New Roman"/>
                        </a:rPr>
                        <a:t>FCoE</a:t>
                      </a:r>
                    </a:p>
                  </a:txBody>
                  <a:tcPr marL="0" marR="0" marT="0" marB="0" anchor="b"/>
                </a:tc>
                <a:tc>
                  <a:txBody>
                    <a:bodyPr/>
                    <a:lstStyle/>
                    <a:p>
                      <a:pPr marL="368300" indent="0"/>
                      <a:r>
                        <a:rPr lang="en-US" sz="2000">
                          <a:latin typeface="Times New Roman"/>
                        </a:rPr>
                        <a:t>Fibre Channel over Ethernet</a:t>
                      </a:r>
                    </a:p>
                  </a:txBody>
                  <a:tcPr marL="0" marR="0" marT="0" marB="0" anchor="b"/>
                </a:tc>
                <a:tc>
                  <a:txBody>
                    <a:bodyPr/>
                    <a:lstStyle/>
                    <a:p>
                      <a:endParaRPr sz="1500"/>
                    </a:p>
                  </a:txBody>
                  <a:tcPr marL="0" marR="0" marT="0" marB="0"/>
                </a:tc>
                <a:extLst>
                  <a:ext uri="{0D108BD9-81ED-4DB2-BD59-A6C34878D82A}">
                    <a16:rowId xmlns:a16="http://schemas.microsoft.com/office/drawing/2014/main" val="10006"/>
                  </a:ext>
                </a:extLst>
              </a:tr>
              <a:tr h="304800">
                <a:tc>
                  <a:txBody>
                    <a:bodyPr/>
                    <a:lstStyle/>
                    <a:p>
                      <a:pPr marL="127000" indent="0"/>
                      <a:r>
                        <a:rPr lang="en-US" sz="2000">
                          <a:solidFill>
                            <a:srgbClr val="063DE8"/>
                          </a:solidFill>
                          <a:latin typeface="Times New Roman"/>
                        </a:rPr>
                        <a:t>□ </a:t>
                      </a:r>
                      <a:r>
                        <a:rPr lang="en-US" sz="2000">
                          <a:latin typeface="Times New Roman"/>
                        </a:rPr>
                        <a:t>FSPF</a:t>
                      </a:r>
                    </a:p>
                  </a:txBody>
                  <a:tcPr marL="0" marR="0" marT="0" marB="0" anchor="b"/>
                </a:tc>
                <a:tc>
                  <a:txBody>
                    <a:bodyPr/>
                    <a:lstStyle/>
                    <a:p>
                      <a:pPr marL="368300" indent="0"/>
                      <a:r>
                        <a:rPr lang="en-US" sz="2000">
                          <a:latin typeface="Times New Roman"/>
                        </a:rPr>
                        <a:t>Fibre Channel Shortest Path</a:t>
                      </a:r>
                    </a:p>
                  </a:txBody>
                  <a:tcPr marL="0" marR="0" marT="0" marB="0" anchor="b"/>
                </a:tc>
                <a:tc>
                  <a:txBody>
                    <a:bodyPr/>
                    <a:lstStyle/>
                    <a:p>
                      <a:endParaRPr sz="1500"/>
                    </a:p>
                  </a:txBody>
                  <a:tcPr marL="0" marR="0" marT="0" marB="0"/>
                </a:tc>
                <a:extLst>
                  <a:ext uri="{0D108BD9-81ED-4DB2-BD59-A6C34878D82A}">
                    <a16:rowId xmlns:a16="http://schemas.microsoft.com/office/drawing/2014/main" val="10007"/>
                  </a:ext>
                </a:extLst>
              </a:tr>
              <a:tr h="310896">
                <a:tc>
                  <a:txBody>
                    <a:bodyPr/>
                    <a:lstStyle/>
                    <a:p>
                      <a:pPr marL="127000" indent="0"/>
                      <a:r>
                        <a:rPr lang="en-US" sz="2000">
                          <a:solidFill>
                            <a:srgbClr val="063DE8"/>
                          </a:solidFill>
                          <a:latin typeface="Times New Roman"/>
                        </a:rPr>
                        <a:t>□ </a:t>
                      </a:r>
                      <a:r>
                        <a:rPr lang="en-US" sz="2000">
                          <a:latin typeface="Times New Roman"/>
                        </a:rPr>
                        <a:t>GBIC</a:t>
                      </a:r>
                    </a:p>
                  </a:txBody>
                  <a:tcPr marL="0" marR="0" marT="0" marB="0" anchor="b"/>
                </a:tc>
                <a:tc>
                  <a:txBody>
                    <a:bodyPr/>
                    <a:lstStyle/>
                    <a:p>
                      <a:pPr marL="368300" indent="0"/>
                      <a:r>
                        <a:rPr lang="en-US" sz="2000">
                          <a:latin typeface="Times New Roman"/>
                        </a:rPr>
                        <a:t>Gigabit Interface Converter</a:t>
                      </a:r>
                    </a:p>
                  </a:txBody>
                  <a:tcPr marL="0" marR="0" marT="0" marB="0" anchor="b"/>
                </a:tc>
                <a:tc>
                  <a:txBody>
                    <a:bodyPr/>
                    <a:lstStyle/>
                    <a:p>
                      <a:endParaRPr sz="1500"/>
                    </a:p>
                  </a:txBody>
                  <a:tcPr marL="0" marR="0" marT="0" marB="0"/>
                </a:tc>
                <a:extLst>
                  <a:ext uri="{0D108BD9-81ED-4DB2-BD59-A6C34878D82A}">
                    <a16:rowId xmlns:a16="http://schemas.microsoft.com/office/drawing/2014/main" val="10008"/>
                  </a:ext>
                </a:extLst>
              </a:tr>
              <a:tr h="313944">
                <a:tc>
                  <a:txBody>
                    <a:bodyPr/>
                    <a:lstStyle/>
                    <a:p>
                      <a:pPr marL="127000" indent="0"/>
                      <a:r>
                        <a:rPr lang="en-US" sz="2000">
                          <a:solidFill>
                            <a:srgbClr val="063DE8"/>
                          </a:solidFill>
                          <a:latin typeface="Times New Roman"/>
                        </a:rPr>
                        <a:t>□ </a:t>
                      </a:r>
                      <a:r>
                        <a:rPr lang="en-US" sz="2000">
                          <a:latin typeface="Times New Roman"/>
                        </a:rPr>
                        <a:t>HBA</a:t>
                      </a:r>
                    </a:p>
                  </a:txBody>
                  <a:tcPr marL="0" marR="0" marT="0" marB="0"/>
                </a:tc>
                <a:tc>
                  <a:txBody>
                    <a:bodyPr/>
                    <a:lstStyle/>
                    <a:p>
                      <a:pPr marL="368300" indent="0"/>
                      <a:r>
                        <a:rPr lang="en-US" sz="2000">
                          <a:latin typeface="Times New Roman"/>
                        </a:rPr>
                        <a:t>Host Bus Adapters</a:t>
                      </a:r>
                    </a:p>
                  </a:txBody>
                  <a:tcPr marL="0" marR="0" marT="0" marB="0"/>
                </a:tc>
                <a:tc>
                  <a:txBody>
                    <a:bodyPr/>
                    <a:lstStyle/>
                    <a:p>
                      <a:endParaRPr sz="1500"/>
                    </a:p>
                  </a:txBody>
                  <a:tcPr marL="0" marR="0" marT="0" marB="0"/>
                </a:tc>
                <a:extLst>
                  <a:ext uri="{0D108BD9-81ED-4DB2-BD59-A6C34878D82A}">
                    <a16:rowId xmlns:a16="http://schemas.microsoft.com/office/drawing/2014/main" val="10009"/>
                  </a:ext>
                </a:extLst>
              </a:tr>
              <a:tr h="304800">
                <a:tc>
                  <a:txBody>
                    <a:bodyPr/>
                    <a:lstStyle/>
                    <a:p>
                      <a:pPr marL="127000" indent="0"/>
                      <a:r>
                        <a:rPr lang="en-US" sz="2000">
                          <a:solidFill>
                            <a:srgbClr val="063DE8"/>
                          </a:solidFill>
                          <a:latin typeface="Times New Roman"/>
                        </a:rPr>
                        <a:t>□ </a:t>
                      </a:r>
                      <a:r>
                        <a:rPr lang="en-US" sz="2000">
                          <a:latin typeface="Times New Roman"/>
                        </a:rPr>
                        <a:t>IDE</a:t>
                      </a:r>
                    </a:p>
                  </a:txBody>
                  <a:tcPr marL="0" marR="0" marT="0" marB="0"/>
                </a:tc>
                <a:tc>
                  <a:txBody>
                    <a:bodyPr/>
                    <a:lstStyle/>
                    <a:p>
                      <a:pPr marL="368300" indent="0"/>
                      <a:r>
                        <a:rPr lang="en-US" sz="2000">
                          <a:latin typeface="Times New Roman"/>
                        </a:rPr>
                        <a:t>Integrated Device Electronics</a:t>
                      </a:r>
                    </a:p>
                  </a:txBody>
                  <a:tcPr marL="0" marR="0" marT="0" marB="0"/>
                </a:tc>
                <a:tc>
                  <a:txBody>
                    <a:bodyPr/>
                    <a:lstStyle/>
                    <a:p>
                      <a:endParaRPr sz="1500"/>
                    </a:p>
                  </a:txBody>
                  <a:tcPr marL="0" marR="0" marT="0" marB="0"/>
                </a:tc>
                <a:extLst>
                  <a:ext uri="{0D108BD9-81ED-4DB2-BD59-A6C34878D82A}">
                    <a16:rowId xmlns:a16="http://schemas.microsoft.com/office/drawing/2014/main" val="10010"/>
                  </a:ext>
                </a:extLst>
              </a:tr>
              <a:tr h="304800">
                <a:tc>
                  <a:txBody>
                    <a:bodyPr/>
                    <a:lstStyle/>
                    <a:p>
                      <a:pPr marL="127000" indent="0"/>
                      <a:r>
                        <a:rPr lang="en-US" sz="2000">
                          <a:solidFill>
                            <a:srgbClr val="063DE8"/>
                          </a:solidFill>
                          <a:latin typeface="Times New Roman"/>
                        </a:rPr>
                        <a:t>□ </a:t>
                      </a:r>
                      <a:r>
                        <a:rPr lang="en-US" sz="2000">
                          <a:latin typeface="Times New Roman"/>
                        </a:rPr>
                        <a:t>IETF</a:t>
                      </a:r>
                    </a:p>
                  </a:txBody>
                  <a:tcPr marL="0" marR="0" marT="0" marB="0"/>
                </a:tc>
                <a:tc>
                  <a:txBody>
                    <a:bodyPr/>
                    <a:lstStyle/>
                    <a:p>
                      <a:pPr marL="368300" indent="0"/>
                      <a:r>
                        <a:rPr lang="en-US" sz="2000">
                          <a:latin typeface="Times New Roman"/>
                        </a:rPr>
                        <a:t>Internet Engineering Task Force</a:t>
                      </a:r>
                    </a:p>
                  </a:txBody>
                  <a:tcPr marL="0" marR="0" marT="0" marB="0"/>
                </a:tc>
                <a:tc>
                  <a:txBody>
                    <a:bodyPr/>
                    <a:lstStyle/>
                    <a:p>
                      <a:endParaRPr sz="1500"/>
                    </a:p>
                  </a:txBody>
                  <a:tcPr marL="0" marR="0" marT="0" marB="0"/>
                </a:tc>
                <a:extLst>
                  <a:ext uri="{0D108BD9-81ED-4DB2-BD59-A6C34878D82A}">
                    <a16:rowId xmlns:a16="http://schemas.microsoft.com/office/drawing/2014/main" val="10011"/>
                  </a:ext>
                </a:extLst>
              </a:tr>
              <a:tr h="289560">
                <a:tc>
                  <a:txBody>
                    <a:bodyPr/>
                    <a:lstStyle/>
                    <a:p>
                      <a:pPr marL="127000" indent="0"/>
                      <a:r>
                        <a:rPr lang="en-US" sz="2000">
                          <a:solidFill>
                            <a:srgbClr val="063DE8"/>
                          </a:solidFill>
                          <a:latin typeface="Times New Roman"/>
                        </a:rPr>
                        <a:t>□ </a:t>
                      </a:r>
                      <a:r>
                        <a:rPr lang="en-US" sz="2000">
                          <a:latin typeface="Times New Roman"/>
                        </a:rPr>
                        <a:t>iFCP</a:t>
                      </a:r>
                    </a:p>
                  </a:txBody>
                  <a:tcPr marL="0" marR="0" marT="0" marB="0"/>
                </a:tc>
                <a:tc>
                  <a:txBody>
                    <a:bodyPr/>
                    <a:lstStyle/>
                    <a:p>
                      <a:pPr marL="368300" indent="0"/>
                      <a:r>
                        <a:rPr lang="en-US" sz="2000">
                          <a:latin typeface="Times New Roman"/>
                        </a:rPr>
                        <a:t>Internet Fibre Channel Protocol</a:t>
                      </a:r>
                    </a:p>
                  </a:txBody>
                  <a:tcPr marL="0" marR="0" marT="0" marB="0"/>
                </a:tc>
                <a:tc>
                  <a:txBody>
                    <a:bodyPr/>
                    <a:lstStyle/>
                    <a:p>
                      <a:endParaRPr sz="1400"/>
                    </a:p>
                  </a:txBody>
                  <a:tcPr marL="0" marR="0" marT="0" marB="0"/>
                </a:tc>
                <a:extLst>
                  <a:ext uri="{0D108BD9-81ED-4DB2-BD59-A6C34878D82A}">
                    <a16:rowId xmlns:a16="http://schemas.microsoft.com/office/drawing/2014/main" val="10012"/>
                  </a:ext>
                </a:extLst>
              </a:tr>
              <a:tr h="304800">
                <a:tc>
                  <a:txBody>
                    <a:bodyPr/>
                    <a:lstStyle/>
                    <a:p>
                      <a:pPr marL="127000" indent="0"/>
                      <a:r>
                        <a:rPr lang="en-US" sz="2000">
                          <a:solidFill>
                            <a:srgbClr val="063DE8"/>
                          </a:solidFill>
                          <a:latin typeface="Times New Roman"/>
                        </a:rPr>
                        <a:t>□ </a:t>
                      </a:r>
                      <a:r>
                        <a:rPr lang="en-US" sz="2000">
                          <a:latin typeface="Times New Roman"/>
                        </a:rPr>
                        <a:t>IPv4FC</a:t>
                      </a:r>
                    </a:p>
                  </a:txBody>
                  <a:tcPr marL="0" marR="0" marT="0" marB="0"/>
                </a:tc>
                <a:tc>
                  <a:txBody>
                    <a:bodyPr/>
                    <a:lstStyle/>
                    <a:p>
                      <a:pPr marL="368300" indent="0"/>
                      <a:r>
                        <a:rPr lang="en-US" sz="2000">
                          <a:latin typeface="Times New Roman"/>
                        </a:rPr>
                        <a:t>IPv4 over Fibre Channel</a:t>
                      </a:r>
                    </a:p>
                  </a:txBody>
                  <a:tcPr marL="0" marR="0" marT="0" marB="0"/>
                </a:tc>
                <a:tc>
                  <a:txBody>
                    <a:bodyPr/>
                    <a:lstStyle/>
                    <a:p>
                      <a:endParaRPr sz="1500"/>
                    </a:p>
                  </a:txBody>
                  <a:tcPr marL="0" marR="0" marT="0" marB="0"/>
                </a:tc>
                <a:extLst>
                  <a:ext uri="{0D108BD9-81ED-4DB2-BD59-A6C34878D82A}">
                    <a16:rowId xmlns:a16="http://schemas.microsoft.com/office/drawing/2014/main" val="10013"/>
                  </a:ext>
                </a:extLst>
              </a:tr>
              <a:tr h="323088">
                <a:tc>
                  <a:txBody>
                    <a:bodyPr/>
                    <a:lstStyle/>
                    <a:p>
                      <a:pPr marL="127000" indent="0"/>
                      <a:r>
                        <a:rPr lang="en-US" sz="2000">
                          <a:solidFill>
                            <a:srgbClr val="063DE8"/>
                          </a:solidFill>
                          <a:latin typeface="Times New Roman"/>
                        </a:rPr>
                        <a:t>□ </a:t>
                      </a:r>
                      <a:r>
                        <a:rPr lang="en-US" sz="2000">
                          <a:latin typeface="Times New Roman"/>
                        </a:rPr>
                        <a:t>iSCSI</a:t>
                      </a:r>
                    </a:p>
                  </a:txBody>
                  <a:tcPr marL="0" marR="0" marT="0" marB="0"/>
                </a:tc>
                <a:tc>
                  <a:txBody>
                    <a:bodyPr/>
                    <a:lstStyle/>
                    <a:p>
                      <a:pPr marL="368300" indent="0"/>
                      <a:r>
                        <a:rPr lang="en-US" sz="2000">
                          <a:latin typeface="Times New Roman"/>
                        </a:rPr>
                        <a:t>Internet Small Computer System Interface</a:t>
                      </a:r>
                    </a:p>
                  </a:txBody>
                  <a:tcPr marL="0" marR="0" marT="0" marB="0"/>
                </a:tc>
                <a:tc>
                  <a:txBody>
                    <a:bodyPr/>
                    <a:lstStyle/>
                    <a:p>
                      <a:endParaRPr sz="1600"/>
                    </a:p>
                  </a:txBody>
                  <a:tcPr marL="0" marR="0" marT="0" marB="0"/>
                </a:tc>
                <a:extLst>
                  <a:ext uri="{0D108BD9-81ED-4DB2-BD59-A6C34878D82A}">
                    <a16:rowId xmlns:a16="http://schemas.microsoft.com/office/drawing/2014/main" val="10014"/>
                  </a:ext>
                </a:extLst>
              </a:tr>
              <a:tr h="292608">
                <a:tc>
                  <a:txBody>
                    <a:bodyPr/>
                    <a:lstStyle/>
                    <a:p>
                      <a:pPr marL="127000" indent="0"/>
                      <a:r>
                        <a:rPr lang="en-US" sz="2000">
                          <a:solidFill>
                            <a:srgbClr val="063DE8"/>
                          </a:solidFill>
                          <a:latin typeface="Times New Roman"/>
                        </a:rPr>
                        <a:t>□ </a:t>
                      </a:r>
                      <a:r>
                        <a:rPr lang="en-US" sz="2000">
                          <a:latin typeface="Times New Roman"/>
                        </a:rPr>
                        <a:t>iSNS</a:t>
                      </a:r>
                    </a:p>
                  </a:txBody>
                  <a:tcPr marL="0" marR="0" marT="0" marB="0"/>
                </a:tc>
                <a:tc>
                  <a:txBody>
                    <a:bodyPr/>
                    <a:lstStyle/>
                    <a:p>
                      <a:pPr marL="368300" indent="0"/>
                      <a:r>
                        <a:rPr lang="en-US" sz="2000">
                          <a:latin typeface="Times New Roman"/>
                        </a:rPr>
                        <a:t>Internet Storage Name Service</a:t>
                      </a:r>
                    </a:p>
                  </a:txBody>
                  <a:tcPr marL="0" marR="0" marT="0" marB="0"/>
                </a:tc>
                <a:tc>
                  <a:txBody>
                    <a:bodyPr/>
                    <a:lstStyle/>
                    <a:p>
                      <a:endParaRPr sz="1400"/>
                    </a:p>
                  </a:txBody>
                  <a:tcPr marL="0" marR="0" marT="0" marB="0"/>
                </a:tc>
                <a:extLst>
                  <a:ext uri="{0D108BD9-81ED-4DB2-BD59-A6C34878D82A}">
                    <a16:rowId xmlns:a16="http://schemas.microsoft.com/office/drawing/2014/main" val="10015"/>
                  </a:ext>
                </a:extLst>
              </a:tr>
              <a:tr h="481149">
                <a:tc>
                  <a:txBody>
                    <a:bodyPr/>
                    <a:lstStyle/>
                    <a:p>
                      <a:pPr marL="127000" indent="0"/>
                      <a:r>
                        <a:rPr lang="en-US" sz="2000">
                          <a:solidFill>
                            <a:srgbClr val="063DE8"/>
                          </a:solidFill>
                          <a:latin typeface="Times New Roman"/>
                        </a:rPr>
                        <a:t>□ </a:t>
                      </a:r>
                      <a:r>
                        <a:rPr lang="en-US" sz="2000">
                          <a:latin typeface="Times New Roman"/>
                        </a:rPr>
                        <a:t>JDBC</a:t>
                      </a:r>
                    </a:p>
                  </a:txBody>
                  <a:tcPr marL="0" marR="0" marT="0" marB="0"/>
                </a:tc>
                <a:tc>
                  <a:txBody>
                    <a:bodyPr/>
                    <a:lstStyle/>
                    <a:p>
                      <a:pPr marL="368300" indent="0"/>
                      <a:r>
                        <a:rPr lang="en-US" sz="2000">
                          <a:latin typeface="Times New Roman"/>
                        </a:rPr>
                        <a:t>Java DataBase Connectivity</a:t>
                      </a:r>
                    </a:p>
                  </a:txBody>
                  <a:tcPr marL="0" marR="0" marT="0" marB="0"/>
                </a:tc>
                <a:tc>
                  <a:txBody>
                    <a:bodyPr/>
                    <a:lstStyle/>
                    <a:p>
                      <a:endParaRPr sz="1700"/>
                    </a:p>
                  </a:txBody>
                  <a:tcPr marL="0" marR="0" marT="0" marB="0"/>
                </a:tc>
                <a:extLst>
                  <a:ext uri="{0D108BD9-81ED-4DB2-BD59-A6C34878D82A}">
                    <a16:rowId xmlns:a16="http://schemas.microsoft.com/office/drawing/2014/main" val="10016"/>
                  </a:ext>
                </a:extLst>
              </a:tr>
              <a:tr h="274320">
                <a:tc gridSpan="2">
                  <a:txBody>
                    <a:bodyPr/>
                    <a:lstStyle/>
                    <a:p>
                      <a:pPr marL="114300" indent="0"/>
                      <a:endParaRPr lang="en-US" sz="1200" baseline="30000">
                        <a:solidFill>
                          <a:srgbClr val="00DFCA"/>
                        </a:solidFill>
                        <a:latin typeface="Times New Roman"/>
                      </a:endParaRPr>
                    </a:p>
                  </a:txBody>
                  <a:tcPr marL="0" marR="0" marT="0" marB="0" anchor="b"/>
                </a:tc>
                <a:tc hMerge="1">
                  <a:txBody>
                    <a:bodyPr/>
                    <a:lstStyle/>
                    <a:p>
                      <a:endParaRPr sz="1300"/>
                    </a:p>
                  </a:txBody>
                  <a:tcPr marL="0" marR="0" marT="0" marB="0"/>
                </a:tc>
                <a:tc>
                  <a:txBody>
                    <a:bodyPr/>
                    <a:lstStyle/>
                    <a:p>
                      <a:pPr marR="190500" indent="0" algn="r"/>
                      <a:endParaRPr lang="en-US" sz="1200">
                        <a:latin typeface="Times New Roman"/>
                      </a:endParaRPr>
                    </a:p>
                  </a:txBody>
                  <a:tcPr marL="0" marR="0" marT="0" marB="0" anchor="b"/>
                </a:tc>
                <a:extLst>
                  <a:ext uri="{0D108BD9-81ED-4DB2-BD59-A6C34878D82A}">
                    <a16:rowId xmlns:a16="http://schemas.microsoft.com/office/drawing/2014/main" val="10017"/>
                  </a:ext>
                </a:extLst>
              </a:tr>
            </a:tbl>
          </a:graphicData>
        </a:graphic>
      </p:graphicFrame>
      <p:sp>
        <p:nvSpPr>
          <p:cNvPr id="3" name="Rectangle 2"/>
          <p:cNvSpPr/>
          <p:nvPr/>
        </p:nvSpPr>
        <p:spPr>
          <a:xfrm>
            <a:off x="4334256" y="6623304"/>
            <a:ext cx="426720" cy="195072"/>
          </a:xfrm>
          <a:prstGeom prst="rect">
            <a:avLst/>
          </a:prstGeom>
        </p:spPr>
        <p:txBody>
          <a:bodyPr wrap="none" lIns="0" tIns="0" rIns="0" bIns="0">
            <a:noAutofit/>
          </a:bodyPr>
          <a:lstStyle/>
          <a:p>
            <a:pPr indent="0"/>
            <a:r>
              <a:rPr lang="en-US" sz="1800">
                <a:latin typeface="Times New Roman"/>
              </a:rPr>
              <a:t>32</a:t>
            </a:r>
          </a:p>
        </p:txBody>
      </p:sp>
    </p:spTree>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35002298"/>
              </p:ext>
            </p:extLst>
          </p:nvPr>
        </p:nvGraphicFramePr>
        <p:xfrm>
          <a:off x="362712" y="228600"/>
          <a:ext cx="8418576" cy="6373368"/>
        </p:xfrm>
        <a:graphic>
          <a:graphicData uri="http://schemas.openxmlformats.org/drawingml/2006/table">
            <a:tbl>
              <a:tblPr/>
              <a:tblGrid>
                <a:gridCol w="1609344">
                  <a:extLst>
                    <a:ext uri="{9D8B030D-6E8A-4147-A177-3AD203B41FA5}">
                      <a16:colId xmlns:a16="http://schemas.microsoft.com/office/drawing/2014/main" val="20000"/>
                    </a:ext>
                  </a:extLst>
                </a:gridCol>
                <a:gridCol w="5854773">
                  <a:extLst>
                    <a:ext uri="{9D8B030D-6E8A-4147-A177-3AD203B41FA5}">
                      <a16:colId xmlns:a16="http://schemas.microsoft.com/office/drawing/2014/main" val="20001"/>
                    </a:ext>
                  </a:extLst>
                </a:gridCol>
                <a:gridCol w="954459">
                  <a:extLst>
                    <a:ext uri="{9D8B030D-6E8A-4147-A177-3AD203B41FA5}">
                      <a16:colId xmlns:a16="http://schemas.microsoft.com/office/drawing/2014/main" val="20002"/>
                    </a:ext>
                  </a:extLst>
                </a:gridCol>
              </a:tblGrid>
              <a:tr h="975360">
                <a:tc>
                  <a:txBody>
                    <a:bodyPr/>
                    <a:lstStyle/>
                    <a:p>
                      <a:endParaRPr sz="4700"/>
                    </a:p>
                  </a:txBody>
                  <a:tcPr marL="0" marR="0" marT="0" marB="0"/>
                </a:tc>
                <a:tc>
                  <a:txBody>
                    <a:bodyPr/>
                    <a:lstStyle/>
                    <a:p>
                      <a:pPr marL="127000" indent="0" algn="ctr"/>
                      <a:r>
                        <a:rPr lang="en-US" sz="4000" b="1">
                          <a:solidFill>
                            <a:srgbClr val="FC0128"/>
                          </a:solidFill>
                          <a:latin typeface="Times New Roman"/>
                        </a:rPr>
                        <a:t>Acronyms (Cont)</a:t>
                      </a:r>
                    </a:p>
                  </a:txBody>
                  <a:tcPr marL="0" marR="0" marT="0" marB="0" anchor="b"/>
                </a:tc>
                <a:tc>
                  <a:txBody>
                    <a:bodyPr/>
                    <a:lstStyle/>
                    <a:p>
                      <a:endParaRPr sz="4700"/>
                    </a:p>
                  </a:txBody>
                  <a:tcPr marL="0" marR="0" marT="0" marB="0"/>
                </a:tc>
                <a:extLst>
                  <a:ext uri="{0D108BD9-81ED-4DB2-BD59-A6C34878D82A}">
                    <a16:rowId xmlns:a16="http://schemas.microsoft.com/office/drawing/2014/main" val="10000"/>
                  </a:ext>
                </a:extLst>
              </a:tr>
              <a:tr h="466344">
                <a:tc>
                  <a:txBody>
                    <a:bodyPr/>
                    <a:lstStyle/>
                    <a:p>
                      <a:pPr marL="127000" indent="0"/>
                      <a:r>
                        <a:rPr lang="en-US" sz="2000">
                          <a:solidFill>
                            <a:srgbClr val="063DE8"/>
                          </a:solidFill>
                          <a:latin typeface="Times New Roman"/>
                        </a:rPr>
                        <a:t>□ </a:t>
                      </a:r>
                      <a:r>
                        <a:rPr lang="en-US" sz="2000">
                          <a:latin typeface="Times New Roman"/>
                        </a:rPr>
                        <a:t>LB</a:t>
                      </a:r>
                    </a:p>
                  </a:txBody>
                  <a:tcPr marL="0" marR="0" marT="0" marB="0" anchor="b"/>
                </a:tc>
                <a:tc>
                  <a:txBody>
                    <a:bodyPr/>
                    <a:lstStyle/>
                    <a:p>
                      <a:pPr marL="330200" indent="0"/>
                      <a:r>
                        <a:rPr lang="en-US" sz="2000">
                          <a:latin typeface="Times New Roman"/>
                        </a:rPr>
                        <a:t>Logical Block</a:t>
                      </a:r>
                    </a:p>
                  </a:txBody>
                  <a:tcPr marL="0" marR="0" marT="0" marB="0" anchor="b"/>
                </a:tc>
                <a:tc>
                  <a:txBody>
                    <a:bodyPr/>
                    <a:lstStyle/>
                    <a:p>
                      <a:endParaRPr sz="2300"/>
                    </a:p>
                  </a:txBody>
                  <a:tcPr marL="0" marR="0" marT="0" marB="0"/>
                </a:tc>
                <a:extLst>
                  <a:ext uri="{0D108BD9-81ED-4DB2-BD59-A6C34878D82A}">
                    <a16:rowId xmlns:a16="http://schemas.microsoft.com/office/drawing/2014/main" val="10001"/>
                  </a:ext>
                </a:extLst>
              </a:tr>
              <a:tr h="295656">
                <a:tc>
                  <a:txBody>
                    <a:bodyPr/>
                    <a:lstStyle/>
                    <a:p>
                      <a:pPr marL="127000" indent="0"/>
                      <a:r>
                        <a:rPr lang="en-US" sz="2000">
                          <a:solidFill>
                            <a:srgbClr val="063DE8"/>
                          </a:solidFill>
                          <a:latin typeface="Times New Roman"/>
                        </a:rPr>
                        <a:t>□ </a:t>
                      </a:r>
                      <a:r>
                        <a:rPr lang="en-US" sz="2000">
                          <a:latin typeface="Times New Roman"/>
                        </a:rPr>
                        <a:t>LBA</a:t>
                      </a:r>
                    </a:p>
                  </a:txBody>
                  <a:tcPr marL="0" marR="0" marT="0" marB="0"/>
                </a:tc>
                <a:tc>
                  <a:txBody>
                    <a:bodyPr/>
                    <a:lstStyle/>
                    <a:p>
                      <a:pPr marL="330200" indent="0"/>
                      <a:r>
                        <a:rPr lang="en-US" sz="2000">
                          <a:latin typeface="Times New Roman"/>
                        </a:rPr>
                        <a:t>Logical Block Address</a:t>
                      </a:r>
                    </a:p>
                  </a:txBody>
                  <a:tcPr marL="0" marR="0" marT="0" marB="0"/>
                </a:tc>
                <a:tc>
                  <a:txBody>
                    <a:bodyPr/>
                    <a:lstStyle/>
                    <a:p>
                      <a:endParaRPr sz="1400"/>
                    </a:p>
                  </a:txBody>
                  <a:tcPr marL="0" marR="0" marT="0" marB="0"/>
                </a:tc>
                <a:extLst>
                  <a:ext uri="{0D108BD9-81ED-4DB2-BD59-A6C34878D82A}">
                    <a16:rowId xmlns:a16="http://schemas.microsoft.com/office/drawing/2014/main" val="10002"/>
                  </a:ext>
                </a:extLst>
              </a:tr>
              <a:tr h="307848">
                <a:tc>
                  <a:txBody>
                    <a:bodyPr/>
                    <a:lstStyle/>
                    <a:p>
                      <a:pPr marL="127000" indent="0"/>
                      <a:r>
                        <a:rPr lang="en-US" sz="2000">
                          <a:solidFill>
                            <a:srgbClr val="063DE8"/>
                          </a:solidFill>
                          <a:latin typeface="Times New Roman"/>
                        </a:rPr>
                        <a:t>□ </a:t>
                      </a:r>
                      <a:r>
                        <a:rPr lang="en-US" sz="2000">
                          <a:latin typeface="Times New Roman"/>
                        </a:rPr>
                        <a:t>LUN</a:t>
                      </a:r>
                    </a:p>
                  </a:txBody>
                  <a:tcPr marL="0" marR="0" marT="0" marB="0" anchor="b"/>
                </a:tc>
                <a:tc>
                  <a:txBody>
                    <a:bodyPr/>
                    <a:lstStyle/>
                    <a:p>
                      <a:pPr marL="330200" indent="0"/>
                      <a:r>
                        <a:rPr lang="en-US" sz="2000">
                          <a:latin typeface="Times New Roman"/>
                        </a:rPr>
                        <a:t>Logical Unit Number</a:t>
                      </a:r>
                    </a:p>
                  </a:txBody>
                  <a:tcPr marL="0" marR="0" marT="0" marB="0" anchor="b"/>
                </a:tc>
                <a:tc>
                  <a:txBody>
                    <a:bodyPr/>
                    <a:lstStyle/>
                    <a:p>
                      <a:endParaRPr sz="1500"/>
                    </a:p>
                  </a:txBody>
                  <a:tcPr marL="0" marR="0" marT="0" marB="0"/>
                </a:tc>
                <a:extLst>
                  <a:ext uri="{0D108BD9-81ED-4DB2-BD59-A6C34878D82A}">
                    <a16:rowId xmlns:a16="http://schemas.microsoft.com/office/drawing/2014/main" val="10003"/>
                  </a:ext>
                </a:extLst>
              </a:tr>
              <a:tr h="292608">
                <a:tc>
                  <a:txBody>
                    <a:bodyPr/>
                    <a:lstStyle/>
                    <a:p>
                      <a:pPr marL="127000" indent="0"/>
                      <a:r>
                        <a:rPr lang="en-US" sz="2000">
                          <a:solidFill>
                            <a:srgbClr val="063DE8"/>
                          </a:solidFill>
                          <a:latin typeface="Times New Roman"/>
                        </a:rPr>
                        <a:t>□ </a:t>
                      </a:r>
                      <a:r>
                        <a:rPr lang="en-US" sz="2000">
                          <a:latin typeface="Times New Roman"/>
                        </a:rPr>
                        <a:t>MAC</a:t>
                      </a:r>
                    </a:p>
                  </a:txBody>
                  <a:tcPr marL="0" marR="0" marT="0" marB="0"/>
                </a:tc>
                <a:tc>
                  <a:txBody>
                    <a:bodyPr/>
                    <a:lstStyle/>
                    <a:p>
                      <a:pPr marL="330200" indent="0"/>
                      <a:r>
                        <a:rPr lang="en-US" sz="2000">
                          <a:latin typeface="Times New Roman"/>
                        </a:rPr>
                        <a:t>Media Access Control</a:t>
                      </a:r>
                    </a:p>
                  </a:txBody>
                  <a:tcPr marL="0" marR="0" marT="0" marB="0"/>
                </a:tc>
                <a:tc>
                  <a:txBody>
                    <a:bodyPr/>
                    <a:lstStyle/>
                    <a:p>
                      <a:endParaRPr sz="1400"/>
                    </a:p>
                  </a:txBody>
                  <a:tcPr marL="0" marR="0" marT="0" marB="0"/>
                </a:tc>
                <a:extLst>
                  <a:ext uri="{0D108BD9-81ED-4DB2-BD59-A6C34878D82A}">
                    <a16:rowId xmlns:a16="http://schemas.microsoft.com/office/drawing/2014/main" val="10004"/>
                  </a:ext>
                </a:extLst>
              </a:tr>
              <a:tr h="310896">
                <a:tc>
                  <a:txBody>
                    <a:bodyPr/>
                    <a:lstStyle/>
                    <a:p>
                      <a:pPr marL="127000" indent="0"/>
                      <a:r>
                        <a:rPr lang="en-US" sz="2000">
                          <a:solidFill>
                            <a:srgbClr val="063DE8"/>
                          </a:solidFill>
                          <a:latin typeface="Times New Roman"/>
                        </a:rPr>
                        <a:t>□ </a:t>
                      </a:r>
                      <a:r>
                        <a:rPr lang="en-US" sz="2000">
                          <a:latin typeface="Times New Roman"/>
                        </a:rPr>
                        <a:t>mSATA</a:t>
                      </a:r>
                    </a:p>
                  </a:txBody>
                  <a:tcPr marL="0" marR="0" marT="0" marB="0" anchor="b"/>
                </a:tc>
                <a:tc>
                  <a:txBody>
                    <a:bodyPr/>
                    <a:lstStyle/>
                    <a:p>
                      <a:pPr marL="330200" indent="0"/>
                      <a:r>
                        <a:rPr lang="en-US" sz="2000">
                          <a:latin typeface="Times New Roman"/>
                        </a:rPr>
                        <a:t>Mini Serial Advanced Technology Interface</a:t>
                      </a:r>
                    </a:p>
                  </a:txBody>
                  <a:tcPr marL="0" marR="0" marT="0" marB="0" anchor="b"/>
                </a:tc>
                <a:tc>
                  <a:txBody>
                    <a:bodyPr/>
                    <a:lstStyle/>
                    <a:p>
                      <a:endParaRPr sz="1500"/>
                    </a:p>
                  </a:txBody>
                  <a:tcPr marL="0" marR="0" marT="0" marB="0"/>
                </a:tc>
                <a:extLst>
                  <a:ext uri="{0D108BD9-81ED-4DB2-BD59-A6C34878D82A}">
                    <a16:rowId xmlns:a16="http://schemas.microsoft.com/office/drawing/2014/main" val="10005"/>
                  </a:ext>
                </a:extLst>
              </a:tr>
              <a:tr h="304800">
                <a:tc>
                  <a:txBody>
                    <a:bodyPr/>
                    <a:lstStyle/>
                    <a:p>
                      <a:pPr marL="127000" indent="0"/>
                      <a:r>
                        <a:rPr lang="en-US" sz="2000">
                          <a:solidFill>
                            <a:srgbClr val="063DE8"/>
                          </a:solidFill>
                          <a:latin typeface="Times New Roman"/>
                        </a:rPr>
                        <a:t>□ </a:t>
                      </a:r>
                      <a:r>
                        <a:rPr lang="en-US" sz="2000">
                          <a:latin typeface="Times New Roman"/>
                        </a:rPr>
                        <a:t>NAS</a:t>
                      </a:r>
                    </a:p>
                  </a:txBody>
                  <a:tcPr marL="0" marR="0" marT="0" marB="0"/>
                </a:tc>
                <a:tc>
                  <a:txBody>
                    <a:bodyPr/>
                    <a:lstStyle/>
                    <a:p>
                      <a:pPr marL="330200" indent="0"/>
                      <a:r>
                        <a:rPr lang="en-US" sz="2000">
                          <a:latin typeface="Times New Roman"/>
                        </a:rPr>
                        <a:t>Network attached storage</a:t>
                      </a:r>
                    </a:p>
                  </a:txBody>
                  <a:tcPr marL="0" marR="0" marT="0" marB="0"/>
                </a:tc>
                <a:tc>
                  <a:txBody>
                    <a:bodyPr/>
                    <a:lstStyle/>
                    <a:p>
                      <a:endParaRPr sz="1500"/>
                    </a:p>
                  </a:txBody>
                  <a:tcPr marL="0" marR="0" marT="0" marB="0"/>
                </a:tc>
                <a:extLst>
                  <a:ext uri="{0D108BD9-81ED-4DB2-BD59-A6C34878D82A}">
                    <a16:rowId xmlns:a16="http://schemas.microsoft.com/office/drawing/2014/main" val="10006"/>
                  </a:ext>
                </a:extLst>
              </a:tr>
              <a:tr h="320040">
                <a:tc>
                  <a:txBody>
                    <a:bodyPr/>
                    <a:lstStyle/>
                    <a:p>
                      <a:pPr marL="127000" indent="0"/>
                      <a:r>
                        <a:rPr lang="en-US" sz="2000">
                          <a:solidFill>
                            <a:srgbClr val="063DE8"/>
                          </a:solidFill>
                          <a:latin typeface="Times New Roman"/>
                        </a:rPr>
                        <a:t>□ </a:t>
                      </a:r>
                      <a:r>
                        <a:rPr lang="en-US" sz="2000">
                          <a:latin typeface="Times New Roman"/>
                        </a:rPr>
                        <a:t>NTFS</a:t>
                      </a:r>
                    </a:p>
                  </a:txBody>
                  <a:tcPr marL="0" marR="0" marT="0" marB="0"/>
                </a:tc>
                <a:tc>
                  <a:txBody>
                    <a:bodyPr/>
                    <a:lstStyle/>
                    <a:p>
                      <a:pPr marL="330200" indent="0"/>
                      <a:r>
                        <a:rPr lang="en-US" sz="2000">
                          <a:latin typeface="Times New Roman"/>
                        </a:rPr>
                        <a:t>New Technology File System</a:t>
                      </a:r>
                    </a:p>
                  </a:txBody>
                  <a:tcPr marL="0" marR="0" marT="0" marB="0"/>
                </a:tc>
                <a:tc>
                  <a:txBody>
                    <a:bodyPr/>
                    <a:lstStyle/>
                    <a:p>
                      <a:endParaRPr sz="1600"/>
                    </a:p>
                  </a:txBody>
                  <a:tcPr marL="0" marR="0" marT="0" marB="0"/>
                </a:tc>
                <a:extLst>
                  <a:ext uri="{0D108BD9-81ED-4DB2-BD59-A6C34878D82A}">
                    <a16:rowId xmlns:a16="http://schemas.microsoft.com/office/drawing/2014/main" val="10007"/>
                  </a:ext>
                </a:extLst>
              </a:tr>
              <a:tr h="304800">
                <a:tc>
                  <a:txBody>
                    <a:bodyPr/>
                    <a:lstStyle/>
                    <a:p>
                      <a:pPr marL="127000" indent="0"/>
                      <a:r>
                        <a:rPr lang="en-US" sz="2000">
                          <a:solidFill>
                            <a:srgbClr val="063DE8"/>
                          </a:solidFill>
                          <a:latin typeface="Times New Roman"/>
                        </a:rPr>
                        <a:t>□ </a:t>
                      </a:r>
                      <a:r>
                        <a:rPr lang="en-US" sz="2000">
                          <a:latin typeface="Times New Roman"/>
                        </a:rPr>
                        <a:t>ODBC</a:t>
                      </a:r>
                    </a:p>
                  </a:txBody>
                  <a:tcPr marL="0" marR="0" marT="0" marB="0"/>
                </a:tc>
                <a:tc>
                  <a:txBody>
                    <a:bodyPr/>
                    <a:lstStyle/>
                    <a:p>
                      <a:pPr marL="330200" indent="0"/>
                      <a:r>
                        <a:rPr lang="en-US" sz="2000">
                          <a:latin typeface="Times New Roman"/>
                        </a:rPr>
                        <a:t>Open DataBase Connectivity</a:t>
                      </a:r>
                    </a:p>
                  </a:txBody>
                  <a:tcPr marL="0" marR="0" marT="0" marB="0"/>
                </a:tc>
                <a:tc>
                  <a:txBody>
                    <a:bodyPr/>
                    <a:lstStyle/>
                    <a:p>
                      <a:endParaRPr sz="1500"/>
                    </a:p>
                  </a:txBody>
                  <a:tcPr marL="0" marR="0" marT="0" marB="0"/>
                </a:tc>
                <a:extLst>
                  <a:ext uri="{0D108BD9-81ED-4DB2-BD59-A6C34878D82A}">
                    <a16:rowId xmlns:a16="http://schemas.microsoft.com/office/drawing/2014/main" val="10008"/>
                  </a:ext>
                </a:extLst>
              </a:tr>
              <a:tr h="304800">
                <a:tc>
                  <a:txBody>
                    <a:bodyPr/>
                    <a:lstStyle/>
                    <a:p>
                      <a:pPr marL="127000" indent="0"/>
                      <a:r>
                        <a:rPr lang="en-US" sz="2000">
                          <a:solidFill>
                            <a:srgbClr val="063DE8"/>
                          </a:solidFill>
                          <a:latin typeface="Times New Roman"/>
                        </a:rPr>
                        <a:t>□ </a:t>
                      </a:r>
                      <a:r>
                        <a:rPr lang="en-US" sz="2000">
                          <a:latin typeface="Times New Roman"/>
                        </a:rPr>
                        <a:t>OS</a:t>
                      </a:r>
                    </a:p>
                  </a:txBody>
                  <a:tcPr marL="0" marR="0" marT="0" marB="0"/>
                </a:tc>
                <a:tc>
                  <a:txBody>
                    <a:bodyPr/>
                    <a:lstStyle/>
                    <a:p>
                      <a:pPr marL="330200" indent="0"/>
                      <a:r>
                        <a:rPr lang="en-US" sz="2000">
                          <a:latin typeface="Times New Roman"/>
                        </a:rPr>
                        <a:t>Operating System</a:t>
                      </a:r>
                    </a:p>
                  </a:txBody>
                  <a:tcPr marL="0" marR="0" marT="0" marB="0"/>
                </a:tc>
                <a:tc>
                  <a:txBody>
                    <a:bodyPr/>
                    <a:lstStyle/>
                    <a:p>
                      <a:endParaRPr sz="1500"/>
                    </a:p>
                  </a:txBody>
                  <a:tcPr marL="0" marR="0" marT="0" marB="0"/>
                </a:tc>
                <a:extLst>
                  <a:ext uri="{0D108BD9-81ED-4DB2-BD59-A6C34878D82A}">
                    <a16:rowId xmlns:a16="http://schemas.microsoft.com/office/drawing/2014/main" val="10009"/>
                  </a:ext>
                </a:extLst>
              </a:tr>
              <a:tr h="304800">
                <a:tc>
                  <a:txBody>
                    <a:bodyPr/>
                    <a:lstStyle/>
                    <a:p>
                      <a:pPr marL="127000" indent="0"/>
                      <a:r>
                        <a:rPr lang="en-US" sz="2000">
                          <a:solidFill>
                            <a:srgbClr val="063DE8"/>
                          </a:solidFill>
                          <a:latin typeface="Times New Roman"/>
                        </a:rPr>
                        <a:t>□ </a:t>
                      </a:r>
                      <a:r>
                        <a:rPr lang="en-US" sz="2000">
                          <a:latin typeface="Times New Roman"/>
                        </a:rPr>
                        <a:t>OUI</a:t>
                      </a:r>
                    </a:p>
                  </a:txBody>
                  <a:tcPr marL="0" marR="0" marT="0" marB="0"/>
                </a:tc>
                <a:tc>
                  <a:txBody>
                    <a:bodyPr/>
                    <a:lstStyle/>
                    <a:p>
                      <a:pPr marL="330200" indent="0"/>
                      <a:r>
                        <a:rPr lang="en-US" sz="2000">
                          <a:latin typeface="Times New Roman"/>
                        </a:rPr>
                        <a:t>Organizationally Unique Identifier</a:t>
                      </a:r>
                    </a:p>
                  </a:txBody>
                  <a:tcPr marL="0" marR="0" marT="0" marB="0"/>
                </a:tc>
                <a:tc>
                  <a:txBody>
                    <a:bodyPr/>
                    <a:lstStyle/>
                    <a:p>
                      <a:endParaRPr sz="1500"/>
                    </a:p>
                  </a:txBody>
                  <a:tcPr marL="0" marR="0" marT="0" marB="0"/>
                </a:tc>
                <a:extLst>
                  <a:ext uri="{0D108BD9-81ED-4DB2-BD59-A6C34878D82A}">
                    <a16:rowId xmlns:a16="http://schemas.microsoft.com/office/drawing/2014/main" val="10010"/>
                  </a:ext>
                </a:extLst>
              </a:tr>
              <a:tr h="289560">
                <a:tc>
                  <a:txBody>
                    <a:bodyPr/>
                    <a:lstStyle/>
                    <a:p>
                      <a:pPr marL="127000" indent="0"/>
                      <a:r>
                        <a:rPr lang="en-US" sz="2000">
                          <a:solidFill>
                            <a:srgbClr val="063DE8"/>
                          </a:solidFill>
                          <a:latin typeface="Times New Roman"/>
                        </a:rPr>
                        <a:t>□ </a:t>
                      </a:r>
                      <a:r>
                        <a:rPr lang="en-US" sz="2000">
                          <a:latin typeface="Times New Roman"/>
                        </a:rPr>
                        <a:t>PATA</a:t>
                      </a:r>
                    </a:p>
                  </a:txBody>
                  <a:tcPr marL="0" marR="0" marT="0" marB="0"/>
                </a:tc>
                <a:tc>
                  <a:txBody>
                    <a:bodyPr/>
                    <a:lstStyle/>
                    <a:p>
                      <a:pPr marL="330200" indent="0"/>
                      <a:r>
                        <a:rPr lang="en-US" sz="2000">
                          <a:latin typeface="Times New Roman"/>
                        </a:rPr>
                        <a:t>Parallel Advanced Technology Attachment</a:t>
                      </a:r>
                    </a:p>
                  </a:txBody>
                  <a:tcPr marL="0" marR="0" marT="0" marB="0"/>
                </a:tc>
                <a:tc>
                  <a:txBody>
                    <a:bodyPr/>
                    <a:lstStyle/>
                    <a:p>
                      <a:endParaRPr sz="1400"/>
                    </a:p>
                  </a:txBody>
                  <a:tcPr marL="0" marR="0" marT="0" marB="0"/>
                </a:tc>
                <a:extLst>
                  <a:ext uri="{0D108BD9-81ED-4DB2-BD59-A6C34878D82A}">
                    <a16:rowId xmlns:a16="http://schemas.microsoft.com/office/drawing/2014/main" val="10011"/>
                  </a:ext>
                </a:extLst>
              </a:tr>
              <a:tr h="320040">
                <a:tc>
                  <a:txBody>
                    <a:bodyPr/>
                    <a:lstStyle/>
                    <a:p>
                      <a:pPr marL="127000" indent="0"/>
                      <a:r>
                        <a:rPr lang="en-US" sz="2000">
                          <a:solidFill>
                            <a:srgbClr val="063DE8"/>
                          </a:solidFill>
                          <a:latin typeface="Times New Roman"/>
                        </a:rPr>
                        <a:t>□ </a:t>
                      </a:r>
                      <a:r>
                        <a:rPr lang="en-US" sz="2000">
                          <a:latin typeface="Times New Roman"/>
                        </a:rPr>
                        <a:t>PHY</a:t>
                      </a:r>
                    </a:p>
                  </a:txBody>
                  <a:tcPr marL="0" marR="0" marT="0" marB="0"/>
                </a:tc>
                <a:tc>
                  <a:txBody>
                    <a:bodyPr/>
                    <a:lstStyle/>
                    <a:p>
                      <a:pPr marL="330200" indent="0"/>
                      <a:r>
                        <a:rPr lang="en-US" sz="2000">
                          <a:latin typeface="Times New Roman"/>
                        </a:rPr>
                        <a:t>Physical Layer</a:t>
                      </a:r>
                    </a:p>
                  </a:txBody>
                  <a:tcPr marL="0" marR="0" marT="0" marB="0"/>
                </a:tc>
                <a:tc>
                  <a:txBody>
                    <a:bodyPr/>
                    <a:lstStyle/>
                    <a:p>
                      <a:endParaRPr sz="1600"/>
                    </a:p>
                  </a:txBody>
                  <a:tcPr marL="0" marR="0" marT="0" marB="0"/>
                </a:tc>
                <a:extLst>
                  <a:ext uri="{0D108BD9-81ED-4DB2-BD59-A6C34878D82A}">
                    <a16:rowId xmlns:a16="http://schemas.microsoft.com/office/drawing/2014/main" val="10012"/>
                  </a:ext>
                </a:extLst>
              </a:tr>
              <a:tr h="304800">
                <a:tc>
                  <a:txBody>
                    <a:bodyPr/>
                    <a:lstStyle/>
                    <a:p>
                      <a:pPr marL="127000" indent="0"/>
                      <a:r>
                        <a:rPr lang="en-US" sz="2000">
                          <a:solidFill>
                            <a:srgbClr val="063DE8"/>
                          </a:solidFill>
                          <a:latin typeface="Times New Roman"/>
                        </a:rPr>
                        <a:t>□ </a:t>
                      </a:r>
                      <a:r>
                        <a:rPr lang="en-US" sz="2000">
                          <a:latin typeface="Times New Roman"/>
                        </a:rPr>
                        <a:t>RAID</a:t>
                      </a:r>
                    </a:p>
                  </a:txBody>
                  <a:tcPr marL="0" marR="0" marT="0" marB="0"/>
                </a:tc>
                <a:tc>
                  <a:txBody>
                    <a:bodyPr/>
                    <a:lstStyle/>
                    <a:p>
                      <a:pPr marL="330200" indent="0"/>
                      <a:r>
                        <a:rPr lang="en-US" sz="2000">
                          <a:latin typeface="Times New Roman"/>
                        </a:rPr>
                        <a:t>Redundant Array of Independent Disks</a:t>
                      </a:r>
                    </a:p>
                  </a:txBody>
                  <a:tcPr marL="0" marR="0" marT="0" marB="0"/>
                </a:tc>
                <a:tc>
                  <a:txBody>
                    <a:bodyPr/>
                    <a:lstStyle/>
                    <a:p>
                      <a:endParaRPr sz="1500"/>
                    </a:p>
                  </a:txBody>
                  <a:tcPr marL="0" marR="0" marT="0" marB="0"/>
                </a:tc>
                <a:extLst>
                  <a:ext uri="{0D108BD9-81ED-4DB2-BD59-A6C34878D82A}">
                    <a16:rowId xmlns:a16="http://schemas.microsoft.com/office/drawing/2014/main" val="10013"/>
                  </a:ext>
                </a:extLst>
              </a:tr>
              <a:tr h="292608">
                <a:tc>
                  <a:txBody>
                    <a:bodyPr/>
                    <a:lstStyle/>
                    <a:p>
                      <a:pPr marL="127000" indent="0"/>
                      <a:r>
                        <a:rPr lang="en-US" sz="2000">
                          <a:solidFill>
                            <a:srgbClr val="063DE8"/>
                          </a:solidFill>
                          <a:latin typeface="Times New Roman"/>
                        </a:rPr>
                        <a:t>□ </a:t>
                      </a:r>
                      <a:r>
                        <a:rPr lang="en-US" sz="2000">
                          <a:latin typeface="Times New Roman"/>
                        </a:rPr>
                        <a:t>SAN</a:t>
                      </a:r>
                    </a:p>
                  </a:txBody>
                  <a:tcPr marL="0" marR="0" marT="0" marB="0"/>
                </a:tc>
                <a:tc>
                  <a:txBody>
                    <a:bodyPr/>
                    <a:lstStyle/>
                    <a:p>
                      <a:pPr marL="330200" indent="0"/>
                      <a:r>
                        <a:rPr lang="en-US" sz="2000">
                          <a:latin typeface="Times New Roman"/>
                        </a:rPr>
                        <a:t>Storage Area Network</a:t>
                      </a:r>
                    </a:p>
                  </a:txBody>
                  <a:tcPr marL="0" marR="0" marT="0" marB="0"/>
                </a:tc>
                <a:tc>
                  <a:txBody>
                    <a:bodyPr/>
                    <a:lstStyle/>
                    <a:p>
                      <a:endParaRPr sz="1400"/>
                    </a:p>
                  </a:txBody>
                  <a:tcPr marL="0" marR="0" marT="0" marB="0"/>
                </a:tc>
                <a:extLst>
                  <a:ext uri="{0D108BD9-81ED-4DB2-BD59-A6C34878D82A}">
                    <a16:rowId xmlns:a16="http://schemas.microsoft.com/office/drawing/2014/main" val="10014"/>
                  </a:ext>
                </a:extLst>
              </a:tr>
              <a:tr h="304800">
                <a:tc>
                  <a:txBody>
                    <a:bodyPr/>
                    <a:lstStyle/>
                    <a:p>
                      <a:pPr marL="127000" indent="0"/>
                      <a:r>
                        <a:rPr lang="en-US" sz="2000">
                          <a:solidFill>
                            <a:srgbClr val="063DE8"/>
                          </a:solidFill>
                          <a:latin typeface="Times New Roman"/>
                        </a:rPr>
                        <a:t>□ </a:t>
                      </a:r>
                      <a:r>
                        <a:rPr lang="en-US" sz="2000">
                          <a:latin typeface="Times New Roman"/>
                        </a:rPr>
                        <a:t>SATA</a:t>
                      </a:r>
                    </a:p>
                  </a:txBody>
                  <a:tcPr marL="0" marR="0" marT="0" marB="0" anchor="b"/>
                </a:tc>
                <a:tc>
                  <a:txBody>
                    <a:bodyPr/>
                    <a:lstStyle/>
                    <a:p>
                      <a:pPr marL="330200" indent="0"/>
                      <a:r>
                        <a:rPr lang="en-US" sz="2000">
                          <a:latin typeface="Times New Roman"/>
                        </a:rPr>
                        <a:t>Serial Advanced Technology Interface</a:t>
                      </a:r>
                    </a:p>
                  </a:txBody>
                  <a:tcPr marL="0" marR="0" marT="0" marB="0" anchor="b"/>
                </a:tc>
                <a:tc>
                  <a:txBody>
                    <a:bodyPr/>
                    <a:lstStyle/>
                    <a:p>
                      <a:endParaRPr sz="1500"/>
                    </a:p>
                  </a:txBody>
                  <a:tcPr marL="0" marR="0" marT="0" marB="0"/>
                </a:tc>
                <a:extLst>
                  <a:ext uri="{0D108BD9-81ED-4DB2-BD59-A6C34878D82A}">
                    <a16:rowId xmlns:a16="http://schemas.microsoft.com/office/drawing/2014/main" val="10015"/>
                  </a:ext>
                </a:extLst>
              </a:tr>
              <a:tr h="344424">
                <a:tc>
                  <a:txBody>
                    <a:bodyPr/>
                    <a:lstStyle/>
                    <a:p>
                      <a:pPr marL="127000" indent="0"/>
                      <a:r>
                        <a:rPr lang="en-US" sz="2000">
                          <a:solidFill>
                            <a:srgbClr val="063DE8"/>
                          </a:solidFill>
                          <a:latin typeface="Times New Roman"/>
                        </a:rPr>
                        <a:t>□ </a:t>
                      </a:r>
                      <a:r>
                        <a:rPr lang="en-US" sz="2000">
                          <a:latin typeface="Times New Roman"/>
                        </a:rPr>
                        <a:t>SBCCS</a:t>
                      </a:r>
                    </a:p>
                  </a:txBody>
                  <a:tcPr marL="0" marR="0" marT="0" marB="0"/>
                </a:tc>
                <a:tc>
                  <a:txBody>
                    <a:bodyPr/>
                    <a:lstStyle/>
                    <a:p>
                      <a:pPr marL="330200" indent="0"/>
                      <a:r>
                        <a:rPr lang="en-US" sz="2000">
                          <a:latin typeface="Times New Roman"/>
                        </a:rPr>
                        <a:t>Single Byte Command Code Sets</a:t>
                      </a:r>
                    </a:p>
                  </a:txBody>
                  <a:tcPr marL="0" marR="0" marT="0" marB="0"/>
                </a:tc>
                <a:tc>
                  <a:txBody>
                    <a:bodyPr/>
                    <a:lstStyle/>
                    <a:p>
                      <a:endParaRPr sz="1700"/>
                    </a:p>
                  </a:txBody>
                  <a:tcPr marL="0" marR="0" marT="0" marB="0"/>
                </a:tc>
                <a:extLst>
                  <a:ext uri="{0D108BD9-81ED-4DB2-BD59-A6C34878D82A}">
                    <a16:rowId xmlns:a16="http://schemas.microsoft.com/office/drawing/2014/main" val="10016"/>
                  </a:ext>
                </a:extLst>
              </a:tr>
              <a:tr h="280416">
                <a:tc gridSpan="2">
                  <a:txBody>
                    <a:bodyPr/>
                    <a:lstStyle/>
                    <a:p>
                      <a:pPr marL="114300" indent="0"/>
                      <a:endParaRPr lang="en-US" sz="1200" baseline="30000">
                        <a:solidFill>
                          <a:srgbClr val="00DFCA"/>
                        </a:solidFill>
                        <a:latin typeface="Times New Roman"/>
                      </a:endParaRPr>
                    </a:p>
                  </a:txBody>
                  <a:tcPr marL="0" marR="0" marT="0" marB="0" anchor="b"/>
                </a:tc>
                <a:tc hMerge="1">
                  <a:txBody>
                    <a:bodyPr/>
                    <a:lstStyle/>
                    <a:p>
                      <a:endParaRPr sz="1400"/>
                    </a:p>
                  </a:txBody>
                  <a:tcPr marL="0" marR="0" marT="0" marB="0"/>
                </a:tc>
                <a:tc>
                  <a:txBody>
                    <a:bodyPr/>
                    <a:lstStyle/>
                    <a:p>
                      <a:pPr marR="190500" indent="0" algn="r"/>
                      <a:endParaRPr lang="en-US" sz="1200">
                        <a:latin typeface="Times New Roman"/>
                      </a:endParaRPr>
                    </a:p>
                  </a:txBody>
                  <a:tcPr marL="0" marR="0" marT="0" marB="0" anchor="b"/>
                </a:tc>
                <a:extLst>
                  <a:ext uri="{0D108BD9-81ED-4DB2-BD59-A6C34878D82A}">
                    <a16:rowId xmlns:a16="http://schemas.microsoft.com/office/drawing/2014/main" val="10017"/>
                  </a:ext>
                </a:extLst>
              </a:tr>
            </a:tbl>
          </a:graphicData>
        </a:graphic>
      </p:graphicFrame>
      <p:sp>
        <p:nvSpPr>
          <p:cNvPr id="3" name="Rectangle 2"/>
          <p:cNvSpPr/>
          <p:nvPr/>
        </p:nvSpPr>
        <p:spPr>
          <a:xfrm>
            <a:off x="4334256" y="6623304"/>
            <a:ext cx="438912" cy="195072"/>
          </a:xfrm>
          <a:prstGeom prst="rect">
            <a:avLst/>
          </a:prstGeom>
        </p:spPr>
        <p:txBody>
          <a:bodyPr wrap="none" lIns="0" tIns="0" rIns="0" bIns="0">
            <a:noAutofit/>
          </a:bodyPr>
          <a:lstStyle/>
          <a:p>
            <a:pPr indent="0"/>
            <a:r>
              <a:rPr lang="en-US" sz="1800">
                <a:latin typeface="Times New Roman"/>
              </a:rPr>
              <a:t>33</a:t>
            </a:r>
          </a:p>
        </p:txBody>
      </p:sp>
    </p:spTree>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868168" y="207264"/>
            <a:ext cx="3407664" cy="441960"/>
          </a:xfrm>
          <a:prstGeom prst="rect">
            <a:avLst/>
          </a:prstGeom>
        </p:spPr>
        <p:txBody>
          <a:bodyPr wrap="none" lIns="0" tIns="0" rIns="0" bIns="0">
            <a:noAutofit/>
          </a:bodyPr>
          <a:lstStyle/>
          <a:p>
            <a:pPr indent="0" algn="ctr">
              <a:spcAft>
                <a:spcPts val="1260"/>
              </a:spcAft>
            </a:pPr>
            <a:r>
              <a:rPr lang="en-US" sz="3600" b="1">
                <a:solidFill>
                  <a:srgbClr val="FC0128"/>
                </a:solidFill>
                <a:latin typeface="Times New Roman"/>
              </a:rPr>
              <a:t>Acronyms (Cont)</a:t>
            </a:r>
          </a:p>
        </p:txBody>
      </p:sp>
      <p:graphicFrame>
        <p:nvGraphicFramePr>
          <p:cNvPr id="3" name="Table 2"/>
          <p:cNvGraphicFramePr>
            <a:graphicFrameLocks noGrp="1"/>
          </p:cNvGraphicFramePr>
          <p:nvPr>
            <p:extLst>
              <p:ext uri="{D42A27DB-BD31-4B8C-83A1-F6EECF244321}">
                <p14:modId xmlns:p14="http://schemas.microsoft.com/office/powerpoint/2010/main" val="4262573029"/>
              </p:ext>
            </p:extLst>
          </p:nvPr>
        </p:nvGraphicFramePr>
        <p:xfrm>
          <a:off x="696687" y="1443880"/>
          <a:ext cx="7674429" cy="3770378"/>
        </p:xfrm>
        <a:graphic>
          <a:graphicData uri="http://schemas.openxmlformats.org/drawingml/2006/table">
            <a:tbl>
              <a:tblPr/>
              <a:tblGrid>
                <a:gridCol w="508184">
                  <a:extLst>
                    <a:ext uri="{9D8B030D-6E8A-4147-A177-3AD203B41FA5}">
                      <a16:colId xmlns:a16="http://schemas.microsoft.com/office/drawing/2014/main" val="20000"/>
                    </a:ext>
                  </a:extLst>
                </a:gridCol>
                <a:gridCol w="1920760">
                  <a:extLst>
                    <a:ext uri="{9D8B030D-6E8A-4147-A177-3AD203B41FA5}">
                      <a16:colId xmlns:a16="http://schemas.microsoft.com/office/drawing/2014/main" val="20001"/>
                    </a:ext>
                  </a:extLst>
                </a:gridCol>
                <a:gridCol w="5245485">
                  <a:extLst>
                    <a:ext uri="{9D8B030D-6E8A-4147-A177-3AD203B41FA5}">
                      <a16:colId xmlns:a16="http://schemas.microsoft.com/office/drawing/2014/main" val="20002"/>
                    </a:ext>
                  </a:extLst>
                </a:gridCol>
              </a:tblGrid>
              <a:tr h="735683">
                <a:tc>
                  <a:txBody>
                    <a:bodyPr/>
                    <a:lstStyle/>
                    <a:p>
                      <a:pPr marL="127000" indent="0"/>
                      <a:r>
                        <a:rPr lang="en-US" sz="2000">
                          <a:solidFill>
                            <a:srgbClr val="063DE8"/>
                          </a:solidFill>
                          <a:latin typeface="Times New Roman"/>
                        </a:rPr>
                        <a:t>□</a:t>
                      </a:r>
                    </a:p>
                  </a:txBody>
                  <a:tcPr marL="0" marR="0" marT="0" marB="0" anchor="b"/>
                </a:tc>
                <a:tc>
                  <a:txBody>
                    <a:bodyPr/>
                    <a:lstStyle/>
                    <a:p>
                      <a:pPr marL="101600" indent="0"/>
                      <a:r>
                        <a:rPr lang="en-US" sz="2000">
                          <a:latin typeface="Times New Roman"/>
                        </a:rPr>
                        <a:t>SCSI</a:t>
                      </a:r>
                    </a:p>
                  </a:txBody>
                  <a:tcPr marL="0" marR="0" marT="0" marB="0" anchor="b"/>
                </a:tc>
                <a:tc>
                  <a:txBody>
                    <a:bodyPr/>
                    <a:lstStyle/>
                    <a:p>
                      <a:pPr marL="228600" indent="0"/>
                      <a:r>
                        <a:rPr lang="en-US" sz="2000">
                          <a:latin typeface="Times New Roman"/>
                        </a:rPr>
                        <a:t>Small Computer System Interface</a:t>
                      </a:r>
                    </a:p>
                  </a:txBody>
                  <a:tcPr marL="0" marR="0" marT="0" marB="0" anchor="b"/>
                </a:tc>
                <a:extLst>
                  <a:ext uri="{0D108BD9-81ED-4DB2-BD59-A6C34878D82A}">
                    <a16:rowId xmlns:a16="http://schemas.microsoft.com/office/drawing/2014/main" val="10000"/>
                  </a:ext>
                </a:extLst>
              </a:tr>
              <a:tr h="459802">
                <a:tc>
                  <a:txBody>
                    <a:bodyPr/>
                    <a:lstStyle/>
                    <a:p>
                      <a:pPr marL="127000" indent="0"/>
                      <a:r>
                        <a:rPr lang="en-US" sz="2000">
                          <a:solidFill>
                            <a:srgbClr val="063DE8"/>
                          </a:solidFill>
                          <a:latin typeface="Times New Roman"/>
                        </a:rPr>
                        <a:t>□</a:t>
                      </a:r>
                    </a:p>
                  </a:txBody>
                  <a:tcPr marL="0" marR="0" marT="0" marB="0"/>
                </a:tc>
                <a:tc>
                  <a:txBody>
                    <a:bodyPr/>
                    <a:lstStyle/>
                    <a:p>
                      <a:pPr marL="101600" indent="0"/>
                      <a:r>
                        <a:rPr lang="en-US" sz="2000">
                          <a:latin typeface="Times New Roman"/>
                        </a:rPr>
                        <a:t>SCSI-FCP</a:t>
                      </a:r>
                    </a:p>
                  </a:txBody>
                  <a:tcPr marL="0" marR="0" marT="0" marB="0"/>
                </a:tc>
                <a:tc>
                  <a:txBody>
                    <a:bodyPr/>
                    <a:lstStyle/>
                    <a:p>
                      <a:pPr marL="228600" indent="0"/>
                      <a:r>
                        <a:rPr lang="en-US" sz="2000">
                          <a:latin typeface="Times New Roman"/>
                        </a:rPr>
                        <a:t>SCSI over Fibre Channel Protocol</a:t>
                      </a:r>
                    </a:p>
                  </a:txBody>
                  <a:tcPr marL="0" marR="0" marT="0" marB="0"/>
                </a:tc>
                <a:extLst>
                  <a:ext uri="{0D108BD9-81ED-4DB2-BD59-A6C34878D82A}">
                    <a16:rowId xmlns:a16="http://schemas.microsoft.com/office/drawing/2014/main" val="10001"/>
                  </a:ext>
                </a:extLst>
              </a:tr>
              <a:tr h="491989">
                <a:tc>
                  <a:txBody>
                    <a:bodyPr/>
                    <a:lstStyle/>
                    <a:p>
                      <a:pPr marL="127000" indent="0"/>
                      <a:r>
                        <a:rPr lang="en-US" sz="2000">
                          <a:solidFill>
                            <a:srgbClr val="063DE8"/>
                          </a:solidFill>
                          <a:latin typeface="Times New Roman"/>
                        </a:rPr>
                        <a:t>□</a:t>
                      </a:r>
                    </a:p>
                  </a:txBody>
                  <a:tcPr marL="0" marR="0" marT="0" marB="0" anchor="b"/>
                </a:tc>
                <a:tc>
                  <a:txBody>
                    <a:bodyPr/>
                    <a:lstStyle/>
                    <a:p>
                      <a:pPr marL="101600" indent="0"/>
                      <a:r>
                        <a:rPr lang="en-US" sz="2000">
                          <a:latin typeface="Times New Roman"/>
                        </a:rPr>
                        <a:t>SQL</a:t>
                      </a:r>
                    </a:p>
                  </a:txBody>
                  <a:tcPr marL="0" marR="0" marT="0" marB="0" anchor="b"/>
                </a:tc>
                <a:tc>
                  <a:txBody>
                    <a:bodyPr/>
                    <a:lstStyle/>
                    <a:p>
                      <a:pPr marL="228600" indent="0"/>
                      <a:r>
                        <a:rPr lang="en-US" sz="2000">
                          <a:latin typeface="Times New Roman"/>
                        </a:rPr>
                        <a:t>Structured Query Language</a:t>
                      </a:r>
                    </a:p>
                  </a:txBody>
                  <a:tcPr marL="0" marR="0" marT="0" marB="0"/>
                </a:tc>
                <a:extLst>
                  <a:ext uri="{0D108BD9-81ED-4DB2-BD59-A6C34878D82A}">
                    <a16:rowId xmlns:a16="http://schemas.microsoft.com/office/drawing/2014/main" val="10002"/>
                  </a:ext>
                </a:extLst>
              </a:tr>
              <a:tr h="459802">
                <a:tc>
                  <a:txBody>
                    <a:bodyPr/>
                    <a:lstStyle/>
                    <a:p>
                      <a:pPr marL="127000" indent="0"/>
                      <a:r>
                        <a:rPr lang="en-US" sz="2000">
                          <a:solidFill>
                            <a:srgbClr val="063DE8"/>
                          </a:solidFill>
                          <a:latin typeface="Times New Roman"/>
                        </a:rPr>
                        <a:t>□</a:t>
                      </a:r>
                    </a:p>
                  </a:txBody>
                  <a:tcPr marL="0" marR="0" marT="0" marB="0"/>
                </a:tc>
                <a:tc>
                  <a:txBody>
                    <a:bodyPr/>
                    <a:lstStyle/>
                    <a:p>
                      <a:pPr marL="101600" indent="0"/>
                      <a:r>
                        <a:rPr lang="en-US" sz="2000">
                          <a:latin typeface="Times New Roman"/>
                        </a:rPr>
                        <a:t>TP</a:t>
                      </a:r>
                    </a:p>
                  </a:txBody>
                  <a:tcPr marL="0" marR="0" marT="0" marB="0"/>
                </a:tc>
                <a:tc>
                  <a:txBody>
                    <a:bodyPr/>
                    <a:lstStyle/>
                    <a:p>
                      <a:pPr marL="228600" indent="0"/>
                      <a:r>
                        <a:rPr lang="en-US" sz="2000">
                          <a:latin typeface="Times New Roman"/>
                        </a:rPr>
                        <a:t>Twisted Pair</a:t>
                      </a:r>
                    </a:p>
                  </a:txBody>
                  <a:tcPr marL="0" marR="0" marT="0" marB="0"/>
                </a:tc>
                <a:extLst>
                  <a:ext uri="{0D108BD9-81ED-4DB2-BD59-A6C34878D82A}">
                    <a16:rowId xmlns:a16="http://schemas.microsoft.com/office/drawing/2014/main" val="10003"/>
                  </a:ext>
                </a:extLst>
              </a:tr>
              <a:tr h="459802">
                <a:tc>
                  <a:txBody>
                    <a:bodyPr/>
                    <a:lstStyle/>
                    <a:p>
                      <a:pPr marL="127000" indent="0"/>
                      <a:r>
                        <a:rPr lang="en-US" sz="2000">
                          <a:solidFill>
                            <a:srgbClr val="063DE8"/>
                          </a:solidFill>
                          <a:latin typeface="Times New Roman"/>
                        </a:rPr>
                        <a:t>□</a:t>
                      </a:r>
                    </a:p>
                  </a:txBody>
                  <a:tcPr marL="0" marR="0" marT="0" marB="0" anchor="b"/>
                </a:tc>
                <a:tc>
                  <a:txBody>
                    <a:bodyPr/>
                    <a:lstStyle/>
                    <a:p>
                      <a:pPr marL="101600" indent="0"/>
                      <a:r>
                        <a:rPr lang="en-US" sz="2000">
                          <a:latin typeface="Times New Roman"/>
                        </a:rPr>
                        <a:t>VLANs</a:t>
                      </a:r>
                    </a:p>
                  </a:txBody>
                  <a:tcPr marL="0" marR="0" marT="0" marB="0" anchor="b"/>
                </a:tc>
                <a:tc>
                  <a:txBody>
                    <a:bodyPr/>
                    <a:lstStyle/>
                    <a:p>
                      <a:pPr marL="228600" indent="0"/>
                      <a:r>
                        <a:rPr lang="en-US" sz="2000">
                          <a:latin typeface="Times New Roman"/>
                        </a:rPr>
                        <a:t>Virtual Local Area Network</a:t>
                      </a:r>
                    </a:p>
                  </a:txBody>
                  <a:tcPr marL="0" marR="0" marT="0" marB="0" anchor="b"/>
                </a:tc>
                <a:extLst>
                  <a:ext uri="{0D108BD9-81ED-4DB2-BD59-A6C34878D82A}">
                    <a16:rowId xmlns:a16="http://schemas.microsoft.com/office/drawing/2014/main" val="10004"/>
                  </a:ext>
                </a:extLst>
              </a:tr>
              <a:tr h="468999">
                <a:tc>
                  <a:txBody>
                    <a:bodyPr/>
                    <a:lstStyle/>
                    <a:p>
                      <a:pPr marL="127000" indent="0"/>
                      <a:r>
                        <a:rPr lang="en-US" sz="2000">
                          <a:solidFill>
                            <a:srgbClr val="063DE8"/>
                          </a:solidFill>
                          <a:latin typeface="Times New Roman"/>
                        </a:rPr>
                        <a:t>□</a:t>
                      </a:r>
                    </a:p>
                  </a:txBody>
                  <a:tcPr marL="0" marR="0" marT="0" marB="0" anchor="b"/>
                </a:tc>
                <a:tc>
                  <a:txBody>
                    <a:bodyPr/>
                    <a:lstStyle/>
                    <a:p>
                      <a:pPr marL="101600" indent="0"/>
                      <a:r>
                        <a:rPr lang="en-US" sz="2000">
                          <a:latin typeface="Times New Roman"/>
                        </a:rPr>
                        <a:t>VSAN</a:t>
                      </a:r>
                    </a:p>
                  </a:txBody>
                  <a:tcPr marL="0" marR="0" marT="0" marB="0" anchor="b"/>
                </a:tc>
                <a:tc>
                  <a:txBody>
                    <a:bodyPr/>
                    <a:lstStyle/>
                    <a:p>
                      <a:pPr marL="228600" indent="0"/>
                      <a:r>
                        <a:rPr lang="en-US" sz="2000">
                          <a:latin typeface="Times New Roman"/>
                        </a:rPr>
                        <a:t>Virtual Storage Area Network</a:t>
                      </a:r>
                    </a:p>
                  </a:txBody>
                  <a:tcPr marL="0" marR="0" marT="0" marB="0" anchor="b"/>
                </a:tc>
                <a:extLst>
                  <a:ext uri="{0D108BD9-81ED-4DB2-BD59-A6C34878D82A}">
                    <a16:rowId xmlns:a16="http://schemas.microsoft.com/office/drawing/2014/main" val="10005"/>
                  </a:ext>
                </a:extLst>
              </a:tr>
              <a:tr h="694301">
                <a:tc>
                  <a:txBody>
                    <a:bodyPr/>
                    <a:lstStyle/>
                    <a:p>
                      <a:pPr marL="127000" indent="0"/>
                      <a:r>
                        <a:rPr lang="en-US" sz="2000">
                          <a:solidFill>
                            <a:srgbClr val="063DE8"/>
                          </a:solidFill>
                          <a:latin typeface="Times New Roman"/>
                        </a:rPr>
                        <a:t>□</a:t>
                      </a:r>
                    </a:p>
                  </a:txBody>
                  <a:tcPr marL="0" marR="0" marT="0" marB="0"/>
                </a:tc>
                <a:tc>
                  <a:txBody>
                    <a:bodyPr/>
                    <a:lstStyle/>
                    <a:p>
                      <a:pPr marL="101600" indent="0"/>
                      <a:r>
                        <a:rPr lang="en-US" sz="2000">
                          <a:latin typeface="Times New Roman"/>
                        </a:rPr>
                        <a:t>WWN</a:t>
                      </a:r>
                    </a:p>
                  </a:txBody>
                  <a:tcPr marL="0" marR="0" marT="0" marB="0"/>
                </a:tc>
                <a:tc>
                  <a:txBody>
                    <a:bodyPr/>
                    <a:lstStyle/>
                    <a:p>
                      <a:pPr marL="228600" indent="0"/>
                      <a:r>
                        <a:rPr lang="en-US" sz="2000">
                          <a:latin typeface="Times New Roman"/>
                        </a:rPr>
                        <a:t>World-Wide Name</a:t>
                      </a:r>
                    </a:p>
                  </a:txBody>
                  <a:tcPr marL="0" marR="0" marT="0" marB="0"/>
                </a:tc>
                <a:extLst>
                  <a:ext uri="{0D108BD9-81ED-4DB2-BD59-A6C34878D82A}">
                    <a16:rowId xmlns:a16="http://schemas.microsoft.com/office/drawing/2014/main" val="10006"/>
                  </a:ext>
                </a:extLst>
              </a:tr>
            </a:tbl>
          </a:graphicData>
        </a:graphic>
      </p:graphicFrame>
      <p:sp>
        <p:nvSpPr>
          <p:cNvPr id="5" name="Rectangle 4"/>
          <p:cNvSpPr/>
          <p:nvPr/>
        </p:nvSpPr>
        <p:spPr>
          <a:xfrm>
            <a:off x="4334256" y="6623304"/>
            <a:ext cx="432816" cy="195072"/>
          </a:xfrm>
          <a:prstGeom prst="rect">
            <a:avLst/>
          </a:prstGeom>
        </p:spPr>
        <p:txBody>
          <a:bodyPr wrap="none" lIns="0" tIns="0" rIns="0" bIns="0">
            <a:noAutofit/>
          </a:bodyPr>
          <a:lstStyle/>
          <a:p>
            <a:pPr indent="0"/>
            <a:r>
              <a:rPr lang="en-US" sz="1800">
                <a:latin typeface="Times New Roman"/>
              </a:rPr>
              <a:t>34</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2602</Words>
  <Application>Microsoft Office PowerPoint</Application>
  <PresentationFormat>On-screen Show (4:3)</PresentationFormat>
  <Paragraphs>402</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Microsoft Sans Serif</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Storage Virtualization</dc:title>
  <dc:subject>CSE 570S:Recent Advances in Networking</dc:subject>
  <dc:creator>Raj Jain</dc:creator>
  <cp:keywords>Disk Arrays, Data Access Methods, SCSI (Small Computer System Interface), Advanced Technology Attachment (ATA), ESCON and FICON, Fibre Chanel, Fibre Channel Devices, Fibre Channel Protocol Layers, Fibre Channel Flow Control, Fibre Channel Classes of Service, What is Storage Virtualization?, Benefits of Storage Virtualization, Virtualizing Storage, RAID Levels, Nested RAIDs, Synchronous vs. Asynchronous Replication, Virtual Storage Area Network (VSAN), Physical Storage Network, Virtual Storage Network, SAN vs. NAS, iSCSI (Internet Small Computer   System Interface), iFCP (Internet Fiber Channel Protocol), FCIP (Fibre Channel over IP), FCoE (Fibre Channel over Ethernet), Virtual File Systems</cp:keywords>
  <cp:lastModifiedBy>Hoàng Đình Hạnh</cp:lastModifiedBy>
  <cp:revision>21</cp:revision>
  <dcterms:modified xsi:type="dcterms:W3CDTF">2025-09-14T07:26:05Z</dcterms:modified>
</cp:coreProperties>
</file>