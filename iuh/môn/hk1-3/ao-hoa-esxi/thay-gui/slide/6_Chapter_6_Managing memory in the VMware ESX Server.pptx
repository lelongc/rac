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3"/>
  </p:notesMasterIdLst>
  <p:sldIdLst>
    <p:sldId id="256" r:id="rId2"/>
    <p:sldId id="257" r:id="rId3"/>
    <p:sldId id="258" r:id="rId4"/>
    <p:sldId id="262" r:id="rId5"/>
    <p:sldId id="263" r:id="rId6"/>
    <p:sldId id="264" r:id="rId7"/>
    <p:sldId id="280" r:id="rId8"/>
    <p:sldId id="265" r:id="rId9"/>
    <p:sldId id="266" r:id="rId10"/>
    <p:sldId id="259" r:id="rId11"/>
    <p:sldId id="267" r:id="rId12"/>
    <p:sldId id="268" r:id="rId13"/>
    <p:sldId id="269" r:id="rId14"/>
    <p:sldId id="260" r:id="rId15"/>
    <p:sldId id="270" r:id="rId16"/>
    <p:sldId id="271" r:id="rId17"/>
    <p:sldId id="281" r:id="rId18"/>
    <p:sldId id="272" r:id="rId19"/>
    <p:sldId id="273" r:id="rId20"/>
    <p:sldId id="274" r:id="rId21"/>
    <p:sldId id="276" r:id="rId22"/>
    <p:sldId id="275" r:id="rId23"/>
    <p:sldId id="261" r:id="rId24"/>
    <p:sldId id="277" r:id="rId25"/>
    <p:sldId id="278" r:id="rId26"/>
    <p:sldId id="279" r:id="rId27"/>
    <p:sldId id="282" r:id="rId28"/>
    <p:sldId id="283" r:id="rId29"/>
    <p:sldId id="284" r:id="rId30"/>
    <p:sldId id="285" r:id="rId31"/>
    <p:sldId id="286" r:id="rId32"/>
    <p:sldId id="291" r:id="rId33"/>
    <p:sldId id="287" r:id="rId34"/>
    <p:sldId id="288" r:id="rId35"/>
    <p:sldId id="292" r:id="rId36"/>
    <p:sldId id="295" r:id="rId37"/>
    <p:sldId id="294" r:id="rId38"/>
    <p:sldId id="293" r:id="rId39"/>
    <p:sldId id="296" r:id="rId40"/>
    <p:sldId id="297" r:id="rId41"/>
    <p:sldId id="298" r:id="rId42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85" autoAdjust="0"/>
    <p:restoredTop sz="94660"/>
  </p:normalViewPr>
  <p:slideViewPr>
    <p:cSldViewPr snapToGrid="0" showGuides="1">
      <p:cViewPr varScale="1">
        <p:scale>
          <a:sx n="74" d="100"/>
          <a:sy n="74" d="100"/>
        </p:scale>
        <p:origin x="859" y="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305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32F431-90D1-4D66-A054-1D4989B04C84}" type="datetimeFigureOut">
              <a:rPr lang="en-US" smtClean="0"/>
              <a:t>14-09-2025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27B39F-45D8-4263-80DC-2EA0273606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696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12192000" cy="6858000"/>
            <a:chOff x="0" y="0"/>
            <a:chExt cx="5760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ctr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l" eaLnBrk="1" hangingPunct="1">
                <a:defRPr/>
              </a:pPr>
              <a:endParaRPr lang="en-US" altLang="en-US" sz="2400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7" name="Group 5"/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algn="ctr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algn="ctr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algn="ctr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algn="ctr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algn="ctr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l" eaLnBrk="1" hangingPunct="1">
                  <a:defRPr/>
                </a:pPr>
                <a:endParaRPr lang="en-US" altLang="en-US" sz="24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algn="ctr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algn="ctr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algn="ctr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algn="ctr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algn="ctr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l" eaLnBrk="1" hangingPunct="1">
                  <a:defRPr/>
                </a:pPr>
                <a:endParaRPr lang="en-US" altLang="en-US" sz="24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algn="ctr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algn="ctr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algn="ctr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algn="ctr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algn="ctr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l" eaLnBrk="1" hangingPunct="1">
                  <a:defRPr/>
                </a:pPr>
                <a:endParaRPr lang="en-US" altLang="en-US" sz="24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algn="ctr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algn="ctr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algn="ctr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algn="ctr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algn="ctr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l" eaLnBrk="1" hangingPunct="1">
                  <a:defRPr/>
                </a:pPr>
                <a:endParaRPr lang="en-US" altLang="en-US" sz="24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algn="ctr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algn="ctr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algn="ctr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algn="ctr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algn="ctr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l" eaLnBrk="1" hangingPunct="1">
                  <a:defRPr/>
                </a:pPr>
                <a:endParaRPr lang="en-US" altLang="en-US" sz="24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algn="ctr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algn="ctr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algn="ctr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algn="ctr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algn="ctr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l" eaLnBrk="1" hangingPunct="1">
                  <a:defRPr/>
                </a:pPr>
                <a:endParaRPr lang="en-US" altLang="en-US" sz="24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" name="Rectangle 12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algn="ctr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algn="ctr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algn="ctr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algn="ctr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algn="ctr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l" eaLnBrk="1" hangingPunct="1">
                  <a:defRPr/>
                </a:pPr>
                <a:endParaRPr lang="en-US" altLang="en-US" sz="24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algn="ctr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algn="ctr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algn="ctr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algn="ctr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algn="ctr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l" eaLnBrk="1" hangingPunct="1">
                  <a:defRPr/>
                </a:pPr>
                <a:endParaRPr lang="en-US" altLang="en-US" sz="24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6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algn="ctr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algn="ctr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algn="ctr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algn="ctr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algn="ctr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l" eaLnBrk="1" hangingPunct="1">
                  <a:defRPr/>
                </a:pPr>
                <a:endParaRPr lang="en-US" altLang="en-US" sz="24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7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algn="ctr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algn="ctr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algn="ctr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algn="ctr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algn="ctr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l" eaLnBrk="1" hangingPunct="1">
                  <a:defRPr/>
                </a:pPr>
                <a:endParaRPr lang="en-US" altLang="en-US" sz="2400" dirty="0"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117779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3962400" y="1828800"/>
            <a:ext cx="80264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117780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3962400" y="4267200"/>
            <a:ext cx="8026400" cy="17526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3000"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18" name="Rectangle 16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8400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fld id="{4F0CF31F-D845-47FA-AABD-F050FD66E0A7}" type="datetime1">
              <a:rPr lang="en-US" smtClean="0"/>
              <a:t>14-09-2025</a:t>
            </a:fld>
            <a:endParaRPr lang="en-US" dirty="0"/>
          </a:p>
        </p:txBody>
      </p:sp>
      <p:sp>
        <p:nvSpPr>
          <p:cNvPr id="19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20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C11893B-F36D-4B1A-AA1C-4BC2EA1CC18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62464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C11893B-F36D-4B1A-AA1C-4BC2EA1CC18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7E48DFE-C7E8-45DB-A9B5-1FE16C2CB446}" type="datetime1">
              <a:rPr lang="en-US" smtClean="0"/>
              <a:t>14-09-2025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34642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C11893B-F36D-4B1A-AA1C-4BC2EA1CC18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2C35E32-37E7-432B-A1AB-278B712631E7}" type="datetime1">
              <a:rPr lang="en-US" smtClean="0"/>
              <a:t>14-09-2025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26640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981200"/>
            <a:ext cx="5384800" cy="3886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384800" cy="3886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C11893B-F36D-4B1A-AA1C-4BC2EA1CC18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1BA8B39-1A73-4688-AE6B-F4815BE8A2C6}" type="datetime1">
              <a:rPr lang="en-US" smtClean="0"/>
              <a:t>14-09-2025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73428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C11893B-F36D-4B1A-AA1C-4BC2EA1CC18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5BACABA-8E0A-44E1-B419-B21CD2023FC8}" type="datetime1">
              <a:rPr lang="en-US" smtClean="0"/>
              <a:t>14-09-2025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5936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C11893B-F36D-4B1A-AA1C-4BC2EA1CC18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2DE8C07-6C42-438C-8FE0-040D9D3AD239}" type="datetime1">
              <a:rPr lang="en-US" smtClean="0"/>
              <a:t>14-09-2025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52151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C11893B-F36D-4B1A-AA1C-4BC2EA1CC18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CE4070B-608D-49EF-B902-FBB835610384}" type="datetime1">
              <a:rPr lang="en-US" smtClean="0"/>
              <a:t>14-09-2025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01660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C11893B-F36D-4B1A-AA1C-4BC2EA1CC18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D874165-9493-4E2F-BF4C-107B5047DA8E}" type="datetime1">
              <a:rPr lang="en-US" smtClean="0"/>
              <a:t>14-09-2025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58754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C11893B-F36D-4B1A-AA1C-4BC2EA1CC18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3FF22C3-D096-434A-8090-2AE9194C7411}" type="datetime1">
              <a:rPr lang="en-US" smtClean="0"/>
              <a:t>14-09-2025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41674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C11893B-F36D-4B1A-AA1C-4BC2EA1CC18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1EAEF23-48C3-4383-89C2-36EB058A1EC3}" type="datetime1">
              <a:rPr lang="en-US" smtClean="0"/>
              <a:t>14-09-2025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17454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457200"/>
            <a:ext cx="2743200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457200"/>
            <a:ext cx="8026400" cy="54102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C11893B-F36D-4B1A-AA1C-4BC2EA1CC18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F5E89C8-23BC-4DEA-8CFC-B9D191BF40F3}" type="datetime1">
              <a:rPr lang="en-US" smtClean="0"/>
              <a:t>14-09-2025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4545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200"/>
            </a:lvl1pPr>
          </a:lstStyle>
          <a:p>
            <a:endParaRPr lang="en-US" dirty="0"/>
          </a:p>
        </p:txBody>
      </p:sp>
      <p:sp>
        <p:nvSpPr>
          <p:cNvPr id="116739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 Black" panose="020B0A04020102020204" pitchFamily="34" charset="0"/>
              </a:defRPr>
            </a:lvl1pPr>
          </a:lstStyle>
          <a:p>
            <a:fld id="{6C11893B-F36D-4B1A-AA1C-4BC2EA1CC188}" type="slidenum">
              <a:rPr lang="en-US" smtClean="0"/>
              <a:t>‹#›</a:t>
            </a:fld>
            <a:endParaRPr lang="en-US" dirty="0"/>
          </a:p>
        </p:txBody>
      </p:sp>
      <p:grpSp>
        <p:nvGrpSpPr>
          <p:cNvPr id="1028" name="Group 4"/>
          <p:cNvGrpSpPr>
            <a:grpSpLocks/>
          </p:cNvGrpSpPr>
          <p:nvPr/>
        </p:nvGrpSpPr>
        <p:grpSpPr bwMode="auto">
          <a:xfrm>
            <a:off x="0" y="0"/>
            <a:ext cx="12192000" cy="546100"/>
            <a:chOff x="0" y="0"/>
            <a:chExt cx="5760" cy="344"/>
          </a:xfrm>
        </p:grpSpPr>
        <p:sp>
          <p:nvSpPr>
            <p:cNvPr id="1032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ctr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033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l" eaLnBrk="1" hangingPunct="1">
                <a:defRPr/>
              </a:pPr>
              <a:endParaRPr lang="en-US" altLang="en-US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034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l" eaLnBrk="1" hangingPunct="1">
                <a:defRPr/>
              </a:pPr>
              <a:endParaRPr lang="en-US" altLang="en-US" sz="1800" dirty="0">
                <a:solidFill>
                  <a:schemeClr val="hlink"/>
                </a:solidFill>
              </a:endParaRPr>
            </a:p>
          </p:txBody>
        </p:sp>
        <p:sp>
          <p:nvSpPr>
            <p:cNvPr id="1035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l" eaLnBrk="1" hangingPunct="1">
                <a:defRPr/>
              </a:pPr>
              <a:endParaRPr lang="en-US" altLang="en-US" sz="1800" dirty="0">
                <a:solidFill>
                  <a:schemeClr val="hlink"/>
                </a:solidFill>
              </a:endParaRPr>
            </a:p>
          </p:txBody>
        </p:sp>
        <p:sp>
          <p:nvSpPr>
            <p:cNvPr id="1036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l" eaLnBrk="1" hangingPunct="1">
                <a:defRPr/>
              </a:pPr>
              <a:endParaRPr lang="en-US" altLang="en-US" sz="1800" dirty="0">
                <a:solidFill>
                  <a:schemeClr val="accent2"/>
                </a:solidFill>
              </a:endParaRPr>
            </a:p>
          </p:txBody>
        </p:sp>
        <p:sp>
          <p:nvSpPr>
            <p:cNvPr id="1037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l" eaLnBrk="1" hangingPunct="1">
                <a:defRPr/>
              </a:pPr>
              <a:endParaRPr lang="en-US" altLang="en-US" sz="1800" dirty="0">
                <a:solidFill>
                  <a:schemeClr val="hlink"/>
                </a:solidFill>
              </a:endParaRPr>
            </a:p>
          </p:txBody>
        </p:sp>
        <p:sp>
          <p:nvSpPr>
            <p:cNvPr id="1038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l" eaLnBrk="1" hangingPunct="1">
                <a:defRPr/>
              </a:pPr>
              <a:endParaRPr lang="en-US" altLang="en-US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039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l" eaLnBrk="1" hangingPunct="1">
                <a:defRPr/>
              </a:pPr>
              <a:endParaRPr lang="en-US" altLang="en-US" sz="1800" dirty="0">
                <a:solidFill>
                  <a:schemeClr val="accent2"/>
                </a:solidFill>
              </a:endParaRPr>
            </a:p>
          </p:txBody>
        </p:sp>
        <p:sp>
          <p:nvSpPr>
            <p:cNvPr id="1040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l" eaLnBrk="1" hangingPunct="1">
                <a:defRPr/>
              </a:pPr>
              <a:endParaRPr lang="en-US" altLang="en-US" sz="1800" dirty="0">
                <a:solidFill>
                  <a:schemeClr val="accent2"/>
                </a:solidFill>
              </a:endParaRPr>
            </a:p>
          </p:txBody>
        </p:sp>
      </p:grpSp>
      <p:sp>
        <p:nvSpPr>
          <p:cNvPr id="1029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457200"/>
            <a:ext cx="10972800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30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981200"/>
            <a:ext cx="10972800" cy="3886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16752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/>
            </a:lvl1pPr>
          </a:lstStyle>
          <a:p>
            <a:fld id="{82537D01-46A6-4623-981D-4E6E17AA5013}" type="datetime1">
              <a:rPr lang="en-US" smtClean="0"/>
              <a:t>14-09-2025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65041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n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¨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¨"/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809009" y="1828800"/>
            <a:ext cx="8026400" cy="2209800"/>
          </a:xfrm>
        </p:spPr>
        <p:txBody>
          <a:bodyPr/>
          <a:lstStyle/>
          <a:p>
            <a:pPr algn="ctr"/>
            <a:r>
              <a:rPr lang="en-US" b="1" dirty="0"/>
              <a:t>Memory Resource Management in VMware ESX Server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438138-CBE7-D441-BBFD-9F5DF0C65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1893B-F36D-4B1A-AA1C-4BC2EA1CC188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22747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Paper highlights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1800"/>
              </a:spcBef>
            </a:pPr>
            <a:r>
              <a:rPr lang="en-US" dirty="0"/>
              <a:t>Four novel mechanisms and policies for managing memory in the VMware ESX Server.</a:t>
            </a:r>
          </a:p>
          <a:p>
            <a:pPr lvl="1">
              <a:spcBef>
                <a:spcPts val="1200"/>
              </a:spcBef>
            </a:pPr>
            <a:r>
              <a:rPr lang="en-US" b="1" i="1" dirty="0"/>
              <a:t>Ballooning</a:t>
            </a:r>
            <a:r>
              <a:rPr lang="en-US" dirty="0"/>
              <a:t> shrinks when needed number of page frames allocated to a VM</a:t>
            </a:r>
          </a:p>
          <a:p>
            <a:pPr lvl="1">
              <a:spcBef>
                <a:spcPts val="1200"/>
              </a:spcBef>
            </a:pPr>
            <a:r>
              <a:rPr lang="en-US" b="1" i="1" dirty="0"/>
              <a:t>Content-based page sharing</a:t>
            </a:r>
            <a:r>
              <a:rPr lang="en-US" i="1" dirty="0"/>
              <a:t> </a:t>
            </a:r>
            <a:r>
              <a:rPr lang="en-US" dirty="0"/>
              <a:t>eliminate redundancy </a:t>
            </a:r>
          </a:p>
          <a:p>
            <a:pPr lvl="1">
              <a:spcBef>
                <a:spcPts val="1200"/>
              </a:spcBef>
            </a:pPr>
            <a:r>
              <a:rPr lang="en-US" b="1" i="1" dirty="0"/>
              <a:t>Idle memory tax</a:t>
            </a:r>
            <a:r>
              <a:rPr lang="en-US" i="1" dirty="0"/>
              <a:t> </a:t>
            </a:r>
            <a:r>
              <a:rPr lang="en-US" dirty="0"/>
              <a:t>achieves efficient memory utilization while maintaining performance isolation guarantees</a:t>
            </a:r>
          </a:p>
          <a:p>
            <a:pPr lvl="1">
              <a:spcBef>
                <a:spcPts val="1200"/>
              </a:spcBef>
            </a:pPr>
            <a:r>
              <a:rPr lang="en-US" b="1" i="1" dirty="0"/>
              <a:t>Hot I/O page remapping</a:t>
            </a:r>
            <a:r>
              <a:rPr lang="en-US" i="1" dirty="0"/>
              <a:t> r</a:t>
            </a:r>
            <a:r>
              <a:rPr lang="en-US" dirty="0"/>
              <a:t>educe copying overhead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DE0486-619D-8EAB-3D7E-DC73EE7C4DC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C11893B-F36D-4B1A-AA1C-4BC2EA1CC188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37950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VMWare ESX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2400"/>
              </a:spcBef>
            </a:pPr>
            <a:r>
              <a:rPr lang="en-US" dirty="0"/>
              <a:t>Virtual machine monitor</a:t>
            </a:r>
          </a:p>
          <a:p>
            <a:pPr>
              <a:spcBef>
                <a:spcPts val="1200"/>
              </a:spcBef>
            </a:pPr>
            <a:r>
              <a:rPr lang="en-US" dirty="0"/>
              <a:t>Not hosted</a:t>
            </a:r>
          </a:p>
          <a:p>
            <a:pPr lvl="1"/>
            <a:r>
              <a:rPr lang="en-US" dirty="0"/>
              <a:t>No underlying OS</a:t>
            </a:r>
          </a:p>
          <a:p>
            <a:pPr lvl="1"/>
            <a:r>
              <a:rPr lang="en-US" dirty="0"/>
              <a:t>Manages hardware directly</a:t>
            </a:r>
          </a:p>
          <a:p>
            <a:pPr lvl="2"/>
            <a:r>
              <a:rPr lang="en-US" dirty="0"/>
              <a:t>Significantly higher I/O performance</a:t>
            </a:r>
          </a:p>
          <a:p>
            <a:pPr>
              <a:spcBef>
                <a:spcPts val="1200"/>
              </a:spcBef>
            </a:pPr>
            <a:r>
              <a:rPr lang="en-US" dirty="0"/>
              <a:t>Runs existing OSes without modifications</a:t>
            </a:r>
          </a:p>
          <a:p>
            <a:pPr lvl="1">
              <a:spcBef>
                <a:spcPts val="672"/>
              </a:spcBef>
            </a:pPr>
            <a:r>
              <a:rPr lang="en-US" dirty="0"/>
              <a:t> IBM VM/370 designers could influence the design of the guest OSes</a:t>
            </a:r>
          </a:p>
          <a:p>
            <a:pPr lvl="2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57E5B9-431C-37D5-A266-308BEF23608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C11893B-F36D-4B1A-AA1C-4BC2EA1CC188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77936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840318" y="639542"/>
            <a:ext cx="5158316" cy="823912"/>
          </a:xfrm>
        </p:spPr>
        <p:txBody>
          <a:bodyPr/>
          <a:lstStyle/>
          <a:p>
            <a:r>
              <a:rPr lang="en-US" sz="4400" dirty="0"/>
              <a:t>Hosted VMM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840318" y="1892410"/>
            <a:ext cx="5158316" cy="4297253"/>
          </a:xfrm>
        </p:spPr>
        <p:txBody>
          <a:bodyPr/>
          <a:lstStyle/>
          <a:p>
            <a:r>
              <a:rPr lang="en-US" dirty="0"/>
              <a:t>Run on top of a host OS</a:t>
            </a:r>
          </a:p>
          <a:p>
            <a:pPr lvl="1"/>
            <a:r>
              <a:rPr lang="en-US" dirty="0"/>
              <a:t>Linux, Windows, …</a:t>
            </a:r>
          </a:p>
          <a:p>
            <a:r>
              <a:rPr lang="en-US" dirty="0"/>
              <a:t>Use guest OS for portable I/O device support</a:t>
            </a:r>
          </a:p>
          <a:p>
            <a:r>
              <a:rPr lang="en-US" dirty="0"/>
              <a:t>Translate guest OS attempts to read sectors from its virtual disk into read system calls to the host OS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3"/>
          </p:nvPr>
        </p:nvSpPr>
        <p:spPr>
          <a:xfrm>
            <a:off x="6172200" y="583883"/>
            <a:ext cx="5183717" cy="823912"/>
          </a:xfrm>
        </p:spPr>
        <p:txBody>
          <a:bodyPr/>
          <a:lstStyle/>
          <a:p>
            <a:r>
              <a:rPr lang="en-US" sz="4400" dirty="0"/>
              <a:t>Non-Hosted VMM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4"/>
          </p:nvPr>
        </p:nvSpPr>
        <p:spPr>
          <a:xfrm>
            <a:off x="6096000" y="1892409"/>
            <a:ext cx="5183717" cy="4297253"/>
          </a:xfrm>
        </p:spPr>
        <p:txBody>
          <a:bodyPr/>
          <a:lstStyle/>
          <a:p>
            <a:r>
              <a:rPr lang="en-US" dirty="0"/>
              <a:t>Run on bare hardware</a:t>
            </a:r>
          </a:p>
          <a:p>
            <a:pPr>
              <a:spcBef>
                <a:spcPts val="12000"/>
              </a:spcBef>
            </a:pPr>
            <a:r>
              <a:rPr lang="en-US" dirty="0"/>
              <a:t>Translate guest OS attempts to read sectors from its virtual disk into actual accesses to the machine disk</a:t>
            </a:r>
          </a:p>
          <a:p>
            <a:pPr>
              <a:spcBef>
                <a:spcPts val="12000"/>
              </a:spcBef>
            </a:pP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74F5D18-5CB9-8D44-F345-E9F3543F111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C11893B-F36D-4B1A-AA1C-4BC2EA1CC188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45108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virtualization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Double mapping</a:t>
            </a:r>
          </a:p>
          <a:p>
            <a:pPr lvl="1"/>
            <a:r>
              <a:rPr lang="en-US" dirty="0"/>
              <a:t>Guest OS maps virtual addresses into its own fake physical addresses</a:t>
            </a:r>
          </a:p>
          <a:p>
            <a:pPr lvl="1"/>
            <a:r>
              <a:rPr lang="en-US" dirty="0"/>
              <a:t>VMM converts these addresses into machine addresses</a:t>
            </a:r>
          </a:p>
        </p:txBody>
      </p:sp>
      <p:sp>
        <p:nvSpPr>
          <p:cNvPr id="9" name="Rounded Rectangle 8"/>
          <p:cNvSpPr/>
          <p:nvPr/>
        </p:nvSpPr>
        <p:spPr bwMode="auto">
          <a:xfrm>
            <a:off x="4398395" y="4102873"/>
            <a:ext cx="3395207" cy="492981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Virtual addresses</a:t>
            </a:r>
          </a:p>
        </p:txBody>
      </p:sp>
      <p:sp>
        <p:nvSpPr>
          <p:cNvPr id="10" name="Rounded Rectangle 9"/>
          <p:cNvSpPr/>
          <p:nvPr/>
        </p:nvSpPr>
        <p:spPr bwMode="auto">
          <a:xfrm>
            <a:off x="3714583" y="5088503"/>
            <a:ext cx="4984143" cy="492981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(Fake) Physical addresses</a:t>
            </a:r>
          </a:p>
        </p:txBody>
      </p:sp>
      <p:sp>
        <p:nvSpPr>
          <p:cNvPr id="11" name="Rounded Rectangle 10"/>
          <p:cNvSpPr/>
          <p:nvPr/>
        </p:nvSpPr>
        <p:spPr bwMode="auto">
          <a:xfrm>
            <a:off x="4427549" y="6055448"/>
            <a:ext cx="3395207" cy="492981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Machine addresses</a:t>
            </a:r>
          </a:p>
        </p:txBody>
      </p:sp>
      <p:sp>
        <p:nvSpPr>
          <p:cNvPr id="12" name="Down Arrow 11"/>
          <p:cNvSpPr/>
          <p:nvPr/>
        </p:nvSpPr>
        <p:spPr bwMode="auto">
          <a:xfrm>
            <a:off x="5789875" y="4595854"/>
            <a:ext cx="612250" cy="505439"/>
          </a:xfrm>
          <a:prstGeom prst="downArrow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Down Arrow 12"/>
          <p:cNvSpPr/>
          <p:nvPr/>
        </p:nvSpPr>
        <p:spPr bwMode="auto">
          <a:xfrm>
            <a:off x="5819028" y="5555511"/>
            <a:ext cx="612250" cy="505439"/>
          </a:xfrm>
          <a:prstGeom prst="downArrow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1FDB550-9477-67BD-251F-5C96F5333E6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C11893B-F36D-4B1A-AA1C-4BC2EA1CC188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04785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Paging data structures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One </a:t>
            </a:r>
            <a:r>
              <a:rPr lang="en-US" b="1" i="1" dirty="0"/>
              <a:t>pmap</a:t>
            </a:r>
            <a:r>
              <a:rPr lang="en-US" dirty="0"/>
              <a:t> for each VM mapping (fake) physical page numbers into machine page numbers</a:t>
            </a:r>
          </a:p>
          <a:p>
            <a:r>
              <a:rPr lang="en-US" dirty="0"/>
              <a:t>Special </a:t>
            </a:r>
            <a:r>
              <a:rPr lang="en-US" b="1" i="1" dirty="0"/>
              <a:t>shadow pages</a:t>
            </a:r>
            <a:r>
              <a:rPr lang="en-US" dirty="0"/>
              <a:t> contain direct virtual-to-machine page mappings</a:t>
            </a:r>
          </a:p>
          <a:p>
            <a:pPr lvl="1"/>
            <a:r>
              <a:rPr lang="en-US" dirty="0"/>
              <a:t>Kept consistent with contents of </a:t>
            </a:r>
            <a:r>
              <a:rPr lang="en-US" b="1" i="1" dirty="0"/>
              <a:t>pmap</a:t>
            </a:r>
          </a:p>
          <a:p>
            <a:pPr lvl="1"/>
            <a:r>
              <a:rPr lang="en-US" dirty="0"/>
              <a:t>Provide direct translation from virtual addresses into machine addresses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EF5BAB-EF33-BA0C-52BB-E3CD2F80361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C11893B-F36D-4B1A-AA1C-4BC2EA1CC188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16316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7260" y="2119745"/>
            <a:ext cx="10515600" cy="915267"/>
          </a:xfrm>
        </p:spPr>
        <p:txBody>
          <a:bodyPr/>
          <a:lstStyle/>
          <a:p>
            <a:r>
              <a:rPr lang="en-US" dirty="0"/>
              <a:t>Reclaiming memory space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69FD873-936F-5DA4-2509-D7F409DA131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C11893B-F36D-4B1A-AA1C-4BC2EA1CC188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59472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2981" y="1981200"/>
            <a:ext cx="11089419" cy="4165158"/>
          </a:xfrm>
        </p:spPr>
        <p:txBody>
          <a:bodyPr/>
          <a:lstStyle/>
          <a:p>
            <a:r>
              <a:rPr lang="en-US" dirty="0"/>
              <a:t>ESX server overbooks the machine memory</a:t>
            </a:r>
          </a:p>
          <a:p>
            <a:r>
              <a:rPr lang="en-US" dirty="0"/>
              <a:t>Gives to each VM the illusion of having affixed amount (maximize) of physical memory</a:t>
            </a:r>
          </a:p>
          <a:p>
            <a:r>
              <a:rPr lang="en-US" dirty="0"/>
              <a:t>When memory is scarce </a:t>
            </a:r>
          </a:p>
          <a:p>
            <a:pPr lvl="1"/>
            <a:r>
              <a:rPr lang="en-US" dirty="0"/>
              <a:t> Must have a way to reclaim space from VMs</a:t>
            </a:r>
          </a:p>
          <a:p>
            <a:r>
              <a:rPr lang="en-US" dirty="0"/>
              <a:t>Standard approach is to introduce another level of paging</a:t>
            </a:r>
          </a:p>
          <a:p>
            <a:pPr lvl="1"/>
            <a:r>
              <a:rPr lang="en-US" dirty="0"/>
              <a:t>Can expel fake physical pages from machine memory</a:t>
            </a:r>
          </a:p>
          <a:p>
            <a:pPr lvl="1"/>
            <a:r>
              <a:rPr lang="en-US" dirty="0"/>
              <a:t>Hard to decide which ones due to lack of information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CE1F3B-EFD6-6301-BC78-4F0E031C41C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C11893B-F36D-4B1A-AA1C-4BC2EA1CC188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27859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Ballooning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1150" y="1651000"/>
            <a:ext cx="10972800" cy="3886200"/>
          </a:xfrm>
        </p:spPr>
        <p:txBody>
          <a:bodyPr/>
          <a:lstStyle/>
          <a:p>
            <a:pPr lvl="1"/>
            <a:r>
              <a:rPr lang="en-US" dirty="0"/>
              <a:t>ESX server introduces a </a:t>
            </a:r>
            <a:r>
              <a:rPr lang="en-US" b="1" i="1" dirty="0"/>
              <a:t>balloon</a:t>
            </a:r>
            <a:r>
              <a:rPr lang="en-US" dirty="0"/>
              <a:t> module into the guest OS</a:t>
            </a:r>
          </a:p>
          <a:p>
            <a:pPr lvl="2"/>
            <a:r>
              <a:rPr lang="en-US" dirty="0"/>
              <a:t>Small</a:t>
            </a:r>
          </a:p>
          <a:p>
            <a:pPr lvl="2"/>
            <a:r>
              <a:rPr lang="en-US" dirty="0"/>
              <a:t>Pretends to be a pseudo-device driver or a kernel service</a:t>
            </a:r>
          </a:p>
          <a:p>
            <a:pPr lvl="2"/>
            <a:r>
              <a:rPr lang="en-US" dirty="0"/>
              <a:t> No external interface with the guest OS</a:t>
            </a:r>
          </a:p>
          <a:p>
            <a:pPr lvl="2"/>
            <a:r>
              <a:rPr lang="en-US" dirty="0"/>
              <a:t>Private channel with VMM</a:t>
            </a:r>
          </a:p>
          <a:p>
            <a:pPr lvl="1"/>
            <a:r>
              <a:rPr lang="en-US" dirty="0"/>
              <a:t>Can take machine pages from guest OS by allocating pinned physical pages within the VM (</a:t>
            </a:r>
            <a:r>
              <a:rPr lang="en-US" b="1" i="1" dirty="0"/>
              <a:t>inflating the balloon</a:t>
            </a:r>
            <a:r>
              <a:rPr lang="en-US" dirty="0"/>
              <a:t>) </a:t>
            </a:r>
          </a:p>
          <a:p>
            <a:pPr lvl="1"/>
            <a:r>
              <a:rPr lang="en-US" dirty="0"/>
              <a:t>Can return machine pages from guest OS by deallocating these pages (</a:t>
            </a:r>
            <a:r>
              <a:rPr lang="en-US" b="1" i="1" dirty="0"/>
              <a:t>deflating the balloon</a:t>
            </a:r>
            <a:r>
              <a:rPr lang="en-US" dirty="0"/>
              <a:t>)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3A8817-CC60-12AB-1D5A-702EDB9CAC1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C11893B-F36D-4B1A-AA1C-4BC2EA1CC188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03253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5846" y="685805"/>
            <a:ext cx="8692845" cy="5802460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Ballooning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BD9036D-1836-5177-8C54-68278D83FE7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C11893B-F36D-4B1A-AA1C-4BC2EA1CC188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63696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 advantage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Guest OS still decides with virtual pages will be expelled from main memory</a:t>
            </a:r>
          </a:p>
          <a:p>
            <a:pPr lvl="1"/>
            <a:r>
              <a:rPr lang="en-US" dirty="0"/>
              <a:t>Uses the OS page replacement policy</a:t>
            </a:r>
          </a:p>
          <a:p>
            <a:pPr lvl="2"/>
            <a:r>
              <a:rPr lang="en-US" dirty="0"/>
              <a:t>Bases its decision on what it knows from process behavior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EFC7468-688A-DEDA-0C84-8E7CC690B8E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C11893B-F36D-4B1A-AA1C-4BC2EA1CC188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4034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protection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Guest OS cannot access machine pages within the balloon</a:t>
            </a:r>
          </a:p>
          <a:p>
            <a:pPr lvl="1"/>
            <a:r>
              <a:rPr lang="en-US" dirty="0"/>
              <a:t>It believes the space is occupied by a pseudo-device driver or a kernel service</a:t>
            </a:r>
          </a:p>
          <a:p>
            <a:pPr>
              <a:spcBef>
                <a:spcPts val="2400"/>
              </a:spcBef>
            </a:pPr>
            <a:r>
              <a:rPr lang="en-US" dirty="0"/>
              <a:t>For extra security</a:t>
            </a:r>
          </a:p>
          <a:p>
            <a:pPr lvl="1"/>
            <a:r>
              <a:rPr lang="en-US" dirty="0"/>
              <a:t>ESX Server annotates pmap entry of ballooned physical pages and deallocate the corresponding machine pages.</a:t>
            </a:r>
          </a:p>
          <a:p>
            <a:pPr lvl="1"/>
            <a:r>
              <a:rPr lang="en-US" dirty="0"/>
              <a:t>Any attempt by VM to access these pages will cause a fault</a:t>
            </a:r>
          </a:p>
          <a:p>
            <a:pPr lvl="2"/>
            <a:r>
              <a:rPr lang="en-US" dirty="0"/>
              <a:t>Rare event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A1E2F86-557B-885E-4E46-C4887552E11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C11893B-F36D-4B1A-AA1C-4BC2EA1CC188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26522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Balloon drivers for Linux, FreeBSD and Windows guest Oses	</a:t>
            </a:r>
          </a:p>
          <a:p>
            <a:pPr lvl="1"/>
            <a:r>
              <a:rPr lang="en-US" dirty="0"/>
              <a:t>Poll the VMM server once per second to obtain a target balloon size</a:t>
            </a:r>
          </a:p>
          <a:p>
            <a:pPr lvl="1"/>
            <a:r>
              <a:rPr lang="en-US" dirty="0"/>
              <a:t>Limit their allocation rates adaptively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DC94C9-6BD5-9857-8A68-F2E578DA6AF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C11893B-F36D-4B1A-AA1C-4BC2EA1CC188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88504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Ballooning performance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609600" y="1981200"/>
            <a:ext cx="2960536" cy="4141304"/>
          </a:xfrm>
        </p:spPr>
        <p:txBody>
          <a:bodyPr/>
          <a:lstStyle/>
          <a:p>
            <a:r>
              <a:rPr lang="en-US" b="1" i="1" u="sng" dirty="0"/>
              <a:t>Grey:</a:t>
            </a:r>
            <a:br>
              <a:rPr lang="en-US" dirty="0"/>
            </a:br>
            <a:r>
              <a:rPr lang="en-US" dirty="0"/>
              <a:t>VM configured with 256 MB  then ballooned</a:t>
            </a:r>
          </a:p>
          <a:p>
            <a:endParaRPr lang="en-US" dirty="0"/>
          </a:p>
          <a:p>
            <a:r>
              <a:rPr lang="en-US" b="1" i="1" u="sng" dirty="0"/>
              <a:t>Black:</a:t>
            </a:r>
            <a:br>
              <a:rPr lang="en-US" dirty="0"/>
            </a:br>
            <a:r>
              <a:rPr lang="en-US" dirty="0"/>
              <a:t>VM configured with exact memory size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4715" y="1343278"/>
            <a:ext cx="7816744" cy="5343769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A8D18C-4C4B-B843-7206-E0CBADEEE17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C11893B-F36D-4B1A-AA1C-4BC2EA1CC188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03375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Balloon driver can be</a:t>
            </a:r>
          </a:p>
          <a:p>
            <a:pPr lvl="1"/>
            <a:r>
              <a:rPr lang="en-US" dirty="0"/>
              <a:t>Uninstalled,</a:t>
            </a:r>
          </a:p>
          <a:p>
            <a:pPr lvl="1"/>
            <a:r>
              <a:rPr lang="en-US" dirty="0"/>
              <a:t>Explicitly disabled</a:t>
            </a:r>
          </a:p>
          <a:p>
            <a:pPr lvl="1"/>
            <a:r>
              <a:rPr lang="en-US" dirty="0"/>
              <a:t>Not available at boot time</a:t>
            </a:r>
          </a:p>
          <a:p>
            <a:pPr lvl="1"/>
            <a:r>
              <a:rPr lang="en-US" dirty="0"/>
              <a:t>Temporarily unable to reclaim memory quickly enough</a:t>
            </a:r>
          </a:p>
          <a:p>
            <a:pPr lvl="1"/>
            <a:endParaRPr lang="en-US" dirty="0"/>
          </a:p>
          <a:p>
            <a:r>
              <a:rPr lang="en-US" dirty="0"/>
              <a:t>Guest OS could impose limitations on balloon size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8460C9-2C28-AC33-291E-DAE08BAF42D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C11893B-F36D-4B1A-AA1C-4BC2EA1CC188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07834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Demand paging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Only used when ballooning is impossible or insufficient</a:t>
            </a:r>
          </a:p>
          <a:p>
            <a:r>
              <a:rPr lang="en-US" dirty="0"/>
              <a:t>Reclaims machine pages by paging out to an ESX Server swap area</a:t>
            </a:r>
          </a:p>
          <a:p>
            <a:pPr lvl="1"/>
            <a:r>
              <a:rPr lang="en-US" dirty="0"/>
              <a:t>Guest OSes are not involved</a:t>
            </a:r>
          </a:p>
          <a:p>
            <a:r>
              <a:rPr lang="en-US" dirty="0"/>
              <a:t>Managed by ESX Server swap daemon</a:t>
            </a:r>
          </a:p>
          <a:p>
            <a:r>
              <a:rPr lang="en-US" dirty="0"/>
              <a:t>Uses a </a:t>
            </a:r>
            <a:r>
              <a:rPr lang="en-US" b="1" i="1" dirty="0"/>
              <a:t>randomized</a:t>
            </a:r>
            <a:r>
              <a:rPr lang="en-US" dirty="0"/>
              <a:t> page replacement policy</a:t>
            </a:r>
          </a:p>
          <a:p>
            <a:pPr lvl="1"/>
            <a:r>
              <a:rPr lang="en-US" dirty="0"/>
              <a:t>To prevent pathological interactions with guest OS memory management policy</a:t>
            </a:r>
          </a:p>
          <a:p>
            <a:pPr lvl="1"/>
            <a:r>
              <a:rPr lang="en-US" dirty="0"/>
              <a:t>Because it was expected to be fairly uncommon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684E0D-E4AC-C629-D4ED-E6515E05A25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C11893B-F36D-4B1A-AA1C-4BC2EA1CC188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62361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43778" y="1641764"/>
            <a:ext cx="6389831" cy="852921"/>
          </a:xfrm>
        </p:spPr>
        <p:txBody>
          <a:bodyPr/>
          <a:lstStyle/>
          <a:p>
            <a:r>
              <a:rPr lang="en-US" dirty="0"/>
              <a:t>Sharing memory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700321D-78CA-5A88-038E-DA64B0E9921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C11893B-F36D-4B1A-AA1C-4BC2EA1CC188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51462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Sharing memory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Want to eliminate redundant copies of pages that are common to multiple VMs</a:t>
            </a:r>
          </a:p>
          <a:p>
            <a:pPr lvl="2"/>
            <a:r>
              <a:rPr lang="en-US" dirty="0"/>
              <a:t>When different VMs run instances of same guest OS</a:t>
            </a:r>
          </a:p>
          <a:p>
            <a:pPr lvl="2"/>
            <a:endParaRPr lang="en-US" dirty="0"/>
          </a:p>
          <a:p>
            <a:r>
              <a:rPr lang="en-US" dirty="0"/>
              <a:t>Sharing memory reduces memory footprint of VMs</a:t>
            </a:r>
          </a:p>
          <a:p>
            <a:pPr lvl="1"/>
            <a:r>
              <a:rPr lang="en-US" dirty="0"/>
              <a:t>Allow higher levels of overcommitment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12CBC3-D019-E665-95EE-AF13942EAE7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C11893B-F36D-4B1A-AA1C-4BC2EA1CC188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66040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Content-based page sharing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Cannot change</a:t>
            </a:r>
          </a:p>
          <a:p>
            <a:pPr lvl="1"/>
            <a:r>
              <a:rPr lang="en-US" dirty="0"/>
              <a:t>Guest Oses</a:t>
            </a:r>
          </a:p>
          <a:p>
            <a:pPr lvl="1"/>
            <a:r>
              <a:rPr lang="en-US" dirty="0"/>
              <a:t>Application program interfaces</a:t>
            </a:r>
          </a:p>
          <a:p>
            <a:r>
              <a:rPr lang="en-US" dirty="0"/>
              <a:t>ESX Server identifies pages copies by their contents</a:t>
            </a:r>
          </a:p>
          <a:p>
            <a:pPr lvl="1"/>
            <a:r>
              <a:rPr lang="en-US" dirty="0"/>
              <a:t>Transparent to guest Oses</a:t>
            </a:r>
          </a:p>
          <a:p>
            <a:pPr lvl="1"/>
            <a:r>
              <a:rPr lang="en-US" dirty="0"/>
              <a:t> Can identify more common pages</a:t>
            </a:r>
          </a:p>
          <a:p>
            <a:r>
              <a:rPr lang="en-US" dirty="0"/>
              <a:t>Problem is how to detect these common pages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A08DE1-825B-5D28-94C5-1EEA19A4621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C11893B-F36D-4B1A-AA1C-4BC2EA1CC188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96074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hashing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Page contents are hashed</a:t>
            </a:r>
          </a:p>
          <a:p>
            <a:r>
              <a:rPr lang="en-US" dirty="0"/>
              <a:t>Comparing page hashes is much faster</a:t>
            </a:r>
          </a:p>
          <a:p>
            <a:r>
              <a:rPr lang="en-US" dirty="0"/>
              <a:t>Do a full comparison of two pages iff a successful match is found</a:t>
            </a:r>
          </a:p>
          <a:p>
            <a:r>
              <a:rPr lang="en-US" dirty="0"/>
              <a:t>If two pages have identical contents</a:t>
            </a:r>
          </a:p>
          <a:p>
            <a:pPr lvl="1"/>
            <a:r>
              <a:rPr lang="en-US" dirty="0"/>
              <a:t>Mark one of them copy-on-write</a:t>
            </a:r>
          </a:p>
          <a:p>
            <a:pPr lvl="1"/>
            <a:r>
              <a:rPr lang="en-US" dirty="0"/>
              <a:t>Delete the other</a:t>
            </a:r>
          </a:p>
          <a:p>
            <a:r>
              <a:rPr lang="en-US" dirty="0"/>
              <a:t>Still remain to decide when to scan</a:t>
            </a:r>
          </a:p>
          <a:p>
            <a:pPr lvl="1"/>
            <a:r>
              <a:rPr lang="en-US" dirty="0"/>
              <a:t> Controlled by a high-level policy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4432FC-6BB9-FCAF-CE6A-E02358E5690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C11893B-F36D-4B1A-AA1C-4BC2EA1CC188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88906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Hint pages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Pages for which a match could not be found</a:t>
            </a:r>
          </a:p>
          <a:p>
            <a:pPr lvl="1"/>
            <a:r>
              <a:rPr lang="en-US" dirty="0"/>
              <a:t>But we still have a valid hash</a:t>
            </a:r>
          </a:p>
          <a:p>
            <a:r>
              <a:rPr lang="en-US" dirty="0"/>
              <a:t>Marked </a:t>
            </a:r>
            <a:r>
              <a:rPr lang="en-US" b="1" i="1" dirty="0"/>
              <a:t>hint </a:t>
            </a:r>
            <a:r>
              <a:rPr lang="en-US" dirty="0"/>
              <a:t>until their hash is found to have changed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AF4F99-9CC2-B521-07DE-0697ECA618B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C11893B-F36D-4B1A-AA1C-4BC2EA1CC188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0942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Each encoded frame occupies 16 byte</a:t>
            </a:r>
          </a:p>
          <a:p>
            <a:r>
              <a:rPr lang="en-US" dirty="0"/>
              <a:t>A shared frame contains</a:t>
            </a:r>
          </a:p>
          <a:p>
            <a:pPr lvl="1"/>
            <a:r>
              <a:rPr lang="en-US" dirty="0"/>
              <a:t>A hash value</a:t>
            </a:r>
          </a:p>
          <a:p>
            <a:pPr lvl="1"/>
            <a:r>
              <a:rPr lang="en-US" dirty="0"/>
              <a:t>The machine page number for the shared page</a:t>
            </a:r>
          </a:p>
          <a:p>
            <a:pPr lvl="1"/>
            <a:r>
              <a:rPr lang="en-US" dirty="0"/>
              <a:t>A reference count</a:t>
            </a:r>
          </a:p>
          <a:p>
            <a:pPr lvl="1"/>
            <a:r>
              <a:rPr lang="en-US" dirty="0"/>
              <a:t>A link for chaining</a:t>
            </a:r>
          </a:p>
          <a:p>
            <a:r>
              <a:rPr lang="en-US" dirty="0"/>
              <a:t>A hint frame has a truncated hash value to leave place for a VM number and a PPN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13B366-C152-2289-A9D3-C66C8002157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C11893B-F36D-4B1A-AA1C-4BC2EA1CC188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47090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8526" y="2052761"/>
            <a:ext cx="2786324" cy="3886200"/>
          </a:xfrm>
        </p:spPr>
        <p:txBody>
          <a:bodyPr/>
          <a:lstStyle/>
          <a:p>
            <a:r>
              <a:rPr lang="en-US" dirty="0"/>
              <a:t>White pages are shared</a:t>
            </a:r>
          </a:p>
          <a:p>
            <a:endParaRPr lang="en-US" dirty="0"/>
          </a:p>
          <a:p>
            <a:r>
              <a:rPr lang="en-US" dirty="0"/>
              <a:t>Dark grey pages are just hints</a:t>
            </a:r>
          </a:p>
          <a:p>
            <a:pPr lvl="1"/>
            <a:r>
              <a:rPr lang="en-US" i="1" dirty="0"/>
              <a:t>Candidates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5551" y="872776"/>
            <a:ext cx="8332967" cy="570578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BC28B0-3861-2AD6-10DA-2CDECA1644A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C11893B-F36D-4B1A-AA1C-4BC2EA1CC188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74932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16-</a:t>
            </a:r>
            <a:r>
              <a:rPr lang="en-US" b="1" i="1" dirty="0"/>
              <a:t>bit reference counter</a:t>
            </a:r>
          </a:p>
          <a:p>
            <a:pPr lvl="1"/>
            <a:r>
              <a:rPr lang="en-US" dirty="0"/>
              <a:t>Overflow table for larger count values</a:t>
            </a:r>
          </a:p>
          <a:p>
            <a:pPr lvl="2"/>
            <a:r>
              <a:rPr lang="en-US" dirty="0"/>
              <a:t>Say number of zero-filled pages</a:t>
            </a:r>
          </a:p>
          <a:p>
            <a:pPr lvl="2"/>
            <a:endParaRPr lang="en-US" dirty="0"/>
          </a:p>
          <a:p>
            <a:r>
              <a:rPr lang="en-US" b="1" dirty="0"/>
              <a:t>64</a:t>
            </a:r>
            <a:r>
              <a:rPr lang="en-US" b="1" i="1" dirty="0"/>
              <a:t>-bit</a:t>
            </a:r>
            <a:r>
              <a:rPr lang="en-US" b="1" dirty="0"/>
              <a:t> </a:t>
            </a:r>
            <a:r>
              <a:rPr lang="en-US" b="1" i="1" dirty="0"/>
              <a:t>hash function</a:t>
            </a:r>
          </a:p>
          <a:p>
            <a:pPr lvl="1"/>
            <a:r>
              <a:rPr lang="en-US" dirty="0"/>
              <a:t> Very few false positives</a:t>
            </a:r>
          </a:p>
          <a:p>
            <a:pPr lvl="1"/>
            <a:r>
              <a:rPr lang="en-US" dirty="0"/>
              <a:t>Can exclude them from sharing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D88247-6D02-3D07-364E-648865D984C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C11893B-F36D-4B1A-AA1C-4BC2EA1CC188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65841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to scan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Randomly</a:t>
            </a:r>
          </a:p>
          <a:p>
            <a:r>
              <a:rPr lang="en-US" dirty="0"/>
              <a:t>System parameter controls maximum per-VM and overall scanning rate</a:t>
            </a:r>
          </a:p>
          <a:p>
            <a:r>
              <a:rPr lang="en-US" dirty="0"/>
              <a:t>Always attempt to share a page before swapping it out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271C8C-DA86-E910-CBA8-2C9B51424D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C11893B-F36D-4B1A-AA1C-4BC2EA1CC188}" type="slidenum">
              <a:rPr lang="en-US" smtClean="0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44656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Becomes better as number of VMs increases</a:t>
            </a:r>
          </a:p>
          <a:p>
            <a:pPr>
              <a:spcBef>
                <a:spcPts val="2400"/>
              </a:spcBef>
            </a:pPr>
            <a:r>
              <a:rPr lang="en-US" dirty="0"/>
              <a:t>For large numbers of VMs</a:t>
            </a:r>
          </a:p>
          <a:p>
            <a:pPr lvl="1"/>
            <a:r>
              <a:rPr lang="en-US" dirty="0"/>
              <a:t>Sharing approaches 67%</a:t>
            </a:r>
          </a:p>
          <a:p>
            <a:pPr lvl="1"/>
            <a:r>
              <a:rPr lang="en-US" dirty="0"/>
              <a:t>Can reclaim nearly 60% of memory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492E54-2E61-16B1-5B6D-4C44FBF9E41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C11893B-F36D-4B1A-AA1C-4BC2EA1CC188}" type="slidenum">
              <a:rPr lang="en-US" smtClean="0"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992812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 world data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971" y="2691160"/>
            <a:ext cx="11380417" cy="3278459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ECB71E3-96DB-8561-BD54-F13DC3EDDE2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C11893B-F36D-4B1A-AA1C-4BC2EA1CC188}" type="slidenum">
              <a:rPr lang="en-US" smtClean="0"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039417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193060" y="2556164"/>
            <a:ext cx="8655049" cy="956831"/>
          </a:xfrm>
        </p:spPr>
        <p:txBody>
          <a:bodyPr/>
          <a:lstStyle/>
          <a:p>
            <a:r>
              <a:rPr lang="en-US" dirty="0"/>
              <a:t>Competing for memory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2BD7D8E-DE52-8920-325D-BFDC534E6AD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C11893B-F36D-4B1A-AA1C-4BC2EA1CC188}" type="slidenum">
              <a:rPr lang="en-US" smtClean="0"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659772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Shares v. Working Sets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Traditional memory allocation aims at maximizing system throughput</a:t>
            </a:r>
          </a:p>
          <a:p>
            <a:pPr lvl="1"/>
            <a:r>
              <a:rPr lang="en-US" dirty="0"/>
              <a:t>Each process should have its working set of pages</a:t>
            </a:r>
          </a:p>
          <a:p>
            <a:endParaRPr lang="en-US" dirty="0"/>
          </a:p>
          <a:p>
            <a:r>
              <a:rPr lang="en-US" dirty="0"/>
              <a:t>Not true for VMM</a:t>
            </a:r>
          </a:p>
          <a:p>
            <a:pPr lvl="1"/>
            <a:r>
              <a:rPr lang="en-US" dirty="0"/>
              <a:t>Must take into account various QoS requirements for each VM</a:t>
            </a:r>
          </a:p>
          <a:p>
            <a:pPr lvl="1"/>
            <a:r>
              <a:rPr lang="en-US" dirty="0"/>
              <a:t> ESX Server uses a share-based algorithm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E8D9D3-B16D-80CB-8885-A46D31A41B6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C11893B-F36D-4B1A-AA1C-4BC2EA1CC188}" type="slidenum">
              <a:rPr lang="en-US" smtClean="0"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285973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Share-based allocation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Each VM gets a finite number of </a:t>
            </a:r>
            <a:r>
              <a:rPr lang="en-US" b="1" i="1" dirty="0"/>
              <a:t>shares</a:t>
            </a:r>
          </a:p>
          <a:p>
            <a:pPr lvl="1"/>
            <a:r>
              <a:rPr lang="en-US" dirty="0"/>
              <a:t>Kind of tickets</a:t>
            </a:r>
          </a:p>
          <a:p>
            <a:pPr lvl="1"/>
            <a:r>
              <a:rPr lang="en-US" dirty="0"/>
              <a:t>Control amount of system resources VM can use</a:t>
            </a:r>
          </a:p>
          <a:p>
            <a:pPr lvl="1"/>
            <a:endParaRPr lang="en-US" dirty="0"/>
          </a:p>
          <a:p>
            <a:r>
              <a:rPr lang="en-US" dirty="0"/>
              <a:t>When a client demands more space</a:t>
            </a:r>
          </a:p>
          <a:p>
            <a:pPr lvl="1"/>
            <a:r>
              <a:rPr lang="en-US" dirty="0"/>
              <a:t>Reclaim memory from VM with </a:t>
            </a:r>
            <a:br>
              <a:rPr lang="en-US" dirty="0"/>
            </a:br>
            <a:r>
              <a:rPr lang="en-US" b="1" i="1" dirty="0"/>
              <a:t>fewest shares per allocated page</a:t>
            </a:r>
          </a:p>
          <a:p>
            <a:pPr lvl="1"/>
            <a:r>
              <a:rPr lang="en-US" dirty="0"/>
              <a:t>Share-per-page ratio can be viewed as a price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CCEC98-7B37-867C-274F-878AA725AE9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C11893B-F36D-4B1A-AA1C-4BC2EA1CC188}" type="slidenum">
              <a:rPr lang="en-US" smtClean="0"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992721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Reclaiming idle memory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Idle clients with many shares can hoard memory</a:t>
                </a:r>
              </a:p>
              <a:p>
                <a:pPr lvl="1"/>
                <a:r>
                  <a:rPr lang="en-US" dirty="0"/>
                  <a:t>Could be put to better use</a:t>
                </a:r>
              </a:p>
              <a:p>
                <a:r>
                  <a:rPr lang="en-US" dirty="0"/>
                  <a:t>Introduce an </a:t>
                </a:r>
                <a:r>
                  <a:rPr lang="en-US" b="1" i="1" dirty="0"/>
                  <a:t>idle memory tax</a:t>
                </a:r>
              </a:p>
              <a:p>
                <a:pPr lvl="1">
                  <a:spcAft>
                    <a:spcPts val="1200"/>
                  </a:spcAft>
                </a:pPr>
                <a:r>
                  <a:rPr lang="en-US" dirty="0"/>
                  <a:t>Adjusted share-per-page ratio for VM with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dirty="0"/>
                  <a:t> shares and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 pages, of which a fraction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dirty="0"/>
                  <a:t> is active is </a:t>
                </a:r>
              </a:p>
              <a:p>
                <a:pPr marL="457200" lvl="1" indent="0">
                  <a:spcBef>
                    <a:spcPts val="12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num>
                        <m:den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(1−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 marL="457200" lvl="1" indent="0">
                  <a:spcBef>
                    <a:spcPts val="1200"/>
                  </a:spcBef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56" t="-15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5D7FE1-C365-9209-0900-99A61026B1F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C11893B-F36D-4B1A-AA1C-4BC2EA1CC188}" type="slidenum">
              <a:rPr lang="en-US" smtClean="0"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008597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Measuring idle memory (I)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Through statistical sampling</a:t>
            </a:r>
          </a:p>
          <a:p>
            <a:pPr lvl="1"/>
            <a:r>
              <a:rPr lang="en-US" dirty="0"/>
              <a:t>Sampling period is defined in units of VM execution time</a:t>
            </a:r>
          </a:p>
          <a:p>
            <a:r>
              <a:rPr lang="en-US" dirty="0"/>
              <a:t>Select small number of random pages</a:t>
            </a:r>
          </a:p>
          <a:p>
            <a:pPr lvl="1"/>
            <a:r>
              <a:rPr lang="en-US" dirty="0"/>
              <a:t>Invalidate any cached mapping for all sampled pages</a:t>
            </a:r>
          </a:p>
          <a:p>
            <a:pPr lvl="1"/>
            <a:r>
              <a:rPr lang="en-US" dirty="0"/>
              <a:t>Intercept next guest access</a:t>
            </a:r>
          </a:p>
          <a:p>
            <a:r>
              <a:rPr lang="en-US" dirty="0"/>
              <a:t>Default sampling rate is 100 pages every 100 seconds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F194FE-CDEA-76AA-0453-19E25436B39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C11893B-F36D-4B1A-AA1C-4BC2EA1CC188}" type="slidenum">
              <a:rPr lang="en-US" smtClean="0"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857208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tax rate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Idle page cost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den>
                    </m:f>
                  </m:oMath>
                </a14:m>
                <a:r>
                  <a:rPr lang="en-US" dirty="0"/>
                  <a:t> where </a:t>
                </a:r>
                <a:r>
                  <a:rPr lang="el-GR" dirty="0"/>
                  <a:t>τ</a:t>
                </a:r>
                <a:r>
                  <a:rPr lang="en-US" dirty="0"/>
                  <a:t> is the tax rate</a:t>
                </a:r>
              </a:p>
              <a:p>
                <a:pPr lvl="1"/>
                <a:r>
                  <a:rPr lang="el-GR" dirty="0"/>
                  <a:t>τ</a:t>
                </a:r>
                <a:r>
                  <a:rPr lang="en-US" dirty="0"/>
                  <a:t> = 0 means no penalty</a:t>
                </a:r>
              </a:p>
              <a:p>
                <a:pPr lvl="1"/>
                <a:r>
                  <a:rPr lang="el-GR" dirty="0"/>
                  <a:t>τ</a:t>
                </a:r>
                <a:r>
                  <a:rPr lang="en-US" dirty="0"/>
                  <a:t> close to 1 allows all idle memory to be reclaimed </a:t>
                </a:r>
              </a:p>
              <a:p>
                <a:r>
                  <a:rPr lang="en-US" dirty="0"/>
                  <a:t>ESX Server uses a default idle tax rate of 75%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A288B9-83F7-6AFE-AEA1-9AFE6621240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C11893B-F36D-4B1A-AA1C-4BC2EA1CC188}" type="slidenum">
              <a:rPr lang="en-US" smtClean="0"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87197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Measuring idle memory (I)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Through statistical sampling</a:t>
            </a:r>
          </a:p>
          <a:p>
            <a:pPr lvl="1"/>
            <a:r>
              <a:rPr lang="en-US" dirty="0"/>
              <a:t>Sampling period is defined in units of VM execution time</a:t>
            </a:r>
          </a:p>
          <a:p>
            <a:r>
              <a:rPr lang="en-US" dirty="0"/>
              <a:t>Select small number of random pages</a:t>
            </a:r>
          </a:p>
          <a:p>
            <a:pPr lvl="1"/>
            <a:r>
              <a:rPr lang="en-US" dirty="0"/>
              <a:t>Invalidate any cached mapping for all sampled pages</a:t>
            </a:r>
          </a:p>
          <a:p>
            <a:pPr lvl="1"/>
            <a:r>
              <a:rPr lang="en-US" dirty="0"/>
              <a:t>Intercept next guest access</a:t>
            </a:r>
          </a:p>
          <a:p>
            <a:r>
              <a:rPr lang="en-US" dirty="0"/>
              <a:t>Default sampling rate is 100 pages every 30 seconds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485963-0E56-15B1-4306-CC5384D54B7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C11893B-F36D-4B1A-AA1C-4BC2EA1CC188}" type="slidenum">
              <a:rPr lang="en-US" smtClean="0"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396759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Measuring idle memory (II)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Maintain three moving averages of fraction of memory </a:t>
            </a:r>
            <a:r>
              <a:rPr lang="en-US" i="1" dirty="0"/>
              <a:t>f </a:t>
            </a:r>
            <a:r>
              <a:rPr lang="en-US" dirty="0"/>
              <a:t>that is actively accessed</a:t>
            </a:r>
          </a:p>
          <a:p>
            <a:pPr lvl="1"/>
            <a:r>
              <a:rPr lang="en-US" dirty="0"/>
              <a:t>Slow moving</a:t>
            </a:r>
          </a:p>
          <a:p>
            <a:pPr lvl="1"/>
            <a:r>
              <a:rPr lang="en-US" dirty="0"/>
              <a:t>Fast moving</a:t>
            </a:r>
          </a:p>
          <a:p>
            <a:pPr lvl="1"/>
            <a:r>
              <a:rPr lang="en-US" dirty="0"/>
              <a:t>Version incorporating counts from current sampling period</a:t>
            </a:r>
          </a:p>
          <a:p>
            <a:r>
              <a:rPr lang="en-US" dirty="0"/>
              <a:t>Use highest estimate of </a:t>
            </a:r>
            <a:r>
              <a:rPr lang="en-US" i="1" dirty="0"/>
              <a:t>f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B3D26D-3837-D10D-8211-64A113B1746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C11893B-F36D-4B1A-AA1C-4BC2EA1CC188}" type="slidenum">
              <a:rPr lang="en-US" smtClean="0"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898259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Benefits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609600" y="1973248"/>
            <a:ext cx="2960536" cy="3886200"/>
          </a:xfrm>
        </p:spPr>
        <p:txBody>
          <a:bodyPr/>
          <a:lstStyle/>
          <a:p>
            <a:r>
              <a:rPr lang="en-US" dirty="0"/>
              <a:t>Two processes are promised 256MB of RAM</a:t>
            </a:r>
          </a:p>
          <a:p>
            <a:r>
              <a:rPr lang="en-US" dirty="0"/>
              <a:t>Due to overbooking, can only get less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5292" y="1296009"/>
            <a:ext cx="8068541" cy="545125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40278" y="1557749"/>
            <a:ext cx="271260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/>
              <a:t>Without idle tax:</a:t>
            </a:r>
          </a:p>
          <a:p>
            <a:r>
              <a:rPr lang="en-US" sz="2400" b="1" i="1" dirty="0"/>
              <a:t>Equal allocations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8001" y="654529"/>
            <a:ext cx="391164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/>
              <a:t>With idle tax:</a:t>
            </a:r>
          </a:p>
          <a:p>
            <a:r>
              <a:rPr lang="en-US" sz="2400" b="1" i="1" dirty="0"/>
              <a:t>Allocations reflect usage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2930ACA-0697-9754-2D79-14BCA637F52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C11893B-F36D-4B1A-AA1C-4BC2EA1CC188}" type="slidenum">
              <a:rPr lang="en-US" smtClean="0"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135614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699906" y="2378651"/>
            <a:ext cx="7460094" cy="1050349"/>
          </a:xfrm>
        </p:spPr>
        <p:txBody>
          <a:bodyPr/>
          <a:lstStyle/>
          <a:p>
            <a:r>
              <a:rPr lang="en-US" dirty="0"/>
              <a:t>I/O page remapping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DFDE74B-1898-86A0-14FD-F4DE5425571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C11893B-F36D-4B1A-AA1C-4BC2EA1CC188}" type="slidenum">
              <a:rPr lang="en-US" smtClean="0"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858547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I/O page remapping (I)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Specific to 32-bit processors with extension allowing them to access 64 GB of RAM using extended 36-bit addresses</a:t>
            </a:r>
          </a:p>
          <a:p>
            <a:pPr>
              <a:spcBef>
                <a:spcPts val="1200"/>
              </a:spcBef>
            </a:pPr>
            <a:r>
              <a:rPr lang="en-US" dirty="0"/>
              <a:t>Caused problems with DMA that could only address the lowest 4GB of memory</a:t>
            </a:r>
          </a:p>
          <a:p>
            <a:r>
              <a:rPr lang="en-US" dirty="0"/>
              <a:t>Solution was</a:t>
            </a:r>
          </a:p>
          <a:p>
            <a:pPr lvl="1"/>
            <a:r>
              <a:rPr lang="en-US" dirty="0"/>
              <a:t>Track “hot” pages in high memory with a lot of I/O traffic</a:t>
            </a:r>
          </a:p>
          <a:p>
            <a:pPr lvl="1"/>
            <a:r>
              <a:rPr lang="en-US" dirty="0"/>
              <a:t>Remap them in low memory</a:t>
            </a:r>
          </a:p>
          <a:p>
            <a:r>
              <a:rPr lang="en-US" dirty="0"/>
              <a:t>Can increase demand for low-memory pages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3A69B4-6408-14F1-1725-72E41249FC3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C11893B-F36D-4B1A-AA1C-4BC2EA1CC188}" type="slidenum">
              <a:rPr lang="en-US" smtClean="0"/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602545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I/O page remapping (I)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Solution addressed a limitation of 32-bit address spaces</a:t>
            </a:r>
          </a:p>
          <a:p>
            <a:pPr lvl="1"/>
            <a:r>
              <a:rPr lang="en-US" dirty="0"/>
              <a:t>Less an issue today with 64-bit address spaces</a:t>
            </a:r>
          </a:p>
          <a:p>
            <a:pPr lvl="1"/>
            <a:r>
              <a:rPr lang="en-US" dirty="0"/>
              <a:t>Will probably take a long time before the problem reappear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9036A8-9951-76F0-C110-5242E13E7FC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C11893B-F36D-4B1A-AA1C-4BC2EA1CC188}" type="slidenum">
              <a:rPr lang="en-US" smtClean="0"/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208027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282826" y="1190193"/>
            <a:ext cx="8825056" cy="2852737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Higher-level dynamic reallocation policy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58E17AD-EB91-7AD5-D365-A8A48090131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C11893B-F36D-4B1A-AA1C-4BC2EA1CC188}" type="slidenum">
              <a:rPr lang="en-US" smtClean="0"/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833368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From the paper</a:t>
            </a:r>
          </a:p>
          <a:p>
            <a:pPr lvl="1"/>
            <a:r>
              <a:rPr lang="en-US" sz="2400" dirty="0"/>
              <a:t>A new ballooning technique reclaims memory from a VM by implicitly causing the guest OS to invoke its own memory management routines.</a:t>
            </a:r>
          </a:p>
          <a:p>
            <a:pPr lvl="1"/>
            <a:r>
              <a:rPr lang="en-US" sz="2400" dirty="0"/>
              <a:t>An idle memory tax was introduced to solve an open problem in share-based management of space-shared resources, enabling both performance isolation and efficient memory utilization.</a:t>
            </a:r>
          </a:p>
          <a:p>
            <a:pPr lvl="1"/>
            <a:r>
              <a:rPr lang="en-US" sz="2400" dirty="0"/>
              <a:t>Idleness is measured via a statistical working set estimator.</a:t>
            </a:r>
          </a:p>
          <a:p>
            <a:pPr lvl="1"/>
            <a:r>
              <a:rPr lang="en-US" sz="2400" dirty="0"/>
              <a:t>Content-based transparent page sharing exploits sharing opportunities within and between VMs without any guest OS involvement. …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F092D16-37CF-F3C8-C8FA-C204D190E83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C11893B-F36D-4B1A-AA1C-4BC2EA1CC188}" type="slidenum">
              <a:rPr lang="en-US" smtClean="0"/>
              <a:t>41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0363198"/>
      </p:ext>
    </p:extLst>
  </p:cSld>
  <p:clrMapOvr>
    <a:masterClrMapping/>
  </p:clrMapOvr>
</p:sld>
</file>

<file path=ppt/theme/theme1.xml><?xml version="1.0" encoding="utf-8"?>
<a:theme xmlns:a="http://schemas.openxmlformats.org/drawingml/2006/main" name="Pixel">
  <a:themeElements>
    <a:clrScheme name="Pixel 7">
      <a:dk1>
        <a:srgbClr val="000000"/>
      </a:dk1>
      <a:lt1>
        <a:srgbClr val="FFFFFF"/>
      </a:lt1>
      <a:dk2>
        <a:srgbClr val="000000"/>
      </a:dk2>
      <a:lt2>
        <a:srgbClr val="CC3300"/>
      </a:lt2>
      <a:accent1>
        <a:srgbClr val="FFCC00"/>
      </a:accent1>
      <a:accent2>
        <a:srgbClr val="CC6600"/>
      </a:accent2>
      <a:accent3>
        <a:srgbClr val="FFFFFF"/>
      </a:accent3>
      <a:accent4>
        <a:srgbClr val="000000"/>
      </a:accent4>
      <a:accent5>
        <a:srgbClr val="FFE2AA"/>
      </a:accent5>
      <a:accent6>
        <a:srgbClr val="B95C00"/>
      </a:accent6>
      <a:hlink>
        <a:srgbClr val="663300"/>
      </a:hlink>
      <a:folHlink>
        <a:srgbClr val="CC9900"/>
      </a:folHlink>
    </a:clrScheme>
    <a:fontScheme name="Pixel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cs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cs typeface="Arial" panose="020B0604020202020204" pitchFamily="34" charset="0"/>
          </a:defRPr>
        </a:defPPr>
      </a:lstStyle>
    </a:lnDef>
  </a:objectDefaults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Book Chapter VIIII [Compatibility Mode]" id="{25D45D3C-36C0-4594-81E2-3243780395F3}" vid="{03FD76ED-B60A-4FB7-8934-0E1A6803D12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New UH Red</Template>
  <TotalTime>514</TotalTime>
  <Words>2337</Words>
  <Application>Microsoft Office PowerPoint</Application>
  <PresentationFormat>Widescreen</PresentationFormat>
  <Paragraphs>261</Paragraphs>
  <Slides>41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8" baseType="lpstr">
      <vt:lpstr>Aptos</vt:lpstr>
      <vt:lpstr>Arial</vt:lpstr>
      <vt:lpstr>Arial Black</vt:lpstr>
      <vt:lpstr>Cambria Math</vt:lpstr>
      <vt:lpstr>Times New Roman</vt:lpstr>
      <vt:lpstr>Wingdings</vt:lpstr>
      <vt:lpstr>Pixel</vt:lpstr>
      <vt:lpstr>Memory Resource Management in VMware ESX Server</vt:lpstr>
      <vt:lpstr>Paper highlights </vt:lpstr>
      <vt:lpstr>VMWare ESX</vt:lpstr>
      <vt:lpstr>PowerPoint Presentation</vt:lpstr>
      <vt:lpstr>Memory virtualization</vt:lpstr>
      <vt:lpstr>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Paging data structures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vt:lpstr>
      <vt:lpstr>Reclaiming memory space </vt:lpstr>
      <vt:lpstr>Motivation</vt:lpstr>
      <vt:lpstr>Ballooning</vt:lpstr>
      <vt:lpstr>Ballooning</vt:lpstr>
      <vt:lpstr>Main advantage</vt:lpstr>
      <vt:lpstr>Memory protection</vt:lpstr>
      <vt:lpstr>Implementation</vt:lpstr>
      <vt:lpstr>Ballooning performance</vt:lpstr>
      <vt:lpstr>Limitations</vt:lpstr>
      <vt:lpstr>Demand paging</vt:lpstr>
      <vt:lpstr>Sharing memory</vt:lpstr>
      <vt:lpstr>Sharing memory</vt:lpstr>
      <vt:lpstr>Content-based page sharing</vt:lpstr>
      <vt:lpstr>A hashing approach</vt:lpstr>
      <vt:lpstr>Hint pages</vt:lpstr>
      <vt:lpstr>Implementation</vt:lpstr>
      <vt:lpstr>Implementation</vt:lpstr>
      <vt:lpstr>More details</vt:lpstr>
      <vt:lpstr>When to scan</vt:lpstr>
      <vt:lpstr>Performance</vt:lpstr>
      <vt:lpstr>Real world data</vt:lpstr>
      <vt:lpstr>Competing for memory</vt:lpstr>
      <vt:lpstr>Shares v. Working Sets</vt:lpstr>
      <vt:lpstr>Share-based allocation</vt:lpstr>
      <vt:lpstr>Reclaiming idle memory</vt:lpstr>
      <vt:lpstr>Measuring idle memory (I)</vt:lpstr>
      <vt:lpstr>The tax rate</vt:lpstr>
      <vt:lpstr>Measuring idle memory (I)</vt:lpstr>
      <vt:lpstr>Measuring idle memory (II)</vt:lpstr>
      <vt:lpstr>Benefits</vt:lpstr>
      <vt:lpstr>I/O page remapping</vt:lpstr>
      <vt:lpstr>I/O page remapping (I)</vt:lpstr>
      <vt:lpstr>I/O page remapping (I)</vt:lpstr>
      <vt:lpstr>Higher-level dynamic reallocation policy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Memory Resource Management in VMware ESX Server</dc:title>
  <dc:creator>Jehan-Francois Paris</dc:creator>
  <cp:lastModifiedBy>Hoàng Đình Hạnh</cp:lastModifiedBy>
  <cp:revision>46</cp:revision>
  <dcterms:created xsi:type="dcterms:W3CDTF">2019-11-18T16:56:31Z</dcterms:created>
  <dcterms:modified xsi:type="dcterms:W3CDTF">2025-09-14T10:09:37Z</dcterms:modified>
</cp:coreProperties>
</file>