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056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F9224F-B679-475F-ADCB-FCB0EFC37E9B}" type="datetimeFigureOut">
              <a:rPr lang="en-US" smtClean="0"/>
              <a:t>29-08-2024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C6BE99-AF75-479E-9DEC-E48B7423A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552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00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45C51-2908-4F83-9059-357E7E857170}" type="datetime1">
              <a:rPr lang="en-US" smtClean="0"/>
              <a:t>29-08-2024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00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79E27-A673-46CB-A680-0A5744977D94}" type="datetime1">
              <a:rPr lang="en-US" smtClean="0"/>
              <a:t>29-08-2024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8B175-5647-4EC8-8E96-D4AD47BEF36B}" type="datetime1">
              <a:rPr lang="en-US" smtClean="0"/>
              <a:t>29-08-2024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86FA3-028A-40BA-A7DA-85EA55DFD80D}" type="datetime1">
              <a:rPr lang="en-US" smtClean="0"/>
              <a:t>29-08-2024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84503"/>
            <a:ext cx="12187428" cy="564489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1999" cy="9890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CF81E-9035-4E08-B990-2066C675C559}" type="datetime1">
              <a:rPr lang="en-US" smtClean="0"/>
              <a:t>29-08-2024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984503"/>
            <a:ext cx="12187428" cy="564489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1999" cy="98907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209" y="2517991"/>
            <a:ext cx="6307541" cy="410086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572" y="6629398"/>
            <a:ext cx="12187427" cy="228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80157" y="148539"/>
            <a:ext cx="6631685" cy="6060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6841" y="1086052"/>
            <a:ext cx="11325225" cy="4234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00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1CE56-8D32-4E58-98BA-A056231C98CB}" type="datetime1">
              <a:rPr lang="en-US" smtClean="0"/>
              <a:t>29-08-2024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41680" y="2535173"/>
            <a:ext cx="10669905" cy="1422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ẢO</a:t>
            </a:r>
            <a:r>
              <a:rPr sz="4000" b="1" spc="-7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HÓA</a:t>
            </a:r>
            <a:r>
              <a:rPr sz="4000" b="1" spc="-7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VÀ</a:t>
            </a:r>
            <a:r>
              <a:rPr sz="4000" b="1" spc="-7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KHẢ</a:t>
            </a:r>
            <a:r>
              <a:rPr sz="4000" b="1" spc="-7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NĂNG</a:t>
            </a:r>
            <a:r>
              <a:rPr sz="4000" b="1" spc="-6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MỞ</a:t>
            </a:r>
            <a:r>
              <a:rPr sz="4000" b="1" spc="-7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RỘNG</a:t>
            </a:r>
            <a:r>
              <a:rPr sz="4000" b="1" spc="-6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DỮ</a:t>
            </a:r>
            <a:r>
              <a:rPr sz="4000" b="1" spc="-7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spc="-20" dirty="0">
                <a:solidFill>
                  <a:srgbClr val="CC3300"/>
                </a:solidFill>
                <a:latin typeface="Arial"/>
                <a:cs typeface="Arial"/>
              </a:rPr>
              <a:t>LIỆU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5"/>
              </a:spcBef>
            </a:pPr>
            <a:endParaRPr sz="4000">
              <a:latin typeface="Arial"/>
              <a:cs typeface="Arial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4BEB93B-B06B-1CFD-32A3-018646F60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DEA86F-7829-9733-92ED-1AA16028BBE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100734" y="2535173"/>
            <a:ext cx="99910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CHƯƠNG</a:t>
            </a:r>
            <a:r>
              <a:rPr sz="4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3:</a:t>
            </a:r>
            <a:r>
              <a:rPr sz="4000" b="1" spc="-7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MỘT</a:t>
            </a:r>
            <a:r>
              <a:rPr sz="4000" b="1" spc="-8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SỐ</a:t>
            </a:r>
            <a:r>
              <a:rPr sz="4000" b="1" spc="-8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KỸ</a:t>
            </a:r>
            <a:r>
              <a:rPr sz="4000" b="1" spc="-9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THUẬT</a:t>
            </a:r>
            <a:r>
              <a:rPr sz="4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ẢO</a:t>
            </a:r>
            <a:r>
              <a:rPr sz="4000" b="1" spc="-8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spc="-25" dirty="0">
                <a:solidFill>
                  <a:srgbClr val="CC3300"/>
                </a:solidFill>
                <a:latin typeface="Arial"/>
                <a:cs typeface="Arial"/>
              </a:rPr>
              <a:t>HÓA</a:t>
            </a:r>
            <a:endParaRPr sz="4000">
              <a:latin typeface="Arial"/>
              <a:cs typeface="Arial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33B7771-B26F-EE9A-955F-B9B6FA984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44E74-32C5-32C8-50A9-CC23F4A1D2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2335">
              <a:lnSpc>
                <a:spcPct val="100000"/>
              </a:lnSpc>
              <a:spcBef>
                <a:spcPts val="100"/>
              </a:spcBef>
            </a:pPr>
            <a:r>
              <a:rPr dirty="0"/>
              <a:t>NỘI </a:t>
            </a:r>
            <a:r>
              <a:rPr spc="-20" dirty="0"/>
              <a:t>DUNG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33828"/>
            <a:ext cx="4294505" cy="322770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583565" indent="-570865">
              <a:lnSpc>
                <a:spcPct val="100000"/>
              </a:lnSpc>
              <a:spcBef>
                <a:spcPts val="1305"/>
              </a:spcBef>
              <a:buAutoNum type="romanUcPeriod"/>
              <a:tabLst>
                <a:tab pos="5835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endParaRPr sz="3200">
              <a:latin typeface="Times New Roman"/>
              <a:cs typeface="Times New Roman"/>
            </a:endParaRPr>
          </a:p>
          <a:p>
            <a:pPr marL="583565" indent="-570865">
              <a:lnSpc>
                <a:spcPct val="100000"/>
              </a:lnSpc>
              <a:spcBef>
                <a:spcPts val="1200"/>
              </a:spcBef>
              <a:buAutoNum type="romanUcPeriod"/>
              <a:tabLst>
                <a:tab pos="5835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endParaRPr sz="3200">
              <a:latin typeface="Times New Roman"/>
              <a:cs typeface="Times New Roman"/>
            </a:endParaRPr>
          </a:p>
          <a:p>
            <a:pPr marL="582930" indent="-570230">
              <a:lnSpc>
                <a:spcPct val="100000"/>
              </a:lnSpc>
              <a:spcBef>
                <a:spcPts val="1200"/>
              </a:spcBef>
              <a:buAutoNum type="romanUcPeriod"/>
              <a:tabLst>
                <a:tab pos="58293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mật</a:t>
            </a:r>
            <a:endParaRPr sz="3200">
              <a:latin typeface="Times New Roman"/>
              <a:cs typeface="Times New Roman"/>
            </a:endParaRPr>
          </a:p>
          <a:p>
            <a:pPr marL="583565" indent="-570865">
              <a:lnSpc>
                <a:spcPct val="100000"/>
              </a:lnSpc>
              <a:spcBef>
                <a:spcPts val="1205"/>
              </a:spcBef>
              <a:buAutoNum type="romanUcPeriod"/>
              <a:tabLst>
                <a:tab pos="5835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endParaRPr sz="3200">
              <a:latin typeface="Times New Roman"/>
              <a:cs typeface="Times New Roman"/>
            </a:endParaRPr>
          </a:p>
          <a:p>
            <a:pPr marL="583565" indent="-570865">
              <a:lnSpc>
                <a:spcPct val="100000"/>
              </a:lnSpc>
              <a:spcBef>
                <a:spcPts val="1200"/>
              </a:spcBef>
              <a:buAutoNum type="romanUcPeriod"/>
              <a:tabLst>
                <a:tab pos="5835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số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cụ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B4798-7F9A-0E41-67A1-73E315A3F39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15" dirty="0"/>
              <a:t> </a:t>
            </a:r>
            <a:r>
              <a:rPr dirty="0"/>
              <a:t>ẢO HÓA</a:t>
            </a:r>
            <a:r>
              <a:rPr spc="-5" dirty="0"/>
              <a:t> </a:t>
            </a:r>
            <a:r>
              <a:rPr dirty="0"/>
              <a:t>MÁY</a:t>
            </a:r>
            <a:r>
              <a:rPr spc="-15" dirty="0"/>
              <a:t> </a:t>
            </a:r>
            <a:r>
              <a:rPr spc="-25" dirty="0"/>
              <a:t>CHỦ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33828"/>
            <a:ext cx="11325860" cy="539178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3200" b="1" dirty="0">
                <a:solidFill>
                  <a:srgbClr val="0000CC"/>
                </a:solidFill>
                <a:latin typeface="Times New Roman"/>
                <a:cs typeface="Times New Roman"/>
              </a:rPr>
              <a:t>Khái</a:t>
            </a:r>
            <a:r>
              <a:rPr sz="3200" b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b="1" spc="-20" dirty="0">
                <a:solidFill>
                  <a:srgbClr val="0000CC"/>
                </a:solidFill>
                <a:latin typeface="Times New Roman"/>
                <a:cs typeface="Times New Roman"/>
              </a:rPr>
              <a:t>niệm:</a:t>
            </a:r>
            <a:endParaRPr sz="3200">
              <a:latin typeface="Times New Roman"/>
              <a:cs typeface="Times New Roman"/>
            </a:endParaRPr>
          </a:p>
          <a:p>
            <a:pPr marL="355600" marR="5715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(server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virtualization)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đã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hóa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phân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chia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tài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nguyên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từ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1 máy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thông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qua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mềm.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đầy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đủ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năng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lý,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được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điều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hành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thông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doanh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nghiệp.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tế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ngày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nay,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3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loại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server: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Server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vật</a:t>
            </a:r>
            <a:r>
              <a:rPr sz="30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lý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Server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(server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virtualization)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Server</a:t>
            </a:r>
            <a:r>
              <a:rPr sz="3000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Cloud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FF0EF-99F2-734E-44AB-34B6B413EB8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15" dirty="0"/>
              <a:t> </a:t>
            </a:r>
            <a:r>
              <a:rPr dirty="0"/>
              <a:t>ẢO HÓA</a:t>
            </a:r>
            <a:r>
              <a:rPr spc="-5" dirty="0"/>
              <a:t> </a:t>
            </a:r>
            <a:r>
              <a:rPr dirty="0"/>
              <a:t>MÁY</a:t>
            </a:r>
            <a:r>
              <a:rPr spc="-15" dirty="0"/>
              <a:t> </a:t>
            </a:r>
            <a:r>
              <a:rPr spc="-25" dirty="0"/>
              <a:t>CHỦ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4150" y="1231900"/>
          <a:ext cx="11484610" cy="1284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7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7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Server</a:t>
                      </a:r>
                      <a:r>
                        <a:rPr sz="1800" b="1" spc="-3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Virtualization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Server</a:t>
                      </a:r>
                      <a:r>
                        <a:rPr sz="1800" b="1" spc="-2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vật</a:t>
                      </a:r>
                      <a:r>
                        <a:rPr sz="1800" b="1" spc="-1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lý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Server</a:t>
                      </a:r>
                      <a:r>
                        <a:rPr sz="1800" b="1" spc="-3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Cloud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0805" marR="1619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Sử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dụng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công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nghệ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ảo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hóa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để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chia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máy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chủ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vật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lý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thành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nhiều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máy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chủ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ảo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292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Chạy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trên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phần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cứng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các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thiết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bị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như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CPU,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RAM,...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930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Kết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hợp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nhiều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máy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chủ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trên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hệ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thống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SAN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93547" y="2523744"/>
            <a:ext cx="11523345" cy="3667125"/>
            <a:chOff x="193547" y="2523744"/>
            <a:chExt cx="11523345" cy="36671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547" y="2863596"/>
              <a:ext cx="3797808" cy="23621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2503" y="2607564"/>
              <a:ext cx="3927348" cy="26182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59852" y="2523744"/>
              <a:ext cx="3756659" cy="3666744"/>
            </a:xfrm>
            <a:prstGeom prst="rect">
              <a:avLst/>
            </a:prstGeom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9D32A34-D4CB-C193-6F83-4384A87421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84503"/>
              <a:ext cx="12187428" cy="5644896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1999" cy="98907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572" y="2517991"/>
            <a:ext cx="12187555" cy="4340225"/>
            <a:chOff x="4572" y="2517991"/>
            <a:chExt cx="12187555" cy="434022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209" y="2517991"/>
              <a:ext cx="6307541" cy="410086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15" dirty="0"/>
              <a:t> </a:t>
            </a:r>
            <a:r>
              <a:rPr dirty="0"/>
              <a:t>ẢO HÓA</a:t>
            </a:r>
            <a:r>
              <a:rPr spc="-5" dirty="0"/>
              <a:t> </a:t>
            </a:r>
            <a:r>
              <a:rPr dirty="0"/>
              <a:t>MÁY</a:t>
            </a:r>
            <a:r>
              <a:rPr spc="-15" dirty="0"/>
              <a:t> </a:t>
            </a:r>
            <a:r>
              <a:rPr spc="-25" dirty="0"/>
              <a:t>CHỦ</a:t>
            </a: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01650" y="1060450"/>
          <a:ext cx="11480800" cy="4942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7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Tiêu</a:t>
                      </a:r>
                      <a:r>
                        <a:rPr sz="1800" b="1" spc="-5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chí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Server</a:t>
                      </a:r>
                      <a:r>
                        <a:rPr sz="1800" b="1" spc="-3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Virtualization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Server</a:t>
                      </a:r>
                      <a:r>
                        <a:rPr sz="1800" b="1" spc="-2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vật</a:t>
                      </a:r>
                      <a:r>
                        <a:rPr sz="1800" b="1" spc="-1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lý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Server</a:t>
                      </a:r>
                      <a:r>
                        <a:rPr sz="1800" b="1" spc="-3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Cloud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Ưu</a:t>
                      </a:r>
                      <a:r>
                        <a:rPr sz="1800" b="1" spc="-2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điểm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34315" algn="just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Tính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toàn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và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bảo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mật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cao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hơn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hình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thức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Share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Hosting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1440" marR="71247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Chi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phí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thuê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khá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rẻ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Dễ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sử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dụng, quản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lý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Bảo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trì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các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máy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chủ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ảo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khá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dễ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765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Xử lý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được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lượng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lớn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dữ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liệt,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không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lo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bị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gián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đoạn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Tài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nguyên</a:t>
                      </a:r>
                      <a:r>
                        <a:rPr sz="1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máy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chủ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tập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trung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quản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lý</a:t>
                      </a:r>
                      <a:r>
                        <a:rPr sz="1800" spc="-2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7081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Chi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phí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thấp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hơn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sử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dụng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máy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chủ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vật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lý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Dễ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sao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lưu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dữ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liệu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Nhược</a:t>
                      </a:r>
                      <a:r>
                        <a:rPr sz="1800" b="1" spc="-3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điểm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682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Lệ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thuộc vào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máy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chủ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vật lý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Giới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hạn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về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không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gian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lưu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trữ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266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Người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vận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hành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phải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có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trình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độ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công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nghệ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thông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tin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cao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2075" marR="55753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Chi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phí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lắp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đặt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và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vận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hành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cao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2075" marR="49720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Khó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mở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rộng hoặc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thu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hẹp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tài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nguyên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454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Phụ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thuộc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vào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chất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lượng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kết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nối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mạng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Vấn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đề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về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bảo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mật.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CCCC943-FD0B-C94A-F944-D1A13994F8F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15" dirty="0"/>
              <a:t> </a:t>
            </a:r>
            <a:r>
              <a:rPr dirty="0"/>
              <a:t>ẢO HÓA</a:t>
            </a:r>
            <a:r>
              <a:rPr spc="-5" dirty="0"/>
              <a:t> </a:t>
            </a:r>
            <a:r>
              <a:rPr dirty="0"/>
              <a:t>MÁY</a:t>
            </a:r>
            <a:r>
              <a:rPr spc="-15" dirty="0"/>
              <a:t> </a:t>
            </a:r>
            <a:r>
              <a:rPr spc="-25" dirty="0"/>
              <a:t>CHỦ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11323955" cy="564705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3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loại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(server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virtualization):</a:t>
            </a:r>
            <a:endParaRPr sz="3200">
              <a:latin typeface="Times New Roman"/>
              <a:cs typeface="Times New Roman"/>
            </a:endParaRPr>
          </a:p>
          <a:p>
            <a:pPr marL="755015" marR="5080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Full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virtualizaion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(ảo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hoàn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toàn):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sử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dụng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mềm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quản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lí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(hypervisor),</a:t>
            </a:r>
            <a:r>
              <a:rPr sz="3000" spc="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3000" spc="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loại</a:t>
            </a:r>
            <a:r>
              <a:rPr sz="3000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mềm</a:t>
            </a:r>
            <a:r>
              <a:rPr sz="3000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kết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nối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trực</a:t>
            </a:r>
            <a:r>
              <a:rPr sz="3000" spc="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tiếp</a:t>
            </a:r>
            <a:r>
              <a:rPr sz="30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với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không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gian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đĩa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CPU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chủ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vật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lý.</a:t>
            </a:r>
            <a:endParaRPr sz="3000">
              <a:latin typeface="Times New Roman"/>
              <a:cs typeface="Times New Roman"/>
            </a:endParaRPr>
          </a:p>
          <a:p>
            <a:pPr marL="1155700" marR="5715" lvl="2" indent="-228600" algn="just">
              <a:lnSpc>
                <a:spcPct val="100000"/>
              </a:lnSpc>
              <a:spcBef>
                <a:spcPts val="1210"/>
              </a:spcBef>
              <a:buChar char="•"/>
              <a:tabLst>
                <a:tab pos="1155700" algn="l"/>
              </a:tabLst>
            </a:pP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Hypervisor</a:t>
            </a:r>
            <a:r>
              <a:rPr sz="2800" spc="24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điều</a:t>
            </a:r>
            <a:r>
              <a:rPr sz="2800" spc="24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khiển</a:t>
            </a:r>
            <a:r>
              <a:rPr sz="2800" spc="25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các</a:t>
            </a:r>
            <a:r>
              <a:rPr sz="2800" spc="24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tài</a:t>
            </a:r>
            <a:r>
              <a:rPr sz="2800" spc="24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nguyên</a:t>
            </a:r>
            <a:r>
              <a:rPr sz="2800" spc="25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của</a:t>
            </a:r>
            <a:r>
              <a:rPr sz="2800" spc="24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máy</a:t>
            </a:r>
            <a:r>
              <a:rPr sz="2800" spc="25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chủ</a:t>
            </a:r>
            <a:r>
              <a:rPr sz="2800" spc="24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vật</a:t>
            </a:r>
            <a:r>
              <a:rPr sz="2800" spc="24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lý</a:t>
            </a:r>
            <a:r>
              <a:rPr sz="2800" spc="24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và</a:t>
            </a:r>
            <a:r>
              <a:rPr sz="2800" spc="254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giữ</a:t>
            </a:r>
            <a:r>
              <a:rPr sz="2800" spc="23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Times New Roman"/>
                <a:cs typeface="Times New Roman"/>
              </a:rPr>
              <a:t>mỗi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máy</a:t>
            </a:r>
            <a:r>
              <a:rPr sz="2800" spc="-1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chủ</a:t>
            </a:r>
            <a:r>
              <a:rPr sz="2800" spc="-1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ảo</a:t>
            </a:r>
            <a:r>
              <a:rPr sz="2800" spc="-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độc</a:t>
            </a:r>
            <a:r>
              <a:rPr sz="2800" spc="-1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lập</a:t>
            </a:r>
            <a:r>
              <a:rPr sz="2800" spc="-1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và</a:t>
            </a:r>
            <a:r>
              <a:rPr sz="2800" spc="-1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riêng</a:t>
            </a:r>
            <a:r>
              <a:rPr sz="2800" spc="-1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biệt</a:t>
            </a:r>
            <a:r>
              <a:rPr sz="2800" spc="-1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với</a:t>
            </a:r>
            <a:r>
              <a:rPr sz="2800" spc="-2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các</a:t>
            </a:r>
            <a:r>
              <a:rPr sz="2800" spc="-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máy chủ</a:t>
            </a:r>
            <a:r>
              <a:rPr sz="2800" spc="-1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áo</a:t>
            </a:r>
            <a:r>
              <a:rPr sz="2800" spc="-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Times New Roman"/>
                <a:cs typeface="Times New Roman"/>
              </a:rPr>
              <a:t>khác.</a:t>
            </a:r>
            <a:endParaRPr sz="2800">
              <a:latin typeface="Times New Roman"/>
              <a:cs typeface="Times New Roman"/>
            </a:endParaRPr>
          </a:p>
          <a:p>
            <a:pPr marL="1155700" marR="5715" lvl="2" indent="-228600" algn="just">
              <a:lnSpc>
                <a:spcPct val="100000"/>
              </a:lnSpc>
              <a:spcBef>
                <a:spcPts val="1200"/>
              </a:spcBef>
              <a:buChar char="•"/>
              <a:tabLst>
                <a:tab pos="1155700" algn="l"/>
              </a:tabLst>
            </a:pP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Có</a:t>
            </a:r>
            <a:r>
              <a:rPr sz="2800" spc="12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thể</a:t>
            </a:r>
            <a:r>
              <a:rPr sz="2800" spc="11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chuyển</a:t>
            </a:r>
            <a:r>
              <a:rPr sz="2800" spc="114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tiếp</a:t>
            </a:r>
            <a:r>
              <a:rPr sz="2800" spc="12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tài</a:t>
            </a:r>
            <a:r>
              <a:rPr sz="2800" spc="114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nguyên</a:t>
            </a:r>
            <a:r>
              <a:rPr sz="2800" spc="10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từ</a:t>
            </a:r>
            <a:r>
              <a:rPr sz="2800" spc="12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máy</a:t>
            </a:r>
            <a:r>
              <a:rPr sz="2800" spc="11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chủ</a:t>
            </a:r>
            <a:r>
              <a:rPr sz="2800" spc="12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vật</a:t>
            </a:r>
            <a:r>
              <a:rPr sz="2800" spc="12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lý</a:t>
            </a:r>
            <a:r>
              <a:rPr sz="2800" spc="114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tới</a:t>
            </a:r>
            <a:r>
              <a:rPr sz="2800" spc="114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máy</a:t>
            </a:r>
            <a:r>
              <a:rPr sz="2800" spc="12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chủ</a:t>
            </a:r>
            <a:r>
              <a:rPr sz="2800" spc="13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áo</a:t>
            </a:r>
            <a:r>
              <a:rPr sz="2800" spc="114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Times New Roman"/>
                <a:cs typeface="Times New Roman"/>
              </a:rPr>
              <a:t>chính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xác</a:t>
            </a:r>
            <a:r>
              <a:rPr sz="2800" spc="-5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đang</a:t>
            </a:r>
            <a:r>
              <a:rPr sz="2800" spc="-3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vận</a:t>
            </a:r>
            <a:r>
              <a:rPr sz="2800" spc="-4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hành</a:t>
            </a:r>
            <a:r>
              <a:rPr sz="2800" spc="-4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ứng</a:t>
            </a:r>
            <a:r>
              <a:rPr sz="2800" spc="-3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dụng</a:t>
            </a:r>
            <a:r>
              <a:rPr sz="2800" spc="-5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Times New Roman"/>
                <a:cs typeface="Times New Roman"/>
              </a:rPr>
              <a:t>đó.</a:t>
            </a:r>
            <a:endParaRPr sz="2800">
              <a:latin typeface="Times New Roman"/>
              <a:cs typeface="Times New Roman"/>
            </a:endParaRPr>
          </a:p>
          <a:p>
            <a:pPr marL="1155700" marR="6985" lvl="2" indent="-228600" algn="just">
              <a:lnSpc>
                <a:spcPct val="100000"/>
              </a:lnSpc>
              <a:spcBef>
                <a:spcPts val="1205"/>
              </a:spcBef>
              <a:buChar char="•"/>
              <a:tabLst>
                <a:tab pos="1155700" algn="l"/>
              </a:tabLst>
            </a:pP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Điểm</a:t>
            </a:r>
            <a:r>
              <a:rPr sz="2800" spc="50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hạn</a:t>
            </a:r>
            <a:r>
              <a:rPr sz="2800" spc="52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chế</a:t>
            </a:r>
            <a:r>
              <a:rPr sz="2800" spc="509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lớn</a:t>
            </a:r>
            <a:r>
              <a:rPr sz="2800" spc="52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nhất</a:t>
            </a:r>
            <a:r>
              <a:rPr sz="2800" spc="51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của</a:t>
            </a:r>
            <a:r>
              <a:rPr sz="2800" spc="49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việc</a:t>
            </a:r>
            <a:r>
              <a:rPr sz="2800" spc="509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sử</a:t>
            </a:r>
            <a:r>
              <a:rPr sz="2800" spc="509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dụng</a:t>
            </a:r>
            <a:r>
              <a:rPr sz="2800" spc="51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áo</a:t>
            </a:r>
            <a:r>
              <a:rPr sz="2800" spc="52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hóa</a:t>
            </a:r>
            <a:r>
              <a:rPr sz="2800" spc="509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hoàn</a:t>
            </a:r>
            <a:r>
              <a:rPr sz="2800" spc="52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toàn</a:t>
            </a:r>
            <a:r>
              <a:rPr sz="2800" spc="52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là</a:t>
            </a:r>
            <a:r>
              <a:rPr sz="2800" spc="51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Times New Roman"/>
                <a:cs typeface="Times New Roman"/>
              </a:rPr>
              <a:t>một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hypervisor</a:t>
            </a:r>
            <a:r>
              <a:rPr sz="2800" spc="17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có</a:t>
            </a:r>
            <a:r>
              <a:rPr sz="2800" spc="17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nhu</a:t>
            </a:r>
            <a:r>
              <a:rPr sz="2800" spc="17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cầu</a:t>
            </a:r>
            <a:r>
              <a:rPr sz="2800" spc="17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xử</a:t>
            </a:r>
            <a:r>
              <a:rPr sz="2800" spc="16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lý</a:t>
            </a:r>
            <a:r>
              <a:rPr sz="2800" spc="17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riêng,</a:t>
            </a:r>
            <a:r>
              <a:rPr sz="2800" spc="17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điều</a:t>
            </a:r>
            <a:r>
              <a:rPr sz="2800" spc="17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này</a:t>
            </a:r>
            <a:r>
              <a:rPr sz="2800" spc="18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có</a:t>
            </a:r>
            <a:r>
              <a:rPr sz="2800" spc="17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thể</a:t>
            </a:r>
            <a:r>
              <a:rPr sz="2800" spc="16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làm</a:t>
            </a:r>
            <a:r>
              <a:rPr sz="2800" spc="16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chậm</a:t>
            </a:r>
            <a:r>
              <a:rPr sz="2800" spc="16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các</a:t>
            </a:r>
            <a:r>
              <a:rPr sz="2800" spc="16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Times New Roman"/>
                <a:cs typeface="Times New Roman"/>
              </a:rPr>
              <a:t>ứng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dụng</a:t>
            </a:r>
            <a:r>
              <a:rPr sz="2800" spc="-2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và</a:t>
            </a:r>
            <a:r>
              <a:rPr sz="2800" spc="-2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ảnh</a:t>
            </a:r>
            <a:r>
              <a:rPr sz="2800" spc="-1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hưởng</a:t>
            </a:r>
            <a:r>
              <a:rPr sz="2800" spc="-2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đển</a:t>
            </a:r>
            <a:r>
              <a:rPr sz="2800" spc="-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hiệu</a:t>
            </a:r>
            <a:r>
              <a:rPr sz="2800" spc="-2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suất</a:t>
            </a:r>
            <a:r>
              <a:rPr sz="2800" spc="-1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của</a:t>
            </a:r>
            <a:r>
              <a:rPr sz="2800" spc="-2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máy</a:t>
            </a:r>
            <a:r>
              <a:rPr sz="2800" spc="-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Times New Roman"/>
                <a:cs typeface="Times New Roman"/>
              </a:rPr>
              <a:t>chủ.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B5D8F-C036-9477-6B79-01EF6F87024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15" dirty="0"/>
              <a:t> </a:t>
            </a:r>
            <a:r>
              <a:rPr dirty="0"/>
              <a:t>ẢO HÓA</a:t>
            </a:r>
            <a:r>
              <a:rPr spc="-5" dirty="0"/>
              <a:t> </a:t>
            </a:r>
            <a:r>
              <a:rPr dirty="0"/>
              <a:t>MÁY</a:t>
            </a:r>
            <a:r>
              <a:rPr spc="-15" dirty="0"/>
              <a:t> </a:t>
            </a:r>
            <a:r>
              <a:rPr spc="-25" dirty="0"/>
              <a:t>CHỦ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4041" y="1086053"/>
            <a:ext cx="10868025" cy="2831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 algn="just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</a:tabLst>
            </a:pP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Para-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Virtualization:</a:t>
            </a:r>
            <a:r>
              <a:rPr sz="3000" spc="130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Không</a:t>
            </a:r>
            <a:r>
              <a:rPr sz="3000" spc="130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giống</a:t>
            </a:r>
            <a:r>
              <a:rPr sz="3000" spc="135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như</a:t>
            </a:r>
            <a:r>
              <a:rPr sz="3000" spc="135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135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135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hoàn</a:t>
            </a:r>
            <a:r>
              <a:rPr sz="3000" spc="140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toàn,</a:t>
            </a:r>
            <a:r>
              <a:rPr sz="3000" spc="140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para-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virtualization</a:t>
            </a:r>
            <a:r>
              <a:rPr sz="3000" spc="3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là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việc</a:t>
            </a:r>
            <a:r>
              <a:rPr sz="3000" spc="3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toàn</a:t>
            </a:r>
            <a:r>
              <a:rPr sz="3000" spc="3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bộ</a:t>
            </a:r>
            <a:r>
              <a:rPr sz="3000" spc="3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mạng</a:t>
            </a:r>
            <a:r>
              <a:rPr sz="3000" spc="3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hoạt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động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cùng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nhau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như</a:t>
            </a:r>
            <a:r>
              <a:rPr sz="3000" spc="3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một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đơn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vị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gắn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kết.</a:t>
            </a:r>
            <a:endParaRPr sz="300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ct val="100000"/>
              </a:lnSpc>
              <a:spcBef>
                <a:spcPts val="1210"/>
              </a:spcBef>
              <a:buChar char="•"/>
              <a:tabLst>
                <a:tab pos="698500" algn="l"/>
              </a:tabLst>
            </a:pP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Mỗi</a:t>
            </a:r>
            <a:r>
              <a:rPr sz="2800" spc="10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hệ</a:t>
            </a:r>
            <a:r>
              <a:rPr sz="2800" spc="9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điều</a:t>
            </a:r>
            <a:r>
              <a:rPr sz="2800" spc="11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hành</a:t>
            </a:r>
            <a:r>
              <a:rPr sz="2800" spc="10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trên</a:t>
            </a:r>
            <a:r>
              <a:rPr sz="2800" spc="10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các</a:t>
            </a:r>
            <a:r>
              <a:rPr sz="2800" spc="11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máy</a:t>
            </a:r>
            <a:r>
              <a:rPr sz="2800" spc="11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chủ</a:t>
            </a:r>
            <a:r>
              <a:rPr sz="2800" spc="10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ảo</a:t>
            </a:r>
            <a:r>
              <a:rPr sz="2800" spc="11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đều</a:t>
            </a:r>
            <a:r>
              <a:rPr sz="2800" spc="10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nhận</a:t>
            </a:r>
            <a:r>
              <a:rPr sz="2800" spc="10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thức</a:t>
            </a:r>
            <a:r>
              <a:rPr sz="2800" spc="9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được</a:t>
            </a:r>
            <a:r>
              <a:rPr sz="2800" spc="9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nhau</a:t>
            </a:r>
            <a:r>
              <a:rPr sz="2800" spc="10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Times New Roman"/>
                <a:cs typeface="Times New Roman"/>
              </a:rPr>
              <a:t>trong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quá</a:t>
            </a:r>
            <a:r>
              <a:rPr sz="2800" spc="9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trình</a:t>
            </a:r>
            <a:r>
              <a:rPr sz="2800" spc="11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ảo</a:t>
            </a:r>
            <a:r>
              <a:rPr sz="2800" spc="10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hóa,</a:t>
            </a:r>
            <a:r>
              <a:rPr sz="2800" spc="8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hypervisor</a:t>
            </a:r>
            <a:r>
              <a:rPr sz="2800" spc="114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không</a:t>
            </a:r>
            <a:r>
              <a:rPr sz="2800" spc="10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cần</a:t>
            </a:r>
            <a:r>
              <a:rPr sz="2800" spc="10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sử</a:t>
            </a:r>
            <a:r>
              <a:rPr sz="2800" spc="9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dụng</a:t>
            </a:r>
            <a:r>
              <a:rPr sz="2800" spc="10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nhiều</a:t>
            </a:r>
            <a:r>
              <a:rPr sz="2800" spc="9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sức</a:t>
            </a:r>
            <a:r>
              <a:rPr sz="2800" spc="10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mạnh</a:t>
            </a:r>
            <a:r>
              <a:rPr sz="2800" spc="10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xử</a:t>
            </a:r>
            <a:r>
              <a:rPr sz="2800" spc="9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Times New Roman"/>
                <a:cs typeface="Times New Roman"/>
              </a:rPr>
              <a:t>lý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để</a:t>
            </a:r>
            <a:r>
              <a:rPr sz="2800" spc="-1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quản lý</a:t>
            </a:r>
            <a:r>
              <a:rPr sz="2800" spc="-1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hệ</a:t>
            </a:r>
            <a:r>
              <a:rPr sz="2800" spc="-1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điều</a:t>
            </a:r>
            <a:r>
              <a:rPr sz="2800" spc="-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Times New Roman"/>
                <a:cs typeface="Times New Roman"/>
              </a:rPr>
              <a:t>hành.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D2CFA-5AAA-CB3C-2BB0-99B4D95F8DB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15" dirty="0"/>
              <a:t> </a:t>
            </a:r>
            <a:r>
              <a:rPr dirty="0"/>
              <a:t>ẢO HÓA</a:t>
            </a:r>
            <a:r>
              <a:rPr spc="-5" dirty="0"/>
              <a:t> </a:t>
            </a:r>
            <a:r>
              <a:rPr dirty="0"/>
              <a:t>MÁY</a:t>
            </a:r>
            <a:r>
              <a:rPr spc="-15" dirty="0"/>
              <a:t> </a:t>
            </a:r>
            <a:r>
              <a:rPr spc="-25" dirty="0"/>
              <a:t>CHỦ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4041" y="1086053"/>
            <a:ext cx="10868660" cy="276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 algn="just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</a:tabLst>
            </a:pP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OS-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Level</a:t>
            </a:r>
            <a:r>
              <a:rPr sz="3000" spc="7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Virtualization:</a:t>
            </a:r>
            <a:r>
              <a:rPr sz="3000" spc="7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Không</a:t>
            </a:r>
            <a:r>
              <a:rPr sz="3000" spc="7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giống</a:t>
            </a:r>
            <a:r>
              <a:rPr sz="3000" spc="7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như</a:t>
            </a:r>
            <a:r>
              <a:rPr sz="3000" spc="7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sz="3000" spc="7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loại</a:t>
            </a:r>
            <a:r>
              <a:rPr sz="3000" spc="7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trên,</a:t>
            </a:r>
            <a:r>
              <a:rPr sz="3000" spc="7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OS-level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virtualization</a:t>
            </a:r>
            <a:r>
              <a:rPr sz="3000" spc="1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không</a:t>
            </a:r>
            <a:r>
              <a:rPr sz="3000" spc="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sử</a:t>
            </a:r>
            <a:r>
              <a:rPr sz="3000" spc="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dụng</a:t>
            </a:r>
            <a:r>
              <a:rPr sz="3000" spc="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hypervisior.</a:t>
            </a:r>
            <a:r>
              <a:rPr sz="3000" spc="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Thay</a:t>
            </a:r>
            <a:r>
              <a:rPr sz="3000" spc="1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vào</a:t>
            </a:r>
            <a:r>
              <a:rPr sz="3000" spc="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đó,</a:t>
            </a:r>
            <a:r>
              <a:rPr sz="3000" spc="1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khả</a:t>
            </a:r>
            <a:r>
              <a:rPr sz="3000" spc="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năng</a:t>
            </a:r>
            <a:r>
              <a:rPr sz="3000" spc="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ảo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hóa,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2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2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hệ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thống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vận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hành</a:t>
            </a:r>
            <a:r>
              <a:rPr sz="3000" spc="2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2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chủ</a:t>
            </a:r>
            <a:r>
              <a:rPr sz="3000" spc="2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vật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lý,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sẽ</a:t>
            </a:r>
            <a:r>
              <a:rPr sz="3000" spc="2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thực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hiện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tất</a:t>
            </a:r>
            <a:r>
              <a:rPr sz="3000" spc="4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cả</a:t>
            </a:r>
            <a:r>
              <a:rPr sz="3000" spc="4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4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nhiệm</a:t>
            </a:r>
            <a:r>
              <a:rPr sz="3000" spc="4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vụ</a:t>
            </a:r>
            <a:r>
              <a:rPr sz="3000" spc="4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4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3000" spc="4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hypervisor.</a:t>
            </a:r>
            <a:r>
              <a:rPr sz="3000" spc="45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Tuy</a:t>
            </a:r>
            <a:r>
              <a:rPr sz="3000" spc="43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nhiên,</a:t>
            </a:r>
            <a:r>
              <a:rPr sz="3000" spc="45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tất</a:t>
            </a:r>
            <a:r>
              <a:rPr sz="3000" spc="45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cả</a:t>
            </a:r>
            <a:r>
              <a:rPr sz="3000" spc="4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những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3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chủ</a:t>
            </a:r>
            <a:r>
              <a:rPr sz="3000" spc="3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3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phải</a:t>
            </a:r>
            <a:r>
              <a:rPr sz="3000" spc="3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chạy</a:t>
            </a:r>
            <a:r>
              <a:rPr sz="3000" spc="3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cùng</a:t>
            </a:r>
            <a:r>
              <a:rPr sz="3000" spc="3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hệ</a:t>
            </a:r>
            <a:r>
              <a:rPr sz="3000" spc="3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thống</a:t>
            </a:r>
            <a:r>
              <a:rPr sz="3000" spc="3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vận</a:t>
            </a:r>
            <a:r>
              <a:rPr sz="3000" spc="3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hành</a:t>
            </a:r>
            <a:r>
              <a:rPr sz="3000" spc="3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ở</a:t>
            </a:r>
            <a:r>
              <a:rPr sz="3000" spc="3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phương</a:t>
            </a:r>
            <a:r>
              <a:rPr sz="3000" spc="3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pháp</a:t>
            </a:r>
            <a:r>
              <a:rPr sz="3000" spc="3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ảo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này.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44AEE-0A1A-FC05-01A0-9343E9565E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" y="1066800"/>
            <a:ext cx="12187555" cy="5791200"/>
            <a:chOff x="4572" y="1066800"/>
            <a:chExt cx="12187555" cy="5791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2744" y="1066800"/>
              <a:ext cx="4629911" cy="37048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056" y="1066800"/>
              <a:ext cx="5791200" cy="36576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15" dirty="0"/>
              <a:t> </a:t>
            </a:r>
            <a:r>
              <a:rPr dirty="0"/>
              <a:t>ẢO HÓA</a:t>
            </a:r>
            <a:r>
              <a:rPr spc="-5" dirty="0"/>
              <a:t> </a:t>
            </a:r>
            <a:r>
              <a:rPr dirty="0"/>
              <a:t>MÁY</a:t>
            </a:r>
            <a:r>
              <a:rPr spc="-15" dirty="0"/>
              <a:t> </a:t>
            </a:r>
            <a:r>
              <a:rPr spc="-25" dirty="0"/>
              <a:t>CHỦ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8A881-26A2-74FF-DDCE-FD0307739FE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15" dirty="0"/>
              <a:t> </a:t>
            </a:r>
            <a:r>
              <a:rPr dirty="0"/>
              <a:t>ẢO HÓA</a:t>
            </a:r>
            <a:r>
              <a:rPr spc="-5" dirty="0"/>
              <a:t> </a:t>
            </a:r>
            <a:r>
              <a:rPr dirty="0"/>
              <a:t>MÁY</a:t>
            </a:r>
            <a:r>
              <a:rPr spc="-15" dirty="0"/>
              <a:t> </a:t>
            </a:r>
            <a:r>
              <a:rPr spc="-25" dirty="0"/>
              <a:t>CHỦ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3320" cy="3319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  <a:tab pos="992505" algn="l"/>
                <a:tab pos="1870075" algn="l"/>
                <a:tab pos="2733040" algn="l"/>
                <a:tab pos="3277235" algn="l"/>
                <a:tab pos="4128770" algn="l"/>
                <a:tab pos="4854575" algn="l"/>
                <a:tab pos="5400040" algn="l"/>
                <a:tab pos="5969000" algn="l"/>
                <a:tab pos="6986905" algn="l"/>
                <a:tab pos="7847965" algn="l"/>
                <a:tab pos="8802370" algn="l"/>
                <a:tab pos="9639300" algn="l"/>
                <a:tab pos="10518140" algn="l"/>
              </a:tabLst>
            </a:pP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hóa,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cần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bộ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trung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gian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phân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tách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giữa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phần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mềm,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gọi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hypervisor.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2 loại Hypervisor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gồm: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195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Loại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1: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mềm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hoá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này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sẽ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chạy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trên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cứng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chủ</a:t>
            </a:r>
            <a:endParaRPr sz="3000">
              <a:latin typeface="Times New Roman"/>
              <a:cs typeface="Times New Roman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Loại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2: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mềm</a:t>
            </a:r>
            <a:r>
              <a:rPr sz="30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hoá</a:t>
            </a:r>
            <a:r>
              <a:rPr sz="30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này</a:t>
            </a:r>
            <a:r>
              <a:rPr sz="30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chạy</a:t>
            </a:r>
            <a:r>
              <a:rPr sz="30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như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mềm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ở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cùng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hệ</a:t>
            </a:r>
            <a:r>
              <a:rPr sz="30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điều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hành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chủ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54C1E-1270-9436-A35C-A73E8941E7B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15" dirty="0"/>
              <a:t> </a:t>
            </a:r>
            <a:r>
              <a:rPr dirty="0"/>
              <a:t>ẢO HÓA</a:t>
            </a:r>
            <a:r>
              <a:rPr spc="-5" dirty="0"/>
              <a:t> </a:t>
            </a:r>
            <a:r>
              <a:rPr dirty="0"/>
              <a:t>MÁY</a:t>
            </a:r>
            <a:r>
              <a:rPr spc="-15" dirty="0"/>
              <a:t> </a:t>
            </a:r>
            <a:r>
              <a:rPr spc="-25" dirty="0"/>
              <a:t>CHỦ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8311515" cy="3115310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Lợi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ích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chủ: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Tự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động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quản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lý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dữ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liệu;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Giảm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số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lượng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chủ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vật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lý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cần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có;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Tăng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khả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năng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hồi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phục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dữ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liệu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nếu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xảy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ra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sự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cố;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Bảo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mật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thông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tin.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8A07C-EA6B-F146-7A64-70836559E71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15" dirty="0"/>
              <a:t> </a:t>
            </a:r>
            <a:r>
              <a:rPr dirty="0"/>
              <a:t>ẢO HÓA</a:t>
            </a:r>
            <a:r>
              <a:rPr spc="-5" dirty="0"/>
              <a:t> </a:t>
            </a:r>
            <a:r>
              <a:rPr dirty="0"/>
              <a:t>MÁY</a:t>
            </a:r>
            <a:r>
              <a:rPr spc="-15" dirty="0"/>
              <a:t> </a:t>
            </a:r>
            <a:r>
              <a:rPr spc="-25" dirty="0"/>
              <a:t>CHỦ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9519285" cy="433514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bước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triển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khai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Cloud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server: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Chọn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nhà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cung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cấp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dịch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vụ.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Lựa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chọn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gói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dịch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vụ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theo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nhu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cầu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công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việc.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Chọn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vị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trí</a:t>
            </a:r>
            <a:r>
              <a:rPr sz="30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đặt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server.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Cấu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hình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server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thông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qua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công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cụ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nhà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cung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cấp.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Cài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đặt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mềm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cần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thiết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cho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server.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Test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vận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hành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server.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426BE-A7A1-8BFC-41A6-AC613599EE8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1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THIẾT</a:t>
            </a:r>
            <a:r>
              <a:rPr spc="-10" dirty="0"/>
              <a:t> </a:t>
            </a:r>
            <a:r>
              <a:rPr dirty="0"/>
              <a:t>BỊ</a:t>
            </a:r>
            <a:r>
              <a:rPr spc="-10" dirty="0"/>
              <a:t> </a:t>
            </a:r>
            <a:r>
              <a:rPr dirty="0"/>
              <a:t>LƯU</a:t>
            </a:r>
            <a:r>
              <a:rPr spc="-10" dirty="0"/>
              <a:t> </a:t>
            </a:r>
            <a:r>
              <a:rPr spc="-25" dirty="0"/>
              <a:t>TRỮ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4590" cy="4569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Storage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Virtualization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tập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hợp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thành</a:t>
            </a:r>
            <a:r>
              <a:rPr sz="3200" spc="2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2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2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từ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nhiều</a:t>
            </a:r>
            <a:r>
              <a:rPr sz="3200" spc="4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3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3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4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thành</a:t>
            </a:r>
            <a:r>
              <a:rPr sz="3200" spc="3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3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4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40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3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duy</a:t>
            </a:r>
            <a:r>
              <a:rPr sz="3200" spc="3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nhất</a:t>
            </a:r>
            <a:r>
              <a:rPr sz="320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–</a:t>
            </a:r>
            <a:r>
              <a:rPr sz="3200" spc="3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hoặc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nhóm</a:t>
            </a:r>
            <a:r>
              <a:rPr sz="3200" spc="3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dung</a:t>
            </a:r>
            <a:r>
              <a:rPr sz="3200" spc="3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lượng</a:t>
            </a:r>
            <a:r>
              <a:rPr sz="3200" spc="3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storage</a:t>
            </a:r>
            <a:r>
              <a:rPr sz="3200" spc="3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khả</a:t>
            </a:r>
            <a:r>
              <a:rPr sz="3200" spc="3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3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–</a:t>
            </a:r>
            <a:r>
              <a:rPr sz="3200" spc="3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3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3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3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từ</a:t>
            </a:r>
            <a:r>
              <a:rPr sz="320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3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bảng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điều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khiển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trung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tâm.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nghệ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này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dựa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vào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xác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định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dung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lượng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trữ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4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sẵn</a:t>
            </a:r>
            <a:r>
              <a:rPr sz="3200" spc="4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từ</a:t>
            </a:r>
            <a:r>
              <a:rPr sz="3200" spc="4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4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4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4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4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4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4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sau</a:t>
            </a:r>
            <a:r>
              <a:rPr sz="3200" spc="4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đó</a:t>
            </a:r>
            <a:r>
              <a:rPr sz="3200" spc="4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tổng</a:t>
            </a:r>
            <a:r>
              <a:rPr sz="3200" spc="4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hợp</a:t>
            </a:r>
            <a:r>
              <a:rPr sz="3200" spc="4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dung</a:t>
            </a:r>
            <a:r>
              <a:rPr sz="3200" spc="4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lượng</a:t>
            </a:r>
            <a:r>
              <a:rPr sz="3200" spc="45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đó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thành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nhóm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bởi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chủ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theo</a:t>
            </a:r>
            <a:r>
              <a:rPr sz="3200" spc="6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kiến</a:t>
            </a:r>
            <a:r>
              <a:rPr sz="3200" spc="6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trúc</a:t>
            </a:r>
            <a:r>
              <a:rPr sz="3200" spc="7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truyền</a:t>
            </a:r>
            <a:r>
              <a:rPr sz="3200" spc="7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6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hoặc</a:t>
            </a:r>
            <a:r>
              <a:rPr sz="3200" spc="6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6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môi</a:t>
            </a:r>
            <a:r>
              <a:rPr sz="3200" spc="6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trường</a:t>
            </a:r>
            <a:r>
              <a:rPr sz="3200" spc="6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6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6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với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ảo.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86583-7B0D-E112-EF11-405F5AE5C0B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84503"/>
              <a:ext cx="12187428" cy="5644896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1999" cy="98907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572" y="1066800"/>
            <a:ext cx="12187555" cy="5791200"/>
            <a:chOff x="4572" y="1066800"/>
            <a:chExt cx="12187555" cy="579120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209" y="2517991"/>
              <a:ext cx="6307541" cy="410086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07079" y="1066800"/>
              <a:ext cx="5882639" cy="548640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1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THIẾT</a:t>
            </a:r>
            <a:r>
              <a:rPr spc="-10" dirty="0"/>
              <a:t> </a:t>
            </a:r>
            <a:r>
              <a:rPr dirty="0"/>
              <a:t>BỊ</a:t>
            </a:r>
            <a:r>
              <a:rPr spc="-10" dirty="0"/>
              <a:t> </a:t>
            </a:r>
            <a:r>
              <a:rPr dirty="0"/>
              <a:t>LƯU</a:t>
            </a:r>
            <a:r>
              <a:rPr spc="-10" dirty="0"/>
              <a:t> </a:t>
            </a:r>
            <a:r>
              <a:rPr spc="-25" dirty="0"/>
              <a:t>TRỮ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0347EF3-D5FA-B4CE-4C72-9DB4BDC727D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1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THIẾT</a:t>
            </a:r>
            <a:r>
              <a:rPr spc="-10" dirty="0"/>
              <a:t> </a:t>
            </a:r>
            <a:r>
              <a:rPr dirty="0"/>
              <a:t>BỊ</a:t>
            </a:r>
            <a:r>
              <a:rPr spc="-10" dirty="0"/>
              <a:t> </a:t>
            </a:r>
            <a:r>
              <a:rPr dirty="0"/>
              <a:t>LƯU</a:t>
            </a:r>
            <a:r>
              <a:rPr spc="-10" dirty="0"/>
              <a:t> </a:t>
            </a:r>
            <a:r>
              <a:rPr spc="-25" dirty="0"/>
              <a:t>TRỮ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6495" cy="3105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hình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thức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rất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cơ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bản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bằng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một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lớp</a:t>
            </a:r>
            <a:r>
              <a:rPr sz="320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3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3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</a:t>
            </a:r>
            <a:r>
              <a:rPr sz="3200" spc="3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giữa</a:t>
            </a:r>
            <a:r>
              <a:rPr sz="320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3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tài</a:t>
            </a:r>
            <a:r>
              <a:rPr sz="3200" spc="3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nguyên</a:t>
            </a:r>
            <a:r>
              <a:rPr sz="3200" spc="3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3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3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và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(máy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nhân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(PC),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hoặc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bất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kỳ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thiết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nào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truy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cập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vào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storage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).</a:t>
            </a:r>
            <a:endParaRPr sz="3200">
              <a:latin typeface="Times New Roman"/>
              <a:cs typeface="Times New Roman"/>
            </a:endParaRPr>
          </a:p>
          <a:p>
            <a:pPr marL="355600" marR="952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 mềm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giúp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điều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hành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(OS)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ứng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truy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cập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storage.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C2CA3-D57A-D60E-7698-6E5C18335D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1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THIẾT</a:t>
            </a:r>
            <a:r>
              <a:rPr spc="-10" dirty="0"/>
              <a:t> </a:t>
            </a:r>
            <a:r>
              <a:rPr dirty="0"/>
              <a:t>BỊ</a:t>
            </a:r>
            <a:r>
              <a:rPr spc="-10" dirty="0"/>
              <a:t> </a:t>
            </a:r>
            <a:r>
              <a:rPr dirty="0"/>
              <a:t>LƯU</a:t>
            </a:r>
            <a:r>
              <a:rPr spc="-10" dirty="0"/>
              <a:t> </a:t>
            </a:r>
            <a:r>
              <a:rPr spc="-25" dirty="0"/>
              <a:t>TRỮ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6495" cy="3594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985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5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</a:t>
            </a:r>
            <a:r>
              <a:rPr sz="3200" spc="5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5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5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5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tiếp</a:t>
            </a:r>
            <a:r>
              <a:rPr sz="3200" spc="5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nhận</a:t>
            </a:r>
            <a:r>
              <a:rPr sz="3200" spc="5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5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yêu</a:t>
            </a:r>
            <a:r>
              <a:rPr sz="3200" spc="5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cầu</a:t>
            </a:r>
            <a:r>
              <a:rPr sz="3200" spc="5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I/O</a:t>
            </a:r>
            <a:r>
              <a:rPr sz="3200" spc="5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từ</a:t>
            </a:r>
            <a:r>
              <a:rPr sz="3200" spc="5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5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5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lý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hoặc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gửi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yêu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cầu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đó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đến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vị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trí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thích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hợp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của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2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2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2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tổng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môi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trường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hóa.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Storage</a:t>
            </a:r>
            <a:r>
              <a:rPr sz="3200" spc="4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43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xuất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spc="4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giống</a:t>
            </a:r>
            <a:r>
              <a:rPr sz="3200" spc="4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ổ</a:t>
            </a:r>
            <a:r>
              <a:rPr sz="3200" spc="4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đĩa</a:t>
            </a:r>
            <a:r>
              <a:rPr sz="3200" spc="43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43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4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duy</a:t>
            </a:r>
            <a:r>
              <a:rPr sz="3200" spc="43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nhất,</a:t>
            </a:r>
            <a:r>
              <a:rPr sz="3200" spc="43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hoặc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Logical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Unit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Number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(LUN)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chấp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nhận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lệnh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đọc/ghi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chuẩn.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493D2-5250-5995-013B-F56C9B821B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1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THIẾT</a:t>
            </a:r>
            <a:r>
              <a:rPr spc="-10" dirty="0"/>
              <a:t> </a:t>
            </a:r>
            <a:r>
              <a:rPr dirty="0"/>
              <a:t>BỊ</a:t>
            </a:r>
            <a:r>
              <a:rPr spc="-10" dirty="0"/>
              <a:t> </a:t>
            </a:r>
            <a:r>
              <a:rPr dirty="0"/>
              <a:t>LƯU</a:t>
            </a:r>
            <a:r>
              <a:rPr spc="-10" dirty="0"/>
              <a:t> </a:t>
            </a:r>
            <a:r>
              <a:rPr spc="-25" dirty="0"/>
              <a:t>TRỮ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Để</a:t>
            </a:r>
            <a:r>
              <a:rPr spc="195" dirty="0"/>
              <a:t> </a:t>
            </a:r>
            <a:r>
              <a:rPr dirty="0"/>
              <a:t>cung</a:t>
            </a:r>
            <a:r>
              <a:rPr spc="185" dirty="0"/>
              <a:t> </a:t>
            </a:r>
            <a:r>
              <a:rPr dirty="0"/>
              <a:t>cấp</a:t>
            </a:r>
            <a:r>
              <a:rPr spc="185" dirty="0"/>
              <a:t> </a:t>
            </a:r>
            <a:r>
              <a:rPr dirty="0"/>
              <a:t>quyền</a:t>
            </a:r>
            <a:r>
              <a:rPr spc="190" dirty="0"/>
              <a:t> </a:t>
            </a:r>
            <a:r>
              <a:rPr dirty="0"/>
              <a:t>truy</a:t>
            </a:r>
            <a:r>
              <a:rPr spc="195" dirty="0"/>
              <a:t> </a:t>
            </a:r>
            <a:r>
              <a:rPr dirty="0"/>
              <a:t>cập</a:t>
            </a:r>
            <a:r>
              <a:rPr spc="195" dirty="0"/>
              <a:t> </a:t>
            </a:r>
            <a:r>
              <a:rPr dirty="0"/>
              <a:t>vào</a:t>
            </a:r>
            <a:r>
              <a:rPr spc="185" dirty="0"/>
              <a:t> </a:t>
            </a:r>
            <a:r>
              <a:rPr dirty="0"/>
              <a:t>dữ</a:t>
            </a:r>
            <a:r>
              <a:rPr spc="180" dirty="0"/>
              <a:t> </a:t>
            </a:r>
            <a:r>
              <a:rPr dirty="0"/>
              <a:t>liệu</a:t>
            </a:r>
            <a:r>
              <a:rPr spc="195" dirty="0"/>
              <a:t> </a:t>
            </a:r>
            <a:r>
              <a:rPr dirty="0"/>
              <a:t>được</a:t>
            </a:r>
            <a:r>
              <a:rPr spc="195" dirty="0"/>
              <a:t> </a:t>
            </a:r>
            <a:r>
              <a:rPr dirty="0"/>
              <a:t>lưu</a:t>
            </a:r>
            <a:r>
              <a:rPr spc="195" dirty="0"/>
              <a:t> </a:t>
            </a:r>
            <a:r>
              <a:rPr dirty="0"/>
              <a:t>trữ</a:t>
            </a:r>
            <a:r>
              <a:rPr spc="185" dirty="0"/>
              <a:t> </a:t>
            </a:r>
            <a:r>
              <a:rPr dirty="0"/>
              <a:t>trên</a:t>
            </a:r>
            <a:r>
              <a:rPr spc="200" dirty="0"/>
              <a:t> </a:t>
            </a:r>
            <a:r>
              <a:rPr dirty="0"/>
              <a:t>thiết</a:t>
            </a:r>
            <a:r>
              <a:rPr spc="180" dirty="0"/>
              <a:t> </a:t>
            </a:r>
            <a:r>
              <a:rPr spc="-25" dirty="0"/>
              <a:t>bị </a:t>
            </a:r>
            <a:r>
              <a:rPr dirty="0"/>
              <a:t>lưu</a:t>
            </a:r>
            <a:r>
              <a:rPr spc="790" dirty="0"/>
              <a:t> </a:t>
            </a:r>
            <a:r>
              <a:rPr dirty="0"/>
              <a:t>trữ</a:t>
            </a:r>
            <a:r>
              <a:rPr spc="780" dirty="0"/>
              <a:t> </a:t>
            </a:r>
            <a:r>
              <a:rPr dirty="0"/>
              <a:t>vật</a:t>
            </a:r>
            <a:r>
              <a:rPr spc="780" dirty="0"/>
              <a:t> </a:t>
            </a:r>
            <a:r>
              <a:rPr dirty="0"/>
              <a:t>lý,</a:t>
            </a:r>
            <a:r>
              <a:rPr spc="785" dirty="0"/>
              <a:t> </a:t>
            </a:r>
            <a:r>
              <a:rPr dirty="0"/>
              <a:t>phần</a:t>
            </a:r>
            <a:r>
              <a:rPr spc="790" dirty="0"/>
              <a:t> </a:t>
            </a:r>
            <a:r>
              <a:rPr dirty="0"/>
              <a:t>mềm</a:t>
            </a:r>
            <a:r>
              <a:rPr spc="785" dirty="0"/>
              <a:t> </a:t>
            </a:r>
            <a:r>
              <a:rPr dirty="0"/>
              <a:t>ảo</a:t>
            </a:r>
            <a:r>
              <a:rPr spc="795" dirty="0"/>
              <a:t> </a:t>
            </a:r>
            <a:r>
              <a:rPr dirty="0"/>
              <a:t>hóa  cần</a:t>
            </a:r>
            <a:r>
              <a:rPr spc="795" dirty="0"/>
              <a:t> </a:t>
            </a:r>
            <a:r>
              <a:rPr dirty="0"/>
              <a:t>tạo</a:t>
            </a:r>
            <a:r>
              <a:rPr spc="785" dirty="0"/>
              <a:t> </a:t>
            </a:r>
            <a:r>
              <a:rPr dirty="0"/>
              <a:t>bản</a:t>
            </a:r>
            <a:r>
              <a:rPr spc="790" dirty="0"/>
              <a:t> </a:t>
            </a:r>
            <a:r>
              <a:rPr dirty="0"/>
              <a:t>đồ</a:t>
            </a:r>
            <a:r>
              <a:rPr spc="795" dirty="0"/>
              <a:t> </a:t>
            </a:r>
            <a:r>
              <a:rPr dirty="0"/>
              <a:t>(map)</a:t>
            </a:r>
            <a:r>
              <a:rPr spc="785" dirty="0"/>
              <a:t> </a:t>
            </a:r>
            <a:r>
              <a:rPr spc="-20" dirty="0"/>
              <a:t>bằng </a:t>
            </a:r>
            <a:r>
              <a:rPr dirty="0"/>
              <a:t>metadata</a:t>
            </a:r>
            <a:r>
              <a:rPr spc="-5" dirty="0"/>
              <a:t> </a:t>
            </a:r>
            <a:r>
              <a:rPr dirty="0"/>
              <a:t>hoặc</a:t>
            </a:r>
            <a:r>
              <a:rPr spc="5" dirty="0"/>
              <a:t> </a:t>
            </a:r>
            <a:r>
              <a:rPr dirty="0"/>
              <a:t>trong</a:t>
            </a:r>
            <a:r>
              <a:rPr spc="-15" dirty="0"/>
              <a:t> </a:t>
            </a:r>
            <a:r>
              <a:rPr dirty="0"/>
              <a:t>một</a:t>
            </a:r>
            <a:r>
              <a:rPr spc="-10" dirty="0"/>
              <a:t> </a:t>
            </a:r>
            <a:r>
              <a:rPr dirty="0"/>
              <a:t>số trường</a:t>
            </a:r>
            <a:r>
              <a:rPr spc="-20" dirty="0"/>
              <a:t> </a:t>
            </a:r>
            <a:r>
              <a:rPr dirty="0"/>
              <a:t>hợp,</a:t>
            </a:r>
            <a:r>
              <a:rPr spc="-5" dirty="0"/>
              <a:t> </a:t>
            </a:r>
            <a:r>
              <a:rPr dirty="0"/>
              <a:t>sử</a:t>
            </a:r>
            <a:r>
              <a:rPr spc="-15" dirty="0"/>
              <a:t> </a:t>
            </a:r>
            <a:r>
              <a:rPr dirty="0"/>
              <a:t>dụng</a:t>
            </a:r>
            <a:r>
              <a:rPr spc="-5" dirty="0"/>
              <a:t> </a:t>
            </a:r>
            <a:r>
              <a:rPr dirty="0"/>
              <a:t>thuật</a:t>
            </a:r>
            <a:r>
              <a:rPr spc="-15" dirty="0"/>
              <a:t> </a:t>
            </a:r>
            <a:r>
              <a:rPr dirty="0"/>
              <a:t>toán để</a:t>
            </a:r>
            <a:r>
              <a:rPr spc="-15" dirty="0"/>
              <a:t> </a:t>
            </a:r>
            <a:r>
              <a:rPr spc="-20" dirty="0"/>
              <a:t>định </a:t>
            </a:r>
            <a:r>
              <a:rPr dirty="0"/>
              <a:t>vị</a:t>
            </a:r>
            <a:r>
              <a:rPr spc="-25" dirty="0"/>
              <a:t> </a:t>
            </a:r>
            <a:r>
              <a:rPr dirty="0"/>
              <a:t>dữ</a:t>
            </a:r>
            <a:r>
              <a:rPr spc="-20" dirty="0"/>
              <a:t> </a:t>
            </a:r>
            <a:r>
              <a:rPr dirty="0"/>
              <a:t>liệu</a:t>
            </a:r>
            <a:r>
              <a:rPr spc="-25" dirty="0"/>
              <a:t> </a:t>
            </a:r>
            <a:r>
              <a:rPr dirty="0"/>
              <a:t>một</a:t>
            </a:r>
            <a:r>
              <a:rPr spc="-20" dirty="0"/>
              <a:t> </a:t>
            </a:r>
            <a:r>
              <a:rPr dirty="0"/>
              <a:t>cách</a:t>
            </a:r>
            <a:r>
              <a:rPr spc="-20" dirty="0"/>
              <a:t> </a:t>
            </a:r>
            <a:r>
              <a:rPr dirty="0"/>
              <a:t>linh</a:t>
            </a:r>
            <a:r>
              <a:rPr spc="-25" dirty="0"/>
              <a:t> </a:t>
            </a:r>
            <a:r>
              <a:rPr spc="-10" dirty="0"/>
              <a:t>hoạt.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Sau</a:t>
            </a:r>
            <a:r>
              <a:rPr spc="235" dirty="0"/>
              <a:t> </a:t>
            </a:r>
            <a:r>
              <a:rPr dirty="0"/>
              <a:t>đó,</a:t>
            </a:r>
            <a:r>
              <a:rPr spc="220" dirty="0"/>
              <a:t> </a:t>
            </a:r>
            <a:r>
              <a:rPr dirty="0"/>
              <a:t>phần</a:t>
            </a:r>
            <a:r>
              <a:rPr spc="240" dirty="0"/>
              <a:t> </a:t>
            </a:r>
            <a:r>
              <a:rPr dirty="0"/>
              <a:t>mềm</a:t>
            </a:r>
            <a:r>
              <a:rPr spc="245" dirty="0"/>
              <a:t> </a:t>
            </a:r>
            <a:r>
              <a:rPr dirty="0"/>
              <a:t>ảo</a:t>
            </a:r>
            <a:r>
              <a:rPr spc="235" dirty="0"/>
              <a:t> </a:t>
            </a:r>
            <a:r>
              <a:rPr dirty="0"/>
              <a:t>hóa</a:t>
            </a:r>
            <a:r>
              <a:rPr spc="235" dirty="0"/>
              <a:t> </a:t>
            </a:r>
            <a:r>
              <a:rPr dirty="0"/>
              <a:t>sẽ</a:t>
            </a:r>
            <a:r>
              <a:rPr spc="245" dirty="0"/>
              <a:t> </a:t>
            </a:r>
            <a:r>
              <a:rPr dirty="0"/>
              <a:t>tiếp</a:t>
            </a:r>
            <a:r>
              <a:rPr spc="240" dirty="0"/>
              <a:t> </a:t>
            </a:r>
            <a:r>
              <a:rPr dirty="0"/>
              <a:t>nhận</a:t>
            </a:r>
            <a:r>
              <a:rPr spc="240" dirty="0"/>
              <a:t> </a:t>
            </a:r>
            <a:r>
              <a:rPr dirty="0"/>
              <a:t>các</a:t>
            </a:r>
            <a:r>
              <a:rPr spc="229" dirty="0"/>
              <a:t> </a:t>
            </a:r>
            <a:r>
              <a:rPr dirty="0"/>
              <a:t>yêu</a:t>
            </a:r>
            <a:r>
              <a:rPr spc="245" dirty="0"/>
              <a:t> </a:t>
            </a:r>
            <a:r>
              <a:rPr dirty="0"/>
              <a:t>cầu</a:t>
            </a:r>
            <a:r>
              <a:rPr spc="220" dirty="0"/>
              <a:t> </a:t>
            </a:r>
            <a:r>
              <a:rPr dirty="0"/>
              <a:t>đọc</a:t>
            </a:r>
            <a:r>
              <a:rPr spc="235" dirty="0"/>
              <a:t> </a:t>
            </a:r>
            <a:r>
              <a:rPr dirty="0"/>
              <a:t>và</a:t>
            </a:r>
            <a:r>
              <a:rPr spc="229" dirty="0"/>
              <a:t> </a:t>
            </a:r>
            <a:r>
              <a:rPr dirty="0"/>
              <a:t>ghi</a:t>
            </a:r>
            <a:r>
              <a:rPr spc="240" dirty="0"/>
              <a:t> </a:t>
            </a:r>
            <a:r>
              <a:rPr spc="-25" dirty="0"/>
              <a:t>từ </a:t>
            </a:r>
            <a:r>
              <a:rPr dirty="0"/>
              <a:t>các</a:t>
            </a:r>
            <a:r>
              <a:rPr spc="140" dirty="0"/>
              <a:t> </a:t>
            </a:r>
            <a:r>
              <a:rPr dirty="0"/>
              <a:t>ứng</a:t>
            </a:r>
            <a:r>
              <a:rPr spc="125" dirty="0"/>
              <a:t> </a:t>
            </a:r>
            <a:r>
              <a:rPr dirty="0"/>
              <a:t>dụng</a:t>
            </a:r>
            <a:r>
              <a:rPr spc="120" dirty="0"/>
              <a:t> </a:t>
            </a:r>
            <a:r>
              <a:rPr dirty="0"/>
              <a:t>và</a:t>
            </a:r>
            <a:r>
              <a:rPr spc="130" dirty="0"/>
              <a:t> </a:t>
            </a:r>
            <a:r>
              <a:rPr dirty="0"/>
              <a:t>sử</a:t>
            </a:r>
            <a:r>
              <a:rPr spc="135" dirty="0"/>
              <a:t> </a:t>
            </a:r>
            <a:r>
              <a:rPr dirty="0"/>
              <a:t>dụng</a:t>
            </a:r>
            <a:r>
              <a:rPr spc="120" dirty="0"/>
              <a:t> </a:t>
            </a:r>
            <a:r>
              <a:rPr dirty="0"/>
              <a:t>bản</a:t>
            </a:r>
            <a:r>
              <a:rPr spc="130" dirty="0"/>
              <a:t> </a:t>
            </a:r>
            <a:r>
              <a:rPr dirty="0"/>
              <a:t>đồ</a:t>
            </a:r>
            <a:r>
              <a:rPr spc="130" dirty="0"/>
              <a:t> </a:t>
            </a:r>
            <a:r>
              <a:rPr dirty="0"/>
              <a:t>mà</a:t>
            </a:r>
            <a:r>
              <a:rPr spc="140" dirty="0"/>
              <a:t> </a:t>
            </a:r>
            <a:r>
              <a:rPr dirty="0"/>
              <a:t>nó</a:t>
            </a:r>
            <a:r>
              <a:rPr spc="130" dirty="0"/>
              <a:t> </a:t>
            </a:r>
            <a:r>
              <a:rPr dirty="0"/>
              <a:t>đã</a:t>
            </a:r>
            <a:r>
              <a:rPr spc="130" dirty="0"/>
              <a:t> </a:t>
            </a:r>
            <a:r>
              <a:rPr dirty="0"/>
              <a:t>tạo</a:t>
            </a:r>
            <a:r>
              <a:rPr spc="135" dirty="0"/>
              <a:t> </a:t>
            </a:r>
            <a:r>
              <a:rPr dirty="0"/>
              <a:t>ra,</a:t>
            </a:r>
            <a:r>
              <a:rPr spc="130" dirty="0"/>
              <a:t> </a:t>
            </a:r>
            <a:r>
              <a:rPr dirty="0"/>
              <a:t>từ</a:t>
            </a:r>
            <a:r>
              <a:rPr spc="130" dirty="0"/>
              <a:t> </a:t>
            </a:r>
            <a:r>
              <a:rPr dirty="0"/>
              <a:t>đó</a:t>
            </a:r>
            <a:r>
              <a:rPr spc="130" dirty="0"/>
              <a:t> </a:t>
            </a:r>
            <a:r>
              <a:rPr dirty="0"/>
              <a:t>có</a:t>
            </a:r>
            <a:r>
              <a:rPr spc="140" dirty="0"/>
              <a:t> </a:t>
            </a:r>
            <a:r>
              <a:rPr dirty="0"/>
              <a:t>thể</a:t>
            </a:r>
            <a:r>
              <a:rPr spc="135" dirty="0"/>
              <a:t> </a:t>
            </a:r>
            <a:r>
              <a:rPr spc="-25" dirty="0"/>
              <a:t>tìm </a:t>
            </a:r>
            <a:r>
              <a:rPr dirty="0"/>
              <a:t>hoặc</a:t>
            </a:r>
            <a:r>
              <a:rPr spc="-25" dirty="0"/>
              <a:t> </a:t>
            </a:r>
            <a:r>
              <a:rPr dirty="0"/>
              <a:t>lưu dữ</a:t>
            </a:r>
            <a:r>
              <a:rPr spc="-25" dirty="0"/>
              <a:t> </a:t>
            </a:r>
            <a:r>
              <a:rPr dirty="0"/>
              <a:t>liệu</a:t>
            </a:r>
            <a:r>
              <a:rPr spc="-5" dirty="0"/>
              <a:t> </a:t>
            </a:r>
            <a:r>
              <a:rPr dirty="0"/>
              <a:t>vào</a:t>
            </a:r>
            <a:r>
              <a:rPr spc="-20" dirty="0"/>
              <a:t> </a:t>
            </a:r>
            <a:r>
              <a:rPr dirty="0"/>
              <a:t>thiết</a:t>
            </a:r>
            <a:r>
              <a:rPr spc="-5" dirty="0"/>
              <a:t> </a:t>
            </a:r>
            <a:r>
              <a:rPr dirty="0"/>
              <a:t>bị</a:t>
            </a:r>
            <a:r>
              <a:rPr spc="-15" dirty="0"/>
              <a:t> </a:t>
            </a:r>
            <a:r>
              <a:rPr dirty="0"/>
              <a:t>vật</a:t>
            </a:r>
            <a:r>
              <a:rPr spc="-30" dirty="0"/>
              <a:t> </a:t>
            </a:r>
            <a:r>
              <a:rPr dirty="0"/>
              <a:t>lý</a:t>
            </a:r>
            <a:r>
              <a:rPr spc="-5" dirty="0"/>
              <a:t> </a:t>
            </a:r>
            <a:r>
              <a:rPr dirty="0"/>
              <a:t>thích</a:t>
            </a:r>
            <a:r>
              <a:rPr spc="-10" dirty="0"/>
              <a:t> </a:t>
            </a:r>
            <a:r>
              <a:rPr spc="-20" dirty="0"/>
              <a:t>hợp.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D2534-7609-41EF-C802-C62E6257C1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1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THIẾT</a:t>
            </a:r>
            <a:r>
              <a:rPr spc="-10" dirty="0"/>
              <a:t> </a:t>
            </a:r>
            <a:r>
              <a:rPr dirty="0"/>
              <a:t>BỊ</a:t>
            </a:r>
            <a:r>
              <a:rPr spc="-10" dirty="0"/>
              <a:t> </a:t>
            </a:r>
            <a:r>
              <a:rPr dirty="0"/>
              <a:t>LƯU</a:t>
            </a:r>
            <a:r>
              <a:rPr spc="-10" dirty="0"/>
              <a:t> </a:t>
            </a:r>
            <a:r>
              <a:rPr spc="-25" dirty="0"/>
              <a:t>TRỮ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5887720" cy="1896110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2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phương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pháp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trữ: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trữ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dựa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trên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file;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trữ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dựa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trên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block.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9944" y="3119627"/>
            <a:ext cx="5715000" cy="315315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E22150-EE74-7C05-FA42-F78D088757E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1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THIẾT</a:t>
            </a:r>
            <a:r>
              <a:rPr spc="-10" dirty="0"/>
              <a:t> </a:t>
            </a:r>
            <a:r>
              <a:rPr dirty="0"/>
              <a:t>BỊ</a:t>
            </a:r>
            <a:r>
              <a:rPr spc="-10" dirty="0"/>
              <a:t> </a:t>
            </a:r>
            <a:r>
              <a:rPr dirty="0"/>
              <a:t>LƯU</a:t>
            </a:r>
            <a:r>
              <a:rPr spc="-10" dirty="0"/>
              <a:t> </a:t>
            </a:r>
            <a:r>
              <a:rPr spc="-25" dirty="0"/>
              <a:t>TRỮ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5860" cy="405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985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dựa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file: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ứng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cụ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thể,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áp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dụng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NAS.</a:t>
            </a:r>
            <a:endParaRPr sz="3200">
              <a:latin typeface="Times New Roman"/>
              <a:cs typeface="Times New Roman"/>
            </a:endParaRPr>
          </a:p>
          <a:p>
            <a:pPr marL="755015" marR="5080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Sử</a:t>
            </a:r>
            <a:r>
              <a:rPr sz="3000" spc="6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dụng</a:t>
            </a:r>
            <a:r>
              <a:rPr sz="3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giao</a:t>
            </a:r>
            <a:r>
              <a:rPr sz="3000" spc="6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thức</a:t>
            </a:r>
            <a:r>
              <a:rPr sz="3000" spc="6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Server</a:t>
            </a:r>
            <a:r>
              <a:rPr sz="3000" spc="6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Message</a:t>
            </a:r>
            <a:r>
              <a:rPr sz="3000" spc="6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Block</a:t>
            </a:r>
            <a:r>
              <a:rPr sz="3000" spc="6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(SMB)</a:t>
            </a:r>
            <a:r>
              <a:rPr sz="3000" spc="6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hoặc</a:t>
            </a:r>
            <a:r>
              <a:rPr sz="3000" spc="6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Common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Internet</a:t>
            </a:r>
            <a:r>
              <a:rPr sz="3000" spc="5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File</a:t>
            </a:r>
            <a:r>
              <a:rPr sz="3000" spc="5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System</a:t>
            </a:r>
            <a:r>
              <a:rPr sz="3000" spc="50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(CIFS)</a:t>
            </a:r>
            <a:r>
              <a:rPr sz="3000" spc="5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trong</a:t>
            </a:r>
            <a:r>
              <a:rPr sz="3000" spc="5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môi</a:t>
            </a:r>
            <a:r>
              <a:rPr sz="3000" spc="5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trường</a:t>
            </a:r>
            <a:r>
              <a:rPr sz="3000" spc="5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5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chủ</a:t>
            </a:r>
            <a:r>
              <a:rPr sz="3000" spc="5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Windows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hoặc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giao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thức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Network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File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System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(NFS)</a:t>
            </a:r>
            <a:r>
              <a:rPr sz="30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cho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hệ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thống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Linux;</a:t>
            </a:r>
            <a:endParaRPr sz="3000">
              <a:latin typeface="Times New Roman"/>
              <a:cs typeface="Times New Roman"/>
            </a:endParaRPr>
          </a:p>
          <a:p>
            <a:pPr marL="755015" marR="5080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85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85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90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trữ</a:t>
            </a:r>
            <a:r>
              <a:rPr sz="3000" spc="85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dựa</a:t>
            </a:r>
            <a:r>
              <a:rPr sz="3000" spc="85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trên</a:t>
            </a:r>
            <a:r>
              <a:rPr sz="3000" spc="90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file</a:t>
            </a:r>
            <a:r>
              <a:rPr sz="3000" spc="85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phá</a:t>
            </a:r>
            <a:r>
              <a:rPr sz="3000" spc="85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vỡ</a:t>
            </a:r>
            <a:r>
              <a:rPr sz="3000" spc="85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sự</a:t>
            </a:r>
            <a:r>
              <a:rPr sz="3000" spc="85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phụ</a:t>
            </a:r>
            <a:r>
              <a:rPr sz="3000" spc="85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thuộc</a:t>
            </a:r>
            <a:r>
              <a:rPr sz="3000" spc="95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trong</a:t>
            </a:r>
            <a:r>
              <a:rPr sz="3000" spc="90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một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mảng</a:t>
            </a:r>
            <a:r>
              <a:rPr sz="3000" spc="3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NAS</a:t>
            </a:r>
            <a:r>
              <a:rPr sz="3000" spc="3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thông</a:t>
            </a:r>
            <a:r>
              <a:rPr sz="3000" spc="3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thường</a:t>
            </a:r>
            <a:r>
              <a:rPr sz="3000" spc="3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giữa</a:t>
            </a:r>
            <a:r>
              <a:rPr sz="3000" spc="3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dữ</a:t>
            </a:r>
            <a:r>
              <a:rPr sz="3000" spc="3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liệu</a:t>
            </a:r>
            <a:r>
              <a:rPr sz="3000" spc="3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được</a:t>
            </a:r>
            <a:r>
              <a:rPr sz="3000" spc="3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truy</a:t>
            </a:r>
            <a:r>
              <a:rPr sz="3000" spc="3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cập</a:t>
            </a:r>
            <a:r>
              <a:rPr sz="3000" spc="3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3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vị</a:t>
            </a:r>
            <a:r>
              <a:rPr sz="3000" spc="3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trí</a:t>
            </a:r>
            <a:r>
              <a:rPr sz="3000" spc="3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của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storage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vật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lý.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E5C93-8458-6D3F-4433-6CF309E403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1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THIẾT</a:t>
            </a:r>
            <a:r>
              <a:rPr spc="-10" dirty="0"/>
              <a:t> </a:t>
            </a:r>
            <a:r>
              <a:rPr dirty="0"/>
              <a:t>BỊ</a:t>
            </a:r>
            <a:r>
              <a:rPr spc="-10" dirty="0"/>
              <a:t> </a:t>
            </a:r>
            <a:r>
              <a:rPr dirty="0"/>
              <a:t>LƯU</a:t>
            </a:r>
            <a:r>
              <a:rPr spc="-10" dirty="0"/>
              <a:t> </a:t>
            </a:r>
            <a:r>
              <a:rPr spc="-25" dirty="0"/>
              <a:t>TRỮ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5600" marR="5080" indent="-342900" algn="just">
              <a:lnSpc>
                <a:spcPct val="100499"/>
              </a:lnSpc>
              <a:spcBef>
                <a:spcPts val="8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Ảo</a:t>
            </a:r>
            <a:r>
              <a:rPr spc="405" dirty="0"/>
              <a:t> </a:t>
            </a:r>
            <a:r>
              <a:rPr dirty="0"/>
              <a:t>hóa</a:t>
            </a:r>
            <a:r>
              <a:rPr spc="415" dirty="0"/>
              <a:t> </a:t>
            </a:r>
            <a:r>
              <a:rPr dirty="0"/>
              <a:t>lưu</a:t>
            </a:r>
            <a:r>
              <a:rPr spc="425" dirty="0"/>
              <a:t> </a:t>
            </a:r>
            <a:r>
              <a:rPr dirty="0"/>
              <a:t>trữ</a:t>
            </a:r>
            <a:r>
              <a:rPr spc="400" dirty="0"/>
              <a:t> </a:t>
            </a:r>
            <a:r>
              <a:rPr dirty="0"/>
              <a:t>dựa</a:t>
            </a:r>
            <a:r>
              <a:rPr spc="420" dirty="0"/>
              <a:t> </a:t>
            </a:r>
            <a:r>
              <a:rPr dirty="0"/>
              <a:t>trên</a:t>
            </a:r>
            <a:r>
              <a:rPr spc="420" dirty="0"/>
              <a:t> </a:t>
            </a:r>
            <a:r>
              <a:rPr dirty="0"/>
              <a:t>block:</a:t>
            </a:r>
            <a:r>
              <a:rPr spc="420" dirty="0"/>
              <a:t>  </a:t>
            </a:r>
            <a:r>
              <a:rPr dirty="0"/>
              <a:t>tài</a:t>
            </a:r>
            <a:r>
              <a:rPr spc="409" dirty="0"/>
              <a:t> </a:t>
            </a:r>
            <a:r>
              <a:rPr dirty="0"/>
              <a:t>nguyên</a:t>
            </a:r>
            <a:r>
              <a:rPr spc="405" dirty="0"/>
              <a:t> </a:t>
            </a:r>
            <a:r>
              <a:rPr dirty="0"/>
              <a:t>lưu</a:t>
            </a:r>
            <a:r>
              <a:rPr spc="420" dirty="0"/>
              <a:t> </a:t>
            </a:r>
            <a:r>
              <a:rPr dirty="0"/>
              <a:t>trữ</a:t>
            </a:r>
            <a:r>
              <a:rPr spc="409" dirty="0"/>
              <a:t> </a:t>
            </a:r>
            <a:r>
              <a:rPr dirty="0"/>
              <a:t>thường</a:t>
            </a:r>
            <a:r>
              <a:rPr spc="425" dirty="0"/>
              <a:t> </a:t>
            </a:r>
            <a:r>
              <a:rPr spc="-20" dirty="0"/>
              <a:t>được </a:t>
            </a:r>
            <a:r>
              <a:rPr dirty="0"/>
              <a:t>truy</a:t>
            </a:r>
            <a:r>
              <a:rPr spc="195" dirty="0"/>
              <a:t>  </a:t>
            </a:r>
            <a:r>
              <a:rPr dirty="0"/>
              <a:t>cập</a:t>
            </a:r>
            <a:r>
              <a:rPr spc="204" dirty="0"/>
              <a:t>  </a:t>
            </a:r>
            <a:r>
              <a:rPr dirty="0"/>
              <a:t>thông</a:t>
            </a:r>
            <a:r>
              <a:rPr spc="200" dirty="0"/>
              <a:t>  </a:t>
            </a:r>
            <a:r>
              <a:rPr dirty="0"/>
              <a:t>qua</a:t>
            </a:r>
            <a:r>
              <a:rPr spc="200" dirty="0"/>
              <a:t>  </a:t>
            </a:r>
            <a:r>
              <a:rPr dirty="0"/>
              <a:t>mạng</a:t>
            </a:r>
            <a:r>
              <a:rPr spc="204" dirty="0"/>
              <a:t>  </a:t>
            </a:r>
            <a:r>
              <a:rPr dirty="0"/>
              <a:t>lưu</a:t>
            </a:r>
            <a:r>
              <a:rPr spc="204" dirty="0"/>
              <a:t>  </a:t>
            </a:r>
            <a:r>
              <a:rPr dirty="0"/>
              <a:t>trữ</a:t>
            </a:r>
            <a:r>
              <a:rPr spc="210" dirty="0"/>
              <a:t>  </a:t>
            </a:r>
            <a:r>
              <a:rPr dirty="0"/>
              <a:t>Fibre</a:t>
            </a:r>
            <a:r>
              <a:rPr spc="200" dirty="0"/>
              <a:t>  </a:t>
            </a:r>
            <a:r>
              <a:rPr dirty="0"/>
              <a:t>Channel</a:t>
            </a:r>
            <a:r>
              <a:rPr spc="204" dirty="0"/>
              <a:t>  </a:t>
            </a:r>
            <a:r>
              <a:rPr dirty="0"/>
              <a:t>(FC)</a:t>
            </a:r>
            <a:r>
              <a:rPr spc="200" dirty="0"/>
              <a:t>  </a:t>
            </a:r>
            <a:r>
              <a:rPr spc="-20" dirty="0"/>
              <a:t>hoặc </a:t>
            </a:r>
            <a:r>
              <a:rPr dirty="0"/>
              <a:t>iSCSI</a:t>
            </a:r>
            <a:r>
              <a:rPr spc="409" dirty="0"/>
              <a:t> </a:t>
            </a:r>
            <a:r>
              <a:rPr dirty="0"/>
              <a:t>storage</a:t>
            </a:r>
            <a:r>
              <a:rPr spc="420" dirty="0"/>
              <a:t> </a:t>
            </a:r>
            <a:r>
              <a:rPr dirty="0"/>
              <a:t>area</a:t>
            </a:r>
            <a:r>
              <a:rPr spc="415" dirty="0"/>
              <a:t> </a:t>
            </a:r>
            <a:r>
              <a:rPr dirty="0"/>
              <a:t>network</a:t>
            </a:r>
            <a:r>
              <a:rPr spc="425" dirty="0"/>
              <a:t> </a:t>
            </a:r>
            <a:r>
              <a:rPr dirty="0"/>
              <a:t>(SAN)</a:t>
            </a:r>
            <a:r>
              <a:rPr spc="405" dirty="0"/>
              <a:t> </a:t>
            </a:r>
            <a:r>
              <a:rPr dirty="0"/>
              <a:t>–</a:t>
            </a:r>
            <a:r>
              <a:rPr spc="415" dirty="0"/>
              <a:t> </a:t>
            </a:r>
            <a:r>
              <a:rPr dirty="0"/>
              <a:t>được</a:t>
            </a:r>
            <a:r>
              <a:rPr spc="405" dirty="0"/>
              <a:t> </a:t>
            </a:r>
            <a:r>
              <a:rPr dirty="0"/>
              <a:t>ảo</a:t>
            </a:r>
            <a:r>
              <a:rPr spc="420" dirty="0"/>
              <a:t> </a:t>
            </a:r>
            <a:r>
              <a:rPr dirty="0"/>
              <a:t>hóa</a:t>
            </a:r>
            <a:r>
              <a:rPr spc="415" dirty="0"/>
              <a:t> </a:t>
            </a:r>
            <a:r>
              <a:rPr dirty="0"/>
              <a:t>thường</a:t>
            </a:r>
            <a:r>
              <a:rPr spc="425" dirty="0"/>
              <a:t> </a:t>
            </a:r>
            <a:r>
              <a:rPr spc="-10" dirty="0"/>
              <a:t>xuyên </a:t>
            </a:r>
            <a:r>
              <a:rPr dirty="0"/>
              <a:t>hơn</a:t>
            </a:r>
            <a:r>
              <a:rPr spc="-15" dirty="0"/>
              <a:t> </a:t>
            </a:r>
            <a:r>
              <a:rPr dirty="0"/>
              <a:t>so</a:t>
            </a:r>
            <a:r>
              <a:rPr spc="-5" dirty="0"/>
              <a:t> </a:t>
            </a:r>
            <a:r>
              <a:rPr dirty="0"/>
              <a:t>với</a:t>
            </a:r>
            <a:r>
              <a:rPr spc="-15" dirty="0"/>
              <a:t> </a:t>
            </a:r>
            <a:r>
              <a:rPr dirty="0"/>
              <a:t>hệ</a:t>
            </a:r>
            <a:r>
              <a:rPr spc="-20" dirty="0"/>
              <a:t> </a:t>
            </a:r>
            <a:r>
              <a:rPr dirty="0"/>
              <a:t>thống</a:t>
            </a:r>
            <a:r>
              <a:rPr spc="-20" dirty="0"/>
              <a:t> </a:t>
            </a:r>
            <a:r>
              <a:rPr dirty="0"/>
              <a:t>lưu</a:t>
            </a:r>
            <a:r>
              <a:rPr spc="-5" dirty="0"/>
              <a:t> </a:t>
            </a:r>
            <a:r>
              <a:rPr dirty="0"/>
              <a:t>trữ</a:t>
            </a:r>
            <a:r>
              <a:rPr spc="-10" dirty="0"/>
              <a:t> </a:t>
            </a:r>
            <a:r>
              <a:rPr dirty="0"/>
              <a:t>dựa trên</a:t>
            </a:r>
            <a:r>
              <a:rPr spc="-10" dirty="0"/>
              <a:t> </a:t>
            </a:r>
            <a:r>
              <a:rPr spc="-20" dirty="0"/>
              <a:t>file.</a:t>
            </a:r>
          </a:p>
          <a:p>
            <a:pPr marL="755015" marR="5080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hệ</a:t>
            </a:r>
            <a:r>
              <a:rPr sz="3000" spc="1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thống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dựa</a:t>
            </a:r>
            <a:r>
              <a:rPr sz="3000" spc="1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trên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block</a:t>
            </a:r>
            <a:r>
              <a:rPr sz="3000" spc="1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trừu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tượng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1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thành</a:t>
            </a:r>
            <a:r>
              <a:rPr sz="3000" spc="1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1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trữ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logic,</a:t>
            </a:r>
            <a:r>
              <a:rPr sz="3000" spc="2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chẳng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hạn</a:t>
            </a:r>
            <a:r>
              <a:rPr sz="3000" spc="2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như</a:t>
            </a:r>
            <a:r>
              <a:rPr sz="3000" spc="2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phân</a:t>
            </a:r>
            <a:r>
              <a:rPr sz="3000" spc="2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vùng</a:t>
            </a:r>
            <a:r>
              <a:rPr sz="3000" spc="2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ổ</a:t>
            </a:r>
            <a:r>
              <a:rPr sz="3000" spc="2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đĩa,</a:t>
            </a:r>
            <a:r>
              <a:rPr sz="3000" spc="2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khỏi</a:t>
            </a:r>
            <a:r>
              <a:rPr sz="3000" spc="2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khối</a:t>
            </a:r>
            <a:r>
              <a:rPr sz="3000" spc="2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storage</a:t>
            </a:r>
            <a:r>
              <a:rPr sz="3000" spc="2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vật</a:t>
            </a:r>
            <a:r>
              <a:rPr sz="3000" spc="22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lý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thực</a:t>
            </a:r>
            <a:r>
              <a:rPr sz="3000" spc="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tế</a:t>
            </a:r>
            <a:r>
              <a:rPr sz="3000" spc="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trong</a:t>
            </a:r>
            <a:r>
              <a:rPr sz="3000" spc="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thiết</a:t>
            </a:r>
            <a:r>
              <a:rPr sz="3000" spc="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bị</a:t>
            </a:r>
            <a:r>
              <a:rPr sz="3000" spc="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trữ,</a:t>
            </a:r>
            <a:r>
              <a:rPr sz="3000" spc="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chẳng</a:t>
            </a:r>
            <a:r>
              <a:rPr sz="3000" spc="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hạn</a:t>
            </a:r>
            <a:r>
              <a:rPr sz="3000" spc="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như</a:t>
            </a:r>
            <a:r>
              <a:rPr sz="3000" spc="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ổ</a:t>
            </a:r>
            <a:r>
              <a:rPr sz="3000" spc="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đĩa</a:t>
            </a:r>
            <a:r>
              <a:rPr sz="3000" spc="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cứng</a:t>
            </a:r>
            <a:r>
              <a:rPr sz="3000" spc="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(HDD)</a:t>
            </a:r>
            <a:r>
              <a:rPr sz="30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hoặc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thiết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bị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storage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thể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rắn.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A693D-9DDF-D71B-40AE-1C37BF51CEA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1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THIẾT</a:t>
            </a:r>
            <a:r>
              <a:rPr spc="-10" dirty="0"/>
              <a:t> </a:t>
            </a:r>
            <a:r>
              <a:rPr dirty="0"/>
              <a:t>BỊ</a:t>
            </a:r>
            <a:r>
              <a:rPr spc="-10" dirty="0"/>
              <a:t> </a:t>
            </a:r>
            <a:r>
              <a:rPr dirty="0"/>
              <a:t>LƯU</a:t>
            </a:r>
            <a:r>
              <a:rPr spc="-10" dirty="0"/>
              <a:t> </a:t>
            </a:r>
            <a:r>
              <a:rPr spc="-25" dirty="0"/>
              <a:t>TRỮ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11322685" cy="3267710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hai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loại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 được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áp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trữ:</a:t>
            </a:r>
            <a:endParaRPr sz="3200">
              <a:latin typeface="Times New Roman"/>
              <a:cs typeface="Times New Roman"/>
            </a:endParaRPr>
          </a:p>
          <a:p>
            <a:pPr marL="755015" marR="5080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2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in-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band</a:t>
            </a:r>
            <a:r>
              <a:rPr sz="3000" spc="2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–</a:t>
            </a:r>
            <a:r>
              <a:rPr sz="3000" spc="2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còn</a:t>
            </a:r>
            <a:r>
              <a:rPr sz="3000" spc="2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được</a:t>
            </a:r>
            <a:r>
              <a:rPr sz="3000" spc="25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gọi</a:t>
            </a:r>
            <a:r>
              <a:rPr sz="30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là</a:t>
            </a:r>
            <a:r>
              <a:rPr sz="3000" spc="2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2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2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đối</a:t>
            </a:r>
            <a:r>
              <a:rPr sz="3000" spc="2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xứng</a:t>
            </a:r>
            <a:r>
              <a:rPr sz="30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–</a:t>
            </a:r>
            <a:r>
              <a:rPr sz="3000" spc="2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xử</a:t>
            </a:r>
            <a:r>
              <a:rPr sz="30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lý</a:t>
            </a:r>
            <a:r>
              <a:rPr sz="3000" spc="2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dữ</a:t>
            </a:r>
            <a:r>
              <a:rPr sz="3000" spc="2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liệu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đang</a:t>
            </a:r>
            <a:r>
              <a:rPr sz="3000" spc="3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được</a:t>
            </a:r>
            <a:r>
              <a:rPr sz="3000" spc="4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đọc</a:t>
            </a:r>
            <a:r>
              <a:rPr sz="3000" spc="3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hoặc</a:t>
            </a:r>
            <a:r>
              <a:rPr sz="3000" spc="40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3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40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thông</a:t>
            </a:r>
            <a:r>
              <a:rPr sz="3000" spc="3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tin</a:t>
            </a:r>
            <a:r>
              <a:rPr sz="3000" spc="4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điều</a:t>
            </a:r>
            <a:r>
              <a:rPr sz="3000" spc="3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khiển</a:t>
            </a:r>
            <a:r>
              <a:rPr sz="3000" spc="4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(ví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dụ:</a:t>
            </a:r>
            <a:r>
              <a:rPr sz="3000" spc="4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lệnh</a:t>
            </a:r>
            <a:r>
              <a:rPr sz="3000" spc="3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I/O,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metadata)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trong</a:t>
            </a:r>
            <a:r>
              <a:rPr sz="30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cùng</a:t>
            </a:r>
            <a:r>
              <a:rPr sz="30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30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channel</a:t>
            </a:r>
            <a:r>
              <a:rPr sz="3000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hoặc</a:t>
            </a:r>
            <a:r>
              <a:rPr sz="3000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layer.</a:t>
            </a:r>
            <a:endParaRPr sz="3000">
              <a:latin typeface="Times New Roman"/>
              <a:cs typeface="Times New Roman"/>
            </a:endParaRPr>
          </a:p>
          <a:p>
            <a:pPr marL="755015" marR="5080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4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4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out-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of-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band</a:t>
            </a:r>
            <a:r>
              <a:rPr sz="3000" spc="4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–</a:t>
            </a:r>
            <a:r>
              <a:rPr sz="3000" spc="4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hay</a:t>
            </a:r>
            <a:r>
              <a:rPr sz="3000" spc="4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4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4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không</a:t>
            </a:r>
            <a:r>
              <a:rPr sz="3000" spc="4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đối</a:t>
            </a:r>
            <a:r>
              <a:rPr sz="3000" spc="4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xứng</a:t>
            </a:r>
            <a:r>
              <a:rPr sz="3000" spc="4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–</a:t>
            </a:r>
            <a:r>
              <a:rPr sz="3000" spc="4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chia</a:t>
            </a:r>
            <a:r>
              <a:rPr sz="3000" spc="4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nhỏ</a:t>
            </a:r>
            <a:r>
              <a:rPr sz="3000" spc="4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các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đường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dẫn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dữ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liệu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đường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dẫn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điều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khiển.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3BEC9-B9CE-7CD3-0F9A-FFE8E932B2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1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THIẾT</a:t>
            </a:r>
            <a:r>
              <a:rPr spc="-10" dirty="0"/>
              <a:t> </a:t>
            </a:r>
            <a:r>
              <a:rPr dirty="0"/>
              <a:t>BỊ</a:t>
            </a:r>
            <a:r>
              <a:rPr spc="-10" dirty="0"/>
              <a:t> </a:t>
            </a:r>
            <a:r>
              <a:rPr dirty="0"/>
              <a:t>LƯU</a:t>
            </a:r>
            <a:r>
              <a:rPr spc="-10" dirty="0"/>
              <a:t> </a:t>
            </a:r>
            <a:r>
              <a:rPr spc="-25" dirty="0"/>
              <a:t>TRỮ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11324590" cy="509714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phương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pháp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hóa:</a:t>
            </a:r>
            <a:endParaRPr sz="3200">
              <a:latin typeface="Times New Roman"/>
              <a:cs typeface="Times New Roman"/>
            </a:endParaRPr>
          </a:p>
          <a:p>
            <a:pPr marL="755015" marR="5715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Host-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based</a:t>
            </a:r>
            <a:r>
              <a:rPr sz="3000" spc="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storage</a:t>
            </a:r>
            <a:r>
              <a:rPr sz="3000" spc="1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virtualization:</a:t>
            </a:r>
            <a:r>
              <a:rPr sz="3000" spc="1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tất</a:t>
            </a:r>
            <a:r>
              <a:rPr sz="3000" spc="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cả</a:t>
            </a:r>
            <a:r>
              <a:rPr sz="3000" spc="1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quá</a:t>
            </a:r>
            <a:r>
              <a:rPr sz="3000" spc="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trình</a:t>
            </a:r>
            <a:r>
              <a:rPr sz="3000" spc="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1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quản</a:t>
            </a:r>
            <a:r>
              <a:rPr sz="3000" spc="1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lý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sẽ</a:t>
            </a:r>
            <a:r>
              <a:rPr sz="3000" spc="25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được</a:t>
            </a:r>
            <a:r>
              <a:rPr sz="3000" spc="2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thực</a:t>
            </a:r>
            <a:r>
              <a:rPr sz="3000" spc="2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hiện</a:t>
            </a:r>
            <a:r>
              <a:rPr sz="3000" spc="2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ở</a:t>
            </a:r>
            <a:r>
              <a:rPr sz="3000" spc="2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cấp</a:t>
            </a:r>
            <a:r>
              <a:rPr sz="3000" spc="2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độ</a:t>
            </a:r>
            <a:r>
              <a:rPr sz="3000" spc="2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2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chủ</a:t>
            </a:r>
            <a:r>
              <a:rPr sz="3000" spc="2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(host)</a:t>
            </a:r>
            <a:r>
              <a:rPr sz="3000" spc="2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với</a:t>
            </a:r>
            <a:r>
              <a:rPr sz="3000" spc="2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sự</a:t>
            </a:r>
            <a:r>
              <a:rPr sz="3000" spc="25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hỗ</a:t>
            </a:r>
            <a:r>
              <a:rPr sz="3000" spc="2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trợ</a:t>
            </a:r>
            <a:r>
              <a:rPr sz="3000" spc="2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2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phần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mềm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bộ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nhớ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cứng,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có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thể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là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bất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kỳ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thiết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bị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hoặc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mảng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nào.</a:t>
            </a:r>
            <a:endParaRPr sz="3000">
              <a:latin typeface="Times New Roman"/>
              <a:cs typeface="Times New Roman"/>
            </a:endParaRPr>
          </a:p>
          <a:p>
            <a:pPr marL="755015" marR="5080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Array-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based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storage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virtualization:</a:t>
            </a:r>
            <a:r>
              <a:rPr sz="3000" spc="1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phương</a:t>
            </a:r>
            <a:r>
              <a:rPr sz="3000" spc="1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pháp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trong</a:t>
            </a:r>
            <a:r>
              <a:rPr sz="3000" spc="1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đó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mảng</a:t>
            </a:r>
            <a:r>
              <a:rPr sz="3000" spc="1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lưu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trữ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hoạt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động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như</a:t>
            </a:r>
            <a:r>
              <a:rPr sz="3000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bộ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điều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khiển</a:t>
            </a:r>
            <a:r>
              <a:rPr sz="3000" spc="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trữ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chính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chạy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mềm</a:t>
            </a:r>
            <a:r>
              <a:rPr sz="3000" spc="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ảo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hóa,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cho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phép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gộp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tài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nguyên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trữ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mảng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khác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cung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cấp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3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loại</a:t>
            </a:r>
            <a:r>
              <a:rPr sz="3000" spc="2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2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trữ</a:t>
            </a:r>
            <a:r>
              <a:rPr sz="3000" spc="2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vật</a:t>
            </a:r>
            <a:r>
              <a:rPr sz="3000" spc="2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lý</a:t>
            </a:r>
            <a:r>
              <a:rPr sz="3000" spc="2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khác</a:t>
            </a:r>
            <a:r>
              <a:rPr sz="3000" spc="2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nhau</a:t>
            </a:r>
            <a:r>
              <a:rPr sz="3000" spc="2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để</a:t>
            </a:r>
            <a:r>
              <a:rPr sz="3000" spc="2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sử</a:t>
            </a:r>
            <a:r>
              <a:rPr sz="3000" spc="2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dụng</a:t>
            </a:r>
            <a:r>
              <a:rPr sz="3000" spc="2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làm</a:t>
            </a:r>
            <a:r>
              <a:rPr sz="3000" spc="2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2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tầng</a:t>
            </a:r>
            <a:r>
              <a:rPr sz="3000" spc="2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3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trữ.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3000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tầng</a:t>
            </a:r>
            <a:r>
              <a:rPr sz="3000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trữ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có</a:t>
            </a:r>
            <a:r>
              <a:rPr sz="3000" spc="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thể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bao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gồm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ổ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đĩa</a:t>
            </a:r>
            <a:r>
              <a:rPr sz="3000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thể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rắn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(SSD)</a:t>
            </a:r>
            <a:r>
              <a:rPr sz="3000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hoặc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HDD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trên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mảng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trữ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khác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nhau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B1596-C40A-CA3A-B33D-AD3C0E34D94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1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THIẾT</a:t>
            </a:r>
            <a:r>
              <a:rPr spc="-10" dirty="0"/>
              <a:t> </a:t>
            </a:r>
            <a:r>
              <a:rPr dirty="0"/>
              <a:t>BỊ</a:t>
            </a:r>
            <a:r>
              <a:rPr spc="-10" dirty="0"/>
              <a:t> </a:t>
            </a:r>
            <a:r>
              <a:rPr dirty="0"/>
              <a:t>LƯU</a:t>
            </a:r>
            <a:r>
              <a:rPr spc="-10" dirty="0"/>
              <a:t> </a:t>
            </a:r>
            <a:r>
              <a:rPr spc="-25" dirty="0"/>
              <a:t>TRỮ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4041" y="1086053"/>
            <a:ext cx="10867390" cy="276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 algn="just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</a:tabLst>
            </a:pP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Network-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based</a:t>
            </a:r>
            <a:r>
              <a:rPr sz="3000" spc="7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storage  virtualization</a:t>
            </a:r>
            <a:r>
              <a:rPr sz="3000" spc="10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là  hình</a:t>
            </a:r>
            <a:r>
              <a:rPr sz="3000" spc="7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thức  phổ  biến</a:t>
            </a:r>
            <a:r>
              <a:rPr sz="3000" spc="7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nhất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được</a:t>
            </a:r>
            <a:r>
              <a:rPr sz="3000" spc="2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sử</a:t>
            </a:r>
            <a:r>
              <a:rPr sz="3000" spc="2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dụng</a:t>
            </a:r>
            <a:r>
              <a:rPr sz="3000" spc="2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trong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doanh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nghiệp</a:t>
            </a:r>
            <a:r>
              <a:rPr sz="3000" spc="22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hiện</a:t>
            </a:r>
            <a:r>
              <a:rPr sz="3000" spc="2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nay.</a:t>
            </a:r>
            <a:r>
              <a:rPr sz="3000" spc="2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3000" spc="2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thiết</a:t>
            </a:r>
            <a:r>
              <a:rPr sz="3000" spc="2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bị</a:t>
            </a:r>
            <a:r>
              <a:rPr sz="3000" spc="2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mạng,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chẳng</a:t>
            </a:r>
            <a:r>
              <a:rPr sz="3000" spc="2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hạn</a:t>
            </a:r>
            <a:r>
              <a:rPr sz="3000" spc="2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như</a:t>
            </a:r>
            <a:r>
              <a:rPr sz="3000" spc="2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switch</a:t>
            </a:r>
            <a:r>
              <a:rPr sz="3000" spc="2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hoặc</a:t>
            </a:r>
            <a:r>
              <a:rPr sz="3000" spc="2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server</a:t>
            </a:r>
            <a:r>
              <a:rPr sz="3000" spc="2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được</a:t>
            </a:r>
            <a:r>
              <a:rPr sz="3000" spc="2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xây</a:t>
            </a:r>
            <a:r>
              <a:rPr sz="3000" spc="2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dựng</a:t>
            </a:r>
            <a:r>
              <a:rPr sz="3000" spc="2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có</a:t>
            </a:r>
            <a:r>
              <a:rPr sz="3000" spc="2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mục</a:t>
            </a:r>
            <a:r>
              <a:rPr sz="3000" spc="2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đích</a:t>
            </a:r>
            <a:r>
              <a:rPr sz="3000" spc="2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kết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nối</a:t>
            </a:r>
            <a:r>
              <a:rPr sz="3000" spc="22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với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tất</a:t>
            </a:r>
            <a:r>
              <a:rPr sz="30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cả</a:t>
            </a:r>
            <a:r>
              <a:rPr sz="3000" spc="2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thiết</a:t>
            </a:r>
            <a:r>
              <a:rPr sz="3000" spc="2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bị</a:t>
            </a:r>
            <a:r>
              <a:rPr sz="3000" spc="22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2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trữ</a:t>
            </a:r>
            <a:r>
              <a:rPr sz="3000" spc="2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trong</a:t>
            </a:r>
            <a:r>
              <a:rPr sz="30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FC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hoặc</a:t>
            </a:r>
            <a:r>
              <a:rPr sz="30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iSCSI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SAN</a:t>
            </a:r>
            <a:r>
              <a:rPr sz="3000" spc="22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thể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hiện</a:t>
            </a:r>
            <a:r>
              <a:rPr sz="3000" spc="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dung</a:t>
            </a:r>
            <a:r>
              <a:rPr sz="3000" spc="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lượng</a:t>
            </a:r>
            <a:r>
              <a:rPr sz="3000" spc="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trong</a:t>
            </a:r>
            <a:r>
              <a:rPr sz="3000" spc="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mạng</a:t>
            </a:r>
            <a:r>
              <a:rPr sz="3000" spc="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trữ</a:t>
            </a:r>
            <a:r>
              <a:rPr sz="3000" spc="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dưới</a:t>
            </a:r>
            <a:r>
              <a:rPr sz="3000" spc="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dạng</a:t>
            </a:r>
            <a:r>
              <a:rPr sz="3000" spc="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3000" spc="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virtual</a:t>
            </a:r>
            <a:r>
              <a:rPr sz="3000" spc="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pool</a:t>
            </a:r>
            <a:r>
              <a:rPr sz="3000" spc="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duy 	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nhất.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92595-2AC1-842F-FB26-B517EF02FB9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7856" y="966216"/>
            <a:ext cx="6876288" cy="55153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1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THIẾT</a:t>
            </a:r>
            <a:r>
              <a:rPr spc="-10" dirty="0"/>
              <a:t> </a:t>
            </a:r>
            <a:r>
              <a:rPr dirty="0"/>
              <a:t>BỊ</a:t>
            </a:r>
            <a:r>
              <a:rPr spc="-10" dirty="0"/>
              <a:t> </a:t>
            </a:r>
            <a:r>
              <a:rPr dirty="0"/>
              <a:t>LƯU</a:t>
            </a:r>
            <a:r>
              <a:rPr spc="-10" dirty="0"/>
              <a:t> </a:t>
            </a:r>
            <a:r>
              <a:rPr spc="-25" dirty="0"/>
              <a:t>TRỮ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91739-3E1B-C3ED-C372-074D6FFA152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1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THIẾT</a:t>
            </a:r>
            <a:r>
              <a:rPr spc="-10" dirty="0"/>
              <a:t> </a:t>
            </a:r>
            <a:r>
              <a:rPr dirty="0"/>
              <a:t>BỊ</a:t>
            </a:r>
            <a:r>
              <a:rPr spc="-10" dirty="0"/>
              <a:t> </a:t>
            </a:r>
            <a:r>
              <a:rPr dirty="0"/>
              <a:t>LƯU</a:t>
            </a:r>
            <a:r>
              <a:rPr spc="-10" dirty="0"/>
              <a:t> </a:t>
            </a:r>
            <a:r>
              <a:rPr spc="-25" dirty="0"/>
              <a:t>TRỮ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8247380" cy="3115310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Lợi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ích: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Quản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lý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dễ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dàng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hơn.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Sử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dụng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trữ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tốt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hơn.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Kéo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dài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tuổi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thọ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hệ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thống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trữ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cũ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hơn.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Thêm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tính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năng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nâng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cao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trên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toàn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cục.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3CD33-4821-D3EE-84B5-DBFBCDB0A9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1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THIẾT</a:t>
            </a:r>
            <a:r>
              <a:rPr spc="-10" dirty="0"/>
              <a:t> </a:t>
            </a:r>
            <a:r>
              <a:rPr dirty="0"/>
              <a:t>BỊ</a:t>
            </a:r>
            <a:r>
              <a:rPr spc="-10" dirty="0"/>
              <a:t> </a:t>
            </a:r>
            <a:r>
              <a:rPr dirty="0"/>
              <a:t>LƯU</a:t>
            </a:r>
            <a:r>
              <a:rPr spc="-10" dirty="0"/>
              <a:t> </a:t>
            </a:r>
            <a:r>
              <a:rPr spc="-25" dirty="0"/>
              <a:t>TRỮ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4862830" cy="2505710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Rủi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ro: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Vấn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đề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đặt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tên;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Sự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kiện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bất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ngờ;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Những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giới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hạn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về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chi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phí.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CCF81-6242-6EA9-B29D-1D8FC3D8CDA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1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THIẾT</a:t>
            </a:r>
            <a:r>
              <a:rPr spc="-10" dirty="0"/>
              <a:t> </a:t>
            </a:r>
            <a:r>
              <a:rPr dirty="0"/>
              <a:t>BỊ</a:t>
            </a:r>
            <a:r>
              <a:rPr spc="-10" dirty="0"/>
              <a:t> </a:t>
            </a:r>
            <a:r>
              <a:rPr dirty="0"/>
              <a:t>LƯU</a:t>
            </a:r>
            <a:r>
              <a:rPr spc="-10" dirty="0"/>
              <a:t> </a:t>
            </a:r>
            <a:r>
              <a:rPr spc="-25" dirty="0"/>
              <a:t>TRỮ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72C2A1-0629-CBAB-C011-9ACBB14A12D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415" y="1176526"/>
            <a:ext cx="10430256" cy="53766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1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THIẾT</a:t>
            </a:r>
            <a:r>
              <a:rPr spc="-10" dirty="0"/>
              <a:t> </a:t>
            </a:r>
            <a:r>
              <a:rPr dirty="0"/>
              <a:t>BỊ</a:t>
            </a:r>
            <a:r>
              <a:rPr spc="-10" dirty="0"/>
              <a:t> </a:t>
            </a:r>
            <a:r>
              <a:rPr dirty="0"/>
              <a:t>LƯU</a:t>
            </a:r>
            <a:r>
              <a:rPr spc="-10" dirty="0"/>
              <a:t> </a:t>
            </a:r>
            <a:r>
              <a:rPr spc="-25" dirty="0"/>
              <a:t>TRỮ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236DD-0214-7C7E-C71F-55226CC2BE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3135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ẢO</a:t>
            </a:r>
            <a:r>
              <a:rPr spc="-5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BẢO</a:t>
            </a:r>
            <a:r>
              <a:rPr spc="-5" dirty="0"/>
              <a:t> </a:t>
            </a:r>
            <a:r>
              <a:rPr spc="-25" dirty="0"/>
              <a:t>MẬT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206480" cy="2618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785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mật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(virtualized</a:t>
            </a:r>
            <a:r>
              <a:rPr sz="320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security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-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security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virtualization):</a:t>
            </a:r>
            <a:r>
              <a:rPr sz="3200" spc="-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xây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dựng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giải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pháp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mật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dựa trên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làm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việc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trong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môi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trường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hóa.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mật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phép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việc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mật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cloud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các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môi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trường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 thực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linh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hoạt,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tiện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lợi.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87884-2F60-E7CB-AFF0-BE2F60495A7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3135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ẢO</a:t>
            </a:r>
            <a:r>
              <a:rPr spc="-5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BẢO</a:t>
            </a:r>
            <a:r>
              <a:rPr spc="-5" dirty="0"/>
              <a:t> </a:t>
            </a:r>
            <a:r>
              <a:rPr spc="-25" dirty="0"/>
              <a:t>MẬT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6170295" cy="3115310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Lợi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ích: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Chi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phí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giảm.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Tính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linh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hoạt.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Quản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lý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hiệu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quả.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Chuẩn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yêu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cầu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về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kỹ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thuật.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B4493-044E-C399-D99D-0FC65F90AA9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3135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ẢO</a:t>
            </a:r>
            <a:r>
              <a:rPr spc="-5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BẢO</a:t>
            </a:r>
            <a:r>
              <a:rPr spc="-5" dirty="0"/>
              <a:t> </a:t>
            </a:r>
            <a:r>
              <a:rPr spc="-25" dirty="0"/>
              <a:t>MẬT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3955" cy="2130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  <a:tab pos="1054735" algn="l"/>
                <a:tab pos="1844675" algn="l"/>
                <a:tab pos="2635250" algn="l"/>
                <a:tab pos="3446145" algn="l"/>
                <a:tab pos="4034154" algn="l"/>
                <a:tab pos="4732655" algn="l"/>
                <a:tab pos="5653405" algn="l"/>
                <a:tab pos="6557009" algn="l"/>
                <a:tab pos="7302500" algn="l"/>
                <a:tab pos="8296275" algn="l"/>
                <a:tab pos="9175750" algn="l"/>
                <a:tab pos="9944100" algn="l"/>
              </a:tabLst>
            </a:pP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mật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việc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firewall,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antivirus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protection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dựa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triển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khai.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Ngoài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còn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thêm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năng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bổ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sung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về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bảo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mật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tùy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thuộc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vào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từng yêu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cầu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cụ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thể.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EE9C5-BE48-8CE8-2416-CF1AA1989F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3135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ẢO</a:t>
            </a:r>
            <a:r>
              <a:rPr spc="-5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BẢO</a:t>
            </a:r>
            <a:r>
              <a:rPr spc="-5" dirty="0"/>
              <a:t> </a:t>
            </a:r>
            <a:r>
              <a:rPr spc="-25" dirty="0"/>
              <a:t>MẬT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11144885" cy="436562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2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triển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khai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mật: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Triển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khai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ứng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dụng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trực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tiếp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đến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bare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metal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hypervisor.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Triển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khai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thông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qua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hosted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service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nằm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trên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(VM).</a:t>
            </a:r>
            <a:endParaRPr sz="3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số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loại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mật: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195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Segmentation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Micro-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segmentation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Isolation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28AAB-E79E-6D26-5377-0D65123A9CB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5644" y="1039367"/>
            <a:ext cx="6640068" cy="55138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3135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ẢO</a:t>
            </a:r>
            <a:r>
              <a:rPr spc="-5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BẢO</a:t>
            </a:r>
            <a:r>
              <a:rPr spc="-5" dirty="0"/>
              <a:t> </a:t>
            </a:r>
            <a:r>
              <a:rPr spc="-25" dirty="0"/>
              <a:t>MẬT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6B903-94B9-AC1A-BCE8-670686D3FDA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1140" y="1456944"/>
            <a:ext cx="8866632" cy="43342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3135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ẢO</a:t>
            </a:r>
            <a:r>
              <a:rPr spc="-5" dirty="0"/>
              <a:t>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BẢO</a:t>
            </a:r>
            <a:r>
              <a:rPr spc="-5" dirty="0"/>
              <a:t> </a:t>
            </a:r>
            <a:r>
              <a:rPr spc="-25" dirty="0"/>
              <a:t>MẬT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097B3-8B8C-3E86-71BE-0334559941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8035">
              <a:lnSpc>
                <a:spcPct val="100000"/>
              </a:lnSpc>
              <a:spcBef>
                <a:spcPts val="100"/>
              </a:spcBef>
            </a:pPr>
            <a:r>
              <a:rPr dirty="0"/>
              <a:t>IV.</a:t>
            </a:r>
            <a:r>
              <a:rPr spc="-15" dirty="0"/>
              <a:t> </a:t>
            </a:r>
            <a:r>
              <a:rPr dirty="0"/>
              <a:t>MÁY </a:t>
            </a:r>
            <a:r>
              <a:rPr spc="-25" dirty="0"/>
              <a:t>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7130" cy="4874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62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6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6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-</a:t>
            </a:r>
            <a:r>
              <a:rPr sz="3200" spc="6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Virtual</a:t>
            </a:r>
            <a:r>
              <a:rPr sz="3200" spc="6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Machine</a:t>
            </a:r>
            <a:r>
              <a:rPr sz="3200" spc="6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6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6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chương</a:t>
            </a:r>
            <a:r>
              <a:rPr sz="3200" spc="6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trình</a:t>
            </a:r>
            <a:r>
              <a:rPr sz="3200" spc="6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giả</a:t>
            </a:r>
            <a:r>
              <a:rPr sz="3200" spc="6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lập</a:t>
            </a:r>
            <a:r>
              <a:rPr sz="3200" spc="6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6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hệ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tính,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chạy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điều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hành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hoạt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động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như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thật.</a:t>
            </a:r>
            <a:endParaRPr sz="3200">
              <a:latin typeface="Times New Roman"/>
              <a:cs typeface="Times New Roman"/>
            </a:endParaRPr>
          </a:p>
          <a:p>
            <a:pPr marL="355600" marR="698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cung</a:t>
            </a:r>
            <a:r>
              <a:rPr sz="3200" spc="2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cấp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2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(bao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gồm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CPU,</a:t>
            </a:r>
            <a:r>
              <a:rPr sz="3200" spc="2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RAM,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ổ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đĩa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cứng)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chạy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điều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hành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riêng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đó.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này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ánh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xạ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tới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máy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lý,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ví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1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ổ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đĩa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file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đặt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ổ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đĩa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thực.</a:t>
            </a:r>
            <a:endParaRPr sz="320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chạy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sẽ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chia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sẻ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tài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nguyên</a:t>
            </a:r>
            <a:r>
              <a:rPr sz="3200" spc="-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thực.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37D0A-1EE8-6E5F-B4DA-C59A482B083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1324355"/>
            <a:ext cx="6725411" cy="49712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8035">
              <a:lnSpc>
                <a:spcPct val="100000"/>
              </a:lnSpc>
              <a:spcBef>
                <a:spcPts val="100"/>
              </a:spcBef>
            </a:pPr>
            <a:r>
              <a:rPr dirty="0"/>
              <a:t>IV.</a:t>
            </a:r>
            <a:r>
              <a:rPr spc="-15" dirty="0"/>
              <a:t> </a:t>
            </a:r>
            <a:r>
              <a:rPr dirty="0"/>
              <a:t>MÁY </a:t>
            </a:r>
            <a:r>
              <a:rPr spc="-25" dirty="0"/>
              <a:t>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36697-E570-9958-2A33-510391C9B02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8035">
              <a:lnSpc>
                <a:spcPct val="100000"/>
              </a:lnSpc>
              <a:spcBef>
                <a:spcPts val="100"/>
              </a:spcBef>
            </a:pPr>
            <a:r>
              <a:rPr dirty="0"/>
              <a:t>IV.</a:t>
            </a:r>
            <a:r>
              <a:rPr spc="-15" dirty="0"/>
              <a:t> </a:t>
            </a:r>
            <a:r>
              <a:rPr dirty="0"/>
              <a:t>MÁY </a:t>
            </a:r>
            <a:r>
              <a:rPr spc="-25" dirty="0"/>
              <a:t>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5744210" cy="372554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Lợi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ích: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Tiết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kiệm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chi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phí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Phản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hồi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nhanh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chóng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Giảm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thời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gian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ngừng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hoạt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động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Khả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năng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mở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rộng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Bảo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mật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A5B97-0915-B896-0CD5-B3A3550846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8035">
              <a:lnSpc>
                <a:spcPct val="100000"/>
              </a:lnSpc>
              <a:spcBef>
                <a:spcPts val="100"/>
              </a:spcBef>
            </a:pPr>
            <a:r>
              <a:rPr dirty="0"/>
              <a:t>IV.</a:t>
            </a:r>
            <a:r>
              <a:rPr spc="-15" dirty="0"/>
              <a:t> </a:t>
            </a:r>
            <a:r>
              <a:rPr dirty="0"/>
              <a:t>MÁY </a:t>
            </a:r>
            <a:r>
              <a:rPr spc="-25" dirty="0"/>
              <a:t>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9115425" cy="1896110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2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loại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(VM):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3000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process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virtual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machine: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ví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dụ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Java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Virtual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Machine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30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system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virtual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machine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VMWare.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86946-2C5D-A384-27AC-987A34344E9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8035">
              <a:lnSpc>
                <a:spcPct val="100000"/>
              </a:lnSpc>
              <a:spcBef>
                <a:spcPts val="100"/>
              </a:spcBef>
            </a:pPr>
            <a:r>
              <a:rPr dirty="0"/>
              <a:t>IV.</a:t>
            </a:r>
            <a:r>
              <a:rPr spc="-15" dirty="0"/>
              <a:t> </a:t>
            </a:r>
            <a:r>
              <a:rPr dirty="0"/>
              <a:t>MÁY </a:t>
            </a:r>
            <a:r>
              <a:rPr spc="-25" dirty="0"/>
              <a:t>ẢO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Container</a:t>
            </a:r>
            <a:r>
              <a:rPr spc="310" dirty="0"/>
              <a:t> </a:t>
            </a:r>
            <a:r>
              <a:rPr dirty="0"/>
              <a:t>tương</a:t>
            </a:r>
            <a:r>
              <a:rPr spc="310" dirty="0"/>
              <a:t> </a:t>
            </a:r>
            <a:r>
              <a:rPr dirty="0"/>
              <a:t>tự</a:t>
            </a:r>
            <a:r>
              <a:rPr spc="320" dirty="0"/>
              <a:t> </a:t>
            </a:r>
            <a:r>
              <a:rPr dirty="0"/>
              <a:t>như</a:t>
            </a:r>
            <a:r>
              <a:rPr spc="305" dirty="0"/>
              <a:t> </a:t>
            </a:r>
            <a:r>
              <a:rPr dirty="0"/>
              <a:t>máy</a:t>
            </a:r>
            <a:r>
              <a:rPr spc="325" dirty="0"/>
              <a:t> </a:t>
            </a:r>
            <a:r>
              <a:rPr dirty="0"/>
              <a:t>ảo,</a:t>
            </a:r>
            <a:r>
              <a:rPr spc="310" dirty="0"/>
              <a:t> </a:t>
            </a:r>
            <a:r>
              <a:rPr dirty="0"/>
              <a:t>nhưng</a:t>
            </a:r>
            <a:r>
              <a:rPr spc="315" dirty="0"/>
              <a:t> </a:t>
            </a:r>
            <a:r>
              <a:rPr dirty="0"/>
              <a:t>nó</a:t>
            </a:r>
            <a:r>
              <a:rPr spc="310" dirty="0"/>
              <a:t> </a:t>
            </a:r>
            <a:r>
              <a:rPr dirty="0"/>
              <a:t>không</a:t>
            </a:r>
            <a:r>
              <a:rPr spc="305" dirty="0"/>
              <a:t> </a:t>
            </a:r>
            <a:r>
              <a:rPr dirty="0"/>
              <a:t>ảo</a:t>
            </a:r>
            <a:r>
              <a:rPr spc="310" dirty="0"/>
              <a:t> </a:t>
            </a:r>
            <a:r>
              <a:rPr dirty="0"/>
              <a:t>hóa</a:t>
            </a:r>
            <a:r>
              <a:rPr spc="320" dirty="0"/>
              <a:t> </a:t>
            </a:r>
            <a:r>
              <a:rPr dirty="0"/>
              <a:t>toàn</a:t>
            </a:r>
            <a:r>
              <a:rPr spc="325" dirty="0"/>
              <a:t> </a:t>
            </a:r>
            <a:r>
              <a:rPr spc="-25" dirty="0"/>
              <a:t>bộ </a:t>
            </a:r>
            <a:r>
              <a:rPr dirty="0"/>
              <a:t>máy</a:t>
            </a:r>
            <a:r>
              <a:rPr spc="295" dirty="0"/>
              <a:t> </a:t>
            </a:r>
            <a:r>
              <a:rPr dirty="0"/>
              <a:t>tính</a:t>
            </a:r>
            <a:r>
              <a:rPr spc="305" dirty="0"/>
              <a:t> </a:t>
            </a:r>
            <a:r>
              <a:rPr dirty="0"/>
              <a:t>mà</a:t>
            </a:r>
            <a:r>
              <a:rPr spc="300" dirty="0"/>
              <a:t> </a:t>
            </a:r>
            <a:r>
              <a:rPr dirty="0"/>
              <a:t>chỉ</a:t>
            </a:r>
            <a:r>
              <a:rPr spc="290" dirty="0"/>
              <a:t> </a:t>
            </a:r>
            <a:r>
              <a:rPr dirty="0"/>
              <a:t>ảo</a:t>
            </a:r>
            <a:r>
              <a:rPr spc="300" dirty="0"/>
              <a:t> </a:t>
            </a:r>
            <a:r>
              <a:rPr dirty="0"/>
              <a:t>hóa</a:t>
            </a:r>
            <a:r>
              <a:rPr spc="300" dirty="0"/>
              <a:t> </a:t>
            </a:r>
            <a:r>
              <a:rPr dirty="0"/>
              <a:t>phần</a:t>
            </a:r>
            <a:r>
              <a:rPr spc="290" dirty="0"/>
              <a:t> </a:t>
            </a:r>
            <a:r>
              <a:rPr dirty="0"/>
              <a:t>mềm</a:t>
            </a:r>
            <a:r>
              <a:rPr spc="295" dirty="0"/>
              <a:t> </a:t>
            </a:r>
            <a:r>
              <a:rPr dirty="0"/>
              <a:t>trên</a:t>
            </a:r>
            <a:r>
              <a:rPr spc="305" dirty="0"/>
              <a:t> </a:t>
            </a:r>
            <a:r>
              <a:rPr dirty="0"/>
              <a:t>cấp</a:t>
            </a:r>
            <a:r>
              <a:rPr spc="295" dirty="0"/>
              <a:t> </a:t>
            </a:r>
            <a:r>
              <a:rPr dirty="0"/>
              <a:t>độ</a:t>
            </a:r>
            <a:r>
              <a:rPr spc="300" dirty="0"/>
              <a:t> </a:t>
            </a:r>
            <a:r>
              <a:rPr dirty="0"/>
              <a:t>hệ</a:t>
            </a:r>
            <a:r>
              <a:rPr spc="295" dirty="0"/>
              <a:t> </a:t>
            </a:r>
            <a:r>
              <a:rPr dirty="0"/>
              <a:t>điều</a:t>
            </a:r>
            <a:r>
              <a:rPr spc="295" dirty="0"/>
              <a:t> </a:t>
            </a:r>
            <a:r>
              <a:rPr dirty="0"/>
              <a:t>hành.</a:t>
            </a:r>
            <a:r>
              <a:rPr spc="300" dirty="0"/>
              <a:t> </a:t>
            </a:r>
            <a:r>
              <a:rPr spc="-25" dirty="0"/>
              <a:t>Do </a:t>
            </a:r>
            <a:r>
              <a:rPr dirty="0"/>
              <a:t>đó,</a:t>
            </a:r>
            <a:r>
              <a:rPr spc="-25" dirty="0"/>
              <a:t> </a:t>
            </a:r>
            <a:r>
              <a:rPr dirty="0"/>
              <a:t>container</a:t>
            </a:r>
            <a:r>
              <a:rPr spc="-35" dirty="0"/>
              <a:t> </a:t>
            </a:r>
            <a:r>
              <a:rPr dirty="0"/>
              <a:t>nhẹ</a:t>
            </a:r>
            <a:r>
              <a:rPr spc="-25" dirty="0"/>
              <a:t> </a:t>
            </a:r>
            <a:r>
              <a:rPr dirty="0"/>
              <a:t>hơn</a:t>
            </a:r>
            <a:r>
              <a:rPr spc="-20" dirty="0"/>
              <a:t> </a:t>
            </a:r>
            <a:r>
              <a:rPr dirty="0"/>
              <a:t>so</a:t>
            </a:r>
            <a:r>
              <a:rPr spc="5" dirty="0"/>
              <a:t> </a:t>
            </a:r>
            <a:r>
              <a:rPr dirty="0"/>
              <a:t>với</a:t>
            </a:r>
            <a:r>
              <a:rPr spc="-20" dirty="0"/>
              <a:t> </a:t>
            </a:r>
            <a:r>
              <a:rPr dirty="0"/>
              <a:t>máy</a:t>
            </a:r>
            <a:r>
              <a:rPr spc="-10" dirty="0"/>
              <a:t> </a:t>
            </a:r>
            <a:r>
              <a:rPr spc="-25" dirty="0"/>
              <a:t>ảo.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Các</a:t>
            </a:r>
            <a:r>
              <a:rPr spc="400" dirty="0"/>
              <a:t> </a:t>
            </a:r>
            <a:r>
              <a:rPr dirty="0"/>
              <a:t>container</a:t>
            </a:r>
            <a:r>
              <a:rPr spc="395" dirty="0"/>
              <a:t> </a:t>
            </a:r>
            <a:r>
              <a:rPr dirty="0"/>
              <a:t>nằm</a:t>
            </a:r>
            <a:r>
              <a:rPr spc="390" dirty="0"/>
              <a:t> </a:t>
            </a:r>
            <a:r>
              <a:rPr dirty="0"/>
              <a:t>trên</a:t>
            </a:r>
            <a:r>
              <a:rPr spc="395" dirty="0"/>
              <a:t> </a:t>
            </a:r>
            <a:r>
              <a:rPr dirty="0"/>
              <a:t>một</a:t>
            </a:r>
            <a:r>
              <a:rPr spc="385" dirty="0"/>
              <a:t> </a:t>
            </a:r>
            <a:r>
              <a:rPr dirty="0"/>
              <a:t>máy</a:t>
            </a:r>
            <a:r>
              <a:rPr spc="385" dirty="0"/>
              <a:t> </a:t>
            </a:r>
            <a:r>
              <a:rPr dirty="0"/>
              <a:t>chủ</a:t>
            </a:r>
            <a:r>
              <a:rPr spc="390" dirty="0"/>
              <a:t> </a:t>
            </a:r>
            <a:r>
              <a:rPr dirty="0"/>
              <a:t>vật</a:t>
            </a:r>
            <a:r>
              <a:rPr spc="375" dirty="0"/>
              <a:t> </a:t>
            </a:r>
            <a:r>
              <a:rPr dirty="0"/>
              <a:t>lý</a:t>
            </a:r>
            <a:r>
              <a:rPr spc="390" dirty="0"/>
              <a:t> </a:t>
            </a:r>
            <a:r>
              <a:rPr dirty="0"/>
              <a:t>và</a:t>
            </a:r>
            <a:r>
              <a:rPr spc="395" dirty="0"/>
              <a:t> </a:t>
            </a:r>
            <a:r>
              <a:rPr dirty="0"/>
              <a:t>Host</a:t>
            </a:r>
            <a:r>
              <a:rPr spc="395" dirty="0"/>
              <a:t> </a:t>
            </a:r>
            <a:r>
              <a:rPr dirty="0"/>
              <a:t>OS</a:t>
            </a:r>
            <a:r>
              <a:rPr spc="390" dirty="0"/>
              <a:t> </a:t>
            </a:r>
            <a:r>
              <a:rPr dirty="0"/>
              <a:t>của</a:t>
            </a:r>
            <a:r>
              <a:rPr spc="395" dirty="0"/>
              <a:t> </a:t>
            </a:r>
            <a:r>
              <a:rPr spc="-25" dirty="0"/>
              <a:t>nó, </a:t>
            </a:r>
            <a:r>
              <a:rPr dirty="0"/>
              <a:t>như</a:t>
            </a:r>
            <a:r>
              <a:rPr spc="-35" dirty="0"/>
              <a:t> </a:t>
            </a:r>
            <a:r>
              <a:rPr dirty="0"/>
              <a:t>Linux</a:t>
            </a:r>
            <a:r>
              <a:rPr spc="-30" dirty="0"/>
              <a:t> </a:t>
            </a:r>
            <a:r>
              <a:rPr dirty="0"/>
              <a:t>hoặc</a:t>
            </a:r>
            <a:r>
              <a:rPr spc="-35" dirty="0"/>
              <a:t> </a:t>
            </a:r>
            <a:r>
              <a:rPr spc="-10" dirty="0"/>
              <a:t>Windows.</a:t>
            </a:r>
          </a:p>
          <a:p>
            <a:pPr marL="355600" marR="5715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Mỗi</a:t>
            </a:r>
            <a:r>
              <a:rPr spc="254" dirty="0"/>
              <a:t> </a:t>
            </a:r>
            <a:r>
              <a:rPr dirty="0"/>
              <a:t>container</a:t>
            </a:r>
            <a:r>
              <a:rPr spc="265" dirty="0"/>
              <a:t> </a:t>
            </a:r>
            <a:r>
              <a:rPr dirty="0"/>
              <a:t>chia</a:t>
            </a:r>
            <a:r>
              <a:rPr spc="275" dirty="0"/>
              <a:t> </a:t>
            </a:r>
            <a:r>
              <a:rPr dirty="0"/>
              <a:t>sẻ</a:t>
            </a:r>
            <a:r>
              <a:rPr spc="265" dirty="0"/>
              <a:t> </a:t>
            </a:r>
            <a:r>
              <a:rPr dirty="0"/>
              <a:t>Host</a:t>
            </a:r>
            <a:r>
              <a:rPr spc="254" dirty="0"/>
              <a:t> </a:t>
            </a:r>
            <a:r>
              <a:rPr dirty="0"/>
              <a:t>OS</a:t>
            </a:r>
            <a:r>
              <a:rPr spc="260" dirty="0"/>
              <a:t> </a:t>
            </a:r>
            <a:r>
              <a:rPr dirty="0"/>
              <a:t>kernel</a:t>
            </a:r>
            <a:r>
              <a:rPr spc="260" dirty="0"/>
              <a:t> </a:t>
            </a:r>
            <a:r>
              <a:rPr dirty="0"/>
              <a:t>và</a:t>
            </a:r>
            <a:r>
              <a:rPr spc="265" dirty="0"/>
              <a:t> </a:t>
            </a:r>
            <a:r>
              <a:rPr dirty="0"/>
              <a:t>thông</a:t>
            </a:r>
            <a:r>
              <a:rPr spc="265" dirty="0"/>
              <a:t> </a:t>
            </a:r>
            <a:r>
              <a:rPr dirty="0"/>
              <a:t>thường</a:t>
            </a:r>
            <a:r>
              <a:rPr spc="254" dirty="0"/>
              <a:t> </a:t>
            </a:r>
            <a:r>
              <a:rPr dirty="0"/>
              <a:t>cũng</a:t>
            </a:r>
            <a:r>
              <a:rPr spc="254" dirty="0"/>
              <a:t> </a:t>
            </a:r>
            <a:r>
              <a:rPr spc="-20" dirty="0"/>
              <a:t>chia </a:t>
            </a:r>
            <a:r>
              <a:rPr dirty="0"/>
              <a:t>sẻ</a:t>
            </a:r>
            <a:r>
              <a:rPr spc="90" dirty="0"/>
              <a:t> </a:t>
            </a:r>
            <a:r>
              <a:rPr dirty="0"/>
              <a:t>luôn</a:t>
            </a:r>
            <a:r>
              <a:rPr spc="110" dirty="0"/>
              <a:t> </a:t>
            </a:r>
            <a:r>
              <a:rPr dirty="0"/>
              <a:t>các</a:t>
            </a:r>
            <a:r>
              <a:rPr spc="90" dirty="0"/>
              <a:t> </a:t>
            </a:r>
            <a:r>
              <a:rPr dirty="0"/>
              <a:t>mã</a:t>
            </a:r>
            <a:r>
              <a:rPr spc="95" dirty="0"/>
              <a:t> </a:t>
            </a:r>
            <a:r>
              <a:rPr dirty="0"/>
              <a:t>binary</a:t>
            </a:r>
            <a:r>
              <a:rPr spc="90" dirty="0"/>
              <a:t> </a:t>
            </a:r>
            <a:r>
              <a:rPr dirty="0"/>
              <a:t>và</a:t>
            </a:r>
            <a:r>
              <a:rPr spc="90" dirty="0"/>
              <a:t> </a:t>
            </a:r>
            <a:r>
              <a:rPr dirty="0"/>
              <a:t>thư</a:t>
            </a:r>
            <a:r>
              <a:rPr spc="100" dirty="0"/>
              <a:t> </a:t>
            </a:r>
            <a:r>
              <a:rPr dirty="0"/>
              <a:t>viện.</a:t>
            </a:r>
            <a:r>
              <a:rPr spc="80" dirty="0"/>
              <a:t> </a:t>
            </a:r>
            <a:r>
              <a:rPr dirty="0"/>
              <a:t>Các</a:t>
            </a:r>
            <a:r>
              <a:rPr spc="110" dirty="0"/>
              <a:t> </a:t>
            </a:r>
            <a:r>
              <a:rPr dirty="0"/>
              <a:t>thành</a:t>
            </a:r>
            <a:r>
              <a:rPr spc="95" dirty="0"/>
              <a:t> </a:t>
            </a:r>
            <a:r>
              <a:rPr dirty="0"/>
              <a:t>phần</a:t>
            </a:r>
            <a:r>
              <a:rPr spc="100" dirty="0"/>
              <a:t> </a:t>
            </a:r>
            <a:r>
              <a:rPr dirty="0"/>
              <a:t>được</a:t>
            </a:r>
            <a:r>
              <a:rPr spc="85" dirty="0"/>
              <a:t> </a:t>
            </a:r>
            <a:r>
              <a:rPr dirty="0"/>
              <a:t>chia</a:t>
            </a:r>
            <a:r>
              <a:rPr spc="85" dirty="0"/>
              <a:t> </a:t>
            </a:r>
            <a:r>
              <a:rPr dirty="0"/>
              <a:t>sẻ</a:t>
            </a:r>
            <a:r>
              <a:rPr spc="105" dirty="0"/>
              <a:t> </a:t>
            </a:r>
            <a:r>
              <a:rPr spc="-25" dirty="0"/>
              <a:t>là </a:t>
            </a:r>
            <a:r>
              <a:rPr dirty="0"/>
              <a:t>Read-</a:t>
            </a:r>
            <a:r>
              <a:rPr spc="-10" dirty="0"/>
              <a:t>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FA5B8-E478-5209-EDE0-BE6D4E5BD9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1556" y="1304544"/>
            <a:ext cx="8438388" cy="46299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8035">
              <a:lnSpc>
                <a:spcPct val="100000"/>
              </a:lnSpc>
              <a:spcBef>
                <a:spcPts val="100"/>
              </a:spcBef>
            </a:pPr>
            <a:r>
              <a:rPr dirty="0"/>
              <a:t>IV.</a:t>
            </a:r>
            <a:r>
              <a:rPr spc="-15" dirty="0"/>
              <a:t> </a:t>
            </a:r>
            <a:r>
              <a:rPr dirty="0"/>
              <a:t>MÁY </a:t>
            </a:r>
            <a:r>
              <a:rPr spc="-25" dirty="0"/>
              <a:t>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18AD2-8CB8-9FEF-50D2-F8ABED714E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84503"/>
              <a:ext cx="12187428" cy="5644896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1999" cy="98907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572" y="2517991"/>
            <a:ext cx="12187555" cy="4340225"/>
            <a:chOff x="4572" y="2517991"/>
            <a:chExt cx="12187555" cy="434022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209" y="2517991"/>
              <a:ext cx="6307541" cy="410086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8035">
              <a:lnSpc>
                <a:spcPct val="100000"/>
              </a:lnSpc>
              <a:spcBef>
                <a:spcPts val="100"/>
              </a:spcBef>
            </a:pPr>
            <a:r>
              <a:rPr dirty="0"/>
              <a:t>IV.</a:t>
            </a:r>
            <a:r>
              <a:rPr spc="-15" dirty="0"/>
              <a:t> </a:t>
            </a:r>
            <a:r>
              <a:rPr dirty="0"/>
              <a:t>MÁY </a:t>
            </a:r>
            <a:r>
              <a:rPr spc="-25" dirty="0"/>
              <a:t>ẢO</a:t>
            </a: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016885" y="1353819"/>
          <a:ext cx="5669280" cy="4326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6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Máy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ảo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883919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Container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Kích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thước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(dung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lượng)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lớn.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Kích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thước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(dung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lượng)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nhỏ.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Hiệu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suất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hạn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chế.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Hiệu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suất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gốc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(native).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45720" marR="22923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Mỗi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máy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ảo sẽ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có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một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hệ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điều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hành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riêng.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2667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Container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sẽ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sử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dụng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hệ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điều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hành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của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host.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Ảo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hóa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về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mặt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phần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cứng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1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Ảo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hóa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về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mặt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hệ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điều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457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hành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45720" marR="29718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Thời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gian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khởi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động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tính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theo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phút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29654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Thời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gian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khởi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động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tính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theo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mili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giây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Phân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bổ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bộ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nhớ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theo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nhu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cầu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cần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thiết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Yêu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cầu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ít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dung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lượng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bộ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nhớ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hơn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45720" marR="1905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Hoàn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toàn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bị cô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lập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và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an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toàn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hơn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654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Cô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lập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ở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mức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tiến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trình,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có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thể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kém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toàn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hơn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4FB83F1-1E66-151E-37D6-F8B02BAAD0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7044" y="1299972"/>
            <a:ext cx="7240524" cy="40919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V.</a:t>
            </a:r>
            <a:r>
              <a:rPr spc="-5" dirty="0"/>
              <a:t> </a:t>
            </a:r>
            <a:r>
              <a:rPr dirty="0"/>
              <a:t>MỘT</a:t>
            </a:r>
            <a:r>
              <a:rPr spc="-20" dirty="0"/>
              <a:t> </a:t>
            </a:r>
            <a:r>
              <a:rPr dirty="0"/>
              <a:t>SỐ CÔNG</a:t>
            </a:r>
            <a:r>
              <a:rPr spc="-5" dirty="0"/>
              <a:t> </a:t>
            </a:r>
            <a:r>
              <a:rPr dirty="0"/>
              <a:t>CỤ</a:t>
            </a:r>
            <a:r>
              <a:rPr spc="-5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spc="-25" dirty="0"/>
              <a:t>HÓA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085BD-FD8F-555B-80EA-DF007DCF8E6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7256" y="1312163"/>
            <a:ext cx="9515856" cy="49956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V.</a:t>
            </a:r>
            <a:r>
              <a:rPr spc="-5" dirty="0"/>
              <a:t> </a:t>
            </a:r>
            <a:r>
              <a:rPr dirty="0"/>
              <a:t>MỘT</a:t>
            </a:r>
            <a:r>
              <a:rPr spc="-20" dirty="0"/>
              <a:t> </a:t>
            </a:r>
            <a:r>
              <a:rPr dirty="0"/>
              <a:t>SỐ CÔNG</a:t>
            </a:r>
            <a:r>
              <a:rPr spc="-5" dirty="0"/>
              <a:t> </a:t>
            </a:r>
            <a:r>
              <a:rPr dirty="0"/>
              <a:t>CỤ</a:t>
            </a:r>
            <a:r>
              <a:rPr spc="-5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spc="-25" dirty="0"/>
              <a:t>HÓA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D2B73-ACD3-863E-42D5-F8B73DC8613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9423" y="1406652"/>
            <a:ext cx="7693152" cy="48082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V.</a:t>
            </a:r>
            <a:r>
              <a:rPr spc="-5" dirty="0"/>
              <a:t> </a:t>
            </a:r>
            <a:r>
              <a:rPr dirty="0"/>
              <a:t>MỘT</a:t>
            </a:r>
            <a:r>
              <a:rPr spc="-20" dirty="0"/>
              <a:t> </a:t>
            </a:r>
            <a:r>
              <a:rPr dirty="0"/>
              <a:t>SỐ CÔNG</a:t>
            </a:r>
            <a:r>
              <a:rPr spc="-5" dirty="0"/>
              <a:t> </a:t>
            </a:r>
            <a:r>
              <a:rPr dirty="0"/>
              <a:t>CỤ</a:t>
            </a:r>
            <a:r>
              <a:rPr spc="-5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spc="-25" dirty="0"/>
              <a:t>HÓA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503D7-8EDC-4F8E-86BA-6E58EBCED13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5416" y="1152144"/>
            <a:ext cx="8125968" cy="50779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V.</a:t>
            </a:r>
            <a:r>
              <a:rPr spc="-5" dirty="0"/>
              <a:t> </a:t>
            </a:r>
            <a:r>
              <a:rPr dirty="0"/>
              <a:t>MỘT</a:t>
            </a:r>
            <a:r>
              <a:rPr spc="-20" dirty="0"/>
              <a:t> </a:t>
            </a:r>
            <a:r>
              <a:rPr dirty="0"/>
              <a:t>SỐ CÔNG</a:t>
            </a:r>
            <a:r>
              <a:rPr spc="-5" dirty="0"/>
              <a:t> </a:t>
            </a:r>
            <a:r>
              <a:rPr dirty="0"/>
              <a:t>CỤ</a:t>
            </a:r>
            <a:r>
              <a:rPr spc="-5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spc="-25" dirty="0"/>
              <a:t>HÓA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D38AB-70DA-D01A-03EC-4B4FEA0EFC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1995" y="1092708"/>
            <a:ext cx="8938260" cy="54604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V.</a:t>
            </a:r>
            <a:r>
              <a:rPr spc="-5" dirty="0"/>
              <a:t> </a:t>
            </a:r>
            <a:r>
              <a:rPr dirty="0"/>
              <a:t>MỘT</a:t>
            </a:r>
            <a:r>
              <a:rPr spc="-20" dirty="0"/>
              <a:t> </a:t>
            </a:r>
            <a:r>
              <a:rPr dirty="0"/>
              <a:t>SỐ CÔNG</a:t>
            </a:r>
            <a:r>
              <a:rPr spc="-5" dirty="0"/>
              <a:t> </a:t>
            </a:r>
            <a:r>
              <a:rPr dirty="0"/>
              <a:t>CỤ</a:t>
            </a:r>
            <a:r>
              <a:rPr spc="-5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spc="-25" dirty="0"/>
              <a:t>HÓA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770E3-9191-B7DD-6751-4992DF09ADB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Words>2665</Words>
  <Application>Microsoft Office PowerPoint</Application>
  <PresentationFormat>Widescreen</PresentationFormat>
  <Paragraphs>242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Aptos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NỘI DUNG</vt:lpstr>
      <vt:lpstr>I. ẢO HÓA MÁY CHỦ</vt:lpstr>
      <vt:lpstr>I. ẢO HÓA MÁY CHỦ</vt:lpstr>
      <vt:lpstr>I. ẢO HÓA MÁY CHỦ</vt:lpstr>
      <vt:lpstr>I. ẢO HÓA MÁY CHỦ</vt:lpstr>
      <vt:lpstr>I. ẢO HÓA MÁY CHỦ</vt:lpstr>
      <vt:lpstr>I. ẢO HÓA MÁY CHỦ</vt:lpstr>
      <vt:lpstr>I. ẢO HÓA MÁY CHỦ</vt:lpstr>
      <vt:lpstr>I. ẢO HÓA MÁY CHỦ</vt:lpstr>
      <vt:lpstr>I. ẢO HÓA MÁY CHỦ</vt:lpstr>
      <vt:lpstr>I. ẢO HÓA MÁY CHỦ</vt:lpstr>
      <vt:lpstr>II. ẢO HÓA THIẾT BỊ LƯU TRỮ</vt:lpstr>
      <vt:lpstr>II. ẢO HÓA THIẾT BỊ LƯU TRỮ</vt:lpstr>
      <vt:lpstr>II. ẢO HÓA THIẾT BỊ LƯU TRỮ</vt:lpstr>
      <vt:lpstr>II. ẢO HÓA THIẾT BỊ LƯU TRỮ</vt:lpstr>
      <vt:lpstr>II. ẢO HÓA THIẾT BỊ LƯU TRỮ</vt:lpstr>
      <vt:lpstr>II. ẢO HÓA THIẾT BỊ LƯU TRỮ</vt:lpstr>
      <vt:lpstr>II. ẢO HÓA THIẾT BỊ LƯU TRỮ</vt:lpstr>
      <vt:lpstr>II. ẢO HÓA THIẾT BỊ LƯU TRỮ</vt:lpstr>
      <vt:lpstr>II. ẢO HÓA THIẾT BỊ LƯU TRỮ</vt:lpstr>
      <vt:lpstr>II. ẢO HÓA THIẾT BỊ LƯU TRỮ</vt:lpstr>
      <vt:lpstr>II. ẢO HÓA THIẾT BỊ LƯU TRỮ</vt:lpstr>
      <vt:lpstr>II. ẢO HÓA THIẾT BỊ LƯU TRỮ</vt:lpstr>
      <vt:lpstr>II. ẢO HÓA THIẾT BỊ LƯU TRỮ</vt:lpstr>
      <vt:lpstr>II. ẢO HÓA THIẾT BỊ LƯU TRỮ</vt:lpstr>
      <vt:lpstr>II. ẢO HÓA THIẾT BỊ LƯU TRỮ</vt:lpstr>
      <vt:lpstr>II. ẢO HÓA THIẾT BỊ LƯU TRỮ</vt:lpstr>
      <vt:lpstr>III. ẢO HÓA BẢO MẬT</vt:lpstr>
      <vt:lpstr>III. ẢO HÓA BẢO MẬT</vt:lpstr>
      <vt:lpstr>III. ẢO HÓA BẢO MẬT</vt:lpstr>
      <vt:lpstr>III. ẢO HÓA BẢO MẬT</vt:lpstr>
      <vt:lpstr>III. ẢO HÓA BẢO MẬT</vt:lpstr>
      <vt:lpstr>III. ẢO HÓA BẢO MẬT</vt:lpstr>
      <vt:lpstr>IV. MÁY ẢO</vt:lpstr>
      <vt:lpstr>IV. MÁY ẢO</vt:lpstr>
      <vt:lpstr>IV. MÁY ẢO</vt:lpstr>
      <vt:lpstr>IV. MÁY ẢO</vt:lpstr>
      <vt:lpstr>IV. MÁY ẢO</vt:lpstr>
      <vt:lpstr>IV. MÁY ẢO</vt:lpstr>
      <vt:lpstr>IV. MÁY ẢO</vt:lpstr>
      <vt:lpstr>V. MỘT SỐ CÔNG CỤ ẢO HÓA</vt:lpstr>
      <vt:lpstr>V. MỘT SỐ CÔNG CỤ ẢO HÓA</vt:lpstr>
      <vt:lpstr>V. MỘT SỐ CÔNG CỤ ẢO HÓA</vt:lpstr>
      <vt:lpstr>V. MỘT SỐ CÔNG CỤ ẢO HÓA</vt:lpstr>
      <vt:lpstr>V. MỘT SỐ CÔNG CỤ ẢO HÓA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ẢO HÓA VÀ KHẢ NĂNG MỞ RỘNG DỮ LIỆU</dc:title>
  <dc:creator>huan luong</dc:creator>
  <cp:lastModifiedBy>Hoàng Đình Hạnh</cp:lastModifiedBy>
  <cp:revision>3</cp:revision>
  <dcterms:created xsi:type="dcterms:W3CDTF">2024-08-06T04:59:41Z</dcterms:created>
  <dcterms:modified xsi:type="dcterms:W3CDTF">2024-08-29T07:44:52Z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2023-10-03T00:00:00Z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2024-08-06T00:00:00Z</vt:filetime>
  </property>
  <property fmtid="{D5CDD505-2E9C-101B-9397-08002B2CF9AE}" pid="5" name="Producer">
    <vt:lpwstr>3-Heights(TM) PDF Security Shell 4.8.25.2 (http://www.pdf-tools.com)</vt:lpwstr>
  </property>
</Properties>
</file>