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handoutMasterIdLst>
    <p:handoutMasterId r:id="rId35"/>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728" y="-1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005DD93-FDF5-3C67-86C4-2CA46169DB8A}"/>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2E361AE-AB4C-FFDD-3271-C140D137E6FB}"/>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AB6355C2-B7B6-492F-B545-A13BB8B59B29}" type="datetimeFigureOut">
              <a:rPr lang="en-US" smtClean="0"/>
              <a:t>14-09-2025</a:t>
            </a:fld>
            <a:endParaRPr lang="en-US"/>
          </a:p>
        </p:txBody>
      </p:sp>
      <p:sp>
        <p:nvSpPr>
          <p:cNvPr id="4" name="Footer Placeholder 3">
            <a:extLst>
              <a:ext uri="{FF2B5EF4-FFF2-40B4-BE49-F238E27FC236}">
                <a16:creationId xmlns:a16="http://schemas.microsoft.com/office/drawing/2014/main" id="{756931DE-8D3E-D736-D41A-E33D756A6CAD}"/>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FADACDE-65D2-5E7C-2CB5-A2FF562B175B}"/>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D8506F2E-F906-4AED-A86B-A956643A4885}" type="slidenum">
              <a:rPr lang="en-US" smtClean="0"/>
              <a:t>‹#›</a:t>
            </a:fld>
            <a:endParaRPr lang="en-US"/>
          </a:p>
        </p:txBody>
      </p:sp>
    </p:spTree>
    <p:extLst>
      <p:ext uri="{BB962C8B-B14F-4D97-AF65-F5344CB8AC3E}">
        <p14:creationId xmlns:p14="http://schemas.microsoft.com/office/powerpoint/2010/main" val="97628324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A0F9B68A-8DF9-42CE-8088-DBAAE93CCA29}" type="datetimeFigureOut">
              <a:rPr lang="en-US" smtClean="0"/>
              <a:t>14-09-2025</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188E7965-4858-40DB-AA43-0DFDDD966A1B}" type="slidenum">
              <a:rPr lang="en-US" smtClean="0"/>
              <a:t>‹#›</a:t>
            </a:fld>
            <a:endParaRPr lang="en-US"/>
          </a:p>
        </p:txBody>
      </p:sp>
    </p:spTree>
    <p:extLst>
      <p:ext uri="{BB962C8B-B14F-4D97-AF65-F5344CB8AC3E}">
        <p14:creationId xmlns:p14="http://schemas.microsoft.com/office/powerpoint/2010/main" val="274606640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600" b="1" i="0">
                <a:solidFill>
                  <a:srgbClr val="FB0127"/>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endParaRPr spc="-20" dirty="0"/>
          </a:p>
        </p:txBody>
      </p:sp>
      <p:sp>
        <p:nvSpPr>
          <p:cNvPr id="5" name="Holder 5"/>
          <p:cNvSpPr>
            <a:spLocks noGrp="1"/>
          </p:cNvSpPr>
          <p:nvPr>
            <p:ph type="dt" sz="half" idx="6"/>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lang="en-US"/>
              <a:t>Washington University in St. Louis</a:t>
            </a:r>
            <a:endParaRPr spc="-10" dirty="0"/>
          </a:p>
        </p:txBody>
      </p:sp>
      <p:sp>
        <p:nvSpPr>
          <p:cNvPr id="6" name="Holder 6"/>
          <p:cNvSpPr>
            <a:spLocks noGrp="1"/>
          </p:cNvSpPr>
          <p:nvPr>
            <p:ph type="sldNum" sz="quarter" idx="7"/>
          </p:nvPr>
        </p:nvSpPr>
        <p:spPr/>
        <p:txBody>
          <a:bodyPr lIns="0" tIns="0" rIns="0" bIns="0"/>
          <a:lstStyle>
            <a:lvl1pPr>
              <a:defRPr sz="1800" b="0" i="0">
                <a:solidFill>
                  <a:schemeClr val="tx1"/>
                </a:solidFill>
                <a:latin typeface="Times New Roman"/>
                <a:cs typeface="Times New Roman"/>
              </a:defRPr>
            </a:lvl1pPr>
          </a:lstStyle>
          <a:p>
            <a:pPr marL="12700">
              <a:lnSpc>
                <a:spcPts val="2065"/>
              </a:lnSpc>
            </a:pPr>
            <a:r>
              <a:rPr spc="-10" dirty="0"/>
              <a:t>5-</a:t>
            </a: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B0127"/>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endParaRPr spc="-20" dirty="0"/>
          </a:p>
        </p:txBody>
      </p:sp>
      <p:sp>
        <p:nvSpPr>
          <p:cNvPr id="5" name="Holder 5"/>
          <p:cNvSpPr>
            <a:spLocks noGrp="1"/>
          </p:cNvSpPr>
          <p:nvPr>
            <p:ph type="dt" sz="half" idx="6"/>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lang="en-US"/>
              <a:t>Washington University in St. Louis</a:t>
            </a:r>
            <a:endParaRPr spc="-10" dirty="0"/>
          </a:p>
        </p:txBody>
      </p:sp>
      <p:sp>
        <p:nvSpPr>
          <p:cNvPr id="6" name="Holder 6"/>
          <p:cNvSpPr>
            <a:spLocks noGrp="1"/>
          </p:cNvSpPr>
          <p:nvPr>
            <p:ph type="sldNum" sz="quarter" idx="7"/>
          </p:nvPr>
        </p:nvSpPr>
        <p:spPr/>
        <p:txBody>
          <a:bodyPr lIns="0" tIns="0" rIns="0" bIns="0"/>
          <a:lstStyle>
            <a:lvl1pPr>
              <a:defRPr sz="1800" b="0" i="0">
                <a:solidFill>
                  <a:schemeClr val="tx1"/>
                </a:solidFill>
                <a:latin typeface="Times New Roman"/>
                <a:cs typeface="Times New Roman"/>
              </a:defRPr>
            </a:lvl1pPr>
          </a:lstStyle>
          <a:p>
            <a:pPr marL="12700">
              <a:lnSpc>
                <a:spcPts val="2065"/>
              </a:lnSpc>
            </a:pPr>
            <a:r>
              <a:rPr spc="-10" dirty="0"/>
              <a:t>5-</a:t>
            </a: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B0127"/>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endParaRPr spc="-20" dirty="0"/>
          </a:p>
        </p:txBody>
      </p:sp>
      <p:sp>
        <p:nvSpPr>
          <p:cNvPr id="6" name="Holder 6"/>
          <p:cNvSpPr>
            <a:spLocks noGrp="1"/>
          </p:cNvSpPr>
          <p:nvPr>
            <p:ph type="dt" sz="half" idx="6"/>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lang="en-US"/>
              <a:t>Washington University in St. Louis</a:t>
            </a:r>
            <a:endParaRPr spc="-10" dirty="0"/>
          </a:p>
        </p:txBody>
      </p:sp>
      <p:sp>
        <p:nvSpPr>
          <p:cNvPr id="7" name="Holder 7"/>
          <p:cNvSpPr>
            <a:spLocks noGrp="1"/>
          </p:cNvSpPr>
          <p:nvPr>
            <p:ph type="sldNum" sz="quarter" idx="7"/>
          </p:nvPr>
        </p:nvSpPr>
        <p:spPr/>
        <p:txBody>
          <a:bodyPr lIns="0" tIns="0" rIns="0" bIns="0"/>
          <a:lstStyle>
            <a:lvl1pPr>
              <a:defRPr sz="1800" b="0" i="0">
                <a:solidFill>
                  <a:schemeClr val="tx1"/>
                </a:solidFill>
                <a:latin typeface="Times New Roman"/>
                <a:cs typeface="Times New Roman"/>
              </a:defRPr>
            </a:lvl1pPr>
          </a:lstStyle>
          <a:p>
            <a:pPr marL="12700">
              <a:lnSpc>
                <a:spcPts val="2065"/>
              </a:lnSpc>
            </a:pPr>
            <a:r>
              <a:rPr spc="-10" dirty="0"/>
              <a:t>5-</a:t>
            </a: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B0127"/>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endParaRPr spc="-20" dirty="0"/>
          </a:p>
        </p:txBody>
      </p:sp>
      <p:sp>
        <p:nvSpPr>
          <p:cNvPr id="4" name="Holder 4"/>
          <p:cNvSpPr>
            <a:spLocks noGrp="1"/>
          </p:cNvSpPr>
          <p:nvPr>
            <p:ph type="dt" sz="half" idx="6"/>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lang="en-US"/>
              <a:t>Washington University in St. Louis</a:t>
            </a:r>
            <a:endParaRPr spc="-10" dirty="0"/>
          </a:p>
        </p:txBody>
      </p:sp>
      <p:sp>
        <p:nvSpPr>
          <p:cNvPr id="5" name="Holder 5"/>
          <p:cNvSpPr>
            <a:spLocks noGrp="1"/>
          </p:cNvSpPr>
          <p:nvPr>
            <p:ph type="sldNum" sz="quarter" idx="7"/>
          </p:nvPr>
        </p:nvSpPr>
        <p:spPr/>
        <p:txBody>
          <a:bodyPr lIns="0" tIns="0" rIns="0" bIns="0"/>
          <a:lstStyle>
            <a:lvl1pPr>
              <a:defRPr sz="1800" b="0" i="0">
                <a:solidFill>
                  <a:schemeClr val="tx1"/>
                </a:solidFill>
                <a:latin typeface="Times New Roman"/>
                <a:cs typeface="Times New Roman"/>
              </a:defRPr>
            </a:lvl1pPr>
          </a:lstStyle>
          <a:p>
            <a:pPr marL="12700">
              <a:lnSpc>
                <a:spcPts val="2065"/>
              </a:lnSpc>
            </a:pPr>
            <a:r>
              <a:rPr spc="-10" dirty="0"/>
              <a:t>5-</a:t>
            </a: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endParaRPr spc="-20" dirty="0"/>
          </a:p>
        </p:txBody>
      </p:sp>
      <p:sp>
        <p:nvSpPr>
          <p:cNvPr id="3" name="Holder 3"/>
          <p:cNvSpPr>
            <a:spLocks noGrp="1"/>
          </p:cNvSpPr>
          <p:nvPr>
            <p:ph type="dt" sz="half" idx="6"/>
          </p:nvPr>
        </p:nvSpPr>
        <p:spPr/>
        <p:txBody>
          <a:bodyPr lIns="0" tIns="0" rIns="0" bIns="0"/>
          <a:lstStyle>
            <a:lvl1pPr>
              <a:defRPr sz="1200" b="0" i="0">
                <a:solidFill>
                  <a:schemeClr val="tx1"/>
                </a:solidFill>
                <a:latin typeface="Times New Roman"/>
                <a:cs typeface="Times New Roman"/>
              </a:defRPr>
            </a:lvl1pPr>
          </a:lstStyle>
          <a:p>
            <a:pPr marL="12700">
              <a:lnSpc>
                <a:spcPts val="1410"/>
              </a:lnSpc>
            </a:pPr>
            <a:r>
              <a:rPr lang="en-US"/>
              <a:t>Washington University in St. Louis</a:t>
            </a:r>
            <a:endParaRPr spc="-10" dirty="0"/>
          </a:p>
        </p:txBody>
      </p:sp>
      <p:sp>
        <p:nvSpPr>
          <p:cNvPr id="4" name="Holder 4"/>
          <p:cNvSpPr>
            <a:spLocks noGrp="1"/>
          </p:cNvSpPr>
          <p:nvPr>
            <p:ph type="sldNum" sz="quarter" idx="7"/>
          </p:nvPr>
        </p:nvSpPr>
        <p:spPr/>
        <p:txBody>
          <a:bodyPr lIns="0" tIns="0" rIns="0" bIns="0"/>
          <a:lstStyle>
            <a:lvl1pPr>
              <a:defRPr sz="1800" b="0" i="0">
                <a:solidFill>
                  <a:schemeClr val="tx1"/>
                </a:solidFill>
                <a:latin typeface="Times New Roman"/>
                <a:cs typeface="Times New Roman"/>
              </a:defRPr>
            </a:lvl1pPr>
          </a:lstStyle>
          <a:p>
            <a:pPr marL="12700">
              <a:lnSpc>
                <a:spcPts val="2065"/>
              </a:lnSpc>
            </a:pPr>
            <a:r>
              <a:rPr spc="-10" dirty="0"/>
              <a:t>5-</a:t>
            </a: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77952" y="241554"/>
            <a:ext cx="8388350" cy="6299200"/>
          </a:xfrm>
          <a:custGeom>
            <a:avLst/>
            <a:gdLst/>
            <a:ahLst/>
            <a:cxnLst/>
            <a:rect l="l" t="t" r="r" b="b"/>
            <a:pathLst>
              <a:path w="8388350" h="6299200">
                <a:moveTo>
                  <a:pt x="0" y="0"/>
                </a:moveTo>
                <a:lnTo>
                  <a:pt x="0" y="6298692"/>
                </a:lnTo>
                <a:lnTo>
                  <a:pt x="8388096" y="6298692"/>
                </a:lnTo>
                <a:lnTo>
                  <a:pt x="8388096" y="0"/>
                </a:lnTo>
                <a:lnTo>
                  <a:pt x="0" y="0"/>
                </a:lnTo>
                <a:close/>
              </a:path>
            </a:pathLst>
          </a:custGeom>
          <a:ln w="25400">
            <a:solidFill>
              <a:srgbClr val="053CE8"/>
            </a:solidFill>
          </a:ln>
        </p:spPr>
        <p:txBody>
          <a:bodyPr wrap="square" lIns="0" tIns="0" rIns="0" bIns="0" rtlCol="0"/>
          <a:lstStyle/>
          <a:p>
            <a:endParaRPr/>
          </a:p>
        </p:txBody>
      </p:sp>
      <p:sp>
        <p:nvSpPr>
          <p:cNvPr id="17" name="bg object 17"/>
          <p:cNvSpPr/>
          <p:nvPr/>
        </p:nvSpPr>
        <p:spPr>
          <a:xfrm>
            <a:off x="7197852" y="0"/>
            <a:ext cx="0" cy="228600"/>
          </a:xfrm>
          <a:custGeom>
            <a:avLst/>
            <a:gdLst/>
            <a:ahLst/>
            <a:cxnLst/>
            <a:rect l="l" t="t" r="r" b="b"/>
            <a:pathLst>
              <a:path h="228600">
                <a:moveTo>
                  <a:pt x="0" y="228600"/>
                </a:moveTo>
                <a:lnTo>
                  <a:pt x="0" y="0"/>
                </a:lnTo>
              </a:path>
            </a:pathLst>
          </a:custGeom>
          <a:ln w="3175">
            <a:solidFill>
              <a:srgbClr val="EAEAEA"/>
            </a:solidFill>
          </a:ln>
        </p:spPr>
        <p:txBody>
          <a:bodyPr wrap="square" lIns="0" tIns="0" rIns="0" bIns="0" rtlCol="0"/>
          <a:lstStyle/>
          <a:p>
            <a:endParaRPr/>
          </a:p>
        </p:txBody>
      </p:sp>
      <p:sp>
        <p:nvSpPr>
          <p:cNvPr id="18" name="bg object 18"/>
          <p:cNvSpPr/>
          <p:nvPr/>
        </p:nvSpPr>
        <p:spPr>
          <a:xfrm>
            <a:off x="8766047" y="1462277"/>
            <a:ext cx="378460" cy="0"/>
          </a:xfrm>
          <a:custGeom>
            <a:avLst/>
            <a:gdLst/>
            <a:ahLst/>
            <a:cxnLst/>
            <a:rect l="l" t="t" r="r" b="b"/>
            <a:pathLst>
              <a:path w="378459">
                <a:moveTo>
                  <a:pt x="0" y="0"/>
                </a:moveTo>
                <a:lnTo>
                  <a:pt x="377952" y="0"/>
                </a:lnTo>
              </a:path>
            </a:pathLst>
          </a:custGeom>
          <a:ln w="3175">
            <a:solidFill>
              <a:srgbClr val="EAEAEA"/>
            </a:solidFill>
          </a:ln>
        </p:spPr>
        <p:txBody>
          <a:bodyPr wrap="square" lIns="0" tIns="0" rIns="0" bIns="0" rtlCol="0"/>
          <a:lstStyle/>
          <a:p>
            <a:endParaRPr/>
          </a:p>
        </p:txBody>
      </p:sp>
      <p:sp>
        <p:nvSpPr>
          <p:cNvPr id="2" name="Holder 2"/>
          <p:cNvSpPr>
            <a:spLocks noGrp="1"/>
          </p:cNvSpPr>
          <p:nvPr>
            <p:ph type="title"/>
          </p:nvPr>
        </p:nvSpPr>
        <p:spPr>
          <a:xfrm>
            <a:off x="458825" y="445871"/>
            <a:ext cx="6920230" cy="574040"/>
          </a:xfrm>
          <a:prstGeom prst="rect">
            <a:avLst/>
          </a:prstGeom>
        </p:spPr>
        <p:txBody>
          <a:bodyPr wrap="square" lIns="0" tIns="0" rIns="0" bIns="0">
            <a:spAutoFit/>
          </a:bodyPr>
          <a:lstStyle>
            <a:lvl1pPr>
              <a:defRPr sz="3600" b="1" i="0">
                <a:solidFill>
                  <a:srgbClr val="FB0127"/>
                </a:solidFill>
                <a:latin typeface="Times New Roman"/>
                <a:cs typeface="Times New Roman"/>
              </a:defRPr>
            </a:lvl1pPr>
          </a:lstStyle>
          <a:p>
            <a:endParaRPr/>
          </a:p>
        </p:txBody>
      </p:sp>
      <p:sp>
        <p:nvSpPr>
          <p:cNvPr id="3" name="Holder 3"/>
          <p:cNvSpPr>
            <a:spLocks noGrp="1"/>
          </p:cNvSpPr>
          <p:nvPr>
            <p:ph type="body" idx="1"/>
          </p:nvPr>
        </p:nvSpPr>
        <p:spPr>
          <a:xfrm>
            <a:off x="457454" y="1316228"/>
            <a:ext cx="7787005" cy="2362835"/>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7627873" y="6368117"/>
            <a:ext cx="981075" cy="194309"/>
          </a:xfrm>
          <a:prstGeom prst="rect">
            <a:avLst/>
          </a:prstGeom>
        </p:spPr>
        <p:txBody>
          <a:bodyPr wrap="square" lIns="0" tIns="0" rIns="0" bIns="0">
            <a:spAutoFit/>
          </a:bodyPr>
          <a:lstStyle>
            <a:lvl1pPr>
              <a:defRPr sz="1200" b="0" i="0">
                <a:solidFill>
                  <a:schemeClr val="tx1"/>
                </a:solidFill>
                <a:latin typeface="Times New Roman"/>
                <a:cs typeface="Times New Roman"/>
              </a:defRPr>
            </a:lvl1pPr>
          </a:lstStyle>
          <a:p>
            <a:pPr marL="12700">
              <a:lnSpc>
                <a:spcPts val="1410"/>
              </a:lnSpc>
            </a:pPr>
            <a:endParaRPr spc="-20" dirty="0"/>
          </a:p>
        </p:txBody>
      </p:sp>
      <p:sp>
        <p:nvSpPr>
          <p:cNvPr id="5" name="Holder 5"/>
          <p:cNvSpPr>
            <a:spLocks noGrp="1"/>
          </p:cNvSpPr>
          <p:nvPr>
            <p:ph type="dt" sz="half" idx="6"/>
          </p:nvPr>
        </p:nvSpPr>
        <p:spPr>
          <a:xfrm>
            <a:off x="458977" y="6368117"/>
            <a:ext cx="2192020" cy="194309"/>
          </a:xfrm>
          <a:prstGeom prst="rect">
            <a:avLst/>
          </a:prstGeom>
        </p:spPr>
        <p:txBody>
          <a:bodyPr wrap="square" lIns="0" tIns="0" rIns="0" bIns="0">
            <a:spAutoFit/>
          </a:bodyPr>
          <a:lstStyle>
            <a:lvl1pPr>
              <a:defRPr sz="1200" b="0" i="0">
                <a:solidFill>
                  <a:schemeClr val="tx1"/>
                </a:solidFill>
                <a:latin typeface="Times New Roman"/>
                <a:cs typeface="Times New Roman"/>
              </a:defRPr>
            </a:lvl1pPr>
          </a:lstStyle>
          <a:p>
            <a:pPr marL="12700">
              <a:lnSpc>
                <a:spcPts val="1410"/>
              </a:lnSpc>
            </a:pPr>
            <a:r>
              <a:rPr lang="en-US"/>
              <a:t>Washington University in St. Louis</a:t>
            </a:r>
            <a:endParaRPr spc="-10" dirty="0"/>
          </a:p>
        </p:txBody>
      </p:sp>
      <p:sp>
        <p:nvSpPr>
          <p:cNvPr id="6" name="Holder 6"/>
          <p:cNvSpPr>
            <a:spLocks noGrp="1"/>
          </p:cNvSpPr>
          <p:nvPr>
            <p:ph type="sldNum" sz="quarter" idx="7"/>
          </p:nvPr>
        </p:nvSpPr>
        <p:spPr>
          <a:xfrm>
            <a:off x="4330700" y="6579869"/>
            <a:ext cx="368935" cy="278765"/>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pPr marL="12700">
              <a:lnSpc>
                <a:spcPts val="2065"/>
              </a:lnSpc>
            </a:pPr>
            <a:r>
              <a:rPr spc="-10" dirty="0"/>
              <a:t>5-</a:t>
            </a: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70545" y="1279652"/>
            <a:ext cx="63500" cy="208279"/>
          </a:xfrm>
          <a:prstGeom prst="rect">
            <a:avLst/>
          </a:prstGeom>
        </p:spPr>
        <p:txBody>
          <a:bodyPr vert="horz" wrap="square" lIns="0" tIns="12700" rIns="0" bIns="0" rtlCol="0">
            <a:spAutoFit/>
          </a:bodyPr>
          <a:lstStyle/>
          <a:p>
            <a:pPr marL="12700">
              <a:lnSpc>
                <a:spcPct val="100000"/>
              </a:lnSpc>
              <a:spcBef>
                <a:spcPts val="100"/>
              </a:spcBef>
            </a:pPr>
            <a:r>
              <a:rPr sz="1200" spc="-50" dirty="0">
                <a:latin typeface="Times New Roman"/>
                <a:cs typeface="Times New Roman"/>
              </a:rPr>
              <a:t>.</a:t>
            </a:r>
            <a:endParaRPr sz="1200">
              <a:latin typeface="Times New Roman"/>
              <a:cs typeface="Times New Roman"/>
            </a:endParaRPr>
          </a:p>
        </p:txBody>
      </p:sp>
      <p:pic>
        <p:nvPicPr>
          <p:cNvPr id="4" name="object 4"/>
          <p:cNvPicPr/>
          <p:nvPr/>
        </p:nvPicPr>
        <p:blipFill>
          <a:blip r:embed="rId2" cstate="print"/>
          <a:stretch>
            <a:fillRect/>
          </a:stretch>
        </p:blipFill>
        <p:spPr>
          <a:xfrm>
            <a:off x="2590800" y="3655211"/>
            <a:ext cx="3387319" cy="2258422"/>
          </a:xfrm>
          <a:prstGeom prst="rect">
            <a:avLst/>
          </a:prstGeom>
        </p:spPr>
      </p:pic>
      <p:sp>
        <p:nvSpPr>
          <p:cNvPr id="5" name="object 5"/>
          <p:cNvSpPr txBox="1">
            <a:spLocks noGrp="1"/>
          </p:cNvSpPr>
          <p:nvPr>
            <p:ph type="title"/>
          </p:nvPr>
        </p:nvSpPr>
        <p:spPr>
          <a:xfrm>
            <a:off x="761633" y="1236109"/>
            <a:ext cx="8393253" cy="1028487"/>
          </a:xfrm>
          <a:prstGeom prst="rect">
            <a:avLst/>
          </a:prstGeom>
        </p:spPr>
        <p:txBody>
          <a:bodyPr vert="horz" wrap="square" lIns="0" tIns="12700" rIns="0" bIns="0" rtlCol="0">
            <a:spAutoFit/>
          </a:bodyPr>
          <a:lstStyle/>
          <a:p>
            <a:pPr marL="12700" marR="5080">
              <a:lnSpc>
                <a:spcPct val="100000"/>
              </a:lnSpc>
              <a:spcBef>
                <a:spcPts val="100"/>
              </a:spcBef>
            </a:pPr>
            <a:r>
              <a:rPr sz="6600" spc="-10" dirty="0"/>
              <a:t>Server Virtualization</a:t>
            </a:r>
            <a:endParaRPr sz="6600"/>
          </a:p>
        </p:txBody>
      </p:sp>
      <p:sp>
        <p:nvSpPr>
          <p:cNvPr id="9" name="Slide Number Placeholder 8">
            <a:extLst>
              <a:ext uri="{FF2B5EF4-FFF2-40B4-BE49-F238E27FC236}">
                <a16:creationId xmlns:a16="http://schemas.microsoft.com/office/drawing/2014/main" id="{3CFC3D6F-AB99-2C3F-50AC-49699FC15569}"/>
              </a:ext>
            </a:extLst>
          </p:cNvPr>
          <p:cNvSpPr>
            <a:spLocks noGrp="1"/>
          </p:cNvSpPr>
          <p:nvPr>
            <p:ph type="sldNum" sz="quarter" idx="7"/>
          </p:nvPr>
        </p:nvSpPr>
        <p:spPr/>
        <p:txBody>
          <a:bodyPr/>
          <a:lstStyle/>
          <a:p>
            <a:pPr marL="12700">
              <a:lnSpc>
                <a:spcPts val="2065"/>
              </a:lnSpc>
            </a:pPr>
            <a:fld id="{81D60167-4931-47E6-BA6A-407CBD079E47}" type="slidenum">
              <a:rPr spc="-50" smtClean="0"/>
              <a:t>1</a:t>
            </a:fld>
            <a:endParaRPr spc="-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90600" y="284099"/>
            <a:ext cx="4955794" cy="2295652"/>
          </a:xfrm>
          <a:prstGeom prst="rect">
            <a:avLst/>
          </a:prstGeom>
        </p:spPr>
      </p:pic>
      <p:sp>
        <p:nvSpPr>
          <p:cNvPr id="3" name="object 3"/>
          <p:cNvSpPr txBox="1">
            <a:spLocks noGrp="1"/>
          </p:cNvSpPr>
          <p:nvPr>
            <p:ph type="title"/>
          </p:nvPr>
        </p:nvSpPr>
        <p:spPr>
          <a:xfrm>
            <a:off x="3610457" y="1665071"/>
            <a:ext cx="1904364" cy="574040"/>
          </a:xfrm>
          <a:prstGeom prst="rect">
            <a:avLst/>
          </a:prstGeom>
        </p:spPr>
        <p:txBody>
          <a:bodyPr vert="horz" wrap="square" lIns="0" tIns="12700" rIns="0" bIns="0" rtlCol="0">
            <a:spAutoFit/>
          </a:bodyPr>
          <a:lstStyle/>
          <a:p>
            <a:pPr marL="12700">
              <a:lnSpc>
                <a:spcPct val="100000"/>
              </a:lnSpc>
              <a:spcBef>
                <a:spcPts val="100"/>
              </a:spcBef>
            </a:pPr>
            <a:r>
              <a:rPr spc="-10" dirty="0"/>
              <a:t>Overview</a:t>
            </a:r>
          </a:p>
        </p:txBody>
      </p:sp>
      <p:sp>
        <p:nvSpPr>
          <p:cNvPr id="4" name="object 4"/>
          <p:cNvSpPr txBox="1"/>
          <p:nvPr/>
        </p:nvSpPr>
        <p:spPr>
          <a:xfrm>
            <a:off x="457454" y="2920390"/>
            <a:ext cx="8076946" cy="3055324"/>
          </a:xfrm>
          <a:prstGeom prst="rect">
            <a:avLst/>
          </a:prstGeom>
        </p:spPr>
        <p:txBody>
          <a:bodyPr vert="horz" wrap="square" lIns="0" tIns="84455" rIns="0" bIns="0" rtlCol="0">
            <a:spAutoFit/>
          </a:bodyPr>
          <a:lstStyle/>
          <a:p>
            <a:pPr marL="469265" indent="-456565">
              <a:lnSpc>
                <a:spcPct val="100000"/>
              </a:lnSpc>
              <a:spcBef>
                <a:spcPts val="665"/>
              </a:spcBef>
              <a:buClr>
                <a:srgbClr val="053CE8"/>
              </a:buClr>
              <a:buAutoNum type="arabicPeriod"/>
              <a:tabLst>
                <a:tab pos="469265" algn="l"/>
              </a:tabLst>
            </a:pPr>
            <a:r>
              <a:rPr sz="2400" dirty="0">
                <a:latin typeface="Times New Roman"/>
                <a:cs typeface="Times New Roman"/>
              </a:rPr>
              <a:t>Why</a:t>
            </a:r>
            <a:r>
              <a:rPr sz="2400" spc="-20" dirty="0">
                <a:latin typeface="Times New Roman"/>
                <a:cs typeface="Times New Roman"/>
              </a:rPr>
              <a:t> </a:t>
            </a:r>
            <a:r>
              <a:rPr sz="2400" spc="-10" dirty="0">
                <a:latin typeface="Times New Roman"/>
                <a:cs typeface="Times New Roman"/>
              </a:rPr>
              <a:t>Virtualize?</a:t>
            </a:r>
            <a:endParaRPr sz="2400">
              <a:latin typeface="Times New Roman"/>
              <a:cs typeface="Times New Roman"/>
            </a:endParaRPr>
          </a:p>
          <a:p>
            <a:pPr marL="469265" indent="-456565">
              <a:lnSpc>
                <a:spcPct val="100000"/>
              </a:lnSpc>
              <a:spcBef>
                <a:spcPts val="570"/>
              </a:spcBef>
              <a:buClr>
                <a:srgbClr val="053CE8"/>
              </a:buClr>
              <a:buAutoNum type="arabicPeriod"/>
              <a:tabLst>
                <a:tab pos="469265" algn="l"/>
              </a:tabLst>
            </a:pPr>
            <a:r>
              <a:rPr sz="2400" dirty="0">
                <a:latin typeface="Times New Roman"/>
                <a:cs typeface="Times New Roman"/>
              </a:rPr>
              <a:t>Server</a:t>
            </a:r>
            <a:r>
              <a:rPr sz="2400" spc="-60" dirty="0">
                <a:latin typeface="Times New Roman"/>
                <a:cs typeface="Times New Roman"/>
              </a:rPr>
              <a:t> </a:t>
            </a:r>
            <a:r>
              <a:rPr sz="2400" dirty="0">
                <a:latin typeface="Times New Roman"/>
                <a:cs typeface="Times New Roman"/>
              </a:rPr>
              <a:t>Virtualization</a:t>
            </a:r>
            <a:r>
              <a:rPr sz="2400" spc="-50" dirty="0">
                <a:latin typeface="Times New Roman"/>
                <a:cs typeface="Times New Roman"/>
              </a:rPr>
              <a:t> </a:t>
            </a:r>
            <a:r>
              <a:rPr sz="2400" spc="-10" dirty="0">
                <a:latin typeface="Times New Roman"/>
                <a:cs typeface="Times New Roman"/>
              </a:rPr>
              <a:t>Concepts</a:t>
            </a:r>
            <a:endParaRPr sz="2400">
              <a:latin typeface="Times New Roman"/>
              <a:cs typeface="Times New Roman"/>
            </a:endParaRPr>
          </a:p>
          <a:p>
            <a:pPr marL="469265" indent="-456565">
              <a:lnSpc>
                <a:spcPct val="100000"/>
              </a:lnSpc>
              <a:spcBef>
                <a:spcPts val="570"/>
              </a:spcBef>
              <a:buClr>
                <a:srgbClr val="053CE8"/>
              </a:buClr>
              <a:buAutoNum type="arabicPeriod"/>
              <a:tabLst>
                <a:tab pos="469265" algn="l"/>
              </a:tabLst>
            </a:pPr>
            <a:r>
              <a:rPr sz="2400" dirty="0">
                <a:latin typeface="Times New Roman"/>
                <a:cs typeface="Times New Roman"/>
              </a:rPr>
              <a:t>Virtualization</a:t>
            </a:r>
            <a:r>
              <a:rPr sz="2400" spc="-70" dirty="0">
                <a:latin typeface="Times New Roman"/>
                <a:cs typeface="Times New Roman"/>
              </a:rPr>
              <a:t> </a:t>
            </a:r>
            <a:r>
              <a:rPr sz="2400" spc="-10" dirty="0">
                <a:latin typeface="Times New Roman"/>
                <a:cs typeface="Times New Roman"/>
              </a:rPr>
              <a:t>Products</a:t>
            </a:r>
            <a:endParaRPr sz="2400">
              <a:latin typeface="Times New Roman"/>
              <a:cs typeface="Times New Roman"/>
            </a:endParaRPr>
          </a:p>
          <a:p>
            <a:pPr marL="469265" indent="-456565">
              <a:lnSpc>
                <a:spcPct val="100000"/>
              </a:lnSpc>
              <a:spcBef>
                <a:spcPts val="570"/>
              </a:spcBef>
              <a:buClr>
                <a:srgbClr val="053CE8"/>
              </a:buClr>
              <a:buAutoNum type="arabicPeriod"/>
              <a:tabLst>
                <a:tab pos="469265" algn="l"/>
              </a:tabLst>
            </a:pPr>
            <a:r>
              <a:rPr sz="2400" dirty="0">
                <a:latin typeface="Times New Roman"/>
                <a:cs typeface="Times New Roman"/>
              </a:rPr>
              <a:t>A</a:t>
            </a:r>
            <a:r>
              <a:rPr sz="2400" spc="-40" dirty="0">
                <a:latin typeface="Times New Roman"/>
                <a:cs typeface="Times New Roman"/>
              </a:rPr>
              <a:t> </a:t>
            </a:r>
            <a:r>
              <a:rPr sz="2400" dirty="0">
                <a:latin typeface="Times New Roman"/>
                <a:cs typeface="Times New Roman"/>
              </a:rPr>
              <a:t>Sample</a:t>
            </a:r>
            <a:r>
              <a:rPr sz="2400" spc="-40" dirty="0">
                <a:latin typeface="Times New Roman"/>
                <a:cs typeface="Times New Roman"/>
              </a:rPr>
              <a:t> </a:t>
            </a:r>
            <a:r>
              <a:rPr sz="2400" dirty="0">
                <a:latin typeface="Times New Roman"/>
                <a:cs typeface="Times New Roman"/>
              </a:rPr>
              <a:t>of</a:t>
            </a:r>
            <a:r>
              <a:rPr sz="2400" spc="-35" dirty="0">
                <a:latin typeface="Times New Roman"/>
                <a:cs typeface="Times New Roman"/>
              </a:rPr>
              <a:t> </a:t>
            </a:r>
            <a:r>
              <a:rPr sz="2400" dirty="0">
                <a:latin typeface="Times New Roman"/>
                <a:cs typeface="Times New Roman"/>
              </a:rPr>
              <a:t>Virtualization</a:t>
            </a:r>
            <a:r>
              <a:rPr sz="2400" spc="-40" dirty="0">
                <a:latin typeface="Times New Roman"/>
                <a:cs typeface="Times New Roman"/>
              </a:rPr>
              <a:t> </a:t>
            </a:r>
            <a:r>
              <a:rPr sz="2400" spc="-10" dirty="0">
                <a:latin typeface="Times New Roman"/>
                <a:cs typeface="Times New Roman"/>
              </a:rPr>
              <a:t>Products</a:t>
            </a:r>
            <a:endParaRPr sz="2400">
              <a:latin typeface="Times New Roman"/>
              <a:cs typeface="Times New Roman"/>
            </a:endParaRPr>
          </a:p>
          <a:p>
            <a:pPr marL="469265" indent="-456565">
              <a:lnSpc>
                <a:spcPct val="100000"/>
              </a:lnSpc>
              <a:spcBef>
                <a:spcPts val="565"/>
              </a:spcBef>
              <a:buClr>
                <a:srgbClr val="053CE8"/>
              </a:buClr>
              <a:buAutoNum type="arabicPeriod"/>
              <a:tabLst>
                <a:tab pos="469265" algn="l"/>
              </a:tabLst>
            </a:pPr>
            <a:r>
              <a:rPr sz="2400" dirty="0">
                <a:latin typeface="Times New Roman"/>
                <a:cs typeface="Times New Roman"/>
              </a:rPr>
              <a:t>Open</a:t>
            </a:r>
            <a:r>
              <a:rPr sz="2400" spc="-60" dirty="0">
                <a:latin typeface="Times New Roman"/>
                <a:cs typeface="Times New Roman"/>
              </a:rPr>
              <a:t> </a:t>
            </a:r>
            <a:r>
              <a:rPr sz="2400" dirty="0">
                <a:latin typeface="Times New Roman"/>
                <a:cs typeface="Times New Roman"/>
              </a:rPr>
              <a:t>Virtualization</a:t>
            </a:r>
            <a:r>
              <a:rPr sz="2400" spc="-55" dirty="0">
                <a:latin typeface="Times New Roman"/>
                <a:cs typeface="Times New Roman"/>
              </a:rPr>
              <a:t> </a:t>
            </a:r>
            <a:r>
              <a:rPr sz="2400" dirty="0">
                <a:latin typeface="Times New Roman"/>
                <a:cs typeface="Times New Roman"/>
              </a:rPr>
              <a:t>Format</a:t>
            </a:r>
            <a:r>
              <a:rPr sz="2400" spc="-60" dirty="0">
                <a:latin typeface="Times New Roman"/>
                <a:cs typeface="Times New Roman"/>
              </a:rPr>
              <a:t> </a:t>
            </a:r>
            <a:r>
              <a:rPr sz="2400" spc="-10" dirty="0">
                <a:latin typeface="Times New Roman"/>
                <a:cs typeface="Times New Roman"/>
              </a:rPr>
              <a:t>(OVF)</a:t>
            </a:r>
            <a:endParaRPr sz="2400">
              <a:latin typeface="Times New Roman"/>
              <a:cs typeface="Times New Roman"/>
            </a:endParaRPr>
          </a:p>
          <a:p>
            <a:pPr marL="469900" marR="5080" indent="-457200">
              <a:lnSpc>
                <a:spcPct val="100000"/>
              </a:lnSpc>
              <a:spcBef>
                <a:spcPts val="570"/>
              </a:spcBef>
            </a:pPr>
            <a:r>
              <a:rPr sz="2400" dirty="0">
                <a:latin typeface="Times New Roman"/>
                <a:cs typeface="Times New Roman"/>
              </a:rPr>
              <a:t>Note:</a:t>
            </a:r>
            <a:r>
              <a:rPr sz="2400" spc="-55" dirty="0">
                <a:latin typeface="Times New Roman"/>
                <a:cs typeface="Times New Roman"/>
              </a:rPr>
              <a:t> </a:t>
            </a:r>
            <a:r>
              <a:rPr sz="2400" dirty="0">
                <a:latin typeface="Times New Roman"/>
                <a:cs typeface="Times New Roman"/>
              </a:rPr>
              <a:t>Storage</a:t>
            </a:r>
            <a:r>
              <a:rPr sz="2400" spc="-50" dirty="0">
                <a:latin typeface="Times New Roman"/>
                <a:cs typeface="Times New Roman"/>
              </a:rPr>
              <a:t> </a:t>
            </a:r>
            <a:r>
              <a:rPr sz="2400" dirty="0">
                <a:latin typeface="Times New Roman"/>
                <a:cs typeface="Times New Roman"/>
              </a:rPr>
              <a:t>Virtualization</a:t>
            </a:r>
            <a:r>
              <a:rPr sz="2400" spc="-50" dirty="0">
                <a:latin typeface="Times New Roman"/>
                <a:cs typeface="Times New Roman"/>
              </a:rPr>
              <a:t> </a:t>
            </a:r>
            <a:r>
              <a:rPr sz="2400" dirty="0">
                <a:latin typeface="Times New Roman"/>
                <a:cs typeface="Times New Roman"/>
              </a:rPr>
              <a:t>and</a:t>
            </a:r>
            <a:r>
              <a:rPr sz="2400" spc="-50" dirty="0">
                <a:latin typeface="Times New Roman"/>
                <a:cs typeface="Times New Roman"/>
              </a:rPr>
              <a:t> </a:t>
            </a:r>
            <a:r>
              <a:rPr sz="2400" dirty="0">
                <a:latin typeface="Times New Roman"/>
                <a:cs typeface="Times New Roman"/>
              </a:rPr>
              <a:t>Network</a:t>
            </a:r>
            <a:r>
              <a:rPr sz="2400" spc="-50" dirty="0">
                <a:latin typeface="Times New Roman"/>
                <a:cs typeface="Times New Roman"/>
              </a:rPr>
              <a:t> </a:t>
            </a:r>
            <a:r>
              <a:rPr sz="2400" dirty="0">
                <a:latin typeface="Times New Roman"/>
                <a:cs typeface="Times New Roman"/>
              </a:rPr>
              <a:t>Virtualization</a:t>
            </a:r>
            <a:r>
              <a:rPr sz="2400" spc="-50" dirty="0">
                <a:latin typeface="Times New Roman"/>
                <a:cs typeface="Times New Roman"/>
              </a:rPr>
              <a:t> </a:t>
            </a:r>
            <a:r>
              <a:rPr sz="2400" dirty="0">
                <a:latin typeface="Times New Roman"/>
                <a:cs typeface="Times New Roman"/>
              </a:rPr>
              <a:t>will</a:t>
            </a:r>
            <a:r>
              <a:rPr sz="2400" spc="-50" dirty="0">
                <a:latin typeface="Times New Roman"/>
                <a:cs typeface="Times New Roman"/>
              </a:rPr>
              <a:t> </a:t>
            </a:r>
            <a:r>
              <a:rPr sz="2400" spc="-25" dirty="0">
                <a:latin typeface="Times New Roman"/>
                <a:cs typeface="Times New Roman"/>
              </a:rPr>
              <a:t>be </a:t>
            </a:r>
            <a:r>
              <a:rPr sz="2400" dirty="0">
                <a:latin typeface="Times New Roman"/>
                <a:cs typeface="Times New Roman"/>
              </a:rPr>
              <a:t>discussed</a:t>
            </a:r>
            <a:r>
              <a:rPr sz="2400" spc="-60" dirty="0">
                <a:latin typeface="Times New Roman"/>
                <a:cs typeface="Times New Roman"/>
              </a:rPr>
              <a:t> </a:t>
            </a:r>
            <a:r>
              <a:rPr sz="2400" dirty="0">
                <a:latin typeface="Times New Roman"/>
                <a:cs typeface="Times New Roman"/>
              </a:rPr>
              <a:t>in</a:t>
            </a:r>
            <a:r>
              <a:rPr sz="2400" spc="-50" dirty="0">
                <a:latin typeface="Times New Roman"/>
                <a:cs typeface="Times New Roman"/>
              </a:rPr>
              <a:t> </a:t>
            </a:r>
            <a:r>
              <a:rPr sz="2400" dirty="0">
                <a:latin typeface="Times New Roman"/>
                <a:cs typeface="Times New Roman"/>
              </a:rPr>
              <a:t>subsequent</a:t>
            </a:r>
            <a:r>
              <a:rPr sz="2400" spc="-50" dirty="0">
                <a:latin typeface="Times New Roman"/>
                <a:cs typeface="Times New Roman"/>
              </a:rPr>
              <a:t> </a:t>
            </a:r>
            <a:r>
              <a:rPr sz="2400" spc="-10" dirty="0">
                <a:latin typeface="Times New Roman"/>
                <a:cs typeface="Times New Roman"/>
              </a:rPr>
              <a:t>lectures</a:t>
            </a:r>
            <a:endParaRPr sz="2400">
              <a:latin typeface="Times New Roman"/>
              <a:cs typeface="Times New Roman"/>
            </a:endParaRPr>
          </a:p>
        </p:txBody>
      </p:sp>
      <p:sp>
        <p:nvSpPr>
          <p:cNvPr id="8" name="Slide Number Placeholder 7">
            <a:extLst>
              <a:ext uri="{FF2B5EF4-FFF2-40B4-BE49-F238E27FC236}">
                <a16:creationId xmlns:a16="http://schemas.microsoft.com/office/drawing/2014/main" id="{9469A841-1AEF-33CF-8C82-88B322EB414E}"/>
              </a:ext>
            </a:extLst>
          </p:cNvPr>
          <p:cNvSpPr>
            <a:spLocks noGrp="1"/>
          </p:cNvSpPr>
          <p:nvPr>
            <p:ph type="sldNum" sz="quarter" idx="7"/>
          </p:nvPr>
        </p:nvSpPr>
        <p:spPr/>
        <p:txBody>
          <a:bodyPr/>
          <a:lstStyle/>
          <a:p>
            <a:pPr marL="12700">
              <a:lnSpc>
                <a:spcPts val="2065"/>
              </a:lnSpc>
            </a:pPr>
            <a:fld id="{81D60167-4931-47E6-BA6A-407CBD079E47}" type="slidenum">
              <a:rPr spc="-50" smtClean="0"/>
              <a:t>2</a:t>
            </a:fld>
            <a:endParaRPr spc="-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2724785">
              <a:lnSpc>
                <a:spcPct val="100000"/>
              </a:lnSpc>
              <a:spcBef>
                <a:spcPts val="100"/>
              </a:spcBef>
            </a:pPr>
            <a:r>
              <a:rPr spc="-10" dirty="0"/>
              <a:t>Virtualization</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354965" marR="116205" indent="-342900">
              <a:lnSpc>
                <a:spcPct val="100000"/>
              </a:lnSpc>
              <a:spcBef>
                <a:spcPts val="100"/>
              </a:spcBef>
            </a:pPr>
            <a:r>
              <a:rPr dirty="0"/>
              <a:t>“</a:t>
            </a:r>
            <a:r>
              <a:rPr i="1" dirty="0">
                <a:latin typeface="Times New Roman"/>
                <a:cs typeface="Times New Roman"/>
              </a:rPr>
              <a:t>Virtualization</a:t>
            </a:r>
            <a:r>
              <a:rPr i="1" spc="-45" dirty="0">
                <a:latin typeface="Times New Roman"/>
                <a:cs typeface="Times New Roman"/>
              </a:rPr>
              <a:t> </a:t>
            </a:r>
            <a:r>
              <a:rPr i="1" dirty="0">
                <a:latin typeface="Times New Roman"/>
                <a:cs typeface="Times New Roman"/>
              </a:rPr>
              <a:t>means</a:t>
            </a:r>
            <a:r>
              <a:rPr i="1" spc="-45" dirty="0">
                <a:latin typeface="Times New Roman"/>
                <a:cs typeface="Times New Roman"/>
              </a:rPr>
              <a:t> </a:t>
            </a:r>
            <a:r>
              <a:rPr i="1" dirty="0">
                <a:latin typeface="Times New Roman"/>
                <a:cs typeface="Times New Roman"/>
              </a:rPr>
              <a:t>that</a:t>
            </a:r>
            <a:r>
              <a:rPr i="1" spc="-40" dirty="0">
                <a:latin typeface="Times New Roman"/>
                <a:cs typeface="Times New Roman"/>
              </a:rPr>
              <a:t> </a:t>
            </a:r>
            <a:r>
              <a:rPr i="1" dirty="0">
                <a:latin typeface="Times New Roman"/>
                <a:cs typeface="Times New Roman"/>
              </a:rPr>
              <a:t>Applications</a:t>
            </a:r>
            <a:r>
              <a:rPr i="1" spc="-45" dirty="0">
                <a:latin typeface="Times New Roman"/>
                <a:cs typeface="Times New Roman"/>
              </a:rPr>
              <a:t> </a:t>
            </a:r>
            <a:r>
              <a:rPr i="1" dirty="0">
                <a:latin typeface="Times New Roman"/>
                <a:cs typeface="Times New Roman"/>
              </a:rPr>
              <a:t>can</a:t>
            </a:r>
            <a:r>
              <a:rPr i="1" spc="-45" dirty="0">
                <a:latin typeface="Times New Roman"/>
                <a:cs typeface="Times New Roman"/>
              </a:rPr>
              <a:t> </a:t>
            </a:r>
            <a:r>
              <a:rPr i="1" dirty="0">
                <a:latin typeface="Times New Roman"/>
                <a:cs typeface="Times New Roman"/>
              </a:rPr>
              <a:t>use</a:t>
            </a:r>
            <a:r>
              <a:rPr i="1" spc="-40" dirty="0">
                <a:latin typeface="Times New Roman"/>
                <a:cs typeface="Times New Roman"/>
              </a:rPr>
              <a:t> </a:t>
            </a:r>
            <a:r>
              <a:rPr i="1" dirty="0">
                <a:latin typeface="Times New Roman"/>
                <a:cs typeface="Times New Roman"/>
              </a:rPr>
              <a:t>a</a:t>
            </a:r>
            <a:r>
              <a:rPr i="1" spc="-45" dirty="0">
                <a:latin typeface="Times New Roman"/>
                <a:cs typeface="Times New Roman"/>
              </a:rPr>
              <a:t> </a:t>
            </a:r>
            <a:r>
              <a:rPr i="1" spc="-10" dirty="0">
                <a:latin typeface="Times New Roman"/>
                <a:cs typeface="Times New Roman"/>
              </a:rPr>
              <a:t>resource </a:t>
            </a:r>
            <a:r>
              <a:rPr i="1" dirty="0">
                <a:latin typeface="Times New Roman"/>
                <a:cs typeface="Times New Roman"/>
              </a:rPr>
              <a:t>without</a:t>
            </a:r>
            <a:r>
              <a:rPr i="1" spc="-35" dirty="0">
                <a:latin typeface="Times New Roman"/>
                <a:cs typeface="Times New Roman"/>
              </a:rPr>
              <a:t> </a:t>
            </a:r>
            <a:r>
              <a:rPr i="1" dirty="0">
                <a:latin typeface="Times New Roman"/>
                <a:cs typeface="Times New Roman"/>
              </a:rPr>
              <a:t>any</a:t>
            </a:r>
            <a:r>
              <a:rPr i="1" spc="-30" dirty="0">
                <a:latin typeface="Times New Roman"/>
                <a:cs typeface="Times New Roman"/>
              </a:rPr>
              <a:t> </a:t>
            </a:r>
            <a:r>
              <a:rPr i="1" dirty="0">
                <a:latin typeface="Times New Roman"/>
                <a:cs typeface="Times New Roman"/>
              </a:rPr>
              <a:t>concern</a:t>
            </a:r>
            <a:r>
              <a:rPr i="1" spc="-30" dirty="0">
                <a:latin typeface="Times New Roman"/>
                <a:cs typeface="Times New Roman"/>
              </a:rPr>
              <a:t> </a:t>
            </a:r>
            <a:r>
              <a:rPr i="1" dirty="0">
                <a:latin typeface="Times New Roman"/>
                <a:cs typeface="Times New Roman"/>
              </a:rPr>
              <a:t>for</a:t>
            </a:r>
            <a:r>
              <a:rPr i="1" spc="-35" dirty="0">
                <a:latin typeface="Times New Roman"/>
                <a:cs typeface="Times New Roman"/>
              </a:rPr>
              <a:t> </a:t>
            </a:r>
            <a:r>
              <a:rPr i="1" dirty="0">
                <a:latin typeface="Times New Roman"/>
                <a:cs typeface="Times New Roman"/>
              </a:rPr>
              <a:t>where</a:t>
            </a:r>
            <a:r>
              <a:rPr i="1" spc="-30" dirty="0">
                <a:latin typeface="Times New Roman"/>
                <a:cs typeface="Times New Roman"/>
              </a:rPr>
              <a:t> </a:t>
            </a:r>
            <a:r>
              <a:rPr i="1" dirty="0">
                <a:latin typeface="Times New Roman"/>
                <a:cs typeface="Times New Roman"/>
              </a:rPr>
              <a:t>it</a:t>
            </a:r>
            <a:r>
              <a:rPr i="1" spc="-30" dirty="0">
                <a:latin typeface="Times New Roman"/>
                <a:cs typeface="Times New Roman"/>
              </a:rPr>
              <a:t> </a:t>
            </a:r>
            <a:r>
              <a:rPr i="1" dirty="0">
                <a:latin typeface="Times New Roman"/>
                <a:cs typeface="Times New Roman"/>
              </a:rPr>
              <a:t>resides,</a:t>
            </a:r>
            <a:r>
              <a:rPr i="1" spc="-35" dirty="0">
                <a:latin typeface="Times New Roman"/>
                <a:cs typeface="Times New Roman"/>
              </a:rPr>
              <a:t> </a:t>
            </a:r>
            <a:r>
              <a:rPr i="1" dirty="0">
                <a:latin typeface="Times New Roman"/>
                <a:cs typeface="Times New Roman"/>
              </a:rPr>
              <a:t>what</a:t>
            </a:r>
            <a:r>
              <a:rPr i="1" spc="-30" dirty="0">
                <a:latin typeface="Times New Roman"/>
                <a:cs typeface="Times New Roman"/>
              </a:rPr>
              <a:t> </a:t>
            </a:r>
            <a:r>
              <a:rPr i="1" dirty="0">
                <a:latin typeface="Times New Roman"/>
                <a:cs typeface="Times New Roman"/>
              </a:rPr>
              <a:t>the</a:t>
            </a:r>
            <a:r>
              <a:rPr i="1" spc="-30" dirty="0">
                <a:latin typeface="Times New Roman"/>
                <a:cs typeface="Times New Roman"/>
              </a:rPr>
              <a:t> </a:t>
            </a:r>
            <a:r>
              <a:rPr i="1" spc="-10" dirty="0">
                <a:latin typeface="Times New Roman"/>
                <a:cs typeface="Times New Roman"/>
              </a:rPr>
              <a:t>technical </a:t>
            </a:r>
            <a:r>
              <a:rPr i="1" dirty="0">
                <a:latin typeface="Times New Roman"/>
                <a:cs typeface="Times New Roman"/>
              </a:rPr>
              <a:t>interface</a:t>
            </a:r>
            <a:r>
              <a:rPr i="1" spc="-35" dirty="0">
                <a:latin typeface="Times New Roman"/>
                <a:cs typeface="Times New Roman"/>
              </a:rPr>
              <a:t> </a:t>
            </a:r>
            <a:r>
              <a:rPr i="1" dirty="0">
                <a:latin typeface="Times New Roman"/>
                <a:cs typeface="Times New Roman"/>
              </a:rPr>
              <a:t>is,</a:t>
            </a:r>
            <a:r>
              <a:rPr i="1" spc="-30" dirty="0">
                <a:latin typeface="Times New Roman"/>
                <a:cs typeface="Times New Roman"/>
              </a:rPr>
              <a:t> </a:t>
            </a:r>
            <a:r>
              <a:rPr i="1" dirty="0">
                <a:latin typeface="Times New Roman"/>
                <a:cs typeface="Times New Roman"/>
              </a:rPr>
              <a:t>how</a:t>
            </a:r>
            <a:r>
              <a:rPr i="1" spc="-30" dirty="0">
                <a:latin typeface="Times New Roman"/>
                <a:cs typeface="Times New Roman"/>
              </a:rPr>
              <a:t> </a:t>
            </a:r>
            <a:r>
              <a:rPr i="1" dirty="0">
                <a:latin typeface="Times New Roman"/>
                <a:cs typeface="Times New Roman"/>
              </a:rPr>
              <a:t>it</a:t>
            </a:r>
            <a:r>
              <a:rPr i="1" spc="-30" dirty="0">
                <a:latin typeface="Times New Roman"/>
                <a:cs typeface="Times New Roman"/>
              </a:rPr>
              <a:t> </a:t>
            </a:r>
            <a:r>
              <a:rPr i="1" dirty="0">
                <a:latin typeface="Times New Roman"/>
                <a:cs typeface="Times New Roman"/>
              </a:rPr>
              <a:t>has</a:t>
            </a:r>
            <a:r>
              <a:rPr i="1" spc="-30" dirty="0">
                <a:latin typeface="Times New Roman"/>
                <a:cs typeface="Times New Roman"/>
              </a:rPr>
              <a:t> </a:t>
            </a:r>
            <a:r>
              <a:rPr i="1" dirty="0">
                <a:latin typeface="Times New Roman"/>
                <a:cs typeface="Times New Roman"/>
              </a:rPr>
              <a:t>been</a:t>
            </a:r>
            <a:r>
              <a:rPr i="1" spc="-35" dirty="0">
                <a:latin typeface="Times New Roman"/>
                <a:cs typeface="Times New Roman"/>
              </a:rPr>
              <a:t> </a:t>
            </a:r>
            <a:r>
              <a:rPr i="1" dirty="0">
                <a:latin typeface="Times New Roman"/>
                <a:cs typeface="Times New Roman"/>
              </a:rPr>
              <a:t>implemented,</a:t>
            </a:r>
            <a:r>
              <a:rPr i="1" spc="-30" dirty="0">
                <a:latin typeface="Times New Roman"/>
                <a:cs typeface="Times New Roman"/>
              </a:rPr>
              <a:t> </a:t>
            </a:r>
            <a:r>
              <a:rPr i="1" dirty="0">
                <a:latin typeface="Times New Roman"/>
                <a:cs typeface="Times New Roman"/>
              </a:rPr>
              <a:t>which</a:t>
            </a:r>
            <a:r>
              <a:rPr i="1" spc="-30" dirty="0">
                <a:latin typeface="Times New Roman"/>
                <a:cs typeface="Times New Roman"/>
              </a:rPr>
              <a:t> </a:t>
            </a:r>
            <a:r>
              <a:rPr i="1" dirty="0">
                <a:latin typeface="Times New Roman"/>
                <a:cs typeface="Times New Roman"/>
              </a:rPr>
              <a:t>platform</a:t>
            </a:r>
            <a:r>
              <a:rPr i="1" spc="-30" dirty="0">
                <a:latin typeface="Times New Roman"/>
                <a:cs typeface="Times New Roman"/>
              </a:rPr>
              <a:t> </a:t>
            </a:r>
            <a:r>
              <a:rPr i="1" spc="-25" dirty="0">
                <a:latin typeface="Times New Roman"/>
                <a:cs typeface="Times New Roman"/>
              </a:rPr>
              <a:t>it </a:t>
            </a:r>
            <a:r>
              <a:rPr i="1" dirty="0">
                <a:latin typeface="Times New Roman"/>
                <a:cs typeface="Times New Roman"/>
              </a:rPr>
              <a:t>uses,</a:t>
            </a:r>
            <a:r>
              <a:rPr i="1" spc="-30" dirty="0">
                <a:latin typeface="Times New Roman"/>
                <a:cs typeface="Times New Roman"/>
              </a:rPr>
              <a:t> </a:t>
            </a:r>
            <a:r>
              <a:rPr i="1" dirty="0">
                <a:latin typeface="Times New Roman"/>
                <a:cs typeface="Times New Roman"/>
              </a:rPr>
              <a:t>and</a:t>
            </a:r>
            <a:r>
              <a:rPr i="1" spc="-30" dirty="0">
                <a:latin typeface="Times New Roman"/>
                <a:cs typeface="Times New Roman"/>
              </a:rPr>
              <a:t> </a:t>
            </a:r>
            <a:r>
              <a:rPr i="1" dirty="0">
                <a:latin typeface="Times New Roman"/>
                <a:cs typeface="Times New Roman"/>
              </a:rPr>
              <a:t>how</a:t>
            </a:r>
            <a:r>
              <a:rPr i="1" spc="-25" dirty="0">
                <a:latin typeface="Times New Roman"/>
                <a:cs typeface="Times New Roman"/>
              </a:rPr>
              <a:t> </a:t>
            </a:r>
            <a:r>
              <a:rPr i="1" dirty="0">
                <a:latin typeface="Times New Roman"/>
                <a:cs typeface="Times New Roman"/>
              </a:rPr>
              <a:t>much</a:t>
            </a:r>
            <a:r>
              <a:rPr i="1" spc="-30" dirty="0">
                <a:latin typeface="Times New Roman"/>
                <a:cs typeface="Times New Roman"/>
              </a:rPr>
              <a:t> </a:t>
            </a:r>
            <a:r>
              <a:rPr i="1" dirty="0">
                <a:latin typeface="Times New Roman"/>
                <a:cs typeface="Times New Roman"/>
              </a:rPr>
              <a:t>of</a:t>
            </a:r>
            <a:r>
              <a:rPr i="1" spc="-25" dirty="0">
                <a:latin typeface="Times New Roman"/>
                <a:cs typeface="Times New Roman"/>
              </a:rPr>
              <a:t> </a:t>
            </a:r>
            <a:r>
              <a:rPr i="1" dirty="0">
                <a:latin typeface="Times New Roman"/>
                <a:cs typeface="Times New Roman"/>
              </a:rPr>
              <a:t>it</a:t>
            </a:r>
            <a:r>
              <a:rPr i="1" spc="-30" dirty="0">
                <a:latin typeface="Times New Roman"/>
                <a:cs typeface="Times New Roman"/>
              </a:rPr>
              <a:t> </a:t>
            </a:r>
            <a:r>
              <a:rPr i="1" dirty="0">
                <a:latin typeface="Times New Roman"/>
                <a:cs typeface="Times New Roman"/>
              </a:rPr>
              <a:t>is</a:t>
            </a:r>
            <a:r>
              <a:rPr i="1" spc="-25" dirty="0">
                <a:latin typeface="Times New Roman"/>
                <a:cs typeface="Times New Roman"/>
              </a:rPr>
              <a:t> </a:t>
            </a:r>
            <a:r>
              <a:rPr i="1" spc="-10" dirty="0">
                <a:latin typeface="Times New Roman"/>
                <a:cs typeface="Times New Roman"/>
              </a:rPr>
              <a:t>available</a:t>
            </a:r>
            <a:r>
              <a:rPr spc="-10" dirty="0"/>
              <a:t>.”</a:t>
            </a:r>
          </a:p>
          <a:p>
            <a:pPr marL="927100">
              <a:lnSpc>
                <a:spcPts val="2875"/>
              </a:lnSpc>
              <a:spcBef>
                <a:spcPts val="545"/>
              </a:spcBef>
            </a:pPr>
            <a:r>
              <a:rPr dirty="0"/>
              <a:t>-Rick</a:t>
            </a:r>
            <a:r>
              <a:rPr spc="-20" dirty="0"/>
              <a:t> </a:t>
            </a:r>
            <a:r>
              <a:rPr dirty="0"/>
              <a:t>F.</a:t>
            </a:r>
            <a:r>
              <a:rPr spc="-20" dirty="0"/>
              <a:t> </a:t>
            </a:r>
            <a:r>
              <a:rPr dirty="0"/>
              <a:t>Van</a:t>
            </a:r>
            <a:r>
              <a:rPr spc="-20" dirty="0"/>
              <a:t> </a:t>
            </a:r>
            <a:r>
              <a:rPr dirty="0"/>
              <a:t>der</a:t>
            </a:r>
            <a:r>
              <a:rPr spc="-20" dirty="0"/>
              <a:t> Lans</a:t>
            </a:r>
          </a:p>
          <a:p>
            <a:pPr marL="927100">
              <a:lnSpc>
                <a:spcPts val="2875"/>
              </a:lnSpc>
            </a:pPr>
            <a:r>
              <a:rPr dirty="0"/>
              <a:t>in</a:t>
            </a:r>
            <a:r>
              <a:rPr spc="-55" dirty="0"/>
              <a:t> </a:t>
            </a:r>
            <a:r>
              <a:rPr dirty="0"/>
              <a:t>Data</a:t>
            </a:r>
            <a:r>
              <a:rPr spc="-55" dirty="0"/>
              <a:t> </a:t>
            </a:r>
            <a:r>
              <a:rPr dirty="0"/>
              <a:t>Virtualization</a:t>
            </a:r>
            <a:r>
              <a:rPr spc="-55" dirty="0"/>
              <a:t> </a:t>
            </a:r>
            <a:r>
              <a:rPr dirty="0"/>
              <a:t>for</a:t>
            </a:r>
            <a:r>
              <a:rPr spc="-55" dirty="0"/>
              <a:t> </a:t>
            </a:r>
            <a:r>
              <a:rPr dirty="0"/>
              <a:t>Business</a:t>
            </a:r>
            <a:r>
              <a:rPr spc="-55" dirty="0"/>
              <a:t> </a:t>
            </a:r>
            <a:r>
              <a:rPr dirty="0"/>
              <a:t>Intelligence</a:t>
            </a:r>
            <a:r>
              <a:rPr spc="-55" dirty="0"/>
              <a:t> </a:t>
            </a:r>
            <a:r>
              <a:rPr spc="-10" dirty="0"/>
              <a:t>Systems</a:t>
            </a:r>
          </a:p>
        </p:txBody>
      </p:sp>
      <p:sp>
        <p:nvSpPr>
          <p:cNvPr id="7" name="Slide Number Placeholder 6">
            <a:extLst>
              <a:ext uri="{FF2B5EF4-FFF2-40B4-BE49-F238E27FC236}">
                <a16:creationId xmlns:a16="http://schemas.microsoft.com/office/drawing/2014/main" id="{5EDD7C37-C750-BE49-0135-7DD0223C9B6E}"/>
              </a:ext>
            </a:extLst>
          </p:cNvPr>
          <p:cNvSpPr>
            <a:spLocks noGrp="1"/>
          </p:cNvSpPr>
          <p:nvPr>
            <p:ph type="sldNum" sz="quarter" idx="7"/>
          </p:nvPr>
        </p:nvSpPr>
        <p:spPr/>
        <p:txBody>
          <a:bodyPr/>
          <a:lstStyle/>
          <a:p>
            <a:pPr marL="12700">
              <a:lnSpc>
                <a:spcPts val="2065"/>
              </a:lnSpc>
            </a:pPr>
            <a:fld id="{81D60167-4931-47E6-BA6A-407CBD079E47}" type="slidenum">
              <a:rPr spc="-50" smtClean="0"/>
              <a:t>3</a:t>
            </a:fld>
            <a:endParaRPr spc="-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842770">
              <a:lnSpc>
                <a:spcPct val="100000"/>
              </a:lnSpc>
              <a:spcBef>
                <a:spcPts val="100"/>
              </a:spcBef>
            </a:pPr>
            <a:r>
              <a:rPr dirty="0"/>
              <a:t>5</a:t>
            </a:r>
            <a:r>
              <a:rPr spc="-20" dirty="0"/>
              <a:t> </a:t>
            </a:r>
            <a:r>
              <a:rPr dirty="0"/>
              <a:t>Reasons</a:t>
            </a:r>
            <a:r>
              <a:rPr spc="-20" dirty="0"/>
              <a:t> </a:t>
            </a:r>
            <a:r>
              <a:rPr dirty="0"/>
              <a:t>to</a:t>
            </a:r>
            <a:r>
              <a:rPr spc="-20" dirty="0"/>
              <a:t> </a:t>
            </a:r>
            <a:r>
              <a:rPr spc="-10" dirty="0"/>
              <a:t>Virtualize</a:t>
            </a:r>
          </a:p>
        </p:txBody>
      </p:sp>
      <p:sp>
        <p:nvSpPr>
          <p:cNvPr id="3" name="object 3"/>
          <p:cNvSpPr txBox="1"/>
          <p:nvPr/>
        </p:nvSpPr>
        <p:spPr>
          <a:xfrm>
            <a:off x="457454" y="1316228"/>
            <a:ext cx="5346065" cy="5138420"/>
          </a:xfrm>
          <a:prstGeom prst="rect">
            <a:avLst/>
          </a:prstGeom>
        </p:spPr>
        <p:txBody>
          <a:bodyPr vert="horz" wrap="square" lIns="0" tIns="12700" rIns="0" bIns="0" rtlCol="0">
            <a:spAutoFit/>
          </a:bodyPr>
          <a:lstStyle/>
          <a:p>
            <a:pPr marL="546100" marR="569595" indent="-533400">
              <a:lnSpc>
                <a:spcPct val="100000"/>
              </a:lnSpc>
              <a:spcBef>
                <a:spcPts val="100"/>
              </a:spcBef>
              <a:buClr>
                <a:srgbClr val="053CE8"/>
              </a:buClr>
              <a:buAutoNum type="arabicPeriod"/>
              <a:tabLst>
                <a:tab pos="546100" algn="l"/>
              </a:tabLst>
            </a:pPr>
            <a:r>
              <a:rPr sz="2400" dirty="0">
                <a:latin typeface="Times New Roman"/>
                <a:cs typeface="Times New Roman"/>
              </a:rPr>
              <a:t>Sharing:</a:t>
            </a:r>
            <a:r>
              <a:rPr sz="2400" spc="-35" dirty="0">
                <a:latin typeface="Times New Roman"/>
                <a:cs typeface="Times New Roman"/>
              </a:rPr>
              <a:t> </a:t>
            </a:r>
            <a:r>
              <a:rPr sz="2400" dirty="0">
                <a:latin typeface="Times New Roman"/>
                <a:cs typeface="Times New Roman"/>
              </a:rPr>
              <a:t>Break</a:t>
            </a:r>
            <a:r>
              <a:rPr sz="2400" spc="-20" dirty="0">
                <a:latin typeface="Times New Roman"/>
                <a:cs typeface="Times New Roman"/>
              </a:rPr>
              <a:t> </a:t>
            </a:r>
            <a:r>
              <a:rPr sz="2400" dirty="0">
                <a:latin typeface="Times New Roman"/>
                <a:cs typeface="Times New Roman"/>
              </a:rPr>
              <a:t>up</a:t>
            </a:r>
            <a:r>
              <a:rPr sz="2400" spc="-20" dirty="0">
                <a:latin typeface="Times New Roman"/>
                <a:cs typeface="Times New Roman"/>
              </a:rPr>
              <a:t> </a:t>
            </a:r>
            <a:r>
              <a:rPr sz="2400" dirty="0">
                <a:latin typeface="Times New Roman"/>
                <a:cs typeface="Times New Roman"/>
              </a:rPr>
              <a:t>a</a:t>
            </a:r>
            <a:r>
              <a:rPr sz="2400" spc="-20" dirty="0">
                <a:latin typeface="Times New Roman"/>
                <a:cs typeface="Times New Roman"/>
              </a:rPr>
              <a:t> </a:t>
            </a:r>
            <a:r>
              <a:rPr sz="2400" dirty="0">
                <a:latin typeface="Times New Roman"/>
                <a:cs typeface="Times New Roman"/>
              </a:rPr>
              <a:t>large</a:t>
            </a:r>
            <a:r>
              <a:rPr sz="2400" spc="-20" dirty="0">
                <a:latin typeface="Times New Roman"/>
                <a:cs typeface="Times New Roman"/>
              </a:rPr>
              <a:t> </a:t>
            </a:r>
            <a:r>
              <a:rPr sz="2400" spc="-10" dirty="0">
                <a:latin typeface="Times New Roman"/>
                <a:cs typeface="Times New Roman"/>
              </a:rPr>
              <a:t>resource </a:t>
            </a:r>
            <a:r>
              <a:rPr sz="2400" dirty="0">
                <a:latin typeface="Times New Roman"/>
                <a:cs typeface="Times New Roman"/>
              </a:rPr>
              <a:t>Large</a:t>
            </a:r>
            <a:r>
              <a:rPr sz="2400" spc="-35" dirty="0">
                <a:latin typeface="Times New Roman"/>
                <a:cs typeface="Times New Roman"/>
              </a:rPr>
              <a:t> </a:t>
            </a:r>
            <a:r>
              <a:rPr sz="2400" dirty="0">
                <a:latin typeface="Times New Roman"/>
                <a:cs typeface="Times New Roman"/>
              </a:rPr>
              <a:t>Capacity</a:t>
            </a:r>
            <a:r>
              <a:rPr sz="2400" spc="-25" dirty="0">
                <a:latin typeface="Times New Roman"/>
                <a:cs typeface="Times New Roman"/>
              </a:rPr>
              <a:t> </a:t>
            </a:r>
            <a:r>
              <a:rPr sz="2400" dirty="0">
                <a:latin typeface="Times New Roman"/>
                <a:cs typeface="Times New Roman"/>
              </a:rPr>
              <a:t>or</a:t>
            </a:r>
            <a:r>
              <a:rPr sz="2400" spc="-20" dirty="0">
                <a:latin typeface="Times New Roman"/>
                <a:cs typeface="Times New Roman"/>
              </a:rPr>
              <a:t> </a:t>
            </a:r>
            <a:r>
              <a:rPr sz="2400" spc="-10" dirty="0">
                <a:latin typeface="Times New Roman"/>
                <a:cs typeface="Times New Roman"/>
              </a:rPr>
              <a:t>high-speed</a:t>
            </a:r>
            <a:r>
              <a:rPr sz="2400" spc="600" dirty="0">
                <a:latin typeface="Times New Roman"/>
                <a:cs typeface="Times New Roman"/>
              </a:rPr>
              <a:t> </a:t>
            </a:r>
            <a:r>
              <a:rPr sz="2400" dirty="0">
                <a:latin typeface="Times New Roman"/>
                <a:cs typeface="Times New Roman"/>
              </a:rPr>
              <a:t>E.g.,</a:t>
            </a:r>
            <a:r>
              <a:rPr sz="2400" spc="-25" dirty="0">
                <a:latin typeface="Times New Roman"/>
                <a:cs typeface="Times New Roman"/>
              </a:rPr>
              <a:t> </a:t>
            </a:r>
            <a:r>
              <a:rPr sz="2400" spc="-10" dirty="0">
                <a:latin typeface="Times New Roman"/>
                <a:cs typeface="Times New Roman"/>
              </a:rPr>
              <a:t>Servers</a:t>
            </a:r>
            <a:endParaRPr sz="2400">
              <a:latin typeface="Times New Roman"/>
              <a:cs typeface="Times New Roman"/>
            </a:endParaRPr>
          </a:p>
          <a:p>
            <a:pPr marL="546100" marR="5080" indent="-533400">
              <a:lnSpc>
                <a:spcPct val="100000"/>
              </a:lnSpc>
              <a:spcBef>
                <a:spcPts val="1425"/>
              </a:spcBef>
              <a:buClr>
                <a:srgbClr val="053CE8"/>
              </a:buClr>
              <a:buAutoNum type="arabicPeriod"/>
              <a:tabLst>
                <a:tab pos="546100" algn="l"/>
              </a:tabLst>
            </a:pPr>
            <a:r>
              <a:rPr sz="2400" dirty="0">
                <a:latin typeface="Times New Roman"/>
                <a:cs typeface="Times New Roman"/>
              </a:rPr>
              <a:t>Isolation:</a:t>
            </a:r>
            <a:r>
              <a:rPr sz="2400" spc="-40" dirty="0">
                <a:latin typeface="Times New Roman"/>
                <a:cs typeface="Times New Roman"/>
              </a:rPr>
              <a:t> </a:t>
            </a:r>
            <a:r>
              <a:rPr sz="2400" dirty="0">
                <a:latin typeface="Times New Roman"/>
                <a:cs typeface="Times New Roman"/>
              </a:rPr>
              <a:t>Protection</a:t>
            </a:r>
            <a:r>
              <a:rPr sz="2400" spc="-35" dirty="0">
                <a:latin typeface="Times New Roman"/>
                <a:cs typeface="Times New Roman"/>
              </a:rPr>
              <a:t> </a:t>
            </a:r>
            <a:r>
              <a:rPr sz="2400" dirty="0">
                <a:latin typeface="Times New Roman"/>
                <a:cs typeface="Times New Roman"/>
              </a:rPr>
              <a:t>from</a:t>
            </a:r>
            <a:r>
              <a:rPr sz="2400" spc="-35" dirty="0">
                <a:latin typeface="Times New Roman"/>
                <a:cs typeface="Times New Roman"/>
              </a:rPr>
              <a:t> </a:t>
            </a:r>
            <a:r>
              <a:rPr sz="2400" dirty="0">
                <a:latin typeface="Times New Roman"/>
                <a:cs typeface="Times New Roman"/>
              </a:rPr>
              <a:t>other</a:t>
            </a:r>
            <a:r>
              <a:rPr sz="2400" spc="-35" dirty="0">
                <a:latin typeface="Times New Roman"/>
                <a:cs typeface="Times New Roman"/>
              </a:rPr>
              <a:t> </a:t>
            </a:r>
            <a:r>
              <a:rPr sz="2400" spc="-10" dirty="0">
                <a:latin typeface="Times New Roman"/>
                <a:cs typeface="Times New Roman"/>
              </a:rPr>
              <a:t>tenants </a:t>
            </a:r>
            <a:r>
              <a:rPr sz="2400" dirty="0">
                <a:latin typeface="Times New Roman"/>
                <a:cs typeface="Times New Roman"/>
              </a:rPr>
              <a:t>E.g.,</a:t>
            </a:r>
            <a:r>
              <a:rPr sz="2400" spc="-35" dirty="0">
                <a:latin typeface="Times New Roman"/>
                <a:cs typeface="Times New Roman"/>
              </a:rPr>
              <a:t> </a:t>
            </a:r>
            <a:r>
              <a:rPr sz="2400" dirty="0">
                <a:latin typeface="Times New Roman"/>
                <a:cs typeface="Times New Roman"/>
              </a:rPr>
              <a:t>Virtual</a:t>
            </a:r>
            <a:r>
              <a:rPr sz="2400" spc="-30" dirty="0">
                <a:latin typeface="Times New Roman"/>
                <a:cs typeface="Times New Roman"/>
              </a:rPr>
              <a:t> </a:t>
            </a:r>
            <a:r>
              <a:rPr sz="2400" dirty="0">
                <a:latin typeface="Times New Roman"/>
                <a:cs typeface="Times New Roman"/>
              </a:rPr>
              <a:t>Private</a:t>
            </a:r>
            <a:r>
              <a:rPr sz="2400" spc="-30" dirty="0">
                <a:latin typeface="Times New Roman"/>
                <a:cs typeface="Times New Roman"/>
              </a:rPr>
              <a:t> </a:t>
            </a:r>
            <a:r>
              <a:rPr sz="2400" spc="-10" dirty="0">
                <a:latin typeface="Times New Roman"/>
                <a:cs typeface="Times New Roman"/>
              </a:rPr>
              <a:t>Network</a:t>
            </a:r>
            <a:endParaRPr sz="2400">
              <a:latin typeface="Times New Roman"/>
              <a:cs typeface="Times New Roman"/>
            </a:endParaRPr>
          </a:p>
          <a:p>
            <a:pPr marL="546100" marR="10160" indent="-533400">
              <a:lnSpc>
                <a:spcPct val="100000"/>
              </a:lnSpc>
              <a:spcBef>
                <a:spcPts val="1430"/>
              </a:spcBef>
              <a:buClr>
                <a:srgbClr val="053CE8"/>
              </a:buClr>
              <a:buAutoNum type="arabicPeriod"/>
              <a:tabLst>
                <a:tab pos="546100" algn="l"/>
              </a:tabLst>
            </a:pPr>
            <a:r>
              <a:rPr sz="2400" dirty="0">
                <a:latin typeface="Times New Roman"/>
                <a:cs typeface="Times New Roman"/>
              </a:rPr>
              <a:t>Aggregating:</a:t>
            </a:r>
            <a:r>
              <a:rPr sz="2400" spc="-5" dirty="0">
                <a:latin typeface="Times New Roman"/>
                <a:cs typeface="Times New Roman"/>
              </a:rPr>
              <a:t> </a:t>
            </a:r>
            <a:r>
              <a:rPr sz="2400" dirty="0">
                <a:latin typeface="Times New Roman"/>
                <a:cs typeface="Times New Roman"/>
              </a:rPr>
              <a:t>Combine</a:t>
            </a:r>
            <a:r>
              <a:rPr sz="2400" spc="-5" dirty="0">
                <a:latin typeface="Times New Roman"/>
                <a:cs typeface="Times New Roman"/>
              </a:rPr>
              <a:t> </a:t>
            </a:r>
            <a:r>
              <a:rPr sz="2400" dirty="0">
                <a:latin typeface="Times New Roman"/>
                <a:cs typeface="Times New Roman"/>
              </a:rPr>
              <a:t>many</a:t>
            </a:r>
            <a:r>
              <a:rPr sz="2400" spc="-5" dirty="0">
                <a:latin typeface="Times New Roman"/>
                <a:cs typeface="Times New Roman"/>
              </a:rPr>
              <a:t> </a:t>
            </a:r>
            <a:r>
              <a:rPr sz="2400" spc="-10" dirty="0">
                <a:latin typeface="Times New Roman"/>
                <a:cs typeface="Times New Roman"/>
              </a:rPr>
              <a:t>resources </a:t>
            </a:r>
            <a:r>
              <a:rPr sz="2400" dirty="0">
                <a:latin typeface="Times New Roman"/>
                <a:cs typeface="Times New Roman"/>
              </a:rPr>
              <a:t>in</a:t>
            </a:r>
            <a:r>
              <a:rPr sz="2400" spc="-30" dirty="0">
                <a:latin typeface="Times New Roman"/>
                <a:cs typeface="Times New Roman"/>
              </a:rPr>
              <a:t> </a:t>
            </a:r>
            <a:r>
              <a:rPr sz="2400" dirty="0">
                <a:latin typeface="Times New Roman"/>
                <a:cs typeface="Times New Roman"/>
              </a:rPr>
              <a:t>to</a:t>
            </a:r>
            <a:r>
              <a:rPr sz="2400" spc="-15" dirty="0">
                <a:latin typeface="Times New Roman"/>
                <a:cs typeface="Times New Roman"/>
              </a:rPr>
              <a:t> </a:t>
            </a:r>
            <a:r>
              <a:rPr sz="2400" dirty="0">
                <a:latin typeface="Times New Roman"/>
                <a:cs typeface="Times New Roman"/>
              </a:rPr>
              <a:t>one,</a:t>
            </a:r>
            <a:r>
              <a:rPr sz="2400" spc="-15" dirty="0">
                <a:latin typeface="Times New Roman"/>
                <a:cs typeface="Times New Roman"/>
              </a:rPr>
              <a:t> </a:t>
            </a:r>
            <a:r>
              <a:rPr sz="2400" dirty="0">
                <a:latin typeface="Times New Roman"/>
                <a:cs typeface="Times New Roman"/>
              </a:rPr>
              <a:t>e.g.,</a:t>
            </a:r>
            <a:r>
              <a:rPr sz="2400" spc="-15" dirty="0">
                <a:latin typeface="Times New Roman"/>
                <a:cs typeface="Times New Roman"/>
              </a:rPr>
              <a:t> </a:t>
            </a:r>
            <a:r>
              <a:rPr sz="2400" spc="-10" dirty="0">
                <a:latin typeface="Times New Roman"/>
                <a:cs typeface="Times New Roman"/>
              </a:rPr>
              <a:t>storage</a:t>
            </a:r>
            <a:endParaRPr sz="2400">
              <a:latin typeface="Times New Roman"/>
              <a:cs typeface="Times New Roman"/>
            </a:endParaRPr>
          </a:p>
          <a:p>
            <a:pPr marL="546100" marR="106680" indent="-533400">
              <a:lnSpc>
                <a:spcPct val="100000"/>
              </a:lnSpc>
              <a:spcBef>
                <a:spcPts val="1420"/>
              </a:spcBef>
              <a:buClr>
                <a:srgbClr val="053CE8"/>
              </a:buClr>
              <a:buAutoNum type="arabicPeriod"/>
              <a:tabLst>
                <a:tab pos="546100" algn="l"/>
              </a:tabLst>
            </a:pPr>
            <a:r>
              <a:rPr sz="2400" dirty="0">
                <a:latin typeface="Times New Roman"/>
                <a:cs typeface="Times New Roman"/>
              </a:rPr>
              <a:t>Dynamics:</a:t>
            </a:r>
            <a:r>
              <a:rPr sz="2400" spc="-35" dirty="0">
                <a:latin typeface="Times New Roman"/>
                <a:cs typeface="Times New Roman"/>
              </a:rPr>
              <a:t> </a:t>
            </a:r>
            <a:r>
              <a:rPr sz="2400" dirty="0">
                <a:latin typeface="Times New Roman"/>
                <a:cs typeface="Times New Roman"/>
              </a:rPr>
              <a:t>Fast</a:t>
            </a:r>
            <a:r>
              <a:rPr sz="2400" spc="-30" dirty="0">
                <a:latin typeface="Times New Roman"/>
                <a:cs typeface="Times New Roman"/>
              </a:rPr>
              <a:t> </a:t>
            </a:r>
            <a:r>
              <a:rPr sz="2400" spc="-10" dirty="0">
                <a:latin typeface="Times New Roman"/>
                <a:cs typeface="Times New Roman"/>
              </a:rPr>
              <a:t>allocation, </a:t>
            </a:r>
            <a:r>
              <a:rPr sz="2400" dirty="0">
                <a:latin typeface="Times New Roman"/>
                <a:cs typeface="Times New Roman"/>
              </a:rPr>
              <a:t>Change/Mobility,</a:t>
            </a:r>
            <a:r>
              <a:rPr sz="2400" spc="-60" dirty="0">
                <a:latin typeface="Times New Roman"/>
                <a:cs typeface="Times New Roman"/>
              </a:rPr>
              <a:t> </a:t>
            </a:r>
            <a:r>
              <a:rPr sz="2400" dirty="0">
                <a:latin typeface="Times New Roman"/>
                <a:cs typeface="Times New Roman"/>
              </a:rPr>
              <a:t>load</a:t>
            </a:r>
            <a:r>
              <a:rPr sz="2400" spc="-50" dirty="0">
                <a:latin typeface="Times New Roman"/>
                <a:cs typeface="Times New Roman"/>
              </a:rPr>
              <a:t> </a:t>
            </a:r>
            <a:r>
              <a:rPr sz="2400" dirty="0">
                <a:latin typeface="Times New Roman"/>
                <a:cs typeface="Times New Roman"/>
              </a:rPr>
              <a:t>balancing,</a:t>
            </a:r>
            <a:r>
              <a:rPr sz="2400" spc="-50" dirty="0">
                <a:latin typeface="Times New Roman"/>
                <a:cs typeface="Times New Roman"/>
              </a:rPr>
              <a:t> </a:t>
            </a:r>
            <a:r>
              <a:rPr sz="2400" spc="-10" dirty="0">
                <a:latin typeface="Times New Roman"/>
                <a:cs typeface="Times New Roman"/>
              </a:rPr>
              <a:t>e.g., </a:t>
            </a:r>
            <a:r>
              <a:rPr sz="2400" dirty="0">
                <a:latin typeface="Times New Roman"/>
                <a:cs typeface="Times New Roman"/>
              </a:rPr>
              <a:t>virtual</a:t>
            </a:r>
            <a:r>
              <a:rPr sz="2400" spc="-45" dirty="0">
                <a:latin typeface="Times New Roman"/>
                <a:cs typeface="Times New Roman"/>
              </a:rPr>
              <a:t> </a:t>
            </a:r>
            <a:r>
              <a:rPr sz="2400" spc="-10" dirty="0">
                <a:latin typeface="Times New Roman"/>
                <a:cs typeface="Times New Roman"/>
              </a:rPr>
              <a:t>machines</a:t>
            </a:r>
            <a:endParaRPr sz="2400">
              <a:latin typeface="Times New Roman"/>
              <a:cs typeface="Times New Roman"/>
            </a:endParaRPr>
          </a:p>
          <a:p>
            <a:pPr marL="545465" marR="834390" indent="-533400">
              <a:lnSpc>
                <a:spcPts val="2820"/>
              </a:lnSpc>
              <a:spcBef>
                <a:spcPts val="1625"/>
              </a:spcBef>
              <a:buClr>
                <a:srgbClr val="053CE8"/>
              </a:buClr>
              <a:buAutoNum type="arabicPeriod"/>
              <a:tabLst>
                <a:tab pos="545465" algn="l"/>
              </a:tabLst>
            </a:pPr>
            <a:r>
              <a:rPr sz="2400" dirty="0">
                <a:latin typeface="Times New Roman"/>
                <a:cs typeface="Times New Roman"/>
              </a:rPr>
              <a:t>Ease</a:t>
            </a:r>
            <a:r>
              <a:rPr sz="2400" spc="-30"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dirty="0">
                <a:latin typeface="Times New Roman"/>
                <a:cs typeface="Times New Roman"/>
              </a:rPr>
              <a:t>Management</a:t>
            </a:r>
            <a:r>
              <a:rPr sz="2400" spc="-30" dirty="0">
                <a:latin typeface="Times New Roman"/>
                <a:cs typeface="Times New Roman"/>
              </a:rPr>
              <a:t> </a:t>
            </a:r>
            <a:r>
              <a:rPr sz="2400" dirty="0">
                <a:latin typeface="Symbol"/>
                <a:cs typeface="Symbol"/>
              </a:rPr>
              <a:t></a:t>
            </a:r>
            <a:r>
              <a:rPr sz="2400" spc="-20" dirty="0">
                <a:latin typeface="Times New Roman"/>
                <a:cs typeface="Times New Roman"/>
              </a:rPr>
              <a:t> Easy </a:t>
            </a:r>
            <a:r>
              <a:rPr sz="2400" dirty="0">
                <a:latin typeface="Times New Roman"/>
                <a:cs typeface="Times New Roman"/>
              </a:rPr>
              <a:t>distribution,</a:t>
            </a:r>
            <a:r>
              <a:rPr sz="2400" spc="-60" dirty="0">
                <a:latin typeface="Times New Roman"/>
                <a:cs typeface="Times New Roman"/>
              </a:rPr>
              <a:t> </a:t>
            </a:r>
            <a:r>
              <a:rPr sz="2400" dirty="0">
                <a:latin typeface="Times New Roman"/>
                <a:cs typeface="Times New Roman"/>
              </a:rPr>
              <a:t>deployment,</a:t>
            </a:r>
            <a:r>
              <a:rPr sz="2400" spc="-60" dirty="0">
                <a:latin typeface="Times New Roman"/>
                <a:cs typeface="Times New Roman"/>
              </a:rPr>
              <a:t> </a:t>
            </a:r>
            <a:r>
              <a:rPr sz="2400" spc="-10" dirty="0">
                <a:latin typeface="Times New Roman"/>
                <a:cs typeface="Times New Roman"/>
              </a:rPr>
              <a:t>testing</a:t>
            </a:r>
            <a:endParaRPr sz="2400">
              <a:latin typeface="Times New Roman"/>
              <a:cs typeface="Times New Roman"/>
            </a:endParaRPr>
          </a:p>
        </p:txBody>
      </p:sp>
      <p:sp>
        <p:nvSpPr>
          <p:cNvPr id="4" name="object 4"/>
          <p:cNvSpPr txBox="1"/>
          <p:nvPr/>
        </p:nvSpPr>
        <p:spPr>
          <a:xfrm>
            <a:off x="7587995" y="3698747"/>
            <a:ext cx="661035" cy="344805"/>
          </a:xfrm>
          <a:prstGeom prst="rect">
            <a:avLst/>
          </a:prstGeom>
          <a:ln w="3175">
            <a:solidFill>
              <a:srgbClr val="FF0000"/>
            </a:solidFill>
          </a:ln>
        </p:spPr>
        <p:txBody>
          <a:bodyPr vert="horz" wrap="square" lIns="0" tIns="26669" rIns="0" bIns="0" rtlCol="0">
            <a:spAutoFit/>
          </a:bodyPr>
          <a:lstStyle/>
          <a:p>
            <a:pPr marL="12700">
              <a:lnSpc>
                <a:spcPct val="100000"/>
              </a:lnSpc>
              <a:spcBef>
                <a:spcPts val="209"/>
              </a:spcBef>
            </a:pPr>
            <a:r>
              <a:rPr sz="1800" spc="-10" dirty="0">
                <a:latin typeface="Times New Roman"/>
                <a:cs typeface="Times New Roman"/>
              </a:rPr>
              <a:t>Switch</a:t>
            </a:r>
            <a:endParaRPr sz="1800">
              <a:latin typeface="Times New Roman"/>
              <a:cs typeface="Times New Roman"/>
            </a:endParaRPr>
          </a:p>
        </p:txBody>
      </p:sp>
      <p:sp>
        <p:nvSpPr>
          <p:cNvPr id="5" name="object 5"/>
          <p:cNvSpPr txBox="1"/>
          <p:nvPr/>
        </p:nvSpPr>
        <p:spPr>
          <a:xfrm>
            <a:off x="6802373" y="3698747"/>
            <a:ext cx="661035" cy="344805"/>
          </a:xfrm>
          <a:prstGeom prst="rect">
            <a:avLst/>
          </a:prstGeom>
          <a:ln w="3175">
            <a:solidFill>
              <a:srgbClr val="FF0000"/>
            </a:solidFill>
          </a:ln>
        </p:spPr>
        <p:txBody>
          <a:bodyPr vert="horz" wrap="square" lIns="0" tIns="26669" rIns="0" bIns="0" rtlCol="0">
            <a:spAutoFit/>
          </a:bodyPr>
          <a:lstStyle/>
          <a:p>
            <a:pPr marL="12700">
              <a:lnSpc>
                <a:spcPct val="100000"/>
              </a:lnSpc>
              <a:spcBef>
                <a:spcPts val="209"/>
              </a:spcBef>
            </a:pPr>
            <a:r>
              <a:rPr sz="1800" spc="-10" dirty="0">
                <a:latin typeface="Times New Roman"/>
                <a:cs typeface="Times New Roman"/>
              </a:rPr>
              <a:t>Switch</a:t>
            </a:r>
            <a:endParaRPr sz="1800">
              <a:latin typeface="Times New Roman"/>
              <a:cs typeface="Times New Roman"/>
            </a:endParaRPr>
          </a:p>
        </p:txBody>
      </p:sp>
      <p:sp>
        <p:nvSpPr>
          <p:cNvPr id="6" name="object 6"/>
          <p:cNvSpPr txBox="1"/>
          <p:nvPr/>
        </p:nvSpPr>
        <p:spPr>
          <a:xfrm>
            <a:off x="6806945" y="4186428"/>
            <a:ext cx="661035" cy="344805"/>
          </a:xfrm>
          <a:prstGeom prst="rect">
            <a:avLst/>
          </a:prstGeom>
          <a:ln w="3175">
            <a:solidFill>
              <a:srgbClr val="FF0000"/>
            </a:solidFill>
          </a:ln>
        </p:spPr>
        <p:txBody>
          <a:bodyPr vert="horz" wrap="square" lIns="0" tIns="26670" rIns="0" bIns="0" rtlCol="0">
            <a:spAutoFit/>
          </a:bodyPr>
          <a:lstStyle/>
          <a:p>
            <a:pPr marL="12700">
              <a:lnSpc>
                <a:spcPct val="100000"/>
              </a:lnSpc>
              <a:spcBef>
                <a:spcPts val="210"/>
              </a:spcBef>
            </a:pPr>
            <a:r>
              <a:rPr sz="1800" spc="-10" dirty="0">
                <a:latin typeface="Times New Roman"/>
                <a:cs typeface="Times New Roman"/>
              </a:rPr>
              <a:t>Switch</a:t>
            </a:r>
            <a:endParaRPr sz="1800">
              <a:latin typeface="Times New Roman"/>
              <a:cs typeface="Times New Roman"/>
            </a:endParaRPr>
          </a:p>
        </p:txBody>
      </p:sp>
      <p:sp>
        <p:nvSpPr>
          <p:cNvPr id="7" name="object 7"/>
          <p:cNvSpPr txBox="1"/>
          <p:nvPr/>
        </p:nvSpPr>
        <p:spPr>
          <a:xfrm>
            <a:off x="7612380" y="4186428"/>
            <a:ext cx="660400" cy="344805"/>
          </a:xfrm>
          <a:prstGeom prst="rect">
            <a:avLst/>
          </a:prstGeom>
          <a:ln w="3175">
            <a:solidFill>
              <a:srgbClr val="FF0000"/>
            </a:solidFill>
          </a:ln>
        </p:spPr>
        <p:txBody>
          <a:bodyPr vert="horz" wrap="square" lIns="0" tIns="26670" rIns="0" bIns="0" rtlCol="0">
            <a:spAutoFit/>
          </a:bodyPr>
          <a:lstStyle/>
          <a:p>
            <a:pPr marL="12065">
              <a:lnSpc>
                <a:spcPct val="100000"/>
              </a:lnSpc>
              <a:spcBef>
                <a:spcPts val="210"/>
              </a:spcBef>
            </a:pPr>
            <a:r>
              <a:rPr sz="1800" spc="-10" dirty="0">
                <a:latin typeface="Times New Roman"/>
                <a:cs typeface="Times New Roman"/>
              </a:rPr>
              <a:t>Switch</a:t>
            </a:r>
            <a:endParaRPr sz="1800">
              <a:latin typeface="Times New Roman"/>
              <a:cs typeface="Times New Roman"/>
            </a:endParaRPr>
          </a:p>
        </p:txBody>
      </p:sp>
      <p:grpSp>
        <p:nvGrpSpPr>
          <p:cNvPr id="8" name="object 8"/>
          <p:cNvGrpSpPr/>
          <p:nvPr/>
        </p:nvGrpSpPr>
        <p:grpSpPr>
          <a:xfrm>
            <a:off x="6400800" y="1441132"/>
            <a:ext cx="2008505" cy="3161665"/>
            <a:chOff x="6400800" y="1441132"/>
            <a:chExt cx="2008505" cy="3161665"/>
          </a:xfrm>
        </p:grpSpPr>
        <p:sp>
          <p:nvSpPr>
            <p:cNvPr id="9" name="object 9"/>
            <p:cNvSpPr/>
            <p:nvPr/>
          </p:nvSpPr>
          <p:spPr>
            <a:xfrm>
              <a:off x="6751320" y="3641597"/>
              <a:ext cx="1572260" cy="946785"/>
            </a:xfrm>
            <a:custGeom>
              <a:avLst/>
              <a:gdLst/>
              <a:ahLst/>
              <a:cxnLst/>
              <a:rect l="l" t="t" r="r" b="b"/>
              <a:pathLst>
                <a:path w="1572259" h="946785">
                  <a:moveTo>
                    <a:pt x="0" y="0"/>
                  </a:moveTo>
                  <a:lnTo>
                    <a:pt x="0" y="946404"/>
                  </a:lnTo>
                  <a:lnTo>
                    <a:pt x="1572006" y="946403"/>
                  </a:lnTo>
                  <a:lnTo>
                    <a:pt x="1572006" y="0"/>
                  </a:lnTo>
                  <a:lnTo>
                    <a:pt x="0" y="0"/>
                  </a:lnTo>
                  <a:close/>
                </a:path>
              </a:pathLst>
            </a:custGeom>
            <a:ln w="28575">
              <a:solidFill>
                <a:srgbClr val="FF0000"/>
              </a:solidFill>
              <a:prstDash val="sysDash"/>
            </a:ln>
          </p:spPr>
          <p:txBody>
            <a:bodyPr wrap="square" lIns="0" tIns="0" rIns="0" bIns="0" rtlCol="0"/>
            <a:lstStyle/>
            <a:p>
              <a:endParaRPr/>
            </a:p>
          </p:txBody>
        </p:sp>
        <p:sp>
          <p:nvSpPr>
            <p:cNvPr id="10" name="object 10"/>
            <p:cNvSpPr/>
            <p:nvPr/>
          </p:nvSpPr>
          <p:spPr>
            <a:xfrm>
              <a:off x="7272527" y="1563623"/>
              <a:ext cx="873760" cy="146685"/>
            </a:xfrm>
            <a:custGeom>
              <a:avLst/>
              <a:gdLst/>
              <a:ahLst/>
              <a:cxnLst/>
              <a:rect l="l" t="t" r="r" b="b"/>
              <a:pathLst>
                <a:path w="873759" h="146685">
                  <a:moveTo>
                    <a:pt x="873251" y="146303"/>
                  </a:moveTo>
                  <a:lnTo>
                    <a:pt x="873251" y="0"/>
                  </a:lnTo>
                  <a:lnTo>
                    <a:pt x="0" y="0"/>
                  </a:lnTo>
                  <a:lnTo>
                    <a:pt x="0" y="146303"/>
                  </a:lnTo>
                  <a:lnTo>
                    <a:pt x="873251" y="146303"/>
                  </a:lnTo>
                  <a:close/>
                </a:path>
              </a:pathLst>
            </a:custGeom>
            <a:solidFill>
              <a:srgbClr val="FB0128"/>
            </a:solidFill>
          </p:spPr>
          <p:txBody>
            <a:bodyPr wrap="square" lIns="0" tIns="0" rIns="0" bIns="0" rtlCol="0"/>
            <a:lstStyle/>
            <a:p>
              <a:endParaRPr/>
            </a:p>
          </p:txBody>
        </p:sp>
        <p:sp>
          <p:nvSpPr>
            <p:cNvPr id="11" name="object 11"/>
            <p:cNvSpPr/>
            <p:nvPr/>
          </p:nvSpPr>
          <p:spPr>
            <a:xfrm>
              <a:off x="7272527" y="1836419"/>
              <a:ext cx="873760" cy="144780"/>
            </a:xfrm>
            <a:custGeom>
              <a:avLst/>
              <a:gdLst/>
              <a:ahLst/>
              <a:cxnLst/>
              <a:rect l="l" t="t" r="r" b="b"/>
              <a:pathLst>
                <a:path w="873759" h="144780">
                  <a:moveTo>
                    <a:pt x="873251" y="144780"/>
                  </a:moveTo>
                  <a:lnTo>
                    <a:pt x="873251" y="0"/>
                  </a:lnTo>
                  <a:lnTo>
                    <a:pt x="0" y="0"/>
                  </a:lnTo>
                  <a:lnTo>
                    <a:pt x="0" y="144780"/>
                  </a:lnTo>
                  <a:lnTo>
                    <a:pt x="873251" y="144780"/>
                  </a:lnTo>
                  <a:close/>
                </a:path>
              </a:pathLst>
            </a:custGeom>
            <a:solidFill>
              <a:srgbClr val="053CE8"/>
            </a:solidFill>
          </p:spPr>
          <p:txBody>
            <a:bodyPr wrap="square" lIns="0" tIns="0" rIns="0" bIns="0" rtlCol="0"/>
            <a:lstStyle/>
            <a:p>
              <a:endParaRPr/>
            </a:p>
          </p:txBody>
        </p:sp>
        <p:sp>
          <p:nvSpPr>
            <p:cNvPr id="12" name="object 12"/>
            <p:cNvSpPr/>
            <p:nvPr/>
          </p:nvSpPr>
          <p:spPr>
            <a:xfrm>
              <a:off x="7272527" y="2108453"/>
              <a:ext cx="873760" cy="146050"/>
            </a:xfrm>
            <a:custGeom>
              <a:avLst/>
              <a:gdLst/>
              <a:ahLst/>
              <a:cxnLst/>
              <a:rect l="l" t="t" r="r" b="b"/>
              <a:pathLst>
                <a:path w="873759" h="146050">
                  <a:moveTo>
                    <a:pt x="873251" y="145542"/>
                  </a:moveTo>
                  <a:lnTo>
                    <a:pt x="873251" y="0"/>
                  </a:lnTo>
                  <a:lnTo>
                    <a:pt x="0" y="0"/>
                  </a:lnTo>
                  <a:lnTo>
                    <a:pt x="0" y="145542"/>
                  </a:lnTo>
                  <a:lnTo>
                    <a:pt x="873251" y="145542"/>
                  </a:lnTo>
                  <a:close/>
                </a:path>
              </a:pathLst>
            </a:custGeom>
            <a:solidFill>
              <a:srgbClr val="00DEC9"/>
            </a:solidFill>
          </p:spPr>
          <p:txBody>
            <a:bodyPr wrap="square" lIns="0" tIns="0" rIns="0" bIns="0" rtlCol="0"/>
            <a:lstStyle/>
            <a:p>
              <a:endParaRPr/>
            </a:p>
          </p:txBody>
        </p:sp>
        <p:sp>
          <p:nvSpPr>
            <p:cNvPr id="13" name="object 13"/>
            <p:cNvSpPr/>
            <p:nvPr/>
          </p:nvSpPr>
          <p:spPr>
            <a:xfrm>
              <a:off x="6676643" y="1455419"/>
              <a:ext cx="1718310" cy="0"/>
            </a:xfrm>
            <a:custGeom>
              <a:avLst/>
              <a:gdLst/>
              <a:ahLst/>
              <a:cxnLst/>
              <a:rect l="l" t="t" r="r" b="b"/>
              <a:pathLst>
                <a:path w="1718309">
                  <a:moveTo>
                    <a:pt x="0" y="0"/>
                  </a:moveTo>
                  <a:lnTo>
                    <a:pt x="1718310" y="0"/>
                  </a:lnTo>
                </a:path>
              </a:pathLst>
            </a:custGeom>
            <a:ln w="28575">
              <a:solidFill>
                <a:srgbClr val="FF0000"/>
              </a:solidFill>
            </a:ln>
          </p:spPr>
          <p:txBody>
            <a:bodyPr wrap="square" lIns="0" tIns="0" rIns="0" bIns="0" rtlCol="0"/>
            <a:lstStyle/>
            <a:p>
              <a:endParaRPr/>
            </a:p>
          </p:txBody>
        </p:sp>
        <p:sp>
          <p:nvSpPr>
            <p:cNvPr id="14" name="object 14"/>
            <p:cNvSpPr/>
            <p:nvPr/>
          </p:nvSpPr>
          <p:spPr>
            <a:xfrm>
              <a:off x="6816851" y="1455419"/>
              <a:ext cx="76200" cy="889635"/>
            </a:xfrm>
            <a:custGeom>
              <a:avLst/>
              <a:gdLst/>
              <a:ahLst/>
              <a:cxnLst/>
              <a:rect l="l" t="t" r="r" b="b"/>
              <a:pathLst>
                <a:path w="76200" h="889635">
                  <a:moveTo>
                    <a:pt x="76200" y="76200"/>
                  </a:moveTo>
                  <a:lnTo>
                    <a:pt x="38100" y="0"/>
                  </a:lnTo>
                  <a:lnTo>
                    <a:pt x="0" y="76200"/>
                  </a:lnTo>
                  <a:lnTo>
                    <a:pt x="36576" y="76200"/>
                  </a:lnTo>
                  <a:lnTo>
                    <a:pt x="36576" y="64008"/>
                  </a:lnTo>
                  <a:lnTo>
                    <a:pt x="38100" y="62484"/>
                  </a:lnTo>
                  <a:lnTo>
                    <a:pt x="39624" y="64008"/>
                  </a:lnTo>
                  <a:lnTo>
                    <a:pt x="39624" y="76200"/>
                  </a:lnTo>
                  <a:lnTo>
                    <a:pt x="76200" y="76200"/>
                  </a:lnTo>
                  <a:close/>
                </a:path>
                <a:path w="76200" h="889635">
                  <a:moveTo>
                    <a:pt x="76200" y="813054"/>
                  </a:moveTo>
                  <a:lnTo>
                    <a:pt x="0" y="813054"/>
                  </a:lnTo>
                  <a:lnTo>
                    <a:pt x="36576" y="886206"/>
                  </a:lnTo>
                  <a:lnTo>
                    <a:pt x="36576" y="826008"/>
                  </a:lnTo>
                  <a:lnTo>
                    <a:pt x="38100" y="827532"/>
                  </a:lnTo>
                  <a:lnTo>
                    <a:pt x="39624" y="826008"/>
                  </a:lnTo>
                  <a:lnTo>
                    <a:pt x="39624" y="886206"/>
                  </a:lnTo>
                  <a:lnTo>
                    <a:pt x="76200" y="813054"/>
                  </a:lnTo>
                  <a:close/>
                </a:path>
                <a:path w="76200" h="889635">
                  <a:moveTo>
                    <a:pt x="39624" y="76200"/>
                  </a:moveTo>
                  <a:lnTo>
                    <a:pt x="39624" y="64008"/>
                  </a:lnTo>
                  <a:lnTo>
                    <a:pt x="38100" y="62484"/>
                  </a:lnTo>
                  <a:lnTo>
                    <a:pt x="36576" y="64008"/>
                  </a:lnTo>
                  <a:lnTo>
                    <a:pt x="36576" y="76200"/>
                  </a:lnTo>
                  <a:lnTo>
                    <a:pt x="39624" y="76200"/>
                  </a:lnTo>
                  <a:close/>
                </a:path>
                <a:path w="76200" h="889635">
                  <a:moveTo>
                    <a:pt x="39624" y="813054"/>
                  </a:moveTo>
                  <a:lnTo>
                    <a:pt x="39624" y="76200"/>
                  </a:lnTo>
                  <a:lnTo>
                    <a:pt x="36576" y="76200"/>
                  </a:lnTo>
                  <a:lnTo>
                    <a:pt x="36576" y="813054"/>
                  </a:lnTo>
                  <a:lnTo>
                    <a:pt x="39624" y="813054"/>
                  </a:lnTo>
                  <a:close/>
                </a:path>
                <a:path w="76200" h="889635">
                  <a:moveTo>
                    <a:pt x="39624" y="886206"/>
                  </a:moveTo>
                  <a:lnTo>
                    <a:pt x="39624" y="826008"/>
                  </a:lnTo>
                  <a:lnTo>
                    <a:pt x="38100" y="827532"/>
                  </a:lnTo>
                  <a:lnTo>
                    <a:pt x="36576" y="826008"/>
                  </a:lnTo>
                  <a:lnTo>
                    <a:pt x="36576" y="886206"/>
                  </a:lnTo>
                  <a:lnTo>
                    <a:pt x="38100" y="889254"/>
                  </a:lnTo>
                  <a:lnTo>
                    <a:pt x="39624" y="886206"/>
                  </a:lnTo>
                  <a:close/>
                </a:path>
              </a:pathLst>
            </a:custGeom>
            <a:solidFill>
              <a:srgbClr val="FF0000"/>
            </a:solidFill>
          </p:spPr>
          <p:txBody>
            <a:bodyPr wrap="square" lIns="0" tIns="0" rIns="0" bIns="0" rtlCol="0"/>
            <a:lstStyle/>
            <a:p>
              <a:endParaRPr/>
            </a:p>
          </p:txBody>
        </p:sp>
        <p:sp>
          <p:nvSpPr>
            <p:cNvPr id="15" name="object 15"/>
            <p:cNvSpPr/>
            <p:nvPr/>
          </p:nvSpPr>
          <p:spPr>
            <a:xfrm>
              <a:off x="6400800" y="1717547"/>
              <a:ext cx="862330" cy="457200"/>
            </a:xfrm>
            <a:custGeom>
              <a:avLst/>
              <a:gdLst/>
              <a:ahLst/>
              <a:cxnLst/>
              <a:rect l="l" t="t" r="r" b="b"/>
              <a:pathLst>
                <a:path w="862329" h="457200">
                  <a:moveTo>
                    <a:pt x="861822" y="457199"/>
                  </a:moveTo>
                  <a:lnTo>
                    <a:pt x="861822" y="0"/>
                  </a:lnTo>
                  <a:lnTo>
                    <a:pt x="0" y="0"/>
                  </a:lnTo>
                  <a:lnTo>
                    <a:pt x="0" y="457199"/>
                  </a:lnTo>
                  <a:lnTo>
                    <a:pt x="861822" y="457199"/>
                  </a:lnTo>
                  <a:close/>
                </a:path>
              </a:pathLst>
            </a:custGeom>
            <a:solidFill>
              <a:srgbClr val="FFFFFF"/>
            </a:solidFill>
          </p:spPr>
          <p:txBody>
            <a:bodyPr wrap="square" lIns="0" tIns="0" rIns="0" bIns="0" rtlCol="0"/>
            <a:lstStyle/>
            <a:p>
              <a:endParaRPr/>
            </a:p>
          </p:txBody>
        </p:sp>
      </p:grpSp>
      <p:sp>
        <p:nvSpPr>
          <p:cNvPr id="16" name="object 16"/>
          <p:cNvSpPr txBox="1"/>
          <p:nvPr/>
        </p:nvSpPr>
        <p:spPr>
          <a:xfrm>
            <a:off x="6480302" y="1739900"/>
            <a:ext cx="702945" cy="391160"/>
          </a:xfrm>
          <a:prstGeom prst="rect">
            <a:avLst/>
          </a:prstGeom>
        </p:spPr>
        <p:txBody>
          <a:bodyPr vert="horz" wrap="square" lIns="0" tIns="12700" rIns="0" bIns="0" rtlCol="0">
            <a:spAutoFit/>
          </a:bodyPr>
          <a:lstStyle/>
          <a:p>
            <a:pPr marL="12700">
              <a:lnSpc>
                <a:spcPct val="100000"/>
              </a:lnSpc>
              <a:spcBef>
                <a:spcPts val="100"/>
              </a:spcBef>
            </a:pPr>
            <a:r>
              <a:rPr sz="2400" spc="-20" dirty="0">
                <a:latin typeface="Times New Roman"/>
                <a:cs typeface="Times New Roman"/>
              </a:rPr>
              <a:t>10Gb</a:t>
            </a:r>
            <a:endParaRPr sz="2400">
              <a:latin typeface="Times New Roman"/>
              <a:cs typeface="Times New Roman"/>
            </a:endParaRPr>
          </a:p>
        </p:txBody>
      </p:sp>
      <p:grpSp>
        <p:nvGrpSpPr>
          <p:cNvPr id="17" name="object 17"/>
          <p:cNvGrpSpPr/>
          <p:nvPr/>
        </p:nvGrpSpPr>
        <p:grpSpPr>
          <a:xfrm>
            <a:off x="6651497" y="1549336"/>
            <a:ext cx="1770380" cy="4885055"/>
            <a:chOff x="6651497" y="1549336"/>
            <a:chExt cx="1770380" cy="4885055"/>
          </a:xfrm>
        </p:grpSpPr>
        <p:sp>
          <p:nvSpPr>
            <p:cNvPr id="18" name="object 18"/>
            <p:cNvSpPr/>
            <p:nvPr/>
          </p:nvSpPr>
          <p:spPr>
            <a:xfrm>
              <a:off x="7272527" y="1563624"/>
              <a:ext cx="873760" cy="0"/>
            </a:xfrm>
            <a:custGeom>
              <a:avLst/>
              <a:gdLst/>
              <a:ahLst/>
              <a:cxnLst/>
              <a:rect l="l" t="t" r="r" b="b"/>
              <a:pathLst>
                <a:path w="873759">
                  <a:moveTo>
                    <a:pt x="0" y="0"/>
                  </a:moveTo>
                  <a:lnTo>
                    <a:pt x="873252" y="0"/>
                  </a:lnTo>
                </a:path>
              </a:pathLst>
            </a:custGeom>
            <a:ln w="28575">
              <a:solidFill>
                <a:srgbClr val="000000"/>
              </a:solidFill>
              <a:prstDash val="sysDash"/>
            </a:ln>
          </p:spPr>
          <p:txBody>
            <a:bodyPr wrap="square" lIns="0" tIns="0" rIns="0" bIns="0" rtlCol="0"/>
            <a:lstStyle/>
            <a:p>
              <a:endParaRPr/>
            </a:p>
          </p:txBody>
        </p:sp>
        <p:sp>
          <p:nvSpPr>
            <p:cNvPr id="19" name="object 19"/>
            <p:cNvSpPr/>
            <p:nvPr/>
          </p:nvSpPr>
          <p:spPr>
            <a:xfrm>
              <a:off x="7272527" y="1709928"/>
              <a:ext cx="873760" cy="0"/>
            </a:xfrm>
            <a:custGeom>
              <a:avLst/>
              <a:gdLst/>
              <a:ahLst/>
              <a:cxnLst/>
              <a:rect l="l" t="t" r="r" b="b"/>
              <a:pathLst>
                <a:path w="873759">
                  <a:moveTo>
                    <a:pt x="0" y="0"/>
                  </a:moveTo>
                  <a:lnTo>
                    <a:pt x="873252" y="0"/>
                  </a:lnTo>
                </a:path>
              </a:pathLst>
            </a:custGeom>
            <a:ln w="28575">
              <a:solidFill>
                <a:srgbClr val="000000"/>
              </a:solidFill>
              <a:prstDash val="sysDash"/>
            </a:ln>
          </p:spPr>
          <p:txBody>
            <a:bodyPr wrap="square" lIns="0" tIns="0" rIns="0" bIns="0" rtlCol="0"/>
            <a:lstStyle/>
            <a:p>
              <a:endParaRPr/>
            </a:p>
          </p:txBody>
        </p:sp>
        <p:sp>
          <p:nvSpPr>
            <p:cNvPr id="20" name="object 20"/>
            <p:cNvSpPr/>
            <p:nvPr/>
          </p:nvSpPr>
          <p:spPr>
            <a:xfrm>
              <a:off x="7272527" y="1824228"/>
              <a:ext cx="873760" cy="0"/>
            </a:xfrm>
            <a:custGeom>
              <a:avLst/>
              <a:gdLst/>
              <a:ahLst/>
              <a:cxnLst/>
              <a:rect l="l" t="t" r="r" b="b"/>
              <a:pathLst>
                <a:path w="873759">
                  <a:moveTo>
                    <a:pt x="0" y="0"/>
                  </a:moveTo>
                  <a:lnTo>
                    <a:pt x="873252" y="0"/>
                  </a:lnTo>
                </a:path>
              </a:pathLst>
            </a:custGeom>
            <a:ln w="28575">
              <a:solidFill>
                <a:srgbClr val="000000"/>
              </a:solidFill>
              <a:prstDash val="sysDash"/>
            </a:ln>
          </p:spPr>
          <p:txBody>
            <a:bodyPr wrap="square" lIns="0" tIns="0" rIns="0" bIns="0" rtlCol="0"/>
            <a:lstStyle/>
            <a:p>
              <a:endParaRPr/>
            </a:p>
          </p:txBody>
        </p:sp>
        <p:sp>
          <p:nvSpPr>
            <p:cNvPr id="21" name="object 21"/>
            <p:cNvSpPr/>
            <p:nvPr/>
          </p:nvSpPr>
          <p:spPr>
            <a:xfrm>
              <a:off x="7272527" y="1982724"/>
              <a:ext cx="873760" cy="0"/>
            </a:xfrm>
            <a:custGeom>
              <a:avLst/>
              <a:gdLst/>
              <a:ahLst/>
              <a:cxnLst/>
              <a:rect l="l" t="t" r="r" b="b"/>
              <a:pathLst>
                <a:path w="873759">
                  <a:moveTo>
                    <a:pt x="0" y="0"/>
                  </a:moveTo>
                  <a:lnTo>
                    <a:pt x="873252" y="0"/>
                  </a:lnTo>
                </a:path>
              </a:pathLst>
            </a:custGeom>
            <a:ln w="28575">
              <a:solidFill>
                <a:srgbClr val="000000"/>
              </a:solidFill>
              <a:prstDash val="sysDash"/>
            </a:ln>
          </p:spPr>
          <p:txBody>
            <a:bodyPr wrap="square" lIns="0" tIns="0" rIns="0" bIns="0" rtlCol="0"/>
            <a:lstStyle/>
            <a:p>
              <a:endParaRPr/>
            </a:p>
          </p:txBody>
        </p:sp>
        <p:sp>
          <p:nvSpPr>
            <p:cNvPr id="22" name="object 22"/>
            <p:cNvSpPr/>
            <p:nvPr/>
          </p:nvSpPr>
          <p:spPr>
            <a:xfrm>
              <a:off x="7272527" y="2101596"/>
              <a:ext cx="873760" cy="0"/>
            </a:xfrm>
            <a:custGeom>
              <a:avLst/>
              <a:gdLst/>
              <a:ahLst/>
              <a:cxnLst/>
              <a:rect l="l" t="t" r="r" b="b"/>
              <a:pathLst>
                <a:path w="873759">
                  <a:moveTo>
                    <a:pt x="0" y="0"/>
                  </a:moveTo>
                  <a:lnTo>
                    <a:pt x="873252" y="0"/>
                  </a:lnTo>
                </a:path>
              </a:pathLst>
            </a:custGeom>
            <a:ln w="28575">
              <a:solidFill>
                <a:srgbClr val="000000"/>
              </a:solidFill>
              <a:prstDash val="sysDash"/>
            </a:ln>
          </p:spPr>
          <p:txBody>
            <a:bodyPr wrap="square" lIns="0" tIns="0" rIns="0" bIns="0" rtlCol="0"/>
            <a:lstStyle/>
            <a:p>
              <a:endParaRPr/>
            </a:p>
          </p:txBody>
        </p:sp>
        <p:sp>
          <p:nvSpPr>
            <p:cNvPr id="23" name="object 23"/>
            <p:cNvSpPr/>
            <p:nvPr/>
          </p:nvSpPr>
          <p:spPr>
            <a:xfrm>
              <a:off x="7272527" y="2247900"/>
              <a:ext cx="873760" cy="0"/>
            </a:xfrm>
            <a:custGeom>
              <a:avLst/>
              <a:gdLst/>
              <a:ahLst/>
              <a:cxnLst/>
              <a:rect l="l" t="t" r="r" b="b"/>
              <a:pathLst>
                <a:path w="873759">
                  <a:moveTo>
                    <a:pt x="0" y="0"/>
                  </a:moveTo>
                  <a:lnTo>
                    <a:pt x="873252" y="0"/>
                  </a:lnTo>
                </a:path>
              </a:pathLst>
            </a:custGeom>
            <a:ln w="28575">
              <a:solidFill>
                <a:srgbClr val="000000"/>
              </a:solidFill>
              <a:prstDash val="sysDash"/>
            </a:ln>
          </p:spPr>
          <p:txBody>
            <a:bodyPr wrap="square" lIns="0" tIns="0" rIns="0" bIns="0" rtlCol="0"/>
            <a:lstStyle/>
            <a:p>
              <a:endParaRPr/>
            </a:p>
          </p:txBody>
        </p:sp>
        <p:pic>
          <p:nvPicPr>
            <p:cNvPr id="24" name="object 24"/>
            <p:cNvPicPr/>
            <p:nvPr/>
          </p:nvPicPr>
          <p:blipFill>
            <a:blip r:embed="rId2" cstate="print"/>
            <a:stretch>
              <a:fillRect/>
            </a:stretch>
          </p:blipFill>
          <p:spPr>
            <a:xfrm>
              <a:off x="6651497" y="2370010"/>
              <a:ext cx="1770126" cy="1231963"/>
            </a:xfrm>
            <a:prstGeom prst="rect">
              <a:avLst/>
            </a:prstGeom>
          </p:spPr>
        </p:pic>
        <p:pic>
          <p:nvPicPr>
            <p:cNvPr id="25" name="object 25"/>
            <p:cNvPicPr/>
            <p:nvPr/>
          </p:nvPicPr>
          <p:blipFill>
            <a:blip r:embed="rId3" cstate="print"/>
            <a:stretch>
              <a:fillRect/>
            </a:stretch>
          </p:blipFill>
          <p:spPr>
            <a:xfrm>
              <a:off x="6991349" y="4627626"/>
              <a:ext cx="1091946" cy="817625"/>
            </a:xfrm>
            <a:prstGeom prst="rect">
              <a:avLst/>
            </a:prstGeom>
          </p:spPr>
        </p:pic>
        <p:pic>
          <p:nvPicPr>
            <p:cNvPr id="26" name="object 26"/>
            <p:cNvPicPr/>
            <p:nvPr/>
          </p:nvPicPr>
          <p:blipFill>
            <a:blip r:embed="rId4" cstate="print"/>
            <a:stretch>
              <a:fillRect/>
            </a:stretch>
          </p:blipFill>
          <p:spPr>
            <a:xfrm>
              <a:off x="6934199" y="5486400"/>
              <a:ext cx="1204722" cy="947927"/>
            </a:xfrm>
            <a:prstGeom prst="rect">
              <a:avLst/>
            </a:prstGeom>
          </p:spPr>
        </p:pic>
      </p:grpSp>
      <p:sp>
        <p:nvSpPr>
          <p:cNvPr id="30" name="Slide Number Placeholder 29">
            <a:extLst>
              <a:ext uri="{FF2B5EF4-FFF2-40B4-BE49-F238E27FC236}">
                <a16:creationId xmlns:a16="http://schemas.microsoft.com/office/drawing/2014/main" id="{AFA8E3E4-F632-8949-57A4-2F1A3671BEFC}"/>
              </a:ext>
            </a:extLst>
          </p:cNvPr>
          <p:cNvSpPr>
            <a:spLocks noGrp="1"/>
          </p:cNvSpPr>
          <p:nvPr>
            <p:ph type="sldNum" sz="quarter" idx="7"/>
          </p:nvPr>
        </p:nvSpPr>
        <p:spPr/>
        <p:txBody>
          <a:bodyPr/>
          <a:lstStyle/>
          <a:p>
            <a:pPr marL="12700">
              <a:lnSpc>
                <a:spcPts val="2065"/>
              </a:lnSpc>
            </a:pPr>
            <a:fld id="{81D60167-4931-47E6-BA6A-407CBD079E47}" type="slidenum">
              <a:rPr spc="-50" smtClean="0"/>
              <a:t>4</a:t>
            </a:fld>
            <a:endParaRPr spc="-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77952" y="241554"/>
            <a:ext cx="8388350" cy="6299200"/>
          </a:xfrm>
          <a:custGeom>
            <a:avLst/>
            <a:gdLst/>
            <a:ahLst/>
            <a:cxnLst/>
            <a:rect l="l" t="t" r="r" b="b"/>
            <a:pathLst>
              <a:path w="8388350" h="6299200">
                <a:moveTo>
                  <a:pt x="0" y="0"/>
                </a:moveTo>
                <a:lnTo>
                  <a:pt x="0" y="6298692"/>
                </a:lnTo>
                <a:lnTo>
                  <a:pt x="8388096" y="6298692"/>
                </a:lnTo>
                <a:lnTo>
                  <a:pt x="8388096" y="0"/>
                </a:lnTo>
                <a:lnTo>
                  <a:pt x="0" y="0"/>
                </a:lnTo>
                <a:close/>
              </a:path>
            </a:pathLst>
          </a:custGeom>
          <a:ln w="25400">
            <a:solidFill>
              <a:srgbClr val="053CE8"/>
            </a:solidFill>
          </a:ln>
        </p:spPr>
        <p:txBody>
          <a:bodyPr wrap="square" lIns="0" tIns="0" rIns="0" bIns="0" rtlCol="0"/>
          <a:lstStyle/>
          <a:p>
            <a:endParaRPr/>
          </a:p>
        </p:txBody>
      </p:sp>
      <p:sp>
        <p:nvSpPr>
          <p:cNvPr id="4" name="object 4"/>
          <p:cNvSpPr/>
          <p:nvPr/>
        </p:nvSpPr>
        <p:spPr>
          <a:xfrm>
            <a:off x="7197852" y="0"/>
            <a:ext cx="0" cy="228600"/>
          </a:xfrm>
          <a:custGeom>
            <a:avLst/>
            <a:gdLst/>
            <a:ahLst/>
            <a:cxnLst/>
            <a:rect l="l" t="t" r="r" b="b"/>
            <a:pathLst>
              <a:path h="228600">
                <a:moveTo>
                  <a:pt x="0" y="228600"/>
                </a:moveTo>
                <a:lnTo>
                  <a:pt x="0" y="0"/>
                </a:lnTo>
              </a:path>
            </a:pathLst>
          </a:custGeom>
          <a:ln w="3175">
            <a:solidFill>
              <a:srgbClr val="EAEAEA"/>
            </a:solidFill>
          </a:ln>
        </p:spPr>
        <p:txBody>
          <a:bodyPr wrap="square" lIns="0" tIns="0" rIns="0" bIns="0" rtlCol="0"/>
          <a:lstStyle/>
          <a:p>
            <a:endParaRPr/>
          </a:p>
        </p:txBody>
      </p:sp>
      <p:sp>
        <p:nvSpPr>
          <p:cNvPr id="5" name="object 5"/>
          <p:cNvSpPr/>
          <p:nvPr/>
        </p:nvSpPr>
        <p:spPr>
          <a:xfrm>
            <a:off x="8766047" y="1462277"/>
            <a:ext cx="378460" cy="0"/>
          </a:xfrm>
          <a:custGeom>
            <a:avLst/>
            <a:gdLst/>
            <a:ahLst/>
            <a:cxnLst/>
            <a:rect l="l" t="t" r="r" b="b"/>
            <a:pathLst>
              <a:path w="378459">
                <a:moveTo>
                  <a:pt x="0" y="0"/>
                </a:moveTo>
                <a:lnTo>
                  <a:pt x="377952" y="0"/>
                </a:lnTo>
              </a:path>
            </a:pathLst>
          </a:custGeom>
          <a:ln w="3175">
            <a:solidFill>
              <a:srgbClr val="EAEAEA"/>
            </a:solidFill>
          </a:ln>
        </p:spPr>
        <p:txBody>
          <a:bodyPr wrap="square" lIns="0" tIns="0" rIns="0" bIns="0" rtlCol="0"/>
          <a:lstStyle/>
          <a:p>
            <a:endParaRPr/>
          </a:p>
        </p:txBody>
      </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Advantages</a:t>
            </a:r>
            <a:r>
              <a:rPr spc="-60" dirty="0"/>
              <a:t> </a:t>
            </a:r>
            <a:r>
              <a:rPr dirty="0"/>
              <a:t>of</a:t>
            </a:r>
            <a:r>
              <a:rPr spc="-55" dirty="0"/>
              <a:t> </a:t>
            </a:r>
            <a:r>
              <a:rPr spc="-10" dirty="0"/>
              <a:t>Virtualization</a:t>
            </a:r>
          </a:p>
        </p:txBody>
      </p:sp>
      <p:sp>
        <p:nvSpPr>
          <p:cNvPr id="7" name="object 7"/>
          <p:cNvSpPr txBox="1"/>
          <p:nvPr/>
        </p:nvSpPr>
        <p:spPr>
          <a:xfrm>
            <a:off x="457454" y="1087628"/>
            <a:ext cx="8535670" cy="4483100"/>
          </a:xfrm>
          <a:prstGeom prst="rect">
            <a:avLst/>
          </a:prstGeom>
        </p:spPr>
        <p:txBody>
          <a:bodyPr vert="horz" wrap="square" lIns="0" tIns="12700" rIns="0" bIns="0" rtlCol="0">
            <a:spAutoFit/>
          </a:bodyPr>
          <a:lstStyle/>
          <a:p>
            <a:pPr marL="354965" indent="-342265">
              <a:lnSpc>
                <a:spcPts val="2875"/>
              </a:lnSpc>
              <a:spcBef>
                <a:spcPts val="100"/>
              </a:spcBef>
              <a:buClr>
                <a:srgbClr val="053CE8"/>
              </a:buClr>
              <a:buSzPct val="75000"/>
              <a:buFont typeface="Wingdings"/>
              <a:buChar char=""/>
              <a:tabLst>
                <a:tab pos="354965" algn="l"/>
              </a:tabLst>
            </a:pPr>
            <a:r>
              <a:rPr sz="2400" dirty="0">
                <a:latin typeface="Times New Roman"/>
                <a:cs typeface="Times New Roman"/>
              </a:rPr>
              <a:t>Minimize</a:t>
            </a:r>
            <a:r>
              <a:rPr sz="2400" spc="-40" dirty="0">
                <a:latin typeface="Times New Roman"/>
                <a:cs typeface="Times New Roman"/>
              </a:rPr>
              <a:t> </a:t>
            </a:r>
            <a:r>
              <a:rPr sz="2400" dirty="0">
                <a:latin typeface="Times New Roman"/>
                <a:cs typeface="Times New Roman"/>
              </a:rPr>
              <a:t>hardware</a:t>
            </a:r>
            <a:r>
              <a:rPr sz="2400" spc="-35" dirty="0">
                <a:latin typeface="Times New Roman"/>
                <a:cs typeface="Times New Roman"/>
              </a:rPr>
              <a:t> </a:t>
            </a:r>
            <a:r>
              <a:rPr sz="2400" dirty="0">
                <a:latin typeface="Times New Roman"/>
                <a:cs typeface="Times New Roman"/>
              </a:rPr>
              <a:t>costs</a:t>
            </a:r>
            <a:r>
              <a:rPr sz="2400" spc="-35" dirty="0">
                <a:latin typeface="Times New Roman"/>
                <a:cs typeface="Times New Roman"/>
              </a:rPr>
              <a:t> </a:t>
            </a:r>
            <a:r>
              <a:rPr sz="2400" spc="-10" dirty="0">
                <a:latin typeface="Times New Roman"/>
                <a:cs typeface="Times New Roman"/>
              </a:rPr>
              <a:t>(CapEx)</a:t>
            </a:r>
            <a:endParaRPr sz="2400">
              <a:latin typeface="Times New Roman"/>
              <a:cs typeface="Times New Roman"/>
            </a:endParaRPr>
          </a:p>
          <a:p>
            <a:pPr marL="355600">
              <a:lnSpc>
                <a:spcPts val="2875"/>
              </a:lnSpc>
            </a:pPr>
            <a:r>
              <a:rPr sz="2400" dirty="0">
                <a:latin typeface="Times New Roman"/>
                <a:cs typeface="Times New Roman"/>
              </a:rPr>
              <a:t>Multiple</a:t>
            </a:r>
            <a:r>
              <a:rPr sz="2400" spc="-45" dirty="0">
                <a:latin typeface="Times New Roman"/>
                <a:cs typeface="Times New Roman"/>
              </a:rPr>
              <a:t> </a:t>
            </a:r>
            <a:r>
              <a:rPr sz="2400" dirty="0">
                <a:latin typeface="Times New Roman"/>
                <a:cs typeface="Times New Roman"/>
              </a:rPr>
              <a:t>virtual</a:t>
            </a:r>
            <a:r>
              <a:rPr sz="2400" spc="-40" dirty="0">
                <a:latin typeface="Times New Roman"/>
                <a:cs typeface="Times New Roman"/>
              </a:rPr>
              <a:t> </a:t>
            </a:r>
            <a:r>
              <a:rPr sz="2400" dirty="0">
                <a:latin typeface="Times New Roman"/>
                <a:cs typeface="Times New Roman"/>
              </a:rPr>
              <a:t>servers</a:t>
            </a:r>
            <a:r>
              <a:rPr sz="2400" spc="-40" dirty="0">
                <a:latin typeface="Times New Roman"/>
                <a:cs typeface="Times New Roman"/>
              </a:rPr>
              <a:t> </a:t>
            </a:r>
            <a:r>
              <a:rPr sz="2400" dirty="0">
                <a:latin typeface="Times New Roman"/>
                <a:cs typeface="Times New Roman"/>
              </a:rPr>
              <a:t>on</a:t>
            </a:r>
            <a:r>
              <a:rPr sz="2400" spc="-40" dirty="0">
                <a:latin typeface="Times New Roman"/>
                <a:cs typeface="Times New Roman"/>
              </a:rPr>
              <a:t> </a:t>
            </a:r>
            <a:r>
              <a:rPr sz="2400" dirty="0">
                <a:latin typeface="Times New Roman"/>
                <a:cs typeface="Times New Roman"/>
              </a:rPr>
              <a:t>one</a:t>
            </a:r>
            <a:r>
              <a:rPr sz="2400" spc="-40" dirty="0">
                <a:latin typeface="Times New Roman"/>
                <a:cs typeface="Times New Roman"/>
              </a:rPr>
              <a:t> </a:t>
            </a:r>
            <a:r>
              <a:rPr sz="2400" dirty="0">
                <a:latin typeface="Times New Roman"/>
                <a:cs typeface="Times New Roman"/>
              </a:rPr>
              <a:t>physical</a:t>
            </a:r>
            <a:r>
              <a:rPr sz="2400" spc="-40" dirty="0">
                <a:latin typeface="Times New Roman"/>
                <a:cs typeface="Times New Roman"/>
              </a:rPr>
              <a:t> </a:t>
            </a:r>
            <a:r>
              <a:rPr sz="2400" spc="-10" dirty="0">
                <a:latin typeface="Times New Roman"/>
                <a:cs typeface="Times New Roman"/>
              </a:rPr>
              <a:t>hardware</a:t>
            </a:r>
            <a:endParaRPr sz="2400">
              <a:latin typeface="Times New Roman"/>
              <a:cs typeface="Times New Roman"/>
            </a:endParaRPr>
          </a:p>
          <a:p>
            <a:pPr marL="354965" indent="-342265">
              <a:lnSpc>
                <a:spcPts val="2875"/>
              </a:lnSpc>
              <a:buClr>
                <a:srgbClr val="053CE8"/>
              </a:buClr>
              <a:buSzPct val="75000"/>
              <a:buFont typeface="Wingdings"/>
              <a:buChar char=""/>
              <a:tabLst>
                <a:tab pos="354965" algn="l"/>
              </a:tabLst>
            </a:pPr>
            <a:r>
              <a:rPr sz="2400" dirty="0">
                <a:latin typeface="Times New Roman"/>
                <a:cs typeface="Times New Roman"/>
              </a:rPr>
              <a:t>Easily</a:t>
            </a:r>
            <a:r>
              <a:rPr sz="2400" spc="-30" dirty="0">
                <a:latin typeface="Times New Roman"/>
                <a:cs typeface="Times New Roman"/>
              </a:rPr>
              <a:t> </a:t>
            </a:r>
            <a:r>
              <a:rPr sz="2400" dirty="0">
                <a:latin typeface="Times New Roman"/>
                <a:cs typeface="Times New Roman"/>
              </a:rPr>
              <a:t>move</a:t>
            </a:r>
            <a:r>
              <a:rPr sz="2400" spc="-30" dirty="0">
                <a:latin typeface="Times New Roman"/>
                <a:cs typeface="Times New Roman"/>
              </a:rPr>
              <a:t> </a:t>
            </a:r>
            <a:r>
              <a:rPr sz="2400" dirty="0">
                <a:latin typeface="Times New Roman"/>
                <a:cs typeface="Times New Roman"/>
              </a:rPr>
              <a:t>VMs</a:t>
            </a:r>
            <a:r>
              <a:rPr sz="2400" spc="-25" dirty="0">
                <a:latin typeface="Times New Roman"/>
                <a:cs typeface="Times New Roman"/>
              </a:rPr>
              <a:t> </a:t>
            </a:r>
            <a:r>
              <a:rPr sz="2400" dirty="0">
                <a:latin typeface="Times New Roman"/>
                <a:cs typeface="Times New Roman"/>
              </a:rPr>
              <a:t>to</a:t>
            </a:r>
            <a:r>
              <a:rPr sz="2400" spc="-30" dirty="0">
                <a:latin typeface="Times New Roman"/>
                <a:cs typeface="Times New Roman"/>
              </a:rPr>
              <a:t> </a:t>
            </a:r>
            <a:r>
              <a:rPr sz="2400" dirty="0">
                <a:latin typeface="Times New Roman"/>
                <a:cs typeface="Times New Roman"/>
              </a:rPr>
              <a:t>other</a:t>
            </a:r>
            <a:r>
              <a:rPr sz="2400" spc="-30" dirty="0">
                <a:latin typeface="Times New Roman"/>
                <a:cs typeface="Times New Roman"/>
              </a:rPr>
              <a:t> </a:t>
            </a:r>
            <a:r>
              <a:rPr sz="2400" dirty="0">
                <a:latin typeface="Times New Roman"/>
                <a:cs typeface="Times New Roman"/>
              </a:rPr>
              <a:t>data</a:t>
            </a:r>
            <a:r>
              <a:rPr sz="2400" spc="-25" dirty="0">
                <a:latin typeface="Times New Roman"/>
                <a:cs typeface="Times New Roman"/>
              </a:rPr>
              <a:t> </a:t>
            </a:r>
            <a:r>
              <a:rPr sz="2400" spc="-10" dirty="0">
                <a:latin typeface="Times New Roman"/>
                <a:cs typeface="Times New Roman"/>
              </a:rPr>
              <a:t>centers</a:t>
            </a:r>
            <a:endParaRPr sz="2400">
              <a:latin typeface="Times New Roman"/>
              <a:cs typeface="Times New Roman"/>
            </a:endParaRPr>
          </a:p>
          <a:p>
            <a:pPr marL="755015" lvl="1" indent="-285115">
              <a:lnSpc>
                <a:spcPts val="2875"/>
              </a:lnSpc>
              <a:buSzPct val="66666"/>
              <a:buFont typeface="Wingdings"/>
              <a:buChar char=""/>
              <a:tabLst>
                <a:tab pos="755015" algn="l"/>
              </a:tabLst>
            </a:pPr>
            <a:r>
              <a:rPr sz="2400" dirty="0">
                <a:latin typeface="Times New Roman"/>
                <a:cs typeface="Times New Roman"/>
              </a:rPr>
              <a:t>Provide</a:t>
            </a:r>
            <a:r>
              <a:rPr sz="2400" spc="-65" dirty="0">
                <a:latin typeface="Times New Roman"/>
                <a:cs typeface="Times New Roman"/>
              </a:rPr>
              <a:t> </a:t>
            </a:r>
            <a:r>
              <a:rPr sz="2400" dirty="0">
                <a:latin typeface="Times New Roman"/>
                <a:cs typeface="Times New Roman"/>
              </a:rPr>
              <a:t>disaster</a:t>
            </a:r>
            <a:r>
              <a:rPr sz="2400" spc="-65" dirty="0">
                <a:latin typeface="Times New Roman"/>
                <a:cs typeface="Times New Roman"/>
              </a:rPr>
              <a:t> </a:t>
            </a:r>
            <a:r>
              <a:rPr sz="2400" dirty="0">
                <a:latin typeface="Times New Roman"/>
                <a:cs typeface="Times New Roman"/>
              </a:rPr>
              <a:t>recovery.</a:t>
            </a:r>
            <a:r>
              <a:rPr sz="2400" spc="-65" dirty="0">
                <a:latin typeface="Times New Roman"/>
                <a:cs typeface="Times New Roman"/>
              </a:rPr>
              <a:t> </a:t>
            </a:r>
            <a:r>
              <a:rPr sz="2400" dirty="0">
                <a:latin typeface="Times New Roman"/>
                <a:cs typeface="Times New Roman"/>
              </a:rPr>
              <a:t>Hardware</a:t>
            </a:r>
            <a:r>
              <a:rPr sz="2400" spc="-60" dirty="0">
                <a:latin typeface="Times New Roman"/>
                <a:cs typeface="Times New Roman"/>
              </a:rPr>
              <a:t> </a:t>
            </a:r>
            <a:r>
              <a:rPr sz="2400" spc="-10" dirty="0">
                <a:latin typeface="Times New Roman"/>
                <a:cs typeface="Times New Roman"/>
              </a:rPr>
              <a:t>maintenance.</a:t>
            </a:r>
            <a:endParaRPr sz="2400">
              <a:latin typeface="Times New Roman"/>
              <a:cs typeface="Times New Roman"/>
            </a:endParaRPr>
          </a:p>
          <a:p>
            <a:pPr marL="755015" lvl="1" indent="-285115">
              <a:lnSpc>
                <a:spcPts val="2875"/>
              </a:lnSpc>
              <a:buSzPct val="66666"/>
              <a:buFont typeface="Wingdings"/>
              <a:buChar char=""/>
              <a:tabLst>
                <a:tab pos="755015" algn="l"/>
              </a:tabLst>
            </a:pPr>
            <a:r>
              <a:rPr sz="2400" dirty="0">
                <a:latin typeface="Times New Roman"/>
                <a:cs typeface="Times New Roman"/>
              </a:rPr>
              <a:t>Follow</a:t>
            </a:r>
            <a:r>
              <a:rPr sz="2400" spc="-30"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sun</a:t>
            </a:r>
            <a:r>
              <a:rPr sz="2400" spc="-30" dirty="0">
                <a:latin typeface="Times New Roman"/>
                <a:cs typeface="Times New Roman"/>
              </a:rPr>
              <a:t> </a:t>
            </a:r>
            <a:r>
              <a:rPr sz="2400" dirty="0">
                <a:latin typeface="Times New Roman"/>
                <a:cs typeface="Times New Roman"/>
              </a:rPr>
              <a:t>(active</a:t>
            </a:r>
            <a:r>
              <a:rPr sz="2400" spc="-30" dirty="0">
                <a:latin typeface="Times New Roman"/>
                <a:cs typeface="Times New Roman"/>
              </a:rPr>
              <a:t> </a:t>
            </a:r>
            <a:r>
              <a:rPr sz="2400" dirty="0">
                <a:latin typeface="Times New Roman"/>
                <a:cs typeface="Times New Roman"/>
              </a:rPr>
              <a:t>users)</a:t>
            </a:r>
            <a:r>
              <a:rPr sz="2400" spc="-30" dirty="0">
                <a:latin typeface="Times New Roman"/>
                <a:cs typeface="Times New Roman"/>
              </a:rPr>
              <a:t> </a:t>
            </a:r>
            <a:r>
              <a:rPr sz="2400" dirty="0">
                <a:latin typeface="Times New Roman"/>
                <a:cs typeface="Times New Roman"/>
              </a:rPr>
              <a:t>or</a:t>
            </a:r>
            <a:r>
              <a:rPr sz="2400" spc="-25" dirty="0">
                <a:latin typeface="Times New Roman"/>
                <a:cs typeface="Times New Roman"/>
              </a:rPr>
              <a:t> </a:t>
            </a:r>
            <a:r>
              <a:rPr sz="2400" dirty="0">
                <a:latin typeface="Times New Roman"/>
                <a:cs typeface="Times New Roman"/>
              </a:rPr>
              <a:t>follow</a:t>
            </a:r>
            <a:r>
              <a:rPr sz="2400" spc="-30"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moon</a:t>
            </a:r>
            <a:r>
              <a:rPr sz="2400" spc="-30" dirty="0">
                <a:latin typeface="Times New Roman"/>
                <a:cs typeface="Times New Roman"/>
              </a:rPr>
              <a:t> </a:t>
            </a:r>
            <a:r>
              <a:rPr sz="2400" dirty="0">
                <a:latin typeface="Times New Roman"/>
                <a:cs typeface="Times New Roman"/>
              </a:rPr>
              <a:t>(cheap</a:t>
            </a:r>
            <a:r>
              <a:rPr sz="2400" spc="-30" dirty="0">
                <a:latin typeface="Times New Roman"/>
                <a:cs typeface="Times New Roman"/>
              </a:rPr>
              <a:t> </a:t>
            </a:r>
            <a:r>
              <a:rPr sz="2400" spc="-10" dirty="0">
                <a:latin typeface="Times New Roman"/>
                <a:cs typeface="Times New Roman"/>
              </a:rPr>
              <a:t>power)</a:t>
            </a:r>
            <a:endParaRPr sz="2400">
              <a:latin typeface="Times New Roman"/>
              <a:cs typeface="Times New Roman"/>
            </a:endParaRPr>
          </a:p>
          <a:p>
            <a:pPr marL="354965" marR="462915" indent="-342900">
              <a:lnSpc>
                <a:spcPct val="100000"/>
              </a:lnSpc>
              <a:spcBef>
                <a:spcPts val="140"/>
              </a:spcBef>
              <a:buClr>
                <a:srgbClr val="053CE8"/>
              </a:buClr>
              <a:buSzPct val="75000"/>
              <a:buFont typeface="Wingdings"/>
              <a:buChar char=""/>
              <a:tabLst>
                <a:tab pos="354965" algn="l"/>
              </a:tabLst>
            </a:pPr>
            <a:r>
              <a:rPr sz="2400" dirty="0">
                <a:latin typeface="Times New Roman"/>
                <a:cs typeface="Times New Roman"/>
              </a:rPr>
              <a:t>Consolidate</a:t>
            </a:r>
            <a:r>
              <a:rPr sz="2400" spc="-30" dirty="0">
                <a:latin typeface="Times New Roman"/>
                <a:cs typeface="Times New Roman"/>
              </a:rPr>
              <a:t> </a:t>
            </a:r>
            <a:r>
              <a:rPr sz="2400" dirty="0">
                <a:latin typeface="Times New Roman"/>
                <a:cs typeface="Times New Roman"/>
              </a:rPr>
              <a:t>idle</a:t>
            </a:r>
            <a:r>
              <a:rPr sz="2400" spc="-25" dirty="0">
                <a:latin typeface="Times New Roman"/>
                <a:cs typeface="Times New Roman"/>
              </a:rPr>
              <a:t> </a:t>
            </a:r>
            <a:r>
              <a:rPr sz="2400" spc="-10" dirty="0">
                <a:latin typeface="Times New Roman"/>
                <a:cs typeface="Times New Roman"/>
              </a:rPr>
              <a:t>workloads.</a:t>
            </a:r>
            <a:r>
              <a:rPr sz="2400" spc="-25" dirty="0">
                <a:latin typeface="Times New Roman"/>
                <a:cs typeface="Times New Roman"/>
              </a:rPr>
              <a:t> </a:t>
            </a:r>
            <a:r>
              <a:rPr sz="2400" dirty="0">
                <a:latin typeface="Times New Roman"/>
                <a:cs typeface="Times New Roman"/>
              </a:rPr>
              <a:t>Usage</a:t>
            </a:r>
            <a:r>
              <a:rPr sz="2400" spc="-30" dirty="0">
                <a:latin typeface="Times New Roman"/>
                <a:cs typeface="Times New Roman"/>
              </a:rPr>
              <a:t> </a:t>
            </a:r>
            <a:r>
              <a:rPr sz="2400" dirty="0">
                <a:latin typeface="Times New Roman"/>
                <a:cs typeface="Times New Roman"/>
              </a:rPr>
              <a:t>is</a:t>
            </a:r>
            <a:r>
              <a:rPr sz="2400" spc="-25" dirty="0">
                <a:latin typeface="Times New Roman"/>
                <a:cs typeface="Times New Roman"/>
              </a:rPr>
              <a:t> </a:t>
            </a:r>
            <a:r>
              <a:rPr sz="2400" dirty="0">
                <a:latin typeface="Times New Roman"/>
                <a:cs typeface="Times New Roman"/>
              </a:rPr>
              <a:t>bursty</a:t>
            </a:r>
            <a:r>
              <a:rPr sz="2400" spc="-25" dirty="0">
                <a:latin typeface="Times New Roman"/>
                <a:cs typeface="Times New Roman"/>
              </a:rPr>
              <a:t> </a:t>
            </a:r>
            <a:r>
              <a:rPr sz="2400" dirty="0">
                <a:latin typeface="Times New Roman"/>
                <a:cs typeface="Times New Roman"/>
              </a:rPr>
              <a:t>and</a:t>
            </a:r>
            <a:r>
              <a:rPr sz="2400" spc="-30" dirty="0">
                <a:latin typeface="Times New Roman"/>
                <a:cs typeface="Times New Roman"/>
              </a:rPr>
              <a:t> </a:t>
            </a:r>
            <a:r>
              <a:rPr sz="2400" spc="-10" dirty="0">
                <a:latin typeface="Times New Roman"/>
                <a:cs typeface="Times New Roman"/>
              </a:rPr>
              <a:t>asynchronous. </a:t>
            </a:r>
            <a:r>
              <a:rPr sz="2400" dirty="0">
                <a:latin typeface="Times New Roman"/>
                <a:cs typeface="Times New Roman"/>
              </a:rPr>
              <a:t>Increase</a:t>
            </a:r>
            <a:r>
              <a:rPr sz="2400" spc="-35" dirty="0">
                <a:latin typeface="Times New Roman"/>
                <a:cs typeface="Times New Roman"/>
              </a:rPr>
              <a:t> </a:t>
            </a:r>
            <a:r>
              <a:rPr sz="2400" dirty="0">
                <a:latin typeface="Times New Roman"/>
                <a:cs typeface="Times New Roman"/>
              </a:rPr>
              <a:t>device</a:t>
            </a:r>
            <a:r>
              <a:rPr sz="2400" spc="-35" dirty="0">
                <a:latin typeface="Times New Roman"/>
                <a:cs typeface="Times New Roman"/>
              </a:rPr>
              <a:t> </a:t>
            </a:r>
            <a:r>
              <a:rPr sz="2400" spc="-10" dirty="0">
                <a:latin typeface="Times New Roman"/>
                <a:cs typeface="Times New Roman"/>
              </a:rPr>
              <a:t>utilization</a:t>
            </a:r>
            <a:endParaRPr sz="2400">
              <a:latin typeface="Times New Roman"/>
              <a:cs typeface="Times New Roman"/>
            </a:endParaRPr>
          </a:p>
          <a:p>
            <a:pPr marL="354965" indent="-342265">
              <a:lnSpc>
                <a:spcPts val="2875"/>
              </a:lnSpc>
              <a:spcBef>
                <a:spcPts val="145"/>
              </a:spcBef>
              <a:buClr>
                <a:srgbClr val="053CE8"/>
              </a:buClr>
              <a:buSzPct val="75000"/>
              <a:buFont typeface="Wingdings"/>
              <a:buChar char=""/>
              <a:tabLst>
                <a:tab pos="354965" algn="l"/>
              </a:tabLst>
            </a:pPr>
            <a:r>
              <a:rPr sz="2400" dirty="0">
                <a:latin typeface="Times New Roman"/>
                <a:cs typeface="Times New Roman"/>
              </a:rPr>
              <a:t>Conserve </a:t>
            </a:r>
            <a:r>
              <a:rPr sz="2400" spc="-10" dirty="0">
                <a:latin typeface="Times New Roman"/>
                <a:cs typeface="Times New Roman"/>
              </a:rPr>
              <a:t>power</a:t>
            </a:r>
            <a:endParaRPr sz="2400">
              <a:latin typeface="Times New Roman"/>
              <a:cs typeface="Times New Roman"/>
            </a:endParaRPr>
          </a:p>
          <a:p>
            <a:pPr marL="355600">
              <a:lnSpc>
                <a:spcPts val="2875"/>
              </a:lnSpc>
            </a:pPr>
            <a:r>
              <a:rPr sz="2400" dirty="0">
                <a:latin typeface="Times New Roman"/>
                <a:cs typeface="Times New Roman"/>
              </a:rPr>
              <a:t>Free</a:t>
            </a:r>
            <a:r>
              <a:rPr sz="2400" spc="-20" dirty="0">
                <a:latin typeface="Times New Roman"/>
                <a:cs typeface="Times New Roman"/>
              </a:rPr>
              <a:t> </a:t>
            </a:r>
            <a:r>
              <a:rPr sz="2400" dirty="0">
                <a:latin typeface="Times New Roman"/>
                <a:cs typeface="Times New Roman"/>
              </a:rPr>
              <a:t>up</a:t>
            </a:r>
            <a:r>
              <a:rPr sz="2400" spc="-15" dirty="0">
                <a:latin typeface="Times New Roman"/>
                <a:cs typeface="Times New Roman"/>
              </a:rPr>
              <a:t> </a:t>
            </a:r>
            <a:r>
              <a:rPr sz="2400" dirty="0">
                <a:latin typeface="Times New Roman"/>
                <a:cs typeface="Times New Roman"/>
              </a:rPr>
              <a:t>unused</a:t>
            </a:r>
            <a:r>
              <a:rPr sz="2400" spc="-20" dirty="0">
                <a:latin typeface="Times New Roman"/>
                <a:cs typeface="Times New Roman"/>
              </a:rPr>
              <a:t> </a:t>
            </a:r>
            <a:r>
              <a:rPr sz="2400" dirty="0">
                <a:latin typeface="Times New Roman"/>
                <a:cs typeface="Times New Roman"/>
              </a:rPr>
              <a:t>physical</a:t>
            </a:r>
            <a:r>
              <a:rPr sz="2400" spc="-15" dirty="0">
                <a:latin typeface="Times New Roman"/>
                <a:cs typeface="Times New Roman"/>
              </a:rPr>
              <a:t> </a:t>
            </a:r>
            <a:r>
              <a:rPr sz="2400" spc="-10" dirty="0">
                <a:latin typeface="Times New Roman"/>
                <a:cs typeface="Times New Roman"/>
              </a:rPr>
              <a:t>resources</a:t>
            </a:r>
            <a:endParaRPr sz="2400">
              <a:latin typeface="Times New Roman"/>
              <a:cs typeface="Times New Roman"/>
            </a:endParaRPr>
          </a:p>
          <a:p>
            <a:pPr marL="354965" indent="-342265">
              <a:lnSpc>
                <a:spcPts val="2875"/>
              </a:lnSpc>
              <a:spcBef>
                <a:spcPts val="145"/>
              </a:spcBef>
              <a:buClr>
                <a:srgbClr val="053CE8"/>
              </a:buClr>
              <a:buSzPct val="75000"/>
              <a:buFont typeface="Wingdings"/>
              <a:buChar char=""/>
              <a:tabLst>
                <a:tab pos="354965" algn="l"/>
              </a:tabLst>
            </a:pPr>
            <a:r>
              <a:rPr sz="2400" dirty="0">
                <a:latin typeface="Times New Roman"/>
                <a:cs typeface="Times New Roman"/>
              </a:rPr>
              <a:t>Easier</a:t>
            </a:r>
            <a:r>
              <a:rPr sz="2400" spc="-40" dirty="0">
                <a:latin typeface="Times New Roman"/>
                <a:cs typeface="Times New Roman"/>
              </a:rPr>
              <a:t> </a:t>
            </a:r>
            <a:r>
              <a:rPr sz="2400" dirty="0">
                <a:latin typeface="Times New Roman"/>
                <a:cs typeface="Times New Roman"/>
              </a:rPr>
              <a:t>automation</a:t>
            </a:r>
            <a:r>
              <a:rPr sz="2400" spc="-35" dirty="0">
                <a:latin typeface="Times New Roman"/>
                <a:cs typeface="Times New Roman"/>
              </a:rPr>
              <a:t> </a:t>
            </a:r>
            <a:r>
              <a:rPr sz="2400" dirty="0">
                <a:latin typeface="Times New Roman"/>
                <a:cs typeface="Times New Roman"/>
              </a:rPr>
              <a:t>(Lower</a:t>
            </a:r>
            <a:r>
              <a:rPr sz="2400" spc="-35" dirty="0">
                <a:latin typeface="Times New Roman"/>
                <a:cs typeface="Times New Roman"/>
              </a:rPr>
              <a:t> </a:t>
            </a:r>
            <a:r>
              <a:rPr sz="2400" spc="-10" dirty="0">
                <a:latin typeface="Times New Roman"/>
                <a:cs typeface="Times New Roman"/>
              </a:rPr>
              <a:t>OpEx)</a:t>
            </a:r>
            <a:endParaRPr sz="2400">
              <a:latin typeface="Times New Roman"/>
              <a:cs typeface="Times New Roman"/>
            </a:endParaRPr>
          </a:p>
          <a:p>
            <a:pPr marL="355600">
              <a:lnSpc>
                <a:spcPts val="2875"/>
              </a:lnSpc>
            </a:pPr>
            <a:r>
              <a:rPr sz="2400" dirty="0">
                <a:latin typeface="Times New Roman"/>
                <a:cs typeface="Times New Roman"/>
              </a:rPr>
              <a:t>Simplified</a:t>
            </a:r>
            <a:r>
              <a:rPr sz="2400" spc="-55" dirty="0">
                <a:latin typeface="Times New Roman"/>
                <a:cs typeface="Times New Roman"/>
              </a:rPr>
              <a:t> </a:t>
            </a:r>
            <a:r>
              <a:rPr sz="2400" dirty="0">
                <a:latin typeface="Times New Roman"/>
                <a:cs typeface="Times New Roman"/>
              </a:rPr>
              <a:t>provisioning/administration</a:t>
            </a:r>
            <a:r>
              <a:rPr sz="2400" spc="-55" dirty="0">
                <a:latin typeface="Times New Roman"/>
                <a:cs typeface="Times New Roman"/>
              </a:rPr>
              <a:t> </a:t>
            </a:r>
            <a:r>
              <a:rPr sz="2400" dirty="0">
                <a:latin typeface="Times New Roman"/>
                <a:cs typeface="Times New Roman"/>
              </a:rPr>
              <a:t>of</a:t>
            </a:r>
            <a:r>
              <a:rPr sz="2400" spc="-55" dirty="0">
                <a:latin typeface="Times New Roman"/>
                <a:cs typeface="Times New Roman"/>
              </a:rPr>
              <a:t> </a:t>
            </a:r>
            <a:r>
              <a:rPr sz="2400" dirty="0">
                <a:latin typeface="Times New Roman"/>
                <a:cs typeface="Times New Roman"/>
              </a:rPr>
              <a:t>hardware</a:t>
            </a:r>
            <a:r>
              <a:rPr sz="2400" spc="-55" dirty="0">
                <a:latin typeface="Times New Roman"/>
                <a:cs typeface="Times New Roman"/>
              </a:rPr>
              <a:t> </a:t>
            </a:r>
            <a:r>
              <a:rPr sz="2400" dirty="0">
                <a:latin typeface="Times New Roman"/>
                <a:cs typeface="Times New Roman"/>
              </a:rPr>
              <a:t>and</a:t>
            </a:r>
            <a:r>
              <a:rPr sz="2400" spc="-50" dirty="0">
                <a:latin typeface="Times New Roman"/>
                <a:cs typeface="Times New Roman"/>
              </a:rPr>
              <a:t> </a:t>
            </a:r>
            <a:r>
              <a:rPr sz="2400" spc="-10" dirty="0">
                <a:latin typeface="Times New Roman"/>
                <a:cs typeface="Times New Roman"/>
              </a:rPr>
              <a:t>software</a:t>
            </a:r>
            <a:endParaRPr sz="2400">
              <a:latin typeface="Times New Roman"/>
              <a:cs typeface="Times New Roman"/>
            </a:endParaRPr>
          </a:p>
          <a:p>
            <a:pPr marL="354965" indent="-342265">
              <a:lnSpc>
                <a:spcPct val="100000"/>
              </a:lnSpc>
              <a:spcBef>
                <a:spcPts val="145"/>
              </a:spcBef>
              <a:buClr>
                <a:srgbClr val="053CE8"/>
              </a:buClr>
              <a:buSzPct val="75000"/>
              <a:buFont typeface="Wingdings"/>
              <a:buChar char=""/>
              <a:tabLst>
                <a:tab pos="354965" algn="l"/>
              </a:tabLst>
            </a:pPr>
            <a:r>
              <a:rPr sz="2400" dirty="0">
                <a:latin typeface="Times New Roman"/>
                <a:cs typeface="Times New Roman"/>
              </a:rPr>
              <a:t>Scalability</a:t>
            </a:r>
            <a:r>
              <a:rPr sz="2400" spc="-45" dirty="0">
                <a:latin typeface="Times New Roman"/>
                <a:cs typeface="Times New Roman"/>
              </a:rPr>
              <a:t> </a:t>
            </a:r>
            <a:r>
              <a:rPr sz="2400" dirty="0">
                <a:latin typeface="Times New Roman"/>
                <a:cs typeface="Times New Roman"/>
              </a:rPr>
              <a:t>and</a:t>
            </a:r>
            <a:r>
              <a:rPr sz="2400" spc="-45" dirty="0">
                <a:latin typeface="Times New Roman"/>
                <a:cs typeface="Times New Roman"/>
              </a:rPr>
              <a:t> </a:t>
            </a:r>
            <a:r>
              <a:rPr sz="2400" dirty="0">
                <a:latin typeface="Times New Roman"/>
                <a:cs typeface="Times New Roman"/>
              </a:rPr>
              <a:t>Flexibility:</a:t>
            </a:r>
            <a:r>
              <a:rPr sz="2400" spc="-40" dirty="0">
                <a:latin typeface="Times New Roman"/>
                <a:cs typeface="Times New Roman"/>
              </a:rPr>
              <a:t> </a:t>
            </a:r>
            <a:r>
              <a:rPr sz="2400" dirty="0">
                <a:latin typeface="Times New Roman"/>
                <a:cs typeface="Times New Roman"/>
              </a:rPr>
              <a:t>Multiple</a:t>
            </a:r>
            <a:r>
              <a:rPr sz="2400" spc="-45" dirty="0">
                <a:latin typeface="Times New Roman"/>
                <a:cs typeface="Times New Roman"/>
              </a:rPr>
              <a:t> </a:t>
            </a:r>
            <a:r>
              <a:rPr sz="2400" dirty="0">
                <a:latin typeface="Times New Roman"/>
                <a:cs typeface="Times New Roman"/>
              </a:rPr>
              <a:t>operating</a:t>
            </a:r>
            <a:r>
              <a:rPr sz="2400" spc="-40" dirty="0">
                <a:latin typeface="Times New Roman"/>
                <a:cs typeface="Times New Roman"/>
              </a:rPr>
              <a:t> </a:t>
            </a:r>
            <a:r>
              <a:rPr sz="2400" spc="-10" dirty="0">
                <a:latin typeface="Times New Roman"/>
                <a:cs typeface="Times New Roman"/>
              </a:rPr>
              <a:t>systems</a:t>
            </a:r>
            <a:endParaRPr sz="2400">
              <a:latin typeface="Times New Roman"/>
              <a:cs typeface="Times New Roman"/>
            </a:endParaRPr>
          </a:p>
        </p:txBody>
      </p:sp>
      <p:pic>
        <p:nvPicPr>
          <p:cNvPr id="10" name="object 10"/>
          <p:cNvPicPr/>
          <p:nvPr/>
        </p:nvPicPr>
        <p:blipFill>
          <a:blip r:embed="rId2" cstate="print"/>
          <a:stretch>
            <a:fillRect/>
          </a:stretch>
        </p:blipFill>
        <p:spPr>
          <a:xfrm>
            <a:off x="5029200" y="3429000"/>
            <a:ext cx="3657600" cy="1428750"/>
          </a:xfrm>
          <a:prstGeom prst="rect">
            <a:avLst/>
          </a:prstGeom>
        </p:spPr>
      </p:pic>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2065"/>
              </a:lnSpc>
            </a:pPr>
            <a:fld id="{81D60167-4931-47E6-BA6A-407CBD079E47}" type="slidenum">
              <a:rPr spc="-50" smtClean="0"/>
              <a:t>5</a:t>
            </a:fld>
            <a:endParaRPr spc="-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Virtualization</a:t>
            </a:r>
            <a:r>
              <a:rPr spc="-90" dirty="0"/>
              <a:t> </a:t>
            </a:r>
            <a:r>
              <a:rPr dirty="0"/>
              <a:t>in</a:t>
            </a:r>
            <a:r>
              <a:rPr spc="-85" dirty="0"/>
              <a:t> </a:t>
            </a:r>
            <a:r>
              <a:rPr spc="-10" dirty="0"/>
              <a:t>Computing</a:t>
            </a:r>
          </a:p>
        </p:txBody>
      </p:sp>
      <p:sp>
        <p:nvSpPr>
          <p:cNvPr id="3" name="object 3"/>
          <p:cNvSpPr txBox="1"/>
          <p:nvPr/>
        </p:nvSpPr>
        <p:spPr>
          <a:xfrm>
            <a:off x="457454" y="1247648"/>
            <a:ext cx="7618095" cy="2042795"/>
          </a:xfrm>
          <a:prstGeom prst="rect">
            <a:avLst/>
          </a:prstGeom>
        </p:spPr>
        <p:txBody>
          <a:bodyPr vert="horz" wrap="square" lIns="0" tIns="52705" rIns="0" bIns="0" rtlCol="0">
            <a:spAutoFit/>
          </a:bodyPr>
          <a:lstStyle/>
          <a:p>
            <a:pPr marL="354965" indent="-342265">
              <a:lnSpc>
                <a:spcPct val="100000"/>
              </a:lnSpc>
              <a:spcBef>
                <a:spcPts val="415"/>
              </a:spcBef>
              <a:buSzPct val="75000"/>
              <a:buFont typeface="Wingdings"/>
              <a:buChar char=""/>
              <a:tabLst>
                <a:tab pos="354965" algn="l"/>
              </a:tabLst>
            </a:pPr>
            <a:r>
              <a:rPr sz="2400" b="1" spc="-10" dirty="0">
                <a:solidFill>
                  <a:srgbClr val="053CE8"/>
                </a:solidFill>
                <a:latin typeface="Times New Roman"/>
                <a:cs typeface="Times New Roman"/>
              </a:rPr>
              <a:t>Storage</a:t>
            </a:r>
            <a:r>
              <a:rPr sz="2400" spc="-10" dirty="0">
                <a:latin typeface="Times New Roman"/>
                <a:cs typeface="Times New Roman"/>
              </a:rPr>
              <a:t>:</a:t>
            </a:r>
            <a:endParaRPr sz="2400">
              <a:latin typeface="Times New Roman"/>
              <a:cs typeface="Times New Roman"/>
            </a:endParaRPr>
          </a:p>
          <a:p>
            <a:pPr marL="755015" lvl="1" indent="-285115">
              <a:lnSpc>
                <a:spcPct val="100000"/>
              </a:lnSpc>
              <a:spcBef>
                <a:spcPts val="320"/>
              </a:spcBef>
              <a:buSzPct val="66666"/>
              <a:buFont typeface="Wingdings"/>
              <a:buChar char=""/>
              <a:tabLst>
                <a:tab pos="755015" algn="l"/>
              </a:tabLst>
            </a:pPr>
            <a:r>
              <a:rPr sz="2400" dirty="0">
                <a:latin typeface="Times New Roman"/>
                <a:cs typeface="Times New Roman"/>
              </a:rPr>
              <a:t>Virtual</a:t>
            </a:r>
            <a:r>
              <a:rPr sz="2400" spc="-30" dirty="0">
                <a:latin typeface="Times New Roman"/>
                <a:cs typeface="Times New Roman"/>
              </a:rPr>
              <a:t> </a:t>
            </a:r>
            <a:r>
              <a:rPr sz="2400" dirty="0">
                <a:latin typeface="Times New Roman"/>
                <a:cs typeface="Times New Roman"/>
              </a:rPr>
              <a:t>Memory</a:t>
            </a:r>
            <a:r>
              <a:rPr sz="2400" spc="-15" dirty="0">
                <a:latin typeface="Times New Roman"/>
                <a:cs typeface="Times New Roman"/>
              </a:rPr>
              <a:t> </a:t>
            </a:r>
            <a:r>
              <a:rPr sz="2400" dirty="0">
                <a:latin typeface="Symbol"/>
                <a:cs typeface="Symbol"/>
              </a:rPr>
              <a:t></a:t>
            </a:r>
            <a:r>
              <a:rPr sz="2400" spc="-15" dirty="0">
                <a:latin typeface="Times New Roman"/>
                <a:cs typeface="Times New Roman"/>
              </a:rPr>
              <a:t> </a:t>
            </a:r>
            <a:r>
              <a:rPr sz="2400" dirty="0">
                <a:latin typeface="Times New Roman"/>
                <a:cs typeface="Times New Roman"/>
              </a:rPr>
              <a:t>L1,</a:t>
            </a:r>
            <a:r>
              <a:rPr sz="2400" spc="-15" dirty="0">
                <a:latin typeface="Times New Roman"/>
                <a:cs typeface="Times New Roman"/>
              </a:rPr>
              <a:t> </a:t>
            </a:r>
            <a:r>
              <a:rPr sz="2400" dirty="0">
                <a:latin typeface="Times New Roman"/>
                <a:cs typeface="Times New Roman"/>
              </a:rPr>
              <a:t>L2,</a:t>
            </a:r>
            <a:r>
              <a:rPr sz="2400" spc="-15" dirty="0">
                <a:latin typeface="Times New Roman"/>
                <a:cs typeface="Times New Roman"/>
              </a:rPr>
              <a:t> </a:t>
            </a:r>
            <a:r>
              <a:rPr sz="2400" dirty="0">
                <a:latin typeface="Times New Roman"/>
                <a:cs typeface="Times New Roman"/>
              </a:rPr>
              <a:t>L3,</a:t>
            </a:r>
            <a:r>
              <a:rPr sz="2400" spc="-20" dirty="0">
                <a:latin typeface="Times New Roman"/>
                <a:cs typeface="Times New Roman"/>
              </a:rPr>
              <a:t> </a:t>
            </a:r>
            <a:r>
              <a:rPr sz="2400" dirty="0">
                <a:latin typeface="Times New Roman"/>
                <a:cs typeface="Times New Roman"/>
              </a:rPr>
              <a:t>...</a:t>
            </a:r>
            <a:r>
              <a:rPr sz="2400" spc="-20" dirty="0">
                <a:latin typeface="Times New Roman"/>
                <a:cs typeface="Times New Roman"/>
              </a:rPr>
              <a:t> </a:t>
            </a:r>
            <a:r>
              <a:rPr sz="2400" dirty="0">
                <a:latin typeface="Symbol"/>
                <a:cs typeface="Symbol"/>
              </a:rPr>
              <a:t></a:t>
            </a:r>
            <a:r>
              <a:rPr sz="2400" spc="-15" dirty="0">
                <a:latin typeface="Times New Roman"/>
                <a:cs typeface="Times New Roman"/>
              </a:rPr>
              <a:t> </a:t>
            </a:r>
            <a:r>
              <a:rPr sz="2400" spc="-10" dirty="0">
                <a:latin typeface="Times New Roman"/>
                <a:cs typeface="Times New Roman"/>
              </a:rPr>
              <a:t>Recursive</a:t>
            </a:r>
            <a:endParaRPr sz="2400">
              <a:latin typeface="Times New Roman"/>
              <a:cs typeface="Times New Roman"/>
            </a:endParaRPr>
          </a:p>
          <a:p>
            <a:pPr marL="755015" lvl="1" indent="-285115">
              <a:lnSpc>
                <a:spcPct val="100000"/>
              </a:lnSpc>
              <a:spcBef>
                <a:spcPts val="245"/>
              </a:spcBef>
              <a:buSzPct val="66666"/>
              <a:buFont typeface="Wingdings"/>
              <a:buChar char=""/>
              <a:tabLst>
                <a:tab pos="755015" algn="l"/>
              </a:tabLst>
            </a:pPr>
            <a:r>
              <a:rPr sz="2400" dirty="0">
                <a:latin typeface="Times New Roman"/>
                <a:cs typeface="Times New Roman"/>
              </a:rPr>
              <a:t>Virtual</a:t>
            </a:r>
            <a:r>
              <a:rPr sz="2400" spc="-35" dirty="0">
                <a:latin typeface="Times New Roman"/>
                <a:cs typeface="Times New Roman"/>
              </a:rPr>
              <a:t> </a:t>
            </a:r>
            <a:r>
              <a:rPr sz="2400" dirty="0">
                <a:latin typeface="Times New Roman"/>
                <a:cs typeface="Times New Roman"/>
              </a:rPr>
              <a:t>CDs,</a:t>
            </a:r>
            <a:r>
              <a:rPr sz="2400" spc="-35" dirty="0">
                <a:latin typeface="Times New Roman"/>
                <a:cs typeface="Times New Roman"/>
              </a:rPr>
              <a:t> </a:t>
            </a:r>
            <a:r>
              <a:rPr sz="2400" dirty="0">
                <a:latin typeface="Times New Roman"/>
                <a:cs typeface="Times New Roman"/>
              </a:rPr>
              <a:t>Virtual</a:t>
            </a:r>
            <a:r>
              <a:rPr sz="2400" spc="-35" dirty="0">
                <a:latin typeface="Times New Roman"/>
                <a:cs typeface="Times New Roman"/>
              </a:rPr>
              <a:t> </a:t>
            </a:r>
            <a:r>
              <a:rPr sz="2400" dirty="0">
                <a:latin typeface="Times New Roman"/>
                <a:cs typeface="Times New Roman"/>
              </a:rPr>
              <a:t>Disks</a:t>
            </a:r>
            <a:r>
              <a:rPr sz="2400" spc="-40" dirty="0">
                <a:latin typeface="Times New Roman"/>
                <a:cs typeface="Times New Roman"/>
              </a:rPr>
              <a:t> </a:t>
            </a:r>
            <a:r>
              <a:rPr sz="2400" dirty="0">
                <a:latin typeface="Times New Roman"/>
                <a:cs typeface="Times New Roman"/>
              </a:rPr>
              <a:t>(RAID),</a:t>
            </a:r>
            <a:r>
              <a:rPr sz="2400" spc="-35" dirty="0">
                <a:latin typeface="Times New Roman"/>
                <a:cs typeface="Times New Roman"/>
              </a:rPr>
              <a:t> </a:t>
            </a:r>
            <a:r>
              <a:rPr sz="2400" dirty="0">
                <a:latin typeface="Times New Roman"/>
                <a:cs typeface="Times New Roman"/>
              </a:rPr>
              <a:t>Cloud</a:t>
            </a:r>
            <a:r>
              <a:rPr sz="2400" spc="-30" dirty="0">
                <a:latin typeface="Times New Roman"/>
                <a:cs typeface="Times New Roman"/>
              </a:rPr>
              <a:t> </a:t>
            </a:r>
            <a:r>
              <a:rPr sz="2400" spc="-10" dirty="0">
                <a:latin typeface="Times New Roman"/>
                <a:cs typeface="Times New Roman"/>
              </a:rPr>
              <a:t>storage</a:t>
            </a:r>
            <a:endParaRPr sz="2400">
              <a:latin typeface="Times New Roman"/>
              <a:cs typeface="Times New Roman"/>
            </a:endParaRPr>
          </a:p>
          <a:p>
            <a:pPr marL="354965" indent="-342265">
              <a:lnSpc>
                <a:spcPct val="100000"/>
              </a:lnSpc>
              <a:spcBef>
                <a:spcPts val="280"/>
              </a:spcBef>
              <a:buSzPct val="75000"/>
              <a:buFont typeface="Wingdings"/>
              <a:buChar char=""/>
              <a:tabLst>
                <a:tab pos="354965" algn="l"/>
              </a:tabLst>
            </a:pPr>
            <a:r>
              <a:rPr sz="2400" b="1" spc="-10" dirty="0">
                <a:solidFill>
                  <a:srgbClr val="053CE8"/>
                </a:solidFill>
                <a:latin typeface="Times New Roman"/>
                <a:cs typeface="Times New Roman"/>
              </a:rPr>
              <a:t>Computing</a:t>
            </a:r>
            <a:r>
              <a:rPr sz="2400" spc="-10" dirty="0">
                <a:latin typeface="Times New Roman"/>
                <a:cs typeface="Times New Roman"/>
              </a:rPr>
              <a:t>:</a:t>
            </a:r>
            <a:endParaRPr sz="2400">
              <a:latin typeface="Times New Roman"/>
              <a:cs typeface="Times New Roman"/>
            </a:endParaRPr>
          </a:p>
          <a:p>
            <a:pPr marL="755015" lvl="1" indent="-285115">
              <a:lnSpc>
                <a:spcPct val="100000"/>
              </a:lnSpc>
              <a:spcBef>
                <a:spcPts val="320"/>
              </a:spcBef>
              <a:buSzPct val="66666"/>
              <a:buFont typeface="Wingdings"/>
              <a:buChar char=""/>
              <a:tabLst>
                <a:tab pos="755015" algn="l"/>
              </a:tabLst>
            </a:pPr>
            <a:r>
              <a:rPr sz="2400" dirty="0">
                <a:latin typeface="Times New Roman"/>
                <a:cs typeface="Times New Roman"/>
              </a:rPr>
              <a:t>Virtual</a:t>
            </a:r>
            <a:r>
              <a:rPr sz="2400" spc="-40" dirty="0">
                <a:latin typeface="Times New Roman"/>
                <a:cs typeface="Times New Roman"/>
              </a:rPr>
              <a:t> </a:t>
            </a:r>
            <a:r>
              <a:rPr sz="2400" dirty="0">
                <a:latin typeface="Times New Roman"/>
                <a:cs typeface="Times New Roman"/>
              </a:rPr>
              <a:t>Desktop</a:t>
            </a:r>
            <a:r>
              <a:rPr sz="2400" spc="-30" dirty="0">
                <a:latin typeface="Times New Roman"/>
                <a:cs typeface="Times New Roman"/>
              </a:rPr>
              <a:t> </a:t>
            </a:r>
            <a:r>
              <a:rPr sz="2400" dirty="0">
                <a:latin typeface="Symbol"/>
                <a:cs typeface="Symbol"/>
              </a:rPr>
              <a:t></a:t>
            </a:r>
            <a:r>
              <a:rPr sz="2400" spc="-20" dirty="0">
                <a:latin typeface="Times New Roman"/>
                <a:cs typeface="Times New Roman"/>
              </a:rPr>
              <a:t> </a:t>
            </a:r>
            <a:r>
              <a:rPr sz="2400" dirty="0">
                <a:latin typeface="Times New Roman"/>
                <a:cs typeface="Times New Roman"/>
              </a:rPr>
              <a:t>Virtual</a:t>
            </a:r>
            <a:r>
              <a:rPr sz="2400" spc="-30" dirty="0">
                <a:latin typeface="Times New Roman"/>
                <a:cs typeface="Times New Roman"/>
              </a:rPr>
              <a:t> </a:t>
            </a:r>
            <a:r>
              <a:rPr sz="2400" dirty="0">
                <a:latin typeface="Times New Roman"/>
                <a:cs typeface="Times New Roman"/>
              </a:rPr>
              <a:t>Server</a:t>
            </a:r>
            <a:r>
              <a:rPr sz="2400" spc="-30" dirty="0">
                <a:latin typeface="Times New Roman"/>
                <a:cs typeface="Times New Roman"/>
              </a:rPr>
              <a:t> </a:t>
            </a:r>
            <a:r>
              <a:rPr sz="2400" dirty="0">
                <a:latin typeface="Symbol"/>
                <a:cs typeface="Symbol"/>
              </a:rPr>
              <a:t></a:t>
            </a:r>
            <a:r>
              <a:rPr sz="2400" spc="-20" dirty="0">
                <a:latin typeface="Times New Roman"/>
                <a:cs typeface="Times New Roman"/>
              </a:rPr>
              <a:t> </a:t>
            </a:r>
            <a:r>
              <a:rPr sz="2400" dirty="0">
                <a:latin typeface="Times New Roman"/>
                <a:cs typeface="Times New Roman"/>
              </a:rPr>
              <a:t>Virtual</a:t>
            </a:r>
            <a:r>
              <a:rPr sz="2400" spc="-30" dirty="0">
                <a:latin typeface="Times New Roman"/>
                <a:cs typeface="Times New Roman"/>
              </a:rPr>
              <a:t> </a:t>
            </a:r>
            <a:r>
              <a:rPr sz="2400" spc="-10" dirty="0">
                <a:latin typeface="Times New Roman"/>
                <a:cs typeface="Times New Roman"/>
              </a:rPr>
              <a:t>Datacenter</a:t>
            </a:r>
            <a:endParaRPr sz="2400">
              <a:latin typeface="Times New Roman"/>
              <a:cs typeface="Times New Roman"/>
            </a:endParaRPr>
          </a:p>
        </p:txBody>
      </p:sp>
      <p:sp>
        <p:nvSpPr>
          <p:cNvPr id="4" name="object 4"/>
          <p:cNvSpPr txBox="1"/>
          <p:nvPr/>
        </p:nvSpPr>
        <p:spPr>
          <a:xfrm>
            <a:off x="6338722" y="3300323"/>
            <a:ext cx="770890" cy="391160"/>
          </a:xfrm>
          <a:prstGeom prst="rect">
            <a:avLst/>
          </a:prstGeom>
        </p:spPr>
        <p:txBody>
          <a:bodyPr vert="horz" wrap="square" lIns="0" tIns="12700" rIns="0" bIns="0" rtlCol="0">
            <a:spAutoFit/>
          </a:bodyPr>
          <a:lstStyle/>
          <a:p>
            <a:pPr marL="12700">
              <a:lnSpc>
                <a:spcPct val="100000"/>
              </a:lnSpc>
              <a:spcBef>
                <a:spcPts val="100"/>
              </a:spcBef>
            </a:pPr>
            <a:r>
              <a:rPr sz="2400" spc="-10" dirty="0">
                <a:latin typeface="Times New Roman"/>
                <a:cs typeface="Times New Roman"/>
              </a:rPr>
              <a:t>Cloud</a:t>
            </a:r>
            <a:endParaRPr sz="2400">
              <a:latin typeface="Times New Roman"/>
              <a:cs typeface="Times New Roman"/>
            </a:endParaRPr>
          </a:p>
        </p:txBody>
      </p:sp>
      <p:sp>
        <p:nvSpPr>
          <p:cNvPr id="5" name="object 5"/>
          <p:cNvSpPr txBox="1"/>
          <p:nvPr/>
        </p:nvSpPr>
        <p:spPr>
          <a:xfrm>
            <a:off x="457454" y="3268929"/>
            <a:ext cx="5221605" cy="1550035"/>
          </a:xfrm>
          <a:prstGeom prst="rect">
            <a:avLst/>
          </a:prstGeom>
        </p:spPr>
        <p:txBody>
          <a:bodyPr vert="horz" wrap="square" lIns="0" tIns="43815" rIns="0" bIns="0" rtlCol="0">
            <a:spAutoFit/>
          </a:bodyPr>
          <a:lstStyle/>
          <a:p>
            <a:pPr marL="926465">
              <a:lnSpc>
                <a:spcPct val="100000"/>
              </a:lnSpc>
              <a:spcBef>
                <a:spcPts val="345"/>
              </a:spcBef>
              <a:tabLst>
                <a:tab pos="2700655" algn="l"/>
                <a:tab pos="3763010" algn="l"/>
                <a:tab pos="4907280" algn="l"/>
              </a:tabLst>
            </a:pPr>
            <a:r>
              <a:rPr sz="2400" dirty="0">
                <a:latin typeface="Times New Roman"/>
                <a:cs typeface="Times New Roman"/>
              </a:rPr>
              <a:t>Thin</a:t>
            </a:r>
            <a:r>
              <a:rPr sz="2400" spc="-20" dirty="0">
                <a:latin typeface="Times New Roman"/>
                <a:cs typeface="Times New Roman"/>
              </a:rPr>
              <a:t> </a:t>
            </a:r>
            <a:r>
              <a:rPr sz="2400" spc="-10" dirty="0">
                <a:latin typeface="Times New Roman"/>
                <a:cs typeface="Times New Roman"/>
              </a:rPr>
              <a:t>Client</a:t>
            </a:r>
            <a:r>
              <a:rPr sz="2400" dirty="0">
                <a:latin typeface="Times New Roman"/>
                <a:cs typeface="Times New Roman"/>
              </a:rPr>
              <a:t>	</a:t>
            </a:r>
            <a:r>
              <a:rPr sz="2400" spc="-50" dirty="0">
                <a:latin typeface="Symbol"/>
                <a:cs typeface="Symbol"/>
              </a:rPr>
              <a:t></a:t>
            </a:r>
            <a:r>
              <a:rPr sz="2400" dirty="0">
                <a:latin typeface="Times New Roman"/>
                <a:cs typeface="Times New Roman"/>
              </a:rPr>
              <a:t>	</a:t>
            </a:r>
            <a:r>
              <a:rPr sz="2400" spc="-25" dirty="0">
                <a:latin typeface="Times New Roman"/>
                <a:cs typeface="Times New Roman"/>
              </a:rPr>
              <a:t>VMs</a:t>
            </a:r>
            <a:r>
              <a:rPr sz="2400" dirty="0">
                <a:latin typeface="Times New Roman"/>
                <a:cs typeface="Times New Roman"/>
              </a:rPr>
              <a:t>	</a:t>
            </a:r>
            <a:r>
              <a:rPr sz="2400" spc="-50" dirty="0">
                <a:latin typeface="Symbol"/>
                <a:cs typeface="Symbol"/>
              </a:rPr>
              <a:t></a:t>
            </a:r>
            <a:endParaRPr sz="2400">
              <a:latin typeface="Symbol"/>
              <a:cs typeface="Symbol"/>
            </a:endParaRPr>
          </a:p>
          <a:p>
            <a:pPr marL="354965" indent="-342265">
              <a:lnSpc>
                <a:spcPct val="100000"/>
              </a:lnSpc>
              <a:spcBef>
                <a:spcPts val="250"/>
              </a:spcBef>
              <a:buSzPct val="75000"/>
              <a:buFont typeface="Wingdings"/>
              <a:buChar char=""/>
              <a:tabLst>
                <a:tab pos="354965" algn="l"/>
              </a:tabLst>
            </a:pPr>
            <a:r>
              <a:rPr sz="2400" b="1" dirty="0">
                <a:solidFill>
                  <a:srgbClr val="053CE8"/>
                </a:solidFill>
                <a:latin typeface="Times New Roman"/>
                <a:cs typeface="Times New Roman"/>
              </a:rPr>
              <a:t>Networking</a:t>
            </a:r>
            <a:r>
              <a:rPr sz="2400" dirty="0">
                <a:latin typeface="Times New Roman"/>
                <a:cs typeface="Times New Roman"/>
              </a:rPr>
              <a:t>:</a:t>
            </a:r>
            <a:r>
              <a:rPr sz="2400" spc="-70" dirty="0">
                <a:latin typeface="Times New Roman"/>
                <a:cs typeface="Times New Roman"/>
              </a:rPr>
              <a:t> </a:t>
            </a:r>
            <a:r>
              <a:rPr sz="2400" dirty="0">
                <a:latin typeface="Times New Roman"/>
                <a:cs typeface="Times New Roman"/>
              </a:rPr>
              <a:t>Plumbing</a:t>
            </a:r>
            <a:r>
              <a:rPr sz="2400" spc="-65" dirty="0">
                <a:latin typeface="Times New Roman"/>
                <a:cs typeface="Times New Roman"/>
              </a:rPr>
              <a:t> </a:t>
            </a:r>
            <a:r>
              <a:rPr sz="2400" dirty="0">
                <a:latin typeface="Times New Roman"/>
                <a:cs typeface="Times New Roman"/>
              </a:rPr>
              <a:t>of</a:t>
            </a:r>
            <a:r>
              <a:rPr sz="2400" spc="-65" dirty="0">
                <a:latin typeface="Times New Roman"/>
                <a:cs typeface="Times New Roman"/>
              </a:rPr>
              <a:t> </a:t>
            </a:r>
            <a:r>
              <a:rPr sz="2400" spc="-10" dirty="0">
                <a:latin typeface="Times New Roman"/>
                <a:cs typeface="Times New Roman"/>
              </a:rPr>
              <a:t>computing</a:t>
            </a:r>
            <a:endParaRPr sz="2400">
              <a:latin typeface="Times New Roman"/>
              <a:cs typeface="Times New Roman"/>
            </a:endParaRPr>
          </a:p>
          <a:p>
            <a:pPr marL="755650" marR="473075" lvl="1" indent="-285750">
              <a:lnSpc>
                <a:spcPts val="2580"/>
              </a:lnSpc>
              <a:spcBef>
                <a:spcPts val="615"/>
              </a:spcBef>
              <a:buSzPct val="66666"/>
              <a:buFont typeface="Wingdings"/>
              <a:buChar char=""/>
              <a:tabLst>
                <a:tab pos="755650" algn="l"/>
              </a:tabLst>
            </a:pPr>
            <a:r>
              <a:rPr sz="2400" dirty="0">
                <a:latin typeface="Times New Roman"/>
                <a:cs typeface="Times New Roman"/>
              </a:rPr>
              <a:t>Virtual</a:t>
            </a:r>
            <a:r>
              <a:rPr sz="2400" spc="-50" dirty="0">
                <a:latin typeface="Times New Roman"/>
                <a:cs typeface="Times New Roman"/>
              </a:rPr>
              <a:t> </a:t>
            </a:r>
            <a:r>
              <a:rPr sz="2400" dirty="0">
                <a:latin typeface="Times New Roman"/>
                <a:cs typeface="Times New Roman"/>
              </a:rPr>
              <a:t>Channels,</a:t>
            </a:r>
            <a:r>
              <a:rPr sz="2400" spc="-40" dirty="0">
                <a:latin typeface="Times New Roman"/>
                <a:cs typeface="Times New Roman"/>
              </a:rPr>
              <a:t> </a:t>
            </a:r>
            <a:r>
              <a:rPr sz="2400" dirty="0">
                <a:latin typeface="Times New Roman"/>
                <a:cs typeface="Times New Roman"/>
              </a:rPr>
              <a:t>Virtual</a:t>
            </a:r>
            <a:r>
              <a:rPr sz="2400" spc="-35" dirty="0">
                <a:latin typeface="Times New Roman"/>
                <a:cs typeface="Times New Roman"/>
              </a:rPr>
              <a:t> </a:t>
            </a:r>
            <a:r>
              <a:rPr sz="2400" spc="-10" dirty="0">
                <a:latin typeface="Times New Roman"/>
                <a:cs typeface="Times New Roman"/>
              </a:rPr>
              <a:t>LANs, </a:t>
            </a:r>
            <a:r>
              <a:rPr sz="2400" dirty="0">
                <a:latin typeface="Times New Roman"/>
                <a:cs typeface="Times New Roman"/>
              </a:rPr>
              <a:t>Virtual</a:t>
            </a:r>
            <a:r>
              <a:rPr sz="2400" spc="-35" dirty="0">
                <a:latin typeface="Times New Roman"/>
                <a:cs typeface="Times New Roman"/>
              </a:rPr>
              <a:t> </a:t>
            </a:r>
            <a:r>
              <a:rPr sz="2400" dirty="0">
                <a:latin typeface="Times New Roman"/>
                <a:cs typeface="Times New Roman"/>
              </a:rPr>
              <a:t>Private</a:t>
            </a:r>
            <a:r>
              <a:rPr sz="2400" spc="-35" dirty="0">
                <a:latin typeface="Times New Roman"/>
                <a:cs typeface="Times New Roman"/>
              </a:rPr>
              <a:t> </a:t>
            </a:r>
            <a:r>
              <a:rPr sz="2400" spc="-10" dirty="0">
                <a:latin typeface="Times New Roman"/>
                <a:cs typeface="Times New Roman"/>
              </a:rPr>
              <a:t>Networks</a:t>
            </a:r>
            <a:endParaRPr sz="2400">
              <a:latin typeface="Times New Roman"/>
              <a:cs typeface="Times New Roman"/>
            </a:endParaRPr>
          </a:p>
        </p:txBody>
      </p:sp>
      <p:pic>
        <p:nvPicPr>
          <p:cNvPr id="6" name="object 6"/>
          <p:cNvPicPr/>
          <p:nvPr/>
        </p:nvPicPr>
        <p:blipFill>
          <a:blip r:embed="rId2" cstate="print"/>
          <a:stretch>
            <a:fillRect/>
          </a:stretch>
        </p:blipFill>
        <p:spPr>
          <a:xfrm>
            <a:off x="5867400" y="3810000"/>
            <a:ext cx="1400555" cy="1438655"/>
          </a:xfrm>
          <a:prstGeom prst="rect">
            <a:avLst/>
          </a:prstGeom>
        </p:spPr>
      </p:pic>
      <p:pic>
        <p:nvPicPr>
          <p:cNvPr id="7" name="object 7"/>
          <p:cNvPicPr/>
          <p:nvPr/>
        </p:nvPicPr>
        <p:blipFill>
          <a:blip r:embed="rId3" cstate="print"/>
          <a:stretch>
            <a:fillRect/>
          </a:stretch>
        </p:blipFill>
        <p:spPr>
          <a:xfrm>
            <a:off x="7407402" y="3810000"/>
            <a:ext cx="1281887" cy="1418844"/>
          </a:xfrm>
          <a:prstGeom prst="rect">
            <a:avLst/>
          </a:prstGeom>
        </p:spPr>
      </p:pic>
      <p:sp>
        <p:nvSpPr>
          <p:cNvPr id="11" name="Slide Number Placeholder 10">
            <a:extLst>
              <a:ext uri="{FF2B5EF4-FFF2-40B4-BE49-F238E27FC236}">
                <a16:creationId xmlns:a16="http://schemas.microsoft.com/office/drawing/2014/main" id="{8F90754E-9BA9-8592-4349-9D278FA74A09}"/>
              </a:ext>
            </a:extLst>
          </p:cNvPr>
          <p:cNvSpPr>
            <a:spLocks noGrp="1"/>
          </p:cNvSpPr>
          <p:nvPr>
            <p:ph type="sldNum" sz="quarter" idx="7"/>
          </p:nvPr>
        </p:nvSpPr>
        <p:spPr/>
        <p:txBody>
          <a:bodyPr/>
          <a:lstStyle/>
          <a:p>
            <a:pPr marL="12700">
              <a:lnSpc>
                <a:spcPts val="2065"/>
              </a:lnSpc>
            </a:pPr>
            <a:fld id="{81D60167-4931-47E6-BA6A-407CBD079E47}" type="slidenum">
              <a:rPr spc="-50" smtClean="0"/>
              <a:t>6</a:t>
            </a:fld>
            <a:endParaRPr spc="-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39520" y="265302"/>
            <a:ext cx="6920230" cy="574040"/>
          </a:xfrm>
          <a:prstGeom prst="rect">
            <a:avLst/>
          </a:prstGeom>
        </p:spPr>
        <p:txBody>
          <a:bodyPr vert="horz" wrap="square" lIns="0" tIns="12700" rIns="0" bIns="0" rtlCol="0">
            <a:spAutoFit/>
          </a:bodyPr>
          <a:lstStyle/>
          <a:p>
            <a:pPr marL="12700" algn="ctr">
              <a:lnSpc>
                <a:spcPct val="100000"/>
              </a:lnSpc>
              <a:spcBef>
                <a:spcPts val="100"/>
              </a:spcBef>
            </a:pPr>
            <a:r>
              <a:rPr dirty="0"/>
              <a:t>Server</a:t>
            </a:r>
            <a:r>
              <a:rPr spc="-105" dirty="0"/>
              <a:t> </a:t>
            </a:r>
            <a:r>
              <a:rPr dirty="0"/>
              <a:t>Virtualization</a:t>
            </a:r>
            <a:r>
              <a:rPr spc="-90" dirty="0"/>
              <a:t> </a:t>
            </a:r>
            <a:r>
              <a:rPr spc="-10" dirty="0"/>
              <a:t>Concepts</a:t>
            </a:r>
          </a:p>
        </p:txBody>
      </p:sp>
      <p:sp>
        <p:nvSpPr>
          <p:cNvPr id="3" name="object 3"/>
          <p:cNvSpPr txBox="1"/>
          <p:nvPr/>
        </p:nvSpPr>
        <p:spPr>
          <a:xfrm>
            <a:off x="382777" y="2605531"/>
            <a:ext cx="7490459" cy="3019425"/>
          </a:xfrm>
          <a:prstGeom prst="rect">
            <a:avLst/>
          </a:prstGeom>
        </p:spPr>
        <p:txBody>
          <a:bodyPr vert="horz" wrap="square" lIns="0" tIns="85090" rIns="0" bIns="0" rtlCol="0">
            <a:spAutoFit/>
          </a:bodyPr>
          <a:lstStyle/>
          <a:p>
            <a:pPr marL="354965" indent="-342265">
              <a:lnSpc>
                <a:spcPct val="100000"/>
              </a:lnSpc>
              <a:spcBef>
                <a:spcPts val="670"/>
              </a:spcBef>
              <a:buClr>
                <a:srgbClr val="053CE8"/>
              </a:buClr>
              <a:buSzPct val="75000"/>
              <a:buFont typeface="Wingdings"/>
              <a:buChar char=""/>
              <a:tabLst>
                <a:tab pos="354965" algn="l"/>
              </a:tabLst>
            </a:pPr>
            <a:r>
              <a:rPr sz="2400" dirty="0">
                <a:latin typeface="Times New Roman"/>
                <a:cs typeface="Times New Roman"/>
              </a:rPr>
              <a:t>Host</a:t>
            </a:r>
            <a:r>
              <a:rPr sz="2400" spc="-30" dirty="0">
                <a:latin typeface="Times New Roman"/>
                <a:cs typeface="Times New Roman"/>
              </a:rPr>
              <a:t> </a:t>
            </a:r>
            <a:r>
              <a:rPr sz="2400" dirty="0">
                <a:latin typeface="Times New Roman"/>
                <a:cs typeface="Times New Roman"/>
              </a:rPr>
              <a:t>OS:</a:t>
            </a:r>
            <a:r>
              <a:rPr sz="2400" spc="-30" dirty="0">
                <a:latin typeface="Times New Roman"/>
                <a:cs typeface="Times New Roman"/>
              </a:rPr>
              <a:t> </a:t>
            </a:r>
            <a:r>
              <a:rPr sz="2400" dirty="0">
                <a:latin typeface="Times New Roman"/>
                <a:cs typeface="Times New Roman"/>
              </a:rPr>
              <a:t>Runs</a:t>
            </a:r>
            <a:r>
              <a:rPr sz="2400" spc="-30" dirty="0">
                <a:latin typeface="Times New Roman"/>
                <a:cs typeface="Times New Roman"/>
              </a:rPr>
              <a:t> </a:t>
            </a:r>
            <a:r>
              <a:rPr sz="2400" dirty="0">
                <a:latin typeface="Times New Roman"/>
                <a:cs typeface="Times New Roman"/>
              </a:rPr>
              <a:t>on</a:t>
            </a:r>
            <a:r>
              <a:rPr sz="2400" spc="-30"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bare</a:t>
            </a:r>
            <a:r>
              <a:rPr sz="2400" spc="-30" dirty="0">
                <a:latin typeface="Times New Roman"/>
                <a:cs typeface="Times New Roman"/>
              </a:rPr>
              <a:t> </a:t>
            </a:r>
            <a:r>
              <a:rPr sz="2400" spc="-10" dirty="0">
                <a:latin typeface="Times New Roman"/>
                <a:cs typeface="Times New Roman"/>
              </a:rPr>
              <a:t>metal</a:t>
            </a:r>
            <a:endParaRPr sz="2400">
              <a:latin typeface="Times New Roman"/>
              <a:cs typeface="Times New Roman"/>
            </a:endParaRPr>
          </a:p>
          <a:p>
            <a:pPr marL="355600" marR="2901950" indent="-342900">
              <a:lnSpc>
                <a:spcPct val="100000"/>
              </a:lnSpc>
              <a:spcBef>
                <a:spcPts val="570"/>
              </a:spcBef>
              <a:buClr>
                <a:srgbClr val="053CE8"/>
              </a:buClr>
              <a:buSzPct val="75000"/>
              <a:buFont typeface="Wingdings"/>
              <a:buChar char=""/>
              <a:tabLst>
                <a:tab pos="355600" algn="l"/>
              </a:tabLst>
            </a:pPr>
            <a:r>
              <a:rPr sz="2400" dirty="0">
                <a:latin typeface="Times New Roman"/>
                <a:cs typeface="Times New Roman"/>
              </a:rPr>
              <a:t>Guest</a:t>
            </a:r>
            <a:r>
              <a:rPr sz="2400" spc="-30" dirty="0">
                <a:latin typeface="Times New Roman"/>
                <a:cs typeface="Times New Roman"/>
              </a:rPr>
              <a:t> </a:t>
            </a:r>
            <a:r>
              <a:rPr sz="2400" dirty="0">
                <a:latin typeface="Times New Roman"/>
                <a:cs typeface="Times New Roman"/>
              </a:rPr>
              <a:t>OS:</a:t>
            </a:r>
            <a:r>
              <a:rPr sz="2400" spc="-25" dirty="0">
                <a:latin typeface="Times New Roman"/>
                <a:cs typeface="Times New Roman"/>
              </a:rPr>
              <a:t> </a:t>
            </a:r>
            <a:r>
              <a:rPr sz="2400" dirty="0">
                <a:latin typeface="Times New Roman"/>
                <a:cs typeface="Times New Roman"/>
              </a:rPr>
              <a:t>Runs</a:t>
            </a:r>
            <a:r>
              <a:rPr sz="2400" spc="-35" dirty="0">
                <a:latin typeface="Times New Roman"/>
                <a:cs typeface="Times New Roman"/>
              </a:rPr>
              <a:t> </a:t>
            </a:r>
            <a:r>
              <a:rPr sz="2400" dirty="0">
                <a:latin typeface="Times New Roman"/>
                <a:cs typeface="Times New Roman"/>
              </a:rPr>
              <a:t>on</a:t>
            </a:r>
            <a:r>
              <a:rPr sz="2400" spc="-30"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host</a:t>
            </a:r>
            <a:r>
              <a:rPr sz="2400" spc="-25" dirty="0">
                <a:latin typeface="Times New Roman"/>
                <a:cs typeface="Times New Roman"/>
              </a:rPr>
              <a:t> OS, </a:t>
            </a:r>
            <a:r>
              <a:rPr sz="2400" dirty="0">
                <a:latin typeface="Times New Roman"/>
                <a:cs typeface="Times New Roman"/>
              </a:rPr>
              <a:t>e.g.,</a:t>
            </a:r>
            <a:r>
              <a:rPr sz="2400" spc="-25" dirty="0">
                <a:latin typeface="Times New Roman"/>
                <a:cs typeface="Times New Roman"/>
              </a:rPr>
              <a:t> </a:t>
            </a:r>
            <a:r>
              <a:rPr sz="2400" dirty="0">
                <a:latin typeface="Times New Roman"/>
                <a:cs typeface="Times New Roman"/>
              </a:rPr>
              <a:t>Windows</a:t>
            </a:r>
            <a:r>
              <a:rPr sz="2400" spc="-25" dirty="0">
                <a:latin typeface="Times New Roman"/>
                <a:cs typeface="Times New Roman"/>
              </a:rPr>
              <a:t> </a:t>
            </a:r>
            <a:r>
              <a:rPr sz="2400" dirty="0">
                <a:latin typeface="Times New Roman"/>
                <a:cs typeface="Times New Roman"/>
              </a:rPr>
              <a:t>XP</a:t>
            </a:r>
            <a:r>
              <a:rPr sz="2400" spc="-25" dirty="0">
                <a:latin typeface="Times New Roman"/>
                <a:cs typeface="Times New Roman"/>
              </a:rPr>
              <a:t> </a:t>
            </a:r>
            <a:r>
              <a:rPr sz="2400" dirty="0">
                <a:latin typeface="Times New Roman"/>
                <a:cs typeface="Times New Roman"/>
              </a:rPr>
              <a:t>Mode</a:t>
            </a:r>
            <a:r>
              <a:rPr sz="2400" spc="-20" dirty="0">
                <a:latin typeface="Times New Roman"/>
                <a:cs typeface="Times New Roman"/>
              </a:rPr>
              <a:t> </a:t>
            </a:r>
            <a:r>
              <a:rPr sz="2400" dirty="0">
                <a:latin typeface="Times New Roman"/>
                <a:cs typeface="Times New Roman"/>
              </a:rPr>
              <a:t>on</a:t>
            </a:r>
            <a:r>
              <a:rPr sz="2400" spc="-20" dirty="0">
                <a:latin typeface="Times New Roman"/>
                <a:cs typeface="Times New Roman"/>
              </a:rPr>
              <a:t> </a:t>
            </a:r>
            <a:r>
              <a:rPr sz="2400" dirty="0">
                <a:latin typeface="Times New Roman"/>
                <a:cs typeface="Times New Roman"/>
              </a:rPr>
              <a:t>Win</a:t>
            </a:r>
            <a:r>
              <a:rPr sz="2400" spc="-20" dirty="0">
                <a:latin typeface="Times New Roman"/>
                <a:cs typeface="Times New Roman"/>
              </a:rPr>
              <a:t> </a:t>
            </a:r>
            <a:r>
              <a:rPr sz="2400" spc="-50" dirty="0">
                <a:latin typeface="Times New Roman"/>
                <a:cs typeface="Times New Roman"/>
              </a:rPr>
              <a:t>7</a:t>
            </a:r>
            <a:endParaRPr sz="2400">
              <a:latin typeface="Times New Roman"/>
              <a:cs typeface="Times New Roman"/>
            </a:endParaRPr>
          </a:p>
          <a:p>
            <a:pPr marL="354965" indent="-342265">
              <a:lnSpc>
                <a:spcPct val="100000"/>
              </a:lnSpc>
              <a:spcBef>
                <a:spcPts val="565"/>
              </a:spcBef>
              <a:buClr>
                <a:srgbClr val="053CE8"/>
              </a:buClr>
              <a:buSzPct val="75000"/>
              <a:buFont typeface="Wingdings"/>
              <a:buChar char=""/>
              <a:tabLst>
                <a:tab pos="354965" algn="l"/>
              </a:tabLst>
            </a:pPr>
            <a:r>
              <a:rPr sz="2400" dirty="0">
                <a:latin typeface="Times New Roman"/>
                <a:cs typeface="Times New Roman"/>
              </a:rPr>
              <a:t>Hypervisor:</a:t>
            </a:r>
            <a:r>
              <a:rPr sz="2400" spc="-40" dirty="0">
                <a:latin typeface="Times New Roman"/>
                <a:cs typeface="Times New Roman"/>
              </a:rPr>
              <a:t> </a:t>
            </a:r>
            <a:r>
              <a:rPr sz="2400" dirty="0">
                <a:latin typeface="Times New Roman"/>
                <a:cs typeface="Times New Roman"/>
              </a:rPr>
              <a:t>Software</a:t>
            </a:r>
            <a:r>
              <a:rPr sz="2400" spc="-35" dirty="0">
                <a:latin typeface="Times New Roman"/>
                <a:cs typeface="Times New Roman"/>
              </a:rPr>
              <a:t> </a:t>
            </a:r>
            <a:r>
              <a:rPr sz="2400" dirty="0">
                <a:latin typeface="Times New Roman"/>
                <a:cs typeface="Times New Roman"/>
              </a:rPr>
              <a:t>to</a:t>
            </a:r>
            <a:r>
              <a:rPr sz="2400" spc="-35" dirty="0">
                <a:latin typeface="Times New Roman"/>
                <a:cs typeface="Times New Roman"/>
              </a:rPr>
              <a:t> </a:t>
            </a:r>
            <a:r>
              <a:rPr sz="2400" dirty="0">
                <a:latin typeface="Times New Roman"/>
                <a:cs typeface="Times New Roman"/>
              </a:rPr>
              <a:t>support</a:t>
            </a:r>
            <a:r>
              <a:rPr sz="2400" spc="-35" dirty="0">
                <a:latin typeface="Times New Roman"/>
                <a:cs typeface="Times New Roman"/>
              </a:rPr>
              <a:t> </a:t>
            </a:r>
            <a:r>
              <a:rPr sz="2400" dirty="0">
                <a:latin typeface="Times New Roman"/>
                <a:cs typeface="Times New Roman"/>
              </a:rPr>
              <a:t>multiple</a:t>
            </a:r>
            <a:r>
              <a:rPr sz="2400" spc="-35" dirty="0">
                <a:latin typeface="Times New Roman"/>
                <a:cs typeface="Times New Roman"/>
              </a:rPr>
              <a:t> </a:t>
            </a:r>
            <a:r>
              <a:rPr sz="2400" dirty="0">
                <a:latin typeface="Times New Roman"/>
                <a:cs typeface="Times New Roman"/>
              </a:rPr>
              <a:t>virtual</a:t>
            </a:r>
            <a:r>
              <a:rPr sz="2400" spc="-35" dirty="0">
                <a:latin typeface="Times New Roman"/>
                <a:cs typeface="Times New Roman"/>
              </a:rPr>
              <a:t> </a:t>
            </a:r>
            <a:r>
              <a:rPr sz="2400" spc="-10" dirty="0">
                <a:latin typeface="Times New Roman"/>
                <a:cs typeface="Times New Roman"/>
              </a:rPr>
              <a:t>machines</a:t>
            </a:r>
            <a:endParaRPr sz="2400">
              <a:latin typeface="Times New Roman"/>
              <a:cs typeface="Times New Roman"/>
            </a:endParaRPr>
          </a:p>
          <a:p>
            <a:pPr marL="755015" lvl="1" indent="-285115">
              <a:lnSpc>
                <a:spcPct val="100000"/>
              </a:lnSpc>
              <a:spcBef>
                <a:spcPts val="570"/>
              </a:spcBef>
              <a:buSzPct val="66666"/>
              <a:buFont typeface="Wingdings"/>
              <a:buChar char=""/>
              <a:tabLst>
                <a:tab pos="755015" algn="l"/>
              </a:tabLst>
            </a:pPr>
            <a:r>
              <a:rPr sz="2400" dirty="0">
                <a:latin typeface="Times New Roman"/>
                <a:cs typeface="Times New Roman"/>
              </a:rPr>
              <a:t>Type</a:t>
            </a:r>
            <a:r>
              <a:rPr sz="2400" spc="-45" dirty="0">
                <a:latin typeface="Times New Roman"/>
                <a:cs typeface="Times New Roman"/>
              </a:rPr>
              <a:t> </a:t>
            </a:r>
            <a:r>
              <a:rPr sz="2400" dirty="0">
                <a:latin typeface="Times New Roman"/>
                <a:cs typeface="Times New Roman"/>
              </a:rPr>
              <a:t>1:</a:t>
            </a:r>
            <a:r>
              <a:rPr sz="2400" spc="-40" dirty="0">
                <a:latin typeface="Times New Roman"/>
                <a:cs typeface="Times New Roman"/>
              </a:rPr>
              <a:t> </a:t>
            </a:r>
            <a:r>
              <a:rPr sz="2400" dirty="0">
                <a:latin typeface="Times New Roman"/>
                <a:cs typeface="Times New Roman"/>
              </a:rPr>
              <a:t>Runs</a:t>
            </a:r>
            <a:r>
              <a:rPr sz="2400" spc="-40" dirty="0">
                <a:latin typeface="Times New Roman"/>
                <a:cs typeface="Times New Roman"/>
              </a:rPr>
              <a:t> </a:t>
            </a:r>
            <a:r>
              <a:rPr sz="2400" dirty="0">
                <a:latin typeface="Times New Roman"/>
                <a:cs typeface="Times New Roman"/>
              </a:rPr>
              <a:t>on</a:t>
            </a:r>
            <a:r>
              <a:rPr sz="2400" spc="-40" dirty="0">
                <a:latin typeface="Times New Roman"/>
                <a:cs typeface="Times New Roman"/>
              </a:rPr>
              <a:t> </a:t>
            </a:r>
            <a:r>
              <a:rPr sz="2400" dirty="0">
                <a:latin typeface="Times New Roman"/>
                <a:cs typeface="Times New Roman"/>
              </a:rPr>
              <a:t>bare</a:t>
            </a:r>
            <a:r>
              <a:rPr sz="2400" spc="-40" dirty="0">
                <a:latin typeface="Times New Roman"/>
                <a:cs typeface="Times New Roman"/>
              </a:rPr>
              <a:t> </a:t>
            </a:r>
            <a:r>
              <a:rPr sz="2400" dirty="0">
                <a:latin typeface="Times New Roman"/>
                <a:cs typeface="Times New Roman"/>
              </a:rPr>
              <a:t>metal,</a:t>
            </a:r>
            <a:r>
              <a:rPr sz="2400" spc="-40" dirty="0">
                <a:latin typeface="Times New Roman"/>
                <a:cs typeface="Times New Roman"/>
              </a:rPr>
              <a:t> </a:t>
            </a:r>
            <a:r>
              <a:rPr sz="2400" dirty="0">
                <a:latin typeface="Times New Roman"/>
                <a:cs typeface="Times New Roman"/>
              </a:rPr>
              <a:t>e.g.,</a:t>
            </a:r>
            <a:r>
              <a:rPr sz="2400" spc="-40" dirty="0">
                <a:latin typeface="Times New Roman"/>
                <a:cs typeface="Times New Roman"/>
              </a:rPr>
              <a:t> </a:t>
            </a:r>
            <a:r>
              <a:rPr sz="2400" dirty="0">
                <a:latin typeface="Times New Roman"/>
                <a:cs typeface="Times New Roman"/>
              </a:rPr>
              <a:t>Xen,</a:t>
            </a:r>
            <a:r>
              <a:rPr sz="2400" spc="-45" dirty="0">
                <a:latin typeface="Times New Roman"/>
                <a:cs typeface="Times New Roman"/>
              </a:rPr>
              <a:t> </a:t>
            </a:r>
            <a:r>
              <a:rPr sz="2400" dirty="0">
                <a:latin typeface="Times New Roman"/>
                <a:cs typeface="Times New Roman"/>
              </a:rPr>
              <a:t>VMware</a:t>
            </a:r>
            <a:r>
              <a:rPr sz="2400" spc="-40" dirty="0">
                <a:latin typeface="Times New Roman"/>
                <a:cs typeface="Times New Roman"/>
              </a:rPr>
              <a:t> </a:t>
            </a:r>
            <a:r>
              <a:rPr sz="2400" spc="-20" dirty="0">
                <a:latin typeface="Times New Roman"/>
                <a:cs typeface="Times New Roman"/>
              </a:rPr>
              <a:t>ESXi</a:t>
            </a:r>
            <a:endParaRPr sz="2400">
              <a:latin typeface="Times New Roman"/>
              <a:cs typeface="Times New Roman"/>
            </a:endParaRPr>
          </a:p>
          <a:p>
            <a:pPr marL="755015" lvl="1" indent="-285115">
              <a:lnSpc>
                <a:spcPct val="100000"/>
              </a:lnSpc>
              <a:spcBef>
                <a:spcPts val="570"/>
              </a:spcBef>
              <a:buSzPct val="66666"/>
              <a:buFont typeface="Wingdings"/>
              <a:buChar char=""/>
              <a:tabLst>
                <a:tab pos="755015" algn="l"/>
              </a:tabLst>
            </a:pPr>
            <a:r>
              <a:rPr sz="2400" dirty="0">
                <a:latin typeface="Times New Roman"/>
                <a:cs typeface="Times New Roman"/>
              </a:rPr>
              <a:t>Type</a:t>
            </a:r>
            <a:r>
              <a:rPr sz="2400" spc="-30" dirty="0">
                <a:latin typeface="Times New Roman"/>
                <a:cs typeface="Times New Roman"/>
              </a:rPr>
              <a:t> </a:t>
            </a:r>
            <a:r>
              <a:rPr sz="2400" dirty="0">
                <a:latin typeface="Times New Roman"/>
                <a:cs typeface="Times New Roman"/>
              </a:rPr>
              <a:t>2:</a:t>
            </a:r>
            <a:r>
              <a:rPr sz="2400" spc="-30" dirty="0">
                <a:latin typeface="Times New Roman"/>
                <a:cs typeface="Times New Roman"/>
              </a:rPr>
              <a:t> </a:t>
            </a:r>
            <a:r>
              <a:rPr sz="2400" dirty="0">
                <a:latin typeface="Times New Roman"/>
                <a:cs typeface="Times New Roman"/>
              </a:rPr>
              <a:t>Runs</a:t>
            </a:r>
            <a:r>
              <a:rPr sz="2400" spc="-30" dirty="0">
                <a:latin typeface="Times New Roman"/>
                <a:cs typeface="Times New Roman"/>
              </a:rPr>
              <a:t> </a:t>
            </a:r>
            <a:r>
              <a:rPr sz="2400" dirty="0">
                <a:latin typeface="Times New Roman"/>
                <a:cs typeface="Times New Roman"/>
              </a:rPr>
              <a:t>on</a:t>
            </a:r>
            <a:r>
              <a:rPr sz="2400" spc="-30" dirty="0">
                <a:latin typeface="Times New Roman"/>
                <a:cs typeface="Times New Roman"/>
              </a:rPr>
              <a:t> </a:t>
            </a:r>
            <a:r>
              <a:rPr sz="2400" dirty="0">
                <a:latin typeface="Times New Roman"/>
                <a:cs typeface="Times New Roman"/>
              </a:rPr>
              <a:t>a</a:t>
            </a:r>
            <a:r>
              <a:rPr sz="2400" spc="-30" dirty="0">
                <a:latin typeface="Times New Roman"/>
                <a:cs typeface="Times New Roman"/>
              </a:rPr>
              <a:t> </a:t>
            </a:r>
            <a:r>
              <a:rPr sz="2400" dirty="0">
                <a:latin typeface="Times New Roman"/>
                <a:cs typeface="Times New Roman"/>
              </a:rPr>
              <a:t>host</a:t>
            </a:r>
            <a:r>
              <a:rPr sz="2400" spc="-25" dirty="0">
                <a:latin typeface="Times New Roman"/>
                <a:cs typeface="Times New Roman"/>
              </a:rPr>
              <a:t> </a:t>
            </a:r>
            <a:r>
              <a:rPr sz="2400" dirty="0">
                <a:latin typeface="Times New Roman"/>
                <a:cs typeface="Times New Roman"/>
              </a:rPr>
              <a:t>OS,</a:t>
            </a:r>
            <a:r>
              <a:rPr sz="2400" spc="-30" dirty="0">
                <a:latin typeface="Times New Roman"/>
                <a:cs typeface="Times New Roman"/>
              </a:rPr>
              <a:t> </a:t>
            </a:r>
            <a:r>
              <a:rPr sz="2400" dirty="0">
                <a:latin typeface="Times New Roman"/>
                <a:cs typeface="Times New Roman"/>
              </a:rPr>
              <a:t>e.g.,</a:t>
            </a:r>
            <a:r>
              <a:rPr sz="2400" spc="-30" dirty="0">
                <a:latin typeface="Times New Roman"/>
                <a:cs typeface="Times New Roman"/>
              </a:rPr>
              <a:t> </a:t>
            </a:r>
            <a:r>
              <a:rPr sz="2400" dirty="0">
                <a:latin typeface="Times New Roman"/>
                <a:cs typeface="Times New Roman"/>
              </a:rPr>
              <a:t>MS</a:t>
            </a:r>
            <a:r>
              <a:rPr sz="2400" spc="-30" dirty="0">
                <a:latin typeface="Times New Roman"/>
                <a:cs typeface="Times New Roman"/>
              </a:rPr>
              <a:t> </a:t>
            </a:r>
            <a:r>
              <a:rPr sz="2400" dirty="0">
                <a:latin typeface="Times New Roman"/>
                <a:cs typeface="Times New Roman"/>
              </a:rPr>
              <a:t>Virtual</a:t>
            </a:r>
            <a:r>
              <a:rPr sz="2400" spc="-30" dirty="0">
                <a:latin typeface="Times New Roman"/>
                <a:cs typeface="Times New Roman"/>
              </a:rPr>
              <a:t> </a:t>
            </a:r>
            <a:r>
              <a:rPr sz="2400" spc="-25" dirty="0">
                <a:latin typeface="Times New Roman"/>
                <a:cs typeface="Times New Roman"/>
              </a:rPr>
              <a:t>PC</a:t>
            </a:r>
            <a:endParaRPr sz="2400">
              <a:latin typeface="Times New Roman"/>
              <a:cs typeface="Times New Roman"/>
            </a:endParaRPr>
          </a:p>
          <a:p>
            <a:pPr marL="755015" lvl="1" indent="-285115">
              <a:lnSpc>
                <a:spcPct val="100000"/>
              </a:lnSpc>
              <a:spcBef>
                <a:spcPts val="570"/>
              </a:spcBef>
              <a:buSzPct val="66666"/>
              <a:buFont typeface="Wingdings"/>
              <a:buChar char=""/>
              <a:tabLst>
                <a:tab pos="755015" algn="l"/>
              </a:tabLst>
            </a:pPr>
            <a:r>
              <a:rPr sz="2400" dirty="0">
                <a:latin typeface="Times New Roman"/>
                <a:cs typeface="Times New Roman"/>
              </a:rPr>
              <a:t>Type</a:t>
            </a:r>
            <a:r>
              <a:rPr sz="2400" spc="-30" dirty="0">
                <a:latin typeface="Times New Roman"/>
                <a:cs typeface="Times New Roman"/>
              </a:rPr>
              <a:t> </a:t>
            </a:r>
            <a:r>
              <a:rPr sz="2400" dirty="0">
                <a:latin typeface="Times New Roman"/>
                <a:cs typeface="Times New Roman"/>
              </a:rPr>
              <a:t>0:</a:t>
            </a:r>
            <a:r>
              <a:rPr sz="2400" spc="-15" dirty="0">
                <a:latin typeface="Times New Roman"/>
                <a:cs typeface="Times New Roman"/>
              </a:rPr>
              <a:t> </a:t>
            </a:r>
            <a:r>
              <a:rPr sz="2400" dirty="0">
                <a:latin typeface="Times New Roman"/>
                <a:cs typeface="Times New Roman"/>
              </a:rPr>
              <a:t>Both</a:t>
            </a:r>
            <a:r>
              <a:rPr sz="2400" spc="-15" dirty="0">
                <a:latin typeface="Times New Roman"/>
                <a:cs typeface="Times New Roman"/>
              </a:rPr>
              <a:t> </a:t>
            </a:r>
            <a:r>
              <a:rPr sz="2400" dirty="0">
                <a:latin typeface="Times New Roman"/>
                <a:cs typeface="Times New Roman"/>
              </a:rPr>
              <a:t>1</a:t>
            </a:r>
            <a:r>
              <a:rPr sz="2400" spc="-15" dirty="0">
                <a:latin typeface="Times New Roman"/>
                <a:cs typeface="Times New Roman"/>
              </a:rPr>
              <a:t> </a:t>
            </a:r>
            <a:r>
              <a:rPr sz="2400" dirty="0">
                <a:latin typeface="Times New Roman"/>
                <a:cs typeface="Times New Roman"/>
              </a:rPr>
              <a:t>and</a:t>
            </a:r>
            <a:r>
              <a:rPr sz="2400" spc="-20" dirty="0">
                <a:latin typeface="Times New Roman"/>
                <a:cs typeface="Times New Roman"/>
              </a:rPr>
              <a:t> </a:t>
            </a:r>
            <a:r>
              <a:rPr sz="2400" dirty="0">
                <a:latin typeface="Times New Roman"/>
                <a:cs typeface="Times New Roman"/>
              </a:rPr>
              <a:t>2,</a:t>
            </a:r>
            <a:r>
              <a:rPr sz="2400" spc="-15" dirty="0">
                <a:latin typeface="Times New Roman"/>
                <a:cs typeface="Times New Roman"/>
              </a:rPr>
              <a:t> </a:t>
            </a:r>
            <a:r>
              <a:rPr sz="2400" dirty="0">
                <a:latin typeface="Times New Roman"/>
                <a:cs typeface="Times New Roman"/>
              </a:rPr>
              <a:t>e.g.,</a:t>
            </a:r>
            <a:r>
              <a:rPr sz="2400" spc="-15" dirty="0">
                <a:latin typeface="Times New Roman"/>
                <a:cs typeface="Times New Roman"/>
              </a:rPr>
              <a:t> </a:t>
            </a:r>
            <a:r>
              <a:rPr sz="2400" dirty="0">
                <a:latin typeface="Times New Roman"/>
                <a:cs typeface="Times New Roman"/>
              </a:rPr>
              <a:t>Linux</a:t>
            </a:r>
            <a:r>
              <a:rPr sz="2400" spc="-15" dirty="0">
                <a:latin typeface="Times New Roman"/>
                <a:cs typeface="Times New Roman"/>
              </a:rPr>
              <a:t> </a:t>
            </a:r>
            <a:r>
              <a:rPr sz="2400" spc="-25" dirty="0">
                <a:latin typeface="Times New Roman"/>
                <a:cs typeface="Times New Roman"/>
              </a:rPr>
              <a:t>KVM</a:t>
            </a:r>
            <a:endParaRPr sz="2400">
              <a:latin typeface="Times New Roman"/>
              <a:cs typeface="Times New Roman"/>
            </a:endParaRPr>
          </a:p>
        </p:txBody>
      </p:sp>
      <p:graphicFrame>
        <p:nvGraphicFramePr>
          <p:cNvPr id="5" name="object 5"/>
          <p:cNvGraphicFramePr>
            <a:graphicFrameLocks noGrp="1"/>
          </p:cNvGraphicFramePr>
          <p:nvPr/>
        </p:nvGraphicFramePr>
        <p:xfrm>
          <a:off x="825500" y="1109725"/>
          <a:ext cx="2896235" cy="1534160"/>
        </p:xfrm>
        <a:graphic>
          <a:graphicData uri="http://schemas.openxmlformats.org/drawingml/2006/table">
            <a:tbl>
              <a:tblPr firstRow="1" bandRow="1">
                <a:tableStyleId>{2D5ABB26-0587-4C30-8999-92F81FD0307C}</a:tableStyleId>
              </a:tblPr>
              <a:tblGrid>
                <a:gridCol w="1168400">
                  <a:extLst>
                    <a:ext uri="{9D8B030D-6E8A-4147-A177-3AD203B41FA5}">
                      <a16:colId xmlns:a16="http://schemas.microsoft.com/office/drawing/2014/main" val="20000"/>
                    </a:ext>
                  </a:extLst>
                </a:gridCol>
                <a:gridCol w="559435">
                  <a:extLst>
                    <a:ext uri="{9D8B030D-6E8A-4147-A177-3AD203B41FA5}">
                      <a16:colId xmlns:a16="http://schemas.microsoft.com/office/drawing/2014/main" val="20001"/>
                    </a:ext>
                  </a:extLst>
                </a:gridCol>
                <a:gridCol w="1168400">
                  <a:extLst>
                    <a:ext uri="{9D8B030D-6E8A-4147-A177-3AD203B41FA5}">
                      <a16:colId xmlns:a16="http://schemas.microsoft.com/office/drawing/2014/main" val="20002"/>
                    </a:ext>
                  </a:extLst>
                </a:gridCol>
              </a:tblGrid>
              <a:tr h="391160">
                <a:tc>
                  <a:txBody>
                    <a:bodyPr/>
                    <a:lstStyle/>
                    <a:p>
                      <a:pPr marL="104775">
                        <a:lnSpc>
                          <a:spcPct val="100000"/>
                        </a:lnSpc>
                        <a:spcBef>
                          <a:spcPts val="395"/>
                        </a:spcBef>
                      </a:pPr>
                      <a:r>
                        <a:rPr sz="1800" dirty="0">
                          <a:latin typeface="Times New Roman"/>
                          <a:cs typeface="Times New Roman"/>
                        </a:rPr>
                        <a:t>Guest</a:t>
                      </a:r>
                      <a:r>
                        <a:rPr sz="1800" spc="-45" dirty="0">
                          <a:latin typeface="Times New Roman"/>
                          <a:cs typeface="Times New Roman"/>
                        </a:rPr>
                        <a:t> </a:t>
                      </a:r>
                      <a:r>
                        <a:rPr sz="1800" spc="-25" dirty="0">
                          <a:latin typeface="Times New Roman"/>
                          <a:cs typeface="Times New Roman"/>
                        </a:rPr>
                        <a:t>OS</a:t>
                      </a:r>
                      <a:r>
                        <a:rPr sz="1800" spc="-37" baseline="-23148" dirty="0">
                          <a:latin typeface="Times New Roman"/>
                          <a:cs typeface="Times New Roman"/>
                        </a:rPr>
                        <a:t>1</a:t>
                      </a:r>
                      <a:endParaRPr sz="1800" baseline="-23148">
                        <a:latin typeface="Times New Roman"/>
                        <a:cs typeface="Times New Roman"/>
                      </a:endParaRPr>
                    </a:p>
                  </a:txBody>
                  <a:tcPr marL="0" marR="0" marT="5016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142875">
                        <a:lnSpc>
                          <a:spcPts val="2280"/>
                        </a:lnSpc>
                      </a:pPr>
                      <a:r>
                        <a:rPr sz="2400" spc="-50" dirty="0">
                          <a:latin typeface="Times New Roman"/>
                          <a:cs typeface="Times New Roman"/>
                        </a:rPr>
                        <a:t>…</a:t>
                      </a:r>
                      <a:endParaRPr sz="2400">
                        <a:latin typeface="Times New Roman"/>
                        <a:cs typeface="Times New Roman"/>
                      </a:endParaRPr>
                    </a:p>
                  </a:txBody>
                  <a:tcPr marL="0" marR="0" marT="0" marB="0">
                    <a:lnL w="28575">
                      <a:solidFill>
                        <a:srgbClr val="000000"/>
                      </a:solidFill>
                      <a:prstDash val="solid"/>
                    </a:lnL>
                    <a:lnR w="28575">
                      <a:solidFill>
                        <a:srgbClr val="000000"/>
                      </a:solidFill>
                      <a:prstDash val="solid"/>
                    </a:lnR>
                    <a:lnB w="28575">
                      <a:solidFill>
                        <a:srgbClr val="000000"/>
                      </a:solidFill>
                      <a:prstDash val="solid"/>
                    </a:lnB>
                  </a:tcPr>
                </a:tc>
                <a:tc>
                  <a:txBody>
                    <a:bodyPr/>
                    <a:lstStyle/>
                    <a:p>
                      <a:pPr marL="104139">
                        <a:lnSpc>
                          <a:spcPct val="100000"/>
                        </a:lnSpc>
                        <a:spcBef>
                          <a:spcPts val="395"/>
                        </a:spcBef>
                      </a:pPr>
                      <a:r>
                        <a:rPr sz="1800" dirty="0">
                          <a:latin typeface="Times New Roman"/>
                          <a:cs typeface="Times New Roman"/>
                        </a:rPr>
                        <a:t>Guest</a:t>
                      </a:r>
                      <a:r>
                        <a:rPr sz="1800" spc="-45" dirty="0">
                          <a:latin typeface="Times New Roman"/>
                          <a:cs typeface="Times New Roman"/>
                        </a:rPr>
                        <a:t> </a:t>
                      </a:r>
                      <a:r>
                        <a:rPr sz="1800" spc="-25" dirty="0">
                          <a:latin typeface="Times New Roman"/>
                          <a:cs typeface="Times New Roman"/>
                        </a:rPr>
                        <a:t>OS</a:t>
                      </a:r>
                      <a:r>
                        <a:rPr sz="1800" spc="-37" baseline="-23148" dirty="0">
                          <a:latin typeface="Times New Roman"/>
                          <a:cs typeface="Times New Roman"/>
                        </a:rPr>
                        <a:t>n</a:t>
                      </a:r>
                      <a:endParaRPr sz="1800" baseline="-23148">
                        <a:latin typeface="Times New Roman"/>
                        <a:cs typeface="Times New Roman"/>
                      </a:endParaRPr>
                    </a:p>
                  </a:txBody>
                  <a:tcPr marL="0" marR="0" marT="5016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381000">
                <a:tc gridSpan="3">
                  <a:txBody>
                    <a:bodyPr/>
                    <a:lstStyle/>
                    <a:p>
                      <a:pPr marL="297180">
                        <a:lnSpc>
                          <a:spcPts val="2795"/>
                        </a:lnSpc>
                      </a:pPr>
                      <a:r>
                        <a:rPr sz="2400" spc="-10" dirty="0">
                          <a:latin typeface="Times New Roman"/>
                          <a:cs typeface="Times New Roman"/>
                        </a:rPr>
                        <a:t>Hypervisor</a:t>
                      </a:r>
                      <a:r>
                        <a:rPr sz="2400" spc="-35" dirty="0">
                          <a:latin typeface="Times New Roman"/>
                          <a:cs typeface="Times New Roman"/>
                        </a:rPr>
                        <a:t> </a:t>
                      </a:r>
                      <a:r>
                        <a:rPr sz="2400" dirty="0">
                          <a:latin typeface="Times New Roman"/>
                          <a:cs typeface="Times New Roman"/>
                        </a:rPr>
                        <a:t>Type</a:t>
                      </a:r>
                      <a:r>
                        <a:rPr sz="2400" spc="-30" dirty="0">
                          <a:latin typeface="Times New Roman"/>
                          <a:cs typeface="Times New Roman"/>
                        </a:rPr>
                        <a:t> </a:t>
                      </a:r>
                      <a:r>
                        <a:rPr sz="2400" spc="-50" dirty="0">
                          <a:latin typeface="Times New Roman"/>
                          <a:cs typeface="Times New Roman"/>
                        </a:rPr>
                        <a:t>2</a:t>
                      </a:r>
                      <a:endParaRPr sz="2400">
                        <a:latin typeface="Times New Roman"/>
                        <a:cs typeface="Times New Roman"/>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r h="381000">
                <a:tc gridSpan="3">
                  <a:txBody>
                    <a:bodyPr/>
                    <a:lstStyle/>
                    <a:p>
                      <a:pPr marL="925194">
                        <a:lnSpc>
                          <a:spcPts val="2795"/>
                        </a:lnSpc>
                      </a:pPr>
                      <a:r>
                        <a:rPr sz="2400" dirty="0">
                          <a:latin typeface="Times New Roman"/>
                          <a:cs typeface="Times New Roman"/>
                        </a:rPr>
                        <a:t>Host</a:t>
                      </a:r>
                      <a:r>
                        <a:rPr sz="2400" spc="-50" dirty="0">
                          <a:latin typeface="Times New Roman"/>
                          <a:cs typeface="Times New Roman"/>
                        </a:rPr>
                        <a:t> </a:t>
                      </a:r>
                      <a:r>
                        <a:rPr sz="2400" spc="-25" dirty="0">
                          <a:latin typeface="Times New Roman"/>
                          <a:cs typeface="Times New Roman"/>
                        </a:rPr>
                        <a:t>OS</a:t>
                      </a:r>
                      <a:endParaRPr sz="2400">
                        <a:latin typeface="Times New Roman"/>
                        <a:cs typeface="Times New Roman"/>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r h="381000">
                <a:tc gridSpan="3">
                  <a:txBody>
                    <a:bodyPr/>
                    <a:lstStyle/>
                    <a:p>
                      <a:pPr marL="845819">
                        <a:lnSpc>
                          <a:spcPts val="2795"/>
                        </a:lnSpc>
                      </a:pPr>
                      <a:r>
                        <a:rPr sz="2400" spc="-10" dirty="0">
                          <a:latin typeface="Times New Roman"/>
                          <a:cs typeface="Times New Roman"/>
                        </a:rPr>
                        <a:t>Hardware</a:t>
                      </a:r>
                      <a:endParaRPr sz="2400">
                        <a:latin typeface="Times New Roman"/>
                        <a:cs typeface="Times New Roman"/>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3"/>
                  </a:ext>
                </a:extLst>
              </a:tr>
            </a:tbl>
          </a:graphicData>
        </a:graphic>
      </p:graphicFrame>
      <p:graphicFrame>
        <p:nvGraphicFramePr>
          <p:cNvPr id="6" name="object 6"/>
          <p:cNvGraphicFramePr>
            <a:graphicFrameLocks noGrp="1"/>
          </p:cNvGraphicFramePr>
          <p:nvPr/>
        </p:nvGraphicFramePr>
        <p:xfrm>
          <a:off x="4102100" y="1490725"/>
          <a:ext cx="2896235" cy="1153160"/>
        </p:xfrm>
        <a:graphic>
          <a:graphicData uri="http://schemas.openxmlformats.org/drawingml/2006/table">
            <a:tbl>
              <a:tblPr firstRow="1" bandRow="1">
                <a:tableStyleId>{2D5ABB26-0587-4C30-8999-92F81FD0307C}</a:tableStyleId>
              </a:tblPr>
              <a:tblGrid>
                <a:gridCol w="1168400">
                  <a:extLst>
                    <a:ext uri="{9D8B030D-6E8A-4147-A177-3AD203B41FA5}">
                      <a16:colId xmlns:a16="http://schemas.microsoft.com/office/drawing/2014/main" val="20000"/>
                    </a:ext>
                  </a:extLst>
                </a:gridCol>
                <a:gridCol w="559435">
                  <a:extLst>
                    <a:ext uri="{9D8B030D-6E8A-4147-A177-3AD203B41FA5}">
                      <a16:colId xmlns:a16="http://schemas.microsoft.com/office/drawing/2014/main" val="20001"/>
                    </a:ext>
                  </a:extLst>
                </a:gridCol>
                <a:gridCol w="1168400">
                  <a:extLst>
                    <a:ext uri="{9D8B030D-6E8A-4147-A177-3AD203B41FA5}">
                      <a16:colId xmlns:a16="http://schemas.microsoft.com/office/drawing/2014/main" val="20002"/>
                    </a:ext>
                  </a:extLst>
                </a:gridCol>
              </a:tblGrid>
              <a:tr h="391160">
                <a:tc>
                  <a:txBody>
                    <a:bodyPr/>
                    <a:lstStyle/>
                    <a:p>
                      <a:pPr marL="104775">
                        <a:lnSpc>
                          <a:spcPct val="100000"/>
                        </a:lnSpc>
                        <a:spcBef>
                          <a:spcPts val="395"/>
                        </a:spcBef>
                      </a:pPr>
                      <a:r>
                        <a:rPr sz="1800" dirty="0">
                          <a:latin typeface="Times New Roman"/>
                          <a:cs typeface="Times New Roman"/>
                        </a:rPr>
                        <a:t>Guest</a:t>
                      </a:r>
                      <a:r>
                        <a:rPr sz="1800" spc="-45" dirty="0">
                          <a:latin typeface="Times New Roman"/>
                          <a:cs typeface="Times New Roman"/>
                        </a:rPr>
                        <a:t> </a:t>
                      </a:r>
                      <a:r>
                        <a:rPr sz="1800" spc="-25" dirty="0">
                          <a:latin typeface="Times New Roman"/>
                          <a:cs typeface="Times New Roman"/>
                        </a:rPr>
                        <a:t>OS</a:t>
                      </a:r>
                      <a:r>
                        <a:rPr sz="1800" spc="-37" baseline="-23148" dirty="0">
                          <a:latin typeface="Times New Roman"/>
                          <a:cs typeface="Times New Roman"/>
                        </a:rPr>
                        <a:t>1</a:t>
                      </a:r>
                      <a:endParaRPr sz="1800" baseline="-23148">
                        <a:latin typeface="Times New Roman"/>
                        <a:cs typeface="Times New Roman"/>
                      </a:endParaRPr>
                    </a:p>
                  </a:txBody>
                  <a:tcPr marL="0" marR="0" marT="5016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142875">
                        <a:lnSpc>
                          <a:spcPts val="2280"/>
                        </a:lnSpc>
                      </a:pPr>
                      <a:r>
                        <a:rPr sz="2400" spc="-50" dirty="0">
                          <a:latin typeface="Times New Roman"/>
                          <a:cs typeface="Times New Roman"/>
                        </a:rPr>
                        <a:t>…</a:t>
                      </a:r>
                      <a:endParaRPr sz="2400">
                        <a:latin typeface="Times New Roman"/>
                        <a:cs typeface="Times New Roman"/>
                      </a:endParaRPr>
                    </a:p>
                  </a:txBody>
                  <a:tcPr marL="0" marR="0" marT="0" marB="0">
                    <a:lnL w="28575">
                      <a:solidFill>
                        <a:srgbClr val="000000"/>
                      </a:solidFill>
                      <a:prstDash val="solid"/>
                    </a:lnL>
                    <a:lnR w="28575">
                      <a:solidFill>
                        <a:srgbClr val="000000"/>
                      </a:solidFill>
                      <a:prstDash val="solid"/>
                    </a:lnR>
                    <a:lnB w="28575">
                      <a:solidFill>
                        <a:srgbClr val="000000"/>
                      </a:solidFill>
                      <a:prstDash val="solid"/>
                    </a:lnB>
                  </a:tcPr>
                </a:tc>
                <a:tc>
                  <a:txBody>
                    <a:bodyPr/>
                    <a:lstStyle/>
                    <a:p>
                      <a:pPr marL="104139">
                        <a:lnSpc>
                          <a:spcPct val="100000"/>
                        </a:lnSpc>
                        <a:spcBef>
                          <a:spcPts val="395"/>
                        </a:spcBef>
                      </a:pPr>
                      <a:r>
                        <a:rPr sz="1800" dirty="0">
                          <a:latin typeface="Times New Roman"/>
                          <a:cs typeface="Times New Roman"/>
                        </a:rPr>
                        <a:t>Guest</a:t>
                      </a:r>
                      <a:r>
                        <a:rPr sz="1800" spc="-45" dirty="0">
                          <a:latin typeface="Times New Roman"/>
                          <a:cs typeface="Times New Roman"/>
                        </a:rPr>
                        <a:t> </a:t>
                      </a:r>
                      <a:r>
                        <a:rPr sz="1800" spc="-25" dirty="0">
                          <a:latin typeface="Times New Roman"/>
                          <a:cs typeface="Times New Roman"/>
                        </a:rPr>
                        <a:t>OS</a:t>
                      </a:r>
                      <a:r>
                        <a:rPr sz="1800" spc="-37" baseline="-23148" dirty="0">
                          <a:latin typeface="Times New Roman"/>
                          <a:cs typeface="Times New Roman"/>
                        </a:rPr>
                        <a:t>n</a:t>
                      </a:r>
                      <a:endParaRPr sz="1800" baseline="-23148">
                        <a:latin typeface="Times New Roman"/>
                        <a:cs typeface="Times New Roman"/>
                      </a:endParaRPr>
                    </a:p>
                  </a:txBody>
                  <a:tcPr marL="0" marR="0" marT="5016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381000">
                <a:tc gridSpan="3">
                  <a:txBody>
                    <a:bodyPr/>
                    <a:lstStyle/>
                    <a:p>
                      <a:pPr marL="296545">
                        <a:lnSpc>
                          <a:spcPts val="2795"/>
                        </a:lnSpc>
                      </a:pPr>
                      <a:r>
                        <a:rPr sz="2400" spc="-10" dirty="0">
                          <a:latin typeface="Times New Roman"/>
                          <a:cs typeface="Times New Roman"/>
                        </a:rPr>
                        <a:t>Hypervisor</a:t>
                      </a:r>
                      <a:r>
                        <a:rPr sz="2400" spc="-35" dirty="0">
                          <a:latin typeface="Times New Roman"/>
                          <a:cs typeface="Times New Roman"/>
                        </a:rPr>
                        <a:t> </a:t>
                      </a:r>
                      <a:r>
                        <a:rPr sz="2400" dirty="0">
                          <a:latin typeface="Times New Roman"/>
                          <a:cs typeface="Times New Roman"/>
                        </a:rPr>
                        <a:t>Type</a:t>
                      </a:r>
                      <a:r>
                        <a:rPr sz="2400" spc="-30" dirty="0">
                          <a:latin typeface="Times New Roman"/>
                          <a:cs typeface="Times New Roman"/>
                        </a:rPr>
                        <a:t> </a:t>
                      </a:r>
                      <a:r>
                        <a:rPr sz="2400" spc="-50" dirty="0">
                          <a:latin typeface="Times New Roman"/>
                          <a:cs typeface="Times New Roman"/>
                        </a:rPr>
                        <a:t>1</a:t>
                      </a:r>
                      <a:endParaRPr sz="2400">
                        <a:latin typeface="Times New Roman"/>
                        <a:cs typeface="Times New Roman"/>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r h="381000">
                <a:tc gridSpan="3">
                  <a:txBody>
                    <a:bodyPr/>
                    <a:lstStyle/>
                    <a:p>
                      <a:pPr marL="845819">
                        <a:lnSpc>
                          <a:spcPts val="2795"/>
                        </a:lnSpc>
                      </a:pPr>
                      <a:r>
                        <a:rPr sz="2400" spc="-10" dirty="0">
                          <a:latin typeface="Times New Roman"/>
                          <a:cs typeface="Times New Roman"/>
                        </a:rPr>
                        <a:t>Hardware</a:t>
                      </a:r>
                      <a:endParaRPr sz="2400">
                        <a:latin typeface="Times New Roman"/>
                        <a:cs typeface="Times New Roman"/>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10" name="Slide Number Placeholder 9">
            <a:extLst>
              <a:ext uri="{FF2B5EF4-FFF2-40B4-BE49-F238E27FC236}">
                <a16:creationId xmlns:a16="http://schemas.microsoft.com/office/drawing/2014/main" id="{01590766-6B0D-9ED7-0CDB-77840221A129}"/>
              </a:ext>
            </a:extLst>
          </p:cNvPr>
          <p:cNvSpPr>
            <a:spLocks noGrp="1"/>
          </p:cNvSpPr>
          <p:nvPr>
            <p:ph type="sldNum" sz="quarter" idx="7"/>
          </p:nvPr>
        </p:nvSpPr>
        <p:spPr/>
        <p:txBody>
          <a:bodyPr/>
          <a:lstStyle/>
          <a:p>
            <a:pPr marL="12700">
              <a:lnSpc>
                <a:spcPts val="2065"/>
              </a:lnSpc>
            </a:pPr>
            <a:fld id="{81D60167-4931-47E6-BA6A-407CBD079E47}" type="slidenum">
              <a:rPr spc="-50" smtClean="0"/>
              <a:t>7</a:t>
            </a:fld>
            <a:endParaRPr spc="-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797685">
              <a:lnSpc>
                <a:spcPct val="100000"/>
              </a:lnSpc>
              <a:spcBef>
                <a:spcPts val="100"/>
              </a:spcBef>
            </a:pPr>
            <a:r>
              <a:rPr dirty="0"/>
              <a:t>Levels</a:t>
            </a:r>
            <a:r>
              <a:rPr spc="-25" dirty="0"/>
              <a:t> </a:t>
            </a:r>
            <a:r>
              <a:rPr dirty="0"/>
              <a:t>of</a:t>
            </a:r>
            <a:r>
              <a:rPr spc="-20" dirty="0"/>
              <a:t> </a:t>
            </a:r>
            <a:r>
              <a:rPr spc="-10" dirty="0"/>
              <a:t>Virtualization</a:t>
            </a:r>
          </a:p>
        </p:txBody>
      </p:sp>
      <p:sp>
        <p:nvSpPr>
          <p:cNvPr id="3" name="object 3"/>
          <p:cNvSpPr txBox="1"/>
          <p:nvPr/>
        </p:nvSpPr>
        <p:spPr>
          <a:xfrm>
            <a:off x="457454" y="4897628"/>
            <a:ext cx="7743190" cy="756285"/>
          </a:xfrm>
          <a:prstGeom prst="rect">
            <a:avLst/>
          </a:prstGeom>
        </p:spPr>
        <p:txBody>
          <a:bodyPr vert="horz" wrap="square" lIns="0" tIns="12700" rIns="0" bIns="0" rtlCol="0">
            <a:spAutoFit/>
          </a:bodyPr>
          <a:lstStyle/>
          <a:p>
            <a:pPr marL="355600" marR="5080" indent="-342900">
              <a:lnSpc>
                <a:spcPct val="100000"/>
              </a:lnSpc>
              <a:spcBef>
                <a:spcPts val="100"/>
              </a:spcBef>
              <a:buClr>
                <a:srgbClr val="053CE8"/>
              </a:buClr>
              <a:buSzPct val="75000"/>
              <a:buFont typeface="Wingdings"/>
              <a:buChar char=""/>
              <a:tabLst>
                <a:tab pos="355600" algn="l"/>
              </a:tabLst>
            </a:pPr>
            <a:r>
              <a:rPr sz="2400" dirty="0">
                <a:latin typeface="Times New Roman"/>
                <a:cs typeface="Times New Roman"/>
              </a:rPr>
              <a:t>Network</a:t>
            </a:r>
            <a:r>
              <a:rPr sz="2400" spc="-45" dirty="0">
                <a:latin typeface="Times New Roman"/>
                <a:cs typeface="Times New Roman"/>
              </a:rPr>
              <a:t> </a:t>
            </a:r>
            <a:r>
              <a:rPr sz="2400" dirty="0">
                <a:latin typeface="Times New Roman"/>
                <a:cs typeface="Times New Roman"/>
              </a:rPr>
              <a:t>and</a:t>
            </a:r>
            <a:r>
              <a:rPr sz="2400" spc="-40" dirty="0">
                <a:latin typeface="Times New Roman"/>
                <a:cs typeface="Times New Roman"/>
              </a:rPr>
              <a:t> </a:t>
            </a:r>
            <a:r>
              <a:rPr sz="2400" dirty="0">
                <a:latin typeface="Times New Roman"/>
                <a:cs typeface="Times New Roman"/>
              </a:rPr>
              <a:t>Storage</a:t>
            </a:r>
            <a:r>
              <a:rPr sz="2400" spc="-40" dirty="0">
                <a:latin typeface="Times New Roman"/>
                <a:cs typeface="Times New Roman"/>
              </a:rPr>
              <a:t> </a:t>
            </a:r>
            <a:r>
              <a:rPr sz="2400" dirty="0">
                <a:latin typeface="Times New Roman"/>
                <a:cs typeface="Times New Roman"/>
              </a:rPr>
              <a:t>virtualization</a:t>
            </a:r>
            <a:r>
              <a:rPr sz="2400" spc="-40" dirty="0">
                <a:latin typeface="Times New Roman"/>
                <a:cs typeface="Times New Roman"/>
              </a:rPr>
              <a:t> </a:t>
            </a:r>
            <a:r>
              <a:rPr sz="2400" dirty="0">
                <a:latin typeface="Times New Roman"/>
                <a:cs typeface="Times New Roman"/>
              </a:rPr>
              <a:t>will</a:t>
            </a:r>
            <a:r>
              <a:rPr sz="2400" spc="-40" dirty="0">
                <a:latin typeface="Times New Roman"/>
                <a:cs typeface="Times New Roman"/>
              </a:rPr>
              <a:t> </a:t>
            </a:r>
            <a:r>
              <a:rPr sz="2400" dirty="0">
                <a:latin typeface="Times New Roman"/>
                <a:cs typeface="Times New Roman"/>
              </a:rPr>
              <a:t>be</a:t>
            </a:r>
            <a:r>
              <a:rPr sz="2400" spc="-40" dirty="0">
                <a:latin typeface="Times New Roman"/>
                <a:cs typeface="Times New Roman"/>
              </a:rPr>
              <a:t> </a:t>
            </a:r>
            <a:r>
              <a:rPr sz="2400" dirty="0">
                <a:latin typeface="Times New Roman"/>
                <a:cs typeface="Times New Roman"/>
              </a:rPr>
              <a:t>discussed</a:t>
            </a:r>
            <a:r>
              <a:rPr sz="2400" spc="-40" dirty="0">
                <a:latin typeface="Times New Roman"/>
                <a:cs typeface="Times New Roman"/>
              </a:rPr>
              <a:t> </a:t>
            </a:r>
            <a:r>
              <a:rPr sz="2400" dirty="0">
                <a:latin typeface="Times New Roman"/>
                <a:cs typeface="Times New Roman"/>
              </a:rPr>
              <a:t>in</a:t>
            </a:r>
            <a:r>
              <a:rPr sz="2400" spc="-40" dirty="0">
                <a:latin typeface="Times New Roman"/>
                <a:cs typeface="Times New Roman"/>
              </a:rPr>
              <a:t> </a:t>
            </a:r>
            <a:r>
              <a:rPr sz="2400" spc="-10" dirty="0">
                <a:latin typeface="Times New Roman"/>
                <a:cs typeface="Times New Roman"/>
              </a:rPr>
              <a:t>later </a:t>
            </a:r>
            <a:r>
              <a:rPr sz="2400" dirty="0">
                <a:latin typeface="Times New Roman"/>
                <a:cs typeface="Times New Roman"/>
              </a:rPr>
              <a:t>modules</a:t>
            </a:r>
            <a:r>
              <a:rPr sz="2400" spc="-30" dirty="0">
                <a:latin typeface="Times New Roman"/>
                <a:cs typeface="Times New Roman"/>
              </a:rPr>
              <a:t> </a:t>
            </a:r>
            <a:r>
              <a:rPr sz="2400" dirty="0">
                <a:latin typeface="Times New Roman"/>
                <a:cs typeface="Times New Roman"/>
              </a:rPr>
              <a:t>of</a:t>
            </a:r>
            <a:r>
              <a:rPr sz="2400" spc="-30" dirty="0">
                <a:latin typeface="Times New Roman"/>
                <a:cs typeface="Times New Roman"/>
              </a:rPr>
              <a:t> </a:t>
            </a:r>
            <a:r>
              <a:rPr sz="2400" dirty="0">
                <a:latin typeface="Times New Roman"/>
                <a:cs typeface="Times New Roman"/>
              </a:rPr>
              <a:t>this</a:t>
            </a:r>
            <a:r>
              <a:rPr sz="2400" spc="-25" dirty="0">
                <a:latin typeface="Times New Roman"/>
                <a:cs typeface="Times New Roman"/>
              </a:rPr>
              <a:t> </a:t>
            </a:r>
            <a:r>
              <a:rPr sz="2400" spc="-10" dirty="0">
                <a:latin typeface="Times New Roman"/>
                <a:cs typeface="Times New Roman"/>
              </a:rPr>
              <a:t>course.</a:t>
            </a:r>
            <a:endParaRPr sz="2400">
              <a:latin typeface="Times New Roman"/>
              <a:cs typeface="Times New Roman"/>
            </a:endParaRPr>
          </a:p>
        </p:txBody>
      </p:sp>
      <p:graphicFrame>
        <p:nvGraphicFramePr>
          <p:cNvPr id="4" name="object 4"/>
          <p:cNvGraphicFramePr>
            <a:graphicFrameLocks noGrp="1"/>
          </p:cNvGraphicFramePr>
          <p:nvPr/>
        </p:nvGraphicFramePr>
        <p:xfrm>
          <a:off x="2501900" y="1326896"/>
          <a:ext cx="3565525" cy="3382009"/>
        </p:xfrm>
        <a:graphic>
          <a:graphicData uri="http://schemas.openxmlformats.org/drawingml/2006/table">
            <a:tbl>
              <a:tblPr firstRow="1" bandRow="1">
                <a:tableStyleId>{2D5ABB26-0587-4C30-8999-92F81FD0307C}</a:tableStyleId>
              </a:tblPr>
              <a:tblGrid>
                <a:gridCol w="3565525">
                  <a:extLst>
                    <a:ext uri="{9D8B030D-6E8A-4147-A177-3AD203B41FA5}">
                      <a16:colId xmlns:a16="http://schemas.microsoft.com/office/drawing/2014/main" val="20000"/>
                    </a:ext>
                  </a:extLst>
                </a:gridCol>
              </a:tblGrid>
              <a:tr h="421640">
                <a:tc>
                  <a:txBody>
                    <a:bodyPr/>
                    <a:lstStyle/>
                    <a:p>
                      <a:pPr marL="635" algn="ctr">
                        <a:lnSpc>
                          <a:spcPct val="100000"/>
                        </a:lnSpc>
                        <a:spcBef>
                          <a:spcPts val="385"/>
                        </a:spcBef>
                      </a:pPr>
                      <a:r>
                        <a:rPr sz="2000" dirty="0">
                          <a:latin typeface="Times New Roman"/>
                          <a:cs typeface="Times New Roman"/>
                        </a:rPr>
                        <a:t>User</a:t>
                      </a:r>
                      <a:r>
                        <a:rPr sz="2000" spc="-55" dirty="0">
                          <a:latin typeface="Times New Roman"/>
                          <a:cs typeface="Times New Roman"/>
                        </a:rPr>
                        <a:t> </a:t>
                      </a:r>
                      <a:r>
                        <a:rPr sz="2000" spc="-10" dirty="0">
                          <a:latin typeface="Times New Roman"/>
                          <a:cs typeface="Times New Roman"/>
                        </a:rPr>
                        <a:t>Virtualization</a:t>
                      </a:r>
                      <a:endParaRPr sz="2000">
                        <a:latin typeface="Times New Roman"/>
                        <a:cs typeface="Times New Roman"/>
                      </a:endParaRPr>
                    </a:p>
                  </a:txBody>
                  <a:tcPr marL="0" marR="0" marT="4889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422909">
                <a:tc>
                  <a:txBody>
                    <a:bodyPr/>
                    <a:lstStyle/>
                    <a:p>
                      <a:pPr marL="1905" algn="ctr">
                        <a:lnSpc>
                          <a:spcPct val="100000"/>
                        </a:lnSpc>
                        <a:spcBef>
                          <a:spcPts val="395"/>
                        </a:spcBef>
                      </a:pPr>
                      <a:r>
                        <a:rPr sz="2000" dirty="0">
                          <a:latin typeface="Times New Roman"/>
                          <a:cs typeface="Times New Roman"/>
                        </a:rPr>
                        <a:t>Application</a:t>
                      </a:r>
                      <a:r>
                        <a:rPr sz="2000" spc="-55" dirty="0">
                          <a:latin typeface="Times New Roman"/>
                          <a:cs typeface="Times New Roman"/>
                        </a:rPr>
                        <a:t> </a:t>
                      </a:r>
                      <a:r>
                        <a:rPr sz="2000" spc="-10" dirty="0">
                          <a:latin typeface="Times New Roman"/>
                          <a:cs typeface="Times New Roman"/>
                        </a:rPr>
                        <a:t>Virtualization</a:t>
                      </a:r>
                      <a:endParaRPr sz="2000">
                        <a:latin typeface="Times New Roman"/>
                        <a:cs typeface="Times New Roman"/>
                      </a:endParaRPr>
                    </a:p>
                  </a:txBody>
                  <a:tcPr marL="0" marR="0" marT="5016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1"/>
                  </a:ext>
                </a:extLst>
              </a:tr>
              <a:tr h="418465">
                <a:tc>
                  <a:txBody>
                    <a:bodyPr/>
                    <a:lstStyle/>
                    <a:p>
                      <a:pPr algn="ctr">
                        <a:lnSpc>
                          <a:spcPct val="100000"/>
                        </a:lnSpc>
                        <a:spcBef>
                          <a:spcPts val="385"/>
                        </a:spcBef>
                      </a:pPr>
                      <a:r>
                        <a:rPr sz="2000" spc="-10" dirty="0">
                          <a:latin typeface="Times New Roman"/>
                          <a:cs typeface="Times New Roman"/>
                        </a:rPr>
                        <a:t>Desktop</a:t>
                      </a:r>
                      <a:endParaRPr sz="2000">
                        <a:latin typeface="Times New Roman"/>
                        <a:cs typeface="Times New Roman"/>
                      </a:endParaRPr>
                    </a:p>
                  </a:txBody>
                  <a:tcPr marL="0" marR="0" marT="48895" marB="0">
                    <a:lnL w="28575">
                      <a:solidFill>
                        <a:srgbClr val="000000"/>
                      </a:solidFill>
                      <a:prstDash val="solid"/>
                    </a:lnL>
                    <a:lnR w="28575">
                      <a:solidFill>
                        <a:srgbClr val="000000"/>
                      </a:solidFill>
                      <a:prstDash val="solid"/>
                    </a:lnR>
                    <a:lnT w="28575">
                      <a:solidFill>
                        <a:srgbClr val="000000"/>
                      </a:solidFill>
                      <a:prstDash val="solid"/>
                    </a:lnT>
                    <a:lnB w="38100">
                      <a:solidFill>
                        <a:srgbClr val="000000"/>
                      </a:solidFill>
                      <a:prstDash val="solid"/>
                    </a:lnB>
                  </a:tcPr>
                </a:tc>
                <a:extLst>
                  <a:ext uri="{0D108BD9-81ED-4DB2-BD59-A6C34878D82A}">
                    <a16:rowId xmlns:a16="http://schemas.microsoft.com/office/drawing/2014/main" val="10002"/>
                  </a:ext>
                </a:extLst>
              </a:tr>
              <a:tr h="419100">
                <a:tc>
                  <a:txBody>
                    <a:bodyPr/>
                    <a:lstStyle/>
                    <a:p>
                      <a:pPr algn="ctr">
                        <a:lnSpc>
                          <a:spcPct val="100000"/>
                        </a:lnSpc>
                        <a:spcBef>
                          <a:spcPts val="365"/>
                        </a:spcBef>
                      </a:pPr>
                      <a:r>
                        <a:rPr sz="2000" dirty="0">
                          <a:latin typeface="Times New Roman"/>
                          <a:cs typeface="Times New Roman"/>
                        </a:rPr>
                        <a:t>Service</a:t>
                      </a:r>
                      <a:r>
                        <a:rPr sz="2000" spc="-30" dirty="0">
                          <a:latin typeface="Times New Roman"/>
                          <a:cs typeface="Times New Roman"/>
                        </a:rPr>
                        <a:t> </a:t>
                      </a:r>
                      <a:r>
                        <a:rPr sz="2000" spc="-10" dirty="0">
                          <a:latin typeface="Times New Roman"/>
                          <a:cs typeface="Times New Roman"/>
                        </a:rPr>
                        <a:t>Virtualization</a:t>
                      </a:r>
                      <a:endParaRPr sz="2000">
                        <a:latin typeface="Times New Roman"/>
                        <a:cs typeface="Times New Roman"/>
                      </a:endParaRPr>
                    </a:p>
                  </a:txBody>
                  <a:tcPr marL="0" marR="0" marT="46355" marB="0">
                    <a:lnL w="28575">
                      <a:solidFill>
                        <a:srgbClr val="000000"/>
                      </a:solidFill>
                      <a:prstDash val="solid"/>
                    </a:lnL>
                    <a:lnR w="28575">
                      <a:solidFill>
                        <a:srgbClr val="000000"/>
                      </a:solidFill>
                      <a:prstDash val="solid"/>
                    </a:lnR>
                    <a:lnT w="38100">
                      <a:solidFill>
                        <a:srgbClr val="000000"/>
                      </a:solidFill>
                      <a:prstDash val="solid"/>
                    </a:lnT>
                    <a:lnB w="28575">
                      <a:solidFill>
                        <a:srgbClr val="000000"/>
                      </a:solidFill>
                      <a:prstDash val="solid"/>
                    </a:lnB>
                  </a:tcPr>
                </a:tc>
                <a:extLst>
                  <a:ext uri="{0D108BD9-81ED-4DB2-BD59-A6C34878D82A}">
                    <a16:rowId xmlns:a16="http://schemas.microsoft.com/office/drawing/2014/main" val="10003"/>
                  </a:ext>
                </a:extLst>
              </a:tr>
              <a:tr h="418465">
                <a:tc>
                  <a:txBody>
                    <a:bodyPr/>
                    <a:lstStyle/>
                    <a:p>
                      <a:pPr algn="ctr">
                        <a:lnSpc>
                          <a:spcPct val="100000"/>
                        </a:lnSpc>
                        <a:spcBef>
                          <a:spcPts val="385"/>
                        </a:spcBef>
                      </a:pPr>
                      <a:r>
                        <a:rPr sz="2000" dirty="0">
                          <a:latin typeface="Times New Roman"/>
                          <a:cs typeface="Times New Roman"/>
                        </a:rPr>
                        <a:t>Operating</a:t>
                      </a:r>
                      <a:r>
                        <a:rPr sz="2000" spc="-40" dirty="0">
                          <a:latin typeface="Times New Roman"/>
                          <a:cs typeface="Times New Roman"/>
                        </a:rPr>
                        <a:t> </a:t>
                      </a:r>
                      <a:r>
                        <a:rPr sz="2000" dirty="0">
                          <a:latin typeface="Times New Roman"/>
                          <a:cs typeface="Times New Roman"/>
                        </a:rPr>
                        <a:t>System</a:t>
                      </a:r>
                      <a:r>
                        <a:rPr sz="2000" spc="-35" dirty="0">
                          <a:latin typeface="Times New Roman"/>
                          <a:cs typeface="Times New Roman"/>
                        </a:rPr>
                        <a:t> </a:t>
                      </a:r>
                      <a:r>
                        <a:rPr sz="2000" spc="-10" dirty="0">
                          <a:latin typeface="Times New Roman"/>
                          <a:cs typeface="Times New Roman"/>
                        </a:rPr>
                        <a:t>Virtualization</a:t>
                      </a:r>
                      <a:endParaRPr sz="2000">
                        <a:latin typeface="Times New Roman"/>
                        <a:cs typeface="Times New Roman"/>
                      </a:endParaRPr>
                    </a:p>
                  </a:txBody>
                  <a:tcPr marL="0" marR="0" marT="48895" marB="0">
                    <a:lnL w="28575">
                      <a:solidFill>
                        <a:srgbClr val="000000"/>
                      </a:solidFill>
                      <a:prstDash val="solid"/>
                    </a:lnL>
                    <a:lnR w="28575">
                      <a:solidFill>
                        <a:srgbClr val="000000"/>
                      </a:solidFill>
                      <a:prstDash val="solid"/>
                    </a:lnR>
                    <a:lnT w="28575">
                      <a:solidFill>
                        <a:srgbClr val="000000"/>
                      </a:solidFill>
                      <a:prstDash val="solid"/>
                    </a:lnT>
                    <a:lnB w="38100">
                      <a:solidFill>
                        <a:srgbClr val="000000"/>
                      </a:solidFill>
                      <a:prstDash val="solid"/>
                    </a:lnB>
                  </a:tcPr>
                </a:tc>
                <a:extLst>
                  <a:ext uri="{0D108BD9-81ED-4DB2-BD59-A6C34878D82A}">
                    <a16:rowId xmlns:a16="http://schemas.microsoft.com/office/drawing/2014/main" val="10004"/>
                  </a:ext>
                </a:extLst>
              </a:tr>
              <a:tr h="419100">
                <a:tc>
                  <a:txBody>
                    <a:bodyPr/>
                    <a:lstStyle/>
                    <a:p>
                      <a:pPr algn="ctr">
                        <a:lnSpc>
                          <a:spcPct val="100000"/>
                        </a:lnSpc>
                        <a:spcBef>
                          <a:spcPts val="365"/>
                        </a:spcBef>
                      </a:pPr>
                      <a:r>
                        <a:rPr sz="2000" dirty="0">
                          <a:latin typeface="Times New Roman"/>
                          <a:cs typeface="Times New Roman"/>
                        </a:rPr>
                        <a:t>Server</a:t>
                      </a:r>
                      <a:r>
                        <a:rPr sz="2000" spc="-35" dirty="0">
                          <a:latin typeface="Times New Roman"/>
                          <a:cs typeface="Times New Roman"/>
                        </a:rPr>
                        <a:t> </a:t>
                      </a:r>
                      <a:r>
                        <a:rPr sz="2000" spc="-10" dirty="0">
                          <a:latin typeface="Times New Roman"/>
                          <a:cs typeface="Times New Roman"/>
                        </a:rPr>
                        <a:t>Virtualization</a:t>
                      </a:r>
                      <a:endParaRPr sz="2000">
                        <a:latin typeface="Times New Roman"/>
                        <a:cs typeface="Times New Roman"/>
                      </a:endParaRPr>
                    </a:p>
                  </a:txBody>
                  <a:tcPr marL="0" marR="0" marT="46355" marB="0">
                    <a:lnL w="28575">
                      <a:solidFill>
                        <a:srgbClr val="000000"/>
                      </a:solidFill>
                      <a:prstDash val="solid"/>
                    </a:lnL>
                    <a:lnR w="28575">
                      <a:solidFill>
                        <a:srgbClr val="000000"/>
                      </a:solidFill>
                      <a:prstDash val="solid"/>
                    </a:lnR>
                    <a:lnT w="38100">
                      <a:solidFill>
                        <a:srgbClr val="000000"/>
                      </a:solidFill>
                      <a:prstDash val="solid"/>
                    </a:lnT>
                    <a:lnB w="28575">
                      <a:solidFill>
                        <a:srgbClr val="000000"/>
                      </a:solidFill>
                      <a:prstDash val="solid"/>
                    </a:lnB>
                  </a:tcPr>
                </a:tc>
                <a:extLst>
                  <a:ext uri="{0D108BD9-81ED-4DB2-BD59-A6C34878D82A}">
                    <a16:rowId xmlns:a16="http://schemas.microsoft.com/office/drawing/2014/main" val="10005"/>
                  </a:ext>
                </a:extLst>
              </a:tr>
              <a:tr h="431165">
                <a:tc>
                  <a:txBody>
                    <a:bodyPr/>
                    <a:lstStyle/>
                    <a:p>
                      <a:pPr marL="635" algn="ctr">
                        <a:lnSpc>
                          <a:spcPct val="100000"/>
                        </a:lnSpc>
                        <a:spcBef>
                          <a:spcPts val="385"/>
                        </a:spcBef>
                      </a:pPr>
                      <a:r>
                        <a:rPr sz="2000" dirty="0">
                          <a:latin typeface="Times New Roman"/>
                          <a:cs typeface="Times New Roman"/>
                        </a:rPr>
                        <a:t>Storage</a:t>
                      </a:r>
                      <a:r>
                        <a:rPr sz="2000" spc="-30" dirty="0">
                          <a:latin typeface="Times New Roman"/>
                          <a:cs typeface="Times New Roman"/>
                        </a:rPr>
                        <a:t> </a:t>
                      </a:r>
                      <a:r>
                        <a:rPr sz="2000" spc="-10" dirty="0">
                          <a:latin typeface="Times New Roman"/>
                          <a:cs typeface="Times New Roman"/>
                        </a:rPr>
                        <a:t>Virtualization</a:t>
                      </a:r>
                      <a:endParaRPr sz="2000">
                        <a:latin typeface="Times New Roman"/>
                        <a:cs typeface="Times New Roman"/>
                      </a:endParaRPr>
                    </a:p>
                  </a:txBody>
                  <a:tcPr marL="0" marR="0" marT="48895" marB="0">
                    <a:lnL w="28575">
                      <a:solidFill>
                        <a:srgbClr val="000000"/>
                      </a:solidFill>
                      <a:prstDash val="solid"/>
                    </a:lnL>
                    <a:lnR w="28575">
                      <a:solidFill>
                        <a:srgbClr val="000000"/>
                      </a:solidFill>
                      <a:prstDash val="solid"/>
                    </a:lnR>
                    <a:lnT w="28575">
                      <a:solidFill>
                        <a:srgbClr val="000000"/>
                      </a:solidFill>
                      <a:prstDash val="solid"/>
                    </a:lnT>
                    <a:lnB w="57150">
                      <a:solidFill>
                        <a:srgbClr val="000000"/>
                      </a:solidFill>
                      <a:prstDash val="solid"/>
                    </a:lnB>
                  </a:tcPr>
                </a:tc>
                <a:extLst>
                  <a:ext uri="{0D108BD9-81ED-4DB2-BD59-A6C34878D82A}">
                    <a16:rowId xmlns:a16="http://schemas.microsoft.com/office/drawing/2014/main" val="10006"/>
                  </a:ext>
                </a:extLst>
              </a:tr>
              <a:tr h="431165">
                <a:tc>
                  <a:txBody>
                    <a:bodyPr/>
                    <a:lstStyle/>
                    <a:p>
                      <a:pPr algn="ctr">
                        <a:lnSpc>
                          <a:spcPct val="100000"/>
                        </a:lnSpc>
                        <a:spcBef>
                          <a:spcPts val="459"/>
                        </a:spcBef>
                      </a:pPr>
                      <a:r>
                        <a:rPr sz="2000" dirty="0">
                          <a:latin typeface="Times New Roman"/>
                          <a:cs typeface="Times New Roman"/>
                        </a:rPr>
                        <a:t>Network</a:t>
                      </a:r>
                      <a:r>
                        <a:rPr sz="2000" spc="-100" dirty="0">
                          <a:latin typeface="Times New Roman"/>
                          <a:cs typeface="Times New Roman"/>
                        </a:rPr>
                        <a:t> </a:t>
                      </a:r>
                      <a:r>
                        <a:rPr sz="2000" spc="-10" dirty="0">
                          <a:latin typeface="Times New Roman"/>
                          <a:cs typeface="Times New Roman"/>
                        </a:rPr>
                        <a:t>Virtualization</a:t>
                      </a:r>
                      <a:endParaRPr sz="2000">
                        <a:latin typeface="Times New Roman"/>
                        <a:cs typeface="Times New Roman"/>
                      </a:endParaRPr>
                    </a:p>
                  </a:txBody>
                  <a:tcPr marL="0" marR="0" marT="58419" marB="0">
                    <a:lnL w="28575">
                      <a:solidFill>
                        <a:srgbClr val="000000"/>
                      </a:solidFill>
                      <a:prstDash val="solid"/>
                    </a:lnL>
                    <a:lnR w="28575">
                      <a:solidFill>
                        <a:srgbClr val="000000"/>
                      </a:solidFill>
                      <a:prstDash val="solid"/>
                    </a:lnR>
                    <a:lnT w="57150">
                      <a:solidFill>
                        <a:srgbClr val="000000"/>
                      </a:solidFill>
                      <a:prstDash val="solid"/>
                    </a:lnT>
                    <a:lnB w="28575">
                      <a:solidFill>
                        <a:srgbClr val="000000"/>
                      </a:solidFill>
                      <a:prstDash val="solid"/>
                    </a:lnB>
                  </a:tcPr>
                </a:tc>
                <a:extLst>
                  <a:ext uri="{0D108BD9-81ED-4DB2-BD59-A6C34878D82A}">
                    <a16:rowId xmlns:a16="http://schemas.microsoft.com/office/drawing/2014/main" val="10007"/>
                  </a:ext>
                </a:extLst>
              </a:tr>
            </a:tbl>
          </a:graphicData>
        </a:graphic>
      </p:graphicFrame>
      <p:sp>
        <p:nvSpPr>
          <p:cNvPr id="8" name="Slide Number Placeholder 7">
            <a:extLst>
              <a:ext uri="{FF2B5EF4-FFF2-40B4-BE49-F238E27FC236}">
                <a16:creationId xmlns:a16="http://schemas.microsoft.com/office/drawing/2014/main" id="{930AA0FE-6199-9D6E-B7C9-942BBEDA0443}"/>
              </a:ext>
            </a:extLst>
          </p:cNvPr>
          <p:cNvSpPr>
            <a:spLocks noGrp="1"/>
          </p:cNvSpPr>
          <p:nvPr>
            <p:ph type="sldNum" sz="quarter" idx="7"/>
          </p:nvPr>
        </p:nvSpPr>
        <p:spPr/>
        <p:txBody>
          <a:bodyPr/>
          <a:lstStyle/>
          <a:p>
            <a:pPr marL="12700">
              <a:lnSpc>
                <a:spcPts val="2065"/>
              </a:lnSpc>
            </a:pPr>
            <a:fld id="{81D60167-4931-47E6-BA6A-407CBD079E47}" type="slidenum">
              <a:rPr spc="-50" smtClean="0"/>
              <a:t>8</a:t>
            </a:fld>
            <a:endParaRPr spc="-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090" y="356219"/>
            <a:ext cx="7999110" cy="513080"/>
          </a:xfrm>
          <a:prstGeom prst="rect">
            <a:avLst/>
          </a:prstGeom>
        </p:spPr>
        <p:txBody>
          <a:bodyPr vert="horz" wrap="square" lIns="0" tIns="12065" rIns="0" bIns="0" rtlCol="0">
            <a:spAutoFit/>
          </a:bodyPr>
          <a:lstStyle/>
          <a:p>
            <a:pPr marL="12700" algn="ctr">
              <a:lnSpc>
                <a:spcPct val="100000"/>
              </a:lnSpc>
              <a:spcBef>
                <a:spcPts val="95"/>
              </a:spcBef>
            </a:pPr>
            <a:r>
              <a:rPr sz="3200" dirty="0"/>
              <a:t>Operating</a:t>
            </a:r>
            <a:r>
              <a:rPr sz="3200" spc="-60" dirty="0"/>
              <a:t> </a:t>
            </a:r>
            <a:r>
              <a:rPr sz="3200" spc="-10" dirty="0"/>
              <a:t>System-</a:t>
            </a:r>
            <a:r>
              <a:rPr sz="3200" dirty="0"/>
              <a:t>Level</a:t>
            </a:r>
            <a:r>
              <a:rPr sz="3200" spc="-55" dirty="0"/>
              <a:t> </a:t>
            </a:r>
            <a:r>
              <a:rPr sz="3200" spc="-10" dirty="0"/>
              <a:t>Virtualization</a:t>
            </a:r>
            <a:endParaRPr sz="3200"/>
          </a:p>
        </p:txBody>
      </p:sp>
      <p:sp>
        <p:nvSpPr>
          <p:cNvPr id="3" name="object 3"/>
          <p:cNvSpPr/>
          <p:nvPr/>
        </p:nvSpPr>
        <p:spPr>
          <a:xfrm>
            <a:off x="2133600" y="970025"/>
            <a:ext cx="4655820" cy="1751330"/>
          </a:xfrm>
          <a:custGeom>
            <a:avLst/>
            <a:gdLst/>
            <a:ahLst/>
            <a:cxnLst/>
            <a:rect l="l" t="t" r="r" b="b"/>
            <a:pathLst>
              <a:path w="4655820" h="1751330">
                <a:moveTo>
                  <a:pt x="291845" y="0"/>
                </a:moveTo>
                <a:lnTo>
                  <a:pt x="244419" y="3810"/>
                </a:lnTo>
                <a:lnTo>
                  <a:pt x="199461" y="14843"/>
                </a:lnTo>
                <a:lnTo>
                  <a:pt x="157566" y="32506"/>
                </a:lnTo>
                <a:lnTo>
                  <a:pt x="119329" y="56205"/>
                </a:lnTo>
                <a:lnTo>
                  <a:pt x="85343" y="85344"/>
                </a:lnTo>
                <a:lnTo>
                  <a:pt x="56205" y="119329"/>
                </a:lnTo>
                <a:lnTo>
                  <a:pt x="32506" y="157566"/>
                </a:lnTo>
                <a:lnTo>
                  <a:pt x="14843" y="199461"/>
                </a:lnTo>
                <a:lnTo>
                  <a:pt x="3809" y="244419"/>
                </a:lnTo>
                <a:lnTo>
                  <a:pt x="0" y="291846"/>
                </a:lnTo>
                <a:lnTo>
                  <a:pt x="0" y="1459230"/>
                </a:lnTo>
                <a:lnTo>
                  <a:pt x="3809" y="1506471"/>
                </a:lnTo>
                <a:lnTo>
                  <a:pt x="14843" y="1551322"/>
                </a:lnTo>
                <a:lnTo>
                  <a:pt x="32506" y="1593173"/>
                </a:lnTo>
                <a:lnTo>
                  <a:pt x="56205" y="1631417"/>
                </a:lnTo>
                <a:lnTo>
                  <a:pt x="85343" y="1665446"/>
                </a:lnTo>
                <a:lnTo>
                  <a:pt x="119329" y="1694651"/>
                </a:lnTo>
                <a:lnTo>
                  <a:pt x="157566" y="1718425"/>
                </a:lnTo>
                <a:lnTo>
                  <a:pt x="199461" y="1736159"/>
                </a:lnTo>
                <a:lnTo>
                  <a:pt x="244419" y="1747245"/>
                </a:lnTo>
                <a:lnTo>
                  <a:pt x="291845" y="1751076"/>
                </a:lnTo>
                <a:lnTo>
                  <a:pt x="4363974" y="1751075"/>
                </a:lnTo>
                <a:lnTo>
                  <a:pt x="4411400" y="1747245"/>
                </a:lnTo>
                <a:lnTo>
                  <a:pt x="4456358" y="1736159"/>
                </a:lnTo>
                <a:lnTo>
                  <a:pt x="4498253" y="1718425"/>
                </a:lnTo>
                <a:lnTo>
                  <a:pt x="4536490" y="1694651"/>
                </a:lnTo>
                <a:lnTo>
                  <a:pt x="4570476" y="1665446"/>
                </a:lnTo>
                <a:lnTo>
                  <a:pt x="4599614" y="1631417"/>
                </a:lnTo>
                <a:lnTo>
                  <a:pt x="4623313" y="1593173"/>
                </a:lnTo>
                <a:lnTo>
                  <a:pt x="4640976" y="1551322"/>
                </a:lnTo>
                <a:lnTo>
                  <a:pt x="4652010" y="1506471"/>
                </a:lnTo>
                <a:lnTo>
                  <a:pt x="4655820" y="1459230"/>
                </a:lnTo>
                <a:lnTo>
                  <a:pt x="4655820" y="291845"/>
                </a:lnTo>
                <a:lnTo>
                  <a:pt x="4652009" y="244419"/>
                </a:lnTo>
                <a:lnTo>
                  <a:pt x="4640976" y="199461"/>
                </a:lnTo>
                <a:lnTo>
                  <a:pt x="4623313" y="157566"/>
                </a:lnTo>
                <a:lnTo>
                  <a:pt x="4599614" y="119329"/>
                </a:lnTo>
                <a:lnTo>
                  <a:pt x="4570476" y="85343"/>
                </a:lnTo>
                <a:lnTo>
                  <a:pt x="4536490" y="56205"/>
                </a:lnTo>
                <a:lnTo>
                  <a:pt x="4498253" y="32506"/>
                </a:lnTo>
                <a:lnTo>
                  <a:pt x="4456358" y="14843"/>
                </a:lnTo>
                <a:lnTo>
                  <a:pt x="4411400" y="3809"/>
                </a:lnTo>
                <a:lnTo>
                  <a:pt x="4363974" y="0"/>
                </a:lnTo>
                <a:lnTo>
                  <a:pt x="291845" y="0"/>
                </a:lnTo>
                <a:close/>
              </a:path>
            </a:pathLst>
          </a:custGeom>
          <a:ln w="25400">
            <a:solidFill>
              <a:srgbClr val="000000"/>
            </a:solidFill>
          </a:ln>
        </p:spPr>
        <p:txBody>
          <a:bodyPr wrap="square" lIns="0" tIns="0" rIns="0" bIns="0" rtlCol="0"/>
          <a:lstStyle/>
          <a:p>
            <a:endParaRPr/>
          </a:p>
        </p:txBody>
      </p:sp>
      <p:sp>
        <p:nvSpPr>
          <p:cNvPr id="4" name="object 4"/>
          <p:cNvSpPr txBox="1"/>
          <p:nvPr/>
        </p:nvSpPr>
        <p:spPr>
          <a:xfrm>
            <a:off x="457454" y="2328714"/>
            <a:ext cx="8153146" cy="4004943"/>
          </a:xfrm>
          <a:prstGeom prst="rect">
            <a:avLst/>
          </a:prstGeom>
        </p:spPr>
        <p:txBody>
          <a:bodyPr vert="horz" wrap="square" lIns="0" tIns="54610" rIns="0" bIns="0" rtlCol="0">
            <a:spAutoFit/>
          </a:bodyPr>
          <a:lstStyle/>
          <a:p>
            <a:pPr marL="504825" algn="ctr">
              <a:lnSpc>
                <a:spcPct val="100000"/>
              </a:lnSpc>
              <a:spcBef>
                <a:spcPts val="430"/>
              </a:spcBef>
            </a:pPr>
            <a:r>
              <a:rPr sz="2000" dirty="0">
                <a:latin typeface="Times New Roman"/>
                <a:cs typeface="Times New Roman"/>
              </a:rPr>
              <a:t>Operating</a:t>
            </a:r>
            <a:r>
              <a:rPr sz="2000" spc="-5" dirty="0">
                <a:latin typeface="Times New Roman"/>
                <a:cs typeface="Times New Roman"/>
              </a:rPr>
              <a:t> </a:t>
            </a:r>
            <a:r>
              <a:rPr sz="2000" spc="-10" dirty="0">
                <a:latin typeface="Times New Roman"/>
                <a:cs typeface="Times New Roman"/>
              </a:rPr>
              <a:t>System</a:t>
            </a:r>
            <a:endParaRPr sz="2000">
              <a:latin typeface="Times New Roman"/>
              <a:cs typeface="Times New Roman"/>
            </a:endParaRPr>
          </a:p>
          <a:p>
            <a:pPr marL="354965" indent="-342265">
              <a:lnSpc>
                <a:spcPct val="100000"/>
              </a:lnSpc>
              <a:spcBef>
                <a:spcPts val="395"/>
              </a:spcBef>
              <a:buClr>
                <a:srgbClr val="053CE8"/>
              </a:buClr>
              <a:buSzPct val="75000"/>
              <a:buFont typeface="Wingdings"/>
              <a:buChar char=""/>
              <a:tabLst>
                <a:tab pos="354965" algn="l"/>
              </a:tabLst>
            </a:pPr>
            <a:r>
              <a:rPr sz="2400" dirty="0">
                <a:latin typeface="Times New Roman"/>
                <a:cs typeface="Times New Roman"/>
              </a:rPr>
              <a:t>Multiple</a:t>
            </a:r>
            <a:r>
              <a:rPr sz="2400" spc="-35" dirty="0">
                <a:latin typeface="Times New Roman"/>
                <a:cs typeface="Times New Roman"/>
              </a:rPr>
              <a:t> </a:t>
            </a:r>
            <a:r>
              <a:rPr sz="2400" dirty="0">
                <a:latin typeface="Times New Roman"/>
                <a:cs typeface="Times New Roman"/>
              </a:rPr>
              <a:t>isolated</a:t>
            </a:r>
            <a:r>
              <a:rPr sz="2400" spc="-30" dirty="0">
                <a:latin typeface="Times New Roman"/>
                <a:cs typeface="Times New Roman"/>
              </a:rPr>
              <a:t> </a:t>
            </a:r>
            <a:r>
              <a:rPr sz="2400" dirty="0">
                <a:latin typeface="Times New Roman"/>
                <a:cs typeface="Times New Roman"/>
              </a:rPr>
              <a:t>user</a:t>
            </a:r>
            <a:r>
              <a:rPr sz="2400" spc="-35" dirty="0">
                <a:latin typeface="Times New Roman"/>
                <a:cs typeface="Times New Roman"/>
              </a:rPr>
              <a:t> </a:t>
            </a:r>
            <a:r>
              <a:rPr sz="2400" dirty="0">
                <a:latin typeface="Times New Roman"/>
                <a:cs typeface="Times New Roman"/>
              </a:rPr>
              <a:t>spaces</a:t>
            </a:r>
            <a:r>
              <a:rPr sz="2400" spc="-30" dirty="0">
                <a:latin typeface="Times New Roman"/>
                <a:cs typeface="Times New Roman"/>
              </a:rPr>
              <a:t> </a:t>
            </a:r>
            <a:r>
              <a:rPr sz="2400" dirty="0">
                <a:latin typeface="Times New Roman"/>
                <a:cs typeface="Times New Roman"/>
              </a:rPr>
              <a:t>on</a:t>
            </a:r>
            <a:r>
              <a:rPr sz="2400" spc="-35"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same</a:t>
            </a:r>
            <a:r>
              <a:rPr sz="2400" spc="-35" dirty="0">
                <a:latin typeface="Times New Roman"/>
                <a:cs typeface="Times New Roman"/>
              </a:rPr>
              <a:t> </a:t>
            </a:r>
            <a:r>
              <a:rPr sz="2400" dirty="0">
                <a:latin typeface="Times New Roman"/>
                <a:cs typeface="Times New Roman"/>
              </a:rPr>
              <a:t>operating</a:t>
            </a:r>
            <a:r>
              <a:rPr sz="2400" spc="-30" dirty="0">
                <a:latin typeface="Times New Roman"/>
                <a:cs typeface="Times New Roman"/>
              </a:rPr>
              <a:t> </a:t>
            </a:r>
            <a:r>
              <a:rPr sz="2400" spc="-10" dirty="0">
                <a:latin typeface="Times New Roman"/>
                <a:cs typeface="Times New Roman"/>
              </a:rPr>
              <a:t>system</a:t>
            </a:r>
            <a:endParaRPr sz="2400">
              <a:latin typeface="Times New Roman"/>
              <a:cs typeface="Times New Roman"/>
            </a:endParaRPr>
          </a:p>
          <a:p>
            <a:pPr marL="354965" indent="-342265">
              <a:lnSpc>
                <a:spcPct val="100000"/>
              </a:lnSpc>
              <a:spcBef>
                <a:spcPts val="284"/>
              </a:spcBef>
              <a:buClr>
                <a:srgbClr val="053CE8"/>
              </a:buClr>
              <a:buSzPct val="75000"/>
              <a:buFont typeface="Wingdings"/>
              <a:buChar char=""/>
              <a:tabLst>
                <a:tab pos="354965" algn="l"/>
              </a:tabLst>
            </a:pPr>
            <a:r>
              <a:rPr sz="2400" dirty="0">
                <a:latin typeface="Times New Roman"/>
                <a:cs typeface="Times New Roman"/>
              </a:rPr>
              <a:t>Example:</a:t>
            </a:r>
            <a:r>
              <a:rPr sz="2400" spc="-30" dirty="0">
                <a:latin typeface="Times New Roman"/>
                <a:cs typeface="Times New Roman"/>
              </a:rPr>
              <a:t> </a:t>
            </a:r>
            <a:r>
              <a:rPr sz="2400" dirty="0">
                <a:latin typeface="Times New Roman"/>
                <a:cs typeface="Times New Roman"/>
              </a:rPr>
              <a:t>Windows</a:t>
            </a:r>
            <a:r>
              <a:rPr sz="2400" spc="-30" dirty="0">
                <a:latin typeface="Times New Roman"/>
                <a:cs typeface="Times New Roman"/>
              </a:rPr>
              <a:t> </a:t>
            </a:r>
            <a:r>
              <a:rPr sz="2400" dirty="0">
                <a:latin typeface="Times New Roman"/>
                <a:cs typeface="Times New Roman"/>
              </a:rPr>
              <a:t>Server</a:t>
            </a:r>
            <a:r>
              <a:rPr sz="2400" spc="-30" dirty="0">
                <a:latin typeface="Times New Roman"/>
                <a:cs typeface="Times New Roman"/>
              </a:rPr>
              <a:t> </a:t>
            </a:r>
            <a:r>
              <a:rPr sz="2400" dirty="0">
                <a:latin typeface="Times New Roman"/>
                <a:cs typeface="Times New Roman"/>
              </a:rPr>
              <a:t>2003,</a:t>
            </a:r>
            <a:r>
              <a:rPr sz="2400" spc="-30" dirty="0">
                <a:latin typeface="Times New Roman"/>
                <a:cs typeface="Times New Roman"/>
              </a:rPr>
              <a:t> </a:t>
            </a:r>
            <a:r>
              <a:rPr sz="2400" dirty="0">
                <a:latin typeface="Times New Roman"/>
                <a:cs typeface="Times New Roman"/>
              </a:rPr>
              <a:t>2008</a:t>
            </a:r>
            <a:r>
              <a:rPr sz="2400">
                <a:latin typeface="Times New Roman"/>
                <a:cs typeface="Times New Roman"/>
              </a:rPr>
              <a:t>,</a:t>
            </a:r>
            <a:r>
              <a:rPr sz="2400" spc="-30">
                <a:latin typeface="Times New Roman"/>
                <a:cs typeface="Times New Roman"/>
              </a:rPr>
              <a:t> </a:t>
            </a:r>
            <a:r>
              <a:rPr sz="2400">
                <a:latin typeface="Times New Roman"/>
                <a:cs typeface="Times New Roman"/>
              </a:rPr>
              <a:t>2012,</a:t>
            </a:r>
            <a:r>
              <a:rPr lang="en-US" sz="2400">
                <a:latin typeface="Times New Roman"/>
                <a:cs typeface="Times New Roman"/>
              </a:rPr>
              <a:t>2019</a:t>
            </a:r>
            <a:r>
              <a:rPr sz="2400" spc="-30">
                <a:latin typeface="Times New Roman"/>
                <a:cs typeface="Times New Roman"/>
              </a:rPr>
              <a:t> </a:t>
            </a:r>
            <a:r>
              <a:rPr sz="2400" spc="-50" dirty="0">
                <a:latin typeface="Times New Roman"/>
                <a:cs typeface="Times New Roman"/>
              </a:rPr>
              <a:t>…</a:t>
            </a:r>
            <a:endParaRPr sz="2400">
              <a:latin typeface="Times New Roman"/>
              <a:cs typeface="Times New Roman"/>
            </a:endParaRPr>
          </a:p>
          <a:p>
            <a:pPr marL="355600" marR="655320" indent="-342900">
              <a:lnSpc>
                <a:spcPts val="2590"/>
              </a:lnSpc>
              <a:spcBef>
                <a:spcPts val="610"/>
              </a:spcBef>
              <a:buClr>
                <a:srgbClr val="053CE8"/>
              </a:buClr>
              <a:buSzPct val="75000"/>
              <a:buFont typeface="Wingdings"/>
              <a:buChar char=""/>
              <a:tabLst>
                <a:tab pos="355600" algn="l"/>
              </a:tabLst>
            </a:pPr>
            <a:r>
              <a:rPr sz="2400" dirty="0">
                <a:latin typeface="Times New Roman"/>
                <a:cs typeface="Times New Roman"/>
              </a:rPr>
              <a:t>Multiple</a:t>
            </a:r>
            <a:r>
              <a:rPr sz="2400" spc="-35" dirty="0">
                <a:latin typeface="Times New Roman"/>
                <a:cs typeface="Times New Roman"/>
              </a:rPr>
              <a:t> </a:t>
            </a:r>
            <a:r>
              <a:rPr sz="2400" dirty="0">
                <a:latin typeface="Times New Roman"/>
                <a:cs typeface="Times New Roman"/>
              </a:rPr>
              <a:t>users</a:t>
            </a:r>
            <a:r>
              <a:rPr sz="2400" spc="-35" dirty="0">
                <a:latin typeface="Times New Roman"/>
                <a:cs typeface="Times New Roman"/>
              </a:rPr>
              <a:t> </a:t>
            </a:r>
            <a:r>
              <a:rPr sz="2400" dirty="0">
                <a:latin typeface="Times New Roman"/>
                <a:cs typeface="Times New Roman"/>
              </a:rPr>
              <a:t>can</a:t>
            </a:r>
            <a:r>
              <a:rPr sz="2400" spc="-35" dirty="0">
                <a:latin typeface="Times New Roman"/>
                <a:cs typeface="Times New Roman"/>
              </a:rPr>
              <a:t> </a:t>
            </a:r>
            <a:r>
              <a:rPr sz="2400" dirty="0">
                <a:latin typeface="Times New Roman"/>
                <a:cs typeface="Times New Roman"/>
              </a:rPr>
              <a:t>remotely</a:t>
            </a:r>
            <a:r>
              <a:rPr sz="2400" spc="-35" dirty="0">
                <a:latin typeface="Times New Roman"/>
                <a:cs typeface="Times New Roman"/>
              </a:rPr>
              <a:t> </a:t>
            </a:r>
            <a:r>
              <a:rPr sz="2400" dirty="0">
                <a:latin typeface="Times New Roman"/>
                <a:cs typeface="Times New Roman"/>
              </a:rPr>
              <a:t>login</a:t>
            </a:r>
            <a:r>
              <a:rPr sz="2400" spc="-30" dirty="0">
                <a:latin typeface="Times New Roman"/>
                <a:cs typeface="Times New Roman"/>
              </a:rPr>
              <a:t> </a:t>
            </a:r>
            <a:r>
              <a:rPr sz="2400" dirty="0">
                <a:latin typeface="Times New Roman"/>
                <a:cs typeface="Times New Roman"/>
              </a:rPr>
              <a:t>and</a:t>
            </a:r>
            <a:r>
              <a:rPr sz="2400" spc="-35" dirty="0">
                <a:latin typeface="Times New Roman"/>
                <a:cs typeface="Times New Roman"/>
              </a:rPr>
              <a:t> </a:t>
            </a:r>
            <a:r>
              <a:rPr sz="2400" dirty="0">
                <a:latin typeface="Times New Roman"/>
                <a:cs typeface="Times New Roman"/>
              </a:rPr>
              <a:t>use</a:t>
            </a:r>
            <a:r>
              <a:rPr sz="2400" spc="-35" dirty="0">
                <a:latin typeface="Times New Roman"/>
                <a:cs typeface="Times New Roman"/>
              </a:rPr>
              <a:t> </a:t>
            </a:r>
            <a:r>
              <a:rPr sz="2400" dirty="0">
                <a:latin typeface="Times New Roman"/>
                <a:cs typeface="Times New Roman"/>
              </a:rPr>
              <a:t>the</a:t>
            </a:r>
            <a:r>
              <a:rPr sz="2400" spc="-35" dirty="0">
                <a:latin typeface="Times New Roman"/>
                <a:cs typeface="Times New Roman"/>
              </a:rPr>
              <a:t> </a:t>
            </a:r>
            <a:r>
              <a:rPr sz="2400" spc="-10" dirty="0">
                <a:latin typeface="Times New Roman"/>
                <a:cs typeface="Times New Roman"/>
              </a:rPr>
              <a:t>system. </a:t>
            </a:r>
            <a:r>
              <a:rPr sz="2400" dirty="0">
                <a:latin typeface="Times New Roman"/>
                <a:cs typeface="Times New Roman"/>
              </a:rPr>
              <a:t>Only</a:t>
            </a:r>
            <a:r>
              <a:rPr sz="2400" spc="-30" dirty="0">
                <a:latin typeface="Times New Roman"/>
                <a:cs typeface="Times New Roman"/>
              </a:rPr>
              <a:t> </a:t>
            </a:r>
            <a:r>
              <a:rPr sz="2400" dirty="0">
                <a:latin typeface="Times New Roman"/>
                <a:cs typeface="Times New Roman"/>
              </a:rPr>
              <a:t>one</a:t>
            </a:r>
            <a:r>
              <a:rPr sz="2400" spc="-25" dirty="0">
                <a:latin typeface="Times New Roman"/>
                <a:cs typeface="Times New Roman"/>
              </a:rPr>
              <a:t> </a:t>
            </a:r>
            <a:r>
              <a:rPr sz="2400" dirty="0">
                <a:latin typeface="Times New Roman"/>
                <a:cs typeface="Times New Roman"/>
              </a:rPr>
              <a:t>operating</a:t>
            </a:r>
            <a:r>
              <a:rPr sz="2400" spc="-30" dirty="0">
                <a:latin typeface="Times New Roman"/>
                <a:cs typeface="Times New Roman"/>
              </a:rPr>
              <a:t> </a:t>
            </a:r>
            <a:r>
              <a:rPr sz="2400" dirty="0">
                <a:latin typeface="Times New Roman"/>
                <a:cs typeface="Times New Roman"/>
              </a:rPr>
              <a:t>system</a:t>
            </a:r>
            <a:r>
              <a:rPr sz="2400" spc="-25" dirty="0">
                <a:latin typeface="Times New Roman"/>
                <a:cs typeface="Times New Roman"/>
              </a:rPr>
              <a:t> </a:t>
            </a:r>
            <a:r>
              <a:rPr sz="2400" spc="-10" dirty="0">
                <a:latin typeface="Times New Roman"/>
                <a:cs typeface="Times New Roman"/>
              </a:rPr>
              <a:t>instance</a:t>
            </a:r>
            <a:endParaRPr sz="2400">
              <a:latin typeface="Times New Roman"/>
              <a:cs typeface="Times New Roman"/>
            </a:endParaRPr>
          </a:p>
          <a:p>
            <a:pPr marL="355600" marR="680720" indent="-342900">
              <a:lnSpc>
                <a:spcPts val="2590"/>
              </a:lnSpc>
              <a:spcBef>
                <a:spcPts val="570"/>
              </a:spcBef>
              <a:buClr>
                <a:srgbClr val="053CE8"/>
              </a:buClr>
              <a:buSzPct val="75000"/>
              <a:buFont typeface="Wingdings"/>
              <a:buChar char=""/>
              <a:tabLst>
                <a:tab pos="355600" algn="l"/>
              </a:tabLst>
            </a:pPr>
            <a:r>
              <a:rPr sz="2400" dirty="0">
                <a:latin typeface="Times New Roman"/>
                <a:cs typeface="Times New Roman"/>
              </a:rPr>
              <a:t>Guest</a:t>
            </a:r>
            <a:r>
              <a:rPr sz="2400" spc="-35" dirty="0">
                <a:latin typeface="Times New Roman"/>
                <a:cs typeface="Times New Roman"/>
              </a:rPr>
              <a:t> </a:t>
            </a:r>
            <a:r>
              <a:rPr sz="2400" dirty="0">
                <a:latin typeface="Times New Roman"/>
                <a:cs typeface="Times New Roman"/>
              </a:rPr>
              <a:t>operating</a:t>
            </a:r>
            <a:r>
              <a:rPr sz="2400" spc="-35" dirty="0">
                <a:latin typeface="Times New Roman"/>
                <a:cs typeface="Times New Roman"/>
              </a:rPr>
              <a:t> </a:t>
            </a:r>
            <a:r>
              <a:rPr sz="2400" dirty="0">
                <a:latin typeface="Times New Roman"/>
                <a:cs typeface="Times New Roman"/>
              </a:rPr>
              <a:t>system</a:t>
            </a:r>
            <a:r>
              <a:rPr sz="2400" spc="-30" dirty="0">
                <a:latin typeface="Times New Roman"/>
                <a:cs typeface="Times New Roman"/>
              </a:rPr>
              <a:t> </a:t>
            </a:r>
            <a:r>
              <a:rPr sz="2400" dirty="0">
                <a:latin typeface="Times New Roman"/>
                <a:cs typeface="Times New Roman"/>
              </a:rPr>
              <a:t>is</a:t>
            </a:r>
            <a:r>
              <a:rPr sz="2400" spc="-35" dirty="0">
                <a:latin typeface="Times New Roman"/>
                <a:cs typeface="Times New Roman"/>
              </a:rPr>
              <a:t> </a:t>
            </a:r>
            <a:r>
              <a:rPr sz="2400" dirty="0">
                <a:latin typeface="Times New Roman"/>
                <a:cs typeface="Times New Roman"/>
              </a:rPr>
              <a:t>similar</a:t>
            </a:r>
            <a:r>
              <a:rPr sz="2400" spc="-30" dirty="0">
                <a:latin typeface="Times New Roman"/>
                <a:cs typeface="Times New Roman"/>
              </a:rPr>
              <a:t> </a:t>
            </a:r>
            <a:r>
              <a:rPr sz="2400" dirty="0">
                <a:latin typeface="Times New Roman"/>
                <a:cs typeface="Times New Roman"/>
              </a:rPr>
              <a:t>or</a:t>
            </a:r>
            <a:r>
              <a:rPr sz="2400" spc="-35" dirty="0">
                <a:latin typeface="Times New Roman"/>
                <a:cs typeface="Times New Roman"/>
              </a:rPr>
              <a:t> </a:t>
            </a:r>
            <a:r>
              <a:rPr sz="2400" dirty="0">
                <a:latin typeface="Times New Roman"/>
                <a:cs typeface="Times New Roman"/>
              </a:rPr>
              <a:t>same</a:t>
            </a:r>
            <a:r>
              <a:rPr sz="2400" spc="-35" dirty="0">
                <a:latin typeface="Times New Roman"/>
                <a:cs typeface="Times New Roman"/>
              </a:rPr>
              <a:t> </a:t>
            </a:r>
            <a:r>
              <a:rPr sz="2400" dirty="0">
                <a:latin typeface="Times New Roman"/>
                <a:cs typeface="Times New Roman"/>
              </a:rPr>
              <a:t>as</a:t>
            </a:r>
            <a:r>
              <a:rPr sz="2400" spc="-30" dirty="0">
                <a:latin typeface="Times New Roman"/>
                <a:cs typeface="Times New Roman"/>
              </a:rPr>
              <a:t> </a:t>
            </a:r>
            <a:r>
              <a:rPr sz="2400" dirty="0">
                <a:latin typeface="Times New Roman"/>
                <a:cs typeface="Times New Roman"/>
              </a:rPr>
              <a:t>the</a:t>
            </a:r>
            <a:r>
              <a:rPr sz="2400" spc="-35" dirty="0">
                <a:latin typeface="Times New Roman"/>
                <a:cs typeface="Times New Roman"/>
              </a:rPr>
              <a:t> </a:t>
            </a:r>
            <a:r>
              <a:rPr sz="2400" spc="-10" dirty="0">
                <a:latin typeface="Times New Roman"/>
                <a:cs typeface="Times New Roman"/>
              </a:rPr>
              <a:t>host, </a:t>
            </a:r>
            <a:r>
              <a:rPr sz="2400" dirty="0">
                <a:latin typeface="Times New Roman"/>
                <a:cs typeface="Times New Roman"/>
              </a:rPr>
              <a:t>E.g.,</a:t>
            </a:r>
            <a:r>
              <a:rPr sz="2400" spc="-20" dirty="0">
                <a:latin typeface="Times New Roman"/>
                <a:cs typeface="Times New Roman"/>
              </a:rPr>
              <a:t> </a:t>
            </a:r>
            <a:r>
              <a:rPr sz="2400" dirty="0">
                <a:latin typeface="Times New Roman"/>
                <a:cs typeface="Times New Roman"/>
              </a:rPr>
              <a:t>Windows</a:t>
            </a:r>
            <a:r>
              <a:rPr sz="2400" spc="-15" dirty="0">
                <a:latin typeface="Times New Roman"/>
                <a:cs typeface="Times New Roman"/>
              </a:rPr>
              <a:t> </a:t>
            </a:r>
            <a:r>
              <a:rPr sz="2400" dirty="0">
                <a:latin typeface="Times New Roman"/>
                <a:cs typeface="Times New Roman"/>
              </a:rPr>
              <a:t>on</a:t>
            </a:r>
            <a:r>
              <a:rPr sz="2400" spc="-10" dirty="0">
                <a:latin typeface="Times New Roman"/>
                <a:cs typeface="Times New Roman"/>
              </a:rPr>
              <a:t> Windows</a:t>
            </a:r>
            <a:endParaRPr sz="2400">
              <a:latin typeface="Times New Roman"/>
              <a:cs typeface="Times New Roman"/>
            </a:endParaRPr>
          </a:p>
          <a:p>
            <a:pPr marL="354965" marR="1163955" indent="-342900">
              <a:lnSpc>
                <a:spcPts val="2590"/>
              </a:lnSpc>
              <a:spcBef>
                <a:spcPts val="570"/>
              </a:spcBef>
              <a:buClr>
                <a:srgbClr val="053CE8"/>
              </a:buClr>
              <a:buSzPct val="75000"/>
              <a:buFont typeface="Wingdings"/>
              <a:buChar char=""/>
              <a:tabLst>
                <a:tab pos="354965" algn="l"/>
              </a:tabLst>
            </a:pPr>
            <a:r>
              <a:rPr sz="2400" dirty="0">
                <a:latin typeface="Times New Roman"/>
                <a:cs typeface="Times New Roman"/>
              </a:rPr>
              <a:t>Applications</a:t>
            </a:r>
            <a:r>
              <a:rPr sz="2400" spc="-40" dirty="0">
                <a:latin typeface="Times New Roman"/>
                <a:cs typeface="Times New Roman"/>
              </a:rPr>
              <a:t> </a:t>
            </a:r>
            <a:r>
              <a:rPr sz="2400" dirty="0">
                <a:latin typeface="Times New Roman"/>
                <a:cs typeface="Times New Roman"/>
              </a:rPr>
              <a:t>of</a:t>
            </a:r>
            <a:r>
              <a:rPr sz="2400" spc="-35" dirty="0">
                <a:latin typeface="Times New Roman"/>
                <a:cs typeface="Times New Roman"/>
              </a:rPr>
              <a:t> </a:t>
            </a:r>
            <a:r>
              <a:rPr sz="2400" dirty="0">
                <a:latin typeface="Times New Roman"/>
                <a:cs typeface="Times New Roman"/>
              </a:rPr>
              <a:t>one</a:t>
            </a:r>
            <a:r>
              <a:rPr sz="2400" spc="-35" dirty="0">
                <a:latin typeface="Times New Roman"/>
                <a:cs typeface="Times New Roman"/>
              </a:rPr>
              <a:t> </a:t>
            </a:r>
            <a:r>
              <a:rPr sz="2400" dirty="0">
                <a:latin typeface="Times New Roman"/>
                <a:cs typeface="Times New Roman"/>
              </a:rPr>
              <a:t>user</a:t>
            </a:r>
            <a:r>
              <a:rPr sz="2400" spc="-35" dirty="0">
                <a:latin typeface="Times New Roman"/>
                <a:cs typeface="Times New Roman"/>
              </a:rPr>
              <a:t> </a:t>
            </a:r>
            <a:r>
              <a:rPr sz="2400" dirty="0">
                <a:latin typeface="Times New Roman"/>
                <a:cs typeface="Times New Roman"/>
              </a:rPr>
              <a:t>cannot</a:t>
            </a:r>
            <a:r>
              <a:rPr sz="2400" spc="-35" dirty="0">
                <a:latin typeface="Times New Roman"/>
                <a:cs typeface="Times New Roman"/>
              </a:rPr>
              <a:t> </a:t>
            </a:r>
            <a:r>
              <a:rPr sz="2400" dirty="0">
                <a:latin typeface="Times New Roman"/>
                <a:cs typeface="Times New Roman"/>
              </a:rPr>
              <a:t>affect</a:t>
            </a:r>
            <a:r>
              <a:rPr sz="2400" spc="-35" dirty="0">
                <a:latin typeface="Times New Roman"/>
                <a:cs typeface="Times New Roman"/>
              </a:rPr>
              <a:t> </a:t>
            </a:r>
            <a:r>
              <a:rPr sz="2400" dirty="0">
                <a:latin typeface="Times New Roman"/>
                <a:cs typeface="Times New Roman"/>
              </a:rPr>
              <a:t>other</a:t>
            </a:r>
            <a:r>
              <a:rPr sz="2400" spc="-35" dirty="0">
                <a:latin typeface="Times New Roman"/>
                <a:cs typeface="Times New Roman"/>
              </a:rPr>
              <a:t> </a:t>
            </a:r>
            <a:r>
              <a:rPr sz="2400" spc="-10" dirty="0">
                <a:latin typeface="Times New Roman"/>
                <a:cs typeface="Times New Roman"/>
              </a:rPr>
              <a:t>users </a:t>
            </a:r>
            <a:r>
              <a:rPr sz="2400" dirty="0">
                <a:latin typeface="Times New Roman"/>
                <a:cs typeface="Times New Roman"/>
              </a:rPr>
              <a:t>aka</a:t>
            </a:r>
            <a:r>
              <a:rPr sz="2400" spc="-30" dirty="0">
                <a:latin typeface="Times New Roman"/>
                <a:cs typeface="Times New Roman"/>
              </a:rPr>
              <a:t> </a:t>
            </a:r>
            <a:r>
              <a:rPr sz="2400" dirty="0">
                <a:latin typeface="Times New Roman"/>
                <a:cs typeface="Times New Roman"/>
              </a:rPr>
              <a:t>Jails</a:t>
            </a:r>
            <a:r>
              <a:rPr sz="2400" spc="-25" dirty="0">
                <a:latin typeface="Times New Roman"/>
                <a:cs typeface="Times New Roman"/>
              </a:rPr>
              <a:t> </a:t>
            </a:r>
            <a:r>
              <a:rPr sz="2400" dirty="0">
                <a:latin typeface="Times New Roman"/>
                <a:cs typeface="Times New Roman"/>
              </a:rPr>
              <a:t>=&gt;</a:t>
            </a:r>
            <a:r>
              <a:rPr sz="2400" spc="-25" dirty="0">
                <a:latin typeface="Times New Roman"/>
                <a:cs typeface="Times New Roman"/>
              </a:rPr>
              <a:t> </a:t>
            </a:r>
            <a:r>
              <a:rPr sz="2400" dirty="0">
                <a:latin typeface="Times New Roman"/>
                <a:cs typeface="Times New Roman"/>
              </a:rPr>
              <a:t>Can</a:t>
            </a:r>
            <a:r>
              <a:rPr sz="2400" spc="-25" dirty="0">
                <a:latin typeface="Times New Roman"/>
                <a:cs typeface="Times New Roman"/>
              </a:rPr>
              <a:t> </a:t>
            </a:r>
            <a:r>
              <a:rPr sz="2400" dirty="0">
                <a:latin typeface="Times New Roman"/>
                <a:cs typeface="Times New Roman"/>
              </a:rPr>
              <a:t>be</a:t>
            </a:r>
            <a:r>
              <a:rPr sz="2400" spc="-25" dirty="0">
                <a:latin typeface="Times New Roman"/>
                <a:cs typeface="Times New Roman"/>
              </a:rPr>
              <a:t> </a:t>
            </a:r>
            <a:r>
              <a:rPr sz="2400" dirty="0">
                <a:latin typeface="Times New Roman"/>
                <a:cs typeface="Times New Roman"/>
              </a:rPr>
              <a:t>used</a:t>
            </a:r>
            <a:r>
              <a:rPr sz="2400" spc="-25" dirty="0">
                <a:latin typeface="Times New Roman"/>
                <a:cs typeface="Times New Roman"/>
              </a:rPr>
              <a:t> </a:t>
            </a:r>
            <a:r>
              <a:rPr sz="2400" dirty="0">
                <a:latin typeface="Times New Roman"/>
                <a:cs typeface="Times New Roman"/>
              </a:rPr>
              <a:t>to</a:t>
            </a:r>
            <a:r>
              <a:rPr sz="2400" spc="-25" dirty="0">
                <a:latin typeface="Times New Roman"/>
                <a:cs typeface="Times New Roman"/>
              </a:rPr>
              <a:t> </a:t>
            </a:r>
            <a:r>
              <a:rPr sz="2400" dirty="0">
                <a:latin typeface="Times New Roman"/>
                <a:cs typeface="Times New Roman"/>
              </a:rPr>
              <a:t>run</a:t>
            </a:r>
            <a:r>
              <a:rPr sz="2400" spc="-30" dirty="0">
                <a:latin typeface="Times New Roman"/>
                <a:cs typeface="Times New Roman"/>
              </a:rPr>
              <a:t> </a:t>
            </a:r>
            <a:r>
              <a:rPr sz="2400" dirty="0">
                <a:latin typeface="Times New Roman"/>
                <a:cs typeface="Times New Roman"/>
              </a:rPr>
              <a:t>suspect</a:t>
            </a:r>
            <a:r>
              <a:rPr sz="2400" spc="-25" dirty="0">
                <a:latin typeface="Times New Roman"/>
                <a:cs typeface="Times New Roman"/>
              </a:rPr>
              <a:t> </a:t>
            </a:r>
            <a:r>
              <a:rPr sz="2400" spc="-10" dirty="0">
                <a:latin typeface="Times New Roman"/>
                <a:cs typeface="Times New Roman"/>
              </a:rPr>
              <a:t>software </a:t>
            </a:r>
            <a:r>
              <a:rPr sz="2400" dirty="0">
                <a:latin typeface="Times New Roman"/>
                <a:cs typeface="Times New Roman"/>
              </a:rPr>
              <a:t>E.g.,</a:t>
            </a:r>
            <a:r>
              <a:rPr sz="2400" spc="-40" dirty="0">
                <a:latin typeface="Times New Roman"/>
                <a:cs typeface="Times New Roman"/>
              </a:rPr>
              <a:t> </a:t>
            </a:r>
            <a:r>
              <a:rPr sz="2400" dirty="0">
                <a:latin typeface="Times New Roman"/>
                <a:cs typeface="Times New Roman"/>
              </a:rPr>
              <a:t>iCore</a:t>
            </a:r>
            <a:r>
              <a:rPr sz="2400" spc="-30" dirty="0">
                <a:latin typeface="Times New Roman"/>
                <a:cs typeface="Times New Roman"/>
              </a:rPr>
              <a:t> </a:t>
            </a:r>
            <a:r>
              <a:rPr sz="2400" dirty="0">
                <a:latin typeface="Times New Roman"/>
                <a:cs typeface="Times New Roman"/>
              </a:rPr>
              <a:t>Virtual</a:t>
            </a:r>
            <a:r>
              <a:rPr sz="2400" spc="-25" dirty="0">
                <a:latin typeface="Times New Roman"/>
                <a:cs typeface="Times New Roman"/>
              </a:rPr>
              <a:t> </a:t>
            </a:r>
            <a:r>
              <a:rPr sz="2400" dirty="0">
                <a:latin typeface="Times New Roman"/>
                <a:cs typeface="Times New Roman"/>
              </a:rPr>
              <a:t>Accounts</a:t>
            </a:r>
            <a:r>
              <a:rPr sz="2400" spc="-30" dirty="0">
                <a:latin typeface="Times New Roman"/>
                <a:cs typeface="Times New Roman"/>
              </a:rPr>
              <a:t> </a:t>
            </a:r>
            <a:r>
              <a:rPr sz="2400" dirty="0">
                <a:latin typeface="Times New Roman"/>
                <a:cs typeface="Times New Roman"/>
              </a:rPr>
              <a:t>and</a:t>
            </a:r>
            <a:r>
              <a:rPr sz="2400" spc="-25" dirty="0">
                <a:latin typeface="Times New Roman"/>
                <a:cs typeface="Times New Roman"/>
              </a:rPr>
              <a:t> </a:t>
            </a:r>
            <a:r>
              <a:rPr sz="2400" spc="-10" dirty="0">
                <a:latin typeface="Times New Roman"/>
                <a:cs typeface="Times New Roman"/>
              </a:rPr>
              <a:t>Sandboxie</a:t>
            </a:r>
            <a:endParaRPr sz="2400">
              <a:latin typeface="Times New Roman"/>
              <a:cs typeface="Times New Roman"/>
            </a:endParaRPr>
          </a:p>
          <a:p>
            <a:pPr marL="15240">
              <a:lnSpc>
                <a:spcPct val="100000"/>
              </a:lnSpc>
              <a:spcBef>
                <a:spcPts val="465"/>
              </a:spcBef>
            </a:pPr>
            <a:endParaRPr sz="1200">
              <a:latin typeface="Times New Roman"/>
              <a:cs typeface="Times New Roman"/>
            </a:endParaRPr>
          </a:p>
        </p:txBody>
      </p:sp>
      <p:sp>
        <p:nvSpPr>
          <p:cNvPr id="5" name="object 5"/>
          <p:cNvSpPr txBox="1"/>
          <p:nvPr/>
        </p:nvSpPr>
        <p:spPr>
          <a:xfrm>
            <a:off x="2438400" y="1274825"/>
            <a:ext cx="1184275" cy="1066800"/>
          </a:xfrm>
          <a:prstGeom prst="rect">
            <a:avLst/>
          </a:prstGeom>
          <a:ln w="25400">
            <a:solidFill>
              <a:srgbClr val="000000"/>
            </a:solidFill>
          </a:ln>
        </p:spPr>
        <p:txBody>
          <a:bodyPr vert="horz" wrap="square" lIns="0" tIns="0" rIns="0" bIns="0" rtlCol="0">
            <a:spAutoFit/>
          </a:bodyPr>
          <a:lstStyle/>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marL="92075">
              <a:lnSpc>
                <a:spcPct val="100000"/>
              </a:lnSpc>
            </a:pPr>
            <a:r>
              <a:rPr sz="2000" spc="-10" dirty="0">
                <a:latin typeface="Times New Roman"/>
                <a:cs typeface="Times New Roman"/>
              </a:rPr>
              <a:t>Container</a:t>
            </a:r>
            <a:endParaRPr sz="2000">
              <a:latin typeface="Times New Roman"/>
              <a:cs typeface="Times New Roman"/>
            </a:endParaRPr>
          </a:p>
        </p:txBody>
      </p:sp>
      <p:sp>
        <p:nvSpPr>
          <p:cNvPr id="6" name="object 6"/>
          <p:cNvSpPr txBox="1"/>
          <p:nvPr/>
        </p:nvSpPr>
        <p:spPr>
          <a:xfrm>
            <a:off x="3826002" y="1274825"/>
            <a:ext cx="1184275" cy="1066800"/>
          </a:xfrm>
          <a:prstGeom prst="rect">
            <a:avLst/>
          </a:prstGeom>
          <a:ln w="25400">
            <a:solidFill>
              <a:srgbClr val="000000"/>
            </a:solidFill>
          </a:ln>
        </p:spPr>
        <p:txBody>
          <a:bodyPr vert="horz" wrap="square" lIns="0" tIns="0" rIns="0" bIns="0" rtlCol="0">
            <a:spAutoFit/>
          </a:bodyPr>
          <a:lstStyle/>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marL="92075">
              <a:lnSpc>
                <a:spcPct val="100000"/>
              </a:lnSpc>
            </a:pPr>
            <a:r>
              <a:rPr sz="2000" spc="-10" dirty="0">
                <a:latin typeface="Times New Roman"/>
                <a:cs typeface="Times New Roman"/>
              </a:rPr>
              <a:t>Container</a:t>
            </a:r>
            <a:endParaRPr sz="2000">
              <a:latin typeface="Times New Roman"/>
              <a:cs typeface="Times New Roman"/>
            </a:endParaRPr>
          </a:p>
        </p:txBody>
      </p:sp>
      <p:sp>
        <p:nvSpPr>
          <p:cNvPr id="7" name="object 7"/>
          <p:cNvSpPr txBox="1"/>
          <p:nvPr/>
        </p:nvSpPr>
        <p:spPr>
          <a:xfrm>
            <a:off x="5257800" y="1274825"/>
            <a:ext cx="1184275" cy="1066800"/>
          </a:xfrm>
          <a:prstGeom prst="rect">
            <a:avLst/>
          </a:prstGeom>
          <a:ln w="25400">
            <a:solidFill>
              <a:srgbClr val="000000"/>
            </a:solidFill>
          </a:ln>
        </p:spPr>
        <p:txBody>
          <a:bodyPr vert="horz" wrap="square" lIns="0" tIns="0" rIns="0" bIns="0" rtlCol="0">
            <a:spAutoFit/>
          </a:bodyPr>
          <a:lstStyle/>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marL="92075">
              <a:lnSpc>
                <a:spcPct val="100000"/>
              </a:lnSpc>
            </a:pPr>
            <a:r>
              <a:rPr sz="2000" spc="-10" dirty="0">
                <a:latin typeface="Times New Roman"/>
                <a:cs typeface="Times New Roman"/>
              </a:rPr>
              <a:t>Container</a:t>
            </a:r>
            <a:endParaRPr sz="2000">
              <a:latin typeface="Times New Roman"/>
              <a:cs typeface="Times New Roman"/>
            </a:endParaRPr>
          </a:p>
        </p:txBody>
      </p:sp>
      <p:sp>
        <p:nvSpPr>
          <p:cNvPr id="11" name="Slide Number Placeholder 10">
            <a:extLst>
              <a:ext uri="{FF2B5EF4-FFF2-40B4-BE49-F238E27FC236}">
                <a16:creationId xmlns:a16="http://schemas.microsoft.com/office/drawing/2014/main" id="{810EBFCB-1F2A-2E4A-2A19-0C70E617DCBB}"/>
              </a:ext>
            </a:extLst>
          </p:cNvPr>
          <p:cNvSpPr>
            <a:spLocks noGrp="1"/>
          </p:cNvSpPr>
          <p:nvPr>
            <p:ph type="sldNum" sz="quarter" idx="7"/>
          </p:nvPr>
        </p:nvSpPr>
        <p:spPr/>
        <p:txBody>
          <a:bodyPr/>
          <a:lstStyle/>
          <a:p>
            <a:pPr marL="12700">
              <a:lnSpc>
                <a:spcPts val="2065"/>
              </a:lnSpc>
            </a:pPr>
            <a:fld id="{81D60167-4931-47E6-BA6A-407CBD079E47}" type="slidenum">
              <a:rPr spc="-50" smtClean="0"/>
              <a:t>9</a:t>
            </a:fld>
            <a:endParaRPr spc="-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8824" y="445871"/>
            <a:ext cx="8151775" cy="574040"/>
          </a:xfrm>
          <a:prstGeom prst="rect">
            <a:avLst/>
          </a:prstGeom>
        </p:spPr>
        <p:txBody>
          <a:bodyPr vert="horz" wrap="square" lIns="0" tIns="12700" rIns="0" bIns="0" rtlCol="0">
            <a:spAutoFit/>
          </a:bodyPr>
          <a:lstStyle/>
          <a:p>
            <a:pPr marL="1867535">
              <a:lnSpc>
                <a:spcPct val="100000"/>
              </a:lnSpc>
              <a:spcBef>
                <a:spcPts val="100"/>
              </a:spcBef>
            </a:pPr>
            <a:r>
              <a:rPr dirty="0"/>
              <a:t>Desktop</a:t>
            </a:r>
            <a:r>
              <a:rPr spc="-85" dirty="0"/>
              <a:t> </a:t>
            </a:r>
            <a:r>
              <a:rPr spc="-10" dirty="0"/>
              <a:t>Virtualization</a:t>
            </a:r>
          </a:p>
        </p:txBody>
      </p:sp>
      <p:sp>
        <p:nvSpPr>
          <p:cNvPr id="3" name="object 3"/>
          <p:cNvSpPr txBox="1"/>
          <p:nvPr/>
        </p:nvSpPr>
        <p:spPr>
          <a:xfrm>
            <a:off x="457454" y="1243838"/>
            <a:ext cx="6737350" cy="3019425"/>
          </a:xfrm>
          <a:prstGeom prst="rect">
            <a:avLst/>
          </a:prstGeom>
        </p:spPr>
        <p:txBody>
          <a:bodyPr vert="horz" wrap="square" lIns="0" tIns="85090" rIns="0" bIns="0" rtlCol="0">
            <a:spAutoFit/>
          </a:bodyPr>
          <a:lstStyle/>
          <a:p>
            <a:pPr marL="354965" indent="-342265">
              <a:lnSpc>
                <a:spcPct val="100000"/>
              </a:lnSpc>
              <a:spcBef>
                <a:spcPts val="670"/>
              </a:spcBef>
              <a:buClr>
                <a:srgbClr val="053CE8"/>
              </a:buClr>
              <a:buSzPct val="75000"/>
              <a:buFont typeface="Wingdings"/>
              <a:buChar char=""/>
              <a:tabLst>
                <a:tab pos="354965" algn="l"/>
              </a:tabLst>
            </a:pPr>
            <a:r>
              <a:rPr sz="2400" dirty="0">
                <a:latin typeface="Times New Roman"/>
                <a:cs typeface="Times New Roman"/>
              </a:rPr>
              <a:t>A</a:t>
            </a:r>
            <a:r>
              <a:rPr sz="2400" spc="-35" dirty="0">
                <a:latin typeface="Times New Roman"/>
                <a:cs typeface="Times New Roman"/>
              </a:rPr>
              <a:t> </a:t>
            </a:r>
            <a:r>
              <a:rPr sz="2400" dirty="0">
                <a:latin typeface="Times New Roman"/>
                <a:cs typeface="Times New Roman"/>
              </a:rPr>
              <a:t>Desktop</a:t>
            </a:r>
            <a:r>
              <a:rPr sz="2400" spc="-30" dirty="0">
                <a:latin typeface="Times New Roman"/>
                <a:cs typeface="Times New Roman"/>
              </a:rPr>
              <a:t> </a:t>
            </a:r>
            <a:r>
              <a:rPr sz="2400" dirty="0">
                <a:latin typeface="Times New Roman"/>
                <a:cs typeface="Times New Roman"/>
              </a:rPr>
              <a:t>system</a:t>
            </a:r>
            <a:r>
              <a:rPr sz="2400" spc="-35" dirty="0">
                <a:latin typeface="Times New Roman"/>
                <a:cs typeface="Times New Roman"/>
              </a:rPr>
              <a:t> </a:t>
            </a:r>
            <a:r>
              <a:rPr sz="2400" dirty="0">
                <a:latin typeface="Times New Roman"/>
                <a:cs typeface="Times New Roman"/>
              </a:rPr>
              <a:t>with</a:t>
            </a:r>
            <a:r>
              <a:rPr sz="2400" spc="-30" dirty="0">
                <a:latin typeface="Times New Roman"/>
                <a:cs typeface="Times New Roman"/>
              </a:rPr>
              <a:t> </a:t>
            </a:r>
            <a:r>
              <a:rPr sz="2400" dirty="0">
                <a:latin typeface="Times New Roman"/>
                <a:cs typeface="Times New Roman"/>
              </a:rPr>
              <a:t>multiple</a:t>
            </a:r>
            <a:r>
              <a:rPr sz="2400" spc="-35" dirty="0">
                <a:latin typeface="Times New Roman"/>
                <a:cs typeface="Times New Roman"/>
              </a:rPr>
              <a:t> </a:t>
            </a:r>
            <a:r>
              <a:rPr sz="2400" dirty="0">
                <a:latin typeface="Times New Roman"/>
                <a:cs typeface="Times New Roman"/>
              </a:rPr>
              <a:t>operating</a:t>
            </a:r>
            <a:r>
              <a:rPr sz="2400" spc="-30" dirty="0">
                <a:latin typeface="Times New Roman"/>
                <a:cs typeface="Times New Roman"/>
              </a:rPr>
              <a:t> </a:t>
            </a:r>
            <a:r>
              <a:rPr sz="2400" spc="-10" dirty="0">
                <a:latin typeface="Times New Roman"/>
                <a:cs typeface="Times New Roman"/>
              </a:rPr>
              <a:t>systems</a:t>
            </a:r>
            <a:endParaRPr sz="2400">
              <a:latin typeface="Times New Roman"/>
              <a:cs typeface="Times New Roman"/>
            </a:endParaRPr>
          </a:p>
          <a:p>
            <a:pPr marL="354965" marR="5080" indent="-342900">
              <a:lnSpc>
                <a:spcPct val="100000"/>
              </a:lnSpc>
              <a:spcBef>
                <a:spcPts val="570"/>
              </a:spcBef>
              <a:buClr>
                <a:srgbClr val="053CE8"/>
              </a:buClr>
              <a:buSzPct val="75000"/>
              <a:buFont typeface="Wingdings"/>
              <a:buChar char=""/>
              <a:tabLst>
                <a:tab pos="354965" algn="l"/>
              </a:tabLst>
            </a:pPr>
            <a:r>
              <a:rPr sz="2400" dirty="0">
                <a:latin typeface="Times New Roman"/>
                <a:cs typeface="Times New Roman"/>
              </a:rPr>
              <a:t>Example:</a:t>
            </a:r>
            <a:r>
              <a:rPr sz="2400" spc="-25" dirty="0">
                <a:latin typeface="Times New Roman"/>
                <a:cs typeface="Times New Roman"/>
              </a:rPr>
              <a:t> </a:t>
            </a:r>
            <a:r>
              <a:rPr sz="2400" dirty="0">
                <a:latin typeface="Times New Roman"/>
                <a:cs typeface="Times New Roman"/>
              </a:rPr>
              <a:t>Mac</a:t>
            </a:r>
            <a:r>
              <a:rPr sz="2400" spc="-25" dirty="0">
                <a:latin typeface="Times New Roman"/>
                <a:cs typeface="Times New Roman"/>
              </a:rPr>
              <a:t> </a:t>
            </a:r>
            <a:r>
              <a:rPr sz="2400" dirty="0">
                <a:latin typeface="Times New Roman"/>
                <a:cs typeface="Times New Roman"/>
              </a:rPr>
              <a:t>OS</a:t>
            </a:r>
            <a:r>
              <a:rPr sz="2400" spc="-25" dirty="0">
                <a:latin typeface="Times New Roman"/>
                <a:cs typeface="Times New Roman"/>
              </a:rPr>
              <a:t> </a:t>
            </a:r>
            <a:r>
              <a:rPr sz="2400" dirty="0">
                <a:latin typeface="Times New Roman"/>
                <a:cs typeface="Times New Roman"/>
              </a:rPr>
              <a:t>X</a:t>
            </a:r>
            <a:r>
              <a:rPr sz="2400" spc="-20" dirty="0">
                <a:latin typeface="Times New Roman"/>
                <a:cs typeface="Times New Roman"/>
              </a:rPr>
              <a:t> </a:t>
            </a:r>
            <a:r>
              <a:rPr sz="2400" dirty="0">
                <a:latin typeface="Times New Roman"/>
                <a:cs typeface="Times New Roman"/>
              </a:rPr>
              <a:t>and</a:t>
            </a:r>
            <a:r>
              <a:rPr sz="2400" spc="-25" dirty="0">
                <a:latin typeface="Times New Roman"/>
                <a:cs typeface="Times New Roman"/>
              </a:rPr>
              <a:t> </a:t>
            </a:r>
            <a:r>
              <a:rPr sz="2400" dirty="0">
                <a:latin typeface="Times New Roman"/>
                <a:cs typeface="Times New Roman"/>
              </a:rPr>
              <a:t>Windows</a:t>
            </a:r>
            <a:r>
              <a:rPr sz="2400" spc="-25" dirty="0">
                <a:latin typeface="Times New Roman"/>
                <a:cs typeface="Times New Roman"/>
              </a:rPr>
              <a:t> </a:t>
            </a:r>
            <a:r>
              <a:rPr sz="2400" dirty="0">
                <a:latin typeface="Times New Roman"/>
                <a:cs typeface="Times New Roman"/>
              </a:rPr>
              <a:t>at</a:t>
            </a:r>
            <a:r>
              <a:rPr sz="2400" spc="-25"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same</a:t>
            </a:r>
            <a:r>
              <a:rPr sz="2400" spc="-25" dirty="0">
                <a:latin typeface="Times New Roman"/>
                <a:cs typeface="Times New Roman"/>
              </a:rPr>
              <a:t> </a:t>
            </a:r>
            <a:r>
              <a:rPr sz="2400" spc="-20" dirty="0">
                <a:latin typeface="Times New Roman"/>
                <a:cs typeface="Times New Roman"/>
              </a:rPr>
              <a:t>time </a:t>
            </a:r>
            <a:r>
              <a:rPr sz="2400" dirty="0">
                <a:latin typeface="Times New Roman"/>
                <a:cs typeface="Times New Roman"/>
              </a:rPr>
              <a:t>Parallels</a:t>
            </a:r>
            <a:r>
              <a:rPr sz="2400" spc="-45" dirty="0">
                <a:latin typeface="Times New Roman"/>
                <a:cs typeface="Times New Roman"/>
              </a:rPr>
              <a:t> </a:t>
            </a:r>
            <a:r>
              <a:rPr sz="2400" dirty="0">
                <a:latin typeface="Times New Roman"/>
                <a:cs typeface="Times New Roman"/>
              </a:rPr>
              <a:t>Desktop</a:t>
            </a:r>
            <a:r>
              <a:rPr sz="2400" spc="-40" dirty="0">
                <a:latin typeface="Times New Roman"/>
                <a:cs typeface="Times New Roman"/>
              </a:rPr>
              <a:t> </a:t>
            </a:r>
            <a:r>
              <a:rPr sz="2400" dirty="0">
                <a:latin typeface="Times New Roman"/>
                <a:cs typeface="Times New Roman"/>
              </a:rPr>
              <a:t>for</a:t>
            </a:r>
            <a:r>
              <a:rPr sz="2400" spc="-40" dirty="0">
                <a:latin typeface="Times New Roman"/>
                <a:cs typeface="Times New Roman"/>
              </a:rPr>
              <a:t> </a:t>
            </a:r>
            <a:r>
              <a:rPr sz="2400" spc="-25" dirty="0">
                <a:latin typeface="Times New Roman"/>
                <a:cs typeface="Times New Roman"/>
              </a:rPr>
              <a:t>Mac</a:t>
            </a:r>
            <a:endParaRPr sz="2400">
              <a:latin typeface="Times New Roman"/>
              <a:cs typeface="Times New Roman"/>
            </a:endParaRPr>
          </a:p>
          <a:p>
            <a:pPr marL="354965" indent="-342265">
              <a:lnSpc>
                <a:spcPct val="100000"/>
              </a:lnSpc>
              <a:spcBef>
                <a:spcPts val="560"/>
              </a:spcBef>
              <a:buClr>
                <a:srgbClr val="053CE8"/>
              </a:buClr>
              <a:buSzPct val="75000"/>
              <a:buFont typeface="Wingdings"/>
              <a:buChar char=""/>
              <a:tabLst>
                <a:tab pos="354965" algn="l"/>
              </a:tabLst>
            </a:pPr>
            <a:r>
              <a:rPr sz="2400" spc="-10" dirty="0">
                <a:latin typeface="Times New Roman"/>
                <a:cs typeface="Times New Roman"/>
              </a:rPr>
              <a:t>Hypervisor</a:t>
            </a:r>
            <a:r>
              <a:rPr sz="2400" spc="-30" dirty="0">
                <a:latin typeface="Times New Roman"/>
                <a:cs typeface="Times New Roman"/>
              </a:rPr>
              <a:t> </a:t>
            </a:r>
            <a:r>
              <a:rPr sz="2400" dirty="0">
                <a:latin typeface="Times New Roman"/>
                <a:cs typeface="Times New Roman"/>
              </a:rPr>
              <a:t>type</a:t>
            </a:r>
            <a:r>
              <a:rPr sz="2400" spc="-25" dirty="0">
                <a:latin typeface="Times New Roman"/>
                <a:cs typeface="Times New Roman"/>
              </a:rPr>
              <a:t> </a:t>
            </a:r>
            <a:r>
              <a:rPr sz="2400" dirty="0">
                <a:latin typeface="Times New Roman"/>
                <a:cs typeface="Times New Roman"/>
              </a:rPr>
              <a:t>1</a:t>
            </a:r>
            <a:r>
              <a:rPr sz="2400" spc="-25" dirty="0">
                <a:latin typeface="Times New Roman"/>
                <a:cs typeface="Times New Roman"/>
              </a:rPr>
              <a:t> </a:t>
            </a:r>
            <a:r>
              <a:rPr sz="2400" dirty="0">
                <a:latin typeface="Times New Roman"/>
                <a:cs typeface="Times New Roman"/>
              </a:rPr>
              <a:t>similar</a:t>
            </a:r>
            <a:r>
              <a:rPr sz="2400" spc="-30" dirty="0">
                <a:latin typeface="Times New Roman"/>
                <a:cs typeface="Times New Roman"/>
              </a:rPr>
              <a:t> </a:t>
            </a:r>
            <a:r>
              <a:rPr sz="2400" dirty="0">
                <a:latin typeface="Times New Roman"/>
                <a:cs typeface="Times New Roman"/>
              </a:rPr>
              <a:t>to</a:t>
            </a:r>
            <a:r>
              <a:rPr sz="2400" spc="-25" dirty="0">
                <a:latin typeface="Times New Roman"/>
                <a:cs typeface="Times New Roman"/>
              </a:rPr>
              <a:t> </a:t>
            </a:r>
            <a:r>
              <a:rPr sz="2400" dirty="0">
                <a:latin typeface="Times New Roman"/>
                <a:cs typeface="Times New Roman"/>
              </a:rPr>
              <a:t>server</a:t>
            </a:r>
            <a:r>
              <a:rPr sz="2400" spc="-25" dirty="0">
                <a:latin typeface="Times New Roman"/>
                <a:cs typeface="Times New Roman"/>
              </a:rPr>
              <a:t> </a:t>
            </a:r>
            <a:r>
              <a:rPr sz="2400" spc="-10" dirty="0">
                <a:latin typeface="Times New Roman"/>
                <a:cs typeface="Times New Roman"/>
              </a:rPr>
              <a:t>virtualization</a:t>
            </a:r>
            <a:endParaRPr sz="2400">
              <a:latin typeface="Times New Roman"/>
              <a:cs typeface="Times New Roman"/>
            </a:endParaRPr>
          </a:p>
          <a:p>
            <a:pPr marL="354965" indent="-342265">
              <a:lnSpc>
                <a:spcPct val="100000"/>
              </a:lnSpc>
              <a:spcBef>
                <a:spcPts val="570"/>
              </a:spcBef>
              <a:buClr>
                <a:srgbClr val="053CE8"/>
              </a:buClr>
              <a:buSzPct val="75000"/>
              <a:buFont typeface="Wingdings"/>
              <a:buChar char=""/>
              <a:tabLst>
                <a:tab pos="354965" algn="l"/>
              </a:tabLst>
            </a:pPr>
            <a:r>
              <a:rPr sz="2400" dirty="0">
                <a:latin typeface="Times New Roman"/>
                <a:cs typeface="Times New Roman"/>
              </a:rPr>
              <a:t>Useful</a:t>
            </a:r>
            <a:r>
              <a:rPr sz="2400" spc="-45" dirty="0">
                <a:latin typeface="Times New Roman"/>
                <a:cs typeface="Times New Roman"/>
              </a:rPr>
              <a:t> </a:t>
            </a:r>
            <a:r>
              <a:rPr sz="2400" dirty="0">
                <a:latin typeface="Times New Roman"/>
                <a:cs typeface="Times New Roman"/>
              </a:rPr>
              <a:t>for</a:t>
            </a:r>
            <a:r>
              <a:rPr sz="2400" spc="-45" dirty="0">
                <a:latin typeface="Times New Roman"/>
                <a:cs typeface="Times New Roman"/>
              </a:rPr>
              <a:t> </a:t>
            </a:r>
            <a:r>
              <a:rPr sz="2400" dirty="0">
                <a:latin typeface="Times New Roman"/>
                <a:cs typeface="Times New Roman"/>
              </a:rPr>
              <a:t>testing</a:t>
            </a:r>
            <a:r>
              <a:rPr sz="2400" spc="-45" dirty="0">
                <a:latin typeface="Times New Roman"/>
                <a:cs typeface="Times New Roman"/>
              </a:rPr>
              <a:t> </a:t>
            </a:r>
            <a:r>
              <a:rPr sz="2400" dirty="0">
                <a:latin typeface="Times New Roman"/>
                <a:cs typeface="Times New Roman"/>
              </a:rPr>
              <a:t>software</a:t>
            </a:r>
            <a:r>
              <a:rPr sz="2400" spc="-40" dirty="0">
                <a:latin typeface="Times New Roman"/>
                <a:cs typeface="Times New Roman"/>
              </a:rPr>
              <a:t> </a:t>
            </a:r>
            <a:r>
              <a:rPr sz="2400" dirty="0">
                <a:latin typeface="Times New Roman"/>
                <a:cs typeface="Times New Roman"/>
              </a:rPr>
              <a:t>on</a:t>
            </a:r>
            <a:r>
              <a:rPr sz="2400" spc="-45" dirty="0">
                <a:latin typeface="Times New Roman"/>
                <a:cs typeface="Times New Roman"/>
              </a:rPr>
              <a:t> </a:t>
            </a:r>
            <a:r>
              <a:rPr sz="2400" dirty="0">
                <a:latin typeface="Times New Roman"/>
                <a:cs typeface="Times New Roman"/>
              </a:rPr>
              <a:t>multiple</a:t>
            </a:r>
            <a:r>
              <a:rPr sz="2400" spc="-45" dirty="0">
                <a:latin typeface="Times New Roman"/>
                <a:cs typeface="Times New Roman"/>
              </a:rPr>
              <a:t> </a:t>
            </a:r>
            <a:r>
              <a:rPr sz="2400" spc="-25" dirty="0">
                <a:latin typeface="Times New Roman"/>
                <a:cs typeface="Times New Roman"/>
              </a:rPr>
              <a:t>OS</a:t>
            </a:r>
            <a:endParaRPr sz="2400">
              <a:latin typeface="Times New Roman"/>
              <a:cs typeface="Times New Roman"/>
            </a:endParaRPr>
          </a:p>
          <a:p>
            <a:pPr marL="354965" indent="-342265">
              <a:lnSpc>
                <a:spcPct val="100000"/>
              </a:lnSpc>
              <a:spcBef>
                <a:spcPts val="570"/>
              </a:spcBef>
              <a:buClr>
                <a:srgbClr val="053CE8"/>
              </a:buClr>
              <a:buSzPct val="75000"/>
              <a:buFont typeface="Wingdings"/>
              <a:buChar char=""/>
              <a:tabLst>
                <a:tab pos="354965" algn="l"/>
              </a:tabLst>
            </a:pPr>
            <a:r>
              <a:rPr sz="2400" dirty="0">
                <a:latin typeface="Times New Roman"/>
                <a:cs typeface="Times New Roman"/>
              </a:rPr>
              <a:t>Reduced hardware </a:t>
            </a:r>
            <a:r>
              <a:rPr sz="2400" spc="-20" dirty="0">
                <a:latin typeface="Times New Roman"/>
                <a:cs typeface="Times New Roman"/>
              </a:rPr>
              <a:t>cost</a:t>
            </a:r>
            <a:endParaRPr sz="2400">
              <a:latin typeface="Times New Roman"/>
              <a:cs typeface="Times New Roman"/>
            </a:endParaRPr>
          </a:p>
          <a:p>
            <a:pPr marL="354965" indent="-342265">
              <a:lnSpc>
                <a:spcPct val="100000"/>
              </a:lnSpc>
              <a:spcBef>
                <a:spcPts val="570"/>
              </a:spcBef>
              <a:buClr>
                <a:srgbClr val="053CE8"/>
              </a:buClr>
              <a:buSzPct val="75000"/>
              <a:buFont typeface="Wingdings"/>
              <a:buChar char=""/>
              <a:tabLst>
                <a:tab pos="354965" algn="l"/>
              </a:tabLst>
            </a:pPr>
            <a:r>
              <a:rPr sz="2400" dirty="0">
                <a:latin typeface="Times New Roman"/>
                <a:cs typeface="Times New Roman"/>
              </a:rPr>
              <a:t>This</a:t>
            </a:r>
            <a:r>
              <a:rPr sz="2400" spc="-25" dirty="0">
                <a:latin typeface="Times New Roman"/>
                <a:cs typeface="Times New Roman"/>
              </a:rPr>
              <a:t> </a:t>
            </a:r>
            <a:r>
              <a:rPr sz="2400" dirty="0">
                <a:latin typeface="Times New Roman"/>
                <a:cs typeface="Times New Roman"/>
              </a:rPr>
              <a:t>is</a:t>
            </a:r>
            <a:r>
              <a:rPr sz="2400" spc="-20" dirty="0">
                <a:latin typeface="Times New Roman"/>
                <a:cs typeface="Times New Roman"/>
              </a:rPr>
              <a:t> </a:t>
            </a:r>
            <a:r>
              <a:rPr sz="2400" dirty="0">
                <a:latin typeface="Times New Roman"/>
                <a:cs typeface="Times New Roman"/>
              </a:rPr>
              <a:t>local</a:t>
            </a:r>
            <a:r>
              <a:rPr sz="2400" spc="-25" dirty="0">
                <a:latin typeface="Times New Roman"/>
                <a:cs typeface="Times New Roman"/>
              </a:rPr>
              <a:t> </a:t>
            </a:r>
            <a:r>
              <a:rPr sz="2400" dirty="0">
                <a:latin typeface="Times New Roman"/>
                <a:cs typeface="Times New Roman"/>
              </a:rPr>
              <a:t>desktop</a:t>
            </a:r>
            <a:r>
              <a:rPr sz="2400" spc="-20" dirty="0">
                <a:latin typeface="Times New Roman"/>
                <a:cs typeface="Times New Roman"/>
              </a:rPr>
              <a:t> </a:t>
            </a:r>
            <a:r>
              <a:rPr sz="2400" spc="-10" dirty="0">
                <a:latin typeface="Times New Roman"/>
                <a:cs typeface="Times New Roman"/>
              </a:rPr>
              <a:t>virtualization</a:t>
            </a:r>
            <a:endParaRPr sz="2400">
              <a:latin typeface="Times New Roman"/>
              <a:cs typeface="Times New Roman"/>
            </a:endParaRPr>
          </a:p>
        </p:txBody>
      </p:sp>
      <p:graphicFrame>
        <p:nvGraphicFramePr>
          <p:cNvPr id="4" name="object 4"/>
          <p:cNvGraphicFramePr>
            <a:graphicFrameLocks noGrp="1"/>
          </p:cNvGraphicFramePr>
          <p:nvPr/>
        </p:nvGraphicFramePr>
        <p:xfrm>
          <a:off x="3263900" y="4938776"/>
          <a:ext cx="2896235" cy="1153160"/>
        </p:xfrm>
        <a:graphic>
          <a:graphicData uri="http://schemas.openxmlformats.org/drawingml/2006/table">
            <a:tbl>
              <a:tblPr firstRow="1" bandRow="1">
                <a:tableStyleId>{2D5ABB26-0587-4C30-8999-92F81FD0307C}</a:tableStyleId>
              </a:tblPr>
              <a:tblGrid>
                <a:gridCol w="1168400">
                  <a:extLst>
                    <a:ext uri="{9D8B030D-6E8A-4147-A177-3AD203B41FA5}">
                      <a16:colId xmlns:a16="http://schemas.microsoft.com/office/drawing/2014/main" val="20000"/>
                    </a:ext>
                  </a:extLst>
                </a:gridCol>
                <a:gridCol w="559435">
                  <a:extLst>
                    <a:ext uri="{9D8B030D-6E8A-4147-A177-3AD203B41FA5}">
                      <a16:colId xmlns:a16="http://schemas.microsoft.com/office/drawing/2014/main" val="20001"/>
                    </a:ext>
                  </a:extLst>
                </a:gridCol>
                <a:gridCol w="1168400">
                  <a:extLst>
                    <a:ext uri="{9D8B030D-6E8A-4147-A177-3AD203B41FA5}">
                      <a16:colId xmlns:a16="http://schemas.microsoft.com/office/drawing/2014/main" val="20002"/>
                    </a:ext>
                  </a:extLst>
                </a:gridCol>
              </a:tblGrid>
              <a:tr h="391160">
                <a:tc>
                  <a:txBody>
                    <a:bodyPr/>
                    <a:lstStyle/>
                    <a:p>
                      <a:pPr marL="104775">
                        <a:lnSpc>
                          <a:spcPct val="100000"/>
                        </a:lnSpc>
                        <a:spcBef>
                          <a:spcPts val="395"/>
                        </a:spcBef>
                      </a:pPr>
                      <a:r>
                        <a:rPr sz="1800" dirty="0">
                          <a:latin typeface="Times New Roman"/>
                          <a:cs typeface="Times New Roman"/>
                        </a:rPr>
                        <a:t>Guest</a:t>
                      </a:r>
                      <a:r>
                        <a:rPr sz="1800" spc="-45" dirty="0">
                          <a:latin typeface="Times New Roman"/>
                          <a:cs typeface="Times New Roman"/>
                        </a:rPr>
                        <a:t> </a:t>
                      </a:r>
                      <a:r>
                        <a:rPr sz="1800" spc="-25" dirty="0">
                          <a:latin typeface="Times New Roman"/>
                          <a:cs typeface="Times New Roman"/>
                        </a:rPr>
                        <a:t>OS</a:t>
                      </a:r>
                      <a:r>
                        <a:rPr sz="1800" spc="-37" baseline="-23148" dirty="0">
                          <a:latin typeface="Times New Roman"/>
                          <a:cs typeface="Times New Roman"/>
                        </a:rPr>
                        <a:t>1</a:t>
                      </a:r>
                      <a:endParaRPr sz="1800" baseline="-23148">
                        <a:latin typeface="Times New Roman"/>
                        <a:cs typeface="Times New Roman"/>
                      </a:endParaRPr>
                    </a:p>
                  </a:txBody>
                  <a:tcPr marL="0" marR="0" marT="5016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142875">
                        <a:lnSpc>
                          <a:spcPts val="2280"/>
                        </a:lnSpc>
                      </a:pPr>
                      <a:r>
                        <a:rPr sz="2400" spc="-50" dirty="0">
                          <a:latin typeface="Times New Roman"/>
                          <a:cs typeface="Times New Roman"/>
                        </a:rPr>
                        <a:t>…</a:t>
                      </a:r>
                      <a:endParaRPr sz="2400">
                        <a:latin typeface="Times New Roman"/>
                        <a:cs typeface="Times New Roman"/>
                      </a:endParaRPr>
                    </a:p>
                  </a:txBody>
                  <a:tcPr marL="0" marR="0" marT="0" marB="0">
                    <a:lnL w="28575">
                      <a:solidFill>
                        <a:srgbClr val="000000"/>
                      </a:solidFill>
                      <a:prstDash val="solid"/>
                    </a:lnL>
                    <a:lnR w="28575">
                      <a:solidFill>
                        <a:srgbClr val="000000"/>
                      </a:solidFill>
                      <a:prstDash val="solid"/>
                    </a:lnR>
                    <a:lnB w="28575">
                      <a:solidFill>
                        <a:srgbClr val="000000"/>
                      </a:solidFill>
                      <a:prstDash val="solid"/>
                    </a:lnB>
                  </a:tcPr>
                </a:tc>
                <a:tc>
                  <a:txBody>
                    <a:bodyPr/>
                    <a:lstStyle/>
                    <a:p>
                      <a:pPr marL="104139">
                        <a:lnSpc>
                          <a:spcPct val="100000"/>
                        </a:lnSpc>
                        <a:spcBef>
                          <a:spcPts val="395"/>
                        </a:spcBef>
                      </a:pPr>
                      <a:r>
                        <a:rPr sz="1800" dirty="0">
                          <a:latin typeface="Times New Roman"/>
                          <a:cs typeface="Times New Roman"/>
                        </a:rPr>
                        <a:t>Guest</a:t>
                      </a:r>
                      <a:r>
                        <a:rPr sz="1800" spc="-45" dirty="0">
                          <a:latin typeface="Times New Roman"/>
                          <a:cs typeface="Times New Roman"/>
                        </a:rPr>
                        <a:t> </a:t>
                      </a:r>
                      <a:r>
                        <a:rPr sz="1800" spc="-25" dirty="0">
                          <a:latin typeface="Times New Roman"/>
                          <a:cs typeface="Times New Roman"/>
                        </a:rPr>
                        <a:t>OS</a:t>
                      </a:r>
                      <a:r>
                        <a:rPr sz="1800" spc="-37" baseline="-23148" dirty="0">
                          <a:latin typeface="Times New Roman"/>
                          <a:cs typeface="Times New Roman"/>
                        </a:rPr>
                        <a:t>n</a:t>
                      </a:r>
                      <a:endParaRPr sz="1800" baseline="-23148">
                        <a:latin typeface="Times New Roman"/>
                        <a:cs typeface="Times New Roman"/>
                      </a:endParaRPr>
                    </a:p>
                  </a:txBody>
                  <a:tcPr marL="0" marR="0" marT="5016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381000">
                <a:tc gridSpan="3">
                  <a:txBody>
                    <a:bodyPr/>
                    <a:lstStyle/>
                    <a:p>
                      <a:pPr marL="297180">
                        <a:lnSpc>
                          <a:spcPts val="2795"/>
                        </a:lnSpc>
                      </a:pPr>
                      <a:r>
                        <a:rPr sz="2400" spc="-10" dirty="0">
                          <a:latin typeface="Times New Roman"/>
                          <a:cs typeface="Times New Roman"/>
                        </a:rPr>
                        <a:t>Hypervisor</a:t>
                      </a:r>
                      <a:r>
                        <a:rPr sz="2400" spc="-35" dirty="0">
                          <a:latin typeface="Times New Roman"/>
                          <a:cs typeface="Times New Roman"/>
                        </a:rPr>
                        <a:t> </a:t>
                      </a:r>
                      <a:r>
                        <a:rPr sz="2400" dirty="0">
                          <a:latin typeface="Times New Roman"/>
                          <a:cs typeface="Times New Roman"/>
                        </a:rPr>
                        <a:t>Type</a:t>
                      </a:r>
                      <a:r>
                        <a:rPr sz="2400" spc="-30" dirty="0">
                          <a:latin typeface="Times New Roman"/>
                          <a:cs typeface="Times New Roman"/>
                        </a:rPr>
                        <a:t> </a:t>
                      </a:r>
                      <a:r>
                        <a:rPr sz="2400" spc="-50" dirty="0">
                          <a:latin typeface="Times New Roman"/>
                          <a:cs typeface="Times New Roman"/>
                        </a:rPr>
                        <a:t>1</a:t>
                      </a:r>
                      <a:endParaRPr sz="2400">
                        <a:latin typeface="Times New Roman"/>
                        <a:cs typeface="Times New Roman"/>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r h="381000">
                <a:tc gridSpan="3">
                  <a:txBody>
                    <a:bodyPr/>
                    <a:lstStyle/>
                    <a:p>
                      <a:pPr marL="845819">
                        <a:lnSpc>
                          <a:spcPts val="2795"/>
                        </a:lnSpc>
                      </a:pPr>
                      <a:r>
                        <a:rPr sz="2400" spc="-10" dirty="0">
                          <a:latin typeface="Times New Roman"/>
                          <a:cs typeface="Times New Roman"/>
                        </a:rPr>
                        <a:t>Hardware</a:t>
                      </a:r>
                      <a:endParaRPr sz="2400">
                        <a:latin typeface="Times New Roman"/>
                        <a:cs typeface="Times New Roman"/>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8" name="Slide Number Placeholder 7">
            <a:extLst>
              <a:ext uri="{FF2B5EF4-FFF2-40B4-BE49-F238E27FC236}">
                <a16:creationId xmlns:a16="http://schemas.microsoft.com/office/drawing/2014/main" id="{2ED32BB8-E4A8-1722-4C63-331963BD7F8A}"/>
              </a:ext>
            </a:extLst>
          </p:cNvPr>
          <p:cNvSpPr>
            <a:spLocks noGrp="1"/>
          </p:cNvSpPr>
          <p:nvPr>
            <p:ph type="sldNum" sz="quarter" idx="7"/>
          </p:nvPr>
        </p:nvSpPr>
        <p:spPr/>
        <p:txBody>
          <a:bodyPr/>
          <a:lstStyle/>
          <a:p>
            <a:pPr marL="12700">
              <a:lnSpc>
                <a:spcPts val="2065"/>
              </a:lnSpc>
            </a:pPr>
            <a:fld id="{81D60167-4931-47E6-BA6A-407CBD079E47}" type="slidenum">
              <a:rPr spc="-50" smtClean="0"/>
              <a:t>10</a:t>
            </a:fld>
            <a:endParaRPr spc="-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8825" y="445871"/>
            <a:ext cx="8272170" cy="574040"/>
          </a:xfrm>
          <a:prstGeom prst="rect">
            <a:avLst/>
          </a:prstGeom>
        </p:spPr>
        <p:txBody>
          <a:bodyPr vert="horz" wrap="square" lIns="0" tIns="12700" rIns="0" bIns="0" rtlCol="0">
            <a:spAutoFit/>
          </a:bodyPr>
          <a:lstStyle/>
          <a:p>
            <a:pPr marL="2972435">
              <a:lnSpc>
                <a:spcPct val="100000"/>
              </a:lnSpc>
              <a:spcBef>
                <a:spcPts val="100"/>
              </a:spcBef>
            </a:pPr>
            <a:r>
              <a:rPr dirty="0"/>
              <a:t>Thin</a:t>
            </a:r>
            <a:r>
              <a:rPr spc="-15" dirty="0"/>
              <a:t> </a:t>
            </a:r>
            <a:r>
              <a:rPr spc="-10" dirty="0"/>
              <a:t>Client</a:t>
            </a:r>
          </a:p>
        </p:txBody>
      </p:sp>
      <p:sp>
        <p:nvSpPr>
          <p:cNvPr id="3" name="object 3"/>
          <p:cNvSpPr txBox="1"/>
          <p:nvPr/>
        </p:nvSpPr>
        <p:spPr>
          <a:xfrm>
            <a:off x="441451" y="1288034"/>
            <a:ext cx="6619240" cy="5043170"/>
          </a:xfrm>
          <a:prstGeom prst="rect">
            <a:avLst/>
          </a:prstGeom>
        </p:spPr>
        <p:txBody>
          <a:bodyPr vert="horz" wrap="square" lIns="0" tIns="53975" rIns="0" bIns="0" rtlCol="0">
            <a:spAutoFit/>
          </a:bodyPr>
          <a:lstStyle/>
          <a:p>
            <a:pPr marL="371475" marR="980440" indent="-342900">
              <a:lnSpc>
                <a:spcPts val="2590"/>
              </a:lnSpc>
              <a:spcBef>
                <a:spcPts val="425"/>
              </a:spcBef>
              <a:buClr>
                <a:srgbClr val="053CE8"/>
              </a:buClr>
              <a:buSzPct val="75000"/>
              <a:buFont typeface="Wingdings"/>
              <a:buChar char=""/>
              <a:tabLst>
                <a:tab pos="371475" algn="l"/>
              </a:tabLst>
            </a:pPr>
            <a:r>
              <a:rPr sz="2400" dirty="0">
                <a:latin typeface="Times New Roman"/>
                <a:cs typeface="Times New Roman"/>
              </a:rPr>
              <a:t>Also</a:t>
            </a:r>
            <a:r>
              <a:rPr sz="2400" spc="-45" dirty="0">
                <a:latin typeface="Times New Roman"/>
                <a:cs typeface="Times New Roman"/>
              </a:rPr>
              <a:t> </a:t>
            </a:r>
            <a:r>
              <a:rPr sz="2400" dirty="0">
                <a:latin typeface="Times New Roman"/>
                <a:cs typeface="Times New Roman"/>
              </a:rPr>
              <a:t>called</a:t>
            </a:r>
            <a:r>
              <a:rPr sz="2400" spc="-40" dirty="0">
                <a:latin typeface="Times New Roman"/>
                <a:cs typeface="Times New Roman"/>
              </a:rPr>
              <a:t> </a:t>
            </a:r>
            <a:r>
              <a:rPr sz="2400" dirty="0">
                <a:latin typeface="Times New Roman"/>
                <a:cs typeface="Times New Roman"/>
              </a:rPr>
              <a:t>Remote</a:t>
            </a:r>
            <a:r>
              <a:rPr sz="2400" spc="-40" dirty="0">
                <a:latin typeface="Times New Roman"/>
                <a:cs typeface="Times New Roman"/>
              </a:rPr>
              <a:t> </a:t>
            </a:r>
            <a:r>
              <a:rPr sz="2400" dirty="0">
                <a:latin typeface="Times New Roman"/>
                <a:cs typeface="Times New Roman"/>
              </a:rPr>
              <a:t>Desktop</a:t>
            </a:r>
            <a:r>
              <a:rPr sz="2400" spc="-40" dirty="0">
                <a:latin typeface="Times New Roman"/>
                <a:cs typeface="Times New Roman"/>
              </a:rPr>
              <a:t> </a:t>
            </a:r>
            <a:r>
              <a:rPr sz="2400" spc="-10" dirty="0">
                <a:latin typeface="Times New Roman"/>
                <a:cs typeface="Times New Roman"/>
              </a:rPr>
              <a:t>Virtualization </a:t>
            </a:r>
            <a:r>
              <a:rPr sz="2400" dirty="0">
                <a:latin typeface="Times New Roman"/>
                <a:cs typeface="Times New Roman"/>
              </a:rPr>
              <a:t>or</a:t>
            </a:r>
            <a:r>
              <a:rPr sz="2400" spc="-20" dirty="0">
                <a:latin typeface="Times New Roman"/>
                <a:cs typeface="Times New Roman"/>
              </a:rPr>
              <a:t> </a:t>
            </a:r>
            <a:r>
              <a:rPr sz="2400" dirty="0">
                <a:latin typeface="Times New Roman"/>
                <a:cs typeface="Times New Roman"/>
              </a:rPr>
              <a:t>Virtual</a:t>
            </a:r>
            <a:r>
              <a:rPr sz="2400" spc="-15" dirty="0">
                <a:latin typeface="Times New Roman"/>
                <a:cs typeface="Times New Roman"/>
              </a:rPr>
              <a:t> </a:t>
            </a:r>
            <a:r>
              <a:rPr sz="2400" dirty="0">
                <a:latin typeface="Times New Roman"/>
                <a:cs typeface="Times New Roman"/>
              </a:rPr>
              <a:t>Desktop</a:t>
            </a:r>
            <a:r>
              <a:rPr sz="2400" spc="-20" dirty="0">
                <a:latin typeface="Times New Roman"/>
                <a:cs typeface="Times New Roman"/>
              </a:rPr>
              <a:t> </a:t>
            </a:r>
            <a:r>
              <a:rPr sz="2400" dirty="0">
                <a:latin typeface="Times New Roman"/>
                <a:cs typeface="Times New Roman"/>
              </a:rPr>
              <a:t>Infrastructure</a:t>
            </a:r>
            <a:r>
              <a:rPr sz="2400" spc="-10" dirty="0">
                <a:latin typeface="Times New Roman"/>
                <a:cs typeface="Times New Roman"/>
              </a:rPr>
              <a:t> (VDI)</a:t>
            </a:r>
            <a:endParaRPr sz="2400">
              <a:latin typeface="Times New Roman"/>
              <a:cs typeface="Times New Roman"/>
            </a:endParaRPr>
          </a:p>
          <a:p>
            <a:pPr marL="371475">
              <a:lnSpc>
                <a:spcPts val="2540"/>
              </a:lnSpc>
            </a:pPr>
            <a:r>
              <a:rPr sz="2400" dirty="0">
                <a:latin typeface="Times New Roman"/>
                <a:cs typeface="Times New Roman"/>
              </a:rPr>
              <a:t>or</a:t>
            </a:r>
            <a:r>
              <a:rPr sz="2400" spc="-65" dirty="0">
                <a:latin typeface="Times New Roman"/>
                <a:cs typeface="Times New Roman"/>
              </a:rPr>
              <a:t> </a:t>
            </a:r>
            <a:r>
              <a:rPr sz="2400" dirty="0">
                <a:latin typeface="Times New Roman"/>
                <a:cs typeface="Times New Roman"/>
              </a:rPr>
              <a:t>Access</a:t>
            </a:r>
            <a:r>
              <a:rPr sz="2400" spc="-65" dirty="0">
                <a:latin typeface="Times New Roman"/>
                <a:cs typeface="Times New Roman"/>
              </a:rPr>
              <a:t> </a:t>
            </a:r>
            <a:r>
              <a:rPr sz="2400" spc="-10" dirty="0">
                <a:latin typeface="Times New Roman"/>
                <a:cs typeface="Times New Roman"/>
              </a:rPr>
              <a:t>Virtualization</a:t>
            </a:r>
            <a:endParaRPr sz="2400">
              <a:latin typeface="Times New Roman"/>
              <a:cs typeface="Times New Roman"/>
            </a:endParaRPr>
          </a:p>
          <a:p>
            <a:pPr marL="371475" marR="5080" indent="-342900">
              <a:lnSpc>
                <a:spcPts val="2590"/>
              </a:lnSpc>
              <a:spcBef>
                <a:spcPts val="325"/>
              </a:spcBef>
              <a:buClr>
                <a:srgbClr val="053CE8"/>
              </a:buClr>
              <a:buSzPct val="75000"/>
              <a:buFont typeface="Wingdings"/>
              <a:buChar char=""/>
              <a:tabLst>
                <a:tab pos="371475" algn="l"/>
              </a:tabLst>
            </a:pPr>
            <a:r>
              <a:rPr sz="2400" dirty="0">
                <a:latin typeface="Times New Roman"/>
                <a:cs typeface="Times New Roman"/>
              </a:rPr>
              <a:t>Remote</a:t>
            </a:r>
            <a:r>
              <a:rPr sz="2400" spc="-30" dirty="0">
                <a:latin typeface="Times New Roman"/>
                <a:cs typeface="Times New Roman"/>
              </a:rPr>
              <a:t> </a:t>
            </a:r>
            <a:r>
              <a:rPr sz="2400" dirty="0">
                <a:latin typeface="Times New Roman"/>
                <a:cs typeface="Times New Roman"/>
              </a:rPr>
              <a:t>server</a:t>
            </a:r>
            <a:r>
              <a:rPr sz="2400" spc="-30" dirty="0">
                <a:latin typeface="Times New Roman"/>
                <a:cs typeface="Times New Roman"/>
              </a:rPr>
              <a:t> </a:t>
            </a:r>
            <a:r>
              <a:rPr sz="2400" dirty="0">
                <a:latin typeface="Times New Roman"/>
                <a:cs typeface="Times New Roman"/>
              </a:rPr>
              <a:t>provides</a:t>
            </a:r>
            <a:r>
              <a:rPr sz="2400" spc="-30" dirty="0">
                <a:latin typeface="Times New Roman"/>
                <a:cs typeface="Times New Roman"/>
              </a:rPr>
              <a:t> </a:t>
            </a:r>
            <a:r>
              <a:rPr sz="2400" dirty="0">
                <a:latin typeface="Times New Roman"/>
                <a:cs typeface="Times New Roman"/>
              </a:rPr>
              <a:t>most</a:t>
            </a:r>
            <a:r>
              <a:rPr sz="2400" spc="-30" dirty="0">
                <a:latin typeface="Times New Roman"/>
                <a:cs typeface="Times New Roman"/>
              </a:rPr>
              <a:t> </a:t>
            </a:r>
            <a:r>
              <a:rPr sz="2400" dirty="0">
                <a:latin typeface="Times New Roman"/>
                <a:cs typeface="Times New Roman"/>
              </a:rPr>
              <a:t>of</a:t>
            </a:r>
            <a:r>
              <a:rPr sz="2400" spc="-30"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computing</a:t>
            </a:r>
            <a:r>
              <a:rPr sz="2400" spc="-30" dirty="0">
                <a:latin typeface="Times New Roman"/>
                <a:cs typeface="Times New Roman"/>
              </a:rPr>
              <a:t> </a:t>
            </a:r>
            <a:r>
              <a:rPr sz="2400" spc="-25" dirty="0">
                <a:latin typeface="Times New Roman"/>
                <a:cs typeface="Times New Roman"/>
              </a:rPr>
              <a:t>and </a:t>
            </a:r>
            <a:r>
              <a:rPr sz="2400" dirty="0">
                <a:latin typeface="Times New Roman"/>
                <a:cs typeface="Times New Roman"/>
              </a:rPr>
              <a:t>storage </a:t>
            </a:r>
            <a:r>
              <a:rPr sz="2400" spc="-10" dirty="0">
                <a:latin typeface="Times New Roman"/>
                <a:cs typeface="Times New Roman"/>
              </a:rPr>
              <a:t>resources</a:t>
            </a:r>
            <a:endParaRPr sz="2400">
              <a:latin typeface="Times New Roman"/>
              <a:cs typeface="Times New Roman"/>
            </a:endParaRPr>
          </a:p>
          <a:p>
            <a:pPr marL="371475" indent="-342900">
              <a:lnSpc>
                <a:spcPts val="2835"/>
              </a:lnSpc>
              <a:buClr>
                <a:srgbClr val="053CE8"/>
              </a:buClr>
              <a:buSzPct val="75000"/>
              <a:buFont typeface="Wingdings"/>
              <a:buChar char=""/>
              <a:tabLst>
                <a:tab pos="371475" algn="l"/>
              </a:tabLst>
            </a:pPr>
            <a:r>
              <a:rPr sz="2400" dirty="0">
                <a:latin typeface="Times New Roman"/>
                <a:cs typeface="Times New Roman"/>
              </a:rPr>
              <a:t>All</a:t>
            </a:r>
            <a:r>
              <a:rPr sz="2400" spc="-35" dirty="0">
                <a:latin typeface="Times New Roman"/>
                <a:cs typeface="Times New Roman"/>
              </a:rPr>
              <a:t> </a:t>
            </a:r>
            <a:r>
              <a:rPr sz="2400" dirty="0">
                <a:latin typeface="Times New Roman"/>
                <a:cs typeface="Times New Roman"/>
              </a:rPr>
              <a:t>programs</a:t>
            </a:r>
            <a:r>
              <a:rPr sz="2400" spc="-20" dirty="0">
                <a:latin typeface="Times New Roman"/>
                <a:cs typeface="Times New Roman"/>
              </a:rPr>
              <a:t> </a:t>
            </a:r>
            <a:r>
              <a:rPr sz="2400" dirty="0">
                <a:latin typeface="Times New Roman"/>
                <a:cs typeface="Times New Roman"/>
              </a:rPr>
              <a:t>and</a:t>
            </a:r>
            <a:r>
              <a:rPr sz="2400" spc="-20" dirty="0">
                <a:latin typeface="Times New Roman"/>
                <a:cs typeface="Times New Roman"/>
              </a:rPr>
              <a:t> </a:t>
            </a:r>
            <a:r>
              <a:rPr sz="2400" dirty="0">
                <a:latin typeface="Times New Roman"/>
                <a:cs typeface="Times New Roman"/>
              </a:rPr>
              <a:t>data</a:t>
            </a:r>
            <a:r>
              <a:rPr sz="2400" spc="-20" dirty="0">
                <a:latin typeface="Times New Roman"/>
                <a:cs typeface="Times New Roman"/>
              </a:rPr>
              <a:t> </a:t>
            </a:r>
            <a:r>
              <a:rPr sz="2400" dirty="0">
                <a:latin typeface="Times New Roman"/>
                <a:cs typeface="Times New Roman"/>
              </a:rPr>
              <a:t>is</a:t>
            </a:r>
            <a:r>
              <a:rPr sz="2400" spc="-25" dirty="0">
                <a:latin typeface="Times New Roman"/>
                <a:cs typeface="Times New Roman"/>
              </a:rPr>
              <a:t> </a:t>
            </a:r>
            <a:r>
              <a:rPr sz="2400" dirty="0">
                <a:latin typeface="Times New Roman"/>
                <a:cs typeface="Times New Roman"/>
              </a:rPr>
              <a:t>stored</a:t>
            </a:r>
            <a:r>
              <a:rPr sz="2400" spc="-20" dirty="0">
                <a:latin typeface="Times New Roman"/>
                <a:cs typeface="Times New Roman"/>
              </a:rPr>
              <a:t> </a:t>
            </a:r>
            <a:r>
              <a:rPr sz="2400" dirty="0">
                <a:latin typeface="Times New Roman"/>
                <a:cs typeface="Times New Roman"/>
              </a:rPr>
              <a:t>on</a:t>
            </a:r>
            <a:r>
              <a:rPr sz="2400" spc="-20" dirty="0">
                <a:latin typeface="Times New Roman"/>
                <a:cs typeface="Times New Roman"/>
              </a:rPr>
              <a:t> </a:t>
            </a:r>
            <a:r>
              <a:rPr sz="2400" dirty="0">
                <a:latin typeface="Times New Roman"/>
                <a:cs typeface="Times New Roman"/>
              </a:rPr>
              <a:t>remote</a:t>
            </a:r>
            <a:r>
              <a:rPr sz="2400" spc="-20" dirty="0">
                <a:latin typeface="Times New Roman"/>
                <a:cs typeface="Times New Roman"/>
              </a:rPr>
              <a:t> </a:t>
            </a:r>
            <a:r>
              <a:rPr sz="2400" spc="-10" dirty="0">
                <a:latin typeface="Times New Roman"/>
                <a:cs typeface="Times New Roman"/>
              </a:rPr>
              <a:t>servers</a:t>
            </a:r>
            <a:endParaRPr sz="2400">
              <a:latin typeface="Times New Roman"/>
              <a:cs typeface="Times New Roman"/>
            </a:endParaRPr>
          </a:p>
          <a:p>
            <a:pPr marL="371475" indent="-342900">
              <a:lnSpc>
                <a:spcPts val="2875"/>
              </a:lnSpc>
              <a:buClr>
                <a:srgbClr val="053CE8"/>
              </a:buClr>
              <a:buSzPct val="75000"/>
              <a:buFont typeface="Wingdings"/>
              <a:buChar char=""/>
              <a:tabLst>
                <a:tab pos="371475" algn="l"/>
              </a:tabLst>
            </a:pPr>
            <a:r>
              <a:rPr sz="2400" dirty="0">
                <a:latin typeface="Times New Roman"/>
                <a:cs typeface="Times New Roman"/>
              </a:rPr>
              <a:t>Local</a:t>
            </a:r>
            <a:r>
              <a:rPr sz="2400" spc="-40" dirty="0">
                <a:latin typeface="Times New Roman"/>
                <a:cs typeface="Times New Roman"/>
              </a:rPr>
              <a:t> </a:t>
            </a:r>
            <a:r>
              <a:rPr sz="2400" dirty="0">
                <a:latin typeface="Times New Roman"/>
                <a:cs typeface="Times New Roman"/>
              </a:rPr>
              <a:t>computer</a:t>
            </a:r>
            <a:r>
              <a:rPr sz="2400" spc="-25" dirty="0">
                <a:latin typeface="Times New Roman"/>
                <a:cs typeface="Times New Roman"/>
              </a:rPr>
              <a:t> </a:t>
            </a:r>
            <a:r>
              <a:rPr sz="2400" dirty="0">
                <a:latin typeface="Times New Roman"/>
                <a:cs typeface="Times New Roman"/>
              </a:rPr>
              <a:t>is</a:t>
            </a:r>
            <a:r>
              <a:rPr sz="2400" spc="-25" dirty="0">
                <a:latin typeface="Times New Roman"/>
                <a:cs typeface="Times New Roman"/>
              </a:rPr>
              <a:t> </a:t>
            </a:r>
            <a:r>
              <a:rPr sz="2400" dirty="0">
                <a:latin typeface="Times New Roman"/>
                <a:cs typeface="Times New Roman"/>
              </a:rPr>
              <a:t>simple</a:t>
            </a:r>
            <a:r>
              <a:rPr sz="2400" spc="-30" dirty="0">
                <a:latin typeface="Times New Roman"/>
                <a:cs typeface="Times New Roman"/>
              </a:rPr>
              <a:t> </a:t>
            </a:r>
            <a:r>
              <a:rPr sz="2400" dirty="0">
                <a:latin typeface="Times New Roman"/>
                <a:cs typeface="Times New Roman"/>
              </a:rPr>
              <a:t>with</a:t>
            </a:r>
            <a:r>
              <a:rPr sz="2400" spc="-25" dirty="0">
                <a:latin typeface="Times New Roman"/>
                <a:cs typeface="Times New Roman"/>
              </a:rPr>
              <a:t> </a:t>
            </a:r>
            <a:r>
              <a:rPr sz="2400" dirty="0">
                <a:latin typeface="Times New Roman"/>
                <a:cs typeface="Times New Roman"/>
              </a:rPr>
              <a:t>limited</a:t>
            </a:r>
            <a:r>
              <a:rPr sz="2400" spc="-25" dirty="0">
                <a:latin typeface="Times New Roman"/>
                <a:cs typeface="Times New Roman"/>
              </a:rPr>
              <a:t> </a:t>
            </a:r>
            <a:r>
              <a:rPr sz="2400" spc="-10" dirty="0">
                <a:latin typeface="Times New Roman"/>
                <a:cs typeface="Times New Roman"/>
              </a:rPr>
              <a:t>resources</a:t>
            </a:r>
            <a:endParaRPr sz="2400">
              <a:latin typeface="Times New Roman"/>
              <a:cs typeface="Times New Roman"/>
            </a:endParaRPr>
          </a:p>
          <a:p>
            <a:pPr marL="371475" indent="-342900">
              <a:lnSpc>
                <a:spcPts val="2875"/>
              </a:lnSpc>
              <a:buClr>
                <a:srgbClr val="053CE8"/>
              </a:buClr>
              <a:buSzPct val="75000"/>
              <a:buFont typeface="Wingdings"/>
              <a:buChar char=""/>
              <a:tabLst>
                <a:tab pos="371475" algn="l"/>
              </a:tabLst>
            </a:pPr>
            <a:r>
              <a:rPr sz="2400" dirty="0">
                <a:latin typeface="Times New Roman"/>
                <a:cs typeface="Times New Roman"/>
              </a:rPr>
              <a:t>Easy</a:t>
            </a:r>
            <a:r>
              <a:rPr sz="2400" spc="-35" dirty="0">
                <a:latin typeface="Times New Roman"/>
                <a:cs typeface="Times New Roman"/>
              </a:rPr>
              <a:t> </a:t>
            </a:r>
            <a:r>
              <a:rPr sz="2400" dirty="0">
                <a:latin typeface="Times New Roman"/>
                <a:cs typeface="Times New Roman"/>
              </a:rPr>
              <a:t>maintenance</a:t>
            </a:r>
            <a:r>
              <a:rPr sz="2400" spc="-35" dirty="0">
                <a:latin typeface="Times New Roman"/>
                <a:cs typeface="Times New Roman"/>
              </a:rPr>
              <a:t> </a:t>
            </a:r>
            <a:r>
              <a:rPr sz="2400" dirty="0">
                <a:latin typeface="Times New Roman"/>
                <a:cs typeface="Times New Roman"/>
              </a:rPr>
              <a:t>and</a:t>
            </a:r>
            <a:r>
              <a:rPr sz="2400" spc="-35" dirty="0">
                <a:latin typeface="Times New Roman"/>
                <a:cs typeface="Times New Roman"/>
              </a:rPr>
              <a:t> </a:t>
            </a:r>
            <a:r>
              <a:rPr sz="2400" spc="-10" dirty="0">
                <a:latin typeface="Times New Roman"/>
                <a:cs typeface="Times New Roman"/>
              </a:rPr>
              <a:t>upgrades</a:t>
            </a:r>
            <a:endParaRPr sz="2400">
              <a:latin typeface="Times New Roman"/>
              <a:cs typeface="Times New Roman"/>
            </a:endParaRPr>
          </a:p>
          <a:p>
            <a:pPr marL="371475" indent="-342900">
              <a:lnSpc>
                <a:spcPts val="2875"/>
              </a:lnSpc>
              <a:buClr>
                <a:srgbClr val="053CE8"/>
              </a:buClr>
              <a:buSzPct val="75000"/>
              <a:buFont typeface="Wingdings"/>
              <a:buChar char=""/>
              <a:tabLst>
                <a:tab pos="371475" algn="l"/>
              </a:tabLst>
            </a:pPr>
            <a:r>
              <a:rPr sz="2400" dirty="0">
                <a:latin typeface="Times New Roman"/>
                <a:cs typeface="Times New Roman"/>
              </a:rPr>
              <a:t>Users</a:t>
            </a:r>
            <a:r>
              <a:rPr sz="2400" spc="-25" dirty="0">
                <a:latin typeface="Times New Roman"/>
                <a:cs typeface="Times New Roman"/>
              </a:rPr>
              <a:t> </a:t>
            </a:r>
            <a:r>
              <a:rPr sz="2400" dirty="0">
                <a:latin typeface="Times New Roman"/>
                <a:cs typeface="Times New Roman"/>
              </a:rPr>
              <a:t>can</a:t>
            </a:r>
            <a:r>
              <a:rPr sz="2400" spc="-25" dirty="0">
                <a:latin typeface="Times New Roman"/>
                <a:cs typeface="Times New Roman"/>
              </a:rPr>
              <a:t> </a:t>
            </a:r>
            <a:r>
              <a:rPr sz="2400" dirty="0">
                <a:latin typeface="Times New Roman"/>
                <a:cs typeface="Times New Roman"/>
              </a:rPr>
              <a:t>log</a:t>
            </a:r>
            <a:r>
              <a:rPr sz="2400" spc="-25" dirty="0">
                <a:latin typeface="Times New Roman"/>
                <a:cs typeface="Times New Roman"/>
              </a:rPr>
              <a:t> </a:t>
            </a:r>
            <a:r>
              <a:rPr sz="2400" dirty="0">
                <a:latin typeface="Times New Roman"/>
                <a:cs typeface="Times New Roman"/>
              </a:rPr>
              <a:t>in</a:t>
            </a:r>
            <a:r>
              <a:rPr sz="2400" spc="-25" dirty="0">
                <a:latin typeface="Times New Roman"/>
                <a:cs typeface="Times New Roman"/>
              </a:rPr>
              <a:t> </a:t>
            </a:r>
            <a:r>
              <a:rPr sz="2400" dirty="0">
                <a:latin typeface="Times New Roman"/>
                <a:cs typeface="Times New Roman"/>
              </a:rPr>
              <a:t>on</a:t>
            </a:r>
            <a:r>
              <a:rPr sz="2400" spc="-25" dirty="0">
                <a:latin typeface="Times New Roman"/>
                <a:cs typeface="Times New Roman"/>
              </a:rPr>
              <a:t> </a:t>
            </a:r>
            <a:r>
              <a:rPr sz="2400" dirty="0">
                <a:latin typeface="Times New Roman"/>
                <a:cs typeface="Times New Roman"/>
              </a:rPr>
              <a:t>any</a:t>
            </a:r>
            <a:r>
              <a:rPr sz="2400" spc="-20" dirty="0">
                <a:latin typeface="Times New Roman"/>
                <a:cs typeface="Times New Roman"/>
              </a:rPr>
              <a:t> </a:t>
            </a:r>
            <a:r>
              <a:rPr sz="2400" spc="-10" dirty="0">
                <a:latin typeface="Times New Roman"/>
                <a:cs typeface="Times New Roman"/>
              </a:rPr>
              <a:t>client</a:t>
            </a:r>
            <a:endParaRPr sz="2400">
              <a:latin typeface="Times New Roman"/>
              <a:cs typeface="Times New Roman"/>
            </a:endParaRPr>
          </a:p>
          <a:p>
            <a:pPr marL="371475" indent="-342900">
              <a:lnSpc>
                <a:spcPts val="2875"/>
              </a:lnSpc>
              <a:buClr>
                <a:srgbClr val="053CE8"/>
              </a:buClr>
              <a:buSzPct val="75000"/>
              <a:buFont typeface="Wingdings"/>
              <a:buChar char=""/>
              <a:tabLst>
                <a:tab pos="371475" algn="l"/>
              </a:tabLst>
            </a:pPr>
            <a:r>
              <a:rPr sz="2400" dirty="0">
                <a:latin typeface="Times New Roman"/>
                <a:cs typeface="Times New Roman"/>
              </a:rPr>
              <a:t>Significant</a:t>
            </a:r>
            <a:r>
              <a:rPr sz="2400" spc="-45" dirty="0">
                <a:latin typeface="Times New Roman"/>
                <a:cs typeface="Times New Roman"/>
              </a:rPr>
              <a:t> </a:t>
            </a:r>
            <a:r>
              <a:rPr sz="2400" dirty="0">
                <a:latin typeface="Times New Roman"/>
                <a:cs typeface="Times New Roman"/>
              </a:rPr>
              <a:t>energy</a:t>
            </a:r>
            <a:r>
              <a:rPr sz="2400" spc="-40" dirty="0">
                <a:latin typeface="Times New Roman"/>
                <a:cs typeface="Times New Roman"/>
              </a:rPr>
              <a:t> </a:t>
            </a:r>
            <a:r>
              <a:rPr sz="2400" spc="-10" dirty="0">
                <a:latin typeface="Times New Roman"/>
                <a:cs typeface="Times New Roman"/>
              </a:rPr>
              <a:t>savings</a:t>
            </a:r>
            <a:endParaRPr sz="2400">
              <a:latin typeface="Times New Roman"/>
              <a:cs typeface="Times New Roman"/>
            </a:endParaRPr>
          </a:p>
          <a:p>
            <a:pPr marL="371475" indent="-342900">
              <a:lnSpc>
                <a:spcPts val="2875"/>
              </a:lnSpc>
              <a:buClr>
                <a:srgbClr val="053CE8"/>
              </a:buClr>
              <a:buSzPct val="75000"/>
              <a:buFont typeface="Wingdings"/>
              <a:buChar char=""/>
              <a:tabLst>
                <a:tab pos="371475" algn="l"/>
              </a:tabLst>
            </a:pPr>
            <a:r>
              <a:rPr sz="2400" dirty="0">
                <a:latin typeface="Times New Roman"/>
                <a:cs typeface="Times New Roman"/>
              </a:rPr>
              <a:t>Example:</a:t>
            </a:r>
            <a:r>
              <a:rPr sz="2400" spc="-35" dirty="0">
                <a:latin typeface="Times New Roman"/>
                <a:cs typeface="Times New Roman"/>
              </a:rPr>
              <a:t> </a:t>
            </a:r>
            <a:r>
              <a:rPr sz="2400" dirty="0">
                <a:latin typeface="Times New Roman"/>
                <a:cs typeface="Times New Roman"/>
              </a:rPr>
              <a:t>Chrome</a:t>
            </a:r>
            <a:r>
              <a:rPr sz="2400" spc="-35" dirty="0">
                <a:latin typeface="Times New Roman"/>
                <a:cs typeface="Times New Roman"/>
              </a:rPr>
              <a:t> </a:t>
            </a:r>
            <a:r>
              <a:rPr sz="2400" spc="-10" dirty="0">
                <a:latin typeface="Times New Roman"/>
                <a:cs typeface="Times New Roman"/>
              </a:rPr>
              <a:t>books</a:t>
            </a:r>
            <a:endParaRPr sz="2400">
              <a:latin typeface="Times New Roman"/>
              <a:cs typeface="Times New Roman"/>
            </a:endParaRPr>
          </a:p>
          <a:p>
            <a:pPr marL="371475" marR="2010410" indent="-342900">
              <a:lnSpc>
                <a:spcPts val="2580"/>
              </a:lnSpc>
              <a:spcBef>
                <a:spcPts val="334"/>
              </a:spcBef>
              <a:buClr>
                <a:srgbClr val="053CE8"/>
              </a:buClr>
              <a:buSzPct val="75000"/>
              <a:buFont typeface="Wingdings"/>
              <a:buChar char=""/>
              <a:tabLst>
                <a:tab pos="371475" algn="l"/>
              </a:tabLst>
            </a:pPr>
            <a:r>
              <a:rPr sz="2400" dirty="0">
                <a:latin typeface="Times New Roman"/>
                <a:cs typeface="Times New Roman"/>
              </a:rPr>
              <a:t>Zero</a:t>
            </a:r>
            <a:r>
              <a:rPr sz="2400" spc="-40" dirty="0">
                <a:latin typeface="Times New Roman"/>
                <a:cs typeface="Times New Roman"/>
              </a:rPr>
              <a:t> </a:t>
            </a:r>
            <a:r>
              <a:rPr sz="2400" dirty="0">
                <a:latin typeface="Times New Roman"/>
                <a:cs typeface="Times New Roman"/>
              </a:rPr>
              <a:t>Client:</a:t>
            </a:r>
            <a:r>
              <a:rPr sz="2400" spc="-35" dirty="0">
                <a:latin typeface="Times New Roman"/>
                <a:cs typeface="Times New Roman"/>
              </a:rPr>
              <a:t> </a:t>
            </a:r>
            <a:r>
              <a:rPr sz="2400" dirty="0">
                <a:latin typeface="Times New Roman"/>
                <a:cs typeface="Times New Roman"/>
              </a:rPr>
              <a:t>Power</a:t>
            </a:r>
            <a:r>
              <a:rPr sz="2400" spc="-35" dirty="0">
                <a:latin typeface="Times New Roman"/>
                <a:cs typeface="Times New Roman"/>
              </a:rPr>
              <a:t> </a:t>
            </a:r>
            <a:r>
              <a:rPr sz="2400" dirty="0">
                <a:latin typeface="Times New Roman"/>
                <a:cs typeface="Times New Roman"/>
              </a:rPr>
              <a:t>cable</a:t>
            </a:r>
            <a:r>
              <a:rPr sz="2400" spc="-35" dirty="0">
                <a:latin typeface="Times New Roman"/>
                <a:cs typeface="Times New Roman"/>
              </a:rPr>
              <a:t> </a:t>
            </a:r>
            <a:r>
              <a:rPr sz="2400" spc="-10" dirty="0">
                <a:latin typeface="Times New Roman"/>
                <a:cs typeface="Times New Roman"/>
              </a:rPr>
              <a:t>only. </a:t>
            </a:r>
            <a:r>
              <a:rPr sz="2400" dirty="0">
                <a:latin typeface="Times New Roman"/>
                <a:cs typeface="Times New Roman"/>
              </a:rPr>
              <a:t>USB</a:t>
            </a:r>
            <a:r>
              <a:rPr sz="2400" spc="-40" dirty="0">
                <a:latin typeface="Times New Roman"/>
                <a:cs typeface="Times New Roman"/>
              </a:rPr>
              <a:t> </a:t>
            </a:r>
            <a:r>
              <a:rPr sz="2400" dirty="0">
                <a:latin typeface="Times New Roman"/>
                <a:cs typeface="Times New Roman"/>
              </a:rPr>
              <a:t>and</a:t>
            </a:r>
            <a:r>
              <a:rPr sz="2400" spc="-40" dirty="0">
                <a:latin typeface="Times New Roman"/>
                <a:cs typeface="Times New Roman"/>
              </a:rPr>
              <a:t> </a:t>
            </a:r>
            <a:r>
              <a:rPr sz="2400">
                <a:latin typeface="Times New Roman"/>
                <a:cs typeface="Times New Roman"/>
              </a:rPr>
              <a:t>communication</a:t>
            </a:r>
            <a:r>
              <a:rPr sz="2400" spc="-40">
                <a:latin typeface="Times New Roman"/>
                <a:cs typeface="Times New Roman"/>
              </a:rPr>
              <a:t> </a:t>
            </a:r>
            <a:r>
              <a:rPr sz="2400">
                <a:latin typeface="Times New Roman"/>
                <a:cs typeface="Times New Roman"/>
              </a:rPr>
              <a:t>vi</a:t>
            </a:r>
            <a:r>
              <a:rPr lang="en-US" sz="2400">
                <a:latin typeface="Times New Roman"/>
                <a:cs typeface="Times New Roman"/>
              </a:rPr>
              <a:t>a</a:t>
            </a:r>
            <a:r>
              <a:rPr lang="en-US" sz="2400" spc="-40">
                <a:latin typeface="Times New Roman"/>
                <a:cs typeface="Times New Roman"/>
              </a:rPr>
              <a:t> </a:t>
            </a:r>
            <a:r>
              <a:rPr lang="en-US" sz="2400" spc="-20">
                <a:latin typeface="Times New Roman"/>
                <a:cs typeface="Times New Roman"/>
              </a:rPr>
              <a:t>WiFi</a:t>
            </a:r>
          </a:p>
          <a:p>
            <a:pPr marL="12700" marR="3141980">
              <a:lnSpc>
                <a:spcPct val="100000"/>
              </a:lnSpc>
              <a:spcBef>
                <a:spcPts val="370"/>
              </a:spcBef>
            </a:pPr>
            <a:endParaRPr lang="en-US" sz="1200">
              <a:latin typeface="Times New Roman"/>
              <a:cs typeface="Times New Roman"/>
            </a:endParaRPr>
          </a:p>
        </p:txBody>
      </p:sp>
      <p:pic>
        <p:nvPicPr>
          <p:cNvPr id="4" name="object 4"/>
          <p:cNvPicPr/>
          <p:nvPr/>
        </p:nvPicPr>
        <p:blipFill>
          <a:blip r:embed="rId2" cstate="print"/>
          <a:stretch>
            <a:fillRect/>
          </a:stretch>
        </p:blipFill>
        <p:spPr>
          <a:xfrm>
            <a:off x="7010400" y="2545079"/>
            <a:ext cx="1720595" cy="1185672"/>
          </a:xfrm>
          <a:prstGeom prst="rect">
            <a:avLst/>
          </a:prstGeom>
        </p:spPr>
      </p:pic>
      <p:pic>
        <p:nvPicPr>
          <p:cNvPr id="5" name="object 5"/>
          <p:cNvPicPr/>
          <p:nvPr/>
        </p:nvPicPr>
        <p:blipFill>
          <a:blip r:embed="rId3" cstate="print"/>
          <a:stretch>
            <a:fillRect/>
          </a:stretch>
        </p:blipFill>
        <p:spPr>
          <a:xfrm>
            <a:off x="5257800" y="3930395"/>
            <a:ext cx="3428999" cy="2279904"/>
          </a:xfrm>
          <a:prstGeom prst="rect">
            <a:avLst/>
          </a:prstGeom>
        </p:spPr>
      </p:pic>
      <p:sp>
        <p:nvSpPr>
          <p:cNvPr id="9" name="Slide Number Placeholder 8">
            <a:extLst>
              <a:ext uri="{FF2B5EF4-FFF2-40B4-BE49-F238E27FC236}">
                <a16:creationId xmlns:a16="http://schemas.microsoft.com/office/drawing/2014/main" id="{321940E2-4E50-E2B6-35AA-88FF32B84F34}"/>
              </a:ext>
            </a:extLst>
          </p:cNvPr>
          <p:cNvSpPr>
            <a:spLocks noGrp="1"/>
          </p:cNvSpPr>
          <p:nvPr>
            <p:ph type="sldNum" sz="quarter" idx="7"/>
          </p:nvPr>
        </p:nvSpPr>
        <p:spPr>
          <a:xfrm>
            <a:off x="4495800" y="6524806"/>
            <a:ext cx="368935" cy="278765"/>
          </a:xfrm>
        </p:spPr>
        <p:txBody>
          <a:bodyPr/>
          <a:lstStyle/>
          <a:p>
            <a:pPr marL="12700">
              <a:lnSpc>
                <a:spcPts val="2065"/>
              </a:lnSpc>
            </a:pPr>
            <a:fld id="{81D60167-4931-47E6-BA6A-407CBD079E47}" type="slidenum">
              <a:rPr spc="-50" smtClean="0"/>
              <a:t>11</a:t>
            </a:fld>
            <a:endParaRPr spc="-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524000">
              <a:lnSpc>
                <a:spcPct val="100000"/>
              </a:lnSpc>
              <a:spcBef>
                <a:spcPts val="100"/>
              </a:spcBef>
            </a:pPr>
            <a:r>
              <a:rPr dirty="0"/>
              <a:t>Application</a:t>
            </a:r>
            <a:r>
              <a:rPr spc="-105" dirty="0"/>
              <a:t> </a:t>
            </a:r>
            <a:r>
              <a:rPr spc="-10" dirty="0"/>
              <a:t>Virtualization</a:t>
            </a:r>
          </a:p>
        </p:txBody>
      </p:sp>
      <p:sp>
        <p:nvSpPr>
          <p:cNvPr id="5" name="object 5"/>
          <p:cNvSpPr txBox="1"/>
          <p:nvPr/>
        </p:nvSpPr>
        <p:spPr>
          <a:xfrm>
            <a:off x="4350956" y="6658344"/>
            <a:ext cx="2650490" cy="188770"/>
          </a:xfrm>
          <a:prstGeom prst="rect">
            <a:avLst/>
          </a:prstGeom>
        </p:spPr>
        <p:txBody>
          <a:bodyPr vert="horz" wrap="square" lIns="0" tIns="0" rIns="0" bIns="0" rtlCol="0">
            <a:spAutoFit/>
          </a:bodyPr>
          <a:lstStyle/>
          <a:p>
            <a:pPr marL="12700">
              <a:lnSpc>
                <a:spcPts val="1410"/>
              </a:lnSpc>
            </a:pPr>
            <a:fld id="{81D60167-4931-47E6-BA6A-407CBD079E47}" type="slidenum">
              <a:rPr sz="1800" spc="-25" smtClean="0">
                <a:latin typeface="Times New Roman"/>
                <a:cs typeface="Times New Roman"/>
              </a:rPr>
              <a:t>12</a:t>
            </a:fld>
            <a:endParaRPr sz="1800">
              <a:latin typeface="Times New Roman"/>
              <a:cs typeface="Times New Roman"/>
            </a:endParaRP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355600" marR="471170" indent="-342900">
              <a:lnSpc>
                <a:spcPct val="100000"/>
              </a:lnSpc>
              <a:spcBef>
                <a:spcPts val="100"/>
              </a:spcBef>
              <a:buClr>
                <a:srgbClr val="053CE8"/>
              </a:buClr>
              <a:buSzPct val="75000"/>
              <a:buFont typeface="Wingdings"/>
              <a:buChar char=""/>
              <a:tabLst>
                <a:tab pos="355600" algn="l"/>
              </a:tabLst>
            </a:pPr>
            <a:r>
              <a:rPr dirty="0"/>
              <a:t>Allows</a:t>
            </a:r>
            <a:r>
              <a:rPr spc="-40" dirty="0"/>
              <a:t> </a:t>
            </a:r>
            <a:r>
              <a:rPr dirty="0"/>
              <a:t>an</a:t>
            </a:r>
            <a:r>
              <a:rPr spc="-35" dirty="0"/>
              <a:t> </a:t>
            </a:r>
            <a:r>
              <a:rPr dirty="0"/>
              <a:t>application</a:t>
            </a:r>
            <a:r>
              <a:rPr spc="-40" dirty="0"/>
              <a:t> </a:t>
            </a:r>
            <a:r>
              <a:rPr dirty="0"/>
              <a:t>to</a:t>
            </a:r>
            <a:r>
              <a:rPr spc="-35" dirty="0"/>
              <a:t> </a:t>
            </a:r>
            <a:r>
              <a:rPr dirty="0"/>
              <a:t>run</a:t>
            </a:r>
            <a:r>
              <a:rPr spc="-40" dirty="0"/>
              <a:t> </a:t>
            </a:r>
            <a:r>
              <a:rPr dirty="0"/>
              <a:t>on</a:t>
            </a:r>
            <a:r>
              <a:rPr spc="-35" dirty="0"/>
              <a:t> </a:t>
            </a:r>
            <a:r>
              <a:rPr dirty="0"/>
              <a:t>many</a:t>
            </a:r>
            <a:r>
              <a:rPr spc="-35" dirty="0"/>
              <a:t> </a:t>
            </a:r>
            <a:r>
              <a:rPr dirty="0"/>
              <a:t>different</a:t>
            </a:r>
            <a:r>
              <a:rPr spc="-40" dirty="0"/>
              <a:t> </a:t>
            </a:r>
            <a:r>
              <a:rPr spc="-10" dirty="0"/>
              <a:t>operating </a:t>
            </a:r>
            <a:r>
              <a:rPr dirty="0"/>
              <a:t>systems</a:t>
            </a:r>
            <a:r>
              <a:rPr spc="-25" dirty="0"/>
              <a:t> </a:t>
            </a:r>
            <a:r>
              <a:rPr dirty="0"/>
              <a:t>and</a:t>
            </a:r>
            <a:r>
              <a:rPr spc="-25" dirty="0"/>
              <a:t> </a:t>
            </a:r>
            <a:r>
              <a:rPr spc="-10" dirty="0"/>
              <a:t>hardware</a:t>
            </a:r>
          </a:p>
          <a:p>
            <a:pPr marL="355600" marR="5080" indent="-342900">
              <a:lnSpc>
                <a:spcPct val="100000"/>
              </a:lnSpc>
              <a:spcBef>
                <a:spcPts val="560"/>
              </a:spcBef>
              <a:buClr>
                <a:srgbClr val="053CE8"/>
              </a:buClr>
              <a:buSzPct val="75000"/>
              <a:buFont typeface="Wingdings"/>
              <a:buChar char=""/>
              <a:tabLst>
                <a:tab pos="355600" algn="l"/>
              </a:tabLst>
            </a:pPr>
            <a:r>
              <a:rPr dirty="0"/>
              <a:t>Application</a:t>
            </a:r>
            <a:r>
              <a:rPr spc="-35" dirty="0"/>
              <a:t> </a:t>
            </a:r>
            <a:r>
              <a:rPr dirty="0"/>
              <a:t>byte</a:t>
            </a:r>
            <a:r>
              <a:rPr spc="-35" dirty="0"/>
              <a:t> </a:t>
            </a:r>
            <a:r>
              <a:rPr dirty="0"/>
              <a:t>code</a:t>
            </a:r>
            <a:r>
              <a:rPr spc="-30" dirty="0"/>
              <a:t> </a:t>
            </a:r>
            <a:r>
              <a:rPr dirty="0"/>
              <a:t>can</a:t>
            </a:r>
            <a:r>
              <a:rPr spc="-35" dirty="0"/>
              <a:t> </a:t>
            </a:r>
            <a:r>
              <a:rPr dirty="0"/>
              <a:t>run</a:t>
            </a:r>
            <a:r>
              <a:rPr spc="-30" dirty="0"/>
              <a:t> </a:t>
            </a:r>
            <a:r>
              <a:rPr dirty="0"/>
              <a:t>on</a:t>
            </a:r>
            <a:r>
              <a:rPr spc="-35" dirty="0"/>
              <a:t> </a:t>
            </a:r>
            <a:r>
              <a:rPr dirty="0"/>
              <a:t>different</a:t>
            </a:r>
            <a:r>
              <a:rPr spc="-35" dirty="0"/>
              <a:t> </a:t>
            </a:r>
            <a:r>
              <a:rPr spc="-10" dirty="0"/>
              <a:t>processors</a:t>
            </a:r>
            <a:r>
              <a:rPr spc="-30" dirty="0"/>
              <a:t> </a:t>
            </a:r>
            <a:r>
              <a:rPr spc="-25" dirty="0"/>
              <a:t>and </a:t>
            </a:r>
            <a:r>
              <a:rPr dirty="0"/>
              <a:t>operating</a:t>
            </a:r>
            <a:r>
              <a:rPr spc="-30" dirty="0"/>
              <a:t> </a:t>
            </a:r>
            <a:r>
              <a:rPr dirty="0"/>
              <a:t>systems</a:t>
            </a:r>
            <a:r>
              <a:rPr spc="-30" dirty="0"/>
              <a:t> </a:t>
            </a:r>
            <a:r>
              <a:rPr dirty="0"/>
              <a:t>usually</a:t>
            </a:r>
            <a:r>
              <a:rPr spc="-25" dirty="0"/>
              <a:t> </a:t>
            </a:r>
            <a:r>
              <a:rPr dirty="0"/>
              <a:t>using</a:t>
            </a:r>
            <a:r>
              <a:rPr spc="-30" dirty="0"/>
              <a:t> </a:t>
            </a:r>
            <a:r>
              <a:rPr dirty="0"/>
              <a:t>an</a:t>
            </a:r>
            <a:r>
              <a:rPr spc="-25" dirty="0"/>
              <a:t> </a:t>
            </a:r>
            <a:r>
              <a:rPr dirty="0"/>
              <a:t>interpreter</a:t>
            </a:r>
            <a:r>
              <a:rPr spc="-30" dirty="0"/>
              <a:t> </a:t>
            </a:r>
            <a:r>
              <a:rPr dirty="0"/>
              <a:t>or</a:t>
            </a:r>
            <a:r>
              <a:rPr spc="-25" dirty="0"/>
              <a:t> </a:t>
            </a:r>
            <a:r>
              <a:rPr spc="-10" dirty="0"/>
              <a:t>just-in-</a:t>
            </a:r>
            <a:r>
              <a:rPr spc="-20" dirty="0"/>
              <a:t>time </a:t>
            </a:r>
            <a:r>
              <a:rPr spc="-10" dirty="0"/>
              <a:t>(run-</a:t>
            </a:r>
            <a:r>
              <a:rPr dirty="0"/>
              <a:t>time)</a:t>
            </a:r>
            <a:r>
              <a:rPr spc="-5" dirty="0"/>
              <a:t> </a:t>
            </a:r>
            <a:r>
              <a:rPr spc="-10" dirty="0"/>
              <a:t>compilation</a:t>
            </a:r>
          </a:p>
          <a:p>
            <a:pPr marL="354965" indent="-342265">
              <a:lnSpc>
                <a:spcPct val="100000"/>
              </a:lnSpc>
              <a:spcBef>
                <a:spcPts val="560"/>
              </a:spcBef>
              <a:buClr>
                <a:srgbClr val="053CE8"/>
              </a:buClr>
              <a:buSzPct val="75000"/>
              <a:buFont typeface="Wingdings"/>
              <a:buChar char=""/>
              <a:tabLst>
                <a:tab pos="354965" algn="l"/>
              </a:tabLst>
            </a:pPr>
            <a:r>
              <a:rPr dirty="0"/>
              <a:t>Examples:</a:t>
            </a:r>
            <a:r>
              <a:rPr spc="-45" dirty="0"/>
              <a:t> </a:t>
            </a:r>
            <a:r>
              <a:rPr dirty="0"/>
              <a:t>Java</a:t>
            </a:r>
            <a:r>
              <a:rPr spc="-35" dirty="0"/>
              <a:t> </a:t>
            </a:r>
            <a:r>
              <a:rPr dirty="0"/>
              <a:t>Virtual</a:t>
            </a:r>
            <a:r>
              <a:rPr spc="-35" dirty="0"/>
              <a:t> </a:t>
            </a:r>
            <a:r>
              <a:rPr dirty="0"/>
              <a:t>Machine</a:t>
            </a:r>
            <a:r>
              <a:rPr spc="-30" dirty="0"/>
              <a:t> </a:t>
            </a:r>
            <a:r>
              <a:rPr spc="-10" dirty="0"/>
              <a:t>(JVM)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599" y="412306"/>
            <a:ext cx="7892669" cy="574040"/>
          </a:xfrm>
          <a:prstGeom prst="rect">
            <a:avLst/>
          </a:prstGeom>
        </p:spPr>
        <p:txBody>
          <a:bodyPr vert="horz" wrap="square" lIns="0" tIns="12700" rIns="0" bIns="0" rtlCol="0">
            <a:spAutoFit/>
          </a:bodyPr>
          <a:lstStyle/>
          <a:p>
            <a:pPr marL="1956435">
              <a:lnSpc>
                <a:spcPct val="100000"/>
              </a:lnSpc>
              <a:spcBef>
                <a:spcPts val="100"/>
              </a:spcBef>
            </a:pPr>
            <a:r>
              <a:rPr dirty="0"/>
              <a:t>Service</a:t>
            </a:r>
            <a:r>
              <a:rPr spc="-65" dirty="0"/>
              <a:t> </a:t>
            </a:r>
            <a:r>
              <a:rPr spc="-10" dirty="0"/>
              <a:t>Virtualization</a:t>
            </a:r>
          </a:p>
        </p:txBody>
      </p:sp>
      <p:sp>
        <p:nvSpPr>
          <p:cNvPr id="3" name="object 3"/>
          <p:cNvSpPr txBox="1"/>
          <p:nvPr/>
        </p:nvSpPr>
        <p:spPr>
          <a:xfrm>
            <a:off x="457454" y="1288034"/>
            <a:ext cx="8044815" cy="2508885"/>
          </a:xfrm>
          <a:prstGeom prst="rect">
            <a:avLst/>
          </a:prstGeom>
        </p:spPr>
        <p:txBody>
          <a:bodyPr vert="horz" wrap="square" lIns="0" tIns="55244" rIns="0" bIns="0" rtlCol="0">
            <a:spAutoFit/>
          </a:bodyPr>
          <a:lstStyle/>
          <a:p>
            <a:pPr marL="355600" marR="5080" indent="-342900">
              <a:lnSpc>
                <a:spcPts val="2580"/>
              </a:lnSpc>
              <a:spcBef>
                <a:spcPts val="434"/>
              </a:spcBef>
              <a:buClr>
                <a:srgbClr val="053CE8"/>
              </a:buClr>
              <a:buSzPct val="75000"/>
              <a:buFont typeface="Wingdings"/>
              <a:buChar char=""/>
              <a:tabLst>
                <a:tab pos="355600" algn="l"/>
              </a:tabLst>
            </a:pPr>
            <a:r>
              <a:rPr sz="2400" dirty="0">
                <a:latin typeface="Times New Roman"/>
                <a:cs typeface="Times New Roman"/>
              </a:rPr>
              <a:t>Service</a:t>
            </a:r>
            <a:r>
              <a:rPr sz="2400" spc="-30" dirty="0">
                <a:latin typeface="Times New Roman"/>
                <a:cs typeface="Times New Roman"/>
              </a:rPr>
              <a:t> </a:t>
            </a:r>
            <a:r>
              <a:rPr sz="2400" dirty="0">
                <a:latin typeface="Times New Roman"/>
                <a:cs typeface="Times New Roman"/>
              </a:rPr>
              <a:t>is</a:t>
            </a:r>
            <a:r>
              <a:rPr sz="2400" spc="-25" dirty="0">
                <a:latin typeface="Times New Roman"/>
                <a:cs typeface="Times New Roman"/>
              </a:rPr>
              <a:t> </a:t>
            </a:r>
            <a:r>
              <a:rPr sz="2400" dirty="0">
                <a:latin typeface="Times New Roman"/>
                <a:cs typeface="Times New Roman"/>
              </a:rPr>
              <a:t>similar</a:t>
            </a:r>
            <a:r>
              <a:rPr sz="2400" spc="-25" dirty="0">
                <a:latin typeface="Times New Roman"/>
                <a:cs typeface="Times New Roman"/>
              </a:rPr>
              <a:t> </a:t>
            </a:r>
            <a:r>
              <a:rPr sz="2400" dirty="0">
                <a:latin typeface="Times New Roman"/>
                <a:cs typeface="Times New Roman"/>
              </a:rPr>
              <a:t>to</a:t>
            </a:r>
            <a:r>
              <a:rPr sz="2400" spc="-25" dirty="0">
                <a:latin typeface="Times New Roman"/>
                <a:cs typeface="Times New Roman"/>
              </a:rPr>
              <a:t> </a:t>
            </a:r>
            <a:r>
              <a:rPr sz="2400" dirty="0">
                <a:latin typeface="Times New Roman"/>
                <a:cs typeface="Times New Roman"/>
              </a:rPr>
              <a:t>but</a:t>
            </a:r>
            <a:r>
              <a:rPr sz="2400" spc="-25" dirty="0">
                <a:latin typeface="Times New Roman"/>
                <a:cs typeface="Times New Roman"/>
              </a:rPr>
              <a:t> </a:t>
            </a:r>
            <a:r>
              <a:rPr sz="2400" dirty="0">
                <a:latin typeface="Times New Roman"/>
                <a:cs typeface="Times New Roman"/>
              </a:rPr>
              <a:t>different</a:t>
            </a:r>
            <a:r>
              <a:rPr sz="2400" spc="-30" dirty="0">
                <a:latin typeface="Times New Roman"/>
                <a:cs typeface="Times New Roman"/>
              </a:rPr>
              <a:t> </a:t>
            </a:r>
            <a:r>
              <a:rPr sz="2400" dirty="0">
                <a:latin typeface="Times New Roman"/>
                <a:cs typeface="Times New Roman"/>
              </a:rPr>
              <a:t>from</a:t>
            </a:r>
            <a:r>
              <a:rPr sz="2400" spc="-25" dirty="0">
                <a:latin typeface="Times New Roman"/>
                <a:cs typeface="Times New Roman"/>
              </a:rPr>
              <a:t> </a:t>
            </a:r>
            <a:r>
              <a:rPr sz="2400" dirty="0">
                <a:latin typeface="Times New Roman"/>
                <a:cs typeface="Times New Roman"/>
              </a:rPr>
              <a:t>applications</a:t>
            </a:r>
            <a:r>
              <a:rPr sz="2400" spc="-25" dirty="0">
                <a:latin typeface="Times New Roman"/>
                <a:cs typeface="Times New Roman"/>
              </a:rPr>
              <a:t> </a:t>
            </a:r>
            <a:r>
              <a:rPr sz="2400" dirty="0">
                <a:latin typeface="Times New Roman"/>
                <a:cs typeface="Times New Roman"/>
              </a:rPr>
              <a:t>in</a:t>
            </a:r>
            <a:r>
              <a:rPr sz="2400" spc="-25" dirty="0">
                <a:latin typeface="Times New Roman"/>
                <a:cs typeface="Times New Roman"/>
              </a:rPr>
              <a:t> </a:t>
            </a:r>
            <a:r>
              <a:rPr sz="2400" dirty="0">
                <a:latin typeface="Times New Roman"/>
                <a:cs typeface="Times New Roman"/>
              </a:rPr>
              <a:t>that</a:t>
            </a:r>
            <a:r>
              <a:rPr sz="2400" spc="-25" dirty="0">
                <a:latin typeface="Times New Roman"/>
                <a:cs typeface="Times New Roman"/>
              </a:rPr>
              <a:t> </a:t>
            </a:r>
            <a:r>
              <a:rPr sz="2400" spc="-20" dirty="0">
                <a:latin typeface="Times New Roman"/>
                <a:cs typeface="Times New Roman"/>
              </a:rPr>
              <a:t>they </a:t>
            </a:r>
            <a:r>
              <a:rPr sz="2400" dirty="0">
                <a:latin typeface="Times New Roman"/>
                <a:cs typeface="Times New Roman"/>
              </a:rPr>
              <a:t>are</a:t>
            </a:r>
            <a:r>
              <a:rPr sz="2400" spc="-15" dirty="0">
                <a:latin typeface="Times New Roman"/>
                <a:cs typeface="Times New Roman"/>
              </a:rPr>
              <a:t> </a:t>
            </a:r>
            <a:r>
              <a:rPr sz="2400" dirty="0">
                <a:latin typeface="Times New Roman"/>
                <a:cs typeface="Times New Roman"/>
              </a:rPr>
              <a:t>hidden</a:t>
            </a:r>
            <a:r>
              <a:rPr sz="2400" spc="-10" dirty="0">
                <a:latin typeface="Times New Roman"/>
                <a:cs typeface="Times New Roman"/>
              </a:rPr>
              <a:t> </a:t>
            </a:r>
            <a:r>
              <a:rPr sz="2400" dirty="0">
                <a:latin typeface="Times New Roman"/>
                <a:cs typeface="Times New Roman"/>
              </a:rPr>
              <a:t>from</a:t>
            </a:r>
            <a:r>
              <a:rPr sz="2400" spc="-15" dirty="0">
                <a:latin typeface="Times New Roman"/>
                <a:cs typeface="Times New Roman"/>
              </a:rPr>
              <a:t> </a:t>
            </a:r>
            <a:r>
              <a:rPr sz="2400" dirty="0">
                <a:latin typeface="Times New Roman"/>
                <a:cs typeface="Times New Roman"/>
              </a:rPr>
              <a:t>the</a:t>
            </a:r>
            <a:r>
              <a:rPr sz="2400" spc="-10" dirty="0">
                <a:latin typeface="Times New Roman"/>
                <a:cs typeface="Times New Roman"/>
              </a:rPr>
              <a:t> </a:t>
            </a:r>
            <a:r>
              <a:rPr sz="2400" dirty="0">
                <a:latin typeface="Times New Roman"/>
                <a:cs typeface="Times New Roman"/>
              </a:rPr>
              <a:t>end</a:t>
            </a:r>
            <a:r>
              <a:rPr sz="2400" spc="-10" dirty="0">
                <a:latin typeface="Times New Roman"/>
                <a:cs typeface="Times New Roman"/>
              </a:rPr>
              <a:t> </a:t>
            </a:r>
            <a:r>
              <a:rPr sz="2400" spc="-20" dirty="0">
                <a:latin typeface="Times New Roman"/>
                <a:cs typeface="Times New Roman"/>
              </a:rPr>
              <a:t>user</a:t>
            </a:r>
            <a:endParaRPr sz="2400">
              <a:latin typeface="Times New Roman"/>
              <a:cs typeface="Times New Roman"/>
            </a:endParaRPr>
          </a:p>
          <a:p>
            <a:pPr marL="354965">
              <a:lnSpc>
                <a:spcPts val="2555"/>
              </a:lnSpc>
            </a:pPr>
            <a:r>
              <a:rPr sz="2400" dirty="0">
                <a:latin typeface="Times New Roman"/>
                <a:cs typeface="Times New Roman"/>
              </a:rPr>
              <a:t>Example</a:t>
            </a:r>
            <a:r>
              <a:rPr sz="2400" spc="-50" dirty="0">
                <a:latin typeface="Times New Roman"/>
                <a:cs typeface="Times New Roman"/>
              </a:rPr>
              <a:t> </a:t>
            </a:r>
            <a:r>
              <a:rPr sz="2400" dirty="0">
                <a:latin typeface="Times New Roman"/>
                <a:cs typeface="Times New Roman"/>
              </a:rPr>
              <a:t>services:</a:t>
            </a:r>
            <a:r>
              <a:rPr sz="2400" spc="-45" dirty="0">
                <a:latin typeface="Times New Roman"/>
                <a:cs typeface="Times New Roman"/>
              </a:rPr>
              <a:t> </a:t>
            </a:r>
            <a:r>
              <a:rPr sz="2400" dirty="0">
                <a:latin typeface="Times New Roman"/>
                <a:cs typeface="Times New Roman"/>
              </a:rPr>
              <a:t>Firewall,</a:t>
            </a:r>
            <a:r>
              <a:rPr sz="2400" spc="-45" dirty="0">
                <a:latin typeface="Times New Roman"/>
                <a:cs typeface="Times New Roman"/>
              </a:rPr>
              <a:t> </a:t>
            </a:r>
            <a:r>
              <a:rPr sz="2400" dirty="0">
                <a:latin typeface="Times New Roman"/>
                <a:cs typeface="Times New Roman"/>
              </a:rPr>
              <a:t>load</a:t>
            </a:r>
            <a:r>
              <a:rPr sz="2400" spc="-45" dirty="0">
                <a:latin typeface="Times New Roman"/>
                <a:cs typeface="Times New Roman"/>
              </a:rPr>
              <a:t> </a:t>
            </a:r>
            <a:r>
              <a:rPr sz="2400" dirty="0">
                <a:latin typeface="Times New Roman"/>
                <a:cs typeface="Times New Roman"/>
              </a:rPr>
              <a:t>balancer,</a:t>
            </a:r>
            <a:r>
              <a:rPr sz="2400" spc="-45" dirty="0">
                <a:latin typeface="Times New Roman"/>
                <a:cs typeface="Times New Roman"/>
              </a:rPr>
              <a:t> </a:t>
            </a:r>
            <a:r>
              <a:rPr sz="2400" dirty="0">
                <a:latin typeface="Times New Roman"/>
                <a:cs typeface="Times New Roman"/>
              </a:rPr>
              <a:t>Proxy</a:t>
            </a:r>
            <a:r>
              <a:rPr sz="2400" spc="-45" dirty="0">
                <a:latin typeface="Times New Roman"/>
                <a:cs typeface="Times New Roman"/>
              </a:rPr>
              <a:t> </a:t>
            </a:r>
            <a:r>
              <a:rPr sz="2400" spc="-10" dirty="0">
                <a:latin typeface="Times New Roman"/>
                <a:cs typeface="Times New Roman"/>
              </a:rPr>
              <a:t>Server</a:t>
            </a:r>
            <a:endParaRPr sz="2400">
              <a:latin typeface="Times New Roman"/>
              <a:cs typeface="Times New Roman"/>
            </a:endParaRPr>
          </a:p>
          <a:p>
            <a:pPr marL="355600" marR="709295" indent="-342900">
              <a:lnSpc>
                <a:spcPts val="2580"/>
              </a:lnSpc>
              <a:spcBef>
                <a:spcPts val="615"/>
              </a:spcBef>
              <a:buClr>
                <a:srgbClr val="053CE8"/>
              </a:buClr>
              <a:buSzPct val="75000"/>
              <a:buFont typeface="Wingdings"/>
              <a:buChar char=""/>
              <a:tabLst>
                <a:tab pos="355600" algn="l"/>
              </a:tabLst>
            </a:pPr>
            <a:r>
              <a:rPr sz="2400" dirty="0">
                <a:latin typeface="Times New Roman"/>
                <a:cs typeface="Times New Roman"/>
              </a:rPr>
              <a:t>Service</a:t>
            </a:r>
            <a:r>
              <a:rPr sz="2400" spc="-50" dirty="0">
                <a:latin typeface="Times New Roman"/>
                <a:cs typeface="Times New Roman"/>
              </a:rPr>
              <a:t> </a:t>
            </a:r>
            <a:r>
              <a:rPr sz="2400" dirty="0">
                <a:latin typeface="Times New Roman"/>
                <a:cs typeface="Times New Roman"/>
              </a:rPr>
              <a:t>virtualization:</a:t>
            </a:r>
            <a:r>
              <a:rPr sz="2400" spc="-50" dirty="0">
                <a:latin typeface="Times New Roman"/>
                <a:cs typeface="Times New Roman"/>
              </a:rPr>
              <a:t> </a:t>
            </a:r>
            <a:r>
              <a:rPr sz="2400" dirty="0">
                <a:latin typeface="Times New Roman"/>
                <a:cs typeface="Times New Roman"/>
              </a:rPr>
              <a:t>Virtual</a:t>
            </a:r>
            <a:r>
              <a:rPr sz="2400" spc="-50" dirty="0">
                <a:latin typeface="Times New Roman"/>
                <a:cs typeface="Times New Roman"/>
              </a:rPr>
              <a:t> </a:t>
            </a:r>
            <a:r>
              <a:rPr sz="2400" dirty="0">
                <a:latin typeface="Times New Roman"/>
                <a:cs typeface="Times New Roman"/>
              </a:rPr>
              <a:t>appliances</a:t>
            </a:r>
            <a:r>
              <a:rPr sz="2400" spc="-50" dirty="0">
                <a:latin typeface="Times New Roman"/>
                <a:cs typeface="Times New Roman"/>
              </a:rPr>
              <a:t> </a:t>
            </a:r>
            <a:r>
              <a:rPr sz="2400" dirty="0">
                <a:latin typeface="Times New Roman"/>
                <a:cs typeface="Times New Roman"/>
              </a:rPr>
              <a:t>implemented</a:t>
            </a:r>
            <a:r>
              <a:rPr sz="2400" spc="-50" dirty="0">
                <a:latin typeface="Times New Roman"/>
                <a:cs typeface="Times New Roman"/>
              </a:rPr>
              <a:t> </a:t>
            </a:r>
            <a:r>
              <a:rPr sz="2400" spc="-25" dirty="0">
                <a:latin typeface="Times New Roman"/>
                <a:cs typeface="Times New Roman"/>
              </a:rPr>
              <a:t>in </a:t>
            </a:r>
            <a:r>
              <a:rPr sz="2400" spc="-10" dirty="0">
                <a:latin typeface="Times New Roman"/>
                <a:cs typeface="Times New Roman"/>
              </a:rPr>
              <a:t>software</a:t>
            </a:r>
            <a:endParaRPr sz="2400">
              <a:latin typeface="Times New Roman"/>
              <a:cs typeface="Times New Roman"/>
            </a:endParaRPr>
          </a:p>
          <a:p>
            <a:pPr marL="355600" marR="1555115" indent="-342900">
              <a:lnSpc>
                <a:spcPts val="2580"/>
              </a:lnSpc>
              <a:spcBef>
                <a:spcPts val="595"/>
              </a:spcBef>
              <a:buClr>
                <a:srgbClr val="053CE8"/>
              </a:buClr>
              <a:buSzPct val="75000"/>
              <a:buFont typeface="Wingdings"/>
              <a:buChar char=""/>
              <a:tabLst>
                <a:tab pos="355600" algn="l"/>
              </a:tabLst>
            </a:pPr>
            <a:r>
              <a:rPr sz="2400" dirty="0">
                <a:latin typeface="Times New Roman"/>
                <a:cs typeface="Times New Roman"/>
              </a:rPr>
              <a:t>A</a:t>
            </a:r>
            <a:r>
              <a:rPr sz="2400" spc="-45" dirty="0">
                <a:latin typeface="Times New Roman"/>
                <a:cs typeface="Times New Roman"/>
              </a:rPr>
              <a:t> </a:t>
            </a:r>
            <a:r>
              <a:rPr sz="2400" dirty="0">
                <a:latin typeface="Times New Roman"/>
                <a:cs typeface="Times New Roman"/>
              </a:rPr>
              <a:t>load</a:t>
            </a:r>
            <a:r>
              <a:rPr sz="2400" spc="-40" dirty="0">
                <a:latin typeface="Times New Roman"/>
                <a:cs typeface="Times New Roman"/>
              </a:rPr>
              <a:t> </a:t>
            </a:r>
            <a:r>
              <a:rPr sz="2400" dirty="0">
                <a:latin typeface="Times New Roman"/>
                <a:cs typeface="Times New Roman"/>
              </a:rPr>
              <a:t>balancer’s</a:t>
            </a:r>
            <a:r>
              <a:rPr sz="2400" spc="-40" dirty="0">
                <a:latin typeface="Times New Roman"/>
                <a:cs typeface="Times New Roman"/>
              </a:rPr>
              <a:t> </a:t>
            </a:r>
            <a:r>
              <a:rPr sz="2400" dirty="0">
                <a:latin typeface="Times New Roman"/>
                <a:cs typeface="Times New Roman"/>
              </a:rPr>
              <a:t>IP</a:t>
            </a:r>
            <a:r>
              <a:rPr sz="2400" spc="-45" dirty="0">
                <a:latin typeface="Times New Roman"/>
                <a:cs typeface="Times New Roman"/>
              </a:rPr>
              <a:t> </a:t>
            </a:r>
            <a:r>
              <a:rPr sz="2400" dirty="0">
                <a:latin typeface="Times New Roman"/>
                <a:cs typeface="Times New Roman"/>
              </a:rPr>
              <a:t>address</a:t>
            </a:r>
            <a:r>
              <a:rPr sz="2400" spc="-40" dirty="0">
                <a:latin typeface="Times New Roman"/>
                <a:cs typeface="Times New Roman"/>
              </a:rPr>
              <a:t> </a:t>
            </a:r>
            <a:r>
              <a:rPr sz="2400" dirty="0">
                <a:latin typeface="Times New Roman"/>
                <a:cs typeface="Times New Roman"/>
              </a:rPr>
              <a:t>is</a:t>
            </a:r>
            <a:r>
              <a:rPr sz="2400" spc="-40" dirty="0">
                <a:latin typeface="Times New Roman"/>
                <a:cs typeface="Times New Roman"/>
              </a:rPr>
              <a:t> </a:t>
            </a:r>
            <a:r>
              <a:rPr sz="2400" dirty="0">
                <a:latin typeface="Times New Roman"/>
                <a:cs typeface="Times New Roman"/>
              </a:rPr>
              <a:t>advertised</a:t>
            </a:r>
            <a:r>
              <a:rPr sz="2400" spc="-45" dirty="0">
                <a:latin typeface="Times New Roman"/>
                <a:cs typeface="Times New Roman"/>
              </a:rPr>
              <a:t> </a:t>
            </a:r>
            <a:r>
              <a:rPr sz="2400" spc="-10" dirty="0">
                <a:latin typeface="Times New Roman"/>
                <a:cs typeface="Times New Roman"/>
              </a:rPr>
              <a:t>outside. </a:t>
            </a:r>
            <a:r>
              <a:rPr sz="2400" dirty="0">
                <a:latin typeface="Times New Roman"/>
                <a:cs typeface="Times New Roman"/>
              </a:rPr>
              <a:t>It</a:t>
            </a:r>
            <a:r>
              <a:rPr sz="2400" spc="-35" dirty="0">
                <a:latin typeface="Times New Roman"/>
                <a:cs typeface="Times New Roman"/>
              </a:rPr>
              <a:t> </a:t>
            </a:r>
            <a:r>
              <a:rPr sz="2400" dirty="0">
                <a:latin typeface="Times New Roman"/>
                <a:cs typeface="Times New Roman"/>
              </a:rPr>
              <a:t>distributes</a:t>
            </a:r>
            <a:r>
              <a:rPr sz="2400" spc="-2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load</a:t>
            </a:r>
            <a:r>
              <a:rPr sz="2400" spc="-25" dirty="0">
                <a:latin typeface="Times New Roman"/>
                <a:cs typeface="Times New Roman"/>
              </a:rPr>
              <a:t> </a:t>
            </a:r>
            <a:r>
              <a:rPr sz="2400" dirty="0">
                <a:latin typeface="Times New Roman"/>
                <a:cs typeface="Times New Roman"/>
              </a:rPr>
              <a:t>to</a:t>
            </a:r>
            <a:r>
              <a:rPr sz="2400" spc="-25" dirty="0">
                <a:latin typeface="Times New Roman"/>
                <a:cs typeface="Times New Roman"/>
              </a:rPr>
              <a:t> </a:t>
            </a:r>
            <a:r>
              <a:rPr sz="2400" dirty="0">
                <a:latin typeface="Times New Roman"/>
                <a:cs typeface="Times New Roman"/>
              </a:rPr>
              <a:t>multiple</a:t>
            </a:r>
            <a:r>
              <a:rPr sz="2400" spc="-25" dirty="0">
                <a:latin typeface="Times New Roman"/>
                <a:cs typeface="Times New Roman"/>
              </a:rPr>
              <a:t> </a:t>
            </a:r>
            <a:r>
              <a:rPr sz="2400" spc="-10" dirty="0">
                <a:latin typeface="Times New Roman"/>
                <a:cs typeface="Times New Roman"/>
              </a:rPr>
              <a:t>servers.</a:t>
            </a:r>
            <a:endParaRPr sz="2400">
              <a:latin typeface="Times New Roman"/>
              <a:cs typeface="Times New Roman"/>
            </a:endParaRPr>
          </a:p>
        </p:txBody>
      </p:sp>
      <p:sp>
        <p:nvSpPr>
          <p:cNvPr id="4" name="object 4"/>
          <p:cNvSpPr txBox="1"/>
          <p:nvPr/>
        </p:nvSpPr>
        <p:spPr>
          <a:xfrm>
            <a:off x="3919728" y="4562094"/>
            <a:ext cx="1470025" cy="971550"/>
          </a:xfrm>
          <a:prstGeom prst="rect">
            <a:avLst/>
          </a:prstGeom>
          <a:ln w="25400">
            <a:solidFill>
              <a:srgbClr val="000000"/>
            </a:solidFill>
          </a:ln>
        </p:spPr>
        <p:txBody>
          <a:bodyPr vert="horz" wrap="square" lIns="0" tIns="48260" rIns="0" bIns="0" rtlCol="0">
            <a:spAutoFit/>
          </a:bodyPr>
          <a:lstStyle/>
          <a:p>
            <a:pPr marL="104139" marR="97155">
              <a:lnSpc>
                <a:spcPct val="100000"/>
              </a:lnSpc>
              <a:spcBef>
                <a:spcPts val="380"/>
              </a:spcBef>
            </a:pPr>
            <a:r>
              <a:rPr sz="2800" spc="-20" dirty="0">
                <a:latin typeface="Times New Roman"/>
                <a:cs typeface="Times New Roman"/>
              </a:rPr>
              <a:t>Load </a:t>
            </a:r>
            <a:r>
              <a:rPr sz="2800" spc="-10" dirty="0">
                <a:latin typeface="Times New Roman"/>
                <a:cs typeface="Times New Roman"/>
              </a:rPr>
              <a:t>Balancer</a:t>
            </a:r>
            <a:endParaRPr sz="2800">
              <a:latin typeface="Times New Roman"/>
              <a:cs typeface="Times New Roman"/>
            </a:endParaRPr>
          </a:p>
        </p:txBody>
      </p:sp>
      <p:grpSp>
        <p:nvGrpSpPr>
          <p:cNvPr id="5" name="object 5"/>
          <p:cNvGrpSpPr/>
          <p:nvPr/>
        </p:nvGrpSpPr>
        <p:grpSpPr>
          <a:xfrm>
            <a:off x="6108953" y="3886200"/>
            <a:ext cx="552450" cy="2286000"/>
            <a:chOff x="6108953" y="3886200"/>
            <a:chExt cx="552450" cy="2286000"/>
          </a:xfrm>
        </p:grpSpPr>
        <p:pic>
          <p:nvPicPr>
            <p:cNvPr id="6" name="object 6"/>
            <p:cNvPicPr/>
            <p:nvPr/>
          </p:nvPicPr>
          <p:blipFill>
            <a:blip r:embed="rId2" cstate="print"/>
            <a:stretch>
              <a:fillRect/>
            </a:stretch>
          </p:blipFill>
          <p:spPr>
            <a:xfrm>
              <a:off x="6108953" y="3886200"/>
              <a:ext cx="552450" cy="638555"/>
            </a:xfrm>
            <a:prstGeom prst="rect">
              <a:avLst/>
            </a:prstGeom>
          </p:spPr>
        </p:pic>
        <p:pic>
          <p:nvPicPr>
            <p:cNvPr id="7" name="object 7"/>
            <p:cNvPicPr/>
            <p:nvPr/>
          </p:nvPicPr>
          <p:blipFill>
            <a:blip r:embed="rId2" cstate="print"/>
            <a:stretch>
              <a:fillRect/>
            </a:stretch>
          </p:blipFill>
          <p:spPr>
            <a:xfrm>
              <a:off x="6108953" y="4613148"/>
              <a:ext cx="552450" cy="638555"/>
            </a:xfrm>
            <a:prstGeom prst="rect">
              <a:avLst/>
            </a:prstGeom>
          </p:spPr>
        </p:pic>
        <p:pic>
          <p:nvPicPr>
            <p:cNvPr id="8" name="object 8"/>
            <p:cNvPicPr/>
            <p:nvPr/>
          </p:nvPicPr>
          <p:blipFill>
            <a:blip r:embed="rId3" cstate="print"/>
            <a:stretch>
              <a:fillRect/>
            </a:stretch>
          </p:blipFill>
          <p:spPr>
            <a:xfrm>
              <a:off x="6108953" y="5533644"/>
              <a:ext cx="552450" cy="638555"/>
            </a:xfrm>
            <a:prstGeom prst="rect">
              <a:avLst/>
            </a:prstGeom>
          </p:spPr>
        </p:pic>
      </p:grpSp>
      <p:sp>
        <p:nvSpPr>
          <p:cNvPr id="9" name="object 9"/>
          <p:cNvSpPr txBox="1"/>
          <p:nvPr/>
        </p:nvSpPr>
        <p:spPr>
          <a:xfrm>
            <a:off x="6175502" y="5051552"/>
            <a:ext cx="381635" cy="452755"/>
          </a:xfrm>
          <a:prstGeom prst="rect">
            <a:avLst/>
          </a:prstGeom>
        </p:spPr>
        <p:txBody>
          <a:bodyPr vert="horz" wrap="square" lIns="0" tIns="12700" rIns="0" bIns="0" rtlCol="0">
            <a:spAutoFit/>
          </a:bodyPr>
          <a:lstStyle/>
          <a:p>
            <a:pPr marL="12700">
              <a:lnSpc>
                <a:spcPct val="100000"/>
              </a:lnSpc>
              <a:spcBef>
                <a:spcPts val="100"/>
              </a:spcBef>
            </a:pPr>
            <a:r>
              <a:rPr sz="2800" spc="-50" dirty="0">
                <a:latin typeface="Times New Roman"/>
                <a:cs typeface="Times New Roman"/>
              </a:rPr>
              <a:t>…</a:t>
            </a:r>
            <a:endParaRPr sz="2800">
              <a:latin typeface="Times New Roman"/>
              <a:cs typeface="Times New Roman"/>
            </a:endParaRPr>
          </a:p>
        </p:txBody>
      </p:sp>
      <p:sp>
        <p:nvSpPr>
          <p:cNvPr id="10" name="object 10"/>
          <p:cNvSpPr/>
          <p:nvPr/>
        </p:nvSpPr>
        <p:spPr>
          <a:xfrm>
            <a:off x="5389626" y="4114800"/>
            <a:ext cx="706755" cy="1828800"/>
          </a:xfrm>
          <a:custGeom>
            <a:avLst/>
            <a:gdLst/>
            <a:ahLst/>
            <a:cxnLst/>
            <a:rect l="l" t="t" r="r" b="b"/>
            <a:pathLst>
              <a:path w="706754" h="1828800">
                <a:moveTo>
                  <a:pt x="0" y="914400"/>
                </a:moveTo>
                <a:lnTo>
                  <a:pt x="706373" y="0"/>
                </a:lnTo>
              </a:path>
              <a:path w="706754" h="1828800">
                <a:moveTo>
                  <a:pt x="0" y="914400"/>
                </a:moveTo>
                <a:lnTo>
                  <a:pt x="706374" y="914400"/>
                </a:lnTo>
              </a:path>
              <a:path w="706754" h="1828800">
                <a:moveTo>
                  <a:pt x="0" y="914400"/>
                </a:moveTo>
                <a:lnTo>
                  <a:pt x="706374" y="1828800"/>
                </a:lnTo>
              </a:path>
            </a:pathLst>
          </a:custGeom>
          <a:ln w="25400">
            <a:solidFill>
              <a:srgbClr val="000000"/>
            </a:solidFill>
          </a:ln>
        </p:spPr>
        <p:txBody>
          <a:bodyPr wrap="square" lIns="0" tIns="0" rIns="0" bIns="0" rtlCol="0"/>
          <a:lstStyle/>
          <a:p>
            <a:endParaRPr/>
          </a:p>
        </p:txBody>
      </p:sp>
      <p:grpSp>
        <p:nvGrpSpPr>
          <p:cNvPr id="11" name="object 11"/>
          <p:cNvGrpSpPr/>
          <p:nvPr/>
        </p:nvGrpSpPr>
        <p:grpSpPr>
          <a:xfrm>
            <a:off x="1447800" y="3895344"/>
            <a:ext cx="2484755" cy="2071370"/>
            <a:chOff x="1447800" y="3895344"/>
            <a:chExt cx="2484755" cy="2071370"/>
          </a:xfrm>
        </p:grpSpPr>
        <p:pic>
          <p:nvPicPr>
            <p:cNvPr id="12" name="object 12"/>
            <p:cNvPicPr/>
            <p:nvPr/>
          </p:nvPicPr>
          <p:blipFill>
            <a:blip r:embed="rId4" cstate="print"/>
            <a:stretch>
              <a:fillRect/>
            </a:stretch>
          </p:blipFill>
          <p:spPr>
            <a:xfrm>
              <a:off x="1447800" y="3895344"/>
              <a:ext cx="762000" cy="714627"/>
            </a:xfrm>
            <a:prstGeom prst="rect">
              <a:avLst/>
            </a:prstGeom>
          </p:spPr>
        </p:pic>
        <p:pic>
          <p:nvPicPr>
            <p:cNvPr id="13" name="object 13"/>
            <p:cNvPicPr/>
            <p:nvPr/>
          </p:nvPicPr>
          <p:blipFill>
            <a:blip r:embed="rId4" cstate="print"/>
            <a:stretch>
              <a:fillRect/>
            </a:stretch>
          </p:blipFill>
          <p:spPr>
            <a:xfrm>
              <a:off x="1447800" y="5251704"/>
              <a:ext cx="762000" cy="714627"/>
            </a:xfrm>
            <a:prstGeom prst="rect">
              <a:avLst/>
            </a:prstGeom>
          </p:spPr>
        </p:pic>
        <p:sp>
          <p:nvSpPr>
            <p:cNvPr id="14" name="object 14"/>
            <p:cNvSpPr/>
            <p:nvPr/>
          </p:nvSpPr>
          <p:spPr>
            <a:xfrm>
              <a:off x="2209800" y="4114800"/>
              <a:ext cx="1710055" cy="914400"/>
            </a:xfrm>
            <a:custGeom>
              <a:avLst/>
              <a:gdLst/>
              <a:ahLst/>
              <a:cxnLst/>
              <a:rect l="l" t="t" r="r" b="b"/>
              <a:pathLst>
                <a:path w="1710054" h="914400">
                  <a:moveTo>
                    <a:pt x="0" y="0"/>
                  </a:moveTo>
                  <a:lnTo>
                    <a:pt x="1709927" y="914399"/>
                  </a:lnTo>
                </a:path>
              </a:pathLst>
            </a:custGeom>
            <a:ln w="25400">
              <a:solidFill>
                <a:srgbClr val="000000"/>
              </a:solidFill>
            </a:ln>
          </p:spPr>
          <p:txBody>
            <a:bodyPr wrap="square" lIns="0" tIns="0" rIns="0" bIns="0" rtlCol="0"/>
            <a:lstStyle/>
            <a:p>
              <a:endParaRPr/>
            </a:p>
          </p:txBody>
        </p:sp>
        <p:sp>
          <p:nvSpPr>
            <p:cNvPr id="15" name="object 15"/>
            <p:cNvSpPr/>
            <p:nvPr/>
          </p:nvSpPr>
          <p:spPr>
            <a:xfrm>
              <a:off x="2209800" y="5029200"/>
              <a:ext cx="1710055" cy="519430"/>
            </a:xfrm>
            <a:custGeom>
              <a:avLst/>
              <a:gdLst/>
              <a:ahLst/>
              <a:cxnLst/>
              <a:rect l="l" t="t" r="r" b="b"/>
              <a:pathLst>
                <a:path w="1710054" h="519429">
                  <a:moveTo>
                    <a:pt x="0" y="518922"/>
                  </a:moveTo>
                  <a:lnTo>
                    <a:pt x="1709927" y="0"/>
                  </a:lnTo>
                </a:path>
              </a:pathLst>
            </a:custGeom>
            <a:ln w="25400">
              <a:solidFill>
                <a:srgbClr val="000000"/>
              </a:solidFill>
            </a:ln>
          </p:spPr>
          <p:txBody>
            <a:bodyPr wrap="square" lIns="0" tIns="0" rIns="0" bIns="0" rtlCol="0"/>
            <a:lstStyle/>
            <a:p>
              <a:endParaRPr/>
            </a:p>
          </p:txBody>
        </p:sp>
      </p:grpSp>
      <p:sp>
        <p:nvSpPr>
          <p:cNvPr id="19" name="Slide Number Placeholder 18">
            <a:extLst>
              <a:ext uri="{FF2B5EF4-FFF2-40B4-BE49-F238E27FC236}">
                <a16:creationId xmlns:a16="http://schemas.microsoft.com/office/drawing/2014/main" id="{5702AD29-4351-47F4-8E3F-5D8E467F6AE1}"/>
              </a:ext>
            </a:extLst>
          </p:cNvPr>
          <p:cNvSpPr>
            <a:spLocks noGrp="1"/>
          </p:cNvSpPr>
          <p:nvPr>
            <p:ph type="sldNum" sz="quarter" idx="7"/>
          </p:nvPr>
        </p:nvSpPr>
        <p:spPr/>
        <p:txBody>
          <a:bodyPr/>
          <a:lstStyle/>
          <a:p>
            <a:pPr marL="12700">
              <a:lnSpc>
                <a:spcPts val="2065"/>
              </a:lnSpc>
            </a:pPr>
            <a:r>
              <a:rPr lang="en-US" spc="-10"/>
              <a:t>5</a:t>
            </a:r>
            <a:endParaRPr spc="-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8824" y="445871"/>
            <a:ext cx="8075575" cy="574040"/>
          </a:xfrm>
          <a:prstGeom prst="rect">
            <a:avLst/>
          </a:prstGeom>
        </p:spPr>
        <p:txBody>
          <a:bodyPr vert="horz" wrap="square" lIns="0" tIns="12700" rIns="0" bIns="0" rtlCol="0">
            <a:spAutoFit/>
          </a:bodyPr>
          <a:lstStyle/>
          <a:p>
            <a:pPr marL="12700" algn="ctr">
              <a:lnSpc>
                <a:spcPct val="100000"/>
              </a:lnSpc>
              <a:spcBef>
                <a:spcPts val="100"/>
              </a:spcBef>
            </a:pPr>
            <a:r>
              <a:rPr dirty="0"/>
              <a:t>User</a:t>
            </a:r>
            <a:r>
              <a:rPr spc="-70" dirty="0"/>
              <a:t> </a:t>
            </a:r>
            <a:r>
              <a:rPr dirty="0"/>
              <a:t>Experience</a:t>
            </a:r>
            <a:r>
              <a:rPr spc="-70" dirty="0"/>
              <a:t> </a:t>
            </a:r>
            <a:r>
              <a:rPr spc="-10" dirty="0"/>
              <a:t>Virtualization</a:t>
            </a:r>
          </a:p>
        </p:txBody>
      </p:sp>
      <p:sp>
        <p:nvSpPr>
          <p:cNvPr id="3" name="object 3"/>
          <p:cNvSpPr txBox="1"/>
          <p:nvPr/>
        </p:nvSpPr>
        <p:spPr>
          <a:xfrm>
            <a:off x="457454" y="1243838"/>
            <a:ext cx="5347970" cy="3311525"/>
          </a:xfrm>
          <a:prstGeom prst="rect">
            <a:avLst/>
          </a:prstGeom>
        </p:spPr>
        <p:txBody>
          <a:bodyPr vert="horz" wrap="square" lIns="0" tIns="85090" rIns="0" bIns="0" rtlCol="0">
            <a:spAutoFit/>
          </a:bodyPr>
          <a:lstStyle/>
          <a:p>
            <a:pPr marL="354965" indent="-342265">
              <a:lnSpc>
                <a:spcPct val="100000"/>
              </a:lnSpc>
              <a:spcBef>
                <a:spcPts val="670"/>
              </a:spcBef>
              <a:buClr>
                <a:srgbClr val="053CE8"/>
              </a:buClr>
              <a:buSzPct val="75000"/>
              <a:buFont typeface="Wingdings"/>
              <a:buChar char=""/>
              <a:tabLst>
                <a:tab pos="354965" algn="l"/>
              </a:tabLst>
            </a:pPr>
            <a:r>
              <a:rPr sz="2400" dirty="0">
                <a:latin typeface="Times New Roman"/>
                <a:cs typeface="Times New Roman"/>
              </a:rPr>
              <a:t>Aka</a:t>
            </a:r>
            <a:r>
              <a:rPr sz="2400" spc="-65" dirty="0">
                <a:latin typeface="Times New Roman"/>
                <a:cs typeface="Times New Roman"/>
              </a:rPr>
              <a:t> </a:t>
            </a:r>
            <a:r>
              <a:rPr sz="2400" dirty="0">
                <a:latin typeface="Times New Roman"/>
                <a:cs typeface="Times New Roman"/>
              </a:rPr>
              <a:t>User</a:t>
            </a:r>
            <a:r>
              <a:rPr sz="2400" spc="-60" dirty="0">
                <a:latin typeface="Times New Roman"/>
                <a:cs typeface="Times New Roman"/>
              </a:rPr>
              <a:t> </a:t>
            </a:r>
            <a:r>
              <a:rPr sz="2400" spc="-10" dirty="0">
                <a:latin typeface="Times New Roman"/>
                <a:cs typeface="Times New Roman"/>
              </a:rPr>
              <a:t>Virtualization</a:t>
            </a:r>
            <a:endParaRPr sz="2400">
              <a:latin typeface="Times New Roman"/>
              <a:cs typeface="Times New Roman"/>
            </a:endParaRPr>
          </a:p>
          <a:p>
            <a:pPr marL="355600" marR="104775" indent="-342900">
              <a:lnSpc>
                <a:spcPct val="100000"/>
              </a:lnSpc>
              <a:spcBef>
                <a:spcPts val="570"/>
              </a:spcBef>
              <a:buClr>
                <a:srgbClr val="053CE8"/>
              </a:buClr>
              <a:buSzPct val="75000"/>
              <a:buFont typeface="Wingdings"/>
              <a:buChar char=""/>
              <a:tabLst>
                <a:tab pos="355600" algn="l"/>
                <a:tab pos="2518410" algn="l"/>
              </a:tabLst>
            </a:pPr>
            <a:r>
              <a:rPr sz="2400" dirty="0">
                <a:latin typeface="Times New Roman"/>
                <a:cs typeface="Times New Roman"/>
              </a:rPr>
              <a:t>Users</a:t>
            </a:r>
            <a:r>
              <a:rPr sz="2400" spc="-40" dirty="0">
                <a:latin typeface="Times New Roman"/>
                <a:cs typeface="Times New Roman"/>
              </a:rPr>
              <a:t> </a:t>
            </a:r>
            <a:r>
              <a:rPr sz="2400" dirty="0">
                <a:latin typeface="Times New Roman"/>
                <a:cs typeface="Times New Roman"/>
              </a:rPr>
              <a:t>see</a:t>
            </a:r>
            <a:r>
              <a:rPr sz="2400" spc="-35" dirty="0">
                <a:latin typeface="Times New Roman"/>
                <a:cs typeface="Times New Roman"/>
              </a:rPr>
              <a:t> </a:t>
            </a:r>
            <a:r>
              <a:rPr sz="2400" dirty="0">
                <a:latin typeface="Times New Roman"/>
                <a:cs typeface="Times New Roman"/>
              </a:rPr>
              <a:t>the</a:t>
            </a:r>
            <a:r>
              <a:rPr sz="2400" spc="-40" dirty="0">
                <a:latin typeface="Times New Roman"/>
                <a:cs typeface="Times New Roman"/>
              </a:rPr>
              <a:t> </a:t>
            </a:r>
            <a:r>
              <a:rPr sz="2400" dirty="0">
                <a:latin typeface="Times New Roman"/>
                <a:cs typeface="Times New Roman"/>
              </a:rPr>
              <a:t>same</a:t>
            </a:r>
            <a:r>
              <a:rPr sz="2400" spc="-35" dirty="0">
                <a:latin typeface="Times New Roman"/>
                <a:cs typeface="Times New Roman"/>
              </a:rPr>
              <a:t> </a:t>
            </a:r>
            <a:r>
              <a:rPr sz="2400" dirty="0">
                <a:latin typeface="Times New Roman"/>
                <a:cs typeface="Times New Roman"/>
              </a:rPr>
              <a:t>application</a:t>
            </a:r>
            <a:r>
              <a:rPr sz="2400" spc="-35" dirty="0">
                <a:latin typeface="Times New Roman"/>
                <a:cs typeface="Times New Roman"/>
              </a:rPr>
              <a:t> </a:t>
            </a:r>
            <a:r>
              <a:rPr sz="2400" spc="-10" dirty="0">
                <a:latin typeface="Times New Roman"/>
                <a:cs typeface="Times New Roman"/>
              </a:rPr>
              <a:t>interface </a:t>
            </a:r>
            <a:r>
              <a:rPr sz="2400" dirty="0">
                <a:latin typeface="Times New Roman"/>
                <a:cs typeface="Times New Roman"/>
              </a:rPr>
              <a:t>regardless</a:t>
            </a:r>
            <a:r>
              <a:rPr sz="2400" spc="-40" dirty="0">
                <a:latin typeface="Times New Roman"/>
                <a:cs typeface="Times New Roman"/>
              </a:rPr>
              <a:t> </a:t>
            </a:r>
            <a:r>
              <a:rPr sz="2400" dirty="0">
                <a:latin typeface="Times New Roman"/>
                <a:cs typeface="Times New Roman"/>
              </a:rPr>
              <a:t>of</a:t>
            </a:r>
            <a:r>
              <a:rPr sz="2400" spc="-40" dirty="0">
                <a:latin typeface="Times New Roman"/>
                <a:cs typeface="Times New Roman"/>
              </a:rPr>
              <a:t> </a:t>
            </a:r>
            <a:r>
              <a:rPr sz="2400" spc="-25" dirty="0">
                <a:latin typeface="Times New Roman"/>
                <a:cs typeface="Times New Roman"/>
              </a:rPr>
              <a:t>the</a:t>
            </a:r>
            <a:r>
              <a:rPr sz="2400" dirty="0">
                <a:latin typeface="Times New Roman"/>
                <a:cs typeface="Times New Roman"/>
              </a:rPr>
              <a:t>	device:</a:t>
            </a:r>
            <a:r>
              <a:rPr sz="2400" spc="-45" dirty="0">
                <a:latin typeface="Times New Roman"/>
                <a:cs typeface="Times New Roman"/>
              </a:rPr>
              <a:t> </a:t>
            </a:r>
            <a:r>
              <a:rPr sz="2400" dirty="0">
                <a:latin typeface="Times New Roman"/>
                <a:cs typeface="Times New Roman"/>
              </a:rPr>
              <a:t>laptop,</a:t>
            </a:r>
            <a:r>
              <a:rPr sz="2400" spc="-35" dirty="0">
                <a:latin typeface="Times New Roman"/>
                <a:cs typeface="Times New Roman"/>
              </a:rPr>
              <a:t> </a:t>
            </a:r>
            <a:r>
              <a:rPr sz="2400" spc="-10" dirty="0">
                <a:latin typeface="Times New Roman"/>
                <a:cs typeface="Times New Roman"/>
              </a:rPr>
              <a:t>tablet, </a:t>
            </a:r>
            <a:r>
              <a:rPr sz="2400" dirty="0">
                <a:latin typeface="Times New Roman"/>
                <a:cs typeface="Times New Roman"/>
              </a:rPr>
              <a:t>Smart</a:t>
            </a:r>
            <a:r>
              <a:rPr sz="2400" spc="-25" dirty="0">
                <a:latin typeface="Times New Roman"/>
                <a:cs typeface="Times New Roman"/>
              </a:rPr>
              <a:t> </a:t>
            </a:r>
            <a:r>
              <a:rPr sz="2400" spc="-10" dirty="0">
                <a:latin typeface="Times New Roman"/>
                <a:cs typeface="Times New Roman"/>
              </a:rPr>
              <a:t>Phone</a:t>
            </a:r>
            <a:endParaRPr sz="2400">
              <a:latin typeface="Times New Roman"/>
              <a:cs typeface="Times New Roman"/>
            </a:endParaRPr>
          </a:p>
          <a:p>
            <a:pPr marL="354965" indent="-342265">
              <a:lnSpc>
                <a:spcPct val="100000"/>
              </a:lnSpc>
              <a:spcBef>
                <a:spcPts val="555"/>
              </a:spcBef>
              <a:buClr>
                <a:srgbClr val="053CE8"/>
              </a:buClr>
              <a:buSzPct val="75000"/>
              <a:buFont typeface="Wingdings"/>
              <a:buChar char=""/>
              <a:tabLst>
                <a:tab pos="354965" algn="l"/>
              </a:tabLst>
            </a:pPr>
            <a:r>
              <a:rPr sz="2400" dirty="0">
                <a:latin typeface="Times New Roman"/>
                <a:cs typeface="Times New Roman"/>
              </a:rPr>
              <a:t>Users</a:t>
            </a:r>
            <a:r>
              <a:rPr sz="2400" spc="-30" dirty="0">
                <a:latin typeface="Times New Roman"/>
                <a:cs typeface="Times New Roman"/>
              </a:rPr>
              <a:t> </a:t>
            </a:r>
            <a:r>
              <a:rPr sz="2400" dirty="0">
                <a:latin typeface="Times New Roman"/>
                <a:cs typeface="Times New Roman"/>
              </a:rPr>
              <a:t>can</a:t>
            </a:r>
            <a:r>
              <a:rPr sz="2400" spc="-30" dirty="0">
                <a:latin typeface="Times New Roman"/>
                <a:cs typeface="Times New Roman"/>
              </a:rPr>
              <a:t> </a:t>
            </a:r>
            <a:r>
              <a:rPr sz="2400" dirty="0">
                <a:latin typeface="Times New Roman"/>
                <a:cs typeface="Times New Roman"/>
              </a:rPr>
              <a:t>roam</a:t>
            </a:r>
            <a:r>
              <a:rPr sz="2400" spc="-30" dirty="0">
                <a:latin typeface="Times New Roman"/>
                <a:cs typeface="Times New Roman"/>
              </a:rPr>
              <a:t> </a:t>
            </a:r>
            <a:r>
              <a:rPr sz="2400" dirty="0">
                <a:latin typeface="Times New Roman"/>
                <a:cs typeface="Times New Roman"/>
              </a:rPr>
              <a:t>from</a:t>
            </a:r>
            <a:r>
              <a:rPr sz="2400" spc="-30" dirty="0">
                <a:latin typeface="Times New Roman"/>
                <a:cs typeface="Times New Roman"/>
              </a:rPr>
              <a:t> </a:t>
            </a:r>
            <a:r>
              <a:rPr sz="2400" dirty="0">
                <a:latin typeface="Times New Roman"/>
                <a:cs typeface="Times New Roman"/>
              </a:rPr>
              <a:t>device</a:t>
            </a:r>
            <a:r>
              <a:rPr sz="2400" spc="-30" dirty="0">
                <a:latin typeface="Times New Roman"/>
                <a:cs typeface="Times New Roman"/>
              </a:rPr>
              <a:t> </a:t>
            </a:r>
            <a:r>
              <a:rPr sz="2400" dirty="0">
                <a:latin typeface="Times New Roman"/>
                <a:cs typeface="Times New Roman"/>
              </a:rPr>
              <a:t>to</a:t>
            </a:r>
            <a:r>
              <a:rPr sz="2400" spc="-25" dirty="0">
                <a:latin typeface="Times New Roman"/>
                <a:cs typeface="Times New Roman"/>
              </a:rPr>
              <a:t> </a:t>
            </a:r>
            <a:r>
              <a:rPr sz="2400" spc="-10" dirty="0">
                <a:latin typeface="Times New Roman"/>
                <a:cs typeface="Times New Roman"/>
              </a:rPr>
              <a:t>device</a:t>
            </a:r>
            <a:endParaRPr sz="2400">
              <a:latin typeface="Times New Roman"/>
              <a:cs typeface="Times New Roman"/>
            </a:endParaRPr>
          </a:p>
          <a:p>
            <a:pPr marL="355600" marR="5080" indent="-342900">
              <a:lnSpc>
                <a:spcPct val="100000"/>
              </a:lnSpc>
              <a:spcBef>
                <a:spcPts val="570"/>
              </a:spcBef>
              <a:buClr>
                <a:srgbClr val="053CE8"/>
              </a:buClr>
              <a:buSzPct val="75000"/>
              <a:buFont typeface="Wingdings"/>
              <a:buChar char=""/>
              <a:tabLst>
                <a:tab pos="355600" algn="l"/>
              </a:tabLst>
            </a:pPr>
            <a:r>
              <a:rPr sz="2400" dirty="0">
                <a:latin typeface="Times New Roman"/>
                <a:cs typeface="Times New Roman"/>
              </a:rPr>
              <a:t>User</a:t>
            </a:r>
            <a:r>
              <a:rPr sz="2400" spc="-45" dirty="0">
                <a:latin typeface="Times New Roman"/>
                <a:cs typeface="Times New Roman"/>
              </a:rPr>
              <a:t> </a:t>
            </a:r>
            <a:r>
              <a:rPr sz="2400" dirty="0">
                <a:latin typeface="Times New Roman"/>
                <a:cs typeface="Times New Roman"/>
              </a:rPr>
              <a:t>profiles</a:t>
            </a:r>
            <a:r>
              <a:rPr sz="2400" spc="-45" dirty="0">
                <a:latin typeface="Times New Roman"/>
                <a:cs typeface="Times New Roman"/>
              </a:rPr>
              <a:t> </a:t>
            </a:r>
            <a:r>
              <a:rPr sz="2400" dirty="0">
                <a:latin typeface="Times New Roman"/>
                <a:cs typeface="Times New Roman"/>
              </a:rPr>
              <a:t>and</a:t>
            </a:r>
            <a:r>
              <a:rPr sz="2400" spc="-40" dirty="0">
                <a:latin typeface="Times New Roman"/>
                <a:cs typeface="Times New Roman"/>
              </a:rPr>
              <a:t> </a:t>
            </a:r>
            <a:r>
              <a:rPr sz="2400" dirty="0">
                <a:latin typeface="Times New Roman"/>
                <a:cs typeface="Times New Roman"/>
              </a:rPr>
              <a:t>application</a:t>
            </a:r>
            <a:r>
              <a:rPr sz="2400" spc="-45" dirty="0">
                <a:latin typeface="Times New Roman"/>
                <a:cs typeface="Times New Roman"/>
              </a:rPr>
              <a:t> </a:t>
            </a:r>
            <a:r>
              <a:rPr sz="2400" dirty="0">
                <a:latin typeface="Times New Roman"/>
                <a:cs typeface="Times New Roman"/>
              </a:rPr>
              <a:t>settings</a:t>
            </a:r>
            <a:r>
              <a:rPr sz="2400" spc="-45" dirty="0">
                <a:latin typeface="Times New Roman"/>
                <a:cs typeface="Times New Roman"/>
              </a:rPr>
              <a:t> </a:t>
            </a:r>
            <a:r>
              <a:rPr sz="2400" spc="-25" dirty="0">
                <a:latin typeface="Times New Roman"/>
                <a:cs typeface="Times New Roman"/>
              </a:rPr>
              <a:t>are </a:t>
            </a:r>
            <a:r>
              <a:rPr sz="2400" dirty="0">
                <a:latin typeface="Times New Roman"/>
                <a:cs typeface="Times New Roman"/>
              </a:rPr>
              <a:t>stored</a:t>
            </a:r>
            <a:r>
              <a:rPr sz="2400" spc="-35" dirty="0">
                <a:latin typeface="Times New Roman"/>
                <a:cs typeface="Times New Roman"/>
              </a:rPr>
              <a:t> </a:t>
            </a:r>
            <a:r>
              <a:rPr sz="2400" dirty="0">
                <a:latin typeface="Times New Roman"/>
                <a:cs typeface="Times New Roman"/>
              </a:rPr>
              <a:t>in</a:t>
            </a:r>
            <a:r>
              <a:rPr sz="2400" spc="-25" dirty="0">
                <a:latin typeface="Times New Roman"/>
                <a:cs typeface="Times New Roman"/>
              </a:rPr>
              <a:t> </a:t>
            </a:r>
            <a:r>
              <a:rPr sz="2400" dirty="0">
                <a:latin typeface="Times New Roman"/>
                <a:cs typeface="Times New Roman"/>
              </a:rPr>
              <a:t>a</a:t>
            </a:r>
            <a:r>
              <a:rPr sz="2400" spc="-20" dirty="0">
                <a:latin typeface="Times New Roman"/>
                <a:cs typeface="Times New Roman"/>
              </a:rPr>
              <a:t> </a:t>
            </a:r>
            <a:r>
              <a:rPr sz="2400" dirty="0">
                <a:latin typeface="Times New Roman"/>
                <a:cs typeface="Times New Roman"/>
              </a:rPr>
              <a:t>central</a:t>
            </a:r>
            <a:r>
              <a:rPr sz="2400" spc="-25" dirty="0">
                <a:latin typeface="Times New Roman"/>
                <a:cs typeface="Times New Roman"/>
              </a:rPr>
              <a:t> </a:t>
            </a:r>
            <a:r>
              <a:rPr sz="2400" dirty="0">
                <a:latin typeface="Times New Roman"/>
                <a:cs typeface="Times New Roman"/>
              </a:rPr>
              <a:t>data</a:t>
            </a:r>
            <a:r>
              <a:rPr sz="2400" spc="-20" dirty="0">
                <a:latin typeface="Times New Roman"/>
                <a:cs typeface="Times New Roman"/>
              </a:rPr>
              <a:t> </a:t>
            </a:r>
            <a:r>
              <a:rPr sz="2400" dirty="0">
                <a:latin typeface="Times New Roman"/>
                <a:cs typeface="Times New Roman"/>
              </a:rPr>
              <a:t>center</a:t>
            </a:r>
            <a:r>
              <a:rPr sz="2400" spc="-25" dirty="0">
                <a:latin typeface="Times New Roman"/>
                <a:cs typeface="Times New Roman"/>
              </a:rPr>
              <a:t> </a:t>
            </a:r>
            <a:r>
              <a:rPr sz="2400" dirty="0">
                <a:latin typeface="Times New Roman"/>
                <a:cs typeface="Times New Roman"/>
              </a:rPr>
              <a:t>or</a:t>
            </a:r>
            <a:r>
              <a:rPr sz="2400" spc="-20" dirty="0">
                <a:latin typeface="Times New Roman"/>
                <a:cs typeface="Times New Roman"/>
              </a:rPr>
              <a:t> </a:t>
            </a:r>
            <a:r>
              <a:rPr sz="2400" spc="-10" dirty="0">
                <a:latin typeface="Times New Roman"/>
                <a:cs typeface="Times New Roman"/>
              </a:rPr>
              <a:t>cloud</a:t>
            </a:r>
            <a:endParaRPr sz="2400">
              <a:latin typeface="Times New Roman"/>
              <a:cs typeface="Times New Roman"/>
            </a:endParaRPr>
          </a:p>
          <a:p>
            <a:pPr marL="354965" indent="-342265">
              <a:lnSpc>
                <a:spcPct val="100000"/>
              </a:lnSpc>
              <a:spcBef>
                <a:spcPts val="565"/>
              </a:spcBef>
              <a:buClr>
                <a:srgbClr val="053CE8"/>
              </a:buClr>
              <a:buSzPct val="75000"/>
              <a:buFont typeface="Wingdings"/>
              <a:buChar char=""/>
              <a:tabLst>
                <a:tab pos="354965" algn="l"/>
              </a:tabLst>
            </a:pPr>
            <a:r>
              <a:rPr sz="2400" dirty="0">
                <a:latin typeface="Times New Roman"/>
                <a:cs typeface="Times New Roman"/>
              </a:rPr>
              <a:t>Example:</a:t>
            </a:r>
            <a:r>
              <a:rPr sz="2400" spc="-35" dirty="0">
                <a:latin typeface="Times New Roman"/>
                <a:cs typeface="Times New Roman"/>
              </a:rPr>
              <a:t> </a:t>
            </a:r>
            <a:r>
              <a:rPr sz="2400" dirty="0">
                <a:latin typeface="Times New Roman"/>
                <a:cs typeface="Times New Roman"/>
              </a:rPr>
              <a:t>Microsoft</a:t>
            </a:r>
            <a:r>
              <a:rPr sz="2400" spc="-30" dirty="0">
                <a:latin typeface="Times New Roman"/>
                <a:cs typeface="Times New Roman"/>
              </a:rPr>
              <a:t> </a:t>
            </a:r>
            <a:r>
              <a:rPr sz="2400" spc="-25" dirty="0">
                <a:latin typeface="Times New Roman"/>
                <a:cs typeface="Times New Roman"/>
              </a:rPr>
              <a:t>UE-</a:t>
            </a:r>
            <a:r>
              <a:rPr sz="2400" spc="-50" dirty="0">
                <a:latin typeface="Times New Roman"/>
                <a:cs typeface="Times New Roman"/>
              </a:rPr>
              <a:t>V</a:t>
            </a:r>
            <a:endParaRPr sz="2400">
              <a:latin typeface="Times New Roman"/>
              <a:cs typeface="Times New Roman"/>
            </a:endParaRPr>
          </a:p>
        </p:txBody>
      </p:sp>
      <p:pic>
        <p:nvPicPr>
          <p:cNvPr id="4" name="object 4"/>
          <p:cNvPicPr/>
          <p:nvPr/>
        </p:nvPicPr>
        <p:blipFill>
          <a:blip r:embed="rId2" cstate="print"/>
          <a:stretch>
            <a:fillRect/>
          </a:stretch>
        </p:blipFill>
        <p:spPr>
          <a:xfrm>
            <a:off x="6140196" y="1711452"/>
            <a:ext cx="2590800" cy="2196845"/>
          </a:xfrm>
          <a:prstGeom prst="rect">
            <a:avLst/>
          </a:prstGeom>
        </p:spPr>
      </p:pic>
      <p:sp>
        <p:nvSpPr>
          <p:cNvPr id="9" name="Slide Number Placeholder 8">
            <a:extLst>
              <a:ext uri="{FF2B5EF4-FFF2-40B4-BE49-F238E27FC236}">
                <a16:creationId xmlns:a16="http://schemas.microsoft.com/office/drawing/2014/main" id="{E1A5EC29-206E-E1A4-2C62-357DC24D90C8}"/>
              </a:ext>
            </a:extLst>
          </p:cNvPr>
          <p:cNvSpPr>
            <a:spLocks noGrp="1"/>
          </p:cNvSpPr>
          <p:nvPr>
            <p:ph type="sldNum" sz="quarter" idx="7"/>
          </p:nvPr>
        </p:nvSpPr>
        <p:spPr>
          <a:xfrm>
            <a:off x="4330700" y="6579869"/>
            <a:ext cx="698500" cy="269304"/>
          </a:xfrm>
        </p:spPr>
        <p:txBody>
          <a:bodyPr/>
          <a:lstStyle/>
          <a:p>
            <a:pPr marL="12700">
              <a:lnSpc>
                <a:spcPts val="2065"/>
              </a:lnSpc>
            </a:pPr>
            <a:fld id="{81D60167-4931-47E6-BA6A-407CBD079E47}" type="slidenum">
              <a:rPr spc="-50" smtClean="0"/>
              <a:t>14</a:t>
            </a:fld>
            <a:endParaRPr spc="-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8824" y="445871"/>
            <a:ext cx="8227975" cy="574040"/>
          </a:xfrm>
          <a:prstGeom prst="rect">
            <a:avLst/>
          </a:prstGeom>
        </p:spPr>
        <p:txBody>
          <a:bodyPr vert="horz" wrap="square" lIns="0" tIns="12700" rIns="0" bIns="0" rtlCol="0">
            <a:spAutoFit/>
          </a:bodyPr>
          <a:lstStyle/>
          <a:p>
            <a:pPr marL="2388235">
              <a:lnSpc>
                <a:spcPct val="100000"/>
              </a:lnSpc>
              <a:spcBef>
                <a:spcPts val="100"/>
              </a:spcBef>
            </a:pPr>
            <a:r>
              <a:rPr dirty="0"/>
              <a:t>Related</a:t>
            </a:r>
            <a:r>
              <a:rPr spc="-70" dirty="0"/>
              <a:t> </a:t>
            </a:r>
            <a:r>
              <a:rPr spc="-10" dirty="0"/>
              <a:t>Concepts</a:t>
            </a:r>
          </a:p>
        </p:txBody>
      </p:sp>
      <p:sp>
        <p:nvSpPr>
          <p:cNvPr id="3" name="object 3"/>
          <p:cNvSpPr txBox="1"/>
          <p:nvPr/>
        </p:nvSpPr>
        <p:spPr>
          <a:xfrm>
            <a:off x="457454" y="1243838"/>
            <a:ext cx="4445000" cy="1778000"/>
          </a:xfrm>
          <a:prstGeom prst="rect">
            <a:avLst/>
          </a:prstGeom>
        </p:spPr>
        <p:txBody>
          <a:bodyPr vert="horz" wrap="square" lIns="0" tIns="85090" rIns="0" bIns="0" rtlCol="0">
            <a:spAutoFit/>
          </a:bodyPr>
          <a:lstStyle/>
          <a:p>
            <a:pPr marL="354965" indent="-342265">
              <a:lnSpc>
                <a:spcPct val="100000"/>
              </a:lnSpc>
              <a:spcBef>
                <a:spcPts val="670"/>
              </a:spcBef>
              <a:buClr>
                <a:srgbClr val="053CE8"/>
              </a:buClr>
              <a:buSzPct val="75000"/>
              <a:buFont typeface="Wingdings"/>
              <a:buChar char=""/>
              <a:tabLst>
                <a:tab pos="354965" algn="l"/>
              </a:tabLst>
            </a:pPr>
            <a:r>
              <a:rPr sz="2400" dirty="0">
                <a:latin typeface="Times New Roman"/>
                <a:cs typeface="Times New Roman"/>
              </a:rPr>
              <a:t>Hardware</a:t>
            </a:r>
            <a:r>
              <a:rPr sz="2400" spc="-140" dirty="0">
                <a:latin typeface="Times New Roman"/>
                <a:cs typeface="Times New Roman"/>
              </a:rPr>
              <a:t> </a:t>
            </a:r>
            <a:r>
              <a:rPr sz="2400" spc="-10" dirty="0">
                <a:latin typeface="Times New Roman"/>
                <a:cs typeface="Times New Roman"/>
              </a:rPr>
              <a:t>Emulation</a:t>
            </a:r>
            <a:endParaRPr sz="2400">
              <a:latin typeface="Times New Roman"/>
              <a:cs typeface="Times New Roman"/>
            </a:endParaRPr>
          </a:p>
          <a:p>
            <a:pPr marL="354965" indent="-342265">
              <a:lnSpc>
                <a:spcPct val="100000"/>
              </a:lnSpc>
              <a:spcBef>
                <a:spcPts val="570"/>
              </a:spcBef>
              <a:buClr>
                <a:srgbClr val="053CE8"/>
              </a:buClr>
              <a:buSzPct val="75000"/>
              <a:buFont typeface="Wingdings"/>
              <a:buChar char=""/>
              <a:tabLst>
                <a:tab pos="354965" algn="l"/>
              </a:tabLst>
            </a:pPr>
            <a:r>
              <a:rPr sz="2400" dirty="0">
                <a:latin typeface="Times New Roman"/>
                <a:cs typeface="Times New Roman"/>
              </a:rPr>
              <a:t>Hardware</a:t>
            </a:r>
            <a:r>
              <a:rPr sz="2400" spc="-130" dirty="0">
                <a:latin typeface="Times New Roman"/>
                <a:cs typeface="Times New Roman"/>
              </a:rPr>
              <a:t> </a:t>
            </a:r>
            <a:r>
              <a:rPr sz="2400" dirty="0">
                <a:latin typeface="Times New Roman"/>
                <a:cs typeface="Times New Roman"/>
              </a:rPr>
              <a:t>Assisted</a:t>
            </a:r>
            <a:r>
              <a:rPr sz="2400" spc="-130" dirty="0">
                <a:latin typeface="Times New Roman"/>
                <a:cs typeface="Times New Roman"/>
              </a:rPr>
              <a:t> </a:t>
            </a:r>
            <a:r>
              <a:rPr sz="2400" spc="-10" dirty="0">
                <a:latin typeface="Times New Roman"/>
                <a:cs typeface="Times New Roman"/>
              </a:rPr>
              <a:t>Virtualization</a:t>
            </a:r>
            <a:endParaRPr sz="2400">
              <a:latin typeface="Times New Roman"/>
              <a:cs typeface="Times New Roman"/>
            </a:endParaRPr>
          </a:p>
          <a:p>
            <a:pPr marL="354965" indent="-342265">
              <a:lnSpc>
                <a:spcPct val="100000"/>
              </a:lnSpc>
              <a:spcBef>
                <a:spcPts val="570"/>
              </a:spcBef>
              <a:buClr>
                <a:srgbClr val="053CE8"/>
              </a:buClr>
              <a:buSzPct val="75000"/>
              <a:buFont typeface="Wingdings"/>
              <a:buChar char=""/>
              <a:tabLst>
                <a:tab pos="354965" algn="l"/>
              </a:tabLst>
            </a:pPr>
            <a:r>
              <a:rPr sz="2400" dirty="0">
                <a:latin typeface="Times New Roman"/>
                <a:cs typeface="Times New Roman"/>
              </a:rPr>
              <a:t>Parallel</a:t>
            </a:r>
            <a:r>
              <a:rPr sz="2400" spc="-40" dirty="0">
                <a:latin typeface="Times New Roman"/>
                <a:cs typeface="Times New Roman"/>
              </a:rPr>
              <a:t> </a:t>
            </a:r>
            <a:r>
              <a:rPr sz="2400" dirty="0">
                <a:latin typeface="Times New Roman"/>
                <a:cs typeface="Times New Roman"/>
              </a:rPr>
              <a:t>Virtual</a:t>
            </a:r>
            <a:r>
              <a:rPr sz="2400" spc="-35" dirty="0">
                <a:latin typeface="Times New Roman"/>
                <a:cs typeface="Times New Roman"/>
              </a:rPr>
              <a:t> </a:t>
            </a:r>
            <a:r>
              <a:rPr sz="2400" spc="-10" dirty="0">
                <a:latin typeface="Times New Roman"/>
                <a:cs typeface="Times New Roman"/>
              </a:rPr>
              <a:t>Machines</a:t>
            </a:r>
            <a:endParaRPr sz="2400">
              <a:latin typeface="Times New Roman"/>
              <a:cs typeface="Times New Roman"/>
            </a:endParaRPr>
          </a:p>
          <a:p>
            <a:pPr marL="354965" indent="-342265">
              <a:lnSpc>
                <a:spcPct val="100000"/>
              </a:lnSpc>
              <a:spcBef>
                <a:spcPts val="570"/>
              </a:spcBef>
              <a:buClr>
                <a:srgbClr val="053CE8"/>
              </a:buClr>
              <a:buSzPct val="75000"/>
              <a:buFont typeface="Wingdings"/>
              <a:buChar char=""/>
              <a:tabLst>
                <a:tab pos="354965" algn="l"/>
              </a:tabLst>
            </a:pPr>
            <a:r>
              <a:rPr sz="2400" spc="-10" dirty="0">
                <a:latin typeface="Times New Roman"/>
                <a:cs typeface="Times New Roman"/>
              </a:rPr>
              <a:t>Paravirtualization</a:t>
            </a:r>
            <a:endParaRPr sz="2400">
              <a:latin typeface="Times New Roman"/>
              <a:cs typeface="Times New Roman"/>
            </a:endParaRPr>
          </a:p>
        </p:txBody>
      </p:sp>
      <p:sp>
        <p:nvSpPr>
          <p:cNvPr id="7" name="Slide Number Placeholder 6">
            <a:extLst>
              <a:ext uri="{FF2B5EF4-FFF2-40B4-BE49-F238E27FC236}">
                <a16:creationId xmlns:a16="http://schemas.microsoft.com/office/drawing/2014/main" id="{45882184-86C3-C491-376B-24ED6DDA9EA6}"/>
              </a:ext>
            </a:extLst>
          </p:cNvPr>
          <p:cNvSpPr>
            <a:spLocks noGrp="1"/>
          </p:cNvSpPr>
          <p:nvPr>
            <p:ph type="sldNum" sz="quarter" idx="7"/>
          </p:nvPr>
        </p:nvSpPr>
        <p:spPr/>
        <p:txBody>
          <a:bodyPr/>
          <a:lstStyle/>
          <a:p>
            <a:pPr marL="12700">
              <a:lnSpc>
                <a:spcPts val="2065"/>
              </a:lnSpc>
            </a:pPr>
            <a:fld id="{81D60167-4931-47E6-BA6A-407CBD079E47}" type="slidenum">
              <a:rPr spc="-50" smtClean="0"/>
              <a:t>15</a:t>
            </a:fld>
            <a:endParaRPr spc="-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77952" y="241554"/>
            <a:ext cx="8388350" cy="6299200"/>
          </a:xfrm>
          <a:custGeom>
            <a:avLst/>
            <a:gdLst/>
            <a:ahLst/>
            <a:cxnLst/>
            <a:rect l="l" t="t" r="r" b="b"/>
            <a:pathLst>
              <a:path w="8388350" h="6299200">
                <a:moveTo>
                  <a:pt x="0" y="0"/>
                </a:moveTo>
                <a:lnTo>
                  <a:pt x="0" y="6298692"/>
                </a:lnTo>
                <a:lnTo>
                  <a:pt x="8388096" y="6298692"/>
                </a:lnTo>
                <a:lnTo>
                  <a:pt x="8388096" y="0"/>
                </a:lnTo>
                <a:lnTo>
                  <a:pt x="0" y="0"/>
                </a:lnTo>
                <a:close/>
              </a:path>
            </a:pathLst>
          </a:custGeom>
          <a:ln w="25400">
            <a:solidFill>
              <a:srgbClr val="053CE8"/>
            </a:solidFill>
          </a:ln>
        </p:spPr>
        <p:txBody>
          <a:bodyPr wrap="square" lIns="0" tIns="0" rIns="0" bIns="0" rtlCol="0"/>
          <a:lstStyle/>
          <a:p>
            <a:endParaRPr/>
          </a:p>
        </p:txBody>
      </p:sp>
      <p:sp>
        <p:nvSpPr>
          <p:cNvPr id="3" name="object 3"/>
          <p:cNvSpPr/>
          <p:nvPr/>
        </p:nvSpPr>
        <p:spPr>
          <a:xfrm>
            <a:off x="3824478" y="6489191"/>
            <a:ext cx="2624455" cy="6985"/>
          </a:xfrm>
          <a:custGeom>
            <a:avLst/>
            <a:gdLst/>
            <a:ahLst/>
            <a:cxnLst/>
            <a:rect l="l" t="t" r="r" b="b"/>
            <a:pathLst>
              <a:path w="2624454" h="6985">
                <a:moveTo>
                  <a:pt x="2624327" y="6857"/>
                </a:moveTo>
                <a:lnTo>
                  <a:pt x="2624327" y="0"/>
                </a:lnTo>
                <a:lnTo>
                  <a:pt x="0" y="0"/>
                </a:lnTo>
                <a:lnTo>
                  <a:pt x="0" y="6857"/>
                </a:lnTo>
                <a:lnTo>
                  <a:pt x="2624327" y="6857"/>
                </a:lnTo>
                <a:close/>
              </a:path>
            </a:pathLst>
          </a:custGeom>
          <a:solidFill>
            <a:srgbClr val="00DFCA"/>
          </a:solidFill>
        </p:spPr>
        <p:txBody>
          <a:bodyPr wrap="square" lIns="0" tIns="0" rIns="0" bIns="0" rtlCol="0"/>
          <a:lstStyle/>
          <a:p>
            <a:endParaRPr/>
          </a:p>
        </p:txBody>
      </p:sp>
      <p:sp>
        <p:nvSpPr>
          <p:cNvPr id="4" name="object 4"/>
          <p:cNvSpPr/>
          <p:nvPr/>
        </p:nvSpPr>
        <p:spPr>
          <a:xfrm>
            <a:off x="7197852" y="0"/>
            <a:ext cx="0" cy="228600"/>
          </a:xfrm>
          <a:custGeom>
            <a:avLst/>
            <a:gdLst/>
            <a:ahLst/>
            <a:cxnLst/>
            <a:rect l="l" t="t" r="r" b="b"/>
            <a:pathLst>
              <a:path h="228600">
                <a:moveTo>
                  <a:pt x="0" y="228600"/>
                </a:moveTo>
                <a:lnTo>
                  <a:pt x="0" y="0"/>
                </a:lnTo>
              </a:path>
            </a:pathLst>
          </a:custGeom>
          <a:ln w="3175">
            <a:solidFill>
              <a:srgbClr val="EAEAEA"/>
            </a:solidFill>
          </a:ln>
        </p:spPr>
        <p:txBody>
          <a:bodyPr wrap="square" lIns="0" tIns="0" rIns="0" bIns="0" rtlCol="0"/>
          <a:lstStyle/>
          <a:p>
            <a:endParaRPr/>
          </a:p>
        </p:txBody>
      </p:sp>
      <p:sp>
        <p:nvSpPr>
          <p:cNvPr id="5" name="object 5"/>
          <p:cNvSpPr/>
          <p:nvPr/>
        </p:nvSpPr>
        <p:spPr>
          <a:xfrm>
            <a:off x="8766047" y="1462277"/>
            <a:ext cx="378460" cy="0"/>
          </a:xfrm>
          <a:custGeom>
            <a:avLst/>
            <a:gdLst/>
            <a:ahLst/>
            <a:cxnLst/>
            <a:rect l="l" t="t" r="r" b="b"/>
            <a:pathLst>
              <a:path w="378459">
                <a:moveTo>
                  <a:pt x="0" y="0"/>
                </a:moveTo>
                <a:lnTo>
                  <a:pt x="377952" y="0"/>
                </a:lnTo>
              </a:path>
            </a:pathLst>
          </a:custGeom>
          <a:ln w="3175">
            <a:solidFill>
              <a:srgbClr val="EAEAEA"/>
            </a:solidFill>
          </a:ln>
        </p:spPr>
        <p:txBody>
          <a:bodyPr wrap="square" lIns="0" tIns="0" rIns="0" bIns="0" rtlCol="0"/>
          <a:lstStyle/>
          <a:p>
            <a:endParaRPr/>
          </a:p>
        </p:txBody>
      </p:sp>
      <p:sp>
        <p:nvSpPr>
          <p:cNvPr id="6" name="object 6"/>
          <p:cNvSpPr txBox="1">
            <a:spLocks noGrp="1"/>
          </p:cNvSpPr>
          <p:nvPr>
            <p:ph type="title"/>
          </p:nvPr>
        </p:nvSpPr>
        <p:spPr>
          <a:prstGeom prst="rect">
            <a:avLst/>
          </a:prstGeom>
        </p:spPr>
        <p:txBody>
          <a:bodyPr vert="horz" wrap="square" lIns="0" tIns="12700" rIns="0" bIns="0" rtlCol="0">
            <a:spAutoFit/>
          </a:bodyPr>
          <a:lstStyle/>
          <a:p>
            <a:pPr marL="2007235">
              <a:lnSpc>
                <a:spcPct val="100000"/>
              </a:lnSpc>
              <a:spcBef>
                <a:spcPts val="100"/>
              </a:spcBef>
            </a:pPr>
            <a:r>
              <a:rPr dirty="0"/>
              <a:t>Hardware</a:t>
            </a:r>
            <a:r>
              <a:rPr spc="-95" dirty="0"/>
              <a:t> </a:t>
            </a:r>
            <a:r>
              <a:rPr spc="-10" dirty="0"/>
              <a:t>Emulation</a:t>
            </a:r>
          </a:p>
        </p:txBody>
      </p:sp>
      <p:sp>
        <p:nvSpPr>
          <p:cNvPr id="7" name="object 7"/>
          <p:cNvSpPr txBox="1"/>
          <p:nvPr/>
        </p:nvSpPr>
        <p:spPr>
          <a:xfrm>
            <a:off x="444754" y="1243838"/>
            <a:ext cx="7808595" cy="2946400"/>
          </a:xfrm>
          <a:prstGeom prst="rect">
            <a:avLst/>
          </a:prstGeom>
        </p:spPr>
        <p:txBody>
          <a:bodyPr vert="horz" wrap="square" lIns="0" tIns="85090" rIns="0" bIns="0" rtlCol="0">
            <a:spAutoFit/>
          </a:bodyPr>
          <a:lstStyle/>
          <a:p>
            <a:pPr marL="367665" indent="-342265">
              <a:lnSpc>
                <a:spcPct val="100000"/>
              </a:lnSpc>
              <a:spcBef>
                <a:spcPts val="670"/>
              </a:spcBef>
              <a:buClr>
                <a:srgbClr val="053CE8"/>
              </a:buClr>
              <a:buSzPct val="75000"/>
              <a:buFont typeface="Wingdings"/>
              <a:buChar char=""/>
              <a:tabLst>
                <a:tab pos="367665" algn="l"/>
              </a:tabLst>
            </a:pPr>
            <a:r>
              <a:rPr sz="2400" dirty="0">
                <a:latin typeface="Times New Roman"/>
                <a:cs typeface="Times New Roman"/>
              </a:rPr>
              <a:t>Mimic</a:t>
            </a:r>
            <a:r>
              <a:rPr sz="2400" spc="-30" dirty="0">
                <a:latin typeface="Times New Roman"/>
                <a:cs typeface="Times New Roman"/>
              </a:rPr>
              <a:t> </a:t>
            </a:r>
            <a:r>
              <a:rPr sz="2400" dirty="0">
                <a:latin typeface="Times New Roman"/>
                <a:cs typeface="Times New Roman"/>
              </a:rPr>
              <a:t>a</a:t>
            </a:r>
            <a:r>
              <a:rPr sz="2400" spc="-25" dirty="0">
                <a:latin typeface="Times New Roman"/>
                <a:cs typeface="Times New Roman"/>
              </a:rPr>
              <a:t> </a:t>
            </a:r>
            <a:r>
              <a:rPr sz="2400" dirty="0">
                <a:latin typeface="Times New Roman"/>
                <a:cs typeface="Times New Roman"/>
              </a:rPr>
              <a:t>different</a:t>
            </a:r>
            <a:r>
              <a:rPr sz="2400" spc="-25" dirty="0">
                <a:latin typeface="Times New Roman"/>
                <a:cs typeface="Times New Roman"/>
              </a:rPr>
              <a:t> </a:t>
            </a:r>
            <a:r>
              <a:rPr sz="2400" dirty="0">
                <a:latin typeface="Times New Roman"/>
                <a:cs typeface="Times New Roman"/>
              </a:rPr>
              <a:t>type</a:t>
            </a:r>
            <a:r>
              <a:rPr sz="2400" spc="-25"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dirty="0">
                <a:latin typeface="Times New Roman"/>
                <a:cs typeface="Times New Roman"/>
              </a:rPr>
              <a:t>hardware,</a:t>
            </a:r>
            <a:r>
              <a:rPr sz="2400" spc="-25" dirty="0">
                <a:latin typeface="Times New Roman"/>
                <a:cs typeface="Times New Roman"/>
              </a:rPr>
              <a:t> </a:t>
            </a:r>
            <a:r>
              <a:rPr sz="2400" dirty="0">
                <a:latin typeface="Times New Roman"/>
                <a:cs typeface="Times New Roman"/>
              </a:rPr>
              <a:t>e.g.,</a:t>
            </a:r>
            <a:r>
              <a:rPr sz="2400" spc="-25" dirty="0">
                <a:latin typeface="Times New Roman"/>
                <a:cs typeface="Times New Roman"/>
              </a:rPr>
              <a:t> </a:t>
            </a:r>
            <a:r>
              <a:rPr sz="2400" dirty="0">
                <a:latin typeface="Times New Roman"/>
                <a:cs typeface="Times New Roman"/>
              </a:rPr>
              <a:t>SPARC</a:t>
            </a:r>
            <a:r>
              <a:rPr sz="2400" spc="-30" dirty="0">
                <a:latin typeface="Times New Roman"/>
                <a:cs typeface="Times New Roman"/>
              </a:rPr>
              <a:t> </a:t>
            </a:r>
            <a:r>
              <a:rPr sz="2400" dirty="0">
                <a:latin typeface="Times New Roman"/>
                <a:cs typeface="Times New Roman"/>
              </a:rPr>
              <a:t>on</a:t>
            </a:r>
            <a:r>
              <a:rPr sz="2400" spc="-25" dirty="0">
                <a:latin typeface="Times New Roman"/>
                <a:cs typeface="Times New Roman"/>
              </a:rPr>
              <a:t> PC</a:t>
            </a:r>
            <a:endParaRPr sz="2400">
              <a:latin typeface="Times New Roman"/>
              <a:cs typeface="Times New Roman"/>
            </a:endParaRPr>
          </a:p>
          <a:p>
            <a:pPr marL="367665" indent="-342265">
              <a:lnSpc>
                <a:spcPct val="100000"/>
              </a:lnSpc>
              <a:spcBef>
                <a:spcPts val="570"/>
              </a:spcBef>
              <a:buClr>
                <a:srgbClr val="053CE8"/>
              </a:buClr>
              <a:buSzPct val="75000"/>
              <a:buFont typeface="Wingdings"/>
              <a:buChar char=""/>
              <a:tabLst>
                <a:tab pos="367665" algn="l"/>
              </a:tabLst>
            </a:pPr>
            <a:r>
              <a:rPr sz="2400" spc="-10" dirty="0">
                <a:latin typeface="Times New Roman"/>
                <a:cs typeface="Times New Roman"/>
              </a:rPr>
              <a:t>Examples:</a:t>
            </a:r>
            <a:endParaRPr sz="2400">
              <a:latin typeface="Times New Roman"/>
              <a:cs typeface="Times New Roman"/>
            </a:endParaRPr>
          </a:p>
          <a:p>
            <a:pPr marL="767715" lvl="1" indent="-285115">
              <a:lnSpc>
                <a:spcPct val="100000"/>
              </a:lnSpc>
              <a:spcBef>
                <a:spcPts val="570"/>
              </a:spcBef>
              <a:buSzPct val="66666"/>
              <a:buFont typeface="Wingdings"/>
              <a:buChar char=""/>
              <a:tabLst>
                <a:tab pos="767715" algn="l"/>
              </a:tabLst>
            </a:pPr>
            <a:r>
              <a:rPr sz="2400" dirty="0">
                <a:latin typeface="Times New Roman"/>
                <a:cs typeface="Times New Roman"/>
              </a:rPr>
              <a:t>Microsoft</a:t>
            </a:r>
            <a:r>
              <a:rPr sz="2400" spc="-15" dirty="0">
                <a:latin typeface="Times New Roman"/>
                <a:cs typeface="Times New Roman"/>
              </a:rPr>
              <a:t> </a:t>
            </a:r>
            <a:r>
              <a:rPr sz="2400" dirty="0">
                <a:latin typeface="Times New Roman"/>
                <a:cs typeface="Times New Roman"/>
              </a:rPr>
              <a:t>Virtual</a:t>
            </a:r>
            <a:r>
              <a:rPr sz="2400" spc="-15" dirty="0">
                <a:latin typeface="Times New Roman"/>
                <a:cs typeface="Times New Roman"/>
              </a:rPr>
              <a:t> </a:t>
            </a:r>
            <a:r>
              <a:rPr sz="2400" dirty="0">
                <a:latin typeface="Times New Roman"/>
                <a:cs typeface="Times New Roman"/>
              </a:rPr>
              <a:t>PC</a:t>
            </a:r>
            <a:r>
              <a:rPr sz="2400" spc="-10" dirty="0">
                <a:latin typeface="Times New Roman"/>
                <a:cs typeface="Times New Roman"/>
              </a:rPr>
              <a:t> </a:t>
            </a:r>
            <a:r>
              <a:rPr sz="2400" dirty="0">
                <a:latin typeface="Times New Roman"/>
                <a:cs typeface="Times New Roman"/>
              </a:rPr>
              <a:t>for</a:t>
            </a:r>
            <a:r>
              <a:rPr sz="2400" spc="-15" dirty="0">
                <a:latin typeface="Times New Roman"/>
                <a:cs typeface="Times New Roman"/>
              </a:rPr>
              <a:t> </a:t>
            </a:r>
            <a:r>
              <a:rPr sz="2400" dirty="0">
                <a:latin typeface="Times New Roman"/>
                <a:cs typeface="Times New Roman"/>
              </a:rPr>
              <a:t>Mac:</a:t>
            </a:r>
            <a:r>
              <a:rPr sz="2400" spc="-15" dirty="0">
                <a:latin typeface="Times New Roman"/>
                <a:cs typeface="Times New Roman"/>
              </a:rPr>
              <a:t> </a:t>
            </a:r>
            <a:r>
              <a:rPr sz="2400" dirty="0">
                <a:latin typeface="Times New Roman"/>
                <a:cs typeface="Times New Roman"/>
              </a:rPr>
              <a:t>x86</a:t>
            </a:r>
            <a:r>
              <a:rPr sz="2400" spc="-10" dirty="0">
                <a:latin typeface="Times New Roman"/>
                <a:cs typeface="Times New Roman"/>
              </a:rPr>
              <a:t> </a:t>
            </a:r>
            <a:r>
              <a:rPr sz="2400" dirty="0">
                <a:latin typeface="Times New Roman"/>
                <a:cs typeface="Times New Roman"/>
              </a:rPr>
              <a:t>on</a:t>
            </a:r>
            <a:r>
              <a:rPr sz="2400" spc="-15" dirty="0">
                <a:latin typeface="Times New Roman"/>
                <a:cs typeface="Times New Roman"/>
              </a:rPr>
              <a:t> </a:t>
            </a:r>
            <a:r>
              <a:rPr sz="2400" spc="-10" dirty="0">
                <a:latin typeface="Times New Roman"/>
                <a:cs typeface="Times New Roman"/>
              </a:rPr>
              <a:t>PowerPC</a:t>
            </a:r>
            <a:endParaRPr sz="2400">
              <a:latin typeface="Times New Roman"/>
              <a:cs typeface="Times New Roman"/>
            </a:endParaRPr>
          </a:p>
          <a:p>
            <a:pPr marL="768350" marR="17780" lvl="1" indent="-285750">
              <a:lnSpc>
                <a:spcPct val="100000"/>
              </a:lnSpc>
              <a:spcBef>
                <a:spcPts val="570"/>
              </a:spcBef>
              <a:buSzPct val="66666"/>
              <a:buFont typeface="Wingdings"/>
              <a:buChar char=""/>
              <a:tabLst>
                <a:tab pos="768350" algn="l"/>
              </a:tabLst>
            </a:pPr>
            <a:r>
              <a:rPr sz="2400" dirty="0">
                <a:latin typeface="Times New Roman"/>
                <a:cs typeface="Times New Roman"/>
              </a:rPr>
              <a:t>Bochs</a:t>
            </a:r>
            <a:r>
              <a:rPr sz="2400" spc="-40" dirty="0">
                <a:latin typeface="Times New Roman"/>
                <a:cs typeface="Times New Roman"/>
              </a:rPr>
              <a:t> </a:t>
            </a:r>
            <a:r>
              <a:rPr sz="2400" dirty="0">
                <a:latin typeface="Times New Roman"/>
                <a:cs typeface="Times New Roman"/>
              </a:rPr>
              <a:t>(pronounced</a:t>
            </a:r>
            <a:r>
              <a:rPr sz="2400" spc="-35" dirty="0">
                <a:latin typeface="Times New Roman"/>
                <a:cs typeface="Times New Roman"/>
              </a:rPr>
              <a:t> </a:t>
            </a:r>
            <a:r>
              <a:rPr sz="2400" dirty="0">
                <a:latin typeface="Times New Roman"/>
                <a:cs typeface="Times New Roman"/>
              </a:rPr>
              <a:t>Box):</a:t>
            </a:r>
            <a:r>
              <a:rPr sz="2400" spc="-40" dirty="0">
                <a:latin typeface="Times New Roman"/>
                <a:cs typeface="Times New Roman"/>
              </a:rPr>
              <a:t> </a:t>
            </a:r>
            <a:r>
              <a:rPr sz="2400" dirty="0">
                <a:latin typeface="Times New Roman"/>
                <a:cs typeface="Times New Roman"/>
              </a:rPr>
              <a:t>emulates</a:t>
            </a:r>
            <a:r>
              <a:rPr sz="2400" spc="-35" dirty="0">
                <a:latin typeface="Times New Roman"/>
                <a:cs typeface="Times New Roman"/>
              </a:rPr>
              <a:t> </a:t>
            </a:r>
            <a:r>
              <a:rPr sz="2400" dirty="0">
                <a:latin typeface="Times New Roman"/>
                <a:cs typeface="Times New Roman"/>
              </a:rPr>
              <a:t>x86</a:t>
            </a:r>
            <a:r>
              <a:rPr sz="2400" spc="-40" dirty="0">
                <a:latin typeface="Times New Roman"/>
                <a:cs typeface="Times New Roman"/>
              </a:rPr>
              <a:t> </a:t>
            </a:r>
            <a:r>
              <a:rPr sz="2400" dirty="0">
                <a:latin typeface="Times New Roman"/>
                <a:cs typeface="Times New Roman"/>
              </a:rPr>
              <a:t>on</a:t>
            </a:r>
            <a:r>
              <a:rPr sz="2400" spc="-35" dirty="0">
                <a:latin typeface="Times New Roman"/>
                <a:cs typeface="Times New Roman"/>
              </a:rPr>
              <a:t> </a:t>
            </a:r>
            <a:r>
              <a:rPr sz="2400" dirty="0">
                <a:latin typeface="Times New Roman"/>
                <a:cs typeface="Times New Roman"/>
              </a:rPr>
              <a:t>UNIX,</a:t>
            </a:r>
            <a:r>
              <a:rPr sz="2400" spc="-40" dirty="0">
                <a:latin typeface="Times New Roman"/>
                <a:cs typeface="Times New Roman"/>
              </a:rPr>
              <a:t> </a:t>
            </a:r>
            <a:r>
              <a:rPr sz="2400" spc="-10" dirty="0">
                <a:latin typeface="Times New Roman"/>
                <a:cs typeface="Times New Roman"/>
              </a:rPr>
              <a:t>Linux, </a:t>
            </a:r>
            <a:r>
              <a:rPr sz="2400" dirty="0">
                <a:latin typeface="Times New Roman"/>
                <a:cs typeface="Times New Roman"/>
              </a:rPr>
              <a:t>Windows,</a:t>
            </a:r>
            <a:r>
              <a:rPr sz="2400" spc="-45" dirty="0">
                <a:latin typeface="Times New Roman"/>
                <a:cs typeface="Times New Roman"/>
              </a:rPr>
              <a:t> </a:t>
            </a:r>
            <a:r>
              <a:rPr sz="2400" dirty="0">
                <a:latin typeface="Times New Roman"/>
                <a:cs typeface="Times New Roman"/>
              </a:rPr>
              <a:t>and</a:t>
            </a:r>
            <a:r>
              <a:rPr sz="2400" spc="-30" dirty="0">
                <a:latin typeface="Times New Roman"/>
                <a:cs typeface="Times New Roman"/>
              </a:rPr>
              <a:t> </a:t>
            </a:r>
            <a:r>
              <a:rPr sz="2400" dirty="0">
                <a:latin typeface="Times New Roman"/>
                <a:cs typeface="Times New Roman"/>
              </a:rPr>
              <a:t>Mac</a:t>
            </a:r>
            <a:r>
              <a:rPr sz="2400" spc="-30" dirty="0">
                <a:latin typeface="Times New Roman"/>
                <a:cs typeface="Times New Roman"/>
              </a:rPr>
              <a:t> </a:t>
            </a:r>
            <a:r>
              <a:rPr sz="2400" dirty="0">
                <a:latin typeface="Times New Roman"/>
                <a:cs typeface="Times New Roman"/>
              </a:rPr>
              <a:t>OS</a:t>
            </a:r>
            <a:r>
              <a:rPr sz="2400" spc="-30" dirty="0">
                <a:latin typeface="Times New Roman"/>
                <a:cs typeface="Times New Roman"/>
              </a:rPr>
              <a:t> </a:t>
            </a:r>
            <a:r>
              <a:rPr sz="2400" spc="-50" dirty="0">
                <a:latin typeface="Times New Roman"/>
                <a:cs typeface="Times New Roman"/>
              </a:rPr>
              <a:t>X</a:t>
            </a:r>
            <a:endParaRPr sz="2400">
              <a:latin typeface="Times New Roman"/>
              <a:cs typeface="Times New Roman"/>
            </a:endParaRPr>
          </a:p>
          <a:p>
            <a:pPr marL="767715" marR="147955" lvl="1" indent="-285750">
              <a:lnSpc>
                <a:spcPct val="100000"/>
              </a:lnSpc>
              <a:spcBef>
                <a:spcPts val="560"/>
              </a:spcBef>
              <a:buSzPct val="66666"/>
              <a:buFont typeface="Wingdings"/>
              <a:buChar char=""/>
              <a:tabLst>
                <a:tab pos="767715" algn="l"/>
              </a:tabLst>
            </a:pPr>
            <a:r>
              <a:rPr sz="2400" dirty="0">
                <a:latin typeface="Times New Roman"/>
                <a:cs typeface="Times New Roman"/>
              </a:rPr>
              <a:t>QEMU:</a:t>
            </a:r>
            <a:r>
              <a:rPr sz="2400" spc="-55" dirty="0">
                <a:latin typeface="Times New Roman"/>
                <a:cs typeface="Times New Roman"/>
              </a:rPr>
              <a:t> </a:t>
            </a:r>
            <a:r>
              <a:rPr sz="2400" dirty="0">
                <a:latin typeface="Times New Roman"/>
                <a:cs typeface="Times New Roman"/>
              </a:rPr>
              <a:t>Emulates</a:t>
            </a:r>
            <a:r>
              <a:rPr sz="2400" spc="-55" dirty="0">
                <a:latin typeface="Times New Roman"/>
                <a:cs typeface="Times New Roman"/>
              </a:rPr>
              <a:t> </a:t>
            </a:r>
            <a:r>
              <a:rPr sz="2400" dirty="0">
                <a:latin typeface="Times New Roman"/>
                <a:cs typeface="Times New Roman"/>
              </a:rPr>
              <a:t>x86,</a:t>
            </a:r>
            <a:r>
              <a:rPr sz="2400" spc="-55" dirty="0">
                <a:latin typeface="Times New Roman"/>
                <a:cs typeface="Times New Roman"/>
              </a:rPr>
              <a:t> </a:t>
            </a:r>
            <a:r>
              <a:rPr sz="2400" dirty="0">
                <a:latin typeface="Times New Roman"/>
                <a:cs typeface="Times New Roman"/>
              </a:rPr>
              <a:t>x86</a:t>
            </a:r>
            <a:r>
              <a:rPr sz="2400" baseline="-20833" dirty="0">
                <a:latin typeface="Times New Roman"/>
                <a:cs typeface="Times New Roman"/>
              </a:rPr>
              <a:t>64</a:t>
            </a:r>
            <a:r>
              <a:rPr sz="2400" dirty="0">
                <a:latin typeface="Times New Roman"/>
                <a:cs typeface="Times New Roman"/>
              </a:rPr>
              <a:t>,</a:t>
            </a:r>
            <a:r>
              <a:rPr sz="2400" spc="-50" dirty="0">
                <a:latin typeface="Times New Roman"/>
                <a:cs typeface="Times New Roman"/>
              </a:rPr>
              <a:t> </a:t>
            </a:r>
            <a:r>
              <a:rPr sz="2400" dirty="0">
                <a:latin typeface="Times New Roman"/>
                <a:cs typeface="Times New Roman"/>
              </a:rPr>
              <a:t>ARM,</a:t>
            </a:r>
            <a:r>
              <a:rPr sz="2400" spc="-50" dirty="0">
                <a:latin typeface="Times New Roman"/>
                <a:cs typeface="Times New Roman"/>
              </a:rPr>
              <a:t> </a:t>
            </a:r>
            <a:r>
              <a:rPr sz="2400" dirty="0">
                <a:latin typeface="Times New Roman"/>
                <a:cs typeface="Times New Roman"/>
              </a:rPr>
              <a:t>SPARC,</a:t>
            </a:r>
            <a:r>
              <a:rPr sz="2400" spc="-55" dirty="0">
                <a:latin typeface="Times New Roman"/>
                <a:cs typeface="Times New Roman"/>
              </a:rPr>
              <a:t> </a:t>
            </a:r>
            <a:r>
              <a:rPr sz="2400" spc="-10" dirty="0">
                <a:latin typeface="Times New Roman"/>
                <a:cs typeface="Times New Roman"/>
              </a:rPr>
              <a:t>PowerPC, </a:t>
            </a:r>
            <a:r>
              <a:rPr sz="2400" dirty="0">
                <a:latin typeface="Times New Roman"/>
                <a:cs typeface="Times New Roman"/>
              </a:rPr>
              <a:t>MIPS,</a:t>
            </a:r>
            <a:r>
              <a:rPr sz="2400" spc="-15"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dirty="0">
                <a:latin typeface="Times New Roman"/>
                <a:cs typeface="Times New Roman"/>
              </a:rPr>
              <a:t>m68k</a:t>
            </a:r>
            <a:r>
              <a:rPr sz="2400" spc="-10" dirty="0">
                <a:latin typeface="Times New Roman"/>
                <a:cs typeface="Times New Roman"/>
              </a:rPr>
              <a:t> </a:t>
            </a:r>
            <a:r>
              <a:rPr sz="2400" dirty="0">
                <a:latin typeface="Times New Roman"/>
                <a:cs typeface="Times New Roman"/>
              </a:rPr>
              <a:t>on</a:t>
            </a:r>
            <a:r>
              <a:rPr sz="2400" spc="-15" dirty="0">
                <a:latin typeface="Times New Roman"/>
                <a:cs typeface="Times New Roman"/>
              </a:rPr>
              <a:t> </a:t>
            </a:r>
            <a:r>
              <a:rPr sz="2400" dirty="0">
                <a:latin typeface="Times New Roman"/>
                <a:cs typeface="Times New Roman"/>
              </a:rPr>
              <a:t>x86,</a:t>
            </a:r>
            <a:r>
              <a:rPr sz="2400" spc="-15" dirty="0">
                <a:latin typeface="Times New Roman"/>
                <a:cs typeface="Times New Roman"/>
              </a:rPr>
              <a:t> </a:t>
            </a:r>
            <a:r>
              <a:rPr sz="2400" dirty="0">
                <a:latin typeface="Times New Roman"/>
                <a:cs typeface="Times New Roman"/>
              </a:rPr>
              <a:t>x86</a:t>
            </a:r>
            <a:r>
              <a:rPr sz="2400" baseline="-20833" dirty="0">
                <a:latin typeface="Times New Roman"/>
                <a:cs typeface="Times New Roman"/>
              </a:rPr>
              <a:t>64</a:t>
            </a:r>
            <a:r>
              <a:rPr sz="2400" dirty="0">
                <a:latin typeface="Times New Roman"/>
                <a:cs typeface="Times New Roman"/>
              </a:rPr>
              <a:t>,</a:t>
            </a:r>
            <a:r>
              <a:rPr sz="2400" spc="-10"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spc="-10" dirty="0">
                <a:latin typeface="Times New Roman"/>
                <a:cs typeface="Times New Roman"/>
              </a:rPr>
              <a:t>PowerPC</a:t>
            </a:r>
            <a:endParaRPr sz="2400">
              <a:latin typeface="Times New Roman"/>
              <a:cs typeface="Times New Roman"/>
            </a:endParaRPr>
          </a:p>
        </p:txBody>
      </p:sp>
      <p:sp>
        <p:nvSpPr>
          <p:cNvPr id="9" name="object 9"/>
          <p:cNvSpPr/>
          <p:nvPr/>
        </p:nvSpPr>
        <p:spPr>
          <a:xfrm>
            <a:off x="790194" y="6341364"/>
            <a:ext cx="3042285" cy="6985"/>
          </a:xfrm>
          <a:custGeom>
            <a:avLst/>
            <a:gdLst/>
            <a:ahLst/>
            <a:cxnLst/>
            <a:rect l="l" t="t" r="r" b="b"/>
            <a:pathLst>
              <a:path w="3042285" h="6985">
                <a:moveTo>
                  <a:pt x="3041904" y="6857"/>
                </a:moveTo>
                <a:lnTo>
                  <a:pt x="3041904" y="0"/>
                </a:lnTo>
                <a:lnTo>
                  <a:pt x="0" y="0"/>
                </a:lnTo>
                <a:lnTo>
                  <a:pt x="0" y="6857"/>
                </a:lnTo>
                <a:lnTo>
                  <a:pt x="3041904" y="6857"/>
                </a:lnTo>
                <a:close/>
              </a:path>
            </a:pathLst>
          </a:custGeom>
          <a:solidFill>
            <a:srgbClr val="00DFCA"/>
          </a:solidFill>
        </p:spPr>
        <p:txBody>
          <a:bodyPr wrap="square" lIns="0" tIns="0" rIns="0" bIns="0" rtlCol="0"/>
          <a:lstStyle/>
          <a:p>
            <a:endParaRPr/>
          </a:p>
        </p:txBody>
      </p:sp>
      <p:sp>
        <p:nvSpPr>
          <p:cNvPr id="13" name="Slide Number Placeholder 12">
            <a:extLst>
              <a:ext uri="{FF2B5EF4-FFF2-40B4-BE49-F238E27FC236}">
                <a16:creationId xmlns:a16="http://schemas.microsoft.com/office/drawing/2014/main" id="{AD4ED8C4-99DB-6563-6012-BA937FB89563}"/>
              </a:ext>
            </a:extLst>
          </p:cNvPr>
          <p:cNvSpPr>
            <a:spLocks noGrp="1"/>
          </p:cNvSpPr>
          <p:nvPr>
            <p:ph type="sldNum" sz="quarter" idx="7"/>
          </p:nvPr>
        </p:nvSpPr>
        <p:spPr>
          <a:xfrm>
            <a:off x="4330700" y="6579869"/>
            <a:ext cx="927100" cy="269304"/>
          </a:xfrm>
        </p:spPr>
        <p:txBody>
          <a:bodyPr/>
          <a:lstStyle/>
          <a:p>
            <a:pPr marL="12700">
              <a:lnSpc>
                <a:spcPts val="2065"/>
              </a:lnSpc>
            </a:pPr>
            <a:fld id="{81D60167-4931-47E6-BA6A-407CBD079E47}" type="slidenum">
              <a:rPr spc="-50" smtClean="0"/>
              <a:t>16</a:t>
            </a:fld>
            <a:endParaRPr spc="-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81100" y="381000"/>
            <a:ext cx="6781800" cy="571428"/>
          </a:xfrm>
          <a:prstGeom prst="rect">
            <a:avLst/>
          </a:prstGeom>
        </p:spPr>
        <p:txBody>
          <a:bodyPr vert="horz" wrap="square" lIns="0" tIns="12700" rIns="0" bIns="0" rtlCol="0">
            <a:spAutoFit/>
          </a:bodyPr>
          <a:lstStyle/>
          <a:p>
            <a:pPr marL="12700">
              <a:lnSpc>
                <a:spcPct val="100000"/>
              </a:lnSpc>
              <a:spcBef>
                <a:spcPts val="100"/>
              </a:spcBef>
            </a:pPr>
            <a:r>
              <a:rPr dirty="0"/>
              <a:t>Hardware</a:t>
            </a:r>
            <a:r>
              <a:rPr spc="-90" dirty="0"/>
              <a:t> </a:t>
            </a:r>
            <a:r>
              <a:rPr dirty="0"/>
              <a:t>Assisted</a:t>
            </a:r>
            <a:r>
              <a:rPr spc="-75" dirty="0"/>
              <a:t> </a:t>
            </a:r>
            <a:r>
              <a:rPr spc="-10" dirty="0"/>
              <a:t>Virtualization</a:t>
            </a:r>
          </a:p>
        </p:txBody>
      </p:sp>
      <p:sp>
        <p:nvSpPr>
          <p:cNvPr id="3" name="object 3"/>
          <p:cNvSpPr txBox="1"/>
          <p:nvPr/>
        </p:nvSpPr>
        <p:spPr>
          <a:xfrm>
            <a:off x="457454" y="1243838"/>
            <a:ext cx="7879715" cy="2873375"/>
          </a:xfrm>
          <a:prstGeom prst="rect">
            <a:avLst/>
          </a:prstGeom>
        </p:spPr>
        <p:txBody>
          <a:bodyPr vert="horz" wrap="square" lIns="0" tIns="85090" rIns="0" bIns="0" rtlCol="0">
            <a:spAutoFit/>
          </a:bodyPr>
          <a:lstStyle/>
          <a:p>
            <a:pPr marL="354965" indent="-342265">
              <a:lnSpc>
                <a:spcPct val="100000"/>
              </a:lnSpc>
              <a:spcBef>
                <a:spcPts val="670"/>
              </a:spcBef>
              <a:buClr>
                <a:srgbClr val="053CE8"/>
              </a:buClr>
              <a:buSzPct val="75000"/>
              <a:buFont typeface="Wingdings"/>
              <a:buChar char=""/>
              <a:tabLst>
                <a:tab pos="354965" algn="l"/>
              </a:tabLst>
            </a:pPr>
            <a:r>
              <a:rPr sz="2400" dirty="0">
                <a:latin typeface="Times New Roman"/>
                <a:cs typeface="Times New Roman"/>
              </a:rPr>
              <a:t>Processors</a:t>
            </a:r>
            <a:r>
              <a:rPr sz="2400" spc="-45" dirty="0">
                <a:latin typeface="Times New Roman"/>
                <a:cs typeface="Times New Roman"/>
              </a:rPr>
              <a:t> </a:t>
            </a:r>
            <a:r>
              <a:rPr sz="2400" dirty="0">
                <a:latin typeface="Times New Roman"/>
                <a:cs typeface="Times New Roman"/>
              </a:rPr>
              <a:t>are</a:t>
            </a:r>
            <a:r>
              <a:rPr sz="2400" spc="-45" dirty="0">
                <a:latin typeface="Times New Roman"/>
                <a:cs typeface="Times New Roman"/>
              </a:rPr>
              <a:t> </a:t>
            </a:r>
            <a:r>
              <a:rPr sz="2400" dirty="0">
                <a:latin typeface="Times New Roman"/>
                <a:cs typeface="Times New Roman"/>
              </a:rPr>
              <a:t>designed</a:t>
            </a:r>
            <a:r>
              <a:rPr sz="2400" spc="-40" dirty="0">
                <a:latin typeface="Times New Roman"/>
                <a:cs typeface="Times New Roman"/>
              </a:rPr>
              <a:t> </a:t>
            </a:r>
            <a:r>
              <a:rPr sz="2400" dirty="0">
                <a:latin typeface="Times New Roman"/>
                <a:cs typeface="Times New Roman"/>
              </a:rPr>
              <a:t>to</a:t>
            </a:r>
            <a:r>
              <a:rPr sz="2400" spc="-45" dirty="0">
                <a:latin typeface="Times New Roman"/>
                <a:cs typeface="Times New Roman"/>
              </a:rPr>
              <a:t> </a:t>
            </a:r>
            <a:r>
              <a:rPr sz="2400" dirty="0">
                <a:latin typeface="Times New Roman"/>
                <a:cs typeface="Times New Roman"/>
              </a:rPr>
              <a:t>help</a:t>
            </a:r>
            <a:r>
              <a:rPr sz="2400" spc="-40" dirty="0">
                <a:latin typeface="Times New Roman"/>
                <a:cs typeface="Times New Roman"/>
              </a:rPr>
              <a:t> </a:t>
            </a:r>
            <a:r>
              <a:rPr sz="2400" spc="-10" dirty="0">
                <a:latin typeface="Times New Roman"/>
                <a:cs typeface="Times New Roman"/>
              </a:rPr>
              <a:t>virtualization</a:t>
            </a:r>
            <a:endParaRPr sz="2400">
              <a:latin typeface="Times New Roman"/>
              <a:cs typeface="Times New Roman"/>
            </a:endParaRPr>
          </a:p>
          <a:p>
            <a:pPr marL="355600" marR="838200" indent="-342900">
              <a:lnSpc>
                <a:spcPct val="100000"/>
              </a:lnSpc>
              <a:spcBef>
                <a:spcPts val="570"/>
              </a:spcBef>
              <a:buClr>
                <a:srgbClr val="053CE8"/>
              </a:buClr>
              <a:buSzPct val="75000"/>
              <a:buFont typeface="Wingdings"/>
              <a:buChar char=""/>
              <a:tabLst>
                <a:tab pos="355600" algn="l"/>
              </a:tabLst>
            </a:pPr>
            <a:r>
              <a:rPr sz="2400" dirty="0">
                <a:latin typeface="Times New Roman"/>
                <a:cs typeface="Times New Roman"/>
              </a:rPr>
              <a:t>For</a:t>
            </a:r>
            <a:r>
              <a:rPr sz="2400" spc="-20" dirty="0">
                <a:latin typeface="Times New Roman"/>
                <a:cs typeface="Times New Roman"/>
              </a:rPr>
              <a:t> </a:t>
            </a:r>
            <a:r>
              <a:rPr sz="2400" dirty="0">
                <a:latin typeface="Times New Roman"/>
                <a:cs typeface="Times New Roman"/>
              </a:rPr>
              <a:t>example,</a:t>
            </a:r>
            <a:r>
              <a:rPr sz="2400" spc="-15" dirty="0">
                <a:latin typeface="Times New Roman"/>
                <a:cs typeface="Times New Roman"/>
              </a:rPr>
              <a:t> </a:t>
            </a:r>
            <a:r>
              <a:rPr sz="2400" dirty="0">
                <a:latin typeface="Times New Roman"/>
                <a:cs typeface="Times New Roman"/>
              </a:rPr>
              <a:t>Intel-VT</a:t>
            </a:r>
            <a:r>
              <a:rPr sz="2400" spc="-15" dirty="0">
                <a:latin typeface="Times New Roman"/>
                <a:cs typeface="Times New Roman"/>
              </a:rPr>
              <a:t> </a:t>
            </a:r>
            <a:r>
              <a:rPr sz="2400" dirty="0">
                <a:latin typeface="Times New Roman"/>
                <a:cs typeface="Times New Roman"/>
              </a:rPr>
              <a:t>and</a:t>
            </a:r>
            <a:r>
              <a:rPr sz="2400" spc="-20" dirty="0">
                <a:latin typeface="Times New Roman"/>
                <a:cs typeface="Times New Roman"/>
              </a:rPr>
              <a:t> </a:t>
            </a:r>
            <a:r>
              <a:rPr sz="2400" spc="-30" dirty="0">
                <a:latin typeface="Times New Roman"/>
                <a:cs typeface="Times New Roman"/>
              </a:rPr>
              <a:t>AMD-</a:t>
            </a:r>
            <a:r>
              <a:rPr sz="2400" dirty="0">
                <a:latin typeface="Times New Roman"/>
                <a:cs typeface="Times New Roman"/>
              </a:rPr>
              <a:t>V</a:t>
            </a:r>
            <a:r>
              <a:rPr sz="2400" spc="-15" dirty="0">
                <a:latin typeface="Times New Roman"/>
                <a:cs typeface="Times New Roman"/>
              </a:rPr>
              <a:t> </a:t>
            </a:r>
            <a:r>
              <a:rPr sz="2400" dirty="0">
                <a:latin typeface="Times New Roman"/>
                <a:cs typeface="Times New Roman"/>
              </a:rPr>
              <a:t>provide</a:t>
            </a:r>
            <a:r>
              <a:rPr sz="2400" spc="-15" dirty="0">
                <a:latin typeface="Times New Roman"/>
                <a:cs typeface="Times New Roman"/>
              </a:rPr>
              <a:t> </a:t>
            </a:r>
            <a:r>
              <a:rPr sz="2400" spc="-10" dirty="0">
                <a:latin typeface="Times New Roman"/>
                <a:cs typeface="Times New Roman"/>
              </a:rPr>
              <a:t>additional </a:t>
            </a:r>
            <a:r>
              <a:rPr sz="2400" dirty="0">
                <a:latin typeface="Times New Roman"/>
                <a:cs typeface="Times New Roman"/>
              </a:rPr>
              <a:t>instructions</a:t>
            </a:r>
            <a:r>
              <a:rPr sz="2400" spc="-35" dirty="0">
                <a:latin typeface="Times New Roman"/>
                <a:cs typeface="Times New Roman"/>
              </a:rPr>
              <a:t> </a:t>
            </a:r>
            <a:r>
              <a:rPr sz="2400" dirty="0">
                <a:latin typeface="Times New Roman"/>
                <a:cs typeface="Times New Roman"/>
              </a:rPr>
              <a:t>that</a:t>
            </a:r>
            <a:r>
              <a:rPr sz="2400" spc="-35" dirty="0">
                <a:latin typeface="Times New Roman"/>
                <a:cs typeface="Times New Roman"/>
              </a:rPr>
              <a:t> </a:t>
            </a:r>
            <a:r>
              <a:rPr sz="2400" dirty="0">
                <a:latin typeface="Times New Roman"/>
                <a:cs typeface="Times New Roman"/>
              </a:rPr>
              <a:t>help</a:t>
            </a:r>
            <a:r>
              <a:rPr sz="2400" spc="-30" dirty="0">
                <a:latin typeface="Times New Roman"/>
                <a:cs typeface="Times New Roman"/>
              </a:rPr>
              <a:t> </a:t>
            </a:r>
            <a:r>
              <a:rPr sz="2400" spc="-10" dirty="0">
                <a:latin typeface="Times New Roman"/>
                <a:cs typeface="Times New Roman"/>
              </a:rPr>
              <a:t>virtualization</a:t>
            </a:r>
            <a:endParaRPr sz="2400">
              <a:latin typeface="Times New Roman"/>
              <a:cs typeface="Times New Roman"/>
            </a:endParaRPr>
          </a:p>
          <a:p>
            <a:pPr marL="355600" marR="993775" indent="-342900">
              <a:lnSpc>
                <a:spcPct val="100000"/>
              </a:lnSpc>
              <a:spcBef>
                <a:spcPts val="560"/>
              </a:spcBef>
              <a:buClr>
                <a:srgbClr val="053CE8"/>
              </a:buClr>
              <a:buSzPct val="75000"/>
              <a:buFont typeface="Wingdings"/>
              <a:buChar char=""/>
              <a:tabLst>
                <a:tab pos="355600" algn="l"/>
              </a:tabLst>
            </a:pPr>
            <a:r>
              <a:rPr sz="2400" spc="-10" dirty="0">
                <a:latin typeface="Times New Roman"/>
                <a:cs typeface="Times New Roman"/>
              </a:rPr>
              <a:t>Hypervisors</a:t>
            </a:r>
            <a:r>
              <a:rPr sz="2400" spc="-40" dirty="0">
                <a:latin typeface="Times New Roman"/>
                <a:cs typeface="Times New Roman"/>
              </a:rPr>
              <a:t> </a:t>
            </a:r>
            <a:r>
              <a:rPr sz="2400" dirty="0">
                <a:latin typeface="Times New Roman"/>
                <a:cs typeface="Times New Roman"/>
              </a:rPr>
              <a:t>can</a:t>
            </a:r>
            <a:r>
              <a:rPr sz="2400" spc="-35" dirty="0">
                <a:latin typeface="Times New Roman"/>
                <a:cs typeface="Times New Roman"/>
              </a:rPr>
              <a:t> </a:t>
            </a:r>
            <a:r>
              <a:rPr sz="2400" dirty="0">
                <a:latin typeface="Times New Roman"/>
                <a:cs typeface="Times New Roman"/>
              </a:rPr>
              <a:t>use</a:t>
            </a:r>
            <a:r>
              <a:rPr sz="2400" spc="-35" dirty="0">
                <a:latin typeface="Times New Roman"/>
                <a:cs typeface="Times New Roman"/>
              </a:rPr>
              <a:t> </a:t>
            </a:r>
            <a:r>
              <a:rPr sz="2400" dirty="0">
                <a:latin typeface="Times New Roman"/>
                <a:cs typeface="Times New Roman"/>
              </a:rPr>
              <a:t>these</a:t>
            </a:r>
            <a:r>
              <a:rPr sz="2400" spc="-40" dirty="0">
                <a:latin typeface="Times New Roman"/>
                <a:cs typeface="Times New Roman"/>
              </a:rPr>
              <a:t> </a:t>
            </a:r>
            <a:r>
              <a:rPr sz="2400" dirty="0">
                <a:latin typeface="Times New Roman"/>
                <a:cs typeface="Times New Roman"/>
              </a:rPr>
              <a:t>instructions</a:t>
            </a:r>
            <a:r>
              <a:rPr sz="2400" spc="-35" dirty="0">
                <a:latin typeface="Times New Roman"/>
                <a:cs typeface="Times New Roman"/>
              </a:rPr>
              <a:t> </a:t>
            </a:r>
            <a:r>
              <a:rPr sz="2400" dirty="0">
                <a:latin typeface="Times New Roman"/>
                <a:cs typeface="Times New Roman"/>
              </a:rPr>
              <a:t>to</a:t>
            </a:r>
            <a:r>
              <a:rPr sz="2400" spc="-35" dirty="0">
                <a:latin typeface="Times New Roman"/>
                <a:cs typeface="Times New Roman"/>
              </a:rPr>
              <a:t> </a:t>
            </a:r>
            <a:r>
              <a:rPr sz="2400" dirty="0">
                <a:latin typeface="Times New Roman"/>
                <a:cs typeface="Times New Roman"/>
              </a:rPr>
              <a:t>improve</a:t>
            </a:r>
            <a:r>
              <a:rPr sz="2400" spc="-35" dirty="0">
                <a:latin typeface="Times New Roman"/>
                <a:cs typeface="Times New Roman"/>
              </a:rPr>
              <a:t> </a:t>
            </a:r>
            <a:r>
              <a:rPr sz="2400" spc="-25" dirty="0">
                <a:latin typeface="Times New Roman"/>
                <a:cs typeface="Times New Roman"/>
              </a:rPr>
              <a:t>the </a:t>
            </a:r>
            <a:r>
              <a:rPr sz="2400" spc="-10" dirty="0">
                <a:latin typeface="Times New Roman"/>
                <a:cs typeface="Times New Roman"/>
              </a:rPr>
              <a:t>performance</a:t>
            </a:r>
            <a:endParaRPr sz="2400">
              <a:latin typeface="Times New Roman"/>
              <a:cs typeface="Times New Roman"/>
            </a:endParaRPr>
          </a:p>
          <a:p>
            <a:pPr marL="355600" marR="5080" indent="-342900">
              <a:lnSpc>
                <a:spcPct val="100000"/>
              </a:lnSpc>
              <a:spcBef>
                <a:spcPts val="565"/>
              </a:spcBef>
              <a:buClr>
                <a:srgbClr val="053CE8"/>
              </a:buClr>
              <a:buSzPct val="75000"/>
              <a:buFont typeface="Wingdings"/>
              <a:buChar char=""/>
              <a:tabLst>
                <a:tab pos="355600" algn="l"/>
              </a:tabLst>
            </a:pPr>
            <a:r>
              <a:rPr sz="2400" dirty="0">
                <a:latin typeface="Times New Roman"/>
                <a:cs typeface="Times New Roman"/>
              </a:rPr>
              <a:t>Linux</a:t>
            </a:r>
            <a:r>
              <a:rPr sz="2400" spc="-15" dirty="0">
                <a:latin typeface="Times New Roman"/>
                <a:cs typeface="Times New Roman"/>
              </a:rPr>
              <a:t> </a:t>
            </a:r>
            <a:r>
              <a:rPr sz="2400" dirty="0">
                <a:latin typeface="Times New Roman"/>
                <a:cs typeface="Times New Roman"/>
              </a:rPr>
              <a:t>KVM,</a:t>
            </a:r>
            <a:r>
              <a:rPr sz="2400" spc="-15" dirty="0">
                <a:latin typeface="Times New Roman"/>
                <a:cs typeface="Times New Roman"/>
              </a:rPr>
              <a:t> </a:t>
            </a:r>
            <a:r>
              <a:rPr sz="2400" dirty="0">
                <a:latin typeface="Times New Roman"/>
                <a:cs typeface="Times New Roman"/>
              </a:rPr>
              <a:t>Microsoft</a:t>
            </a:r>
            <a:r>
              <a:rPr sz="2400" spc="-15" dirty="0">
                <a:latin typeface="Times New Roman"/>
                <a:cs typeface="Times New Roman"/>
              </a:rPr>
              <a:t> </a:t>
            </a:r>
            <a:r>
              <a:rPr sz="2400" spc="-20" dirty="0">
                <a:latin typeface="Times New Roman"/>
                <a:cs typeface="Times New Roman"/>
              </a:rPr>
              <a:t>Hyper-</a:t>
            </a:r>
            <a:r>
              <a:rPr sz="2400" dirty="0">
                <a:latin typeface="Times New Roman"/>
                <a:cs typeface="Times New Roman"/>
              </a:rPr>
              <a:t>V,</a:t>
            </a:r>
            <a:r>
              <a:rPr sz="2400" spc="-15" dirty="0">
                <a:latin typeface="Times New Roman"/>
                <a:cs typeface="Times New Roman"/>
              </a:rPr>
              <a:t> </a:t>
            </a:r>
            <a:r>
              <a:rPr sz="2400" dirty="0">
                <a:latin typeface="Times New Roman"/>
                <a:cs typeface="Times New Roman"/>
              </a:rPr>
              <a:t>Microsoft</a:t>
            </a:r>
            <a:r>
              <a:rPr sz="2400" spc="-15" dirty="0">
                <a:latin typeface="Times New Roman"/>
                <a:cs typeface="Times New Roman"/>
              </a:rPr>
              <a:t> </a:t>
            </a:r>
            <a:r>
              <a:rPr sz="2400" dirty="0">
                <a:latin typeface="Times New Roman"/>
                <a:cs typeface="Times New Roman"/>
              </a:rPr>
              <a:t>Virtual</a:t>
            </a:r>
            <a:r>
              <a:rPr sz="2400" spc="-15" dirty="0">
                <a:latin typeface="Times New Roman"/>
                <a:cs typeface="Times New Roman"/>
              </a:rPr>
              <a:t> </a:t>
            </a:r>
            <a:r>
              <a:rPr sz="2400" dirty="0">
                <a:latin typeface="Times New Roman"/>
                <a:cs typeface="Times New Roman"/>
              </a:rPr>
              <a:t>PC,</a:t>
            </a:r>
            <a:r>
              <a:rPr sz="2400" spc="-15" dirty="0">
                <a:latin typeface="Times New Roman"/>
                <a:cs typeface="Times New Roman"/>
              </a:rPr>
              <a:t> </a:t>
            </a:r>
            <a:r>
              <a:rPr sz="2400" spc="-20" dirty="0">
                <a:latin typeface="Times New Roman"/>
                <a:cs typeface="Times New Roman"/>
              </a:rPr>
              <a:t>Xen, </a:t>
            </a:r>
            <a:r>
              <a:rPr sz="2400" dirty="0">
                <a:latin typeface="Times New Roman"/>
                <a:cs typeface="Times New Roman"/>
              </a:rPr>
              <a:t>etc.</a:t>
            </a:r>
            <a:r>
              <a:rPr sz="2400" spc="-35" dirty="0">
                <a:latin typeface="Times New Roman"/>
                <a:cs typeface="Times New Roman"/>
              </a:rPr>
              <a:t> </a:t>
            </a:r>
            <a:r>
              <a:rPr sz="2400" dirty="0">
                <a:latin typeface="Times New Roman"/>
                <a:cs typeface="Times New Roman"/>
              </a:rPr>
              <a:t>use</a:t>
            </a:r>
            <a:r>
              <a:rPr sz="2400" spc="-30" dirty="0">
                <a:latin typeface="Times New Roman"/>
                <a:cs typeface="Times New Roman"/>
              </a:rPr>
              <a:t> </a:t>
            </a:r>
            <a:r>
              <a:rPr sz="2400" dirty="0">
                <a:latin typeface="Times New Roman"/>
                <a:cs typeface="Times New Roman"/>
              </a:rPr>
              <a:t>these</a:t>
            </a:r>
            <a:r>
              <a:rPr sz="2400" spc="-30" dirty="0">
                <a:latin typeface="Times New Roman"/>
                <a:cs typeface="Times New Roman"/>
              </a:rPr>
              <a:t> </a:t>
            </a:r>
            <a:r>
              <a:rPr sz="2400" spc="-10" dirty="0">
                <a:latin typeface="Times New Roman"/>
                <a:cs typeface="Times New Roman"/>
              </a:rPr>
              <a:t>features</a:t>
            </a:r>
            <a:endParaRPr sz="2400">
              <a:latin typeface="Times New Roman"/>
              <a:cs typeface="Times New Roman"/>
            </a:endParaRPr>
          </a:p>
        </p:txBody>
      </p:sp>
      <p:sp>
        <p:nvSpPr>
          <p:cNvPr id="8" name="Slide Number Placeholder 7">
            <a:extLst>
              <a:ext uri="{FF2B5EF4-FFF2-40B4-BE49-F238E27FC236}">
                <a16:creationId xmlns:a16="http://schemas.microsoft.com/office/drawing/2014/main" id="{5C4C698B-DA13-3766-3098-22C56BDE47DC}"/>
              </a:ext>
            </a:extLst>
          </p:cNvPr>
          <p:cNvSpPr>
            <a:spLocks noGrp="1"/>
          </p:cNvSpPr>
          <p:nvPr>
            <p:ph type="sldNum" sz="quarter" idx="7"/>
          </p:nvPr>
        </p:nvSpPr>
        <p:spPr>
          <a:xfrm>
            <a:off x="4800600" y="6580502"/>
            <a:ext cx="1180466" cy="277498"/>
          </a:xfrm>
        </p:spPr>
        <p:txBody>
          <a:bodyPr/>
          <a:lstStyle/>
          <a:p>
            <a:pPr marL="12700">
              <a:lnSpc>
                <a:spcPts val="2065"/>
              </a:lnSpc>
            </a:pPr>
            <a:fld id="{81D60167-4931-47E6-BA6A-407CBD079E47}" type="slidenum">
              <a:rPr spc="-50" smtClean="0"/>
              <a:t>17</a:t>
            </a:fld>
            <a:endParaRPr spc="-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569085">
              <a:lnSpc>
                <a:spcPct val="100000"/>
              </a:lnSpc>
              <a:spcBef>
                <a:spcPts val="100"/>
              </a:spcBef>
            </a:pPr>
            <a:r>
              <a:rPr dirty="0"/>
              <a:t>Parallel</a:t>
            </a:r>
            <a:r>
              <a:rPr spc="-45" dirty="0"/>
              <a:t> </a:t>
            </a:r>
            <a:r>
              <a:rPr dirty="0"/>
              <a:t>Virtual</a:t>
            </a:r>
            <a:r>
              <a:rPr spc="-40" dirty="0"/>
              <a:t> </a:t>
            </a:r>
            <a:r>
              <a:rPr spc="-10" dirty="0"/>
              <a:t>Machines</a:t>
            </a:r>
          </a:p>
        </p:txBody>
      </p:sp>
      <p:sp>
        <p:nvSpPr>
          <p:cNvPr id="3" name="object 3"/>
          <p:cNvSpPr txBox="1"/>
          <p:nvPr/>
        </p:nvSpPr>
        <p:spPr>
          <a:xfrm>
            <a:off x="457454" y="1243838"/>
            <a:ext cx="7822565" cy="1704975"/>
          </a:xfrm>
          <a:prstGeom prst="rect">
            <a:avLst/>
          </a:prstGeom>
        </p:spPr>
        <p:txBody>
          <a:bodyPr vert="horz" wrap="square" lIns="0" tIns="85090" rIns="0" bIns="0" rtlCol="0">
            <a:spAutoFit/>
          </a:bodyPr>
          <a:lstStyle/>
          <a:p>
            <a:pPr marL="354965" indent="-342265">
              <a:lnSpc>
                <a:spcPct val="100000"/>
              </a:lnSpc>
              <a:spcBef>
                <a:spcPts val="670"/>
              </a:spcBef>
              <a:buClr>
                <a:srgbClr val="053CE8"/>
              </a:buClr>
              <a:buSzPct val="75000"/>
              <a:buFont typeface="Wingdings"/>
              <a:buChar char=""/>
              <a:tabLst>
                <a:tab pos="354965" algn="l"/>
              </a:tabLst>
            </a:pPr>
            <a:r>
              <a:rPr sz="2400" dirty="0">
                <a:latin typeface="Times New Roman"/>
                <a:cs typeface="Times New Roman"/>
              </a:rPr>
              <a:t>One</a:t>
            </a:r>
            <a:r>
              <a:rPr sz="2400" spc="-50" dirty="0">
                <a:latin typeface="Times New Roman"/>
                <a:cs typeface="Times New Roman"/>
              </a:rPr>
              <a:t> </a:t>
            </a:r>
            <a:r>
              <a:rPr sz="2400" dirty="0">
                <a:latin typeface="Times New Roman"/>
                <a:cs typeface="Times New Roman"/>
              </a:rPr>
              <a:t>computing</a:t>
            </a:r>
            <a:r>
              <a:rPr sz="2400" spc="-40" dirty="0">
                <a:latin typeface="Times New Roman"/>
                <a:cs typeface="Times New Roman"/>
              </a:rPr>
              <a:t> </a:t>
            </a:r>
            <a:r>
              <a:rPr sz="2400" dirty="0">
                <a:latin typeface="Times New Roman"/>
                <a:cs typeface="Times New Roman"/>
              </a:rPr>
              <a:t>environment</a:t>
            </a:r>
            <a:r>
              <a:rPr sz="2400" spc="-40" dirty="0">
                <a:latin typeface="Times New Roman"/>
                <a:cs typeface="Times New Roman"/>
              </a:rPr>
              <a:t> </a:t>
            </a:r>
            <a:r>
              <a:rPr sz="2400" dirty="0">
                <a:latin typeface="Times New Roman"/>
                <a:cs typeface="Times New Roman"/>
              </a:rPr>
              <a:t>running</a:t>
            </a:r>
            <a:r>
              <a:rPr sz="2400" spc="-40" dirty="0">
                <a:latin typeface="Times New Roman"/>
                <a:cs typeface="Times New Roman"/>
              </a:rPr>
              <a:t> </a:t>
            </a:r>
            <a:r>
              <a:rPr sz="2400" dirty="0">
                <a:latin typeface="Times New Roman"/>
                <a:cs typeface="Times New Roman"/>
              </a:rPr>
              <a:t>on</a:t>
            </a:r>
            <a:r>
              <a:rPr sz="2400" spc="-40" dirty="0">
                <a:latin typeface="Times New Roman"/>
                <a:cs typeface="Times New Roman"/>
              </a:rPr>
              <a:t> </a:t>
            </a:r>
            <a:r>
              <a:rPr sz="2400" dirty="0">
                <a:latin typeface="Times New Roman"/>
                <a:cs typeface="Times New Roman"/>
              </a:rPr>
              <a:t>multiple</a:t>
            </a:r>
            <a:r>
              <a:rPr sz="2400" spc="-40" dirty="0">
                <a:latin typeface="Times New Roman"/>
                <a:cs typeface="Times New Roman"/>
              </a:rPr>
              <a:t> </a:t>
            </a:r>
            <a:r>
              <a:rPr sz="2400" spc="-10" dirty="0">
                <a:latin typeface="Times New Roman"/>
                <a:cs typeface="Times New Roman"/>
              </a:rPr>
              <a:t>computers</a:t>
            </a:r>
            <a:endParaRPr sz="2400">
              <a:latin typeface="Times New Roman"/>
              <a:cs typeface="Times New Roman"/>
            </a:endParaRPr>
          </a:p>
          <a:p>
            <a:pPr marL="355600" marR="5080" indent="-342900">
              <a:lnSpc>
                <a:spcPct val="100000"/>
              </a:lnSpc>
              <a:spcBef>
                <a:spcPts val="570"/>
              </a:spcBef>
              <a:buClr>
                <a:srgbClr val="053CE8"/>
              </a:buClr>
              <a:buSzPct val="75000"/>
              <a:buFont typeface="Wingdings"/>
              <a:buChar char=""/>
              <a:tabLst>
                <a:tab pos="355600" algn="l"/>
              </a:tabLst>
            </a:pPr>
            <a:r>
              <a:rPr sz="2400" dirty="0">
                <a:latin typeface="Times New Roman"/>
                <a:cs typeface="Times New Roman"/>
              </a:rPr>
              <a:t>PVM</a:t>
            </a:r>
            <a:r>
              <a:rPr sz="2400" spc="-30" dirty="0">
                <a:latin typeface="Times New Roman"/>
                <a:cs typeface="Times New Roman"/>
              </a:rPr>
              <a:t> </a:t>
            </a:r>
            <a:r>
              <a:rPr sz="2400" dirty="0">
                <a:latin typeface="Times New Roman"/>
                <a:cs typeface="Times New Roman"/>
              </a:rPr>
              <a:t>is</a:t>
            </a:r>
            <a:r>
              <a:rPr sz="2400" spc="-25" dirty="0">
                <a:latin typeface="Times New Roman"/>
                <a:cs typeface="Times New Roman"/>
              </a:rPr>
              <a:t> </a:t>
            </a:r>
            <a:r>
              <a:rPr sz="2400" dirty="0">
                <a:latin typeface="Times New Roman"/>
                <a:cs typeface="Times New Roman"/>
              </a:rPr>
              <a:t>also</a:t>
            </a:r>
            <a:r>
              <a:rPr sz="2400" spc="-2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name</a:t>
            </a:r>
            <a:r>
              <a:rPr sz="2400" spc="-25"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dirty="0">
                <a:latin typeface="Times New Roman"/>
                <a:cs typeface="Times New Roman"/>
              </a:rPr>
              <a:t>an</a:t>
            </a:r>
            <a:r>
              <a:rPr sz="2400" spc="-25" dirty="0">
                <a:latin typeface="Times New Roman"/>
                <a:cs typeface="Times New Roman"/>
              </a:rPr>
              <a:t> </a:t>
            </a:r>
            <a:r>
              <a:rPr sz="2400" dirty="0">
                <a:latin typeface="Times New Roman"/>
                <a:cs typeface="Times New Roman"/>
              </a:rPr>
              <a:t>open</a:t>
            </a:r>
            <a:r>
              <a:rPr sz="2400" spc="-30" dirty="0">
                <a:latin typeface="Times New Roman"/>
                <a:cs typeface="Times New Roman"/>
              </a:rPr>
              <a:t> </a:t>
            </a:r>
            <a:r>
              <a:rPr sz="2400" dirty="0">
                <a:latin typeface="Times New Roman"/>
                <a:cs typeface="Times New Roman"/>
              </a:rPr>
              <a:t>source</a:t>
            </a:r>
            <a:r>
              <a:rPr sz="2400" spc="-25" dirty="0">
                <a:latin typeface="Times New Roman"/>
                <a:cs typeface="Times New Roman"/>
              </a:rPr>
              <a:t> </a:t>
            </a:r>
            <a:r>
              <a:rPr sz="2400" dirty="0">
                <a:latin typeface="Times New Roman"/>
                <a:cs typeface="Times New Roman"/>
              </a:rPr>
              <a:t>software</a:t>
            </a:r>
            <a:r>
              <a:rPr sz="2400" spc="-25" dirty="0">
                <a:latin typeface="Times New Roman"/>
                <a:cs typeface="Times New Roman"/>
              </a:rPr>
              <a:t> </a:t>
            </a:r>
            <a:r>
              <a:rPr sz="2400" dirty="0">
                <a:latin typeface="Times New Roman"/>
                <a:cs typeface="Times New Roman"/>
              </a:rPr>
              <a:t>that</a:t>
            </a:r>
            <a:r>
              <a:rPr sz="2400" spc="-25" dirty="0">
                <a:latin typeface="Times New Roman"/>
                <a:cs typeface="Times New Roman"/>
              </a:rPr>
              <a:t> </a:t>
            </a:r>
            <a:r>
              <a:rPr sz="2400" spc="-10" dirty="0">
                <a:latin typeface="Times New Roman"/>
                <a:cs typeface="Times New Roman"/>
              </a:rPr>
              <a:t>allows </a:t>
            </a:r>
            <a:r>
              <a:rPr sz="2400" dirty="0">
                <a:latin typeface="Times New Roman"/>
                <a:cs typeface="Times New Roman"/>
              </a:rPr>
              <a:t>running</a:t>
            </a:r>
            <a:r>
              <a:rPr sz="2400" spc="-35" dirty="0">
                <a:latin typeface="Times New Roman"/>
                <a:cs typeface="Times New Roman"/>
              </a:rPr>
              <a:t> </a:t>
            </a:r>
            <a:r>
              <a:rPr sz="2400" dirty="0">
                <a:latin typeface="Times New Roman"/>
                <a:cs typeface="Times New Roman"/>
              </a:rPr>
              <a:t>a</a:t>
            </a:r>
            <a:r>
              <a:rPr sz="2400" spc="-25" dirty="0">
                <a:latin typeface="Times New Roman"/>
                <a:cs typeface="Times New Roman"/>
              </a:rPr>
              <a:t> </a:t>
            </a:r>
            <a:r>
              <a:rPr sz="2400" dirty="0">
                <a:latin typeface="Times New Roman"/>
                <a:cs typeface="Times New Roman"/>
              </a:rPr>
              <a:t>program</a:t>
            </a:r>
            <a:r>
              <a:rPr sz="2400" spc="-25" dirty="0">
                <a:latin typeface="Times New Roman"/>
                <a:cs typeface="Times New Roman"/>
              </a:rPr>
              <a:t> </a:t>
            </a:r>
            <a:r>
              <a:rPr sz="2400" dirty="0">
                <a:latin typeface="Times New Roman"/>
                <a:cs typeface="Times New Roman"/>
              </a:rPr>
              <a:t>in</a:t>
            </a:r>
            <a:r>
              <a:rPr sz="2400" spc="-25" dirty="0">
                <a:latin typeface="Times New Roman"/>
                <a:cs typeface="Times New Roman"/>
              </a:rPr>
              <a:t> </a:t>
            </a:r>
            <a:r>
              <a:rPr sz="2400" dirty="0">
                <a:latin typeface="Times New Roman"/>
                <a:cs typeface="Times New Roman"/>
              </a:rPr>
              <a:t>parallel</a:t>
            </a:r>
            <a:r>
              <a:rPr sz="2400" spc="-25" dirty="0">
                <a:latin typeface="Times New Roman"/>
                <a:cs typeface="Times New Roman"/>
              </a:rPr>
              <a:t> </a:t>
            </a:r>
            <a:r>
              <a:rPr sz="2400" dirty="0">
                <a:latin typeface="Times New Roman"/>
                <a:cs typeface="Times New Roman"/>
              </a:rPr>
              <a:t>on</a:t>
            </a:r>
            <a:r>
              <a:rPr sz="2400" spc="-25" dirty="0">
                <a:latin typeface="Times New Roman"/>
                <a:cs typeface="Times New Roman"/>
              </a:rPr>
              <a:t> </a:t>
            </a:r>
            <a:r>
              <a:rPr sz="2400" dirty="0">
                <a:latin typeface="Times New Roman"/>
                <a:cs typeface="Times New Roman"/>
              </a:rPr>
              <a:t>multiple</a:t>
            </a:r>
            <a:r>
              <a:rPr sz="2400" spc="-25" dirty="0">
                <a:latin typeface="Times New Roman"/>
                <a:cs typeface="Times New Roman"/>
              </a:rPr>
              <a:t> </a:t>
            </a:r>
            <a:r>
              <a:rPr sz="2400" spc="-10" dirty="0">
                <a:latin typeface="Times New Roman"/>
                <a:cs typeface="Times New Roman"/>
              </a:rPr>
              <a:t>machines</a:t>
            </a:r>
            <a:endParaRPr sz="2400">
              <a:latin typeface="Times New Roman"/>
              <a:cs typeface="Times New Roman"/>
            </a:endParaRPr>
          </a:p>
          <a:p>
            <a:pPr marL="354965" indent="-342265">
              <a:lnSpc>
                <a:spcPct val="100000"/>
              </a:lnSpc>
              <a:spcBef>
                <a:spcPts val="560"/>
              </a:spcBef>
              <a:buClr>
                <a:srgbClr val="053CE8"/>
              </a:buClr>
              <a:buSzPct val="75000"/>
              <a:buFont typeface="Wingdings"/>
              <a:buChar char=""/>
              <a:tabLst>
                <a:tab pos="354965" algn="l"/>
              </a:tabLst>
            </a:pPr>
            <a:r>
              <a:rPr sz="2400" dirty="0">
                <a:latin typeface="Times New Roman"/>
                <a:cs typeface="Times New Roman"/>
              </a:rPr>
              <a:t>Now</a:t>
            </a:r>
            <a:r>
              <a:rPr sz="2400" spc="-35" dirty="0">
                <a:latin typeface="Times New Roman"/>
                <a:cs typeface="Times New Roman"/>
              </a:rPr>
              <a:t> </a:t>
            </a:r>
            <a:r>
              <a:rPr sz="2400" dirty="0">
                <a:latin typeface="Times New Roman"/>
                <a:cs typeface="Times New Roman"/>
              </a:rPr>
              <a:t>grid</a:t>
            </a:r>
            <a:r>
              <a:rPr sz="2400" spc="-35" dirty="0">
                <a:latin typeface="Times New Roman"/>
                <a:cs typeface="Times New Roman"/>
              </a:rPr>
              <a:t> </a:t>
            </a:r>
            <a:r>
              <a:rPr sz="2400" dirty="0">
                <a:latin typeface="Times New Roman"/>
                <a:cs typeface="Times New Roman"/>
              </a:rPr>
              <a:t>computing</a:t>
            </a:r>
            <a:r>
              <a:rPr sz="2400" spc="-35" dirty="0">
                <a:latin typeface="Times New Roman"/>
                <a:cs typeface="Times New Roman"/>
              </a:rPr>
              <a:t> </a:t>
            </a:r>
            <a:r>
              <a:rPr sz="2400" dirty="0">
                <a:latin typeface="Times New Roman"/>
                <a:cs typeface="Times New Roman"/>
              </a:rPr>
              <a:t>and</a:t>
            </a:r>
            <a:r>
              <a:rPr sz="2400" spc="-35" dirty="0">
                <a:latin typeface="Times New Roman"/>
                <a:cs typeface="Times New Roman"/>
              </a:rPr>
              <a:t> </a:t>
            </a:r>
            <a:r>
              <a:rPr sz="2400" dirty="0">
                <a:latin typeface="Times New Roman"/>
                <a:cs typeface="Times New Roman"/>
              </a:rPr>
              <a:t>cluster</a:t>
            </a:r>
            <a:r>
              <a:rPr sz="2400" spc="-35" dirty="0">
                <a:latin typeface="Times New Roman"/>
                <a:cs typeface="Times New Roman"/>
              </a:rPr>
              <a:t> </a:t>
            </a:r>
            <a:r>
              <a:rPr sz="2400" dirty="0">
                <a:latin typeface="Times New Roman"/>
                <a:cs typeface="Times New Roman"/>
              </a:rPr>
              <a:t>computing</a:t>
            </a:r>
            <a:r>
              <a:rPr sz="2400" spc="-35" dirty="0">
                <a:latin typeface="Times New Roman"/>
                <a:cs typeface="Times New Roman"/>
              </a:rPr>
              <a:t> </a:t>
            </a:r>
            <a:r>
              <a:rPr sz="2400" dirty="0">
                <a:latin typeface="Times New Roman"/>
                <a:cs typeface="Times New Roman"/>
              </a:rPr>
              <a:t>is</a:t>
            </a:r>
            <a:r>
              <a:rPr sz="2400" spc="-35" dirty="0">
                <a:latin typeface="Times New Roman"/>
                <a:cs typeface="Times New Roman"/>
              </a:rPr>
              <a:t> </a:t>
            </a:r>
            <a:r>
              <a:rPr sz="2400" dirty="0">
                <a:latin typeface="Times New Roman"/>
                <a:cs typeface="Times New Roman"/>
              </a:rPr>
              <a:t>generally</a:t>
            </a:r>
            <a:r>
              <a:rPr sz="2400" spc="-35" dirty="0">
                <a:latin typeface="Times New Roman"/>
                <a:cs typeface="Times New Roman"/>
              </a:rPr>
              <a:t> </a:t>
            </a:r>
            <a:r>
              <a:rPr sz="2400" spc="-20" dirty="0">
                <a:latin typeface="Times New Roman"/>
                <a:cs typeface="Times New Roman"/>
              </a:rPr>
              <a:t>used</a:t>
            </a:r>
            <a:endParaRPr sz="2400">
              <a:latin typeface="Times New Roman"/>
              <a:cs typeface="Times New Roman"/>
            </a:endParaRPr>
          </a:p>
        </p:txBody>
      </p:sp>
      <p:sp>
        <p:nvSpPr>
          <p:cNvPr id="8" name="Slide Number Placeholder 7">
            <a:extLst>
              <a:ext uri="{FF2B5EF4-FFF2-40B4-BE49-F238E27FC236}">
                <a16:creationId xmlns:a16="http://schemas.microsoft.com/office/drawing/2014/main" id="{F7EF0F18-73D7-CA70-A39A-95DCBCEB51A0}"/>
              </a:ext>
            </a:extLst>
          </p:cNvPr>
          <p:cNvSpPr>
            <a:spLocks noGrp="1"/>
          </p:cNvSpPr>
          <p:nvPr>
            <p:ph type="sldNum" sz="quarter" idx="7"/>
          </p:nvPr>
        </p:nvSpPr>
        <p:spPr>
          <a:xfrm>
            <a:off x="4330700" y="6579869"/>
            <a:ext cx="850900" cy="269304"/>
          </a:xfrm>
        </p:spPr>
        <p:txBody>
          <a:bodyPr/>
          <a:lstStyle/>
          <a:p>
            <a:pPr marL="12700">
              <a:lnSpc>
                <a:spcPts val="2065"/>
              </a:lnSpc>
            </a:pPr>
            <a:fld id="{81D60167-4931-47E6-BA6A-407CBD079E47}" type="slidenum">
              <a:rPr spc="-50" smtClean="0"/>
              <a:t>18</a:t>
            </a:fld>
            <a:endParaRPr spc="-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2305685">
              <a:lnSpc>
                <a:spcPct val="100000"/>
              </a:lnSpc>
              <a:spcBef>
                <a:spcPts val="100"/>
              </a:spcBef>
            </a:pPr>
            <a:r>
              <a:rPr spc="-10" dirty="0"/>
              <a:t>Paravirtualization</a:t>
            </a:r>
          </a:p>
        </p:txBody>
      </p:sp>
      <p:sp>
        <p:nvSpPr>
          <p:cNvPr id="3" name="object 3"/>
          <p:cNvSpPr txBox="1"/>
          <p:nvPr/>
        </p:nvSpPr>
        <p:spPr>
          <a:xfrm>
            <a:off x="457454" y="1316228"/>
            <a:ext cx="7947025" cy="2727325"/>
          </a:xfrm>
          <a:prstGeom prst="rect">
            <a:avLst/>
          </a:prstGeom>
        </p:spPr>
        <p:txBody>
          <a:bodyPr vert="horz" wrap="square" lIns="0" tIns="12700" rIns="0" bIns="0" rtlCol="0">
            <a:spAutoFit/>
          </a:bodyPr>
          <a:lstStyle/>
          <a:p>
            <a:pPr marL="354965" marR="5080" indent="-342900">
              <a:lnSpc>
                <a:spcPct val="100000"/>
              </a:lnSpc>
              <a:spcBef>
                <a:spcPts val="100"/>
              </a:spcBef>
              <a:buClr>
                <a:srgbClr val="053CE8"/>
              </a:buClr>
              <a:buSzPct val="75000"/>
              <a:buFont typeface="Wingdings"/>
              <a:buChar char=""/>
              <a:tabLst>
                <a:tab pos="354965" algn="l"/>
              </a:tabLst>
            </a:pPr>
            <a:r>
              <a:rPr sz="2400" spc="-10" dirty="0">
                <a:latin typeface="Times New Roman"/>
                <a:cs typeface="Times New Roman"/>
              </a:rPr>
              <a:t>Hypervisor</a:t>
            </a:r>
            <a:r>
              <a:rPr sz="2400" spc="-50" dirty="0">
                <a:latin typeface="Times New Roman"/>
                <a:cs typeface="Times New Roman"/>
              </a:rPr>
              <a:t> </a:t>
            </a:r>
            <a:r>
              <a:rPr sz="2400" dirty="0">
                <a:latin typeface="Times New Roman"/>
                <a:cs typeface="Times New Roman"/>
              </a:rPr>
              <a:t>offers</a:t>
            </a:r>
            <a:r>
              <a:rPr sz="2400" spc="-45" dirty="0">
                <a:latin typeface="Times New Roman"/>
                <a:cs typeface="Times New Roman"/>
              </a:rPr>
              <a:t> </a:t>
            </a:r>
            <a:r>
              <a:rPr sz="2400" dirty="0">
                <a:latin typeface="Times New Roman"/>
                <a:cs typeface="Times New Roman"/>
              </a:rPr>
              <a:t>special</a:t>
            </a:r>
            <a:r>
              <a:rPr sz="2400" spc="-50" dirty="0">
                <a:latin typeface="Times New Roman"/>
                <a:cs typeface="Times New Roman"/>
              </a:rPr>
              <a:t> </a:t>
            </a:r>
            <a:r>
              <a:rPr sz="2400" dirty="0">
                <a:latin typeface="Times New Roman"/>
                <a:cs typeface="Times New Roman"/>
              </a:rPr>
              <a:t>APIs</a:t>
            </a:r>
            <a:r>
              <a:rPr sz="2400" spc="-45" dirty="0">
                <a:latin typeface="Times New Roman"/>
                <a:cs typeface="Times New Roman"/>
              </a:rPr>
              <a:t> </a:t>
            </a:r>
            <a:r>
              <a:rPr sz="2400" dirty="0">
                <a:latin typeface="Times New Roman"/>
                <a:cs typeface="Times New Roman"/>
              </a:rPr>
              <a:t>for</a:t>
            </a:r>
            <a:r>
              <a:rPr sz="2400" spc="-45" dirty="0">
                <a:latin typeface="Times New Roman"/>
                <a:cs typeface="Times New Roman"/>
              </a:rPr>
              <a:t> </a:t>
            </a:r>
            <a:r>
              <a:rPr sz="2400" dirty="0">
                <a:latin typeface="Times New Roman"/>
                <a:cs typeface="Times New Roman"/>
              </a:rPr>
              <a:t>operations</a:t>
            </a:r>
            <a:r>
              <a:rPr sz="2400" spc="-50" dirty="0">
                <a:latin typeface="Times New Roman"/>
                <a:cs typeface="Times New Roman"/>
              </a:rPr>
              <a:t> </a:t>
            </a:r>
            <a:r>
              <a:rPr sz="2400" dirty="0">
                <a:latin typeface="Times New Roman"/>
                <a:cs typeface="Times New Roman"/>
              </a:rPr>
              <a:t>that</a:t>
            </a:r>
            <a:r>
              <a:rPr sz="2400" spc="-45" dirty="0">
                <a:latin typeface="Times New Roman"/>
                <a:cs typeface="Times New Roman"/>
              </a:rPr>
              <a:t> </a:t>
            </a:r>
            <a:r>
              <a:rPr sz="2400" dirty="0">
                <a:latin typeface="Times New Roman"/>
                <a:cs typeface="Times New Roman"/>
              </a:rPr>
              <a:t>are</a:t>
            </a:r>
            <a:r>
              <a:rPr sz="2400" spc="-50" dirty="0">
                <a:latin typeface="Times New Roman"/>
                <a:cs typeface="Times New Roman"/>
              </a:rPr>
              <a:t> </a:t>
            </a:r>
            <a:r>
              <a:rPr sz="2400" spc="-10" dirty="0">
                <a:latin typeface="Times New Roman"/>
                <a:cs typeface="Times New Roman"/>
              </a:rPr>
              <a:t>difficult </a:t>
            </a:r>
            <a:r>
              <a:rPr sz="2400" dirty="0">
                <a:latin typeface="Times New Roman"/>
                <a:cs typeface="Times New Roman"/>
              </a:rPr>
              <a:t>to</a:t>
            </a:r>
            <a:r>
              <a:rPr sz="2400" spc="-25" dirty="0">
                <a:latin typeface="Times New Roman"/>
                <a:cs typeface="Times New Roman"/>
              </a:rPr>
              <a:t> </a:t>
            </a:r>
            <a:r>
              <a:rPr sz="2400" dirty="0">
                <a:latin typeface="Times New Roman"/>
                <a:cs typeface="Times New Roman"/>
              </a:rPr>
              <a:t>run</a:t>
            </a:r>
            <a:r>
              <a:rPr sz="2400" spc="-20" dirty="0">
                <a:latin typeface="Times New Roman"/>
                <a:cs typeface="Times New Roman"/>
              </a:rPr>
              <a:t> </a:t>
            </a:r>
            <a:r>
              <a:rPr sz="2400" dirty="0">
                <a:latin typeface="Times New Roman"/>
                <a:cs typeface="Times New Roman"/>
              </a:rPr>
              <a:t>in</a:t>
            </a:r>
            <a:r>
              <a:rPr sz="2400" spc="-20" dirty="0">
                <a:latin typeface="Times New Roman"/>
                <a:cs typeface="Times New Roman"/>
              </a:rPr>
              <a:t> </a:t>
            </a:r>
            <a:r>
              <a:rPr sz="2400" dirty="0">
                <a:latin typeface="Times New Roman"/>
                <a:cs typeface="Times New Roman"/>
              </a:rPr>
              <a:t>a</a:t>
            </a:r>
            <a:r>
              <a:rPr sz="2400" spc="-25" dirty="0">
                <a:latin typeface="Times New Roman"/>
                <a:cs typeface="Times New Roman"/>
              </a:rPr>
              <a:t> </a:t>
            </a:r>
            <a:r>
              <a:rPr sz="2400" dirty="0">
                <a:latin typeface="Times New Roman"/>
                <a:cs typeface="Times New Roman"/>
              </a:rPr>
              <a:t>virtual</a:t>
            </a:r>
            <a:r>
              <a:rPr sz="2400" spc="-20" dirty="0">
                <a:latin typeface="Times New Roman"/>
                <a:cs typeface="Times New Roman"/>
              </a:rPr>
              <a:t> </a:t>
            </a:r>
            <a:r>
              <a:rPr sz="2400" spc="-10" dirty="0">
                <a:latin typeface="Times New Roman"/>
                <a:cs typeface="Times New Roman"/>
              </a:rPr>
              <a:t>environment</a:t>
            </a:r>
            <a:endParaRPr sz="2400">
              <a:latin typeface="Times New Roman"/>
              <a:cs typeface="Times New Roman"/>
            </a:endParaRPr>
          </a:p>
          <a:p>
            <a:pPr marL="354965" marR="2510155" indent="-342900">
              <a:lnSpc>
                <a:spcPct val="100000"/>
              </a:lnSpc>
              <a:spcBef>
                <a:spcPts val="560"/>
              </a:spcBef>
              <a:buClr>
                <a:srgbClr val="053CE8"/>
              </a:buClr>
              <a:buSzPct val="75000"/>
              <a:buFont typeface="Wingdings"/>
              <a:buChar char=""/>
              <a:tabLst>
                <a:tab pos="354965" algn="l"/>
                <a:tab pos="3678554" algn="l"/>
              </a:tabLst>
            </a:pPr>
            <a:r>
              <a:rPr sz="2400" dirty="0">
                <a:latin typeface="Times New Roman"/>
                <a:cs typeface="Times New Roman"/>
              </a:rPr>
              <a:t>Requires</a:t>
            </a:r>
            <a:r>
              <a:rPr sz="2400" spc="-35" dirty="0">
                <a:latin typeface="Times New Roman"/>
                <a:cs typeface="Times New Roman"/>
              </a:rPr>
              <a:t> </a:t>
            </a:r>
            <a:r>
              <a:rPr sz="2400" dirty="0">
                <a:latin typeface="Times New Roman"/>
                <a:cs typeface="Times New Roman"/>
              </a:rPr>
              <a:t>modifying</a:t>
            </a:r>
            <a:r>
              <a:rPr sz="2400" spc="-30"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guest</a:t>
            </a:r>
            <a:r>
              <a:rPr sz="2400" spc="-30" dirty="0">
                <a:latin typeface="Times New Roman"/>
                <a:cs typeface="Times New Roman"/>
              </a:rPr>
              <a:t> </a:t>
            </a:r>
            <a:r>
              <a:rPr sz="2400" spc="-25" dirty="0">
                <a:latin typeface="Times New Roman"/>
                <a:cs typeface="Times New Roman"/>
              </a:rPr>
              <a:t>OS. </a:t>
            </a:r>
            <a:r>
              <a:rPr sz="2400" dirty="0">
                <a:latin typeface="Times New Roman"/>
                <a:cs typeface="Times New Roman"/>
              </a:rPr>
              <a:t>Requires</a:t>
            </a:r>
            <a:r>
              <a:rPr sz="2400" spc="-20" dirty="0">
                <a:latin typeface="Times New Roman"/>
                <a:cs typeface="Times New Roman"/>
              </a:rPr>
              <a:t> </a:t>
            </a:r>
            <a:r>
              <a:rPr sz="2400" dirty="0">
                <a:latin typeface="Times New Roman"/>
                <a:cs typeface="Times New Roman"/>
              </a:rPr>
              <a:t>source</a:t>
            </a:r>
            <a:r>
              <a:rPr sz="2400" spc="-15" dirty="0">
                <a:latin typeface="Times New Roman"/>
                <a:cs typeface="Times New Roman"/>
              </a:rPr>
              <a:t> </a:t>
            </a:r>
            <a:r>
              <a:rPr sz="2400" dirty="0">
                <a:latin typeface="Times New Roman"/>
                <a:cs typeface="Times New Roman"/>
              </a:rPr>
              <a:t>code</a:t>
            </a:r>
            <a:r>
              <a:rPr sz="2400" spc="-15" dirty="0">
                <a:latin typeface="Times New Roman"/>
                <a:cs typeface="Times New Roman"/>
              </a:rPr>
              <a:t> </a:t>
            </a:r>
            <a:r>
              <a:rPr sz="2400" dirty="0">
                <a:latin typeface="Times New Roman"/>
                <a:cs typeface="Times New Roman"/>
              </a:rPr>
              <a:t>for</a:t>
            </a:r>
            <a:r>
              <a:rPr sz="2400" spc="-15"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guest</a:t>
            </a:r>
            <a:r>
              <a:rPr sz="2400" spc="-15" dirty="0">
                <a:latin typeface="Times New Roman"/>
                <a:cs typeface="Times New Roman"/>
              </a:rPr>
              <a:t> </a:t>
            </a:r>
            <a:r>
              <a:rPr sz="2400" spc="-25" dirty="0">
                <a:latin typeface="Times New Roman"/>
                <a:cs typeface="Times New Roman"/>
              </a:rPr>
              <a:t>OS. </a:t>
            </a:r>
            <a:r>
              <a:rPr sz="2400" dirty="0">
                <a:latin typeface="Times New Roman"/>
                <a:cs typeface="Times New Roman"/>
              </a:rPr>
              <a:t>Change</a:t>
            </a:r>
            <a:r>
              <a:rPr sz="2400" spc="-30" dirty="0">
                <a:latin typeface="Times New Roman"/>
                <a:cs typeface="Times New Roman"/>
              </a:rPr>
              <a:t> </a:t>
            </a:r>
            <a:r>
              <a:rPr sz="2400" dirty="0">
                <a:latin typeface="Times New Roman"/>
                <a:cs typeface="Times New Roman"/>
              </a:rPr>
              <a:t>and</a:t>
            </a:r>
            <a:r>
              <a:rPr sz="2400" spc="-30" dirty="0">
                <a:latin typeface="Times New Roman"/>
                <a:cs typeface="Times New Roman"/>
              </a:rPr>
              <a:t> </a:t>
            </a:r>
            <a:r>
              <a:rPr sz="2400" dirty="0">
                <a:latin typeface="Times New Roman"/>
                <a:cs typeface="Times New Roman"/>
              </a:rPr>
              <a:t>recompile</a:t>
            </a:r>
            <a:r>
              <a:rPr sz="2400" spc="-30" dirty="0">
                <a:latin typeface="Times New Roman"/>
                <a:cs typeface="Times New Roman"/>
              </a:rPr>
              <a:t> </a:t>
            </a:r>
            <a:r>
              <a:rPr sz="2400" spc="-25" dirty="0">
                <a:latin typeface="Times New Roman"/>
                <a:cs typeface="Times New Roman"/>
              </a:rPr>
              <a:t>for</a:t>
            </a:r>
            <a:r>
              <a:rPr sz="2400" dirty="0">
                <a:latin typeface="Times New Roman"/>
                <a:cs typeface="Times New Roman"/>
              </a:rPr>
              <a:t>	the</a:t>
            </a:r>
            <a:r>
              <a:rPr sz="2400" spc="-15" dirty="0">
                <a:latin typeface="Times New Roman"/>
                <a:cs typeface="Times New Roman"/>
              </a:rPr>
              <a:t> </a:t>
            </a:r>
            <a:r>
              <a:rPr sz="2400" spc="-10" dirty="0">
                <a:latin typeface="Times New Roman"/>
                <a:cs typeface="Times New Roman"/>
              </a:rPr>
              <a:t>hypervisor</a:t>
            </a:r>
            <a:endParaRPr sz="2400">
              <a:latin typeface="Times New Roman"/>
              <a:cs typeface="Times New Roman"/>
            </a:endParaRPr>
          </a:p>
          <a:p>
            <a:pPr marL="355600" marR="245110" indent="-342900">
              <a:lnSpc>
                <a:spcPct val="100000"/>
              </a:lnSpc>
              <a:spcBef>
                <a:spcPts val="560"/>
              </a:spcBef>
              <a:buClr>
                <a:srgbClr val="053CE8"/>
              </a:buClr>
              <a:buSzPct val="75000"/>
              <a:buFont typeface="Wingdings"/>
              <a:buChar char=""/>
              <a:tabLst>
                <a:tab pos="355600" algn="l"/>
              </a:tabLst>
            </a:pPr>
            <a:r>
              <a:rPr sz="2400" dirty="0">
                <a:latin typeface="Times New Roman"/>
                <a:cs typeface="Times New Roman"/>
              </a:rPr>
              <a:t>Example:</a:t>
            </a:r>
            <a:r>
              <a:rPr sz="2400" spc="-30" dirty="0">
                <a:latin typeface="Times New Roman"/>
                <a:cs typeface="Times New Roman"/>
              </a:rPr>
              <a:t> </a:t>
            </a:r>
            <a:r>
              <a:rPr sz="2400" spc="-10" dirty="0">
                <a:latin typeface="Times New Roman"/>
                <a:cs typeface="Times New Roman"/>
              </a:rPr>
              <a:t>paravirt-</a:t>
            </a:r>
            <a:r>
              <a:rPr sz="2400" dirty="0">
                <a:latin typeface="Times New Roman"/>
                <a:cs typeface="Times New Roman"/>
              </a:rPr>
              <a:t>ops</a:t>
            </a:r>
            <a:r>
              <a:rPr sz="2400" spc="-15" dirty="0">
                <a:latin typeface="Times New Roman"/>
                <a:cs typeface="Times New Roman"/>
              </a:rPr>
              <a:t> </a:t>
            </a:r>
            <a:r>
              <a:rPr sz="2400" dirty="0">
                <a:latin typeface="Times New Roman"/>
                <a:cs typeface="Times New Roman"/>
              </a:rPr>
              <a:t>code</a:t>
            </a:r>
            <a:r>
              <a:rPr sz="2400" spc="-15" dirty="0">
                <a:latin typeface="Times New Roman"/>
                <a:cs typeface="Times New Roman"/>
              </a:rPr>
              <a:t> </a:t>
            </a:r>
            <a:r>
              <a:rPr sz="2400" dirty="0">
                <a:latin typeface="Times New Roman"/>
                <a:cs typeface="Times New Roman"/>
              </a:rPr>
              <a:t>in</a:t>
            </a:r>
            <a:r>
              <a:rPr sz="2400" spc="-15" dirty="0">
                <a:latin typeface="Times New Roman"/>
                <a:cs typeface="Times New Roman"/>
              </a:rPr>
              <a:t> </a:t>
            </a:r>
            <a:r>
              <a:rPr sz="2400" dirty="0">
                <a:latin typeface="Times New Roman"/>
                <a:cs typeface="Times New Roman"/>
              </a:rPr>
              <a:t>Linux</a:t>
            </a:r>
            <a:r>
              <a:rPr sz="2400" spc="-15" dirty="0">
                <a:latin typeface="Times New Roman"/>
                <a:cs typeface="Times New Roman"/>
              </a:rPr>
              <a:t> </a:t>
            </a:r>
            <a:r>
              <a:rPr sz="2400" dirty="0">
                <a:latin typeface="Times New Roman"/>
                <a:cs typeface="Times New Roman"/>
              </a:rPr>
              <a:t>provides</a:t>
            </a:r>
            <a:r>
              <a:rPr sz="2400" spc="-15" dirty="0">
                <a:latin typeface="Times New Roman"/>
                <a:cs typeface="Times New Roman"/>
              </a:rPr>
              <a:t> </a:t>
            </a:r>
            <a:r>
              <a:rPr sz="2400" dirty="0">
                <a:latin typeface="Times New Roman"/>
                <a:cs typeface="Times New Roman"/>
              </a:rPr>
              <a:t>a</a:t>
            </a:r>
            <a:r>
              <a:rPr sz="2400" spc="-15" dirty="0">
                <a:latin typeface="Times New Roman"/>
                <a:cs typeface="Times New Roman"/>
              </a:rPr>
              <a:t> </a:t>
            </a:r>
            <a:r>
              <a:rPr sz="2400" spc="-10" dirty="0">
                <a:latin typeface="Times New Roman"/>
                <a:cs typeface="Times New Roman"/>
              </a:rPr>
              <a:t>hypervisor </a:t>
            </a:r>
            <a:r>
              <a:rPr sz="2400" dirty="0">
                <a:latin typeface="Times New Roman"/>
                <a:cs typeface="Times New Roman"/>
              </a:rPr>
              <a:t>agnostic</a:t>
            </a:r>
            <a:r>
              <a:rPr sz="2400" spc="-35" dirty="0">
                <a:latin typeface="Times New Roman"/>
                <a:cs typeface="Times New Roman"/>
              </a:rPr>
              <a:t> </a:t>
            </a:r>
            <a:r>
              <a:rPr sz="2400" dirty="0">
                <a:latin typeface="Times New Roman"/>
                <a:cs typeface="Times New Roman"/>
              </a:rPr>
              <a:t>interface</a:t>
            </a:r>
            <a:r>
              <a:rPr sz="2400" spc="-30" dirty="0">
                <a:latin typeface="Times New Roman"/>
                <a:cs typeface="Times New Roman"/>
              </a:rPr>
              <a:t> </a:t>
            </a:r>
            <a:r>
              <a:rPr sz="2400" dirty="0">
                <a:latin typeface="Times New Roman"/>
                <a:cs typeface="Times New Roman"/>
              </a:rPr>
              <a:t>between</a:t>
            </a:r>
            <a:r>
              <a:rPr sz="2400" spc="-35"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hypervisor</a:t>
            </a:r>
            <a:r>
              <a:rPr sz="2400" spc="-35" dirty="0">
                <a:latin typeface="Times New Roman"/>
                <a:cs typeface="Times New Roman"/>
              </a:rPr>
              <a:t> </a:t>
            </a:r>
            <a:r>
              <a:rPr sz="2400" dirty="0">
                <a:latin typeface="Times New Roman"/>
                <a:cs typeface="Times New Roman"/>
              </a:rPr>
              <a:t>and</a:t>
            </a:r>
            <a:r>
              <a:rPr sz="2400" spc="-30" dirty="0">
                <a:latin typeface="Times New Roman"/>
                <a:cs typeface="Times New Roman"/>
              </a:rPr>
              <a:t> </a:t>
            </a:r>
            <a:r>
              <a:rPr sz="2400" dirty="0">
                <a:latin typeface="Times New Roman"/>
                <a:cs typeface="Times New Roman"/>
              </a:rPr>
              <a:t>guest</a:t>
            </a:r>
            <a:r>
              <a:rPr sz="2400" spc="-30" dirty="0">
                <a:latin typeface="Times New Roman"/>
                <a:cs typeface="Times New Roman"/>
              </a:rPr>
              <a:t> </a:t>
            </a:r>
            <a:r>
              <a:rPr sz="2400" spc="-10" dirty="0">
                <a:latin typeface="Times New Roman"/>
                <a:cs typeface="Times New Roman"/>
              </a:rPr>
              <a:t>kernels.</a:t>
            </a:r>
            <a:endParaRPr sz="2400">
              <a:latin typeface="Times New Roman"/>
              <a:cs typeface="Times New Roman"/>
            </a:endParaRPr>
          </a:p>
        </p:txBody>
      </p:sp>
      <p:sp>
        <p:nvSpPr>
          <p:cNvPr id="8" name="Slide Number Placeholder 7">
            <a:extLst>
              <a:ext uri="{FF2B5EF4-FFF2-40B4-BE49-F238E27FC236}">
                <a16:creationId xmlns:a16="http://schemas.microsoft.com/office/drawing/2014/main" id="{19F7C6F5-EC55-A149-DE04-0D629CECBF34}"/>
              </a:ext>
            </a:extLst>
          </p:cNvPr>
          <p:cNvSpPr>
            <a:spLocks noGrp="1"/>
          </p:cNvSpPr>
          <p:nvPr>
            <p:ph type="sldNum" sz="quarter" idx="7"/>
          </p:nvPr>
        </p:nvSpPr>
        <p:spPr>
          <a:xfrm>
            <a:off x="4330700" y="6579869"/>
            <a:ext cx="927100" cy="269304"/>
          </a:xfrm>
        </p:spPr>
        <p:txBody>
          <a:bodyPr/>
          <a:lstStyle/>
          <a:p>
            <a:pPr marL="12700">
              <a:lnSpc>
                <a:spcPts val="2065"/>
              </a:lnSpc>
            </a:pPr>
            <a:fld id="{81D60167-4931-47E6-BA6A-407CBD079E47}" type="slidenum">
              <a:rPr spc="-50" smtClean="0"/>
              <a:t>19</a:t>
            </a:fld>
            <a:endParaRPr spc="-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792605">
              <a:lnSpc>
                <a:spcPct val="100000"/>
              </a:lnSpc>
              <a:spcBef>
                <a:spcPts val="100"/>
              </a:spcBef>
            </a:pPr>
            <a:r>
              <a:rPr dirty="0"/>
              <a:t>Virtualization</a:t>
            </a:r>
            <a:r>
              <a:rPr spc="-160" dirty="0"/>
              <a:t> </a:t>
            </a:r>
            <a:r>
              <a:rPr spc="-10" dirty="0"/>
              <a:t>Products</a:t>
            </a:r>
          </a:p>
        </p:txBody>
      </p:sp>
      <p:sp>
        <p:nvSpPr>
          <p:cNvPr id="3" name="object 3"/>
          <p:cNvSpPr txBox="1"/>
          <p:nvPr/>
        </p:nvSpPr>
        <p:spPr>
          <a:xfrm>
            <a:off x="457454" y="1176020"/>
            <a:ext cx="8041005" cy="4735195"/>
          </a:xfrm>
          <a:prstGeom prst="rect">
            <a:avLst/>
          </a:prstGeom>
        </p:spPr>
        <p:txBody>
          <a:bodyPr vert="horz" wrap="square" lIns="0" tIns="48260" rIns="0" bIns="0" rtlCol="0">
            <a:spAutoFit/>
          </a:bodyPr>
          <a:lstStyle/>
          <a:p>
            <a:pPr marL="354965" indent="-342265">
              <a:lnSpc>
                <a:spcPct val="100000"/>
              </a:lnSpc>
              <a:spcBef>
                <a:spcPts val="380"/>
              </a:spcBef>
              <a:buSzPct val="75000"/>
              <a:buFont typeface="Wingdings"/>
              <a:buChar char=""/>
              <a:tabLst>
                <a:tab pos="354965" algn="l"/>
              </a:tabLst>
            </a:pPr>
            <a:r>
              <a:rPr sz="2400" b="1" dirty="0">
                <a:solidFill>
                  <a:srgbClr val="053CE8"/>
                </a:solidFill>
                <a:latin typeface="Times New Roman"/>
                <a:cs typeface="Times New Roman"/>
              </a:rPr>
              <a:t>Microsoft</a:t>
            </a:r>
            <a:r>
              <a:rPr sz="2400" b="1" spc="-35" dirty="0">
                <a:solidFill>
                  <a:srgbClr val="053CE8"/>
                </a:solidFill>
                <a:latin typeface="Times New Roman"/>
                <a:cs typeface="Times New Roman"/>
              </a:rPr>
              <a:t> </a:t>
            </a:r>
            <a:r>
              <a:rPr sz="2400" b="1" dirty="0">
                <a:solidFill>
                  <a:srgbClr val="053CE8"/>
                </a:solidFill>
                <a:latin typeface="Times New Roman"/>
                <a:cs typeface="Times New Roman"/>
              </a:rPr>
              <a:t>Virtual</a:t>
            </a:r>
            <a:r>
              <a:rPr sz="2400" b="1" spc="-30" dirty="0">
                <a:solidFill>
                  <a:srgbClr val="053CE8"/>
                </a:solidFill>
                <a:latin typeface="Times New Roman"/>
                <a:cs typeface="Times New Roman"/>
              </a:rPr>
              <a:t> </a:t>
            </a:r>
            <a:r>
              <a:rPr sz="2400" b="1" dirty="0">
                <a:solidFill>
                  <a:srgbClr val="053CE8"/>
                </a:solidFill>
                <a:latin typeface="Times New Roman"/>
                <a:cs typeface="Times New Roman"/>
              </a:rPr>
              <a:t>PC</a:t>
            </a:r>
            <a:r>
              <a:rPr sz="2400" dirty="0">
                <a:latin typeface="Times New Roman"/>
                <a:cs typeface="Times New Roman"/>
              </a:rPr>
              <a:t>:</a:t>
            </a:r>
            <a:r>
              <a:rPr sz="2400" spc="-35" dirty="0">
                <a:latin typeface="Times New Roman"/>
                <a:cs typeface="Times New Roman"/>
              </a:rPr>
              <a:t> </a:t>
            </a:r>
            <a:r>
              <a:rPr sz="2400" dirty="0">
                <a:latin typeface="Times New Roman"/>
                <a:cs typeface="Times New Roman"/>
              </a:rPr>
              <a:t>Included</a:t>
            </a:r>
            <a:r>
              <a:rPr sz="2400" spc="-40" dirty="0">
                <a:latin typeface="Times New Roman"/>
                <a:cs typeface="Times New Roman"/>
              </a:rPr>
              <a:t> </a:t>
            </a:r>
            <a:r>
              <a:rPr sz="2400" dirty="0">
                <a:latin typeface="Times New Roman"/>
                <a:cs typeface="Times New Roman"/>
              </a:rPr>
              <a:t>with</a:t>
            </a:r>
            <a:r>
              <a:rPr sz="2400" spc="-35" dirty="0">
                <a:latin typeface="Times New Roman"/>
                <a:cs typeface="Times New Roman"/>
              </a:rPr>
              <a:t> </a:t>
            </a:r>
            <a:r>
              <a:rPr sz="2400" spc="-10" dirty="0">
                <a:latin typeface="Times New Roman"/>
                <a:cs typeface="Times New Roman"/>
              </a:rPr>
              <a:t>Windows</a:t>
            </a:r>
            <a:endParaRPr sz="2400">
              <a:latin typeface="Times New Roman"/>
              <a:cs typeface="Times New Roman"/>
            </a:endParaRPr>
          </a:p>
          <a:p>
            <a:pPr marL="355600" marR="10160" indent="-342900">
              <a:lnSpc>
                <a:spcPts val="2580"/>
              </a:lnSpc>
              <a:spcBef>
                <a:spcPts val="620"/>
              </a:spcBef>
              <a:buSzPct val="75000"/>
              <a:buFont typeface="Wingdings"/>
              <a:buChar char=""/>
              <a:tabLst>
                <a:tab pos="355600" algn="l"/>
              </a:tabLst>
            </a:pPr>
            <a:r>
              <a:rPr sz="2400" b="1" dirty="0">
                <a:solidFill>
                  <a:srgbClr val="053CE8"/>
                </a:solidFill>
                <a:latin typeface="Times New Roman"/>
                <a:cs typeface="Times New Roman"/>
              </a:rPr>
              <a:t>Xen</a:t>
            </a:r>
            <a:r>
              <a:rPr sz="2400" dirty="0">
                <a:latin typeface="Times New Roman"/>
                <a:cs typeface="Times New Roman"/>
              </a:rPr>
              <a:t>:</a:t>
            </a:r>
            <a:r>
              <a:rPr sz="2400" spc="-40" dirty="0">
                <a:latin typeface="Times New Roman"/>
                <a:cs typeface="Times New Roman"/>
              </a:rPr>
              <a:t> </a:t>
            </a:r>
            <a:r>
              <a:rPr sz="2400" dirty="0">
                <a:latin typeface="Times New Roman"/>
                <a:cs typeface="Times New Roman"/>
              </a:rPr>
              <a:t>Popular</a:t>
            </a:r>
            <a:r>
              <a:rPr sz="2400" spc="-35" dirty="0">
                <a:latin typeface="Times New Roman"/>
                <a:cs typeface="Times New Roman"/>
              </a:rPr>
              <a:t> </a:t>
            </a:r>
            <a:r>
              <a:rPr sz="2400" dirty="0">
                <a:latin typeface="Times New Roman"/>
                <a:cs typeface="Times New Roman"/>
              </a:rPr>
              <a:t>open</a:t>
            </a:r>
            <a:r>
              <a:rPr sz="2400" spc="-35" dirty="0">
                <a:latin typeface="Times New Roman"/>
                <a:cs typeface="Times New Roman"/>
              </a:rPr>
              <a:t> </a:t>
            </a:r>
            <a:r>
              <a:rPr sz="2400" dirty="0">
                <a:latin typeface="Times New Roman"/>
                <a:cs typeface="Times New Roman"/>
              </a:rPr>
              <a:t>source</a:t>
            </a:r>
            <a:r>
              <a:rPr sz="2400" spc="-40" dirty="0">
                <a:latin typeface="Times New Roman"/>
                <a:cs typeface="Times New Roman"/>
              </a:rPr>
              <a:t> </a:t>
            </a:r>
            <a:r>
              <a:rPr sz="2400" dirty="0">
                <a:latin typeface="Times New Roman"/>
                <a:cs typeface="Times New Roman"/>
              </a:rPr>
              <a:t>hypervisor</a:t>
            </a:r>
            <a:r>
              <a:rPr sz="2400" spc="-35" dirty="0">
                <a:latin typeface="Times New Roman"/>
                <a:cs typeface="Times New Roman"/>
              </a:rPr>
              <a:t> </a:t>
            </a:r>
            <a:r>
              <a:rPr sz="2400" dirty="0">
                <a:latin typeface="Times New Roman"/>
                <a:cs typeface="Times New Roman"/>
              </a:rPr>
              <a:t>from</a:t>
            </a:r>
            <a:r>
              <a:rPr sz="2400" spc="-35" dirty="0">
                <a:latin typeface="Times New Roman"/>
                <a:cs typeface="Times New Roman"/>
              </a:rPr>
              <a:t> </a:t>
            </a:r>
            <a:r>
              <a:rPr sz="2400" dirty="0">
                <a:latin typeface="Times New Roman"/>
                <a:cs typeface="Times New Roman"/>
              </a:rPr>
              <a:t>University</a:t>
            </a:r>
            <a:r>
              <a:rPr sz="2400" spc="-40" dirty="0">
                <a:latin typeface="Times New Roman"/>
                <a:cs typeface="Times New Roman"/>
              </a:rPr>
              <a:t> </a:t>
            </a:r>
            <a:r>
              <a:rPr sz="2400" spc="-25" dirty="0">
                <a:latin typeface="Times New Roman"/>
                <a:cs typeface="Times New Roman"/>
              </a:rPr>
              <a:t>of </a:t>
            </a:r>
            <a:r>
              <a:rPr sz="2400" dirty="0">
                <a:latin typeface="Times New Roman"/>
                <a:cs typeface="Times New Roman"/>
              </a:rPr>
              <a:t>Cambridge.</a:t>
            </a:r>
            <a:r>
              <a:rPr sz="2400" spc="-50" dirty="0">
                <a:latin typeface="Times New Roman"/>
                <a:cs typeface="Times New Roman"/>
              </a:rPr>
              <a:t> </a:t>
            </a:r>
            <a:r>
              <a:rPr sz="2400" dirty="0">
                <a:latin typeface="Times New Roman"/>
                <a:cs typeface="Times New Roman"/>
              </a:rPr>
              <a:t>Endorsed</a:t>
            </a:r>
            <a:r>
              <a:rPr sz="2400" spc="-50" dirty="0">
                <a:latin typeface="Times New Roman"/>
                <a:cs typeface="Times New Roman"/>
              </a:rPr>
              <a:t> </a:t>
            </a:r>
            <a:r>
              <a:rPr sz="2400" dirty="0">
                <a:latin typeface="Times New Roman"/>
                <a:cs typeface="Times New Roman"/>
              </a:rPr>
              <a:t>by</a:t>
            </a:r>
            <a:r>
              <a:rPr sz="2400" spc="-45" dirty="0">
                <a:latin typeface="Times New Roman"/>
                <a:cs typeface="Times New Roman"/>
              </a:rPr>
              <a:t> </a:t>
            </a:r>
            <a:r>
              <a:rPr sz="2400" dirty="0">
                <a:latin typeface="Times New Roman"/>
                <a:cs typeface="Times New Roman"/>
              </a:rPr>
              <a:t>many</a:t>
            </a:r>
            <a:r>
              <a:rPr sz="2400" spc="-50" dirty="0">
                <a:latin typeface="Times New Roman"/>
                <a:cs typeface="Times New Roman"/>
              </a:rPr>
              <a:t> </a:t>
            </a:r>
            <a:r>
              <a:rPr sz="2400" dirty="0">
                <a:latin typeface="Times New Roman"/>
                <a:cs typeface="Times New Roman"/>
              </a:rPr>
              <a:t>manufacturers.</a:t>
            </a:r>
            <a:r>
              <a:rPr sz="2400" spc="-50" dirty="0">
                <a:latin typeface="Times New Roman"/>
                <a:cs typeface="Times New Roman"/>
              </a:rPr>
              <a:t> </a:t>
            </a:r>
            <a:r>
              <a:rPr sz="2400" dirty="0">
                <a:latin typeface="Times New Roman"/>
                <a:cs typeface="Times New Roman"/>
              </a:rPr>
              <a:t>Allows</a:t>
            </a:r>
            <a:r>
              <a:rPr sz="2400" spc="-45" dirty="0">
                <a:latin typeface="Times New Roman"/>
                <a:cs typeface="Times New Roman"/>
              </a:rPr>
              <a:t> </a:t>
            </a:r>
            <a:r>
              <a:rPr sz="2400" spc="-10" dirty="0">
                <a:latin typeface="Times New Roman"/>
                <a:cs typeface="Times New Roman"/>
              </a:rPr>
              <a:t>running </a:t>
            </a:r>
            <a:r>
              <a:rPr sz="2400" dirty="0">
                <a:latin typeface="Times New Roman"/>
                <a:cs typeface="Times New Roman"/>
              </a:rPr>
              <a:t>multiple</a:t>
            </a:r>
            <a:r>
              <a:rPr sz="2400" spc="-40" dirty="0">
                <a:latin typeface="Times New Roman"/>
                <a:cs typeface="Times New Roman"/>
              </a:rPr>
              <a:t> </a:t>
            </a:r>
            <a:r>
              <a:rPr sz="2400" spc="-10" dirty="0">
                <a:latin typeface="Times New Roman"/>
                <a:cs typeface="Times New Roman"/>
              </a:rPr>
              <a:t>Linux-</a:t>
            </a:r>
            <a:r>
              <a:rPr sz="2400" dirty="0">
                <a:latin typeface="Times New Roman"/>
                <a:cs typeface="Times New Roman"/>
              </a:rPr>
              <a:t>like</a:t>
            </a:r>
            <a:r>
              <a:rPr sz="2400" spc="-25" dirty="0">
                <a:latin typeface="Times New Roman"/>
                <a:cs typeface="Times New Roman"/>
              </a:rPr>
              <a:t> </a:t>
            </a:r>
            <a:r>
              <a:rPr sz="2400" dirty="0">
                <a:latin typeface="Times New Roman"/>
                <a:cs typeface="Times New Roman"/>
              </a:rPr>
              <a:t>operating</a:t>
            </a:r>
            <a:r>
              <a:rPr sz="2400" spc="-25" dirty="0">
                <a:latin typeface="Times New Roman"/>
                <a:cs typeface="Times New Roman"/>
              </a:rPr>
              <a:t> </a:t>
            </a:r>
            <a:r>
              <a:rPr sz="2400" dirty="0">
                <a:latin typeface="Times New Roman"/>
                <a:cs typeface="Times New Roman"/>
              </a:rPr>
              <a:t>systems</a:t>
            </a:r>
            <a:r>
              <a:rPr sz="2400" spc="-25" dirty="0">
                <a:latin typeface="Times New Roman"/>
                <a:cs typeface="Times New Roman"/>
              </a:rPr>
              <a:t> </a:t>
            </a:r>
            <a:r>
              <a:rPr sz="2400" dirty="0">
                <a:latin typeface="Times New Roman"/>
                <a:cs typeface="Times New Roman"/>
              </a:rPr>
              <a:t>at</a:t>
            </a:r>
            <a:r>
              <a:rPr sz="2400" spc="-25" dirty="0">
                <a:latin typeface="Times New Roman"/>
                <a:cs typeface="Times New Roman"/>
              </a:rPr>
              <a:t> </a:t>
            </a:r>
            <a:r>
              <a:rPr sz="2400" dirty="0">
                <a:latin typeface="Times New Roman"/>
                <a:cs typeface="Times New Roman"/>
              </a:rPr>
              <a:t>nearly</a:t>
            </a:r>
            <a:r>
              <a:rPr sz="2400" spc="-25" dirty="0">
                <a:latin typeface="Times New Roman"/>
                <a:cs typeface="Times New Roman"/>
              </a:rPr>
              <a:t> </a:t>
            </a:r>
            <a:r>
              <a:rPr sz="2400" dirty="0">
                <a:latin typeface="Times New Roman"/>
                <a:cs typeface="Times New Roman"/>
              </a:rPr>
              <a:t>native</a:t>
            </a:r>
            <a:r>
              <a:rPr sz="2400" spc="-25" dirty="0">
                <a:latin typeface="Times New Roman"/>
                <a:cs typeface="Times New Roman"/>
              </a:rPr>
              <a:t> </a:t>
            </a:r>
            <a:r>
              <a:rPr sz="2400" spc="-10" dirty="0">
                <a:latin typeface="Times New Roman"/>
                <a:cs typeface="Times New Roman"/>
              </a:rPr>
              <a:t>speeds. </a:t>
            </a:r>
            <a:r>
              <a:rPr sz="2400" dirty="0">
                <a:latin typeface="Times New Roman"/>
                <a:cs typeface="Times New Roman"/>
              </a:rPr>
              <a:t>Citrix</a:t>
            </a:r>
            <a:r>
              <a:rPr sz="2400" spc="-50" dirty="0">
                <a:latin typeface="Times New Roman"/>
                <a:cs typeface="Times New Roman"/>
              </a:rPr>
              <a:t> </a:t>
            </a:r>
            <a:r>
              <a:rPr sz="2400" dirty="0">
                <a:latin typeface="Times New Roman"/>
                <a:cs typeface="Times New Roman"/>
              </a:rPr>
              <a:t>provides</a:t>
            </a:r>
            <a:r>
              <a:rPr sz="2400" spc="-40" dirty="0">
                <a:latin typeface="Times New Roman"/>
                <a:cs typeface="Times New Roman"/>
              </a:rPr>
              <a:t> </a:t>
            </a:r>
            <a:r>
              <a:rPr sz="2400" dirty="0">
                <a:latin typeface="Times New Roman"/>
                <a:cs typeface="Times New Roman"/>
              </a:rPr>
              <a:t>Xen</a:t>
            </a:r>
            <a:r>
              <a:rPr sz="2400" spc="-35" dirty="0">
                <a:latin typeface="Times New Roman"/>
                <a:cs typeface="Times New Roman"/>
              </a:rPr>
              <a:t> </a:t>
            </a:r>
            <a:r>
              <a:rPr sz="2400" dirty="0">
                <a:latin typeface="Times New Roman"/>
                <a:cs typeface="Times New Roman"/>
              </a:rPr>
              <a:t>extensions</a:t>
            </a:r>
            <a:r>
              <a:rPr sz="2400" spc="-40" dirty="0">
                <a:latin typeface="Times New Roman"/>
                <a:cs typeface="Times New Roman"/>
              </a:rPr>
              <a:t> </a:t>
            </a:r>
            <a:r>
              <a:rPr sz="2400" dirty="0">
                <a:latin typeface="Times New Roman"/>
                <a:cs typeface="Times New Roman"/>
              </a:rPr>
              <a:t>and</a:t>
            </a:r>
            <a:r>
              <a:rPr sz="2400" spc="-35" dirty="0">
                <a:latin typeface="Times New Roman"/>
                <a:cs typeface="Times New Roman"/>
              </a:rPr>
              <a:t> </a:t>
            </a:r>
            <a:r>
              <a:rPr sz="2400" spc="-10" dirty="0">
                <a:latin typeface="Times New Roman"/>
                <a:cs typeface="Times New Roman"/>
              </a:rPr>
              <a:t>support.</a:t>
            </a:r>
            <a:endParaRPr sz="2400">
              <a:latin typeface="Times New Roman"/>
              <a:cs typeface="Times New Roman"/>
            </a:endParaRPr>
          </a:p>
          <a:p>
            <a:pPr marL="354965" marR="118745" indent="-342900">
              <a:lnSpc>
                <a:spcPts val="2580"/>
              </a:lnSpc>
              <a:spcBef>
                <a:spcPts val="605"/>
              </a:spcBef>
              <a:buClr>
                <a:srgbClr val="053CE8"/>
              </a:buClr>
              <a:buSzPct val="75000"/>
              <a:buFont typeface="Wingdings"/>
              <a:buChar char=""/>
              <a:tabLst>
                <a:tab pos="354965" algn="l"/>
              </a:tabLst>
            </a:pPr>
            <a:r>
              <a:rPr sz="2400" dirty="0">
                <a:latin typeface="Times New Roman"/>
                <a:cs typeface="Times New Roman"/>
              </a:rPr>
              <a:t>Oracle</a:t>
            </a:r>
            <a:r>
              <a:rPr sz="2400" spc="-20" dirty="0">
                <a:latin typeface="Times New Roman"/>
                <a:cs typeface="Times New Roman"/>
              </a:rPr>
              <a:t> </a:t>
            </a:r>
            <a:r>
              <a:rPr sz="2400" dirty="0">
                <a:latin typeface="Times New Roman"/>
                <a:cs typeface="Times New Roman"/>
              </a:rPr>
              <a:t>VM</a:t>
            </a:r>
            <a:r>
              <a:rPr sz="2400" spc="-25" dirty="0">
                <a:latin typeface="Times New Roman"/>
                <a:cs typeface="Times New Roman"/>
              </a:rPr>
              <a:t> </a:t>
            </a:r>
            <a:r>
              <a:rPr sz="2400" b="1" dirty="0">
                <a:solidFill>
                  <a:srgbClr val="053CE8"/>
                </a:solidFill>
                <a:latin typeface="Times New Roman"/>
                <a:cs typeface="Times New Roman"/>
              </a:rPr>
              <a:t>VirtualBox</a:t>
            </a:r>
            <a:r>
              <a:rPr sz="2400" dirty="0">
                <a:latin typeface="Times New Roman"/>
                <a:cs typeface="Times New Roman"/>
              </a:rPr>
              <a:t>:</a:t>
            </a:r>
            <a:r>
              <a:rPr sz="2400" spc="-20" dirty="0">
                <a:latin typeface="Times New Roman"/>
                <a:cs typeface="Times New Roman"/>
              </a:rPr>
              <a:t> </a:t>
            </a:r>
            <a:r>
              <a:rPr sz="2400" dirty="0">
                <a:latin typeface="Times New Roman"/>
                <a:cs typeface="Times New Roman"/>
              </a:rPr>
              <a:t>runs</a:t>
            </a:r>
            <a:r>
              <a:rPr sz="2400" spc="-25" dirty="0">
                <a:latin typeface="Times New Roman"/>
                <a:cs typeface="Times New Roman"/>
              </a:rPr>
              <a:t> </a:t>
            </a:r>
            <a:r>
              <a:rPr sz="2400" dirty="0">
                <a:latin typeface="Times New Roman"/>
                <a:cs typeface="Times New Roman"/>
              </a:rPr>
              <a:t>on</a:t>
            </a:r>
            <a:r>
              <a:rPr sz="2400" spc="-25" dirty="0">
                <a:latin typeface="Times New Roman"/>
                <a:cs typeface="Times New Roman"/>
              </a:rPr>
              <a:t> </a:t>
            </a:r>
            <a:r>
              <a:rPr sz="2400" dirty="0">
                <a:latin typeface="Times New Roman"/>
                <a:cs typeface="Times New Roman"/>
              </a:rPr>
              <a:t>Linux,</a:t>
            </a:r>
            <a:r>
              <a:rPr sz="2400" spc="-20" dirty="0">
                <a:latin typeface="Times New Roman"/>
                <a:cs typeface="Times New Roman"/>
              </a:rPr>
              <a:t> </a:t>
            </a:r>
            <a:r>
              <a:rPr sz="2400" dirty="0">
                <a:latin typeface="Times New Roman"/>
                <a:cs typeface="Times New Roman"/>
              </a:rPr>
              <a:t>Mac</a:t>
            </a:r>
            <a:r>
              <a:rPr sz="2400" spc="-25" dirty="0">
                <a:latin typeface="Times New Roman"/>
                <a:cs typeface="Times New Roman"/>
              </a:rPr>
              <a:t> </a:t>
            </a:r>
            <a:r>
              <a:rPr sz="2400" dirty="0">
                <a:latin typeface="Times New Roman"/>
                <a:cs typeface="Times New Roman"/>
              </a:rPr>
              <a:t>OS</a:t>
            </a:r>
            <a:r>
              <a:rPr sz="2400" spc="-25" dirty="0">
                <a:latin typeface="Times New Roman"/>
                <a:cs typeface="Times New Roman"/>
              </a:rPr>
              <a:t> </a:t>
            </a:r>
            <a:r>
              <a:rPr sz="2400" dirty="0">
                <a:latin typeface="Times New Roman"/>
                <a:cs typeface="Times New Roman"/>
              </a:rPr>
              <a:t>X,</a:t>
            </a:r>
            <a:r>
              <a:rPr sz="2400" spc="-20" dirty="0">
                <a:latin typeface="Times New Roman"/>
                <a:cs typeface="Times New Roman"/>
              </a:rPr>
              <a:t> </a:t>
            </a:r>
            <a:r>
              <a:rPr sz="2400" spc="-10" dirty="0">
                <a:latin typeface="Times New Roman"/>
                <a:cs typeface="Times New Roman"/>
              </a:rPr>
              <a:t>Windows </a:t>
            </a:r>
            <a:r>
              <a:rPr sz="2400" dirty="0">
                <a:latin typeface="Times New Roman"/>
                <a:cs typeface="Times New Roman"/>
              </a:rPr>
              <a:t>XP/Vista/7/8,</a:t>
            </a:r>
            <a:r>
              <a:rPr sz="2400" spc="-30" dirty="0">
                <a:latin typeface="Times New Roman"/>
                <a:cs typeface="Times New Roman"/>
              </a:rPr>
              <a:t> </a:t>
            </a:r>
            <a:r>
              <a:rPr sz="2400" dirty="0">
                <a:latin typeface="Times New Roman"/>
                <a:cs typeface="Times New Roman"/>
              </a:rPr>
              <a:t>Solaris,</a:t>
            </a:r>
            <a:r>
              <a:rPr sz="2400" spc="-30" dirty="0">
                <a:latin typeface="Times New Roman"/>
                <a:cs typeface="Times New Roman"/>
              </a:rPr>
              <a:t> </a:t>
            </a:r>
            <a:r>
              <a:rPr sz="2400" dirty="0">
                <a:latin typeface="Times New Roman"/>
                <a:cs typeface="Times New Roman"/>
              </a:rPr>
              <a:t>OpenSolaris,</a:t>
            </a:r>
            <a:r>
              <a:rPr sz="2400" spc="-30" dirty="0">
                <a:latin typeface="Times New Roman"/>
                <a:cs typeface="Times New Roman"/>
              </a:rPr>
              <a:t> </a:t>
            </a:r>
            <a:r>
              <a:rPr sz="2400" dirty="0">
                <a:latin typeface="Times New Roman"/>
                <a:cs typeface="Times New Roman"/>
              </a:rPr>
              <a:t>FreeBSD.</a:t>
            </a:r>
            <a:r>
              <a:rPr sz="2400" spc="-30" dirty="0">
                <a:latin typeface="Times New Roman"/>
                <a:cs typeface="Times New Roman"/>
              </a:rPr>
              <a:t> </a:t>
            </a:r>
            <a:r>
              <a:rPr sz="2400" spc="-10" dirty="0">
                <a:latin typeface="Times New Roman"/>
                <a:cs typeface="Times New Roman"/>
              </a:rPr>
              <a:t>Free.</a:t>
            </a:r>
            <a:endParaRPr sz="2400">
              <a:latin typeface="Times New Roman"/>
              <a:cs typeface="Times New Roman"/>
            </a:endParaRPr>
          </a:p>
          <a:p>
            <a:pPr marL="354965" indent="-342265">
              <a:lnSpc>
                <a:spcPct val="100000"/>
              </a:lnSpc>
              <a:spcBef>
                <a:spcPts val="250"/>
              </a:spcBef>
              <a:buSzPct val="75000"/>
              <a:buFont typeface="Wingdings"/>
              <a:buChar char=""/>
              <a:tabLst>
                <a:tab pos="354965" algn="l"/>
              </a:tabLst>
            </a:pPr>
            <a:r>
              <a:rPr sz="2400" b="1" dirty="0">
                <a:solidFill>
                  <a:srgbClr val="053CE8"/>
                </a:solidFill>
                <a:latin typeface="Times New Roman"/>
                <a:cs typeface="Times New Roman"/>
              </a:rPr>
              <a:t>Microsoft</a:t>
            </a:r>
            <a:r>
              <a:rPr sz="2400" b="1" spc="-20" dirty="0">
                <a:solidFill>
                  <a:srgbClr val="053CE8"/>
                </a:solidFill>
                <a:latin typeface="Times New Roman"/>
                <a:cs typeface="Times New Roman"/>
              </a:rPr>
              <a:t> </a:t>
            </a:r>
            <a:r>
              <a:rPr sz="2400" b="1" spc="-10" dirty="0">
                <a:solidFill>
                  <a:srgbClr val="053CE8"/>
                </a:solidFill>
                <a:latin typeface="Times New Roman"/>
                <a:cs typeface="Times New Roman"/>
              </a:rPr>
              <a:t>Hyper-</a:t>
            </a:r>
            <a:r>
              <a:rPr sz="2400" b="1" dirty="0">
                <a:solidFill>
                  <a:srgbClr val="053CE8"/>
                </a:solidFill>
                <a:latin typeface="Times New Roman"/>
                <a:cs typeface="Times New Roman"/>
              </a:rPr>
              <a:t>V</a:t>
            </a:r>
            <a:r>
              <a:rPr sz="2400" dirty="0">
                <a:latin typeface="Times New Roman"/>
                <a:cs typeface="Times New Roman"/>
              </a:rPr>
              <a:t>:</a:t>
            </a:r>
            <a:r>
              <a:rPr sz="2400" spc="-15" dirty="0">
                <a:latin typeface="Times New Roman"/>
                <a:cs typeface="Times New Roman"/>
              </a:rPr>
              <a:t> </a:t>
            </a:r>
            <a:r>
              <a:rPr sz="2400" dirty="0">
                <a:latin typeface="Times New Roman"/>
                <a:cs typeface="Times New Roman"/>
              </a:rPr>
              <a:t>Part</a:t>
            </a:r>
            <a:r>
              <a:rPr sz="2400" spc="-15"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dirty="0">
                <a:latin typeface="Times New Roman"/>
                <a:cs typeface="Times New Roman"/>
              </a:rPr>
              <a:t>Windows</a:t>
            </a:r>
            <a:r>
              <a:rPr sz="2400" spc="-20" dirty="0">
                <a:latin typeface="Times New Roman"/>
                <a:cs typeface="Times New Roman"/>
              </a:rPr>
              <a:t> </a:t>
            </a:r>
            <a:r>
              <a:rPr sz="2400" dirty="0">
                <a:latin typeface="Times New Roman"/>
                <a:cs typeface="Times New Roman"/>
              </a:rPr>
              <a:t>2008+</a:t>
            </a:r>
            <a:r>
              <a:rPr sz="2400" spc="-15" dirty="0">
                <a:latin typeface="Times New Roman"/>
                <a:cs typeface="Times New Roman"/>
              </a:rPr>
              <a:t> </a:t>
            </a:r>
            <a:r>
              <a:rPr sz="2400" spc="-10" dirty="0">
                <a:latin typeface="Times New Roman"/>
                <a:cs typeface="Times New Roman"/>
              </a:rPr>
              <a:t>Server</a:t>
            </a:r>
            <a:endParaRPr sz="2400">
              <a:latin typeface="Times New Roman"/>
              <a:cs typeface="Times New Roman"/>
            </a:endParaRPr>
          </a:p>
          <a:p>
            <a:pPr marL="355600" marR="5080" indent="-342900">
              <a:lnSpc>
                <a:spcPts val="2580"/>
              </a:lnSpc>
              <a:spcBef>
                <a:spcPts val="620"/>
              </a:spcBef>
              <a:buClr>
                <a:srgbClr val="053CE8"/>
              </a:buClr>
              <a:buSzPct val="75000"/>
              <a:buFont typeface="Wingdings"/>
              <a:buChar char=""/>
              <a:tabLst>
                <a:tab pos="355600" algn="l"/>
              </a:tabLst>
            </a:pPr>
            <a:r>
              <a:rPr sz="2400" dirty="0">
                <a:latin typeface="Times New Roman"/>
                <a:cs typeface="Times New Roman"/>
              </a:rPr>
              <a:t>Linux</a:t>
            </a:r>
            <a:r>
              <a:rPr sz="2400" spc="-35" dirty="0">
                <a:latin typeface="Times New Roman"/>
                <a:cs typeface="Times New Roman"/>
              </a:rPr>
              <a:t> </a:t>
            </a:r>
            <a:r>
              <a:rPr sz="2400" b="1" dirty="0">
                <a:solidFill>
                  <a:srgbClr val="053CE8"/>
                </a:solidFill>
                <a:latin typeface="Times New Roman"/>
                <a:cs typeface="Times New Roman"/>
              </a:rPr>
              <a:t>KVM</a:t>
            </a:r>
            <a:r>
              <a:rPr sz="2400" b="1" spc="-30" dirty="0">
                <a:solidFill>
                  <a:srgbClr val="053CE8"/>
                </a:solidFill>
                <a:latin typeface="Times New Roman"/>
                <a:cs typeface="Times New Roman"/>
              </a:rPr>
              <a:t> </a:t>
            </a:r>
            <a:r>
              <a:rPr sz="2400" dirty="0">
                <a:latin typeface="Times New Roman"/>
                <a:cs typeface="Times New Roman"/>
              </a:rPr>
              <a:t>(Kernel</a:t>
            </a:r>
            <a:r>
              <a:rPr sz="2400" spc="-30" dirty="0">
                <a:latin typeface="Times New Roman"/>
                <a:cs typeface="Times New Roman"/>
              </a:rPr>
              <a:t> </a:t>
            </a:r>
            <a:r>
              <a:rPr sz="2400" dirty="0">
                <a:latin typeface="Times New Roman"/>
                <a:cs typeface="Times New Roman"/>
              </a:rPr>
              <a:t>Virtual</a:t>
            </a:r>
            <a:r>
              <a:rPr sz="2400" spc="-35" dirty="0">
                <a:latin typeface="Times New Roman"/>
                <a:cs typeface="Times New Roman"/>
              </a:rPr>
              <a:t> </a:t>
            </a:r>
            <a:r>
              <a:rPr sz="2400" dirty="0">
                <a:latin typeface="Times New Roman"/>
                <a:cs typeface="Times New Roman"/>
              </a:rPr>
              <a:t>Machine):</a:t>
            </a:r>
            <a:r>
              <a:rPr sz="2400" spc="-30" dirty="0">
                <a:latin typeface="Times New Roman"/>
                <a:cs typeface="Times New Roman"/>
              </a:rPr>
              <a:t> </a:t>
            </a:r>
            <a:r>
              <a:rPr sz="2400" dirty="0">
                <a:latin typeface="Times New Roman"/>
                <a:cs typeface="Times New Roman"/>
              </a:rPr>
              <a:t>Uses</a:t>
            </a:r>
            <a:r>
              <a:rPr sz="2400" spc="-35" dirty="0">
                <a:latin typeface="Times New Roman"/>
                <a:cs typeface="Times New Roman"/>
              </a:rPr>
              <a:t> </a:t>
            </a:r>
            <a:r>
              <a:rPr sz="2400" dirty="0">
                <a:latin typeface="Times New Roman"/>
                <a:cs typeface="Times New Roman"/>
              </a:rPr>
              <a:t>Linux</a:t>
            </a:r>
            <a:r>
              <a:rPr sz="2400" spc="-35" dirty="0">
                <a:latin typeface="Times New Roman"/>
                <a:cs typeface="Times New Roman"/>
              </a:rPr>
              <a:t> </a:t>
            </a:r>
            <a:r>
              <a:rPr sz="2400" dirty="0">
                <a:latin typeface="Times New Roman"/>
                <a:cs typeface="Times New Roman"/>
              </a:rPr>
              <a:t>kernel</a:t>
            </a:r>
            <a:r>
              <a:rPr sz="2400" spc="-30" dirty="0">
                <a:latin typeface="Times New Roman"/>
                <a:cs typeface="Times New Roman"/>
              </a:rPr>
              <a:t> </a:t>
            </a:r>
            <a:r>
              <a:rPr sz="2400" dirty="0">
                <a:latin typeface="Times New Roman"/>
                <a:cs typeface="Times New Roman"/>
              </a:rPr>
              <a:t>as</a:t>
            </a:r>
            <a:r>
              <a:rPr sz="2400" spc="-35" dirty="0">
                <a:latin typeface="Times New Roman"/>
                <a:cs typeface="Times New Roman"/>
              </a:rPr>
              <a:t> </a:t>
            </a:r>
            <a:r>
              <a:rPr sz="2400" spc="-50" dirty="0">
                <a:latin typeface="Times New Roman"/>
                <a:cs typeface="Times New Roman"/>
              </a:rPr>
              <a:t>a </a:t>
            </a:r>
            <a:r>
              <a:rPr sz="2400" dirty="0">
                <a:latin typeface="Times New Roman"/>
                <a:cs typeface="Times New Roman"/>
              </a:rPr>
              <a:t>hypervisor.</a:t>
            </a:r>
            <a:r>
              <a:rPr sz="2400" spc="-20" dirty="0">
                <a:latin typeface="Times New Roman"/>
                <a:cs typeface="Times New Roman"/>
              </a:rPr>
              <a:t> </a:t>
            </a:r>
            <a:r>
              <a:rPr sz="2400" dirty="0">
                <a:latin typeface="Times New Roman"/>
                <a:cs typeface="Times New Roman"/>
              </a:rPr>
              <a:t>Each</a:t>
            </a:r>
            <a:r>
              <a:rPr sz="2400" spc="-20" dirty="0">
                <a:latin typeface="Times New Roman"/>
                <a:cs typeface="Times New Roman"/>
              </a:rPr>
              <a:t> </a:t>
            </a:r>
            <a:r>
              <a:rPr sz="2400" dirty="0">
                <a:latin typeface="Times New Roman"/>
                <a:cs typeface="Times New Roman"/>
              </a:rPr>
              <a:t>VM</a:t>
            </a:r>
            <a:r>
              <a:rPr sz="2400" spc="-25" dirty="0">
                <a:latin typeface="Times New Roman"/>
                <a:cs typeface="Times New Roman"/>
              </a:rPr>
              <a:t> </a:t>
            </a:r>
            <a:r>
              <a:rPr sz="2400" dirty="0">
                <a:latin typeface="Times New Roman"/>
                <a:cs typeface="Times New Roman"/>
              </a:rPr>
              <a:t>uses</a:t>
            </a:r>
            <a:r>
              <a:rPr sz="2400" spc="-25" dirty="0">
                <a:latin typeface="Times New Roman"/>
                <a:cs typeface="Times New Roman"/>
              </a:rPr>
              <a:t> </a:t>
            </a:r>
            <a:r>
              <a:rPr sz="2400" dirty="0">
                <a:latin typeface="Times New Roman"/>
                <a:cs typeface="Times New Roman"/>
              </a:rPr>
              <a:t>its</a:t>
            </a:r>
            <a:r>
              <a:rPr sz="2400" spc="-20" dirty="0">
                <a:latin typeface="Times New Roman"/>
                <a:cs typeface="Times New Roman"/>
              </a:rPr>
              <a:t> </a:t>
            </a:r>
            <a:r>
              <a:rPr sz="2400" dirty="0">
                <a:latin typeface="Times New Roman"/>
                <a:cs typeface="Times New Roman"/>
              </a:rPr>
              <a:t>own</a:t>
            </a:r>
            <a:r>
              <a:rPr sz="2400" spc="-20" dirty="0">
                <a:latin typeface="Times New Roman"/>
                <a:cs typeface="Times New Roman"/>
              </a:rPr>
              <a:t> </a:t>
            </a:r>
            <a:r>
              <a:rPr sz="2400" dirty="0">
                <a:latin typeface="Times New Roman"/>
                <a:cs typeface="Times New Roman"/>
              </a:rPr>
              <a:t>unique</a:t>
            </a:r>
            <a:r>
              <a:rPr sz="2400" spc="-20" dirty="0">
                <a:latin typeface="Times New Roman"/>
                <a:cs typeface="Times New Roman"/>
              </a:rPr>
              <a:t> </a:t>
            </a:r>
            <a:r>
              <a:rPr sz="2400" dirty="0">
                <a:latin typeface="Times New Roman"/>
                <a:cs typeface="Times New Roman"/>
              </a:rPr>
              <a:t>kernel.</a:t>
            </a:r>
            <a:r>
              <a:rPr sz="2400" spc="-20" dirty="0">
                <a:latin typeface="Times New Roman"/>
                <a:cs typeface="Times New Roman"/>
              </a:rPr>
              <a:t> Uses </a:t>
            </a:r>
            <a:r>
              <a:rPr sz="2400" dirty="0">
                <a:latin typeface="Times New Roman"/>
                <a:cs typeface="Times New Roman"/>
              </a:rPr>
              <a:t>processor</a:t>
            </a:r>
            <a:r>
              <a:rPr sz="2400" spc="-45" dirty="0">
                <a:latin typeface="Times New Roman"/>
                <a:cs typeface="Times New Roman"/>
              </a:rPr>
              <a:t> </a:t>
            </a:r>
            <a:r>
              <a:rPr sz="2400" dirty="0">
                <a:latin typeface="Times New Roman"/>
                <a:cs typeface="Times New Roman"/>
              </a:rPr>
              <a:t>virtualization</a:t>
            </a:r>
            <a:r>
              <a:rPr sz="2400" spc="-40" dirty="0">
                <a:latin typeface="Times New Roman"/>
                <a:cs typeface="Times New Roman"/>
              </a:rPr>
              <a:t> </a:t>
            </a:r>
            <a:r>
              <a:rPr sz="2400" dirty="0">
                <a:latin typeface="Times New Roman"/>
                <a:cs typeface="Times New Roman"/>
              </a:rPr>
              <a:t>extensions</a:t>
            </a:r>
            <a:r>
              <a:rPr sz="2400" spc="-45" dirty="0">
                <a:latin typeface="Times New Roman"/>
                <a:cs typeface="Times New Roman"/>
              </a:rPr>
              <a:t> </a:t>
            </a:r>
            <a:r>
              <a:rPr sz="2400" spc="-10" dirty="0">
                <a:latin typeface="Times New Roman"/>
                <a:cs typeface="Times New Roman"/>
              </a:rPr>
              <a:t>(Intel-</a:t>
            </a:r>
            <a:r>
              <a:rPr sz="2400" dirty="0">
                <a:latin typeface="Times New Roman"/>
                <a:cs typeface="Times New Roman"/>
              </a:rPr>
              <a:t>VT</a:t>
            </a:r>
            <a:r>
              <a:rPr sz="2400" spc="-40" dirty="0">
                <a:latin typeface="Times New Roman"/>
                <a:cs typeface="Times New Roman"/>
              </a:rPr>
              <a:t> </a:t>
            </a:r>
            <a:r>
              <a:rPr sz="2400" dirty="0">
                <a:latin typeface="Times New Roman"/>
                <a:cs typeface="Times New Roman"/>
              </a:rPr>
              <a:t>and</a:t>
            </a:r>
            <a:r>
              <a:rPr sz="2400" spc="-45" dirty="0">
                <a:latin typeface="Times New Roman"/>
                <a:cs typeface="Times New Roman"/>
              </a:rPr>
              <a:t> </a:t>
            </a:r>
            <a:r>
              <a:rPr sz="2400" spc="-30" dirty="0">
                <a:latin typeface="Times New Roman"/>
                <a:cs typeface="Times New Roman"/>
              </a:rPr>
              <a:t>AMD-</a:t>
            </a:r>
            <a:r>
              <a:rPr sz="2400" spc="-25" dirty="0">
                <a:latin typeface="Times New Roman"/>
                <a:cs typeface="Times New Roman"/>
              </a:rPr>
              <a:t>V).</a:t>
            </a:r>
            <a:endParaRPr sz="2400">
              <a:latin typeface="Times New Roman"/>
              <a:cs typeface="Times New Roman"/>
            </a:endParaRPr>
          </a:p>
          <a:p>
            <a:pPr marL="355600" marR="434975" indent="-342900">
              <a:lnSpc>
                <a:spcPts val="2580"/>
              </a:lnSpc>
              <a:spcBef>
                <a:spcPts val="600"/>
              </a:spcBef>
              <a:buClr>
                <a:srgbClr val="053CE8"/>
              </a:buClr>
              <a:buSzPct val="75000"/>
              <a:buFont typeface="Wingdings"/>
              <a:buChar char=""/>
              <a:tabLst>
                <a:tab pos="355600" algn="l"/>
              </a:tabLst>
            </a:pPr>
            <a:r>
              <a:rPr sz="2400" spc="-20" dirty="0">
                <a:latin typeface="Times New Roman"/>
                <a:cs typeface="Times New Roman"/>
              </a:rPr>
              <a:t>User-</a:t>
            </a:r>
            <a:r>
              <a:rPr sz="2400" dirty="0">
                <a:latin typeface="Times New Roman"/>
                <a:cs typeface="Times New Roman"/>
              </a:rPr>
              <a:t>Mode</a:t>
            </a:r>
            <a:r>
              <a:rPr sz="2400" spc="-30" dirty="0">
                <a:latin typeface="Times New Roman"/>
                <a:cs typeface="Times New Roman"/>
              </a:rPr>
              <a:t> </a:t>
            </a:r>
            <a:r>
              <a:rPr sz="2400" dirty="0">
                <a:latin typeface="Times New Roman"/>
                <a:cs typeface="Times New Roman"/>
              </a:rPr>
              <a:t>Linux</a:t>
            </a:r>
            <a:r>
              <a:rPr sz="2400" spc="-30" dirty="0">
                <a:latin typeface="Times New Roman"/>
                <a:cs typeface="Times New Roman"/>
              </a:rPr>
              <a:t> </a:t>
            </a:r>
            <a:r>
              <a:rPr sz="2400" dirty="0">
                <a:latin typeface="Times New Roman"/>
                <a:cs typeface="Times New Roman"/>
              </a:rPr>
              <a:t>(</a:t>
            </a:r>
            <a:r>
              <a:rPr sz="2400" b="1" dirty="0">
                <a:solidFill>
                  <a:srgbClr val="053CE8"/>
                </a:solidFill>
                <a:latin typeface="Times New Roman"/>
                <a:cs typeface="Times New Roman"/>
              </a:rPr>
              <a:t>UML</a:t>
            </a:r>
            <a:r>
              <a:rPr sz="2400" dirty="0">
                <a:latin typeface="Times New Roman"/>
                <a:cs typeface="Times New Roman"/>
              </a:rPr>
              <a:t>):</a:t>
            </a:r>
            <a:r>
              <a:rPr sz="2400" spc="-35" dirty="0">
                <a:latin typeface="Times New Roman"/>
                <a:cs typeface="Times New Roman"/>
              </a:rPr>
              <a:t> </a:t>
            </a:r>
            <a:r>
              <a:rPr sz="2400" dirty="0">
                <a:latin typeface="Times New Roman"/>
                <a:cs typeface="Times New Roman"/>
              </a:rPr>
              <a:t>Uses</a:t>
            </a:r>
            <a:r>
              <a:rPr sz="2400" spc="-35" dirty="0">
                <a:latin typeface="Times New Roman"/>
                <a:cs typeface="Times New Roman"/>
              </a:rPr>
              <a:t> </a:t>
            </a:r>
            <a:r>
              <a:rPr sz="2400" dirty="0">
                <a:latin typeface="Times New Roman"/>
                <a:cs typeface="Times New Roman"/>
              </a:rPr>
              <a:t>an</a:t>
            </a:r>
            <a:r>
              <a:rPr sz="2400" spc="-35" dirty="0">
                <a:latin typeface="Times New Roman"/>
                <a:cs typeface="Times New Roman"/>
              </a:rPr>
              <a:t> </a:t>
            </a:r>
            <a:r>
              <a:rPr sz="2400" dirty="0">
                <a:latin typeface="Times New Roman"/>
                <a:cs typeface="Times New Roman"/>
              </a:rPr>
              <a:t>executable</a:t>
            </a:r>
            <a:r>
              <a:rPr sz="2400" spc="-35" dirty="0">
                <a:latin typeface="Times New Roman"/>
                <a:cs typeface="Times New Roman"/>
              </a:rPr>
              <a:t> </a:t>
            </a:r>
            <a:r>
              <a:rPr sz="2400" dirty="0">
                <a:latin typeface="Times New Roman"/>
                <a:cs typeface="Times New Roman"/>
              </a:rPr>
              <a:t>kernel</a:t>
            </a:r>
            <a:r>
              <a:rPr sz="2400" spc="-35" dirty="0">
                <a:latin typeface="Times New Roman"/>
                <a:cs typeface="Times New Roman"/>
              </a:rPr>
              <a:t> </a:t>
            </a:r>
            <a:r>
              <a:rPr sz="2400" dirty="0">
                <a:latin typeface="Times New Roman"/>
                <a:cs typeface="Times New Roman"/>
              </a:rPr>
              <a:t>and</a:t>
            </a:r>
            <a:r>
              <a:rPr sz="2400" spc="-35" dirty="0">
                <a:latin typeface="Times New Roman"/>
                <a:cs typeface="Times New Roman"/>
              </a:rPr>
              <a:t> </a:t>
            </a:r>
            <a:r>
              <a:rPr sz="2400" spc="-50" dirty="0">
                <a:latin typeface="Times New Roman"/>
                <a:cs typeface="Times New Roman"/>
              </a:rPr>
              <a:t>a </a:t>
            </a:r>
            <a:r>
              <a:rPr sz="2400" dirty="0">
                <a:latin typeface="Times New Roman"/>
                <a:cs typeface="Times New Roman"/>
              </a:rPr>
              <a:t>root</a:t>
            </a:r>
            <a:r>
              <a:rPr sz="2400" spc="-30" dirty="0">
                <a:latin typeface="Times New Roman"/>
                <a:cs typeface="Times New Roman"/>
              </a:rPr>
              <a:t> </a:t>
            </a:r>
            <a:r>
              <a:rPr sz="2400" dirty="0">
                <a:latin typeface="Times New Roman"/>
                <a:cs typeface="Times New Roman"/>
              </a:rPr>
              <a:t>file</a:t>
            </a:r>
            <a:r>
              <a:rPr sz="2400" spc="-20" dirty="0">
                <a:latin typeface="Times New Roman"/>
                <a:cs typeface="Times New Roman"/>
              </a:rPr>
              <a:t> </a:t>
            </a:r>
            <a:r>
              <a:rPr sz="2400" dirty="0">
                <a:latin typeface="Times New Roman"/>
                <a:cs typeface="Times New Roman"/>
              </a:rPr>
              <a:t>system</a:t>
            </a:r>
            <a:r>
              <a:rPr sz="2400" spc="-20"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create</a:t>
            </a:r>
            <a:r>
              <a:rPr sz="2400" spc="-20" dirty="0">
                <a:latin typeface="Times New Roman"/>
                <a:cs typeface="Times New Roman"/>
              </a:rPr>
              <a:t> </a:t>
            </a:r>
            <a:r>
              <a:rPr sz="2400" dirty="0">
                <a:latin typeface="Times New Roman"/>
                <a:cs typeface="Times New Roman"/>
              </a:rPr>
              <a:t>a</a:t>
            </a:r>
            <a:r>
              <a:rPr sz="2400" spc="-15" dirty="0">
                <a:latin typeface="Times New Roman"/>
                <a:cs typeface="Times New Roman"/>
              </a:rPr>
              <a:t> </a:t>
            </a:r>
            <a:r>
              <a:rPr sz="2400" spc="-25" dirty="0">
                <a:latin typeface="Times New Roman"/>
                <a:cs typeface="Times New Roman"/>
              </a:rPr>
              <a:t>VM.</a:t>
            </a:r>
            <a:endParaRPr sz="2400">
              <a:latin typeface="Times New Roman"/>
              <a:cs typeface="Times New Roman"/>
            </a:endParaRPr>
          </a:p>
        </p:txBody>
      </p:sp>
      <p:sp>
        <p:nvSpPr>
          <p:cNvPr id="8" name="Slide Number Placeholder 7">
            <a:extLst>
              <a:ext uri="{FF2B5EF4-FFF2-40B4-BE49-F238E27FC236}">
                <a16:creationId xmlns:a16="http://schemas.microsoft.com/office/drawing/2014/main" id="{7BBA9A62-6507-7EA2-82F7-386F87B61FC4}"/>
              </a:ext>
            </a:extLst>
          </p:cNvPr>
          <p:cNvSpPr>
            <a:spLocks noGrp="1"/>
          </p:cNvSpPr>
          <p:nvPr>
            <p:ph type="sldNum" sz="quarter" idx="7"/>
          </p:nvPr>
        </p:nvSpPr>
        <p:spPr>
          <a:xfrm>
            <a:off x="4330700" y="6579869"/>
            <a:ext cx="850900" cy="269304"/>
          </a:xfrm>
        </p:spPr>
        <p:txBody>
          <a:bodyPr/>
          <a:lstStyle/>
          <a:p>
            <a:pPr marL="12700">
              <a:lnSpc>
                <a:spcPts val="2065"/>
              </a:lnSpc>
            </a:pPr>
            <a:fld id="{81D60167-4931-47E6-BA6A-407CBD079E47}" type="slidenum">
              <a:rPr spc="-50" smtClean="0"/>
              <a:t>20</a:t>
            </a:fld>
            <a:endParaRPr spc="-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4813" rIns="0" bIns="0" rtlCol="0">
            <a:spAutoFit/>
          </a:bodyPr>
          <a:lstStyle/>
          <a:p>
            <a:pPr marL="2374265">
              <a:lnSpc>
                <a:spcPct val="100000"/>
              </a:lnSpc>
              <a:spcBef>
                <a:spcPts val="95"/>
              </a:spcBef>
            </a:pPr>
            <a:r>
              <a:rPr sz="3200" dirty="0"/>
              <a:t>VMware</a:t>
            </a:r>
            <a:r>
              <a:rPr sz="3200" spc="-130" dirty="0"/>
              <a:t> </a:t>
            </a:r>
            <a:r>
              <a:rPr sz="3200" spc="-10" dirty="0"/>
              <a:t>ESX/ESXi</a:t>
            </a:r>
            <a:endParaRPr sz="3200"/>
          </a:p>
        </p:txBody>
      </p:sp>
      <p:sp>
        <p:nvSpPr>
          <p:cNvPr id="3" name="object 3"/>
          <p:cNvSpPr txBox="1"/>
          <p:nvPr/>
        </p:nvSpPr>
        <p:spPr>
          <a:xfrm>
            <a:off x="457454" y="1316228"/>
            <a:ext cx="8086725" cy="4261485"/>
          </a:xfrm>
          <a:prstGeom prst="rect">
            <a:avLst/>
          </a:prstGeom>
        </p:spPr>
        <p:txBody>
          <a:bodyPr vert="horz" wrap="square" lIns="0" tIns="12700" rIns="0" bIns="0" rtlCol="0">
            <a:spAutoFit/>
          </a:bodyPr>
          <a:lstStyle/>
          <a:p>
            <a:pPr marL="354965" marR="5080" indent="-342900">
              <a:lnSpc>
                <a:spcPct val="100000"/>
              </a:lnSpc>
              <a:spcBef>
                <a:spcPts val="100"/>
              </a:spcBef>
              <a:buSzPct val="75000"/>
              <a:buFont typeface="Wingdings"/>
              <a:buChar char=""/>
              <a:tabLst>
                <a:tab pos="354965" algn="l"/>
              </a:tabLst>
            </a:pPr>
            <a:r>
              <a:rPr sz="2400" dirty="0">
                <a:solidFill>
                  <a:srgbClr val="053CE8"/>
                </a:solidFill>
                <a:latin typeface="Times New Roman"/>
                <a:cs typeface="Times New Roman"/>
              </a:rPr>
              <a:t>ESX</a:t>
            </a:r>
            <a:r>
              <a:rPr sz="2400" dirty="0">
                <a:latin typeface="Times New Roman"/>
                <a:cs typeface="Times New Roman"/>
              </a:rPr>
              <a:t>:</a:t>
            </a:r>
            <a:r>
              <a:rPr sz="2400" spc="-40" dirty="0">
                <a:latin typeface="Times New Roman"/>
                <a:cs typeface="Times New Roman"/>
              </a:rPr>
              <a:t> </a:t>
            </a:r>
            <a:r>
              <a:rPr sz="2400" dirty="0">
                <a:latin typeface="Times New Roman"/>
                <a:cs typeface="Times New Roman"/>
              </a:rPr>
              <a:t>Bare</a:t>
            </a:r>
            <a:r>
              <a:rPr sz="2400" spc="-40" dirty="0">
                <a:latin typeface="Times New Roman"/>
                <a:cs typeface="Times New Roman"/>
              </a:rPr>
              <a:t> </a:t>
            </a:r>
            <a:r>
              <a:rPr sz="2400" dirty="0">
                <a:latin typeface="Times New Roman"/>
                <a:cs typeface="Times New Roman"/>
              </a:rPr>
              <a:t>metal</a:t>
            </a:r>
            <a:r>
              <a:rPr sz="2400" spc="-35" dirty="0">
                <a:latin typeface="Times New Roman"/>
                <a:cs typeface="Times New Roman"/>
              </a:rPr>
              <a:t> </a:t>
            </a:r>
            <a:r>
              <a:rPr sz="2400" dirty="0">
                <a:latin typeface="Times New Roman"/>
                <a:cs typeface="Times New Roman"/>
              </a:rPr>
              <a:t>embedded</a:t>
            </a:r>
            <a:r>
              <a:rPr sz="2400" spc="-40" dirty="0">
                <a:latin typeface="Times New Roman"/>
                <a:cs typeface="Times New Roman"/>
              </a:rPr>
              <a:t> </a:t>
            </a:r>
            <a:r>
              <a:rPr sz="2400" dirty="0">
                <a:latin typeface="Times New Roman"/>
                <a:cs typeface="Times New Roman"/>
              </a:rPr>
              <a:t>hypervisor</a:t>
            </a:r>
            <a:r>
              <a:rPr sz="2400" spc="-40" dirty="0">
                <a:latin typeface="Times New Roman"/>
                <a:cs typeface="Times New Roman"/>
              </a:rPr>
              <a:t> </a:t>
            </a:r>
            <a:r>
              <a:rPr sz="2400" dirty="0">
                <a:latin typeface="Times New Roman"/>
                <a:cs typeface="Times New Roman"/>
              </a:rPr>
              <a:t>for</a:t>
            </a:r>
            <a:r>
              <a:rPr sz="2400" spc="-35" dirty="0">
                <a:latin typeface="Times New Roman"/>
                <a:cs typeface="Times New Roman"/>
              </a:rPr>
              <a:t> </a:t>
            </a:r>
            <a:r>
              <a:rPr sz="2400" dirty="0">
                <a:latin typeface="Times New Roman"/>
                <a:cs typeface="Times New Roman"/>
              </a:rPr>
              <a:t>server</a:t>
            </a:r>
            <a:r>
              <a:rPr sz="2400" spc="-40" dirty="0">
                <a:latin typeface="Times New Roman"/>
                <a:cs typeface="Times New Roman"/>
              </a:rPr>
              <a:t> </a:t>
            </a:r>
            <a:r>
              <a:rPr sz="2400" spc="-10" dirty="0">
                <a:latin typeface="Times New Roman"/>
                <a:cs typeface="Times New Roman"/>
              </a:rPr>
              <a:t>virtualization </a:t>
            </a:r>
            <a:r>
              <a:rPr sz="2400" dirty="0">
                <a:latin typeface="Times New Roman"/>
                <a:cs typeface="Times New Roman"/>
              </a:rPr>
              <a:t>in</a:t>
            </a:r>
            <a:r>
              <a:rPr sz="2400" spc="-30" dirty="0">
                <a:latin typeface="Times New Roman"/>
                <a:cs typeface="Times New Roman"/>
              </a:rPr>
              <a:t> </a:t>
            </a:r>
            <a:r>
              <a:rPr sz="2400" dirty="0">
                <a:latin typeface="Times New Roman"/>
                <a:cs typeface="Times New Roman"/>
              </a:rPr>
              <a:t>an</a:t>
            </a:r>
            <a:r>
              <a:rPr sz="2400" spc="-25" dirty="0">
                <a:latin typeface="Times New Roman"/>
                <a:cs typeface="Times New Roman"/>
              </a:rPr>
              <a:t> </a:t>
            </a:r>
            <a:r>
              <a:rPr sz="2400" dirty="0">
                <a:latin typeface="Times New Roman"/>
                <a:cs typeface="Times New Roman"/>
              </a:rPr>
              <a:t>enterprise</a:t>
            </a:r>
            <a:r>
              <a:rPr sz="2400" spc="-25" dirty="0">
                <a:latin typeface="Times New Roman"/>
                <a:cs typeface="Times New Roman"/>
              </a:rPr>
              <a:t> </a:t>
            </a:r>
            <a:r>
              <a:rPr sz="2400" dirty="0">
                <a:latin typeface="Times New Roman"/>
                <a:cs typeface="Times New Roman"/>
              </a:rPr>
              <a:t>data</a:t>
            </a:r>
            <a:r>
              <a:rPr sz="2400" spc="-25" dirty="0">
                <a:latin typeface="Times New Roman"/>
                <a:cs typeface="Times New Roman"/>
              </a:rPr>
              <a:t> </a:t>
            </a:r>
            <a:r>
              <a:rPr sz="2400" dirty="0">
                <a:latin typeface="Times New Roman"/>
                <a:cs typeface="Times New Roman"/>
              </a:rPr>
              <a:t>center.</a:t>
            </a:r>
            <a:r>
              <a:rPr sz="2400" spc="-25" dirty="0">
                <a:latin typeface="Times New Roman"/>
                <a:cs typeface="Times New Roman"/>
              </a:rPr>
              <a:t> </a:t>
            </a:r>
            <a:r>
              <a:rPr sz="2400" dirty="0">
                <a:latin typeface="Times New Roman"/>
                <a:cs typeface="Times New Roman"/>
              </a:rPr>
              <a:t>Creates</a:t>
            </a:r>
            <a:r>
              <a:rPr sz="2400" spc="-30" dirty="0">
                <a:latin typeface="Times New Roman"/>
                <a:cs typeface="Times New Roman"/>
              </a:rPr>
              <a:t> </a:t>
            </a:r>
            <a:r>
              <a:rPr sz="2400" dirty="0">
                <a:latin typeface="Times New Roman"/>
                <a:cs typeface="Times New Roman"/>
              </a:rPr>
              <a:t>VM0</a:t>
            </a:r>
            <a:r>
              <a:rPr sz="2400" spc="-25" dirty="0">
                <a:latin typeface="Times New Roman"/>
                <a:cs typeface="Times New Roman"/>
              </a:rPr>
              <a:t> </a:t>
            </a:r>
            <a:r>
              <a:rPr sz="2400" dirty="0">
                <a:latin typeface="Times New Roman"/>
                <a:cs typeface="Times New Roman"/>
              </a:rPr>
              <a:t>for</a:t>
            </a:r>
            <a:r>
              <a:rPr sz="2400" spc="-25" dirty="0">
                <a:latin typeface="Times New Roman"/>
                <a:cs typeface="Times New Roman"/>
              </a:rPr>
              <a:t> </a:t>
            </a:r>
            <a:r>
              <a:rPr sz="2400" dirty="0">
                <a:latin typeface="Times New Roman"/>
                <a:cs typeface="Times New Roman"/>
              </a:rPr>
              <a:t>a</a:t>
            </a:r>
            <a:r>
              <a:rPr sz="2400" spc="-25" dirty="0">
                <a:latin typeface="Times New Roman"/>
                <a:cs typeface="Times New Roman"/>
              </a:rPr>
              <a:t> </a:t>
            </a:r>
            <a:r>
              <a:rPr sz="2400" dirty="0">
                <a:latin typeface="Times New Roman"/>
                <a:cs typeface="Times New Roman"/>
              </a:rPr>
              <a:t>Linux</a:t>
            </a:r>
            <a:r>
              <a:rPr sz="2400" spc="-25" dirty="0">
                <a:latin typeface="Times New Roman"/>
                <a:cs typeface="Times New Roman"/>
              </a:rPr>
              <a:t> </a:t>
            </a:r>
            <a:r>
              <a:rPr sz="2400" spc="-10" dirty="0">
                <a:latin typeface="Times New Roman"/>
                <a:cs typeface="Times New Roman"/>
              </a:rPr>
              <a:t>based </a:t>
            </a:r>
            <a:r>
              <a:rPr sz="2400" dirty="0">
                <a:latin typeface="Times New Roman"/>
                <a:cs typeface="Times New Roman"/>
              </a:rPr>
              <a:t>service</a:t>
            </a:r>
            <a:r>
              <a:rPr sz="2400" spc="-35" dirty="0">
                <a:latin typeface="Times New Roman"/>
                <a:cs typeface="Times New Roman"/>
              </a:rPr>
              <a:t> </a:t>
            </a:r>
            <a:r>
              <a:rPr sz="2400" dirty="0">
                <a:latin typeface="Times New Roman"/>
                <a:cs typeface="Times New Roman"/>
              </a:rPr>
              <a:t>consol</a:t>
            </a:r>
            <a:r>
              <a:rPr sz="2400" spc="-35" dirty="0">
                <a:latin typeface="Times New Roman"/>
                <a:cs typeface="Times New Roman"/>
              </a:rPr>
              <a:t> </a:t>
            </a:r>
            <a:r>
              <a:rPr sz="2400" dirty="0">
                <a:latin typeface="Times New Roman"/>
                <a:cs typeface="Times New Roman"/>
              </a:rPr>
              <a:t>for</a:t>
            </a:r>
            <a:r>
              <a:rPr sz="2400" spc="-35" dirty="0">
                <a:latin typeface="Times New Roman"/>
                <a:cs typeface="Times New Roman"/>
              </a:rPr>
              <a:t> </a:t>
            </a:r>
            <a:r>
              <a:rPr sz="2400" dirty="0">
                <a:latin typeface="Times New Roman"/>
                <a:cs typeface="Times New Roman"/>
              </a:rPr>
              <a:t>management</a:t>
            </a:r>
            <a:r>
              <a:rPr sz="2400" spc="-35" dirty="0">
                <a:latin typeface="Times New Roman"/>
                <a:cs typeface="Times New Roman"/>
              </a:rPr>
              <a:t> </a:t>
            </a:r>
            <a:r>
              <a:rPr sz="2400" dirty="0">
                <a:latin typeface="Times New Roman"/>
                <a:cs typeface="Times New Roman"/>
              </a:rPr>
              <a:t>of</a:t>
            </a:r>
            <a:r>
              <a:rPr sz="2400" spc="-35" dirty="0">
                <a:latin typeface="Times New Roman"/>
                <a:cs typeface="Times New Roman"/>
              </a:rPr>
              <a:t> </a:t>
            </a:r>
            <a:r>
              <a:rPr sz="2400" dirty="0">
                <a:latin typeface="Times New Roman"/>
                <a:cs typeface="Times New Roman"/>
              </a:rPr>
              <a:t>hypervisor</a:t>
            </a:r>
            <a:r>
              <a:rPr sz="2400" spc="-35" dirty="0">
                <a:latin typeface="Times New Roman"/>
                <a:cs typeface="Times New Roman"/>
              </a:rPr>
              <a:t> </a:t>
            </a:r>
            <a:r>
              <a:rPr sz="2400" dirty="0">
                <a:latin typeface="Times New Roman"/>
                <a:cs typeface="Times New Roman"/>
              </a:rPr>
              <a:t>and</a:t>
            </a:r>
            <a:r>
              <a:rPr sz="2400" spc="-35" dirty="0">
                <a:latin typeface="Times New Roman"/>
                <a:cs typeface="Times New Roman"/>
              </a:rPr>
              <a:t> </a:t>
            </a:r>
            <a:r>
              <a:rPr sz="2400" dirty="0">
                <a:latin typeface="Times New Roman"/>
                <a:cs typeface="Times New Roman"/>
              </a:rPr>
              <a:t>other</a:t>
            </a:r>
            <a:r>
              <a:rPr sz="2400" spc="-35" dirty="0">
                <a:latin typeface="Times New Roman"/>
                <a:cs typeface="Times New Roman"/>
              </a:rPr>
              <a:t> </a:t>
            </a:r>
            <a:r>
              <a:rPr sz="2400" spc="-25" dirty="0">
                <a:latin typeface="Times New Roman"/>
                <a:cs typeface="Times New Roman"/>
              </a:rPr>
              <a:t>VMs</a:t>
            </a:r>
            <a:endParaRPr sz="2400">
              <a:latin typeface="Times New Roman"/>
              <a:cs typeface="Times New Roman"/>
            </a:endParaRPr>
          </a:p>
          <a:p>
            <a:pPr marL="755650" marR="114935" lvl="1" indent="-285750">
              <a:lnSpc>
                <a:spcPct val="100000"/>
              </a:lnSpc>
              <a:spcBef>
                <a:spcPts val="555"/>
              </a:spcBef>
              <a:buSzPct val="66666"/>
              <a:buFont typeface="Wingdings"/>
              <a:buChar char=""/>
              <a:tabLst>
                <a:tab pos="755650" algn="l"/>
              </a:tabLst>
            </a:pPr>
            <a:r>
              <a:rPr sz="2400" dirty="0">
                <a:latin typeface="Times New Roman"/>
                <a:cs typeface="Times New Roman"/>
              </a:rPr>
              <a:t>vMotion</a:t>
            </a:r>
            <a:r>
              <a:rPr sz="2400" spc="-25" dirty="0">
                <a:latin typeface="Times New Roman"/>
                <a:cs typeface="Times New Roman"/>
              </a:rPr>
              <a:t> </a:t>
            </a:r>
            <a:r>
              <a:rPr sz="2400" dirty="0">
                <a:latin typeface="Times New Roman"/>
                <a:cs typeface="Times New Roman"/>
              </a:rPr>
              <a:t>feature</a:t>
            </a:r>
            <a:r>
              <a:rPr sz="2400" spc="-20" dirty="0">
                <a:latin typeface="Times New Roman"/>
                <a:cs typeface="Times New Roman"/>
              </a:rPr>
              <a:t> </a:t>
            </a:r>
            <a:r>
              <a:rPr sz="2400" dirty="0">
                <a:latin typeface="Times New Roman"/>
                <a:cs typeface="Times New Roman"/>
              </a:rPr>
              <a:t>in</a:t>
            </a:r>
            <a:r>
              <a:rPr sz="2400" spc="-20" dirty="0">
                <a:latin typeface="Times New Roman"/>
                <a:cs typeface="Times New Roman"/>
              </a:rPr>
              <a:t> </a:t>
            </a:r>
            <a:r>
              <a:rPr sz="2400" dirty="0">
                <a:latin typeface="Times New Roman"/>
                <a:cs typeface="Times New Roman"/>
              </a:rPr>
              <a:t>ESX</a:t>
            </a:r>
            <a:r>
              <a:rPr sz="2400" spc="-25" dirty="0">
                <a:latin typeface="Times New Roman"/>
                <a:cs typeface="Times New Roman"/>
              </a:rPr>
              <a:t> </a:t>
            </a:r>
            <a:r>
              <a:rPr sz="2400" dirty="0">
                <a:latin typeface="Times New Roman"/>
                <a:cs typeface="Times New Roman"/>
              </a:rPr>
              <a:t>allows</a:t>
            </a:r>
            <a:r>
              <a:rPr sz="2400" spc="-20" dirty="0">
                <a:latin typeface="Times New Roman"/>
                <a:cs typeface="Times New Roman"/>
              </a:rPr>
              <a:t> </a:t>
            </a:r>
            <a:r>
              <a:rPr sz="2400" dirty="0">
                <a:latin typeface="Times New Roman"/>
                <a:cs typeface="Times New Roman"/>
              </a:rPr>
              <a:t>a</a:t>
            </a:r>
            <a:r>
              <a:rPr sz="2400" spc="-20" dirty="0">
                <a:latin typeface="Times New Roman"/>
                <a:cs typeface="Times New Roman"/>
              </a:rPr>
              <a:t> </a:t>
            </a:r>
            <a:r>
              <a:rPr sz="2400" dirty="0">
                <a:latin typeface="Times New Roman"/>
                <a:cs typeface="Times New Roman"/>
              </a:rPr>
              <a:t>live</a:t>
            </a:r>
            <a:r>
              <a:rPr sz="2400" spc="-20" dirty="0">
                <a:latin typeface="Times New Roman"/>
                <a:cs typeface="Times New Roman"/>
              </a:rPr>
              <a:t> </a:t>
            </a:r>
            <a:r>
              <a:rPr sz="2400" dirty="0">
                <a:latin typeface="Times New Roman"/>
                <a:cs typeface="Times New Roman"/>
              </a:rPr>
              <a:t>VM</a:t>
            </a:r>
            <a:r>
              <a:rPr sz="2400" spc="-25"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move</a:t>
            </a:r>
            <a:r>
              <a:rPr sz="2400" spc="-20" dirty="0">
                <a:latin typeface="Times New Roman"/>
                <a:cs typeface="Times New Roman"/>
              </a:rPr>
              <a:t> </a:t>
            </a:r>
            <a:r>
              <a:rPr sz="2400" spc="-25" dirty="0">
                <a:latin typeface="Times New Roman"/>
                <a:cs typeface="Times New Roman"/>
              </a:rPr>
              <a:t>to </a:t>
            </a:r>
            <a:r>
              <a:rPr sz="2400" dirty="0">
                <a:latin typeface="Times New Roman"/>
                <a:cs typeface="Times New Roman"/>
              </a:rPr>
              <a:t>another</a:t>
            </a:r>
            <a:r>
              <a:rPr sz="2400" spc="-25" dirty="0">
                <a:latin typeface="Times New Roman"/>
                <a:cs typeface="Times New Roman"/>
              </a:rPr>
              <a:t> </a:t>
            </a:r>
            <a:r>
              <a:rPr sz="2400" dirty="0">
                <a:latin typeface="Times New Roman"/>
                <a:cs typeface="Times New Roman"/>
              </a:rPr>
              <a:t>host.</a:t>
            </a:r>
            <a:r>
              <a:rPr sz="2400" spc="-25" dirty="0">
                <a:latin typeface="Times New Roman"/>
                <a:cs typeface="Times New Roman"/>
              </a:rPr>
              <a:t> </a:t>
            </a:r>
            <a:r>
              <a:rPr sz="2400" dirty="0">
                <a:latin typeface="Times New Roman"/>
                <a:cs typeface="Times New Roman"/>
              </a:rPr>
              <a:t>A</a:t>
            </a:r>
            <a:r>
              <a:rPr sz="2400" spc="-25" dirty="0">
                <a:latin typeface="Times New Roman"/>
                <a:cs typeface="Times New Roman"/>
              </a:rPr>
              <a:t> </a:t>
            </a:r>
            <a:r>
              <a:rPr sz="2400" dirty="0">
                <a:latin typeface="Times New Roman"/>
                <a:cs typeface="Times New Roman"/>
              </a:rPr>
              <a:t>copy</a:t>
            </a:r>
            <a:r>
              <a:rPr sz="2400" spc="-25"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dirty="0">
                <a:latin typeface="Times New Roman"/>
                <a:cs typeface="Times New Roman"/>
              </a:rPr>
              <a:t>memory</a:t>
            </a:r>
            <a:r>
              <a:rPr sz="2400" spc="-25" dirty="0">
                <a:latin typeface="Times New Roman"/>
                <a:cs typeface="Times New Roman"/>
              </a:rPr>
              <a:t> </a:t>
            </a:r>
            <a:r>
              <a:rPr sz="2400" dirty="0">
                <a:latin typeface="Times New Roman"/>
                <a:cs typeface="Times New Roman"/>
              </a:rPr>
              <a:t>is</a:t>
            </a:r>
            <a:r>
              <a:rPr sz="2400" spc="-25" dirty="0">
                <a:latin typeface="Times New Roman"/>
                <a:cs typeface="Times New Roman"/>
              </a:rPr>
              <a:t> </a:t>
            </a:r>
            <a:r>
              <a:rPr sz="2400" dirty="0">
                <a:latin typeface="Times New Roman"/>
                <a:cs typeface="Times New Roman"/>
              </a:rPr>
              <a:t>sent</a:t>
            </a:r>
            <a:r>
              <a:rPr sz="2400" spc="-25" dirty="0">
                <a:latin typeface="Times New Roman"/>
                <a:cs typeface="Times New Roman"/>
              </a:rPr>
              <a:t> </a:t>
            </a:r>
            <a:r>
              <a:rPr sz="2400" dirty="0">
                <a:latin typeface="Times New Roman"/>
                <a:cs typeface="Times New Roman"/>
              </a:rPr>
              <a:t>to</a:t>
            </a:r>
            <a:r>
              <a:rPr sz="2400" spc="-2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new</a:t>
            </a:r>
            <a:r>
              <a:rPr sz="2400" spc="-25" dirty="0">
                <a:latin typeface="Times New Roman"/>
                <a:cs typeface="Times New Roman"/>
              </a:rPr>
              <a:t> </a:t>
            </a:r>
            <a:r>
              <a:rPr sz="2400" spc="-10" dirty="0">
                <a:latin typeface="Times New Roman"/>
                <a:cs typeface="Times New Roman"/>
              </a:rPr>
              <a:t>location </a:t>
            </a:r>
            <a:r>
              <a:rPr sz="2400" dirty="0">
                <a:latin typeface="Times New Roman"/>
                <a:cs typeface="Times New Roman"/>
              </a:rPr>
              <a:t>and</a:t>
            </a:r>
            <a:r>
              <a:rPr sz="2400" spc="-25" dirty="0">
                <a:latin typeface="Times New Roman"/>
                <a:cs typeface="Times New Roman"/>
              </a:rPr>
              <a:t> </a:t>
            </a:r>
            <a:r>
              <a:rPr sz="2400" dirty="0">
                <a:latin typeface="Times New Roman"/>
                <a:cs typeface="Times New Roman"/>
              </a:rPr>
              <a:t>updated</a:t>
            </a:r>
            <a:r>
              <a:rPr sz="2400" spc="-20" dirty="0">
                <a:latin typeface="Times New Roman"/>
                <a:cs typeface="Times New Roman"/>
              </a:rPr>
              <a:t> </a:t>
            </a:r>
            <a:r>
              <a:rPr sz="2400" dirty="0">
                <a:latin typeface="Times New Roman"/>
                <a:cs typeface="Times New Roman"/>
              </a:rPr>
              <a:t>until</a:t>
            </a:r>
            <a:r>
              <a:rPr sz="2400" spc="-25"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spc="-10" dirty="0">
                <a:latin typeface="Times New Roman"/>
                <a:cs typeface="Times New Roman"/>
              </a:rPr>
              <a:t>transfer.</a:t>
            </a:r>
            <a:endParaRPr sz="2400">
              <a:latin typeface="Times New Roman"/>
              <a:cs typeface="Times New Roman"/>
            </a:endParaRPr>
          </a:p>
          <a:p>
            <a:pPr marL="355600" marR="310515" indent="-342900">
              <a:lnSpc>
                <a:spcPct val="100000"/>
              </a:lnSpc>
              <a:spcBef>
                <a:spcPts val="560"/>
              </a:spcBef>
              <a:buSzPct val="75000"/>
              <a:buFont typeface="Wingdings"/>
              <a:buChar char=""/>
              <a:tabLst>
                <a:tab pos="355600" algn="l"/>
              </a:tabLst>
            </a:pPr>
            <a:r>
              <a:rPr sz="2400" dirty="0">
                <a:solidFill>
                  <a:srgbClr val="053CE8"/>
                </a:solidFill>
                <a:latin typeface="Times New Roman"/>
                <a:cs typeface="Times New Roman"/>
              </a:rPr>
              <a:t>ESXi</a:t>
            </a:r>
            <a:r>
              <a:rPr sz="2400" dirty="0">
                <a:latin typeface="Times New Roman"/>
                <a:cs typeface="Times New Roman"/>
              </a:rPr>
              <a:t>:</a:t>
            </a:r>
            <a:r>
              <a:rPr sz="2400" spc="-40" dirty="0">
                <a:latin typeface="Times New Roman"/>
                <a:cs typeface="Times New Roman"/>
              </a:rPr>
              <a:t> </a:t>
            </a:r>
            <a:r>
              <a:rPr sz="2400" dirty="0">
                <a:latin typeface="Times New Roman"/>
                <a:cs typeface="Times New Roman"/>
              </a:rPr>
              <a:t>Smaller</a:t>
            </a:r>
            <a:r>
              <a:rPr sz="2400" spc="-40" dirty="0">
                <a:latin typeface="Times New Roman"/>
                <a:cs typeface="Times New Roman"/>
              </a:rPr>
              <a:t> </a:t>
            </a:r>
            <a:r>
              <a:rPr sz="2400" dirty="0">
                <a:latin typeface="Times New Roman"/>
                <a:cs typeface="Times New Roman"/>
              </a:rPr>
              <a:t>footprint</a:t>
            </a:r>
            <a:r>
              <a:rPr sz="2400" spc="-40" dirty="0">
                <a:latin typeface="Times New Roman"/>
                <a:cs typeface="Times New Roman"/>
              </a:rPr>
              <a:t> </a:t>
            </a:r>
            <a:r>
              <a:rPr sz="2400" dirty="0">
                <a:latin typeface="Times New Roman"/>
                <a:cs typeface="Times New Roman"/>
              </a:rPr>
              <a:t>version</a:t>
            </a:r>
            <a:r>
              <a:rPr sz="2400" spc="-40" dirty="0">
                <a:latin typeface="Times New Roman"/>
                <a:cs typeface="Times New Roman"/>
              </a:rPr>
              <a:t> </a:t>
            </a:r>
            <a:r>
              <a:rPr sz="2400" dirty="0">
                <a:latin typeface="Times New Roman"/>
                <a:cs typeface="Times New Roman"/>
              </a:rPr>
              <a:t>of</a:t>
            </a:r>
            <a:r>
              <a:rPr sz="2400" spc="-40" dirty="0">
                <a:latin typeface="Times New Roman"/>
                <a:cs typeface="Times New Roman"/>
              </a:rPr>
              <a:t> </a:t>
            </a:r>
            <a:r>
              <a:rPr sz="2400" dirty="0">
                <a:latin typeface="Times New Roman"/>
                <a:cs typeface="Times New Roman"/>
              </a:rPr>
              <a:t>ESX.</a:t>
            </a:r>
            <a:r>
              <a:rPr sz="2400" spc="-40" dirty="0">
                <a:latin typeface="Times New Roman"/>
                <a:cs typeface="Times New Roman"/>
              </a:rPr>
              <a:t> </a:t>
            </a:r>
            <a:r>
              <a:rPr sz="2400" dirty="0">
                <a:latin typeface="Times New Roman"/>
                <a:cs typeface="Times New Roman"/>
              </a:rPr>
              <a:t>No</a:t>
            </a:r>
            <a:r>
              <a:rPr sz="2400" spc="-40" dirty="0">
                <a:latin typeface="Times New Roman"/>
                <a:cs typeface="Times New Roman"/>
              </a:rPr>
              <a:t> </a:t>
            </a:r>
            <a:r>
              <a:rPr sz="2400" dirty="0">
                <a:latin typeface="Times New Roman"/>
                <a:cs typeface="Times New Roman"/>
              </a:rPr>
              <a:t>service</a:t>
            </a:r>
            <a:r>
              <a:rPr sz="2400" spc="-40" dirty="0">
                <a:latin typeface="Times New Roman"/>
                <a:cs typeface="Times New Roman"/>
              </a:rPr>
              <a:t> </a:t>
            </a:r>
            <a:r>
              <a:rPr sz="2400" spc="-10" dirty="0">
                <a:latin typeface="Times New Roman"/>
                <a:cs typeface="Times New Roman"/>
              </a:rPr>
              <a:t>console. </a:t>
            </a:r>
            <a:r>
              <a:rPr sz="2400" dirty="0">
                <a:latin typeface="Times New Roman"/>
                <a:cs typeface="Times New Roman"/>
              </a:rPr>
              <a:t>Free</a:t>
            </a:r>
            <a:r>
              <a:rPr sz="2400" spc="-45" dirty="0">
                <a:latin typeface="Times New Roman"/>
                <a:cs typeface="Times New Roman"/>
              </a:rPr>
              <a:t> </a:t>
            </a:r>
            <a:r>
              <a:rPr sz="2400" dirty="0">
                <a:latin typeface="Times New Roman"/>
                <a:cs typeface="Times New Roman"/>
              </a:rPr>
              <a:t>download.</a:t>
            </a:r>
            <a:r>
              <a:rPr sz="2400" spc="-40" dirty="0">
                <a:latin typeface="Times New Roman"/>
                <a:cs typeface="Times New Roman"/>
              </a:rPr>
              <a:t> </a:t>
            </a:r>
            <a:r>
              <a:rPr sz="2400" dirty="0">
                <a:latin typeface="Times New Roman"/>
                <a:cs typeface="Times New Roman"/>
              </a:rPr>
              <a:t>Many</a:t>
            </a:r>
            <a:r>
              <a:rPr sz="2400" spc="-45" dirty="0">
                <a:latin typeface="Times New Roman"/>
                <a:cs typeface="Times New Roman"/>
              </a:rPr>
              <a:t> </a:t>
            </a:r>
            <a:r>
              <a:rPr sz="2400" dirty="0">
                <a:latin typeface="Times New Roman"/>
                <a:cs typeface="Times New Roman"/>
              </a:rPr>
              <a:t>features</a:t>
            </a:r>
            <a:r>
              <a:rPr sz="2400" spc="-40" dirty="0">
                <a:latin typeface="Times New Roman"/>
                <a:cs typeface="Times New Roman"/>
              </a:rPr>
              <a:t> </a:t>
            </a:r>
            <a:r>
              <a:rPr sz="2400" dirty="0">
                <a:latin typeface="Times New Roman"/>
                <a:cs typeface="Times New Roman"/>
              </a:rPr>
              <a:t>require</a:t>
            </a:r>
            <a:r>
              <a:rPr sz="2400" spc="-40" dirty="0">
                <a:latin typeface="Times New Roman"/>
                <a:cs typeface="Times New Roman"/>
              </a:rPr>
              <a:t> </a:t>
            </a:r>
            <a:r>
              <a:rPr sz="2400" dirty="0">
                <a:latin typeface="Times New Roman"/>
                <a:cs typeface="Times New Roman"/>
              </a:rPr>
              <a:t>vCenter</a:t>
            </a:r>
            <a:r>
              <a:rPr sz="2400" spc="-45" dirty="0">
                <a:latin typeface="Times New Roman"/>
                <a:cs typeface="Times New Roman"/>
              </a:rPr>
              <a:t> </a:t>
            </a:r>
            <a:r>
              <a:rPr sz="2400" spc="-10" dirty="0">
                <a:latin typeface="Times New Roman"/>
                <a:cs typeface="Times New Roman"/>
              </a:rPr>
              <a:t>license.</a:t>
            </a:r>
            <a:endParaRPr sz="2400">
              <a:latin typeface="Times New Roman"/>
              <a:cs typeface="Times New Roman"/>
            </a:endParaRPr>
          </a:p>
          <a:p>
            <a:pPr marL="755015" marR="783590" lvl="1" indent="-285750">
              <a:lnSpc>
                <a:spcPct val="100000"/>
              </a:lnSpc>
              <a:spcBef>
                <a:spcPts val="565"/>
              </a:spcBef>
              <a:buClr>
                <a:srgbClr val="000000"/>
              </a:buClr>
              <a:buSzPct val="66666"/>
              <a:buFont typeface="Wingdings"/>
              <a:buChar char=""/>
              <a:tabLst>
                <a:tab pos="755015" algn="l"/>
              </a:tabLst>
            </a:pPr>
            <a:r>
              <a:rPr sz="2400" b="1" dirty="0">
                <a:solidFill>
                  <a:srgbClr val="053CE8"/>
                </a:solidFill>
                <a:latin typeface="Times New Roman"/>
                <a:cs typeface="Times New Roman"/>
              </a:rPr>
              <a:t>vCenter</a:t>
            </a:r>
            <a:r>
              <a:rPr sz="2400" b="1" spc="-40" dirty="0">
                <a:solidFill>
                  <a:srgbClr val="053CE8"/>
                </a:solidFill>
                <a:latin typeface="Times New Roman"/>
                <a:cs typeface="Times New Roman"/>
              </a:rPr>
              <a:t> </a:t>
            </a:r>
            <a:r>
              <a:rPr sz="2400" dirty="0">
                <a:latin typeface="Times New Roman"/>
                <a:cs typeface="Times New Roman"/>
              </a:rPr>
              <a:t>allows</a:t>
            </a:r>
            <a:r>
              <a:rPr sz="2400" spc="-35" dirty="0">
                <a:latin typeface="Times New Roman"/>
                <a:cs typeface="Times New Roman"/>
              </a:rPr>
              <a:t> </a:t>
            </a:r>
            <a:r>
              <a:rPr sz="2400" dirty="0">
                <a:latin typeface="Times New Roman"/>
                <a:cs typeface="Times New Roman"/>
              </a:rPr>
              <a:t>managing</a:t>
            </a:r>
            <a:r>
              <a:rPr sz="2400" spc="-35" dirty="0">
                <a:latin typeface="Times New Roman"/>
                <a:cs typeface="Times New Roman"/>
              </a:rPr>
              <a:t> </a:t>
            </a:r>
            <a:r>
              <a:rPr sz="2400" dirty="0">
                <a:latin typeface="Times New Roman"/>
                <a:cs typeface="Times New Roman"/>
              </a:rPr>
              <a:t>multiple</a:t>
            </a:r>
            <a:r>
              <a:rPr sz="2400" spc="-35" dirty="0">
                <a:latin typeface="Times New Roman"/>
                <a:cs typeface="Times New Roman"/>
              </a:rPr>
              <a:t> </a:t>
            </a:r>
            <a:r>
              <a:rPr sz="2400" dirty="0">
                <a:latin typeface="Times New Roman"/>
                <a:cs typeface="Times New Roman"/>
              </a:rPr>
              <a:t>servers</a:t>
            </a:r>
            <a:r>
              <a:rPr sz="2400" spc="-35" dirty="0">
                <a:latin typeface="Times New Roman"/>
                <a:cs typeface="Times New Roman"/>
              </a:rPr>
              <a:t> </a:t>
            </a:r>
            <a:r>
              <a:rPr sz="2400" dirty="0">
                <a:latin typeface="Times New Roman"/>
                <a:cs typeface="Times New Roman"/>
              </a:rPr>
              <a:t>and</a:t>
            </a:r>
            <a:r>
              <a:rPr sz="2400" spc="-35" dirty="0">
                <a:latin typeface="Times New Roman"/>
                <a:cs typeface="Times New Roman"/>
              </a:rPr>
              <a:t> </a:t>
            </a:r>
            <a:r>
              <a:rPr sz="2400" dirty="0">
                <a:latin typeface="Times New Roman"/>
                <a:cs typeface="Times New Roman"/>
              </a:rPr>
              <a:t>to</a:t>
            </a:r>
            <a:r>
              <a:rPr sz="2400" spc="-35" dirty="0">
                <a:latin typeface="Times New Roman"/>
                <a:cs typeface="Times New Roman"/>
              </a:rPr>
              <a:t> </a:t>
            </a:r>
            <a:r>
              <a:rPr sz="2400" spc="-25" dirty="0">
                <a:latin typeface="Times New Roman"/>
                <a:cs typeface="Times New Roman"/>
              </a:rPr>
              <a:t>run </a:t>
            </a:r>
            <a:r>
              <a:rPr sz="2400" b="1" dirty="0">
                <a:solidFill>
                  <a:srgbClr val="053CE8"/>
                </a:solidFill>
                <a:latin typeface="Times New Roman"/>
                <a:cs typeface="Times New Roman"/>
              </a:rPr>
              <a:t>vMotion</a:t>
            </a:r>
            <a:r>
              <a:rPr sz="2400" b="1" spc="-30" dirty="0">
                <a:solidFill>
                  <a:srgbClr val="053CE8"/>
                </a:solidFill>
                <a:latin typeface="Times New Roman"/>
                <a:cs typeface="Times New Roman"/>
              </a:rPr>
              <a:t> </a:t>
            </a:r>
            <a:r>
              <a:rPr sz="2400" dirty="0">
                <a:latin typeface="Times New Roman"/>
                <a:cs typeface="Times New Roman"/>
              </a:rPr>
              <a:t>and</a:t>
            </a:r>
            <a:r>
              <a:rPr sz="2400" spc="-25" dirty="0">
                <a:latin typeface="Times New Roman"/>
                <a:cs typeface="Times New Roman"/>
              </a:rPr>
              <a:t> </a:t>
            </a:r>
            <a:r>
              <a:rPr sz="2400" b="1" dirty="0">
                <a:solidFill>
                  <a:srgbClr val="053CE8"/>
                </a:solidFill>
                <a:latin typeface="Times New Roman"/>
                <a:cs typeface="Times New Roman"/>
              </a:rPr>
              <a:t>svMotion</a:t>
            </a:r>
            <a:r>
              <a:rPr sz="2400" b="1" spc="-20" dirty="0">
                <a:solidFill>
                  <a:srgbClr val="053CE8"/>
                </a:solidFill>
                <a:latin typeface="Times New Roman"/>
                <a:cs typeface="Times New Roman"/>
              </a:rPr>
              <a:t> </a:t>
            </a:r>
            <a:r>
              <a:rPr sz="2400" dirty="0">
                <a:latin typeface="Times New Roman"/>
                <a:cs typeface="Times New Roman"/>
              </a:rPr>
              <a:t>(Storage</a:t>
            </a:r>
            <a:r>
              <a:rPr sz="2400" spc="-30" dirty="0">
                <a:latin typeface="Times New Roman"/>
                <a:cs typeface="Times New Roman"/>
              </a:rPr>
              <a:t> </a:t>
            </a:r>
            <a:r>
              <a:rPr sz="2400" dirty="0">
                <a:latin typeface="Times New Roman"/>
                <a:cs typeface="Times New Roman"/>
              </a:rPr>
              <a:t>sync</a:t>
            </a:r>
            <a:r>
              <a:rPr sz="2400" spc="-30" dirty="0">
                <a:latin typeface="Times New Roman"/>
                <a:cs typeface="Times New Roman"/>
              </a:rPr>
              <a:t> </a:t>
            </a:r>
            <a:r>
              <a:rPr sz="2400" dirty="0">
                <a:latin typeface="Times New Roman"/>
                <a:cs typeface="Times New Roman"/>
              </a:rPr>
              <a:t>on</a:t>
            </a:r>
            <a:r>
              <a:rPr sz="2400" spc="-30"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spc="-10" dirty="0">
                <a:latin typeface="Times New Roman"/>
                <a:cs typeface="Times New Roman"/>
              </a:rPr>
              <a:t>remote location)</a:t>
            </a:r>
            <a:endParaRPr sz="2400">
              <a:latin typeface="Times New Roman"/>
              <a:cs typeface="Times New Roman"/>
            </a:endParaRPr>
          </a:p>
        </p:txBody>
      </p:sp>
      <p:sp>
        <p:nvSpPr>
          <p:cNvPr id="8" name="Slide Number Placeholder 7">
            <a:extLst>
              <a:ext uri="{FF2B5EF4-FFF2-40B4-BE49-F238E27FC236}">
                <a16:creationId xmlns:a16="http://schemas.microsoft.com/office/drawing/2014/main" id="{94317948-A3A9-0B0F-D52A-DED4FD18CC22}"/>
              </a:ext>
            </a:extLst>
          </p:cNvPr>
          <p:cNvSpPr>
            <a:spLocks noGrp="1"/>
          </p:cNvSpPr>
          <p:nvPr>
            <p:ph type="sldNum" sz="quarter" idx="7"/>
          </p:nvPr>
        </p:nvSpPr>
        <p:spPr>
          <a:xfrm>
            <a:off x="4330700" y="6579869"/>
            <a:ext cx="1079500" cy="278131"/>
          </a:xfrm>
        </p:spPr>
        <p:txBody>
          <a:bodyPr/>
          <a:lstStyle/>
          <a:p>
            <a:pPr marL="12700">
              <a:lnSpc>
                <a:spcPts val="2065"/>
              </a:lnSpc>
            </a:pPr>
            <a:fld id="{81D60167-4931-47E6-BA6A-407CBD079E47}" type="slidenum">
              <a:rPr spc="-50" smtClean="0"/>
              <a:t>21</a:t>
            </a:fld>
            <a:endParaRPr spc="-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8824" y="445871"/>
            <a:ext cx="8227975" cy="574040"/>
          </a:xfrm>
          <a:prstGeom prst="rect">
            <a:avLst/>
          </a:prstGeom>
        </p:spPr>
        <p:txBody>
          <a:bodyPr vert="horz" wrap="square" lIns="0" tIns="12700" rIns="0" bIns="0" rtlCol="0">
            <a:spAutoFit/>
          </a:bodyPr>
          <a:lstStyle/>
          <a:p>
            <a:pPr marL="2350135">
              <a:lnSpc>
                <a:spcPct val="100000"/>
              </a:lnSpc>
              <a:spcBef>
                <a:spcPts val="100"/>
              </a:spcBef>
            </a:pPr>
            <a:r>
              <a:rPr dirty="0"/>
              <a:t>VMware</a:t>
            </a:r>
            <a:r>
              <a:rPr spc="-140" dirty="0"/>
              <a:t> </a:t>
            </a:r>
            <a:r>
              <a:rPr spc="-10" dirty="0"/>
              <a:t>vMotion</a:t>
            </a:r>
          </a:p>
        </p:txBody>
      </p:sp>
      <p:sp>
        <p:nvSpPr>
          <p:cNvPr id="3" name="object 3"/>
          <p:cNvSpPr txBox="1"/>
          <p:nvPr/>
        </p:nvSpPr>
        <p:spPr>
          <a:xfrm>
            <a:off x="457454" y="2220721"/>
            <a:ext cx="8125459" cy="4116070"/>
          </a:xfrm>
          <a:prstGeom prst="rect">
            <a:avLst/>
          </a:prstGeom>
        </p:spPr>
        <p:txBody>
          <a:bodyPr vert="horz" wrap="square" lIns="0" tIns="12700" rIns="0" bIns="0" rtlCol="0">
            <a:spAutoFit/>
          </a:bodyPr>
          <a:lstStyle/>
          <a:p>
            <a:pPr marL="354965" marR="89535" indent="-342900">
              <a:lnSpc>
                <a:spcPct val="100000"/>
              </a:lnSpc>
              <a:spcBef>
                <a:spcPts val="100"/>
              </a:spcBef>
              <a:buClr>
                <a:srgbClr val="053CE8"/>
              </a:buClr>
              <a:buSzPct val="75000"/>
              <a:buFont typeface="Wingdings"/>
              <a:buChar char=""/>
              <a:tabLst>
                <a:tab pos="354965" algn="l"/>
              </a:tabLst>
            </a:pPr>
            <a:r>
              <a:rPr sz="2400" dirty="0">
                <a:latin typeface="Times New Roman"/>
                <a:cs typeface="Times New Roman"/>
              </a:rPr>
              <a:t>Live</a:t>
            </a:r>
            <a:r>
              <a:rPr sz="2400" spc="-35" dirty="0">
                <a:latin typeface="Times New Roman"/>
                <a:cs typeface="Times New Roman"/>
              </a:rPr>
              <a:t> </a:t>
            </a:r>
            <a:r>
              <a:rPr sz="2400" dirty="0">
                <a:latin typeface="Times New Roman"/>
                <a:cs typeface="Times New Roman"/>
              </a:rPr>
              <a:t>migration</a:t>
            </a:r>
            <a:r>
              <a:rPr sz="2400" spc="-30" dirty="0">
                <a:latin typeface="Times New Roman"/>
                <a:cs typeface="Times New Roman"/>
              </a:rPr>
              <a:t> </a:t>
            </a:r>
            <a:r>
              <a:rPr sz="2400" dirty="0">
                <a:latin typeface="Times New Roman"/>
                <a:cs typeface="Times New Roman"/>
              </a:rPr>
              <a:t>of</a:t>
            </a:r>
            <a:r>
              <a:rPr sz="2400" spc="-35" dirty="0">
                <a:latin typeface="Times New Roman"/>
                <a:cs typeface="Times New Roman"/>
              </a:rPr>
              <a:t> </a:t>
            </a:r>
            <a:r>
              <a:rPr sz="2400" dirty="0">
                <a:latin typeface="Times New Roman"/>
                <a:cs typeface="Times New Roman"/>
              </a:rPr>
              <a:t>running</a:t>
            </a:r>
            <a:r>
              <a:rPr sz="2400" spc="-30" dirty="0">
                <a:latin typeface="Times New Roman"/>
                <a:cs typeface="Times New Roman"/>
              </a:rPr>
              <a:t> </a:t>
            </a:r>
            <a:r>
              <a:rPr sz="2400" dirty="0">
                <a:latin typeface="Times New Roman"/>
                <a:cs typeface="Times New Roman"/>
              </a:rPr>
              <a:t>VMs</a:t>
            </a:r>
            <a:r>
              <a:rPr sz="2400" spc="-35" dirty="0">
                <a:latin typeface="Times New Roman"/>
                <a:cs typeface="Times New Roman"/>
              </a:rPr>
              <a:t> </a:t>
            </a:r>
            <a:r>
              <a:rPr sz="2400" dirty="0">
                <a:latin typeface="Times New Roman"/>
                <a:cs typeface="Times New Roman"/>
              </a:rPr>
              <a:t>from</a:t>
            </a:r>
            <a:r>
              <a:rPr sz="2400" spc="-30" dirty="0">
                <a:latin typeface="Times New Roman"/>
                <a:cs typeface="Times New Roman"/>
              </a:rPr>
              <a:t> </a:t>
            </a:r>
            <a:r>
              <a:rPr sz="2400" dirty="0">
                <a:latin typeface="Times New Roman"/>
                <a:cs typeface="Times New Roman"/>
              </a:rPr>
              <a:t>one</a:t>
            </a:r>
            <a:r>
              <a:rPr sz="2400" spc="-30" dirty="0">
                <a:latin typeface="Times New Roman"/>
                <a:cs typeface="Times New Roman"/>
              </a:rPr>
              <a:t> </a:t>
            </a:r>
            <a:r>
              <a:rPr sz="2400" dirty="0">
                <a:latin typeface="Times New Roman"/>
                <a:cs typeface="Times New Roman"/>
              </a:rPr>
              <a:t>datacenter</a:t>
            </a:r>
            <a:r>
              <a:rPr sz="2400" spc="-35" dirty="0">
                <a:latin typeface="Times New Roman"/>
                <a:cs typeface="Times New Roman"/>
              </a:rPr>
              <a:t> </a:t>
            </a:r>
            <a:r>
              <a:rPr sz="2400" dirty="0">
                <a:latin typeface="Times New Roman"/>
                <a:cs typeface="Times New Roman"/>
              </a:rPr>
              <a:t>to</a:t>
            </a:r>
            <a:r>
              <a:rPr sz="2400" spc="-30" dirty="0">
                <a:latin typeface="Times New Roman"/>
                <a:cs typeface="Times New Roman"/>
              </a:rPr>
              <a:t> </a:t>
            </a:r>
            <a:r>
              <a:rPr sz="2400" spc="-10" dirty="0">
                <a:latin typeface="Times New Roman"/>
                <a:cs typeface="Times New Roman"/>
              </a:rPr>
              <a:t>another </a:t>
            </a:r>
            <a:r>
              <a:rPr sz="2400" dirty="0">
                <a:latin typeface="Times New Roman"/>
                <a:cs typeface="Times New Roman"/>
              </a:rPr>
              <a:t>Live=</a:t>
            </a:r>
            <a:r>
              <a:rPr sz="2400" spc="-30" dirty="0">
                <a:latin typeface="Times New Roman"/>
                <a:cs typeface="Times New Roman"/>
              </a:rPr>
              <a:t> </a:t>
            </a:r>
            <a:r>
              <a:rPr sz="2400" dirty="0">
                <a:latin typeface="Times New Roman"/>
                <a:cs typeface="Times New Roman"/>
              </a:rPr>
              <a:t>&lt;1</a:t>
            </a:r>
            <a:r>
              <a:rPr sz="2400" spc="-30" dirty="0">
                <a:latin typeface="Times New Roman"/>
                <a:cs typeface="Times New Roman"/>
              </a:rPr>
              <a:t> </a:t>
            </a:r>
            <a:r>
              <a:rPr sz="2400" dirty="0">
                <a:latin typeface="Times New Roman"/>
                <a:cs typeface="Times New Roman"/>
              </a:rPr>
              <a:t>second</a:t>
            </a:r>
            <a:r>
              <a:rPr sz="2400" spc="-30" dirty="0">
                <a:latin typeface="Times New Roman"/>
                <a:cs typeface="Times New Roman"/>
              </a:rPr>
              <a:t> </a:t>
            </a:r>
            <a:r>
              <a:rPr sz="2400" dirty="0">
                <a:latin typeface="Times New Roman"/>
                <a:cs typeface="Times New Roman"/>
              </a:rPr>
              <a:t>interruption.</a:t>
            </a:r>
            <a:r>
              <a:rPr sz="2400" spc="-25" dirty="0">
                <a:latin typeface="Times New Roman"/>
                <a:cs typeface="Times New Roman"/>
              </a:rPr>
              <a:t> </a:t>
            </a:r>
            <a:r>
              <a:rPr sz="2400" dirty="0">
                <a:latin typeface="Times New Roman"/>
                <a:cs typeface="Times New Roman"/>
              </a:rPr>
              <a:t>Warm</a:t>
            </a:r>
            <a:r>
              <a:rPr sz="2400" spc="-30" dirty="0">
                <a:latin typeface="Times New Roman"/>
                <a:cs typeface="Times New Roman"/>
              </a:rPr>
              <a:t> </a:t>
            </a:r>
            <a:r>
              <a:rPr sz="2400" dirty="0">
                <a:latin typeface="Times New Roman"/>
                <a:cs typeface="Times New Roman"/>
              </a:rPr>
              <a:t>=</a:t>
            </a:r>
            <a:r>
              <a:rPr sz="2400" spc="-30" dirty="0">
                <a:latin typeface="Times New Roman"/>
                <a:cs typeface="Times New Roman"/>
              </a:rPr>
              <a:t> </a:t>
            </a:r>
            <a:r>
              <a:rPr sz="2400" dirty="0">
                <a:latin typeface="Times New Roman"/>
                <a:cs typeface="Times New Roman"/>
              </a:rPr>
              <a:t>few</a:t>
            </a:r>
            <a:r>
              <a:rPr sz="2400" spc="-25" dirty="0">
                <a:latin typeface="Times New Roman"/>
                <a:cs typeface="Times New Roman"/>
              </a:rPr>
              <a:t> </a:t>
            </a:r>
            <a:r>
              <a:rPr sz="2400" dirty="0">
                <a:latin typeface="Times New Roman"/>
                <a:cs typeface="Times New Roman"/>
              </a:rPr>
              <a:t>tens</a:t>
            </a:r>
            <a:r>
              <a:rPr sz="2400" spc="-30" dirty="0">
                <a:latin typeface="Times New Roman"/>
                <a:cs typeface="Times New Roman"/>
              </a:rPr>
              <a:t> </a:t>
            </a:r>
            <a:r>
              <a:rPr sz="2400" dirty="0">
                <a:latin typeface="Times New Roman"/>
                <a:cs typeface="Times New Roman"/>
              </a:rPr>
              <a:t>of</a:t>
            </a:r>
            <a:r>
              <a:rPr sz="2400" spc="-30" dirty="0">
                <a:latin typeface="Times New Roman"/>
                <a:cs typeface="Times New Roman"/>
              </a:rPr>
              <a:t> </a:t>
            </a:r>
            <a:r>
              <a:rPr sz="2400" spc="-10" dirty="0">
                <a:latin typeface="Times New Roman"/>
                <a:cs typeface="Times New Roman"/>
              </a:rPr>
              <a:t>seconds</a:t>
            </a:r>
            <a:endParaRPr sz="2400">
              <a:latin typeface="Times New Roman"/>
              <a:cs typeface="Times New Roman"/>
            </a:endParaRPr>
          </a:p>
          <a:p>
            <a:pPr marL="354965" indent="-342265">
              <a:lnSpc>
                <a:spcPct val="100000"/>
              </a:lnSpc>
              <a:spcBef>
                <a:spcPts val="565"/>
              </a:spcBef>
              <a:buClr>
                <a:srgbClr val="053CE8"/>
              </a:buClr>
              <a:buSzPct val="75000"/>
              <a:buFont typeface="Wingdings"/>
              <a:buChar char=""/>
              <a:tabLst>
                <a:tab pos="354965" algn="l"/>
              </a:tabLst>
            </a:pPr>
            <a:r>
              <a:rPr sz="2400" dirty="0">
                <a:latin typeface="Times New Roman"/>
                <a:cs typeface="Times New Roman"/>
              </a:rPr>
              <a:t>Allows</a:t>
            </a:r>
            <a:r>
              <a:rPr sz="2400" spc="-50" dirty="0">
                <a:latin typeface="Times New Roman"/>
                <a:cs typeface="Times New Roman"/>
              </a:rPr>
              <a:t> </a:t>
            </a:r>
            <a:r>
              <a:rPr sz="2400" dirty="0">
                <a:latin typeface="Times New Roman"/>
                <a:cs typeface="Times New Roman"/>
              </a:rPr>
              <a:t>VMs</a:t>
            </a:r>
            <a:r>
              <a:rPr sz="2400" spc="-50" dirty="0">
                <a:latin typeface="Times New Roman"/>
                <a:cs typeface="Times New Roman"/>
              </a:rPr>
              <a:t> </a:t>
            </a:r>
            <a:r>
              <a:rPr sz="2400" dirty="0">
                <a:latin typeface="Times New Roman"/>
                <a:cs typeface="Times New Roman"/>
              </a:rPr>
              <a:t>to</a:t>
            </a:r>
            <a:r>
              <a:rPr sz="2400" spc="-50" dirty="0">
                <a:latin typeface="Times New Roman"/>
                <a:cs typeface="Times New Roman"/>
              </a:rPr>
              <a:t> </a:t>
            </a:r>
            <a:r>
              <a:rPr sz="2400" dirty="0">
                <a:latin typeface="Times New Roman"/>
                <a:cs typeface="Times New Roman"/>
              </a:rPr>
              <a:t>move</a:t>
            </a:r>
            <a:r>
              <a:rPr sz="2400" spc="-45" dirty="0">
                <a:latin typeface="Times New Roman"/>
                <a:cs typeface="Times New Roman"/>
              </a:rPr>
              <a:t> </a:t>
            </a:r>
            <a:r>
              <a:rPr sz="2400" dirty="0">
                <a:latin typeface="Times New Roman"/>
                <a:cs typeface="Times New Roman"/>
              </a:rPr>
              <a:t>in/between</a:t>
            </a:r>
            <a:r>
              <a:rPr sz="2400" spc="-50" dirty="0">
                <a:latin typeface="Times New Roman"/>
                <a:cs typeface="Times New Roman"/>
              </a:rPr>
              <a:t> </a:t>
            </a:r>
            <a:r>
              <a:rPr sz="2400" spc="-10" dirty="0">
                <a:latin typeface="Times New Roman"/>
                <a:cs typeface="Times New Roman"/>
              </a:rPr>
              <a:t>datacenters</a:t>
            </a:r>
            <a:endParaRPr sz="2400">
              <a:latin typeface="Times New Roman"/>
              <a:cs typeface="Times New Roman"/>
            </a:endParaRPr>
          </a:p>
          <a:p>
            <a:pPr marL="354965" indent="-342265">
              <a:lnSpc>
                <a:spcPct val="100000"/>
              </a:lnSpc>
              <a:spcBef>
                <a:spcPts val="570"/>
              </a:spcBef>
              <a:buClr>
                <a:srgbClr val="053CE8"/>
              </a:buClr>
              <a:buSzPct val="75000"/>
              <a:buFont typeface="Wingdings"/>
              <a:buChar char=""/>
              <a:tabLst>
                <a:tab pos="354965" algn="l"/>
              </a:tabLst>
            </a:pPr>
            <a:r>
              <a:rPr sz="2400" dirty="0">
                <a:latin typeface="Times New Roman"/>
                <a:cs typeface="Times New Roman"/>
              </a:rPr>
              <a:t>VMware</a:t>
            </a:r>
            <a:r>
              <a:rPr sz="2400" spc="-75" dirty="0">
                <a:latin typeface="Times New Roman"/>
                <a:cs typeface="Times New Roman"/>
              </a:rPr>
              <a:t> </a:t>
            </a:r>
            <a:r>
              <a:rPr sz="2400" dirty="0">
                <a:latin typeface="Times New Roman"/>
                <a:cs typeface="Times New Roman"/>
              </a:rPr>
              <a:t>ESX</a:t>
            </a:r>
            <a:r>
              <a:rPr sz="2400" spc="-70" dirty="0">
                <a:latin typeface="Times New Roman"/>
                <a:cs typeface="Times New Roman"/>
              </a:rPr>
              <a:t> </a:t>
            </a:r>
            <a:r>
              <a:rPr sz="2400" spc="-10" dirty="0">
                <a:latin typeface="Times New Roman"/>
                <a:cs typeface="Times New Roman"/>
              </a:rPr>
              <a:t>servers</a:t>
            </a:r>
            <a:endParaRPr sz="2400">
              <a:latin typeface="Times New Roman"/>
              <a:cs typeface="Times New Roman"/>
            </a:endParaRPr>
          </a:p>
          <a:p>
            <a:pPr marL="354965" indent="-342265">
              <a:lnSpc>
                <a:spcPct val="100000"/>
              </a:lnSpc>
              <a:spcBef>
                <a:spcPts val="570"/>
              </a:spcBef>
              <a:buClr>
                <a:srgbClr val="053CE8"/>
              </a:buClr>
              <a:buSzPct val="75000"/>
              <a:buFont typeface="Wingdings"/>
              <a:buChar char=""/>
              <a:tabLst>
                <a:tab pos="354965" algn="l"/>
              </a:tabLst>
            </a:pPr>
            <a:r>
              <a:rPr sz="2400" dirty="0">
                <a:latin typeface="Times New Roman"/>
                <a:cs typeface="Times New Roman"/>
              </a:rPr>
              <a:t>VMs</a:t>
            </a:r>
            <a:r>
              <a:rPr sz="2400" spc="-20" dirty="0">
                <a:latin typeface="Times New Roman"/>
                <a:cs typeface="Times New Roman"/>
              </a:rPr>
              <a:t> </a:t>
            </a:r>
            <a:r>
              <a:rPr sz="2400" dirty="0">
                <a:latin typeface="Times New Roman"/>
                <a:cs typeface="Times New Roman"/>
              </a:rPr>
              <a:t>keep</a:t>
            </a:r>
            <a:r>
              <a:rPr sz="2400" spc="-15"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same</a:t>
            </a:r>
            <a:r>
              <a:rPr sz="2400" spc="-15" dirty="0">
                <a:latin typeface="Times New Roman"/>
                <a:cs typeface="Times New Roman"/>
              </a:rPr>
              <a:t> </a:t>
            </a:r>
            <a:r>
              <a:rPr sz="2400" dirty="0">
                <a:latin typeface="Times New Roman"/>
                <a:cs typeface="Times New Roman"/>
              </a:rPr>
              <a:t>IP</a:t>
            </a:r>
            <a:r>
              <a:rPr sz="2400" spc="-15" dirty="0">
                <a:latin typeface="Times New Roman"/>
                <a:cs typeface="Times New Roman"/>
              </a:rPr>
              <a:t> </a:t>
            </a:r>
            <a:r>
              <a:rPr sz="2400" spc="-10" dirty="0">
                <a:latin typeface="Times New Roman"/>
                <a:cs typeface="Times New Roman"/>
              </a:rPr>
              <a:t>address</a:t>
            </a:r>
            <a:endParaRPr sz="2400">
              <a:latin typeface="Times New Roman"/>
              <a:cs typeface="Times New Roman"/>
            </a:endParaRPr>
          </a:p>
          <a:p>
            <a:pPr marL="355600">
              <a:lnSpc>
                <a:spcPct val="100000"/>
              </a:lnSpc>
              <a:spcBef>
                <a:spcPts val="45"/>
              </a:spcBef>
            </a:pPr>
            <a:r>
              <a:rPr sz="2400" dirty="0">
                <a:latin typeface="Symbol"/>
                <a:cs typeface="Symbol"/>
              </a:rPr>
              <a:t></a:t>
            </a:r>
            <a:r>
              <a:rPr sz="2400" spc="-30" dirty="0">
                <a:latin typeface="Times New Roman"/>
                <a:cs typeface="Times New Roman"/>
              </a:rPr>
              <a:t> </a:t>
            </a:r>
            <a:r>
              <a:rPr sz="2400" dirty="0">
                <a:latin typeface="Times New Roman"/>
                <a:cs typeface="Times New Roman"/>
              </a:rPr>
              <a:t>Same</a:t>
            </a:r>
            <a:r>
              <a:rPr sz="2400" spc="-35" dirty="0">
                <a:latin typeface="Times New Roman"/>
                <a:cs typeface="Times New Roman"/>
              </a:rPr>
              <a:t> </a:t>
            </a:r>
            <a:r>
              <a:rPr sz="2400" dirty="0">
                <a:latin typeface="Times New Roman"/>
                <a:cs typeface="Times New Roman"/>
              </a:rPr>
              <a:t>IP</a:t>
            </a:r>
            <a:r>
              <a:rPr sz="2400" spc="-35" dirty="0">
                <a:latin typeface="Times New Roman"/>
                <a:cs typeface="Times New Roman"/>
              </a:rPr>
              <a:t> </a:t>
            </a:r>
            <a:r>
              <a:rPr sz="2400" dirty="0">
                <a:latin typeface="Times New Roman"/>
                <a:cs typeface="Times New Roman"/>
              </a:rPr>
              <a:t>subnet/broadcast</a:t>
            </a:r>
            <a:r>
              <a:rPr sz="2400" spc="-35" dirty="0">
                <a:latin typeface="Times New Roman"/>
                <a:cs typeface="Times New Roman"/>
              </a:rPr>
              <a:t> </a:t>
            </a:r>
            <a:r>
              <a:rPr sz="2400" spc="-10" dirty="0">
                <a:latin typeface="Times New Roman"/>
                <a:cs typeface="Times New Roman"/>
              </a:rPr>
              <a:t>domain</a:t>
            </a:r>
            <a:endParaRPr sz="2400">
              <a:latin typeface="Times New Roman"/>
              <a:cs typeface="Times New Roman"/>
            </a:endParaRPr>
          </a:p>
          <a:p>
            <a:pPr marL="355600" marR="5080" indent="-342900">
              <a:lnSpc>
                <a:spcPct val="100000"/>
              </a:lnSpc>
              <a:spcBef>
                <a:spcPts val="515"/>
              </a:spcBef>
              <a:buClr>
                <a:srgbClr val="053CE8"/>
              </a:buClr>
              <a:buSzPct val="75000"/>
              <a:buFont typeface="Wingdings"/>
              <a:buChar char=""/>
              <a:tabLst>
                <a:tab pos="355600" algn="l"/>
              </a:tabLst>
            </a:pPr>
            <a:r>
              <a:rPr sz="2400" dirty="0">
                <a:latin typeface="Times New Roman"/>
                <a:cs typeface="Times New Roman"/>
              </a:rPr>
              <a:t>Requires</a:t>
            </a:r>
            <a:r>
              <a:rPr sz="2400" spc="-40" dirty="0">
                <a:latin typeface="Times New Roman"/>
                <a:cs typeface="Times New Roman"/>
              </a:rPr>
              <a:t> </a:t>
            </a:r>
            <a:r>
              <a:rPr sz="2400" dirty="0">
                <a:latin typeface="Times New Roman"/>
                <a:cs typeface="Times New Roman"/>
              </a:rPr>
              <a:t>LAN</a:t>
            </a:r>
            <a:r>
              <a:rPr sz="2400" spc="-40" dirty="0">
                <a:latin typeface="Times New Roman"/>
                <a:cs typeface="Times New Roman"/>
              </a:rPr>
              <a:t> </a:t>
            </a:r>
            <a:r>
              <a:rPr sz="2400" dirty="0">
                <a:latin typeface="Times New Roman"/>
                <a:cs typeface="Times New Roman"/>
              </a:rPr>
              <a:t>extension</a:t>
            </a:r>
            <a:r>
              <a:rPr sz="2400" spc="-40" dirty="0">
                <a:latin typeface="Times New Roman"/>
                <a:cs typeface="Times New Roman"/>
              </a:rPr>
              <a:t> </a:t>
            </a:r>
            <a:r>
              <a:rPr sz="2400" dirty="0">
                <a:latin typeface="Times New Roman"/>
                <a:cs typeface="Times New Roman"/>
              </a:rPr>
              <a:t>and</a:t>
            </a:r>
            <a:r>
              <a:rPr sz="2400" spc="-40" dirty="0">
                <a:latin typeface="Times New Roman"/>
                <a:cs typeface="Times New Roman"/>
              </a:rPr>
              <a:t> </a:t>
            </a:r>
            <a:r>
              <a:rPr sz="2400" dirty="0">
                <a:latin typeface="Times New Roman"/>
                <a:cs typeface="Times New Roman"/>
              </a:rPr>
              <a:t>Storage</a:t>
            </a:r>
            <a:r>
              <a:rPr sz="2400" spc="-40" dirty="0">
                <a:latin typeface="Times New Roman"/>
                <a:cs typeface="Times New Roman"/>
              </a:rPr>
              <a:t> </a:t>
            </a:r>
            <a:r>
              <a:rPr sz="2400" dirty="0">
                <a:latin typeface="Times New Roman"/>
                <a:cs typeface="Times New Roman"/>
              </a:rPr>
              <a:t>Extension</a:t>
            </a:r>
            <a:r>
              <a:rPr sz="2400" spc="-40" dirty="0">
                <a:latin typeface="Times New Roman"/>
                <a:cs typeface="Times New Roman"/>
              </a:rPr>
              <a:t> </a:t>
            </a:r>
            <a:r>
              <a:rPr sz="2400" dirty="0">
                <a:latin typeface="Times New Roman"/>
                <a:cs typeface="Times New Roman"/>
              </a:rPr>
              <a:t>(access</a:t>
            </a:r>
            <a:r>
              <a:rPr sz="2400" spc="-40" dirty="0">
                <a:latin typeface="Times New Roman"/>
                <a:cs typeface="Times New Roman"/>
              </a:rPr>
              <a:t> </a:t>
            </a:r>
            <a:r>
              <a:rPr sz="2400" spc="-10" dirty="0">
                <a:latin typeface="Times New Roman"/>
                <a:cs typeface="Times New Roman"/>
              </a:rPr>
              <a:t>storage </a:t>
            </a:r>
            <a:r>
              <a:rPr sz="2400" dirty="0">
                <a:latin typeface="Times New Roman"/>
                <a:cs typeface="Times New Roman"/>
              </a:rPr>
              <a:t>from</a:t>
            </a:r>
            <a:r>
              <a:rPr sz="2400" spc="-40" dirty="0">
                <a:latin typeface="Times New Roman"/>
                <a:cs typeface="Times New Roman"/>
              </a:rPr>
              <a:t> </a:t>
            </a:r>
            <a:r>
              <a:rPr sz="2400" dirty="0">
                <a:latin typeface="Times New Roman"/>
                <a:cs typeface="Times New Roman"/>
              </a:rPr>
              <a:t>previous</a:t>
            </a:r>
            <a:r>
              <a:rPr sz="2400" spc="-25" dirty="0">
                <a:latin typeface="Times New Roman"/>
                <a:cs typeface="Times New Roman"/>
              </a:rPr>
              <a:t> </a:t>
            </a:r>
            <a:r>
              <a:rPr sz="2400" dirty="0">
                <a:latin typeface="Times New Roman"/>
                <a:cs typeface="Times New Roman"/>
              </a:rPr>
              <a:t>data</a:t>
            </a:r>
            <a:r>
              <a:rPr sz="2400" spc="-25" dirty="0">
                <a:latin typeface="Times New Roman"/>
                <a:cs typeface="Times New Roman"/>
              </a:rPr>
              <a:t> </a:t>
            </a:r>
            <a:r>
              <a:rPr sz="2400" spc="-10" dirty="0">
                <a:latin typeface="Times New Roman"/>
                <a:cs typeface="Times New Roman"/>
              </a:rPr>
              <a:t>center)</a:t>
            </a:r>
            <a:endParaRPr sz="2400">
              <a:latin typeface="Times New Roman"/>
              <a:cs typeface="Times New Roman"/>
            </a:endParaRPr>
          </a:p>
          <a:p>
            <a:pPr marL="354965" indent="-342265">
              <a:lnSpc>
                <a:spcPct val="100000"/>
              </a:lnSpc>
              <a:spcBef>
                <a:spcPts val="570"/>
              </a:spcBef>
              <a:buClr>
                <a:srgbClr val="053CE8"/>
              </a:buClr>
              <a:buSzPct val="75000"/>
              <a:buFont typeface="Wingdings"/>
              <a:buChar char=""/>
              <a:tabLst>
                <a:tab pos="354965" algn="l"/>
              </a:tabLst>
            </a:pPr>
            <a:r>
              <a:rPr sz="2400" dirty="0">
                <a:latin typeface="Times New Roman"/>
                <a:cs typeface="Times New Roman"/>
              </a:rPr>
              <a:t>Storage</a:t>
            </a:r>
            <a:r>
              <a:rPr sz="2400" spc="-20" dirty="0">
                <a:latin typeface="Times New Roman"/>
                <a:cs typeface="Times New Roman"/>
              </a:rPr>
              <a:t> </a:t>
            </a:r>
            <a:r>
              <a:rPr sz="2400" dirty="0">
                <a:latin typeface="Times New Roman"/>
                <a:cs typeface="Times New Roman"/>
              </a:rPr>
              <a:t>vMotion:</a:t>
            </a:r>
            <a:r>
              <a:rPr sz="2400" spc="-10" dirty="0">
                <a:latin typeface="Times New Roman"/>
                <a:cs typeface="Times New Roman"/>
              </a:rPr>
              <a:t> </a:t>
            </a:r>
            <a:r>
              <a:rPr sz="2400" dirty="0">
                <a:latin typeface="Times New Roman"/>
                <a:cs typeface="Times New Roman"/>
              </a:rPr>
              <a:t>Storage</a:t>
            </a:r>
            <a:r>
              <a:rPr sz="2400" spc="-10" dirty="0">
                <a:latin typeface="Times New Roman"/>
                <a:cs typeface="Times New Roman"/>
              </a:rPr>
              <a:t> </a:t>
            </a:r>
            <a:r>
              <a:rPr sz="2400" dirty="0">
                <a:latin typeface="Times New Roman"/>
                <a:cs typeface="Times New Roman"/>
              </a:rPr>
              <a:t>is</a:t>
            </a:r>
            <a:r>
              <a:rPr sz="2400" spc="-5" dirty="0">
                <a:latin typeface="Times New Roman"/>
                <a:cs typeface="Times New Roman"/>
              </a:rPr>
              <a:t> </a:t>
            </a:r>
            <a:r>
              <a:rPr sz="2400" dirty="0">
                <a:latin typeface="Times New Roman"/>
                <a:cs typeface="Times New Roman"/>
              </a:rPr>
              <a:t>moved</a:t>
            </a:r>
            <a:r>
              <a:rPr sz="2400" spc="-10" dirty="0">
                <a:latin typeface="Times New Roman"/>
                <a:cs typeface="Times New Roman"/>
              </a:rPr>
              <a:t> </a:t>
            </a:r>
            <a:r>
              <a:rPr sz="2400" dirty="0">
                <a:latin typeface="Times New Roman"/>
                <a:cs typeface="Times New Roman"/>
              </a:rPr>
              <a:t>before</a:t>
            </a:r>
            <a:r>
              <a:rPr sz="2400" spc="-10" dirty="0">
                <a:latin typeface="Times New Roman"/>
                <a:cs typeface="Times New Roman"/>
              </a:rPr>
              <a:t> </a:t>
            </a:r>
            <a:r>
              <a:rPr sz="2400" dirty="0">
                <a:latin typeface="Times New Roman"/>
                <a:cs typeface="Times New Roman"/>
              </a:rPr>
              <a:t>the</a:t>
            </a:r>
            <a:r>
              <a:rPr sz="2400" spc="-5" dirty="0">
                <a:latin typeface="Times New Roman"/>
                <a:cs typeface="Times New Roman"/>
              </a:rPr>
              <a:t> </a:t>
            </a:r>
            <a:r>
              <a:rPr sz="2400" spc="-25" dirty="0">
                <a:latin typeface="Times New Roman"/>
                <a:cs typeface="Times New Roman"/>
              </a:rPr>
              <a:t>VM</a:t>
            </a:r>
            <a:endParaRPr sz="2400">
              <a:latin typeface="Times New Roman"/>
              <a:cs typeface="Times New Roman"/>
            </a:endParaRPr>
          </a:p>
          <a:p>
            <a:pPr marL="354965" indent="-342265">
              <a:lnSpc>
                <a:spcPct val="100000"/>
              </a:lnSpc>
              <a:spcBef>
                <a:spcPts val="570"/>
              </a:spcBef>
              <a:buClr>
                <a:srgbClr val="053CE8"/>
              </a:buClr>
              <a:buSzPct val="75000"/>
              <a:buFont typeface="Wingdings"/>
              <a:buChar char=""/>
              <a:tabLst>
                <a:tab pos="354965" algn="l"/>
              </a:tabLst>
            </a:pPr>
            <a:r>
              <a:rPr sz="2400" dirty="0">
                <a:latin typeface="Times New Roman"/>
                <a:cs typeface="Times New Roman"/>
              </a:rPr>
              <a:t>Storage</a:t>
            </a:r>
            <a:r>
              <a:rPr sz="2400" spc="-5" dirty="0">
                <a:latin typeface="Times New Roman"/>
                <a:cs typeface="Times New Roman"/>
              </a:rPr>
              <a:t> </a:t>
            </a:r>
            <a:r>
              <a:rPr sz="2400" dirty="0">
                <a:latin typeface="Times New Roman"/>
                <a:cs typeface="Times New Roman"/>
              </a:rPr>
              <a:t>Caching</a:t>
            </a:r>
            <a:r>
              <a:rPr sz="2400" spc="-5" dirty="0">
                <a:latin typeface="Times New Roman"/>
                <a:cs typeface="Times New Roman"/>
              </a:rPr>
              <a:t> </a:t>
            </a:r>
            <a:r>
              <a:rPr sz="2400" dirty="0">
                <a:latin typeface="Times New Roman"/>
                <a:cs typeface="Times New Roman"/>
              </a:rPr>
              <a:t>can</a:t>
            </a:r>
            <a:r>
              <a:rPr sz="2400" spc="-5" dirty="0">
                <a:latin typeface="Times New Roman"/>
                <a:cs typeface="Times New Roman"/>
              </a:rPr>
              <a:t> </a:t>
            </a:r>
            <a:r>
              <a:rPr sz="2400" dirty="0">
                <a:latin typeface="Times New Roman"/>
                <a:cs typeface="Times New Roman"/>
              </a:rPr>
              <a:t>also</a:t>
            </a:r>
            <a:r>
              <a:rPr sz="2400" spc="-5" dirty="0">
                <a:latin typeface="Times New Roman"/>
                <a:cs typeface="Times New Roman"/>
              </a:rPr>
              <a:t> </a:t>
            </a:r>
            <a:r>
              <a:rPr sz="2400" dirty="0">
                <a:latin typeface="Times New Roman"/>
                <a:cs typeface="Times New Roman"/>
              </a:rPr>
              <a:t>be</a:t>
            </a:r>
            <a:r>
              <a:rPr sz="2400" spc="-5" dirty="0">
                <a:latin typeface="Times New Roman"/>
                <a:cs typeface="Times New Roman"/>
              </a:rPr>
              <a:t> </a:t>
            </a:r>
            <a:r>
              <a:rPr sz="2400" spc="-20" dirty="0">
                <a:latin typeface="Times New Roman"/>
                <a:cs typeface="Times New Roman"/>
              </a:rPr>
              <a:t>used</a:t>
            </a:r>
            <a:endParaRPr sz="2400">
              <a:latin typeface="Times New Roman"/>
              <a:cs typeface="Times New Roman"/>
            </a:endParaRPr>
          </a:p>
        </p:txBody>
      </p:sp>
      <p:sp>
        <p:nvSpPr>
          <p:cNvPr id="4" name="object 4"/>
          <p:cNvSpPr txBox="1"/>
          <p:nvPr/>
        </p:nvSpPr>
        <p:spPr>
          <a:xfrm>
            <a:off x="3598926" y="1033272"/>
            <a:ext cx="619125" cy="422275"/>
          </a:xfrm>
          <a:prstGeom prst="rect">
            <a:avLst/>
          </a:prstGeom>
          <a:ln w="25400">
            <a:solidFill>
              <a:srgbClr val="000000"/>
            </a:solidFill>
          </a:ln>
        </p:spPr>
        <p:txBody>
          <a:bodyPr vert="horz" wrap="square" lIns="0" tIns="48895" rIns="0" bIns="0" rtlCol="0">
            <a:spAutoFit/>
          </a:bodyPr>
          <a:lstStyle/>
          <a:p>
            <a:pPr marL="104139">
              <a:lnSpc>
                <a:spcPct val="100000"/>
              </a:lnSpc>
              <a:spcBef>
                <a:spcPts val="385"/>
              </a:spcBef>
            </a:pPr>
            <a:r>
              <a:rPr sz="2000" spc="-25" dirty="0">
                <a:latin typeface="Times New Roman"/>
                <a:cs typeface="Times New Roman"/>
              </a:rPr>
              <a:t>VM</a:t>
            </a:r>
            <a:endParaRPr sz="2000">
              <a:latin typeface="Times New Roman"/>
              <a:cs typeface="Times New Roman"/>
            </a:endParaRPr>
          </a:p>
        </p:txBody>
      </p:sp>
      <p:grpSp>
        <p:nvGrpSpPr>
          <p:cNvPr id="5" name="object 5"/>
          <p:cNvGrpSpPr/>
          <p:nvPr/>
        </p:nvGrpSpPr>
        <p:grpSpPr>
          <a:xfrm>
            <a:off x="2654045" y="1231646"/>
            <a:ext cx="957580" cy="978535"/>
            <a:chOff x="2654045" y="1231646"/>
            <a:chExt cx="957580" cy="978535"/>
          </a:xfrm>
        </p:grpSpPr>
        <p:pic>
          <p:nvPicPr>
            <p:cNvPr id="6" name="object 6"/>
            <p:cNvPicPr/>
            <p:nvPr/>
          </p:nvPicPr>
          <p:blipFill>
            <a:blip r:embed="rId2" cstate="print"/>
            <a:stretch>
              <a:fillRect/>
            </a:stretch>
          </p:blipFill>
          <p:spPr>
            <a:xfrm>
              <a:off x="2654045" y="1591056"/>
              <a:ext cx="536448" cy="618744"/>
            </a:xfrm>
            <a:prstGeom prst="rect">
              <a:avLst/>
            </a:prstGeom>
          </p:spPr>
        </p:pic>
        <p:sp>
          <p:nvSpPr>
            <p:cNvPr id="7" name="object 7"/>
            <p:cNvSpPr/>
            <p:nvPr/>
          </p:nvSpPr>
          <p:spPr>
            <a:xfrm>
              <a:off x="2922269" y="1244346"/>
              <a:ext cx="676910" cy="422275"/>
            </a:xfrm>
            <a:custGeom>
              <a:avLst/>
              <a:gdLst/>
              <a:ahLst/>
              <a:cxnLst/>
              <a:rect l="l" t="t" r="r" b="b"/>
              <a:pathLst>
                <a:path w="676910" h="422275">
                  <a:moveTo>
                    <a:pt x="676656" y="0"/>
                  </a:moveTo>
                  <a:lnTo>
                    <a:pt x="618317" y="1549"/>
                  </a:lnTo>
                  <a:lnTo>
                    <a:pt x="561348" y="6112"/>
                  </a:lnTo>
                  <a:lnTo>
                    <a:pt x="505952" y="13564"/>
                  </a:lnTo>
                  <a:lnTo>
                    <a:pt x="452334" y="23776"/>
                  </a:lnTo>
                  <a:lnTo>
                    <a:pt x="400696" y="36622"/>
                  </a:lnTo>
                  <a:lnTo>
                    <a:pt x="351243" y="51976"/>
                  </a:lnTo>
                  <a:lnTo>
                    <a:pt x="304179" y="69711"/>
                  </a:lnTo>
                  <a:lnTo>
                    <a:pt x="259708" y="89700"/>
                  </a:lnTo>
                  <a:lnTo>
                    <a:pt x="218034" y="111817"/>
                  </a:lnTo>
                  <a:lnTo>
                    <a:pt x="179361" y="135935"/>
                  </a:lnTo>
                  <a:lnTo>
                    <a:pt x="143893" y="161928"/>
                  </a:lnTo>
                  <a:lnTo>
                    <a:pt x="111834" y="189668"/>
                  </a:lnTo>
                  <a:lnTo>
                    <a:pt x="83387" y="219029"/>
                  </a:lnTo>
                  <a:lnTo>
                    <a:pt x="58758" y="249885"/>
                  </a:lnTo>
                  <a:lnTo>
                    <a:pt x="38149" y="282108"/>
                  </a:lnTo>
                  <a:lnTo>
                    <a:pt x="9809" y="350152"/>
                  </a:lnTo>
                  <a:lnTo>
                    <a:pt x="2486" y="385719"/>
                  </a:lnTo>
                  <a:lnTo>
                    <a:pt x="0" y="422148"/>
                  </a:lnTo>
                </a:path>
              </a:pathLst>
            </a:custGeom>
            <a:ln w="25400">
              <a:solidFill>
                <a:srgbClr val="000000"/>
              </a:solidFill>
            </a:ln>
          </p:spPr>
          <p:txBody>
            <a:bodyPr wrap="square" lIns="0" tIns="0" rIns="0" bIns="0" rtlCol="0"/>
            <a:lstStyle/>
            <a:p>
              <a:endParaRPr/>
            </a:p>
          </p:txBody>
        </p:sp>
      </p:grpSp>
      <p:grpSp>
        <p:nvGrpSpPr>
          <p:cNvPr id="8" name="object 8"/>
          <p:cNvGrpSpPr/>
          <p:nvPr/>
        </p:nvGrpSpPr>
        <p:grpSpPr>
          <a:xfrm>
            <a:off x="4217670" y="1232153"/>
            <a:ext cx="954405" cy="1054100"/>
            <a:chOff x="4217670" y="1232153"/>
            <a:chExt cx="954405" cy="1054100"/>
          </a:xfrm>
        </p:grpSpPr>
        <p:pic>
          <p:nvPicPr>
            <p:cNvPr id="9" name="object 9"/>
            <p:cNvPicPr/>
            <p:nvPr/>
          </p:nvPicPr>
          <p:blipFill>
            <a:blip r:embed="rId2" cstate="print"/>
            <a:stretch>
              <a:fillRect/>
            </a:stretch>
          </p:blipFill>
          <p:spPr>
            <a:xfrm>
              <a:off x="4635246" y="1667255"/>
              <a:ext cx="536448" cy="618744"/>
            </a:xfrm>
            <a:prstGeom prst="rect">
              <a:avLst/>
            </a:prstGeom>
          </p:spPr>
        </p:pic>
        <p:sp>
          <p:nvSpPr>
            <p:cNvPr id="10" name="object 10"/>
            <p:cNvSpPr/>
            <p:nvPr/>
          </p:nvSpPr>
          <p:spPr>
            <a:xfrm>
              <a:off x="4217670" y="1232153"/>
              <a:ext cx="703580" cy="434340"/>
            </a:xfrm>
            <a:custGeom>
              <a:avLst/>
              <a:gdLst/>
              <a:ahLst/>
              <a:cxnLst/>
              <a:rect l="l" t="t" r="r" b="b"/>
              <a:pathLst>
                <a:path w="703579" h="434339">
                  <a:moveTo>
                    <a:pt x="677511" y="357479"/>
                  </a:moveTo>
                  <a:lnTo>
                    <a:pt x="675132" y="345185"/>
                  </a:lnTo>
                  <a:lnTo>
                    <a:pt x="671322" y="334517"/>
                  </a:lnTo>
                  <a:lnTo>
                    <a:pt x="666750" y="323849"/>
                  </a:lnTo>
                  <a:lnTo>
                    <a:pt x="662178" y="313943"/>
                  </a:lnTo>
                  <a:lnTo>
                    <a:pt x="657606" y="303275"/>
                  </a:lnTo>
                  <a:lnTo>
                    <a:pt x="633984" y="262889"/>
                  </a:lnTo>
                  <a:lnTo>
                    <a:pt x="619506" y="243839"/>
                  </a:lnTo>
                  <a:lnTo>
                    <a:pt x="612648" y="233933"/>
                  </a:lnTo>
                  <a:lnTo>
                    <a:pt x="587502" y="206501"/>
                  </a:lnTo>
                  <a:lnTo>
                    <a:pt x="569976" y="188975"/>
                  </a:lnTo>
                  <a:lnTo>
                    <a:pt x="540258" y="163829"/>
                  </a:lnTo>
                  <a:lnTo>
                    <a:pt x="529590" y="156210"/>
                  </a:lnTo>
                  <a:lnTo>
                    <a:pt x="518922" y="147827"/>
                  </a:lnTo>
                  <a:lnTo>
                    <a:pt x="484632" y="124967"/>
                  </a:lnTo>
                  <a:lnTo>
                    <a:pt x="435864" y="97535"/>
                  </a:lnTo>
                  <a:lnTo>
                    <a:pt x="383286" y="72389"/>
                  </a:lnTo>
                  <a:lnTo>
                    <a:pt x="326136" y="51053"/>
                  </a:lnTo>
                  <a:lnTo>
                    <a:pt x="266700" y="33527"/>
                  </a:lnTo>
                  <a:lnTo>
                    <a:pt x="203454" y="19049"/>
                  </a:lnTo>
                  <a:lnTo>
                    <a:pt x="137922" y="8381"/>
                  </a:lnTo>
                  <a:lnTo>
                    <a:pt x="70104" y="2285"/>
                  </a:lnTo>
                  <a:lnTo>
                    <a:pt x="35052" y="0"/>
                  </a:lnTo>
                  <a:lnTo>
                    <a:pt x="762" y="0"/>
                  </a:lnTo>
                  <a:lnTo>
                    <a:pt x="0" y="25146"/>
                  </a:lnTo>
                  <a:lnTo>
                    <a:pt x="35052" y="25908"/>
                  </a:lnTo>
                  <a:lnTo>
                    <a:pt x="68580" y="27431"/>
                  </a:lnTo>
                  <a:lnTo>
                    <a:pt x="134874" y="33527"/>
                  </a:lnTo>
                  <a:lnTo>
                    <a:pt x="230124" y="50291"/>
                  </a:lnTo>
                  <a:lnTo>
                    <a:pt x="290322" y="66293"/>
                  </a:lnTo>
                  <a:lnTo>
                    <a:pt x="346710" y="85343"/>
                  </a:lnTo>
                  <a:lnTo>
                    <a:pt x="400050" y="108203"/>
                  </a:lnTo>
                  <a:lnTo>
                    <a:pt x="448818" y="133349"/>
                  </a:lnTo>
                  <a:lnTo>
                    <a:pt x="493776" y="161544"/>
                  </a:lnTo>
                  <a:lnTo>
                    <a:pt x="504444" y="168401"/>
                  </a:lnTo>
                  <a:lnTo>
                    <a:pt x="514350" y="176021"/>
                  </a:lnTo>
                  <a:lnTo>
                    <a:pt x="524256" y="184403"/>
                  </a:lnTo>
                  <a:lnTo>
                    <a:pt x="534162" y="192023"/>
                  </a:lnTo>
                  <a:lnTo>
                    <a:pt x="569976" y="224789"/>
                  </a:lnTo>
                  <a:lnTo>
                    <a:pt x="599694" y="259841"/>
                  </a:lnTo>
                  <a:lnTo>
                    <a:pt x="606552" y="268223"/>
                  </a:lnTo>
                  <a:lnTo>
                    <a:pt x="613410" y="277367"/>
                  </a:lnTo>
                  <a:lnTo>
                    <a:pt x="618744" y="286511"/>
                  </a:lnTo>
                  <a:lnTo>
                    <a:pt x="624840" y="296417"/>
                  </a:lnTo>
                  <a:lnTo>
                    <a:pt x="643890" y="334517"/>
                  </a:lnTo>
                  <a:lnTo>
                    <a:pt x="652460" y="361274"/>
                  </a:lnTo>
                  <a:lnTo>
                    <a:pt x="677511" y="357479"/>
                  </a:lnTo>
                  <a:close/>
                </a:path>
                <a:path w="703579" h="434339">
                  <a:moveTo>
                    <a:pt x="679704" y="425108"/>
                  </a:moveTo>
                  <a:lnTo>
                    <a:pt x="679704" y="368807"/>
                  </a:lnTo>
                  <a:lnTo>
                    <a:pt x="655320" y="374141"/>
                  </a:lnTo>
                  <a:lnTo>
                    <a:pt x="652460" y="361274"/>
                  </a:lnTo>
                  <a:lnTo>
                    <a:pt x="627888" y="364997"/>
                  </a:lnTo>
                  <a:lnTo>
                    <a:pt x="676656" y="434340"/>
                  </a:lnTo>
                  <a:lnTo>
                    <a:pt x="679704" y="425108"/>
                  </a:lnTo>
                  <a:close/>
                </a:path>
                <a:path w="703579" h="434339">
                  <a:moveTo>
                    <a:pt x="679704" y="368807"/>
                  </a:moveTo>
                  <a:lnTo>
                    <a:pt x="677511" y="357479"/>
                  </a:lnTo>
                  <a:lnTo>
                    <a:pt x="652460" y="361274"/>
                  </a:lnTo>
                  <a:lnTo>
                    <a:pt x="655320" y="374141"/>
                  </a:lnTo>
                  <a:lnTo>
                    <a:pt x="679704" y="368807"/>
                  </a:lnTo>
                  <a:close/>
                </a:path>
                <a:path w="703579" h="434339">
                  <a:moveTo>
                    <a:pt x="703326" y="353567"/>
                  </a:moveTo>
                  <a:lnTo>
                    <a:pt x="677511" y="357479"/>
                  </a:lnTo>
                  <a:lnTo>
                    <a:pt x="679704" y="368807"/>
                  </a:lnTo>
                  <a:lnTo>
                    <a:pt x="679704" y="425108"/>
                  </a:lnTo>
                  <a:lnTo>
                    <a:pt x="703326" y="353567"/>
                  </a:lnTo>
                  <a:close/>
                </a:path>
              </a:pathLst>
            </a:custGeom>
            <a:solidFill>
              <a:srgbClr val="000000"/>
            </a:solidFill>
          </p:spPr>
          <p:txBody>
            <a:bodyPr wrap="square" lIns="0" tIns="0" rIns="0" bIns="0" rtlCol="0"/>
            <a:lstStyle/>
            <a:p>
              <a:endParaRPr/>
            </a:p>
          </p:txBody>
        </p:sp>
      </p:grpSp>
      <p:sp>
        <p:nvSpPr>
          <p:cNvPr id="14" name="Slide Number Placeholder 13">
            <a:extLst>
              <a:ext uri="{FF2B5EF4-FFF2-40B4-BE49-F238E27FC236}">
                <a16:creationId xmlns:a16="http://schemas.microsoft.com/office/drawing/2014/main" id="{62FBF6FC-7CC9-E759-1B83-816B0BBB8C3A}"/>
              </a:ext>
            </a:extLst>
          </p:cNvPr>
          <p:cNvSpPr>
            <a:spLocks noGrp="1"/>
          </p:cNvSpPr>
          <p:nvPr>
            <p:ph type="sldNum" sz="quarter" idx="7"/>
          </p:nvPr>
        </p:nvSpPr>
        <p:spPr>
          <a:xfrm>
            <a:off x="4330700" y="6579869"/>
            <a:ext cx="1079500" cy="269304"/>
          </a:xfrm>
        </p:spPr>
        <p:txBody>
          <a:bodyPr/>
          <a:lstStyle/>
          <a:p>
            <a:pPr marL="12700">
              <a:lnSpc>
                <a:spcPts val="2065"/>
              </a:lnSpc>
            </a:pPr>
            <a:fld id="{81D60167-4931-47E6-BA6A-407CBD079E47}" type="slidenum">
              <a:rPr spc="-50" smtClean="0"/>
              <a:t>22</a:t>
            </a:fld>
            <a:endParaRPr spc="-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8824" y="445871"/>
            <a:ext cx="8151775" cy="574040"/>
          </a:xfrm>
          <a:prstGeom prst="rect">
            <a:avLst/>
          </a:prstGeom>
        </p:spPr>
        <p:txBody>
          <a:bodyPr vert="horz" wrap="square" lIns="0" tIns="74813" rIns="0" bIns="0" rtlCol="0">
            <a:spAutoFit/>
          </a:bodyPr>
          <a:lstStyle/>
          <a:p>
            <a:pPr marL="12700" algn="ctr">
              <a:lnSpc>
                <a:spcPct val="100000"/>
              </a:lnSpc>
              <a:spcBef>
                <a:spcPts val="95"/>
              </a:spcBef>
            </a:pPr>
            <a:r>
              <a:rPr sz="3200" dirty="0"/>
              <a:t>VMware</a:t>
            </a:r>
            <a:r>
              <a:rPr sz="3200" spc="-90" dirty="0"/>
              <a:t> </a:t>
            </a:r>
            <a:r>
              <a:rPr sz="3200" dirty="0"/>
              <a:t>ThinApp,</a:t>
            </a:r>
            <a:r>
              <a:rPr sz="3200" spc="-85" dirty="0"/>
              <a:t> </a:t>
            </a:r>
            <a:r>
              <a:rPr sz="3200" dirty="0"/>
              <a:t>View,</a:t>
            </a:r>
            <a:r>
              <a:rPr sz="3200" spc="-85" dirty="0"/>
              <a:t> </a:t>
            </a:r>
            <a:r>
              <a:rPr sz="3200" spc="-10" dirty="0"/>
              <a:t>Fusion</a:t>
            </a:r>
            <a:endParaRPr sz="3200"/>
          </a:p>
        </p:txBody>
      </p:sp>
      <p:sp>
        <p:nvSpPr>
          <p:cNvPr id="3" name="object 3"/>
          <p:cNvSpPr txBox="1"/>
          <p:nvPr/>
        </p:nvSpPr>
        <p:spPr>
          <a:xfrm>
            <a:off x="457454" y="1316228"/>
            <a:ext cx="8005445" cy="3604260"/>
          </a:xfrm>
          <a:prstGeom prst="rect">
            <a:avLst/>
          </a:prstGeom>
        </p:spPr>
        <p:txBody>
          <a:bodyPr vert="horz" wrap="square" lIns="0" tIns="12700" rIns="0" bIns="0" rtlCol="0">
            <a:spAutoFit/>
          </a:bodyPr>
          <a:lstStyle/>
          <a:p>
            <a:pPr marL="355600" marR="20955" indent="-342900">
              <a:lnSpc>
                <a:spcPct val="100000"/>
              </a:lnSpc>
              <a:spcBef>
                <a:spcPts val="100"/>
              </a:spcBef>
              <a:buSzPct val="75000"/>
              <a:buFont typeface="Wingdings"/>
              <a:buChar char=""/>
              <a:tabLst>
                <a:tab pos="355600" algn="l"/>
              </a:tabLst>
            </a:pPr>
            <a:r>
              <a:rPr sz="2400" b="1" dirty="0">
                <a:solidFill>
                  <a:srgbClr val="053CE8"/>
                </a:solidFill>
                <a:latin typeface="Times New Roman"/>
                <a:cs typeface="Times New Roman"/>
              </a:rPr>
              <a:t>ThinApp</a:t>
            </a:r>
            <a:r>
              <a:rPr sz="2400" dirty="0">
                <a:latin typeface="Times New Roman"/>
                <a:cs typeface="Times New Roman"/>
              </a:rPr>
              <a:t>:</a:t>
            </a:r>
            <a:r>
              <a:rPr sz="2400" spc="-60" dirty="0">
                <a:latin typeface="Times New Roman"/>
                <a:cs typeface="Times New Roman"/>
              </a:rPr>
              <a:t> </a:t>
            </a:r>
            <a:r>
              <a:rPr sz="2400" dirty="0">
                <a:latin typeface="Times New Roman"/>
                <a:cs typeface="Times New Roman"/>
              </a:rPr>
              <a:t>Portable</a:t>
            </a:r>
            <a:r>
              <a:rPr sz="2400" spc="-60" dirty="0">
                <a:latin typeface="Times New Roman"/>
                <a:cs typeface="Times New Roman"/>
              </a:rPr>
              <a:t> </a:t>
            </a:r>
            <a:r>
              <a:rPr sz="2400" dirty="0">
                <a:latin typeface="Times New Roman"/>
                <a:cs typeface="Times New Roman"/>
              </a:rPr>
              <a:t>application</a:t>
            </a:r>
            <a:r>
              <a:rPr sz="2400" spc="-55" dirty="0">
                <a:latin typeface="Times New Roman"/>
                <a:cs typeface="Times New Roman"/>
              </a:rPr>
              <a:t> </a:t>
            </a:r>
            <a:r>
              <a:rPr sz="2400" dirty="0">
                <a:latin typeface="Times New Roman"/>
                <a:cs typeface="Times New Roman"/>
              </a:rPr>
              <a:t>creator.</a:t>
            </a:r>
            <a:r>
              <a:rPr sz="2400" spc="-60" dirty="0">
                <a:latin typeface="Times New Roman"/>
                <a:cs typeface="Times New Roman"/>
              </a:rPr>
              <a:t> </a:t>
            </a:r>
            <a:r>
              <a:rPr sz="2400" dirty="0">
                <a:latin typeface="Times New Roman"/>
                <a:cs typeface="Times New Roman"/>
              </a:rPr>
              <a:t>Virtualizes</a:t>
            </a:r>
            <a:r>
              <a:rPr sz="2400" spc="-55" dirty="0">
                <a:latin typeface="Times New Roman"/>
                <a:cs typeface="Times New Roman"/>
              </a:rPr>
              <a:t> </a:t>
            </a:r>
            <a:r>
              <a:rPr sz="2400" spc="-10" dirty="0">
                <a:latin typeface="Times New Roman"/>
                <a:cs typeface="Times New Roman"/>
              </a:rPr>
              <a:t>resources </a:t>
            </a:r>
            <a:r>
              <a:rPr sz="2400" dirty="0">
                <a:latin typeface="Times New Roman"/>
                <a:cs typeface="Times New Roman"/>
              </a:rPr>
              <a:t>such</a:t>
            </a:r>
            <a:r>
              <a:rPr sz="2400" spc="-45" dirty="0">
                <a:latin typeface="Times New Roman"/>
                <a:cs typeface="Times New Roman"/>
              </a:rPr>
              <a:t> </a:t>
            </a:r>
            <a:r>
              <a:rPr sz="2400" dirty="0">
                <a:latin typeface="Times New Roman"/>
                <a:cs typeface="Times New Roman"/>
              </a:rPr>
              <a:t>as</a:t>
            </a:r>
            <a:r>
              <a:rPr sz="2400" spc="-45" dirty="0">
                <a:latin typeface="Times New Roman"/>
                <a:cs typeface="Times New Roman"/>
              </a:rPr>
              <a:t> </a:t>
            </a:r>
            <a:r>
              <a:rPr sz="2400" dirty="0">
                <a:latin typeface="Times New Roman"/>
                <a:cs typeface="Times New Roman"/>
              </a:rPr>
              <a:t>environment</a:t>
            </a:r>
            <a:r>
              <a:rPr sz="2400" spc="-45" dirty="0">
                <a:latin typeface="Times New Roman"/>
                <a:cs typeface="Times New Roman"/>
              </a:rPr>
              <a:t> </a:t>
            </a:r>
            <a:r>
              <a:rPr sz="2400" dirty="0">
                <a:latin typeface="Times New Roman"/>
                <a:cs typeface="Times New Roman"/>
              </a:rPr>
              <a:t>variables,</a:t>
            </a:r>
            <a:r>
              <a:rPr sz="2400" spc="-45" dirty="0">
                <a:latin typeface="Times New Roman"/>
                <a:cs typeface="Times New Roman"/>
              </a:rPr>
              <a:t> </a:t>
            </a:r>
            <a:r>
              <a:rPr sz="2400" dirty="0">
                <a:latin typeface="Times New Roman"/>
                <a:cs typeface="Times New Roman"/>
              </a:rPr>
              <a:t>files,</a:t>
            </a:r>
            <a:r>
              <a:rPr sz="2400" spc="-45" dirty="0">
                <a:latin typeface="Times New Roman"/>
                <a:cs typeface="Times New Roman"/>
              </a:rPr>
              <a:t> </a:t>
            </a:r>
            <a:r>
              <a:rPr sz="2400" dirty="0">
                <a:latin typeface="Times New Roman"/>
                <a:cs typeface="Times New Roman"/>
              </a:rPr>
              <a:t>and</a:t>
            </a:r>
            <a:r>
              <a:rPr sz="2400" spc="-45" dirty="0">
                <a:latin typeface="Times New Roman"/>
                <a:cs typeface="Times New Roman"/>
              </a:rPr>
              <a:t> </a:t>
            </a:r>
            <a:r>
              <a:rPr sz="2400" dirty="0">
                <a:latin typeface="Times New Roman"/>
                <a:cs typeface="Times New Roman"/>
              </a:rPr>
              <a:t>registry</a:t>
            </a:r>
            <a:r>
              <a:rPr sz="2400" spc="-45" dirty="0">
                <a:latin typeface="Times New Roman"/>
                <a:cs typeface="Times New Roman"/>
              </a:rPr>
              <a:t> </a:t>
            </a:r>
            <a:r>
              <a:rPr sz="2400" dirty="0">
                <a:latin typeface="Times New Roman"/>
                <a:cs typeface="Times New Roman"/>
              </a:rPr>
              <a:t>keys.</a:t>
            </a:r>
            <a:r>
              <a:rPr sz="2400" spc="-45" dirty="0">
                <a:latin typeface="Times New Roman"/>
                <a:cs typeface="Times New Roman"/>
              </a:rPr>
              <a:t> </a:t>
            </a:r>
            <a:r>
              <a:rPr sz="2400" spc="-10" dirty="0">
                <a:latin typeface="Times New Roman"/>
                <a:cs typeface="Times New Roman"/>
              </a:rPr>
              <a:t>Allows </a:t>
            </a:r>
            <a:r>
              <a:rPr sz="2400" dirty="0">
                <a:latin typeface="Times New Roman"/>
                <a:cs typeface="Times New Roman"/>
              </a:rPr>
              <a:t>programs</a:t>
            </a:r>
            <a:r>
              <a:rPr sz="2400" spc="-30" dirty="0">
                <a:latin typeface="Times New Roman"/>
                <a:cs typeface="Times New Roman"/>
              </a:rPr>
              <a:t> </a:t>
            </a:r>
            <a:r>
              <a:rPr sz="2400" dirty="0">
                <a:latin typeface="Times New Roman"/>
                <a:cs typeface="Times New Roman"/>
              </a:rPr>
              <a:t>to</a:t>
            </a:r>
            <a:r>
              <a:rPr sz="2400" spc="-30" dirty="0">
                <a:latin typeface="Times New Roman"/>
                <a:cs typeface="Times New Roman"/>
              </a:rPr>
              <a:t> </a:t>
            </a:r>
            <a:r>
              <a:rPr sz="2400" dirty="0">
                <a:latin typeface="Times New Roman"/>
                <a:cs typeface="Times New Roman"/>
              </a:rPr>
              <a:t>run</a:t>
            </a:r>
            <a:r>
              <a:rPr sz="2400" spc="-25" dirty="0">
                <a:latin typeface="Times New Roman"/>
                <a:cs typeface="Times New Roman"/>
              </a:rPr>
              <a:t> </a:t>
            </a:r>
            <a:r>
              <a:rPr sz="2400" dirty="0">
                <a:latin typeface="Times New Roman"/>
                <a:cs typeface="Times New Roman"/>
              </a:rPr>
              <a:t>from</a:t>
            </a:r>
            <a:r>
              <a:rPr sz="2400" spc="-30" dirty="0">
                <a:latin typeface="Times New Roman"/>
                <a:cs typeface="Times New Roman"/>
              </a:rPr>
              <a:t> </a:t>
            </a:r>
            <a:r>
              <a:rPr sz="2400" dirty="0">
                <a:latin typeface="Times New Roman"/>
                <a:cs typeface="Times New Roman"/>
              </a:rPr>
              <a:t>USB</a:t>
            </a:r>
            <a:r>
              <a:rPr sz="2400" spc="-25" dirty="0">
                <a:latin typeface="Times New Roman"/>
                <a:cs typeface="Times New Roman"/>
              </a:rPr>
              <a:t> </a:t>
            </a:r>
            <a:r>
              <a:rPr sz="2400" spc="-10" dirty="0">
                <a:latin typeface="Times New Roman"/>
                <a:cs typeface="Times New Roman"/>
              </a:rPr>
              <a:t>keys.</a:t>
            </a:r>
            <a:endParaRPr sz="2400">
              <a:latin typeface="Times New Roman"/>
              <a:cs typeface="Times New Roman"/>
            </a:endParaRPr>
          </a:p>
          <a:p>
            <a:pPr marL="354965" indent="-342265">
              <a:lnSpc>
                <a:spcPts val="2875"/>
              </a:lnSpc>
              <a:spcBef>
                <a:spcPts val="555"/>
              </a:spcBef>
              <a:buSzPct val="75000"/>
              <a:buFont typeface="Wingdings"/>
              <a:buChar char=""/>
              <a:tabLst>
                <a:tab pos="354965" algn="l"/>
              </a:tabLst>
            </a:pPr>
            <a:r>
              <a:rPr sz="2400" b="1" dirty="0">
                <a:solidFill>
                  <a:srgbClr val="053CE8"/>
                </a:solidFill>
                <a:latin typeface="Times New Roman"/>
                <a:cs typeface="Times New Roman"/>
              </a:rPr>
              <a:t>View</a:t>
            </a:r>
            <a:r>
              <a:rPr sz="2400" dirty="0">
                <a:latin typeface="Times New Roman"/>
                <a:cs typeface="Times New Roman"/>
              </a:rPr>
              <a:t>:</a:t>
            </a:r>
            <a:r>
              <a:rPr sz="2400" spc="-60" dirty="0">
                <a:latin typeface="Times New Roman"/>
                <a:cs typeface="Times New Roman"/>
              </a:rPr>
              <a:t> </a:t>
            </a:r>
            <a:r>
              <a:rPr sz="2400" dirty="0">
                <a:latin typeface="Times New Roman"/>
                <a:cs typeface="Times New Roman"/>
              </a:rPr>
              <a:t>Allows</a:t>
            </a:r>
            <a:r>
              <a:rPr sz="2400" spc="-60" dirty="0">
                <a:latin typeface="Times New Roman"/>
                <a:cs typeface="Times New Roman"/>
              </a:rPr>
              <a:t> </a:t>
            </a:r>
            <a:r>
              <a:rPr sz="2400" dirty="0">
                <a:latin typeface="Times New Roman"/>
                <a:cs typeface="Times New Roman"/>
              </a:rPr>
              <a:t>thin</a:t>
            </a:r>
            <a:r>
              <a:rPr sz="2400" spc="-60" dirty="0">
                <a:latin typeface="Times New Roman"/>
                <a:cs typeface="Times New Roman"/>
              </a:rPr>
              <a:t> </a:t>
            </a:r>
            <a:r>
              <a:rPr sz="2400" spc="-10" dirty="0">
                <a:latin typeface="Times New Roman"/>
                <a:cs typeface="Times New Roman"/>
              </a:rPr>
              <a:t>clients.</a:t>
            </a:r>
            <a:endParaRPr sz="2400">
              <a:latin typeface="Times New Roman"/>
              <a:cs typeface="Times New Roman"/>
            </a:endParaRPr>
          </a:p>
          <a:p>
            <a:pPr marL="354965">
              <a:lnSpc>
                <a:spcPts val="2875"/>
              </a:lnSpc>
            </a:pPr>
            <a:r>
              <a:rPr sz="2400" dirty="0">
                <a:latin typeface="Times New Roman"/>
                <a:cs typeface="Times New Roman"/>
              </a:rPr>
              <a:t>Multiple</a:t>
            </a:r>
            <a:r>
              <a:rPr sz="2400" spc="-30" dirty="0">
                <a:latin typeface="Times New Roman"/>
                <a:cs typeface="Times New Roman"/>
              </a:rPr>
              <a:t> </a:t>
            </a:r>
            <a:r>
              <a:rPr sz="2400" dirty="0">
                <a:latin typeface="Times New Roman"/>
                <a:cs typeface="Times New Roman"/>
              </a:rPr>
              <a:t>clients</a:t>
            </a:r>
            <a:r>
              <a:rPr sz="2400" spc="-25" dirty="0">
                <a:latin typeface="Times New Roman"/>
                <a:cs typeface="Times New Roman"/>
              </a:rPr>
              <a:t> </a:t>
            </a:r>
            <a:r>
              <a:rPr sz="2400" dirty="0">
                <a:latin typeface="Times New Roman"/>
                <a:cs typeface="Times New Roman"/>
              </a:rPr>
              <a:t>share</a:t>
            </a:r>
            <a:r>
              <a:rPr sz="2400" spc="-30" dirty="0">
                <a:latin typeface="Times New Roman"/>
                <a:cs typeface="Times New Roman"/>
              </a:rPr>
              <a:t> </a:t>
            </a:r>
            <a:r>
              <a:rPr sz="2400" dirty="0">
                <a:latin typeface="Times New Roman"/>
                <a:cs typeface="Times New Roman"/>
              </a:rPr>
              <a:t>a</a:t>
            </a:r>
            <a:r>
              <a:rPr sz="2400" spc="-25" dirty="0">
                <a:latin typeface="Times New Roman"/>
                <a:cs typeface="Times New Roman"/>
              </a:rPr>
              <a:t> </a:t>
            </a:r>
            <a:r>
              <a:rPr sz="2400" dirty="0">
                <a:latin typeface="Times New Roman"/>
                <a:cs typeface="Times New Roman"/>
              </a:rPr>
              <a:t>remote</a:t>
            </a:r>
            <a:r>
              <a:rPr sz="2400" spc="-25" dirty="0">
                <a:latin typeface="Times New Roman"/>
                <a:cs typeface="Times New Roman"/>
              </a:rPr>
              <a:t> </a:t>
            </a:r>
            <a:r>
              <a:rPr sz="2400" spc="-10" dirty="0">
                <a:latin typeface="Times New Roman"/>
                <a:cs typeface="Times New Roman"/>
              </a:rPr>
              <a:t>server.</a:t>
            </a:r>
            <a:endParaRPr sz="2400">
              <a:latin typeface="Times New Roman"/>
              <a:cs typeface="Times New Roman"/>
            </a:endParaRPr>
          </a:p>
          <a:p>
            <a:pPr marL="354965">
              <a:lnSpc>
                <a:spcPts val="2875"/>
              </a:lnSpc>
            </a:pPr>
            <a:r>
              <a:rPr sz="2400" dirty="0">
                <a:latin typeface="Times New Roman"/>
                <a:cs typeface="Times New Roman"/>
              </a:rPr>
              <a:t>A</a:t>
            </a:r>
            <a:r>
              <a:rPr sz="2400" spc="-25" dirty="0">
                <a:latin typeface="Times New Roman"/>
                <a:cs typeface="Times New Roman"/>
              </a:rPr>
              <a:t> </a:t>
            </a:r>
            <a:r>
              <a:rPr sz="2400" dirty="0">
                <a:latin typeface="Times New Roman"/>
                <a:cs typeface="Times New Roman"/>
              </a:rPr>
              <a:t>Linux</a:t>
            </a:r>
            <a:r>
              <a:rPr sz="2400" spc="-30" dirty="0">
                <a:latin typeface="Times New Roman"/>
                <a:cs typeface="Times New Roman"/>
              </a:rPr>
              <a:t> </a:t>
            </a:r>
            <a:r>
              <a:rPr sz="2400" dirty="0">
                <a:latin typeface="Times New Roman"/>
                <a:cs typeface="Times New Roman"/>
              </a:rPr>
              <a:t>or</a:t>
            </a:r>
            <a:r>
              <a:rPr sz="2400" spc="-25" dirty="0">
                <a:latin typeface="Times New Roman"/>
                <a:cs typeface="Times New Roman"/>
              </a:rPr>
              <a:t> </a:t>
            </a:r>
            <a:r>
              <a:rPr sz="2400" dirty="0">
                <a:latin typeface="Times New Roman"/>
                <a:cs typeface="Times New Roman"/>
              </a:rPr>
              <a:t>Mac</a:t>
            </a:r>
            <a:r>
              <a:rPr sz="2400" spc="-25" dirty="0">
                <a:latin typeface="Times New Roman"/>
                <a:cs typeface="Times New Roman"/>
              </a:rPr>
              <a:t> </a:t>
            </a:r>
            <a:r>
              <a:rPr sz="2400" dirty="0">
                <a:latin typeface="Times New Roman"/>
                <a:cs typeface="Times New Roman"/>
              </a:rPr>
              <a:t>OS</a:t>
            </a:r>
            <a:r>
              <a:rPr sz="2400" spc="-25" dirty="0">
                <a:latin typeface="Times New Roman"/>
                <a:cs typeface="Times New Roman"/>
              </a:rPr>
              <a:t> </a:t>
            </a:r>
            <a:r>
              <a:rPr sz="2400" dirty="0">
                <a:latin typeface="Times New Roman"/>
                <a:cs typeface="Times New Roman"/>
              </a:rPr>
              <a:t>X</a:t>
            </a:r>
            <a:r>
              <a:rPr sz="2400" spc="-25" dirty="0">
                <a:latin typeface="Times New Roman"/>
                <a:cs typeface="Times New Roman"/>
              </a:rPr>
              <a:t> </a:t>
            </a:r>
            <a:r>
              <a:rPr sz="2400" dirty="0">
                <a:latin typeface="Times New Roman"/>
                <a:cs typeface="Times New Roman"/>
              </a:rPr>
              <a:t>client</a:t>
            </a:r>
            <a:r>
              <a:rPr sz="2400" spc="-25" dirty="0">
                <a:latin typeface="Times New Roman"/>
                <a:cs typeface="Times New Roman"/>
              </a:rPr>
              <a:t> </a:t>
            </a:r>
            <a:r>
              <a:rPr sz="2400" dirty="0">
                <a:latin typeface="Times New Roman"/>
                <a:cs typeface="Times New Roman"/>
              </a:rPr>
              <a:t>can</a:t>
            </a:r>
            <a:r>
              <a:rPr sz="2400" spc="-25" dirty="0">
                <a:latin typeface="Times New Roman"/>
                <a:cs typeface="Times New Roman"/>
              </a:rPr>
              <a:t> </a:t>
            </a:r>
            <a:r>
              <a:rPr sz="2400" dirty="0">
                <a:latin typeface="Times New Roman"/>
                <a:cs typeface="Times New Roman"/>
              </a:rPr>
              <a:t>connect</a:t>
            </a:r>
            <a:r>
              <a:rPr sz="2400" spc="-25" dirty="0">
                <a:latin typeface="Times New Roman"/>
                <a:cs typeface="Times New Roman"/>
              </a:rPr>
              <a:t> </a:t>
            </a:r>
            <a:r>
              <a:rPr sz="2400" dirty="0">
                <a:latin typeface="Times New Roman"/>
                <a:cs typeface="Times New Roman"/>
              </a:rPr>
              <a:t>to</a:t>
            </a:r>
            <a:r>
              <a:rPr sz="2400" spc="-25" dirty="0">
                <a:latin typeface="Times New Roman"/>
                <a:cs typeface="Times New Roman"/>
              </a:rPr>
              <a:t> </a:t>
            </a:r>
            <a:r>
              <a:rPr sz="2400" dirty="0">
                <a:latin typeface="Times New Roman"/>
                <a:cs typeface="Times New Roman"/>
              </a:rPr>
              <a:t>remote</a:t>
            </a:r>
            <a:r>
              <a:rPr sz="2400" spc="-25" dirty="0">
                <a:latin typeface="Times New Roman"/>
                <a:cs typeface="Times New Roman"/>
              </a:rPr>
              <a:t> </a:t>
            </a:r>
            <a:r>
              <a:rPr sz="2400" spc="-10" dirty="0">
                <a:latin typeface="Times New Roman"/>
                <a:cs typeface="Times New Roman"/>
              </a:rPr>
              <a:t>server.</a:t>
            </a:r>
            <a:endParaRPr sz="2400">
              <a:latin typeface="Times New Roman"/>
              <a:cs typeface="Times New Roman"/>
            </a:endParaRPr>
          </a:p>
          <a:p>
            <a:pPr marL="354965" indent="-342265">
              <a:lnSpc>
                <a:spcPct val="100000"/>
              </a:lnSpc>
              <a:spcBef>
                <a:spcPts val="575"/>
              </a:spcBef>
              <a:buSzPct val="75000"/>
              <a:buFont typeface="Wingdings"/>
              <a:buChar char=""/>
              <a:tabLst>
                <a:tab pos="354965" algn="l"/>
              </a:tabLst>
            </a:pPr>
            <a:r>
              <a:rPr sz="2400" b="1" dirty="0">
                <a:solidFill>
                  <a:srgbClr val="053CE8"/>
                </a:solidFill>
                <a:latin typeface="Times New Roman"/>
                <a:cs typeface="Times New Roman"/>
              </a:rPr>
              <a:t>Fusion</a:t>
            </a:r>
            <a:r>
              <a:rPr sz="2400" dirty="0">
                <a:latin typeface="Times New Roman"/>
                <a:cs typeface="Times New Roman"/>
              </a:rPr>
              <a:t>:</a:t>
            </a:r>
            <a:r>
              <a:rPr sz="2400" spc="-60" dirty="0">
                <a:latin typeface="Times New Roman"/>
                <a:cs typeface="Times New Roman"/>
              </a:rPr>
              <a:t> </a:t>
            </a:r>
            <a:r>
              <a:rPr sz="2400" dirty="0">
                <a:latin typeface="Times New Roman"/>
                <a:cs typeface="Times New Roman"/>
              </a:rPr>
              <a:t>Hypervisor</a:t>
            </a:r>
            <a:r>
              <a:rPr sz="2400" spc="-60" dirty="0">
                <a:latin typeface="Times New Roman"/>
                <a:cs typeface="Times New Roman"/>
              </a:rPr>
              <a:t> </a:t>
            </a:r>
            <a:r>
              <a:rPr sz="2400" dirty="0">
                <a:latin typeface="Times New Roman"/>
                <a:cs typeface="Times New Roman"/>
              </a:rPr>
              <a:t>for</a:t>
            </a:r>
            <a:r>
              <a:rPr sz="2400" spc="-55" dirty="0">
                <a:latin typeface="Times New Roman"/>
                <a:cs typeface="Times New Roman"/>
              </a:rPr>
              <a:t> </a:t>
            </a:r>
            <a:r>
              <a:rPr sz="2400" dirty="0">
                <a:latin typeface="Times New Roman"/>
                <a:cs typeface="Times New Roman"/>
              </a:rPr>
              <a:t>Intel-based</a:t>
            </a:r>
            <a:r>
              <a:rPr sz="2400" spc="-60" dirty="0">
                <a:latin typeface="Times New Roman"/>
                <a:cs typeface="Times New Roman"/>
              </a:rPr>
              <a:t> </a:t>
            </a:r>
            <a:r>
              <a:rPr sz="2400" spc="-20" dirty="0">
                <a:latin typeface="Times New Roman"/>
                <a:cs typeface="Times New Roman"/>
              </a:rPr>
              <a:t>Macs</a:t>
            </a:r>
            <a:endParaRPr sz="2400">
              <a:latin typeface="Times New Roman"/>
              <a:cs typeface="Times New Roman"/>
            </a:endParaRPr>
          </a:p>
          <a:p>
            <a:pPr marL="755015" lvl="1" indent="-285115">
              <a:lnSpc>
                <a:spcPct val="100000"/>
              </a:lnSpc>
              <a:spcBef>
                <a:spcPts val="570"/>
              </a:spcBef>
              <a:buSzPct val="66666"/>
              <a:buFont typeface="Wingdings"/>
              <a:buChar char=""/>
              <a:tabLst>
                <a:tab pos="755015" algn="l"/>
              </a:tabLst>
            </a:pPr>
            <a:r>
              <a:rPr sz="2400" dirty="0">
                <a:latin typeface="Times New Roman"/>
                <a:cs typeface="Times New Roman"/>
              </a:rPr>
              <a:t>Allows</a:t>
            </a:r>
            <a:r>
              <a:rPr sz="2400" spc="-25" dirty="0">
                <a:latin typeface="Times New Roman"/>
                <a:cs typeface="Times New Roman"/>
              </a:rPr>
              <a:t> </a:t>
            </a:r>
            <a:r>
              <a:rPr sz="2400" dirty="0">
                <a:latin typeface="Times New Roman"/>
                <a:cs typeface="Times New Roman"/>
              </a:rPr>
              <a:t>running</a:t>
            </a:r>
            <a:r>
              <a:rPr sz="2400" spc="-20" dirty="0">
                <a:latin typeface="Times New Roman"/>
                <a:cs typeface="Times New Roman"/>
              </a:rPr>
              <a:t> </a:t>
            </a:r>
            <a:r>
              <a:rPr sz="2400" dirty="0">
                <a:latin typeface="Times New Roman"/>
                <a:cs typeface="Times New Roman"/>
              </a:rPr>
              <a:t>Windows,</a:t>
            </a:r>
            <a:r>
              <a:rPr sz="2400" spc="-20" dirty="0">
                <a:latin typeface="Times New Roman"/>
                <a:cs typeface="Times New Roman"/>
              </a:rPr>
              <a:t> </a:t>
            </a:r>
            <a:r>
              <a:rPr sz="2400" dirty="0">
                <a:latin typeface="Times New Roman"/>
                <a:cs typeface="Times New Roman"/>
              </a:rPr>
              <a:t>Linux,</a:t>
            </a:r>
            <a:r>
              <a:rPr sz="2400" spc="-25" dirty="0">
                <a:latin typeface="Times New Roman"/>
                <a:cs typeface="Times New Roman"/>
              </a:rPr>
              <a:t> </a:t>
            </a:r>
            <a:r>
              <a:rPr sz="2400" dirty="0">
                <a:latin typeface="Times New Roman"/>
                <a:cs typeface="Times New Roman"/>
              </a:rPr>
              <a:t>Solaris,</a:t>
            </a:r>
            <a:r>
              <a:rPr sz="2400" spc="-20" dirty="0">
                <a:latin typeface="Times New Roman"/>
                <a:cs typeface="Times New Roman"/>
              </a:rPr>
              <a:t> </a:t>
            </a:r>
            <a:r>
              <a:rPr sz="2400" dirty="0">
                <a:latin typeface="Times New Roman"/>
                <a:cs typeface="Times New Roman"/>
              </a:rPr>
              <a:t>along</a:t>
            </a:r>
            <a:r>
              <a:rPr sz="2400" spc="-20" dirty="0">
                <a:latin typeface="Times New Roman"/>
                <a:cs typeface="Times New Roman"/>
              </a:rPr>
              <a:t> </a:t>
            </a:r>
            <a:r>
              <a:rPr sz="2400" dirty="0">
                <a:latin typeface="Times New Roman"/>
                <a:cs typeface="Times New Roman"/>
              </a:rPr>
              <a:t>with</a:t>
            </a:r>
            <a:r>
              <a:rPr sz="2400" spc="-20" dirty="0">
                <a:latin typeface="Times New Roman"/>
                <a:cs typeface="Times New Roman"/>
              </a:rPr>
              <a:t> </a:t>
            </a:r>
            <a:r>
              <a:rPr sz="2400" dirty="0">
                <a:latin typeface="Times New Roman"/>
                <a:cs typeface="Times New Roman"/>
              </a:rPr>
              <a:t>OS</a:t>
            </a:r>
            <a:r>
              <a:rPr sz="2400" spc="-25" dirty="0">
                <a:latin typeface="Times New Roman"/>
                <a:cs typeface="Times New Roman"/>
              </a:rPr>
              <a:t> </a:t>
            </a:r>
            <a:r>
              <a:rPr sz="2400" spc="-50" dirty="0">
                <a:latin typeface="Times New Roman"/>
                <a:cs typeface="Times New Roman"/>
              </a:rPr>
              <a:t>X</a:t>
            </a:r>
            <a:endParaRPr sz="2400">
              <a:latin typeface="Times New Roman"/>
              <a:cs typeface="Times New Roman"/>
            </a:endParaRPr>
          </a:p>
          <a:p>
            <a:pPr marL="755015" lvl="1" indent="-285115">
              <a:lnSpc>
                <a:spcPct val="100000"/>
              </a:lnSpc>
              <a:spcBef>
                <a:spcPts val="570"/>
              </a:spcBef>
              <a:buSzPct val="66666"/>
              <a:buFont typeface="Wingdings"/>
              <a:buChar char=""/>
              <a:tabLst>
                <a:tab pos="755015" algn="l"/>
              </a:tabLst>
            </a:pPr>
            <a:r>
              <a:rPr sz="2400" dirty="0">
                <a:latin typeface="Times New Roman"/>
                <a:cs typeface="Times New Roman"/>
              </a:rPr>
              <a:t>Requires</a:t>
            </a:r>
            <a:r>
              <a:rPr sz="2400" spc="-35" dirty="0">
                <a:latin typeface="Times New Roman"/>
                <a:cs typeface="Times New Roman"/>
              </a:rPr>
              <a:t> </a:t>
            </a:r>
            <a:r>
              <a:rPr sz="2400" spc="-10" dirty="0">
                <a:latin typeface="Times New Roman"/>
                <a:cs typeface="Times New Roman"/>
              </a:rPr>
              <a:t>Intel-</a:t>
            </a:r>
            <a:r>
              <a:rPr sz="2400" dirty="0">
                <a:latin typeface="Times New Roman"/>
                <a:cs typeface="Times New Roman"/>
              </a:rPr>
              <a:t>VT</a:t>
            </a:r>
            <a:r>
              <a:rPr sz="2400" spc="-30" dirty="0">
                <a:latin typeface="Times New Roman"/>
                <a:cs typeface="Times New Roman"/>
              </a:rPr>
              <a:t> </a:t>
            </a:r>
            <a:r>
              <a:rPr sz="2400" dirty="0">
                <a:latin typeface="Times New Roman"/>
                <a:cs typeface="Times New Roman"/>
              </a:rPr>
              <a:t>hardware</a:t>
            </a:r>
            <a:r>
              <a:rPr sz="2400" spc="-35" dirty="0">
                <a:latin typeface="Times New Roman"/>
                <a:cs typeface="Times New Roman"/>
              </a:rPr>
              <a:t> </a:t>
            </a:r>
            <a:r>
              <a:rPr sz="2400" dirty="0">
                <a:latin typeface="Times New Roman"/>
                <a:cs typeface="Times New Roman"/>
              </a:rPr>
              <a:t>virtualization</a:t>
            </a:r>
            <a:r>
              <a:rPr sz="2400" spc="-30" dirty="0">
                <a:latin typeface="Times New Roman"/>
                <a:cs typeface="Times New Roman"/>
              </a:rPr>
              <a:t> </a:t>
            </a:r>
            <a:r>
              <a:rPr sz="2400" spc="-10" dirty="0">
                <a:latin typeface="Times New Roman"/>
                <a:cs typeface="Times New Roman"/>
              </a:rPr>
              <a:t>support</a:t>
            </a:r>
            <a:endParaRPr sz="2400">
              <a:latin typeface="Times New Roman"/>
              <a:cs typeface="Times New Roman"/>
            </a:endParaRPr>
          </a:p>
        </p:txBody>
      </p:sp>
      <p:sp>
        <p:nvSpPr>
          <p:cNvPr id="8" name="Slide Number Placeholder 7">
            <a:extLst>
              <a:ext uri="{FF2B5EF4-FFF2-40B4-BE49-F238E27FC236}">
                <a16:creationId xmlns:a16="http://schemas.microsoft.com/office/drawing/2014/main" id="{848C3A42-6300-1B7D-D579-DC55EA44CB24}"/>
              </a:ext>
            </a:extLst>
          </p:cNvPr>
          <p:cNvSpPr>
            <a:spLocks noGrp="1"/>
          </p:cNvSpPr>
          <p:nvPr>
            <p:ph type="sldNum" sz="quarter" idx="7"/>
          </p:nvPr>
        </p:nvSpPr>
        <p:spPr>
          <a:xfrm>
            <a:off x="4330700" y="6579869"/>
            <a:ext cx="1155700" cy="269304"/>
          </a:xfrm>
        </p:spPr>
        <p:txBody>
          <a:bodyPr/>
          <a:lstStyle/>
          <a:p>
            <a:pPr marL="12700">
              <a:lnSpc>
                <a:spcPts val="2065"/>
              </a:lnSpc>
            </a:pPr>
            <a:fld id="{81D60167-4931-47E6-BA6A-407CBD079E47}" type="slidenum">
              <a:rPr spc="-50" smtClean="0"/>
              <a:t>23</a:t>
            </a:fld>
            <a:endParaRPr spc="-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8824" y="445871"/>
            <a:ext cx="8227975" cy="574040"/>
          </a:xfrm>
          <a:prstGeom prst="rect">
            <a:avLst/>
          </a:prstGeom>
        </p:spPr>
        <p:txBody>
          <a:bodyPr vert="horz" wrap="square" lIns="0" tIns="74813" rIns="0" bIns="0" rtlCol="0">
            <a:spAutoFit/>
          </a:bodyPr>
          <a:lstStyle/>
          <a:p>
            <a:pPr marL="12700" algn="ctr">
              <a:lnSpc>
                <a:spcPct val="100000"/>
              </a:lnSpc>
              <a:spcBef>
                <a:spcPts val="95"/>
              </a:spcBef>
            </a:pPr>
            <a:r>
              <a:rPr sz="3200" dirty="0"/>
              <a:t>VMware</a:t>
            </a:r>
            <a:r>
              <a:rPr sz="3200" spc="-90" dirty="0"/>
              <a:t> </a:t>
            </a:r>
            <a:r>
              <a:rPr sz="3200" dirty="0"/>
              <a:t>Workstation</a:t>
            </a:r>
            <a:r>
              <a:rPr sz="3200" spc="-85" dirty="0"/>
              <a:t> </a:t>
            </a:r>
            <a:r>
              <a:rPr sz="3200" dirty="0"/>
              <a:t>and</a:t>
            </a:r>
            <a:r>
              <a:rPr sz="3200" spc="-85" dirty="0"/>
              <a:t> </a:t>
            </a:r>
            <a:r>
              <a:rPr sz="3200" spc="-10" dirty="0"/>
              <a:t>Player</a:t>
            </a:r>
            <a:endParaRPr sz="3200"/>
          </a:p>
        </p:txBody>
      </p:sp>
      <p:sp>
        <p:nvSpPr>
          <p:cNvPr id="3" name="object 3"/>
          <p:cNvSpPr txBox="1"/>
          <p:nvPr/>
        </p:nvSpPr>
        <p:spPr>
          <a:xfrm>
            <a:off x="457454" y="1243838"/>
            <a:ext cx="7912734" cy="4589145"/>
          </a:xfrm>
          <a:prstGeom prst="rect">
            <a:avLst/>
          </a:prstGeom>
        </p:spPr>
        <p:txBody>
          <a:bodyPr vert="horz" wrap="square" lIns="0" tIns="85090" rIns="0" bIns="0" rtlCol="0">
            <a:spAutoFit/>
          </a:bodyPr>
          <a:lstStyle/>
          <a:p>
            <a:pPr marL="354965" indent="-342265">
              <a:lnSpc>
                <a:spcPct val="100000"/>
              </a:lnSpc>
              <a:spcBef>
                <a:spcPts val="670"/>
              </a:spcBef>
              <a:buSzPct val="75000"/>
              <a:buFont typeface="Wingdings"/>
              <a:buChar char=""/>
              <a:tabLst>
                <a:tab pos="354965" algn="l"/>
              </a:tabLst>
            </a:pPr>
            <a:r>
              <a:rPr sz="2400" b="1" spc="-10" dirty="0">
                <a:solidFill>
                  <a:srgbClr val="053CE8"/>
                </a:solidFill>
                <a:latin typeface="Times New Roman"/>
                <a:cs typeface="Times New Roman"/>
              </a:rPr>
              <a:t>Workstation</a:t>
            </a:r>
            <a:r>
              <a:rPr sz="2400" spc="-10" dirty="0">
                <a:latin typeface="Times New Roman"/>
                <a:cs typeface="Times New Roman"/>
              </a:rPr>
              <a:t>:</a:t>
            </a:r>
            <a:r>
              <a:rPr sz="2400" spc="-50" dirty="0">
                <a:latin typeface="Times New Roman"/>
                <a:cs typeface="Times New Roman"/>
              </a:rPr>
              <a:t> </a:t>
            </a:r>
            <a:r>
              <a:rPr sz="2400" spc="-10" dirty="0">
                <a:latin typeface="Times New Roman"/>
                <a:cs typeface="Times New Roman"/>
              </a:rPr>
              <a:t>Hypervisor</a:t>
            </a:r>
            <a:r>
              <a:rPr sz="2400" spc="-45" dirty="0">
                <a:latin typeface="Times New Roman"/>
                <a:cs typeface="Times New Roman"/>
              </a:rPr>
              <a:t> </a:t>
            </a:r>
            <a:r>
              <a:rPr sz="2400" dirty="0">
                <a:latin typeface="Times New Roman"/>
                <a:cs typeface="Times New Roman"/>
              </a:rPr>
              <a:t>for</a:t>
            </a:r>
            <a:r>
              <a:rPr sz="2400" spc="-45" dirty="0">
                <a:latin typeface="Times New Roman"/>
                <a:cs typeface="Times New Roman"/>
              </a:rPr>
              <a:t> </a:t>
            </a:r>
            <a:r>
              <a:rPr sz="2400" dirty="0">
                <a:latin typeface="Times New Roman"/>
                <a:cs typeface="Times New Roman"/>
              </a:rPr>
              <a:t>virtual</a:t>
            </a:r>
            <a:r>
              <a:rPr sz="2400" spc="-50" dirty="0">
                <a:latin typeface="Times New Roman"/>
                <a:cs typeface="Times New Roman"/>
              </a:rPr>
              <a:t> </a:t>
            </a:r>
            <a:r>
              <a:rPr sz="2400" spc="-10" dirty="0">
                <a:latin typeface="Times New Roman"/>
                <a:cs typeface="Times New Roman"/>
              </a:rPr>
              <a:t>computing.</a:t>
            </a:r>
            <a:endParaRPr sz="2400">
              <a:latin typeface="Times New Roman"/>
              <a:cs typeface="Times New Roman"/>
            </a:endParaRPr>
          </a:p>
          <a:p>
            <a:pPr marL="755650" marR="354965" lvl="1" indent="-285750">
              <a:lnSpc>
                <a:spcPct val="100000"/>
              </a:lnSpc>
              <a:spcBef>
                <a:spcPts val="570"/>
              </a:spcBef>
              <a:buSzPct val="66666"/>
              <a:buFont typeface="Wingdings"/>
              <a:buChar char=""/>
              <a:tabLst>
                <a:tab pos="755650" algn="l"/>
              </a:tabLst>
            </a:pPr>
            <a:r>
              <a:rPr sz="2400" dirty="0">
                <a:latin typeface="Times New Roman"/>
                <a:cs typeface="Times New Roman"/>
              </a:rPr>
              <a:t>Virtualizes</a:t>
            </a:r>
            <a:r>
              <a:rPr sz="2400" spc="-25" dirty="0">
                <a:latin typeface="Times New Roman"/>
                <a:cs typeface="Times New Roman"/>
              </a:rPr>
              <a:t> </a:t>
            </a:r>
            <a:r>
              <a:rPr sz="2400" dirty="0">
                <a:latin typeface="Times New Roman"/>
                <a:cs typeface="Times New Roman"/>
              </a:rPr>
              <a:t>network</a:t>
            </a:r>
            <a:r>
              <a:rPr sz="2400" spc="-20" dirty="0">
                <a:latin typeface="Times New Roman"/>
                <a:cs typeface="Times New Roman"/>
              </a:rPr>
              <a:t> </a:t>
            </a:r>
            <a:r>
              <a:rPr sz="2400" dirty="0">
                <a:latin typeface="Times New Roman"/>
                <a:cs typeface="Times New Roman"/>
              </a:rPr>
              <a:t>adapters,</a:t>
            </a:r>
            <a:r>
              <a:rPr sz="2400" spc="-20" dirty="0">
                <a:latin typeface="Times New Roman"/>
                <a:cs typeface="Times New Roman"/>
              </a:rPr>
              <a:t> </a:t>
            </a:r>
            <a:r>
              <a:rPr sz="2400" dirty="0">
                <a:latin typeface="Times New Roman"/>
                <a:cs typeface="Times New Roman"/>
              </a:rPr>
              <a:t>disk</a:t>
            </a:r>
            <a:r>
              <a:rPr sz="2400" spc="-20" dirty="0">
                <a:latin typeface="Times New Roman"/>
                <a:cs typeface="Times New Roman"/>
              </a:rPr>
              <a:t> </a:t>
            </a:r>
            <a:r>
              <a:rPr sz="2400" dirty="0">
                <a:latin typeface="Times New Roman"/>
                <a:cs typeface="Times New Roman"/>
              </a:rPr>
              <a:t>drives,</a:t>
            </a:r>
            <a:r>
              <a:rPr sz="2400" spc="-25" dirty="0">
                <a:latin typeface="Times New Roman"/>
                <a:cs typeface="Times New Roman"/>
              </a:rPr>
              <a:t> </a:t>
            </a:r>
            <a:r>
              <a:rPr sz="2400" dirty="0">
                <a:latin typeface="Times New Roman"/>
                <a:cs typeface="Times New Roman"/>
              </a:rPr>
              <a:t>USB</a:t>
            </a:r>
            <a:r>
              <a:rPr sz="2400" spc="-20" dirty="0">
                <a:latin typeface="Times New Roman"/>
                <a:cs typeface="Times New Roman"/>
              </a:rPr>
              <a:t> </a:t>
            </a:r>
            <a:r>
              <a:rPr sz="2400" spc="-10" dirty="0">
                <a:latin typeface="Times New Roman"/>
                <a:cs typeface="Times New Roman"/>
              </a:rPr>
              <a:t>devices, </a:t>
            </a:r>
            <a:r>
              <a:rPr sz="2400" dirty="0">
                <a:latin typeface="Times New Roman"/>
                <a:cs typeface="Times New Roman"/>
              </a:rPr>
              <a:t>CD/DVD</a:t>
            </a:r>
            <a:r>
              <a:rPr sz="2400" spc="-95" dirty="0">
                <a:latin typeface="Times New Roman"/>
                <a:cs typeface="Times New Roman"/>
              </a:rPr>
              <a:t> </a:t>
            </a:r>
            <a:r>
              <a:rPr sz="2400" spc="-10" dirty="0">
                <a:latin typeface="Times New Roman"/>
                <a:cs typeface="Times New Roman"/>
              </a:rPr>
              <a:t>drives.</a:t>
            </a:r>
            <a:endParaRPr sz="2400">
              <a:latin typeface="Times New Roman"/>
              <a:cs typeface="Times New Roman"/>
            </a:endParaRPr>
          </a:p>
          <a:p>
            <a:pPr marL="755015" lvl="1" indent="-285115">
              <a:lnSpc>
                <a:spcPct val="100000"/>
              </a:lnSpc>
              <a:spcBef>
                <a:spcPts val="560"/>
              </a:spcBef>
              <a:buSzPct val="66666"/>
              <a:buFont typeface="Wingdings"/>
              <a:buChar char=""/>
              <a:tabLst>
                <a:tab pos="755015" algn="l"/>
              </a:tabLst>
            </a:pPr>
            <a:r>
              <a:rPr sz="2400" dirty="0">
                <a:latin typeface="Times New Roman"/>
                <a:cs typeface="Times New Roman"/>
              </a:rPr>
              <a:t>Useful</a:t>
            </a:r>
            <a:r>
              <a:rPr sz="2400" spc="-45" dirty="0">
                <a:latin typeface="Times New Roman"/>
                <a:cs typeface="Times New Roman"/>
              </a:rPr>
              <a:t> </a:t>
            </a:r>
            <a:r>
              <a:rPr sz="2400" dirty="0">
                <a:latin typeface="Times New Roman"/>
                <a:cs typeface="Times New Roman"/>
              </a:rPr>
              <a:t>for</a:t>
            </a:r>
            <a:r>
              <a:rPr sz="2400" spc="-40" dirty="0">
                <a:latin typeface="Times New Roman"/>
                <a:cs typeface="Times New Roman"/>
              </a:rPr>
              <a:t> </a:t>
            </a:r>
            <a:r>
              <a:rPr sz="2400" dirty="0">
                <a:latin typeface="Times New Roman"/>
                <a:cs typeface="Times New Roman"/>
              </a:rPr>
              <a:t>testing</a:t>
            </a:r>
            <a:r>
              <a:rPr sz="2400" spc="-45" dirty="0">
                <a:latin typeface="Times New Roman"/>
                <a:cs typeface="Times New Roman"/>
              </a:rPr>
              <a:t> </a:t>
            </a:r>
            <a:r>
              <a:rPr sz="2400" spc="-10" dirty="0">
                <a:latin typeface="Times New Roman"/>
                <a:cs typeface="Times New Roman"/>
              </a:rPr>
              <a:t>client-</a:t>
            </a:r>
            <a:r>
              <a:rPr sz="2400" dirty="0">
                <a:latin typeface="Times New Roman"/>
                <a:cs typeface="Times New Roman"/>
              </a:rPr>
              <a:t>server</a:t>
            </a:r>
            <a:r>
              <a:rPr sz="2400" spc="-40" dirty="0">
                <a:latin typeface="Times New Roman"/>
                <a:cs typeface="Times New Roman"/>
              </a:rPr>
              <a:t> </a:t>
            </a:r>
            <a:r>
              <a:rPr sz="2400" spc="-10" dirty="0">
                <a:latin typeface="Times New Roman"/>
                <a:cs typeface="Times New Roman"/>
              </a:rPr>
              <a:t>environments.</a:t>
            </a:r>
            <a:endParaRPr sz="2400">
              <a:latin typeface="Times New Roman"/>
              <a:cs typeface="Times New Roman"/>
            </a:endParaRPr>
          </a:p>
          <a:p>
            <a:pPr marL="755015" lvl="1" indent="-285115">
              <a:lnSpc>
                <a:spcPct val="100000"/>
              </a:lnSpc>
              <a:spcBef>
                <a:spcPts val="570"/>
              </a:spcBef>
              <a:buSzPct val="66666"/>
              <a:buFont typeface="Wingdings"/>
              <a:buChar char=""/>
              <a:tabLst>
                <a:tab pos="755015" algn="l"/>
              </a:tabLst>
            </a:pPr>
            <a:r>
              <a:rPr sz="2400" dirty="0">
                <a:latin typeface="Times New Roman"/>
                <a:cs typeface="Times New Roman"/>
              </a:rPr>
              <a:t>Requires</a:t>
            </a:r>
            <a:r>
              <a:rPr sz="2400" spc="-60" dirty="0">
                <a:latin typeface="Times New Roman"/>
                <a:cs typeface="Times New Roman"/>
              </a:rPr>
              <a:t> </a:t>
            </a:r>
            <a:r>
              <a:rPr sz="2400" dirty="0">
                <a:latin typeface="Times New Roman"/>
                <a:cs typeface="Times New Roman"/>
              </a:rPr>
              <a:t>hardware</a:t>
            </a:r>
            <a:r>
              <a:rPr sz="2400" spc="-50" dirty="0">
                <a:latin typeface="Times New Roman"/>
                <a:cs typeface="Times New Roman"/>
              </a:rPr>
              <a:t> </a:t>
            </a:r>
            <a:r>
              <a:rPr sz="2400" dirty="0">
                <a:latin typeface="Times New Roman"/>
                <a:cs typeface="Times New Roman"/>
              </a:rPr>
              <a:t>virtualization</a:t>
            </a:r>
            <a:r>
              <a:rPr sz="2400" spc="-50" dirty="0">
                <a:latin typeface="Times New Roman"/>
                <a:cs typeface="Times New Roman"/>
              </a:rPr>
              <a:t> </a:t>
            </a:r>
            <a:r>
              <a:rPr sz="2400" spc="-10" dirty="0">
                <a:latin typeface="Times New Roman"/>
                <a:cs typeface="Times New Roman"/>
              </a:rPr>
              <a:t>support.</a:t>
            </a:r>
            <a:endParaRPr sz="2400">
              <a:latin typeface="Times New Roman"/>
              <a:cs typeface="Times New Roman"/>
            </a:endParaRPr>
          </a:p>
          <a:p>
            <a:pPr marL="755015" lvl="1" indent="-285115">
              <a:lnSpc>
                <a:spcPct val="100000"/>
              </a:lnSpc>
              <a:spcBef>
                <a:spcPts val="570"/>
              </a:spcBef>
              <a:buSzPct val="66666"/>
              <a:buFont typeface="Wingdings"/>
              <a:buChar char=""/>
              <a:tabLst>
                <a:tab pos="755015" algn="l"/>
              </a:tabLst>
            </a:pPr>
            <a:r>
              <a:rPr sz="2400" dirty="0">
                <a:latin typeface="Times New Roman"/>
                <a:cs typeface="Times New Roman"/>
              </a:rPr>
              <a:t>Many</a:t>
            </a:r>
            <a:r>
              <a:rPr sz="2400" spc="-40" dirty="0">
                <a:latin typeface="Times New Roman"/>
                <a:cs typeface="Times New Roman"/>
              </a:rPr>
              <a:t> </a:t>
            </a:r>
            <a:r>
              <a:rPr sz="2400" spc="-10" dirty="0">
                <a:latin typeface="Times New Roman"/>
                <a:cs typeface="Times New Roman"/>
              </a:rPr>
              <a:t>ready-</a:t>
            </a:r>
            <a:r>
              <a:rPr sz="2400" dirty="0">
                <a:latin typeface="Times New Roman"/>
                <a:cs typeface="Times New Roman"/>
              </a:rPr>
              <a:t>made</a:t>
            </a:r>
            <a:r>
              <a:rPr sz="2400" spc="-35" dirty="0">
                <a:latin typeface="Times New Roman"/>
                <a:cs typeface="Times New Roman"/>
              </a:rPr>
              <a:t> </a:t>
            </a:r>
            <a:r>
              <a:rPr sz="2400" dirty="0">
                <a:latin typeface="Times New Roman"/>
                <a:cs typeface="Times New Roman"/>
              </a:rPr>
              <a:t>VMs</a:t>
            </a:r>
            <a:r>
              <a:rPr sz="2400" spc="-35" dirty="0">
                <a:latin typeface="Times New Roman"/>
                <a:cs typeface="Times New Roman"/>
              </a:rPr>
              <a:t> </a:t>
            </a:r>
            <a:r>
              <a:rPr sz="2400" dirty="0">
                <a:latin typeface="Times New Roman"/>
                <a:cs typeface="Times New Roman"/>
              </a:rPr>
              <a:t>are</a:t>
            </a:r>
            <a:r>
              <a:rPr sz="2400" spc="-35" dirty="0">
                <a:latin typeface="Times New Roman"/>
                <a:cs typeface="Times New Roman"/>
              </a:rPr>
              <a:t> </a:t>
            </a:r>
            <a:r>
              <a:rPr sz="2400" spc="-10" dirty="0">
                <a:latin typeface="Times New Roman"/>
                <a:cs typeface="Times New Roman"/>
              </a:rPr>
              <a:t>available.</a:t>
            </a:r>
            <a:endParaRPr sz="2400">
              <a:latin typeface="Times New Roman"/>
              <a:cs typeface="Times New Roman"/>
            </a:endParaRPr>
          </a:p>
          <a:p>
            <a:pPr marL="355600" marR="586740" indent="-342900">
              <a:lnSpc>
                <a:spcPct val="100000"/>
              </a:lnSpc>
              <a:spcBef>
                <a:spcPts val="570"/>
              </a:spcBef>
              <a:buSzPct val="75000"/>
              <a:buFont typeface="Wingdings"/>
              <a:buChar char=""/>
              <a:tabLst>
                <a:tab pos="355600" algn="l"/>
              </a:tabLst>
            </a:pPr>
            <a:r>
              <a:rPr sz="2400" b="1" dirty="0">
                <a:solidFill>
                  <a:srgbClr val="053CE8"/>
                </a:solidFill>
                <a:latin typeface="Times New Roman"/>
                <a:cs typeface="Times New Roman"/>
              </a:rPr>
              <a:t>Player</a:t>
            </a:r>
            <a:r>
              <a:rPr sz="2400" dirty="0">
                <a:latin typeface="Times New Roman"/>
                <a:cs typeface="Times New Roman"/>
              </a:rPr>
              <a:t>:</a:t>
            </a:r>
            <a:r>
              <a:rPr sz="2400" spc="-40" dirty="0">
                <a:latin typeface="Times New Roman"/>
                <a:cs typeface="Times New Roman"/>
              </a:rPr>
              <a:t> </a:t>
            </a:r>
            <a:r>
              <a:rPr sz="2400" dirty="0">
                <a:latin typeface="Times New Roman"/>
                <a:cs typeface="Times New Roman"/>
              </a:rPr>
              <a:t>A</a:t>
            </a:r>
            <a:r>
              <a:rPr sz="2400" spc="-40" dirty="0">
                <a:latin typeface="Times New Roman"/>
                <a:cs typeface="Times New Roman"/>
              </a:rPr>
              <a:t> </a:t>
            </a:r>
            <a:r>
              <a:rPr sz="2400" dirty="0">
                <a:latin typeface="Times New Roman"/>
                <a:cs typeface="Times New Roman"/>
              </a:rPr>
              <a:t>freeware</a:t>
            </a:r>
            <a:r>
              <a:rPr sz="2400" spc="-35" dirty="0">
                <a:latin typeface="Times New Roman"/>
                <a:cs typeface="Times New Roman"/>
              </a:rPr>
              <a:t> </a:t>
            </a:r>
            <a:r>
              <a:rPr sz="2400" dirty="0">
                <a:latin typeface="Times New Roman"/>
                <a:cs typeface="Times New Roman"/>
              </a:rPr>
              <a:t>version</a:t>
            </a:r>
            <a:r>
              <a:rPr sz="2400" spc="-40" dirty="0">
                <a:latin typeface="Times New Roman"/>
                <a:cs typeface="Times New Roman"/>
              </a:rPr>
              <a:t> </a:t>
            </a:r>
            <a:r>
              <a:rPr sz="2400" dirty="0">
                <a:latin typeface="Times New Roman"/>
                <a:cs typeface="Times New Roman"/>
              </a:rPr>
              <a:t>of</a:t>
            </a:r>
            <a:r>
              <a:rPr sz="2400" spc="-40" dirty="0">
                <a:latin typeface="Times New Roman"/>
                <a:cs typeface="Times New Roman"/>
              </a:rPr>
              <a:t> </a:t>
            </a:r>
            <a:r>
              <a:rPr sz="2400" dirty="0">
                <a:latin typeface="Times New Roman"/>
                <a:cs typeface="Times New Roman"/>
              </a:rPr>
              <a:t>VMware</a:t>
            </a:r>
            <a:r>
              <a:rPr sz="2400" spc="-35" dirty="0">
                <a:latin typeface="Times New Roman"/>
                <a:cs typeface="Times New Roman"/>
              </a:rPr>
              <a:t> </a:t>
            </a:r>
            <a:r>
              <a:rPr sz="2400" dirty="0">
                <a:latin typeface="Times New Roman"/>
                <a:cs typeface="Times New Roman"/>
              </a:rPr>
              <a:t>workstation</a:t>
            </a:r>
            <a:r>
              <a:rPr sz="2400" spc="-40" dirty="0">
                <a:latin typeface="Times New Roman"/>
                <a:cs typeface="Times New Roman"/>
              </a:rPr>
              <a:t> </a:t>
            </a:r>
            <a:r>
              <a:rPr sz="2400" spc="-20" dirty="0">
                <a:latin typeface="Times New Roman"/>
                <a:cs typeface="Times New Roman"/>
              </a:rPr>
              <a:t>with </a:t>
            </a:r>
            <a:r>
              <a:rPr sz="2400" spc="-10" dirty="0">
                <a:latin typeface="Times New Roman"/>
                <a:cs typeface="Times New Roman"/>
              </a:rPr>
              <a:t>limited</a:t>
            </a:r>
            <a:endParaRPr sz="2400">
              <a:latin typeface="Times New Roman"/>
              <a:cs typeface="Times New Roman"/>
            </a:endParaRPr>
          </a:p>
          <a:p>
            <a:pPr marL="354965" indent="-342265">
              <a:lnSpc>
                <a:spcPct val="100000"/>
              </a:lnSpc>
              <a:spcBef>
                <a:spcPts val="565"/>
              </a:spcBef>
              <a:buClr>
                <a:srgbClr val="053CE8"/>
              </a:buClr>
              <a:buSzPct val="75000"/>
              <a:buFont typeface="Wingdings"/>
              <a:buChar char=""/>
              <a:tabLst>
                <a:tab pos="354965" algn="l"/>
              </a:tabLst>
            </a:pPr>
            <a:r>
              <a:rPr sz="2400" dirty="0">
                <a:latin typeface="Times New Roman"/>
                <a:cs typeface="Times New Roman"/>
              </a:rPr>
              <a:t>VMware</a:t>
            </a:r>
            <a:r>
              <a:rPr sz="2400" spc="-55" dirty="0">
                <a:latin typeface="Times New Roman"/>
                <a:cs typeface="Times New Roman"/>
              </a:rPr>
              <a:t> </a:t>
            </a:r>
            <a:r>
              <a:rPr sz="2400" dirty="0">
                <a:latin typeface="Times New Roman"/>
                <a:cs typeface="Times New Roman"/>
              </a:rPr>
              <a:t>High</a:t>
            </a:r>
            <a:r>
              <a:rPr sz="2400" spc="-55" dirty="0">
                <a:latin typeface="Times New Roman"/>
                <a:cs typeface="Times New Roman"/>
              </a:rPr>
              <a:t> </a:t>
            </a:r>
            <a:r>
              <a:rPr sz="2400" dirty="0">
                <a:latin typeface="Times New Roman"/>
                <a:cs typeface="Times New Roman"/>
              </a:rPr>
              <a:t>Availability</a:t>
            </a:r>
            <a:r>
              <a:rPr sz="2400" spc="-60" dirty="0">
                <a:latin typeface="Times New Roman"/>
                <a:cs typeface="Times New Roman"/>
              </a:rPr>
              <a:t> </a:t>
            </a:r>
            <a:r>
              <a:rPr sz="2400" spc="-20" dirty="0">
                <a:latin typeface="Times New Roman"/>
                <a:cs typeface="Times New Roman"/>
              </a:rPr>
              <a:t>(</a:t>
            </a:r>
            <a:r>
              <a:rPr sz="2400" b="1" spc="-20" dirty="0">
                <a:solidFill>
                  <a:srgbClr val="053CE8"/>
                </a:solidFill>
                <a:latin typeface="Times New Roman"/>
                <a:cs typeface="Times New Roman"/>
              </a:rPr>
              <a:t>HA</a:t>
            </a:r>
            <a:r>
              <a:rPr sz="2400" spc="-20" dirty="0">
                <a:latin typeface="Times New Roman"/>
                <a:cs typeface="Times New Roman"/>
              </a:rPr>
              <a:t>)</a:t>
            </a:r>
            <a:endParaRPr sz="2400">
              <a:latin typeface="Times New Roman"/>
              <a:cs typeface="Times New Roman"/>
            </a:endParaRPr>
          </a:p>
          <a:p>
            <a:pPr marL="355600" marR="5080" indent="-342900">
              <a:lnSpc>
                <a:spcPct val="100000"/>
              </a:lnSpc>
              <a:spcBef>
                <a:spcPts val="284"/>
              </a:spcBef>
              <a:buClr>
                <a:srgbClr val="053CE8"/>
              </a:buClr>
              <a:buSzPct val="75000"/>
              <a:buFont typeface="Wingdings"/>
              <a:buChar char=""/>
              <a:tabLst>
                <a:tab pos="355600" algn="l"/>
              </a:tabLst>
            </a:pPr>
            <a:r>
              <a:rPr sz="2400" dirty="0">
                <a:latin typeface="Times New Roman"/>
                <a:cs typeface="Times New Roman"/>
              </a:rPr>
              <a:t>Virtual</a:t>
            </a:r>
            <a:r>
              <a:rPr sz="2400" spc="-45" dirty="0">
                <a:latin typeface="Times New Roman"/>
                <a:cs typeface="Times New Roman"/>
              </a:rPr>
              <a:t> </a:t>
            </a:r>
            <a:r>
              <a:rPr sz="2400" dirty="0">
                <a:latin typeface="Times New Roman"/>
                <a:cs typeface="Times New Roman"/>
              </a:rPr>
              <a:t>Machine</a:t>
            </a:r>
            <a:r>
              <a:rPr sz="2400" spc="-40" dirty="0">
                <a:latin typeface="Times New Roman"/>
                <a:cs typeface="Times New Roman"/>
              </a:rPr>
              <a:t> </a:t>
            </a:r>
            <a:r>
              <a:rPr sz="2400" dirty="0">
                <a:latin typeface="Times New Roman"/>
                <a:cs typeface="Times New Roman"/>
              </a:rPr>
              <a:t>File</a:t>
            </a:r>
            <a:r>
              <a:rPr sz="2400" spc="-40" dirty="0">
                <a:latin typeface="Times New Roman"/>
                <a:cs typeface="Times New Roman"/>
              </a:rPr>
              <a:t> </a:t>
            </a:r>
            <a:r>
              <a:rPr sz="2400" dirty="0">
                <a:latin typeface="Times New Roman"/>
                <a:cs typeface="Times New Roman"/>
              </a:rPr>
              <a:t>System</a:t>
            </a:r>
            <a:r>
              <a:rPr sz="2400" spc="-40" dirty="0">
                <a:latin typeface="Times New Roman"/>
                <a:cs typeface="Times New Roman"/>
              </a:rPr>
              <a:t> </a:t>
            </a:r>
            <a:r>
              <a:rPr sz="2400" dirty="0">
                <a:latin typeface="Times New Roman"/>
                <a:cs typeface="Times New Roman"/>
              </a:rPr>
              <a:t>(</a:t>
            </a:r>
            <a:r>
              <a:rPr sz="2400" b="1" dirty="0">
                <a:solidFill>
                  <a:srgbClr val="053CE8"/>
                </a:solidFill>
                <a:latin typeface="Times New Roman"/>
                <a:cs typeface="Times New Roman"/>
              </a:rPr>
              <a:t>VMFS</a:t>
            </a:r>
            <a:r>
              <a:rPr sz="2400" dirty="0">
                <a:latin typeface="Times New Roman"/>
                <a:cs typeface="Times New Roman"/>
              </a:rPr>
              <a:t>):</a:t>
            </a:r>
            <a:r>
              <a:rPr sz="2400" spc="-40" dirty="0">
                <a:latin typeface="Times New Roman"/>
                <a:cs typeface="Times New Roman"/>
              </a:rPr>
              <a:t> </a:t>
            </a:r>
            <a:r>
              <a:rPr sz="2400" dirty="0">
                <a:latin typeface="Times New Roman"/>
                <a:cs typeface="Times New Roman"/>
              </a:rPr>
              <a:t>Cluster</a:t>
            </a:r>
            <a:r>
              <a:rPr sz="2400" spc="-40" dirty="0">
                <a:latin typeface="Times New Roman"/>
                <a:cs typeface="Times New Roman"/>
              </a:rPr>
              <a:t> </a:t>
            </a:r>
            <a:r>
              <a:rPr sz="2400" dirty="0">
                <a:latin typeface="Times New Roman"/>
                <a:cs typeface="Times New Roman"/>
              </a:rPr>
              <a:t>file</a:t>
            </a:r>
            <a:r>
              <a:rPr sz="2400" spc="-40" dirty="0">
                <a:latin typeface="Times New Roman"/>
                <a:cs typeface="Times New Roman"/>
              </a:rPr>
              <a:t> </a:t>
            </a:r>
            <a:r>
              <a:rPr sz="2400" dirty="0">
                <a:latin typeface="Times New Roman"/>
                <a:cs typeface="Times New Roman"/>
              </a:rPr>
              <a:t>system</a:t>
            </a:r>
            <a:r>
              <a:rPr sz="2400" spc="-40" dirty="0">
                <a:latin typeface="Times New Roman"/>
                <a:cs typeface="Times New Roman"/>
              </a:rPr>
              <a:t> </a:t>
            </a:r>
            <a:r>
              <a:rPr sz="2400" spc="-25" dirty="0">
                <a:latin typeface="Times New Roman"/>
                <a:cs typeface="Times New Roman"/>
              </a:rPr>
              <a:t>for </a:t>
            </a:r>
            <a:r>
              <a:rPr sz="2400" dirty="0">
                <a:latin typeface="Times New Roman"/>
                <a:cs typeface="Times New Roman"/>
              </a:rPr>
              <a:t>ESX</a:t>
            </a:r>
            <a:r>
              <a:rPr sz="2400" spc="-60" dirty="0">
                <a:latin typeface="Times New Roman"/>
                <a:cs typeface="Times New Roman"/>
              </a:rPr>
              <a:t> </a:t>
            </a:r>
            <a:r>
              <a:rPr sz="2400" spc="-10" dirty="0">
                <a:latin typeface="Times New Roman"/>
                <a:cs typeface="Times New Roman"/>
              </a:rPr>
              <a:t>cluster</a:t>
            </a:r>
            <a:endParaRPr sz="2400">
              <a:latin typeface="Times New Roman"/>
              <a:cs typeface="Times New Roman"/>
            </a:endParaRPr>
          </a:p>
        </p:txBody>
      </p:sp>
      <p:sp>
        <p:nvSpPr>
          <p:cNvPr id="7" name="Slide Number Placeholder 6">
            <a:extLst>
              <a:ext uri="{FF2B5EF4-FFF2-40B4-BE49-F238E27FC236}">
                <a16:creationId xmlns:a16="http://schemas.microsoft.com/office/drawing/2014/main" id="{268DAB4C-B4E4-4BCA-0580-BB5580050273}"/>
              </a:ext>
            </a:extLst>
          </p:cNvPr>
          <p:cNvSpPr>
            <a:spLocks noGrp="1"/>
          </p:cNvSpPr>
          <p:nvPr>
            <p:ph type="sldNum" sz="quarter" idx="7"/>
          </p:nvPr>
        </p:nvSpPr>
        <p:spPr>
          <a:xfrm>
            <a:off x="4330700" y="6579869"/>
            <a:ext cx="1155700" cy="269304"/>
          </a:xfrm>
        </p:spPr>
        <p:txBody>
          <a:bodyPr/>
          <a:lstStyle/>
          <a:p>
            <a:pPr marL="12700">
              <a:lnSpc>
                <a:spcPts val="2065"/>
              </a:lnSpc>
            </a:pPr>
            <a:fld id="{81D60167-4931-47E6-BA6A-407CBD079E47}" type="slidenum">
              <a:rPr spc="-50" smtClean="0"/>
              <a:t>24</a:t>
            </a:fld>
            <a:endParaRPr spc="-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2376170">
              <a:lnSpc>
                <a:spcPct val="100000"/>
              </a:lnSpc>
              <a:spcBef>
                <a:spcPts val="100"/>
              </a:spcBef>
            </a:pPr>
            <a:r>
              <a:rPr dirty="0"/>
              <a:t>VMware</a:t>
            </a:r>
            <a:r>
              <a:rPr spc="-140" dirty="0"/>
              <a:t> </a:t>
            </a:r>
            <a:r>
              <a:rPr spc="-10" dirty="0"/>
              <a:t>vSphere</a:t>
            </a:r>
          </a:p>
        </p:txBody>
      </p:sp>
      <p:sp>
        <p:nvSpPr>
          <p:cNvPr id="3" name="object 3"/>
          <p:cNvSpPr txBox="1"/>
          <p:nvPr/>
        </p:nvSpPr>
        <p:spPr>
          <a:xfrm>
            <a:off x="457454" y="1128014"/>
            <a:ext cx="7999095" cy="5261184"/>
          </a:xfrm>
          <a:prstGeom prst="rect">
            <a:avLst/>
          </a:prstGeom>
        </p:spPr>
        <p:txBody>
          <a:bodyPr vert="horz" wrap="square" lIns="0" tIns="48260" rIns="0" bIns="0" rtlCol="0">
            <a:spAutoFit/>
          </a:bodyPr>
          <a:lstStyle/>
          <a:p>
            <a:pPr marL="12700">
              <a:lnSpc>
                <a:spcPct val="100000"/>
              </a:lnSpc>
              <a:spcBef>
                <a:spcPts val="380"/>
              </a:spcBef>
            </a:pPr>
            <a:r>
              <a:rPr sz="2400" b="1" dirty="0">
                <a:solidFill>
                  <a:srgbClr val="053CE8"/>
                </a:solidFill>
                <a:latin typeface="Times New Roman"/>
                <a:cs typeface="Times New Roman"/>
              </a:rPr>
              <a:t>vSphere</a:t>
            </a:r>
            <a:r>
              <a:rPr sz="2400" b="1" spc="-25" dirty="0">
                <a:solidFill>
                  <a:srgbClr val="053CE8"/>
                </a:solidFill>
                <a:latin typeface="Times New Roman"/>
                <a:cs typeface="Times New Roman"/>
              </a:rPr>
              <a:t> </a:t>
            </a:r>
            <a:r>
              <a:rPr sz="2400" dirty="0">
                <a:latin typeface="Times New Roman"/>
                <a:cs typeface="Times New Roman"/>
              </a:rPr>
              <a:t>is</a:t>
            </a:r>
            <a:r>
              <a:rPr sz="2400" spc="-30" dirty="0">
                <a:latin typeface="Times New Roman"/>
                <a:cs typeface="Times New Roman"/>
              </a:rPr>
              <a:t> </a:t>
            </a: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VMware’s</a:t>
            </a:r>
            <a:r>
              <a:rPr sz="2400" spc="-30" dirty="0">
                <a:latin typeface="Times New Roman"/>
                <a:cs typeface="Times New Roman"/>
              </a:rPr>
              <a:t> </a:t>
            </a:r>
            <a:r>
              <a:rPr sz="2400" dirty="0">
                <a:latin typeface="Times New Roman"/>
                <a:cs typeface="Times New Roman"/>
              </a:rPr>
              <a:t>product</a:t>
            </a:r>
            <a:r>
              <a:rPr sz="2400" spc="-30" dirty="0">
                <a:latin typeface="Times New Roman"/>
                <a:cs typeface="Times New Roman"/>
              </a:rPr>
              <a:t> </a:t>
            </a:r>
            <a:r>
              <a:rPr sz="2400" dirty="0">
                <a:latin typeface="Times New Roman"/>
                <a:cs typeface="Times New Roman"/>
              </a:rPr>
              <a:t>suite</a:t>
            </a:r>
            <a:r>
              <a:rPr sz="2400" spc="-35" dirty="0">
                <a:latin typeface="Times New Roman"/>
                <a:cs typeface="Times New Roman"/>
              </a:rPr>
              <a:t> </a:t>
            </a:r>
            <a:r>
              <a:rPr sz="2400" dirty="0">
                <a:latin typeface="Times New Roman"/>
                <a:cs typeface="Times New Roman"/>
              </a:rPr>
              <a:t>consisting</a:t>
            </a:r>
            <a:r>
              <a:rPr sz="2400" spc="-30" dirty="0">
                <a:latin typeface="Times New Roman"/>
                <a:cs typeface="Times New Roman"/>
              </a:rPr>
              <a:t> </a:t>
            </a:r>
            <a:r>
              <a:rPr sz="2400" spc="-25" dirty="0">
                <a:latin typeface="Times New Roman"/>
                <a:cs typeface="Times New Roman"/>
              </a:rPr>
              <a:t>of:</a:t>
            </a:r>
            <a:endParaRPr sz="2400">
              <a:latin typeface="Times New Roman"/>
              <a:cs typeface="Times New Roman"/>
            </a:endParaRPr>
          </a:p>
          <a:p>
            <a:pPr marL="355600" marR="130175" indent="-342900">
              <a:lnSpc>
                <a:spcPct val="100000"/>
              </a:lnSpc>
              <a:spcBef>
                <a:spcPts val="280"/>
              </a:spcBef>
              <a:buSzPct val="75000"/>
              <a:buFont typeface="Wingdings"/>
              <a:buChar char=""/>
              <a:tabLst>
                <a:tab pos="355600" algn="l"/>
              </a:tabLst>
            </a:pPr>
            <a:r>
              <a:rPr sz="2400" b="1" dirty="0">
                <a:solidFill>
                  <a:srgbClr val="053CE8"/>
                </a:solidFill>
                <a:latin typeface="Times New Roman"/>
                <a:cs typeface="Times New Roman"/>
              </a:rPr>
              <a:t>vCenter</a:t>
            </a:r>
            <a:r>
              <a:rPr sz="2400" dirty="0">
                <a:latin typeface="Times New Roman"/>
                <a:cs typeface="Times New Roman"/>
              </a:rPr>
              <a:t>:</a:t>
            </a:r>
            <a:r>
              <a:rPr sz="2400" spc="-40" dirty="0">
                <a:latin typeface="Times New Roman"/>
                <a:cs typeface="Times New Roman"/>
              </a:rPr>
              <a:t> </a:t>
            </a:r>
            <a:r>
              <a:rPr sz="2400" dirty="0">
                <a:latin typeface="Times New Roman"/>
                <a:cs typeface="Times New Roman"/>
              </a:rPr>
              <a:t>Provisioning,</a:t>
            </a:r>
            <a:r>
              <a:rPr sz="2400" spc="-40" dirty="0">
                <a:latin typeface="Times New Roman"/>
                <a:cs typeface="Times New Roman"/>
              </a:rPr>
              <a:t> </a:t>
            </a:r>
            <a:r>
              <a:rPr sz="2400" dirty="0">
                <a:latin typeface="Times New Roman"/>
                <a:cs typeface="Times New Roman"/>
              </a:rPr>
              <a:t>management,</a:t>
            </a:r>
            <a:r>
              <a:rPr sz="2400" spc="-35" dirty="0">
                <a:latin typeface="Times New Roman"/>
                <a:cs typeface="Times New Roman"/>
              </a:rPr>
              <a:t> </a:t>
            </a:r>
            <a:r>
              <a:rPr sz="2400" dirty="0">
                <a:latin typeface="Times New Roman"/>
                <a:cs typeface="Times New Roman"/>
              </a:rPr>
              <a:t>and</a:t>
            </a:r>
            <a:r>
              <a:rPr sz="2400" spc="-40" dirty="0">
                <a:latin typeface="Times New Roman"/>
                <a:cs typeface="Times New Roman"/>
              </a:rPr>
              <a:t> </a:t>
            </a:r>
            <a:r>
              <a:rPr sz="2400" dirty="0">
                <a:latin typeface="Times New Roman"/>
                <a:cs typeface="Times New Roman"/>
              </a:rPr>
              <a:t>monitoring</a:t>
            </a:r>
            <a:r>
              <a:rPr sz="2400" spc="-35" dirty="0">
                <a:latin typeface="Times New Roman"/>
                <a:cs typeface="Times New Roman"/>
              </a:rPr>
              <a:t> </a:t>
            </a:r>
            <a:r>
              <a:rPr sz="2400" spc="-10" dirty="0">
                <a:latin typeface="Times New Roman"/>
                <a:cs typeface="Times New Roman"/>
              </a:rPr>
              <a:t>console </a:t>
            </a:r>
            <a:r>
              <a:rPr sz="2400" dirty="0">
                <a:latin typeface="Times New Roman"/>
                <a:cs typeface="Times New Roman"/>
              </a:rPr>
              <a:t>for</a:t>
            </a:r>
            <a:r>
              <a:rPr sz="2400" spc="-2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spc="-10" dirty="0">
                <a:latin typeface="Times New Roman"/>
                <a:cs typeface="Times New Roman"/>
              </a:rPr>
              <a:t>cloud</a:t>
            </a:r>
            <a:endParaRPr sz="2400">
              <a:latin typeface="Times New Roman"/>
              <a:cs typeface="Times New Roman"/>
            </a:endParaRPr>
          </a:p>
          <a:p>
            <a:pPr marL="354965" indent="-342265">
              <a:lnSpc>
                <a:spcPct val="100000"/>
              </a:lnSpc>
              <a:spcBef>
                <a:spcPts val="280"/>
              </a:spcBef>
              <a:buSzPct val="75000"/>
              <a:buFont typeface="Wingdings"/>
              <a:buChar char=""/>
              <a:tabLst>
                <a:tab pos="354965" algn="l"/>
              </a:tabLst>
            </a:pPr>
            <a:r>
              <a:rPr sz="2400" b="1" dirty="0">
                <a:solidFill>
                  <a:srgbClr val="053CE8"/>
                </a:solidFill>
                <a:latin typeface="Times New Roman"/>
                <a:cs typeface="Times New Roman"/>
              </a:rPr>
              <a:t>ESX</a:t>
            </a:r>
            <a:r>
              <a:rPr sz="2400" b="1" spc="-25" dirty="0">
                <a:solidFill>
                  <a:srgbClr val="053CE8"/>
                </a:solidFill>
                <a:latin typeface="Times New Roman"/>
                <a:cs typeface="Times New Roman"/>
              </a:rPr>
              <a:t> </a:t>
            </a:r>
            <a:r>
              <a:rPr sz="2400" dirty="0">
                <a:latin typeface="Times New Roman"/>
                <a:cs typeface="Times New Roman"/>
              </a:rPr>
              <a:t>or</a:t>
            </a:r>
            <a:r>
              <a:rPr sz="2400" spc="-35" dirty="0">
                <a:latin typeface="Times New Roman"/>
                <a:cs typeface="Times New Roman"/>
              </a:rPr>
              <a:t> </a:t>
            </a:r>
            <a:r>
              <a:rPr sz="2400" b="1" dirty="0">
                <a:solidFill>
                  <a:srgbClr val="053CE8"/>
                </a:solidFill>
                <a:latin typeface="Times New Roman"/>
                <a:cs typeface="Times New Roman"/>
              </a:rPr>
              <a:t>ESXi</a:t>
            </a:r>
            <a:r>
              <a:rPr sz="2400" dirty="0">
                <a:latin typeface="Times New Roman"/>
                <a:cs typeface="Times New Roman"/>
              </a:rPr>
              <a:t>:</a:t>
            </a:r>
            <a:r>
              <a:rPr sz="2400" spc="-35" dirty="0">
                <a:latin typeface="Times New Roman"/>
                <a:cs typeface="Times New Roman"/>
              </a:rPr>
              <a:t> </a:t>
            </a:r>
            <a:r>
              <a:rPr sz="2400" dirty="0">
                <a:latin typeface="Times New Roman"/>
                <a:cs typeface="Times New Roman"/>
              </a:rPr>
              <a:t>Type</a:t>
            </a:r>
            <a:r>
              <a:rPr sz="2400" spc="-30" dirty="0">
                <a:latin typeface="Times New Roman"/>
                <a:cs typeface="Times New Roman"/>
              </a:rPr>
              <a:t> </a:t>
            </a:r>
            <a:r>
              <a:rPr sz="2400" dirty="0">
                <a:latin typeface="Times New Roman"/>
                <a:cs typeface="Times New Roman"/>
              </a:rPr>
              <a:t>1</a:t>
            </a:r>
            <a:r>
              <a:rPr sz="2400" spc="-35" dirty="0">
                <a:latin typeface="Times New Roman"/>
                <a:cs typeface="Times New Roman"/>
              </a:rPr>
              <a:t> </a:t>
            </a:r>
            <a:r>
              <a:rPr sz="2400" dirty="0">
                <a:latin typeface="Times New Roman"/>
                <a:cs typeface="Times New Roman"/>
              </a:rPr>
              <a:t>hypervisor</a:t>
            </a:r>
            <a:r>
              <a:rPr sz="2400" spc="-35" dirty="0">
                <a:latin typeface="Times New Roman"/>
                <a:cs typeface="Times New Roman"/>
              </a:rPr>
              <a:t> </a:t>
            </a:r>
            <a:r>
              <a:rPr sz="2400" dirty="0">
                <a:latin typeface="Times New Roman"/>
                <a:cs typeface="Times New Roman"/>
              </a:rPr>
              <a:t>that</a:t>
            </a:r>
            <a:r>
              <a:rPr sz="2400" spc="-35" dirty="0">
                <a:latin typeface="Times New Roman"/>
                <a:cs typeface="Times New Roman"/>
              </a:rPr>
              <a:t> </a:t>
            </a:r>
            <a:r>
              <a:rPr sz="2400" dirty="0">
                <a:latin typeface="Times New Roman"/>
                <a:cs typeface="Times New Roman"/>
              </a:rPr>
              <a:t>runs</a:t>
            </a:r>
            <a:r>
              <a:rPr sz="2400" spc="-30" dirty="0">
                <a:latin typeface="Times New Roman"/>
                <a:cs typeface="Times New Roman"/>
              </a:rPr>
              <a:t> </a:t>
            </a:r>
            <a:r>
              <a:rPr sz="2400" dirty="0">
                <a:latin typeface="Times New Roman"/>
                <a:cs typeface="Times New Roman"/>
              </a:rPr>
              <a:t>on</a:t>
            </a:r>
            <a:r>
              <a:rPr sz="2400" spc="-35" dirty="0">
                <a:latin typeface="Times New Roman"/>
                <a:cs typeface="Times New Roman"/>
              </a:rPr>
              <a:t> </a:t>
            </a:r>
            <a:r>
              <a:rPr sz="2400" dirty="0">
                <a:latin typeface="Times New Roman"/>
                <a:cs typeface="Times New Roman"/>
              </a:rPr>
              <a:t>bare</a:t>
            </a:r>
            <a:r>
              <a:rPr sz="2400" spc="-35" dirty="0">
                <a:latin typeface="Times New Roman"/>
                <a:cs typeface="Times New Roman"/>
              </a:rPr>
              <a:t> </a:t>
            </a:r>
            <a:r>
              <a:rPr sz="2400" spc="-10" dirty="0">
                <a:latin typeface="Times New Roman"/>
                <a:cs typeface="Times New Roman"/>
              </a:rPr>
              <a:t>metal</a:t>
            </a:r>
            <a:endParaRPr sz="2400">
              <a:latin typeface="Times New Roman"/>
              <a:cs typeface="Times New Roman"/>
            </a:endParaRPr>
          </a:p>
          <a:p>
            <a:pPr marL="354965" indent="-342265">
              <a:lnSpc>
                <a:spcPct val="100000"/>
              </a:lnSpc>
              <a:spcBef>
                <a:spcPts val="280"/>
              </a:spcBef>
              <a:buClr>
                <a:srgbClr val="053CE8"/>
              </a:buClr>
              <a:buSzPct val="75000"/>
              <a:buFont typeface="Wingdings"/>
              <a:buChar char=""/>
              <a:tabLst>
                <a:tab pos="354965" algn="l"/>
              </a:tabLst>
            </a:pPr>
            <a:r>
              <a:rPr sz="2400" dirty="0">
                <a:latin typeface="Times New Roman"/>
                <a:cs typeface="Times New Roman"/>
              </a:rPr>
              <a:t>Virtual</a:t>
            </a:r>
            <a:r>
              <a:rPr sz="2400" spc="-25" dirty="0">
                <a:latin typeface="Times New Roman"/>
                <a:cs typeface="Times New Roman"/>
              </a:rPr>
              <a:t> </a:t>
            </a:r>
            <a:r>
              <a:rPr sz="2400" dirty="0">
                <a:latin typeface="Times New Roman"/>
                <a:cs typeface="Times New Roman"/>
              </a:rPr>
              <a:t>SMP:</a:t>
            </a:r>
            <a:r>
              <a:rPr sz="2400" spc="-25" dirty="0">
                <a:latin typeface="Times New Roman"/>
                <a:cs typeface="Times New Roman"/>
              </a:rPr>
              <a:t> </a:t>
            </a:r>
            <a:r>
              <a:rPr sz="2400" dirty="0">
                <a:latin typeface="Times New Roman"/>
                <a:cs typeface="Times New Roman"/>
              </a:rPr>
              <a:t>VM</a:t>
            </a:r>
            <a:r>
              <a:rPr sz="2400" spc="-25" dirty="0">
                <a:latin typeface="Times New Roman"/>
                <a:cs typeface="Times New Roman"/>
              </a:rPr>
              <a:t> </a:t>
            </a:r>
            <a:r>
              <a:rPr sz="2400" dirty="0">
                <a:latin typeface="Times New Roman"/>
                <a:cs typeface="Times New Roman"/>
              </a:rPr>
              <a:t>running</a:t>
            </a:r>
            <a:r>
              <a:rPr sz="2400" spc="-20" dirty="0">
                <a:latin typeface="Times New Roman"/>
                <a:cs typeface="Times New Roman"/>
              </a:rPr>
              <a:t> </a:t>
            </a:r>
            <a:r>
              <a:rPr sz="2400" dirty="0">
                <a:latin typeface="Times New Roman"/>
                <a:cs typeface="Times New Roman"/>
              </a:rPr>
              <a:t>on</a:t>
            </a:r>
            <a:r>
              <a:rPr sz="2400" spc="-25" dirty="0">
                <a:latin typeface="Times New Roman"/>
                <a:cs typeface="Times New Roman"/>
              </a:rPr>
              <a:t> </a:t>
            </a:r>
            <a:r>
              <a:rPr sz="2400" dirty="0">
                <a:latin typeface="Times New Roman"/>
                <a:cs typeface="Times New Roman"/>
              </a:rPr>
              <a:t>two</a:t>
            </a:r>
            <a:r>
              <a:rPr sz="2400" spc="-25" dirty="0">
                <a:latin typeface="Times New Roman"/>
                <a:cs typeface="Times New Roman"/>
              </a:rPr>
              <a:t> </a:t>
            </a:r>
            <a:r>
              <a:rPr sz="2400" dirty="0">
                <a:latin typeface="Times New Roman"/>
                <a:cs typeface="Times New Roman"/>
              </a:rPr>
              <a:t>or</a:t>
            </a:r>
            <a:r>
              <a:rPr sz="2400" spc="-25" dirty="0">
                <a:latin typeface="Times New Roman"/>
                <a:cs typeface="Times New Roman"/>
              </a:rPr>
              <a:t> </a:t>
            </a:r>
            <a:r>
              <a:rPr sz="2400" dirty="0">
                <a:latin typeface="Times New Roman"/>
                <a:cs typeface="Times New Roman"/>
              </a:rPr>
              <a:t>more</a:t>
            </a:r>
            <a:r>
              <a:rPr sz="2400" spc="-20" dirty="0">
                <a:latin typeface="Times New Roman"/>
                <a:cs typeface="Times New Roman"/>
              </a:rPr>
              <a:t> </a:t>
            </a:r>
            <a:r>
              <a:rPr sz="2400" dirty="0">
                <a:latin typeface="Times New Roman"/>
                <a:cs typeface="Times New Roman"/>
              </a:rPr>
              <a:t>physical</a:t>
            </a:r>
            <a:r>
              <a:rPr sz="2400" spc="-25" dirty="0">
                <a:latin typeface="Times New Roman"/>
                <a:cs typeface="Times New Roman"/>
              </a:rPr>
              <a:t> </a:t>
            </a:r>
            <a:r>
              <a:rPr sz="2400" spc="-10" dirty="0">
                <a:latin typeface="Times New Roman"/>
                <a:cs typeface="Times New Roman"/>
              </a:rPr>
              <a:t>processors</a:t>
            </a:r>
            <a:endParaRPr sz="2400">
              <a:latin typeface="Times New Roman"/>
              <a:cs typeface="Times New Roman"/>
            </a:endParaRPr>
          </a:p>
          <a:p>
            <a:pPr marL="355600" marR="5080" indent="-342900">
              <a:lnSpc>
                <a:spcPct val="100000"/>
              </a:lnSpc>
              <a:spcBef>
                <a:spcPts val="280"/>
              </a:spcBef>
              <a:buClr>
                <a:srgbClr val="053CE8"/>
              </a:buClr>
              <a:buSzPct val="75000"/>
              <a:buFont typeface="Wingdings"/>
              <a:buChar char=""/>
              <a:tabLst>
                <a:tab pos="355600" algn="l"/>
                <a:tab pos="1634489" algn="l"/>
              </a:tabLst>
            </a:pPr>
            <a:r>
              <a:rPr sz="2400" dirty="0">
                <a:latin typeface="Times New Roman"/>
                <a:cs typeface="Times New Roman"/>
              </a:rPr>
              <a:t>Cluster</a:t>
            </a:r>
            <a:r>
              <a:rPr sz="2400" spc="-35" dirty="0">
                <a:latin typeface="Times New Roman"/>
                <a:cs typeface="Times New Roman"/>
              </a:rPr>
              <a:t> </a:t>
            </a:r>
            <a:r>
              <a:rPr sz="2400" spc="-50" dirty="0">
                <a:latin typeface="Times New Roman"/>
                <a:cs typeface="Times New Roman"/>
              </a:rPr>
              <a:t>=</a:t>
            </a:r>
            <a:r>
              <a:rPr sz="2400" dirty="0">
                <a:latin typeface="Times New Roman"/>
                <a:cs typeface="Times New Roman"/>
              </a:rPr>
              <a:t>	collection</a:t>
            </a:r>
            <a:r>
              <a:rPr sz="2400" spc="-45" dirty="0">
                <a:latin typeface="Times New Roman"/>
                <a:cs typeface="Times New Roman"/>
              </a:rPr>
              <a:t> </a:t>
            </a:r>
            <a:r>
              <a:rPr sz="2400" dirty="0">
                <a:latin typeface="Times New Roman"/>
                <a:cs typeface="Times New Roman"/>
              </a:rPr>
              <a:t>of</a:t>
            </a:r>
            <a:r>
              <a:rPr sz="2400" spc="-45" dirty="0">
                <a:latin typeface="Times New Roman"/>
                <a:cs typeface="Times New Roman"/>
              </a:rPr>
              <a:t> </a:t>
            </a:r>
            <a:r>
              <a:rPr sz="2400" dirty="0">
                <a:latin typeface="Times New Roman"/>
                <a:cs typeface="Times New Roman"/>
              </a:rPr>
              <a:t>servers</a:t>
            </a:r>
            <a:r>
              <a:rPr sz="2400" spc="-45" dirty="0">
                <a:latin typeface="Times New Roman"/>
                <a:cs typeface="Times New Roman"/>
              </a:rPr>
              <a:t> </a:t>
            </a:r>
            <a:r>
              <a:rPr sz="2400" dirty="0">
                <a:latin typeface="Times New Roman"/>
                <a:cs typeface="Times New Roman"/>
              </a:rPr>
              <a:t>that</a:t>
            </a:r>
            <a:r>
              <a:rPr sz="2400" spc="-45" dirty="0">
                <a:latin typeface="Times New Roman"/>
                <a:cs typeface="Times New Roman"/>
              </a:rPr>
              <a:t> </a:t>
            </a:r>
            <a:r>
              <a:rPr sz="2400" dirty="0">
                <a:latin typeface="Times New Roman"/>
                <a:cs typeface="Times New Roman"/>
              </a:rPr>
              <a:t>pool</a:t>
            </a:r>
            <a:r>
              <a:rPr sz="2400" spc="-45" dirty="0">
                <a:latin typeface="Times New Roman"/>
                <a:cs typeface="Times New Roman"/>
              </a:rPr>
              <a:t> </a:t>
            </a:r>
            <a:r>
              <a:rPr sz="2400" spc="-10" dirty="0">
                <a:latin typeface="Times New Roman"/>
                <a:cs typeface="Times New Roman"/>
              </a:rPr>
              <a:t>CPU/memory/storage </a:t>
            </a:r>
            <a:r>
              <a:rPr sz="2400" dirty="0">
                <a:latin typeface="Times New Roman"/>
                <a:cs typeface="Times New Roman"/>
              </a:rPr>
              <a:t>for</a:t>
            </a:r>
            <a:r>
              <a:rPr sz="2400" spc="-30" dirty="0">
                <a:latin typeface="Times New Roman"/>
                <a:cs typeface="Times New Roman"/>
              </a:rPr>
              <a:t> </a:t>
            </a:r>
            <a:r>
              <a:rPr sz="2400" spc="-25" dirty="0">
                <a:latin typeface="Times New Roman"/>
                <a:cs typeface="Times New Roman"/>
              </a:rPr>
              <a:t>VMs</a:t>
            </a:r>
            <a:endParaRPr sz="2400">
              <a:latin typeface="Times New Roman"/>
              <a:cs typeface="Times New Roman"/>
            </a:endParaRPr>
          </a:p>
          <a:p>
            <a:pPr marL="354965" indent="-342265">
              <a:lnSpc>
                <a:spcPct val="100000"/>
              </a:lnSpc>
              <a:spcBef>
                <a:spcPts val="280"/>
              </a:spcBef>
              <a:buClr>
                <a:srgbClr val="053CE8"/>
              </a:buClr>
              <a:buSzPct val="75000"/>
              <a:buFont typeface="Wingdings"/>
              <a:buChar char=""/>
              <a:tabLst>
                <a:tab pos="354965" algn="l"/>
              </a:tabLst>
            </a:pPr>
            <a:r>
              <a:rPr sz="2400" dirty="0">
                <a:latin typeface="Times New Roman"/>
                <a:cs typeface="Times New Roman"/>
              </a:rPr>
              <a:t>Pod</a:t>
            </a:r>
            <a:r>
              <a:rPr sz="2400" spc="-35" dirty="0">
                <a:latin typeface="Times New Roman"/>
                <a:cs typeface="Times New Roman"/>
              </a:rPr>
              <a:t> </a:t>
            </a:r>
            <a:r>
              <a:rPr sz="2400" dirty="0">
                <a:latin typeface="Times New Roman"/>
                <a:cs typeface="Times New Roman"/>
              </a:rPr>
              <a:t>=</a:t>
            </a:r>
            <a:r>
              <a:rPr sz="2400" spc="-35" dirty="0">
                <a:latin typeface="Times New Roman"/>
                <a:cs typeface="Times New Roman"/>
              </a:rPr>
              <a:t> </a:t>
            </a:r>
            <a:r>
              <a:rPr sz="2400" dirty="0">
                <a:latin typeface="Times New Roman"/>
                <a:cs typeface="Times New Roman"/>
              </a:rPr>
              <a:t>Collection</a:t>
            </a:r>
            <a:r>
              <a:rPr sz="2400" spc="-30" dirty="0">
                <a:latin typeface="Times New Roman"/>
                <a:cs typeface="Times New Roman"/>
              </a:rPr>
              <a:t> </a:t>
            </a:r>
            <a:r>
              <a:rPr sz="2400" dirty="0">
                <a:latin typeface="Times New Roman"/>
                <a:cs typeface="Times New Roman"/>
              </a:rPr>
              <a:t>of</a:t>
            </a:r>
            <a:r>
              <a:rPr sz="2400" spc="-35" dirty="0">
                <a:latin typeface="Times New Roman"/>
                <a:cs typeface="Times New Roman"/>
              </a:rPr>
              <a:t> </a:t>
            </a:r>
            <a:r>
              <a:rPr sz="2400" dirty="0">
                <a:latin typeface="Times New Roman"/>
                <a:cs typeface="Times New Roman"/>
              </a:rPr>
              <a:t>clusters</a:t>
            </a:r>
            <a:r>
              <a:rPr sz="2400" spc="-35" dirty="0">
                <a:latin typeface="Times New Roman"/>
                <a:cs typeface="Times New Roman"/>
              </a:rPr>
              <a:t> </a:t>
            </a:r>
            <a:r>
              <a:rPr sz="2400" dirty="0">
                <a:latin typeface="Times New Roman"/>
                <a:cs typeface="Times New Roman"/>
              </a:rPr>
              <a:t>grouped</a:t>
            </a:r>
            <a:r>
              <a:rPr sz="2400" spc="-30" dirty="0">
                <a:latin typeface="Times New Roman"/>
                <a:cs typeface="Times New Roman"/>
              </a:rPr>
              <a:t> </a:t>
            </a:r>
            <a:r>
              <a:rPr sz="2400" dirty="0">
                <a:latin typeface="Times New Roman"/>
                <a:cs typeface="Times New Roman"/>
              </a:rPr>
              <a:t>as</a:t>
            </a:r>
            <a:r>
              <a:rPr sz="2400" spc="-35" dirty="0">
                <a:latin typeface="Times New Roman"/>
                <a:cs typeface="Times New Roman"/>
              </a:rPr>
              <a:t> </a:t>
            </a:r>
            <a:r>
              <a:rPr sz="2400" dirty="0">
                <a:latin typeface="Times New Roman"/>
                <a:cs typeface="Times New Roman"/>
              </a:rPr>
              <a:t>a</a:t>
            </a:r>
            <a:r>
              <a:rPr sz="2400" spc="-30" dirty="0">
                <a:latin typeface="Times New Roman"/>
                <a:cs typeface="Times New Roman"/>
              </a:rPr>
              <a:t> </a:t>
            </a:r>
            <a:r>
              <a:rPr sz="2400" dirty="0">
                <a:latin typeface="Times New Roman"/>
                <a:cs typeface="Times New Roman"/>
              </a:rPr>
              <a:t>management</a:t>
            </a:r>
            <a:r>
              <a:rPr sz="2400" spc="-35" dirty="0">
                <a:latin typeface="Times New Roman"/>
                <a:cs typeface="Times New Roman"/>
              </a:rPr>
              <a:t> </a:t>
            </a:r>
            <a:r>
              <a:rPr sz="2400" spc="-20" dirty="0">
                <a:latin typeface="Times New Roman"/>
                <a:cs typeface="Times New Roman"/>
              </a:rPr>
              <a:t>unit</a:t>
            </a:r>
            <a:endParaRPr sz="2400">
              <a:latin typeface="Times New Roman"/>
              <a:cs typeface="Times New Roman"/>
            </a:endParaRPr>
          </a:p>
          <a:p>
            <a:pPr marL="355600" marR="10795" indent="-342900">
              <a:lnSpc>
                <a:spcPct val="100000"/>
              </a:lnSpc>
              <a:spcBef>
                <a:spcPts val="280"/>
              </a:spcBef>
              <a:buClr>
                <a:srgbClr val="053CE8"/>
              </a:buClr>
              <a:buSzPct val="75000"/>
              <a:buFont typeface="Wingdings"/>
              <a:buChar char=""/>
              <a:tabLst>
                <a:tab pos="355600" algn="l"/>
              </a:tabLst>
            </a:pPr>
            <a:r>
              <a:rPr sz="2400" dirty="0">
                <a:latin typeface="Times New Roman"/>
                <a:cs typeface="Times New Roman"/>
              </a:rPr>
              <a:t>Distributed</a:t>
            </a:r>
            <a:r>
              <a:rPr sz="2400" spc="-50" dirty="0">
                <a:latin typeface="Times New Roman"/>
                <a:cs typeface="Times New Roman"/>
              </a:rPr>
              <a:t> </a:t>
            </a:r>
            <a:r>
              <a:rPr sz="2400" dirty="0">
                <a:latin typeface="Times New Roman"/>
                <a:cs typeface="Times New Roman"/>
              </a:rPr>
              <a:t>Resource</a:t>
            </a:r>
            <a:r>
              <a:rPr sz="2400" spc="-50" dirty="0">
                <a:latin typeface="Times New Roman"/>
                <a:cs typeface="Times New Roman"/>
              </a:rPr>
              <a:t> </a:t>
            </a:r>
            <a:r>
              <a:rPr sz="2400" dirty="0">
                <a:latin typeface="Times New Roman"/>
                <a:cs typeface="Times New Roman"/>
              </a:rPr>
              <a:t>Scheduler</a:t>
            </a:r>
            <a:r>
              <a:rPr sz="2400" spc="-50" dirty="0">
                <a:latin typeface="Times New Roman"/>
                <a:cs typeface="Times New Roman"/>
              </a:rPr>
              <a:t> </a:t>
            </a:r>
            <a:r>
              <a:rPr sz="2400" dirty="0">
                <a:latin typeface="Times New Roman"/>
                <a:cs typeface="Times New Roman"/>
              </a:rPr>
              <a:t>(</a:t>
            </a:r>
            <a:r>
              <a:rPr sz="2400" b="1" dirty="0">
                <a:solidFill>
                  <a:srgbClr val="053CE8"/>
                </a:solidFill>
                <a:latin typeface="Times New Roman"/>
                <a:cs typeface="Times New Roman"/>
              </a:rPr>
              <a:t>DRS</a:t>
            </a:r>
            <a:r>
              <a:rPr sz="2400" dirty="0">
                <a:latin typeface="Times New Roman"/>
                <a:cs typeface="Times New Roman"/>
              </a:rPr>
              <a:t>):</a:t>
            </a:r>
            <a:r>
              <a:rPr sz="2400" spc="-50" dirty="0">
                <a:latin typeface="Times New Roman"/>
                <a:cs typeface="Times New Roman"/>
              </a:rPr>
              <a:t> </a:t>
            </a:r>
            <a:r>
              <a:rPr sz="2400" dirty="0">
                <a:latin typeface="Times New Roman"/>
                <a:cs typeface="Times New Roman"/>
              </a:rPr>
              <a:t>System</a:t>
            </a:r>
            <a:r>
              <a:rPr sz="2400" spc="-50" dirty="0">
                <a:latin typeface="Times New Roman"/>
                <a:cs typeface="Times New Roman"/>
              </a:rPr>
              <a:t> </a:t>
            </a:r>
            <a:r>
              <a:rPr sz="2400" spc="-25" dirty="0">
                <a:latin typeface="Times New Roman"/>
                <a:cs typeface="Times New Roman"/>
              </a:rPr>
              <a:t>for </a:t>
            </a:r>
            <a:r>
              <a:rPr sz="2400" dirty="0">
                <a:latin typeface="Times New Roman"/>
                <a:cs typeface="Times New Roman"/>
              </a:rPr>
              <a:t>provisioning</a:t>
            </a:r>
            <a:r>
              <a:rPr sz="2400" spc="-50" dirty="0">
                <a:latin typeface="Times New Roman"/>
                <a:cs typeface="Times New Roman"/>
              </a:rPr>
              <a:t> </a:t>
            </a:r>
            <a:r>
              <a:rPr sz="2400" dirty="0">
                <a:latin typeface="Times New Roman"/>
                <a:cs typeface="Times New Roman"/>
              </a:rPr>
              <a:t>VMs</a:t>
            </a:r>
            <a:r>
              <a:rPr sz="2400" spc="-50" dirty="0">
                <a:latin typeface="Times New Roman"/>
                <a:cs typeface="Times New Roman"/>
              </a:rPr>
              <a:t> </a:t>
            </a:r>
            <a:r>
              <a:rPr sz="2400" dirty="0">
                <a:latin typeface="Times New Roman"/>
                <a:cs typeface="Times New Roman"/>
              </a:rPr>
              <a:t>and</a:t>
            </a:r>
            <a:r>
              <a:rPr sz="2400" spc="-45" dirty="0">
                <a:latin typeface="Times New Roman"/>
                <a:cs typeface="Times New Roman"/>
              </a:rPr>
              <a:t> </a:t>
            </a:r>
            <a:r>
              <a:rPr sz="2400" dirty="0">
                <a:latin typeface="Times New Roman"/>
                <a:cs typeface="Times New Roman"/>
              </a:rPr>
              <a:t>load</a:t>
            </a:r>
            <a:r>
              <a:rPr sz="2400" spc="-50" dirty="0">
                <a:latin typeface="Times New Roman"/>
                <a:cs typeface="Times New Roman"/>
              </a:rPr>
              <a:t> </a:t>
            </a:r>
            <a:r>
              <a:rPr sz="2400" dirty="0">
                <a:latin typeface="Times New Roman"/>
                <a:cs typeface="Times New Roman"/>
              </a:rPr>
              <a:t>balancing</a:t>
            </a:r>
            <a:r>
              <a:rPr sz="2400" spc="-45" dirty="0">
                <a:latin typeface="Times New Roman"/>
                <a:cs typeface="Times New Roman"/>
              </a:rPr>
              <a:t> </a:t>
            </a:r>
            <a:r>
              <a:rPr sz="2400" dirty="0">
                <a:latin typeface="Times New Roman"/>
                <a:cs typeface="Times New Roman"/>
              </a:rPr>
              <a:t>across</a:t>
            </a:r>
            <a:r>
              <a:rPr sz="2400" spc="-50" dirty="0">
                <a:latin typeface="Times New Roman"/>
                <a:cs typeface="Times New Roman"/>
              </a:rPr>
              <a:t> </a:t>
            </a:r>
            <a:r>
              <a:rPr sz="2400" dirty="0">
                <a:latin typeface="Times New Roman"/>
                <a:cs typeface="Times New Roman"/>
              </a:rPr>
              <a:t>multiple</a:t>
            </a:r>
            <a:r>
              <a:rPr sz="2400" spc="-45" dirty="0">
                <a:latin typeface="Times New Roman"/>
                <a:cs typeface="Times New Roman"/>
              </a:rPr>
              <a:t> </a:t>
            </a:r>
            <a:r>
              <a:rPr sz="2400" spc="-10" dirty="0">
                <a:latin typeface="Times New Roman"/>
                <a:cs typeface="Times New Roman"/>
              </a:rPr>
              <a:t>physical servers</a:t>
            </a:r>
            <a:endParaRPr sz="2400">
              <a:latin typeface="Times New Roman"/>
              <a:cs typeface="Times New Roman"/>
            </a:endParaRPr>
          </a:p>
          <a:p>
            <a:pPr marL="354965" marR="704850" indent="-342900">
              <a:lnSpc>
                <a:spcPct val="100000"/>
              </a:lnSpc>
              <a:spcBef>
                <a:spcPts val="275"/>
              </a:spcBef>
              <a:buClr>
                <a:srgbClr val="053CE8"/>
              </a:buClr>
              <a:buSzPct val="75000"/>
              <a:buFont typeface="Wingdings"/>
              <a:buChar char=""/>
              <a:tabLst>
                <a:tab pos="354965" algn="l"/>
              </a:tabLst>
            </a:pPr>
            <a:r>
              <a:rPr sz="2400" dirty="0">
                <a:latin typeface="Times New Roman"/>
                <a:cs typeface="Times New Roman"/>
              </a:rPr>
              <a:t>vNetwork</a:t>
            </a:r>
            <a:r>
              <a:rPr sz="2400" spc="-70" dirty="0">
                <a:latin typeface="Times New Roman"/>
                <a:cs typeface="Times New Roman"/>
              </a:rPr>
              <a:t> </a:t>
            </a:r>
            <a:r>
              <a:rPr sz="2400" dirty="0">
                <a:latin typeface="Times New Roman"/>
                <a:cs typeface="Times New Roman"/>
              </a:rPr>
              <a:t>Distributed</a:t>
            </a:r>
            <a:r>
              <a:rPr sz="2400" spc="-65" dirty="0">
                <a:latin typeface="Times New Roman"/>
                <a:cs typeface="Times New Roman"/>
              </a:rPr>
              <a:t> </a:t>
            </a:r>
            <a:r>
              <a:rPr sz="2400" dirty="0">
                <a:latin typeface="Times New Roman"/>
                <a:cs typeface="Times New Roman"/>
              </a:rPr>
              <a:t>Switch</a:t>
            </a:r>
            <a:r>
              <a:rPr sz="2400" spc="-70" dirty="0">
                <a:latin typeface="Times New Roman"/>
                <a:cs typeface="Times New Roman"/>
              </a:rPr>
              <a:t> </a:t>
            </a:r>
            <a:r>
              <a:rPr sz="2400" dirty="0">
                <a:latin typeface="Times New Roman"/>
                <a:cs typeface="Times New Roman"/>
              </a:rPr>
              <a:t>(</a:t>
            </a:r>
            <a:r>
              <a:rPr sz="2400" b="1" dirty="0">
                <a:solidFill>
                  <a:srgbClr val="053CE8"/>
                </a:solidFill>
                <a:latin typeface="Times New Roman"/>
                <a:cs typeface="Times New Roman"/>
              </a:rPr>
              <a:t>DVS</a:t>
            </a:r>
            <a:r>
              <a:rPr sz="2400" dirty="0">
                <a:latin typeface="Times New Roman"/>
                <a:cs typeface="Times New Roman"/>
              </a:rPr>
              <a:t>):</a:t>
            </a:r>
            <a:r>
              <a:rPr sz="2400" spc="-65" dirty="0">
                <a:latin typeface="Times New Roman"/>
                <a:cs typeface="Times New Roman"/>
              </a:rPr>
              <a:t> </a:t>
            </a:r>
            <a:r>
              <a:rPr sz="2400" dirty="0">
                <a:latin typeface="Times New Roman"/>
                <a:cs typeface="Times New Roman"/>
              </a:rPr>
              <a:t>Maintains</a:t>
            </a:r>
            <a:r>
              <a:rPr sz="2400" spc="-70" dirty="0">
                <a:latin typeface="Times New Roman"/>
                <a:cs typeface="Times New Roman"/>
              </a:rPr>
              <a:t> </a:t>
            </a:r>
            <a:r>
              <a:rPr sz="2400" spc="-10" dirty="0">
                <a:latin typeface="Times New Roman"/>
                <a:cs typeface="Times New Roman"/>
              </a:rPr>
              <a:t>network </a:t>
            </a:r>
            <a:r>
              <a:rPr sz="2400" dirty="0">
                <a:latin typeface="Times New Roman"/>
                <a:cs typeface="Times New Roman"/>
              </a:rPr>
              <a:t>runtime</a:t>
            </a:r>
            <a:r>
              <a:rPr sz="2400" spc="-30" dirty="0">
                <a:latin typeface="Times New Roman"/>
                <a:cs typeface="Times New Roman"/>
              </a:rPr>
              <a:t> </a:t>
            </a:r>
            <a:r>
              <a:rPr sz="2400" dirty="0">
                <a:latin typeface="Times New Roman"/>
                <a:cs typeface="Times New Roman"/>
              </a:rPr>
              <a:t>state</a:t>
            </a:r>
            <a:r>
              <a:rPr sz="2400" spc="-25" dirty="0">
                <a:latin typeface="Times New Roman"/>
                <a:cs typeface="Times New Roman"/>
              </a:rPr>
              <a:t> </a:t>
            </a:r>
            <a:r>
              <a:rPr sz="2400" dirty="0">
                <a:latin typeface="Times New Roman"/>
                <a:cs typeface="Times New Roman"/>
              </a:rPr>
              <a:t>as</a:t>
            </a:r>
            <a:r>
              <a:rPr sz="2400" spc="-25" dirty="0">
                <a:latin typeface="Times New Roman"/>
                <a:cs typeface="Times New Roman"/>
              </a:rPr>
              <a:t> </a:t>
            </a:r>
            <a:r>
              <a:rPr sz="2400" dirty="0">
                <a:latin typeface="Times New Roman"/>
                <a:cs typeface="Times New Roman"/>
              </a:rPr>
              <a:t>VMs</a:t>
            </a:r>
            <a:r>
              <a:rPr sz="2400" spc="-25" dirty="0">
                <a:latin typeface="Times New Roman"/>
                <a:cs typeface="Times New Roman"/>
              </a:rPr>
              <a:t> </a:t>
            </a:r>
            <a:r>
              <a:rPr sz="2400" spc="-10" dirty="0">
                <a:latin typeface="Times New Roman"/>
                <a:cs typeface="Times New Roman"/>
              </a:rPr>
              <a:t>move.</a:t>
            </a:r>
            <a:endParaRPr sz="2400">
              <a:latin typeface="Times New Roman"/>
              <a:cs typeface="Times New Roman"/>
            </a:endParaRPr>
          </a:p>
          <a:p>
            <a:pPr marL="18415">
              <a:lnSpc>
                <a:spcPts val="1090"/>
              </a:lnSpc>
            </a:pPr>
            <a:endParaRPr sz="1200">
              <a:latin typeface="Times New Roman"/>
              <a:cs typeface="Times New Roman"/>
            </a:endParaRPr>
          </a:p>
        </p:txBody>
      </p:sp>
      <p:sp>
        <p:nvSpPr>
          <p:cNvPr id="7" name="Slide Number Placeholder 6">
            <a:extLst>
              <a:ext uri="{FF2B5EF4-FFF2-40B4-BE49-F238E27FC236}">
                <a16:creationId xmlns:a16="http://schemas.microsoft.com/office/drawing/2014/main" id="{81FC6C4A-31F4-D7BC-7A47-0EC0DB4416B4}"/>
              </a:ext>
            </a:extLst>
          </p:cNvPr>
          <p:cNvSpPr>
            <a:spLocks noGrp="1"/>
          </p:cNvSpPr>
          <p:nvPr>
            <p:ph type="sldNum" sz="quarter" idx="7"/>
          </p:nvPr>
        </p:nvSpPr>
        <p:spPr>
          <a:xfrm>
            <a:off x="4330700" y="6579869"/>
            <a:ext cx="774700" cy="278131"/>
          </a:xfrm>
        </p:spPr>
        <p:txBody>
          <a:bodyPr/>
          <a:lstStyle/>
          <a:p>
            <a:pPr marL="12700">
              <a:lnSpc>
                <a:spcPts val="2065"/>
              </a:lnSpc>
            </a:pPr>
            <a:fld id="{81D60167-4931-47E6-BA6A-407CBD079E47}" type="slidenum">
              <a:rPr spc="-50" smtClean="0"/>
              <a:t>25</a:t>
            </a:fld>
            <a:endParaRPr spc="-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8824" y="445871"/>
            <a:ext cx="8151775" cy="574040"/>
          </a:xfrm>
          <a:prstGeom prst="rect">
            <a:avLst/>
          </a:prstGeom>
        </p:spPr>
        <p:txBody>
          <a:bodyPr vert="horz" wrap="square" lIns="0" tIns="12700" rIns="0" bIns="0" rtlCol="0">
            <a:spAutoFit/>
          </a:bodyPr>
          <a:lstStyle/>
          <a:p>
            <a:pPr marL="2096135">
              <a:lnSpc>
                <a:spcPct val="100000"/>
              </a:lnSpc>
              <a:spcBef>
                <a:spcPts val="100"/>
              </a:spcBef>
            </a:pPr>
            <a:r>
              <a:rPr dirty="0"/>
              <a:t>File</a:t>
            </a:r>
            <a:r>
              <a:rPr spc="-45" dirty="0"/>
              <a:t> </a:t>
            </a:r>
            <a:r>
              <a:rPr dirty="0"/>
              <a:t>System</a:t>
            </a:r>
            <a:r>
              <a:rPr spc="-40" dirty="0"/>
              <a:t> </a:t>
            </a:r>
            <a:r>
              <a:rPr dirty="0"/>
              <a:t>for</a:t>
            </a:r>
            <a:r>
              <a:rPr spc="-40" dirty="0"/>
              <a:t> </a:t>
            </a:r>
            <a:r>
              <a:rPr spc="-25" dirty="0"/>
              <a:t>VMs</a:t>
            </a:r>
          </a:p>
        </p:txBody>
      </p:sp>
      <p:sp>
        <p:nvSpPr>
          <p:cNvPr id="3" name="object 3"/>
          <p:cNvSpPr txBox="1"/>
          <p:nvPr/>
        </p:nvSpPr>
        <p:spPr>
          <a:xfrm>
            <a:off x="457454" y="1252220"/>
            <a:ext cx="8415655" cy="4950073"/>
          </a:xfrm>
          <a:prstGeom prst="rect">
            <a:avLst/>
          </a:prstGeom>
        </p:spPr>
        <p:txBody>
          <a:bodyPr vert="horz" wrap="square" lIns="0" tIns="48260" rIns="0" bIns="0" rtlCol="0">
            <a:spAutoFit/>
          </a:bodyPr>
          <a:lstStyle/>
          <a:p>
            <a:pPr marL="12700">
              <a:lnSpc>
                <a:spcPct val="100000"/>
              </a:lnSpc>
              <a:spcBef>
                <a:spcPts val="380"/>
              </a:spcBef>
            </a:pPr>
            <a:r>
              <a:rPr sz="2400" dirty="0">
                <a:latin typeface="Times New Roman"/>
                <a:cs typeface="Times New Roman"/>
              </a:rPr>
              <a:t>Using</a:t>
            </a:r>
            <a:r>
              <a:rPr sz="2400" spc="-114" dirty="0">
                <a:latin typeface="Times New Roman"/>
                <a:cs typeface="Times New Roman"/>
              </a:rPr>
              <a:t> </a:t>
            </a:r>
            <a:r>
              <a:rPr sz="2400" dirty="0">
                <a:latin typeface="Times New Roman"/>
                <a:cs typeface="Times New Roman"/>
              </a:rPr>
              <a:t>VMware’s</a:t>
            </a:r>
            <a:r>
              <a:rPr sz="2400" spc="-114" dirty="0">
                <a:latin typeface="Times New Roman"/>
                <a:cs typeface="Times New Roman"/>
              </a:rPr>
              <a:t> </a:t>
            </a:r>
            <a:r>
              <a:rPr sz="2400" spc="-10" dirty="0">
                <a:latin typeface="Times New Roman"/>
                <a:cs typeface="Times New Roman"/>
              </a:rPr>
              <a:t>example:</a:t>
            </a:r>
            <a:endParaRPr sz="2400">
              <a:latin typeface="Times New Roman"/>
              <a:cs typeface="Times New Roman"/>
            </a:endParaRPr>
          </a:p>
          <a:p>
            <a:pPr marL="354965" indent="-342265">
              <a:lnSpc>
                <a:spcPct val="100000"/>
              </a:lnSpc>
              <a:spcBef>
                <a:spcPts val="280"/>
              </a:spcBef>
              <a:buClr>
                <a:srgbClr val="053CE8"/>
              </a:buClr>
              <a:buSzPct val="75000"/>
              <a:buFont typeface="Wingdings"/>
              <a:buChar char=""/>
              <a:tabLst>
                <a:tab pos="354965" algn="l"/>
              </a:tabLst>
            </a:pPr>
            <a:r>
              <a:rPr sz="2400" dirty="0">
                <a:latin typeface="Times New Roman"/>
                <a:cs typeface="Times New Roman"/>
              </a:rPr>
              <a:t>All</a:t>
            </a:r>
            <a:r>
              <a:rPr sz="2400" spc="-30" dirty="0">
                <a:latin typeface="Times New Roman"/>
                <a:cs typeface="Times New Roman"/>
              </a:rPr>
              <a:t> </a:t>
            </a:r>
            <a:r>
              <a:rPr sz="2400" dirty="0">
                <a:latin typeface="Times New Roman"/>
                <a:cs typeface="Times New Roman"/>
              </a:rPr>
              <a:t>physical</a:t>
            </a:r>
            <a:r>
              <a:rPr sz="2400" spc="-30" dirty="0">
                <a:latin typeface="Times New Roman"/>
                <a:cs typeface="Times New Roman"/>
              </a:rPr>
              <a:t> </a:t>
            </a:r>
            <a:r>
              <a:rPr sz="2400" dirty="0">
                <a:latin typeface="Times New Roman"/>
                <a:cs typeface="Times New Roman"/>
              </a:rPr>
              <a:t>disks</a:t>
            </a:r>
            <a:r>
              <a:rPr sz="2400" spc="-30" dirty="0">
                <a:latin typeface="Times New Roman"/>
                <a:cs typeface="Times New Roman"/>
              </a:rPr>
              <a:t> </a:t>
            </a:r>
            <a:r>
              <a:rPr sz="2400" dirty="0">
                <a:latin typeface="Times New Roman"/>
                <a:cs typeface="Times New Roman"/>
              </a:rPr>
              <a:t>are</a:t>
            </a:r>
            <a:r>
              <a:rPr sz="2400" spc="-30" dirty="0">
                <a:latin typeface="Times New Roman"/>
                <a:cs typeface="Times New Roman"/>
              </a:rPr>
              <a:t> </a:t>
            </a:r>
            <a:r>
              <a:rPr sz="2400" dirty="0">
                <a:latin typeface="Times New Roman"/>
                <a:cs typeface="Times New Roman"/>
              </a:rPr>
              <a:t>clustered</a:t>
            </a:r>
            <a:r>
              <a:rPr sz="2400" spc="-30" dirty="0">
                <a:latin typeface="Times New Roman"/>
                <a:cs typeface="Times New Roman"/>
              </a:rPr>
              <a:t> </a:t>
            </a:r>
            <a:r>
              <a:rPr sz="2400" dirty="0">
                <a:latin typeface="Times New Roman"/>
                <a:cs typeface="Times New Roman"/>
              </a:rPr>
              <a:t>in</a:t>
            </a:r>
            <a:r>
              <a:rPr sz="2400" spc="-30" dirty="0">
                <a:latin typeface="Times New Roman"/>
                <a:cs typeface="Times New Roman"/>
              </a:rPr>
              <a:t> </a:t>
            </a:r>
            <a:r>
              <a:rPr sz="2400" dirty="0">
                <a:latin typeface="Times New Roman"/>
                <a:cs typeface="Times New Roman"/>
              </a:rPr>
              <a:t>to</a:t>
            </a:r>
            <a:r>
              <a:rPr sz="2400" spc="-30" dirty="0">
                <a:latin typeface="Times New Roman"/>
                <a:cs typeface="Times New Roman"/>
              </a:rPr>
              <a:t> </a:t>
            </a:r>
            <a:r>
              <a:rPr sz="2400" spc="-10" dirty="0">
                <a:latin typeface="Times New Roman"/>
                <a:cs typeface="Times New Roman"/>
              </a:rPr>
              <a:t>Pools</a:t>
            </a:r>
            <a:endParaRPr sz="2400">
              <a:latin typeface="Times New Roman"/>
              <a:cs typeface="Times New Roman"/>
            </a:endParaRPr>
          </a:p>
          <a:p>
            <a:pPr marL="354965" indent="-342265">
              <a:lnSpc>
                <a:spcPct val="100000"/>
              </a:lnSpc>
              <a:spcBef>
                <a:spcPts val="285"/>
              </a:spcBef>
              <a:buClr>
                <a:srgbClr val="053CE8"/>
              </a:buClr>
              <a:buSzPct val="75000"/>
              <a:buFont typeface="Wingdings"/>
              <a:buChar char=""/>
              <a:tabLst>
                <a:tab pos="354965" algn="l"/>
              </a:tabLst>
            </a:pPr>
            <a:r>
              <a:rPr sz="2400" dirty="0">
                <a:latin typeface="Times New Roman"/>
                <a:cs typeface="Times New Roman"/>
              </a:rPr>
              <a:t>Each</a:t>
            </a:r>
            <a:r>
              <a:rPr sz="2400" spc="-30" dirty="0">
                <a:latin typeface="Times New Roman"/>
                <a:cs typeface="Times New Roman"/>
              </a:rPr>
              <a:t> </a:t>
            </a:r>
            <a:r>
              <a:rPr sz="2400" dirty="0">
                <a:latin typeface="Times New Roman"/>
                <a:cs typeface="Times New Roman"/>
              </a:rPr>
              <a:t>VM</a:t>
            </a:r>
            <a:r>
              <a:rPr sz="2400" spc="-25" dirty="0">
                <a:latin typeface="Times New Roman"/>
                <a:cs typeface="Times New Roman"/>
              </a:rPr>
              <a:t> </a:t>
            </a:r>
            <a:r>
              <a:rPr sz="2400" dirty="0">
                <a:latin typeface="Times New Roman"/>
                <a:cs typeface="Times New Roman"/>
              </a:rPr>
              <a:t>has</a:t>
            </a:r>
            <a:r>
              <a:rPr sz="2400" spc="-25" dirty="0">
                <a:latin typeface="Times New Roman"/>
                <a:cs typeface="Times New Roman"/>
              </a:rPr>
              <a:t> </a:t>
            </a:r>
            <a:r>
              <a:rPr sz="2400" dirty="0">
                <a:latin typeface="Times New Roman"/>
                <a:cs typeface="Times New Roman"/>
              </a:rPr>
              <a:t>a</a:t>
            </a:r>
            <a:r>
              <a:rPr sz="2400" spc="-30" dirty="0">
                <a:latin typeface="Times New Roman"/>
                <a:cs typeface="Times New Roman"/>
              </a:rPr>
              <a:t> </a:t>
            </a:r>
            <a:r>
              <a:rPr sz="2400" dirty="0">
                <a:latin typeface="Times New Roman"/>
                <a:cs typeface="Times New Roman"/>
              </a:rPr>
              <a:t>virtual</a:t>
            </a:r>
            <a:r>
              <a:rPr sz="2400" spc="-25" dirty="0">
                <a:latin typeface="Times New Roman"/>
                <a:cs typeface="Times New Roman"/>
              </a:rPr>
              <a:t> </a:t>
            </a:r>
            <a:r>
              <a:rPr sz="2400" dirty="0">
                <a:latin typeface="Times New Roman"/>
                <a:cs typeface="Times New Roman"/>
              </a:rPr>
              <a:t>disk</a:t>
            </a:r>
            <a:r>
              <a:rPr sz="2400" spc="-25" dirty="0">
                <a:latin typeface="Times New Roman"/>
                <a:cs typeface="Times New Roman"/>
              </a:rPr>
              <a:t> </a:t>
            </a:r>
            <a:r>
              <a:rPr sz="2400" dirty="0">
                <a:latin typeface="Times New Roman"/>
                <a:cs typeface="Times New Roman"/>
              </a:rPr>
              <a:t>in</a:t>
            </a:r>
            <a:r>
              <a:rPr sz="2400" spc="-25" dirty="0">
                <a:latin typeface="Times New Roman"/>
                <a:cs typeface="Times New Roman"/>
              </a:rPr>
              <a:t> </a:t>
            </a:r>
            <a:r>
              <a:rPr sz="2400" dirty="0">
                <a:latin typeface="Times New Roman"/>
                <a:cs typeface="Times New Roman"/>
              </a:rPr>
              <a:t>some</a:t>
            </a:r>
            <a:r>
              <a:rPr sz="2400" spc="-30" dirty="0">
                <a:latin typeface="Times New Roman"/>
                <a:cs typeface="Times New Roman"/>
              </a:rPr>
              <a:t> </a:t>
            </a:r>
            <a:r>
              <a:rPr sz="2400" dirty="0">
                <a:latin typeface="Times New Roman"/>
                <a:cs typeface="Times New Roman"/>
              </a:rPr>
              <a:t>pool</a:t>
            </a:r>
            <a:r>
              <a:rPr sz="2400" spc="-25" dirty="0">
                <a:latin typeface="Times New Roman"/>
                <a:cs typeface="Times New Roman"/>
              </a:rPr>
              <a:t> </a:t>
            </a:r>
            <a:r>
              <a:rPr sz="2400" dirty="0">
                <a:latin typeface="Times New Roman"/>
                <a:cs typeface="Times New Roman"/>
              </a:rPr>
              <a:t>with</a:t>
            </a:r>
            <a:r>
              <a:rPr sz="2400" spc="-25" dirty="0">
                <a:latin typeface="Times New Roman"/>
                <a:cs typeface="Times New Roman"/>
              </a:rPr>
              <a:t> </a:t>
            </a:r>
            <a:r>
              <a:rPr sz="2400" dirty="0">
                <a:latin typeface="Times New Roman"/>
                <a:cs typeface="Times New Roman"/>
              </a:rPr>
              <a:t>extension</a:t>
            </a:r>
            <a:r>
              <a:rPr sz="2400" spc="-30" dirty="0">
                <a:latin typeface="Times New Roman"/>
                <a:cs typeface="Times New Roman"/>
              </a:rPr>
              <a:t> </a:t>
            </a:r>
            <a:r>
              <a:rPr sz="2400" spc="-10" dirty="0">
                <a:latin typeface="Times New Roman"/>
                <a:cs typeface="Times New Roman"/>
              </a:rPr>
              <a:t>.vmdk</a:t>
            </a:r>
            <a:endParaRPr sz="2400">
              <a:latin typeface="Times New Roman"/>
              <a:cs typeface="Times New Roman"/>
            </a:endParaRPr>
          </a:p>
          <a:p>
            <a:pPr marL="354965" indent="-342265">
              <a:lnSpc>
                <a:spcPct val="100000"/>
              </a:lnSpc>
              <a:spcBef>
                <a:spcPts val="280"/>
              </a:spcBef>
              <a:buClr>
                <a:srgbClr val="053CE8"/>
              </a:buClr>
              <a:buSzPct val="75000"/>
              <a:buFont typeface="Wingdings"/>
              <a:buChar char=""/>
              <a:tabLst>
                <a:tab pos="354965" algn="l"/>
              </a:tabLst>
            </a:pP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disk</a:t>
            </a:r>
            <a:r>
              <a:rPr sz="2400" spc="-25" dirty="0">
                <a:latin typeface="Times New Roman"/>
                <a:cs typeface="Times New Roman"/>
              </a:rPr>
              <a:t> </a:t>
            </a:r>
            <a:r>
              <a:rPr sz="2400" dirty="0">
                <a:latin typeface="Times New Roman"/>
                <a:cs typeface="Times New Roman"/>
              </a:rPr>
              <a:t>is</a:t>
            </a:r>
            <a:r>
              <a:rPr sz="2400" spc="-25" dirty="0">
                <a:latin typeface="Times New Roman"/>
                <a:cs typeface="Times New Roman"/>
              </a:rPr>
              <a:t> </a:t>
            </a:r>
            <a:r>
              <a:rPr sz="2400" dirty="0">
                <a:latin typeface="Times New Roman"/>
                <a:cs typeface="Times New Roman"/>
              </a:rPr>
              <a:t>formatted</a:t>
            </a:r>
            <a:r>
              <a:rPr sz="2400" spc="-25" dirty="0">
                <a:latin typeface="Times New Roman"/>
                <a:cs typeface="Times New Roman"/>
              </a:rPr>
              <a:t> </a:t>
            </a:r>
            <a:r>
              <a:rPr sz="2400" dirty="0">
                <a:latin typeface="Times New Roman"/>
                <a:cs typeface="Times New Roman"/>
              </a:rPr>
              <a:t>using</a:t>
            </a:r>
            <a:r>
              <a:rPr sz="2400" spc="-30" dirty="0">
                <a:latin typeface="Times New Roman"/>
                <a:cs typeface="Times New Roman"/>
              </a:rPr>
              <a:t> </a:t>
            </a:r>
            <a:r>
              <a:rPr sz="2400" dirty="0">
                <a:latin typeface="Times New Roman"/>
                <a:cs typeface="Times New Roman"/>
              </a:rPr>
              <a:t>Virtual</a:t>
            </a:r>
            <a:r>
              <a:rPr sz="2400" spc="-25" dirty="0">
                <a:latin typeface="Times New Roman"/>
                <a:cs typeface="Times New Roman"/>
              </a:rPr>
              <a:t> </a:t>
            </a:r>
            <a:r>
              <a:rPr sz="2400" dirty="0">
                <a:latin typeface="Times New Roman"/>
                <a:cs typeface="Times New Roman"/>
              </a:rPr>
              <a:t>Machine</a:t>
            </a:r>
            <a:r>
              <a:rPr sz="2400" spc="-25" dirty="0">
                <a:latin typeface="Times New Roman"/>
                <a:cs typeface="Times New Roman"/>
              </a:rPr>
              <a:t> </a:t>
            </a:r>
            <a:r>
              <a:rPr sz="2400" dirty="0">
                <a:latin typeface="Times New Roman"/>
                <a:cs typeface="Times New Roman"/>
              </a:rPr>
              <a:t>File</a:t>
            </a:r>
            <a:r>
              <a:rPr sz="2400" spc="-25" dirty="0">
                <a:latin typeface="Times New Roman"/>
                <a:cs typeface="Times New Roman"/>
              </a:rPr>
              <a:t> </a:t>
            </a:r>
            <a:r>
              <a:rPr sz="2400" dirty="0">
                <a:latin typeface="Times New Roman"/>
                <a:cs typeface="Times New Roman"/>
              </a:rPr>
              <a:t>System</a:t>
            </a:r>
            <a:r>
              <a:rPr sz="2400" spc="-25" dirty="0">
                <a:latin typeface="Times New Roman"/>
                <a:cs typeface="Times New Roman"/>
              </a:rPr>
              <a:t> </a:t>
            </a:r>
            <a:r>
              <a:rPr sz="2400" spc="-10" dirty="0">
                <a:latin typeface="Times New Roman"/>
                <a:cs typeface="Times New Roman"/>
              </a:rPr>
              <a:t>(VMFS)</a:t>
            </a:r>
            <a:endParaRPr sz="2400">
              <a:latin typeface="Times New Roman"/>
              <a:cs typeface="Times New Roman"/>
            </a:endParaRPr>
          </a:p>
          <a:p>
            <a:pPr marL="355600" marR="439420" indent="-342900">
              <a:lnSpc>
                <a:spcPts val="2580"/>
              </a:lnSpc>
              <a:spcBef>
                <a:spcPts val="620"/>
              </a:spcBef>
              <a:buClr>
                <a:srgbClr val="053CE8"/>
              </a:buClr>
              <a:buSzPct val="75000"/>
              <a:buFont typeface="Wingdings"/>
              <a:buChar char=""/>
              <a:tabLst>
                <a:tab pos="355600" algn="l"/>
              </a:tabLst>
            </a:pPr>
            <a:r>
              <a:rPr sz="2400" dirty="0">
                <a:latin typeface="Times New Roman"/>
                <a:cs typeface="Times New Roman"/>
              </a:rPr>
              <a:t>Thin</a:t>
            </a:r>
            <a:r>
              <a:rPr sz="2400" spc="-35" dirty="0">
                <a:latin typeface="Times New Roman"/>
                <a:cs typeface="Times New Roman"/>
              </a:rPr>
              <a:t> </a:t>
            </a:r>
            <a:r>
              <a:rPr sz="2400" dirty="0">
                <a:latin typeface="Times New Roman"/>
                <a:cs typeface="Times New Roman"/>
              </a:rPr>
              <a:t>Provisioning:</a:t>
            </a:r>
            <a:r>
              <a:rPr sz="2400" spc="-30" dirty="0">
                <a:latin typeface="Times New Roman"/>
                <a:cs typeface="Times New Roman"/>
              </a:rPr>
              <a:t> </a:t>
            </a:r>
            <a:r>
              <a:rPr sz="2400" dirty="0">
                <a:latin typeface="Times New Roman"/>
                <a:cs typeface="Times New Roman"/>
              </a:rPr>
              <a:t>Dynamic</a:t>
            </a:r>
            <a:r>
              <a:rPr sz="2400" spc="-30" dirty="0">
                <a:latin typeface="Times New Roman"/>
                <a:cs typeface="Times New Roman"/>
              </a:rPr>
              <a:t> </a:t>
            </a:r>
            <a:r>
              <a:rPr sz="2400" dirty="0">
                <a:latin typeface="Times New Roman"/>
                <a:cs typeface="Times New Roman"/>
              </a:rPr>
              <a:t>disk</a:t>
            </a:r>
            <a:r>
              <a:rPr sz="2400" spc="-35" dirty="0">
                <a:latin typeface="Times New Roman"/>
                <a:cs typeface="Times New Roman"/>
              </a:rPr>
              <a:t> </a:t>
            </a:r>
            <a:r>
              <a:rPr sz="2400" dirty="0">
                <a:latin typeface="Times New Roman"/>
                <a:cs typeface="Times New Roman"/>
              </a:rPr>
              <a:t>size.</a:t>
            </a:r>
            <a:r>
              <a:rPr sz="2400" spc="-30" dirty="0">
                <a:latin typeface="Times New Roman"/>
                <a:cs typeface="Times New Roman"/>
              </a:rPr>
              <a:t> </a:t>
            </a:r>
            <a:r>
              <a:rPr sz="2400" dirty="0">
                <a:latin typeface="Times New Roman"/>
                <a:cs typeface="Times New Roman"/>
              </a:rPr>
              <a:t>Occupies</a:t>
            </a:r>
            <a:r>
              <a:rPr sz="2400" spc="-30"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spc="-10" dirty="0">
                <a:latin typeface="Times New Roman"/>
                <a:cs typeface="Times New Roman"/>
              </a:rPr>
              <a:t>minimum </a:t>
            </a:r>
            <a:r>
              <a:rPr sz="2400" dirty="0">
                <a:latin typeface="Times New Roman"/>
                <a:cs typeface="Times New Roman"/>
              </a:rPr>
              <a:t>space</a:t>
            </a:r>
            <a:r>
              <a:rPr sz="2400" spc="-20" dirty="0">
                <a:latin typeface="Times New Roman"/>
                <a:cs typeface="Times New Roman"/>
              </a:rPr>
              <a:t> </a:t>
            </a:r>
            <a:r>
              <a:rPr sz="2400" dirty="0">
                <a:latin typeface="Times New Roman"/>
                <a:cs typeface="Times New Roman"/>
              </a:rPr>
              <a:t>required</a:t>
            </a:r>
            <a:r>
              <a:rPr sz="2400" spc="-20" dirty="0">
                <a:latin typeface="Times New Roman"/>
                <a:cs typeface="Times New Roman"/>
              </a:rPr>
              <a:t> </a:t>
            </a:r>
            <a:r>
              <a:rPr sz="2400" dirty="0">
                <a:latin typeface="Times New Roman"/>
                <a:cs typeface="Times New Roman"/>
              </a:rPr>
              <a:t>and</a:t>
            </a:r>
            <a:r>
              <a:rPr sz="2400" spc="-20" dirty="0">
                <a:latin typeface="Times New Roman"/>
                <a:cs typeface="Times New Roman"/>
              </a:rPr>
              <a:t> </a:t>
            </a:r>
            <a:r>
              <a:rPr sz="2400" dirty="0">
                <a:latin typeface="Times New Roman"/>
                <a:cs typeface="Times New Roman"/>
              </a:rPr>
              <a:t>grows</a:t>
            </a:r>
            <a:r>
              <a:rPr sz="2400" spc="-20" dirty="0">
                <a:latin typeface="Times New Roman"/>
                <a:cs typeface="Times New Roman"/>
              </a:rPr>
              <a:t> </a:t>
            </a:r>
            <a:r>
              <a:rPr sz="2400" dirty="0">
                <a:latin typeface="Times New Roman"/>
                <a:cs typeface="Times New Roman"/>
              </a:rPr>
              <a:t>as</a:t>
            </a:r>
            <a:r>
              <a:rPr sz="2400" spc="-20"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data</a:t>
            </a:r>
            <a:r>
              <a:rPr sz="2400" spc="-20" dirty="0">
                <a:latin typeface="Times New Roman"/>
                <a:cs typeface="Times New Roman"/>
              </a:rPr>
              <a:t> </a:t>
            </a:r>
            <a:r>
              <a:rPr sz="2400" spc="-10" dirty="0">
                <a:latin typeface="Times New Roman"/>
                <a:cs typeface="Times New Roman"/>
              </a:rPr>
              <a:t>grows</a:t>
            </a:r>
            <a:endParaRPr sz="2400">
              <a:latin typeface="Times New Roman"/>
              <a:cs typeface="Times New Roman"/>
            </a:endParaRPr>
          </a:p>
          <a:p>
            <a:pPr marL="354965" indent="-342265">
              <a:lnSpc>
                <a:spcPct val="100000"/>
              </a:lnSpc>
              <a:spcBef>
                <a:spcPts val="250"/>
              </a:spcBef>
              <a:buClr>
                <a:srgbClr val="053CE8"/>
              </a:buClr>
              <a:buSzPct val="75000"/>
              <a:buFont typeface="Wingdings"/>
              <a:buChar char=""/>
              <a:tabLst>
                <a:tab pos="354965" algn="l"/>
              </a:tabLst>
            </a:pPr>
            <a:r>
              <a:rPr sz="2400" dirty="0">
                <a:latin typeface="Times New Roman"/>
                <a:cs typeface="Times New Roman"/>
              </a:rPr>
              <a:t>Thick</a:t>
            </a:r>
            <a:r>
              <a:rPr sz="2400" spc="-30" dirty="0">
                <a:latin typeface="Times New Roman"/>
                <a:cs typeface="Times New Roman"/>
              </a:rPr>
              <a:t> </a:t>
            </a:r>
            <a:r>
              <a:rPr sz="2400" dirty="0">
                <a:latin typeface="Times New Roman"/>
                <a:cs typeface="Times New Roman"/>
              </a:rPr>
              <a:t>Provisioning:</a:t>
            </a:r>
            <a:r>
              <a:rPr sz="2400" spc="-30" dirty="0">
                <a:latin typeface="Times New Roman"/>
                <a:cs typeface="Times New Roman"/>
              </a:rPr>
              <a:t> </a:t>
            </a:r>
            <a:r>
              <a:rPr sz="2400" dirty="0">
                <a:latin typeface="Times New Roman"/>
                <a:cs typeface="Times New Roman"/>
              </a:rPr>
              <a:t>Static.</a:t>
            </a:r>
            <a:r>
              <a:rPr sz="2400" spc="-30" dirty="0">
                <a:latin typeface="Times New Roman"/>
                <a:cs typeface="Times New Roman"/>
              </a:rPr>
              <a:t> </a:t>
            </a:r>
            <a:r>
              <a:rPr sz="2400" dirty="0">
                <a:latin typeface="Times New Roman"/>
                <a:cs typeface="Times New Roman"/>
              </a:rPr>
              <a:t>Full</a:t>
            </a:r>
            <a:r>
              <a:rPr sz="2400" spc="-25" dirty="0">
                <a:latin typeface="Times New Roman"/>
                <a:cs typeface="Times New Roman"/>
              </a:rPr>
              <a:t> </a:t>
            </a:r>
            <a:r>
              <a:rPr sz="2400" dirty="0">
                <a:latin typeface="Times New Roman"/>
                <a:cs typeface="Times New Roman"/>
              </a:rPr>
              <a:t>size</a:t>
            </a:r>
            <a:r>
              <a:rPr sz="2400" spc="-30" dirty="0">
                <a:latin typeface="Times New Roman"/>
                <a:cs typeface="Times New Roman"/>
              </a:rPr>
              <a:t> </a:t>
            </a:r>
            <a:r>
              <a:rPr sz="2400" dirty="0">
                <a:latin typeface="Times New Roman"/>
                <a:cs typeface="Times New Roman"/>
              </a:rPr>
              <a:t>is</a:t>
            </a:r>
            <a:r>
              <a:rPr sz="2400" spc="-30" dirty="0">
                <a:latin typeface="Times New Roman"/>
                <a:cs typeface="Times New Roman"/>
              </a:rPr>
              <a:t> </a:t>
            </a:r>
            <a:r>
              <a:rPr sz="2400" dirty="0">
                <a:latin typeface="Times New Roman"/>
                <a:cs typeface="Times New Roman"/>
              </a:rPr>
              <a:t>allocated</a:t>
            </a:r>
            <a:r>
              <a:rPr sz="2400" spc="-30" dirty="0">
                <a:latin typeface="Times New Roman"/>
                <a:cs typeface="Times New Roman"/>
              </a:rPr>
              <a:t> </a:t>
            </a:r>
            <a:r>
              <a:rPr sz="2400" dirty="0">
                <a:latin typeface="Times New Roman"/>
                <a:cs typeface="Times New Roman"/>
              </a:rPr>
              <a:t>at</a:t>
            </a:r>
            <a:r>
              <a:rPr sz="2400" spc="-25" dirty="0">
                <a:latin typeface="Times New Roman"/>
                <a:cs typeface="Times New Roman"/>
              </a:rPr>
              <a:t> </a:t>
            </a:r>
            <a:r>
              <a:rPr sz="2400" spc="-10" dirty="0">
                <a:latin typeface="Times New Roman"/>
                <a:cs typeface="Times New Roman"/>
              </a:rPr>
              <a:t>creation</a:t>
            </a:r>
            <a:endParaRPr sz="2400">
              <a:latin typeface="Times New Roman"/>
              <a:cs typeface="Times New Roman"/>
            </a:endParaRPr>
          </a:p>
          <a:p>
            <a:pPr marL="355600" marR="198755" indent="-342900">
              <a:lnSpc>
                <a:spcPts val="2590"/>
              </a:lnSpc>
              <a:spcBef>
                <a:spcPts val="610"/>
              </a:spcBef>
              <a:buClr>
                <a:srgbClr val="053CE8"/>
              </a:buClr>
              <a:buSzPct val="75000"/>
              <a:buFont typeface="Wingdings"/>
              <a:buChar char=""/>
              <a:tabLst>
                <a:tab pos="355600" algn="l"/>
              </a:tabLst>
            </a:pPr>
            <a:r>
              <a:rPr sz="2400" dirty="0">
                <a:latin typeface="Times New Roman"/>
                <a:cs typeface="Times New Roman"/>
              </a:rPr>
              <a:t>Linked</a:t>
            </a:r>
            <a:r>
              <a:rPr sz="2400" spc="-30" dirty="0">
                <a:latin typeface="Times New Roman"/>
                <a:cs typeface="Times New Roman"/>
              </a:rPr>
              <a:t> </a:t>
            </a:r>
            <a:r>
              <a:rPr sz="2400" dirty="0">
                <a:latin typeface="Times New Roman"/>
                <a:cs typeface="Times New Roman"/>
              </a:rPr>
              <a:t>Clone:</a:t>
            </a:r>
            <a:r>
              <a:rPr sz="2400" spc="-30" dirty="0">
                <a:latin typeface="Times New Roman"/>
                <a:cs typeface="Times New Roman"/>
              </a:rPr>
              <a:t> </a:t>
            </a:r>
            <a:r>
              <a:rPr sz="2400" dirty="0">
                <a:latin typeface="Times New Roman"/>
                <a:cs typeface="Times New Roman"/>
              </a:rPr>
              <a:t>All</a:t>
            </a:r>
            <a:r>
              <a:rPr sz="2400" spc="-30" dirty="0">
                <a:latin typeface="Times New Roman"/>
                <a:cs typeface="Times New Roman"/>
              </a:rPr>
              <a:t> </a:t>
            </a:r>
            <a:r>
              <a:rPr sz="2400" dirty="0">
                <a:latin typeface="Times New Roman"/>
                <a:cs typeface="Times New Roman"/>
              </a:rPr>
              <a:t>VMs</a:t>
            </a:r>
            <a:r>
              <a:rPr sz="2400" spc="-30" dirty="0">
                <a:latin typeface="Times New Roman"/>
                <a:cs typeface="Times New Roman"/>
              </a:rPr>
              <a:t> </a:t>
            </a:r>
            <a:r>
              <a:rPr sz="2400" dirty="0">
                <a:latin typeface="Times New Roman"/>
                <a:cs typeface="Times New Roman"/>
              </a:rPr>
              <a:t>use</a:t>
            </a:r>
            <a:r>
              <a:rPr sz="2400" spc="-30"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same</a:t>
            </a:r>
            <a:r>
              <a:rPr sz="2400" spc="-30" dirty="0">
                <a:latin typeface="Times New Roman"/>
                <a:cs typeface="Times New Roman"/>
              </a:rPr>
              <a:t> </a:t>
            </a:r>
            <a:r>
              <a:rPr sz="2400" dirty="0">
                <a:latin typeface="Times New Roman"/>
                <a:cs typeface="Times New Roman"/>
              </a:rPr>
              <a:t>disk</a:t>
            </a:r>
            <a:r>
              <a:rPr sz="2400" spc="-30" dirty="0">
                <a:latin typeface="Times New Roman"/>
                <a:cs typeface="Times New Roman"/>
              </a:rPr>
              <a:t> </a:t>
            </a:r>
            <a:r>
              <a:rPr sz="2400" dirty="0">
                <a:latin typeface="Times New Roman"/>
                <a:cs typeface="Times New Roman"/>
              </a:rPr>
              <a:t>(generally</a:t>
            </a:r>
            <a:r>
              <a:rPr sz="2400" spc="-30" dirty="0">
                <a:latin typeface="Times New Roman"/>
                <a:cs typeface="Times New Roman"/>
              </a:rPr>
              <a:t> </a:t>
            </a:r>
            <a:r>
              <a:rPr sz="2400" spc="-10" dirty="0">
                <a:latin typeface="Times New Roman"/>
                <a:cs typeface="Times New Roman"/>
              </a:rPr>
              <a:t>read-only), </a:t>
            </a:r>
            <a:r>
              <a:rPr sz="2400" dirty="0">
                <a:latin typeface="Times New Roman"/>
                <a:cs typeface="Times New Roman"/>
              </a:rPr>
              <a:t>e.g.,</a:t>
            </a:r>
            <a:r>
              <a:rPr sz="2400" spc="-35" dirty="0">
                <a:latin typeface="Times New Roman"/>
                <a:cs typeface="Times New Roman"/>
              </a:rPr>
              <a:t> </a:t>
            </a:r>
            <a:r>
              <a:rPr sz="2400" dirty="0">
                <a:latin typeface="Times New Roman"/>
                <a:cs typeface="Times New Roman"/>
              </a:rPr>
              <a:t>operating</a:t>
            </a:r>
            <a:r>
              <a:rPr sz="2400" spc="-35" dirty="0">
                <a:latin typeface="Times New Roman"/>
                <a:cs typeface="Times New Roman"/>
              </a:rPr>
              <a:t> </a:t>
            </a:r>
            <a:r>
              <a:rPr sz="2400" dirty="0">
                <a:latin typeface="Times New Roman"/>
                <a:cs typeface="Times New Roman"/>
              </a:rPr>
              <a:t>system</a:t>
            </a:r>
            <a:r>
              <a:rPr sz="2400" spc="-30" dirty="0">
                <a:latin typeface="Times New Roman"/>
                <a:cs typeface="Times New Roman"/>
              </a:rPr>
              <a:t> </a:t>
            </a:r>
            <a:r>
              <a:rPr sz="2400" spc="-20" dirty="0">
                <a:latin typeface="Times New Roman"/>
                <a:cs typeface="Times New Roman"/>
              </a:rPr>
              <a:t>disk</a:t>
            </a:r>
            <a:endParaRPr sz="2400">
              <a:latin typeface="Times New Roman"/>
              <a:cs typeface="Times New Roman"/>
            </a:endParaRPr>
          </a:p>
          <a:p>
            <a:pPr marL="354965" indent="-342265">
              <a:lnSpc>
                <a:spcPct val="100000"/>
              </a:lnSpc>
              <a:spcBef>
                <a:spcPts val="245"/>
              </a:spcBef>
              <a:buClr>
                <a:srgbClr val="053CE8"/>
              </a:buClr>
              <a:buSzPct val="75000"/>
              <a:buFont typeface="Wingdings"/>
              <a:buChar char=""/>
              <a:tabLst>
                <a:tab pos="354965" algn="l"/>
              </a:tabLst>
            </a:pPr>
            <a:r>
              <a:rPr sz="2400" spc="-10" dirty="0">
                <a:latin typeface="Times New Roman"/>
                <a:cs typeface="Times New Roman"/>
              </a:rPr>
              <a:t>Non-</a:t>
            </a:r>
            <a:r>
              <a:rPr sz="2400" dirty="0">
                <a:latin typeface="Times New Roman"/>
                <a:cs typeface="Times New Roman"/>
              </a:rPr>
              <a:t>Linked</a:t>
            </a:r>
            <a:r>
              <a:rPr sz="2400" spc="-40" dirty="0">
                <a:latin typeface="Times New Roman"/>
                <a:cs typeface="Times New Roman"/>
              </a:rPr>
              <a:t> </a:t>
            </a:r>
            <a:r>
              <a:rPr sz="2400" dirty="0">
                <a:latin typeface="Times New Roman"/>
                <a:cs typeface="Times New Roman"/>
              </a:rPr>
              <a:t>Disk:</a:t>
            </a:r>
            <a:r>
              <a:rPr sz="2400" spc="-35" dirty="0">
                <a:latin typeface="Times New Roman"/>
                <a:cs typeface="Times New Roman"/>
              </a:rPr>
              <a:t> </a:t>
            </a:r>
            <a:r>
              <a:rPr sz="2400" dirty="0">
                <a:latin typeface="Times New Roman"/>
                <a:cs typeface="Times New Roman"/>
              </a:rPr>
              <a:t>Separate</a:t>
            </a:r>
            <a:r>
              <a:rPr sz="2400" spc="-40" dirty="0">
                <a:latin typeface="Times New Roman"/>
                <a:cs typeface="Times New Roman"/>
              </a:rPr>
              <a:t> </a:t>
            </a:r>
            <a:r>
              <a:rPr sz="2400" dirty="0">
                <a:latin typeface="Times New Roman"/>
                <a:cs typeface="Times New Roman"/>
              </a:rPr>
              <a:t>disks</a:t>
            </a:r>
            <a:r>
              <a:rPr sz="2400" spc="-35" dirty="0">
                <a:latin typeface="Times New Roman"/>
                <a:cs typeface="Times New Roman"/>
              </a:rPr>
              <a:t> </a:t>
            </a:r>
            <a:r>
              <a:rPr sz="2400" dirty="0">
                <a:latin typeface="Times New Roman"/>
                <a:cs typeface="Times New Roman"/>
              </a:rPr>
              <a:t>for</a:t>
            </a:r>
            <a:r>
              <a:rPr sz="2400" spc="-40" dirty="0">
                <a:latin typeface="Times New Roman"/>
                <a:cs typeface="Times New Roman"/>
              </a:rPr>
              <a:t> </a:t>
            </a:r>
            <a:r>
              <a:rPr sz="2400" dirty="0">
                <a:latin typeface="Times New Roman"/>
                <a:cs typeface="Times New Roman"/>
              </a:rPr>
              <a:t>each</a:t>
            </a:r>
            <a:r>
              <a:rPr sz="2400" spc="-35" dirty="0">
                <a:latin typeface="Times New Roman"/>
                <a:cs typeface="Times New Roman"/>
              </a:rPr>
              <a:t> </a:t>
            </a:r>
            <a:r>
              <a:rPr sz="2400" dirty="0">
                <a:latin typeface="Times New Roman"/>
                <a:cs typeface="Times New Roman"/>
              </a:rPr>
              <a:t>VM</a:t>
            </a:r>
            <a:r>
              <a:rPr sz="2400" spc="-40" dirty="0">
                <a:latin typeface="Times New Roman"/>
                <a:cs typeface="Times New Roman"/>
              </a:rPr>
              <a:t> </a:t>
            </a:r>
            <a:r>
              <a:rPr sz="2400" spc="-10" dirty="0">
                <a:latin typeface="Times New Roman"/>
                <a:cs typeface="Times New Roman"/>
              </a:rPr>
              <a:t>(writeable)</a:t>
            </a:r>
            <a:endParaRPr sz="2400">
              <a:latin typeface="Times New Roman"/>
              <a:cs typeface="Times New Roman"/>
            </a:endParaRPr>
          </a:p>
          <a:p>
            <a:pPr marL="355600" marR="1088390" indent="-342900">
              <a:lnSpc>
                <a:spcPts val="2580"/>
              </a:lnSpc>
              <a:spcBef>
                <a:spcPts val="620"/>
              </a:spcBef>
              <a:buClr>
                <a:srgbClr val="053CE8"/>
              </a:buClr>
              <a:buSzPct val="75000"/>
              <a:buFont typeface="Wingdings"/>
              <a:buChar char=""/>
              <a:tabLst>
                <a:tab pos="355600" algn="l"/>
              </a:tabLst>
            </a:pPr>
            <a:r>
              <a:rPr sz="2400" spc="-10" dirty="0">
                <a:latin typeface="Times New Roman"/>
                <a:cs typeface="Times New Roman"/>
              </a:rPr>
              <a:t>Persistent/Non-</a:t>
            </a:r>
            <a:r>
              <a:rPr sz="2400" dirty="0">
                <a:latin typeface="Times New Roman"/>
                <a:cs typeface="Times New Roman"/>
              </a:rPr>
              <a:t>Persistent:</a:t>
            </a:r>
            <a:r>
              <a:rPr sz="2400" spc="-30" dirty="0">
                <a:latin typeface="Times New Roman"/>
                <a:cs typeface="Times New Roman"/>
              </a:rPr>
              <a:t> </a:t>
            </a:r>
            <a:r>
              <a:rPr sz="2400" dirty="0">
                <a:latin typeface="Times New Roman"/>
                <a:cs typeface="Times New Roman"/>
              </a:rPr>
              <a:t>Saved/Deleted</a:t>
            </a:r>
            <a:r>
              <a:rPr sz="2400" spc="-25" dirty="0">
                <a:latin typeface="Times New Roman"/>
                <a:cs typeface="Times New Roman"/>
              </a:rPr>
              <a:t> </a:t>
            </a:r>
            <a:r>
              <a:rPr sz="2400" dirty="0">
                <a:latin typeface="Times New Roman"/>
                <a:cs typeface="Times New Roman"/>
              </a:rPr>
              <a:t>on</a:t>
            </a:r>
            <a:r>
              <a:rPr sz="2400" spc="-25" dirty="0">
                <a:latin typeface="Times New Roman"/>
                <a:cs typeface="Times New Roman"/>
              </a:rPr>
              <a:t> </a:t>
            </a:r>
            <a:r>
              <a:rPr sz="2400" dirty="0">
                <a:latin typeface="Times New Roman"/>
                <a:cs typeface="Times New Roman"/>
              </a:rPr>
              <a:t>VM</a:t>
            </a:r>
            <a:r>
              <a:rPr sz="2400" spc="-25" dirty="0">
                <a:latin typeface="Times New Roman"/>
                <a:cs typeface="Times New Roman"/>
              </a:rPr>
              <a:t> </a:t>
            </a:r>
            <a:r>
              <a:rPr sz="2400" spc="-10" dirty="0">
                <a:latin typeface="Times New Roman"/>
                <a:cs typeface="Times New Roman"/>
              </a:rPr>
              <a:t>release. </a:t>
            </a:r>
            <a:r>
              <a:rPr sz="2400" dirty="0">
                <a:latin typeface="Times New Roman"/>
                <a:cs typeface="Times New Roman"/>
              </a:rPr>
              <a:t>Permanent/Temporary</a:t>
            </a:r>
            <a:r>
              <a:rPr sz="2400" spc="-105" dirty="0">
                <a:latin typeface="Times New Roman"/>
                <a:cs typeface="Times New Roman"/>
              </a:rPr>
              <a:t> </a:t>
            </a:r>
            <a:r>
              <a:rPr sz="2400" spc="-20" dirty="0">
                <a:latin typeface="Times New Roman"/>
                <a:cs typeface="Times New Roman"/>
              </a:rPr>
              <a:t>files</a:t>
            </a:r>
            <a:endParaRPr sz="2400">
              <a:latin typeface="Times New Roman"/>
              <a:cs typeface="Times New Roman"/>
            </a:endParaRPr>
          </a:p>
          <a:p>
            <a:pPr marL="69850">
              <a:lnSpc>
                <a:spcPct val="100000"/>
              </a:lnSpc>
              <a:spcBef>
                <a:spcPts val="660"/>
              </a:spcBef>
            </a:pPr>
            <a:endParaRPr sz="1200">
              <a:latin typeface="Times New Roman"/>
              <a:cs typeface="Times New Roman"/>
            </a:endParaRPr>
          </a:p>
        </p:txBody>
      </p:sp>
      <p:sp>
        <p:nvSpPr>
          <p:cNvPr id="7" name="Slide Number Placeholder 6">
            <a:extLst>
              <a:ext uri="{FF2B5EF4-FFF2-40B4-BE49-F238E27FC236}">
                <a16:creationId xmlns:a16="http://schemas.microsoft.com/office/drawing/2014/main" id="{5CB46CBF-D3E8-C77B-2CBC-09A1D7D300D0}"/>
              </a:ext>
            </a:extLst>
          </p:cNvPr>
          <p:cNvSpPr>
            <a:spLocks noGrp="1"/>
          </p:cNvSpPr>
          <p:nvPr>
            <p:ph type="sldNum" sz="quarter" idx="7"/>
          </p:nvPr>
        </p:nvSpPr>
        <p:spPr>
          <a:xfrm>
            <a:off x="4330700" y="6579869"/>
            <a:ext cx="774700" cy="269304"/>
          </a:xfrm>
        </p:spPr>
        <p:txBody>
          <a:bodyPr/>
          <a:lstStyle/>
          <a:p>
            <a:pPr marL="12700">
              <a:lnSpc>
                <a:spcPts val="2065"/>
              </a:lnSpc>
            </a:pPr>
            <a:fld id="{81D60167-4931-47E6-BA6A-407CBD079E47}" type="slidenum">
              <a:rPr spc="-50" smtClean="0"/>
              <a:t>26</a:t>
            </a:fld>
            <a:endParaRPr spc="-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Open</a:t>
            </a:r>
            <a:r>
              <a:rPr spc="-85" dirty="0"/>
              <a:t> </a:t>
            </a:r>
            <a:r>
              <a:rPr dirty="0"/>
              <a:t>Virtualization</a:t>
            </a:r>
            <a:r>
              <a:rPr spc="-80" dirty="0"/>
              <a:t> </a:t>
            </a:r>
            <a:r>
              <a:rPr dirty="0"/>
              <a:t>Format</a:t>
            </a:r>
            <a:r>
              <a:rPr spc="-85" dirty="0"/>
              <a:t> </a:t>
            </a:r>
            <a:r>
              <a:rPr spc="-10" dirty="0"/>
              <a:t>(OVF)</a:t>
            </a:r>
          </a:p>
        </p:txBody>
      </p:sp>
      <p:sp>
        <p:nvSpPr>
          <p:cNvPr id="3" name="object 3"/>
          <p:cNvSpPr txBox="1"/>
          <p:nvPr/>
        </p:nvSpPr>
        <p:spPr>
          <a:xfrm>
            <a:off x="457454" y="1288034"/>
            <a:ext cx="8126730" cy="4890770"/>
          </a:xfrm>
          <a:prstGeom prst="rect">
            <a:avLst/>
          </a:prstGeom>
        </p:spPr>
        <p:txBody>
          <a:bodyPr vert="horz" wrap="square" lIns="0" tIns="55244" rIns="0" bIns="0" rtlCol="0">
            <a:spAutoFit/>
          </a:bodyPr>
          <a:lstStyle/>
          <a:p>
            <a:pPr marL="355600" marR="525145" indent="-342900">
              <a:lnSpc>
                <a:spcPts val="2580"/>
              </a:lnSpc>
              <a:spcBef>
                <a:spcPts val="434"/>
              </a:spcBef>
              <a:buClr>
                <a:srgbClr val="053CE8"/>
              </a:buClr>
              <a:buSzPct val="75000"/>
              <a:buFont typeface="Wingdings"/>
              <a:buChar char=""/>
              <a:tabLst>
                <a:tab pos="355600" algn="l"/>
              </a:tabLst>
            </a:pPr>
            <a:r>
              <a:rPr sz="2400" dirty="0">
                <a:latin typeface="Times New Roman"/>
                <a:cs typeface="Times New Roman"/>
              </a:rPr>
              <a:t>Standalone</a:t>
            </a:r>
            <a:r>
              <a:rPr sz="2400" spc="-30" dirty="0">
                <a:latin typeface="Times New Roman"/>
                <a:cs typeface="Times New Roman"/>
              </a:rPr>
              <a:t> </a:t>
            </a:r>
            <a:r>
              <a:rPr sz="2400" dirty="0">
                <a:latin typeface="Times New Roman"/>
                <a:cs typeface="Times New Roman"/>
              </a:rPr>
              <a:t>software</a:t>
            </a:r>
            <a:r>
              <a:rPr sz="2400" spc="-30" dirty="0">
                <a:latin typeface="Times New Roman"/>
                <a:cs typeface="Times New Roman"/>
              </a:rPr>
              <a:t> </a:t>
            </a:r>
            <a:r>
              <a:rPr sz="2400" dirty="0">
                <a:latin typeface="Times New Roman"/>
                <a:cs typeface="Times New Roman"/>
              </a:rPr>
              <a:t>can</a:t>
            </a:r>
            <a:r>
              <a:rPr sz="2400" spc="-30" dirty="0">
                <a:latin typeface="Times New Roman"/>
                <a:cs typeface="Times New Roman"/>
              </a:rPr>
              <a:t> </a:t>
            </a:r>
            <a:r>
              <a:rPr sz="2400" dirty="0">
                <a:latin typeface="Times New Roman"/>
                <a:cs typeface="Times New Roman"/>
              </a:rPr>
              <a:t>be</a:t>
            </a:r>
            <a:r>
              <a:rPr sz="2400" spc="-30" dirty="0">
                <a:latin typeface="Times New Roman"/>
                <a:cs typeface="Times New Roman"/>
              </a:rPr>
              <a:t> </a:t>
            </a:r>
            <a:r>
              <a:rPr sz="2400" dirty="0">
                <a:latin typeface="Times New Roman"/>
                <a:cs typeface="Times New Roman"/>
              </a:rPr>
              <a:t>distributed</a:t>
            </a:r>
            <a:r>
              <a:rPr sz="2400" spc="-30" dirty="0">
                <a:latin typeface="Times New Roman"/>
                <a:cs typeface="Times New Roman"/>
              </a:rPr>
              <a:t> </a:t>
            </a:r>
            <a:r>
              <a:rPr sz="2400" dirty="0">
                <a:latin typeface="Times New Roman"/>
                <a:cs typeface="Times New Roman"/>
              </a:rPr>
              <a:t>as</a:t>
            </a:r>
            <a:r>
              <a:rPr sz="2400" spc="-30" dirty="0">
                <a:latin typeface="Times New Roman"/>
                <a:cs typeface="Times New Roman"/>
              </a:rPr>
              <a:t> </a:t>
            </a:r>
            <a:r>
              <a:rPr sz="2400" dirty="0">
                <a:latin typeface="Times New Roman"/>
                <a:cs typeface="Times New Roman"/>
              </a:rPr>
              <a:t>a</a:t>
            </a:r>
            <a:r>
              <a:rPr sz="2400" spc="-30" dirty="0">
                <a:latin typeface="Times New Roman"/>
                <a:cs typeface="Times New Roman"/>
              </a:rPr>
              <a:t> </a:t>
            </a:r>
            <a:r>
              <a:rPr sz="2400" dirty="0">
                <a:latin typeface="Times New Roman"/>
                <a:cs typeface="Times New Roman"/>
              </a:rPr>
              <a:t>virtual</a:t>
            </a:r>
            <a:r>
              <a:rPr sz="2400" spc="-30" dirty="0">
                <a:latin typeface="Times New Roman"/>
                <a:cs typeface="Times New Roman"/>
              </a:rPr>
              <a:t> </a:t>
            </a:r>
            <a:r>
              <a:rPr sz="2400" spc="-10" dirty="0">
                <a:latin typeface="Times New Roman"/>
                <a:cs typeface="Times New Roman"/>
              </a:rPr>
              <a:t>machine </a:t>
            </a:r>
            <a:r>
              <a:rPr sz="2400" dirty="0">
                <a:latin typeface="Times New Roman"/>
                <a:cs typeface="Times New Roman"/>
              </a:rPr>
              <a:t>image,</a:t>
            </a:r>
            <a:r>
              <a:rPr sz="2400" spc="-35" dirty="0">
                <a:latin typeface="Times New Roman"/>
                <a:cs typeface="Times New Roman"/>
              </a:rPr>
              <a:t> </a:t>
            </a:r>
            <a:r>
              <a:rPr sz="2400" dirty="0">
                <a:latin typeface="Times New Roman"/>
                <a:cs typeface="Times New Roman"/>
              </a:rPr>
              <a:t>called,</a:t>
            </a:r>
            <a:r>
              <a:rPr sz="2400" spc="-35" dirty="0">
                <a:latin typeface="Times New Roman"/>
                <a:cs typeface="Times New Roman"/>
              </a:rPr>
              <a:t> </a:t>
            </a:r>
            <a:r>
              <a:rPr sz="2400" dirty="0">
                <a:latin typeface="Times New Roman"/>
                <a:cs typeface="Times New Roman"/>
              </a:rPr>
              <a:t>virtual</a:t>
            </a:r>
            <a:r>
              <a:rPr sz="2400" spc="-30" dirty="0">
                <a:latin typeface="Times New Roman"/>
                <a:cs typeface="Times New Roman"/>
              </a:rPr>
              <a:t> </a:t>
            </a:r>
            <a:r>
              <a:rPr sz="2400" spc="-10" dirty="0">
                <a:latin typeface="Times New Roman"/>
                <a:cs typeface="Times New Roman"/>
              </a:rPr>
              <a:t>appliance</a:t>
            </a:r>
            <a:endParaRPr sz="2400">
              <a:latin typeface="Times New Roman"/>
              <a:cs typeface="Times New Roman"/>
            </a:endParaRPr>
          </a:p>
          <a:p>
            <a:pPr marL="354965" indent="-342265">
              <a:lnSpc>
                <a:spcPct val="100000"/>
              </a:lnSpc>
              <a:spcBef>
                <a:spcPts val="250"/>
              </a:spcBef>
              <a:buClr>
                <a:srgbClr val="053CE8"/>
              </a:buClr>
              <a:buSzPct val="75000"/>
              <a:buFont typeface="Wingdings"/>
              <a:buChar char=""/>
              <a:tabLst>
                <a:tab pos="354965" algn="l"/>
              </a:tabLst>
            </a:pPr>
            <a:r>
              <a:rPr sz="2400" dirty="0">
                <a:latin typeface="Times New Roman"/>
                <a:cs typeface="Times New Roman"/>
              </a:rPr>
              <a:t>Independent</a:t>
            </a:r>
            <a:r>
              <a:rPr sz="2400" spc="-60" dirty="0">
                <a:latin typeface="Times New Roman"/>
                <a:cs typeface="Times New Roman"/>
              </a:rPr>
              <a:t> </a:t>
            </a:r>
            <a:r>
              <a:rPr sz="2400" dirty="0">
                <a:latin typeface="Times New Roman"/>
                <a:cs typeface="Times New Roman"/>
              </a:rPr>
              <a:t>of</a:t>
            </a:r>
            <a:r>
              <a:rPr sz="2400" spc="-55" dirty="0">
                <a:latin typeface="Times New Roman"/>
                <a:cs typeface="Times New Roman"/>
              </a:rPr>
              <a:t> </a:t>
            </a:r>
            <a:r>
              <a:rPr sz="2400" dirty="0">
                <a:latin typeface="Times New Roman"/>
                <a:cs typeface="Times New Roman"/>
              </a:rPr>
              <a:t>hypervisor</a:t>
            </a:r>
            <a:r>
              <a:rPr sz="2400" spc="-55" dirty="0">
                <a:latin typeface="Times New Roman"/>
                <a:cs typeface="Times New Roman"/>
              </a:rPr>
              <a:t> </a:t>
            </a:r>
            <a:r>
              <a:rPr sz="2400" dirty="0">
                <a:latin typeface="Times New Roman"/>
                <a:cs typeface="Times New Roman"/>
              </a:rPr>
              <a:t>or</a:t>
            </a:r>
            <a:r>
              <a:rPr sz="2400" spc="-55" dirty="0">
                <a:latin typeface="Times New Roman"/>
                <a:cs typeface="Times New Roman"/>
              </a:rPr>
              <a:t> </a:t>
            </a:r>
            <a:r>
              <a:rPr sz="2400" dirty="0">
                <a:latin typeface="Times New Roman"/>
                <a:cs typeface="Times New Roman"/>
              </a:rPr>
              <a:t>processor</a:t>
            </a:r>
            <a:r>
              <a:rPr sz="2400" spc="-55" dirty="0">
                <a:latin typeface="Times New Roman"/>
                <a:cs typeface="Times New Roman"/>
              </a:rPr>
              <a:t> </a:t>
            </a:r>
            <a:r>
              <a:rPr sz="2400" spc="-10" dirty="0">
                <a:latin typeface="Times New Roman"/>
                <a:cs typeface="Times New Roman"/>
              </a:rPr>
              <a:t>architecture</a:t>
            </a:r>
            <a:endParaRPr sz="2400">
              <a:latin typeface="Times New Roman"/>
              <a:cs typeface="Times New Roman"/>
            </a:endParaRPr>
          </a:p>
          <a:p>
            <a:pPr marL="354965" marR="116839" indent="-342900">
              <a:lnSpc>
                <a:spcPct val="89900"/>
              </a:lnSpc>
              <a:spcBef>
                <a:spcPts val="575"/>
              </a:spcBef>
              <a:buClr>
                <a:srgbClr val="053CE8"/>
              </a:buClr>
              <a:buSzPct val="75000"/>
              <a:buFont typeface="Wingdings"/>
              <a:buChar char=""/>
              <a:tabLst>
                <a:tab pos="354965" algn="l"/>
              </a:tabLst>
            </a:pPr>
            <a:r>
              <a:rPr sz="2400" dirty="0">
                <a:latin typeface="Times New Roman"/>
                <a:cs typeface="Times New Roman"/>
              </a:rPr>
              <a:t>OVF</a:t>
            </a:r>
            <a:r>
              <a:rPr sz="2400" spc="-35" dirty="0">
                <a:latin typeface="Times New Roman"/>
                <a:cs typeface="Times New Roman"/>
              </a:rPr>
              <a:t> </a:t>
            </a:r>
            <a:r>
              <a:rPr sz="2400" dirty="0">
                <a:latin typeface="Times New Roman"/>
                <a:cs typeface="Times New Roman"/>
              </a:rPr>
              <a:t>is</a:t>
            </a:r>
            <a:r>
              <a:rPr sz="2400" spc="-35" dirty="0">
                <a:latin typeface="Times New Roman"/>
                <a:cs typeface="Times New Roman"/>
              </a:rPr>
              <a:t> </a:t>
            </a: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standard</a:t>
            </a:r>
            <a:r>
              <a:rPr sz="2400" spc="-30" dirty="0">
                <a:latin typeface="Times New Roman"/>
                <a:cs typeface="Times New Roman"/>
              </a:rPr>
              <a:t> </a:t>
            </a:r>
            <a:r>
              <a:rPr sz="2400" dirty="0">
                <a:latin typeface="Times New Roman"/>
                <a:cs typeface="Times New Roman"/>
              </a:rPr>
              <a:t>format</a:t>
            </a:r>
            <a:r>
              <a:rPr sz="2400" spc="-35" dirty="0">
                <a:latin typeface="Times New Roman"/>
                <a:cs typeface="Times New Roman"/>
              </a:rPr>
              <a:t> </a:t>
            </a:r>
            <a:r>
              <a:rPr sz="2400" dirty="0">
                <a:latin typeface="Times New Roman"/>
                <a:cs typeface="Times New Roman"/>
              </a:rPr>
              <a:t>for</a:t>
            </a:r>
            <a:r>
              <a:rPr sz="2400" spc="-35" dirty="0">
                <a:latin typeface="Times New Roman"/>
                <a:cs typeface="Times New Roman"/>
              </a:rPr>
              <a:t> </a:t>
            </a:r>
            <a:r>
              <a:rPr sz="2400" dirty="0">
                <a:latin typeface="Times New Roman"/>
                <a:cs typeface="Times New Roman"/>
              </a:rPr>
              <a:t>virtual</a:t>
            </a:r>
            <a:r>
              <a:rPr sz="2400" spc="-35" dirty="0">
                <a:latin typeface="Times New Roman"/>
                <a:cs typeface="Times New Roman"/>
              </a:rPr>
              <a:t> </a:t>
            </a:r>
            <a:r>
              <a:rPr sz="2400" spc="-10" dirty="0">
                <a:latin typeface="Times New Roman"/>
                <a:cs typeface="Times New Roman"/>
              </a:rPr>
              <a:t>appliances</a:t>
            </a:r>
            <a:r>
              <a:rPr sz="2400" spc="600" dirty="0">
                <a:latin typeface="Times New Roman"/>
                <a:cs typeface="Times New Roman"/>
              </a:rPr>
              <a:t> </a:t>
            </a:r>
            <a:r>
              <a:rPr sz="2400" dirty="0">
                <a:latin typeface="Times New Roman"/>
                <a:cs typeface="Times New Roman"/>
              </a:rPr>
              <a:t>Standardized</a:t>
            </a:r>
            <a:r>
              <a:rPr sz="2400" spc="-50" dirty="0">
                <a:latin typeface="Times New Roman"/>
                <a:cs typeface="Times New Roman"/>
              </a:rPr>
              <a:t> </a:t>
            </a:r>
            <a:r>
              <a:rPr sz="2400" dirty="0">
                <a:latin typeface="Times New Roman"/>
                <a:cs typeface="Times New Roman"/>
              </a:rPr>
              <a:t>by</a:t>
            </a:r>
            <a:r>
              <a:rPr sz="2400" spc="-50" dirty="0">
                <a:latin typeface="Times New Roman"/>
                <a:cs typeface="Times New Roman"/>
              </a:rPr>
              <a:t> </a:t>
            </a:r>
            <a:r>
              <a:rPr sz="2400" dirty="0">
                <a:latin typeface="Times New Roman"/>
                <a:cs typeface="Times New Roman"/>
              </a:rPr>
              <a:t>DTMF</a:t>
            </a:r>
            <a:r>
              <a:rPr sz="2400" spc="-45" dirty="0">
                <a:latin typeface="Times New Roman"/>
                <a:cs typeface="Times New Roman"/>
              </a:rPr>
              <a:t> </a:t>
            </a:r>
            <a:r>
              <a:rPr sz="2400" dirty="0">
                <a:latin typeface="Times New Roman"/>
                <a:cs typeface="Times New Roman"/>
              </a:rPr>
              <a:t>(Distributed</a:t>
            </a:r>
            <a:r>
              <a:rPr sz="2400" spc="-50" dirty="0">
                <a:latin typeface="Times New Roman"/>
                <a:cs typeface="Times New Roman"/>
              </a:rPr>
              <a:t> </a:t>
            </a:r>
            <a:r>
              <a:rPr sz="2400" dirty="0">
                <a:latin typeface="Times New Roman"/>
                <a:cs typeface="Times New Roman"/>
              </a:rPr>
              <a:t>Management</a:t>
            </a:r>
            <a:r>
              <a:rPr sz="2400" spc="-45" dirty="0">
                <a:latin typeface="Times New Roman"/>
                <a:cs typeface="Times New Roman"/>
              </a:rPr>
              <a:t> </a:t>
            </a:r>
            <a:r>
              <a:rPr sz="2400" dirty="0">
                <a:latin typeface="Times New Roman"/>
                <a:cs typeface="Times New Roman"/>
              </a:rPr>
              <a:t>Task</a:t>
            </a:r>
            <a:r>
              <a:rPr sz="2400" spc="-50" dirty="0">
                <a:latin typeface="Times New Roman"/>
                <a:cs typeface="Times New Roman"/>
              </a:rPr>
              <a:t> </a:t>
            </a:r>
            <a:r>
              <a:rPr sz="2400" spc="-10" dirty="0">
                <a:latin typeface="Times New Roman"/>
                <a:cs typeface="Times New Roman"/>
              </a:rPr>
              <a:t>Force) </a:t>
            </a:r>
            <a:r>
              <a:rPr sz="2400" dirty="0">
                <a:latin typeface="Times New Roman"/>
                <a:cs typeface="Times New Roman"/>
              </a:rPr>
              <a:t>Now</a:t>
            </a:r>
            <a:r>
              <a:rPr sz="2400" spc="-30" dirty="0">
                <a:latin typeface="Times New Roman"/>
                <a:cs typeface="Times New Roman"/>
              </a:rPr>
              <a:t> </a:t>
            </a:r>
            <a:r>
              <a:rPr sz="2400" dirty="0">
                <a:latin typeface="Times New Roman"/>
                <a:cs typeface="Times New Roman"/>
              </a:rPr>
              <a:t>ISO/IEC</a:t>
            </a:r>
            <a:r>
              <a:rPr sz="2400" spc="-30" dirty="0">
                <a:latin typeface="Times New Roman"/>
                <a:cs typeface="Times New Roman"/>
              </a:rPr>
              <a:t> </a:t>
            </a:r>
            <a:r>
              <a:rPr sz="2400" spc="-10" dirty="0">
                <a:latin typeface="Times New Roman"/>
                <a:cs typeface="Times New Roman"/>
              </a:rPr>
              <a:t>standard.</a:t>
            </a:r>
            <a:endParaRPr sz="2400">
              <a:latin typeface="Times New Roman"/>
              <a:cs typeface="Times New Roman"/>
            </a:endParaRPr>
          </a:p>
          <a:p>
            <a:pPr marL="354965" indent="-342265" algn="just">
              <a:lnSpc>
                <a:spcPts val="2730"/>
              </a:lnSpc>
              <a:spcBef>
                <a:spcPts val="280"/>
              </a:spcBef>
              <a:buClr>
                <a:srgbClr val="053CE8"/>
              </a:buClr>
              <a:buSzPct val="75000"/>
              <a:buFont typeface="Wingdings"/>
              <a:buChar char=""/>
              <a:tabLst>
                <a:tab pos="354965" algn="l"/>
              </a:tabLst>
            </a:pPr>
            <a:r>
              <a:rPr sz="2400" dirty="0">
                <a:latin typeface="Times New Roman"/>
                <a:cs typeface="Times New Roman"/>
              </a:rPr>
              <a:t>OVF</a:t>
            </a:r>
            <a:r>
              <a:rPr sz="2400" spc="-25" dirty="0">
                <a:latin typeface="Times New Roman"/>
                <a:cs typeface="Times New Roman"/>
              </a:rPr>
              <a:t> </a:t>
            </a:r>
            <a:r>
              <a:rPr sz="2400" dirty="0">
                <a:latin typeface="Times New Roman"/>
                <a:cs typeface="Times New Roman"/>
              </a:rPr>
              <a:t>package</a:t>
            </a:r>
            <a:r>
              <a:rPr sz="2400" spc="-25" dirty="0">
                <a:latin typeface="Times New Roman"/>
                <a:cs typeface="Times New Roman"/>
              </a:rPr>
              <a:t> </a:t>
            </a:r>
            <a:r>
              <a:rPr sz="2400" dirty="0">
                <a:latin typeface="Times New Roman"/>
                <a:cs typeface="Times New Roman"/>
              </a:rPr>
              <a:t>consists</a:t>
            </a:r>
            <a:r>
              <a:rPr sz="2400" spc="-20"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dirty="0">
                <a:latin typeface="Times New Roman"/>
                <a:cs typeface="Times New Roman"/>
              </a:rPr>
              <a:t>several</a:t>
            </a:r>
            <a:r>
              <a:rPr sz="2400" spc="-20" dirty="0">
                <a:latin typeface="Times New Roman"/>
                <a:cs typeface="Times New Roman"/>
              </a:rPr>
              <a:t> </a:t>
            </a:r>
            <a:r>
              <a:rPr sz="2400" dirty="0">
                <a:latin typeface="Times New Roman"/>
                <a:cs typeface="Times New Roman"/>
              </a:rPr>
              <a:t>files</a:t>
            </a:r>
            <a:r>
              <a:rPr sz="2400" spc="-25" dirty="0">
                <a:latin typeface="Times New Roman"/>
                <a:cs typeface="Times New Roman"/>
              </a:rPr>
              <a:t> </a:t>
            </a:r>
            <a:r>
              <a:rPr sz="2400" dirty="0">
                <a:latin typeface="Times New Roman"/>
                <a:cs typeface="Times New Roman"/>
              </a:rPr>
              <a:t>in</a:t>
            </a:r>
            <a:r>
              <a:rPr sz="2400" spc="-25" dirty="0">
                <a:latin typeface="Times New Roman"/>
                <a:cs typeface="Times New Roman"/>
              </a:rPr>
              <a:t> </a:t>
            </a:r>
            <a:r>
              <a:rPr sz="2400" dirty="0">
                <a:latin typeface="Times New Roman"/>
                <a:cs typeface="Times New Roman"/>
              </a:rPr>
              <a:t>a</a:t>
            </a:r>
            <a:r>
              <a:rPr sz="2400" spc="-20" dirty="0">
                <a:latin typeface="Times New Roman"/>
                <a:cs typeface="Times New Roman"/>
              </a:rPr>
              <a:t> </a:t>
            </a:r>
            <a:r>
              <a:rPr sz="2400" spc="-10" dirty="0">
                <a:latin typeface="Times New Roman"/>
                <a:cs typeface="Times New Roman"/>
              </a:rPr>
              <a:t>directory.</a:t>
            </a:r>
            <a:endParaRPr sz="2400">
              <a:latin typeface="Times New Roman"/>
              <a:cs typeface="Times New Roman"/>
            </a:endParaRPr>
          </a:p>
          <a:p>
            <a:pPr marL="355600" algn="just">
              <a:lnSpc>
                <a:spcPts val="2585"/>
              </a:lnSpc>
            </a:pPr>
            <a:r>
              <a:rPr sz="2400" dirty="0">
                <a:latin typeface="Times New Roman"/>
                <a:cs typeface="Times New Roman"/>
              </a:rPr>
              <a:t>An</a:t>
            </a:r>
            <a:r>
              <a:rPr sz="2400" spc="-40" dirty="0">
                <a:latin typeface="Times New Roman"/>
                <a:cs typeface="Times New Roman"/>
              </a:rPr>
              <a:t> </a:t>
            </a:r>
            <a:r>
              <a:rPr sz="2400" dirty="0">
                <a:latin typeface="Times New Roman"/>
                <a:cs typeface="Times New Roman"/>
              </a:rPr>
              <a:t>XML</a:t>
            </a:r>
            <a:r>
              <a:rPr sz="2400" spc="-35" dirty="0">
                <a:latin typeface="Times New Roman"/>
                <a:cs typeface="Times New Roman"/>
              </a:rPr>
              <a:t> </a:t>
            </a:r>
            <a:r>
              <a:rPr sz="2400" dirty="0">
                <a:latin typeface="Times New Roman"/>
                <a:cs typeface="Times New Roman"/>
              </a:rPr>
              <a:t>file</a:t>
            </a:r>
            <a:r>
              <a:rPr sz="2400" spc="-35" dirty="0">
                <a:latin typeface="Times New Roman"/>
                <a:cs typeface="Times New Roman"/>
              </a:rPr>
              <a:t> </a:t>
            </a:r>
            <a:r>
              <a:rPr sz="2400" dirty="0">
                <a:latin typeface="Times New Roman"/>
                <a:cs typeface="Times New Roman"/>
              </a:rPr>
              <a:t>with</a:t>
            </a:r>
            <a:r>
              <a:rPr sz="2400" spc="-40" dirty="0">
                <a:latin typeface="Times New Roman"/>
                <a:cs typeface="Times New Roman"/>
              </a:rPr>
              <a:t> </a:t>
            </a:r>
            <a:r>
              <a:rPr sz="2400" dirty="0">
                <a:latin typeface="Times New Roman"/>
                <a:cs typeface="Times New Roman"/>
              </a:rPr>
              <a:t>extension</a:t>
            </a:r>
            <a:r>
              <a:rPr sz="2400" spc="-35" dirty="0">
                <a:latin typeface="Times New Roman"/>
                <a:cs typeface="Times New Roman"/>
              </a:rPr>
              <a:t> </a:t>
            </a:r>
            <a:r>
              <a:rPr sz="2400" dirty="0">
                <a:latin typeface="Times New Roman"/>
                <a:cs typeface="Times New Roman"/>
              </a:rPr>
              <a:t>.ovf</a:t>
            </a:r>
            <a:r>
              <a:rPr sz="2400" spc="-35" dirty="0">
                <a:latin typeface="Times New Roman"/>
                <a:cs typeface="Times New Roman"/>
              </a:rPr>
              <a:t> </a:t>
            </a:r>
            <a:r>
              <a:rPr sz="2400" dirty="0">
                <a:latin typeface="Times New Roman"/>
                <a:cs typeface="Times New Roman"/>
              </a:rPr>
              <a:t>or</a:t>
            </a:r>
            <a:r>
              <a:rPr sz="2400" spc="-40" dirty="0">
                <a:latin typeface="Times New Roman"/>
                <a:cs typeface="Times New Roman"/>
              </a:rPr>
              <a:t> </a:t>
            </a:r>
            <a:r>
              <a:rPr sz="2400" dirty="0">
                <a:latin typeface="Times New Roman"/>
                <a:cs typeface="Times New Roman"/>
              </a:rPr>
              <a:t>a</a:t>
            </a:r>
            <a:r>
              <a:rPr sz="2400" spc="-35" dirty="0">
                <a:latin typeface="Times New Roman"/>
                <a:cs typeface="Times New Roman"/>
              </a:rPr>
              <a:t> </a:t>
            </a:r>
            <a:r>
              <a:rPr sz="2400" dirty="0">
                <a:latin typeface="Times New Roman"/>
                <a:cs typeface="Times New Roman"/>
              </a:rPr>
              <a:t>compliant</a:t>
            </a:r>
            <a:r>
              <a:rPr sz="2400" spc="-35" dirty="0">
                <a:latin typeface="Times New Roman"/>
                <a:cs typeface="Times New Roman"/>
              </a:rPr>
              <a:t> </a:t>
            </a:r>
            <a:r>
              <a:rPr sz="2400" dirty="0">
                <a:latin typeface="Times New Roman"/>
                <a:cs typeface="Times New Roman"/>
              </a:rPr>
              <a:t>format,</a:t>
            </a:r>
            <a:r>
              <a:rPr sz="2400" spc="-40" dirty="0">
                <a:latin typeface="Times New Roman"/>
                <a:cs typeface="Times New Roman"/>
              </a:rPr>
              <a:t> </a:t>
            </a:r>
            <a:r>
              <a:rPr sz="2400" spc="-10" dirty="0">
                <a:latin typeface="Times New Roman"/>
                <a:cs typeface="Times New Roman"/>
              </a:rPr>
              <a:t>e.g.,</a:t>
            </a:r>
            <a:endParaRPr sz="2400">
              <a:latin typeface="Times New Roman"/>
              <a:cs typeface="Times New Roman"/>
            </a:endParaRPr>
          </a:p>
          <a:p>
            <a:pPr marL="355600" marR="5080" algn="just">
              <a:lnSpc>
                <a:spcPct val="89900"/>
              </a:lnSpc>
              <a:spcBef>
                <a:spcPts val="145"/>
              </a:spcBef>
            </a:pPr>
            <a:r>
              <a:rPr sz="2400" dirty="0">
                <a:latin typeface="Times New Roman"/>
                <a:cs typeface="Times New Roman"/>
              </a:rPr>
              <a:t>.vmdk</a:t>
            </a:r>
            <a:r>
              <a:rPr sz="2400" spc="-30" dirty="0">
                <a:latin typeface="Times New Roman"/>
                <a:cs typeface="Times New Roman"/>
              </a:rPr>
              <a:t> </a:t>
            </a:r>
            <a:r>
              <a:rPr sz="2400" dirty="0">
                <a:latin typeface="Times New Roman"/>
                <a:cs typeface="Times New Roman"/>
              </a:rPr>
              <a:t>in</a:t>
            </a:r>
            <a:r>
              <a:rPr sz="2400" spc="-25"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directory</a:t>
            </a:r>
            <a:r>
              <a:rPr sz="2400" spc="-25" dirty="0">
                <a:latin typeface="Times New Roman"/>
                <a:cs typeface="Times New Roman"/>
              </a:rPr>
              <a:t> </a:t>
            </a:r>
            <a:r>
              <a:rPr sz="2400" dirty="0">
                <a:latin typeface="Times New Roman"/>
                <a:cs typeface="Times New Roman"/>
              </a:rPr>
              <a:t>contains</a:t>
            </a:r>
            <a:r>
              <a:rPr sz="2400" spc="-25" dirty="0">
                <a:latin typeface="Times New Roman"/>
                <a:cs typeface="Times New Roman"/>
              </a:rPr>
              <a:t> </a:t>
            </a:r>
            <a:r>
              <a:rPr sz="2400" dirty="0">
                <a:latin typeface="Times New Roman"/>
                <a:cs typeface="Times New Roman"/>
              </a:rPr>
              <a:t>all</a:t>
            </a:r>
            <a:r>
              <a:rPr sz="2400" spc="-20"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meta</a:t>
            </a:r>
            <a:r>
              <a:rPr sz="2400" spc="-25" dirty="0">
                <a:latin typeface="Times New Roman"/>
                <a:cs typeface="Times New Roman"/>
              </a:rPr>
              <a:t> </a:t>
            </a:r>
            <a:r>
              <a:rPr sz="2400" dirty="0">
                <a:latin typeface="Times New Roman"/>
                <a:cs typeface="Times New Roman"/>
              </a:rPr>
              <a:t>data</a:t>
            </a:r>
            <a:r>
              <a:rPr sz="2400" spc="-20" dirty="0">
                <a:latin typeface="Times New Roman"/>
                <a:cs typeface="Times New Roman"/>
              </a:rPr>
              <a:t> </a:t>
            </a:r>
            <a:r>
              <a:rPr sz="2400" dirty="0">
                <a:latin typeface="Times New Roman"/>
                <a:cs typeface="Times New Roman"/>
              </a:rPr>
              <a:t>required</a:t>
            </a:r>
            <a:r>
              <a:rPr sz="2400" spc="-25"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spc="-25" dirty="0">
                <a:latin typeface="Times New Roman"/>
                <a:cs typeface="Times New Roman"/>
              </a:rPr>
              <a:t>run </a:t>
            </a:r>
            <a:r>
              <a:rPr sz="2400" dirty="0">
                <a:latin typeface="Times New Roman"/>
                <a:cs typeface="Times New Roman"/>
              </a:rPr>
              <a:t>the</a:t>
            </a:r>
            <a:r>
              <a:rPr sz="2400" spc="-45" dirty="0">
                <a:latin typeface="Times New Roman"/>
                <a:cs typeface="Times New Roman"/>
              </a:rPr>
              <a:t> </a:t>
            </a:r>
            <a:r>
              <a:rPr sz="2400" dirty="0">
                <a:latin typeface="Times New Roman"/>
                <a:cs typeface="Times New Roman"/>
              </a:rPr>
              <a:t>package,</a:t>
            </a:r>
            <a:r>
              <a:rPr sz="2400" spc="-40" dirty="0">
                <a:latin typeface="Times New Roman"/>
                <a:cs typeface="Times New Roman"/>
              </a:rPr>
              <a:t> </a:t>
            </a:r>
            <a:r>
              <a:rPr sz="2400" dirty="0">
                <a:latin typeface="Times New Roman"/>
                <a:cs typeface="Times New Roman"/>
              </a:rPr>
              <a:t>e.g.,</a:t>
            </a:r>
            <a:r>
              <a:rPr sz="2400" spc="-40" dirty="0">
                <a:latin typeface="Times New Roman"/>
                <a:cs typeface="Times New Roman"/>
              </a:rPr>
              <a:t> </a:t>
            </a:r>
            <a:r>
              <a:rPr sz="2400" dirty="0">
                <a:latin typeface="Times New Roman"/>
                <a:cs typeface="Times New Roman"/>
              </a:rPr>
              <a:t>hardware</a:t>
            </a:r>
            <a:r>
              <a:rPr sz="2400" spc="-45" dirty="0">
                <a:latin typeface="Times New Roman"/>
                <a:cs typeface="Times New Roman"/>
              </a:rPr>
              <a:t> </a:t>
            </a:r>
            <a:r>
              <a:rPr sz="2400" dirty="0">
                <a:latin typeface="Times New Roman"/>
                <a:cs typeface="Times New Roman"/>
              </a:rPr>
              <a:t>requirements,</a:t>
            </a:r>
            <a:r>
              <a:rPr sz="2400" spc="-40" dirty="0">
                <a:latin typeface="Times New Roman"/>
                <a:cs typeface="Times New Roman"/>
              </a:rPr>
              <a:t> </a:t>
            </a:r>
            <a:r>
              <a:rPr sz="2400" dirty="0">
                <a:latin typeface="Times New Roman"/>
                <a:cs typeface="Times New Roman"/>
              </a:rPr>
              <a:t>descriptions,</a:t>
            </a:r>
            <a:r>
              <a:rPr sz="2400" spc="-40" dirty="0">
                <a:latin typeface="Times New Roman"/>
                <a:cs typeface="Times New Roman"/>
              </a:rPr>
              <a:t> </a:t>
            </a:r>
            <a:r>
              <a:rPr sz="2400" spc="-10" dirty="0">
                <a:latin typeface="Times New Roman"/>
                <a:cs typeface="Times New Roman"/>
              </a:rPr>
              <a:t>security </a:t>
            </a:r>
            <a:r>
              <a:rPr sz="2400" dirty="0">
                <a:latin typeface="Times New Roman"/>
                <a:cs typeface="Times New Roman"/>
              </a:rPr>
              <a:t>certificates,</a:t>
            </a:r>
            <a:r>
              <a:rPr sz="2400" spc="-70" dirty="0">
                <a:latin typeface="Times New Roman"/>
                <a:cs typeface="Times New Roman"/>
              </a:rPr>
              <a:t> </a:t>
            </a:r>
            <a:r>
              <a:rPr sz="2400" spc="-20" dirty="0">
                <a:latin typeface="Times New Roman"/>
                <a:cs typeface="Times New Roman"/>
              </a:rPr>
              <a:t>etc.</a:t>
            </a:r>
            <a:endParaRPr sz="2400">
              <a:latin typeface="Times New Roman"/>
              <a:cs typeface="Times New Roman"/>
            </a:endParaRPr>
          </a:p>
          <a:p>
            <a:pPr marL="355600" marR="680720" indent="-342900" algn="just">
              <a:lnSpc>
                <a:spcPts val="2580"/>
              </a:lnSpc>
              <a:spcBef>
                <a:spcPts val="620"/>
              </a:spcBef>
              <a:buClr>
                <a:srgbClr val="053CE8"/>
              </a:buClr>
              <a:buSzPct val="75000"/>
              <a:buFont typeface="Wingdings"/>
              <a:buChar char=""/>
              <a:tabLst>
                <a:tab pos="355600" algn="l"/>
              </a:tabLst>
            </a:pPr>
            <a:r>
              <a:rPr sz="2400" dirty="0">
                <a:latin typeface="Times New Roman"/>
                <a:cs typeface="Times New Roman"/>
              </a:rPr>
              <a:t>VMware,</a:t>
            </a:r>
            <a:r>
              <a:rPr sz="2400" spc="-50" dirty="0">
                <a:latin typeface="Times New Roman"/>
                <a:cs typeface="Times New Roman"/>
              </a:rPr>
              <a:t> </a:t>
            </a:r>
            <a:r>
              <a:rPr sz="2400" dirty="0">
                <a:latin typeface="Times New Roman"/>
                <a:cs typeface="Times New Roman"/>
              </a:rPr>
              <a:t>Microsoft,</a:t>
            </a:r>
            <a:r>
              <a:rPr sz="2400" spc="-50" dirty="0">
                <a:latin typeface="Times New Roman"/>
                <a:cs typeface="Times New Roman"/>
              </a:rPr>
              <a:t> </a:t>
            </a:r>
            <a:r>
              <a:rPr sz="2400" dirty="0">
                <a:latin typeface="Times New Roman"/>
                <a:cs typeface="Times New Roman"/>
              </a:rPr>
              <a:t>Oracle,</a:t>
            </a:r>
            <a:r>
              <a:rPr sz="2400" spc="-50" dirty="0">
                <a:latin typeface="Times New Roman"/>
                <a:cs typeface="Times New Roman"/>
              </a:rPr>
              <a:t> </a:t>
            </a:r>
            <a:r>
              <a:rPr sz="2400" dirty="0">
                <a:latin typeface="Times New Roman"/>
                <a:cs typeface="Times New Roman"/>
              </a:rPr>
              <a:t>Citrix,</a:t>
            </a:r>
            <a:r>
              <a:rPr sz="2400" spc="-50" dirty="0">
                <a:latin typeface="Times New Roman"/>
                <a:cs typeface="Times New Roman"/>
              </a:rPr>
              <a:t> </a:t>
            </a:r>
            <a:r>
              <a:rPr sz="2400" dirty="0">
                <a:latin typeface="Times New Roman"/>
                <a:cs typeface="Times New Roman"/>
              </a:rPr>
              <a:t>IBM</a:t>
            </a:r>
            <a:r>
              <a:rPr sz="2400" spc="-45" dirty="0">
                <a:latin typeface="Times New Roman"/>
                <a:cs typeface="Times New Roman"/>
              </a:rPr>
              <a:t> </a:t>
            </a:r>
            <a:r>
              <a:rPr sz="2400" dirty="0">
                <a:latin typeface="Times New Roman"/>
                <a:cs typeface="Times New Roman"/>
              </a:rPr>
              <a:t>and</a:t>
            </a:r>
            <a:r>
              <a:rPr sz="2400" spc="-50" dirty="0">
                <a:latin typeface="Times New Roman"/>
                <a:cs typeface="Times New Roman"/>
              </a:rPr>
              <a:t> </a:t>
            </a:r>
            <a:r>
              <a:rPr sz="2400" dirty="0">
                <a:latin typeface="Times New Roman"/>
                <a:cs typeface="Times New Roman"/>
              </a:rPr>
              <a:t>many</a:t>
            </a:r>
            <a:r>
              <a:rPr sz="2400" spc="-50" dirty="0">
                <a:latin typeface="Times New Roman"/>
                <a:cs typeface="Times New Roman"/>
              </a:rPr>
              <a:t> </a:t>
            </a:r>
            <a:r>
              <a:rPr sz="2400" spc="-10" dirty="0">
                <a:latin typeface="Times New Roman"/>
                <a:cs typeface="Times New Roman"/>
              </a:rPr>
              <a:t>others </a:t>
            </a:r>
            <a:r>
              <a:rPr sz="2400" dirty="0">
                <a:latin typeface="Times New Roman"/>
                <a:cs typeface="Times New Roman"/>
              </a:rPr>
              <a:t>support </a:t>
            </a:r>
            <a:r>
              <a:rPr sz="2400" spc="-25" dirty="0">
                <a:latin typeface="Times New Roman"/>
                <a:cs typeface="Times New Roman"/>
              </a:rPr>
              <a:t>OVF</a:t>
            </a:r>
            <a:endParaRPr sz="2400">
              <a:latin typeface="Times New Roman"/>
              <a:cs typeface="Times New Roman"/>
            </a:endParaRPr>
          </a:p>
          <a:p>
            <a:pPr marL="41910">
              <a:lnSpc>
                <a:spcPct val="100000"/>
              </a:lnSpc>
              <a:spcBef>
                <a:spcPts val="610"/>
              </a:spcBef>
            </a:pPr>
            <a:endParaRPr sz="1200">
              <a:latin typeface="Times New Roman"/>
              <a:cs typeface="Times New Roman"/>
            </a:endParaRPr>
          </a:p>
        </p:txBody>
      </p:sp>
      <p:sp>
        <p:nvSpPr>
          <p:cNvPr id="8" name="Slide Number Placeholder 7">
            <a:extLst>
              <a:ext uri="{FF2B5EF4-FFF2-40B4-BE49-F238E27FC236}">
                <a16:creationId xmlns:a16="http://schemas.microsoft.com/office/drawing/2014/main" id="{F7524C4A-B8A6-7F6B-DC18-883BB84BBDF1}"/>
              </a:ext>
            </a:extLst>
          </p:cNvPr>
          <p:cNvSpPr>
            <a:spLocks noGrp="1"/>
          </p:cNvSpPr>
          <p:nvPr>
            <p:ph type="sldNum" sz="quarter" idx="7"/>
          </p:nvPr>
        </p:nvSpPr>
        <p:spPr>
          <a:xfrm>
            <a:off x="4330700" y="6579869"/>
            <a:ext cx="698500" cy="278131"/>
          </a:xfrm>
        </p:spPr>
        <p:txBody>
          <a:bodyPr/>
          <a:lstStyle/>
          <a:p>
            <a:pPr marL="12700">
              <a:lnSpc>
                <a:spcPts val="2065"/>
              </a:lnSpc>
            </a:pPr>
            <a:fld id="{81D60167-4931-47E6-BA6A-407CBD079E47}" type="slidenum">
              <a:rPr spc="-50" smtClean="0"/>
              <a:t>27</a:t>
            </a:fld>
            <a:endParaRPr spc="-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36965" y="382513"/>
            <a:ext cx="2637790" cy="635635"/>
          </a:xfrm>
          <a:prstGeom prst="rect">
            <a:avLst/>
          </a:prstGeom>
        </p:spPr>
        <p:txBody>
          <a:bodyPr vert="horz" wrap="square" lIns="0" tIns="12700" rIns="0" bIns="0" rtlCol="0">
            <a:spAutoFit/>
          </a:bodyPr>
          <a:lstStyle/>
          <a:p>
            <a:pPr marL="12700">
              <a:lnSpc>
                <a:spcPct val="100000"/>
              </a:lnSpc>
              <a:spcBef>
                <a:spcPts val="100"/>
              </a:spcBef>
            </a:pPr>
            <a:r>
              <a:rPr sz="4000" dirty="0"/>
              <a:t>OVF </a:t>
            </a:r>
            <a:r>
              <a:rPr sz="4000" spc="-10" dirty="0"/>
              <a:t>(Cont)</a:t>
            </a:r>
            <a:endParaRPr sz="4000"/>
          </a:p>
        </p:txBody>
      </p:sp>
      <p:sp>
        <p:nvSpPr>
          <p:cNvPr id="3" name="object 3"/>
          <p:cNvSpPr txBox="1"/>
          <p:nvPr/>
        </p:nvSpPr>
        <p:spPr>
          <a:xfrm>
            <a:off x="457454" y="1316228"/>
            <a:ext cx="7265670" cy="1559560"/>
          </a:xfrm>
          <a:prstGeom prst="rect">
            <a:avLst/>
          </a:prstGeom>
        </p:spPr>
        <p:txBody>
          <a:bodyPr vert="horz" wrap="square" lIns="0" tIns="12700" rIns="0" bIns="0" rtlCol="0">
            <a:spAutoFit/>
          </a:bodyPr>
          <a:lstStyle/>
          <a:p>
            <a:pPr marL="355600" marR="5080" indent="-342900">
              <a:lnSpc>
                <a:spcPct val="100000"/>
              </a:lnSpc>
              <a:spcBef>
                <a:spcPts val="100"/>
              </a:spcBef>
              <a:buClr>
                <a:srgbClr val="053CE8"/>
              </a:buClr>
              <a:buSzPct val="75000"/>
              <a:buFont typeface="Wingdings"/>
              <a:buChar char=""/>
              <a:tabLst>
                <a:tab pos="355600" algn="l"/>
              </a:tabLst>
            </a:pPr>
            <a:r>
              <a:rPr sz="2400" dirty="0">
                <a:latin typeface="Times New Roman"/>
                <a:cs typeface="Times New Roman"/>
              </a:rPr>
              <a:t>OVF</a:t>
            </a:r>
            <a:r>
              <a:rPr sz="2400" spc="-55" dirty="0">
                <a:latin typeface="Times New Roman"/>
                <a:cs typeface="Times New Roman"/>
              </a:rPr>
              <a:t> </a:t>
            </a:r>
            <a:r>
              <a:rPr sz="2400" dirty="0">
                <a:latin typeface="Times New Roman"/>
                <a:cs typeface="Times New Roman"/>
              </a:rPr>
              <a:t>V1.1.0</a:t>
            </a:r>
            <a:r>
              <a:rPr sz="2400" spc="-50" dirty="0">
                <a:latin typeface="Times New Roman"/>
                <a:cs typeface="Times New Roman"/>
              </a:rPr>
              <a:t> </a:t>
            </a:r>
            <a:r>
              <a:rPr sz="2400" dirty="0">
                <a:latin typeface="Times New Roman"/>
                <a:cs typeface="Times New Roman"/>
              </a:rPr>
              <a:t>supports</a:t>
            </a:r>
            <a:r>
              <a:rPr sz="2400" spc="-50" dirty="0">
                <a:latin typeface="Times New Roman"/>
                <a:cs typeface="Times New Roman"/>
              </a:rPr>
              <a:t> </a:t>
            </a:r>
            <a:r>
              <a:rPr sz="2400" dirty="0">
                <a:latin typeface="Times New Roman"/>
                <a:cs typeface="Times New Roman"/>
              </a:rPr>
              <a:t>single</a:t>
            </a:r>
            <a:r>
              <a:rPr sz="2400" spc="-50" dirty="0">
                <a:latin typeface="Times New Roman"/>
                <a:cs typeface="Times New Roman"/>
              </a:rPr>
              <a:t> </a:t>
            </a:r>
            <a:r>
              <a:rPr sz="2400" dirty="0">
                <a:latin typeface="Times New Roman"/>
                <a:cs typeface="Times New Roman"/>
              </a:rPr>
              <a:t>VM</a:t>
            </a:r>
            <a:r>
              <a:rPr sz="2400" spc="-50" dirty="0">
                <a:latin typeface="Times New Roman"/>
                <a:cs typeface="Times New Roman"/>
              </a:rPr>
              <a:t> </a:t>
            </a:r>
            <a:r>
              <a:rPr sz="2400" dirty="0">
                <a:latin typeface="Times New Roman"/>
                <a:cs typeface="Times New Roman"/>
              </a:rPr>
              <a:t>packages</a:t>
            </a:r>
            <a:r>
              <a:rPr sz="2400" spc="-50" dirty="0">
                <a:latin typeface="Times New Roman"/>
                <a:cs typeface="Times New Roman"/>
              </a:rPr>
              <a:t> </a:t>
            </a:r>
            <a:r>
              <a:rPr sz="2400" dirty="0">
                <a:latin typeface="Times New Roman"/>
                <a:cs typeface="Times New Roman"/>
              </a:rPr>
              <a:t>and</a:t>
            </a:r>
            <a:r>
              <a:rPr sz="2400" spc="-50" dirty="0">
                <a:latin typeface="Times New Roman"/>
                <a:cs typeface="Times New Roman"/>
              </a:rPr>
              <a:t> </a:t>
            </a:r>
            <a:r>
              <a:rPr sz="2400" spc="-10" dirty="0">
                <a:latin typeface="Times New Roman"/>
                <a:cs typeface="Times New Roman"/>
              </a:rPr>
              <a:t>packages </a:t>
            </a:r>
            <a:r>
              <a:rPr sz="2400" dirty="0">
                <a:latin typeface="Times New Roman"/>
                <a:cs typeface="Times New Roman"/>
              </a:rPr>
              <a:t>containing</a:t>
            </a:r>
            <a:r>
              <a:rPr sz="2400" spc="-45" dirty="0">
                <a:latin typeface="Times New Roman"/>
                <a:cs typeface="Times New Roman"/>
              </a:rPr>
              <a:t> </a:t>
            </a:r>
            <a:r>
              <a:rPr sz="2400" dirty="0">
                <a:latin typeface="Times New Roman"/>
                <a:cs typeface="Times New Roman"/>
              </a:rPr>
              <a:t>multiple</a:t>
            </a:r>
            <a:r>
              <a:rPr sz="2400" spc="-45" dirty="0">
                <a:latin typeface="Times New Roman"/>
                <a:cs typeface="Times New Roman"/>
              </a:rPr>
              <a:t> </a:t>
            </a:r>
            <a:r>
              <a:rPr sz="2400" dirty="0">
                <a:latin typeface="Times New Roman"/>
                <a:cs typeface="Times New Roman"/>
              </a:rPr>
              <a:t>VMs</a:t>
            </a:r>
            <a:r>
              <a:rPr sz="2400" spc="-45" dirty="0">
                <a:latin typeface="Times New Roman"/>
                <a:cs typeface="Times New Roman"/>
              </a:rPr>
              <a:t> </a:t>
            </a:r>
            <a:r>
              <a:rPr sz="2400" dirty="0">
                <a:latin typeface="Times New Roman"/>
                <a:cs typeface="Times New Roman"/>
              </a:rPr>
              <a:t>constituting</a:t>
            </a:r>
            <a:r>
              <a:rPr sz="2400" spc="-45" dirty="0">
                <a:latin typeface="Times New Roman"/>
                <a:cs typeface="Times New Roman"/>
              </a:rPr>
              <a:t> </a:t>
            </a:r>
            <a:r>
              <a:rPr sz="2400" dirty="0">
                <a:latin typeface="Times New Roman"/>
                <a:cs typeface="Times New Roman"/>
              </a:rPr>
              <a:t>a</a:t>
            </a:r>
            <a:r>
              <a:rPr sz="2400" spc="-40" dirty="0">
                <a:latin typeface="Times New Roman"/>
                <a:cs typeface="Times New Roman"/>
              </a:rPr>
              <a:t> </a:t>
            </a:r>
            <a:r>
              <a:rPr sz="2400" dirty="0">
                <a:latin typeface="Times New Roman"/>
                <a:cs typeface="Times New Roman"/>
              </a:rPr>
              <a:t>multitier</a:t>
            </a:r>
            <a:r>
              <a:rPr sz="2400" spc="-45" dirty="0">
                <a:latin typeface="Times New Roman"/>
                <a:cs typeface="Times New Roman"/>
              </a:rPr>
              <a:t> </a:t>
            </a:r>
            <a:r>
              <a:rPr sz="2400" spc="-10" dirty="0">
                <a:latin typeface="Times New Roman"/>
                <a:cs typeface="Times New Roman"/>
              </a:rPr>
              <a:t>service</a:t>
            </a:r>
            <a:endParaRPr sz="2400">
              <a:latin typeface="Times New Roman"/>
              <a:cs typeface="Times New Roman"/>
            </a:endParaRPr>
          </a:p>
          <a:p>
            <a:pPr marL="355600" marR="92710" indent="-342900">
              <a:lnSpc>
                <a:spcPct val="100000"/>
              </a:lnSpc>
              <a:spcBef>
                <a:spcPts val="560"/>
              </a:spcBef>
              <a:buClr>
                <a:srgbClr val="053CE8"/>
              </a:buClr>
              <a:buSzPct val="75000"/>
              <a:buFont typeface="Wingdings"/>
              <a:buChar char=""/>
              <a:tabLst>
                <a:tab pos="355600" algn="l"/>
              </a:tabLst>
            </a:pPr>
            <a:r>
              <a:rPr sz="2400" dirty="0">
                <a:latin typeface="Times New Roman"/>
                <a:cs typeface="Times New Roman"/>
              </a:rPr>
              <a:t>Other</a:t>
            </a:r>
            <a:r>
              <a:rPr sz="2400" spc="-40" dirty="0">
                <a:latin typeface="Times New Roman"/>
                <a:cs typeface="Times New Roman"/>
              </a:rPr>
              <a:t> </a:t>
            </a:r>
            <a:r>
              <a:rPr sz="2400" dirty="0">
                <a:latin typeface="Times New Roman"/>
                <a:cs typeface="Times New Roman"/>
              </a:rPr>
              <a:t>popular</a:t>
            </a:r>
            <a:r>
              <a:rPr sz="2400" spc="-40" dirty="0">
                <a:latin typeface="Times New Roman"/>
                <a:cs typeface="Times New Roman"/>
              </a:rPr>
              <a:t> </a:t>
            </a:r>
            <a:r>
              <a:rPr sz="2400" dirty="0">
                <a:latin typeface="Times New Roman"/>
                <a:cs typeface="Times New Roman"/>
              </a:rPr>
              <a:t>format</a:t>
            </a:r>
            <a:r>
              <a:rPr sz="2400" spc="-35" dirty="0">
                <a:latin typeface="Times New Roman"/>
                <a:cs typeface="Times New Roman"/>
              </a:rPr>
              <a:t> </a:t>
            </a:r>
            <a:r>
              <a:rPr sz="2400" dirty="0">
                <a:latin typeface="Times New Roman"/>
                <a:cs typeface="Times New Roman"/>
              </a:rPr>
              <a:t>are</a:t>
            </a:r>
            <a:r>
              <a:rPr sz="2400" spc="-40" dirty="0">
                <a:latin typeface="Times New Roman"/>
                <a:cs typeface="Times New Roman"/>
              </a:rPr>
              <a:t> </a:t>
            </a:r>
            <a:r>
              <a:rPr sz="2400" spc="-10" dirty="0">
                <a:latin typeface="Times New Roman"/>
                <a:cs typeface="Times New Roman"/>
              </a:rPr>
              <a:t>Microsoft’s</a:t>
            </a:r>
            <a:r>
              <a:rPr sz="2400" spc="-35" dirty="0">
                <a:latin typeface="Times New Roman"/>
                <a:cs typeface="Times New Roman"/>
              </a:rPr>
              <a:t> </a:t>
            </a:r>
            <a:r>
              <a:rPr sz="2400" dirty="0">
                <a:latin typeface="Times New Roman"/>
                <a:cs typeface="Times New Roman"/>
              </a:rPr>
              <a:t>Virtual</a:t>
            </a:r>
            <a:r>
              <a:rPr sz="2400" spc="-40" dirty="0">
                <a:latin typeface="Times New Roman"/>
                <a:cs typeface="Times New Roman"/>
              </a:rPr>
              <a:t> </a:t>
            </a:r>
            <a:r>
              <a:rPr sz="2400" dirty="0">
                <a:latin typeface="Times New Roman"/>
                <a:cs typeface="Times New Roman"/>
              </a:rPr>
              <a:t>Hard</a:t>
            </a:r>
            <a:r>
              <a:rPr sz="2400" spc="-35" dirty="0">
                <a:latin typeface="Times New Roman"/>
                <a:cs typeface="Times New Roman"/>
              </a:rPr>
              <a:t> </a:t>
            </a:r>
            <a:r>
              <a:rPr sz="2400" spc="-20" dirty="0">
                <a:latin typeface="Times New Roman"/>
                <a:cs typeface="Times New Roman"/>
              </a:rPr>
              <a:t>Disk </a:t>
            </a:r>
            <a:r>
              <a:rPr sz="2400" dirty="0">
                <a:latin typeface="Times New Roman"/>
                <a:cs typeface="Times New Roman"/>
              </a:rPr>
              <a:t>(VHD),</a:t>
            </a:r>
            <a:r>
              <a:rPr sz="2400" spc="-45" dirty="0">
                <a:latin typeface="Times New Roman"/>
                <a:cs typeface="Times New Roman"/>
              </a:rPr>
              <a:t> </a:t>
            </a:r>
            <a:r>
              <a:rPr sz="2400" dirty="0">
                <a:latin typeface="Times New Roman"/>
                <a:cs typeface="Times New Roman"/>
              </a:rPr>
              <a:t>and</a:t>
            </a:r>
            <a:r>
              <a:rPr sz="2400" spc="-40" dirty="0">
                <a:latin typeface="Times New Roman"/>
                <a:cs typeface="Times New Roman"/>
              </a:rPr>
              <a:t> </a:t>
            </a:r>
            <a:r>
              <a:rPr sz="2400" dirty="0">
                <a:latin typeface="Times New Roman"/>
                <a:cs typeface="Times New Roman"/>
              </a:rPr>
              <a:t>VMware’s</a:t>
            </a:r>
            <a:r>
              <a:rPr sz="2400" spc="-45" dirty="0">
                <a:latin typeface="Times New Roman"/>
                <a:cs typeface="Times New Roman"/>
              </a:rPr>
              <a:t> </a:t>
            </a:r>
            <a:r>
              <a:rPr sz="2400" dirty="0">
                <a:latin typeface="Times New Roman"/>
                <a:cs typeface="Times New Roman"/>
              </a:rPr>
              <a:t>Virtual</a:t>
            </a:r>
            <a:r>
              <a:rPr sz="2400" spc="-40" dirty="0">
                <a:latin typeface="Times New Roman"/>
                <a:cs typeface="Times New Roman"/>
              </a:rPr>
              <a:t> </a:t>
            </a:r>
            <a:r>
              <a:rPr sz="2400" dirty="0">
                <a:latin typeface="Times New Roman"/>
                <a:cs typeface="Times New Roman"/>
              </a:rPr>
              <a:t>Machine</a:t>
            </a:r>
            <a:r>
              <a:rPr sz="2400" spc="-45" dirty="0">
                <a:latin typeface="Times New Roman"/>
                <a:cs typeface="Times New Roman"/>
              </a:rPr>
              <a:t> </a:t>
            </a:r>
            <a:r>
              <a:rPr sz="2400" dirty="0">
                <a:latin typeface="Times New Roman"/>
                <a:cs typeface="Times New Roman"/>
              </a:rPr>
              <a:t>Disk</a:t>
            </a:r>
            <a:r>
              <a:rPr sz="2400" spc="-40" dirty="0">
                <a:latin typeface="Times New Roman"/>
                <a:cs typeface="Times New Roman"/>
              </a:rPr>
              <a:t> </a:t>
            </a:r>
            <a:r>
              <a:rPr sz="2400" spc="-10" dirty="0">
                <a:latin typeface="Times New Roman"/>
                <a:cs typeface="Times New Roman"/>
              </a:rPr>
              <a:t>(VMDK)</a:t>
            </a:r>
            <a:endParaRPr sz="2400">
              <a:latin typeface="Times New Roman"/>
              <a:cs typeface="Times New Roman"/>
            </a:endParaRPr>
          </a:p>
        </p:txBody>
      </p:sp>
      <p:sp>
        <p:nvSpPr>
          <p:cNvPr id="8" name="Slide Number Placeholder 7">
            <a:extLst>
              <a:ext uri="{FF2B5EF4-FFF2-40B4-BE49-F238E27FC236}">
                <a16:creationId xmlns:a16="http://schemas.microsoft.com/office/drawing/2014/main" id="{256F381C-7D8F-831C-80C4-36D3197C1F6B}"/>
              </a:ext>
            </a:extLst>
          </p:cNvPr>
          <p:cNvSpPr>
            <a:spLocks noGrp="1"/>
          </p:cNvSpPr>
          <p:nvPr>
            <p:ph type="sldNum" sz="quarter" idx="7"/>
          </p:nvPr>
        </p:nvSpPr>
        <p:spPr>
          <a:xfrm>
            <a:off x="4330700" y="6579869"/>
            <a:ext cx="546100" cy="278131"/>
          </a:xfrm>
        </p:spPr>
        <p:txBody>
          <a:bodyPr/>
          <a:lstStyle/>
          <a:p>
            <a:pPr marL="12700">
              <a:lnSpc>
                <a:spcPts val="2065"/>
              </a:lnSpc>
            </a:pPr>
            <a:fld id="{81D60167-4931-47E6-BA6A-407CBD079E47}" type="slidenum">
              <a:rPr spc="-50" smtClean="0"/>
              <a:t>28</a:t>
            </a:fld>
            <a:endParaRPr spc="-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2566670">
              <a:lnSpc>
                <a:spcPct val="100000"/>
              </a:lnSpc>
              <a:spcBef>
                <a:spcPts val="100"/>
              </a:spcBef>
            </a:pPr>
            <a:r>
              <a:rPr dirty="0"/>
              <a:t>PCoIP</a:t>
            </a:r>
            <a:r>
              <a:rPr spc="-95" dirty="0"/>
              <a:t> </a:t>
            </a:r>
            <a:r>
              <a:rPr spc="-10" dirty="0"/>
              <a:t>Protocol</a:t>
            </a:r>
          </a:p>
        </p:txBody>
      </p:sp>
      <p:sp>
        <p:nvSpPr>
          <p:cNvPr id="3" name="object 3"/>
          <p:cNvSpPr txBox="1"/>
          <p:nvPr/>
        </p:nvSpPr>
        <p:spPr>
          <a:xfrm>
            <a:off x="457454" y="1252220"/>
            <a:ext cx="8305546" cy="5088573"/>
          </a:xfrm>
          <a:prstGeom prst="rect">
            <a:avLst/>
          </a:prstGeom>
        </p:spPr>
        <p:txBody>
          <a:bodyPr vert="horz" wrap="square" lIns="0" tIns="48260" rIns="0" bIns="0" rtlCol="0">
            <a:spAutoFit/>
          </a:bodyPr>
          <a:lstStyle/>
          <a:p>
            <a:pPr marL="354965" indent="-342265">
              <a:lnSpc>
                <a:spcPct val="100000"/>
              </a:lnSpc>
              <a:spcBef>
                <a:spcPts val="380"/>
              </a:spcBef>
              <a:buClr>
                <a:srgbClr val="053CE8"/>
              </a:buClr>
              <a:buSzPct val="75000"/>
              <a:buFont typeface="Wingdings"/>
              <a:buChar char=""/>
              <a:tabLst>
                <a:tab pos="354965" algn="l"/>
              </a:tabLst>
            </a:pPr>
            <a:r>
              <a:rPr sz="2400" dirty="0">
                <a:latin typeface="Times New Roman"/>
                <a:cs typeface="Times New Roman"/>
              </a:rPr>
              <a:t>VMware</a:t>
            </a:r>
            <a:r>
              <a:rPr sz="2400" spc="-60" dirty="0">
                <a:latin typeface="Times New Roman"/>
                <a:cs typeface="Times New Roman"/>
              </a:rPr>
              <a:t> </a:t>
            </a:r>
            <a:r>
              <a:rPr sz="2400" dirty="0">
                <a:latin typeface="Times New Roman"/>
                <a:cs typeface="Times New Roman"/>
              </a:rPr>
              <a:t>proprietary</a:t>
            </a:r>
            <a:r>
              <a:rPr sz="2400" spc="-60" dirty="0">
                <a:latin typeface="Times New Roman"/>
                <a:cs typeface="Times New Roman"/>
              </a:rPr>
              <a:t> </a:t>
            </a:r>
            <a:r>
              <a:rPr sz="2400" dirty="0">
                <a:latin typeface="Times New Roman"/>
                <a:cs typeface="Times New Roman"/>
              </a:rPr>
              <a:t>protocol</a:t>
            </a:r>
            <a:r>
              <a:rPr sz="2400" spc="-55" dirty="0">
                <a:latin typeface="Times New Roman"/>
                <a:cs typeface="Times New Roman"/>
              </a:rPr>
              <a:t> </a:t>
            </a:r>
            <a:r>
              <a:rPr sz="2400" dirty="0">
                <a:latin typeface="Times New Roman"/>
                <a:cs typeface="Times New Roman"/>
              </a:rPr>
              <a:t>for</a:t>
            </a:r>
            <a:r>
              <a:rPr sz="2400" spc="-60" dirty="0">
                <a:latin typeface="Times New Roman"/>
                <a:cs typeface="Times New Roman"/>
              </a:rPr>
              <a:t> </a:t>
            </a:r>
            <a:r>
              <a:rPr sz="2400" dirty="0">
                <a:latin typeface="Times New Roman"/>
                <a:cs typeface="Times New Roman"/>
              </a:rPr>
              <a:t>virtual</a:t>
            </a:r>
            <a:r>
              <a:rPr sz="2400" spc="-55" dirty="0">
                <a:latin typeface="Times New Roman"/>
                <a:cs typeface="Times New Roman"/>
              </a:rPr>
              <a:t> </a:t>
            </a:r>
            <a:r>
              <a:rPr sz="2400" spc="-10" dirty="0">
                <a:latin typeface="Times New Roman"/>
                <a:cs typeface="Times New Roman"/>
              </a:rPr>
              <a:t>desktops</a:t>
            </a:r>
            <a:endParaRPr sz="2400">
              <a:latin typeface="Times New Roman"/>
              <a:cs typeface="Times New Roman"/>
            </a:endParaRPr>
          </a:p>
          <a:p>
            <a:pPr marL="354965" marR="493395" indent="-342900">
              <a:lnSpc>
                <a:spcPts val="2590"/>
              </a:lnSpc>
              <a:spcBef>
                <a:spcPts val="610"/>
              </a:spcBef>
              <a:buClr>
                <a:srgbClr val="053CE8"/>
              </a:buClr>
              <a:buSzPct val="75000"/>
              <a:buFont typeface="Wingdings"/>
              <a:buChar char=""/>
              <a:tabLst>
                <a:tab pos="354965" algn="l"/>
              </a:tabLst>
            </a:pPr>
            <a:r>
              <a:rPr sz="2400" spc="-10" dirty="0">
                <a:latin typeface="Times New Roman"/>
                <a:cs typeface="Times New Roman"/>
              </a:rPr>
              <a:t>Content-</a:t>
            </a:r>
            <a:r>
              <a:rPr sz="2400" dirty="0">
                <a:latin typeface="Times New Roman"/>
                <a:cs typeface="Times New Roman"/>
              </a:rPr>
              <a:t>Aware:</a:t>
            </a:r>
            <a:r>
              <a:rPr sz="2400" spc="-30" dirty="0">
                <a:latin typeface="Times New Roman"/>
                <a:cs typeface="Times New Roman"/>
              </a:rPr>
              <a:t> </a:t>
            </a:r>
            <a:r>
              <a:rPr sz="2400" dirty="0">
                <a:latin typeface="Times New Roman"/>
                <a:cs typeface="Times New Roman"/>
              </a:rPr>
              <a:t>Text</a:t>
            </a:r>
            <a:r>
              <a:rPr sz="2400" spc="-20" dirty="0">
                <a:latin typeface="Times New Roman"/>
                <a:cs typeface="Times New Roman"/>
              </a:rPr>
              <a:t> </a:t>
            </a:r>
            <a:r>
              <a:rPr sz="2400" dirty="0">
                <a:latin typeface="Times New Roman"/>
                <a:cs typeface="Times New Roman"/>
              </a:rPr>
              <a:t>and</a:t>
            </a:r>
            <a:r>
              <a:rPr sz="2400" spc="-20" dirty="0">
                <a:latin typeface="Times New Roman"/>
                <a:cs typeface="Times New Roman"/>
              </a:rPr>
              <a:t> </a:t>
            </a:r>
            <a:r>
              <a:rPr sz="2400" dirty="0">
                <a:latin typeface="Times New Roman"/>
                <a:cs typeface="Times New Roman"/>
              </a:rPr>
              <a:t>graphics</a:t>
            </a:r>
            <a:r>
              <a:rPr sz="2400" spc="-20" dirty="0">
                <a:latin typeface="Times New Roman"/>
                <a:cs typeface="Times New Roman"/>
              </a:rPr>
              <a:t> </a:t>
            </a:r>
            <a:r>
              <a:rPr sz="2400" dirty="0">
                <a:latin typeface="Times New Roman"/>
                <a:cs typeface="Times New Roman"/>
              </a:rPr>
              <a:t>are</a:t>
            </a:r>
            <a:r>
              <a:rPr sz="2400" spc="-20" dirty="0">
                <a:latin typeface="Times New Roman"/>
                <a:cs typeface="Times New Roman"/>
              </a:rPr>
              <a:t> </a:t>
            </a:r>
            <a:r>
              <a:rPr sz="2400" dirty="0">
                <a:latin typeface="Times New Roman"/>
                <a:cs typeface="Times New Roman"/>
              </a:rPr>
              <a:t>treated</a:t>
            </a:r>
            <a:r>
              <a:rPr sz="2400" spc="-15" dirty="0">
                <a:latin typeface="Times New Roman"/>
                <a:cs typeface="Times New Roman"/>
              </a:rPr>
              <a:t> </a:t>
            </a:r>
            <a:r>
              <a:rPr sz="2400" spc="-10" dirty="0">
                <a:latin typeface="Times New Roman"/>
                <a:cs typeface="Times New Roman"/>
              </a:rPr>
              <a:t>differently </a:t>
            </a:r>
            <a:r>
              <a:rPr sz="2400" dirty="0">
                <a:latin typeface="Times New Roman"/>
                <a:cs typeface="Times New Roman"/>
              </a:rPr>
              <a:t>Graphics</a:t>
            </a:r>
            <a:r>
              <a:rPr sz="2400" spc="-30" dirty="0">
                <a:latin typeface="Times New Roman"/>
                <a:cs typeface="Times New Roman"/>
              </a:rPr>
              <a:t> </a:t>
            </a:r>
            <a:r>
              <a:rPr sz="2400" dirty="0">
                <a:latin typeface="Times New Roman"/>
                <a:cs typeface="Times New Roman"/>
              </a:rPr>
              <a:t>is</a:t>
            </a:r>
            <a:r>
              <a:rPr sz="2400" spc="-30" dirty="0">
                <a:latin typeface="Times New Roman"/>
                <a:cs typeface="Times New Roman"/>
              </a:rPr>
              <a:t> </a:t>
            </a:r>
            <a:r>
              <a:rPr sz="2400" spc="-10" dirty="0">
                <a:latin typeface="Times New Roman"/>
                <a:cs typeface="Times New Roman"/>
              </a:rPr>
              <a:t>compressed</a:t>
            </a:r>
            <a:endParaRPr sz="2400">
              <a:latin typeface="Times New Roman"/>
              <a:cs typeface="Times New Roman"/>
            </a:endParaRPr>
          </a:p>
          <a:p>
            <a:pPr marL="354965" marR="797560" indent="-342900">
              <a:lnSpc>
                <a:spcPts val="2590"/>
              </a:lnSpc>
              <a:spcBef>
                <a:spcPts val="570"/>
              </a:spcBef>
              <a:buClr>
                <a:srgbClr val="053CE8"/>
              </a:buClr>
              <a:buSzPct val="75000"/>
              <a:buFont typeface="Wingdings"/>
              <a:buChar char=""/>
              <a:tabLst>
                <a:tab pos="354965" algn="l"/>
              </a:tabLst>
            </a:pPr>
            <a:r>
              <a:rPr sz="2400" dirty="0">
                <a:latin typeface="Times New Roman"/>
                <a:cs typeface="Times New Roman"/>
              </a:rPr>
              <a:t>Server</a:t>
            </a:r>
            <a:r>
              <a:rPr sz="2400" spc="-35" dirty="0">
                <a:latin typeface="Times New Roman"/>
                <a:cs typeface="Times New Roman"/>
              </a:rPr>
              <a:t> </a:t>
            </a:r>
            <a:r>
              <a:rPr sz="2400" dirty="0">
                <a:latin typeface="Times New Roman"/>
                <a:cs typeface="Times New Roman"/>
              </a:rPr>
              <a:t>Rendered:</a:t>
            </a:r>
            <a:r>
              <a:rPr sz="2400" spc="-25" dirty="0">
                <a:latin typeface="Times New Roman"/>
                <a:cs typeface="Times New Roman"/>
              </a:rPr>
              <a:t> </a:t>
            </a:r>
            <a:r>
              <a:rPr sz="2400" dirty="0">
                <a:latin typeface="Times New Roman"/>
                <a:cs typeface="Times New Roman"/>
              </a:rPr>
              <a:t>All</a:t>
            </a:r>
            <a:r>
              <a:rPr sz="2400" spc="-25" dirty="0">
                <a:latin typeface="Times New Roman"/>
                <a:cs typeface="Times New Roman"/>
              </a:rPr>
              <a:t> </a:t>
            </a:r>
            <a:r>
              <a:rPr sz="2400" dirty="0">
                <a:latin typeface="Times New Roman"/>
                <a:cs typeface="Times New Roman"/>
              </a:rPr>
              <a:t>pixels</a:t>
            </a:r>
            <a:r>
              <a:rPr sz="2400" spc="-25" dirty="0">
                <a:latin typeface="Times New Roman"/>
                <a:cs typeface="Times New Roman"/>
              </a:rPr>
              <a:t> </a:t>
            </a:r>
            <a:r>
              <a:rPr sz="2400" dirty="0">
                <a:latin typeface="Times New Roman"/>
                <a:cs typeface="Times New Roman"/>
              </a:rPr>
              <a:t>are</a:t>
            </a:r>
            <a:r>
              <a:rPr sz="2400" spc="-25" dirty="0">
                <a:latin typeface="Times New Roman"/>
                <a:cs typeface="Times New Roman"/>
              </a:rPr>
              <a:t> </a:t>
            </a:r>
            <a:r>
              <a:rPr sz="2400" dirty="0">
                <a:latin typeface="Times New Roman"/>
                <a:cs typeface="Times New Roman"/>
              </a:rPr>
              <a:t>rendered</a:t>
            </a:r>
            <a:r>
              <a:rPr sz="2400" spc="-25" dirty="0">
                <a:latin typeface="Times New Roman"/>
                <a:cs typeface="Times New Roman"/>
              </a:rPr>
              <a:t> </a:t>
            </a:r>
            <a:r>
              <a:rPr sz="2400" dirty="0">
                <a:latin typeface="Times New Roman"/>
                <a:cs typeface="Times New Roman"/>
              </a:rPr>
              <a:t>on</a:t>
            </a:r>
            <a:r>
              <a:rPr sz="2400" spc="-2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spc="-10" dirty="0">
                <a:latin typeface="Times New Roman"/>
                <a:cs typeface="Times New Roman"/>
              </a:rPr>
              <a:t>server </a:t>
            </a:r>
            <a:r>
              <a:rPr sz="2400" dirty="0">
                <a:latin typeface="Times New Roman"/>
                <a:cs typeface="Times New Roman"/>
              </a:rPr>
              <a:t>No</a:t>
            </a:r>
            <a:r>
              <a:rPr sz="2400" spc="-25" dirty="0">
                <a:latin typeface="Times New Roman"/>
                <a:cs typeface="Times New Roman"/>
              </a:rPr>
              <a:t> </a:t>
            </a:r>
            <a:r>
              <a:rPr sz="2400" dirty="0">
                <a:latin typeface="Times New Roman"/>
                <a:cs typeface="Times New Roman"/>
              </a:rPr>
              <a:t>codec</a:t>
            </a:r>
            <a:r>
              <a:rPr sz="2400" spc="-20" dirty="0">
                <a:latin typeface="Times New Roman"/>
                <a:cs typeface="Times New Roman"/>
              </a:rPr>
              <a:t> </a:t>
            </a:r>
            <a:r>
              <a:rPr sz="2400" dirty="0">
                <a:latin typeface="Times New Roman"/>
                <a:cs typeface="Times New Roman"/>
              </a:rPr>
              <a:t>in</a:t>
            </a:r>
            <a:r>
              <a:rPr sz="2400" spc="-25"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spc="-10" dirty="0">
                <a:latin typeface="Times New Roman"/>
                <a:cs typeface="Times New Roman"/>
              </a:rPr>
              <a:t>client</a:t>
            </a:r>
            <a:endParaRPr sz="2400">
              <a:latin typeface="Times New Roman"/>
              <a:cs typeface="Times New Roman"/>
            </a:endParaRPr>
          </a:p>
          <a:p>
            <a:pPr marL="354965" indent="-342265">
              <a:lnSpc>
                <a:spcPct val="100000"/>
              </a:lnSpc>
              <a:spcBef>
                <a:spcPts val="240"/>
              </a:spcBef>
              <a:buClr>
                <a:srgbClr val="053CE8"/>
              </a:buClr>
              <a:buSzPct val="75000"/>
              <a:buFont typeface="Wingdings"/>
              <a:buChar char=""/>
              <a:tabLst>
                <a:tab pos="354965" algn="l"/>
              </a:tabLst>
            </a:pPr>
            <a:r>
              <a:rPr sz="2400" dirty="0">
                <a:latin typeface="Times New Roman"/>
                <a:cs typeface="Times New Roman"/>
              </a:rPr>
              <a:t>Delivery</a:t>
            </a:r>
            <a:r>
              <a:rPr sz="2400" spc="-30" dirty="0">
                <a:latin typeface="Times New Roman"/>
                <a:cs typeface="Times New Roman"/>
              </a:rPr>
              <a:t> </a:t>
            </a:r>
            <a:r>
              <a:rPr sz="2400" dirty="0">
                <a:latin typeface="Times New Roman"/>
                <a:cs typeface="Times New Roman"/>
              </a:rPr>
              <a:t>optimization</a:t>
            </a:r>
            <a:r>
              <a:rPr sz="2400" spc="-25" dirty="0">
                <a:latin typeface="Times New Roman"/>
                <a:cs typeface="Times New Roman"/>
              </a:rPr>
              <a:t> </a:t>
            </a:r>
            <a:r>
              <a:rPr sz="2400" dirty="0">
                <a:latin typeface="Times New Roman"/>
                <a:cs typeface="Times New Roman"/>
              </a:rPr>
              <a:t>based</a:t>
            </a:r>
            <a:r>
              <a:rPr sz="2400" spc="-30" dirty="0">
                <a:latin typeface="Times New Roman"/>
                <a:cs typeface="Times New Roman"/>
              </a:rPr>
              <a:t> </a:t>
            </a:r>
            <a:r>
              <a:rPr sz="2400" dirty="0">
                <a:latin typeface="Times New Roman"/>
                <a:cs typeface="Times New Roman"/>
              </a:rPr>
              <a:t>on</a:t>
            </a:r>
            <a:r>
              <a:rPr sz="2400" spc="-25" dirty="0">
                <a:latin typeface="Times New Roman"/>
                <a:cs typeface="Times New Roman"/>
              </a:rPr>
              <a:t> </a:t>
            </a:r>
            <a:r>
              <a:rPr sz="2400" spc="-10" dirty="0">
                <a:latin typeface="Times New Roman"/>
                <a:cs typeface="Times New Roman"/>
              </a:rPr>
              <a:t>real-</a:t>
            </a:r>
            <a:r>
              <a:rPr sz="2400" dirty="0">
                <a:latin typeface="Times New Roman"/>
                <a:cs typeface="Times New Roman"/>
              </a:rPr>
              <a:t>time</a:t>
            </a:r>
            <a:r>
              <a:rPr sz="2400" spc="-30" dirty="0">
                <a:latin typeface="Times New Roman"/>
                <a:cs typeface="Times New Roman"/>
              </a:rPr>
              <a:t> </a:t>
            </a:r>
            <a:r>
              <a:rPr sz="2400" dirty="0">
                <a:latin typeface="Times New Roman"/>
                <a:cs typeface="Times New Roman"/>
              </a:rPr>
              <a:t>network</a:t>
            </a:r>
            <a:r>
              <a:rPr sz="2400" spc="-25" dirty="0">
                <a:latin typeface="Times New Roman"/>
                <a:cs typeface="Times New Roman"/>
              </a:rPr>
              <a:t> </a:t>
            </a:r>
            <a:r>
              <a:rPr sz="2400" spc="-10" dirty="0">
                <a:latin typeface="Times New Roman"/>
                <a:cs typeface="Times New Roman"/>
              </a:rPr>
              <a:t>conditions</a:t>
            </a:r>
            <a:endParaRPr sz="2400">
              <a:latin typeface="Times New Roman"/>
              <a:cs typeface="Times New Roman"/>
            </a:endParaRPr>
          </a:p>
          <a:p>
            <a:pPr marL="354965" indent="-342265">
              <a:lnSpc>
                <a:spcPct val="100000"/>
              </a:lnSpc>
              <a:spcBef>
                <a:spcPts val="280"/>
              </a:spcBef>
              <a:buClr>
                <a:srgbClr val="053CE8"/>
              </a:buClr>
              <a:buSzPct val="75000"/>
              <a:buFont typeface="Wingdings"/>
              <a:buChar char=""/>
              <a:tabLst>
                <a:tab pos="354965" algn="l"/>
              </a:tabLst>
            </a:pPr>
            <a:r>
              <a:rPr sz="2400" dirty="0">
                <a:latin typeface="Times New Roman"/>
                <a:cs typeface="Times New Roman"/>
              </a:rPr>
              <a:t>Layered</a:t>
            </a:r>
            <a:r>
              <a:rPr sz="2400" spc="-50" dirty="0">
                <a:latin typeface="Times New Roman"/>
                <a:cs typeface="Times New Roman"/>
              </a:rPr>
              <a:t> </a:t>
            </a:r>
            <a:r>
              <a:rPr sz="2400" dirty="0">
                <a:latin typeface="Times New Roman"/>
                <a:cs typeface="Times New Roman"/>
              </a:rPr>
              <a:t>rendering:</a:t>
            </a:r>
            <a:r>
              <a:rPr sz="2400" spc="-40" dirty="0">
                <a:latin typeface="Times New Roman"/>
                <a:cs typeface="Times New Roman"/>
              </a:rPr>
              <a:t> </a:t>
            </a:r>
            <a:r>
              <a:rPr sz="2400" dirty="0">
                <a:latin typeface="Times New Roman"/>
                <a:cs typeface="Times New Roman"/>
              </a:rPr>
              <a:t>Graphics</a:t>
            </a:r>
            <a:r>
              <a:rPr sz="2400" spc="-40" dirty="0">
                <a:latin typeface="Times New Roman"/>
                <a:cs typeface="Times New Roman"/>
              </a:rPr>
              <a:t> </a:t>
            </a:r>
            <a:r>
              <a:rPr sz="2400" dirty="0">
                <a:latin typeface="Times New Roman"/>
                <a:cs typeface="Times New Roman"/>
              </a:rPr>
              <a:t>becomes</a:t>
            </a:r>
            <a:r>
              <a:rPr sz="2400" spc="-40" dirty="0">
                <a:latin typeface="Times New Roman"/>
                <a:cs typeface="Times New Roman"/>
              </a:rPr>
              <a:t> </a:t>
            </a:r>
            <a:r>
              <a:rPr sz="2400" dirty="0">
                <a:latin typeface="Times New Roman"/>
                <a:cs typeface="Times New Roman"/>
              </a:rPr>
              <a:t>clearer</a:t>
            </a:r>
            <a:r>
              <a:rPr sz="2400" spc="-35" dirty="0">
                <a:latin typeface="Times New Roman"/>
                <a:cs typeface="Times New Roman"/>
              </a:rPr>
              <a:t> </a:t>
            </a:r>
            <a:r>
              <a:rPr sz="2400" spc="-10" dirty="0">
                <a:latin typeface="Times New Roman"/>
                <a:cs typeface="Times New Roman"/>
              </a:rPr>
              <a:t>slowly</a:t>
            </a:r>
            <a:endParaRPr sz="2400">
              <a:latin typeface="Times New Roman"/>
              <a:cs typeface="Times New Roman"/>
            </a:endParaRPr>
          </a:p>
          <a:p>
            <a:pPr marL="354965" indent="-342265">
              <a:lnSpc>
                <a:spcPct val="100000"/>
              </a:lnSpc>
              <a:spcBef>
                <a:spcPts val="290"/>
              </a:spcBef>
              <a:buClr>
                <a:srgbClr val="053CE8"/>
              </a:buClr>
              <a:buSzPct val="75000"/>
              <a:buFont typeface="Wingdings"/>
              <a:buChar char=""/>
              <a:tabLst>
                <a:tab pos="354965" algn="l"/>
              </a:tabLst>
            </a:pPr>
            <a:r>
              <a:rPr sz="2400" dirty="0">
                <a:latin typeface="Times New Roman"/>
                <a:cs typeface="Times New Roman"/>
              </a:rPr>
              <a:t>Can</a:t>
            </a:r>
            <a:r>
              <a:rPr sz="2400" spc="-45" dirty="0">
                <a:latin typeface="Times New Roman"/>
                <a:cs typeface="Times New Roman"/>
              </a:rPr>
              <a:t> </a:t>
            </a:r>
            <a:r>
              <a:rPr sz="2400" dirty="0">
                <a:latin typeface="Times New Roman"/>
                <a:cs typeface="Times New Roman"/>
              </a:rPr>
              <a:t>be</a:t>
            </a:r>
            <a:r>
              <a:rPr sz="2400" spc="-40" dirty="0">
                <a:latin typeface="Times New Roman"/>
                <a:cs typeface="Times New Roman"/>
              </a:rPr>
              <a:t> </a:t>
            </a:r>
            <a:r>
              <a:rPr sz="2400" dirty="0">
                <a:latin typeface="Times New Roman"/>
                <a:cs typeface="Times New Roman"/>
              </a:rPr>
              <a:t>used</a:t>
            </a:r>
            <a:r>
              <a:rPr sz="2400" spc="-40" dirty="0">
                <a:latin typeface="Times New Roman"/>
                <a:cs typeface="Times New Roman"/>
              </a:rPr>
              <a:t> </a:t>
            </a:r>
            <a:r>
              <a:rPr sz="2400" dirty="0">
                <a:latin typeface="Times New Roman"/>
                <a:cs typeface="Times New Roman"/>
              </a:rPr>
              <a:t>with/without</a:t>
            </a:r>
            <a:r>
              <a:rPr sz="2400" spc="-40" dirty="0">
                <a:latin typeface="Times New Roman"/>
                <a:cs typeface="Times New Roman"/>
              </a:rPr>
              <a:t> </a:t>
            </a:r>
            <a:r>
              <a:rPr sz="2400" dirty="0">
                <a:latin typeface="Times New Roman"/>
                <a:cs typeface="Times New Roman"/>
              </a:rPr>
              <a:t>a</a:t>
            </a:r>
            <a:r>
              <a:rPr sz="2400" spc="-40" dirty="0">
                <a:latin typeface="Times New Roman"/>
                <a:cs typeface="Times New Roman"/>
              </a:rPr>
              <a:t> </a:t>
            </a:r>
            <a:r>
              <a:rPr sz="2400" dirty="0">
                <a:latin typeface="Times New Roman"/>
                <a:cs typeface="Times New Roman"/>
              </a:rPr>
              <a:t>hardware</a:t>
            </a:r>
            <a:r>
              <a:rPr sz="2400" spc="-40" dirty="0">
                <a:latin typeface="Times New Roman"/>
                <a:cs typeface="Times New Roman"/>
              </a:rPr>
              <a:t> </a:t>
            </a:r>
            <a:r>
              <a:rPr sz="2400" dirty="0">
                <a:latin typeface="Times New Roman"/>
                <a:cs typeface="Times New Roman"/>
              </a:rPr>
              <a:t>PCoIP</a:t>
            </a:r>
            <a:r>
              <a:rPr sz="2400" spc="-45" dirty="0">
                <a:latin typeface="Times New Roman"/>
                <a:cs typeface="Times New Roman"/>
              </a:rPr>
              <a:t> </a:t>
            </a:r>
            <a:r>
              <a:rPr sz="2400" spc="-20" dirty="0">
                <a:latin typeface="Times New Roman"/>
                <a:cs typeface="Times New Roman"/>
              </a:rPr>
              <a:t>card</a:t>
            </a:r>
            <a:endParaRPr sz="2400">
              <a:latin typeface="Times New Roman"/>
              <a:cs typeface="Times New Roman"/>
            </a:endParaRPr>
          </a:p>
          <a:p>
            <a:pPr marL="354965" indent="-342265">
              <a:lnSpc>
                <a:spcPct val="100000"/>
              </a:lnSpc>
              <a:spcBef>
                <a:spcPts val="280"/>
              </a:spcBef>
              <a:buClr>
                <a:srgbClr val="053CE8"/>
              </a:buClr>
              <a:buSzPct val="75000"/>
              <a:buFont typeface="Wingdings"/>
              <a:buChar char=""/>
              <a:tabLst>
                <a:tab pos="354965" algn="l"/>
              </a:tabLst>
            </a:pPr>
            <a:r>
              <a:rPr sz="2400" spc="-10" dirty="0">
                <a:latin typeface="Times New Roman"/>
                <a:cs typeface="Times New Roman"/>
              </a:rPr>
              <a:t>Alternatives:</a:t>
            </a:r>
            <a:endParaRPr sz="2400">
              <a:latin typeface="Times New Roman"/>
              <a:cs typeface="Times New Roman"/>
            </a:endParaRPr>
          </a:p>
          <a:p>
            <a:pPr marL="755015" lvl="1" indent="-285115">
              <a:lnSpc>
                <a:spcPct val="100000"/>
              </a:lnSpc>
              <a:spcBef>
                <a:spcPts val="280"/>
              </a:spcBef>
              <a:buSzPct val="66666"/>
              <a:buFont typeface="Wingdings"/>
              <a:buChar char=""/>
              <a:tabLst>
                <a:tab pos="755015" algn="l"/>
              </a:tabLst>
            </a:pPr>
            <a:r>
              <a:rPr sz="2400" spc="-10" dirty="0">
                <a:latin typeface="Times New Roman"/>
                <a:cs typeface="Times New Roman"/>
              </a:rPr>
              <a:t>Microsoft’s</a:t>
            </a:r>
            <a:r>
              <a:rPr sz="2400" spc="-40" dirty="0">
                <a:latin typeface="Times New Roman"/>
                <a:cs typeface="Times New Roman"/>
              </a:rPr>
              <a:t> </a:t>
            </a:r>
            <a:r>
              <a:rPr sz="2400" dirty="0">
                <a:latin typeface="Times New Roman"/>
                <a:cs typeface="Times New Roman"/>
              </a:rPr>
              <a:t>Remote</a:t>
            </a:r>
            <a:r>
              <a:rPr sz="2400" spc="-35" dirty="0">
                <a:latin typeface="Times New Roman"/>
                <a:cs typeface="Times New Roman"/>
              </a:rPr>
              <a:t> </a:t>
            </a:r>
            <a:r>
              <a:rPr sz="2400" dirty="0">
                <a:latin typeface="Times New Roman"/>
                <a:cs typeface="Times New Roman"/>
              </a:rPr>
              <a:t>Display</a:t>
            </a:r>
            <a:r>
              <a:rPr sz="2400" spc="-35" dirty="0">
                <a:latin typeface="Times New Roman"/>
                <a:cs typeface="Times New Roman"/>
              </a:rPr>
              <a:t> </a:t>
            </a:r>
            <a:r>
              <a:rPr sz="2400" dirty="0">
                <a:latin typeface="Times New Roman"/>
                <a:cs typeface="Times New Roman"/>
              </a:rPr>
              <a:t>Protocol</a:t>
            </a:r>
            <a:r>
              <a:rPr sz="2400" spc="-35" dirty="0">
                <a:latin typeface="Times New Roman"/>
                <a:cs typeface="Times New Roman"/>
              </a:rPr>
              <a:t> </a:t>
            </a:r>
            <a:r>
              <a:rPr sz="2400" spc="-10" dirty="0">
                <a:latin typeface="Times New Roman"/>
                <a:cs typeface="Times New Roman"/>
              </a:rPr>
              <a:t>(RDP)</a:t>
            </a:r>
            <a:endParaRPr sz="2400">
              <a:latin typeface="Times New Roman"/>
              <a:cs typeface="Times New Roman"/>
            </a:endParaRPr>
          </a:p>
          <a:p>
            <a:pPr marL="755015" lvl="1" indent="-285115">
              <a:lnSpc>
                <a:spcPct val="100000"/>
              </a:lnSpc>
              <a:spcBef>
                <a:spcPts val="285"/>
              </a:spcBef>
              <a:buSzPct val="66666"/>
              <a:buFont typeface="Wingdings"/>
              <a:buChar char=""/>
              <a:tabLst>
                <a:tab pos="755015" algn="l"/>
              </a:tabLst>
            </a:pPr>
            <a:r>
              <a:rPr sz="2400" dirty="0">
                <a:latin typeface="Times New Roman"/>
                <a:cs typeface="Times New Roman"/>
              </a:rPr>
              <a:t>Virtual</a:t>
            </a:r>
            <a:r>
              <a:rPr sz="2400" spc="-55" dirty="0">
                <a:latin typeface="Times New Roman"/>
                <a:cs typeface="Times New Roman"/>
              </a:rPr>
              <a:t> </a:t>
            </a:r>
            <a:r>
              <a:rPr sz="2400" dirty="0">
                <a:latin typeface="Times New Roman"/>
                <a:cs typeface="Times New Roman"/>
              </a:rPr>
              <a:t>Network</a:t>
            </a:r>
            <a:r>
              <a:rPr sz="2400" spc="-55" dirty="0">
                <a:latin typeface="Times New Roman"/>
                <a:cs typeface="Times New Roman"/>
              </a:rPr>
              <a:t> </a:t>
            </a:r>
            <a:r>
              <a:rPr sz="2400" dirty="0">
                <a:latin typeface="Times New Roman"/>
                <a:cs typeface="Times New Roman"/>
              </a:rPr>
              <a:t>Computing</a:t>
            </a:r>
            <a:r>
              <a:rPr sz="2400" spc="-55" dirty="0">
                <a:latin typeface="Times New Roman"/>
                <a:cs typeface="Times New Roman"/>
              </a:rPr>
              <a:t> </a:t>
            </a:r>
            <a:r>
              <a:rPr sz="2400" spc="-10" dirty="0">
                <a:latin typeface="Times New Roman"/>
                <a:cs typeface="Times New Roman"/>
              </a:rPr>
              <a:t>(VNC)</a:t>
            </a:r>
            <a:endParaRPr sz="2400">
              <a:latin typeface="Times New Roman"/>
              <a:cs typeface="Times New Roman"/>
            </a:endParaRPr>
          </a:p>
          <a:p>
            <a:pPr marL="755015" lvl="1" indent="-285115">
              <a:lnSpc>
                <a:spcPts val="2755"/>
              </a:lnSpc>
              <a:spcBef>
                <a:spcPts val="280"/>
              </a:spcBef>
              <a:buSzPct val="66666"/>
              <a:buFont typeface="Wingdings"/>
              <a:buChar char=""/>
              <a:tabLst>
                <a:tab pos="755015" algn="l"/>
              </a:tabLst>
            </a:pPr>
            <a:r>
              <a:rPr sz="2400" dirty="0">
                <a:latin typeface="Times New Roman"/>
                <a:cs typeface="Times New Roman"/>
              </a:rPr>
              <a:t>X</a:t>
            </a:r>
            <a:r>
              <a:rPr sz="2400" spc="-15" dirty="0">
                <a:latin typeface="Times New Roman"/>
                <a:cs typeface="Times New Roman"/>
              </a:rPr>
              <a:t> </a:t>
            </a:r>
            <a:r>
              <a:rPr sz="2400" dirty="0">
                <a:latin typeface="Times New Roman"/>
                <a:cs typeface="Times New Roman"/>
              </a:rPr>
              <a:t>Window</a:t>
            </a:r>
            <a:r>
              <a:rPr sz="2400" spc="-15" dirty="0">
                <a:latin typeface="Times New Roman"/>
                <a:cs typeface="Times New Roman"/>
              </a:rPr>
              <a:t> </a:t>
            </a:r>
            <a:r>
              <a:rPr sz="2400" dirty="0">
                <a:latin typeface="Times New Roman"/>
                <a:cs typeface="Times New Roman"/>
              </a:rPr>
              <a:t>System</a:t>
            </a:r>
            <a:r>
              <a:rPr sz="2400" spc="-15" dirty="0">
                <a:latin typeface="Times New Roman"/>
                <a:cs typeface="Times New Roman"/>
              </a:rPr>
              <a:t> </a:t>
            </a:r>
            <a:r>
              <a:rPr sz="2400" spc="-10" dirty="0">
                <a:latin typeface="Times New Roman"/>
                <a:cs typeface="Times New Roman"/>
              </a:rPr>
              <a:t>(X11)</a:t>
            </a:r>
            <a:endParaRPr sz="2400">
              <a:latin typeface="Times New Roman"/>
              <a:cs typeface="Times New Roman"/>
            </a:endParaRPr>
          </a:p>
          <a:p>
            <a:pPr marL="48895">
              <a:lnSpc>
                <a:spcPts val="1315"/>
              </a:lnSpc>
            </a:pPr>
            <a:endParaRPr sz="1200">
              <a:latin typeface="Times New Roman"/>
              <a:cs typeface="Times New Roman"/>
            </a:endParaRPr>
          </a:p>
        </p:txBody>
      </p:sp>
      <p:sp>
        <p:nvSpPr>
          <p:cNvPr id="7" name="Slide Number Placeholder 6">
            <a:extLst>
              <a:ext uri="{FF2B5EF4-FFF2-40B4-BE49-F238E27FC236}">
                <a16:creationId xmlns:a16="http://schemas.microsoft.com/office/drawing/2014/main" id="{6EDC05B8-162D-4C7A-2AD6-4629A385F0B0}"/>
              </a:ext>
            </a:extLst>
          </p:cNvPr>
          <p:cNvSpPr>
            <a:spLocks noGrp="1"/>
          </p:cNvSpPr>
          <p:nvPr>
            <p:ph type="sldNum" sz="quarter" idx="7"/>
          </p:nvPr>
        </p:nvSpPr>
        <p:spPr>
          <a:xfrm>
            <a:off x="4330700" y="6579869"/>
            <a:ext cx="774700" cy="278131"/>
          </a:xfrm>
        </p:spPr>
        <p:txBody>
          <a:bodyPr/>
          <a:lstStyle/>
          <a:p>
            <a:pPr marL="12700">
              <a:lnSpc>
                <a:spcPts val="2065"/>
              </a:lnSpc>
            </a:pPr>
            <a:fld id="{81D60167-4931-47E6-BA6A-407CBD079E47}" type="slidenum">
              <a:rPr spc="-50" smtClean="0"/>
              <a:t>29</a:t>
            </a:fld>
            <a:endParaRPr spc="-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508247" y="992124"/>
            <a:ext cx="1945639" cy="1704339"/>
            <a:chOff x="3508247" y="992124"/>
            <a:chExt cx="1945639" cy="1704339"/>
          </a:xfrm>
        </p:grpSpPr>
        <p:sp>
          <p:nvSpPr>
            <p:cNvPr id="3" name="object 3"/>
            <p:cNvSpPr/>
            <p:nvPr/>
          </p:nvSpPr>
          <p:spPr>
            <a:xfrm>
              <a:off x="4324349" y="992124"/>
              <a:ext cx="1129665" cy="746125"/>
            </a:xfrm>
            <a:custGeom>
              <a:avLst/>
              <a:gdLst/>
              <a:ahLst/>
              <a:cxnLst/>
              <a:rect l="l" t="t" r="r" b="b"/>
              <a:pathLst>
                <a:path w="1129664" h="746125">
                  <a:moveTo>
                    <a:pt x="1129284" y="745997"/>
                  </a:moveTo>
                  <a:lnTo>
                    <a:pt x="1129284" y="0"/>
                  </a:lnTo>
                  <a:lnTo>
                    <a:pt x="0" y="0"/>
                  </a:lnTo>
                  <a:lnTo>
                    <a:pt x="0" y="745997"/>
                  </a:lnTo>
                  <a:lnTo>
                    <a:pt x="1129284" y="745997"/>
                  </a:lnTo>
                  <a:close/>
                </a:path>
              </a:pathLst>
            </a:custGeom>
            <a:solidFill>
              <a:srgbClr val="C0C0C0"/>
            </a:solidFill>
          </p:spPr>
          <p:txBody>
            <a:bodyPr wrap="square" lIns="0" tIns="0" rIns="0" bIns="0" rtlCol="0"/>
            <a:lstStyle/>
            <a:p>
              <a:endParaRPr/>
            </a:p>
          </p:txBody>
        </p:sp>
        <p:sp>
          <p:nvSpPr>
            <p:cNvPr id="4" name="object 4"/>
            <p:cNvSpPr/>
            <p:nvPr/>
          </p:nvSpPr>
          <p:spPr>
            <a:xfrm>
              <a:off x="4353305" y="1020318"/>
              <a:ext cx="1059180" cy="683895"/>
            </a:xfrm>
            <a:custGeom>
              <a:avLst/>
              <a:gdLst/>
              <a:ahLst/>
              <a:cxnLst/>
              <a:rect l="l" t="t" r="r" b="b"/>
              <a:pathLst>
                <a:path w="1059179" h="683894">
                  <a:moveTo>
                    <a:pt x="1059179" y="683513"/>
                  </a:moveTo>
                  <a:lnTo>
                    <a:pt x="1059179" y="0"/>
                  </a:lnTo>
                  <a:lnTo>
                    <a:pt x="0" y="0"/>
                  </a:lnTo>
                  <a:lnTo>
                    <a:pt x="0" y="683513"/>
                  </a:lnTo>
                  <a:lnTo>
                    <a:pt x="1059179" y="683513"/>
                  </a:lnTo>
                  <a:close/>
                </a:path>
              </a:pathLst>
            </a:custGeom>
            <a:solidFill>
              <a:srgbClr val="7F7F7F"/>
            </a:solidFill>
          </p:spPr>
          <p:txBody>
            <a:bodyPr wrap="square" lIns="0" tIns="0" rIns="0" bIns="0" rtlCol="0"/>
            <a:lstStyle/>
            <a:p>
              <a:endParaRPr/>
            </a:p>
          </p:txBody>
        </p:sp>
        <p:sp>
          <p:nvSpPr>
            <p:cNvPr id="5" name="object 5"/>
            <p:cNvSpPr/>
            <p:nvPr/>
          </p:nvSpPr>
          <p:spPr>
            <a:xfrm>
              <a:off x="4364735" y="1101852"/>
              <a:ext cx="463550" cy="631190"/>
            </a:xfrm>
            <a:custGeom>
              <a:avLst/>
              <a:gdLst/>
              <a:ahLst/>
              <a:cxnLst/>
              <a:rect l="l" t="t" r="r" b="b"/>
              <a:pathLst>
                <a:path w="463550" h="631189">
                  <a:moveTo>
                    <a:pt x="0" y="630936"/>
                  </a:moveTo>
                  <a:lnTo>
                    <a:pt x="463295" y="0"/>
                  </a:lnTo>
                </a:path>
              </a:pathLst>
            </a:custGeom>
            <a:ln w="30480">
              <a:solidFill>
                <a:srgbClr val="000000"/>
              </a:solidFill>
            </a:ln>
          </p:spPr>
          <p:txBody>
            <a:bodyPr wrap="square" lIns="0" tIns="0" rIns="0" bIns="0" rtlCol="0"/>
            <a:lstStyle/>
            <a:p>
              <a:endParaRPr/>
            </a:p>
          </p:txBody>
        </p:sp>
        <p:sp>
          <p:nvSpPr>
            <p:cNvPr id="6" name="object 6"/>
            <p:cNvSpPr/>
            <p:nvPr/>
          </p:nvSpPr>
          <p:spPr>
            <a:xfrm>
              <a:off x="3525774" y="1251965"/>
              <a:ext cx="1028065" cy="1216660"/>
            </a:xfrm>
            <a:custGeom>
              <a:avLst/>
              <a:gdLst/>
              <a:ahLst/>
              <a:cxnLst/>
              <a:rect l="l" t="t" r="r" b="b"/>
              <a:pathLst>
                <a:path w="1028064" h="1216660">
                  <a:moveTo>
                    <a:pt x="546354" y="147828"/>
                  </a:moveTo>
                  <a:lnTo>
                    <a:pt x="538810" y="101155"/>
                  </a:lnTo>
                  <a:lnTo>
                    <a:pt x="517842" y="60579"/>
                  </a:lnTo>
                  <a:lnTo>
                    <a:pt x="485940" y="28562"/>
                  </a:lnTo>
                  <a:lnTo>
                    <a:pt x="445592" y="7556"/>
                  </a:lnTo>
                  <a:lnTo>
                    <a:pt x="399288" y="0"/>
                  </a:lnTo>
                  <a:lnTo>
                    <a:pt x="352602" y="7556"/>
                  </a:lnTo>
                  <a:lnTo>
                    <a:pt x="312026" y="28562"/>
                  </a:lnTo>
                  <a:lnTo>
                    <a:pt x="280009" y="60579"/>
                  </a:lnTo>
                  <a:lnTo>
                    <a:pt x="259003" y="101155"/>
                  </a:lnTo>
                  <a:lnTo>
                    <a:pt x="251460" y="147828"/>
                  </a:lnTo>
                  <a:lnTo>
                    <a:pt x="259003" y="194513"/>
                  </a:lnTo>
                  <a:lnTo>
                    <a:pt x="280009" y="235089"/>
                  </a:lnTo>
                  <a:lnTo>
                    <a:pt x="312026" y="267106"/>
                  </a:lnTo>
                  <a:lnTo>
                    <a:pt x="352602" y="288112"/>
                  </a:lnTo>
                  <a:lnTo>
                    <a:pt x="399288" y="295656"/>
                  </a:lnTo>
                  <a:lnTo>
                    <a:pt x="445592" y="288112"/>
                  </a:lnTo>
                  <a:lnTo>
                    <a:pt x="485940" y="267106"/>
                  </a:lnTo>
                  <a:lnTo>
                    <a:pt x="517842" y="235089"/>
                  </a:lnTo>
                  <a:lnTo>
                    <a:pt x="538810" y="194513"/>
                  </a:lnTo>
                  <a:lnTo>
                    <a:pt x="546354" y="147828"/>
                  </a:lnTo>
                  <a:close/>
                </a:path>
                <a:path w="1028064" h="1216660">
                  <a:moveTo>
                    <a:pt x="1027938" y="390906"/>
                  </a:moveTo>
                  <a:lnTo>
                    <a:pt x="875538" y="288798"/>
                  </a:lnTo>
                  <a:lnTo>
                    <a:pt x="779526" y="416052"/>
                  </a:lnTo>
                  <a:lnTo>
                    <a:pt x="755142" y="441960"/>
                  </a:lnTo>
                  <a:lnTo>
                    <a:pt x="558546" y="325374"/>
                  </a:lnTo>
                  <a:lnTo>
                    <a:pt x="480060" y="325374"/>
                  </a:lnTo>
                  <a:lnTo>
                    <a:pt x="430530" y="436626"/>
                  </a:lnTo>
                  <a:lnTo>
                    <a:pt x="407670" y="392430"/>
                  </a:lnTo>
                  <a:lnTo>
                    <a:pt x="432054" y="323850"/>
                  </a:lnTo>
                  <a:lnTo>
                    <a:pt x="360426" y="323850"/>
                  </a:lnTo>
                  <a:lnTo>
                    <a:pt x="384810" y="393192"/>
                  </a:lnTo>
                  <a:lnTo>
                    <a:pt x="360426" y="436626"/>
                  </a:lnTo>
                  <a:lnTo>
                    <a:pt x="304800" y="325374"/>
                  </a:lnTo>
                  <a:lnTo>
                    <a:pt x="245364" y="325374"/>
                  </a:lnTo>
                  <a:lnTo>
                    <a:pt x="166116" y="370332"/>
                  </a:lnTo>
                  <a:lnTo>
                    <a:pt x="0" y="608076"/>
                  </a:lnTo>
                  <a:lnTo>
                    <a:pt x="7620" y="717042"/>
                  </a:lnTo>
                  <a:lnTo>
                    <a:pt x="120396" y="801624"/>
                  </a:lnTo>
                  <a:lnTo>
                    <a:pt x="212598" y="862584"/>
                  </a:lnTo>
                  <a:lnTo>
                    <a:pt x="325374" y="723900"/>
                  </a:lnTo>
                  <a:lnTo>
                    <a:pt x="280416" y="688086"/>
                  </a:lnTo>
                  <a:lnTo>
                    <a:pt x="246888" y="655320"/>
                  </a:lnTo>
                  <a:lnTo>
                    <a:pt x="321564" y="536448"/>
                  </a:lnTo>
                  <a:lnTo>
                    <a:pt x="542544" y="686562"/>
                  </a:lnTo>
                  <a:lnTo>
                    <a:pt x="327660" y="981456"/>
                  </a:lnTo>
                  <a:lnTo>
                    <a:pt x="115824" y="830580"/>
                  </a:lnTo>
                  <a:lnTo>
                    <a:pt x="115824" y="1014984"/>
                  </a:lnTo>
                  <a:lnTo>
                    <a:pt x="147828" y="1014984"/>
                  </a:lnTo>
                  <a:lnTo>
                    <a:pt x="147828" y="1216152"/>
                  </a:lnTo>
                  <a:lnTo>
                    <a:pt x="637794" y="1216152"/>
                  </a:lnTo>
                  <a:lnTo>
                    <a:pt x="637794" y="1015746"/>
                  </a:lnTo>
                  <a:lnTo>
                    <a:pt x="675132" y="1016508"/>
                  </a:lnTo>
                  <a:lnTo>
                    <a:pt x="675132" y="640842"/>
                  </a:lnTo>
                  <a:lnTo>
                    <a:pt x="719328" y="672846"/>
                  </a:lnTo>
                  <a:lnTo>
                    <a:pt x="813054" y="672846"/>
                  </a:lnTo>
                  <a:lnTo>
                    <a:pt x="823722" y="659130"/>
                  </a:lnTo>
                  <a:lnTo>
                    <a:pt x="893826" y="560832"/>
                  </a:lnTo>
                  <a:lnTo>
                    <a:pt x="1027938" y="390906"/>
                  </a:lnTo>
                  <a:close/>
                </a:path>
              </a:pathLst>
            </a:custGeom>
            <a:solidFill>
              <a:srgbClr val="FF0000"/>
            </a:solidFill>
          </p:spPr>
          <p:txBody>
            <a:bodyPr wrap="square" lIns="0" tIns="0" rIns="0" bIns="0" rtlCol="0"/>
            <a:lstStyle/>
            <a:p>
              <a:endParaRPr/>
            </a:p>
          </p:txBody>
        </p:sp>
        <p:pic>
          <p:nvPicPr>
            <p:cNvPr id="7" name="object 7"/>
            <p:cNvPicPr/>
            <p:nvPr/>
          </p:nvPicPr>
          <p:blipFill>
            <a:blip r:embed="rId2" cstate="print"/>
            <a:stretch>
              <a:fillRect/>
            </a:stretch>
          </p:blipFill>
          <p:spPr>
            <a:xfrm>
              <a:off x="3687317" y="1577340"/>
              <a:ext cx="144779" cy="108965"/>
            </a:xfrm>
            <a:prstGeom prst="rect">
              <a:avLst/>
            </a:prstGeom>
          </p:spPr>
        </p:pic>
        <p:pic>
          <p:nvPicPr>
            <p:cNvPr id="8" name="object 8"/>
            <p:cNvPicPr/>
            <p:nvPr/>
          </p:nvPicPr>
          <p:blipFill>
            <a:blip r:embed="rId3" cstate="print"/>
            <a:stretch>
              <a:fillRect/>
            </a:stretch>
          </p:blipFill>
          <p:spPr>
            <a:xfrm>
              <a:off x="3508247" y="1840991"/>
              <a:ext cx="116586" cy="137921"/>
            </a:xfrm>
            <a:prstGeom prst="rect">
              <a:avLst/>
            </a:prstGeom>
          </p:spPr>
        </p:pic>
        <p:pic>
          <p:nvPicPr>
            <p:cNvPr id="9" name="object 9"/>
            <p:cNvPicPr/>
            <p:nvPr/>
          </p:nvPicPr>
          <p:blipFill>
            <a:blip r:embed="rId4" cstate="print"/>
            <a:stretch>
              <a:fillRect/>
            </a:stretch>
          </p:blipFill>
          <p:spPr>
            <a:xfrm>
              <a:off x="4226813" y="1833372"/>
              <a:ext cx="129539" cy="106679"/>
            </a:xfrm>
            <a:prstGeom prst="rect">
              <a:avLst/>
            </a:prstGeom>
          </p:spPr>
        </p:pic>
        <p:sp>
          <p:nvSpPr>
            <p:cNvPr id="10" name="object 10"/>
            <p:cNvSpPr/>
            <p:nvPr/>
          </p:nvSpPr>
          <p:spPr>
            <a:xfrm>
              <a:off x="4373118" y="2170175"/>
              <a:ext cx="478790" cy="525780"/>
            </a:xfrm>
            <a:custGeom>
              <a:avLst/>
              <a:gdLst/>
              <a:ahLst/>
              <a:cxnLst/>
              <a:rect l="l" t="t" r="r" b="b"/>
              <a:pathLst>
                <a:path w="478789" h="525780">
                  <a:moveTo>
                    <a:pt x="478536" y="99060"/>
                  </a:moveTo>
                  <a:lnTo>
                    <a:pt x="395465" y="99060"/>
                  </a:lnTo>
                  <a:lnTo>
                    <a:pt x="395465" y="0"/>
                  </a:lnTo>
                  <a:lnTo>
                    <a:pt x="77724" y="0"/>
                  </a:lnTo>
                  <a:lnTo>
                    <a:pt x="77724" y="99060"/>
                  </a:lnTo>
                  <a:lnTo>
                    <a:pt x="0" y="99060"/>
                  </a:lnTo>
                  <a:lnTo>
                    <a:pt x="0" y="525780"/>
                  </a:lnTo>
                  <a:lnTo>
                    <a:pt x="478536" y="525780"/>
                  </a:lnTo>
                  <a:lnTo>
                    <a:pt x="478536" y="99060"/>
                  </a:lnTo>
                  <a:close/>
                </a:path>
              </a:pathLst>
            </a:custGeom>
            <a:solidFill>
              <a:srgbClr val="007F00"/>
            </a:solidFill>
          </p:spPr>
          <p:txBody>
            <a:bodyPr wrap="square" lIns="0" tIns="0" rIns="0" bIns="0" rtlCol="0"/>
            <a:lstStyle/>
            <a:p>
              <a:endParaRPr/>
            </a:p>
          </p:txBody>
        </p:sp>
        <p:pic>
          <p:nvPicPr>
            <p:cNvPr id="11" name="object 11"/>
            <p:cNvPicPr/>
            <p:nvPr/>
          </p:nvPicPr>
          <p:blipFill>
            <a:blip r:embed="rId5" cstate="print"/>
            <a:stretch>
              <a:fillRect/>
            </a:stretch>
          </p:blipFill>
          <p:spPr>
            <a:xfrm>
              <a:off x="4673345" y="2168652"/>
              <a:ext cx="176022" cy="190500"/>
            </a:xfrm>
            <a:prstGeom prst="rect">
              <a:avLst/>
            </a:prstGeom>
          </p:spPr>
        </p:pic>
        <p:pic>
          <p:nvPicPr>
            <p:cNvPr id="12" name="object 12"/>
            <p:cNvPicPr/>
            <p:nvPr/>
          </p:nvPicPr>
          <p:blipFill>
            <a:blip r:embed="rId6" cstate="print"/>
            <a:stretch>
              <a:fillRect/>
            </a:stretch>
          </p:blipFill>
          <p:spPr>
            <a:xfrm>
              <a:off x="4372355" y="2168652"/>
              <a:ext cx="168401" cy="197358"/>
            </a:xfrm>
            <a:prstGeom prst="rect">
              <a:avLst/>
            </a:prstGeom>
          </p:spPr>
        </p:pic>
        <p:sp>
          <p:nvSpPr>
            <p:cNvPr id="13" name="object 13"/>
            <p:cNvSpPr/>
            <p:nvPr/>
          </p:nvSpPr>
          <p:spPr>
            <a:xfrm>
              <a:off x="4466081" y="1844802"/>
              <a:ext cx="295275" cy="294640"/>
            </a:xfrm>
            <a:custGeom>
              <a:avLst/>
              <a:gdLst/>
              <a:ahLst/>
              <a:cxnLst/>
              <a:rect l="l" t="t" r="r" b="b"/>
              <a:pathLst>
                <a:path w="295275" h="294639">
                  <a:moveTo>
                    <a:pt x="294894" y="147065"/>
                  </a:moveTo>
                  <a:lnTo>
                    <a:pt x="287353" y="100754"/>
                  </a:lnTo>
                  <a:lnTo>
                    <a:pt x="266389" y="60405"/>
                  </a:lnTo>
                  <a:lnTo>
                    <a:pt x="234488" y="28504"/>
                  </a:lnTo>
                  <a:lnTo>
                    <a:pt x="194139" y="7540"/>
                  </a:lnTo>
                  <a:lnTo>
                    <a:pt x="147828" y="0"/>
                  </a:lnTo>
                  <a:lnTo>
                    <a:pt x="101144" y="7540"/>
                  </a:lnTo>
                  <a:lnTo>
                    <a:pt x="60569" y="28504"/>
                  </a:lnTo>
                  <a:lnTo>
                    <a:pt x="28553" y="60405"/>
                  </a:lnTo>
                  <a:lnTo>
                    <a:pt x="7546" y="100754"/>
                  </a:lnTo>
                  <a:lnTo>
                    <a:pt x="0" y="147065"/>
                  </a:lnTo>
                  <a:lnTo>
                    <a:pt x="7546" y="193377"/>
                  </a:lnTo>
                  <a:lnTo>
                    <a:pt x="28553" y="233726"/>
                  </a:lnTo>
                  <a:lnTo>
                    <a:pt x="60569" y="265627"/>
                  </a:lnTo>
                  <a:lnTo>
                    <a:pt x="101144" y="286591"/>
                  </a:lnTo>
                  <a:lnTo>
                    <a:pt x="147828" y="294131"/>
                  </a:lnTo>
                  <a:lnTo>
                    <a:pt x="194139" y="286591"/>
                  </a:lnTo>
                  <a:lnTo>
                    <a:pt x="234488" y="265627"/>
                  </a:lnTo>
                  <a:lnTo>
                    <a:pt x="266389" y="233726"/>
                  </a:lnTo>
                  <a:lnTo>
                    <a:pt x="287353" y="193377"/>
                  </a:lnTo>
                  <a:lnTo>
                    <a:pt x="294894" y="147065"/>
                  </a:lnTo>
                  <a:close/>
                </a:path>
              </a:pathLst>
            </a:custGeom>
            <a:solidFill>
              <a:srgbClr val="007F00"/>
            </a:solidFill>
          </p:spPr>
          <p:txBody>
            <a:bodyPr wrap="square" lIns="0" tIns="0" rIns="0" bIns="0" rtlCol="0"/>
            <a:lstStyle/>
            <a:p>
              <a:endParaRPr/>
            </a:p>
          </p:txBody>
        </p:sp>
        <p:sp>
          <p:nvSpPr>
            <p:cNvPr id="14" name="object 14"/>
            <p:cNvSpPr/>
            <p:nvPr/>
          </p:nvSpPr>
          <p:spPr>
            <a:xfrm>
              <a:off x="4888992" y="1844801"/>
              <a:ext cx="478790" cy="851535"/>
            </a:xfrm>
            <a:custGeom>
              <a:avLst/>
              <a:gdLst/>
              <a:ahLst/>
              <a:cxnLst/>
              <a:rect l="l" t="t" r="r" b="b"/>
              <a:pathLst>
                <a:path w="478789" h="851535">
                  <a:moveTo>
                    <a:pt x="387858" y="147066"/>
                  </a:moveTo>
                  <a:lnTo>
                    <a:pt x="380314" y="100761"/>
                  </a:lnTo>
                  <a:lnTo>
                    <a:pt x="359346" y="60413"/>
                  </a:lnTo>
                  <a:lnTo>
                    <a:pt x="327444" y="28511"/>
                  </a:lnTo>
                  <a:lnTo>
                    <a:pt x="287096" y="7543"/>
                  </a:lnTo>
                  <a:lnTo>
                    <a:pt x="240792" y="0"/>
                  </a:lnTo>
                  <a:lnTo>
                    <a:pt x="194106" y="7543"/>
                  </a:lnTo>
                  <a:lnTo>
                    <a:pt x="153530" y="28511"/>
                  </a:lnTo>
                  <a:lnTo>
                    <a:pt x="121513" y="60413"/>
                  </a:lnTo>
                  <a:lnTo>
                    <a:pt x="100507" y="100761"/>
                  </a:lnTo>
                  <a:lnTo>
                    <a:pt x="92964" y="147066"/>
                  </a:lnTo>
                  <a:lnTo>
                    <a:pt x="100507" y="193382"/>
                  </a:lnTo>
                  <a:lnTo>
                    <a:pt x="121513" y="233730"/>
                  </a:lnTo>
                  <a:lnTo>
                    <a:pt x="153530" y="265633"/>
                  </a:lnTo>
                  <a:lnTo>
                    <a:pt x="194106" y="286600"/>
                  </a:lnTo>
                  <a:lnTo>
                    <a:pt x="240792" y="294132"/>
                  </a:lnTo>
                  <a:lnTo>
                    <a:pt x="287096" y="286600"/>
                  </a:lnTo>
                  <a:lnTo>
                    <a:pt x="327444" y="265633"/>
                  </a:lnTo>
                  <a:lnTo>
                    <a:pt x="359346" y="233730"/>
                  </a:lnTo>
                  <a:lnTo>
                    <a:pt x="380314" y="193382"/>
                  </a:lnTo>
                  <a:lnTo>
                    <a:pt x="387858" y="147066"/>
                  </a:lnTo>
                  <a:close/>
                </a:path>
                <a:path w="478789" h="851535">
                  <a:moveTo>
                    <a:pt x="478536" y="424434"/>
                  </a:moveTo>
                  <a:lnTo>
                    <a:pt x="395465" y="424434"/>
                  </a:lnTo>
                  <a:lnTo>
                    <a:pt x="395465" y="325374"/>
                  </a:lnTo>
                  <a:lnTo>
                    <a:pt x="76962" y="325374"/>
                  </a:lnTo>
                  <a:lnTo>
                    <a:pt x="76962" y="424434"/>
                  </a:lnTo>
                  <a:lnTo>
                    <a:pt x="0" y="424434"/>
                  </a:lnTo>
                  <a:lnTo>
                    <a:pt x="0" y="851154"/>
                  </a:lnTo>
                  <a:lnTo>
                    <a:pt x="478536" y="851154"/>
                  </a:lnTo>
                  <a:lnTo>
                    <a:pt x="478536" y="424434"/>
                  </a:lnTo>
                  <a:close/>
                </a:path>
              </a:pathLst>
            </a:custGeom>
            <a:solidFill>
              <a:srgbClr val="007F7F"/>
            </a:solidFill>
          </p:spPr>
          <p:txBody>
            <a:bodyPr wrap="square" lIns="0" tIns="0" rIns="0" bIns="0" rtlCol="0"/>
            <a:lstStyle/>
            <a:p>
              <a:endParaRPr/>
            </a:p>
          </p:txBody>
        </p:sp>
        <p:pic>
          <p:nvPicPr>
            <p:cNvPr id="15" name="object 15"/>
            <p:cNvPicPr/>
            <p:nvPr/>
          </p:nvPicPr>
          <p:blipFill>
            <a:blip r:embed="rId7" cstate="print"/>
            <a:stretch>
              <a:fillRect/>
            </a:stretch>
          </p:blipFill>
          <p:spPr>
            <a:xfrm>
              <a:off x="4888229" y="2168652"/>
              <a:ext cx="168401" cy="197358"/>
            </a:xfrm>
            <a:prstGeom prst="rect">
              <a:avLst/>
            </a:prstGeom>
          </p:spPr>
        </p:pic>
        <p:pic>
          <p:nvPicPr>
            <p:cNvPr id="16" name="object 16"/>
            <p:cNvPicPr/>
            <p:nvPr/>
          </p:nvPicPr>
          <p:blipFill>
            <a:blip r:embed="rId8" cstate="print"/>
            <a:stretch>
              <a:fillRect/>
            </a:stretch>
          </p:blipFill>
          <p:spPr>
            <a:xfrm>
              <a:off x="5189219" y="2168652"/>
              <a:ext cx="176784" cy="190500"/>
            </a:xfrm>
            <a:prstGeom prst="rect">
              <a:avLst/>
            </a:prstGeom>
          </p:spPr>
        </p:pic>
      </p:grpSp>
      <p:sp>
        <p:nvSpPr>
          <p:cNvPr id="17" name="object 17"/>
          <p:cNvSpPr txBox="1">
            <a:spLocks noGrp="1"/>
          </p:cNvSpPr>
          <p:nvPr>
            <p:ph type="title"/>
          </p:nvPr>
        </p:nvSpPr>
        <p:spPr>
          <a:xfrm>
            <a:off x="458825" y="385427"/>
            <a:ext cx="8304175" cy="574040"/>
          </a:xfrm>
          <a:prstGeom prst="rect">
            <a:avLst/>
          </a:prstGeom>
        </p:spPr>
        <p:txBody>
          <a:bodyPr vert="horz" wrap="square" lIns="0" tIns="12700" rIns="0" bIns="0" rtlCol="0">
            <a:spAutoFit/>
          </a:bodyPr>
          <a:lstStyle/>
          <a:p>
            <a:pPr marL="3152775">
              <a:lnSpc>
                <a:spcPct val="100000"/>
              </a:lnSpc>
              <a:spcBef>
                <a:spcPts val="100"/>
              </a:spcBef>
            </a:pPr>
            <a:r>
              <a:rPr spc="-10" dirty="0"/>
              <a:t>Summary</a:t>
            </a:r>
          </a:p>
        </p:txBody>
      </p:sp>
      <p:sp>
        <p:nvSpPr>
          <p:cNvPr id="18" name="object 18"/>
          <p:cNvSpPr txBox="1"/>
          <p:nvPr/>
        </p:nvSpPr>
        <p:spPr>
          <a:xfrm>
            <a:off x="457454" y="2706878"/>
            <a:ext cx="8305546" cy="3645229"/>
          </a:xfrm>
          <a:prstGeom prst="rect">
            <a:avLst/>
          </a:prstGeom>
        </p:spPr>
        <p:txBody>
          <a:bodyPr vert="horz" wrap="square" lIns="0" tIns="13335" rIns="0" bIns="0" rtlCol="0">
            <a:spAutoFit/>
          </a:bodyPr>
          <a:lstStyle/>
          <a:p>
            <a:pPr marL="393065" marR="334010" indent="-381000">
              <a:lnSpc>
                <a:spcPct val="99800"/>
              </a:lnSpc>
              <a:spcBef>
                <a:spcPts val="105"/>
              </a:spcBef>
              <a:buClr>
                <a:srgbClr val="053CE8"/>
              </a:buClr>
              <a:buAutoNum type="arabicPeriod"/>
              <a:tabLst>
                <a:tab pos="393065" algn="l"/>
              </a:tabLst>
            </a:pPr>
            <a:r>
              <a:rPr sz="2400" dirty="0">
                <a:latin typeface="Times New Roman"/>
                <a:cs typeface="Times New Roman"/>
              </a:rPr>
              <a:t>Virtualization</a:t>
            </a:r>
            <a:r>
              <a:rPr sz="2400" spc="-40" dirty="0">
                <a:latin typeface="Times New Roman"/>
                <a:cs typeface="Times New Roman"/>
              </a:rPr>
              <a:t> </a:t>
            </a:r>
            <a:r>
              <a:rPr sz="2400" dirty="0">
                <a:latin typeface="Times New Roman"/>
                <a:cs typeface="Times New Roman"/>
              </a:rPr>
              <a:t>allows</a:t>
            </a:r>
            <a:r>
              <a:rPr sz="2400" spc="-30" dirty="0">
                <a:latin typeface="Times New Roman"/>
                <a:cs typeface="Times New Roman"/>
              </a:rPr>
              <a:t> </a:t>
            </a:r>
            <a:r>
              <a:rPr sz="2400" dirty="0">
                <a:latin typeface="Times New Roman"/>
                <a:cs typeface="Times New Roman"/>
              </a:rPr>
              <a:t>computation</a:t>
            </a:r>
            <a:r>
              <a:rPr sz="2400" spc="-30" dirty="0">
                <a:latin typeface="Times New Roman"/>
                <a:cs typeface="Times New Roman"/>
              </a:rPr>
              <a:t> </a:t>
            </a:r>
            <a:r>
              <a:rPr sz="2400" dirty="0">
                <a:latin typeface="Times New Roman"/>
                <a:cs typeface="Times New Roman"/>
              </a:rPr>
              <a:t>to</a:t>
            </a:r>
            <a:r>
              <a:rPr sz="2400" spc="-30" dirty="0">
                <a:latin typeface="Times New Roman"/>
                <a:cs typeface="Times New Roman"/>
              </a:rPr>
              <a:t> </a:t>
            </a:r>
            <a:r>
              <a:rPr sz="2400" dirty="0">
                <a:latin typeface="Times New Roman"/>
                <a:cs typeface="Times New Roman"/>
              </a:rPr>
              <a:t>be</a:t>
            </a:r>
            <a:r>
              <a:rPr sz="2400" spc="-30" dirty="0">
                <a:latin typeface="Times New Roman"/>
                <a:cs typeface="Times New Roman"/>
              </a:rPr>
              <a:t> </a:t>
            </a:r>
            <a:r>
              <a:rPr sz="2400" dirty="0">
                <a:latin typeface="Times New Roman"/>
                <a:cs typeface="Times New Roman"/>
              </a:rPr>
              <a:t>done</a:t>
            </a:r>
            <a:r>
              <a:rPr sz="2400" spc="-30" dirty="0">
                <a:latin typeface="Times New Roman"/>
                <a:cs typeface="Times New Roman"/>
              </a:rPr>
              <a:t> </a:t>
            </a:r>
            <a:r>
              <a:rPr sz="2400" spc="-10" dirty="0">
                <a:latin typeface="Times New Roman"/>
                <a:cs typeface="Times New Roman"/>
              </a:rPr>
              <a:t>anywhere </a:t>
            </a:r>
            <a:r>
              <a:rPr sz="2400" dirty="0">
                <a:latin typeface="Times New Roman"/>
                <a:cs typeface="Times New Roman"/>
              </a:rPr>
              <a:t>anytime</a:t>
            </a:r>
            <a:r>
              <a:rPr sz="2400" spc="-35" dirty="0">
                <a:latin typeface="Times New Roman"/>
                <a:cs typeface="Times New Roman"/>
              </a:rPr>
              <a:t> </a:t>
            </a:r>
            <a:r>
              <a:rPr sz="2400" dirty="0">
                <a:latin typeface="Times New Roman"/>
                <a:cs typeface="Times New Roman"/>
              </a:rPr>
              <a:t>on</a:t>
            </a:r>
            <a:r>
              <a:rPr sz="2400" spc="-30" dirty="0">
                <a:latin typeface="Times New Roman"/>
                <a:cs typeface="Times New Roman"/>
              </a:rPr>
              <a:t> </a:t>
            </a:r>
            <a:r>
              <a:rPr sz="2400" dirty="0">
                <a:latin typeface="Times New Roman"/>
                <a:cs typeface="Times New Roman"/>
              </a:rPr>
              <a:t>any</a:t>
            </a:r>
            <a:r>
              <a:rPr sz="2400" spc="-30" dirty="0">
                <a:latin typeface="Times New Roman"/>
                <a:cs typeface="Times New Roman"/>
              </a:rPr>
              <a:t> </a:t>
            </a:r>
            <a:r>
              <a:rPr sz="2400" dirty="0">
                <a:latin typeface="Times New Roman"/>
                <a:cs typeface="Times New Roman"/>
              </a:rPr>
              <a:t>infrastructure</a:t>
            </a:r>
            <a:r>
              <a:rPr sz="2400" spc="-45" dirty="0">
                <a:latin typeface="Times New Roman"/>
                <a:cs typeface="Times New Roman"/>
              </a:rPr>
              <a:t> </a:t>
            </a:r>
            <a:r>
              <a:rPr sz="2400" dirty="0">
                <a:latin typeface="Symbol"/>
                <a:cs typeface="Symbol"/>
              </a:rPr>
              <a:t></a:t>
            </a:r>
            <a:r>
              <a:rPr sz="2400" dirty="0">
                <a:latin typeface="Times New Roman"/>
                <a:cs typeface="Times New Roman"/>
              </a:rPr>
              <a:t>Easy</a:t>
            </a:r>
            <a:r>
              <a:rPr sz="2400" spc="-30" dirty="0">
                <a:latin typeface="Times New Roman"/>
                <a:cs typeface="Times New Roman"/>
              </a:rPr>
              <a:t> </a:t>
            </a:r>
            <a:r>
              <a:rPr sz="2400" dirty="0">
                <a:latin typeface="Times New Roman"/>
                <a:cs typeface="Times New Roman"/>
              </a:rPr>
              <a:t>and</a:t>
            </a:r>
            <a:r>
              <a:rPr sz="2400" spc="-30" dirty="0">
                <a:latin typeface="Times New Roman"/>
                <a:cs typeface="Times New Roman"/>
              </a:rPr>
              <a:t> </a:t>
            </a:r>
            <a:r>
              <a:rPr sz="2400" dirty="0">
                <a:latin typeface="Times New Roman"/>
                <a:cs typeface="Times New Roman"/>
              </a:rPr>
              <a:t>efficient</a:t>
            </a:r>
            <a:r>
              <a:rPr sz="2400" spc="-30" dirty="0">
                <a:latin typeface="Times New Roman"/>
                <a:cs typeface="Times New Roman"/>
              </a:rPr>
              <a:t> </a:t>
            </a:r>
            <a:r>
              <a:rPr sz="2400" spc="-10" dirty="0">
                <a:latin typeface="Times New Roman"/>
                <a:cs typeface="Times New Roman"/>
              </a:rPr>
              <a:t>resource </a:t>
            </a:r>
            <a:r>
              <a:rPr sz="2400" dirty="0">
                <a:latin typeface="Times New Roman"/>
                <a:cs typeface="Times New Roman"/>
              </a:rPr>
              <a:t>scheduling</a:t>
            </a:r>
            <a:r>
              <a:rPr sz="2400" spc="-35" dirty="0">
                <a:latin typeface="Times New Roman"/>
                <a:cs typeface="Times New Roman"/>
              </a:rPr>
              <a:t> </a:t>
            </a:r>
            <a:r>
              <a:rPr sz="2400" dirty="0">
                <a:latin typeface="Times New Roman"/>
                <a:cs typeface="Times New Roman"/>
              </a:rPr>
              <a:t>and</a:t>
            </a:r>
            <a:r>
              <a:rPr sz="2400" spc="-30" dirty="0">
                <a:latin typeface="Times New Roman"/>
                <a:cs typeface="Times New Roman"/>
              </a:rPr>
              <a:t> </a:t>
            </a:r>
            <a:r>
              <a:rPr sz="2400" spc="-10" dirty="0">
                <a:latin typeface="Times New Roman"/>
                <a:cs typeface="Times New Roman"/>
              </a:rPr>
              <a:t>management</a:t>
            </a:r>
            <a:endParaRPr sz="2400">
              <a:latin typeface="Times New Roman"/>
              <a:cs typeface="Times New Roman"/>
            </a:endParaRPr>
          </a:p>
          <a:p>
            <a:pPr marL="393065" indent="-380365">
              <a:lnSpc>
                <a:spcPct val="100000"/>
              </a:lnSpc>
              <a:spcBef>
                <a:spcPts val="570"/>
              </a:spcBef>
              <a:buClr>
                <a:srgbClr val="053CE8"/>
              </a:buClr>
              <a:buAutoNum type="arabicPeriod"/>
              <a:tabLst>
                <a:tab pos="393065" algn="l"/>
              </a:tabLst>
            </a:pPr>
            <a:r>
              <a:rPr sz="2400" dirty="0">
                <a:latin typeface="Times New Roman"/>
                <a:cs typeface="Times New Roman"/>
              </a:rPr>
              <a:t>Servers,</a:t>
            </a:r>
            <a:r>
              <a:rPr sz="2400" spc="-35" dirty="0">
                <a:latin typeface="Times New Roman"/>
                <a:cs typeface="Times New Roman"/>
              </a:rPr>
              <a:t> </a:t>
            </a:r>
            <a:r>
              <a:rPr sz="2400" dirty="0">
                <a:latin typeface="Times New Roman"/>
                <a:cs typeface="Times New Roman"/>
              </a:rPr>
              <a:t>storage,</a:t>
            </a:r>
            <a:r>
              <a:rPr sz="2400" spc="-35" dirty="0">
                <a:latin typeface="Times New Roman"/>
                <a:cs typeface="Times New Roman"/>
              </a:rPr>
              <a:t> </a:t>
            </a:r>
            <a:r>
              <a:rPr sz="2400" dirty="0">
                <a:latin typeface="Times New Roman"/>
                <a:cs typeface="Times New Roman"/>
              </a:rPr>
              <a:t>and</a:t>
            </a:r>
            <a:r>
              <a:rPr sz="2400" spc="-30" dirty="0">
                <a:latin typeface="Times New Roman"/>
                <a:cs typeface="Times New Roman"/>
              </a:rPr>
              <a:t> </a:t>
            </a:r>
            <a:r>
              <a:rPr sz="2400" dirty="0">
                <a:latin typeface="Times New Roman"/>
                <a:cs typeface="Times New Roman"/>
              </a:rPr>
              <a:t>network</a:t>
            </a:r>
            <a:r>
              <a:rPr sz="2400" spc="-35" dirty="0">
                <a:latin typeface="Times New Roman"/>
                <a:cs typeface="Times New Roman"/>
              </a:rPr>
              <a:t> </a:t>
            </a:r>
            <a:r>
              <a:rPr sz="2400" dirty="0">
                <a:latin typeface="Times New Roman"/>
                <a:cs typeface="Times New Roman"/>
              </a:rPr>
              <a:t>all</a:t>
            </a:r>
            <a:r>
              <a:rPr sz="2400" spc="-30" dirty="0">
                <a:latin typeface="Times New Roman"/>
                <a:cs typeface="Times New Roman"/>
              </a:rPr>
              <a:t> </a:t>
            </a:r>
            <a:r>
              <a:rPr sz="2400" dirty="0">
                <a:latin typeface="Times New Roman"/>
                <a:cs typeface="Times New Roman"/>
              </a:rPr>
              <a:t>need</a:t>
            </a:r>
            <a:r>
              <a:rPr sz="2400" spc="-35" dirty="0">
                <a:latin typeface="Times New Roman"/>
                <a:cs typeface="Times New Roman"/>
              </a:rPr>
              <a:t> </a:t>
            </a:r>
            <a:r>
              <a:rPr sz="2400" dirty="0">
                <a:latin typeface="Times New Roman"/>
                <a:cs typeface="Times New Roman"/>
              </a:rPr>
              <a:t>to</a:t>
            </a:r>
            <a:r>
              <a:rPr sz="2400" spc="-35" dirty="0">
                <a:latin typeface="Times New Roman"/>
                <a:cs typeface="Times New Roman"/>
              </a:rPr>
              <a:t> </a:t>
            </a:r>
            <a:r>
              <a:rPr sz="2400" dirty="0">
                <a:latin typeface="Times New Roman"/>
                <a:cs typeface="Times New Roman"/>
              </a:rPr>
              <a:t>be</a:t>
            </a:r>
            <a:r>
              <a:rPr sz="2400" spc="-30" dirty="0">
                <a:latin typeface="Times New Roman"/>
                <a:cs typeface="Times New Roman"/>
              </a:rPr>
              <a:t> </a:t>
            </a:r>
            <a:r>
              <a:rPr sz="2400" spc="-10" dirty="0">
                <a:latin typeface="Times New Roman"/>
                <a:cs typeface="Times New Roman"/>
              </a:rPr>
              <a:t>virtualized</a:t>
            </a:r>
            <a:endParaRPr sz="2400">
              <a:latin typeface="Times New Roman"/>
              <a:cs typeface="Times New Roman"/>
            </a:endParaRPr>
          </a:p>
          <a:p>
            <a:pPr marL="393700" marR="5080" indent="-381000">
              <a:lnSpc>
                <a:spcPct val="100000"/>
              </a:lnSpc>
              <a:spcBef>
                <a:spcPts val="565"/>
              </a:spcBef>
              <a:buClr>
                <a:srgbClr val="053CE8"/>
              </a:buClr>
              <a:buAutoNum type="arabicPeriod"/>
              <a:tabLst>
                <a:tab pos="393700" algn="l"/>
              </a:tabLst>
            </a:pPr>
            <a:r>
              <a:rPr sz="2400" spc="-10" dirty="0">
                <a:latin typeface="Times New Roman"/>
                <a:cs typeface="Times New Roman"/>
              </a:rPr>
              <a:t>Hypervisors</a:t>
            </a:r>
            <a:r>
              <a:rPr sz="2400" spc="-25"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dirty="0">
                <a:latin typeface="Times New Roman"/>
                <a:cs typeface="Times New Roman"/>
              </a:rPr>
              <a:t>type</a:t>
            </a:r>
            <a:r>
              <a:rPr sz="2400" spc="-25" dirty="0">
                <a:latin typeface="Times New Roman"/>
                <a:cs typeface="Times New Roman"/>
              </a:rPr>
              <a:t> </a:t>
            </a:r>
            <a:r>
              <a:rPr sz="2400" dirty="0">
                <a:latin typeface="Times New Roman"/>
                <a:cs typeface="Times New Roman"/>
              </a:rPr>
              <a:t>1</a:t>
            </a:r>
            <a:r>
              <a:rPr sz="2400" spc="-25" dirty="0">
                <a:latin typeface="Times New Roman"/>
                <a:cs typeface="Times New Roman"/>
              </a:rPr>
              <a:t> </a:t>
            </a:r>
            <a:r>
              <a:rPr sz="2400" dirty="0">
                <a:latin typeface="Times New Roman"/>
                <a:cs typeface="Times New Roman"/>
              </a:rPr>
              <a:t>run</a:t>
            </a:r>
            <a:r>
              <a:rPr sz="2400" spc="-25" dirty="0">
                <a:latin typeface="Times New Roman"/>
                <a:cs typeface="Times New Roman"/>
              </a:rPr>
              <a:t> </a:t>
            </a:r>
            <a:r>
              <a:rPr sz="2400" dirty="0">
                <a:latin typeface="Times New Roman"/>
                <a:cs typeface="Times New Roman"/>
              </a:rPr>
              <a:t>on</a:t>
            </a:r>
            <a:r>
              <a:rPr sz="2400" spc="-20" dirty="0">
                <a:latin typeface="Times New Roman"/>
                <a:cs typeface="Times New Roman"/>
              </a:rPr>
              <a:t> </a:t>
            </a:r>
            <a:r>
              <a:rPr sz="2400" dirty="0">
                <a:latin typeface="Times New Roman"/>
                <a:cs typeface="Times New Roman"/>
              </a:rPr>
              <a:t>bare</a:t>
            </a:r>
            <a:r>
              <a:rPr sz="2400" spc="-25" dirty="0">
                <a:latin typeface="Times New Roman"/>
                <a:cs typeface="Times New Roman"/>
              </a:rPr>
              <a:t> </a:t>
            </a:r>
            <a:r>
              <a:rPr sz="2400" dirty="0">
                <a:latin typeface="Times New Roman"/>
                <a:cs typeface="Times New Roman"/>
              </a:rPr>
              <a:t>metal.</a:t>
            </a:r>
            <a:r>
              <a:rPr sz="2400" spc="-25" dirty="0">
                <a:latin typeface="Times New Roman"/>
                <a:cs typeface="Times New Roman"/>
              </a:rPr>
              <a:t> </a:t>
            </a:r>
            <a:r>
              <a:rPr sz="2400" dirty="0">
                <a:latin typeface="Times New Roman"/>
                <a:cs typeface="Times New Roman"/>
              </a:rPr>
              <a:t>Type</a:t>
            </a:r>
            <a:r>
              <a:rPr sz="2400" spc="-25" dirty="0">
                <a:latin typeface="Times New Roman"/>
                <a:cs typeface="Times New Roman"/>
              </a:rPr>
              <a:t> </a:t>
            </a:r>
            <a:r>
              <a:rPr sz="2400" dirty="0">
                <a:latin typeface="Times New Roman"/>
                <a:cs typeface="Times New Roman"/>
              </a:rPr>
              <a:t>2</a:t>
            </a:r>
            <a:r>
              <a:rPr sz="2400" spc="-25" dirty="0">
                <a:latin typeface="Times New Roman"/>
                <a:cs typeface="Times New Roman"/>
              </a:rPr>
              <a:t> </a:t>
            </a:r>
            <a:r>
              <a:rPr sz="2400" dirty="0">
                <a:latin typeface="Times New Roman"/>
                <a:cs typeface="Times New Roman"/>
              </a:rPr>
              <a:t>require</a:t>
            </a:r>
            <a:r>
              <a:rPr sz="2400" spc="-25" dirty="0">
                <a:latin typeface="Times New Roman"/>
                <a:cs typeface="Times New Roman"/>
              </a:rPr>
              <a:t> </a:t>
            </a:r>
            <a:r>
              <a:rPr sz="2400" dirty="0">
                <a:latin typeface="Times New Roman"/>
                <a:cs typeface="Times New Roman"/>
              </a:rPr>
              <a:t>a</a:t>
            </a:r>
            <a:r>
              <a:rPr sz="2400" spc="-20" dirty="0">
                <a:latin typeface="Times New Roman"/>
                <a:cs typeface="Times New Roman"/>
              </a:rPr>
              <a:t> host </a:t>
            </a:r>
            <a:r>
              <a:rPr sz="2400" spc="-25" dirty="0">
                <a:latin typeface="Times New Roman"/>
                <a:cs typeface="Times New Roman"/>
              </a:rPr>
              <a:t>OS.</a:t>
            </a:r>
            <a:endParaRPr sz="2400">
              <a:latin typeface="Times New Roman"/>
              <a:cs typeface="Times New Roman"/>
            </a:endParaRPr>
          </a:p>
          <a:p>
            <a:pPr marL="393700" marR="666115" indent="-381000">
              <a:lnSpc>
                <a:spcPct val="100000"/>
              </a:lnSpc>
              <a:spcBef>
                <a:spcPts val="565"/>
              </a:spcBef>
              <a:buClr>
                <a:srgbClr val="053CE8"/>
              </a:buClr>
              <a:buAutoNum type="arabicPeriod"/>
              <a:tabLst>
                <a:tab pos="393700" algn="l"/>
              </a:tabLst>
            </a:pPr>
            <a:r>
              <a:rPr sz="2400" dirty="0">
                <a:latin typeface="Times New Roman"/>
                <a:cs typeface="Times New Roman"/>
              </a:rPr>
              <a:t>MS</a:t>
            </a:r>
            <a:r>
              <a:rPr sz="2400" spc="-35" dirty="0">
                <a:latin typeface="Times New Roman"/>
                <a:cs typeface="Times New Roman"/>
              </a:rPr>
              <a:t> </a:t>
            </a:r>
            <a:r>
              <a:rPr sz="2400" dirty="0">
                <a:latin typeface="Times New Roman"/>
                <a:cs typeface="Times New Roman"/>
              </a:rPr>
              <a:t>Virtual</a:t>
            </a:r>
            <a:r>
              <a:rPr sz="2400" spc="-30" dirty="0">
                <a:latin typeface="Times New Roman"/>
                <a:cs typeface="Times New Roman"/>
              </a:rPr>
              <a:t> </a:t>
            </a:r>
            <a:r>
              <a:rPr sz="2400" dirty="0">
                <a:latin typeface="Times New Roman"/>
                <a:cs typeface="Times New Roman"/>
              </a:rPr>
              <a:t>PC,</a:t>
            </a:r>
            <a:r>
              <a:rPr sz="2400" spc="-35" dirty="0">
                <a:latin typeface="Times New Roman"/>
                <a:cs typeface="Times New Roman"/>
              </a:rPr>
              <a:t> </a:t>
            </a:r>
            <a:r>
              <a:rPr sz="2400" dirty="0">
                <a:latin typeface="Times New Roman"/>
                <a:cs typeface="Times New Roman"/>
              </a:rPr>
              <a:t>Xen,</a:t>
            </a:r>
            <a:r>
              <a:rPr sz="2400" spc="-30" dirty="0">
                <a:latin typeface="Times New Roman"/>
                <a:cs typeface="Times New Roman"/>
              </a:rPr>
              <a:t> </a:t>
            </a:r>
            <a:r>
              <a:rPr sz="2400" dirty="0">
                <a:latin typeface="Times New Roman"/>
                <a:cs typeface="Times New Roman"/>
              </a:rPr>
              <a:t>VMware</a:t>
            </a:r>
            <a:r>
              <a:rPr sz="2400" spc="-30" dirty="0">
                <a:latin typeface="Times New Roman"/>
                <a:cs typeface="Times New Roman"/>
              </a:rPr>
              <a:t> </a:t>
            </a:r>
            <a:r>
              <a:rPr sz="2400" dirty="0">
                <a:latin typeface="Times New Roman"/>
                <a:cs typeface="Times New Roman"/>
              </a:rPr>
              <a:t>ESX,</a:t>
            </a:r>
            <a:r>
              <a:rPr sz="2400" spc="-35" dirty="0">
                <a:latin typeface="Times New Roman"/>
                <a:cs typeface="Times New Roman"/>
              </a:rPr>
              <a:t> </a:t>
            </a:r>
            <a:r>
              <a:rPr sz="2400" dirty="0">
                <a:latin typeface="Times New Roman"/>
                <a:cs typeface="Times New Roman"/>
              </a:rPr>
              <a:t>and</a:t>
            </a:r>
            <a:r>
              <a:rPr sz="2400" spc="-35" dirty="0">
                <a:latin typeface="Times New Roman"/>
                <a:cs typeface="Times New Roman"/>
              </a:rPr>
              <a:t> </a:t>
            </a:r>
            <a:r>
              <a:rPr sz="2400" dirty="0">
                <a:latin typeface="Times New Roman"/>
                <a:cs typeface="Times New Roman"/>
              </a:rPr>
              <a:t>Virtual</a:t>
            </a:r>
            <a:r>
              <a:rPr sz="2400" spc="-25" dirty="0">
                <a:latin typeface="Times New Roman"/>
                <a:cs typeface="Times New Roman"/>
              </a:rPr>
              <a:t> </a:t>
            </a:r>
            <a:r>
              <a:rPr sz="2400" dirty="0">
                <a:latin typeface="Times New Roman"/>
                <a:cs typeface="Times New Roman"/>
              </a:rPr>
              <a:t>Box</a:t>
            </a:r>
            <a:r>
              <a:rPr sz="2400" spc="-35" dirty="0">
                <a:latin typeface="Times New Roman"/>
                <a:cs typeface="Times New Roman"/>
              </a:rPr>
              <a:t> </a:t>
            </a:r>
            <a:r>
              <a:rPr sz="2400" spc="-25" dirty="0">
                <a:latin typeface="Times New Roman"/>
                <a:cs typeface="Times New Roman"/>
              </a:rPr>
              <a:t>are </a:t>
            </a:r>
            <a:r>
              <a:rPr sz="2400" dirty="0">
                <a:latin typeface="Times New Roman"/>
                <a:cs typeface="Times New Roman"/>
              </a:rPr>
              <a:t>examples</a:t>
            </a:r>
            <a:r>
              <a:rPr sz="2400" spc="-45" dirty="0">
                <a:latin typeface="Times New Roman"/>
                <a:cs typeface="Times New Roman"/>
              </a:rPr>
              <a:t> </a:t>
            </a:r>
            <a:r>
              <a:rPr sz="2400" dirty="0">
                <a:latin typeface="Times New Roman"/>
                <a:cs typeface="Times New Roman"/>
              </a:rPr>
              <a:t>of</a:t>
            </a:r>
            <a:r>
              <a:rPr sz="2400" spc="-45" dirty="0">
                <a:latin typeface="Times New Roman"/>
                <a:cs typeface="Times New Roman"/>
              </a:rPr>
              <a:t> </a:t>
            </a:r>
            <a:r>
              <a:rPr sz="2400" dirty="0">
                <a:latin typeface="Times New Roman"/>
                <a:cs typeface="Times New Roman"/>
              </a:rPr>
              <a:t>popular</a:t>
            </a:r>
            <a:r>
              <a:rPr sz="2400" spc="-45" dirty="0">
                <a:latin typeface="Times New Roman"/>
                <a:cs typeface="Times New Roman"/>
              </a:rPr>
              <a:t> </a:t>
            </a:r>
            <a:r>
              <a:rPr sz="2400" dirty="0">
                <a:latin typeface="Times New Roman"/>
                <a:cs typeface="Times New Roman"/>
              </a:rPr>
              <a:t>virtualization</a:t>
            </a:r>
            <a:r>
              <a:rPr sz="2400" spc="-40" dirty="0">
                <a:latin typeface="Times New Roman"/>
                <a:cs typeface="Times New Roman"/>
              </a:rPr>
              <a:t> </a:t>
            </a:r>
            <a:r>
              <a:rPr sz="2400" spc="-10" dirty="0">
                <a:latin typeface="Times New Roman"/>
                <a:cs typeface="Times New Roman"/>
              </a:rPr>
              <a:t>products.</a:t>
            </a:r>
            <a:endParaRPr sz="2400">
              <a:latin typeface="Times New Roman"/>
              <a:cs typeface="Times New Roman"/>
            </a:endParaRPr>
          </a:p>
          <a:p>
            <a:pPr marL="393065" indent="-380365">
              <a:lnSpc>
                <a:spcPct val="100000"/>
              </a:lnSpc>
              <a:spcBef>
                <a:spcPts val="560"/>
              </a:spcBef>
              <a:buClr>
                <a:srgbClr val="053CE8"/>
              </a:buClr>
              <a:buAutoNum type="arabicPeriod"/>
              <a:tabLst>
                <a:tab pos="393065" algn="l"/>
              </a:tabLst>
            </a:pPr>
            <a:r>
              <a:rPr sz="2400" dirty="0">
                <a:latin typeface="Times New Roman"/>
                <a:cs typeface="Times New Roman"/>
              </a:rPr>
              <a:t>OVF</a:t>
            </a:r>
            <a:r>
              <a:rPr sz="2400" spc="-35" dirty="0">
                <a:latin typeface="Times New Roman"/>
                <a:cs typeface="Times New Roman"/>
              </a:rPr>
              <a:t> </a:t>
            </a:r>
            <a:r>
              <a:rPr sz="2400" dirty="0">
                <a:latin typeface="Times New Roman"/>
                <a:cs typeface="Times New Roman"/>
              </a:rPr>
              <a:t>is</a:t>
            </a:r>
            <a:r>
              <a:rPr sz="2400" spc="-35" dirty="0">
                <a:latin typeface="Times New Roman"/>
                <a:cs typeface="Times New Roman"/>
              </a:rPr>
              <a:t> </a:t>
            </a: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standard</a:t>
            </a:r>
            <a:r>
              <a:rPr sz="2400" spc="-30" dirty="0">
                <a:latin typeface="Times New Roman"/>
                <a:cs typeface="Times New Roman"/>
              </a:rPr>
              <a:t> </a:t>
            </a:r>
            <a:r>
              <a:rPr sz="2400" dirty="0">
                <a:latin typeface="Times New Roman"/>
                <a:cs typeface="Times New Roman"/>
              </a:rPr>
              <a:t>format</a:t>
            </a:r>
            <a:r>
              <a:rPr sz="2400" spc="-35" dirty="0">
                <a:latin typeface="Times New Roman"/>
                <a:cs typeface="Times New Roman"/>
              </a:rPr>
              <a:t> </a:t>
            </a:r>
            <a:r>
              <a:rPr sz="2400" dirty="0">
                <a:latin typeface="Times New Roman"/>
                <a:cs typeface="Times New Roman"/>
              </a:rPr>
              <a:t>for</a:t>
            </a:r>
            <a:r>
              <a:rPr sz="2400" spc="-35" dirty="0">
                <a:latin typeface="Times New Roman"/>
                <a:cs typeface="Times New Roman"/>
              </a:rPr>
              <a:t> </a:t>
            </a:r>
            <a:r>
              <a:rPr sz="2400" dirty="0">
                <a:latin typeface="Times New Roman"/>
                <a:cs typeface="Times New Roman"/>
              </a:rPr>
              <a:t>virtual</a:t>
            </a:r>
            <a:r>
              <a:rPr sz="2400" spc="-35" dirty="0">
                <a:latin typeface="Times New Roman"/>
                <a:cs typeface="Times New Roman"/>
              </a:rPr>
              <a:t> </a:t>
            </a:r>
            <a:r>
              <a:rPr sz="2400" spc="-10" dirty="0">
                <a:latin typeface="Times New Roman"/>
                <a:cs typeface="Times New Roman"/>
              </a:rPr>
              <a:t>images</a:t>
            </a:r>
            <a:endParaRPr sz="2400">
              <a:latin typeface="Times New Roman"/>
              <a:cs typeface="Times New Roman"/>
            </a:endParaRPr>
          </a:p>
        </p:txBody>
      </p:sp>
      <p:sp>
        <p:nvSpPr>
          <p:cNvPr id="22" name="Slide Number Placeholder 21">
            <a:extLst>
              <a:ext uri="{FF2B5EF4-FFF2-40B4-BE49-F238E27FC236}">
                <a16:creationId xmlns:a16="http://schemas.microsoft.com/office/drawing/2014/main" id="{6BFE93AC-AAF8-73C7-E531-32A64140A0B8}"/>
              </a:ext>
            </a:extLst>
          </p:cNvPr>
          <p:cNvSpPr>
            <a:spLocks noGrp="1"/>
          </p:cNvSpPr>
          <p:nvPr>
            <p:ph type="sldNum" sz="quarter" idx="7"/>
          </p:nvPr>
        </p:nvSpPr>
        <p:spPr>
          <a:xfrm>
            <a:off x="4330700" y="6579869"/>
            <a:ext cx="725930" cy="278131"/>
          </a:xfrm>
        </p:spPr>
        <p:txBody>
          <a:bodyPr/>
          <a:lstStyle/>
          <a:p>
            <a:pPr marL="12700">
              <a:lnSpc>
                <a:spcPts val="2065"/>
              </a:lnSpc>
            </a:pPr>
            <a:fld id="{81D60167-4931-47E6-BA6A-407CBD079E47}" type="slidenum">
              <a:rPr spc="-50" smtClean="0"/>
              <a:t>30</a:t>
            </a:fld>
            <a:endParaRPr spc="-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093720">
              <a:lnSpc>
                <a:spcPct val="100000"/>
              </a:lnSpc>
              <a:spcBef>
                <a:spcPts val="100"/>
              </a:spcBef>
            </a:pPr>
            <a:r>
              <a:rPr spc="-10" dirty="0"/>
              <a:t>Acronyms</a:t>
            </a:r>
          </a:p>
        </p:txBody>
      </p:sp>
      <p:sp>
        <p:nvSpPr>
          <p:cNvPr id="3" name="object 3"/>
          <p:cNvSpPr txBox="1"/>
          <p:nvPr/>
        </p:nvSpPr>
        <p:spPr>
          <a:xfrm>
            <a:off x="457454" y="1268222"/>
            <a:ext cx="969644" cy="4596765"/>
          </a:xfrm>
          <a:prstGeom prst="rect">
            <a:avLst/>
          </a:prstGeom>
        </p:spPr>
        <p:txBody>
          <a:bodyPr vert="horz" wrap="square" lIns="0" tIns="12065" rIns="0" bIns="0" rtlCol="0">
            <a:spAutoFit/>
          </a:bodyPr>
          <a:lstStyle/>
          <a:p>
            <a:pPr marL="12700" marR="243840">
              <a:lnSpc>
                <a:spcPct val="100000"/>
              </a:lnSpc>
              <a:spcBef>
                <a:spcPts val="95"/>
              </a:spcBef>
            </a:pPr>
            <a:r>
              <a:rPr sz="2000" spc="-25" dirty="0">
                <a:latin typeface="Times New Roman"/>
                <a:cs typeface="Times New Roman"/>
              </a:rPr>
              <a:t>ACE API AVM CD DOM DRS </a:t>
            </a:r>
            <a:r>
              <a:rPr sz="2000" spc="-20" dirty="0">
                <a:latin typeface="Times New Roman"/>
                <a:cs typeface="Times New Roman"/>
              </a:rPr>
              <a:t>DTMF </a:t>
            </a:r>
            <a:r>
              <a:rPr sz="2000" spc="-25" dirty="0">
                <a:latin typeface="Times New Roman"/>
                <a:cs typeface="Times New Roman"/>
              </a:rPr>
              <a:t>DVD ESX</a:t>
            </a:r>
            <a:endParaRPr sz="2000">
              <a:latin typeface="Times New Roman"/>
              <a:cs typeface="Times New Roman"/>
            </a:endParaRPr>
          </a:p>
          <a:p>
            <a:pPr marL="12700" marR="5080">
              <a:lnSpc>
                <a:spcPts val="2400"/>
              </a:lnSpc>
              <a:spcBef>
                <a:spcPts val="80"/>
              </a:spcBef>
            </a:pPr>
            <a:r>
              <a:rPr sz="2000" spc="-10" dirty="0">
                <a:latin typeface="Times New Roman"/>
                <a:cs typeface="Times New Roman"/>
              </a:rPr>
              <a:t>FreeBSD </a:t>
            </a:r>
            <a:r>
              <a:rPr sz="2000" spc="-25" dirty="0">
                <a:latin typeface="Times New Roman"/>
                <a:cs typeface="Times New Roman"/>
              </a:rPr>
              <a:t>GSX</a:t>
            </a:r>
            <a:r>
              <a:rPr sz="2000" spc="500" dirty="0">
                <a:latin typeface="Times New Roman"/>
                <a:cs typeface="Times New Roman"/>
              </a:rPr>
              <a:t> </a:t>
            </a:r>
            <a:r>
              <a:rPr sz="2000" spc="-25" dirty="0">
                <a:latin typeface="Times New Roman"/>
                <a:cs typeface="Times New Roman"/>
              </a:rPr>
              <a:t>IEC</a:t>
            </a:r>
            <a:endParaRPr sz="2000">
              <a:latin typeface="Times New Roman"/>
              <a:cs typeface="Times New Roman"/>
            </a:endParaRPr>
          </a:p>
          <a:p>
            <a:pPr marL="12700">
              <a:lnSpc>
                <a:spcPts val="2320"/>
              </a:lnSpc>
            </a:pPr>
            <a:r>
              <a:rPr sz="2000" spc="-25" dirty="0">
                <a:latin typeface="Times New Roman"/>
                <a:cs typeface="Times New Roman"/>
              </a:rPr>
              <a:t>ISO</a:t>
            </a:r>
            <a:endParaRPr sz="2000">
              <a:latin typeface="Times New Roman"/>
              <a:cs typeface="Times New Roman"/>
            </a:endParaRPr>
          </a:p>
          <a:p>
            <a:pPr marL="12700" marR="356235">
              <a:lnSpc>
                <a:spcPct val="100000"/>
              </a:lnSpc>
            </a:pPr>
            <a:r>
              <a:rPr sz="2000" spc="-25" dirty="0">
                <a:latin typeface="Times New Roman"/>
                <a:cs typeface="Times New Roman"/>
              </a:rPr>
              <a:t>JVM KVM</a:t>
            </a:r>
            <a:endParaRPr sz="2000">
              <a:latin typeface="Times New Roman"/>
              <a:cs typeface="Times New Roman"/>
            </a:endParaRPr>
          </a:p>
        </p:txBody>
      </p:sp>
      <p:sp>
        <p:nvSpPr>
          <p:cNvPr id="4" name="object 4"/>
          <p:cNvSpPr txBox="1"/>
          <p:nvPr/>
        </p:nvSpPr>
        <p:spPr>
          <a:xfrm>
            <a:off x="2284932" y="1268222"/>
            <a:ext cx="4439285" cy="4596765"/>
          </a:xfrm>
          <a:prstGeom prst="rect">
            <a:avLst/>
          </a:prstGeom>
        </p:spPr>
        <p:txBody>
          <a:bodyPr vert="horz" wrap="square" lIns="0" tIns="12065" rIns="0" bIns="0" rtlCol="0">
            <a:spAutoFit/>
          </a:bodyPr>
          <a:lstStyle/>
          <a:p>
            <a:pPr marL="12700" marR="788670" indent="-635">
              <a:lnSpc>
                <a:spcPct val="100000"/>
              </a:lnSpc>
              <a:spcBef>
                <a:spcPts val="95"/>
              </a:spcBef>
            </a:pPr>
            <a:r>
              <a:rPr sz="2000" dirty="0">
                <a:latin typeface="Times New Roman"/>
                <a:cs typeface="Times New Roman"/>
              </a:rPr>
              <a:t>Application</a:t>
            </a:r>
            <a:r>
              <a:rPr sz="2000" spc="-35" dirty="0">
                <a:latin typeface="Times New Roman"/>
                <a:cs typeface="Times New Roman"/>
              </a:rPr>
              <a:t> </a:t>
            </a:r>
            <a:r>
              <a:rPr sz="2000" dirty="0">
                <a:latin typeface="Times New Roman"/>
                <a:cs typeface="Times New Roman"/>
              </a:rPr>
              <a:t>Control</a:t>
            </a:r>
            <a:r>
              <a:rPr sz="2000" spc="-30" dirty="0">
                <a:latin typeface="Times New Roman"/>
                <a:cs typeface="Times New Roman"/>
              </a:rPr>
              <a:t> </a:t>
            </a:r>
            <a:r>
              <a:rPr sz="2000" dirty="0">
                <a:latin typeface="Times New Roman"/>
                <a:cs typeface="Times New Roman"/>
              </a:rPr>
              <a:t>Engine</a:t>
            </a:r>
            <a:r>
              <a:rPr sz="2000" spc="-30" dirty="0">
                <a:latin typeface="Times New Roman"/>
                <a:cs typeface="Times New Roman"/>
              </a:rPr>
              <a:t> </a:t>
            </a:r>
            <a:r>
              <a:rPr sz="2000" spc="-10" dirty="0">
                <a:latin typeface="Times New Roman"/>
                <a:cs typeface="Times New Roman"/>
              </a:rPr>
              <a:t>(Cisco) </a:t>
            </a:r>
            <a:r>
              <a:rPr sz="2000" dirty="0">
                <a:latin typeface="Times New Roman"/>
                <a:cs typeface="Times New Roman"/>
              </a:rPr>
              <a:t>Application</a:t>
            </a:r>
            <a:r>
              <a:rPr sz="2000" spc="-70" dirty="0">
                <a:latin typeface="Times New Roman"/>
                <a:cs typeface="Times New Roman"/>
              </a:rPr>
              <a:t> </a:t>
            </a:r>
            <a:r>
              <a:rPr sz="2000" dirty="0">
                <a:latin typeface="Times New Roman"/>
                <a:cs typeface="Times New Roman"/>
              </a:rPr>
              <a:t>Programming</a:t>
            </a:r>
            <a:r>
              <a:rPr sz="2000" spc="-70" dirty="0">
                <a:latin typeface="Times New Roman"/>
                <a:cs typeface="Times New Roman"/>
              </a:rPr>
              <a:t> </a:t>
            </a:r>
            <a:r>
              <a:rPr sz="2000" spc="-10" dirty="0">
                <a:latin typeface="Times New Roman"/>
                <a:cs typeface="Times New Roman"/>
              </a:rPr>
              <a:t>Interface </a:t>
            </a:r>
            <a:r>
              <a:rPr sz="2000" dirty="0">
                <a:latin typeface="Times New Roman"/>
                <a:cs typeface="Times New Roman"/>
              </a:rPr>
              <a:t>Application</a:t>
            </a:r>
            <a:r>
              <a:rPr sz="2000" spc="-5" dirty="0">
                <a:latin typeface="Times New Roman"/>
                <a:cs typeface="Times New Roman"/>
              </a:rPr>
              <a:t> </a:t>
            </a:r>
            <a:r>
              <a:rPr sz="2000" dirty="0">
                <a:latin typeface="Times New Roman"/>
                <a:cs typeface="Times New Roman"/>
              </a:rPr>
              <a:t>Virtual</a:t>
            </a:r>
            <a:r>
              <a:rPr sz="2000" spc="-5" dirty="0">
                <a:latin typeface="Times New Roman"/>
                <a:cs typeface="Times New Roman"/>
              </a:rPr>
              <a:t> </a:t>
            </a:r>
            <a:r>
              <a:rPr sz="2000" spc="-10" dirty="0">
                <a:latin typeface="Times New Roman"/>
                <a:cs typeface="Times New Roman"/>
              </a:rPr>
              <a:t>Machines </a:t>
            </a:r>
            <a:r>
              <a:rPr sz="2000" dirty="0">
                <a:latin typeface="Times New Roman"/>
                <a:cs typeface="Times New Roman"/>
              </a:rPr>
              <a:t>Compact</a:t>
            </a:r>
            <a:r>
              <a:rPr sz="2000" spc="-5" dirty="0">
                <a:latin typeface="Times New Roman"/>
                <a:cs typeface="Times New Roman"/>
              </a:rPr>
              <a:t> </a:t>
            </a:r>
            <a:r>
              <a:rPr sz="2000" spc="-20" dirty="0">
                <a:latin typeface="Times New Roman"/>
                <a:cs typeface="Times New Roman"/>
              </a:rPr>
              <a:t>Disk</a:t>
            </a:r>
            <a:endParaRPr sz="2000">
              <a:latin typeface="Times New Roman"/>
              <a:cs typeface="Times New Roman"/>
            </a:endParaRPr>
          </a:p>
          <a:p>
            <a:pPr marL="12700">
              <a:lnSpc>
                <a:spcPts val="2400"/>
              </a:lnSpc>
            </a:pPr>
            <a:r>
              <a:rPr sz="2000" spc="-10" dirty="0">
                <a:latin typeface="Times New Roman"/>
                <a:cs typeface="Times New Roman"/>
              </a:rPr>
              <a:t>Domain</a:t>
            </a:r>
            <a:endParaRPr sz="2000">
              <a:latin typeface="Times New Roman"/>
              <a:cs typeface="Times New Roman"/>
            </a:endParaRPr>
          </a:p>
          <a:p>
            <a:pPr marL="12700" marR="690880">
              <a:lnSpc>
                <a:spcPct val="100000"/>
              </a:lnSpc>
            </a:pPr>
            <a:r>
              <a:rPr sz="2000" dirty="0">
                <a:latin typeface="Times New Roman"/>
                <a:cs typeface="Times New Roman"/>
              </a:rPr>
              <a:t>Distributed</a:t>
            </a:r>
            <a:r>
              <a:rPr sz="2000" spc="-55" dirty="0">
                <a:latin typeface="Times New Roman"/>
                <a:cs typeface="Times New Roman"/>
              </a:rPr>
              <a:t> </a:t>
            </a:r>
            <a:r>
              <a:rPr sz="2000" dirty="0">
                <a:latin typeface="Times New Roman"/>
                <a:cs typeface="Times New Roman"/>
              </a:rPr>
              <a:t>Resource</a:t>
            </a:r>
            <a:r>
              <a:rPr sz="2000" spc="-50" dirty="0">
                <a:latin typeface="Times New Roman"/>
                <a:cs typeface="Times New Roman"/>
              </a:rPr>
              <a:t> </a:t>
            </a:r>
            <a:r>
              <a:rPr sz="2000" spc="-10" dirty="0">
                <a:latin typeface="Times New Roman"/>
                <a:cs typeface="Times New Roman"/>
              </a:rPr>
              <a:t>Scheduler </a:t>
            </a:r>
            <a:r>
              <a:rPr sz="2000" dirty="0">
                <a:latin typeface="Times New Roman"/>
                <a:cs typeface="Times New Roman"/>
              </a:rPr>
              <a:t>Distributed</a:t>
            </a:r>
            <a:r>
              <a:rPr sz="2000" spc="-40" dirty="0">
                <a:latin typeface="Times New Roman"/>
                <a:cs typeface="Times New Roman"/>
              </a:rPr>
              <a:t> </a:t>
            </a:r>
            <a:r>
              <a:rPr sz="2000" dirty="0">
                <a:latin typeface="Times New Roman"/>
                <a:cs typeface="Times New Roman"/>
              </a:rPr>
              <a:t>Management</a:t>
            </a:r>
            <a:r>
              <a:rPr sz="2000" spc="-40" dirty="0">
                <a:latin typeface="Times New Roman"/>
                <a:cs typeface="Times New Roman"/>
              </a:rPr>
              <a:t> </a:t>
            </a:r>
            <a:r>
              <a:rPr sz="2000" dirty="0">
                <a:latin typeface="Times New Roman"/>
                <a:cs typeface="Times New Roman"/>
              </a:rPr>
              <a:t>Task</a:t>
            </a:r>
            <a:r>
              <a:rPr sz="2000" spc="-40" dirty="0">
                <a:latin typeface="Times New Roman"/>
                <a:cs typeface="Times New Roman"/>
              </a:rPr>
              <a:t> </a:t>
            </a:r>
            <a:r>
              <a:rPr sz="2000" spc="-10" dirty="0">
                <a:latin typeface="Times New Roman"/>
                <a:cs typeface="Times New Roman"/>
              </a:rPr>
              <a:t>Force </a:t>
            </a:r>
            <a:r>
              <a:rPr sz="2000" dirty="0">
                <a:latin typeface="Times New Roman"/>
                <a:cs typeface="Times New Roman"/>
              </a:rPr>
              <a:t>Digital</a:t>
            </a:r>
            <a:r>
              <a:rPr sz="2000" spc="-40" dirty="0">
                <a:latin typeface="Times New Roman"/>
                <a:cs typeface="Times New Roman"/>
              </a:rPr>
              <a:t> </a:t>
            </a:r>
            <a:r>
              <a:rPr sz="2000" dirty="0">
                <a:latin typeface="Times New Roman"/>
                <a:cs typeface="Times New Roman"/>
              </a:rPr>
              <a:t>Video</a:t>
            </a:r>
            <a:r>
              <a:rPr sz="2000" spc="-40" dirty="0">
                <a:latin typeface="Times New Roman"/>
                <a:cs typeface="Times New Roman"/>
              </a:rPr>
              <a:t> </a:t>
            </a:r>
            <a:r>
              <a:rPr sz="2000" spc="-20" dirty="0">
                <a:latin typeface="Times New Roman"/>
                <a:cs typeface="Times New Roman"/>
              </a:rPr>
              <a:t>Disk</a:t>
            </a:r>
            <a:endParaRPr sz="2000">
              <a:latin typeface="Times New Roman"/>
              <a:cs typeface="Times New Roman"/>
            </a:endParaRPr>
          </a:p>
          <a:p>
            <a:pPr marL="12700">
              <a:lnSpc>
                <a:spcPts val="2400"/>
              </a:lnSpc>
            </a:pPr>
            <a:r>
              <a:rPr sz="2000" dirty="0">
                <a:latin typeface="Times New Roman"/>
                <a:cs typeface="Times New Roman"/>
              </a:rPr>
              <a:t>VMware</a:t>
            </a:r>
            <a:r>
              <a:rPr sz="2000" spc="-45" dirty="0">
                <a:latin typeface="Times New Roman"/>
                <a:cs typeface="Times New Roman"/>
              </a:rPr>
              <a:t> </a:t>
            </a:r>
            <a:r>
              <a:rPr sz="2000" dirty="0">
                <a:latin typeface="Times New Roman"/>
                <a:cs typeface="Times New Roman"/>
              </a:rPr>
              <a:t>Product</a:t>
            </a:r>
            <a:r>
              <a:rPr sz="2000" spc="-40" dirty="0">
                <a:latin typeface="Times New Roman"/>
                <a:cs typeface="Times New Roman"/>
              </a:rPr>
              <a:t> </a:t>
            </a:r>
            <a:r>
              <a:rPr sz="2000" spc="-20" dirty="0">
                <a:latin typeface="Times New Roman"/>
                <a:cs typeface="Times New Roman"/>
              </a:rPr>
              <a:t>Name</a:t>
            </a:r>
            <a:endParaRPr sz="2000">
              <a:latin typeface="Times New Roman"/>
              <a:cs typeface="Times New Roman"/>
            </a:endParaRPr>
          </a:p>
          <a:p>
            <a:pPr marL="12700" marR="888365" indent="-635">
              <a:lnSpc>
                <a:spcPct val="100000"/>
              </a:lnSpc>
            </a:pPr>
            <a:r>
              <a:rPr sz="2000" dirty="0">
                <a:latin typeface="Times New Roman"/>
                <a:cs typeface="Times New Roman"/>
              </a:rPr>
              <a:t>Free</a:t>
            </a:r>
            <a:r>
              <a:rPr sz="2000" spc="-45" dirty="0">
                <a:latin typeface="Times New Roman"/>
                <a:cs typeface="Times New Roman"/>
              </a:rPr>
              <a:t> </a:t>
            </a:r>
            <a:r>
              <a:rPr sz="2000" dirty="0">
                <a:latin typeface="Times New Roman"/>
                <a:cs typeface="Times New Roman"/>
              </a:rPr>
              <a:t>Berkeley</a:t>
            </a:r>
            <a:r>
              <a:rPr sz="2000" spc="-40" dirty="0">
                <a:latin typeface="Times New Roman"/>
                <a:cs typeface="Times New Roman"/>
              </a:rPr>
              <a:t> </a:t>
            </a:r>
            <a:r>
              <a:rPr sz="2000" dirty="0">
                <a:latin typeface="Times New Roman"/>
                <a:cs typeface="Times New Roman"/>
              </a:rPr>
              <a:t>System</a:t>
            </a:r>
            <a:r>
              <a:rPr sz="2000" spc="-40" dirty="0">
                <a:latin typeface="Times New Roman"/>
                <a:cs typeface="Times New Roman"/>
              </a:rPr>
              <a:t> </a:t>
            </a:r>
            <a:r>
              <a:rPr sz="2000" spc="-10" dirty="0">
                <a:latin typeface="Times New Roman"/>
                <a:cs typeface="Times New Roman"/>
              </a:rPr>
              <a:t>Distribution </a:t>
            </a:r>
            <a:r>
              <a:rPr sz="2000" dirty="0">
                <a:latin typeface="Times New Roman"/>
                <a:cs typeface="Times New Roman"/>
              </a:rPr>
              <a:t>VMware</a:t>
            </a:r>
            <a:r>
              <a:rPr sz="2000" spc="-45" dirty="0">
                <a:latin typeface="Times New Roman"/>
                <a:cs typeface="Times New Roman"/>
              </a:rPr>
              <a:t> </a:t>
            </a:r>
            <a:r>
              <a:rPr sz="2000" dirty="0">
                <a:latin typeface="Times New Roman"/>
                <a:cs typeface="Times New Roman"/>
              </a:rPr>
              <a:t>Product</a:t>
            </a:r>
            <a:r>
              <a:rPr sz="2000" spc="-40" dirty="0">
                <a:latin typeface="Times New Roman"/>
                <a:cs typeface="Times New Roman"/>
              </a:rPr>
              <a:t> </a:t>
            </a:r>
            <a:r>
              <a:rPr sz="2000" spc="-20" dirty="0">
                <a:latin typeface="Times New Roman"/>
                <a:cs typeface="Times New Roman"/>
              </a:rPr>
              <a:t>Name</a:t>
            </a:r>
            <a:endParaRPr sz="2000">
              <a:latin typeface="Times New Roman"/>
              <a:cs typeface="Times New Roman"/>
            </a:endParaRPr>
          </a:p>
          <a:p>
            <a:pPr marL="13335" marR="5080">
              <a:lnSpc>
                <a:spcPct val="100000"/>
              </a:lnSpc>
            </a:pPr>
            <a:r>
              <a:rPr sz="2000" dirty="0">
                <a:latin typeface="Times New Roman"/>
                <a:cs typeface="Times New Roman"/>
              </a:rPr>
              <a:t>International</a:t>
            </a:r>
            <a:r>
              <a:rPr sz="2000" spc="-45" dirty="0">
                <a:latin typeface="Times New Roman"/>
                <a:cs typeface="Times New Roman"/>
              </a:rPr>
              <a:t> </a:t>
            </a:r>
            <a:r>
              <a:rPr sz="2000" dirty="0">
                <a:latin typeface="Times New Roman"/>
                <a:cs typeface="Times New Roman"/>
              </a:rPr>
              <a:t>Electro</a:t>
            </a:r>
            <a:r>
              <a:rPr sz="2000" spc="-25" dirty="0">
                <a:latin typeface="Times New Roman"/>
                <a:cs typeface="Times New Roman"/>
              </a:rPr>
              <a:t> </a:t>
            </a:r>
            <a:r>
              <a:rPr sz="2000" dirty="0">
                <a:latin typeface="Times New Roman"/>
                <a:cs typeface="Times New Roman"/>
              </a:rPr>
              <a:t>technical</a:t>
            </a:r>
            <a:r>
              <a:rPr sz="2000" spc="-25" dirty="0">
                <a:latin typeface="Times New Roman"/>
                <a:cs typeface="Times New Roman"/>
              </a:rPr>
              <a:t> </a:t>
            </a:r>
            <a:r>
              <a:rPr sz="2000" spc="-10" dirty="0">
                <a:latin typeface="Times New Roman"/>
                <a:cs typeface="Times New Roman"/>
              </a:rPr>
              <a:t>Commission </a:t>
            </a:r>
            <a:r>
              <a:rPr sz="2000" dirty="0">
                <a:latin typeface="Times New Roman"/>
                <a:cs typeface="Times New Roman"/>
              </a:rPr>
              <a:t>International</a:t>
            </a:r>
            <a:r>
              <a:rPr sz="2000" spc="-30" dirty="0">
                <a:latin typeface="Times New Roman"/>
                <a:cs typeface="Times New Roman"/>
              </a:rPr>
              <a:t> </a:t>
            </a:r>
            <a:r>
              <a:rPr sz="2000" dirty="0">
                <a:latin typeface="Times New Roman"/>
                <a:cs typeface="Times New Roman"/>
              </a:rPr>
              <a:t>Standards</a:t>
            </a:r>
            <a:r>
              <a:rPr sz="2000" spc="-25" dirty="0">
                <a:latin typeface="Times New Roman"/>
                <a:cs typeface="Times New Roman"/>
              </a:rPr>
              <a:t> </a:t>
            </a:r>
            <a:r>
              <a:rPr sz="2000" spc="-10" dirty="0">
                <a:latin typeface="Times New Roman"/>
                <a:cs typeface="Times New Roman"/>
              </a:rPr>
              <a:t>Organization</a:t>
            </a:r>
            <a:endParaRPr sz="2000">
              <a:latin typeface="Times New Roman"/>
              <a:cs typeface="Times New Roman"/>
            </a:endParaRPr>
          </a:p>
          <a:p>
            <a:pPr marL="13335" marR="1993264" indent="635">
              <a:lnSpc>
                <a:spcPct val="100000"/>
              </a:lnSpc>
            </a:pPr>
            <a:r>
              <a:rPr sz="2000" dirty="0">
                <a:latin typeface="Times New Roman"/>
                <a:cs typeface="Times New Roman"/>
              </a:rPr>
              <a:t>Java</a:t>
            </a:r>
            <a:r>
              <a:rPr sz="2000" spc="-20" dirty="0">
                <a:latin typeface="Times New Roman"/>
                <a:cs typeface="Times New Roman"/>
              </a:rPr>
              <a:t> </a:t>
            </a:r>
            <a:r>
              <a:rPr sz="2000" dirty="0">
                <a:latin typeface="Times New Roman"/>
                <a:cs typeface="Times New Roman"/>
              </a:rPr>
              <a:t>Virtual</a:t>
            </a:r>
            <a:r>
              <a:rPr sz="2000" spc="-20" dirty="0">
                <a:latin typeface="Times New Roman"/>
                <a:cs typeface="Times New Roman"/>
              </a:rPr>
              <a:t> </a:t>
            </a:r>
            <a:r>
              <a:rPr sz="2000" spc="-10" dirty="0">
                <a:latin typeface="Times New Roman"/>
                <a:cs typeface="Times New Roman"/>
              </a:rPr>
              <a:t>Machine </a:t>
            </a:r>
            <a:r>
              <a:rPr sz="2000" dirty="0">
                <a:latin typeface="Times New Roman"/>
                <a:cs typeface="Times New Roman"/>
              </a:rPr>
              <a:t>Kernel</a:t>
            </a:r>
            <a:r>
              <a:rPr sz="2000" spc="-35" dirty="0">
                <a:latin typeface="Times New Roman"/>
                <a:cs typeface="Times New Roman"/>
              </a:rPr>
              <a:t> </a:t>
            </a:r>
            <a:r>
              <a:rPr sz="2000" dirty="0">
                <a:latin typeface="Times New Roman"/>
                <a:cs typeface="Times New Roman"/>
              </a:rPr>
              <a:t>Virtual</a:t>
            </a:r>
            <a:r>
              <a:rPr sz="2000" spc="-30" dirty="0">
                <a:latin typeface="Times New Roman"/>
                <a:cs typeface="Times New Roman"/>
              </a:rPr>
              <a:t> </a:t>
            </a:r>
            <a:r>
              <a:rPr sz="2000" spc="-10" dirty="0">
                <a:latin typeface="Times New Roman"/>
                <a:cs typeface="Times New Roman"/>
              </a:rPr>
              <a:t>Machine</a:t>
            </a:r>
            <a:endParaRPr sz="2000">
              <a:latin typeface="Times New Roman"/>
              <a:cs typeface="Times New Roman"/>
            </a:endParaRPr>
          </a:p>
        </p:txBody>
      </p:sp>
      <p:sp>
        <p:nvSpPr>
          <p:cNvPr id="8" name="Slide Number Placeholder 7">
            <a:extLst>
              <a:ext uri="{FF2B5EF4-FFF2-40B4-BE49-F238E27FC236}">
                <a16:creationId xmlns:a16="http://schemas.microsoft.com/office/drawing/2014/main" id="{33EFB796-3B83-611B-890B-D8E863CA31C1}"/>
              </a:ext>
            </a:extLst>
          </p:cNvPr>
          <p:cNvSpPr>
            <a:spLocks noGrp="1"/>
          </p:cNvSpPr>
          <p:nvPr>
            <p:ph type="sldNum" sz="quarter" idx="7"/>
          </p:nvPr>
        </p:nvSpPr>
        <p:spPr>
          <a:xfrm>
            <a:off x="4330700" y="6579869"/>
            <a:ext cx="1079500" cy="269304"/>
          </a:xfrm>
        </p:spPr>
        <p:txBody>
          <a:bodyPr/>
          <a:lstStyle/>
          <a:p>
            <a:pPr marL="12700">
              <a:lnSpc>
                <a:spcPts val="2065"/>
              </a:lnSpc>
            </a:pPr>
            <a:fld id="{81D60167-4931-47E6-BA6A-407CBD079E47}" type="slidenum">
              <a:rPr spc="-50" smtClean="0"/>
              <a:t>31</a:t>
            </a:fld>
            <a:endParaRPr spc="-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2400935">
              <a:lnSpc>
                <a:spcPct val="100000"/>
              </a:lnSpc>
              <a:spcBef>
                <a:spcPts val="100"/>
              </a:spcBef>
            </a:pPr>
            <a:r>
              <a:rPr dirty="0"/>
              <a:t>Acronyms</a:t>
            </a:r>
            <a:r>
              <a:rPr spc="-125" dirty="0"/>
              <a:t> </a:t>
            </a:r>
            <a:r>
              <a:rPr spc="-10" dirty="0"/>
              <a:t>(Cont)</a:t>
            </a:r>
          </a:p>
        </p:txBody>
      </p:sp>
      <p:sp>
        <p:nvSpPr>
          <p:cNvPr id="3" name="object 3"/>
          <p:cNvSpPr txBox="1"/>
          <p:nvPr/>
        </p:nvSpPr>
        <p:spPr>
          <a:xfrm>
            <a:off x="456946" y="1268222"/>
            <a:ext cx="997585" cy="4291965"/>
          </a:xfrm>
          <a:prstGeom prst="rect">
            <a:avLst/>
          </a:prstGeom>
        </p:spPr>
        <p:txBody>
          <a:bodyPr vert="horz" wrap="square" lIns="0" tIns="12065" rIns="0" bIns="0" rtlCol="0">
            <a:spAutoFit/>
          </a:bodyPr>
          <a:lstStyle/>
          <a:p>
            <a:pPr marL="12700" marR="469265">
              <a:lnSpc>
                <a:spcPct val="100000"/>
              </a:lnSpc>
              <a:spcBef>
                <a:spcPts val="95"/>
              </a:spcBef>
            </a:pPr>
            <a:r>
              <a:rPr sz="2000" spc="-25" dirty="0">
                <a:latin typeface="Times New Roman"/>
                <a:cs typeface="Times New Roman"/>
              </a:rPr>
              <a:t>MS OS OVF PC SMP</a:t>
            </a:r>
            <a:endParaRPr sz="2000">
              <a:latin typeface="Times New Roman"/>
              <a:cs typeface="Times New Roman"/>
            </a:endParaRPr>
          </a:p>
          <a:p>
            <a:pPr marL="12700">
              <a:lnSpc>
                <a:spcPts val="2400"/>
              </a:lnSpc>
            </a:pPr>
            <a:r>
              <a:rPr sz="2000" spc="-10" dirty="0">
                <a:latin typeface="Times New Roman"/>
                <a:cs typeface="Times New Roman"/>
              </a:rPr>
              <a:t>SPARC</a:t>
            </a:r>
            <a:endParaRPr sz="2000">
              <a:latin typeface="Times New Roman"/>
              <a:cs typeface="Times New Roman"/>
            </a:endParaRPr>
          </a:p>
          <a:p>
            <a:pPr marL="12700" marR="5080">
              <a:lnSpc>
                <a:spcPct val="100000"/>
              </a:lnSpc>
            </a:pPr>
            <a:r>
              <a:rPr sz="2000" spc="-10" dirty="0">
                <a:latin typeface="Times New Roman"/>
                <a:cs typeface="Times New Roman"/>
              </a:rPr>
              <a:t>svMotion </a:t>
            </a:r>
            <a:r>
              <a:rPr sz="2000" spc="-25" dirty="0">
                <a:latin typeface="Times New Roman"/>
                <a:cs typeface="Times New Roman"/>
              </a:rPr>
              <a:t>UML USB VHD VM </a:t>
            </a:r>
            <a:r>
              <a:rPr sz="2000" spc="-20" dirty="0">
                <a:latin typeface="Times New Roman"/>
                <a:cs typeface="Times New Roman"/>
              </a:rPr>
              <a:t>VMFS</a:t>
            </a:r>
            <a:endParaRPr sz="2000">
              <a:latin typeface="Times New Roman"/>
              <a:cs typeface="Times New Roman"/>
            </a:endParaRPr>
          </a:p>
          <a:p>
            <a:pPr marL="12700" marR="103505">
              <a:lnSpc>
                <a:spcPts val="2400"/>
              </a:lnSpc>
              <a:spcBef>
                <a:spcPts val="80"/>
              </a:spcBef>
            </a:pPr>
            <a:r>
              <a:rPr sz="2000" spc="-10" dirty="0">
                <a:latin typeface="Times New Roman"/>
                <a:cs typeface="Times New Roman"/>
              </a:rPr>
              <a:t>vMotion </a:t>
            </a:r>
            <a:r>
              <a:rPr sz="2000" spc="-25" dirty="0">
                <a:latin typeface="Times New Roman"/>
                <a:cs typeface="Times New Roman"/>
              </a:rPr>
              <a:t>XML</a:t>
            </a:r>
            <a:endParaRPr sz="2000">
              <a:latin typeface="Times New Roman"/>
              <a:cs typeface="Times New Roman"/>
            </a:endParaRPr>
          </a:p>
        </p:txBody>
      </p:sp>
      <p:sp>
        <p:nvSpPr>
          <p:cNvPr id="4" name="object 4"/>
          <p:cNvSpPr txBox="1"/>
          <p:nvPr/>
        </p:nvSpPr>
        <p:spPr>
          <a:xfrm>
            <a:off x="2284678" y="1268222"/>
            <a:ext cx="4639310" cy="4291965"/>
          </a:xfrm>
          <a:prstGeom prst="rect">
            <a:avLst/>
          </a:prstGeom>
        </p:spPr>
        <p:txBody>
          <a:bodyPr vert="horz" wrap="square" lIns="0" tIns="12065" rIns="0" bIns="0" rtlCol="0">
            <a:spAutoFit/>
          </a:bodyPr>
          <a:lstStyle/>
          <a:p>
            <a:pPr marL="13335" marR="2790825">
              <a:lnSpc>
                <a:spcPct val="100000"/>
              </a:lnSpc>
              <a:spcBef>
                <a:spcPts val="95"/>
              </a:spcBef>
            </a:pPr>
            <a:r>
              <a:rPr sz="2000" spc="-10" dirty="0">
                <a:latin typeface="Times New Roman"/>
                <a:cs typeface="Times New Roman"/>
              </a:rPr>
              <a:t>Microsoft </a:t>
            </a:r>
            <a:r>
              <a:rPr sz="2000" dirty="0">
                <a:latin typeface="Times New Roman"/>
                <a:cs typeface="Times New Roman"/>
              </a:rPr>
              <a:t>Operating</a:t>
            </a:r>
            <a:r>
              <a:rPr sz="2000" spc="-5" dirty="0">
                <a:latin typeface="Times New Roman"/>
                <a:cs typeface="Times New Roman"/>
              </a:rPr>
              <a:t> </a:t>
            </a:r>
            <a:r>
              <a:rPr sz="2000" spc="-10" dirty="0">
                <a:latin typeface="Times New Roman"/>
                <a:cs typeface="Times New Roman"/>
              </a:rPr>
              <a:t>System</a:t>
            </a:r>
            <a:endParaRPr sz="2000">
              <a:latin typeface="Times New Roman"/>
              <a:cs typeface="Times New Roman"/>
            </a:endParaRPr>
          </a:p>
          <a:p>
            <a:pPr marL="13335" marR="1795145" indent="-1270">
              <a:lnSpc>
                <a:spcPct val="100000"/>
              </a:lnSpc>
            </a:pPr>
            <a:r>
              <a:rPr sz="2000" dirty="0">
                <a:latin typeface="Times New Roman"/>
                <a:cs typeface="Times New Roman"/>
              </a:rPr>
              <a:t>Open</a:t>
            </a:r>
            <a:r>
              <a:rPr sz="2000" spc="-65" dirty="0">
                <a:latin typeface="Times New Roman"/>
                <a:cs typeface="Times New Roman"/>
              </a:rPr>
              <a:t> </a:t>
            </a:r>
            <a:r>
              <a:rPr sz="2000" dirty="0">
                <a:latin typeface="Times New Roman"/>
                <a:cs typeface="Times New Roman"/>
              </a:rPr>
              <a:t>Virtualization</a:t>
            </a:r>
            <a:r>
              <a:rPr sz="2000" spc="-60" dirty="0">
                <a:latin typeface="Times New Roman"/>
                <a:cs typeface="Times New Roman"/>
              </a:rPr>
              <a:t> </a:t>
            </a:r>
            <a:r>
              <a:rPr sz="2000" spc="-10" dirty="0">
                <a:latin typeface="Times New Roman"/>
                <a:cs typeface="Times New Roman"/>
              </a:rPr>
              <a:t>Format </a:t>
            </a:r>
            <a:r>
              <a:rPr sz="2000" dirty="0">
                <a:latin typeface="Times New Roman"/>
                <a:cs typeface="Times New Roman"/>
              </a:rPr>
              <a:t>Personal</a:t>
            </a:r>
            <a:r>
              <a:rPr sz="2000" spc="-40" dirty="0">
                <a:latin typeface="Times New Roman"/>
                <a:cs typeface="Times New Roman"/>
              </a:rPr>
              <a:t> </a:t>
            </a:r>
            <a:r>
              <a:rPr sz="2000" spc="-10" dirty="0">
                <a:latin typeface="Times New Roman"/>
                <a:cs typeface="Times New Roman"/>
              </a:rPr>
              <a:t>Computer </a:t>
            </a:r>
            <a:r>
              <a:rPr sz="2000" dirty="0">
                <a:latin typeface="Times New Roman"/>
                <a:cs typeface="Times New Roman"/>
              </a:rPr>
              <a:t>Symmetric</a:t>
            </a:r>
            <a:r>
              <a:rPr sz="2000" spc="-45" dirty="0">
                <a:latin typeface="Times New Roman"/>
                <a:cs typeface="Times New Roman"/>
              </a:rPr>
              <a:t> </a:t>
            </a:r>
            <a:r>
              <a:rPr sz="2000" spc="-10" dirty="0">
                <a:latin typeface="Times New Roman"/>
                <a:cs typeface="Times New Roman"/>
              </a:rPr>
              <a:t>Multiprocessing</a:t>
            </a:r>
            <a:endParaRPr sz="2000">
              <a:latin typeface="Times New Roman"/>
              <a:cs typeface="Times New Roman"/>
            </a:endParaRPr>
          </a:p>
          <a:p>
            <a:pPr marL="13335" marR="5080" indent="-1270">
              <a:lnSpc>
                <a:spcPts val="2400"/>
              </a:lnSpc>
              <a:spcBef>
                <a:spcPts val="80"/>
              </a:spcBef>
            </a:pPr>
            <a:r>
              <a:rPr sz="2000" dirty="0">
                <a:latin typeface="Times New Roman"/>
                <a:cs typeface="Times New Roman"/>
              </a:rPr>
              <a:t>Scalable</a:t>
            </a:r>
            <a:r>
              <a:rPr sz="2000" spc="-25" dirty="0">
                <a:latin typeface="Times New Roman"/>
                <a:cs typeface="Times New Roman"/>
              </a:rPr>
              <a:t> </a:t>
            </a:r>
            <a:r>
              <a:rPr sz="2000" dirty="0">
                <a:latin typeface="Times New Roman"/>
                <a:cs typeface="Times New Roman"/>
              </a:rPr>
              <a:t>Processor</a:t>
            </a:r>
            <a:r>
              <a:rPr sz="2000" spc="-25" dirty="0">
                <a:latin typeface="Times New Roman"/>
                <a:cs typeface="Times New Roman"/>
              </a:rPr>
              <a:t> </a:t>
            </a:r>
            <a:r>
              <a:rPr sz="2000" dirty="0">
                <a:latin typeface="Times New Roman"/>
                <a:cs typeface="Times New Roman"/>
              </a:rPr>
              <a:t>Architecture</a:t>
            </a:r>
            <a:r>
              <a:rPr sz="2000" spc="-20" dirty="0">
                <a:latin typeface="Times New Roman"/>
                <a:cs typeface="Times New Roman"/>
              </a:rPr>
              <a:t> </a:t>
            </a:r>
            <a:r>
              <a:rPr sz="2000" spc="-10" dirty="0">
                <a:latin typeface="Times New Roman"/>
                <a:cs typeface="Times New Roman"/>
              </a:rPr>
              <a:t>(Sun/Oracle) </a:t>
            </a:r>
            <a:r>
              <a:rPr sz="2000" dirty="0">
                <a:latin typeface="Times New Roman"/>
                <a:cs typeface="Times New Roman"/>
              </a:rPr>
              <a:t>Storage</a:t>
            </a:r>
            <a:r>
              <a:rPr sz="2000" spc="-35" dirty="0">
                <a:latin typeface="Times New Roman"/>
                <a:cs typeface="Times New Roman"/>
              </a:rPr>
              <a:t> </a:t>
            </a:r>
            <a:r>
              <a:rPr sz="2000" dirty="0">
                <a:latin typeface="Times New Roman"/>
                <a:cs typeface="Times New Roman"/>
              </a:rPr>
              <a:t>virtual</a:t>
            </a:r>
            <a:r>
              <a:rPr sz="2000" spc="-35" dirty="0">
                <a:latin typeface="Times New Roman"/>
                <a:cs typeface="Times New Roman"/>
              </a:rPr>
              <a:t> </a:t>
            </a:r>
            <a:r>
              <a:rPr sz="2000" spc="-10" dirty="0">
                <a:latin typeface="Times New Roman"/>
                <a:cs typeface="Times New Roman"/>
              </a:rPr>
              <a:t>motion</a:t>
            </a:r>
            <a:endParaRPr sz="2000">
              <a:latin typeface="Times New Roman"/>
              <a:cs typeface="Times New Roman"/>
            </a:endParaRPr>
          </a:p>
          <a:p>
            <a:pPr marL="12700" marR="2517140" indent="635">
              <a:lnSpc>
                <a:spcPts val="2400"/>
              </a:lnSpc>
            </a:pPr>
            <a:r>
              <a:rPr sz="2000" spc="-10" dirty="0">
                <a:latin typeface="Times New Roman"/>
                <a:cs typeface="Times New Roman"/>
              </a:rPr>
              <a:t>User-</a:t>
            </a:r>
            <a:r>
              <a:rPr sz="2000" dirty="0">
                <a:latin typeface="Times New Roman"/>
                <a:cs typeface="Times New Roman"/>
              </a:rPr>
              <a:t>Mode</a:t>
            </a:r>
            <a:r>
              <a:rPr sz="2000" spc="20" dirty="0">
                <a:latin typeface="Times New Roman"/>
                <a:cs typeface="Times New Roman"/>
              </a:rPr>
              <a:t> </a:t>
            </a:r>
            <a:r>
              <a:rPr sz="2000" spc="-10" dirty="0">
                <a:latin typeface="Times New Roman"/>
                <a:cs typeface="Times New Roman"/>
              </a:rPr>
              <a:t>Linux </a:t>
            </a:r>
            <a:r>
              <a:rPr sz="2000" dirty="0">
                <a:latin typeface="Times New Roman"/>
                <a:cs typeface="Times New Roman"/>
              </a:rPr>
              <a:t>Universal</a:t>
            </a:r>
            <a:r>
              <a:rPr sz="2000" spc="-15" dirty="0">
                <a:latin typeface="Times New Roman"/>
                <a:cs typeface="Times New Roman"/>
              </a:rPr>
              <a:t> </a:t>
            </a:r>
            <a:r>
              <a:rPr sz="2000" dirty="0">
                <a:latin typeface="Times New Roman"/>
                <a:cs typeface="Times New Roman"/>
              </a:rPr>
              <a:t>Serial</a:t>
            </a:r>
            <a:r>
              <a:rPr sz="2000" spc="-15" dirty="0">
                <a:latin typeface="Times New Roman"/>
                <a:cs typeface="Times New Roman"/>
              </a:rPr>
              <a:t> </a:t>
            </a:r>
            <a:r>
              <a:rPr sz="2000" spc="-25" dirty="0">
                <a:latin typeface="Times New Roman"/>
                <a:cs typeface="Times New Roman"/>
              </a:rPr>
              <a:t>Bus </a:t>
            </a:r>
            <a:r>
              <a:rPr sz="2000" dirty="0">
                <a:latin typeface="Times New Roman"/>
                <a:cs typeface="Times New Roman"/>
              </a:rPr>
              <a:t>Virtual</a:t>
            </a:r>
            <a:r>
              <a:rPr sz="2000" spc="-30" dirty="0">
                <a:latin typeface="Times New Roman"/>
                <a:cs typeface="Times New Roman"/>
              </a:rPr>
              <a:t> </a:t>
            </a:r>
            <a:r>
              <a:rPr sz="2000" dirty="0">
                <a:latin typeface="Times New Roman"/>
                <a:cs typeface="Times New Roman"/>
              </a:rPr>
              <a:t>Hard</a:t>
            </a:r>
            <a:r>
              <a:rPr sz="2000" spc="-30" dirty="0">
                <a:latin typeface="Times New Roman"/>
                <a:cs typeface="Times New Roman"/>
              </a:rPr>
              <a:t> </a:t>
            </a:r>
            <a:r>
              <a:rPr sz="2000" spc="-20" dirty="0">
                <a:latin typeface="Times New Roman"/>
                <a:cs typeface="Times New Roman"/>
              </a:rPr>
              <a:t>Disk </a:t>
            </a:r>
            <a:r>
              <a:rPr sz="2000" dirty="0">
                <a:latin typeface="Times New Roman"/>
                <a:cs typeface="Times New Roman"/>
              </a:rPr>
              <a:t>Virtual</a:t>
            </a:r>
            <a:r>
              <a:rPr sz="2000" spc="-35" dirty="0">
                <a:latin typeface="Times New Roman"/>
                <a:cs typeface="Times New Roman"/>
              </a:rPr>
              <a:t> </a:t>
            </a:r>
            <a:r>
              <a:rPr sz="2000" spc="-10" dirty="0">
                <a:latin typeface="Times New Roman"/>
                <a:cs typeface="Times New Roman"/>
              </a:rPr>
              <a:t>Machine</a:t>
            </a:r>
            <a:endParaRPr sz="2000">
              <a:latin typeface="Times New Roman"/>
              <a:cs typeface="Times New Roman"/>
            </a:endParaRPr>
          </a:p>
          <a:p>
            <a:pPr marL="12700">
              <a:lnSpc>
                <a:spcPts val="2320"/>
              </a:lnSpc>
            </a:pPr>
            <a:r>
              <a:rPr sz="2000" dirty="0">
                <a:latin typeface="Times New Roman"/>
                <a:cs typeface="Times New Roman"/>
              </a:rPr>
              <a:t>Virtual</a:t>
            </a:r>
            <a:r>
              <a:rPr sz="2000" spc="-30" dirty="0">
                <a:latin typeface="Times New Roman"/>
                <a:cs typeface="Times New Roman"/>
              </a:rPr>
              <a:t> </a:t>
            </a:r>
            <a:r>
              <a:rPr sz="2000" dirty="0">
                <a:latin typeface="Times New Roman"/>
                <a:cs typeface="Times New Roman"/>
              </a:rPr>
              <a:t>Machine</a:t>
            </a:r>
            <a:r>
              <a:rPr sz="2000" spc="-30" dirty="0">
                <a:latin typeface="Times New Roman"/>
                <a:cs typeface="Times New Roman"/>
              </a:rPr>
              <a:t> </a:t>
            </a:r>
            <a:r>
              <a:rPr sz="2000" dirty="0">
                <a:latin typeface="Times New Roman"/>
                <a:cs typeface="Times New Roman"/>
              </a:rPr>
              <a:t>File</a:t>
            </a:r>
            <a:r>
              <a:rPr sz="2000" spc="-30" dirty="0">
                <a:latin typeface="Times New Roman"/>
                <a:cs typeface="Times New Roman"/>
              </a:rPr>
              <a:t> </a:t>
            </a:r>
            <a:r>
              <a:rPr sz="2000" spc="-10" dirty="0">
                <a:latin typeface="Times New Roman"/>
                <a:cs typeface="Times New Roman"/>
              </a:rPr>
              <a:t>System</a:t>
            </a:r>
            <a:endParaRPr sz="2000">
              <a:latin typeface="Times New Roman"/>
              <a:cs typeface="Times New Roman"/>
            </a:endParaRPr>
          </a:p>
          <a:p>
            <a:pPr marL="13970">
              <a:lnSpc>
                <a:spcPct val="100000"/>
              </a:lnSpc>
            </a:pPr>
            <a:r>
              <a:rPr sz="2000" dirty="0">
                <a:latin typeface="Times New Roman"/>
                <a:cs typeface="Times New Roman"/>
              </a:rPr>
              <a:t>Virtual</a:t>
            </a:r>
            <a:r>
              <a:rPr sz="2000" spc="-50" dirty="0">
                <a:latin typeface="Times New Roman"/>
                <a:cs typeface="Times New Roman"/>
              </a:rPr>
              <a:t> </a:t>
            </a:r>
            <a:r>
              <a:rPr sz="2000" spc="-10" dirty="0">
                <a:latin typeface="Times New Roman"/>
                <a:cs typeface="Times New Roman"/>
              </a:rPr>
              <a:t>Motion</a:t>
            </a:r>
            <a:endParaRPr sz="2000">
              <a:latin typeface="Times New Roman"/>
              <a:cs typeface="Times New Roman"/>
            </a:endParaRPr>
          </a:p>
          <a:p>
            <a:pPr marL="12700">
              <a:lnSpc>
                <a:spcPct val="100000"/>
              </a:lnSpc>
            </a:pPr>
            <a:r>
              <a:rPr sz="2000" dirty="0">
                <a:latin typeface="Times New Roman"/>
                <a:cs typeface="Times New Roman"/>
              </a:rPr>
              <a:t>eXtensible</a:t>
            </a:r>
            <a:r>
              <a:rPr sz="2000" spc="-10" dirty="0">
                <a:latin typeface="Times New Roman"/>
                <a:cs typeface="Times New Roman"/>
              </a:rPr>
              <a:t> </a:t>
            </a:r>
            <a:r>
              <a:rPr sz="2000" dirty="0">
                <a:latin typeface="Times New Roman"/>
                <a:cs typeface="Times New Roman"/>
              </a:rPr>
              <a:t>Markup</a:t>
            </a:r>
            <a:r>
              <a:rPr sz="2000" spc="-5" dirty="0">
                <a:latin typeface="Times New Roman"/>
                <a:cs typeface="Times New Roman"/>
              </a:rPr>
              <a:t> </a:t>
            </a:r>
            <a:r>
              <a:rPr sz="2000" spc="-10" dirty="0">
                <a:latin typeface="Times New Roman"/>
                <a:cs typeface="Times New Roman"/>
              </a:rPr>
              <a:t>Language</a:t>
            </a:r>
            <a:endParaRPr sz="2000">
              <a:latin typeface="Times New Roman"/>
              <a:cs typeface="Times New Roman"/>
            </a:endParaRPr>
          </a:p>
        </p:txBody>
      </p:sp>
      <p:sp>
        <p:nvSpPr>
          <p:cNvPr id="8" name="Slide Number Placeholder 7">
            <a:extLst>
              <a:ext uri="{FF2B5EF4-FFF2-40B4-BE49-F238E27FC236}">
                <a16:creationId xmlns:a16="http://schemas.microsoft.com/office/drawing/2014/main" id="{7481B2DF-E3BA-A5E0-170F-E3382D23087A}"/>
              </a:ext>
            </a:extLst>
          </p:cNvPr>
          <p:cNvSpPr>
            <a:spLocks noGrp="1"/>
          </p:cNvSpPr>
          <p:nvPr>
            <p:ph type="sldNum" sz="quarter" idx="7"/>
          </p:nvPr>
        </p:nvSpPr>
        <p:spPr>
          <a:xfrm>
            <a:off x="4330700" y="6579869"/>
            <a:ext cx="927100" cy="278131"/>
          </a:xfrm>
        </p:spPr>
        <p:txBody>
          <a:bodyPr/>
          <a:lstStyle/>
          <a:p>
            <a:pPr marL="12700">
              <a:lnSpc>
                <a:spcPts val="2065"/>
              </a:lnSpc>
            </a:pPr>
            <a:fld id="{81D60167-4931-47E6-BA6A-407CBD079E47}" type="slidenum">
              <a:rPr spc="-50" smtClean="0"/>
              <a:t>32</a:t>
            </a:fld>
            <a:endParaRPr spc="-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26</TotalTime>
  <Words>2192</Words>
  <Application>Microsoft Office PowerPoint</Application>
  <PresentationFormat>On-screen Show (4:3)</PresentationFormat>
  <Paragraphs>296</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Aptos</vt:lpstr>
      <vt:lpstr>Symbol</vt:lpstr>
      <vt:lpstr>Times New Roman</vt:lpstr>
      <vt:lpstr>Wingdings</vt:lpstr>
      <vt:lpstr>Office Theme</vt:lpstr>
      <vt:lpstr>Server Virtualization</vt:lpstr>
      <vt:lpstr>Overview</vt:lpstr>
      <vt:lpstr>Virtualization</vt:lpstr>
      <vt:lpstr>5 Reasons to Virtualize</vt:lpstr>
      <vt:lpstr>Advantages of Virtualization</vt:lpstr>
      <vt:lpstr>Virtualization in Computing</vt:lpstr>
      <vt:lpstr>Server Virtualization Concepts</vt:lpstr>
      <vt:lpstr>Levels of Virtualization</vt:lpstr>
      <vt:lpstr>Operating System-Level Virtualization</vt:lpstr>
      <vt:lpstr>Desktop Virtualization</vt:lpstr>
      <vt:lpstr>Thin Client</vt:lpstr>
      <vt:lpstr>Application Virtualization</vt:lpstr>
      <vt:lpstr>Service Virtualization</vt:lpstr>
      <vt:lpstr>User Experience Virtualization</vt:lpstr>
      <vt:lpstr>Related Concepts</vt:lpstr>
      <vt:lpstr>Hardware Emulation</vt:lpstr>
      <vt:lpstr>Hardware Assisted Virtualization</vt:lpstr>
      <vt:lpstr>Parallel Virtual Machines</vt:lpstr>
      <vt:lpstr>Paravirtualization</vt:lpstr>
      <vt:lpstr>Virtualization Products</vt:lpstr>
      <vt:lpstr>VMware ESX/ESXi</vt:lpstr>
      <vt:lpstr>VMware vMotion</vt:lpstr>
      <vt:lpstr>VMware ThinApp, View, Fusion</vt:lpstr>
      <vt:lpstr>VMware Workstation and Player</vt:lpstr>
      <vt:lpstr>VMware vSphere</vt:lpstr>
      <vt:lpstr>File System for VMs</vt:lpstr>
      <vt:lpstr>Open Virtualization Format (OVF)</vt:lpstr>
      <vt:lpstr>OVF (Cont)</vt:lpstr>
      <vt:lpstr>PCoIP Protocol</vt:lpstr>
      <vt:lpstr>Summary</vt:lpstr>
      <vt:lpstr>Acronyms</vt:lpstr>
      <vt:lpstr>Acronyms (Cont)</vt:lpstr>
    </vt:vector>
  </TitlesOfParts>
  <Company>Washington University in Saint Louis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Server Virtualization - Tutorial</dc:title>
  <dc:subject>CSE 570S:Recent Advances in Networking</dc:subject>
  <dc:creator>Raj Jain</dc:creator>
  <cp:keywords>Virtualization, Reasons to Virtualize, Advantages of Virtualization, Virtualization in Computing, Server Virtualization Concepts, Hardware Emulation, Hardware Assisted Virtualization, Application Virtual Machines (AVM), Parallel Virtual Machines, Paravirtualization, Virtualization Products, VMware vMotion, Open Virtualization Format (OVF)</cp:keywords>
  <cp:lastModifiedBy>Hoàng Đình Hạnh</cp:lastModifiedBy>
  <cp:revision>15</cp:revision>
  <dcterms:created xsi:type="dcterms:W3CDTF">2025-09-14T04:00:49Z</dcterms:created>
  <dcterms:modified xsi:type="dcterms:W3CDTF">2025-09-14T04:28:04Z</dcterms:modified>
  <cp:category>Technical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ackColor">
    <vt:lpwstr>15132390</vt:lpwstr>
  </property>
  <property fmtid="{D5CDD505-2E9C-101B-9397-08002B2CF9AE}" pid="3" name="ButtonType">
    <vt:lpwstr>3</vt:lpwstr>
  </property>
  <property fmtid="{D5CDD505-2E9C-101B-9397-08002B2CF9AE}" pid="4" name="Compression">
    <vt:lpwstr>100</vt:lpwstr>
  </property>
  <property fmtid="{D5CDD505-2E9C-101B-9397-08002B2CF9AE}" pid="5" name="Created">
    <vt:filetime>2013-12-10T00:00:00Z</vt:filetime>
  </property>
  <property fmtid="{D5CDD505-2E9C-101B-9397-08002B2CF9AE}" pid="6" name="Creator">
    <vt:lpwstr>Acrobat PDFMaker 10.1 for PowerPoint</vt:lpwstr>
  </property>
  <property fmtid="{D5CDD505-2E9C-101B-9397-08002B2CF9AE}" pid="7" name="DownloadIEButton">
    <vt:lpwstr>No</vt:lpwstr>
  </property>
  <property fmtid="{D5CDD505-2E9C-101B-9397-08002B2CF9AE}" pid="8" name="DownloadOriginal">
    <vt:lpwstr>Yes</vt:lpwstr>
  </property>
  <property fmtid="{D5CDD505-2E9C-101B-9397-08002B2CF9AE}" pid="9" name="GraphicType">
    <vt:lpwstr>2</vt:lpwstr>
  </property>
  <property fmtid="{D5CDD505-2E9C-101B-9397-08002B2CF9AE}" pid="10" name="HomePage">
    <vt:lpwstr>http://www.cis.ohio-state.edu/~jain/</vt:lpwstr>
  </property>
  <property fmtid="{D5CDD505-2E9C-101B-9397-08002B2CF9AE}" pid="11" name="LastSaved">
    <vt:filetime>2025-09-14T00:00:00Z</vt:filetime>
  </property>
  <property fmtid="{D5CDD505-2E9C-101B-9397-08002B2CF9AE}" pid="12" name="LinkColor">
    <vt:lpwstr>16711782</vt:lpwstr>
  </property>
  <property fmtid="{D5CDD505-2E9C-101B-9397-08002B2CF9AE}" pid="13" name="MailAddress">
    <vt:lpwstr>jain@cis.ohio-state.edu</vt:lpwstr>
  </property>
  <property fmtid="{D5CDD505-2E9C-101B-9397-08002B2CF9AE}" pid="14" name="NavBtnPos">
    <vt:lpwstr>2</vt:lpwstr>
  </property>
  <property fmtid="{D5CDD505-2E9C-101B-9397-08002B2CF9AE}" pid="15" name="OutputDir">
    <vt:lpwstr>d:\u</vt:lpwstr>
  </property>
  <property fmtid="{D5CDD505-2E9C-101B-9397-08002B2CF9AE}" pid="16" name="Producer">
    <vt:lpwstr>Acrobat Distiller 10.1.8 (Windows)</vt:lpwstr>
  </property>
  <property fmtid="{D5CDD505-2E9C-101B-9397-08002B2CF9AE}" pid="17" name="ScreenSize">
    <vt:lpwstr>1</vt:lpwstr>
  </property>
  <property fmtid="{D5CDD505-2E9C-101B-9397-08002B2CF9AE}" pid="18" name="ScreenUsage">
    <vt:lpwstr>2</vt:lpwstr>
  </property>
  <property fmtid="{D5CDD505-2E9C-101B-9397-08002B2CF9AE}" pid="19" name="ShowNotes">
    <vt:lpwstr>No</vt:lpwstr>
  </property>
  <property fmtid="{D5CDD505-2E9C-101B-9397-08002B2CF9AE}" pid="20" name="TemplateType">
    <vt:lpwstr>1</vt:lpwstr>
  </property>
  <property fmtid="{D5CDD505-2E9C-101B-9397-08002B2CF9AE}" pid="21" name="TextColor">
    <vt:lpwstr>0</vt:lpwstr>
  </property>
  <property fmtid="{D5CDD505-2E9C-101B-9397-08002B2CF9AE}" pid="22" name="TransparentButton">
    <vt:lpwstr>0</vt:lpwstr>
  </property>
  <property fmtid="{D5CDD505-2E9C-101B-9397-08002B2CF9AE}" pid="23" name="UseBrowserColor">
    <vt:lpwstr>Yes</vt:lpwstr>
  </property>
  <property fmtid="{D5CDD505-2E9C-101B-9397-08002B2CF9AE}" pid="24" name="VisitedColor">
    <vt:lpwstr>10040268</vt:lpwstr>
  </property>
</Properties>
</file>