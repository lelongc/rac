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98" r:id="rId4"/>
    <p:sldId id="302" r:id="rId5"/>
    <p:sldId id="292" r:id="rId6"/>
    <p:sldId id="311" r:id="rId7"/>
    <p:sldId id="290" r:id="rId8"/>
    <p:sldId id="260" r:id="rId9"/>
    <p:sldId id="288" r:id="rId10"/>
    <p:sldId id="301" r:id="rId11"/>
    <p:sldId id="261" r:id="rId12"/>
    <p:sldId id="265" r:id="rId13"/>
    <p:sldId id="305" r:id="rId14"/>
    <p:sldId id="312" r:id="rId15"/>
    <p:sldId id="337" r:id="rId16"/>
    <p:sldId id="306" r:id="rId17"/>
    <p:sldId id="307" r:id="rId18"/>
    <p:sldId id="308" r:id="rId19"/>
    <p:sldId id="309" r:id="rId20"/>
    <p:sldId id="310" r:id="rId21"/>
    <p:sldId id="299" r:id="rId22"/>
    <p:sldId id="294" r:id="rId23"/>
    <p:sldId id="295" r:id="rId24"/>
    <p:sldId id="263" r:id="rId25"/>
    <p:sldId id="291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66" r:id="rId35"/>
    <p:sldId id="304" r:id="rId36"/>
    <p:sldId id="333" r:id="rId37"/>
    <p:sldId id="334" r:id="rId38"/>
    <p:sldId id="332" r:id="rId39"/>
    <p:sldId id="335" r:id="rId40"/>
    <p:sldId id="314" r:id="rId41"/>
    <p:sldId id="316" r:id="rId42"/>
    <p:sldId id="317" r:id="rId43"/>
    <p:sldId id="318" r:id="rId44"/>
    <p:sldId id="319" r:id="rId45"/>
    <p:sldId id="320" r:id="rId46"/>
    <p:sldId id="321" r:id="rId47"/>
    <p:sldId id="322" r:id="rId48"/>
    <p:sldId id="323" r:id="rId49"/>
    <p:sldId id="324" r:id="rId50"/>
    <p:sldId id="328" r:id="rId51"/>
    <p:sldId id="327" r:id="rId52"/>
    <p:sldId id="325" r:id="rId53"/>
    <p:sldId id="338" r:id="rId54"/>
    <p:sldId id="326" r:id="rId55"/>
    <p:sldId id="329" r:id="rId56"/>
    <p:sldId id="330" r:id="rId57"/>
    <p:sldId id="269" r:id="rId58"/>
    <p:sldId id="270" r:id="rId59"/>
    <p:sldId id="271" r:id="rId60"/>
    <p:sldId id="281" r:id="rId61"/>
    <p:sldId id="336" r:id="rId62"/>
    <p:sldId id="303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C06187-9D70-4B6F-B2F8-3672CA5BFDE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5F4772-9FBD-43AB-91D0-AE435ED68C46}">
      <dgm:prSet phldrT="[Text]" custT="1"/>
      <dgm:spPr/>
      <dgm:t>
        <a:bodyPr/>
        <a:lstStyle/>
        <a:p>
          <a:r>
            <a:rPr lang="en-US" sz="2800" b="1" dirty="0"/>
            <a:t>LẬP TRÌNH</a:t>
          </a:r>
        </a:p>
      </dgm:t>
    </dgm:pt>
    <dgm:pt modelId="{64388996-8756-491E-AB14-FB522F007FF2}" type="parTrans" cxnId="{ABA00FFC-1AE8-4167-B201-DF1DD1E667D0}">
      <dgm:prSet/>
      <dgm:spPr/>
      <dgm:t>
        <a:bodyPr/>
        <a:lstStyle/>
        <a:p>
          <a:endParaRPr lang="en-US"/>
        </a:p>
      </dgm:t>
    </dgm:pt>
    <dgm:pt modelId="{D0BB2D0F-2EA0-4D56-9652-4C1E3C4CDD7D}" type="sibTrans" cxnId="{ABA00FFC-1AE8-4167-B201-DF1DD1E667D0}">
      <dgm:prSet/>
      <dgm:spPr/>
      <dgm:t>
        <a:bodyPr/>
        <a:lstStyle/>
        <a:p>
          <a:endParaRPr lang="en-US"/>
        </a:p>
      </dgm:t>
    </dgm:pt>
    <dgm:pt modelId="{46B59980-2ABD-4B80-AADB-00B65B7EA937}">
      <dgm:prSet phldrT="[Text]" custT="1"/>
      <dgm:spPr/>
      <dgm:t>
        <a:bodyPr/>
        <a:lstStyle/>
        <a:p>
          <a:pPr algn="ctr"/>
          <a:r>
            <a:rPr lang="en-US" sz="2000" b="1" dirty="0"/>
            <a:t>Program</a:t>
          </a:r>
        </a:p>
        <a:p>
          <a:pPr algn="l"/>
          <a:r>
            <a:rPr lang="en-US" sz="1800" dirty="0"/>
            <a:t>- Software</a:t>
          </a:r>
        </a:p>
        <a:p>
          <a:pPr algn="l"/>
          <a:r>
            <a:rPr lang="en-US" sz="1800" dirty="0"/>
            <a:t>- Application</a:t>
          </a:r>
        </a:p>
        <a:p>
          <a:pPr algn="l"/>
          <a:r>
            <a:rPr lang="en-US" sz="1800" dirty="0"/>
            <a:t>- Utilities</a:t>
          </a:r>
        </a:p>
      </dgm:t>
    </dgm:pt>
    <dgm:pt modelId="{87385717-17C2-4757-8945-2965BA5FB827}" type="parTrans" cxnId="{E0EE4EA1-DB53-48FD-92D6-B308035FFD0C}">
      <dgm:prSet/>
      <dgm:spPr/>
      <dgm:t>
        <a:bodyPr/>
        <a:lstStyle/>
        <a:p>
          <a:endParaRPr lang="en-US"/>
        </a:p>
      </dgm:t>
    </dgm:pt>
    <dgm:pt modelId="{7C7F22E5-693F-4042-82B7-D7FD6F30CF0F}" type="sibTrans" cxnId="{E0EE4EA1-DB53-48FD-92D6-B308035FFD0C}">
      <dgm:prSet/>
      <dgm:spPr/>
      <dgm:t>
        <a:bodyPr/>
        <a:lstStyle/>
        <a:p>
          <a:endParaRPr lang="en-US"/>
        </a:p>
      </dgm:t>
    </dgm:pt>
    <dgm:pt modelId="{5E0C64FC-EE13-46E7-9A6D-77C091E6F7F0}">
      <dgm:prSet phldrT="[Text]" custT="1"/>
      <dgm:spPr/>
      <dgm:t>
        <a:bodyPr/>
        <a:lstStyle/>
        <a:p>
          <a:pPr algn="ctr"/>
          <a:r>
            <a:rPr lang="en-US" sz="2000" b="1" dirty="0"/>
            <a:t>Code</a:t>
          </a:r>
        </a:p>
        <a:p>
          <a:pPr algn="l"/>
          <a:r>
            <a:rPr lang="en-US" sz="1600" dirty="0"/>
            <a:t>- Source code</a:t>
          </a:r>
        </a:p>
        <a:p>
          <a:pPr algn="l"/>
          <a:r>
            <a:rPr lang="en-US" sz="1600" dirty="0"/>
            <a:t>- Machine code</a:t>
          </a:r>
        </a:p>
        <a:p>
          <a:pPr algn="l"/>
          <a:r>
            <a:rPr lang="en-US" sz="1600" dirty="0"/>
            <a:t>- Binary code</a:t>
          </a:r>
        </a:p>
        <a:p>
          <a:pPr algn="l"/>
          <a:r>
            <a:rPr lang="en-US" sz="1600" dirty="0"/>
            <a:t>- Assembly</a:t>
          </a:r>
        </a:p>
        <a:p>
          <a:pPr algn="l"/>
          <a:r>
            <a:rPr lang="en-US" sz="1600" dirty="0"/>
            <a:t>- Open Source</a:t>
          </a:r>
        </a:p>
        <a:p>
          <a:pPr algn="l"/>
          <a:r>
            <a:rPr lang="en-US" sz="1600" dirty="0"/>
            <a:t>- Coder</a:t>
          </a:r>
        </a:p>
        <a:p>
          <a:pPr algn="l"/>
          <a:r>
            <a:rPr lang="en-US" sz="1600" dirty="0"/>
            <a:t>- Programmer</a:t>
          </a:r>
        </a:p>
        <a:p>
          <a:pPr algn="l"/>
          <a:r>
            <a:rPr lang="en-US" sz="1600" dirty="0"/>
            <a:t>- Developer</a:t>
          </a:r>
        </a:p>
      </dgm:t>
    </dgm:pt>
    <dgm:pt modelId="{6B1F50F6-965F-4C2E-B35C-6E3D8BDC5854}" type="parTrans" cxnId="{5720801A-AFE6-4707-AB73-75CFA63A74E0}">
      <dgm:prSet/>
      <dgm:spPr/>
      <dgm:t>
        <a:bodyPr/>
        <a:lstStyle/>
        <a:p>
          <a:endParaRPr lang="en-US"/>
        </a:p>
      </dgm:t>
    </dgm:pt>
    <dgm:pt modelId="{C5A03A73-BD4C-4BF3-8309-A78CDBC14177}" type="sibTrans" cxnId="{5720801A-AFE6-4707-AB73-75CFA63A74E0}">
      <dgm:prSet/>
      <dgm:spPr/>
      <dgm:t>
        <a:bodyPr/>
        <a:lstStyle/>
        <a:p>
          <a:endParaRPr lang="en-US"/>
        </a:p>
      </dgm:t>
    </dgm:pt>
    <dgm:pt modelId="{B80E73D4-A598-4D06-B285-3098DE891542}">
      <dgm:prSet phldrT="[Text]" custT="1"/>
      <dgm:spPr/>
      <dgm:t>
        <a:bodyPr/>
        <a:lstStyle/>
        <a:p>
          <a:r>
            <a:rPr lang="en-US" sz="2000" b="1" dirty="0"/>
            <a:t>Platform</a:t>
          </a:r>
        </a:p>
        <a:p>
          <a:r>
            <a:rPr lang="en-US" sz="1700" dirty="0"/>
            <a:t>- Hardware platform</a:t>
          </a:r>
        </a:p>
        <a:p>
          <a:r>
            <a:rPr lang="en-US" sz="1700" dirty="0"/>
            <a:t>- Software platform</a:t>
          </a:r>
        </a:p>
        <a:p>
          <a:r>
            <a:rPr lang="en-US" sz="1700" dirty="0"/>
            <a:t>- Platform for Java </a:t>
          </a:r>
        </a:p>
      </dgm:t>
    </dgm:pt>
    <dgm:pt modelId="{EFD38220-B3C6-4EE6-86AF-861A94689829}" type="parTrans" cxnId="{71B221F3-A063-4F16-9C83-B2303AC83746}">
      <dgm:prSet/>
      <dgm:spPr/>
      <dgm:t>
        <a:bodyPr/>
        <a:lstStyle/>
        <a:p>
          <a:endParaRPr lang="en-US"/>
        </a:p>
      </dgm:t>
    </dgm:pt>
    <dgm:pt modelId="{7EDB23C0-9056-4FDA-8A59-1093EDEAD248}" type="sibTrans" cxnId="{71B221F3-A063-4F16-9C83-B2303AC83746}">
      <dgm:prSet/>
      <dgm:spPr/>
      <dgm:t>
        <a:bodyPr/>
        <a:lstStyle/>
        <a:p>
          <a:endParaRPr lang="en-US"/>
        </a:p>
      </dgm:t>
    </dgm:pt>
    <dgm:pt modelId="{C2290F20-DC44-40B7-B4B0-4FF3CBB386C9}">
      <dgm:prSet phldrT="[Text]" custT="1"/>
      <dgm:spPr/>
      <dgm:t>
        <a:bodyPr/>
        <a:lstStyle/>
        <a:p>
          <a:pPr algn="ctr"/>
          <a:r>
            <a:rPr lang="en-US" sz="2000" b="1" dirty="0"/>
            <a:t>Support</a:t>
          </a:r>
        </a:p>
        <a:p>
          <a:pPr algn="l"/>
          <a:r>
            <a:rPr lang="en-US" sz="1800" dirty="0"/>
            <a:t>- API</a:t>
          </a:r>
        </a:p>
        <a:p>
          <a:pPr algn="l"/>
          <a:r>
            <a:rPr lang="en-US" sz="1800" dirty="0"/>
            <a:t>- Library</a:t>
          </a:r>
        </a:p>
        <a:p>
          <a:pPr algn="l"/>
          <a:r>
            <a:rPr lang="en-US" sz="1800" dirty="0"/>
            <a:t>- Framework</a:t>
          </a:r>
        </a:p>
        <a:p>
          <a:pPr algn="l"/>
          <a:endParaRPr lang="en-US" sz="1800" dirty="0"/>
        </a:p>
        <a:p>
          <a:pPr algn="l"/>
          <a:endParaRPr lang="en-US" sz="1800" dirty="0"/>
        </a:p>
      </dgm:t>
    </dgm:pt>
    <dgm:pt modelId="{CF781491-114E-491A-8BCB-7D2C268B4E79}" type="parTrans" cxnId="{904D60AF-1B24-47A3-AEE8-C4C5260FF883}">
      <dgm:prSet/>
      <dgm:spPr/>
      <dgm:t>
        <a:bodyPr/>
        <a:lstStyle/>
        <a:p>
          <a:endParaRPr lang="en-US"/>
        </a:p>
      </dgm:t>
    </dgm:pt>
    <dgm:pt modelId="{2B51C596-55EE-4A40-BCB4-AB481804FD3B}" type="sibTrans" cxnId="{904D60AF-1B24-47A3-AEE8-C4C5260FF883}">
      <dgm:prSet/>
      <dgm:spPr/>
      <dgm:t>
        <a:bodyPr/>
        <a:lstStyle/>
        <a:p>
          <a:endParaRPr lang="en-US"/>
        </a:p>
      </dgm:t>
    </dgm:pt>
    <dgm:pt modelId="{C8049388-3E2E-4C32-8AE3-4DFEA4CC86B2}">
      <dgm:prSet phldrT="[Text]" custT="1"/>
      <dgm:spPr/>
      <dgm:t>
        <a:bodyPr/>
        <a:lstStyle/>
        <a:p>
          <a:pPr algn="ctr"/>
          <a:r>
            <a:rPr lang="en-US" sz="2000" b="1" dirty="0"/>
            <a:t>Base knowledge</a:t>
          </a:r>
          <a:endParaRPr lang="en-US" sz="3400" b="1" dirty="0"/>
        </a:p>
        <a:p>
          <a:pPr algn="l"/>
          <a:r>
            <a:rPr lang="en-US" sz="1600" dirty="0"/>
            <a:t>- Computer architecture</a:t>
          </a:r>
        </a:p>
        <a:p>
          <a:pPr algn="l"/>
          <a:r>
            <a:rPr lang="en-US" sz="1600" dirty="0"/>
            <a:t>- OS</a:t>
          </a:r>
        </a:p>
        <a:p>
          <a:pPr algn="l"/>
          <a:r>
            <a:rPr lang="en-US" sz="1600" dirty="0"/>
            <a:t>- Computer network</a:t>
          </a:r>
        </a:p>
        <a:p>
          <a:pPr algn="l"/>
          <a:r>
            <a:rPr lang="en-US" sz="1600" dirty="0"/>
            <a:t>- Data structures</a:t>
          </a:r>
        </a:p>
        <a:p>
          <a:pPr algn="l"/>
          <a:r>
            <a:rPr lang="en-US" sz="1600" dirty="0"/>
            <a:t>- Algorithm</a:t>
          </a:r>
        </a:p>
        <a:p>
          <a:pPr algn="l"/>
          <a:r>
            <a:rPr lang="en-US" sz="1600" dirty="0"/>
            <a:t>- Programming errors</a:t>
          </a:r>
        </a:p>
        <a:p>
          <a:pPr algn="l"/>
          <a:endParaRPr lang="en-US" sz="1600" dirty="0"/>
        </a:p>
        <a:p>
          <a:pPr algn="l"/>
          <a:endParaRPr lang="en-US" sz="1600" dirty="0"/>
        </a:p>
        <a:p>
          <a:pPr algn="ctr"/>
          <a:endParaRPr lang="en-US" sz="1800" dirty="0"/>
        </a:p>
      </dgm:t>
    </dgm:pt>
    <dgm:pt modelId="{0D0990D4-5AB6-4668-8538-C9422DB34F1A}" type="parTrans" cxnId="{CCE4A26C-5F62-4D7F-A06D-B21D9DC2C336}">
      <dgm:prSet/>
      <dgm:spPr/>
      <dgm:t>
        <a:bodyPr/>
        <a:lstStyle/>
        <a:p>
          <a:endParaRPr lang="en-US"/>
        </a:p>
      </dgm:t>
    </dgm:pt>
    <dgm:pt modelId="{26E6C7FC-930D-4A6F-9B9E-967FD9331263}" type="sibTrans" cxnId="{CCE4A26C-5F62-4D7F-A06D-B21D9DC2C336}">
      <dgm:prSet/>
      <dgm:spPr/>
      <dgm:t>
        <a:bodyPr/>
        <a:lstStyle/>
        <a:p>
          <a:endParaRPr lang="en-US"/>
        </a:p>
      </dgm:t>
    </dgm:pt>
    <dgm:pt modelId="{186E4C3C-0DE5-4549-8201-53AD8693B4CE}" type="pres">
      <dgm:prSet presAssocID="{7CC06187-9D70-4B6F-B2F8-3672CA5BFDE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AAB8B49-BFE9-42A1-92BC-A9FF3CE46B5E}" type="pres">
      <dgm:prSet presAssocID="{7B5F4772-9FBD-43AB-91D0-AE435ED68C46}" presName="hierRoot1" presStyleCnt="0"/>
      <dgm:spPr/>
    </dgm:pt>
    <dgm:pt modelId="{60B8BEAD-8A8D-4D9A-ACB8-51D8DD8E678F}" type="pres">
      <dgm:prSet presAssocID="{7B5F4772-9FBD-43AB-91D0-AE435ED68C46}" presName="composite" presStyleCnt="0"/>
      <dgm:spPr/>
    </dgm:pt>
    <dgm:pt modelId="{8CC6CBD3-23F6-4084-A5E3-FAAF029DDBD1}" type="pres">
      <dgm:prSet presAssocID="{7B5F4772-9FBD-43AB-91D0-AE435ED68C46}" presName="background" presStyleLbl="node0" presStyleIdx="0" presStyleCnt="1"/>
      <dgm:spPr/>
    </dgm:pt>
    <dgm:pt modelId="{00BBADEF-E44D-42DC-85A2-257B85620569}" type="pres">
      <dgm:prSet presAssocID="{7B5F4772-9FBD-43AB-91D0-AE435ED68C46}" presName="text" presStyleLbl="fgAcc0" presStyleIdx="0" presStyleCnt="1">
        <dgm:presLayoutVars>
          <dgm:chPref val="3"/>
        </dgm:presLayoutVars>
      </dgm:prSet>
      <dgm:spPr/>
    </dgm:pt>
    <dgm:pt modelId="{CD08584F-A139-4B09-8446-F63890F0CE70}" type="pres">
      <dgm:prSet presAssocID="{7B5F4772-9FBD-43AB-91D0-AE435ED68C46}" presName="hierChild2" presStyleCnt="0"/>
      <dgm:spPr/>
    </dgm:pt>
    <dgm:pt modelId="{F2362871-C0CC-418F-9574-50890163F491}" type="pres">
      <dgm:prSet presAssocID="{87385717-17C2-4757-8945-2965BA5FB827}" presName="Name10" presStyleLbl="parChTrans1D2" presStyleIdx="0" presStyleCnt="5"/>
      <dgm:spPr/>
    </dgm:pt>
    <dgm:pt modelId="{1692B5FF-2AB3-4D08-8C16-7A899DA7BDC1}" type="pres">
      <dgm:prSet presAssocID="{46B59980-2ABD-4B80-AADB-00B65B7EA937}" presName="hierRoot2" presStyleCnt="0"/>
      <dgm:spPr/>
    </dgm:pt>
    <dgm:pt modelId="{15896F1A-78B2-431F-907E-CF6110D255E2}" type="pres">
      <dgm:prSet presAssocID="{46B59980-2ABD-4B80-AADB-00B65B7EA937}" presName="composite2" presStyleCnt="0"/>
      <dgm:spPr/>
    </dgm:pt>
    <dgm:pt modelId="{325EA71B-B226-4951-92DE-CC3F8E02D1EB}" type="pres">
      <dgm:prSet presAssocID="{46B59980-2ABD-4B80-AADB-00B65B7EA937}" presName="background2" presStyleLbl="node2" presStyleIdx="0" presStyleCnt="5"/>
      <dgm:spPr/>
    </dgm:pt>
    <dgm:pt modelId="{442B0340-40F3-4DE5-91FA-2DE7089340EF}" type="pres">
      <dgm:prSet presAssocID="{46B59980-2ABD-4B80-AADB-00B65B7EA937}" presName="text2" presStyleLbl="fgAcc2" presStyleIdx="0" presStyleCnt="5" custScaleX="69238" custScaleY="126649">
        <dgm:presLayoutVars>
          <dgm:chPref val="3"/>
        </dgm:presLayoutVars>
      </dgm:prSet>
      <dgm:spPr/>
    </dgm:pt>
    <dgm:pt modelId="{2BF2EA0E-0309-4A0C-9644-0FDCA7667C42}" type="pres">
      <dgm:prSet presAssocID="{46B59980-2ABD-4B80-AADB-00B65B7EA937}" presName="hierChild3" presStyleCnt="0"/>
      <dgm:spPr/>
    </dgm:pt>
    <dgm:pt modelId="{88AE8F22-8EBA-49BC-B1BC-EEAAF7DCF96B}" type="pres">
      <dgm:prSet presAssocID="{6B1F50F6-965F-4C2E-B35C-6E3D8BDC5854}" presName="Name10" presStyleLbl="parChTrans1D2" presStyleIdx="1" presStyleCnt="5"/>
      <dgm:spPr/>
    </dgm:pt>
    <dgm:pt modelId="{C95C4C2A-E7B9-494E-94A3-B730179C4015}" type="pres">
      <dgm:prSet presAssocID="{5E0C64FC-EE13-46E7-9A6D-77C091E6F7F0}" presName="hierRoot2" presStyleCnt="0"/>
      <dgm:spPr/>
    </dgm:pt>
    <dgm:pt modelId="{76463757-FAAD-4364-8908-A3503FFCB927}" type="pres">
      <dgm:prSet presAssocID="{5E0C64FC-EE13-46E7-9A6D-77C091E6F7F0}" presName="composite2" presStyleCnt="0"/>
      <dgm:spPr/>
    </dgm:pt>
    <dgm:pt modelId="{8394BAF9-C052-456A-8E52-4EBE215FC679}" type="pres">
      <dgm:prSet presAssocID="{5E0C64FC-EE13-46E7-9A6D-77C091E6F7F0}" presName="background2" presStyleLbl="node2" presStyleIdx="1" presStyleCnt="5"/>
      <dgm:spPr/>
    </dgm:pt>
    <dgm:pt modelId="{F5E285E6-8D8E-4F02-85B9-B75B4B96339B}" type="pres">
      <dgm:prSet presAssocID="{5E0C64FC-EE13-46E7-9A6D-77C091E6F7F0}" presName="text2" presStyleLbl="fgAcc2" presStyleIdx="1" presStyleCnt="5" custScaleX="77406" custScaleY="230247">
        <dgm:presLayoutVars>
          <dgm:chPref val="3"/>
        </dgm:presLayoutVars>
      </dgm:prSet>
      <dgm:spPr/>
    </dgm:pt>
    <dgm:pt modelId="{61252644-3169-4FB6-81F5-780D301C506A}" type="pres">
      <dgm:prSet presAssocID="{5E0C64FC-EE13-46E7-9A6D-77C091E6F7F0}" presName="hierChild3" presStyleCnt="0"/>
      <dgm:spPr/>
    </dgm:pt>
    <dgm:pt modelId="{FD2861AE-1E74-4D60-9C5E-415E8D1544DD}" type="pres">
      <dgm:prSet presAssocID="{EFD38220-B3C6-4EE6-86AF-861A94689829}" presName="Name10" presStyleLbl="parChTrans1D2" presStyleIdx="2" presStyleCnt="5"/>
      <dgm:spPr/>
    </dgm:pt>
    <dgm:pt modelId="{824710F6-B4B8-4556-8ECA-8753A6536A33}" type="pres">
      <dgm:prSet presAssocID="{B80E73D4-A598-4D06-B285-3098DE891542}" presName="hierRoot2" presStyleCnt="0"/>
      <dgm:spPr/>
    </dgm:pt>
    <dgm:pt modelId="{2B7C982D-84CC-4506-A055-B816DE057A8B}" type="pres">
      <dgm:prSet presAssocID="{B80E73D4-A598-4D06-B285-3098DE891542}" presName="composite2" presStyleCnt="0"/>
      <dgm:spPr/>
    </dgm:pt>
    <dgm:pt modelId="{6796A1D0-962D-4339-AF49-7CFF12E2B28F}" type="pres">
      <dgm:prSet presAssocID="{B80E73D4-A598-4D06-B285-3098DE891542}" presName="background2" presStyleLbl="node2" presStyleIdx="2" presStyleCnt="5"/>
      <dgm:spPr/>
    </dgm:pt>
    <dgm:pt modelId="{2D40F849-0D06-4A77-8BBD-DA5FA292FCE5}" type="pres">
      <dgm:prSet presAssocID="{B80E73D4-A598-4D06-B285-3098DE891542}" presName="text2" presStyleLbl="fgAcc2" presStyleIdx="2" presStyleCnt="5" custScaleY="131711">
        <dgm:presLayoutVars>
          <dgm:chPref val="3"/>
        </dgm:presLayoutVars>
      </dgm:prSet>
      <dgm:spPr/>
    </dgm:pt>
    <dgm:pt modelId="{ABCCFA4D-8DF0-43DE-92B8-86D3A697FDC7}" type="pres">
      <dgm:prSet presAssocID="{B80E73D4-A598-4D06-B285-3098DE891542}" presName="hierChild3" presStyleCnt="0"/>
      <dgm:spPr/>
    </dgm:pt>
    <dgm:pt modelId="{6DE821F8-3C77-42F6-BB8B-265B9A0ED227}" type="pres">
      <dgm:prSet presAssocID="{CF781491-114E-491A-8BCB-7D2C268B4E79}" presName="Name10" presStyleLbl="parChTrans1D2" presStyleIdx="3" presStyleCnt="5"/>
      <dgm:spPr/>
    </dgm:pt>
    <dgm:pt modelId="{4D030FCF-46DC-46E9-9B83-92F495D59688}" type="pres">
      <dgm:prSet presAssocID="{C2290F20-DC44-40B7-B4B0-4FF3CBB386C9}" presName="hierRoot2" presStyleCnt="0"/>
      <dgm:spPr/>
    </dgm:pt>
    <dgm:pt modelId="{84026206-A240-4009-9ADC-3A36CE32B33E}" type="pres">
      <dgm:prSet presAssocID="{C2290F20-DC44-40B7-B4B0-4FF3CBB386C9}" presName="composite2" presStyleCnt="0"/>
      <dgm:spPr/>
    </dgm:pt>
    <dgm:pt modelId="{C6400E94-4A27-4BD1-9734-F4246756FF18}" type="pres">
      <dgm:prSet presAssocID="{C2290F20-DC44-40B7-B4B0-4FF3CBB386C9}" presName="background2" presStyleLbl="node2" presStyleIdx="3" presStyleCnt="5"/>
      <dgm:spPr/>
    </dgm:pt>
    <dgm:pt modelId="{8E00B3E7-CC12-4CF8-8EF5-8FC54D487950}" type="pres">
      <dgm:prSet presAssocID="{C2290F20-DC44-40B7-B4B0-4FF3CBB386C9}" presName="text2" presStyleLbl="fgAcc2" presStyleIdx="3" presStyleCnt="5" custScaleX="74763" custScaleY="148491">
        <dgm:presLayoutVars>
          <dgm:chPref val="3"/>
        </dgm:presLayoutVars>
      </dgm:prSet>
      <dgm:spPr/>
    </dgm:pt>
    <dgm:pt modelId="{2170A21A-3F7E-4683-92F4-C8B4D390F8C0}" type="pres">
      <dgm:prSet presAssocID="{C2290F20-DC44-40B7-B4B0-4FF3CBB386C9}" presName="hierChild3" presStyleCnt="0"/>
      <dgm:spPr/>
    </dgm:pt>
    <dgm:pt modelId="{3DE7CFF7-36EA-4403-A382-AE935834D313}" type="pres">
      <dgm:prSet presAssocID="{0D0990D4-5AB6-4668-8538-C9422DB34F1A}" presName="Name10" presStyleLbl="parChTrans1D2" presStyleIdx="4" presStyleCnt="5"/>
      <dgm:spPr/>
    </dgm:pt>
    <dgm:pt modelId="{63676CC6-23D2-4F26-A5EE-096382B3724E}" type="pres">
      <dgm:prSet presAssocID="{C8049388-3E2E-4C32-8AE3-4DFEA4CC86B2}" presName="hierRoot2" presStyleCnt="0"/>
      <dgm:spPr/>
    </dgm:pt>
    <dgm:pt modelId="{422DEAC7-5827-45AE-A448-CED68B8537FB}" type="pres">
      <dgm:prSet presAssocID="{C8049388-3E2E-4C32-8AE3-4DFEA4CC86B2}" presName="composite2" presStyleCnt="0"/>
      <dgm:spPr/>
    </dgm:pt>
    <dgm:pt modelId="{0D4A7E5E-CC7B-424A-BE27-8B3118AADA77}" type="pres">
      <dgm:prSet presAssocID="{C8049388-3E2E-4C32-8AE3-4DFEA4CC86B2}" presName="background2" presStyleLbl="node2" presStyleIdx="4" presStyleCnt="5"/>
      <dgm:spPr/>
    </dgm:pt>
    <dgm:pt modelId="{A5E6013C-90FA-4B8C-AA4B-8BD9BD797C8A}" type="pres">
      <dgm:prSet presAssocID="{C8049388-3E2E-4C32-8AE3-4DFEA4CC86B2}" presName="text2" presStyleLbl="fgAcc2" presStyleIdx="4" presStyleCnt="5" custScaleX="108578" custScaleY="230247" custLinFactNeighborX="113">
        <dgm:presLayoutVars>
          <dgm:chPref val="3"/>
        </dgm:presLayoutVars>
      </dgm:prSet>
      <dgm:spPr/>
    </dgm:pt>
    <dgm:pt modelId="{0A30637B-30CC-432F-8947-8D6648A7CD57}" type="pres">
      <dgm:prSet presAssocID="{C8049388-3E2E-4C32-8AE3-4DFEA4CC86B2}" presName="hierChild3" presStyleCnt="0"/>
      <dgm:spPr/>
    </dgm:pt>
  </dgm:ptLst>
  <dgm:cxnLst>
    <dgm:cxn modelId="{A5023F15-7B0C-4A53-9F60-3D1B20BA8A95}" type="presOf" srcId="{5E0C64FC-EE13-46E7-9A6D-77C091E6F7F0}" destId="{F5E285E6-8D8E-4F02-85B9-B75B4B96339B}" srcOrd="0" destOrd="0" presId="urn:microsoft.com/office/officeart/2005/8/layout/hierarchy1"/>
    <dgm:cxn modelId="{5720801A-AFE6-4707-AB73-75CFA63A74E0}" srcId="{7B5F4772-9FBD-43AB-91D0-AE435ED68C46}" destId="{5E0C64FC-EE13-46E7-9A6D-77C091E6F7F0}" srcOrd="1" destOrd="0" parTransId="{6B1F50F6-965F-4C2E-B35C-6E3D8BDC5854}" sibTransId="{C5A03A73-BD4C-4BF3-8309-A78CDBC14177}"/>
    <dgm:cxn modelId="{0612891F-1589-4065-B139-81246655B827}" type="presOf" srcId="{46B59980-2ABD-4B80-AADB-00B65B7EA937}" destId="{442B0340-40F3-4DE5-91FA-2DE7089340EF}" srcOrd="0" destOrd="0" presId="urn:microsoft.com/office/officeart/2005/8/layout/hierarchy1"/>
    <dgm:cxn modelId="{45B5B732-4900-4A42-8269-977DFD9DEE99}" type="presOf" srcId="{7B5F4772-9FBD-43AB-91D0-AE435ED68C46}" destId="{00BBADEF-E44D-42DC-85A2-257B85620569}" srcOrd="0" destOrd="0" presId="urn:microsoft.com/office/officeart/2005/8/layout/hierarchy1"/>
    <dgm:cxn modelId="{BB2B316C-B17B-4844-9A0C-EB62FF4DEE69}" type="presOf" srcId="{B80E73D4-A598-4D06-B285-3098DE891542}" destId="{2D40F849-0D06-4A77-8BBD-DA5FA292FCE5}" srcOrd="0" destOrd="0" presId="urn:microsoft.com/office/officeart/2005/8/layout/hierarchy1"/>
    <dgm:cxn modelId="{CCE4A26C-5F62-4D7F-A06D-B21D9DC2C336}" srcId="{7B5F4772-9FBD-43AB-91D0-AE435ED68C46}" destId="{C8049388-3E2E-4C32-8AE3-4DFEA4CC86B2}" srcOrd="4" destOrd="0" parTransId="{0D0990D4-5AB6-4668-8538-C9422DB34F1A}" sibTransId="{26E6C7FC-930D-4A6F-9B9E-967FD9331263}"/>
    <dgm:cxn modelId="{0967E08C-690B-4E30-9CB9-CE55A16940D4}" type="presOf" srcId="{0D0990D4-5AB6-4668-8538-C9422DB34F1A}" destId="{3DE7CFF7-36EA-4403-A382-AE935834D313}" srcOrd="0" destOrd="0" presId="urn:microsoft.com/office/officeart/2005/8/layout/hierarchy1"/>
    <dgm:cxn modelId="{12654D96-087F-4FD2-9C8C-E8DA3B2D1F52}" type="presOf" srcId="{CF781491-114E-491A-8BCB-7D2C268B4E79}" destId="{6DE821F8-3C77-42F6-BB8B-265B9A0ED227}" srcOrd="0" destOrd="0" presId="urn:microsoft.com/office/officeart/2005/8/layout/hierarchy1"/>
    <dgm:cxn modelId="{99EE429F-3865-4CE3-B9AD-BC7CE5515BCA}" type="presOf" srcId="{C8049388-3E2E-4C32-8AE3-4DFEA4CC86B2}" destId="{A5E6013C-90FA-4B8C-AA4B-8BD9BD797C8A}" srcOrd="0" destOrd="0" presId="urn:microsoft.com/office/officeart/2005/8/layout/hierarchy1"/>
    <dgm:cxn modelId="{E0EE4EA1-DB53-48FD-92D6-B308035FFD0C}" srcId="{7B5F4772-9FBD-43AB-91D0-AE435ED68C46}" destId="{46B59980-2ABD-4B80-AADB-00B65B7EA937}" srcOrd="0" destOrd="0" parTransId="{87385717-17C2-4757-8945-2965BA5FB827}" sibTransId="{7C7F22E5-693F-4042-82B7-D7FD6F30CF0F}"/>
    <dgm:cxn modelId="{807D38A5-0FD1-407C-B9BB-99882157DDAD}" type="presOf" srcId="{EFD38220-B3C6-4EE6-86AF-861A94689829}" destId="{FD2861AE-1E74-4D60-9C5E-415E8D1544DD}" srcOrd="0" destOrd="0" presId="urn:microsoft.com/office/officeart/2005/8/layout/hierarchy1"/>
    <dgm:cxn modelId="{904D60AF-1B24-47A3-AEE8-C4C5260FF883}" srcId="{7B5F4772-9FBD-43AB-91D0-AE435ED68C46}" destId="{C2290F20-DC44-40B7-B4B0-4FF3CBB386C9}" srcOrd="3" destOrd="0" parTransId="{CF781491-114E-491A-8BCB-7D2C268B4E79}" sibTransId="{2B51C596-55EE-4A40-BCB4-AB481804FD3B}"/>
    <dgm:cxn modelId="{965CC2DD-956A-4CB3-AE16-B42DA9831C8A}" type="presOf" srcId="{87385717-17C2-4757-8945-2965BA5FB827}" destId="{F2362871-C0CC-418F-9574-50890163F491}" srcOrd="0" destOrd="0" presId="urn:microsoft.com/office/officeart/2005/8/layout/hierarchy1"/>
    <dgm:cxn modelId="{5B46FBDF-B7A0-4492-8736-3F5F87465390}" type="presOf" srcId="{6B1F50F6-965F-4C2E-B35C-6E3D8BDC5854}" destId="{88AE8F22-8EBA-49BC-B1BC-EEAAF7DCF96B}" srcOrd="0" destOrd="0" presId="urn:microsoft.com/office/officeart/2005/8/layout/hierarchy1"/>
    <dgm:cxn modelId="{2C7A72E8-069F-40E0-8DFB-4DC906780694}" type="presOf" srcId="{C2290F20-DC44-40B7-B4B0-4FF3CBB386C9}" destId="{8E00B3E7-CC12-4CF8-8EF5-8FC54D487950}" srcOrd="0" destOrd="0" presId="urn:microsoft.com/office/officeart/2005/8/layout/hierarchy1"/>
    <dgm:cxn modelId="{71B221F3-A063-4F16-9C83-B2303AC83746}" srcId="{7B5F4772-9FBD-43AB-91D0-AE435ED68C46}" destId="{B80E73D4-A598-4D06-B285-3098DE891542}" srcOrd="2" destOrd="0" parTransId="{EFD38220-B3C6-4EE6-86AF-861A94689829}" sibTransId="{7EDB23C0-9056-4FDA-8A59-1093EDEAD248}"/>
    <dgm:cxn modelId="{24B710F7-1D96-4CE2-986A-657BEE74A935}" type="presOf" srcId="{7CC06187-9D70-4B6F-B2F8-3672CA5BFDEE}" destId="{186E4C3C-0DE5-4549-8201-53AD8693B4CE}" srcOrd="0" destOrd="0" presId="urn:microsoft.com/office/officeart/2005/8/layout/hierarchy1"/>
    <dgm:cxn modelId="{ABA00FFC-1AE8-4167-B201-DF1DD1E667D0}" srcId="{7CC06187-9D70-4B6F-B2F8-3672CA5BFDEE}" destId="{7B5F4772-9FBD-43AB-91D0-AE435ED68C46}" srcOrd="0" destOrd="0" parTransId="{64388996-8756-491E-AB14-FB522F007FF2}" sibTransId="{D0BB2D0F-2EA0-4D56-9652-4C1E3C4CDD7D}"/>
    <dgm:cxn modelId="{FE76BB49-31CD-4E0B-A349-A0FAE3051073}" type="presParOf" srcId="{186E4C3C-0DE5-4549-8201-53AD8693B4CE}" destId="{1AAB8B49-BFE9-42A1-92BC-A9FF3CE46B5E}" srcOrd="0" destOrd="0" presId="urn:microsoft.com/office/officeart/2005/8/layout/hierarchy1"/>
    <dgm:cxn modelId="{D93F5E0C-D9F8-4676-ACA2-E6A96F567A55}" type="presParOf" srcId="{1AAB8B49-BFE9-42A1-92BC-A9FF3CE46B5E}" destId="{60B8BEAD-8A8D-4D9A-ACB8-51D8DD8E678F}" srcOrd="0" destOrd="0" presId="urn:microsoft.com/office/officeart/2005/8/layout/hierarchy1"/>
    <dgm:cxn modelId="{C441CF15-9421-4456-949F-6B0888AEBC5C}" type="presParOf" srcId="{60B8BEAD-8A8D-4D9A-ACB8-51D8DD8E678F}" destId="{8CC6CBD3-23F6-4084-A5E3-FAAF029DDBD1}" srcOrd="0" destOrd="0" presId="urn:microsoft.com/office/officeart/2005/8/layout/hierarchy1"/>
    <dgm:cxn modelId="{6AABE086-57E0-4ACB-A530-65C478C26E08}" type="presParOf" srcId="{60B8BEAD-8A8D-4D9A-ACB8-51D8DD8E678F}" destId="{00BBADEF-E44D-42DC-85A2-257B85620569}" srcOrd="1" destOrd="0" presId="urn:microsoft.com/office/officeart/2005/8/layout/hierarchy1"/>
    <dgm:cxn modelId="{F9D582C1-84C8-41B3-B8CA-57D885B0F35D}" type="presParOf" srcId="{1AAB8B49-BFE9-42A1-92BC-A9FF3CE46B5E}" destId="{CD08584F-A139-4B09-8446-F63890F0CE70}" srcOrd="1" destOrd="0" presId="urn:microsoft.com/office/officeart/2005/8/layout/hierarchy1"/>
    <dgm:cxn modelId="{1D212DB4-512D-4596-9CA8-018EE86133B9}" type="presParOf" srcId="{CD08584F-A139-4B09-8446-F63890F0CE70}" destId="{F2362871-C0CC-418F-9574-50890163F491}" srcOrd="0" destOrd="0" presId="urn:microsoft.com/office/officeart/2005/8/layout/hierarchy1"/>
    <dgm:cxn modelId="{D2F30D8F-13AE-4247-96B9-DD744A99768E}" type="presParOf" srcId="{CD08584F-A139-4B09-8446-F63890F0CE70}" destId="{1692B5FF-2AB3-4D08-8C16-7A899DA7BDC1}" srcOrd="1" destOrd="0" presId="urn:microsoft.com/office/officeart/2005/8/layout/hierarchy1"/>
    <dgm:cxn modelId="{8A1A4DED-9442-4AA1-8BCA-E4D2B96CB217}" type="presParOf" srcId="{1692B5FF-2AB3-4D08-8C16-7A899DA7BDC1}" destId="{15896F1A-78B2-431F-907E-CF6110D255E2}" srcOrd="0" destOrd="0" presId="urn:microsoft.com/office/officeart/2005/8/layout/hierarchy1"/>
    <dgm:cxn modelId="{ACBD3853-12CF-4BEF-9987-E0A7C0453AC2}" type="presParOf" srcId="{15896F1A-78B2-431F-907E-CF6110D255E2}" destId="{325EA71B-B226-4951-92DE-CC3F8E02D1EB}" srcOrd="0" destOrd="0" presId="urn:microsoft.com/office/officeart/2005/8/layout/hierarchy1"/>
    <dgm:cxn modelId="{9D192EB7-6923-4C3F-8DF6-728F6A925CC9}" type="presParOf" srcId="{15896F1A-78B2-431F-907E-CF6110D255E2}" destId="{442B0340-40F3-4DE5-91FA-2DE7089340EF}" srcOrd="1" destOrd="0" presId="urn:microsoft.com/office/officeart/2005/8/layout/hierarchy1"/>
    <dgm:cxn modelId="{A5EEEA1A-3ABE-4EC0-B4C8-1E383B0FCFF0}" type="presParOf" srcId="{1692B5FF-2AB3-4D08-8C16-7A899DA7BDC1}" destId="{2BF2EA0E-0309-4A0C-9644-0FDCA7667C42}" srcOrd="1" destOrd="0" presId="urn:microsoft.com/office/officeart/2005/8/layout/hierarchy1"/>
    <dgm:cxn modelId="{2975D8E5-7042-444F-BD69-DD4DF34FF566}" type="presParOf" srcId="{CD08584F-A139-4B09-8446-F63890F0CE70}" destId="{88AE8F22-8EBA-49BC-B1BC-EEAAF7DCF96B}" srcOrd="2" destOrd="0" presId="urn:microsoft.com/office/officeart/2005/8/layout/hierarchy1"/>
    <dgm:cxn modelId="{97BFDA58-9655-47A6-B7D7-C9402C876BA0}" type="presParOf" srcId="{CD08584F-A139-4B09-8446-F63890F0CE70}" destId="{C95C4C2A-E7B9-494E-94A3-B730179C4015}" srcOrd="3" destOrd="0" presId="urn:microsoft.com/office/officeart/2005/8/layout/hierarchy1"/>
    <dgm:cxn modelId="{EB83D9E5-E4C2-4F1C-8508-B7FFD235DBE5}" type="presParOf" srcId="{C95C4C2A-E7B9-494E-94A3-B730179C4015}" destId="{76463757-FAAD-4364-8908-A3503FFCB927}" srcOrd="0" destOrd="0" presId="urn:microsoft.com/office/officeart/2005/8/layout/hierarchy1"/>
    <dgm:cxn modelId="{8B39FDDB-4F9A-4A73-9CDC-466993CADB53}" type="presParOf" srcId="{76463757-FAAD-4364-8908-A3503FFCB927}" destId="{8394BAF9-C052-456A-8E52-4EBE215FC679}" srcOrd="0" destOrd="0" presId="urn:microsoft.com/office/officeart/2005/8/layout/hierarchy1"/>
    <dgm:cxn modelId="{FCB9B8FB-2EF4-40EA-AF3B-ADB913C70FEC}" type="presParOf" srcId="{76463757-FAAD-4364-8908-A3503FFCB927}" destId="{F5E285E6-8D8E-4F02-85B9-B75B4B96339B}" srcOrd="1" destOrd="0" presId="urn:microsoft.com/office/officeart/2005/8/layout/hierarchy1"/>
    <dgm:cxn modelId="{5FA48845-B3C6-4D56-B817-D28E050F6187}" type="presParOf" srcId="{C95C4C2A-E7B9-494E-94A3-B730179C4015}" destId="{61252644-3169-4FB6-81F5-780D301C506A}" srcOrd="1" destOrd="0" presId="urn:microsoft.com/office/officeart/2005/8/layout/hierarchy1"/>
    <dgm:cxn modelId="{569B89FA-83F3-41E1-AD8D-2D9584BA0F38}" type="presParOf" srcId="{CD08584F-A139-4B09-8446-F63890F0CE70}" destId="{FD2861AE-1E74-4D60-9C5E-415E8D1544DD}" srcOrd="4" destOrd="0" presId="urn:microsoft.com/office/officeart/2005/8/layout/hierarchy1"/>
    <dgm:cxn modelId="{4F9D7F37-976B-4819-9A99-620013402232}" type="presParOf" srcId="{CD08584F-A139-4B09-8446-F63890F0CE70}" destId="{824710F6-B4B8-4556-8ECA-8753A6536A33}" srcOrd="5" destOrd="0" presId="urn:microsoft.com/office/officeart/2005/8/layout/hierarchy1"/>
    <dgm:cxn modelId="{534C290D-7D15-4FAB-94D2-1627FE72C076}" type="presParOf" srcId="{824710F6-B4B8-4556-8ECA-8753A6536A33}" destId="{2B7C982D-84CC-4506-A055-B816DE057A8B}" srcOrd="0" destOrd="0" presId="urn:microsoft.com/office/officeart/2005/8/layout/hierarchy1"/>
    <dgm:cxn modelId="{0EDF0171-3A5C-42A3-8B72-5A3551A5EAA3}" type="presParOf" srcId="{2B7C982D-84CC-4506-A055-B816DE057A8B}" destId="{6796A1D0-962D-4339-AF49-7CFF12E2B28F}" srcOrd="0" destOrd="0" presId="urn:microsoft.com/office/officeart/2005/8/layout/hierarchy1"/>
    <dgm:cxn modelId="{C962E22F-8902-4E78-ACFE-B66B0B26425F}" type="presParOf" srcId="{2B7C982D-84CC-4506-A055-B816DE057A8B}" destId="{2D40F849-0D06-4A77-8BBD-DA5FA292FCE5}" srcOrd="1" destOrd="0" presId="urn:microsoft.com/office/officeart/2005/8/layout/hierarchy1"/>
    <dgm:cxn modelId="{8B85753F-135A-40CB-B3E6-AC1684DD5170}" type="presParOf" srcId="{824710F6-B4B8-4556-8ECA-8753A6536A33}" destId="{ABCCFA4D-8DF0-43DE-92B8-86D3A697FDC7}" srcOrd="1" destOrd="0" presId="urn:microsoft.com/office/officeart/2005/8/layout/hierarchy1"/>
    <dgm:cxn modelId="{33538068-E6F3-49C7-BDBC-6B7BB6EA2FBE}" type="presParOf" srcId="{CD08584F-A139-4B09-8446-F63890F0CE70}" destId="{6DE821F8-3C77-42F6-BB8B-265B9A0ED227}" srcOrd="6" destOrd="0" presId="urn:microsoft.com/office/officeart/2005/8/layout/hierarchy1"/>
    <dgm:cxn modelId="{821E46AD-D0C1-4F27-B2C3-4E1DFB807208}" type="presParOf" srcId="{CD08584F-A139-4B09-8446-F63890F0CE70}" destId="{4D030FCF-46DC-46E9-9B83-92F495D59688}" srcOrd="7" destOrd="0" presId="urn:microsoft.com/office/officeart/2005/8/layout/hierarchy1"/>
    <dgm:cxn modelId="{512D2180-5D29-47F3-960E-4D4C9139EE22}" type="presParOf" srcId="{4D030FCF-46DC-46E9-9B83-92F495D59688}" destId="{84026206-A240-4009-9ADC-3A36CE32B33E}" srcOrd="0" destOrd="0" presId="urn:microsoft.com/office/officeart/2005/8/layout/hierarchy1"/>
    <dgm:cxn modelId="{B7A1786E-7B31-4735-AD8F-85615EC91201}" type="presParOf" srcId="{84026206-A240-4009-9ADC-3A36CE32B33E}" destId="{C6400E94-4A27-4BD1-9734-F4246756FF18}" srcOrd="0" destOrd="0" presId="urn:microsoft.com/office/officeart/2005/8/layout/hierarchy1"/>
    <dgm:cxn modelId="{AED855FF-CDAF-4156-AFC7-08E459E66C38}" type="presParOf" srcId="{84026206-A240-4009-9ADC-3A36CE32B33E}" destId="{8E00B3E7-CC12-4CF8-8EF5-8FC54D487950}" srcOrd="1" destOrd="0" presId="urn:microsoft.com/office/officeart/2005/8/layout/hierarchy1"/>
    <dgm:cxn modelId="{0150BA0F-6366-4887-85E1-05C70800F034}" type="presParOf" srcId="{4D030FCF-46DC-46E9-9B83-92F495D59688}" destId="{2170A21A-3F7E-4683-92F4-C8B4D390F8C0}" srcOrd="1" destOrd="0" presId="urn:microsoft.com/office/officeart/2005/8/layout/hierarchy1"/>
    <dgm:cxn modelId="{7B2D5DF1-91B5-43C8-BB8D-53CD964BB614}" type="presParOf" srcId="{CD08584F-A139-4B09-8446-F63890F0CE70}" destId="{3DE7CFF7-36EA-4403-A382-AE935834D313}" srcOrd="8" destOrd="0" presId="urn:microsoft.com/office/officeart/2005/8/layout/hierarchy1"/>
    <dgm:cxn modelId="{0111B223-C03F-48F5-9760-E84B802879BB}" type="presParOf" srcId="{CD08584F-A139-4B09-8446-F63890F0CE70}" destId="{63676CC6-23D2-4F26-A5EE-096382B3724E}" srcOrd="9" destOrd="0" presId="urn:microsoft.com/office/officeart/2005/8/layout/hierarchy1"/>
    <dgm:cxn modelId="{9318913F-833C-43AD-8E5B-0061D1CFFF90}" type="presParOf" srcId="{63676CC6-23D2-4F26-A5EE-096382B3724E}" destId="{422DEAC7-5827-45AE-A448-CED68B8537FB}" srcOrd="0" destOrd="0" presId="urn:microsoft.com/office/officeart/2005/8/layout/hierarchy1"/>
    <dgm:cxn modelId="{E534C9AF-5036-4E68-997B-F43360A69D88}" type="presParOf" srcId="{422DEAC7-5827-45AE-A448-CED68B8537FB}" destId="{0D4A7E5E-CC7B-424A-BE27-8B3118AADA77}" srcOrd="0" destOrd="0" presId="urn:microsoft.com/office/officeart/2005/8/layout/hierarchy1"/>
    <dgm:cxn modelId="{89C235F2-80E3-4BE3-AA28-79C1A5037BBE}" type="presParOf" srcId="{422DEAC7-5827-45AE-A448-CED68B8537FB}" destId="{A5E6013C-90FA-4B8C-AA4B-8BD9BD797C8A}" srcOrd="1" destOrd="0" presId="urn:microsoft.com/office/officeart/2005/8/layout/hierarchy1"/>
    <dgm:cxn modelId="{9A10F6C7-EEE0-4991-B7D3-B047E2EC03B1}" type="presParOf" srcId="{63676CC6-23D2-4F26-A5EE-096382B3724E}" destId="{0A30637B-30CC-432F-8947-8D6648A7CD5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E7CFF7-36EA-4403-A382-AE935834D313}">
      <dsp:nvSpPr>
        <dsp:cNvPr id="0" name=""/>
        <dsp:cNvSpPr/>
      </dsp:nvSpPr>
      <dsp:spPr>
        <a:xfrm>
          <a:off x="5968305" y="2022940"/>
          <a:ext cx="4717926" cy="668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550"/>
              </a:lnTo>
              <a:lnTo>
                <a:pt x="4717926" y="455550"/>
              </a:lnTo>
              <a:lnTo>
                <a:pt x="4717926" y="6684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E821F8-3C77-42F6-BB8B-265B9A0ED227}">
      <dsp:nvSpPr>
        <dsp:cNvPr id="0" name=""/>
        <dsp:cNvSpPr/>
      </dsp:nvSpPr>
      <dsp:spPr>
        <a:xfrm>
          <a:off x="5968305" y="2022940"/>
          <a:ext cx="2097502" cy="668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550"/>
              </a:lnTo>
              <a:lnTo>
                <a:pt x="2097502" y="455550"/>
              </a:lnTo>
              <a:lnTo>
                <a:pt x="2097502" y="6684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2861AE-1E74-4D60-9C5E-415E8D1544DD}">
      <dsp:nvSpPr>
        <dsp:cNvPr id="0" name=""/>
        <dsp:cNvSpPr/>
      </dsp:nvSpPr>
      <dsp:spPr>
        <a:xfrm>
          <a:off x="5546564" y="2022940"/>
          <a:ext cx="421740" cy="668480"/>
        </a:xfrm>
        <a:custGeom>
          <a:avLst/>
          <a:gdLst/>
          <a:ahLst/>
          <a:cxnLst/>
          <a:rect l="0" t="0" r="0" b="0"/>
          <a:pathLst>
            <a:path>
              <a:moveTo>
                <a:pt x="421740" y="0"/>
              </a:moveTo>
              <a:lnTo>
                <a:pt x="421740" y="455550"/>
              </a:lnTo>
              <a:lnTo>
                <a:pt x="0" y="455550"/>
              </a:lnTo>
              <a:lnTo>
                <a:pt x="0" y="6684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AE8F22-8EBA-49BC-B1BC-EEAAF7DCF96B}">
      <dsp:nvSpPr>
        <dsp:cNvPr id="0" name=""/>
        <dsp:cNvSpPr/>
      </dsp:nvSpPr>
      <dsp:spPr>
        <a:xfrm>
          <a:off x="2996946" y="2022940"/>
          <a:ext cx="2971358" cy="668480"/>
        </a:xfrm>
        <a:custGeom>
          <a:avLst/>
          <a:gdLst/>
          <a:ahLst/>
          <a:cxnLst/>
          <a:rect l="0" t="0" r="0" b="0"/>
          <a:pathLst>
            <a:path>
              <a:moveTo>
                <a:pt x="2971358" y="0"/>
              </a:moveTo>
              <a:lnTo>
                <a:pt x="2971358" y="455550"/>
              </a:lnTo>
              <a:lnTo>
                <a:pt x="0" y="455550"/>
              </a:lnTo>
              <a:lnTo>
                <a:pt x="0" y="6684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62871-C0CC-418F-9574-50890163F491}">
      <dsp:nvSpPr>
        <dsp:cNvPr id="0" name=""/>
        <dsp:cNvSpPr/>
      </dsp:nvSpPr>
      <dsp:spPr>
        <a:xfrm>
          <a:off x="800861" y="2022940"/>
          <a:ext cx="5167443" cy="668480"/>
        </a:xfrm>
        <a:custGeom>
          <a:avLst/>
          <a:gdLst/>
          <a:ahLst/>
          <a:cxnLst/>
          <a:rect l="0" t="0" r="0" b="0"/>
          <a:pathLst>
            <a:path>
              <a:moveTo>
                <a:pt x="5167443" y="0"/>
              </a:moveTo>
              <a:lnTo>
                <a:pt x="5167443" y="455550"/>
              </a:lnTo>
              <a:lnTo>
                <a:pt x="0" y="455550"/>
              </a:lnTo>
              <a:lnTo>
                <a:pt x="0" y="6684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C6CBD3-23F6-4084-A5E3-FAAF029DDBD1}">
      <dsp:nvSpPr>
        <dsp:cNvPr id="0" name=""/>
        <dsp:cNvSpPr/>
      </dsp:nvSpPr>
      <dsp:spPr>
        <a:xfrm>
          <a:off x="4819054" y="563391"/>
          <a:ext cx="2298501" cy="1459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BBADEF-E44D-42DC-85A2-257B85620569}">
      <dsp:nvSpPr>
        <dsp:cNvPr id="0" name=""/>
        <dsp:cNvSpPr/>
      </dsp:nvSpPr>
      <dsp:spPr>
        <a:xfrm>
          <a:off x="5074443" y="806011"/>
          <a:ext cx="2298501" cy="1459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LẬP TRÌNH</a:t>
          </a:r>
        </a:p>
      </dsp:txBody>
      <dsp:txXfrm>
        <a:off x="5117192" y="848760"/>
        <a:ext cx="2213003" cy="1374050"/>
      </dsp:txXfrm>
    </dsp:sp>
    <dsp:sp modelId="{325EA71B-B226-4951-92DE-CC3F8E02D1EB}">
      <dsp:nvSpPr>
        <dsp:cNvPr id="0" name=""/>
        <dsp:cNvSpPr/>
      </dsp:nvSpPr>
      <dsp:spPr>
        <a:xfrm>
          <a:off x="5143" y="2691421"/>
          <a:ext cx="1591436" cy="18485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B0340-40F3-4DE5-91FA-2DE7089340EF}">
      <dsp:nvSpPr>
        <dsp:cNvPr id="0" name=""/>
        <dsp:cNvSpPr/>
      </dsp:nvSpPr>
      <dsp:spPr>
        <a:xfrm>
          <a:off x="260532" y="2934040"/>
          <a:ext cx="1591436" cy="18485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Program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 Software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 Application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 Utilities</a:t>
          </a:r>
        </a:p>
      </dsp:txBody>
      <dsp:txXfrm>
        <a:off x="307144" y="2980652"/>
        <a:ext cx="1498212" cy="1755279"/>
      </dsp:txXfrm>
    </dsp:sp>
    <dsp:sp modelId="{8394BAF9-C052-456A-8E52-4EBE215FC679}">
      <dsp:nvSpPr>
        <dsp:cNvPr id="0" name=""/>
        <dsp:cNvSpPr/>
      </dsp:nvSpPr>
      <dsp:spPr>
        <a:xfrm>
          <a:off x="2107357" y="2691421"/>
          <a:ext cx="1779178" cy="33605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285E6-8D8E-4F02-85B9-B75B4B96339B}">
      <dsp:nvSpPr>
        <dsp:cNvPr id="0" name=""/>
        <dsp:cNvSpPr/>
      </dsp:nvSpPr>
      <dsp:spPr>
        <a:xfrm>
          <a:off x="2362746" y="2934040"/>
          <a:ext cx="1779178" cy="33605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Code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Source code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Machine code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Binary code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Assembly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Open Source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Coder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Programmer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Developer</a:t>
          </a:r>
        </a:p>
      </dsp:txBody>
      <dsp:txXfrm>
        <a:off x="2414856" y="2986150"/>
        <a:ext cx="1674958" cy="3256346"/>
      </dsp:txXfrm>
    </dsp:sp>
    <dsp:sp modelId="{6796A1D0-962D-4339-AF49-7CFF12E2B28F}">
      <dsp:nvSpPr>
        <dsp:cNvPr id="0" name=""/>
        <dsp:cNvSpPr/>
      </dsp:nvSpPr>
      <dsp:spPr>
        <a:xfrm>
          <a:off x="4397314" y="2691421"/>
          <a:ext cx="2298501" cy="19223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0F849-0D06-4A77-8BBD-DA5FA292FCE5}">
      <dsp:nvSpPr>
        <dsp:cNvPr id="0" name=""/>
        <dsp:cNvSpPr/>
      </dsp:nvSpPr>
      <dsp:spPr>
        <a:xfrm>
          <a:off x="4652703" y="2934040"/>
          <a:ext cx="2298501" cy="19223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Platform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Hardware platform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Software platform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Platform for Java </a:t>
          </a:r>
        </a:p>
      </dsp:txBody>
      <dsp:txXfrm>
        <a:off x="4709008" y="2990345"/>
        <a:ext cx="2185891" cy="1809775"/>
      </dsp:txXfrm>
    </dsp:sp>
    <dsp:sp modelId="{C6400E94-4A27-4BD1-9734-F4246756FF18}">
      <dsp:nvSpPr>
        <dsp:cNvPr id="0" name=""/>
        <dsp:cNvSpPr/>
      </dsp:nvSpPr>
      <dsp:spPr>
        <a:xfrm>
          <a:off x="7206593" y="2691421"/>
          <a:ext cx="1718428" cy="21672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0B3E7-CC12-4CF8-8EF5-8FC54D487950}">
      <dsp:nvSpPr>
        <dsp:cNvPr id="0" name=""/>
        <dsp:cNvSpPr/>
      </dsp:nvSpPr>
      <dsp:spPr>
        <a:xfrm>
          <a:off x="7461982" y="2934040"/>
          <a:ext cx="1718428" cy="21672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Support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 API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 Library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 Framework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7512313" y="2984371"/>
        <a:ext cx="1617766" cy="2066636"/>
      </dsp:txXfrm>
    </dsp:sp>
    <dsp:sp modelId="{0D4A7E5E-CC7B-424A-BE27-8B3118AADA77}">
      <dsp:nvSpPr>
        <dsp:cNvPr id="0" name=""/>
        <dsp:cNvSpPr/>
      </dsp:nvSpPr>
      <dsp:spPr>
        <a:xfrm>
          <a:off x="9438397" y="2691421"/>
          <a:ext cx="2495667" cy="33605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6013C-90FA-4B8C-AA4B-8BD9BD797C8A}">
      <dsp:nvSpPr>
        <dsp:cNvPr id="0" name=""/>
        <dsp:cNvSpPr/>
      </dsp:nvSpPr>
      <dsp:spPr>
        <a:xfrm>
          <a:off x="9693787" y="2934040"/>
          <a:ext cx="2495667" cy="33605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Base knowledge</a:t>
          </a:r>
          <a:endParaRPr lang="en-US" sz="3400" b="1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Computer architecture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OS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Computer network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Data structures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Algorithm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Programming errors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9766883" y="3007136"/>
        <a:ext cx="2349475" cy="3214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2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8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9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4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77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3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2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1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18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1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05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360EF-DDC8-D3DD-35B8-C01263DBF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D909A-3FDE-3A2F-4DC9-BF7473255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C3B83-38FE-7B9C-8D2A-4E9B81F6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F017-1435-4726-A0C1-FF670149479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22A77-CB84-C1DF-74C7-C82821E14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84505-6F4E-7D43-3FD7-4EB76B5B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C08F7-AEA0-4A1F-B803-750FBCE79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8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963C0-FF7D-10DC-E022-171F195B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D9254-D52C-C152-044C-56C977371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621D4-CB38-1A26-05EE-AE519A6CA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F017-1435-4726-A0C1-FF670149479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F5618-1958-D09C-0750-BF38C428F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1BB6A-D694-58CF-19AC-709D37E8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C08F7-AEA0-4A1F-B803-750FBCE79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55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67F8-59EF-F647-6462-97215C3D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0DAEA-985F-CEA6-B582-1841C9A2F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306F0-C5F7-A521-5896-5038181B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F017-1435-4726-A0C1-FF670149479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C779A-E58A-0286-0DFD-D24E52AFB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E0CA5-48AA-9EEB-8F5E-6F5AB15C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C08F7-AEA0-4A1F-B803-750FBCE79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48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636F-859C-756F-F0AA-CF8FD48F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479BC-6921-74DC-0CF6-1E14ADDE4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C8F6C-FA65-3564-7C5F-A82ED1757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86295-1366-C8B7-4E3D-AC299A6E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F017-1435-4726-A0C1-FF670149479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EDD6C-EB1F-1844-5866-32659220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8D655-9DBF-2F17-3623-A3524EF5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C08F7-AEA0-4A1F-B803-750FBCE79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05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AFE0-1213-8404-924B-AB2408C10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980D8-C749-653A-BB58-912980B8E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087F-BB67-CC40-ED25-DCD896C1B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97AA13-77A2-6696-E616-F6E87ECF7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21926F-409A-D4B0-9AC0-69D88A62C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B36DF7-AAA8-63FF-116C-29DBF5F60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F017-1435-4726-A0C1-FF670149479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038F5-684D-6D87-EEF3-23C233AA5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8BB1F1-D750-62C6-D246-AF896D301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C08F7-AEA0-4A1F-B803-750FBCE79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07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B1E8C-DACF-FBFD-FA24-A44F4FD42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0FA9A-2164-8F98-2122-0634B8EDD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F017-1435-4726-A0C1-FF670149479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D26DF-AE83-98F2-D18B-F99A9FF5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E0979-8E1E-FEE8-BE7C-7BF855EA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C08F7-AEA0-4A1F-B803-750FBCE79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5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352F5A-3F18-00FA-A47E-A9E389DCE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F017-1435-4726-A0C1-FF670149479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BBC50-6F5B-69B1-BDE0-08E9517E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FFE22-482E-5BDE-985D-60B81C92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C08F7-AEA0-4A1F-B803-750FBCE79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175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CB94-1D73-428C-FEC1-D0726C637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02FAF-2DC0-A9CF-3998-4EEFB5AE0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7172C-1750-6AB1-B0DE-CD096970A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0607F-64AD-D033-B90A-6C8ADF449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F017-1435-4726-A0C1-FF670149479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725EE-FADD-B52A-B74C-3048B61A9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E4004-37CF-FA79-1B37-B441A93A9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C08F7-AEA0-4A1F-B803-750FBCE79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537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3B3C5-EB3B-1EDF-59D1-D9CC5F044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ADDF3-5A41-A996-64BC-C74A2348F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BC06B-349A-B37B-35F2-96926FC1C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5BA56-1BCD-8F26-6473-8E99EFEF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F017-1435-4726-A0C1-FF670149479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08359-2F8E-CB3B-C7E6-5C765902F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1C82D-2471-255A-CD17-EA6703C7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C08F7-AEA0-4A1F-B803-750FBCE79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338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5BFA6-FF16-B477-1212-14850FF9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6406A-03C5-D775-EF2D-738FF676A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B39B7-57CB-C55E-ECEE-455121D3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F017-1435-4726-A0C1-FF670149479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064CA-0212-1E37-40F2-344FBD5EC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88C7F-27B6-3B84-9E41-C2A1FD02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C08F7-AEA0-4A1F-B803-750FBCE79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26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4F368E-DD73-8FD7-E32F-2C0F169FD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BD433-5009-C149-AC47-3E2D142EB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B65ED-E1B7-4EDA-EE48-004D592C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F017-1435-4726-A0C1-FF670149479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44BF5-F952-3757-810E-0B64EEF0D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991F2-1F33-F1F6-8E40-994C0058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C08F7-AEA0-4A1F-B803-750FBCE79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90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0A853-713D-413B-9E54-776354ECD37D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FE996-ADC1-423F-83B4-C8D3E09CA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56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184F0-1411-55D6-EA01-291FFC80C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385B5-A7CA-9637-6123-54BB9BD27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F63F1-731E-C3C3-ED33-F82D8A5FF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9F017-1435-4726-A0C1-FF670149479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EEF86-7FDA-E70A-53A8-B35697AA2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C46F3-3D5E-82D3-AB3D-9D08742FF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C08F7-AEA0-4A1F-B803-750FBCE79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98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phuongitiuh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ava/java_compiler.asp" TargetMode="External"/><Relationship Id="rId2" Type="http://schemas.openxmlformats.org/officeDocument/2006/relationships/hyperlink" Target="https://www.jdoodle.com/online-java-compil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rogramiz.com/java-programming/online-compiler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doptopenjdk.net/" TargetMode="External"/><Relationship Id="rId2" Type="http://schemas.openxmlformats.org/officeDocument/2006/relationships/hyperlink" Target="https://www.oracle.com/java/technologies/javase-download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clipse.org/downloads/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vidvan.com/tutorials/java-class/" TargetMode="External"/><Relationship Id="rId2" Type="http://schemas.openxmlformats.org/officeDocument/2006/relationships/hyperlink" Target="https://niithanoi.edu.vn/lap-trinh-vien-nen-hoc-ngon-ngu-nao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tnettutorials.net/lesson/variables-in-jav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697" y="0"/>
            <a:ext cx="11518491" cy="2387600"/>
          </a:xfrm>
        </p:spPr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LẬP TRÌNH TRONG CNTT VỚI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142" y="4230596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GV: </a:t>
            </a:r>
            <a:r>
              <a:rPr lang="en-US" b="1" dirty="0" err="1">
                <a:solidFill>
                  <a:srgbClr val="0070C0"/>
                </a:solidFill>
              </a:rPr>
              <a:t>Ths</a:t>
            </a:r>
            <a:r>
              <a:rPr lang="en-US" b="1" dirty="0">
                <a:solidFill>
                  <a:srgbClr val="0070C0"/>
                </a:solidFill>
              </a:rPr>
              <a:t>. </a:t>
            </a:r>
            <a:r>
              <a:rPr lang="en-US" b="1" dirty="0" err="1">
                <a:solidFill>
                  <a:srgbClr val="0070C0"/>
                </a:solidFill>
              </a:rPr>
              <a:t>Đỗ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Hà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Phương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Phone: 0985752200 Email: </a:t>
            </a:r>
            <a:r>
              <a:rPr lang="en-US" b="1" dirty="0">
                <a:solidFill>
                  <a:srgbClr val="0070C0"/>
                </a:solidFill>
                <a:hlinkClick r:id="rId2"/>
              </a:rPr>
              <a:t>phuongitiuh@gmail.com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 err="1">
                <a:solidFill>
                  <a:srgbClr val="0070C0"/>
                </a:solidFill>
              </a:rPr>
              <a:t>Thời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lượng</a:t>
            </a:r>
            <a:r>
              <a:rPr lang="en-US" b="1" dirty="0">
                <a:solidFill>
                  <a:srgbClr val="0070C0"/>
                </a:solidFill>
              </a:rPr>
              <a:t>: 45LT+30TH (1TK – 1 TH - 1GK – 1CK)</a:t>
            </a:r>
          </a:p>
        </p:txBody>
      </p:sp>
      <p:sp>
        <p:nvSpPr>
          <p:cNvPr id="4" name="Left Brace 3"/>
          <p:cNvSpPr/>
          <p:nvPr/>
        </p:nvSpPr>
        <p:spPr>
          <a:xfrm rot="16200000">
            <a:off x="2715046" y="1443704"/>
            <a:ext cx="412955" cy="2300748"/>
          </a:xfrm>
          <a:prstGeom prst="leftBrac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/>
          <p:cNvSpPr/>
          <p:nvPr/>
        </p:nvSpPr>
        <p:spPr>
          <a:xfrm rot="16200000">
            <a:off x="6300247" y="1444656"/>
            <a:ext cx="412955" cy="2300748"/>
          </a:xfrm>
          <a:prstGeom prst="leftBrac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/>
          <p:cNvSpPr/>
          <p:nvPr/>
        </p:nvSpPr>
        <p:spPr>
          <a:xfrm rot="16200000">
            <a:off x="9988019" y="1314025"/>
            <a:ext cx="412955" cy="2300748"/>
          </a:xfrm>
          <a:prstGeom prst="leftBrac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6-Point Star 6"/>
          <p:cNvSpPr/>
          <p:nvPr/>
        </p:nvSpPr>
        <p:spPr>
          <a:xfrm>
            <a:off x="2572927" y="3040455"/>
            <a:ext cx="680912" cy="652771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" name="6-Point Star 7"/>
          <p:cNvSpPr/>
          <p:nvPr/>
        </p:nvSpPr>
        <p:spPr>
          <a:xfrm>
            <a:off x="6166268" y="3018327"/>
            <a:ext cx="680912" cy="652771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9" name="6-Point Star 8"/>
          <p:cNvSpPr/>
          <p:nvPr/>
        </p:nvSpPr>
        <p:spPr>
          <a:xfrm>
            <a:off x="9854040" y="2892772"/>
            <a:ext cx="680912" cy="652771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04E552-37E1-8658-360A-E6BB72031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040" y="4789987"/>
            <a:ext cx="1781424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72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313BD0-61CB-4B7F-8A2D-6E2F7E50D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324127"/>
              </p:ext>
            </p:extLst>
          </p:nvPr>
        </p:nvGraphicFramePr>
        <p:xfrm>
          <a:off x="0" y="53008"/>
          <a:ext cx="12192000" cy="685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776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A4004-6CC5-44AD-BA4E-2EEE08D0F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 study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1B1AF-B1FD-49EE-8F3C-CF014CBF9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91" y="1825625"/>
            <a:ext cx="11767931" cy="4351338"/>
          </a:xfrm>
        </p:spPr>
        <p:txBody>
          <a:bodyPr/>
          <a:lstStyle/>
          <a:p>
            <a:r>
              <a:rPr lang="en-US" dirty="0"/>
              <a:t>Computer architectures: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Instruction Set Architecture, </a:t>
            </a:r>
            <a:r>
              <a:rPr lang="en-US" dirty="0"/>
              <a:t>CPU, MEMORY, BUS</a:t>
            </a:r>
          </a:p>
          <a:p>
            <a:r>
              <a:rPr lang="en-US" dirty="0"/>
              <a:t>OS: Single-task/multi-task, singe-user/multi-user, 32-bit application/64-bit application, serial/parallel processing</a:t>
            </a:r>
          </a:p>
          <a:p>
            <a:r>
              <a:rPr lang="en-US" dirty="0"/>
              <a:t>Computer network: TCP/IP configuration, System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702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7C7EA3-24B3-4A18-A26C-83187919BB89}"/>
              </a:ext>
            </a:extLst>
          </p:cNvPr>
          <p:cNvSpPr txBox="1"/>
          <p:nvPr/>
        </p:nvSpPr>
        <p:spPr>
          <a:xfrm>
            <a:off x="1346200" y="859065"/>
            <a:ext cx="1068835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</a:rPr>
              <a:t>NGÔN NGỮ LẬP TRÌNH</a:t>
            </a:r>
          </a:p>
          <a:p>
            <a:pPr marL="342900" indent="-342900">
              <a:buAutoNum type="arabicParenR"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1 GL, 2 GL, 3 GL</a:t>
            </a:r>
          </a:p>
          <a:p>
            <a:pPr marL="342900" indent="-342900">
              <a:buAutoNum type="arabicParenR"/>
            </a:pP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Các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loại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ngôn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ngữ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lập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trình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cấp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cao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LT phi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cấu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trúc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LT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có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cấu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trúc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……………………………………………………………………………..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LT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thủ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tục&amp;hàm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chương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trình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con)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LT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hướng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đối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tượng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LT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hướng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chủ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đề&amp;khía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cạnh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AutoNum type="arabicParenR"/>
            </a:pP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Các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ngôn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ngữ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được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sử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dụng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phổ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biến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nhất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AutoNum type="arabicParenR"/>
            </a:pP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Thế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mạnh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của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mỗi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NNLT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trong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mỗi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lĩnh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vực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cụ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thể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08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1039E-174D-4BC2-B152-7EB725D94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NNLT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EB822-D36A-46A9-9FBB-D469916B3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Ngôn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ngữ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Bảng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chữ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cái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-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Cú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pháp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–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Ngữ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nghĩa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Để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lập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trình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Text editor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Liberary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Để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biên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dịch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thông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dịch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Trình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biên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dịch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thông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dịch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Support tools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33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0615-4FD8-4CDD-9B2E-37E273C3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– NGÔN NGỮ LẬP TRÌNH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6D527-B0BA-4692-AF4A-A4B7D6C3B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560" y="4014151"/>
            <a:ext cx="11775440" cy="2366011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đầu</a:t>
            </a:r>
            <a:r>
              <a:rPr lang="en-US" dirty="0"/>
              <a:t> ra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endParaRPr lang="en-US" dirty="0"/>
          </a:p>
          <a:p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1"/>
            <a:r>
              <a:rPr lang="en-US" b="1" dirty="0" err="1"/>
              <a:t>Đơn</a:t>
            </a:r>
            <a:endParaRPr lang="en-US" b="1" dirty="0"/>
          </a:p>
          <a:p>
            <a:pPr lvl="1"/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–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2"/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: </a:t>
            </a:r>
            <a:r>
              <a:rPr lang="en-US" b="1" dirty="0" err="1"/>
              <a:t>mảng</a:t>
            </a:r>
            <a:r>
              <a:rPr lang="en-US" b="1" dirty="0"/>
              <a:t>, 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sách</a:t>
            </a:r>
            <a:r>
              <a:rPr lang="en-US" b="1" dirty="0"/>
              <a:t>, </a:t>
            </a:r>
            <a:r>
              <a:rPr lang="en-US" b="1" dirty="0" err="1"/>
              <a:t>cây</a:t>
            </a:r>
            <a:r>
              <a:rPr lang="en-US" b="1" dirty="0"/>
              <a:t> </a:t>
            </a:r>
            <a:r>
              <a:rPr lang="en-US" b="1" dirty="0" err="1"/>
              <a:t>nhị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,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hướng</a:t>
            </a:r>
            <a:r>
              <a:rPr lang="en-US" b="1" dirty="0"/>
              <a:t> </a:t>
            </a:r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endParaRPr lang="en-US" b="1" dirty="0"/>
          </a:p>
          <a:p>
            <a:pPr lvl="2"/>
            <a:r>
              <a:rPr lang="en-US" dirty="0"/>
              <a:t>CSDL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– OODB - ODBMS</a:t>
            </a:r>
          </a:p>
          <a:p>
            <a:pPr lvl="2"/>
            <a:r>
              <a:rPr lang="en-US" dirty="0" err="1"/>
              <a:t>Bảng</a:t>
            </a:r>
            <a:r>
              <a:rPr lang="en-US" dirty="0"/>
              <a:t> - CSDL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-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CSDL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39BE9E-A343-402C-8C23-2E950F65509A}"/>
              </a:ext>
            </a:extLst>
          </p:cNvPr>
          <p:cNvSpPr/>
          <p:nvPr/>
        </p:nvSpPr>
        <p:spPr>
          <a:xfrm>
            <a:off x="4561840" y="1686560"/>
            <a:ext cx="2062480" cy="1188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XỬ LÝ THÔNG TIN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E3AE9F3-33A6-46FA-97BC-FF6649DA507B}"/>
              </a:ext>
            </a:extLst>
          </p:cNvPr>
          <p:cNvSpPr/>
          <p:nvPr/>
        </p:nvSpPr>
        <p:spPr>
          <a:xfrm>
            <a:off x="2499360" y="1808480"/>
            <a:ext cx="2062480" cy="985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5C337D2-A6FA-4D09-953F-402E4A500BDD}"/>
              </a:ext>
            </a:extLst>
          </p:cNvPr>
          <p:cNvSpPr/>
          <p:nvPr/>
        </p:nvSpPr>
        <p:spPr>
          <a:xfrm>
            <a:off x="6624320" y="1772920"/>
            <a:ext cx="2275840" cy="985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0381A6-2C42-4EA0-B487-5AFAD789BF0A}"/>
              </a:ext>
            </a:extLst>
          </p:cNvPr>
          <p:cNvSpPr/>
          <p:nvPr/>
        </p:nvSpPr>
        <p:spPr>
          <a:xfrm>
            <a:off x="1259840" y="2946399"/>
            <a:ext cx="1859280" cy="629922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Input device</a:t>
            </a:r>
          </a:p>
          <a:p>
            <a:pPr algn="ctr"/>
            <a:r>
              <a:rPr lang="en-US" sz="1400" dirty="0"/>
              <a:t>Storage device</a:t>
            </a:r>
          </a:p>
          <a:p>
            <a:pPr algn="ctr"/>
            <a:r>
              <a:rPr lang="en-US" sz="1400" dirty="0"/>
              <a:t>Network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4521A8-624B-412E-BA46-2DE5E7F9F45B}"/>
              </a:ext>
            </a:extLst>
          </p:cNvPr>
          <p:cNvSpPr/>
          <p:nvPr/>
        </p:nvSpPr>
        <p:spPr>
          <a:xfrm>
            <a:off x="4018280" y="2941320"/>
            <a:ext cx="3312160" cy="7677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Memory: machine code, data</a:t>
            </a:r>
          </a:p>
          <a:p>
            <a:pPr algn="ctr"/>
            <a:r>
              <a:rPr lang="en-US" dirty="0"/>
              <a:t>CPU</a:t>
            </a:r>
            <a:r>
              <a:rPr lang="en-US"/>
              <a:t>:  opcode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790A71-A599-4C91-A1A1-F2EE8A962EDD}"/>
              </a:ext>
            </a:extLst>
          </p:cNvPr>
          <p:cNvSpPr/>
          <p:nvPr/>
        </p:nvSpPr>
        <p:spPr>
          <a:xfrm>
            <a:off x="7762240" y="2936238"/>
            <a:ext cx="1859280" cy="629922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Output device</a:t>
            </a:r>
          </a:p>
          <a:p>
            <a:pPr algn="ctr"/>
            <a:r>
              <a:rPr lang="en-US" sz="1400" dirty="0"/>
              <a:t>Storage device</a:t>
            </a:r>
          </a:p>
          <a:p>
            <a:pPr algn="ctr"/>
            <a:r>
              <a:rPr lang="en-US" sz="1400" dirty="0"/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1237464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CNTT – </a:t>
            </a:r>
            <a:r>
              <a:rPr lang="en-US" b="1" dirty="0" err="1">
                <a:solidFill>
                  <a:srgbClr val="002060"/>
                </a:solidFill>
              </a:rPr>
              <a:t>Cách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mạng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công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nghiệp</a:t>
            </a:r>
            <a:r>
              <a:rPr lang="en-US" b="1" dirty="0">
                <a:solidFill>
                  <a:srgbClr val="002060"/>
                </a:solidFill>
              </a:rPr>
              <a:t> 4.0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ROBOTICS</a:t>
            </a:r>
          </a:p>
          <a:p>
            <a:r>
              <a:rPr lang="en-US" b="1" dirty="0">
                <a:solidFill>
                  <a:srgbClr val="FF0000"/>
                </a:solidFill>
              </a:rPr>
              <a:t>IOT – Internet Of Things, Internet of </a:t>
            </a:r>
            <a:r>
              <a:rPr lang="en-US" b="1" dirty="0" err="1">
                <a:solidFill>
                  <a:srgbClr val="FF0000"/>
                </a:solidFill>
              </a:rPr>
              <a:t>Everythings</a:t>
            </a:r>
            <a:r>
              <a:rPr lang="en-US" b="1" dirty="0">
                <a:solidFill>
                  <a:srgbClr val="FF0000"/>
                </a:solidFill>
              </a:rPr>
              <a:t>.</a:t>
            </a:r>
          </a:p>
          <a:p>
            <a:r>
              <a:rPr lang="en-US" b="1" dirty="0">
                <a:solidFill>
                  <a:srgbClr val="FF0000"/>
                </a:solidFill>
              </a:rPr>
              <a:t>AI</a:t>
            </a:r>
          </a:p>
          <a:p>
            <a:r>
              <a:rPr lang="en-US" b="1" dirty="0">
                <a:solidFill>
                  <a:srgbClr val="FF0000"/>
                </a:solidFill>
              </a:rPr>
              <a:t>BIG DATA, Data mining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In 3D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đám</a:t>
            </a:r>
            <a:r>
              <a:rPr lang="en-US" b="1" dirty="0"/>
              <a:t> </a:t>
            </a:r>
            <a:r>
              <a:rPr lang="en-US" b="1" dirty="0" err="1"/>
              <a:t>mây</a:t>
            </a:r>
            <a:r>
              <a:rPr lang="en-US" b="1" dirty="0"/>
              <a:t>,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cụm</a:t>
            </a:r>
            <a:r>
              <a:rPr lang="en-US" b="1" dirty="0"/>
              <a:t>,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lưới</a:t>
            </a:r>
            <a:r>
              <a:rPr lang="en-US" b="1" dirty="0"/>
              <a:t>,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r>
              <a:rPr lang="en-US" b="1" dirty="0"/>
              <a:t> </a:t>
            </a:r>
            <a:r>
              <a:rPr lang="en-US" b="1" dirty="0" err="1"/>
              <a:t>nhúng</a:t>
            </a:r>
            <a:endParaRPr lang="en-US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Internet 5G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err="1"/>
              <a:t>Chuyển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, </a:t>
            </a:r>
            <a:r>
              <a:rPr lang="en-US" b="1" dirty="0" err="1"/>
              <a:t>tối</a:t>
            </a:r>
            <a:r>
              <a:rPr lang="en-US" b="1" dirty="0"/>
              <a:t> </a:t>
            </a:r>
            <a:r>
              <a:rPr lang="en-US" b="1" dirty="0" err="1"/>
              <a:t>ưu</a:t>
            </a:r>
            <a:r>
              <a:rPr lang="en-US" b="1" dirty="0"/>
              <a:t> </a:t>
            </a:r>
            <a:r>
              <a:rPr lang="en-US" b="1" dirty="0" err="1"/>
              <a:t>hoá</a:t>
            </a:r>
            <a:endParaRPr lang="en-US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Blockchain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68890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97E0A-A2E3-49CA-9CDB-22F26D74D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47" y="0"/>
            <a:ext cx="11111753" cy="753035"/>
          </a:xfrm>
        </p:spPr>
        <p:txBody>
          <a:bodyPr>
            <a:normAutofit/>
          </a:bodyPr>
          <a:lstStyle/>
          <a:p>
            <a:r>
              <a:rPr lang="en-US" b="1" dirty="0"/>
              <a:t>CNTT: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DB64B-5B7F-4606-9F5C-07D7FB84B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389" y="753035"/>
            <a:ext cx="10515600" cy="4785043"/>
          </a:xfrm>
        </p:spPr>
        <p:txBody>
          <a:bodyPr>
            <a:noAutofit/>
          </a:bodyPr>
          <a:lstStyle/>
          <a:p>
            <a:r>
              <a:rPr lang="en-US" sz="1800" b="1" dirty="0"/>
              <a:t>IT – Information Technology</a:t>
            </a:r>
          </a:p>
          <a:p>
            <a:pPr lvl="1"/>
            <a:r>
              <a:rPr lang="en-US" sz="1800" b="1" dirty="0" err="1"/>
              <a:t>Công</a:t>
            </a:r>
            <a:r>
              <a:rPr lang="en-US" sz="1800" b="1" dirty="0"/>
              <a:t> </a:t>
            </a:r>
            <a:r>
              <a:rPr lang="en-US" sz="1800" b="1" dirty="0" err="1"/>
              <a:t>nghệ</a:t>
            </a:r>
            <a:r>
              <a:rPr lang="en-US" sz="1800" b="1" dirty="0"/>
              <a:t>, </a:t>
            </a:r>
            <a:r>
              <a:rPr lang="en-US" sz="1800" b="1" dirty="0" err="1"/>
              <a:t>cấu</a:t>
            </a:r>
            <a:r>
              <a:rPr lang="en-US" sz="1800" b="1" dirty="0"/>
              <a:t> </a:t>
            </a:r>
            <a:r>
              <a:rPr lang="en-US" sz="1800" b="1" dirty="0" err="1"/>
              <a:t>hình</a:t>
            </a:r>
            <a:r>
              <a:rPr lang="en-US" sz="1800" b="1" dirty="0"/>
              <a:t>, </a:t>
            </a:r>
            <a:r>
              <a:rPr lang="en-US" sz="1800" b="1" dirty="0" err="1"/>
              <a:t>giải</a:t>
            </a:r>
            <a:r>
              <a:rPr lang="en-US" sz="1800" b="1" dirty="0"/>
              <a:t> </a:t>
            </a:r>
            <a:r>
              <a:rPr lang="en-US" sz="1800" b="1" dirty="0" err="1"/>
              <a:t>pháp</a:t>
            </a:r>
            <a:r>
              <a:rPr lang="en-US" sz="1800" b="1" dirty="0"/>
              <a:t> </a:t>
            </a:r>
            <a:r>
              <a:rPr lang="en-US" sz="1800" b="1" dirty="0" err="1"/>
              <a:t>cho</a:t>
            </a:r>
            <a:r>
              <a:rPr lang="en-US" sz="1800" b="1" dirty="0"/>
              <a:t> </a:t>
            </a:r>
            <a:r>
              <a:rPr lang="en-US" sz="1800" b="1" dirty="0" err="1"/>
              <a:t>hệ</a:t>
            </a:r>
            <a:r>
              <a:rPr lang="en-US" sz="1800" b="1" dirty="0"/>
              <a:t> </a:t>
            </a:r>
            <a:r>
              <a:rPr lang="en-US" sz="1800" b="1" dirty="0" err="1"/>
              <a:t>thống</a:t>
            </a:r>
            <a:r>
              <a:rPr lang="en-US" sz="1800" b="1" dirty="0"/>
              <a:t> </a:t>
            </a:r>
            <a:r>
              <a:rPr lang="en-US" sz="1800" b="1" dirty="0" err="1"/>
              <a:t>máy</a:t>
            </a:r>
            <a:r>
              <a:rPr lang="en-US" sz="1800" b="1" dirty="0"/>
              <a:t> </a:t>
            </a:r>
            <a:r>
              <a:rPr lang="en-US" sz="1800" b="1" dirty="0" err="1"/>
              <a:t>tính</a:t>
            </a:r>
            <a:r>
              <a:rPr lang="en-US" sz="1800" b="1" dirty="0"/>
              <a:t> &amp; </a:t>
            </a:r>
            <a:r>
              <a:rPr lang="en-US" sz="1800" b="1" dirty="0" err="1"/>
              <a:t>mạng</a:t>
            </a:r>
            <a:r>
              <a:rPr lang="en-US" sz="1800" b="1" dirty="0"/>
              <a:t> </a:t>
            </a:r>
            <a:r>
              <a:rPr lang="en-US" sz="1800" b="1" dirty="0" err="1"/>
              <a:t>máy</a:t>
            </a:r>
            <a:r>
              <a:rPr lang="en-US" sz="1800" b="1" dirty="0"/>
              <a:t> </a:t>
            </a:r>
            <a:r>
              <a:rPr lang="en-US" sz="1800" b="1" dirty="0" err="1"/>
              <a:t>tính</a:t>
            </a:r>
            <a:endParaRPr lang="en-US" sz="1800" b="1" dirty="0"/>
          </a:p>
          <a:p>
            <a:pPr lvl="1"/>
            <a:r>
              <a:rPr lang="en-US" sz="1800" b="1" dirty="0" err="1"/>
              <a:t>Tích</a:t>
            </a:r>
            <a:r>
              <a:rPr lang="en-US" sz="1800" b="1" dirty="0"/>
              <a:t> </a:t>
            </a:r>
            <a:r>
              <a:rPr lang="en-US" sz="1800" b="1" dirty="0" err="1"/>
              <a:t>hợp</a:t>
            </a:r>
            <a:r>
              <a:rPr lang="en-US" sz="1800" b="1" dirty="0"/>
              <a:t> </a:t>
            </a:r>
            <a:r>
              <a:rPr lang="en-US" sz="1800" b="1" dirty="0" err="1"/>
              <a:t>hệ</a:t>
            </a:r>
            <a:r>
              <a:rPr lang="en-US" sz="1800" b="1" dirty="0"/>
              <a:t> </a:t>
            </a:r>
            <a:r>
              <a:rPr lang="en-US" sz="1800" b="1" dirty="0" err="1"/>
              <a:t>thống</a:t>
            </a:r>
            <a:r>
              <a:rPr lang="en-US" sz="1800" b="1" dirty="0"/>
              <a:t>: </a:t>
            </a:r>
            <a:r>
              <a:rPr lang="en-US" sz="1800" b="1" dirty="0" err="1"/>
              <a:t>nền</a:t>
            </a:r>
            <a:r>
              <a:rPr lang="en-US" sz="1800" b="1" dirty="0"/>
              <a:t> </a:t>
            </a:r>
            <a:r>
              <a:rPr lang="en-US" sz="1800" b="1" dirty="0" err="1"/>
              <a:t>tảng</a:t>
            </a:r>
            <a:r>
              <a:rPr lang="en-US" sz="1800" b="1" dirty="0"/>
              <a:t> xu </a:t>
            </a:r>
            <a:r>
              <a:rPr lang="en-US" sz="1800" b="1" dirty="0" err="1"/>
              <a:t>hướng</a:t>
            </a:r>
            <a:r>
              <a:rPr lang="en-US" sz="1800" b="1" dirty="0"/>
              <a:t>, </a:t>
            </a:r>
            <a:r>
              <a:rPr lang="en-US" sz="1800" b="1" dirty="0" err="1"/>
              <a:t>công</a:t>
            </a:r>
            <a:r>
              <a:rPr lang="en-US" sz="1800" b="1" dirty="0"/>
              <a:t> </a:t>
            </a:r>
            <a:r>
              <a:rPr lang="en-US" sz="1800" b="1" dirty="0" err="1"/>
              <a:t>nghệ</a:t>
            </a:r>
            <a:r>
              <a:rPr lang="en-US" sz="1800" b="1" dirty="0"/>
              <a:t> </a:t>
            </a:r>
            <a:r>
              <a:rPr lang="en-US" sz="1800" b="1" dirty="0" err="1"/>
              <a:t>lập</a:t>
            </a:r>
            <a:r>
              <a:rPr lang="en-US" sz="1800" b="1" dirty="0"/>
              <a:t> </a:t>
            </a:r>
            <a:r>
              <a:rPr lang="en-US" sz="1800" b="1" dirty="0" err="1"/>
              <a:t>trình</a:t>
            </a:r>
            <a:r>
              <a:rPr lang="en-US" sz="1800" b="1" dirty="0"/>
              <a:t> </a:t>
            </a:r>
            <a:r>
              <a:rPr lang="en-US" sz="1800" b="1" dirty="0" err="1"/>
              <a:t>ứng</a:t>
            </a:r>
            <a:r>
              <a:rPr lang="en-US" sz="1800" b="1" dirty="0"/>
              <a:t> </a:t>
            </a:r>
            <a:r>
              <a:rPr lang="en-US" sz="1800" b="1" dirty="0" err="1"/>
              <a:t>dụng</a:t>
            </a:r>
            <a:r>
              <a:rPr lang="en-US" sz="1800" b="1" dirty="0"/>
              <a:t> </a:t>
            </a:r>
            <a:r>
              <a:rPr lang="en-US" sz="1800" b="1" dirty="0" err="1"/>
              <a:t>trong</a:t>
            </a:r>
            <a:r>
              <a:rPr lang="en-US" sz="1800" b="1" dirty="0"/>
              <a:t> </a:t>
            </a:r>
            <a:r>
              <a:rPr lang="en-US" sz="1800" b="1" dirty="0" err="1"/>
              <a:t>tích</a:t>
            </a:r>
            <a:r>
              <a:rPr lang="en-US" sz="1800" b="1" dirty="0"/>
              <a:t> </a:t>
            </a:r>
            <a:r>
              <a:rPr lang="en-US" sz="1800" b="1" dirty="0" err="1"/>
              <a:t>hợp</a:t>
            </a:r>
            <a:r>
              <a:rPr lang="en-US" sz="1800" b="1" dirty="0"/>
              <a:t> </a:t>
            </a:r>
            <a:r>
              <a:rPr lang="en-US" sz="1800" b="1" dirty="0" err="1"/>
              <a:t>hệ</a:t>
            </a:r>
            <a:r>
              <a:rPr lang="en-US" sz="1800" b="1" dirty="0"/>
              <a:t> </a:t>
            </a:r>
            <a:r>
              <a:rPr lang="en-US" sz="1800" b="1" dirty="0" err="1"/>
              <a:t>thống</a:t>
            </a:r>
            <a:endParaRPr lang="en-US" sz="1800" b="1" dirty="0"/>
          </a:p>
          <a:p>
            <a:pPr lvl="1"/>
            <a:r>
              <a:rPr lang="en-US" sz="1800" b="1" dirty="0" err="1"/>
              <a:t>Hệ</a:t>
            </a:r>
            <a:r>
              <a:rPr lang="en-US" sz="1800" b="1" dirty="0"/>
              <a:t> </a:t>
            </a:r>
            <a:r>
              <a:rPr lang="en-US" sz="1800" b="1" dirty="0" err="1"/>
              <a:t>thống</a:t>
            </a:r>
            <a:r>
              <a:rPr lang="en-US" sz="1800" b="1" dirty="0"/>
              <a:t> </a:t>
            </a:r>
            <a:r>
              <a:rPr lang="en-US" sz="1800" b="1" dirty="0" err="1"/>
              <a:t>phân</a:t>
            </a:r>
            <a:r>
              <a:rPr lang="en-US" sz="1800" b="1" dirty="0"/>
              <a:t> </a:t>
            </a:r>
            <a:r>
              <a:rPr lang="en-US" sz="1800" b="1" dirty="0" err="1"/>
              <a:t>tán</a:t>
            </a:r>
            <a:endParaRPr lang="en-US" sz="1800" b="1" dirty="0"/>
          </a:p>
          <a:p>
            <a:pPr lvl="1"/>
            <a:r>
              <a:rPr lang="en-US" sz="1800" b="1" dirty="0" err="1"/>
              <a:t>Công</a:t>
            </a:r>
            <a:r>
              <a:rPr lang="en-US" sz="1800" b="1" dirty="0"/>
              <a:t> </a:t>
            </a:r>
            <a:r>
              <a:rPr lang="en-US" sz="1800" b="1" dirty="0" err="1"/>
              <a:t>nghệ</a:t>
            </a:r>
            <a:r>
              <a:rPr lang="en-US" sz="1800" b="1" dirty="0"/>
              <a:t> </a:t>
            </a:r>
            <a:r>
              <a:rPr lang="en-US" sz="1800" b="1" dirty="0" err="1"/>
              <a:t>mới</a:t>
            </a:r>
            <a:r>
              <a:rPr lang="en-US" sz="1800" b="1" dirty="0"/>
              <a:t>: IOT, </a:t>
            </a:r>
            <a:r>
              <a:rPr lang="en-US" sz="1800" b="1" dirty="0" err="1"/>
              <a:t>điện</a:t>
            </a:r>
            <a:r>
              <a:rPr lang="en-US" sz="1800" b="1" dirty="0"/>
              <a:t> </a:t>
            </a:r>
            <a:r>
              <a:rPr lang="en-US" sz="1800" b="1" dirty="0" err="1"/>
              <a:t>toán</a:t>
            </a:r>
            <a:r>
              <a:rPr lang="en-US" sz="1800" b="1" dirty="0"/>
              <a:t> </a:t>
            </a:r>
            <a:r>
              <a:rPr lang="en-US" sz="1800" b="1" dirty="0" err="1"/>
              <a:t>đám</a:t>
            </a:r>
            <a:r>
              <a:rPr lang="en-US" sz="1800" b="1" dirty="0"/>
              <a:t> </a:t>
            </a:r>
            <a:r>
              <a:rPr lang="en-US" sz="1800" b="1" dirty="0" err="1"/>
              <a:t>mây</a:t>
            </a:r>
            <a:r>
              <a:rPr lang="en-US" sz="1800" b="1" dirty="0"/>
              <a:t>, </a:t>
            </a:r>
            <a:r>
              <a:rPr lang="en-US" sz="1800" b="1" dirty="0" err="1"/>
              <a:t>lập</a:t>
            </a:r>
            <a:r>
              <a:rPr lang="en-US" sz="1800" b="1" dirty="0"/>
              <a:t> </a:t>
            </a:r>
            <a:r>
              <a:rPr lang="en-US" sz="1800" b="1" dirty="0" err="1"/>
              <a:t>trình</a:t>
            </a:r>
            <a:r>
              <a:rPr lang="en-US" sz="1800" b="1" dirty="0"/>
              <a:t> </a:t>
            </a:r>
            <a:r>
              <a:rPr lang="en-US" sz="1800" b="1" dirty="0" err="1"/>
              <a:t>hệ</a:t>
            </a:r>
            <a:r>
              <a:rPr lang="en-US" sz="1800" b="1" dirty="0"/>
              <a:t> </a:t>
            </a:r>
            <a:r>
              <a:rPr lang="en-US" sz="1800" b="1" dirty="0" err="1"/>
              <a:t>thống</a:t>
            </a:r>
            <a:r>
              <a:rPr lang="en-US" sz="1800" b="1" dirty="0"/>
              <a:t> </a:t>
            </a:r>
            <a:r>
              <a:rPr lang="en-US" sz="1800" b="1" dirty="0" err="1"/>
              <a:t>nhúng</a:t>
            </a:r>
            <a:r>
              <a:rPr lang="en-US" sz="1800" b="1" dirty="0"/>
              <a:t>, </a:t>
            </a:r>
            <a:r>
              <a:rPr lang="en-US" sz="1800" b="1" dirty="0" err="1"/>
              <a:t>thiết</a:t>
            </a:r>
            <a:r>
              <a:rPr lang="en-US" sz="1800" b="1" dirty="0"/>
              <a:t> </a:t>
            </a:r>
            <a:r>
              <a:rPr lang="en-US" sz="1800" b="1" dirty="0" err="1"/>
              <a:t>kế</a:t>
            </a:r>
            <a:r>
              <a:rPr lang="en-US" sz="1800" b="1" dirty="0"/>
              <a:t> </a:t>
            </a:r>
            <a:r>
              <a:rPr lang="en-US" sz="1800" b="1" dirty="0" err="1"/>
              <a:t>nhà</a:t>
            </a:r>
            <a:r>
              <a:rPr lang="en-US" sz="1800" b="1" dirty="0"/>
              <a:t> </a:t>
            </a:r>
            <a:r>
              <a:rPr lang="en-US" sz="1800" b="1" dirty="0" err="1"/>
              <a:t>thông</a:t>
            </a:r>
            <a:r>
              <a:rPr lang="en-US" sz="1800" b="1" dirty="0"/>
              <a:t> </a:t>
            </a:r>
            <a:r>
              <a:rPr lang="en-US" sz="1800" b="1" dirty="0" err="1"/>
              <a:t>minh</a:t>
            </a:r>
            <a:endParaRPr lang="en-US" sz="1800" b="1" dirty="0"/>
          </a:p>
          <a:p>
            <a:pPr lvl="1"/>
            <a:r>
              <a:rPr lang="en-US" sz="1800" b="1" dirty="0" err="1"/>
              <a:t>Ứng</a:t>
            </a:r>
            <a:r>
              <a:rPr lang="en-US" sz="1800" b="1" dirty="0"/>
              <a:t> </a:t>
            </a:r>
            <a:r>
              <a:rPr lang="en-US" sz="1800" b="1" dirty="0" err="1"/>
              <a:t>dụng</a:t>
            </a:r>
            <a:r>
              <a:rPr lang="en-US" sz="1800" b="1" dirty="0"/>
              <a:t> mobile</a:t>
            </a:r>
          </a:p>
          <a:p>
            <a:r>
              <a:rPr lang="en-US" sz="1800" dirty="0"/>
              <a:t>IS – Information System</a:t>
            </a:r>
          </a:p>
          <a:p>
            <a:pPr lvl="1"/>
            <a:r>
              <a:rPr lang="en-US" sz="1800" dirty="0" err="1"/>
              <a:t>Xây</a:t>
            </a:r>
            <a:r>
              <a:rPr lang="en-US" sz="1800" dirty="0"/>
              <a:t> </a:t>
            </a:r>
            <a:r>
              <a:rPr lang="en-US" sz="1800" dirty="0" err="1"/>
              <a:t>dựng</a:t>
            </a:r>
            <a:r>
              <a:rPr lang="en-US" sz="1800" dirty="0"/>
              <a:t>, </a:t>
            </a:r>
            <a:r>
              <a:rPr lang="en-US" sz="1800" dirty="0" err="1"/>
              <a:t>vận</a:t>
            </a:r>
            <a:r>
              <a:rPr lang="en-US" sz="1800" dirty="0"/>
              <a:t> </a:t>
            </a:r>
            <a:r>
              <a:rPr lang="en-US" sz="1800" dirty="0" err="1"/>
              <a:t>hành</a:t>
            </a:r>
            <a:r>
              <a:rPr lang="en-US" sz="1800" dirty="0"/>
              <a:t>, </a:t>
            </a:r>
            <a:r>
              <a:rPr lang="en-US" sz="1800" dirty="0" err="1"/>
              <a:t>quản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,  </a:t>
            </a:r>
            <a:r>
              <a:rPr lang="en-US" sz="1800" dirty="0" err="1"/>
              <a:t>triển</a:t>
            </a:r>
            <a:r>
              <a:rPr lang="en-US" sz="1800" dirty="0"/>
              <a:t> </a:t>
            </a:r>
            <a:r>
              <a:rPr lang="en-US" sz="1800" dirty="0" err="1"/>
              <a:t>khai</a:t>
            </a:r>
            <a:r>
              <a:rPr lang="en-US" sz="1800" dirty="0"/>
              <a:t>, </a:t>
            </a:r>
            <a:r>
              <a:rPr lang="en-US" sz="1800" dirty="0" err="1"/>
              <a:t>bảo</a:t>
            </a:r>
            <a:r>
              <a:rPr lang="en-US" sz="1800" dirty="0"/>
              <a:t> </a:t>
            </a:r>
            <a:r>
              <a:rPr lang="en-US" sz="1800" dirty="0" err="1"/>
              <a:t>trì</a:t>
            </a:r>
            <a:r>
              <a:rPr lang="en-US" sz="1800" dirty="0"/>
              <a:t>, </a:t>
            </a:r>
            <a:r>
              <a:rPr lang="en-US" sz="1800" dirty="0" err="1"/>
              <a:t>bảo</a:t>
            </a:r>
            <a:r>
              <a:rPr lang="en-US" sz="1800" dirty="0"/>
              <a:t> </a:t>
            </a:r>
            <a:r>
              <a:rPr lang="en-US" sz="1800" dirty="0" err="1"/>
              <a:t>mật</a:t>
            </a:r>
            <a:r>
              <a:rPr lang="en-US" sz="1800" dirty="0"/>
              <a:t> </a:t>
            </a:r>
            <a:r>
              <a:rPr lang="en-US" sz="1800" dirty="0" err="1"/>
              <a:t>hệ</a:t>
            </a:r>
            <a:r>
              <a:rPr lang="en-US" sz="1800" dirty="0"/>
              <a:t> </a:t>
            </a:r>
            <a:r>
              <a:rPr lang="en-US" sz="1800" dirty="0" err="1"/>
              <a:t>thống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tin </a:t>
            </a:r>
            <a:r>
              <a:rPr lang="en-US" sz="1800" dirty="0" err="1"/>
              <a:t>quản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 </a:t>
            </a:r>
            <a:r>
              <a:rPr lang="en-US" sz="1800" dirty="0" err="1"/>
              <a:t>doanh</a:t>
            </a:r>
            <a:r>
              <a:rPr lang="en-US" sz="1800" dirty="0"/>
              <a:t> </a:t>
            </a:r>
            <a:r>
              <a:rPr lang="en-US" sz="1800" dirty="0" err="1"/>
              <a:t>nghiệp</a:t>
            </a:r>
            <a:endParaRPr lang="en-US" sz="1800" dirty="0"/>
          </a:p>
          <a:p>
            <a:pPr lvl="1"/>
            <a:r>
              <a:rPr lang="en-US" sz="1800" dirty="0" err="1"/>
              <a:t>Hiểu</a:t>
            </a:r>
            <a:r>
              <a:rPr lang="en-US" sz="1800" dirty="0"/>
              <a:t> </a:t>
            </a:r>
            <a:r>
              <a:rPr lang="en-US" sz="1800" dirty="0" err="1"/>
              <a:t>hệ</a:t>
            </a:r>
            <a:r>
              <a:rPr lang="en-US" sz="1800" dirty="0"/>
              <a:t> </a:t>
            </a:r>
            <a:r>
              <a:rPr lang="en-US" sz="1800" dirty="0" err="1"/>
              <a:t>thống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tin </a:t>
            </a:r>
            <a:r>
              <a:rPr lang="en-US" sz="1800" dirty="0" err="1"/>
              <a:t>kinh</a:t>
            </a:r>
            <a:r>
              <a:rPr lang="en-US" sz="1800" dirty="0"/>
              <a:t> </a:t>
            </a:r>
            <a:r>
              <a:rPr lang="en-US" sz="1800" dirty="0" err="1"/>
              <a:t>doanh</a:t>
            </a:r>
            <a:r>
              <a:rPr lang="en-US" sz="1800" dirty="0"/>
              <a:t> </a:t>
            </a:r>
            <a:r>
              <a:rPr lang="en-US" sz="1800" dirty="0" err="1"/>
              <a:t>doanh</a:t>
            </a:r>
            <a:r>
              <a:rPr lang="en-US" sz="1800" dirty="0"/>
              <a:t> </a:t>
            </a:r>
            <a:r>
              <a:rPr lang="en-US" sz="1800" dirty="0" err="1"/>
              <a:t>nghiệp</a:t>
            </a:r>
            <a:r>
              <a:rPr lang="en-US" sz="1800" dirty="0"/>
              <a:t>: </a:t>
            </a:r>
            <a:r>
              <a:rPr lang="en-US" sz="1800" dirty="0" err="1"/>
              <a:t>kế</a:t>
            </a:r>
            <a:r>
              <a:rPr lang="en-US" sz="1800" dirty="0"/>
              <a:t> </a:t>
            </a:r>
            <a:r>
              <a:rPr lang="en-US" sz="1800" dirty="0" err="1"/>
              <a:t>toán</a:t>
            </a:r>
            <a:r>
              <a:rPr lang="en-US" sz="1800" dirty="0"/>
              <a:t>, </a:t>
            </a:r>
            <a:r>
              <a:rPr lang="en-US" sz="1800" dirty="0" err="1"/>
              <a:t>lương</a:t>
            </a:r>
            <a:r>
              <a:rPr lang="en-US" sz="1800" dirty="0"/>
              <a:t>, </a:t>
            </a:r>
            <a:r>
              <a:rPr lang="en-US" sz="1800" dirty="0" err="1"/>
              <a:t>nhân</a:t>
            </a:r>
            <a:r>
              <a:rPr lang="en-US" sz="1800" dirty="0"/>
              <a:t> </a:t>
            </a:r>
            <a:r>
              <a:rPr lang="en-US" sz="1800" dirty="0" err="1"/>
              <a:t>sự</a:t>
            </a:r>
            <a:endParaRPr lang="en-US" sz="1800" dirty="0"/>
          </a:p>
          <a:p>
            <a:pPr lvl="1"/>
            <a:r>
              <a:rPr lang="en-US" sz="1800" dirty="0"/>
              <a:t>Tools: Excel, ERP, CRM, SAP ERP,…</a:t>
            </a:r>
          </a:p>
          <a:p>
            <a:pPr lvl="1"/>
            <a:r>
              <a:rPr lang="en-US" sz="1800" dirty="0" err="1"/>
              <a:t>Công</a:t>
            </a:r>
            <a:r>
              <a:rPr lang="en-US" sz="1800" dirty="0"/>
              <a:t> </a:t>
            </a:r>
            <a:r>
              <a:rPr lang="en-US" sz="1800" dirty="0" err="1"/>
              <a:t>việc</a:t>
            </a:r>
            <a:r>
              <a:rPr lang="en-US" sz="1800" dirty="0"/>
              <a:t>: System Analyst, Business Analyst, Data Analyst, Coder…</a:t>
            </a:r>
          </a:p>
          <a:p>
            <a:r>
              <a:rPr lang="en-US" sz="1800" dirty="0"/>
              <a:t>SE – Software Engineer, Software Engineering </a:t>
            </a:r>
          </a:p>
          <a:p>
            <a:pPr lvl="1"/>
            <a:r>
              <a:rPr lang="en-US" sz="1800" dirty="0" err="1"/>
              <a:t>Học</a:t>
            </a:r>
            <a:r>
              <a:rPr lang="en-US" sz="1800" dirty="0"/>
              <a:t> </a:t>
            </a:r>
            <a:r>
              <a:rPr lang="en-US" sz="1800" dirty="0" err="1"/>
              <a:t>quy</a:t>
            </a:r>
            <a:r>
              <a:rPr lang="en-US" sz="1800" dirty="0"/>
              <a:t> </a:t>
            </a:r>
            <a:r>
              <a:rPr lang="en-US" sz="1800" dirty="0" err="1"/>
              <a:t>trình</a:t>
            </a:r>
            <a:r>
              <a:rPr lang="en-US" sz="1800" dirty="0"/>
              <a:t> </a:t>
            </a:r>
            <a:r>
              <a:rPr lang="en-US" sz="1800" dirty="0" err="1"/>
              <a:t>làm</a:t>
            </a:r>
            <a:r>
              <a:rPr lang="en-US" sz="1800" dirty="0"/>
              <a:t> </a:t>
            </a:r>
            <a:r>
              <a:rPr lang="en-US" sz="1800" dirty="0" err="1"/>
              <a:t>sản</a:t>
            </a:r>
            <a:r>
              <a:rPr lang="en-US" sz="1800" dirty="0"/>
              <a:t> </a:t>
            </a:r>
            <a:r>
              <a:rPr lang="en-US" sz="1800" dirty="0" err="1"/>
              <a:t>phẩm</a:t>
            </a:r>
            <a:r>
              <a:rPr lang="en-US" sz="1800" dirty="0"/>
              <a:t> </a:t>
            </a:r>
            <a:r>
              <a:rPr lang="en-US" sz="1800" dirty="0" err="1"/>
              <a:t>phần</a:t>
            </a:r>
            <a:r>
              <a:rPr lang="en-US" sz="1800" dirty="0"/>
              <a:t> </a:t>
            </a:r>
            <a:r>
              <a:rPr lang="en-US" sz="1800" dirty="0" err="1"/>
              <a:t>mềm</a:t>
            </a:r>
            <a:r>
              <a:rPr lang="en-US" sz="1800" dirty="0"/>
              <a:t>, coding, testing</a:t>
            </a:r>
          </a:p>
          <a:p>
            <a:r>
              <a:rPr lang="en-US" sz="1800" dirty="0"/>
              <a:t>CS – Computer Science</a:t>
            </a:r>
          </a:p>
          <a:p>
            <a:pPr lvl="1"/>
            <a:r>
              <a:rPr lang="en-US" sz="1800" dirty="0"/>
              <a:t>AI, Big Data, IOT…</a:t>
            </a:r>
          </a:p>
          <a:p>
            <a:r>
              <a:rPr lang="en-US" sz="1800" dirty="0"/>
              <a:t>DS – Data Science</a:t>
            </a:r>
          </a:p>
          <a:p>
            <a:r>
              <a:rPr lang="en-US" sz="1800" dirty="0"/>
              <a:t>Ecommerce - </a:t>
            </a:r>
            <a:r>
              <a:rPr lang="en-US" sz="18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Electronic Commerce</a:t>
            </a:r>
          </a:p>
          <a:p>
            <a:pPr lvl="1"/>
            <a:r>
              <a:rPr lang="en-US" sz="1800" dirty="0" err="1">
                <a:solidFill>
                  <a:srgbClr val="202124"/>
                </a:solidFill>
                <a:latin typeface="arial" panose="020B0604020202020204" pitchFamily="34" charset="0"/>
              </a:rPr>
              <a:t>Cách</a:t>
            </a:r>
            <a:r>
              <a:rPr lang="en-US" sz="1800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02124"/>
                </a:solidFill>
                <a:latin typeface="arial" panose="020B0604020202020204" pitchFamily="34" charset="0"/>
              </a:rPr>
              <a:t>quản</a:t>
            </a:r>
            <a:r>
              <a:rPr lang="en-US" sz="1800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02124"/>
                </a:solidFill>
                <a:latin typeface="arial" panose="020B0604020202020204" pitchFamily="34" charset="0"/>
              </a:rPr>
              <a:t>trị</a:t>
            </a:r>
            <a:r>
              <a:rPr lang="en-US" sz="1800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02124"/>
                </a:solidFill>
                <a:latin typeface="arial" panose="020B0604020202020204" pitchFamily="34" charset="0"/>
              </a:rPr>
              <a:t>và</a:t>
            </a:r>
            <a:r>
              <a:rPr lang="en-US" sz="1800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02124"/>
                </a:solidFill>
                <a:latin typeface="arial" panose="020B0604020202020204" pitchFamily="34" charset="0"/>
              </a:rPr>
              <a:t>triển</a:t>
            </a:r>
            <a:r>
              <a:rPr lang="en-US" sz="1800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02124"/>
                </a:solidFill>
                <a:latin typeface="arial" panose="020B0604020202020204" pitchFamily="34" charset="0"/>
              </a:rPr>
              <a:t>khai</a:t>
            </a:r>
            <a:r>
              <a:rPr lang="en-US" sz="1800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02124"/>
                </a:solidFill>
                <a:latin typeface="arial" panose="020B0604020202020204" pitchFamily="34" charset="0"/>
              </a:rPr>
              <a:t>kinh</a:t>
            </a:r>
            <a:r>
              <a:rPr lang="en-US" sz="1800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02124"/>
                </a:solidFill>
                <a:latin typeface="arial" panose="020B0604020202020204" pitchFamily="34" charset="0"/>
              </a:rPr>
              <a:t>doanh</a:t>
            </a:r>
            <a:r>
              <a:rPr lang="en-US" sz="1800" dirty="0">
                <a:solidFill>
                  <a:srgbClr val="202124"/>
                </a:solidFill>
                <a:latin typeface="arial" panose="020B0604020202020204" pitchFamily="34" charset="0"/>
              </a:rPr>
              <a:t> internet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54846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600B74-0D12-497C-AB34-B98D137CC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451" y="1552048"/>
            <a:ext cx="4155754" cy="259002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0CA21A-E8CA-4980-A172-BE8D4CF70FDB}"/>
              </a:ext>
            </a:extLst>
          </p:cNvPr>
          <p:cNvSpPr/>
          <p:nvPr/>
        </p:nvSpPr>
        <p:spPr>
          <a:xfrm>
            <a:off x="91937" y="106017"/>
            <a:ext cx="4108174" cy="21601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JAVA?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Programming language by Sun Microsystem, 1995. (2010 ORACLE)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Object-oriented programming language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Many advanced features</a:t>
            </a:r>
          </a:p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1850E6-632F-4CC8-A1B4-22E4A7E81244}"/>
              </a:ext>
            </a:extLst>
          </p:cNvPr>
          <p:cNvSpPr/>
          <p:nvPr/>
        </p:nvSpPr>
        <p:spPr>
          <a:xfrm>
            <a:off x="7063409" y="106017"/>
            <a:ext cx="4891713" cy="21601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use JAVA?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 3 programming language rank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billion devices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Write once run anywhere – WORA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Supports: Community, Platform, Framework</a:t>
            </a:r>
          </a:p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63BCFB-A4D5-499A-BF0E-61A2DF030EB7}"/>
              </a:ext>
            </a:extLst>
          </p:cNvPr>
          <p:cNvSpPr/>
          <p:nvPr/>
        </p:nvSpPr>
        <p:spPr>
          <a:xfrm>
            <a:off x="7846948" y="4161954"/>
            <a:ext cx="4108174" cy="259002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use JAVA?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JVM, JRE, JDK, IDE, APIs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Java programming language</a:t>
            </a:r>
          </a:p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F5DA43-9775-4377-BA7D-A7908DBE593F}"/>
              </a:ext>
            </a:extLst>
          </p:cNvPr>
          <p:cNvSpPr/>
          <p:nvPr/>
        </p:nvSpPr>
        <p:spPr>
          <a:xfrm>
            <a:off x="91937" y="4142074"/>
            <a:ext cx="4108174" cy="259002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 use JAVA?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of the most popular program language used to create web applications and platform.</a:t>
            </a:r>
          </a:p>
        </p:txBody>
      </p:sp>
    </p:spTree>
    <p:extLst>
      <p:ext uri="{BB962C8B-B14F-4D97-AF65-F5344CB8AC3E}">
        <p14:creationId xmlns:p14="http://schemas.microsoft.com/office/powerpoint/2010/main" val="2545316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608EF9F-F527-478D-AA2C-B1C31B7F9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516468"/>
              </p:ext>
            </p:extLst>
          </p:nvPr>
        </p:nvGraphicFramePr>
        <p:xfrm>
          <a:off x="0" y="0"/>
          <a:ext cx="12192000" cy="703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056">
                  <a:extLst>
                    <a:ext uri="{9D8B030D-6E8A-4147-A177-3AD203B41FA5}">
                      <a16:colId xmlns:a16="http://schemas.microsoft.com/office/drawing/2014/main" val="2790538783"/>
                    </a:ext>
                  </a:extLst>
                </a:gridCol>
                <a:gridCol w="10048944">
                  <a:extLst>
                    <a:ext uri="{9D8B030D-6E8A-4147-A177-3AD203B41FA5}">
                      <a16:colId xmlns:a16="http://schemas.microsoft.com/office/drawing/2014/main" val="339836767"/>
                    </a:ext>
                  </a:extLst>
                </a:gridCol>
              </a:tblGrid>
              <a:tr h="729000">
                <a:tc>
                  <a:txBody>
                    <a:bodyPr/>
                    <a:lstStyle/>
                    <a:p>
                      <a:r>
                        <a:rPr lang="en-US" sz="2800" b="1" dirty="0"/>
                        <a:t>JAVA terms: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Meaning: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886985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r>
                        <a:rPr lang="en-US" b="1" dirty="0"/>
                        <a:t>JVM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 Virtual Machine, Loading the java class file into memory and execution</a:t>
                      </a:r>
                    </a:p>
                    <a:p>
                      <a:pPr rtl="0"/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JVM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Loads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code,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Verifies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code,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Executes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code,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runtime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Interpreter</a:t>
                      </a:r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962645"/>
                  </a:ext>
                </a:extLst>
              </a:tr>
              <a:tr h="729000">
                <a:tc>
                  <a:txBody>
                    <a:bodyPr/>
                    <a:lstStyle/>
                    <a:p>
                      <a:r>
                        <a:rPr lang="en-US" b="1" dirty="0"/>
                        <a:t>JRE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 Runtime Environment, composed of </a:t>
                      </a:r>
                      <a:r>
                        <a:rPr lang="en-US" b="1" dirty="0"/>
                        <a:t>JVM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tools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APIs</a:t>
                      </a:r>
                      <a:endParaRPr lang="en-US" dirty="0"/>
                    </a:p>
                    <a:p>
                      <a:r>
                        <a:rPr lang="en-US" dirty="0"/>
                        <a:t>Run / to deploy java codes or applications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088981"/>
                  </a:ext>
                </a:extLst>
              </a:tr>
              <a:tr h="729000">
                <a:tc>
                  <a:txBody>
                    <a:bodyPr/>
                    <a:lstStyle/>
                    <a:p>
                      <a:r>
                        <a:rPr lang="en-US" b="1" dirty="0"/>
                        <a:t>JDK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 Development Kit, composed of </a:t>
                      </a:r>
                      <a:r>
                        <a:rPr lang="en-US" b="1" dirty="0"/>
                        <a:t>JRE</a:t>
                      </a:r>
                      <a:r>
                        <a:rPr lang="en-US" dirty="0"/>
                        <a:t> and </a:t>
                      </a:r>
                      <a:r>
                        <a:rPr lang="en-US" b="1" dirty="0"/>
                        <a:t>JVM</a:t>
                      </a:r>
                      <a:r>
                        <a:rPr lang="en-US" b="0" dirty="0"/>
                        <a:t>, a platform to develop java application.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538086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Integrated Development Environment, Platform provides a editor for writing application with detecting errors, provides proper indentation, helps in managing files etc..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 have a lot of IDEs: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Netbeans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Eclipse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244099"/>
                  </a:ext>
                </a:extLst>
              </a:tr>
              <a:tr h="729000">
                <a:tc>
                  <a:txBody>
                    <a:bodyPr/>
                    <a:lstStyle/>
                    <a:p>
                      <a:r>
                        <a:rPr lang="en-US" b="1" dirty="0"/>
                        <a:t>Java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Composed compiler,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execution engine, library.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91683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r>
                        <a:rPr lang="en-US" b="1" dirty="0"/>
                        <a:t>Java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body or platform of pre-written codes used by Java developers to develop Java applications or web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applications.Ex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Spring, Grails, Google Web Toolkits, 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042869"/>
                  </a:ext>
                </a:extLst>
              </a:tr>
              <a:tr h="729000">
                <a:tc>
                  <a:txBody>
                    <a:bodyPr/>
                    <a:lstStyle/>
                    <a:p>
                      <a:r>
                        <a:rPr lang="en-US" b="1" dirty="0"/>
                        <a:t>JAVA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 Programming Interface, Ex: Beans, AWT, Swing….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507829"/>
                  </a:ext>
                </a:extLst>
              </a:tr>
              <a:tr h="729000">
                <a:tc>
                  <a:txBody>
                    <a:bodyPr/>
                    <a:lstStyle/>
                    <a:p>
                      <a:r>
                        <a:rPr lang="en-US" b="1" dirty="0"/>
                        <a:t>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Sortware</a:t>
                      </a:r>
                      <a:r>
                        <a:rPr lang="en-US" dirty="0"/>
                        <a:t> Development Kit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096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255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gpcoder.com/wp-content/uploads/2017/10/jvm_jre_jd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89635" cy="5857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6E5A71-3493-48E8-9A56-6282960E3E84}"/>
              </a:ext>
            </a:extLst>
          </p:cNvPr>
          <p:cNvSpPr txBox="1"/>
          <p:nvPr/>
        </p:nvSpPr>
        <p:spPr>
          <a:xfrm>
            <a:off x="861389" y="5658678"/>
            <a:ext cx="882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Note: 	To built source code and development java application: Install IDE, JDK</a:t>
            </a:r>
          </a:p>
          <a:p>
            <a:r>
              <a:rPr lang="en-US" b="1" dirty="0">
                <a:solidFill>
                  <a:srgbClr val="C00000"/>
                </a:solidFill>
              </a:rPr>
              <a:t>	To run Java application: Install JRE</a:t>
            </a:r>
          </a:p>
        </p:txBody>
      </p:sp>
    </p:spTree>
    <p:extLst>
      <p:ext uri="{BB962C8B-B14F-4D97-AF65-F5344CB8AC3E}">
        <p14:creationId xmlns:p14="http://schemas.microsoft.com/office/powerpoint/2010/main" val="3503812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48D424-A5C8-4DC9-AB11-8EBA7B4CA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4090"/>
            <a:ext cx="12192000" cy="602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200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2D2572-E007-485D-86A6-D883AD4F2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288" y="0"/>
            <a:ext cx="701371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8BDEF4-FB9C-4FA8-B735-C220F44FE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5178288" cy="3299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2CB7DD-0C74-43DA-BA7F-3B780D1CA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299791"/>
            <a:ext cx="5178288" cy="357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393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014C2-515D-F362-184C-E70BD5AD3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Viết chương trình nhập vào 3 số nguyên a, b, c, xuất ra giá trị lớn nhất, giá trị nhỏ.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204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D9D58E-87D6-41CF-8848-351CD7802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26" y="1162327"/>
            <a:ext cx="10515600" cy="3716611"/>
          </a:xfrm>
        </p:spPr>
      </p:pic>
    </p:spTree>
    <p:extLst>
      <p:ext uri="{BB962C8B-B14F-4D97-AF65-F5344CB8AC3E}">
        <p14:creationId xmlns:p14="http://schemas.microsoft.com/office/powerpoint/2010/main" val="2063934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14182C-1112-4119-8772-C0888EC72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8353"/>
            <a:ext cx="12192000" cy="608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58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1E3A24-E454-4D2F-BA53-15BEE3BFA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39" y="967409"/>
            <a:ext cx="11410122" cy="524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02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22F4B1-6C3D-4065-BE78-CC50B55B6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401" y="35489"/>
            <a:ext cx="9144470" cy="5143764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6E81D012-A4B7-468E-871E-46587BF6BBC6}"/>
              </a:ext>
            </a:extLst>
          </p:cNvPr>
          <p:cNvSpPr/>
          <p:nvPr/>
        </p:nvSpPr>
        <p:spPr>
          <a:xfrm>
            <a:off x="1020420" y="2425154"/>
            <a:ext cx="2199860" cy="1822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253C8C-2BF3-47B0-85B9-FD20310163A1}"/>
              </a:ext>
            </a:extLst>
          </p:cNvPr>
          <p:cNvSpPr/>
          <p:nvPr/>
        </p:nvSpPr>
        <p:spPr>
          <a:xfrm>
            <a:off x="1590262" y="1524006"/>
            <a:ext cx="1325217" cy="6758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editor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0D5C88-5171-4899-86A7-5A630AD27783}"/>
              </a:ext>
            </a:extLst>
          </p:cNvPr>
          <p:cNvSpPr/>
          <p:nvPr/>
        </p:nvSpPr>
        <p:spPr>
          <a:xfrm>
            <a:off x="1676519" y="2765702"/>
            <a:ext cx="1113182" cy="583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  <a:p>
            <a:pPr algn="ctr"/>
            <a:r>
              <a:rPr lang="en-US" dirty="0"/>
              <a:t>Library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F3B2A97C-E093-42A6-AF47-B70A9E6C1155}"/>
              </a:ext>
            </a:extLst>
          </p:cNvPr>
          <p:cNvSpPr/>
          <p:nvPr/>
        </p:nvSpPr>
        <p:spPr>
          <a:xfrm rot="16200000">
            <a:off x="2095157" y="2795171"/>
            <a:ext cx="368442" cy="2517911"/>
          </a:xfrm>
          <a:prstGeom prst="leftBrace">
            <a:avLst>
              <a:gd name="adj1" fmla="val 8333"/>
              <a:gd name="adj2" fmla="val 4830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84F150-551B-442F-A691-2E2B27942148}"/>
              </a:ext>
            </a:extLst>
          </p:cNvPr>
          <p:cNvSpPr/>
          <p:nvPr/>
        </p:nvSpPr>
        <p:spPr>
          <a:xfrm>
            <a:off x="1855541" y="4277411"/>
            <a:ext cx="755139" cy="4638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B6613B41-56B0-4A8F-A147-4D06B8FF39BF}"/>
              </a:ext>
            </a:extLst>
          </p:cNvPr>
          <p:cNvSpPr/>
          <p:nvPr/>
        </p:nvSpPr>
        <p:spPr>
          <a:xfrm rot="16200000">
            <a:off x="8225860" y="2236142"/>
            <a:ext cx="325539" cy="2941986"/>
          </a:xfrm>
          <a:prstGeom prst="leftBrace">
            <a:avLst>
              <a:gd name="adj1" fmla="val 8333"/>
              <a:gd name="adj2" fmla="val 4830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ED3C605-AE62-4376-9C46-E22EF3A6C7A6}"/>
              </a:ext>
            </a:extLst>
          </p:cNvPr>
          <p:cNvSpPr/>
          <p:nvPr/>
        </p:nvSpPr>
        <p:spPr>
          <a:xfrm>
            <a:off x="7984674" y="3879415"/>
            <a:ext cx="755139" cy="4638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JRE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C259F953-4DFB-43DF-B436-253C6148B662}"/>
              </a:ext>
            </a:extLst>
          </p:cNvPr>
          <p:cNvSpPr/>
          <p:nvPr/>
        </p:nvSpPr>
        <p:spPr>
          <a:xfrm rot="16200000">
            <a:off x="6586335" y="1504657"/>
            <a:ext cx="463825" cy="6082747"/>
          </a:xfrm>
          <a:prstGeom prst="leftBrace">
            <a:avLst>
              <a:gd name="adj1" fmla="val 8333"/>
              <a:gd name="adj2" fmla="val 4830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C3DD9D-38EB-46B6-B915-0B988CD083FE}"/>
              </a:ext>
            </a:extLst>
          </p:cNvPr>
          <p:cNvSpPr/>
          <p:nvPr/>
        </p:nvSpPr>
        <p:spPr>
          <a:xfrm>
            <a:off x="6341401" y="4735308"/>
            <a:ext cx="755139" cy="4638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JDK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26669A45-B1B8-433A-9798-88A7183678D5}"/>
              </a:ext>
            </a:extLst>
          </p:cNvPr>
          <p:cNvSpPr/>
          <p:nvPr/>
        </p:nvSpPr>
        <p:spPr>
          <a:xfrm rot="16200000">
            <a:off x="6596754" y="2300001"/>
            <a:ext cx="204448" cy="6321287"/>
          </a:xfrm>
          <a:prstGeom prst="leftBrace">
            <a:avLst>
              <a:gd name="adj1" fmla="val 8333"/>
              <a:gd name="adj2" fmla="val 4830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32B9BA-E399-4BE0-98CB-E039D7BD57BD}"/>
              </a:ext>
            </a:extLst>
          </p:cNvPr>
          <p:cNvSpPr/>
          <p:nvPr/>
        </p:nvSpPr>
        <p:spPr>
          <a:xfrm>
            <a:off x="4870411" y="5562870"/>
            <a:ext cx="755139" cy="4638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SDK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1D25F47-0B3C-4C42-953B-ABB171D4F929}"/>
              </a:ext>
            </a:extLst>
          </p:cNvPr>
          <p:cNvSpPr/>
          <p:nvPr/>
        </p:nvSpPr>
        <p:spPr>
          <a:xfrm>
            <a:off x="6236865" y="870473"/>
            <a:ext cx="1719349" cy="6535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JAVA APIs</a:t>
            </a:r>
          </a:p>
          <a:p>
            <a:pPr algn="ctr"/>
            <a:r>
              <a:rPr lang="en-US" dirty="0"/>
              <a:t>Tools</a:t>
            </a:r>
          </a:p>
        </p:txBody>
      </p:sp>
    </p:spTree>
    <p:extLst>
      <p:ext uri="{BB962C8B-B14F-4D97-AF65-F5344CB8AC3E}">
        <p14:creationId xmlns:p14="http://schemas.microsoft.com/office/powerpoint/2010/main" val="2456487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002F18-ED2F-4E67-A340-96F0770B7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662" y="1113183"/>
            <a:ext cx="7619999" cy="506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690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F5DAC-487B-42D9-BF7D-9EF3B777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Study case: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54EA3-ED0F-449E-8A96-5AF3082A3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Library</a:t>
            </a:r>
          </a:p>
          <a:p>
            <a:r>
              <a:rPr lang="en-US" b="1" dirty="0"/>
              <a:t>APIs</a:t>
            </a:r>
          </a:p>
          <a:p>
            <a:r>
              <a:rPr lang="en-US" b="1" dirty="0"/>
              <a:t>Framework</a:t>
            </a:r>
          </a:p>
        </p:txBody>
      </p:sp>
    </p:spTree>
    <p:extLst>
      <p:ext uri="{BB962C8B-B14F-4D97-AF65-F5344CB8AC3E}">
        <p14:creationId xmlns:p14="http://schemas.microsoft.com/office/powerpoint/2010/main" val="3242088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B8E77-1B72-4A9D-8EDF-2806EC1F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java: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5722B-61DC-4C91-B219-FCB980351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https://www.tiobe.com/tiobe-index/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693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8719-9612-4C2E-BB80-51049648B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JAVA ONLINE: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620BE-3744-451D-9441-E3BC21FA6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https://www.jdoodle.com/online-java-compiler/</a:t>
            </a:r>
            <a:endParaRPr lang="en-US" dirty="0"/>
          </a:p>
          <a:p>
            <a:r>
              <a:rPr lang="en-US" dirty="0">
                <a:hlinkClick r:id="rId3"/>
              </a:rPr>
              <a:t>https://www.w3schools.com/java/java_compiler.asp</a:t>
            </a:r>
            <a:endParaRPr lang="en-US" dirty="0"/>
          </a:p>
          <a:p>
            <a:r>
              <a:rPr lang="en-US" dirty="0">
                <a:hlinkClick r:id="rId4"/>
              </a:rPr>
              <a:t>https://www.programiz.com/java-programming/online-compiler/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156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Outcome (LO)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420063"/>
              </p:ext>
            </p:extLst>
          </p:nvPr>
        </p:nvGraphicFramePr>
        <p:xfrm>
          <a:off x="356259" y="1916318"/>
          <a:ext cx="11222183" cy="4016165"/>
        </p:xfrm>
        <a:graphic>
          <a:graphicData uri="http://schemas.openxmlformats.org/drawingml/2006/table">
            <a:tbl>
              <a:tblPr firstRow="1" firstCol="1" bandRow="1"/>
              <a:tblGrid>
                <a:gridCol w="1325086">
                  <a:extLst>
                    <a:ext uri="{9D8B030D-6E8A-4147-A177-3AD203B41FA5}">
                      <a16:colId xmlns:a16="http://schemas.microsoft.com/office/drawing/2014/main" val="2994786870"/>
                    </a:ext>
                  </a:extLst>
                </a:gridCol>
                <a:gridCol w="8572012">
                  <a:extLst>
                    <a:ext uri="{9D8B030D-6E8A-4147-A177-3AD203B41FA5}">
                      <a16:colId xmlns:a16="http://schemas.microsoft.com/office/drawing/2014/main" val="3085224864"/>
                    </a:ext>
                  </a:extLst>
                </a:gridCol>
                <a:gridCol w="1325085">
                  <a:extLst>
                    <a:ext uri="{9D8B030D-6E8A-4147-A177-3AD203B41FA5}">
                      <a16:colId xmlns:a16="http://schemas.microsoft.com/office/drawing/2014/main" val="3351561273"/>
                    </a:ext>
                  </a:extLst>
                </a:gridCol>
              </a:tblGrid>
              <a:tr h="4996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SO/PI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874344"/>
                  </a:ext>
                </a:extLst>
              </a:tr>
              <a:tr h="999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Hiện thực các bài toán liên quan đến danh sách liên kết, cây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3186857"/>
                  </a:ext>
                </a:extLst>
              </a:tr>
              <a:tr h="999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Hiện thực các bài toán liên quan đến cây nhị phân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692114"/>
                  </a:ext>
                </a:extLst>
              </a:tr>
              <a:tr h="4996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Hiện thực các bài toán tìm kiếm tối</a:t>
                      </a:r>
                      <a:r>
                        <a:rPr lang="en-US" sz="32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ưu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92284"/>
                  </a:ext>
                </a:extLst>
              </a:tr>
              <a:tr h="999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một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Trí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tuệ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tạo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2562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821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DB79-9C01-4B5B-AC39-88827DFA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SẢN PHẨM MÔN HỌC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29FD1-98BC-40CD-A5E7-52BD175D2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Java Application </a:t>
            </a:r>
            <a:r>
              <a:rPr lang="en-US" dirty="0" err="1"/>
              <a:t>lên</a:t>
            </a:r>
            <a:r>
              <a:rPr lang="en-US" dirty="0"/>
              <a:t> Google Store, CH play</a:t>
            </a:r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1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1 java framework.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554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759" y="-181140"/>
            <a:ext cx="10515600" cy="1325563"/>
          </a:xfrm>
        </p:spPr>
        <p:txBody>
          <a:bodyPr/>
          <a:lstStyle/>
          <a:p>
            <a:r>
              <a:rPr lang="en-US"/>
              <a:t>Chapter 1: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881" y="895086"/>
            <a:ext cx="8835242" cy="5962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 Primer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1.1.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Java Overview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Object in Java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1.3.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Expressions, Operators and Precedence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1.4.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Control Flow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1.5.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Functions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1.6 	Simple input and Output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1.7 	Exception Handling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1.8 	Iterations and Generators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1.9 	Additional Java Convenience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1.10 	Scopes and Namespace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1.11 	Modules and the Import statement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743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2:</a:t>
            </a:r>
          </a:p>
        </p:txBody>
      </p:sp>
      <p:sp>
        <p:nvSpPr>
          <p:cNvPr id="4" name="Rectangle 3"/>
          <p:cNvSpPr/>
          <p:nvPr/>
        </p:nvSpPr>
        <p:spPr>
          <a:xfrm>
            <a:off x="688770" y="1690688"/>
            <a:ext cx="8063345" cy="3935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 Oriented Programming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2.1.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Goals, Principles and Patterns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2.2.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Testing and debugging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2.3. 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Class definitions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2.4.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Inheritance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2.5. 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Name space and Object -Orientation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2.6. Shallow and Deep copying</a:t>
            </a:r>
            <a:endParaRPr lang="en-US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076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3:</a:t>
            </a:r>
          </a:p>
        </p:txBody>
      </p:sp>
      <p:sp>
        <p:nvSpPr>
          <p:cNvPr id="4" name="Rectangle 3"/>
          <p:cNvSpPr/>
          <p:nvPr/>
        </p:nvSpPr>
        <p:spPr>
          <a:xfrm>
            <a:off x="498763" y="1690688"/>
            <a:ext cx="7861465" cy="4044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Recursion and Array-Based Sequences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3.1. Illustrative Examples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3.2 Analyzing Recursive Algorithms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3.3 Further Examples of Recursion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3.4 Designing Recursive Algorithms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3.5 Java’s Sequence Types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3.6 Low-level Arrays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3.7 Dynamic Arrays and Amortization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3.8 Using Array-Based Sequences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3.9 Multidimensional Data Sets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244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4: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644" y="2064610"/>
            <a:ext cx="7564582" cy="2244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Stacks, Queues and Deques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4.1.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Stacks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4.2.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Queues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4.3. 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Double-Ended Queues</a:t>
            </a:r>
            <a:endParaRPr lang="en-US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842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5: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940741"/>
              </p:ext>
            </p:extLst>
          </p:nvPr>
        </p:nvGraphicFramePr>
        <p:xfrm>
          <a:off x="748145" y="1999448"/>
          <a:ext cx="7582943" cy="3627184"/>
        </p:xfrm>
        <a:graphic>
          <a:graphicData uri="http://schemas.openxmlformats.org/drawingml/2006/table">
            <a:tbl>
              <a:tblPr firstRow="1" firstCol="1" bandRow="1"/>
              <a:tblGrid>
                <a:gridCol w="7582943">
                  <a:extLst>
                    <a:ext uri="{9D8B030D-6E8A-4147-A177-3AD203B41FA5}">
                      <a16:colId xmlns:a16="http://schemas.microsoft.com/office/drawing/2014/main" val="2527803118"/>
                    </a:ext>
                  </a:extLst>
                </a:gridCol>
              </a:tblGrid>
              <a:tr h="3052476">
                <a:tc>
                  <a:txBody>
                    <a:bodyPr/>
                    <a:lstStyle/>
                    <a:p>
                      <a:pPr marL="120015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20015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5.1.	Simply Linked Lists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20015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5.2.	Doubly Linked Lists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20015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5.3.	The positional List ADT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20015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5.4.	Sorting a Positional List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20015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5.5.	Link-Based vs. Array-Based Sequences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598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2078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6: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811" y="2009241"/>
            <a:ext cx="6096000" cy="37669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Trees</a:t>
            </a:r>
            <a:endParaRPr lang="en-US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6.1.</a:t>
            </a:r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General Trees</a:t>
            </a:r>
            <a:endParaRPr lang="en-US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6.2   Binary Trees</a:t>
            </a:r>
            <a:endParaRPr lang="en-US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6.3.</a:t>
            </a:r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Tree Traversal Algorithms</a:t>
            </a:r>
            <a:endParaRPr lang="en-US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6.4. </a:t>
            </a:r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Binary Search Trees</a:t>
            </a:r>
            <a:endParaRPr lang="en-US" sz="28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6.5.  Red-Black Trees</a:t>
            </a:r>
            <a:endParaRPr lang="en-US" sz="2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9524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7: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511470"/>
              </p:ext>
            </p:extLst>
          </p:nvPr>
        </p:nvGraphicFramePr>
        <p:xfrm>
          <a:off x="1010833" y="1690688"/>
          <a:ext cx="7183141" cy="3105341"/>
        </p:xfrm>
        <a:graphic>
          <a:graphicData uri="http://schemas.openxmlformats.org/drawingml/2006/table">
            <a:tbl>
              <a:tblPr firstRow="1" firstCol="1" bandRow="1"/>
              <a:tblGrid>
                <a:gridCol w="7183141">
                  <a:extLst>
                    <a:ext uri="{9D8B030D-6E8A-4147-A177-3AD203B41FA5}">
                      <a16:colId xmlns:a16="http://schemas.microsoft.com/office/drawing/2014/main" val="40799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20015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Sorting and Selection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20015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7.1.  </a:t>
                      </a: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Merge-Sort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20015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7.2.  Quick Sort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20015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7.3.  Java’s Built-In Sorting Functions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20015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7.4.  Selection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20015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593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193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8:</a:t>
            </a:r>
          </a:p>
        </p:txBody>
      </p:sp>
      <p:sp>
        <p:nvSpPr>
          <p:cNvPr id="4" name="Rectangle 3"/>
          <p:cNvSpPr/>
          <p:nvPr/>
        </p:nvSpPr>
        <p:spPr>
          <a:xfrm>
            <a:off x="744187" y="1929095"/>
            <a:ext cx="6096000" cy="273247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with Java</a:t>
            </a:r>
            <a:endParaRPr lang="en-US" sz="320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8.1.</a:t>
            </a:r>
            <a:r>
              <a:rPr lang="en-US" sz="3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Processing the Data</a:t>
            </a:r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8.2.  Heuristic Search</a:t>
            </a:r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>
                <a:latin typeface="Times New Roman" panose="02020603050405020304" pitchFamily="18" charset="0"/>
                <a:ea typeface="Calibri" panose="020F0502020204030204" pitchFamily="34" charset="0"/>
              </a:rPr>
              <a:t> 8.3.  Speech recognition </a:t>
            </a:r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5998534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CÀI ĐẶT MÔI TRƯỜNG VÀ CÔNG CỤ CẦN THIẾT ĐỂ LẬP TRÌNH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96501" cy="4351338"/>
          </a:xfrm>
        </p:spPr>
        <p:txBody>
          <a:bodyPr/>
          <a:lstStyle/>
          <a:p>
            <a:r>
              <a:rPr lang="en-US" dirty="0"/>
              <a:t>JDK (</a:t>
            </a:r>
            <a:r>
              <a:rPr lang="en-US" b="1" dirty="0"/>
              <a:t>J</a:t>
            </a:r>
            <a:r>
              <a:rPr lang="en-US" dirty="0"/>
              <a:t>ava SE </a:t>
            </a:r>
            <a:r>
              <a:rPr lang="en-US" b="1" dirty="0"/>
              <a:t>D</a:t>
            </a:r>
            <a:r>
              <a:rPr lang="en-US" dirty="0"/>
              <a:t>evelopment </a:t>
            </a:r>
            <a:r>
              <a:rPr lang="en-US" dirty="0" err="1"/>
              <a:t>tool</a:t>
            </a:r>
            <a:r>
              <a:rPr lang="en-US" b="1" dirty="0" err="1"/>
              <a:t>K</a:t>
            </a:r>
            <a:r>
              <a:rPr lang="en-US" dirty="0" err="1"/>
              <a:t>it</a:t>
            </a:r>
            <a:r>
              <a:rPr lang="en-US" dirty="0"/>
              <a:t>) –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,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,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javac</a:t>
            </a:r>
            <a:r>
              <a:rPr lang="en-US" dirty="0"/>
              <a:t>, JRE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Java</a:t>
            </a:r>
          </a:p>
          <a:p>
            <a:pPr lvl="1"/>
            <a:r>
              <a:rPr lang="en-US" dirty="0"/>
              <a:t>Oracle: </a:t>
            </a:r>
            <a:r>
              <a:rPr lang="en-US" dirty="0">
                <a:hlinkClick r:id="rId2"/>
              </a:rPr>
              <a:t>https://www.oracle.com/java/technologies/javase-downloads.html</a:t>
            </a:r>
            <a:endParaRPr lang="en-US" dirty="0"/>
          </a:p>
          <a:p>
            <a:pPr lvl="1"/>
            <a:r>
              <a:rPr lang="en-US" dirty="0"/>
              <a:t>OpenJDK: </a:t>
            </a:r>
            <a:r>
              <a:rPr lang="en-US" dirty="0">
                <a:hlinkClick r:id="rId3"/>
              </a:rPr>
              <a:t>https://adoptopenjdk.net/</a:t>
            </a:r>
            <a:r>
              <a:rPr lang="en-US" dirty="0"/>
              <a:t>  (</a:t>
            </a:r>
            <a:r>
              <a:rPr lang="en-US" dirty="0" err="1"/>
              <a:t>cặp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6 </a:t>
            </a:r>
            <a:r>
              <a:rPr lang="en-US" dirty="0" err="1"/>
              <a:t>tháng</a:t>
            </a:r>
            <a:r>
              <a:rPr lang="en-US" dirty="0"/>
              <a:t> 1 </a:t>
            </a:r>
            <a:r>
              <a:rPr lang="en-US" dirty="0" err="1"/>
              <a:t>lần</a:t>
            </a:r>
            <a:r>
              <a:rPr lang="en-US" dirty="0"/>
              <a:t>)</a:t>
            </a:r>
          </a:p>
          <a:p>
            <a:r>
              <a:rPr lang="en-US" dirty="0"/>
              <a:t>IDE :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(Eclipse, </a:t>
            </a:r>
            <a:r>
              <a:rPr lang="en-US" dirty="0" err="1"/>
              <a:t>Netbeans</a:t>
            </a:r>
            <a:r>
              <a:rPr lang="en-US" dirty="0"/>
              <a:t>…)</a:t>
            </a:r>
          </a:p>
          <a:p>
            <a:pPr lvl="1"/>
            <a:r>
              <a:rPr lang="en-US" dirty="0" err="1"/>
              <a:t>Tải</a:t>
            </a:r>
            <a:r>
              <a:rPr lang="en-US" dirty="0"/>
              <a:t> Eclipse: </a:t>
            </a:r>
            <a:r>
              <a:rPr lang="en-US" dirty="0">
                <a:hlinkClick r:id="rId4"/>
              </a:rPr>
              <a:t>https://www.eclipse.org/downloads/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541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FA8E-30E1-48C7-9563-634E9B802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AA466-EC43-445C-B438-2C6BE3DDA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checking: </a:t>
            </a:r>
          </a:p>
          <a:p>
            <a:pPr lvl="1"/>
            <a:r>
              <a:rPr lang="en-US" dirty="0"/>
              <a:t>java – version</a:t>
            </a:r>
          </a:p>
          <a:p>
            <a:pPr lvl="1"/>
            <a:r>
              <a:rPr lang="en-US" dirty="0" err="1"/>
              <a:t>javac</a:t>
            </a:r>
            <a:endParaRPr lang="en-US" dirty="0"/>
          </a:p>
          <a:p>
            <a:pPr lvl="1"/>
            <a:r>
              <a:rPr lang="en-US" dirty="0"/>
              <a:t>java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10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B99D2-7DF8-4DB5-AAAE-BDF845ED5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289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LANGUAGE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DBA29-FEFA-4FBF-B507-15DF98923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520825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Identifiers and Reserved Words in Java</a:t>
            </a:r>
            <a:endParaRPr lang="en-US" sz="3600" b="0" i="0" dirty="0">
              <a:solidFill>
                <a:srgbClr val="3A3A3A"/>
              </a:solidFill>
              <a:effectLst/>
              <a:latin typeface="-apple-system"/>
            </a:endParaRP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Name used for classes, methods, interfaces, and variables are called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identifiers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2EA10-D689-497B-88B2-40EF6012ED0E}"/>
              </a:ext>
            </a:extLst>
          </p:cNvPr>
          <p:cNvSpPr txBox="1"/>
          <p:nvPr/>
        </p:nvSpPr>
        <p:spPr>
          <a:xfrm>
            <a:off x="225288" y="2699088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List of some valid identifiers in Java</a:t>
            </a:r>
            <a:endParaRPr lang="en-US" sz="2000" i="0" dirty="0">
              <a:solidFill>
                <a:srgbClr val="3A3A3A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MyVariable</a:t>
            </a:r>
            <a:endParaRPr lang="en-US" sz="200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myvariable</a:t>
            </a:r>
            <a:endParaRPr lang="en-US" sz="200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</a:t>
            </a:r>
            <a:endParaRPr lang="en-US" sz="200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</a:t>
            </a:r>
            <a:endParaRPr lang="en-US" sz="200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my_Variable</a:t>
            </a:r>
            <a:endParaRPr lang="en-US" sz="200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_</a:t>
            </a:r>
            <a:r>
              <a:rPr lang="en-US" sz="20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myvariable</a:t>
            </a:r>
            <a:endParaRPr lang="en-US" sz="200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$</a:t>
            </a:r>
            <a:r>
              <a:rPr lang="en-US" sz="20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myvariable</a:t>
            </a:r>
            <a:endParaRPr lang="en-US" sz="200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sum_of_array</a:t>
            </a:r>
            <a:endParaRPr lang="en-US" sz="200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MYVARIABLE</a:t>
            </a:r>
            <a:endParaRPr lang="en-US" sz="200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dataflair123</a:t>
            </a:r>
            <a:endParaRPr lang="en-US" sz="200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9E6F5-C726-47B7-AB9B-9DF38CED1786}"/>
              </a:ext>
            </a:extLst>
          </p:cNvPr>
          <p:cNvSpPr txBox="1"/>
          <p:nvPr/>
        </p:nvSpPr>
        <p:spPr>
          <a:xfrm>
            <a:off x="3670853" y="3429000"/>
            <a:ext cx="90644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List of some invalid identifiers in Java</a:t>
            </a:r>
            <a:endParaRPr lang="en-US" sz="2400" b="0" i="0" dirty="0">
              <a:solidFill>
                <a:srgbClr val="3A3A3A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My Variable		(it contains a space)</a:t>
            </a:r>
            <a:endParaRPr lang="en-US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123gkk 		(it begins with numbers)</a:t>
            </a:r>
            <a:endParaRPr lang="en-US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a+c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			(plus sign is not an alphanumeric character)</a:t>
            </a:r>
            <a:endParaRPr lang="en-US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variable-2 		(the hyphen is not allowed)</a:t>
            </a:r>
            <a:endParaRPr lang="en-US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sum_&amp;_difference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	(ampersand is not an alphanumeric character)</a:t>
            </a:r>
            <a:endParaRPr lang="en-US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O’Reilly 		(the apostrophe is not an alphanumeric character)</a:t>
            </a:r>
            <a:endParaRPr lang="en-US" sz="2000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189941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296DC5-F893-4DDB-A7EC-59D9A90B4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43" y="225287"/>
            <a:ext cx="11502887" cy="648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935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E3EE-6565-49C2-91B3-05551DD0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List of Java Keywords:</a:t>
            </a:r>
            <a:b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BC024C-56B2-4863-AADA-79A685E9A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255035"/>
              </p:ext>
            </p:extLst>
          </p:nvPr>
        </p:nvGraphicFramePr>
        <p:xfrm>
          <a:off x="291548" y="1258092"/>
          <a:ext cx="11264350" cy="5434260"/>
        </p:xfrm>
        <a:graphic>
          <a:graphicData uri="http://schemas.openxmlformats.org/drawingml/2006/table">
            <a:tbl>
              <a:tblPr/>
              <a:tblGrid>
                <a:gridCol w="2252870">
                  <a:extLst>
                    <a:ext uri="{9D8B030D-6E8A-4147-A177-3AD203B41FA5}">
                      <a16:colId xmlns:a16="http://schemas.microsoft.com/office/drawing/2014/main" val="2580836595"/>
                    </a:ext>
                  </a:extLst>
                </a:gridCol>
                <a:gridCol w="2252870">
                  <a:extLst>
                    <a:ext uri="{9D8B030D-6E8A-4147-A177-3AD203B41FA5}">
                      <a16:colId xmlns:a16="http://schemas.microsoft.com/office/drawing/2014/main" val="3524545210"/>
                    </a:ext>
                  </a:extLst>
                </a:gridCol>
                <a:gridCol w="2252870">
                  <a:extLst>
                    <a:ext uri="{9D8B030D-6E8A-4147-A177-3AD203B41FA5}">
                      <a16:colId xmlns:a16="http://schemas.microsoft.com/office/drawing/2014/main" val="836395970"/>
                    </a:ext>
                  </a:extLst>
                </a:gridCol>
                <a:gridCol w="2252870">
                  <a:extLst>
                    <a:ext uri="{9D8B030D-6E8A-4147-A177-3AD203B41FA5}">
                      <a16:colId xmlns:a16="http://schemas.microsoft.com/office/drawing/2014/main" val="902255212"/>
                    </a:ext>
                  </a:extLst>
                </a:gridCol>
                <a:gridCol w="2252870">
                  <a:extLst>
                    <a:ext uri="{9D8B030D-6E8A-4147-A177-3AD203B41FA5}">
                      <a16:colId xmlns:a16="http://schemas.microsoft.com/office/drawing/2014/main" val="2665334339"/>
                    </a:ext>
                  </a:extLst>
                </a:gridCol>
              </a:tblGrid>
              <a:tr h="54342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abstract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789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9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9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assert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A89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9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9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A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boolean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9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A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9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A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break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8A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A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A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A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byte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8A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A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A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536806"/>
                  </a:ext>
                </a:extLst>
              </a:tr>
              <a:tr h="54342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case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89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A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A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catch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8A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A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A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A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char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98A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A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A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8A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A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A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98A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8A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A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829376"/>
                  </a:ext>
                </a:extLst>
              </a:tr>
              <a:tr h="54342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continue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8A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A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A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default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8A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A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A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do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6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double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else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137778"/>
                  </a:ext>
                </a:extLst>
              </a:tr>
              <a:tr h="54342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enum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A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A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A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extends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58A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A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A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final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A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A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finally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A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float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A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272719"/>
                  </a:ext>
                </a:extLst>
              </a:tr>
              <a:tr h="54342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for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8A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A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A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goto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98A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A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A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if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A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A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A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implements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A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A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import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9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574196"/>
                  </a:ext>
                </a:extLst>
              </a:tr>
              <a:tr h="54342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instanceOf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A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interface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B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A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native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8A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A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305111"/>
                  </a:ext>
                </a:extLst>
              </a:tr>
              <a:tr h="54342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new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8A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A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A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B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A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private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A8B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B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B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protected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6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public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678393"/>
                  </a:ext>
                </a:extLst>
              </a:tr>
              <a:tr h="54342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return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8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short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B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B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static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48B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B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strictfp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8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B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super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160923"/>
                  </a:ext>
                </a:extLst>
              </a:tr>
              <a:tr h="54342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switch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8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B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B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synchronized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88B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B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B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this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A8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8B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B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throw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68B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B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B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throws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B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B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B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549955"/>
                  </a:ext>
                </a:extLst>
              </a:tr>
              <a:tr h="54342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transient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8B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B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B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B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try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88B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B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B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void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8B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B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volatile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8B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B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B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B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while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A8B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B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1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86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8777-9166-4B51-BDF6-3321332EB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4" y="0"/>
            <a:ext cx="10515600" cy="1325563"/>
          </a:xfrm>
        </p:spPr>
        <p:txBody>
          <a:bodyPr/>
          <a:lstStyle/>
          <a:p>
            <a:r>
              <a:rPr lang="en-US" sz="4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Variables in Java</a:t>
            </a:r>
            <a:b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2CA16-9B9D-4A6C-9DDF-805F7444B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0403"/>
            <a:ext cx="12191999" cy="6067597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Syntax for declaring a variable in java: </a:t>
            </a:r>
            <a:r>
              <a:rPr lang="en-US" sz="2400" b="1" i="0" dirty="0" err="1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data_type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1" i="0" dirty="0" err="1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variable_name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algn="just" fontAlgn="base"/>
            <a:r>
              <a:rPr lang="en-US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Types of Variables in Java: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Basically there are three types of variables in java :</a:t>
            </a:r>
            <a:endParaRPr lang="en-US" sz="24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lvl="1" algn="just" fontAlgn="base"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Local Variable</a:t>
            </a:r>
            <a:endParaRPr lang="en-US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lvl="1" algn="just" fontAlgn="base"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Instance Variable</a:t>
            </a:r>
            <a:endParaRPr lang="en-US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lvl="1" algn="just" fontAlgn="base"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Static Variable</a:t>
            </a:r>
            <a:endParaRPr lang="en-US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r>
              <a:rPr lang="en-US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Variables Scope and Lifetime:</a:t>
            </a:r>
            <a:endParaRPr lang="en-US" sz="2000" b="0" i="0" dirty="0">
              <a:solidFill>
                <a:srgbClr val="3A3A3A"/>
              </a:solidFill>
              <a:effectLst/>
              <a:latin typeface="-apple-system"/>
            </a:endParaRPr>
          </a:p>
          <a:p>
            <a:pPr lvl="1"/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scope of a variable</a:t>
            </a:r>
          </a:p>
          <a:p>
            <a:pPr lvl="1"/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lifetime of a variable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Scope vs. Lifetime in Java:</a:t>
            </a:r>
            <a:endParaRPr lang="en-US" sz="2000" b="0" i="0" dirty="0">
              <a:solidFill>
                <a:srgbClr val="3A3A3A"/>
              </a:solidFill>
              <a:effectLst/>
              <a:latin typeface="-apple-system"/>
            </a:endParaRPr>
          </a:p>
          <a:p>
            <a:pPr lvl="1"/>
            <a:r>
              <a:rPr lang="en-US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Scope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refers to the range of code where you can access a variable. We can divide scope into:</a:t>
            </a:r>
          </a:p>
          <a:p>
            <a:pPr lvl="2" algn="just" fontAlgn="base">
              <a:buFont typeface="+mj-lt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Method body scope variable is accessible in method body only (local variables, parameters)</a:t>
            </a:r>
            <a:endParaRPr lang="en-US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lvl="2" algn="just" fontAlgn="base">
              <a:buFont typeface="+mj-lt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 definition scope variable is accessible in the class definition (instance variables)</a:t>
            </a:r>
            <a:endParaRPr lang="en-US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lvl="1"/>
            <a:r>
              <a:rPr lang="en-US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Lifetime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refers to the amount of time a variable (or object) exists. We can divide lifetime into categories too:</a:t>
            </a:r>
          </a:p>
          <a:p>
            <a:pPr lvl="2" algn="just" fontAlgn="base"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Method body lifetime exists on method body lifetime entry, disappears on method body exit (local variables, parameters).</a:t>
            </a:r>
          </a:p>
          <a:p>
            <a:pPr lvl="2" algn="just" fontAlgn="base"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Class definition lifetime exists as long as the object is around (instance variables).</a:t>
            </a:r>
          </a:p>
          <a:p>
            <a:pPr lvl="2"/>
            <a:endParaRPr lang="en-US" sz="1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331057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36FF61-534B-49B8-8CBD-2CBA20165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65" y="129475"/>
            <a:ext cx="10469219" cy="659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137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A9836A-2F99-457F-9279-64BCAE7C6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204909"/>
              </p:ext>
            </p:extLst>
          </p:nvPr>
        </p:nvGraphicFramePr>
        <p:xfrm>
          <a:off x="384312" y="318052"/>
          <a:ext cx="11489634" cy="6241772"/>
        </p:xfrm>
        <a:graphic>
          <a:graphicData uri="http://schemas.openxmlformats.org/drawingml/2006/table">
            <a:tbl>
              <a:tblPr/>
              <a:tblGrid>
                <a:gridCol w="1914939">
                  <a:extLst>
                    <a:ext uri="{9D8B030D-6E8A-4147-A177-3AD203B41FA5}">
                      <a16:colId xmlns:a16="http://schemas.microsoft.com/office/drawing/2014/main" val="1583768925"/>
                    </a:ext>
                  </a:extLst>
                </a:gridCol>
                <a:gridCol w="1914939">
                  <a:extLst>
                    <a:ext uri="{9D8B030D-6E8A-4147-A177-3AD203B41FA5}">
                      <a16:colId xmlns:a16="http://schemas.microsoft.com/office/drawing/2014/main" val="587620409"/>
                    </a:ext>
                  </a:extLst>
                </a:gridCol>
                <a:gridCol w="1914939">
                  <a:extLst>
                    <a:ext uri="{9D8B030D-6E8A-4147-A177-3AD203B41FA5}">
                      <a16:colId xmlns:a16="http://schemas.microsoft.com/office/drawing/2014/main" val="4258705075"/>
                    </a:ext>
                  </a:extLst>
                </a:gridCol>
                <a:gridCol w="1914939">
                  <a:extLst>
                    <a:ext uri="{9D8B030D-6E8A-4147-A177-3AD203B41FA5}">
                      <a16:colId xmlns:a16="http://schemas.microsoft.com/office/drawing/2014/main" val="3431172911"/>
                    </a:ext>
                  </a:extLst>
                </a:gridCol>
                <a:gridCol w="1914939">
                  <a:extLst>
                    <a:ext uri="{9D8B030D-6E8A-4147-A177-3AD203B41FA5}">
                      <a16:colId xmlns:a16="http://schemas.microsoft.com/office/drawing/2014/main" val="1680716614"/>
                    </a:ext>
                  </a:extLst>
                </a:gridCol>
                <a:gridCol w="1914939">
                  <a:extLst>
                    <a:ext uri="{9D8B030D-6E8A-4147-A177-3AD203B41FA5}">
                      <a16:colId xmlns:a16="http://schemas.microsoft.com/office/drawing/2014/main" val="194377726"/>
                    </a:ext>
                  </a:extLst>
                </a:gridCol>
              </a:tblGrid>
              <a:tr h="44559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 Types</a:t>
                      </a:r>
                      <a:endParaRPr lang="en-US" sz="20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C0C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C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Valid Values</a:t>
                      </a:r>
                      <a:endParaRPr lang="en-US" sz="20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F0C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C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C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C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Default Values</a:t>
                      </a:r>
                      <a:endParaRPr lang="en-US" sz="20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F0C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C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D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Size</a:t>
                      </a:r>
                      <a:endParaRPr lang="en-US" sz="20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D0C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C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Range</a:t>
                      </a:r>
                      <a:endParaRPr lang="en-US" sz="20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30C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C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D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  <a:endParaRPr lang="en-US" sz="20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90C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C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938498"/>
                  </a:ext>
                </a:extLst>
              </a:tr>
              <a:tr h="71902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boolean</a:t>
                      </a:r>
                      <a:endParaRPr lang="en-US" sz="18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E0D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C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true, false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F0C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D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C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false</a:t>
                      </a:r>
                      <a:endParaRPr lang="en-US" sz="16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80D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D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D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bit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40D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D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–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80D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D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boolean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isEnabled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= true;</a:t>
                      </a:r>
                      <a:endParaRPr lang="en-US" sz="16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4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249703"/>
                  </a:ext>
                </a:extLst>
              </a:tr>
              <a:tr h="44363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byte</a:t>
                      </a:r>
                      <a:endParaRPr lang="en-US" sz="18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1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integer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C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D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7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bits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F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–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D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byte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thiss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=1;</a:t>
                      </a:r>
                      <a:endParaRPr lang="en-US" sz="16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F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771170"/>
                  </a:ext>
                </a:extLst>
              </a:tr>
              <a:tr h="40989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char</a:t>
                      </a:r>
                      <a:endParaRPr lang="en-US" sz="18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5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unicode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00D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D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\u0000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5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D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 bits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C0D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–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D0D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char a =’a’;</a:t>
                      </a:r>
                      <a:endParaRPr lang="en-US" sz="16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5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402633"/>
                  </a:ext>
                </a:extLst>
              </a:tr>
              <a:tr h="44363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short</a:t>
                      </a:r>
                      <a:endParaRPr lang="en-US" sz="18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B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D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integer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30D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D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D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30D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D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 bits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5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[-32,768, 32,767]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8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D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short counter =1;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B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D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51106"/>
                  </a:ext>
                </a:extLst>
              </a:tr>
              <a:tr h="96441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endParaRPr lang="en-US" sz="18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9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integer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9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3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6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bits</a:t>
                      </a:r>
                      <a:endParaRPr lang="en-US" sz="16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F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[-2,147,483,648, 2,147,483,647]</a:t>
                      </a:r>
                      <a:endParaRPr lang="en-US" sz="16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706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I = 10;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6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743453"/>
                  </a:ext>
                </a:extLst>
              </a:tr>
              <a:tr h="165291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endParaRPr lang="en-US" sz="18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806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integer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3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6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6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106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6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 bits</a:t>
                      </a:r>
                      <a:endParaRPr lang="en-US" sz="16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A05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5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[-9,223,372,036,854,775,808, 9,223,372,036,854,775,807]</a:t>
                      </a:r>
                      <a:endParaRPr lang="en-US" sz="16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A05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5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 song = 100;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3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095014"/>
                  </a:ext>
                </a:extLst>
              </a:tr>
              <a:tr h="44363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float</a:t>
                      </a:r>
                      <a:endParaRPr lang="en-US" sz="18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3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6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floating point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906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6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6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bits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7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6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–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006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float pi = 3.14F;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1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480224"/>
                  </a:ext>
                </a:extLst>
              </a:tr>
              <a:tr h="71902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double</a:t>
                      </a:r>
                      <a:endParaRPr lang="en-US" sz="18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1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floating point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D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</a:t>
                      </a:r>
                      <a:endParaRPr lang="en-US" sz="16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1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6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 bits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306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6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6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–</a:t>
                      </a:r>
                      <a:endParaRPr lang="en-US" sz="1600" b="1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1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Double team = 1e1d;</a:t>
                      </a:r>
                      <a:endParaRPr lang="en-US" sz="1600" b="1" dirty="0">
                        <a:effectLst/>
                      </a:endParaRPr>
                    </a:p>
                  </a:txBody>
                  <a:tcPr marL="37772" marR="37772" marT="37772" marB="37772" anchor="ctr">
                    <a:lnL w="12700" cap="flat" cmpd="sng" algn="ctr">
                      <a:solidFill>
                        <a:srgbClr val="7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6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49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8505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B790-EDA0-4F78-8225-FC4C9724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Type Casting in Java</a:t>
            </a:r>
            <a:b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79DD62-5210-4699-BBD5-9D399C152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270" y="1353170"/>
            <a:ext cx="6496253" cy="45765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8A3032-477C-4862-9AC1-9BD09466B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796" y="2736158"/>
            <a:ext cx="2066541" cy="198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031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79EA-E0D8-4635-BA90-5A270100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1" y="105967"/>
            <a:ext cx="10515600" cy="1325563"/>
          </a:xfrm>
        </p:spPr>
        <p:txBody>
          <a:bodyPr/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Operators in Java</a:t>
            </a:r>
            <a:b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071ABD-F519-4FB4-8882-A7F21F870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237039"/>
              </p:ext>
            </p:extLst>
          </p:nvPr>
        </p:nvGraphicFramePr>
        <p:xfrm>
          <a:off x="1267238" y="967409"/>
          <a:ext cx="9657524" cy="5784624"/>
        </p:xfrm>
        <a:graphic>
          <a:graphicData uri="http://schemas.openxmlformats.org/drawingml/2006/table">
            <a:tbl>
              <a:tblPr/>
              <a:tblGrid>
                <a:gridCol w="2414381">
                  <a:extLst>
                    <a:ext uri="{9D8B030D-6E8A-4147-A177-3AD203B41FA5}">
                      <a16:colId xmlns:a16="http://schemas.microsoft.com/office/drawing/2014/main" val="1497030401"/>
                    </a:ext>
                  </a:extLst>
                </a:gridCol>
                <a:gridCol w="2414381">
                  <a:extLst>
                    <a:ext uri="{9D8B030D-6E8A-4147-A177-3AD203B41FA5}">
                      <a16:colId xmlns:a16="http://schemas.microsoft.com/office/drawing/2014/main" val="4010679283"/>
                    </a:ext>
                  </a:extLst>
                </a:gridCol>
                <a:gridCol w="2414381">
                  <a:extLst>
                    <a:ext uri="{9D8B030D-6E8A-4147-A177-3AD203B41FA5}">
                      <a16:colId xmlns:a16="http://schemas.microsoft.com/office/drawing/2014/main" val="611666366"/>
                    </a:ext>
                  </a:extLst>
                </a:gridCol>
                <a:gridCol w="2414381">
                  <a:extLst>
                    <a:ext uri="{9D8B030D-6E8A-4147-A177-3AD203B41FA5}">
                      <a16:colId xmlns:a16="http://schemas.microsoft.com/office/drawing/2014/main" val="2981661884"/>
                    </a:ext>
                  </a:extLst>
                </a:gridCol>
              </a:tblGrid>
              <a:tr h="36084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Operator</a:t>
                      </a:r>
                      <a:endParaRPr lang="en-US" sz="1800" dirty="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D86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6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6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Symbol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386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386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86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6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686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6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6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6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316285"/>
                  </a:ext>
                </a:extLst>
              </a:tr>
              <a:tr h="89628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Addition Operator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286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6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486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6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6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Adds the left operand with the right operand and returns the result.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C86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6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6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6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a=10;</a:t>
                      </a:r>
                      <a:endParaRPr lang="en-US" sz="1800" dirty="0">
                        <a:effectLst/>
                      </a:endParaRPr>
                    </a:p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b=5;</a:t>
                      </a:r>
                      <a:endParaRPr lang="en-US" sz="1800" dirty="0">
                        <a:effectLst/>
                      </a:endParaRPr>
                    </a:p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c =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a+b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; //15</a:t>
                      </a:r>
                      <a:endParaRPr lang="en-US" sz="1800" dirty="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986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86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6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645927"/>
                  </a:ext>
                </a:extLst>
              </a:tr>
              <a:tr h="116400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Subtraction Operator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1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6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6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–</a:t>
                      </a:r>
                      <a:endParaRPr lang="en-US" sz="1800" dirty="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086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6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6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Subtracts the left operand and right operand and returns the result.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C86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6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7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a=10;</a:t>
                      </a:r>
                      <a:endParaRPr lang="en-US" sz="1800">
                        <a:effectLst/>
                      </a:endParaRPr>
                    </a:p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b=5;</a:t>
                      </a:r>
                      <a:endParaRPr lang="en-US" sz="1800">
                        <a:effectLst/>
                      </a:endParaRPr>
                    </a:p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c = a-b; //5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4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177104"/>
                  </a:ext>
                </a:extLst>
              </a:tr>
              <a:tr h="89628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Multiplication Operator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C86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6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6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4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7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It multiples the left and right operand and returns the result.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887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7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6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a=2;</a:t>
                      </a:r>
                      <a:endParaRPr lang="en-US" sz="1800">
                        <a:effectLst/>
                      </a:endParaRPr>
                    </a:p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b=3;</a:t>
                      </a:r>
                      <a:endParaRPr lang="en-US" sz="1800">
                        <a:effectLst/>
                      </a:endParaRPr>
                    </a:p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c=a*b; //6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7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58018"/>
                  </a:ext>
                </a:extLst>
              </a:tr>
              <a:tr h="116400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Division Operator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186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6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7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7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6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6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7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Divides the left operand with the right operand and returns the result.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F86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6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7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a=10;</a:t>
                      </a:r>
                      <a:endParaRPr lang="en-US" sz="1800">
                        <a:effectLst/>
                      </a:endParaRPr>
                    </a:p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b=5;</a:t>
                      </a:r>
                      <a:endParaRPr lang="en-US" sz="1800">
                        <a:effectLst/>
                      </a:endParaRPr>
                    </a:p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c=a/b; //0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087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87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120055"/>
                  </a:ext>
                </a:extLst>
              </a:tr>
              <a:tr h="116400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Modulo Operator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D87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7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7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7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en-US" sz="1800" dirty="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587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7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7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87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Divides the left operand with the right operand and returns the remainder.</a:t>
                      </a:r>
                      <a:endParaRPr lang="en-US" sz="180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C87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7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7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a=10;</a:t>
                      </a:r>
                      <a:endParaRPr lang="en-US" sz="1800" dirty="0">
                        <a:effectLst/>
                      </a:endParaRPr>
                    </a:p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b=5;</a:t>
                      </a:r>
                      <a:endParaRPr lang="en-US" sz="1800" dirty="0">
                        <a:effectLst/>
                      </a:endParaRPr>
                    </a:p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c=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a%b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; //2</a:t>
                      </a:r>
                      <a:endParaRPr lang="en-US" sz="1800" dirty="0">
                        <a:effectLst/>
                      </a:endParaRPr>
                    </a:p>
                  </a:txBody>
                  <a:tcPr marL="47712" marR="47712" marT="47712" marB="47712" anchor="ctr">
                    <a:lnL w="12700" cap="flat" cmpd="sng" algn="ctr">
                      <a:solidFill>
                        <a:srgbClr val="287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7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7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901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9544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05C6B5-ECF0-4C49-ABD2-15FF10C38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112730"/>
              </p:ext>
            </p:extLst>
          </p:nvPr>
        </p:nvGraphicFramePr>
        <p:xfrm>
          <a:off x="371061" y="185531"/>
          <a:ext cx="11463130" cy="6467059"/>
        </p:xfrm>
        <a:graphic>
          <a:graphicData uri="http://schemas.openxmlformats.org/drawingml/2006/table">
            <a:tbl>
              <a:tblPr/>
              <a:tblGrid>
                <a:gridCol w="1069109">
                  <a:extLst>
                    <a:ext uri="{9D8B030D-6E8A-4147-A177-3AD203B41FA5}">
                      <a16:colId xmlns:a16="http://schemas.microsoft.com/office/drawing/2014/main" val="2771215737"/>
                    </a:ext>
                  </a:extLst>
                </a:gridCol>
                <a:gridCol w="6273390">
                  <a:extLst>
                    <a:ext uri="{9D8B030D-6E8A-4147-A177-3AD203B41FA5}">
                      <a16:colId xmlns:a16="http://schemas.microsoft.com/office/drawing/2014/main" val="2104258042"/>
                    </a:ext>
                  </a:extLst>
                </a:gridCol>
                <a:gridCol w="4120631">
                  <a:extLst>
                    <a:ext uri="{9D8B030D-6E8A-4147-A177-3AD203B41FA5}">
                      <a16:colId xmlns:a16="http://schemas.microsoft.com/office/drawing/2014/main" val="10120933"/>
                    </a:ext>
                  </a:extLst>
                </a:gridCol>
              </a:tblGrid>
              <a:tr h="63816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Symbol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C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4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9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82275"/>
                  </a:ext>
                </a:extLst>
              </a:tr>
              <a:tr h="138730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9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Assign the right operand to the left operand.</a:t>
                      </a:r>
                      <a:endParaRPr lang="en-US" sz="2000" dirty="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9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5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5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+mj-lt"/>
                        <a:buAutoNum type="arabicPeriod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 a=10;  </a:t>
                      </a:r>
                      <a:endParaRPr lang="en-US" sz="2000">
                        <a:effectLst/>
                      </a:endParaRPr>
                    </a:p>
                    <a:p>
                      <a:pPr algn="l" fontAlgn="base">
                        <a:buFont typeface="+mj-lt"/>
                        <a:buAutoNum type="arabicPeriod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 b=20;  </a:t>
                      </a:r>
                      <a:endParaRPr lang="en-US" sz="2000">
                        <a:effectLst/>
                      </a:endParaRPr>
                    </a:p>
                    <a:p>
                      <a:pPr algn="l" fontAlgn="base">
                        <a:buFont typeface="+mj-lt"/>
                        <a:buAutoNum type="arabicPeriod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a+=4; //a=a+4 (a=10+4)  </a:t>
                      </a:r>
                      <a:endParaRPr lang="en-US" sz="2000">
                        <a:effectLst/>
                      </a:endParaRPr>
                    </a:p>
                    <a:p>
                      <a:pPr algn="l" fontAlgn="base">
                        <a:buFont typeface="+mj-lt"/>
                        <a:buAutoNum type="arabicPeriod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b-=4; //b=b-4 (b=20-4) 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4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79562"/>
                  </a:ext>
                </a:extLst>
              </a:tr>
              <a:tr h="88787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+=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7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85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5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Adding left operand with right operand and then assigning it to variable on the left.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685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5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a=5;</a:t>
                      </a:r>
                      <a:endParaRPr lang="pt-BR" sz="2000">
                        <a:effectLst/>
                      </a:endParaRPr>
                    </a:p>
                    <a:p>
                      <a:pPr algn="l" fontAlgn="base"/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+= 5; //a=a+5;</a:t>
                      </a:r>
                      <a:endParaRPr lang="pt-BR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7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5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618267"/>
                  </a:ext>
                </a:extLst>
              </a:tr>
              <a:tr h="88787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-=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685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5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subtracting left operand with right operand and then assigning it to variable on the left.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A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5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a=5;</a:t>
                      </a:r>
                      <a:endParaRPr lang="pt-BR" sz="2000">
                        <a:effectLst/>
                      </a:endParaRPr>
                    </a:p>
                    <a:p>
                      <a:pPr algn="l" fontAlgn="base"/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-= 5; //a=a-5;</a:t>
                      </a:r>
                      <a:endParaRPr lang="pt-BR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885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5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5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5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991932"/>
                  </a:ext>
                </a:extLst>
              </a:tr>
              <a:tr h="88787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*=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A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multiplying left operand with right operand and then assigning it to the variable on the left.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A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5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5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5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a=5;</a:t>
                      </a:r>
                      <a:endParaRPr lang="pt-BR" sz="2000">
                        <a:effectLst/>
                      </a:endParaRPr>
                    </a:p>
                    <a:p>
                      <a:pPr algn="l" fontAlgn="base"/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*= 5; //a=a*5;</a:t>
                      </a:r>
                      <a:endParaRPr lang="pt-BR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E85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5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5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774499"/>
                  </a:ext>
                </a:extLst>
              </a:tr>
              <a:tr h="88787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/=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F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5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6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dividing left operand with right operand and then assigning it to variable on the left.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E85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5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6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a=5;</a:t>
                      </a:r>
                      <a:endParaRPr lang="pt-BR" sz="2000">
                        <a:effectLst/>
                      </a:endParaRPr>
                    </a:p>
                    <a:p>
                      <a:pPr algn="l" fontAlgn="base"/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/= 5; //a=a/5;</a:t>
                      </a:r>
                      <a:endParaRPr lang="pt-BR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0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388679"/>
                  </a:ext>
                </a:extLst>
              </a:tr>
              <a:tr h="89007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%=</a:t>
                      </a:r>
                      <a:endParaRPr lang="en-US" sz="200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F86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6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6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6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assigning modulo of left operand with right operand and then assigning it to the variable on the left.</a:t>
                      </a:r>
                      <a:endParaRPr lang="en-US" sz="2000" dirty="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D86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6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6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a=5;</a:t>
                      </a:r>
                      <a:endParaRPr lang="pt-BR" sz="2000" dirty="0">
                        <a:effectLst/>
                      </a:endParaRPr>
                    </a:p>
                    <a:p>
                      <a:pPr algn="l" fontAlgn="base"/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%= 5; //a=a%5;</a:t>
                      </a:r>
                      <a:endParaRPr lang="pt-BR" sz="2000" dirty="0">
                        <a:effectLst/>
                      </a:endParaRPr>
                    </a:p>
                  </a:txBody>
                  <a:tcPr marL="46688" marR="46688" marT="46688" marB="46688" anchor="ctr">
                    <a:lnL w="12700" cap="flat" cmpd="sng" algn="ctr">
                      <a:solidFill>
                        <a:srgbClr val="F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6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593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6895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5EA87F-AE33-448B-9911-6F28F8CDC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581445"/>
              </p:ext>
            </p:extLst>
          </p:nvPr>
        </p:nvGraphicFramePr>
        <p:xfrm>
          <a:off x="172278" y="119271"/>
          <a:ext cx="11873949" cy="6676311"/>
        </p:xfrm>
        <a:graphic>
          <a:graphicData uri="http://schemas.openxmlformats.org/drawingml/2006/table">
            <a:tbl>
              <a:tblPr/>
              <a:tblGrid>
                <a:gridCol w="2082237">
                  <a:extLst>
                    <a:ext uri="{9D8B030D-6E8A-4147-A177-3AD203B41FA5}">
                      <a16:colId xmlns:a16="http://schemas.microsoft.com/office/drawing/2014/main" val="790014620"/>
                    </a:ext>
                  </a:extLst>
                </a:gridCol>
                <a:gridCol w="1388148">
                  <a:extLst>
                    <a:ext uri="{9D8B030D-6E8A-4147-A177-3AD203B41FA5}">
                      <a16:colId xmlns:a16="http://schemas.microsoft.com/office/drawing/2014/main" val="2854554590"/>
                    </a:ext>
                  </a:extLst>
                </a:gridCol>
                <a:gridCol w="5065564">
                  <a:extLst>
                    <a:ext uri="{9D8B030D-6E8A-4147-A177-3AD203B41FA5}">
                      <a16:colId xmlns:a16="http://schemas.microsoft.com/office/drawing/2014/main" val="4010447633"/>
                    </a:ext>
                  </a:extLst>
                </a:gridCol>
                <a:gridCol w="3338000">
                  <a:extLst>
                    <a:ext uri="{9D8B030D-6E8A-4147-A177-3AD203B41FA5}">
                      <a16:colId xmlns:a16="http://schemas.microsoft.com/office/drawing/2014/main" val="1157837517"/>
                    </a:ext>
                  </a:extLst>
                </a:gridCol>
              </a:tblGrid>
              <a:tr h="61823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Operator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A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21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Symbol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A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1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0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0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F01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1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1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0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F01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1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1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40467"/>
                  </a:ext>
                </a:extLst>
              </a:tr>
              <a:tr h="61823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Equal to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D021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0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21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==</a:t>
                      </a:r>
                      <a:endParaRPr lang="en-US" sz="1800" dirty="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F80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0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0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returns true of the left-hand side is equal to the right-hand side.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F80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0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5==3 is evaluated to false.</a:t>
                      </a:r>
                      <a:endParaRPr lang="en-US" sz="1800" dirty="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B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5984"/>
                  </a:ext>
                </a:extLst>
              </a:tr>
              <a:tr h="86015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 Equal to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2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!=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2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returns true of the left-hand side is not equal to the right-hand side.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2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5!=3 is evaluated to true.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7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405662"/>
                  </a:ext>
                </a:extLst>
              </a:tr>
              <a:tr h="61823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Less than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D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0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080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returns true of the left-hand side is less than the right-hand side.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B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0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5&lt;3 is evaluated to false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7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0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1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197326"/>
                  </a:ext>
                </a:extLst>
              </a:tr>
              <a:tr h="86015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Less than or equal to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F80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0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0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&lt;=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5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returns true of the left-hand side is less than or equal to the right-hand side.</a:t>
                      </a:r>
                      <a:endParaRPr lang="en-US" sz="1800" dirty="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8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1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0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5&lt;=5 is evaluated to true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A81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1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12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95463"/>
                  </a:ext>
                </a:extLst>
              </a:tr>
              <a:tr h="86015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Greater than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A80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0F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0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&gt;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5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returns true of the left-hand side is greater than the right-hand side.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8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0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5&gt;3 is evaluated to true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5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490670"/>
                  </a:ext>
                </a:extLst>
              </a:tr>
              <a:tr h="86015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Greater than or Equal to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C80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0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&gt;=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8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0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returns true of the left-hand side is greater than or equal to the right-hand side.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980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0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5&gt;=5 is evaluated to true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E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651083"/>
                  </a:ext>
                </a:extLst>
              </a:tr>
              <a:tr h="134399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Instance of Operator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E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1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instanceOf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8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compares an object to a specified type.</a:t>
                      </a:r>
                      <a:endParaRPr lang="en-US" sz="180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2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String test = “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asdf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”;</a:t>
                      </a:r>
                      <a:endParaRPr lang="en-US" sz="1800" dirty="0">
                        <a:effectLst/>
                      </a:endParaRPr>
                    </a:p>
                    <a:p>
                      <a:pPr algn="l" fontAlgn="base"/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boolean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result;</a:t>
                      </a:r>
                      <a:endParaRPr lang="en-US" sz="1800" dirty="0">
                        <a:effectLst/>
                      </a:endParaRPr>
                    </a:p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result = test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instanceOf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String; //true</a:t>
                      </a:r>
                      <a:endParaRPr lang="en-US" sz="1800" dirty="0">
                        <a:effectLst/>
                      </a:endParaRPr>
                    </a:p>
                  </a:txBody>
                  <a:tcPr marL="44042" marR="44042" marT="44042" marB="44042" anchor="ctr">
                    <a:lnL w="12700" cap="flat" cmpd="sng" algn="ctr">
                      <a:solidFill>
                        <a:srgbClr val="8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0E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89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17814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AC0850-2093-434F-A458-66472D371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744791"/>
              </p:ext>
            </p:extLst>
          </p:nvPr>
        </p:nvGraphicFramePr>
        <p:xfrm>
          <a:off x="145774" y="132522"/>
          <a:ext cx="11873952" cy="2103120"/>
        </p:xfrm>
        <a:graphic>
          <a:graphicData uri="http://schemas.openxmlformats.org/drawingml/2006/table">
            <a:tbl>
              <a:tblPr/>
              <a:tblGrid>
                <a:gridCol w="2968488">
                  <a:extLst>
                    <a:ext uri="{9D8B030D-6E8A-4147-A177-3AD203B41FA5}">
                      <a16:colId xmlns:a16="http://schemas.microsoft.com/office/drawing/2014/main" val="917509039"/>
                    </a:ext>
                  </a:extLst>
                </a:gridCol>
                <a:gridCol w="2968488">
                  <a:extLst>
                    <a:ext uri="{9D8B030D-6E8A-4147-A177-3AD203B41FA5}">
                      <a16:colId xmlns:a16="http://schemas.microsoft.com/office/drawing/2014/main" val="3240803404"/>
                    </a:ext>
                  </a:extLst>
                </a:gridCol>
                <a:gridCol w="2968488">
                  <a:extLst>
                    <a:ext uri="{9D8B030D-6E8A-4147-A177-3AD203B41FA5}">
                      <a16:colId xmlns:a16="http://schemas.microsoft.com/office/drawing/2014/main" val="30460991"/>
                    </a:ext>
                  </a:extLst>
                </a:gridCol>
                <a:gridCol w="2968488">
                  <a:extLst>
                    <a:ext uri="{9D8B030D-6E8A-4147-A177-3AD203B41FA5}">
                      <a16:colId xmlns:a16="http://schemas.microsoft.com/office/drawing/2014/main" val="3882973551"/>
                    </a:ext>
                  </a:extLst>
                </a:gridCol>
              </a:tblGrid>
              <a:tr h="34955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Operator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0B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B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Symbol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0B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B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0B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B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0B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B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B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B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585017"/>
                  </a:ext>
                </a:extLst>
              </a:tr>
              <a:tr h="574261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Logical OR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0B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B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B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||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70B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B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returns true if either of the Boolean Expression is true.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0B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B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B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false || true is evaluated to true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B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B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B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B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708199"/>
                  </a:ext>
                </a:extLst>
              </a:tr>
              <a:tr h="798971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Logical AND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0B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B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B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B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&amp;&amp;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50B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B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B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B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returns true if all the Boolean Expressions are true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B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B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B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B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false &amp;&amp; true is evaluated to false.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40B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B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B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B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706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9AD624-0C9A-414F-8C2D-FFAE22ED5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704825"/>
              </p:ext>
            </p:extLst>
          </p:nvPr>
        </p:nvGraphicFramePr>
        <p:xfrm>
          <a:off x="145774" y="2385391"/>
          <a:ext cx="11873953" cy="4340087"/>
        </p:xfrm>
        <a:graphic>
          <a:graphicData uri="http://schemas.openxmlformats.org/drawingml/2006/table">
            <a:tbl>
              <a:tblPr/>
              <a:tblGrid>
                <a:gridCol w="1594938">
                  <a:extLst>
                    <a:ext uri="{9D8B030D-6E8A-4147-A177-3AD203B41FA5}">
                      <a16:colId xmlns:a16="http://schemas.microsoft.com/office/drawing/2014/main" val="730336012"/>
                    </a:ext>
                  </a:extLst>
                </a:gridCol>
                <a:gridCol w="1107424">
                  <a:extLst>
                    <a:ext uri="{9D8B030D-6E8A-4147-A177-3AD203B41FA5}">
                      <a16:colId xmlns:a16="http://schemas.microsoft.com/office/drawing/2014/main" val="198734439"/>
                    </a:ext>
                  </a:extLst>
                </a:gridCol>
                <a:gridCol w="6276609">
                  <a:extLst>
                    <a:ext uri="{9D8B030D-6E8A-4147-A177-3AD203B41FA5}">
                      <a16:colId xmlns:a16="http://schemas.microsoft.com/office/drawing/2014/main" val="3727145198"/>
                    </a:ext>
                  </a:extLst>
                </a:gridCol>
                <a:gridCol w="2894982">
                  <a:extLst>
                    <a:ext uri="{9D8B030D-6E8A-4147-A177-3AD203B41FA5}">
                      <a16:colId xmlns:a16="http://schemas.microsoft.com/office/drawing/2014/main" val="31803565"/>
                    </a:ext>
                  </a:extLst>
                </a:gridCol>
              </a:tblGrid>
              <a:tr h="59066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Operator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58FD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0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FD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E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Symbol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D80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E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0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F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D8FE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E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F8F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500621"/>
                  </a:ext>
                </a:extLst>
              </a:tr>
              <a:tr h="82179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Bitwise OR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D8FE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F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E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0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|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38F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FF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compares corresponding bits of two operands. If either of the bits is 1, it gives 1. If not, it gives 0.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6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06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a=12, b=25;</a:t>
                      </a:r>
                      <a:endParaRPr lang="en-US" sz="1800">
                        <a:effectLst/>
                      </a:endParaRPr>
                    </a:p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result = a|b; //29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080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80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370458"/>
                  </a:ext>
                </a:extLst>
              </a:tr>
              <a:tr h="105292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Bitwise AND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E80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0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D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06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06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compares corresponding bits of two operands. If either of the bits is 1, it gives 1. If either of the bits is not 1, it gives 0.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8806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06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a=12, b=25;</a:t>
                      </a:r>
                      <a:endParaRPr lang="en-US" sz="1800">
                        <a:effectLst/>
                      </a:endParaRPr>
                    </a:p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result = a&amp;b; //8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4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0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060953"/>
                  </a:ext>
                </a:extLst>
              </a:tr>
              <a:tr h="105292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Bitwise XOR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4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06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0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^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5806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06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compares corresponding bits of two operands. If corresponding bits are different, it gives 1. If corresponding bits are the same, it gives 0.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4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0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04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07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a=12, b=25;</a:t>
                      </a:r>
                      <a:endParaRPr lang="en-US" sz="1800">
                        <a:effectLst/>
                      </a:endParaRPr>
                    </a:p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result = a^b; //21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C80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0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0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553964"/>
                  </a:ext>
                </a:extLst>
              </a:tr>
              <a:tr h="82179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Bitwise Complement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C80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0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0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F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07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inverts the bit pattern. It makes every 1 to 0 and every 0 to 1.</a:t>
                      </a:r>
                      <a:endParaRPr lang="en-US" sz="180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A807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07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07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a=35;</a:t>
                      </a:r>
                      <a:endParaRPr lang="en-US" sz="1800" dirty="0">
                        <a:effectLst/>
                      </a:endParaRPr>
                    </a:p>
                    <a:p>
                      <a:pPr algn="l" fontAlgn="base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result = ~a; //-36</a:t>
                      </a:r>
                      <a:endParaRPr lang="en-US" sz="1800" dirty="0">
                        <a:effectLst/>
                      </a:endParaRPr>
                    </a:p>
                  </a:txBody>
                  <a:tcPr marL="64369" marR="64369" marT="64369" marB="64369" anchor="ctr">
                    <a:lnL w="12700" cap="flat" cmpd="sng" algn="ctr">
                      <a:solidFill>
                        <a:srgbClr val="3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0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457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2299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EF7C11-5602-4D5A-A051-1C131F021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974626"/>
              </p:ext>
            </p:extLst>
          </p:nvPr>
        </p:nvGraphicFramePr>
        <p:xfrm>
          <a:off x="397564" y="344557"/>
          <a:ext cx="11489636" cy="6281529"/>
        </p:xfrm>
        <a:graphic>
          <a:graphicData uri="http://schemas.openxmlformats.org/drawingml/2006/table">
            <a:tbl>
              <a:tblPr/>
              <a:tblGrid>
                <a:gridCol w="2872409">
                  <a:extLst>
                    <a:ext uri="{9D8B030D-6E8A-4147-A177-3AD203B41FA5}">
                      <a16:colId xmlns:a16="http://schemas.microsoft.com/office/drawing/2014/main" val="14701833"/>
                    </a:ext>
                  </a:extLst>
                </a:gridCol>
                <a:gridCol w="2872409">
                  <a:extLst>
                    <a:ext uri="{9D8B030D-6E8A-4147-A177-3AD203B41FA5}">
                      <a16:colId xmlns:a16="http://schemas.microsoft.com/office/drawing/2014/main" val="2877185513"/>
                    </a:ext>
                  </a:extLst>
                </a:gridCol>
                <a:gridCol w="2872409">
                  <a:extLst>
                    <a:ext uri="{9D8B030D-6E8A-4147-A177-3AD203B41FA5}">
                      <a16:colId xmlns:a16="http://schemas.microsoft.com/office/drawing/2014/main" val="4200184801"/>
                    </a:ext>
                  </a:extLst>
                </a:gridCol>
                <a:gridCol w="2872409">
                  <a:extLst>
                    <a:ext uri="{9D8B030D-6E8A-4147-A177-3AD203B41FA5}">
                      <a16:colId xmlns:a16="http://schemas.microsoft.com/office/drawing/2014/main" val="2513862380"/>
                    </a:ext>
                  </a:extLst>
                </a:gridCol>
              </a:tblGrid>
              <a:tr h="50396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Operator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309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9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9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Symbol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E09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9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1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220887"/>
                  </a:ext>
                </a:extLst>
              </a:tr>
              <a:tr h="11555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Unary minus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–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D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9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is used for negating the values.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9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a=5.2;</a:t>
                      </a:r>
                      <a:endParaRPr lang="en-US" sz="2000">
                        <a:effectLst/>
                      </a:endParaRPr>
                    </a:p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b = -a; //-5.2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F09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9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43752"/>
                  </a:ext>
                </a:extLst>
              </a:tr>
              <a:tr h="11555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Unary plus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9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en-US" sz="2000" dirty="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309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9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9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9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is used for giving positive values.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209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9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9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a=5.2;</a:t>
                      </a:r>
                      <a:endParaRPr lang="en-US" sz="2000">
                        <a:effectLst/>
                      </a:endParaRPr>
                    </a:p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b = +a; //5.2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7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9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71581"/>
                  </a:ext>
                </a:extLst>
              </a:tr>
              <a:tr h="11555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Increment Operator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7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9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9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9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endParaRPr lang="en-US" sz="2000" dirty="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E09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9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9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A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is used for incrementing the value by 1.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109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9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9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A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a=5.2;</a:t>
                      </a:r>
                      <a:endParaRPr lang="en-US" sz="2000" dirty="0">
                        <a:effectLst/>
                      </a:endParaRPr>
                    </a:p>
                    <a:p>
                      <a:pPr algn="l" fontAlgn="base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b = ++a; //6.2</a:t>
                      </a:r>
                    </a:p>
                    <a:p>
                      <a:pPr algn="l" fontAlgn="base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b=a++;b=5.2,a=6.2</a:t>
                      </a:r>
                      <a:endParaRPr lang="en-US" sz="2000" dirty="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109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9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9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288581"/>
                  </a:ext>
                </a:extLst>
              </a:tr>
              <a:tr h="11555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Decrement Operator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309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A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9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endParaRPr lang="en-US" sz="2000" dirty="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30A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A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A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is used for decrementing the value by 1.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80A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A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a=5.2;</a:t>
                      </a:r>
                      <a:endParaRPr lang="en-US" sz="2000">
                        <a:effectLst/>
                      </a:endParaRPr>
                    </a:p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 b = –a; //4.2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B0A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A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713110"/>
                  </a:ext>
                </a:extLst>
              </a:tr>
              <a:tr h="11555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Logical NOT Operator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B0A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A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A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!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50A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A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A3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is used for inverting a Boolean value</a:t>
                      </a:r>
                      <a:endParaRPr lang="en-US" sz="200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A0A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boolean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a=false;</a:t>
                      </a:r>
                      <a:endParaRPr lang="en-US" sz="2000" dirty="0">
                        <a:effectLst/>
                      </a:endParaRPr>
                    </a:p>
                    <a:p>
                      <a:pPr algn="l" fontAlgn="base"/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boolean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b=!a; //true</a:t>
                      </a:r>
                      <a:endParaRPr lang="en-US" sz="2000" dirty="0">
                        <a:effectLst/>
                      </a:endParaRPr>
                    </a:p>
                  </a:txBody>
                  <a:tcPr marL="62519" marR="62519" marT="62519" marB="62519" anchor="ctr">
                    <a:lnL w="12700" cap="flat" cmpd="sng" algn="ctr">
                      <a:solidFill>
                        <a:srgbClr val="A0A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69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3797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63AF74-7E56-42BC-AD03-73F5C3008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821797"/>
              </p:ext>
            </p:extLst>
          </p:nvPr>
        </p:nvGraphicFramePr>
        <p:xfrm>
          <a:off x="278296" y="372386"/>
          <a:ext cx="11436624" cy="3505200"/>
        </p:xfrm>
        <a:graphic>
          <a:graphicData uri="http://schemas.openxmlformats.org/drawingml/2006/table">
            <a:tbl>
              <a:tblPr/>
              <a:tblGrid>
                <a:gridCol w="2859156">
                  <a:extLst>
                    <a:ext uri="{9D8B030D-6E8A-4147-A177-3AD203B41FA5}">
                      <a16:colId xmlns:a16="http://schemas.microsoft.com/office/drawing/2014/main" val="517513349"/>
                    </a:ext>
                  </a:extLst>
                </a:gridCol>
                <a:gridCol w="2859156">
                  <a:extLst>
                    <a:ext uri="{9D8B030D-6E8A-4147-A177-3AD203B41FA5}">
                      <a16:colId xmlns:a16="http://schemas.microsoft.com/office/drawing/2014/main" val="995538716"/>
                    </a:ext>
                  </a:extLst>
                </a:gridCol>
                <a:gridCol w="2859156">
                  <a:extLst>
                    <a:ext uri="{9D8B030D-6E8A-4147-A177-3AD203B41FA5}">
                      <a16:colId xmlns:a16="http://schemas.microsoft.com/office/drawing/2014/main" val="2357713092"/>
                    </a:ext>
                  </a:extLst>
                </a:gridCol>
                <a:gridCol w="2859156">
                  <a:extLst>
                    <a:ext uri="{9D8B030D-6E8A-4147-A177-3AD203B41FA5}">
                      <a16:colId xmlns:a16="http://schemas.microsoft.com/office/drawing/2014/main" val="1405984474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Operator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0F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F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F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Symbol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0F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F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F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0F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F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F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732326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Left Shift Operator</a:t>
                      </a:r>
                      <a:endParaRPr lang="en-US" sz="2000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&lt;&lt;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F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is used to shift all of the bits in value to the left side of a specified number of times.</a:t>
                      </a:r>
                      <a:endParaRPr lang="en-US" sz="2000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F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10&lt;&lt;2 //10*2^2=10*4=40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0F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F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F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430273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Right Shift Operator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0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F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&gt;&gt;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0F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F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F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is used to move left operands value to right by the number of bits specified by the right operand.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60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F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10&gt;&gt;2 //10/2^2=10/4=2 </a:t>
                      </a:r>
                      <a:endParaRPr lang="en-US" sz="2000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0F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F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F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F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09744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BDFFA33-0699-454D-A945-829F7778B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488" y="4322612"/>
            <a:ext cx="2949023" cy="20583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7A7E7-1AC3-4FEF-9733-D9AC3B032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428" y="5056409"/>
            <a:ext cx="2657476" cy="59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0426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C90C09-3CDC-41B2-A59E-ED3D936BD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665419"/>
              </p:ext>
            </p:extLst>
          </p:nvPr>
        </p:nvGraphicFramePr>
        <p:xfrm>
          <a:off x="192156" y="122947"/>
          <a:ext cx="11807688" cy="6735053"/>
        </p:xfrm>
        <a:graphic>
          <a:graphicData uri="http://schemas.openxmlformats.org/drawingml/2006/table">
            <a:tbl>
              <a:tblPr/>
              <a:tblGrid>
                <a:gridCol w="2951922">
                  <a:extLst>
                    <a:ext uri="{9D8B030D-6E8A-4147-A177-3AD203B41FA5}">
                      <a16:colId xmlns:a16="http://schemas.microsoft.com/office/drawing/2014/main" val="3728966520"/>
                    </a:ext>
                  </a:extLst>
                </a:gridCol>
                <a:gridCol w="2951922">
                  <a:extLst>
                    <a:ext uri="{9D8B030D-6E8A-4147-A177-3AD203B41FA5}">
                      <a16:colId xmlns:a16="http://schemas.microsoft.com/office/drawing/2014/main" val="280971032"/>
                    </a:ext>
                  </a:extLst>
                </a:gridCol>
                <a:gridCol w="2951922">
                  <a:extLst>
                    <a:ext uri="{9D8B030D-6E8A-4147-A177-3AD203B41FA5}">
                      <a16:colId xmlns:a16="http://schemas.microsoft.com/office/drawing/2014/main" val="2252586357"/>
                    </a:ext>
                  </a:extLst>
                </a:gridCol>
                <a:gridCol w="2951922">
                  <a:extLst>
                    <a:ext uri="{9D8B030D-6E8A-4147-A177-3AD203B41FA5}">
                      <a16:colId xmlns:a16="http://schemas.microsoft.com/office/drawing/2014/main" val="4128418888"/>
                    </a:ext>
                  </a:extLst>
                </a:gridCol>
              </a:tblGrid>
              <a:tr h="183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Level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C8C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C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Operator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98C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C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B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C8C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Associativity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8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482134"/>
                  </a:ext>
                </a:extLst>
              </a:tr>
              <a:tr h="62290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5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B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[]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A8CB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B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access array element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access object member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parentheses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5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B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left to right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8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144924"/>
                  </a:ext>
                </a:extLst>
              </a:tr>
              <a:tr h="51078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E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endParaRPr lang="en-US" sz="1100" dirty="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E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B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C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unary post-increment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unary post-decrement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D8CB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B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 associative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9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06558"/>
                  </a:ext>
                </a:extLst>
              </a:tr>
              <a:tr h="107139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3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C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–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!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58C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C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C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unary pre-increment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unary pre-decrement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unary plus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unary minus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unary logical NOT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unary bitwise NOT</a:t>
                      </a:r>
                      <a:endParaRPr lang="en-US" sz="1100" dirty="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0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8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right to left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68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37284"/>
                  </a:ext>
                </a:extLst>
              </a:tr>
              <a:tr h="30471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E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C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new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78C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8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C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cast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object creation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68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C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right to left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F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497956"/>
                  </a:ext>
                </a:extLst>
              </a:tr>
              <a:tr h="183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F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D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 / %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E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C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multiplicative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A8C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C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left to right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3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30481"/>
                  </a:ext>
                </a:extLst>
              </a:tr>
              <a:tr h="39865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18D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D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–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F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D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additive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string concatenation</a:t>
                      </a:r>
                      <a:endParaRPr lang="en-US" sz="1100" dirty="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2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left to right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5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45135"/>
                  </a:ext>
                </a:extLst>
              </a:tr>
              <a:tr h="30471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8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8D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D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&lt;&lt; &gt;&gt;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&gt;&gt;&gt;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18D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D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D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shift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C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left to right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9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347346"/>
                  </a:ext>
                </a:extLst>
              </a:tr>
              <a:tr h="42592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6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D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 &lt;=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&gt; &gt;=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instanceof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28D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D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relational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E8D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 associative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F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D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765931"/>
                  </a:ext>
                </a:extLst>
              </a:tr>
              <a:tr h="30471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1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==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!=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0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D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equality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9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D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left to right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48D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8D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D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D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184239"/>
                  </a:ext>
                </a:extLst>
              </a:tr>
              <a:tr h="183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E8D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F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bitwise AND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7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D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left to right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48D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8D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D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D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647552"/>
                  </a:ext>
                </a:extLst>
              </a:tr>
              <a:tr h="183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F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D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8DB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^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7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bitwise XOR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7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D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D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left to right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88D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D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D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669402"/>
                  </a:ext>
                </a:extLst>
              </a:tr>
              <a:tr h="183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68DB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8DB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|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F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bitwise OR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B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left to right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C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D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757047"/>
                  </a:ext>
                </a:extLst>
              </a:tr>
              <a:tr h="183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A8D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&amp;&amp;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8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logical AND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C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D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left to right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28D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D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D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124858"/>
                  </a:ext>
                </a:extLst>
              </a:tr>
              <a:tr h="183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8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||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D8D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D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logical OR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5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D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left to right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8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974681"/>
                  </a:ext>
                </a:extLst>
              </a:tr>
              <a:tr h="183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B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D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D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E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?: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48D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D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D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ternary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08D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D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right to left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C8D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1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136791"/>
                  </a:ext>
                </a:extLst>
              </a:tr>
              <a:tr h="54713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A8E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E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E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=   +=   -=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*=   /=   %=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&amp;=   ^=   |=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&lt;&lt;=  &gt;&gt;= &gt;&gt;&gt;=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F0D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assignment</a:t>
                      </a:r>
                      <a:endParaRPr lang="en-US" sz="110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C0CD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D1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D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right to left</a:t>
                      </a:r>
                      <a:endParaRPr lang="en-US" sz="1100" dirty="0">
                        <a:effectLst/>
                      </a:endParaRPr>
                    </a:p>
                  </a:txBody>
                  <a:tcPr marL="23495" marR="23495" marT="23495" marB="23495" anchor="ctr">
                    <a:lnL w="12700" cap="flat" cmpd="sng" algn="ctr">
                      <a:solidFill>
                        <a:srgbClr val="20D1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D1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D1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D1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516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3607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FAAA8-01EA-49B3-A2C5-28B538E4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 case: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D504BA-968A-9901-5938-B7D56099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631" y="1380157"/>
            <a:ext cx="6970643" cy="491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0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0824C7-0182-4FB9-9A63-DB867ADF9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896" y="977900"/>
            <a:ext cx="7764130" cy="439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705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6A961-F1E8-404F-B378-5E38F3C87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9ADCA-A615-42CE-B07C-469F3839B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6" y="1690688"/>
            <a:ext cx="9157252" cy="437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445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05C36-C8D8-B2BC-6436-412D6F0A3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a=10;</a:t>
            </a:r>
          </a:p>
          <a:p>
            <a:r>
              <a:rPr lang="en-US" dirty="0"/>
              <a:t>Int b=20;</a:t>
            </a:r>
          </a:p>
          <a:p>
            <a:r>
              <a:rPr lang="en-US" dirty="0"/>
              <a:t>Int c=++</a:t>
            </a:r>
            <a:r>
              <a:rPr lang="en-US" dirty="0" err="1"/>
              <a:t>a+b</a:t>
            </a:r>
            <a:r>
              <a:rPr lang="en-US" dirty="0"/>
              <a:t>++;   a=? b=? c=?</a:t>
            </a:r>
          </a:p>
          <a:p>
            <a:pPr lvl="1"/>
            <a:r>
              <a:rPr lang="en-US" dirty="0"/>
              <a:t>1. a=a+1;</a:t>
            </a:r>
          </a:p>
          <a:p>
            <a:pPr lvl="1"/>
            <a:r>
              <a:rPr lang="en-US" dirty="0"/>
              <a:t>2. c=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3. b=b+1;</a:t>
            </a:r>
          </a:p>
          <a:p>
            <a:r>
              <a:rPr lang="en-US" dirty="0"/>
              <a:t>Int d=a++ - --b; a=? b=? c=?</a:t>
            </a:r>
          </a:p>
        </p:txBody>
      </p:sp>
    </p:spTree>
    <p:extLst>
      <p:ext uri="{BB962C8B-B14F-4D97-AF65-F5344CB8AC3E}">
        <p14:creationId xmlns:p14="http://schemas.microsoft.com/office/powerpoint/2010/main" val="21925317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0717-7BF4-471B-A3F8-60F90A6C1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3" y="126352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3A3A3A"/>
                </a:solidFill>
                <a:effectLst/>
                <a:latin typeface="-apple-system"/>
              </a:rPr>
              <a:t>Control Flow Statements in Java</a:t>
            </a:r>
            <a:br>
              <a:rPr lang="en-US" b="1" i="0" dirty="0">
                <a:solidFill>
                  <a:srgbClr val="3A3A3A"/>
                </a:solidFill>
                <a:effectLst/>
                <a:latin typeface="-apple-system"/>
              </a:rPr>
            </a:b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09E6F-F3EC-41AC-953A-358E6F54E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3600"/>
            <a:ext cx="6930887" cy="1147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62DE04-6952-4CE3-900E-F9936B871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3" y="1650680"/>
            <a:ext cx="5188059" cy="1929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AE629E-4F5F-458B-9DA2-1D9811836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31" y="4258886"/>
            <a:ext cx="2019921" cy="16725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2C8712-FE55-4165-83F5-6129C4672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9332" y="3954053"/>
            <a:ext cx="2019921" cy="2403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CAB0A2-EAF3-4830-A561-E5B152A8D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9253" y="3458670"/>
            <a:ext cx="2615855" cy="32729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6BF0CB-56F4-40BB-ABF8-F050FF27F2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012" y="1451915"/>
            <a:ext cx="2615855" cy="50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489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6BBA39-E230-41AF-9CBB-1760E21B4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68" y="81297"/>
            <a:ext cx="6247779" cy="2188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9B4FA2-2C24-430A-8FF5-8FCFDC06B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06" y="2390775"/>
            <a:ext cx="4381500" cy="1215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22DA88-77C1-4595-B3ED-35E27796F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05" y="4941946"/>
            <a:ext cx="5232685" cy="1785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601FAD-C8C4-4290-B87C-A594321FC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05" y="3605937"/>
            <a:ext cx="4653075" cy="12151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9C4802-55AF-4530-AD38-570BCA6BE3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970" y="81297"/>
            <a:ext cx="2203796" cy="1038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5C9FA4-438D-4C34-A1BA-34BD14F9E7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970" y="3429000"/>
            <a:ext cx="2764836" cy="10382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44953D-2FB1-4E6B-A6D2-D83672828D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6525" y="1027687"/>
            <a:ext cx="4381500" cy="22764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E55270-5651-446A-B95B-B961EFADEA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6526" y="4467225"/>
            <a:ext cx="4381500" cy="227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717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DCBB5A-CD74-43A5-AEFB-65E24AB29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3" y="210171"/>
            <a:ext cx="6581908" cy="22944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ED5F44-3A5E-48D7-9358-CC6FAF4EF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39" y="2504661"/>
            <a:ext cx="4944368" cy="2840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14CA3B-551D-432B-9889-57D259A1C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268" y="404539"/>
            <a:ext cx="4400887" cy="2840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CABA03-03AE-4840-8606-5E126DB1C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995" y="3744981"/>
            <a:ext cx="5452572" cy="284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216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Java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3135" y="2328275"/>
            <a:ext cx="1193074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HelloWorld {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2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2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2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"Hi everybody, Welcome to Java"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9127629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Variable: Khai báo, sử dụng biến và hằng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1223157" y="1997839"/>
            <a:ext cx="891836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java.time.Year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vidu_khaibaobien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2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sz="2400" dirty="0" err="1">
                <a:solidFill>
                  <a:srgbClr val="6A3E3E"/>
                </a:solidFill>
                <a:latin typeface="Consolas" panose="020B0609020204030204" pitchFamily="49" charset="0"/>
              </a:rPr>
              <a:t>hovaten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"Do Ha Phuong"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final 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namsinh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=1990;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tuoi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Year.</a:t>
            </a:r>
            <a:r>
              <a:rPr lang="en-US" sz="2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now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sz="2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getValue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()-</a:t>
            </a:r>
            <a:r>
              <a:rPr lang="en-US" sz="24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namsinh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nn-NO" sz="2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nn-NO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nn-NO" sz="2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"Ho va ten: "</a:t>
            </a:r>
            <a:r>
              <a:rPr lang="nn-NO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nn-NO" sz="2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hovaten</a:t>
            </a:r>
            <a:r>
              <a:rPr lang="nn-NO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2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2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Tuoi</a:t>
            </a:r>
            <a:r>
              <a:rPr lang="en-US" sz="2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: "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4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tuoi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6722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Nhập và xuất trong Java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025" y="1889489"/>
            <a:ext cx="1040377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java.util.Scanner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vidu_nhapvaxuat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en-US" sz="2000" u="sng" dirty="0" err="1">
                <a:solidFill>
                  <a:srgbClr val="6A3E3E"/>
                </a:solidFill>
                <a:latin typeface="Consolas" panose="020B0609020204030204" pitchFamily="49" charset="0"/>
              </a:rPr>
              <a:t>nhap</a:t>
            </a:r>
            <a:r>
              <a:rPr lang="en-US" sz="2000" u="sng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b="1" u="sng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20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en-US" sz="2000" b="1" i="1" u="sng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sz="2000" b="1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nn-NO" sz="20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nn-NO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nn-NO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"Nhap vao ho va ten: "</a:t>
            </a:r>
            <a:r>
              <a:rPr lang="nn-NO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hoten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nhap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.nextLine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0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Nhap</a:t>
            </a:r>
            <a:r>
              <a:rPr lang="en-US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</a:t>
            </a:r>
            <a:r>
              <a:rPr lang="en-US" sz="20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vao</a:t>
            </a:r>
            <a:r>
              <a:rPr lang="en-US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</a:t>
            </a:r>
            <a:r>
              <a:rPr lang="en-US" sz="20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nam</a:t>
            </a:r>
            <a:r>
              <a:rPr lang="en-US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</a:t>
            </a:r>
            <a:r>
              <a:rPr lang="en-US" sz="20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sinh</a:t>
            </a:r>
            <a:r>
              <a:rPr lang="en-US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: "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namsinh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nhap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"Xin chao: "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0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hoten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sz="20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Sinh</a:t>
            </a:r>
            <a:r>
              <a:rPr lang="en-US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</a:t>
            </a:r>
            <a:r>
              <a:rPr lang="en-US" sz="20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nam</a:t>
            </a:r>
            <a:r>
              <a:rPr lang="en-US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:"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0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namsinh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6496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2504" y="83127"/>
            <a:ext cx="5902036" cy="59400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 java.io.IOException;</a:t>
            </a:r>
          </a:p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 java.util.Scanner;</a:t>
            </a:r>
          </a:p>
          <a:p>
            <a:r>
              <a:rPr lang="vi-VN" sz="2000" b="1" dirty="0">
                <a:latin typeface="Calibri" panose="020F0502020204030204" pitchFamily="34" charset="0"/>
                <a:cs typeface="Calibri" panose="020F0502020204030204" pitchFamily="34" charset="0"/>
              </a:rPr>
              <a:t>public class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Vidu_Nhap_va_Xuat</a:t>
            </a:r>
            <a:r>
              <a:rPr lang="vi-VN" sz="2000" b="1" dirty="0">
                <a:latin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r>
              <a:rPr lang="vi-VN" sz="2000" b="1" dirty="0">
                <a:latin typeface="Calibri" panose="020F0502020204030204" pitchFamily="34" charset="0"/>
                <a:cs typeface="Calibri" panose="020F0502020204030204" pitchFamily="34" charset="0"/>
              </a:rPr>
              <a:t>public static void main(String[] args) throws IOException {</a:t>
            </a:r>
          </a:p>
          <a:p>
            <a:r>
              <a:rPr lang="vi-VN" sz="2000" b="1" dirty="0">
                <a:latin typeface="Calibri" panose="020F0502020204030204" pitchFamily="34" charset="0"/>
                <a:cs typeface="Calibri" panose="020F0502020204030204" pitchFamily="34" charset="0"/>
              </a:rPr>
              <a:t>Scanner input = new Scanner(System.in);</a:t>
            </a:r>
          </a:p>
          <a:p>
            <a:r>
              <a:rPr lang="vi-VN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vi-VN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 i;    short s;    byte b;    long l;    float f; double d;</a:t>
            </a:r>
          </a:p>
          <a:p>
            <a:r>
              <a:rPr lang="vi-VN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boolean bo;    String str;    char c;</a:t>
            </a:r>
          </a:p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System.out.print("Nhập 1 số nguyên: ");</a:t>
            </a:r>
          </a:p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i = input.nextInt();</a:t>
            </a:r>
          </a:p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System.out.println("Sau khi nhập, i = " + i);</a:t>
            </a:r>
          </a:p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System.out.print("Nhập 1 số nguyên short: ");</a:t>
            </a:r>
          </a:p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 = input.nextShort();</a:t>
            </a:r>
          </a:p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System.out.println("Sau khi nhập, s = " + s);</a:t>
            </a:r>
          </a:p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System.out.print("Nhập 1 số nguyên byte: ");</a:t>
            </a:r>
          </a:p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b = input.nextByte();</a:t>
            </a:r>
          </a:p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System.out.println("Sau khi nhập, b = " + b);</a:t>
            </a:r>
          </a:p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System.out.print("Nhập 1 số nguyên long: ");</a:t>
            </a:r>
          </a:p>
          <a:p>
            <a:r>
              <a:rPr lang="vi-VN" sz="20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l = input.nextLong();</a:t>
            </a:r>
            <a:endParaRPr lang="en-US" sz="2000" b="1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44540" y="83127"/>
            <a:ext cx="5902036" cy="59400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 </a:t>
            </a:r>
            <a:r>
              <a:rPr lang="en-US" sz="2000" b="1" dirty="0" err="1">
                <a:solidFill>
                  <a:schemeClr val="accent5"/>
                </a:solidFill>
              </a:rPr>
              <a:t>System.out.println</a:t>
            </a:r>
            <a:r>
              <a:rPr lang="en-US" sz="2000" b="1" dirty="0">
                <a:solidFill>
                  <a:schemeClr val="accent5"/>
                </a:solidFill>
              </a:rPr>
              <a:t>("Sau </a:t>
            </a:r>
            <a:r>
              <a:rPr lang="en-US" sz="2000" b="1" dirty="0" err="1">
                <a:solidFill>
                  <a:schemeClr val="accent5"/>
                </a:solidFill>
              </a:rPr>
              <a:t>khi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err="1">
                <a:solidFill>
                  <a:schemeClr val="accent5"/>
                </a:solidFill>
              </a:rPr>
              <a:t>nhập</a:t>
            </a:r>
            <a:r>
              <a:rPr lang="en-US" sz="2000" b="1" dirty="0">
                <a:solidFill>
                  <a:schemeClr val="accent5"/>
                </a:solidFill>
              </a:rPr>
              <a:t>, l = " + l);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</a:t>
            </a:r>
            <a:r>
              <a:rPr lang="en-US" sz="2000" b="1" dirty="0" err="1">
                <a:solidFill>
                  <a:schemeClr val="accent5"/>
                </a:solidFill>
              </a:rPr>
              <a:t>System.out.println</a:t>
            </a:r>
            <a:r>
              <a:rPr lang="en-US" sz="2000" b="1" dirty="0">
                <a:solidFill>
                  <a:schemeClr val="accent5"/>
                </a:solidFill>
              </a:rPr>
              <a:t>("</a:t>
            </a:r>
            <a:r>
              <a:rPr lang="en-US" sz="2000" b="1" dirty="0" err="1">
                <a:solidFill>
                  <a:schemeClr val="accent5"/>
                </a:solidFill>
              </a:rPr>
              <a:t>Nhập</a:t>
            </a:r>
            <a:r>
              <a:rPr lang="en-US" sz="2000" b="1" dirty="0">
                <a:solidFill>
                  <a:schemeClr val="accent5"/>
                </a:solidFill>
              </a:rPr>
              <a:t> 1 </a:t>
            </a:r>
            <a:r>
              <a:rPr lang="en-US" sz="2000" b="1" dirty="0" err="1">
                <a:solidFill>
                  <a:schemeClr val="accent5"/>
                </a:solidFill>
              </a:rPr>
              <a:t>số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err="1">
                <a:solidFill>
                  <a:schemeClr val="accent5"/>
                </a:solidFill>
              </a:rPr>
              <a:t>thực</a:t>
            </a:r>
            <a:r>
              <a:rPr lang="en-US" sz="2000" b="1" dirty="0">
                <a:solidFill>
                  <a:schemeClr val="accent5"/>
                </a:solidFill>
              </a:rPr>
              <a:t> float: ");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f = </a:t>
            </a:r>
            <a:r>
              <a:rPr lang="en-US" sz="2000" b="1" dirty="0" err="1">
                <a:solidFill>
                  <a:schemeClr val="accent5"/>
                </a:solidFill>
              </a:rPr>
              <a:t>input.nextFloat</a:t>
            </a:r>
            <a:r>
              <a:rPr lang="en-US" sz="2000" b="1" dirty="0">
                <a:solidFill>
                  <a:schemeClr val="accent5"/>
                </a:solidFill>
              </a:rPr>
              <a:t>();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</a:t>
            </a:r>
            <a:r>
              <a:rPr lang="en-US" sz="2000" b="1" dirty="0" err="1">
                <a:solidFill>
                  <a:schemeClr val="accent5"/>
                </a:solidFill>
              </a:rPr>
              <a:t>System.out.println</a:t>
            </a:r>
            <a:r>
              <a:rPr lang="en-US" sz="2000" b="1" dirty="0">
                <a:solidFill>
                  <a:schemeClr val="accent5"/>
                </a:solidFill>
              </a:rPr>
              <a:t>("Sau </a:t>
            </a:r>
            <a:r>
              <a:rPr lang="en-US" sz="2000" b="1" dirty="0" err="1">
                <a:solidFill>
                  <a:schemeClr val="accent5"/>
                </a:solidFill>
              </a:rPr>
              <a:t>khi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err="1">
                <a:solidFill>
                  <a:schemeClr val="accent5"/>
                </a:solidFill>
              </a:rPr>
              <a:t>nhập</a:t>
            </a:r>
            <a:r>
              <a:rPr lang="en-US" sz="2000" b="1" dirty="0">
                <a:solidFill>
                  <a:schemeClr val="accent5"/>
                </a:solidFill>
              </a:rPr>
              <a:t>, f = " + f);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</a:t>
            </a:r>
            <a:r>
              <a:rPr lang="en-US" sz="2000" b="1" dirty="0" err="1">
                <a:solidFill>
                  <a:schemeClr val="accent5"/>
                </a:solidFill>
              </a:rPr>
              <a:t>System.out.print</a:t>
            </a:r>
            <a:r>
              <a:rPr lang="en-US" sz="2000" b="1" dirty="0">
                <a:solidFill>
                  <a:schemeClr val="accent5"/>
                </a:solidFill>
              </a:rPr>
              <a:t>("</a:t>
            </a:r>
            <a:r>
              <a:rPr lang="en-US" sz="2000" b="1" dirty="0" err="1">
                <a:solidFill>
                  <a:schemeClr val="accent5"/>
                </a:solidFill>
              </a:rPr>
              <a:t>Nhập</a:t>
            </a:r>
            <a:r>
              <a:rPr lang="en-US" sz="2000" b="1" dirty="0">
                <a:solidFill>
                  <a:schemeClr val="accent5"/>
                </a:solidFill>
              </a:rPr>
              <a:t> 1 </a:t>
            </a:r>
            <a:r>
              <a:rPr lang="en-US" sz="2000" b="1" dirty="0" err="1">
                <a:solidFill>
                  <a:schemeClr val="accent5"/>
                </a:solidFill>
              </a:rPr>
              <a:t>số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err="1">
                <a:solidFill>
                  <a:schemeClr val="accent5"/>
                </a:solidFill>
              </a:rPr>
              <a:t>thực</a:t>
            </a:r>
            <a:r>
              <a:rPr lang="en-US" sz="2000" b="1" dirty="0">
                <a:solidFill>
                  <a:schemeClr val="accent5"/>
                </a:solidFill>
              </a:rPr>
              <a:t> double: ");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d = </a:t>
            </a:r>
            <a:r>
              <a:rPr lang="en-US" sz="2000" b="1" dirty="0" err="1">
                <a:solidFill>
                  <a:schemeClr val="accent5"/>
                </a:solidFill>
              </a:rPr>
              <a:t>input.nextDouble</a:t>
            </a:r>
            <a:r>
              <a:rPr lang="en-US" sz="2000" b="1" dirty="0">
                <a:solidFill>
                  <a:schemeClr val="accent5"/>
                </a:solidFill>
              </a:rPr>
              <a:t>();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</a:t>
            </a:r>
            <a:r>
              <a:rPr lang="en-US" sz="2000" b="1" dirty="0" err="1">
                <a:solidFill>
                  <a:schemeClr val="accent5"/>
                </a:solidFill>
              </a:rPr>
              <a:t>System.out.println</a:t>
            </a:r>
            <a:r>
              <a:rPr lang="en-US" sz="2000" b="1" dirty="0">
                <a:solidFill>
                  <a:schemeClr val="accent5"/>
                </a:solidFill>
              </a:rPr>
              <a:t>("Sau </a:t>
            </a:r>
            <a:r>
              <a:rPr lang="en-US" sz="2000" b="1" dirty="0" err="1">
                <a:solidFill>
                  <a:schemeClr val="accent5"/>
                </a:solidFill>
              </a:rPr>
              <a:t>khi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err="1">
                <a:solidFill>
                  <a:schemeClr val="accent5"/>
                </a:solidFill>
              </a:rPr>
              <a:t>nhập</a:t>
            </a:r>
            <a:r>
              <a:rPr lang="en-US" sz="2000" b="1" dirty="0">
                <a:solidFill>
                  <a:schemeClr val="accent5"/>
                </a:solidFill>
              </a:rPr>
              <a:t>, d = " + d);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</a:t>
            </a:r>
            <a:r>
              <a:rPr lang="en-US" sz="2000" b="1" dirty="0" err="1">
                <a:solidFill>
                  <a:schemeClr val="accent5"/>
                </a:solidFill>
              </a:rPr>
              <a:t>System.out.print</a:t>
            </a:r>
            <a:r>
              <a:rPr lang="en-US" sz="2000" b="1" dirty="0">
                <a:solidFill>
                  <a:schemeClr val="accent5"/>
                </a:solidFill>
              </a:rPr>
              <a:t>("</a:t>
            </a:r>
            <a:r>
              <a:rPr lang="en-US" sz="2000" b="1" dirty="0" err="1">
                <a:solidFill>
                  <a:schemeClr val="accent5"/>
                </a:solidFill>
              </a:rPr>
              <a:t>Nhập</a:t>
            </a:r>
            <a:r>
              <a:rPr lang="en-US" sz="2000" b="1" dirty="0">
                <a:solidFill>
                  <a:schemeClr val="accent5"/>
                </a:solidFill>
              </a:rPr>
              <a:t> 1 </a:t>
            </a:r>
            <a:r>
              <a:rPr lang="en-US" sz="2000" b="1" dirty="0" err="1">
                <a:solidFill>
                  <a:schemeClr val="accent5"/>
                </a:solidFill>
              </a:rPr>
              <a:t>giá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err="1">
                <a:solidFill>
                  <a:schemeClr val="accent5"/>
                </a:solidFill>
              </a:rPr>
              <a:t>trị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err="1">
                <a:solidFill>
                  <a:schemeClr val="accent5"/>
                </a:solidFill>
              </a:rPr>
              <a:t>boolean</a:t>
            </a:r>
            <a:r>
              <a:rPr lang="en-US" sz="2000" b="1" dirty="0">
                <a:solidFill>
                  <a:schemeClr val="accent5"/>
                </a:solidFill>
              </a:rPr>
              <a:t>: ");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</a:t>
            </a:r>
            <a:r>
              <a:rPr lang="en-US" sz="2000" b="1" dirty="0" err="1">
                <a:solidFill>
                  <a:schemeClr val="accent5"/>
                </a:solidFill>
              </a:rPr>
              <a:t>bo</a:t>
            </a:r>
            <a:r>
              <a:rPr lang="en-US" sz="2000" b="1" dirty="0">
                <a:solidFill>
                  <a:schemeClr val="accent5"/>
                </a:solidFill>
              </a:rPr>
              <a:t> = </a:t>
            </a:r>
            <a:r>
              <a:rPr lang="en-US" sz="2000" b="1" dirty="0" err="1">
                <a:solidFill>
                  <a:schemeClr val="accent5"/>
                </a:solidFill>
              </a:rPr>
              <a:t>input.nextBoolean</a:t>
            </a:r>
            <a:r>
              <a:rPr lang="en-US" sz="2000" b="1" dirty="0">
                <a:solidFill>
                  <a:schemeClr val="accent5"/>
                </a:solidFill>
              </a:rPr>
              <a:t>();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</a:t>
            </a:r>
            <a:r>
              <a:rPr lang="en-US" sz="2000" b="1" dirty="0" err="1">
                <a:solidFill>
                  <a:schemeClr val="accent5"/>
                </a:solidFill>
              </a:rPr>
              <a:t>System.out.println</a:t>
            </a:r>
            <a:r>
              <a:rPr lang="en-US" sz="2000" b="1" dirty="0">
                <a:solidFill>
                  <a:schemeClr val="accent5"/>
                </a:solidFill>
              </a:rPr>
              <a:t>("Sau </a:t>
            </a:r>
            <a:r>
              <a:rPr lang="en-US" sz="2000" b="1" dirty="0" err="1">
                <a:solidFill>
                  <a:schemeClr val="accent5"/>
                </a:solidFill>
              </a:rPr>
              <a:t>khi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err="1">
                <a:solidFill>
                  <a:schemeClr val="accent5"/>
                </a:solidFill>
              </a:rPr>
              <a:t>nhập</a:t>
            </a:r>
            <a:r>
              <a:rPr lang="en-US" sz="2000" b="1" dirty="0">
                <a:solidFill>
                  <a:schemeClr val="accent5"/>
                </a:solidFill>
              </a:rPr>
              <a:t>, </a:t>
            </a:r>
            <a:r>
              <a:rPr lang="en-US" sz="2000" b="1" dirty="0" err="1">
                <a:solidFill>
                  <a:schemeClr val="accent5"/>
                </a:solidFill>
              </a:rPr>
              <a:t>bo</a:t>
            </a:r>
            <a:r>
              <a:rPr lang="en-US" sz="2000" b="1" dirty="0">
                <a:solidFill>
                  <a:schemeClr val="accent5"/>
                </a:solidFill>
              </a:rPr>
              <a:t> = " + </a:t>
            </a:r>
            <a:r>
              <a:rPr lang="en-US" sz="2000" b="1" dirty="0" err="1">
                <a:solidFill>
                  <a:schemeClr val="accent5"/>
                </a:solidFill>
              </a:rPr>
              <a:t>bo</a:t>
            </a:r>
            <a:r>
              <a:rPr lang="en-US" sz="2000" b="1" dirty="0">
                <a:solidFill>
                  <a:schemeClr val="accent5"/>
                </a:solidFill>
              </a:rPr>
              <a:t>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</a:t>
            </a:r>
            <a:r>
              <a:rPr lang="en-US" sz="2000" b="1" dirty="0" err="1">
                <a:solidFill>
                  <a:schemeClr val="accent5"/>
                </a:solidFill>
              </a:rPr>
              <a:t>System.out.print</a:t>
            </a:r>
            <a:r>
              <a:rPr lang="en-US" sz="2000" b="1" dirty="0">
                <a:solidFill>
                  <a:schemeClr val="accent5"/>
                </a:solidFill>
              </a:rPr>
              <a:t>("</a:t>
            </a:r>
            <a:r>
              <a:rPr lang="en-US" sz="2000" b="1" dirty="0" err="1">
                <a:solidFill>
                  <a:schemeClr val="accent5"/>
                </a:solidFill>
              </a:rPr>
              <a:t>Nhập</a:t>
            </a:r>
            <a:r>
              <a:rPr lang="en-US" sz="2000" b="1" dirty="0">
                <a:solidFill>
                  <a:schemeClr val="accent5"/>
                </a:solidFill>
              </a:rPr>
              <a:t> 1 </a:t>
            </a:r>
            <a:r>
              <a:rPr lang="en-US" sz="2000" b="1" dirty="0" err="1">
                <a:solidFill>
                  <a:schemeClr val="accent5"/>
                </a:solidFill>
              </a:rPr>
              <a:t>chuỗi</a:t>
            </a:r>
            <a:r>
              <a:rPr lang="en-US" sz="2000" b="1" dirty="0">
                <a:solidFill>
                  <a:schemeClr val="accent5"/>
                </a:solidFill>
              </a:rPr>
              <a:t>: ");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</a:t>
            </a:r>
            <a:r>
              <a:rPr lang="en-US" sz="2000" b="1" dirty="0" err="1">
                <a:solidFill>
                  <a:schemeClr val="accent5"/>
                </a:solidFill>
              </a:rPr>
              <a:t>input.nextLine</a:t>
            </a:r>
            <a:r>
              <a:rPr lang="en-US" sz="2000" b="1" dirty="0">
                <a:solidFill>
                  <a:schemeClr val="accent5"/>
                </a:solidFill>
              </a:rPr>
              <a:t>();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str = </a:t>
            </a:r>
            <a:r>
              <a:rPr lang="en-US" sz="2000" b="1" dirty="0" err="1">
                <a:solidFill>
                  <a:schemeClr val="accent5"/>
                </a:solidFill>
              </a:rPr>
              <a:t>input.nextLine</a:t>
            </a:r>
            <a:r>
              <a:rPr lang="en-US" sz="2000" b="1" dirty="0">
                <a:solidFill>
                  <a:schemeClr val="accent5"/>
                </a:solidFill>
              </a:rPr>
              <a:t>();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</a:t>
            </a:r>
            <a:r>
              <a:rPr lang="en-US" sz="2000" b="1" dirty="0" err="1">
                <a:solidFill>
                  <a:schemeClr val="accent5"/>
                </a:solidFill>
              </a:rPr>
              <a:t>System.out.println</a:t>
            </a:r>
            <a:r>
              <a:rPr lang="en-US" sz="2000" b="1" dirty="0">
                <a:solidFill>
                  <a:schemeClr val="accent5"/>
                </a:solidFill>
              </a:rPr>
              <a:t>("Sau </a:t>
            </a:r>
            <a:r>
              <a:rPr lang="en-US" sz="2000" b="1" dirty="0" err="1">
                <a:solidFill>
                  <a:schemeClr val="accent5"/>
                </a:solidFill>
              </a:rPr>
              <a:t>khi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err="1">
                <a:solidFill>
                  <a:schemeClr val="accent5"/>
                </a:solidFill>
              </a:rPr>
              <a:t>nhập</a:t>
            </a:r>
            <a:r>
              <a:rPr lang="en-US" sz="2000" b="1" dirty="0">
                <a:solidFill>
                  <a:schemeClr val="accent5"/>
                </a:solidFill>
              </a:rPr>
              <a:t>, str = " + str);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</a:t>
            </a:r>
            <a:r>
              <a:rPr lang="en-US" sz="2000" b="1" dirty="0" err="1">
                <a:solidFill>
                  <a:schemeClr val="accent5"/>
                </a:solidFill>
              </a:rPr>
              <a:t>System.out.print</a:t>
            </a:r>
            <a:r>
              <a:rPr lang="en-US" sz="2000" b="1" dirty="0">
                <a:solidFill>
                  <a:schemeClr val="accent5"/>
                </a:solidFill>
              </a:rPr>
              <a:t>("</a:t>
            </a:r>
            <a:r>
              <a:rPr lang="en-US" sz="2000" b="1" dirty="0" err="1">
                <a:solidFill>
                  <a:schemeClr val="accent5"/>
                </a:solidFill>
              </a:rPr>
              <a:t>Nhập</a:t>
            </a:r>
            <a:r>
              <a:rPr lang="en-US" sz="2000" b="1" dirty="0">
                <a:solidFill>
                  <a:schemeClr val="accent5"/>
                </a:solidFill>
              </a:rPr>
              <a:t> 1 </a:t>
            </a:r>
            <a:r>
              <a:rPr lang="en-US" sz="2000" b="1" dirty="0" err="1">
                <a:solidFill>
                  <a:schemeClr val="accent5"/>
                </a:solidFill>
              </a:rPr>
              <a:t>ký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err="1">
                <a:solidFill>
                  <a:schemeClr val="accent5"/>
                </a:solidFill>
              </a:rPr>
              <a:t>tự</a:t>
            </a:r>
            <a:r>
              <a:rPr lang="en-US" sz="2000" b="1" dirty="0">
                <a:solidFill>
                  <a:schemeClr val="accent5"/>
                </a:solidFill>
              </a:rPr>
              <a:t>: ");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c = (char) </a:t>
            </a:r>
            <a:r>
              <a:rPr lang="en-US" sz="2000" b="1" dirty="0" err="1">
                <a:solidFill>
                  <a:schemeClr val="accent5"/>
                </a:solidFill>
              </a:rPr>
              <a:t>System.in.read</a:t>
            </a:r>
            <a:r>
              <a:rPr lang="en-US" sz="2000" b="1" dirty="0">
                <a:solidFill>
                  <a:schemeClr val="accent5"/>
                </a:solidFill>
              </a:rPr>
              <a:t>();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  </a:t>
            </a:r>
            <a:r>
              <a:rPr lang="en-US" sz="2000" b="1" dirty="0" err="1">
                <a:solidFill>
                  <a:schemeClr val="accent5"/>
                </a:solidFill>
              </a:rPr>
              <a:t>System.out.println</a:t>
            </a:r>
            <a:r>
              <a:rPr lang="en-US" sz="2000" b="1" dirty="0">
                <a:solidFill>
                  <a:schemeClr val="accent5"/>
                </a:solidFill>
              </a:rPr>
              <a:t>("Sau </a:t>
            </a:r>
            <a:r>
              <a:rPr lang="en-US" sz="2000" b="1" dirty="0" err="1">
                <a:solidFill>
                  <a:schemeClr val="accent5"/>
                </a:solidFill>
              </a:rPr>
              <a:t>khi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err="1">
                <a:solidFill>
                  <a:schemeClr val="accent5"/>
                </a:solidFill>
              </a:rPr>
              <a:t>nhập</a:t>
            </a:r>
            <a:r>
              <a:rPr lang="en-US" sz="2000" b="1" dirty="0">
                <a:solidFill>
                  <a:schemeClr val="accent5"/>
                </a:solidFill>
              </a:rPr>
              <a:t>, c = " + c);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  }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71560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DAEC7E-3C0F-3AB0-D0D7-7C67C952C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118" y="667181"/>
            <a:ext cx="10372164" cy="4765431"/>
          </a:xfrm>
        </p:spPr>
        <p:txBody>
          <a:bodyPr>
            <a:noAutofit/>
          </a:bodyPr>
          <a:lstStyle/>
          <a:p>
            <a:pPr algn="l"/>
            <a:r>
              <a:rPr lang="vi-VN" sz="1800" b="1" dirty="0"/>
              <a:t>Bài 1: Viết chương trình nhập vào 3 số a, b, c. Xuất ra giá trị lớn nhất, giá trị nhỏ nhất.</a:t>
            </a:r>
            <a:endParaRPr lang="en-US" sz="1800" b="1" dirty="0"/>
          </a:p>
          <a:p>
            <a:pPr algn="l"/>
            <a:r>
              <a:rPr lang="vi-VN" sz="1800" b="1" dirty="0"/>
              <a:t>Bài 2: Viết chương trình Java xuất ra màn hình 10 dòng:</a:t>
            </a:r>
          </a:p>
          <a:p>
            <a:pPr algn="l"/>
            <a:endParaRPr lang="vi-V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972AB-D943-92E0-5A5E-0B5FA98E1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41" y="1425388"/>
            <a:ext cx="1434783" cy="3699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E5B12E-5996-A540-EAD9-96B9E340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155" y="1433056"/>
            <a:ext cx="1901620" cy="36913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DF0316-33D5-4442-682E-6C9783DE9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635" y="1433055"/>
            <a:ext cx="2356602" cy="3716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3AF8C8-DEAE-D934-8A9E-BBBF20989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819" y="1433055"/>
            <a:ext cx="2356602" cy="38396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820C19-92B1-5F41-8D1C-B8FC6A02E6D1}"/>
              </a:ext>
            </a:extLst>
          </p:cNvPr>
          <p:cNvSpPr txBox="1"/>
          <p:nvPr/>
        </p:nvSpPr>
        <p:spPr>
          <a:xfrm>
            <a:off x="605118" y="5821487"/>
            <a:ext cx="1002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Pseudo code </a:t>
            </a:r>
            <a:r>
              <a:rPr lang="en-US" dirty="0"/>
              <a:t>= </a:t>
            </a:r>
            <a:r>
              <a:rPr lang="en-US" b="1" dirty="0"/>
              <a:t>Human code =&gt; NNLT (Source code: Human + Machine) =&gt; Machine Code</a:t>
            </a:r>
          </a:p>
        </p:txBody>
      </p:sp>
    </p:spTree>
    <p:extLst>
      <p:ext uri="{BB962C8B-B14F-4D97-AF65-F5344CB8AC3E}">
        <p14:creationId xmlns:p14="http://schemas.microsoft.com/office/powerpoint/2010/main" val="38841697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2BED-4245-4491-AE5E-05827A24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Tài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tham</a:t>
            </a:r>
            <a:r>
              <a:rPr lang="en-US" b="1" dirty="0"/>
              <a:t> </a:t>
            </a:r>
            <a:r>
              <a:rPr lang="en-US" b="1" dirty="0" err="1"/>
              <a:t>khảo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60EB2-3B6E-47BA-86A1-F411D75E4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https://docs.oracle.com/javase/tutorial/</a:t>
            </a:r>
          </a:p>
          <a:p>
            <a:r>
              <a:rPr lang="en-US" dirty="0">
                <a:hlinkClick r:id="rId3"/>
              </a:rPr>
              <a:t>https://www.javatpoint.com/java-tutorial</a:t>
            </a:r>
          </a:p>
          <a:p>
            <a:r>
              <a:rPr lang="en-US" dirty="0">
                <a:hlinkClick r:id="rId3"/>
              </a:rPr>
              <a:t>https://techvidvan.com/tutorials/java-class/</a:t>
            </a:r>
            <a:endParaRPr lang="en-US" dirty="0"/>
          </a:p>
          <a:p>
            <a:r>
              <a:rPr lang="en-US" dirty="0">
                <a:hlinkClick r:id="rId4"/>
              </a:rPr>
              <a:t>https://dotnettutorials.net/lesson/variables-in-java/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931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9697</TotalTime>
  <Words>3979</Words>
  <Application>Microsoft Office PowerPoint</Application>
  <PresentationFormat>Widescreen</PresentationFormat>
  <Paragraphs>736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3" baseType="lpstr">
      <vt:lpstr>-apple-system</vt:lpstr>
      <vt:lpstr>Aptos</vt:lpstr>
      <vt:lpstr>Aptos Display</vt:lpstr>
      <vt:lpstr>Arial</vt:lpstr>
      <vt:lpstr>Arial</vt:lpstr>
      <vt:lpstr>Calibri</vt:lpstr>
      <vt:lpstr>Calibri Light</vt:lpstr>
      <vt:lpstr>Consolas</vt:lpstr>
      <vt:lpstr>Times New Roman</vt:lpstr>
      <vt:lpstr>Wingdings</vt:lpstr>
      <vt:lpstr>Office Theme</vt:lpstr>
      <vt:lpstr>1_Office Theme</vt:lpstr>
      <vt:lpstr>LẬP TRÌNH TRONG CNTT VỚI JAVA</vt:lpstr>
      <vt:lpstr>PowerPoint Presentation</vt:lpstr>
      <vt:lpstr>Case study 1:</vt:lpstr>
      <vt:lpstr>PowerPoint Presentation</vt:lpstr>
      <vt:lpstr>Các thành phần NNLT</vt:lpstr>
      <vt:lpstr>LẬP TRÌNH – NGÔN NGỮ LẬP TRÌNH</vt:lpstr>
      <vt:lpstr>CNTT – Cách mạng công nghiệp 4.0</vt:lpstr>
      <vt:lpstr>CNTT: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Study case:</vt:lpstr>
      <vt:lpstr>Thống kê java:</vt:lpstr>
      <vt:lpstr>CODE JAVA ONLINE:</vt:lpstr>
      <vt:lpstr>Learning Outcome (LO)</vt:lpstr>
      <vt:lpstr>SẢN PHẨM MÔN HỌC</vt:lpstr>
      <vt:lpstr>Chapter 1:</vt:lpstr>
      <vt:lpstr>Chapter 2:</vt:lpstr>
      <vt:lpstr>Chapter 3:</vt:lpstr>
      <vt:lpstr>Chapter 4:</vt:lpstr>
      <vt:lpstr>Chapter 5:</vt:lpstr>
      <vt:lpstr>Chapter 6:</vt:lpstr>
      <vt:lpstr>Chapter 7:</vt:lpstr>
      <vt:lpstr>Chapter 8:</vt:lpstr>
      <vt:lpstr>CÀI ĐẶT MÔI TRƯỜNG VÀ CÔNG CỤ CẦN THIẾT ĐỂ LẬP TRÌNH JAVA</vt:lpstr>
      <vt:lpstr>Test case 2:</vt:lpstr>
      <vt:lpstr>JAVA PROGRAMMING LANGUAGE </vt:lpstr>
      <vt:lpstr>PowerPoint Presentation</vt:lpstr>
      <vt:lpstr>List of Java Keywords: </vt:lpstr>
      <vt:lpstr>Variables in Java </vt:lpstr>
      <vt:lpstr>PowerPoint Presentation</vt:lpstr>
      <vt:lpstr>PowerPoint Presentation</vt:lpstr>
      <vt:lpstr>Type Casting in Java </vt:lpstr>
      <vt:lpstr>Operators in Java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case:</vt:lpstr>
      <vt:lpstr>PowerPoint Presentation</vt:lpstr>
      <vt:lpstr>PowerPoint Presentation</vt:lpstr>
      <vt:lpstr>PowerPoint Presentation</vt:lpstr>
      <vt:lpstr>Control Flow Statements in Java </vt:lpstr>
      <vt:lpstr>PowerPoint Presentation</vt:lpstr>
      <vt:lpstr>PowerPoint Presentation</vt:lpstr>
      <vt:lpstr>First Java Program</vt:lpstr>
      <vt:lpstr>Variable: Khai báo, sử dụng biến và hằng số</vt:lpstr>
      <vt:lpstr>Nhập và xuất trong Java</vt:lpstr>
      <vt:lpstr>PowerPoint Presentation</vt:lpstr>
      <vt:lpstr>PowerPoint Presentation</vt:lpstr>
      <vt:lpstr>Tài liệu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TRONG CNTT VỚI JAVA</dc:title>
  <dc:creator>Admin</dc:creator>
  <cp:lastModifiedBy>Phuong Do Ha</cp:lastModifiedBy>
  <cp:revision>76</cp:revision>
  <dcterms:created xsi:type="dcterms:W3CDTF">2021-07-11T02:21:04Z</dcterms:created>
  <dcterms:modified xsi:type="dcterms:W3CDTF">2025-08-11T14:32:21Z</dcterms:modified>
</cp:coreProperties>
</file>