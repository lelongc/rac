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84" r:id="rId3"/>
    <p:sldId id="287" r:id="rId4"/>
    <p:sldId id="283" r:id="rId5"/>
    <p:sldId id="282" r:id="rId6"/>
    <p:sldId id="289" r:id="rId7"/>
    <p:sldId id="290" r:id="rId8"/>
    <p:sldId id="291" r:id="rId9"/>
    <p:sldId id="292" r:id="rId10"/>
    <p:sldId id="286" r:id="rId11"/>
    <p:sldId id="285" r:id="rId12"/>
    <p:sldId id="260" r:id="rId13"/>
    <p:sldId id="293" r:id="rId14"/>
    <p:sldId id="261" r:id="rId15"/>
    <p:sldId id="265" r:id="rId16"/>
    <p:sldId id="259" r:id="rId17"/>
    <p:sldId id="263" r:id="rId18"/>
    <p:sldId id="273" r:id="rId19"/>
    <p:sldId id="274" r:id="rId20"/>
    <p:sldId id="270" r:id="rId21"/>
    <p:sldId id="271" r:id="rId22"/>
    <p:sldId id="279" r:id="rId23"/>
    <p:sldId id="280" r:id="rId24"/>
    <p:sldId id="267" r:id="rId25"/>
    <p:sldId id="268" r:id="rId26"/>
    <p:sldId id="256" r:id="rId27"/>
    <p:sldId id="275" r:id="rId28"/>
    <p:sldId id="276" r:id="rId29"/>
    <p:sldId id="278" r:id="rId30"/>
    <p:sldId id="27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0F7DE-02C7-2794-7485-A2950C0F7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45862-D328-2753-CB08-1BACAB516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D69D3-7C2F-54AB-BDDA-926CB20A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FB880-5B2B-4679-A482-B02C8E7D4C0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0A79C-F0F9-3CD0-8ABA-D50D43F6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BBFA6-5AE9-041B-4A3C-5F65BD30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E9A8-16C6-43EC-AD97-38E586B6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89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4C10-CE79-0A4A-15C4-696C47D62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C2A3-9A27-6FA9-9630-CE9433BC6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C33F3-B3E2-A120-A500-89536B06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FB880-5B2B-4679-A482-B02C8E7D4C0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BD217-B91B-40D2-70ED-C9A44BED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BEF02-E9BF-9D60-FB2D-30F57599D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E9A8-16C6-43EC-AD97-38E586B6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3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1684-C95D-E039-931C-B03C54326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7C4AD-38A5-B778-B367-B4FE25C41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98E40-13C5-BD51-CAFD-7ED549F4D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FB880-5B2B-4679-A482-B02C8E7D4C0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19499-E5B5-BAEE-FD32-51CF5187D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080AB-4300-2D66-4449-EAF7D9D7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E9A8-16C6-43EC-AD97-38E586B6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41154-9DEC-C08C-65F9-7ABA03CD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869C9-2133-7A88-452E-8234A478F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2BEF7-57FA-CD7C-C56B-D7409454E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D9FBE-7FA7-5109-E862-8384D35A0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FB880-5B2B-4679-A482-B02C8E7D4C0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AA450-1DE6-9D7E-80EB-423E6BB2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A7B9-3A2F-391B-60C5-99C21543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E9A8-16C6-43EC-AD97-38E586B6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1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C6F9A-6586-E8ED-555C-B9C38FCCA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F3CC6-2B90-EB63-51AF-A9AC7D08B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7BD9E-686B-DCB7-7794-E9B3B57F0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1921D6-6A60-337D-992B-0D9BC111B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D930D4-F337-B14F-7361-577B83CE6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D4D45-9835-592A-0B85-D242EBE6E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FB880-5B2B-4679-A482-B02C8E7D4C0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3B2B69-4ADD-7A2C-B35F-050FA755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66F7E-80F8-BE99-0F4B-3C3884E10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E9A8-16C6-43EC-AD97-38E586B6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3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9721-537F-E5F4-B205-1E0AA80D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9BCB07-32D7-7AC0-1CA7-9CF993A9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FB880-5B2B-4679-A482-B02C8E7D4C0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CD5F62-BCC2-2C8D-3E33-BBA18295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70F89-66CD-344F-770D-63383B73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E9A8-16C6-43EC-AD97-38E586B6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64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D89C9-06AF-9EF5-BC51-D09BFA24A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FB880-5B2B-4679-A482-B02C8E7D4C0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71761A-3E19-E63E-3470-3054AC58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64550-7899-87ED-472F-525C62BF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E9A8-16C6-43EC-AD97-38E586B6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6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FA40F-0178-31CF-A211-2F4D13CB0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61FB3-437B-1D90-A01C-1BC913C36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2D18F-6044-7512-489B-5BBB82CB3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DD5B7-F807-065B-0EA7-854FE363E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FB880-5B2B-4679-A482-B02C8E7D4C0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6E0D5-3F31-EC10-75B8-223FF5C58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2DCCE-5A9E-1051-9E9C-934A02B0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E9A8-16C6-43EC-AD97-38E586B6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0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3915-FDD8-E7F4-E233-47ACDE07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BAEBE-3725-253D-9624-62137AFA7D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936C3-0532-7EC4-83AF-F0CEBF03B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4087E-34FF-3E17-6751-208060FE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FB880-5B2B-4679-A482-B02C8E7D4C0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D9283-0138-7492-AD06-035C790B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B54FF-6877-514A-EAD5-52C4942F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E9A8-16C6-43EC-AD97-38E586B6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7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8675-EBB0-A9DF-5325-B21C75B62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C3787-F714-2D04-C3E5-85919837C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01090-9DB5-97BF-3237-38A693E2D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FB880-5B2B-4679-A482-B02C8E7D4C0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79196-6A1E-2847-FAFD-427C1C63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7EE26-C37E-A25A-BF8C-52978F9C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E9A8-16C6-43EC-AD97-38E586B6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3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9F7728-2B95-E635-70BE-3B6D0AB9C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8454D9-A790-926F-DD65-722A4ED83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E9A41-1905-696B-A01D-5D9398DD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FB880-5B2B-4679-A482-B02C8E7D4C0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C7817-BB7A-FE3A-632C-FC82288E0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A1B8C-4267-62E3-5F45-1D58BE21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E9A8-16C6-43EC-AD97-38E586B6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74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82DE7-893E-6114-E9F9-DCA58332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A5AC0-30F6-5A7E-55F3-2E446A3BC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A9DA5-1EF4-0613-032E-06968D2862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FB880-5B2B-4679-A482-B02C8E7D4C03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E0A9D-1245-CCAA-E8DA-ECBA26C3A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31A93-0C6C-C784-5B9C-57934FBD7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EE9A8-16C6-43EC-AD97-38E586B62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64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8E789C-C780-34E6-8137-84BE798A3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1234" y="406745"/>
            <a:ext cx="9144000" cy="8389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C3E93-5867-8621-B5C9-59A467540384}"/>
              </a:ext>
            </a:extLst>
          </p:cNvPr>
          <p:cNvSpPr txBox="1"/>
          <p:nvPr/>
        </p:nvSpPr>
        <p:spPr>
          <a:xfrm>
            <a:off x="808382" y="2213113"/>
            <a:ext cx="10115911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/>
              <a:t> Java is an Object Oriented Programming Language (98%) </a:t>
            </a:r>
          </a:p>
          <a:p>
            <a:pPr marL="342900" indent="-342900">
              <a:buAutoNum type="arabicPeriod"/>
            </a:pPr>
            <a:r>
              <a:rPr lang="en-US" sz="3200" dirty="0"/>
              <a:t>Class and Object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85092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ED513B-E6AB-40E6-A93B-4DAF579D0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88" y="331305"/>
            <a:ext cx="9501807" cy="633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831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DDE715-7D75-BF70-94FB-CA7DE92E5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052" y="315929"/>
            <a:ext cx="8083825" cy="622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093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AC612E-933B-1768-71E8-F160D06B0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22" y="291548"/>
            <a:ext cx="8781222" cy="585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83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08AC7B-B50B-C57B-CE21-E5E427FDAFA3}"/>
              </a:ext>
            </a:extLst>
          </p:cNvPr>
          <p:cNvSpPr txBox="1"/>
          <p:nvPr/>
        </p:nvSpPr>
        <p:spPr>
          <a:xfrm>
            <a:off x="4161183" y="508122"/>
            <a:ext cx="2835965" cy="61863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class A { </a:t>
            </a:r>
          </a:p>
          <a:p>
            <a:r>
              <a:rPr lang="en-US" sz="1600" b="1" dirty="0"/>
              <a:t> void m1(){ </a:t>
            </a:r>
          </a:p>
          <a:p>
            <a:r>
              <a:rPr lang="en-US" sz="1600" b="1" dirty="0"/>
              <a:t>   . . . . </a:t>
            </a:r>
          </a:p>
          <a:p>
            <a:r>
              <a:rPr lang="en-US" sz="1600" b="1" dirty="0"/>
              <a:t> } </a:t>
            </a:r>
          </a:p>
          <a:p>
            <a:r>
              <a:rPr lang="en-US" sz="1600" b="1" dirty="0"/>
              <a:t>} </a:t>
            </a:r>
          </a:p>
          <a:p>
            <a:r>
              <a:rPr lang="en-US" sz="1600" b="1" dirty="0"/>
              <a:t>class B { </a:t>
            </a:r>
          </a:p>
          <a:p>
            <a:r>
              <a:rPr lang="en-US" sz="1600" b="1" dirty="0"/>
              <a:t> void m1(){ </a:t>
            </a:r>
          </a:p>
          <a:p>
            <a:r>
              <a:rPr lang="en-US" sz="1600" b="1" dirty="0"/>
              <a:t>  . . . .  </a:t>
            </a:r>
          </a:p>
          <a:p>
            <a:r>
              <a:rPr lang="en-US" sz="1600" b="1" dirty="0"/>
              <a:t> } </a:t>
            </a:r>
          </a:p>
          <a:p>
            <a:r>
              <a:rPr lang="en-US" sz="1600" b="1" dirty="0"/>
              <a:t> void m2(){ </a:t>
            </a:r>
          </a:p>
          <a:p>
            <a:r>
              <a:rPr lang="en-US" sz="1600" b="1" dirty="0"/>
              <a:t>   . . . . </a:t>
            </a:r>
          </a:p>
          <a:p>
            <a:r>
              <a:rPr lang="en-US" sz="1600" b="1" dirty="0"/>
              <a:t> } </a:t>
            </a:r>
          </a:p>
          <a:p>
            <a:r>
              <a:rPr lang="en-US" sz="1600" b="1" dirty="0"/>
              <a:t>} </a:t>
            </a:r>
          </a:p>
          <a:p>
            <a:r>
              <a:rPr lang="en-US" sz="1600" b="1" dirty="0"/>
              <a:t>class C { </a:t>
            </a:r>
          </a:p>
          <a:p>
            <a:r>
              <a:rPr lang="en-US" sz="1600" b="1" dirty="0"/>
              <a:t> void m1(){ </a:t>
            </a:r>
          </a:p>
          <a:p>
            <a:r>
              <a:rPr lang="en-US" sz="1600" b="1" dirty="0"/>
              <a:t>   . . . . </a:t>
            </a:r>
          </a:p>
          <a:p>
            <a:r>
              <a:rPr lang="en-US" sz="1600" b="1" dirty="0"/>
              <a:t>  } </a:t>
            </a:r>
          </a:p>
          <a:p>
            <a:r>
              <a:rPr lang="en-US" sz="1600" b="1" dirty="0"/>
              <a:t> void m2(){ </a:t>
            </a:r>
          </a:p>
          <a:p>
            <a:r>
              <a:rPr lang="en-US" sz="1600" b="1" dirty="0"/>
              <a:t>   . . . . </a:t>
            </a:r>
          </a:p>
          <a:p>
            <a:r>
              <a:rPr lang="en-US" sz="1600" b="1" dirty="0"/>
              <a:t>  } </a:t>
            </a:r>
          </a:p>
          <a:p>
            <a:r>
              <a:rPr lang="en-US" sz="1600" b="1" dirty="0"/>
              <a:t> void m3(){ </a:t>
            </a:r>
          </a:p>
          <a:p>
            <a:r>
              <a:rPr lang="en-US" sz="1600" b="1" dirty="0"/>
              <a:t>   . . . .  </a:t>
            </a:r>
          </a:p>
          <a:p>
            <a:r>
              <a:rPr lang="en-US" sz="1600" b="1" dirty="0"/>
              <a:t>  } </a:t>
            </a:r>
          </a:p>
          <a:p>
            <a:r>
              <a:rPr lang="en-US" sz="1600" b="1" dirty="0"/>
              <a:t>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3C7F9-BFA7-A9A6-8075-6DF865B80CFA}"/>
              </a:ext>
            </a:extLst>
          </p:cNvPr>
          <p:cNvSpPr txBox="1"/>
          <p:nvPr/>
        </p:nvSpPr>
        <p:spPr>
          <a:xfrm>
            <a:off x="8839203" y="1536174"/>
            <a:ext cx="2835965" cy="37856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class A { </a:t>
            </a:r>
          </a:p>
          <a:p>
            <a:r>
              <a:rPr lang="en-US" sz="1600" b="1" dirty="0"/>
              <a:t> void m1(){ </a:t>
            </a:r>
          </a:p>
          <a:p>
            <a:r>
              <a:rPr lang="en-US" sz="1600" b="1" dirty="0"/>
              <a:t>    . . . . . </a:t>
            </a:r>
          </a:p>
          <a:p>
            <a:r>
              <a:rPr lang="en-US" sz="1600" b="1" dirty="0"/>
              <a:t>   } </a:t>
            </a:r>
          </a:p>
          <a:p>
            <a:r>
              <a:rPr lang="en-US" sz="1600" b="1" dirty="0"/>
              <a:t> } </a:t>
            </a:r>
          </a:p>
          <a:p>
            <a:r>
              <a:rPr lang="en-US" sz="1600" b="1" dirty="0"/>
              <a:t>class B extends A { </a:t>
            </a:r>
          </a:p>
          <a:p>
            <a:r>
              <a:rPr lang="en-US" sz="1600" b="1" dirty="0"/>
              <a:t> void m2(){ </a:t>
            </a:r>
          </a:p>
          <a:p>
            <a:r>
              <a:rPr lang="en-US" sz="1600" b="1" dirty="0"/>
              <a:t>    . . . . . </a:t>
            </a:r>
          </a:p>
          <a:p>
            <a:r>
              <a:rPr lang="en-US" sz="1600" b="1" dirty="0"/>
              <a:t>  } </a:t>
            </a:r>
          </a:p>
          <a:p>
            <a:r>
              <a:rPr lang="en-US" sz="1600" b="1" dirty="0"/>
              <a:t> } </a:t>
            </a:r>
          </a:p>
          <a:p>
            <a:r>
              <a:rPr lang="en-US" sz="1600" b="1" dirty="0"/>
              <a:t>class C extends B { </a:t>
            </a:r>
          </a:p>
          <a:p>
            <a:r>
              <a:rPr lang="en-US" sz="1600" b="1" dirty="0"/>
              <a:t> void m3(){ </a:t>
            </a:r>
          </a:p>
          <a:p>
            <a:r>
              <a:rPr lang="en-US" sz="1600" b="1" dirty="0"/>
              <a:t>    . . . . </a:t>
            </a:r>
          </a:p>
          <a:p>
            <a:r>
              <a:rPr lang="en-US" sz="1600" b="1" dirty="0"/>
              <a:t> } 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2F8FA-22CE-2428-0A92-CAC7CAA0A237}"/>
              </a:ext>
            </a:extLst>
          </p:cNvPr>
          <p:cNvSpPr txBox="1"/>
          <p:nvPr/>
        </p:nvSpPr>
        <p:spPr>
          <a:xfrm>
            <a:off x="357807" y="508122"/>
            <a:ext cx="2835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INHERITANCE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F0A184D-E2FD-5F80-244A-5FE104A8AA7A}"/>
              </a:ext>
            </a:extLst>
          </p:cNvPr>
          <p:cNvSpPr/>
          <p:nvPr/>
        </p:nvSpPr>
        <p:spPr>
          <a:xfrm>
            <a:off x="7321827" y="2958547"/>
            <a:ext cx="1192696" cy="9409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82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C366EA-2ECD-ACFE-1E40-51B449289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985" y="1662212"/>
            <a:ext cx="5677481" cy="3533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6E3D6A-326C-9647-26CD-C5DD40A9B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34" y="1774549"/>
            <a:ext cx="4791075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38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F580D6-BFF6-573A-CDF9-1F9ADD757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75BBF1-0F5F-FF74-F033-83DF21B9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54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6AA11B-07D0-F73B-BC1A-E13C550A1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143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4B5C2-F93C-6DA8-E628-8548FEA7B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Abstration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E9698-410A-A96D-A37B-33EA9C8E8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:</a:t>
            </a:r>
          </a:p>
          <a:p>
            <a:r>
              <a:rPr lang="en-US" dirty="0"/>
              <a:t>Xe </a:t>
            </a:r>
            <a:r>
              <a:rPr lang="en-US" dirty="0" err="1"/>
              <a:t>oto</a:t>
            </a:r>
            <a:r>
              <a:rPr lang="en-US" dirty="0"/>
              <a:t> – abstraction(data) -&gt; class </a:t>
            </a:r>
            <a:r>
              <a:rPr lang="en-US" dirty="0" err="1"/>
              <a:t>oto</a:t>
            </a:r>
            <a:endParaRPr lang="en-US" dirty="0"/>
          </a:p>
          <a:p>
            <a:r>
              <a:rPr lang="en-US" dirty="0"/>
              <a:t>Xe may – abstraction(data) -&gt; class </a:t>
            </a:r>
            <a:r>
              <a:rPr lang="en-US" dirty="0" err="1"/>
              <a:t>xemay</a:t>
            </a:r>
            <a:endParaRPr lang="en-US" dirty="0"/>
          </a:p>
          <a:p>
            <a:r>
              <a:rPr lang="en-US" dirty="0"/>
              <a:t>Xe </a:t>
            </a:r>
            <a:r>
              <a:rPr lang="en-US" dirty="0" err="1"/>
              <a:t>đạp</a:t>
            </a:r>
            <a:r>
              <a:rPr lang="en-US" dirty="0"/>
              <a:t> – abstraction(data) -&gt;class </a:t>
            </a:r>
            <a:r>
              <a:rPr lang="en-US" dirty="0" err="1"/>
              <a:t>xedap</a:t>
            </a:r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oto,xemay,xedap</a:t>
            </a:r>
            <a:r>
              <a:rPr lang="en-US" dirty="0"/>
              <a:t> -&gt; abstraction class </a:t>
            </a:r>
            <a:r>
              <a:rPr lang="en-US"/>
              <a:t>xeco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557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E9F7C0-16ED-8360-3633-FE1420F5A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39" y="367896"/>
            <a:ext cx="10190922" cy="649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51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596963-B995-EDFF-9DA4-2431D515F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99390"/>
            <a:ext cx="11277601" cy="675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97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4BA121-DF12-B78C-CF08-445F2591D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38" y="48093"/>
            <a:ext cx="9521043" cy="676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31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C5250F-CFC1-7205-34AE-967C7617D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107" y="950014"/>
            <a:ext cx="9657785" cy="514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30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8BBFF9-9063-F1C1-C835-B9459F41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481" y="354842"/>
            <a:ext cx="5096566" cy="1921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011CB9-CAA6-7A77-AD03-DC99DAB75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481" y="4446104"/>
            <a:ext cx="5096566" cy="23058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85E090-4219-8BCF-017B-B3AB940DB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71" y="106018"/>
            <a:ext cx="6303810" cy="475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8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1D06-0021-BBA9-9215-1C881E579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0C1FF-A370-B353-A9A1-6AD4F161C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51043"/>
            <a:ext cx="9483177" cy="236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50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0CAD1B-8653-0F50-443A-9B973A88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444" y="715619"/>
            <a:ext cx="9113384" cy="562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13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5CEBFC-1C6B-1656-FAE3-4B11C2FDB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84" y="283266"/>
            <a:ext cx="10060054" cy="629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66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C27905-65BB-4129-8BEA-61845253A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489" y="146809"/>
            <a:ext cx="8786190" cy="623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46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9D6A70-0D1C-078A-9A6D-081DD22A1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957" y="197920"/>
            <a:ext cx="9925878" cy="646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1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5B7EAD-7FC6-6261-438E-4842A95A6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47" y="1143000"/>
            <a:ext cx="1139850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027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1E6FDF-155C-A48A-374D-F147804DB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2" y="318051"/>
            <a:ext cx="11661913" cy="632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36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0667A8-CD93-D6F7-8A05-3E056723D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39" y="331304"/>
            <a:ext cx="11342302" cy="616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06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7D3AC-E267-B662-5465-F9295C753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861" y="384313"/>
            <a:ext cx="10677939" cy="579265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 err="1"/>
              <a:t>Chương</a:t>
            </a:r>
            <a:r>
              <a:rPr lang="en-US" sz="3600" b="1" dirty="0"/>
              <a:t> </a:t>
            </a:r>
            <a:r>
              <a:rPr lang="en-US" sz="3600" b="1" dirty="0" err="1"/>
              <a:t>trình</a:t>
            </a:r>
            <a:r>
              <a:rPr lang="en-US" sz="3600" b="1" dirty="0"/>
              <a:t> </a:t>
            </a:r>
            <a:r>
              <a:rPr lang="en-US" sz="3600" b="1" dirty="0" err="1"/>
              <a:t>quản</a:t>
            </a:r>
            <a:r>
              <a:rPr lang="en-US" sz="3600" b="1" dirty="0"/>
              <a:t> </a:t>
            </a:r>
            <a:r>
              <a:rPr lang="en-US" sz="3600" b="1" dirty="0" err="1"/>
              <a:t>lý</a:t>
            </a:r>
            <a:r>
              <a:rPr lang="en-US" sz="3600" b="1" dirty="0"/>
              <a:t> </a:t>
            </a:r>
            <a:r>
              <a:rPr lang="en-US" sz="3600" b="1" dirty="0" err="1"/>
              <a:t>sinh</a:t>
            </a:r>
            <a:r>
              <a:rPr lang="en-US" sz="3600" b="1" dirty="0"/>
              <a:t> </a:t>
            </a:r>
            <a:r>
              <a:rPr lang="en-US" sz="3600" b="1" dirty="0" err="1"/>
              <a:t>viên</a:t>
            </a:r>
            <a:r>
              <a:rPr lang="en-US" sz="3600" b="1" dirty="0"/>
              <a:t> </a:t>
            </a:r>
            <a:r>
              <a:rPr lang="en-US" sz="3600" b="1" dirty="0" err="1"/>
              <a:t>hiện</a:t>
            </a:r>
            <a:r>
              <a:rPr lang="en-US" sz="3600" b="1" dirty="0"/>
              <a:t> </a:t>
            </a:r>
            <a:r>
              <a:rPr lang="en-US" sz="3600" b="1" dirty="0" err="1"/>
              <a:t>tại</a:t>
            </a:r>
            <a:r>
              <a:rPr lang="en-US" sz="3600" b="1" dirty="0"/>
              <a:t>:</a:t>
            </a:r>
          </a:p>
          <a:p>
            <a:pPr marL="342900" indent="-342900">
              <a:buAutoNum type="arabicPeriod"/>
            </a:pPr>
            <a:r>
              <a:rPr lang="en-US" b="1" dirty="0" err="1"/>
              <a:t>Nhập</a:t>
            </a:r>
            <a:r>
              <a:rPr lang="en-US" b="1" dirty="0"/>
              <a:t> 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sách</a:t>
            </a:r>
            <a:r>
              <a:rPr lang="en-US" b="1" dirty="0"/>
              <a:t>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 err="1"/>
              <a:t>Xuất</a:t>
            </a:r>
            <a:r>
              <a:rPr lang="en-US" b="1" dirty="0"/>
              <a:t> 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sách</a:t>
            </a:r>
            <a:r>
              <a:rPr lang="en-US" b="1" dirty="0"/>
              <a:t>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 err="1"/>
              <a:t>Sắp</a:t>
            </a:r>
            <a:r>
              <a:rPr lang="en-US" b="1" dirty="0"/>
              <a:t> </a:t>
            </a:r>
            <a:r>
              <a:rPr lang="en-US" b="1" dirty="0" err="1"/>
              <a:t>xếp</a:t>
            </a:r>
            <a:r>
              <a:rPr lang="en-US" b="1" dirty="0"/>
              <a:t> 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sách</a:t>
            </a:r>
            <a:r>
              <a:rPr lang="en-US" b="1" dirty="0"/>
              <a:t>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kiếm</a:t>
            </a:r>
            <a:r>
              <a:rPr lang="en-US" b="1" dirty="0"/>
              <a:t>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sách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 err="1"/>
              <a:t>Thêm</a:t>
            </a:r>
            <a:r>
              <a:rPr lang="en-US" b="1" dirty="0"/>
              <a:t>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b="1" dirty="0"/>
              <a:t> </a:t>
            </a:r>
            <a:r>
              <a:rPr lang="en-US" b="1" dirty="0" err="1"/>
              <a:t>vào</a:t>
            </a:r>
            <a:r>
              <a:rPr lang="en-US" b="1" dirty="0"/>
              <a:t> 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sách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 err="1"/>
              <a:t>Xoá</a:t>
            </a:r>
            <a:r>
              <a:rPr lang="en-US" b="1" dirty="0"/>
              <a:t>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b="1" dirty="0"/>
              <a:t> </a:t>
            </a:r>
            <a:r>
              <a:rPr lang="en-US" b="1" dirty="0" err="1"/>
              <a:t>khỏi</a:t>
            </a:r>
            <a:r>
              <a:rPr lang="en-US" b="1" dirty="0"/>
              <a:t> 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dách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 err="1"/>
              <a:t>Thay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thông tin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sách</a:t>
            </a:r>
            <a:endParaRPr lang="en-US" b="1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126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F7E619-B3B9-3FD6-9FFD-530A80E2C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93" y="460651"/>
            <a:ext cx="11712007" cy="527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90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B46A208-ECE1-1BA7-8AB7-BA5F55C06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731259"/>
              </p:ext>
            </p:extLst>
          </p:nvPr>
        </p:nvGraphicFramePr>
        <p:xfrm>
          <a:off x="736600" y="410819"/>
          <a:ext cx="10991574" cy="6175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996">
                  <a:extLst>
                    <a:ext uri="{9D8B030D-6E8A-4147-A177-3AD203B41FA5}">
                      <a16:colId xmlns:a16="http://schemas.microsoft.com/office/drawing/2014/main" val="1848691783"/>
                    </a:ext>
                  </a:extLst>
                </a:gridCol>
                <a:gridCol w="5668527">
                  <a:extLst>
                    <a:ext uri="{9D8B030D-6E8A-4147-A177-3AD203B41FA5}">
                      <a16:colId xmlns:a16="http://schemas.microsoft.com/office/drawing/2014/main" val="114527503"/>
                    </a:ext>
                  </a:extLst>
                </a:gridCol>
                <a:gridCol w="4235051">
                  <a:extLst>
                    <a:ext uri="{9D8B030D-6E8A-4147-A177-3AD203B41FA5}">
                      <a16:colId xmlns:a16="http://schemas.microsoft.com/office/drawing/2014/main" val="1075753877"/>
                    </a:ext>
                  </a:extLst>
                </a:gridCol>
              </a:tblGrid>
              <a:tr h="683770">
                <a:tc>
                  <a:txBody>
                    <a:bodyPr/>
                    <a:lstStyle/>
                    <a:p>
                      <a:r>
                        <a:rPr lang="en-US" sz="1800" b="1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Declare (Example)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Support for</a:t>
                      </a:r>
                    </a:p>
                    <a:p>
                      <a:pPr algn="ctr"/>
                      <a:r>
                        <a:rPr lang="en-US" sz="1800" b="1" dirty="0"/>
                        <a:t>Sort, Find, Add, Delete, Modify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99954"/>
                  </a:ext>
                </a:extLst>
              </a:tr>
              <a:tr h="1269859">
                <a:tc>
                  <a:txBody>
                    <a:bodyPr/>
                    <a:lstStyle/>
                    <a:p>
                      <a:r>
                        <a:rPr lang="en-US" sz="1800" b="1" dirty="0"/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b="1" dirty="0"/>
                        <a:t>Int myNum[];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Int </a:t>
                      </a:r>
                      <a:r>
                        <a:rPr lang="en-US" sz="1800" b="1" dirty="0" err="1"/>
                        <a:t>myNum</a:t>
                      </a:r>
                      <a:r>
                        <a:rPr lang="en-US" sz="1800" b="1" dirty="0"/>
                        <a:t>[] = new int[100];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b="1" dirty="0"/>
                        <a:t>int[] myNum = { 10, 20, 30, 40</a:t>
                      </a:r>
                      <a:r>
                        <a:rPr lang="sv-SE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sv-SE" sz="1800" b="1" dirty="0"/>
                        <a:t>};</a:t>
                      </a:r>
                      <a:endParaRPr lang="en-US" sz="1800" b="1" dirty="0"/>
                    </a:p>
                    <a:p>
                      <a:r>
                        <a:rPr lang="en-US" sz="1800" b="1" dirty="0"/>
                        <a:t>Student list[] = new Student[100];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No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394499"/>
                  </a:ext>
                </a:extLst>
              </a:tr>
              <a:tr h="2148992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ArrayList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ArrayList</a:t>
                      </a:r>
                      <a:r>
                        <a:rPr lang="en-US" sz="1800" b="1" dirty="0"/>
                        <a:t>&lt;Student&gt; list1 = new </a:t>
                      </a:r>
                      <a:r>
                        <a:rPr lang="en-US" sz="1800" b="1" dirty="0" err="1"/>
                        <a:t>Arraylist</a:t>
                      </a:r>
                      <a:r>
                        <a:rPr lang="en-US" sz="1800" b="1" dirty="0"/>
                        <a:t>&lt;Student&gt;();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Sort</a:t>
                      </a:r>
                    </a:p>
                    <a:p>
                      <a:r>
                        <a:rPr lang="en-US" sz="1800" b="1" dirty="0"/>
                        <a:t>list1.add(</a:t>
                      </a:r>
                      <a:r>
                        <a:rPr lang="en-US" sz="1800" b="1" dirty="0" err="1"/>
                        <a:t>sv</a:t>
                      </a:r>
                      <a:r>
                        <a:rPr lang="en-US" sz="1800" b="1" dirty="0"/>
                        <a:t> e),;</a:t>
                      </a:r>
                    </a:p>
                    <a:p>
                      <a:r>
                        <a:rPr lang="en-US" sz="1800" b="1" dirty="0"/>
                        <a:t>list1.add(int </a:t>
                      </a:r>
                      <a:r>
                        <a:rPr lang="en-US" sz="1800" b="1" dirty="0" err="1"/>
                        <a:t>index,sv</a:t>
                      </a:r>
                      <a:r>
                        <a:rPr lang="en-US" sz="1800" b="1" dirty="0"/>
                        <a:t> element);</a:t>
                      </a:r>
                    </a:p>
                    <a:p>
                      <a:r>
                        <a:rPr lang="en-US" sz="1800" b="1" dirty="0"/>
                        <a:t>List1.size();</a:t>
                      </a:r>
                    </a:p>
                    <a:p>
                      <a:r>
                        <a:rPr lang="en-US" sz="1800" b="1" dirty="0"/>
                        <a:t>List1.set(int </a:t>
                      </a:r>
                      <a:r>
                        <a:rPr lang="en-US" sz="1800" b="1" dirty="0" err="1"/>
                        <a:t>index,sv</a:t>
                      </a:r>
                      <a:r>
                        <a:rPr lang="en-US" sz="1800" b="1" dirty="0"/>
                        <a:t> element);</a:t>
                      </a:r>
                    </a:p>
                    <a:p>
                      <a:r>
                        <a:rPr lang="en-US" sz="1800" b="1" dirty="0"/>
                        <a:t>List1.forEach((e)-&gt;{…});</a:t>
                      </a:r>
                    </a:p>
                    <a:p>
                      <a:r>
                        <a:rPr lang="en-US" sz="1800" b="1" dirty="0"/>
                        <a:t>List1.remove(int index);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250578"/>
                  </a:ext>
                </a:extLst>
              </a:tr>
              <a:tr h="2072890">
                <a:tc>
                  <a:txBody>
                    <a:bodyPr/>
                    <a:lstStyle/>
                    <a:p>
                      <a:r>
                        <a:rPr lang="en-US" sz="1800" b="1" dirty="0"/>
                        <a:t>LinkedList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LinkedList&lt;Student&gt; list2 = new </a:t>
                      </a:r>
                      <a:r>
                        <a:rPr lang="en-US" sz="1800" b="1" dirty="0" err="1"/>
                        <a:t>Linkedlist</a:t>
                      </a:r>
                      <a:r>
                        <a:rPr lang="en-US" sz="1800" b="1" dirty="0"/>
                        <a:t>&lt;Student&gt;();</a:t>
                      </a:r>
                    </a:p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List2.addFirst(</a:t>
                      </a:r>
                      <a:r>
                        <a:rPr lang="en-US" sz="1800" b="1" dirty="0" err="1"/>
                        <a:t>sv</a:t>
                      </a:r>
                      <a:r>
                        <a:rPr lang="en-US" sz="1800" b="1" dirty="0"/>
                        <a:t> e);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List2.addLast(</a:t>
                      </a:r>
                      <a:r>
                        <a:rPr lang="en-US" sz="1800" b="1" dirty="0" err="1"/>
                        <a:t>sv</a:t>
                      </a:r>
                      <a:r>
                        <a:rPr lang="en-US" sz="1800" b="1" dirty="0"/>
                        <a:t> e);</a:t>
                      </a:r>
                    </a:p>
                    <a:p>
                      <a:r>
                        <a:rPr lang="en-US" sz="1800" b="1" dirty="0"/>
                        <a:t>List2.getFirst(</a:t>
                      </a:r>
                      <a:r>
                        <a:rPr lang="en-US" sz="1800" b="1" dirty="0" err="1"/>
                        <a:t>sv</a:t>
                      </a:r>
                      <a:r>
                        <a:rPr lang="en-US" sz="1800" b="1" dirty="0"/>
                        <a:t> e);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List2.getLast(</a:t>
                      </a:r>
                      <a:r>
                        <a:rPr lang="en-US" sz="1800" b="1" dirty="0" err="1"/>
                        <a:t>sv</a:t>
                      </a:r>
                      <a:r>
                        <a:rPr lang="en-US" sz="1800" b="1" dirty="0"/>
                        <a:t> e);</a:t>
                      </a:r>
                    </a:p>
                    <a:p>
                      <a:r>
                        <a:rPr lang="en-US" sz="1800" b="1" dirty="0"/>
                        <a:t>List2.removeFirst();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List2.removeLast();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062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790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0C140B-FA70-2973-BD28-ADD5B7E86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32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32E398-E1B7-69A7-9570-AC7DCAB0F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7" y="675861"/>
            <a:ext cx="10320945" cy="579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130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4308A2-09B7-91F4-0D13-A819B2402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52" y="794715"/>
            <a:ext cx="918074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833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152E39-E5E3-E9C9-8D5C-01F34AC86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16" y="1007165"/>
            <a:ext cx="11263568" cy="413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0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407</Words>
  <Application>Microsoft Office PowerPoint</Application>
  <PresentationFormat>Widescreen</PresentationFormat>
  <Paragraphs>85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Abstration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Access Modifier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Phuong Do Ha</dc:creator>
  <cp:lastModifiedBy>Phuong Do Ha</cp:lastModifiedBy>
  <cp:revision>9</cp:revision>
  <dcterms:created xsi:type="dcterms:W3CDTF">2022-09-12T14:19:34Z</dcterms:created>
  <dcterms:modified xsi:type="dcterms:W3CDTF">2025-09-08T13:44:14Z</dcterms:modified>
</cp:coreProperties>
</file>