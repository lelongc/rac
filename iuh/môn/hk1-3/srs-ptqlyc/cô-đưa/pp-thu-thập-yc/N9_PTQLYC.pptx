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aloo" charset="1" panose="03080902040302020200"/>
      <p:regular r:id="rId24"/>
    </p:embeddedFont>
    <p:embeddedFont>
      <p:font typeface="Noto Serif Display" charset="1" panose="02020502080505020204"/>
      <p:regular r:id="rId25"/>
    </p:embeddedFont>
    <p:embeddedFont>
      <p:font typeface="Clear Sans" charset="1" panose="020B0503030202020304"/>
      <p:regular r:id="rId26"/>
    </p:embeddedFont>
    <p:embeddedFont>
      <p:font typeface="DejaVu Serif" charset="1" panose="02060603050605020204"/>
      <p:regular r:id="rId27"/>
    </p:embeddedFont>
    <p:embeddedFont>
      <p:font typeface="Source Serif Pro Bold" charset="1" panose="02040803050405020204"/>
      <p:regular r:id="rId28"/>
    </p:embeddedFont>
    <p:embeddedFont>
      <p:font typeface="Source Sans Pro" charset="1" panose="020B0503030403020204"/>
      <p:regular r:id="rId29"/>
    </p:embeddedFont>
    <p:embeddedFont>
      <p:font typeface="Clear Sans Bold Italics" charset="1" panose="020B0803030202090304"/>
      <p:regular r:id="rId30"/>
    </p:embeddedFont>
    <p:embeddedFont>
      <p:font typeface="Clear Sans Bold" charset="1" panose="020B08030302020203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 Id="rId4" Target="../media/image3.png" Type="http://schemas.openxmlformats.org/officeDocument/2006/relationships/image"/><Relationship Id="rId5" Target="../media/image4.gif" Type="http://schemas.openxmlformats.org/officeDocument/2006/relationships/image"/><Relationship Id="rId6" Target="../media/image5.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gif" Type="http://schemas.openxmlformats.org/officeDocument/2006/relationships/image"/><Relationship Id="rId3" Target="../media/image7.gif"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gif"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13.jpeg" Type="http://schemas.openxmlformats.org/officeDocument/2006/relationships/image"/><Relationship Id="rId9" Target="../media/image1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gif" Type="http://schemas.openxmlformats.org/officeDocument/2006/relationships/image"/><Relationship Id="rId6" Target="../media/image18.gif" Type="http://schemas.openxmlformats.org/officeDocument/2006/relationships/image"/><Relationship Id="rId7" Target="../media/image19.gi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gif"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jpeg" Type="http://schemas.openxmlformats.org/officeDocument/2006/relationships/image"/><Relationship Id="rId6" Target="../media/image24.gif"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9.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gif"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30.gif"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3.png" Type="http://schemas.openxmlformats.org/officeDocument/2006/relationships/image"/><Relationship Id="rId4" Target="../media/image34.gif" Type="http://schemas.openxmlformats.org/officeDocument/2006/relationships/image"/><Relationship Id="rId5" Target="../media/image1.gif"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4.gif" Type="http://schemas.openxmlformats.org/officeDocument/2006/relationships/image"/><Relationship Id="rId4" Target="../media/image1.gif"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3.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gif" Type="http://schemas.openxmlformats.org/officeDocument/2006/relationships/image"/><Relationship Id="rId3" Target="../media/image1.gif" Type="http://schemas.openxmlformats.org/officeDocument/2006/relationships/image"/><Relationship Id="rId4" Target="https://www.sessionlab.com/blog/what-is-a-workshop/"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2" Target="../media/image6.gif" Type="http://schemas.openxmlformats.org/officeDocument/2006/relationships/image"/><Relationship Id="rId3" Target="../media/image40.gif" Type="http://schemas.openxmlformats.org/officeDocument/2006/relationships/image"/><Relationship Id="rId4" Target="../media/image41.gif"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4771" t="21970" r="0" b="0"/>
          <a:stretch>
            <a:fillRect/>
          </a:stretch>
        </p:blipFill>
        <p:spPr>
          <a:xfrm flipH="false" flipV="false" rot="5400000">
            <a:off x="2310738" y="4172522"/>
            <a:ext cx="3803740" cy="8425216"/>
          </a:xfrm>
          <a:prstGeom prst="rect">
            <a:avLst/>
          </a:prstGeom>
        </p:spPr>
      </p:pic>
      <p:grpSp>
        <p:nvGrpSpPr>
          <p:cNvPr name="Group 3" id="3"/>
          <p:cNvGrpSpPr/>
          <p:nvPr/>
        </p:nvGrpSpPr>
        <p:grpSpPr>
          <a:xfrm rot="0">
            <a:off x="16356600" y="9076225"/>
            <a:ext cx="902700" cy="182075"/>
            <a:chOff x="0" y="0"/>
            <a:chExt cx="2128209" cy="429260"/>
          </a:xfrm>
        </p:grpSpPr>
        <p:sp>
          <p:nvSpPr>
            <p:cNvPr name="Freeform 4" id="4"/>
            <p:cNvSpPr/>
            <p:nvPr/>
          </p:nvSpPr>
          <p:spPr>
            <a:xfrm flipH="false" flipV="false" rot="0">
              <a:off x="0" y="-5080"/>
              <a:ext cx="2128209" cy="434340"/>
            </a:xfrm>
            <a:custGeom>
              <a:avLst/>
              <a:gdLst/>
              <a:ahLst/>
              <a:cxnLst/>
              <a:rect r="r" b="b" t="t" l="l"/>
              <a:pathLst>
                <a:path h="434340" w="2128209">
                  <a:moveTo>
                    <a:pt x="2110429" y="187960"/>
                  </a:moveTo>
                  <a:lnTo>
                    <a:pt x="1848809" y="11430"/>
                  </a:lnTo>
                  <a:cubicBezTo>
                    <a:pt x="1831029" y="0"/>
                    <a:pt x="1808169" y="3810"/>
                    <a:pt x="1795469" y="21590"/>
                  </a:cubicBezTo>
                  <a:cubicBezTo>
                    <a:pt x="1784039" y="39370"/>
                    <a:pt x="1787849" y="62230"/>
                    <a:pt x="1805629" y="74930"/>
                  </a:cubicBezTo>
                  <a:lnTo>
                    <a:pt x="1964379" y="181610"/>
                  </a:lnTo>
                  <a:lnTo>
                    <a:pt x="0" y="181610"/>
                  </a:lnTo>
                  <a:lnTo>
                    <a:pt x="0" y="257810"/>
                  </a:lnTo>
                  <a:lnTo>
                    <a:pt x="1964379" y="257810"/>
                  </a:lnTo>
                  <a:lnTo>
                    <a:pt x="1805629" y="364490"/>
                  </a:lnTo>
                  <a:cubicBezTo>
                    <a:pt x="1787849" y="375920"/>
                    <a:pt x="1784039" y="400050"/>
                    <a:pt x="1795469" y="417830"/>
                  </a:cubicBezTo>
                  <a:cubicBezTo>
                    <a:pt x="1803089" y="429260"/>
                    <a:pt x="1814519" y="434340"/>
                    <a:pt x="1827219" y="434340"/>
                  </a:cubicBezTo>
                  <a:cubicBezTo>
                    <a:pt x="1834839" y="434340"/>
                    <a:pt x="1842459" y="431800"/>
                    <a:pt x="1848809" y="427990"/>
                  </a:cubicBezTo>
                  <a:lnTo>
                    <a:pt x="2111699" y="251460"/>
                  </a:lnTo>
                  <a:cubicBezTo>
                    <a:pt x="2121859" y="243840"/>
                    <a:pt x="2128209" y="232410"/>
                    <a:pt x="2128209" y="219710"/>
                  </a:cubicBezTo>
                  <a:cubicBezTo>
                    <a:pt x="2128209" y="207010"/>
                    <a:pt x="2121859" y="195580"/>
                    <a:pt x="2110429" y="187960"/>
                  </a:cubicBezTo>
                  <a:close/>
                </a:path>
              </a:pathLst>
            </a:custGeom>
            <a:solidFill>
              <a:srgbClr val="FFFAEF"/>
            </a:solidFill>
          </p:spPr>
        </p:sp>
      </p:grpSp>
      <p:pic>
        <p:nvPicPr>
          <p:cNvPr name="Picture 5" id="5"/>
          <p:cNvPicPr>
            <a:picLocks noChangeAspect="true"/>
          </p:cNvPicPr>
          <p:nvPr/>
        </p:nvPicPr>
        <p:blipFill>
          <a:blip r:embed="rId3"/>
          <a:srcRect l="0" t="0" r="0" b="0"/>
          <a:stretch>
            <a:fillRect/>
          </a:stretch>
        </p:blipFill>
        <p:spPr>
          <a:xfrm flipH="false" flipV="false" rot="-7094170">
            <a:off x="14148180" y="-2590072"/>
            <a:ext cx="7036829" cy="7237544"/>
          </a:xfrm>
          <a:prstGeom prst="rect">
            <a:avLst/>
          </a:prstGeom>
        </p:spPr>
      </p:pic>
      <p:sp>
        <p:nvSpPr>
          <p:cNvPr name="Freeform 6" id="6"/>
          <p:cNvSpPr/>
          <p:nvPr/>
        </p:nvSpPr>
        <p:spPr>
          <a:xfrm flipH="false" flipV="false" rot="0">
            <a:off x="-2108294" y="-43204"/>
            <a:ext cx="9204826" cy="5186704"/>
          </a:xfrm>
          <a:custGeom>
            <a:avLst/>
            <a:gdLst/>
            <a:ahLst/>
            <a:cxnLst/>
            <a:rect r="r" b="b" t="t" l="l"/>
            <a:pathLst>
              <a:path h="5186704" w="9204826">
                <a:moveTo>
                  <a:pt x="0" y="0"/>
                </a:moveTo>
                <a:lnTo>
                  <a:pt x="9204826" y="0"/>
                </a:lnTo>
                <a:lnTo>
                  <a:pt x="9204826" y="5186704"/>
                </a:lnTo>
                <a:lnTo>
                  <a:pt x="0" y="5186704"/>
                </a:lnTo>
                <a:lnTo>
                  <a:pt x="0" y="0"/>
                </a:lnTo>
                <a:close/>
              </a:path>
            </a:pathLst>
          </a:custGeom>
          <a:blipFill>
            <a:blip r:embed="rId4"/>
            <a:stretch>
              <a:fillRect l="0" t="0" r="0" b="0"/>
            </a:stretch>
          </a:blipFill>
        </p:spPr>
      </p:sp>
      <p:pic>
        <p:nvPicPr>
          <p:cNvPr name="Picture 7" id="7"/>
          <p:cNvPicPr>
            <a:picLocks noChangeAspect="true"/>
          </p:cNvPicPr>
          <p:nvPr/>
        </p:nvPicPr>
        <p:blipFill>
          <a:blip r:embed="rId5"/>
          <a:srcRect l="0" t="0" r="0" b="0"/>
          <a:stretch>
            <a:fillRect/>
          </a:stretch>
        </p:blipFill>
        <p:spPr>
          <a:xfrm flipH="false" flipV="false" rot="0">
            <a:off x="6573173" y="0"/>
            <a:ext cx="3704087" cy="3537403"/>
          </a:xfrm>
          <a:prstGeom prst="rect">
            <a:avLst/>
          </a:prstGeom>
        </p:spPr>
      </p:pic>
      <p:pic>
        <p:nvPicPr>
          <p:cNvPr name="Picture 8" id="8"/>
          <p:cNvPicPr>
            <a:picLocks noChangeAspect="true"/>
          </p:cNvPicPr>
          <p:nvPr/>
        </p:nvPicPr>
        <p:blipFill>
          <a:blip r:embed="rId6"/>
          <a:srcRect l="0" t="0" r="0" b="0"/>
          <a:stretch>
            <a:fillRect/>
          </a:stretch>
        </p:blipFill>
        <p:spPr>
          <a:xfrm flipH="false" flipV="false" rot="0">
            <a:off x="8059843" y="1613864"/>
            <a:ext cx="4263732" cy="3239114"/>
          </a:xfrm>
          <a:prstGeom prst="rect">
            <a:avLst/>
          </a:prstGeom>
        </p:spPr>
      </p:pic>
      <p:sp>
        <p:nvSpPr>
          <p:cNvPr name="TextBox 9" id="9"/>
          <p:cNvSpPr txBox="true"/>
          <p:nvPr/>
        </p:nvSpPr>
        <p:spPr>
          <a:xfrm rot="0">
            <a:off x="2217409" y="4940384"/>
            <a:ext cx="15041891" cy="4597271"/>
          </a:xfrm>
          <a:prstGeom prst="rect">
            <a:avLst/>
          </a:prstGeom>
        </p:spPr>
        <p:txBody>
          <a:bodyPr anchor="t" rtlCol="false" tIns="0" lIns="0" bIns="0" rIns="0">
            <a:spAutoFit/>
          </a:bodyPr>
          <a:lstStyle/>
          <a:p>
            <a:pPr algn="ctr">
              <a:lnSpc>
                <a:spcPts val="9113"/>
              </a:lnSpc>
            </a:pPr>
            <a:r>
              <a:rPr lang="en-US" sz="7010">
                <a:solidFill>
                  <a:srgbClr val="FFFAEF"/>
                </a:solidFill>
                <a:latin typeface="Baloo"/>
                <a:ea typeface="Baloo"/>
                <a:cs typeface="Baloo"/>
                <a:sym typeface="Baloo"/>
              </a:rPr>
              <a:t>CHÀO MỪNG CÔ VÀ CÁC BẠN ĐẾN VỚI </a:t>
            </a:r>
          </a:p>
          <a:p>
            <a:pPr algn="ctr">
              <a:lnSpc>
                <a:spcPts val="9113"/>
              </a:lnSpc>
            </a:pPr>
            <a:r>
              <a:rPr lang="en-US" sz="7010">
                <a:solidFill>
                  <a:srgbClr val="FFFAEF"/>
                </a:solidFill>
                <a:latin typeface="Baloo"/>
                <a:ea typeface="Baloo"/>
                <a:cs typeface="Baloo"/>
                <a:sym typeface="Baloo"/>
              </a:rPr>
              <a:t>BÀI THUYẾT TRÌNH CỦA</a:t>
            </a:r>
          </a:p>
          <a:p>
            <a:pPr algn="ctr">
              <a:lnSpc>
                <a:spcPts val="9113"/>
              </a:lnSpc>
            </a:pPr>
            <a:r>
              <a:rPr lang="en-US" sz="7010">
                <a:solidFill>
                  <a:srgbClr val="FFFAEF"/>
                </a:solidFill>
                <a:latin typeface="Baloo"/>
                <a:ea typeface="Baloo"/>
                <a:cs typeface="Baloo"/>
                <a:sym typeface="Baloo"/>
              </a:rPr>
              <a:t>                                                              </a:t>
            </a:r>
            <a:r>
              <a:rPr lang="en-US" sz="7010" u="sng">
                <a:solidFill>
                  <a:srgbClr val="FFFAEF"/>
                </a:solidFill>
                <a:latin typeface="Baloo"/>
                <a:ea typeface="Baloo"/>
                <a:cs typeface="Baloo"/>
                <a:sym typeface="Baloo"/>
              </a:rPr>
              <a:t>NHÓM 9</a:t>
            </a:r>
          </a:p>
          <a:p>
            <a:pPr algn="ctr">
              <a:lnSpc>
                <a:spcPts val="9113"/>
              </a:lnSpc>
              <a:spcBef>
                <a:spcPct val="0"/>
              </a:spcBef>
            </a:pP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AEF"/>
                </a:solidFill>
                <a:latin typeface="Noto Serif Display"/>
                <a:ea typeface="Noto Serif Display"/>
                <a:cs typeface="Noto Serif Display"/>
                <a:sym typeface="Noto Serif Display"/>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845226" y="1919986"/>
            <a:ext cx="11810151" cy="2609850"/>
          </a:xfrm>
          <a:prstGeom prst="rect">
            <a:avLst/>
          </a:prstGeom>
        </p:spPr>
        <p:txBody>
          <a:bodyPr anchor="t" rtlCol="false" tIns="0" lIns="0" bIns="0" rIns="0">
            <a:spAutoFit/>
          </a:bodyPr>
          <a:lstStyle/>
          <a:p>
            <a:pPr algn="ctr">
              <a:lnSpc>
                <a:spcPts val="10289"/>
              </a:lnSpc>
            </a:pPr>
            <a:r>
              <a:rPr lang="en-US" sz="8574">
                <a:solidFill>
                  <a:srgbClr val="000000"/>
                </a:solidFill>
                <a:latin typeface="Baloo"/>
                <a:ea typeface="Baloo"/>
                <a:cs typeface="Baloo"/>
                <a:sym typeface="Baloo"/>
              </a:rPr>
              <a:t>Xin chào, </a:t>
            </a:r>
          </a:p>
          <a:p>
            <a:pPr algn="ctr">
              <a:lnSpc>
                <a:spcPts val="10289"/>
              </a:lnSpc>
            </a:pPr>
            <a:r>
              <a:rPr lang="en-US" sz="8574">
                <a:solidFill>
                  <a:srgbClr val="000000"/>
                </a:solidFill>
                <a:latin typeface="Baloo"/>
                <a:ea typeface="Baloo"/>
                <a:cs typeface="Baloo"/>
                <a:sym typeface="Baloo"/>
              </a:rPr>
              <a:t>Chúng tôi là Nhóm 9!</a:t>
            </a:r>
          </a:p>
        </p:txBody>
      </p:sp>
      <p:pic>
        <p:nvPicPr>
          <p:cNvPr name="Picture 3" id="3"/>
          <p:cNvPicPr>
            <a:picLocks noChangeAspect="true"/>
          </p:cNvPicPr>
          <p:nvPr/>
        </p:nvPicPr>
        <p:blipFill>
          <a:blip r:embed="rId2"/>
          <a:srcRect l="0" t="0" r="0" b="0"/>
          <a:stretch>
            <a:fillRect/>
          </a:stretch>
        </p:blipFill>
        <p:spPr>
          <a:xfrm flipH="false" flipV="false" rot="0">
            <a:off x="13655377" y="6809666"/>
            <a:ext cx="6229999" cy="6954669"/>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0" y="-686691"/>
            <a:ext cx="6925457" cy="4700654"/>
          </a:xfrm>
          <a:prstGeom prst="rect">
            <a:avLst/>
          </a:prstGeom>
        </p:spPr>
      </p:pic>
      <p:sp>
        <p:nvSpPr>
          <p:cNvPr name="Freeform 5" id="5"/>
          <p:cNvSpPr/>
          <p:nvPr/>
        </p:nvSpPr>
        <p:spPr>
          <a:xfrm flipH="false" flipV="false" rot="0">
            <a:off x="10598158" y="160314"/>
            <a:ext cx="9618362" cy="5419722"/>
          </a:xfrm>
          <a:custGeom>
            <a:avLst/>
            <a:gdLst/>
            <a:ahLst/>
            <a:cxnLst/>
            <a:rect r="r" b="b" t="t" l="l"/>
            <a:pathLst>
              <a:path h="5419722" w="9618362">
                <a:moveTo>
                  <a:pt x="0" y="0"/>
                </a:moveTo>
                <a:lnTo>
                  <a:pt x="9618362" y="0"/>
                </a:lnTo>
                <a:lnTo>
                  <a:pt x="9618362" y="5419722"/>
                </a:lnTo>
                <a:lnTo>
                  <a:pt x="0" y="5419722"/>
                </a:lnTo>
                <a:lnTo>
                  <a:pt x="0" y="0"/>
                </a:lnTo>
                <a:close/>
              </a:path>
            </a:pathLst>
          </a:custGeom>
          <a:blipFill>
            <a:blip r:embed="rId4"/>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2927178">
            <a:off x="2221055" y="-2050269"/>
            <a:ext cx="14426993" cy="16105132"/>
          </a:xfrm>
          <a:prstGeom prst="rect">
            <a:avLst/>
          </a:prstGeom>
        </p:spPr>
      </p:pic>
      <p:sp>
        <p:nvSpPr>
          <p:cNvPr name="Freeform 3" id="3"/>
          <p:cNvSpPr/>
          <p:nvPr/>
        </p:nvSpPr>
        <p:spPr>
          <a:xfrm flipH="false" flipV="false" rot="1873312">
            <a:off x="3807526" y="-736665"/>
            <a:ext cx="15185660" cy="14964777"/>
          </a:xfrm>
          <a:custGeom>
            <a:avLst/>
            <a:gdLst/>
            <a:ahLst/>
            <a:cxnLst/>
            <a:rect r="r" b="b" t="t" l="l"/>
            <a:pathLst>
              <a:path h="14964777" w="15185660">
                <a:moveTo>
                  <a:pt x="0" y="0"/>
                </a:moveTo>
                <a:lnTo>
                  <a:pt x="15185660" y="0"/>
                </a:lnTo>
                <a:lnTo>
                  <a:pt x="15185660" y="14964777"/>
                </a:lnTo>
                <a:lnTo>
                  <a:pt x="0" y="14964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756752" y="1272389"/>
            <a:ext cx="3437142" cy="3357587"/>
            <a:chOff x="0" y="0"/>
            <a:chExt cx="4828540" cy="4716780"/>
          </a:xfrm>
        </p:grpSpPr>
        <p:sp>
          <p:nvSpPr>
            <p:cNvPr name="Freeform 5" id="5"/>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80"/>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10" y="97790"/>
                    <a:pt x="4030980" y="97790"/>
                    <a:pt x="4119880" y="113030"/>
                  </a:cubicBezTo>
                  <a:cubicBezTo>
                    <a:pt x="4173220" y="121920"/>
                    <a:pt x="4227830" y="138430"/>
                    <a:pt x="4273550" y="165100"/>
                  </a:cubicBezTo>
                  <a:cubicBezTo>
                    <a:pt x="4323080" y="193040"/>
                    <a:pt x="4361180" y="238760"/>
                    <a:pt x="4405630" y="276860"/>
                  </a:cubicBezTo>
                  <a:cubicBezTo>
                    <a:pt x="4422140"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0" y="4281170"/>
                    <a:pt x="4535170" y="4335780"/>
                    <a:pt x="4491990" y="4382770"/>
                  </a:cubicBezTo>
                  <a:cubicBezTo>
                    <a:pt x="4453890" y="4424680"/>
                    <a:pt x="4411980" y="4466590"/>
                    <a:pt x="4345940" y="4467860"/>
                  </a:cubicBezTo>
                  <a:cubicBezTo>
                    <a:pt x="4330700" y="4467860"/>
                    <a:pt x="4316730" y="4483100"/>
                    <a:pt x="4301490" y="4490720"/>
                  </a:cubicBezTo>
                  <a:cubicBezTo>
                    <a:pt x="4236720" y="4518660"/>
                    <a:pt x="4169410" y="4542790"/>
                    <a:pt x="4105910" y="4573270"/>
                  </a:cubicBezTo>
                  <a:cubicBezTo>
                    <a:pt x="3989070" y="4629150"/>
                    <a:pt x="3863340" y="4638040"/>
                    <a:pt x="3737610" y="4643120"/>
                  </a:cubicBezTo>
                  <a:cubicBezTo>
                    <a:pt x="3689350" y="4645660"/>
                    <a:pt x="3639820" y="4641850"/>
                    <a:pt x="3591560" y="4645660"/>
                  </a:cubicBezTo>
                  <a:cubicBezTo>
                    <a:pt x="3567430" y="4646930"/>
                    <a:pt x="3544570" y="4658360"/>
                    <a:pt x="3521710" y="4663440"/>
                  </a:cubicBezTo>
                  <a:cubicBezTo>
                    <a:pt x="3511550" y="4665980"/>
                    <a:pt x="3501390" y="4664710"/>
                    <a:pt x="3489960" y="4665980"/>
                  </a:cubicBezTo>
                  <a:cubicBezTo>
                    <a:pt x="3474720" y="4667250"/>
                    <a:pt x="3459480" y="4671060"/>
                    <a:pt x="3444240" y="4669790"/>
                  </a:cubicBezTo>
                  <a:cubicBezTo>
                    <a:pt x="3429000" y="4667250"/>
                    <a:pt x="3418840" y="4662170"/>
                    <a:pt x="3416300" y="4662170"/>
                  </a:cubicBezTo>
                  <a:close/>
                </a:path>
              </a:pathLst>
            </a:custGeom>
            <a:blipFill>
              <a:blip r:embed="rId5"/>
              <a:stretch>
                <a:fillRect l="-17587" t="0" r="-123578" b="-38943"/>
              </a:stretch>
            </a:blipFill>
          </p:spPr>
        </p:sp>
      </p:grpSp>
      <p:grpSp>
        <p:nvGrpSpPr>
          <p:cNvPr name="Group 6" id="6"/>
          <p:cNvGrpSpPr/>
          <p:nvPr/>
        </p:nvGrpSpPr>
        <p:grpSpPr>
          <a:xfrm rot="0">
            <a:off x="7164010" y="1311417"/>
            <a:ext cx="3437142" cy="3357587"/>
            <a:chOff x="0" y="0"/>
            <a:chExt cx="4828540" cy="4716780"/>
          </a:xfrm>
        </p:grpSpPr>
        <p:sp>
          <p:nvSpPr>
            <p:cNvPr name="Freeform 7" id="7"/>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80"/>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10" y="97790"/>
                    <a:pt x="4030980" y="97790"/>
                    <a:pt x="4119880" y="113030"/>
                  </a:cubicBezTo>
                  <a:cubicBezTo>
                    <a:pt x="4173220" y="121920"/>
                    <a:pt x="4227830" y="138430"/>
                    <a:pt x="4273550" y="165100"/>
                  </a:cubicBezTo>
                  <a:cubicBezTo>
                    <a:pt x="4323080" y="193040"/>
                    <a:pt x="4361180" y="238760"/>
                    <a:pt x="4405630" y="276860"/>
                  </a:cubicBezTo>
                  <a:cubicBezTo>
                    <a:pt x="4422140"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0" y="4281170"/>
                    <a:pt x="4535170" y="4335780"/>
                    <a:pt x="4491990" y="4382770"/>
                  </a:cubicBezTo>
                  <a:cubicBezTo>
                    <a:pt x="4453890" y="4424680"/>
                    <a:pt x="4411980" y="4466590"/>
                    <a:pt x="4345940" y="4467860"/>
                  </a:cubicBezTo>
                  <a:cubicBezTo>
                    <a:pt x="4330700" y="4467860"/>
                    <a:pt x="4316730" y="4483100"/>
                    <a:pt x="4301490" y="4490720"/>
                  </a:cubicBezTo>
                  <a:cubicBezTo>
                    <a:pt x="4236720" y="4518660"/>
                    <a:pt x="4169410" y="4542790"/>
                    <a:pt x="4105910" y="4573270"/>
                  </a:cubicBezTo>
                  <a:cubicBezTo>
                    <a:pt x="3989070" y="4629150"/>
                    <a:pt x="3863340" y="4638040"/>
                    <a:pt x="3737610" y="4643120"/>
                  </a:cubicBezTo>
                  <a:cubicBezTo>
                    <a:pt x="3689350" y="4645660"/>
                    <a:pt x="3639820" y="4641850"/>
                    <a:pt x="3591560" y="4645660"/>
                  </a:cubicBezTo>
                  <a:cubicBezTo>
                    <a:pt x="3567430" y="4646930"/>
                    <a:pt x="3544570" y="4658360"/>
                    <a:pt x="3521710" y="4663440"/>
                  </a:cubicBezTo>
                  <a:cubicBezTo>
                    <a:pt x="3511550" y="4665980"/>
                    <a:pt x="3501390" y="4664710"/>
                    <a:pt x="3489960" y="4665980"/>
                  </a:cubicBezTo>
                  <a:cubicBezTo>
                    <a:pt x="3474720" y="4667250"/>
                    <a:pt x="3459480" y="4671060"/>
                    <a:pt x="3444240" y="4669790"/>
                  </a:cubicBezTo>
                  <a:cubicBezTo>
                    <a:pt x="3429000" y="4667250"/>
                    <a:pt x="3418840" y="4662170"/>
                    <a:pt x="3416300" y="4662170"/>
                  </a:cubicBezTo>
                  <a:close/>
                </a:path>
              </a:pathLst>
            </a:custGeom>
            <a:blipFill>
              <a:blip r:embed="rId6"/>
              <a:stretch>
                <a:fillRect l="-12602" t="0" r="-60968" b="0"/>
              </a:stretch>
            </a:blipFill>
          </p:spPr>
        </p:sp>
      </p:grpSp>
      <p:sp>
        <p:nvSpPr>
          <p:cNvPr name="TextBox 8" id="8"/>
          <p:cNvSpPr txBox="true"/>
          <p:nvPr/>
        </p:nvSpPr>
        <p:spPr>
          <a:xfrm rot="0">
            <a:off x="3554867" y="246234"/>
            <a:ext cx="10068963" cy="1152525"/>
          </a:xfrm>
          <a:prstGeom prst="rect">
            <a:avLst/>
          </a:prstGeom>
        </p:spPr>
        <p:txBody>
          <a:bodyPr anchor="t" rtlCol="false" tIns="0" lIns="0" bIns="0" rIns="0">
            <a:spAutoFit/>
          </a:bodyPr>
          <a:lstStyle/>
          <a:p>
            <a:pPr algn="ctr">
              <a:lnSpc>
                <a:spcPts val="9075"/>
              </a:lnSpc>
            </a:pPr>
            <a:r>
              <a:rPr lang="en-US" sz="7562">
                <a:solidFill>
                  <a:srgbClr val="000000"/>
                </a:solidFill>
                <a:latin typeface="Baloo"/>
                <a:ea typeface="Baloo"/>
                <a:cs typeface="Baloo"/>
                <a:sym typeface="Baloo"/>
              </a:rPr>
              <a:t>Gặp gỡ Nhóm</a:t>
            </a:r>
          </a:p>
        </p:txBody>
      </p:sp>
      <p:sp>
        <p:nvSpPr>
          <p:cNvPr name="Freeform 9" id="9"/>
          <p:cNvSpPr/>
          <p:nvPr/>
        </p:nvSpPr>
        <p:spPr>
          <a:xfrm flipH="false" flipV="false" rot="0">
            <a:off x="3916326" y="5893527"/>
            <a:ext cx="3439096" cy="3398156"/>
          </a:xfrm>
          <a:custGeom>
            <a:avLst/>
            <a:gdLst/>
            <a:ahLst/>
            <a:cxnLst/>
            <a:rect r="r" b="b" t="t" l="l"/>
            <a:pathLst>
              <a:path h="3398156" w="3439096">
                <a:moveTo>
                  <a:pt x="0" y="0"/>
                </a:moveTo>
                <a:lnTo>
                  <a:pt x="3439097" y="0"/>
                </a:lnTo>
                <a:lnTo>
                  <a:pt x="3439097" y="3398157"/>
                </a:lnTo>
                <a:lnTo>
                  <a:pt x="0" y="3398157"/>
                </a:lnTo>
                <a:lnTo>
                  <a:pt x="0" y="0"/>
                </a:lnTo>
                <a:close/>
              </a:path>
            </a:pathLst>
          </a:custGeom>
          <a:blipFill>
            <a:blip r:embed="rId7"/>
            <a:stretch>
              <a:fillRect l="-22344" t="0" r="-25962" b="0"/>
            </a:stretch>
          </a:blipFill>
        </p:spPr>
      </p:sp>
      <p:sp>
        <p:nvSpPr>
          <p:cNvPr name="Freeform 10" id="10"/>
          <p:cNvSpPr/>
          <p:nvPr/>
        </p:nvSpPr>
        <p:spPr>
          <a:xfrm flipH="false" flipV="false" rot="0">
            <a:off x="11033087" y="5751933"/>
            <a:ext cx="3439947" cy="3273837"/>
          </a:xfrm>
          <a:custGeom>
            <a:avLst/>
            <a:gdLst/>
            <a:ahLst/>
            <a:cxnLst/>
            <a:rect r="r" b="b" t="t" l="l"/>
            <a:pathLst>
              <a:path h="3273837" w="3439947">
                <a:moveTo>
                  <a:pt x="0" y="0"/>
                </a:moveTo>
                <a:lnTo>
                  <a:pt x="3439947" y="0"/>
                </a:lnTo>
                <a:lnTo>
                  <a:pt x="3439947" y="3273837"/>
                </a:lnTo>
                <a:lnTo>
                  <a:pt x="0" y="3273837"/>
                </a:lnTo>
                <a:lnTo>
                  <a:pt x="0" y="0"/>
                </a:lnTo>
                <a:close/>
              </a:path>
            </a:pathLst>
          </a:custGeom>
          <a:blipFill>
            <a:blip r:embed="rId8"/>
            <a:stretch>
              <a:fillRect l="-2646" t="-10611" r="0" b="-51271"/>
            </a:stretch>
          </a:blipFill>
        </p:spPr>
      </p:sp>
      <p:grpSp>
        <p:nvGrpSpPr>
          <p:cNvPr name="Group 11" id="11"/>
          <p:cNvGrpSpPr/>
          <p:nvPr/>
        </p:nvGrpSpPr>
        <p:grpSpPr>
          <a:xfrm rot="0">
            <a:off x="447282" y="4629976"/>
            <a:ext cx="4060247" cy="1027048"/>
            <a:chOff x="0" y="0"/>
            <a:chExt cx="5413662" cy="1369398"/>
          </a:xfrm>
        </p:grpSpPr>
        <p:sp>
          <p:nvSpPr>
            <p:cNvPr name="TextBox 12" id="12"/>
            <p:cNvSpPr txBox="true"/>
            <p:nvPr/>
          </p:nvSpPr>
          <p:spPr>
            <a:xfrm rot="0">
              <a:off x="0" y="-38100"/>
              <a:ext cx="5413662" cy="764540"/>
            </a:xfrm>
            <a:prstGeom prst="rect">
              <a:avLst/>
            </a:prstGeom>
          </p:spPr>
          <p:txBody>
            <a:bodyPr anchor="t" rtlCol="false" tIns="0" lIns="0" bIns="0" rIns="0">
              <a:spAutoFit/>
            </a:bodyPr>
            <a:lstStyle/>
            <a:p>
              <a:pPr algn="ctr">
                <a:lnSpc>
                  <a:spcPts val="4680"/>
                </a:lnSpc>
              </a:pPr>
              <a:r>
                <a:rPr lang="en-US" sz="3600">
                  <a:solidFill>
                    <a:srgbClr val="000000"/>
                  </a:solidFill>
                  <a:latin typeface="Baloo"/>
                  <a:ea typeface="Baloo"/>
                  <a:cs typeface="Baloo"/>
                  <a:sym typeface="Baloo"/>
                </a:rPr>
                <a:t>Diễm My</a:t>
              </a:r>
            </a:p>
          </p:txBody>
        </p:sp>
        <p:sp>
          <p:nvSpPr>
            <p:cNvPr name="TextBox 13" id="13"/>
            <p:cNvSpPr txBox="true"/>
            <p:nvPr/>
          </p:nvSpPr>
          <p:spPr>
            <a:xfrm rot="0">
              <a:off x="0" y="840301"/>
              <a:ext cx="5413662" cy="536998"/>
            </a:xfrm>
            <a:prstGeom prst="rect">
              <a:avLst/>
            </a:prstGeom>
          </p:spPr>
          <p:txBody>
            <a:bodyPr anchor="t" rtlCol="false" tIns="0" lIns="0" bIns="0" rIns="0">
              <a:spAutoFit/>
            </a:bodyPr>
            <a:lstStyle/>
            <a:p>
              <a:pPr algn="ctr">
                <a:lnSpc>
                  <a:spcPts val="3380"/>
                </a:lnSpc>
              </a:pPr>
              <a:r>
                <a:rPr lang="en-US" sz="2600">
                  <a:solidFill>
                    <a:srgbClr val="000000"/>
                  </a:solidFill>
                  <a:latin typeface="Clear Sans"/>
                  <a:ea typeface="Clear Sans"/>
                  <a:cs typeface="Clear Sans"/>
                  <a:sym typeface="Clear Sans"/>
                </a:rPr>
                <a:t>Trưởng nhóm: Dịch tài liệu</a:t>
              </a:r>
            </a:p>
          </p:txBody>
        </p:sp>
      </p:grpSp>
      <p:grpSp>
        <p:nvGrpSpPr>
          <p:cNvPr name="Group 14" id="14"/>
          <p:cNvGrpSpPr/>
          <p:nvPr/>
        </p:nvGrpSpPr>
        <p:grpSpPr>
          <a:xfrm rot="0">
            <a:off x="7355423" y="4756670"/>
            <a:ext cx="3054316" cy="1066101"/>
            <a:chOff x="0" y="0"/>
            <a:chExt cx="4072422" cy="1421468"/>
          </a:xfrm>
        </p:grpSpPr>
        <p:sp>
          <p:nvSpPr>
            <p:cNvPr name="TextBox 15" id="15"/>
            <p:cNvSpPr txBox="true"/>
            <p:nvPr/>
          </p:nvSpPr>
          <p:spPr>
            <a:xfrm rot="0">
              <a:off x="0" y="-38100"/>
              <a:ext cx="4072422" cy="764540"/>
            </a:xfrm>
            <a:prstGeom prst="rect">
              <a:avLst/>
            </a:prstGeom>
          </p:spPr>
          <p:txBody>
            <a:bodyPr anchor="t" rtlCol="false" tIns="0" lIns="0" bIns="0" rIns="0">
              <a:spAutoFit/>
            </a:bodyPr>
            <a:lstStyle/>
            <a:p>
              <a:pPr algn="ctr">
                <a:lnSpc>
                  <a:spcPts val="4680"/>
                </a:lnSpc>
              </a:pPr>
              <a:r>
                <a:rPr lang="en-US" sz="3600">
                  <a:solidFill>
                    <a:srgbClr val="000000"/>
                  </a:solidFill>
                  <a:latin typeface="Baloo"/>
                  <a:ea typeface="Baloo"/>
                  <a:cs typeface="Baloo"/>
                  <a:sym typeface="Baloo"/>
                </a:rPr>
                <a:t>Nguyễn Khải</a:t>
              </a:r>
            </a:p>
          </p:txBody>
        </p:sp>
        <p:sp>
          <p:nvSpPr>
            <p:cNvPr name="TextBox 16" id="16"/>
            <p:cNvSpPr txBox="true"/>
            <p:nvPr/>
          </p:nvSpPr>
          <p:spPr>
            <a:xfrm rot="0">
              <a:off x="0" y="830776"/>
              <a:ext cx="4072422" cy="522393"/>
            </a:xfrm>
            <a:prstGeom prst="rect">
              <a:avLst/>
            </a:prstGeom>
          </p:spPr>
          <p:txBody>
            <a:bodyPr anchor="t" rtlCol="false" tIns="0" lIns="0" bIns="0" rIns="0">
              <a:spAutoFit/>
            </a:bodyPr>
            <a:lstStyle/>
            <a:p>
              <a:pPr algn="ctr">
                <a:lnSpc>
                  <a:spcPts val="3282"/>
                </a:lnSpc>
              </a:pPr>
              <a:r>
                <a:rPr lang="en-US" sz="2524">
                  <a:solidFill>
                    <a:srgbClr val="000000"/>
                  </a:solidFill>
                  <a:latin typeface="Clear Sans"/>
                  <a:ea typeface="Clear Sans"/>
                  <a:cs typeface="Clear Sans"/>
                  <a:sym typeface="Clear Sans"/>
                </a:rPr>
                <a:t>dịch tài liệu</a:t>
              </a:r>
            </a:p>
          </p:txBody>
        </p:sp>
      </p:grpSp>
      <p:grpSp>
        <p:nvGrpSpPr>
          <p:cNvPr name="Group 17" id="17"/>
          <p:cNvGrpSpPr/>
          <p:nvPr/>
        </p:nvGrpSpPr>
        <p:grpSpPr>
          <a:xfrm rot="0">
            <a:off x="13921695" y="4779530"/>
            <a:ext cx="3054316" cy="1020381"/>
            <a:chOff x="0" y="0"/>
            <a:chExt cx="4072422" cy="1360508"/>
          </a:xfrm>
        </p:grpSpPr>
        <p:sp>
          <p:nvSpPr>
            <p:cNvPr name="TextBox 18" id="18"/>
            <p:cNvSpPr txBox="true"/>
            <p:nvPr/>
          </p:nvSpPr>
          <p:spPr>
            <a:xfrm rot="0">
              <a:off x="0" y="-38100"/>
              <a:ext cx="4072422" cy="764540"/>
            </a:xfrm>
            <a:prstGeom prst="rect">
              <a:avLst/>
            </a:prstGeom>
          </p:spPr>
          <p:txBody>
            <a:bodyPr anchor="t" rtlCol="false" tIns="0" lIns="0" bIns="0" rIns="0">
              <a:spAutoFit/>
            </a:bodyPr>
            <a:lstStyle/>
            <a:p>
              <a:pPr algn="ctr">
                <a:lnSpc>
                  <a:spcPts val="4680"/>
                </a:lnSpc>
              </a:pPr>
              <a:r>
                <a:rPr lang="en-US" sz="3600">
                  <a:solidFill>
                    <a:srgbClr val="000000"/>
                  </a:solidFill>
                  <a:latin typeface="Baloo"/>
                  <a:ea typeface="Baloo"/>
                  <a:cs typeface="Baloo"/>
                  <a:sym typeface="Baloo"/>
                </a:rPr>
                <a:t>Thu Hương</a:t>
              </a:r>
            </a:p>
          </p:txBody>
        </p:sp>
        <p:sp>
          <p:nvSpPr>
            <p:cNvPr name="TextBox 19" id="19"/>
            <p:cNvSpPr txBox="true"/>
            <p:nvPr/>
          </p:nvSpPr>
          <p:spPr>
            <a:xfrm rot="0">
              <a:off x="0" y="830776"/>
              <a:ext cx="4072422" cy="522393"/>
            </a:xfrm>
            <a:prstGeom prst="rect">
              <a:avLst/>
            </a:prstGeom>
          </p:spPr>
          <p:txBody>
            <a:bodyPr anchor="t" rtlCol="false" tIns="0" lIns="0" bIns="0" rIns="0">
              <a:spAutoFit/>
            </a:bodyPr>
            <a:lstStyle/>
            <a:p>
              <a:pPr algn="ctr">
                <a:lnSpc>
                  <a:spcPts val="3282"/>
                </a:lnSpc>
              </a:pPr>
              <a:r>
                <a:rPr lang="en-US" sz="2525">
                  <a:solidFill>
                    <a:srgbClr val="000000"/>
                  </a:solidFill>
                  <a:latin typeface="Clear Sans"/>
                  <a:ea typeface="Clear Sans"/>
                  <a:cs typeface="Clear Sans"/>
                  <a:sym typeface="Clear Sans"/>
                </a:rPr>
                <a:t>dịch tài liệu</a:t>
              </a:r>
            </a:p>
          </p:txBody>
        </p:sp>
      </p:grpSp>
      <p:grpSp>
        <p:nvGrpSpPr>
          <p:cNvPr name="Group 20" id="20"/>
          <p:cNvGrpSpPr/>
          <p:nvPr/>
        </p:nvGrpSpPr>
        <p:grpSpPr>
          <a:xfrm rot="0">
            <a:off x="11400356" y="9166155"/>
            <a:ext cx="3054316" cy="1082928"/>
            <a:chOff x="0" y="0"/>
            <a:chExt cx="4072422" cy="1443904"/>
          </a:xfrm>
        </p:grpSpPr>
        <p:sp>
          <p:nvSpPr>
            <p:cNvPr name="TextBox 21" id="21"/>
            <p:cNvSpPr txBox="true"/>
            <p:nvPr/>
          </p:nvSpPr>
          <p:spPr>
            <a:xfrm rot="0">
              <a:off x="0" y="-38100"/>
              <a:ext cx="4072422" cy="764540"/>
            </a:xfrm>
            <a:prstGeom prst="rect">
              <a:avLst/>
            </a:prstGeom>
          </p:spPr>
          <p:txBody>
            <a:bodyPr anchor="t" rtlCol="false" tIns="0" lIns="0" bIns="0" rIns="0">
              <a:spAutoFit/>
            </a:bodyPr>
            <a:lstStyle/>
            <a:p>
              <a:pPr algn="ctr">
                <a:lnSpc>
                  <a:spcPts val="4680"/>
                </a:lnSpc>
              </a:pPr>
              <a:r>
                <a:rPr lang="en-US" sz="3600">
                  <a:solidFill>
                    <a:srgbClr val="000000"/>
                  </a:solidFill>
                  <a:latin typeface="Baloo"/>
                  <a:ea typeface="Baloo"/>
                  <a:cs typeface="Baloo"/>
                  <a:sym typeface="Baloo"/>
                </a:rPr>
                <a:t>Hữu Lộc</a:t>
              </a:r>
            </a:p>
          </p:txBody>
        </p:sp>
        <p:sp>
          <p:nvSpPr>
            <p:cNvPr name="TextBox 22" id="22"/>
            <p:cNvSpPr txBox="true"/>
            <p:nvPr/>
          </p:nvSpPr>
          <p:spPr>
            <a:xfrm rot="0">
              <a:off x="0" y="821251"/>
              <a:ext cx="4072422" cy="508635"/>
            </a:xfrm>
            <a:prstGeom prst="rect">
              <a:avLst/>
            </a:prstGeom>
          </p:spPr>
          <p:txBody>
            <a:bodyPr anchor="t" rtlCol="false" tIns="0" lIns="0" bIns="0" rIns="0">
              <a:spAutoFit/>
            </a:bodyPr>
            <a:lstStyle/>
            <a:p>
              <a:pPr algn="ctr">
                <a:lnSpc>
                  <a:spcPts val="3119"/>
                </a:lnSpc>
              </a:pPr>
              <a:r>
                <a:rPr lang="en-US" sz="2399">
                  <a:solidFill>
                    <a:srgbClr val="000000"/>
                  </a:solidFill>
                  <a:latin typeface="Clear Sans"/>
                  <a:ea typeface="Clear Sans"/>
                  <a:cs typeface="Clear Sans"/>
                  <a:sym typeface="Clear Sans"/>
                </a:rPr>
                <a:t>dịch tài liệu+ppt</a:t>
              </a:r>
            </a:p>
          </p:txBody>
        </p:sp>
      </p:grpSp>
      <p:sp>
        <p:nvSpPr>
          <p:cNvPr name="TextBox 23" id="23"/>
          <p:cNvSpPr txBox="true"/>
          <p:nvPr/>
        </p:nvSpPr>
        <p:spPr>
          <a:xfrm rot="0">
            <a:off x="4253398" y="9324340"/>
            <a:ext cx="3102025" cy="962660"/>
          </a:xfrm>
          <a:prstGeom prst="rect">
            <a:avLst/>
          </a:prstGeom>
        </p:spPr>
        <p:txBody>
          <a:bodyPr anchor="t" rtlCol="false" tIns="0" lIns="0" bIns="0" rIns="0">
            <a:spAutoFit/>
          </a:bodyPr>
          <a:lstStyle/>
          <a:p>
            <a:pPr algn="ctr">
              <a:lnSpc>
                <a:spcPts val="4550"/>
              </a:lnSpc>
            </a:pPr>
            <a:r>
              <a:rPr lang="en-US" sz="3500">
                <a:solidFill>
                  <a:srgbClr val="000000"/>
                </a:solidFill>
                <a:latin typeface="Baloo"/>
                <a:ea typeface="Baloo"/>
                <a:cs typeface="Baloo"/>
                <a:sym typeface="Baloo"/>
              </a:rPr>
              <a:t>Trung Kiên</a:t>
            </a:r>
          </a:p>
          <a:p>
            <a:pPr algn="ctr">
              <a:lnSpc>
                <a:spcPts val="3120"/>
              </a:lnSpc>
              <a:spcBef>
                <a:spcPct val="0"/>
              </a:spcBef>
            </a:pPr>
            <a:r>
              <a:rPr lang="en-US" sz="2400">
                <a:solidFill>
                  <a:srgbClr val="000000"/>
                </a:solidFill>
                <a:latin typeface="DejaVu Serif"/>
                <a:ea typeface="DejaVu Serif"/>
                <a:cs typeface="DejaVu Serif"/>
                <a:sym typeface="DejaVu Serif"/>
              </a:rPr>
              <a:t>dịch tài liệu+ppt</a:t>
            </a:r>
          </a:p>
        </p:txBody>
      </p:sp>
      <p:grpSp>
        <p:nvGrpSpPr>
          <p:cNvPr name="Group 24" id="24"/>
          <p:cNvGrpSpPr/>
          <p:nvPr/>
        </p:nvGrpSpPr>
        <p:grpSpPr>
          <a:xfrm rot="0">
            <a:off x="13449127" y="1311417"/>
            <a:ext cx="3526884" cy="3445252"/>
            <a:chOff x="0" y="0"/>
            <a:chExt cx="4828540" cy="4716780"/>
          </a:xfrm>
        </p:grpSpPr>
        <p:sp>
          <p:nvSpPr>
            <p:cNvPr name="Freeform 25" id="25"/>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80"/>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10" y="97790"/>
                    <a:pt x="4030980" y="97790"/>
                    <a:pt x="4119880" y="113030"/>
                  </a:cubicBezTo>
                  <a:cubicBezTo>
                    <a:pt x="4173220" y="121920"/>
                    <a:pt x="4227830" y="138430"/>
                    <a:pt x="4273550" y="165100"/>
                  </a:cubicBezTo>
                  <a:cubicBezTo>
                    <a:pt x="4323080" y="193040"/>
                    <a:pt x="4361180" y="238760"/>
                    <a:pt x="4405630" y="276860"/>
                  </a:cubicBezTo>
                  <a:cubicBezTo>
                    <a:pt x="4422140"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0" y="4281170"/>
                    <a:pt x="4535170" y="4335780"/>
                    <a:pt x="4491990" y="4382770"/>
                  </a:cubicBezTo>
                  <a:cubicBezTo>
                    <a:pt x="4453890" y="4424680"/>
                    <a:pt x="4411980" y="4466590"/>
                    <a:pt x="4345940" y="4467860"/>
                  </a:cubicBezTo>
                  <a:cubicBezTo>
                    <a:pt x="4330700" y="4467860"/>
                    <a:pt x="4316730" y="4483100"/>
                    <a:pt x="4301490" y="4490720"/>
                  </a:cubicBezTo>
                  <a:cubicBezTo>
                    <a:pt x="4236720" y="4518660"/>
                    <a:pt x="4169410" y="4542790"/>
                    <a:pt x="4105910" y="4573270"/>
                  </a:cubicBezTo>
                  <a:cubicBezTo>
                    <a:pt x="3989070" y="4629150"/>
                    <a:pt x="3863340" y="4638040"/>
                    <a:pt x="3737610" y="4643120"/>
                  </a:cubicBezTo>
                  <a:cubicBezTo>
                    <a:pt x="3689350" y="4645660"/>
                    <a:pt x="3639820" y="4641850"/>
                    <a:pt x="3591560" y="4645660"/>
                  </a:cubicBezTo>
                  <a:cubicBezTo>
                    <a:pt x="3567430" y="4646930"/>
                    <a:pt x="3544570" y="4658360"/>
                    <a:pt x="3521710" y="4663440"/>
                  </a:cubicBezTo>
                  <a:cubicBezTo>
                    <a:pt x="3511550" y="4665980"/>
                    <a:pt x="3501390" y="4664710"/>
                    <a:pt x="3489960" y="4665980"/>
                  </a:cubicBezTo>
                  <a:cubicBezTo>
                    <a:pt x="3474720" y="4667250"/>
                    <a:pt x="3459480" y="4671060"/>
                    <a:pt x="3444240" y="4669790"/>
                  </a:cubicBezTo>
                  <a:cubicBezTo>
                    <a:pt x="3429000" y="4667250"/>
                    <a:pt x="3418840" y="4662170"/>
                    <a:pt x="3416300" y="4662170"/>
                  </a:cubicBezTo>
                  <a:close/>
                </a:path>
              </a:pathLst>
            </a:custGeom>
            <a:blipFill>
              <a:blip r:embed="rId9"/>
              <a:stretch>
                <a:fillRect l="-23225" t="0" r="-23225"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3124630" y="2067974"/>
            <a:ext cx="5143500" cy="11392761"/>
          </a:xfrm>
          <a:prstGeom prst="rect">
            <a:avLst/>
          </a:prstGeom>
        </p:spPr>
      </p:pic>
      <p:sp>
        <p:nvSpPr>
          <p:cNvPr name="Freeform 4" id="4"/>
          <p:cNvSpPr/>
          <p:nvPr/>
        </p:nvSpPr>
        <p:spPr>
          <a:xfrm flipH="false" flipV="false" rot="-1016799">
            <a:off x="9736550" y="-2506878"/>
            <a:ext cx="11406363" cy="9923536"/>
          </a:xfrm>
          <a:custGeom>
            <a:avLst/>
            <a:gdLst/>
            <a:ahLst/>
            <a:cxnLst/>
            <a:rect r="r" b="b" t="t" l="l"/>
            <a:pathLst>
              <a:path h="9923536" w="11406363">
                <a:moveTo>
                  <a:pt x="0" y="0"/>
                </a:moveTo>
                <a:lnTo>
                  <a:pt x="11406363" y="0"/>
                </a:lnTo>
                <a:lnTo>
                  <a:pt x="11406363" y="9923536"/>
                </a:lnTo>
                <a:lnTo>
                  <a:pt x="0" y="9923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453445" y="3984285"/>
            <a:ext cx="14510626" cy="1501147"/>
          </a:xfrm>
          <a:prstGeom prst="rect">
            <a:avLst/>
          </a:prstGeom>
        </p:spPr>
        <p:txBody>
          <a:bodyPr anchor="t" rtlCol="false" tIns="0" lIns="0" bIns="0" rIns="0">
            <a:spAutoFit/>
          </a:bodyPr>
          <a:lstStyle/>
          <a:p>
            <a:pPr algn="l">
              <a:lnSpc>
                <a:spcPts val="12089"/>
              </a:lnSpc>
            </a:pPr>
            <a:r>
              <a:rPr lang="en-US" sz="9299">
                <a:solidFill>
                  <a:srgbClr val="FFFAEF"/>
                </a:solidFill>
                <a:latin typeface="Baloo"/>
                <a:ea typeface="Baloo"/>
                <a:cs typeface="Baloo"/>
                <a:sym typeface="Baloo"/>
              </a:rPr>
              <a:t>Lựa chọn kĩ thuật phù hợp</a:t>
            </a:r>
          </a:p>
        </p:txBody>
      </p:sp>
      <p:pic>
        <p:nvPicPr>
          <p:cNvPr name="Picture 6" id="6"/>
          <p:cNvPicPr>
            <a:picLocks noChangeAspect="true"/>
          </p:cNvPicPr>
          <p:nvPr/>
        </p:nvPicPr>
        <p:blipFill>
          <a:blip r:embed="rId5"/>
          <a:srcRect l="0" t="0" r="0" b="0"/>
          <a:stretch>
            <a:fillRect/>
          </a:stretch>
        </p:blipFill>
        <p:spPr>
          <a:xfrm flipH="false" flipV="false" rot="0">
            <a:off x="1161559" y="833970"/>
            <a:ext cx="832486" cy="862071"/>
          </a:xfrm>
          <a:prstGeom prst="rect">
            <a:avLst/>
          </a:prstGeom>
        </p:spPr>
      </p:pic>
      <p:pic>
        <p:nvPicPr>
          <p:cNvPr name="Picture 7" id="7"/>
          <p:cNvPicPr>
            <a:picLocks noChangeAspect="true"/>
          </p:cNvPicPr>
          <p:nvPr/>
        </p:nvPicPr>
        <p:blipFill>
          <a:blip r:embed="rId6"/>
          <a:srcRect l="0" t="0" r="0" b="0"/>
          <a:stretch>
            <a:fillRect/>
          </a:stretch>
        </p:blipFill>
        <p:spPr>
          <a:xfrm flipH="false" flipV="false" rot="0">
            <a:off x="2852538" y="7408180"/>
            <a:ext cx="661164" cy="629608"/>
          </a:xfrm>
          <a:prstGeom prst="rect">
            <a:avLst/>
          </a:prstGeom>
        </p:spPr>
      </p:pic>
      <p:pic>
        <p:nvPicPr>
          <p:cNvPr name="Picture 8" id="8"/>
          <p:cNvPicPr>
            <a:picLocks noChangeAspect="true"/>
          </p:cNvPicPr>
          <p:nvPr/>
        </p:nvPicPr>
        <p:blipFill>
          <a:blip r:embed="rId7"/>
          <a:srcRect l="0" t="0" r="0" b="0"/>
          <a:stretch>
            <a:fillRect/>
          </a:stretch>
        </p:blipFill>
        <p:spPr>
          <a:xfrm flipH="false" flipV="false" rot="0">
            <a:off x="7879745" y="5858154"/>
            <a:ext cx="658195" cy="645077"/>
          </a:xfrm>
          <a:prstGeom prst="rect">
            <a:avLst/>
          </a:prstGeom>
        </p:spPr>
      </p:pic>
      <p:sp>
        <p:nvSpPr>
          <p:cNvPr name="TextBox 9" id="9"/>
          <p:cNvSpPr txBox="true"/>
          <p:nvPr/>
        </p:nvSpPr>
        <p:spPr>
          <a:xfrm rot="0">
            <a:off x="11896969" y="967379"/>
            <a:ext cx="5362043" cy="1457325"/>
          </a:xfrm>
          <a:prstGeom prst="rect">
            <a:avLst/>
          </a:prstGeom>
        </p:spPr>
        <p:txBody>
          <a:bodyPr anchor="t" rtlCol="false" tIns="0" lIns="0" bIns="0" rIns="0">
            <a:spAutoFit/>
          </a:bodyPr>
          <a:lstStyle/>
          <a:p>
            <a:pPr algn="just">
              <a:lnSpc>
                <a:spcPts val="11519"/>
              </a:lnSpc>
            </a:pPr>
            <a:r>
              <a:rPr lang="en-US" sz="9599">
                <a:solidFill>
                  <a:srgbClr val="FFFAEF"/>
                </a:solidFill>
                <a:latin typeface="Baloo"/>
                <a:ea typeface="Baloo"/>
                <a:cs typeface="Baloo"/>
                <a:sym typeface="Baloo"/>
              </a:rPr>
              <a:t>Đề tài:</a:t>
            </a:r>
          </a:p>
        </p:txBody>
      </p:sp>
      <p:sp>
        <p:nvSpPr>
          <p:cNvPr name="TextBox 10" id="10"/>
          <p:cNvSpPr txBox="true"/>
          <p:nvPr/>
        </p:nvSpPr>
        <p:spPr>
          <a:xfrm rot="0">
            <a:off x="1028700" y="8671560"/>
            <a:ext cx="3147755" cy="586740"/>
          </a:xfrm>
          <a:prstGeom prst="rect">
            <a:avLst/>
          </a:prstGeom>
        </p:spPr>
        <p:txBody>
          <a:bodyPr anchor="t" rtlCol="false" tIns="0" lIns="0" bIns="0" rIns="0">
            <a:spAutoFit/>
          </a:bodyPr>
          <a:lstStyle/>
          <a:p>
            <a:pPr algn="just">
              <a:lnSpc>
                <a:spcPts val="4680"/>
              </a:lnSpc>
              <a:spcBef>
                <a:spcPct val="0"/>
              </a:spcBef>
            </a:pPr>
            <a:r>
              <a:rPr lang="en-US" sz="3600">
                <a:solidFill>
                  <a:srgbClr val="FFFAEF"/>
                </a:solidFill>
                <a:latin typeface="Baloo"/>
                <a:ea typeface="Baloo"/>
                <a:cs typeface="Baloo"/>
                <a:sym typeface="Baloo"/>
              </a:rPr>
              <a:t>San</a:t>
            </a:r>
          </a:p>
        </p:txBody>
      </p:sp>
      <p:sp>
        <p:nvSpPr>
          <p:cNvPr name="TextBox 11" id="11"/>
          <p:cNvSpPr txBox="true"/>
          <p:nvPr/>
        </p:nvSpPr>
        <p:spPr>
          <a:xfrm rot="0">
            <a:off x="8892400" y="6123542"/>
            <a:ext cx="6728579" cy="962026"/>
          </a:xfrm>
          <a:prstGeom prst="rect">
            <a:avLst/>
          </a:prstGeom>
        </p:spPr>
        <p:txBody>
          <a:bodyPr anchor="t" rtlCol="false" tIns="0" lIns="0" bIns="0" rIns="0">
            <a:spAutoFit/>
          </a:bodyPr>
          <a:lstStyle/>
          <a:p>
            <a:pPr algn="ctr">
              <a:lnSpc>
                <a:spcPts val="7799"/>
              </a:lnSpc>
              <a:spcBef>
                <a:spcPct val="0"/>
              </a:spcBef>
            </a:pPr>
            <a:r>
              <a:rPr lang="en-US" sz="5999">
                <a:solidFill>
                  <a:srgbClr val="FFFAEF"/>
                </a:solidFill>
                <a:latin typeface="Baloo"/>
                <a:ea typeface="Baloo"/>
                <a:cs typeface="Baloo"/>
                <a:sym typeface="Baloo"/>
              </a:rPr>
              <a:t>p9 : Chapter3_p.128</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AEF"/>
                </a:solidFill>
                <a:latin typeface="Noto Serif Display"/>
                <a:ea typeface="Noto Serif Display"/>
                <a:cs typeface="Noto Serif Display"/>
                <a:sym typeface="Noto Serif Display"/>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2128895" y="840415"/>
            <a:ext cx="10172854" cy="1371600"/>
          </a:xfrm>
          <a:prstGeom prst="rect">
            <a:avLst/>
          </a:prstGeom>
        </p:spPr>
        <p:txBody>
          <a:bodyPr anchor="t" rtlCol="false" tIns="0" lIns="0" bIns="0" rIns="0">
            <a:spAutoFit/>
          </a:bodyPr>
          <a:lstStyle/>
          <a:p>
            <a:pPr algn="l">
              <a:lnSpc>
                <a:spcPts val="10800"/>
              </a:lnSpc>
            </a:pPr>
            <a:r>
              <a:rPr lang="en-US" sz="9000">
                <a:solidFill>
                  <a:srgbClr val="000000"/>
                </a:solidFill>
                <a:latin typeface="Baloo"/>
                <a:ea typeface="Baloo"/>
                <a:cs typeface="Baloo"/>
                <a:sym typeface="Baloo"/>
              </a:rPr>
              <a:t>các loại kĩ thuật:</a:t>
            </a:r>
          </a:p>
        </p:txBody>
      </p:sp>
      <p:pic>
        <p:nvPicPr>
          <p:cNvPr name="Picture 3" id="3"/>
          <p:cNvPicPr>
            <a:picLocks noChangeAspect="true"/>
          </p:cNvPicPr>
          <p:nvPr/>
        </p:nvPicPr>
        <p:blipFill>
          <a:blip r:embed="rId2"/>
          <a:srcRect l="0" t="0" r="0" b="0"/>
          <a:stretch>
            <a:fillRect/>
          </a:stretch>
        </p:blipFill>
        <p:spPr>
          <a:xfrm flipH="false" flipV="false" rot="-8937396">
            <a:off x="6897832" y="3948857"/>
            <a:ext cx="10535369" cy="9997472"/>
          </a:xfrm>
          <a:prstGeom prst="rect">
            <a:avLst/>
          </a:prstGeom>
        </p:spPr>
      </p:pic>
      <p:sp>
        <p:nvSpPr>
          <p:cNvPr name="Freeform 4" id="4"/>
          <p:cNvSpPr/>
          <p:nvPr/>
        </p:nvSpPr>
        <p:spPr>
          <a:xfrm flipH="false" flipV="false" rot="-776060">
            <a:off x="12219516" y="-1981356"/>
            <a:ext cx="8338090" cy="7254138"/>
          </a:xfrm>
          <a:custGeom>
            <a:avLst/>
            <a:gdLst/>
            <a:ahLst/>
            <a:cxnLst/>
            <a:rect r="r" b="b" t="t" l="l"/>
            <a:pathLst>
              <a:path h="7254138" w="8338090">
                <a:moveTo>
                  <a:pt x="0" y="0"/>
                </a:moveTo>
                <a:lnTo>
                  <a:pt x="8338090" y="0"/>
                </a:lnTo>
                <a:lnTo>
                  <a:pt x="8338090" y="7254138"/>
                </a:lnTo>
                <a:lnTo>
                  <a:pt x="0" y="7254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001259" y="3843536"/>
            <a:ext cx="6387302" cy="6147834"/>
            <a:chOff x="30480" y="591820"/>
            <a:chExt cx="12736830" cy="12259310"/>
          </a:xfrm>
        </p:grpSpPr>
        <p:sp>
          <p:nvSpPr>
            <p:cNvPr name="Freeform 6" id="6"/>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5"/>
              <a:stretch>
                <a:fillRect l="-38128" t="0" r="0" b="0"/>
              </a:stretch>
            </a:blipFill>
          </p:spPr>
        </p:sp>
      </p:grpSp>
      <p:pic>
        <p:nvPicPr>
          <p:cNvPr name="Picture 7" id="7"/>
          <p:cNvPicPr>
            <a:picLocks noChangeAspect="true"/>
          </p:cNvPicPr>
          <p:nvPr/>
        </p:nvPicPr>
        <p:blipFill>
          <a:blip r:embed="rId6"/>
          <a:srcRect l="0" t="0" r="0" b="0"/>
          <a:stretch>
            <a:fillRect/>
          </a:stretch>
        </p:blipFill>
        <p:spPr>
          <a:xfrm flipH="false" flipV="false" rot="0">
            <a:off x="12991607" y="-40448"/>
            <a:ext cx="3972592" cy="4438650"/>
          </a:xfrm>
          <a:prstGeom prst="rect">
            <a:avLst/>
          </a:prstGeom>
        </p:spPr>
      </p:pic>
      <p:sp>
        <p:nvSpPr>
          <p:cNvPr name="TextBox 8" id="8"/>
          <p:cNvSpPr txBox="true"/>
          <p:nvPr/>
        </p:nvSpPr>
        <p:spPr>
          <a:xfrm rot="0">
            <a:off x="1028700" y="3746692"/>
            <a:ext cx="8957675" cy="1264920"/>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2.Phân tích tài liệu (Document Analysis)</a:t>
            </a:r>
          </a:p>
          <a:p>
            <a:pPr algn="l">
              <a:lnSpc>
                <a:spcPts val="5069"/>
              </a:lnSpc>
            </a:pPr>
          </a:p>
        </p:txBody>
      </p:sp>
      <p:sp>
        <p:nvSpPr>
          <p:cNvPr name="TextBox 9" id="9"/>
          <p:cNvSpPr txBox="true"/>
          <p:nvPr/>
        </p:nvSpPr>
        <p:spPr>
          <a:xfrm rot="0">
            <a:off x="1028700" y="2804536"/>
            <a:ext cx="8293143" cy="626745"/>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1.Phỏng vấn (Interviews)</a:t>
            </a:r>
          </a:p>
        </p:txBody>
      </p:sp>
      <p:sp>
        <p:nvSpPr>
          <p:cNvPr name="TextBox 10" id="10"/>
          <p:cNvSpPr txBox="true"/>
          <p:nvPr/>
        </p:nvSpPr>
        <p:spPr>
          <a:xfrm rot="0">
            <a:off x="1028700" y="4537710"/>
            <a:ext cx="6186622" cy="1264920"/>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3.Quan sát (Observation)</a:t>
            </a:r>
          </a:p>
          <a:p>
            <a:pPr algn="l">
              <a:lnSpc>
                <a:spcPts val="5069"/>
              </a:lnSpc>
            </a:pPr>
          </a:p>
        </p:txBody>
      </p:sp>
      <p:sp>
        <p:nvSpPr>
          <p:cNvPr name="TextBox 11" id="11"/>
          <p:cNvSpPr txBox="true"/>
          <p:nvPr/>
        </p:nvSpPr>
        <p:spPr>
          <a:xfrm rot="0">
            <a:off x="1028700" y="5495482"/>
            <a:ext cx="7534189" cy="1264920"/>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4.Bảng hỏi (Questionnaires)</a:t>
            </a:r>
          </a:p>
          <a:p>
            <a:pPr algn="l">
              <a:lnSpc>
                <a:spcPts val="5069"/>
              </a:lnSpc>
            </a:pPr>
          </a:p>
        </p:txBody>
      </p:sp>
      <p:sp>
        <p:nvSpPr>
          <p:cNvPr name="TextBox 12" id="12"/>
          <p:cNvSpPr txBox="true"/>
          <p:nvPr/>
        </p:nvSpPr>
        <p:spPr>
          <a:xfrm rot="0">
            <a:off x="1028700" y="6358447"/>
            <a:ext cx="9128493" cy="626745"/>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5.JAD (Joint Application Development)</a:t>
            </a:r>
          </a:p>
        </p:txBody>
      </p:sp>
      <p:sp>
        <p:nvSpPr>
          <p:cNvPr name="TextBox 13" id="13"/>
          <p:cNvSpPr txBox="true"/>
          <p:nvPr/>
        </p:nvSpPr>
        <p:spPr>
          <a:xfrm rot="0">
            <a:off x="1028700" y="8046277"/>
            <a:ext cx="6186622" cy="1264920"/>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7.FAST</a:t>
            </a:r>
          </a:p>
          <a:p>
            <a:pPr algn="l">
              <a:lnSpc>
                <a:spcPts val="5069"/>
              </a:lnSpc>
            </a:pPr>
          </a:p>
        </p:txBody>
      </p:sp>
      <p:sp>
        <p:nvSpPr>
          <p:cNvPr name="TextBox 14" id="14"/>
          <p:cNvSpPr txBox="true"/>
          <p:nvPr/>
        </p:nvSpPr>
        <p:spPr>
          <a:xfrm rot="0">
            <a:off x="1028700" y="7103512"/>
            <a:ext cx="6186622" cy="1264920"/>
          </a:xfrm>
          <a:prstGeom prst="rect">
            <a:avLst/>
          </a:prstGeom>
        </p:spPr>
        <p:txBody>
          <a:bodyPr anchor="t" rtlCol="false" tIns="0" lIns="0" bIns="0" rIns="0">
            <a:spAutoFit/>
          </a:bodyPr>
          <a:lstStyle/>
          <a:p>
            <a:pPr algn="l">
              <a:lnSpc>
                <a:spcPts val="5069"/>
              </a:lnSpc>
            </a:pPr>
            <a:r>
              <a:rPr lang="en-US" sz="3899">
                <a:solidFill>
                  <a:srgbClr val="000000"/>
                </a:solidFill>
                <a:latin typeface="Baloo"/>
                <a:ea typeface="Baloo"/>
                <a:cs typeface="Baloo"/>
                <a:sym typeface="Baloo"/>
              </a:rPr>
              <a:t>6.Workshops</a:t>
            </a:r>
          </a:p>
          <a:p>
            <a:pPr algn="l">
              <a:lnSpc>
                <a:spcPts val="5069"/>
              </a:lnSpc>
            </a:pP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28564" y="4095543"/>
            <a:ext cx="9133702" cy="8617511"/>
          </a:xfrm>
          <a:prstGeom prst="rect">
            <a:avLst/>
          </a:prstGeom>
        </p:spPr>
      </p:pic>
      <p:sp>
        <p:nvSpPr>
          <p:cNvPr name="TextBox 3" id="3"/>
          <p:cNvSpPr txBox="true"/>
          <p:nvPr/>
        </p:nvSpPr>
        <p:spPr>
          <a:xfrm rot="0">
            <a:off x="189798" y="2564184"/>
            <a:ext cx="6436125" cy="2190750"/>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Phỏng vấn (Interviews)</a:t>
            </a:r>
          </a:p>
        </p:txBody>
      </p:sp>
      <p:grpSp>
        <p:nvGrpSpPr>
          <p:cNvPr name="Group 4" id="4"/>
          <p:cNvGrpSpPr/>
          <p:nvPr/>
        </p:nvGrpSpPr>
        <p:grpSpPr>
          <a:xfrm rot="0">
            <a:off x="6625923" y="0"/>
            <a:ext cx="10633377" cy="2185663"/>
            <a:chOff x="0" y="0"/>
            <a:chExt cx="14177836" cy="2914217"/>
          </a:xfrm>
        </p:grpSpPr>
        <p:grpSp>
          <p:nvGrpSpPr>
            <p:cNvPr name="Group 5" id="5"/>
            <p:cNvGrpSpPr/>
            <p:nvPr/>
          </p:nvGrpSpPr>
          <p:grpSpPr>
            <a:xfrm rot="0">
              <a:off x="0" y="0"/>
              <a:ext cx="14177836" cy="2914217"/>
              <a:chOff x="0" y="0"/>
              <a:chExt cx="5364342" cy="1102626"/>
            </a:xfrm>
          </p:grpSpPr>
          <p:sp>
            <p:nvSpPr>
              <p:cNvPr name="Freeform 6" id="6"/>
              <p:cNvSpPr/>
              <p:nvPr/>
            </p:nvSpPr>
            <p:spPr>
              <a:xfrm flipH="false" flipV="false" rot="0">
                <a:off x="0" y="0"/>
                <a:ext cx="5364342" cy="1102627"/>
              </a:xfrm>
              <a:custGeom>
                <a:avLst/>
                <a:gdLst/>
                <a:ahLst/>
                <a:cxnLst/>
                <a:rect r="r" b="b" t="t" l="l"/>
                <a:pathLst>
                  <a:path h="1102627" w="5364342">
                    <a:moveTo>
                      <a:pt x="5239882" y="1102626"/>
                    </a:moveTo>
                    <a:lnTo>
                      <a:pt x="124460" y="1102626"/>
                    </a:lnTo>
                    <a:cubicBezTo>
                      <a:pt x="55880" y="1102626"/>
                      <a:pt x="0" y="1046746"/>
                      <a:pt x="0" y="978166"/>
                    </a:cubicBezTo>
                    <a:lnTo>
                      <a:pt x="0" y="124460"/>
                    </a:lnTo>
                    <a:cubicBezTo>
                      <a:pt x="0" y="55880"/>
                      <a:pt x="55880" y="0"/>
                      <a:pt x="124460" y="0"/>
                    </a:cubicBezTo>
                    <a:lnTo>
                      <a:pt x="5239882" y="0"/>
                    </a:lnTo>
                    <a:cubicBezTo>
                      <a:pt x="5308462" y="0"/>
                      <a:pt x="5364342" y="55880"/>
                      <a:pt x="5364342" y="124460"/>
                    </a:cubicBezTo>
                    <a:lnTo>
                      <a:pt x="5364342" y="978167"/>
                    </a:lnTo>
                    <a:cubicBezTo>
                      <a:pt x="5364342" y="1046746"/>
                      <a:pt x="5308462" y="1102627"/>
                      <a:pt x="5239882" y="1102627"/>
                    </a:cubicBezTo>
                    <a:close/>
                  </a:path>
                </a:pathLst>
              </a:custGeom>
              <a:solidFill>
                <a:srgbClr val="D8A1A6"/>
              </a:solidFill>
            </p:spPr>
          </p:sp>
        </p:grpSp>
        <p:sp>
          <p:nvSpPr>
            <p:cNvPr name="TextBox 7" id="7"/>
            <p:cNvSpPr txBox="true"/>
            <p:nvPr/>
          </p:nvSpPr>
          <p:spPr>
            <a:xfrm rot="0">
              <a:off x="916793" y="250832"/>
              <a:ext cx="12079533" cy="710840"/>
            </a:xfrm>
            <a:prstGeom prst="rect">
              <a:avLst/>
            </a:prstGeom>
          </p:spPr>
          <p:txBody>
            <a:bodyPr anchor="t" rtlCol="false" tIns="0" lIns="0" bIns="0" rIns="0">
              <a:spAutoFit/>
            </a:bodyPr>
            <a:lstStyle/>
            <a:p>
              <a:pPr algn="l">
                <a:lnSpc>
                  <a:spcPts val="4395"/>
                </a:lnSpc>
              </a:pPr>
              <a:r>
                <a:rPr lang="en-US" sz="3381">
                  <a:solidFill>
                    <a:srgbClr val="000000"/>
                  </a:solidFill>
                  <a:latin typeface="Baloo"/>
                  <a:ea typeface="Baloo"/>
                  <a:cs typeface="Baloo"/>
                  <a:sym typeface="Baloo"/>
                </a:rPr>
                <a:t>Đặc trưng:</a:t>
              </a:r>
            </a:p>
          </p:txBody>
        </p:sp>
      </p:grpSp>
      <p:grpSp>
        <p:nvGrpSpPr>
          <p:cNvPr name="Group 8" id="8"/>
          <p:cNvGrpSpPr/>
          <p:nvPr/>
        </p:nvGrpSpPr>
        <p:grpSpPr>
          <a:xfrm rot="0">
            <a:off x="6625923" y="2404561"/>
            <a:ext cx="10633377" cy="4140252"/>
            <a:chOff x="0" y="0"/>
            <a:chExt cx="14177836" cy="5520336"/>
          </a:xfrm>
        </p:grpSpPr>
        <p:grpSp>
          <p:nvGrpSpPr>
            <p:cNvPr name="Group 9" id="9"/>
            <p:cNvGrpSpPr/>
            <p:nvPr/>
          </p:nvGrpSpPr>
          <p:grpSpPr>
            <a:xfrm rot="0">
              <a:off x="0" y="0"/>
              <a:ext cx="14177836" cy="5520336"/>
              <a:chOff x="0" y="0"/>
              <a:chExt cx="5265430" cy="2050168"/>
            </a:xfrm>
          </p:grpSpPr>
          <p:sp>
            <p:nvSpPr>
              <p:cNvPr name="Freeform 10" id="10"/>
              <p:cNvSpPr/>
              <p:nvPr/>
            </p:nvSpPr>
            <p:spPr>
              <a:xfrm flipH="false" flipV="false" rot="0">
                <a:off x="0" y="0"/>
                <a:ext cx="5265431" cy="2050168"/>
              </a:xfrm>
              <a:custGeom>
                <a:avLst/>
                <a:gdLst/>
                <a:ahLst/>
                <a:cxnLst/>
                <a:rect r="r" b="b" t="t" l="l"/>
                <a:pathLst>
                  <a:path h="2050168" w="5265431">
                    <a:moveTo>
                      <a:pt x="5140970" y="2050168"/>
                    </a:moveTo>
                    <a:lnTo>
                      <a:pt x="124460" y="2050168"/>
                    </a:lnTo>
                    <a:cubicBezTo>
                      <a:pt x="55880" y="2050168"/>
                      <a:pt x="0" y="1994288"/>
                      <a:pt x="0" y="1925708"/>
                    </a:cubicBezTo>
                    <a:lnTo>
                      <a:pt x="0" y="124460"/>
                    </a:lnTo>
                    <a:cubicBezTo>
                      <a:pt x="0" y="55880"/>
                      <a:pt x="55880" y="0"/>
                      <a:pt x="124460" y="0"/>
                    </a:cubicBezTo>
                    <a:lnTo>
                      <a:pt x="5140970" y="0"/>
                    </a:lnTo>
                    <a:cubicBezTo>
                      <a:pt x="5209550" y="0"/>
                      <a:pt x="5265431" y="55880"/>
                      <a:pt x="5265431" y="124460"/>
                    </a:cubicBezTo>
                    <a:lnTo>
                      <a:pt x="5265431" y="1925708"/>
                    </a:lnTo>
                    <a:cubicBezTo>
                      <a:pt x="5265431" y="1994288"/>
                      <a:pt x="5209550" y="2050168"/>
                      <a:pt x="5140970" y="2050168"/>
                    </a:cubicBezTo>
                    <a:close/>
                  </a:path>
                </a:pathLst>
              </a:custGeom>
              <a:solidFill>
                <a:srgbClr val="D8A1A6"/>
              </a:solidFill>
            </p:spPr>
          </p:sp>
        </p:grpSp>
        <p:sp>
          <p:nvSpPr>
            <p:cNvPr name="TextBox 11" id="11"/>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2" id="12"/>
            <p:cNvSpPr txBox="true"/>
            <p:nvPr/>
          </p:nvSpPr>
          <p:spPr>
            <a:xfrm rot="0">
              <a:off x="916793" y="1275288"/>
              <a:ext cx="12344250" cy="3770985"/>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  Thu thập thông tin chi tiết, đa chiều từ người dùng.</a:t>
              </a:r>
            </a:p>
            <a:p>
              <a:pPr algn="l">
                <a:lnSpc>
                  <a:spcPts val="2835"/>
                </a:lnSpc>
              </a:pPr>
              <a:r>
                <a:rPr lang="en-US" sz="2181">
                  <a:solidFill>
                    <a:srgbClr val="000000"/>
                  </a:solidFill>
                  <a:latin typeface="Clear Sans"/>
                  <a:ea typeface="Clear Sans"/>
                  <a:cs typeface="Clear Sans"/>
                  <a:sym typeface="Clear Sans"/>
                </a:rPr>
                <a:t>·  Thích hợp cho mọi giai đoạn: hiểu hệ thống hiện tại, đề xuất cải tiến, hoặc xây dựng hệ thống mới.</a:t>
              </a:r>
            </a:p>
            <a:p>
              <a:pPr algn="l">
                <a:lnSpc>
                  <a:spcPts val="2835"/>
                </a:lnSpc>
              </a:pPr>
            </a:p>
            <a:p>
              <a:pPr algn="l">
                <a:lnSpc>
                  <a:spcPts val="2835"/>
                </a:lnSpc>
              </a:pPr>
            </a:p>
            <a:p>
              <a:pPr algn="l">
                <a:lnSpc>
                  <a:spcPts val="2835"/>
                </a:lnSpc>
              </a:pPr>
            </a:p>
            <a:p>
              <a:pPr algn="l">
                <a:lnSpc>
                  <a:spcPts val="2835"/>
                </a:lnSpc>
              </a:pPr>
            </a:p>
            <a:p>
              <a:pPr algn="l">
                <a:lnSpc>
                  <a:spcPts val="2835"/>
                </a:lnSpc>
              </a:pP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7375911" y="4436587"/>
            <a:ext cx="9524987" cy="1173480"/>
          </a:xfrm>
          <a:prstGeom prst="rect">
            <a:avLst/>
          </a:prstGeom>
        </p:spPr>
        <p:txBody>
          <a:bodyPr anchor="t" rtlCol="false" tIns="0" lIns="0" bIns="0" rIns="0">
            <a:spAutoFit/>
          </a:bodyPr>
          <a:lstStyle/>
          <a:p>
            <a:pPr algn="just">
              <a:lnSpc>
                <a:spcPts val="4680"/>
              </a:lnSpc>
            </a:pPr>
            <a:r>
              <a:rPr lang="en-US" sz="3600">
                <a:solidFill>
                  <a:srgbClr val="000000"/>
                </a:solidFill>
                <a:latin typeface="Baloo"/>
                <a:ea typeface="Baloo"/>
                <a:cs typeface="Baloo"/>
                <a:sym typeface="Baloo"/>
              </a:rPr>
              <a:t>Cách tiến hành</a:t>
            </a:r>
          </a:p>
          <a:p>
            <a:pPr algn="just">
              <a:lnSpc>
                <a:spcPts val="4680"/>
              </a:lnSpc>
              <a:spcBef>
                <a:spcPct val="0"/>
              </a:spcBef>
            </a:pPr>
          </a:p>
        </p:txBody>
      </p:sp>
      <p:sp>
        <p:nvSpPr>
          <p:cNvPr name="TextBox 15" id="15"/>
          <p:cNvSpPr txBox="true"/>
          <p:nvPr/>
        </p:nvSpPr>
        <p:spPr>
          <a:xfrm rot="0">
            <a:off x="7321938" y="4890469"/>
            <a:ext cx="10409035" cy="2020570"/>
          </a:xfrm>
          <a:prstGeom prst="rect">
            <a:avLst/>
          </a:prstGeom>
        </p:spPr>
        <p:txBody>
          <a:bodyPr anchor="t" rtlCol="false" tIns="0" lIns="0" bIns="0" rIns="0">
            <a:spAutoFit/>
          </a:bodyPr>
          <a:lstStyle/>
          <a:p>
            <a:pPr algn="l">
              <a:lnSpc>
                <a:spcPts val="2860"/>
              </a:lnSpc>
            </a:pPr>
            <a:r>
              <a:rPr lang="en-US" sz="2200">
                <a:solidFill>
                  <a:srgbClr val="000000"/>
                </a:solidFill>
                <a:latin typeface="Clear Sans"/>
                <a:ea typeface="Clear Sans"/>
                <a:cs typeface="Clear Sans"/>
                <a:sym typeface="Clear Sans"/>
              </a:rPr>
              <a:t>·  Chuẩn bị trước các câu hỏi (mở và đóng).</a:t>
            </a:r>
          </a:p>
          <a:p>
            <a:pPr algn="l">
              <a:lnSpc>
                <a:spcPts val="2860"/>
              </a:lnSpc>
            </a:pPr>
            <a:r>
              <a:rPr lang="en-US" sz="2200">
                <a:solidFill>
                  <a:srgbClr val="000000"/>
                </a:solidFill>
                <a:latin typeface="Clear Sans"/>
                <a:ea typeface="Clear Sans"/>
                <a:cs typeface="Clear Sans"/>
                <a:sym typeface="Clear Sans"/>
              </a:rPr>
              <a:t>·  Lên lịch phỏng vấn với các bên liên quan.</a:t>
            </a:r>
          </a:p>
          <a:p>
            <a:pPr algn="l">
              <a:lnSpc>
                <a:spcPts val="2860"/>
              </a:lnSpc>
            </a:pPr>
            <a:r>
              <a:rPr lang="en-US" sz="2200">
                <a:solidFill>
                  <a:srgbClr val="000000"/>
                </a:solidFill>
                <a:latin typeface="Clear Sans"/>
                <a:ea typeface="Clear Sans"/>
                <a:cs typeface="Clear Sans"/>
                <a:sym typeface="Clear Sans"/>
              </a:rPr>
              <a:t>·  Gặp gỡ, ghi chú hoặc ghi âm câu trả lời.</a:t>
            </a:r>
          </a:p>
          <a:p>
            <a:pPr algn="l">
              <a:lnSpc>
                <a:spcPts val="2860"/>
              </a:lnSpc>
            </a:pPr>
            <a:r>
              <a:rPr lang="en-US" sz="2200">
                <a:solidFill>
                  <a:srgbClr val="000000"/>
                </a:solidFill>
                <a:latin typeface="Clear Sans"/>
                <a:ea typeface="Clear Sans"/>
                <a:cs typeface="Clear Sans"/>
                <a:sym typeface="Clear Sans"/>
              </a:rPr>
              <a:t>·  Phân tích và tổng hợp thông tin sau phỏng vấn.</a:t>
            </a:r>
          </a:p>
          <a:p>
            <a:pPr algn="ctr">
              <a:lnSpc>
                <a:spcPts val="4680"/>
              </a:lnSpc>
              <a:spcBef>
                <a:spcPct val="0"/>
              </a:spcBef>
            </a:pPr>
          </a:p>
        </p:txBody>
      </p:sp>
      <p:grpSp>
        <p:nvGrpSpPr>
          <p:cNvPr name="Group 16" id="16"/>
          <p:cNvGrpSpPr/>
          <p:nvPr/>
        </p:nvGrpSpPr>
        <p:grpSpPr>
          <a:xfrm rot="0">
            <a:off x="6625923" y="6763888"/>
            <a:ext cx="10633377" cy="3475965"/>
            <a:chOff x="0" y="0"/>
            <a:chExt cx="14177836" cy="4634620"/>
          </a:xfrm>
        </p:grpSpPr>
        <p:grpSp>
          <p:nvGrpSpPr>
            <p:cNvPr name="Group 17" id="17"/>
            <p:cNvGrpSpPr/>
            <p:nvPr/>
          </p:nvGrpSpPr>
          <p:grpSpPr>
            <a:xfrm rot="0">
              <a:off x="0" y="0"/>
              <a:ext cx="14177836" cy="4634620"/>
              <a:chOff x="0" y="0"/>
              <a:chExt cx="5265430" cy="1721227"/>
            </a:xfrm>
          </p:grpSpPr>
          <p:sp>
            <p:nvSpPr>
              <p:cNvPr name="Freeform 18" id="18"/>
              <p:cNvSpPr/>
              <p:nvPr/>
            </p:nvSpPr>
            <p:spPr>
              <a:xfrm flipH="false" flipV="false" rot="0">
                <a:off x="0" y="0"/>
                <a:ext cx="5265431" cy="1721227"/>
              </a:xfrm>
              <a:custGeom>
                <a:avLst/>
                <a:gdLst/>
                <a:ahLst/>
                <a:cxnLst/>
                <a:rect r="r" b="b" t="t" l="l"/>
                <a:pathLst>
                  <a:path h="1721227" w="5265431">
                    <a:moveTo>
                      <a:pt x="5140970" y="1721227"/>
                    </a:moveTo>
                    <a:lnTo>
                      <a:pt x="124460" y="1721227"/>
                    </a:lnTo>
                    <a:cubicBezTo>
                      <a:pt x="55880" y="1721227"/>
                      <a:pt x="0" y="1665347"/>
                      <a:pt x="0" y="1596766"/>
                    </a:cubicBezTo>
                    <a:lnTo>
                      <a:pt x="0" y="124460"/>
                    </a:lnTo>
                    <a:cubicBezTo>
                      <a:pt x="0" y="55880"/>
                      <a:pt x="55880" y="0"/>
                      <a:pt x="124460" y="0"/>
                    </a:cubicBezTo>
                    <a:lnTo>
                      <a:pt x="5140970" y="0"/>
                    </a:lnTo>
                    <a:cubicBezTo>
                      <a:pt x="5209550" y="0"/>
                      <a:pt x="5265431" y="55880"/>
                      <a:pt x="5265431" y="124460"/>
                    </a:cubicBezTo>
                    <a:lnTo>
                      <a:pt x="5265431" y="1596767"/>
                    </a:lnTo>
                    <a:cubicBezTo>
                      <a:pt x="5265431" y="1665347"/>
                      <a:pt x="5209550" y="1721227"/>
                      <a:pt x="5140970" y="1721227"/>
                    </a:cubicBezTo>
                    <a:close/>
                  </a:path>
                </a:pathLst>
              </a:custGeom>
              <a:solidFill>
                <a:srgbClr val="D8A1A6"/>
              </a:solidFill>
            </p:spPr>
          </p:sp>
        </p:grpSp>
        <p:sp>
          <p:nvSpPr>
            <p:cNvPr name="TextBox 19" id="19"/>
            <p:cNvSpPr txBox="true"/>
            <p:nvPr/>
          </p:nvSpPr>
          <p:spPr>
            <a:xfrm rot="0">
              <a:off x="916793" y="265606"/>
              <a:ext cx="12079533" cy="715854"/>
            </a:xfrm>
            <a:prstGeom prst="rect">
              <a:avLst/>
            </a:prstGeom>
          </p:spPr>
          <p:txBody>
            <a:bodyPr anchor="t" rtlCol="false" tIns="0" lIns="0" bIns="0" rIns="0">
              <a:spAutoFit/>
            </a:bodyPr>
            <a:lstStyle/>
            <a:p>
              <a:pPr algn="l">
                <a:lnSpc>
                  <a:spcPts val="4443"/>
                </a:lnSpc>
              </a:pPr>
              <a:r>
                <a:rPr lang="en-US" sz="3444">
                  <a:solidFill>
                    <a:srgbClr val="000000"/>
                  </a:solidFill>
                  <a:latin typeface="Baloo"/>
                  <a:ea typeface="Baloo"/>
                  <a:cs typeface="Baloo"/>
                  <a:sym typeface="Baloo"/>
                </a:rPr>
                <a:t>Ưu, nhược điểm:</a:t>
              </a:r>
            </a:p>
          </p:txBody>
        </p:sp>
        <p:sp>
          <p:nvSpPr>
            <p:cNvPr name="TextBox 20" id="20"/>
            <p:cNvSpPr txBox="true"/>
            <p:nvPr/>
          </p:nvSpPr>
          <p:spPr>
            <a:xfrm rot="0">
              <a:off x="916793" y="1277011"/>
              <a:ext cx="12344250" cy="2883546"/>
            </a:xfrm>
            <a:prstGeom prst="rect">
              <a:avLst/>
            </a:prstGeom>
          </p:spPr>
          <p:txBody>
            <a:bodyPr anchor="t" rtlCol="false" tIns="0" lIns="0" bIns="0" rIns="0">
              <a:spAutoFit/>
            </a:bodyPr>
            <a:lstStyle/>
            <a:p>
              <a:pPr algn="l">
                <a:lnSpc>
                  <a:spcPts val="2857"/>
                </a:lnSpc>
              </a:pPr>
              <a:r>
                <a:rPr lang="en-US" sz="2181">
                  <a:solidFill>
                    <a:srgbClr val="000000"/>
                  </a:solidFill>
                  <a:latin typeface="Clear Sans"/>
                  <a:ea typeface="Clear Sans"/>
                  <a:cs typeface="Clear Sans"/>
                  <a:sym typeface="Clear Sans"/>
                </a:rPr>
                <a:t>·  Cung cấp thông tin phong phú và chi tiết.</a:t>
              </a:r>
            </a:p>
            <a:p>
              <a:pPr algn="l">
                <a:lnSpc>
                  <a:spcPts val="2857"/>
                </a:lnSpc>
              </a:pPr>
              <a:r>
                <a:rPr lang="en-US" sz="2181">
                  <a:solidFill>
                    <a:srgbClr val="000000"/>
                  </a:solidFill>
                  <a:latin typeface="Clear Sans"/>
                  <a:ea typeface="Clear Sans"/>
                  <a:cs typeface="Clear Sans"/>
                  <a:sym typeface="Clear Sans"/>
                </a:rPr>
                <a:t>·  Hiểu rõ lý do đằng sau yêu cầu hoặc vấn đề.</a:t>
              </a:r>
            </a:p>
            <a:p>
              <a:pPr algn="l">
                <a:lnSpc>
                  <a:spcPts val="2857"/>
                </a:lnSpc>
              </a:pPr>
            </a:p>
            <a:p>
              <a:pPr algn="l">
                <a:lnSpc>
                  <a:spcPts val="2857"/>
                </a:lnSpc>
              </a:pPr>
              <a:r>
                <a:rPr lang="en-US" sz="2181">
                  <a:solidFill>
                    <a:srgbClr val="000000"/>
                  </a:solidFill>
                  <a:latin typeface="Clear Sans"/>
                  <a:ea typeface="Clear Sans"/>
                  <a:cs typeface="Clear Sans"/>
                  <a:sym typeface="Clear Sans"/>
                </a:rPr>
                <a:t>·  Tốn thời gian khi phải phỏng vấn nhiều người.</a:t>
              </a:r>
            </a:p>
            <a:p>
              <a:pPr algn="l">
                <a:lnSpc>
                  <a:spcPts val="2857"/>
                </a:lnSpc>
              </a:pPr>
              <a:r>
                <a:rPr lang="en-US" sz="2181">
                  <a:solidFill>
                    <a:srgbClr val="000000"/>
                  </a:solidFill>
                  <a:latin typeface="Clear Sans"/>
                  <a:ea typeface="Clear Sans"/>
                  <a:cs typeface="Clear Sans"/>
                  <a:sym typeface="Clear Sans"/>
                </a:rPr>
                <a:t>·  Khó tích hợp thông tin từ nhiều người khác nhau.</a:t>
              </a:r>
            </a:p>
            <a:p>
              <a:pPr algn="l">
                <a:lnSpc>
                  <a:spcPts val="2857"/>
                </a:lnSpc>
              </a:pPr>
              <a:r>
                <a:rPr lang="en-US" sz="2181">
                  <a:solidFill>
                    <a:srgbClr val="000000"/>
                  </a:solidFill>
                  <a:latin typeface="Clear Sans"/>
                  <a:ea typeface="Clear Sans"/>
                  <a:cs typeface="Clear Sans"/>
                  <a:sym typeface="Clear Sans"/>
                </a:rPr>
                <a:t>·  Yêu cầu kỹ năng giao tiếp tốt từ nhà phân tích.</a:t>
              </a:r>
            </a:p>
          </p:txBody>
        </p:sp>
      </p:grpSp>
      <p:sp>
        <p:nvSpPr>
          <p:cNvPr name="TextBox 21" id="21"/>
          <p:cNvSpPr txBox="true"/>
          <p:nvPr/>
        </p:nvSpPr>
        <p:spPr>
          <a:xfrm rot="0">
            <a:off x="7321938" y="895771"/>
            <a:ext cx="9632932" cy="107696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  Gặp trực tiếp hoặc trực tuyến với các bên liên quan để thu thập thông tin.</a:t>
            </a:r>
          </a:p>
          <a:p>
            <a:pPr algn="just">
              <a:lnSpc>
                <a:spcPts val="2860"/>
              </a:lnSpc>
            </a:pPr>
            <a:r>
              <a:rPr lang="en-US" sz="2200">
                <a:solidFill>
                  <a:srgbClr val="000000"/>
                </a:solidFill>
                <a:latin typeface="Clear Sans"/>
                <a:ea typeface="Clear Sans"/>
                <a:cs typeface="Clear Sans"/>
                <a:sym typeface="Clear Sans"/>
              </a:rPr>
              <a:t>·  Cung cấp thông tin chi tiết và lý do đằng sau các yêu cầu.</a:t>
            </a:r>
          </a:p>
          <a:p>
            <a:pPr algn="just">
              <a:lnSpc>
                <a:spcPts val="2860"/>
              </a:lnSpc>
            </a:pPr>
          </a:p>
        </p:txBody>
      </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28564" y="4095543"/>
            <a:ext cx="9133702" cy="8617511"/>
          </a:xfrm>
          <a:prstGeom prst="rect">
            <a:avLst/>
          </a:prstGeom>
        </p:spPr>
      </p:pic>
      <p:sp>
        <p:nvSpPr>
          <p:cNvPr name="TextBox 3" id="3"/>
          <p:cNvSpPr txBox="true"/>
          <p:nvPr/>
        </p:nvSpPr>
        <p:spPr>
          <a:xfrm rot="0">
            <a:off x="189798" y="2242364"/>
            <a:ext cx="6436125" cy="4381500"/>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Phân tích tài liệu (Document Analysis)</a:t>
            </a:r>
          </a:p>
          <a:p>
            <a:pPr algn="l">
              <a:lnSpc>
                <a:spcPts val="8640"/>
              </a:lnSpc>
            </a:pPr>
          </a:p>
        </p:txBody>
      </p:sp>
      <p:grpSp>
        <p:nvGrpSpPr>
          <p:cNvPr name="Group 4" id="4"/>
          <p:cNvGrpSpPr/>
          <p:nvPr/>
        </p:nvGrpSpPr>
        <p:grpSpPr>
          <a:xfrm rot="0">
            <a:off x="6625923" y="0"/>
            <a:ext cx="10633377" cy="2183474"/>
            <a:chOff x="0" y="0"/>
            <a:chExt cx="14177836" cy="2911299"/>
          </a:xfrm>
        </p:grpSpPr>
        <p:grpSp>
          <p:nvGrpSpPr>
            <p:cNvPr name="Group 5" id="5"/>
            <p:cNvGrpSpPr/>
            <p:nvPr/>
          </p:nvGrpSpPr>
          <p:grpSpPr>
            <a:xfrm rot="0">
              <a:off x="0" y="0"/>
              <a:ext cx="14177836" cy="2911299"/>
              <a:chOff x="0" y="0"/>
              <a:chExt cx="5364342" cy="1101522"/>
            </a:xfrm>
          </p:grpSpPr>
          <p:sp>
            <p:nvSpPr>
              <p:cNvPr name="Freeform 6" id="6"/>
              <p:cNvSpPr/>
              <p:nvPr/>
            </p:nvSpPr>
            <p:spPr>
              <a:xfrm flipH="false" flipV="false" rot="0">
                <a:off x="0" y="0"/>
                <a:ext cx="5364342" cy="1101522"/>
              </a:xfrm>
              <a:custGeom>
                <a:avLst/>
                <a:gdLst/>
                <a:ahLst/>
                <a:cxnLst/>
                <a:rect r="r" b="b" t="t" l="l"/>
                <a:pathLst>
                  <a:path h="1101522" w="5364342">
                    <a:moveTo>
                      <a:pt x="5239882" y="1101522"/>
                    </a:moveTo>
                    <a:lnTo>
                      <a:pt x="124460" y="1101522"/>
                    </a:lnTo>
                    <a:cubicBezTo>
                      <a:pt x="55880" y="1101522"/>
                      <a:pt x="0" y="1045642"/>
                      <a:pt x="0" y="977062"/>
                    </a:cubicBezTo>
                    <a:lnTo>
                      <a:pt x="0" y="124460"/>
                    </a:lnTo>
                    <a:cubicBezTo>
                      <a:pt x="0" y="55880"/>
                      <a:pt x="55880" y="0"/>
                      <a:pt x="124460" y="0"/>
                    </a:cubicBezTo>
                    <a:lnTo>
                      <a:pt x="5239882" y="0"/>
                    </a:lnTo>
                    <a:cubicBezTo>
                      <a:pt x="5308462" y="0"/>
                      <a:pt x="5364342" y="55880"/>
                      <a:pt x="5364342" y="124460"/>
                    </a:cubicBezTo>
                    <a:lnTo>
                      <a:pt x="5364342" y="977062"/>
                    </a:lnTo>
                    <a:cubicBezTo>
                      <a:pt x="5364342" y="1045642"/>
                      <a:pt x="5308462" y="1101522"/>
                      <a:pt x="5239882" y="1101522"/>
                    </a:cubicBezTo>
                    <a:close/>
                  </a:path>
                </a:pathLst>
              </a:custGeom>
              <a:solidFill>
                <a:srgbClr val="D8A1A6"/>
              </a:solidFill>
            </p:spPr>
          </p:sp>
        </p:grpSp>
        <p:sp>
          <p:nvSpPr>
            <p:cNvPr name="TextBox 7" id="7"/>
            <p:cNvSpPr txBox="true"/>
            <p:nvPr/>
          </p:nvSpPr>
          <p:spPr>
            <a:xfrm rot="0">
              <a:off x="916793" y="250832"/>
              <a:ext cx="12079533" cy="707922"/>
            </a:xfrm>
            <a:prstGeom prst="rect">
              <a:avLst/>
            </a:prstGeom>
          </p:spPr>
          <p:txBody>
            <a:bodyPr anchor="t" rtlCol="false" tIns="0" lIns="0" bIns="0" rIns="0">
              <a:spAutoFit/>
            </a:bodyPr>
            <a:lstStyle/>
            <a:p>
              <a:pPr algn="just">
                <a:lnSpc>
                  <a:spcPts val="4395"/>
                </a:lnSpc>
              </a:pPr>
              <a:r>
                <a:rPr lang="en-US" sz="3381">
                  <a:solidFill>
                    <a:srgbClr val="000000"/>
                  </a:solidFill>
                  <a:latin typeface="Baloo"/>
                  <a:ea typeface="Baloo"/>
                  <a:cs typeface="Baloo"/>
                  <a:sym typeface="Baloo"/>
                </a:rPr>
                <a:t>Đặc trưng:</a:t>
              </a:r>
            </a:p>
          </p:txBody>
        </p:sp>
      </p:grpSp>
      <p:grpSp>
        <p:nvGrpSpPr>
          <p:cNvPr name="Group 8" id="8"/>
          <p:cNvGrpSpPr/>
          <p:nvPr/>
        </p:nvGrpSpPr>
        <p:grpSpPr>
          <a:xfrm rot="0">
            <a:off x="6625923" y="2404561"/>
            <a:ext cx="10633377" cy="4140252"/>
            <a:chOff x="0" y="0"/>
            <a:chExt cx="14177836" cy="5520336"/>
          </a:xfrm>
        </p:grpSpPr>
        <p:grpSp>
          <p:nvGrpSpPr>
            <p:cNvPr name="Group 9" id="9"/>
            <p:cNvGrpSpPr/>
            <p:nvPr/>
          </p:nvGrpSpPr>
          <p:grpSpPr>
            <a:xfrm rot="0">
              <a:off x="0" y="0"/>
              <a:ext cx="14177836" cy="5520336"/>
              <a:chOff x="0" y="0"/>
              <a:chExt cx="5265430" cy="2050168"/>
            </a:xfrm>
          </p:grpSpPr>
          <p:sp>
            <p:nvSpPr>
              <p:cNvPr name="Freeform 10" id="10"/>
              <p:cNvSpPr/>
              <p:nvPr/>
            </p:nvSpPr>
            <p:spPr>
              <a:xfrm flipH="false" flipV="false" rot="0">
                <a:off x="0" y="0"/>
                <a:ext cx="5265431" cy="2050168"/>
              </a:xfrm>
              <a:custGeom>
                <a:avLst/>
                <a:gdLst/>
                <a:ahLst/>
                <a:cxnLst/>
                <a:rect r="r" b="b" t="t" l="l"/>
                <a:pathLst>
                  <a:path h="2050168" w="5265431">
                    <a:moveTo>
                      <a:pt x="5140970" y="2050168"/>
                    </a:moveTo>
                    <a:lnTo>
                      <a:pt x="124460" y="2050168"/>
                    </a:lnTo>
                    <a:cubicBezTo>
                      <a:pt x="55880" y="2050168"/>
                      <a:pt x="0" y="1994288"/>
                      <a:pt x="0" y="1925708"/>
                    </a:cubicBezTo>
                    <a:lnTo>
                      <a:pt x="0" y="124460"/>
                    </a:lnTo>
                    <a:cubicBezTo>
                      <a:pt x="0" y="55880"/>
                      <a:pt x="55880" y="0"/>
                      <a:pt x="124460" y="0"/>
                    </a:cubicBezTo>
                    <a:lnTo>
                      <a:pt x="5140970" y="0"/>
                    </a:lnTo>
                    <a:cubicBezTo>
                      <a:pt x="5209550" y="0"/>
                      <a:pt x="5265431" y="55880"/>
                      <a:pt x="5265431" y="124460"/>
                    </a:cubicBezTo>
                    <a:lnTo>
                      <a:pt x="5265431" y="1925708"/>
                    </a:lnTo>
                    <a:cubicBezTo>
                      <a:pt x="5265431" y="1994288"/>
                      <a:pt x="5209550" y="2050168"/>
                      <a:pt x="5140970" y="2050168"/>
                    </a:cubicBezTo>
                    <a:close/>
                  </a:path>
                </a:pathLst>
              </a:custGeom>
              <a:solidFill>
                <a:srgbClr val="D8A1A6"/>
              </a:solidFill>
            </p:spPr>
          </p:sp>
        </p:grpSp>
        <p:sp>
          <p:nvSpPr>
            <p:cNvPr name="TextBox 11" id="11"/>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2" id="12"/>
            <p:cNvSpPr txBox="true"/>
            <p:nvPr/>
          </p:nvSpPr>
          <p:spPr>
            <a:xfrm rot="0">
              <a:off x="916793" y="1275288"/>
              <a:ext cx="12344250" cy="3770985"/>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  Khi có tài liệu mô tả chi tiết hệ thống hiện tại hoặc các yêu cầu trước đó.</a:t>
              </a:r>
            </a:p>
            <a:p>
              <a:pPr algn="l">
                <a:lnSpc>
                  <a:spcPts val="2835"/>
                </a:lnSpc>
              </a:pPr>
              <a:r>
                <a:rPr lang="en-US" sz="2181">
                  <a:solidFill>
                    <a:srgbClr val="000000"/>
                  </a:solidFill>
                  <a:latin typeface="Clear Sans"/>
                  <a:ea typeface="Clear Sans"/>
                  <a:cs typeface="Clear Sans"/>
                  <a:sym typeface="Clear Sans"/>
                </a:rPr>
                <a:t>Phù hợp với giai đoạn phân tích hệ thống hiện tại (as-is).</a:t>
              </a:r>
            </a:p>
            <a:p>
              <a:pPr algn="l">
                <a:lnSpc>
                  <a:spcPts val="2835"/>
                </a:lnSpc>
              </a:pPr>
            </a:p>
            <a:p>
              <a:pPr algn="l">
                <a:lnSpc>
                  <a:spcPts val="2835"/>
                </a:lnSpc>
              </a:pPr>
            </a:p>
            <a:p>
              <a:pPr algn="l">
                <a:lnSpc>
                  <a:spcPts val="2835"/>
                </a:lnSpc>
              </a:pPr>
              <a:r>
                <a:rPr lang="en-US" sz="2181">
                  <a:solidFill>
                    <a:srgbClr val="000000"/>
                  </a:solidFill>
                  <a:latin typeface="Clear Sans"/>
                  <a:ea typeface="Clear Sans"/>
                  <a:cs typeface="Clear Sans"/>
                  <a:sym typeface="Clear Sans"/>
                </a:rPr>
                <a:t>·  Thu thập tài liệu từ các nguồn đáng tin cậy.</a:t>
              </a:r>
            </a:p>
            <a:p>
              <a:pPr algn="l">
                <a:lnSpc>
                  <a:spcPts val="2835"/>
                </a:lnSpc>
              </a:pPr>
              <a:r>
                <a:rPr lang="en-US" sz="2181">
                  <a:solidFill>
                    <a:srgbClr val="000000"/>
                  </a:solidFill>
                  <a:latin typeface="Clear Sans"/>
                  <a:ea typeface="Clear Sans"/>
                  <a:cs typeface="Clear Sans"/>
                  <a:sym typeface="Clear Sans"/>
                </a:rPr>
                <a:t>·  Đọc và ghi chú các thông tin quan trọng, xác định các lỗ hổng, mâu thuẫn hoặc phần thiếu sót.</a:t>
              </a:r>
            </a:p>
            <a:p>
              <a:pPr algn="l">
                <a:lnSpc>
                  <a:spcPts val="2835"/>
                </a:lnSpc>
              </a:pPr>
              <a:r>
                <a:rPr lang="en-US" sz="2181">
                  <a:solidFill>
                    <a:srgbClr val="000000"/>
                  </a:solidFill>
                  <a:latin typeface="Clear Sans"/>
                  <a:ea typeface="Clear Sans"/>
                  <a:cs typeface="Clear Sans"/>
                  <a:sym typeface="Clear Sans"/>
                </a:rPr>
                <a:t>·  Hệ thống hóa thông tin thu thập được.</a:t>
              </a: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6625923" y="6682753"/>
            <a:ext cx="10633377" cy="3558481"/>
            <a:chOff x="0" y="0"/>
            <a:chExt cx="14177836" cy="4744641"/>
          </a:xfrm>
        </p:grpSpPr>
        <p:grpSp>
          <p:nvGrpSpPr>
            <p:cNvPr name="Group 15" id="15"/>
            <p:cNvGrpSpPr/>
            <p:nvPr/>
          </p:nvGrpSpPr>
          <p:grpSpPr>
            <a:xfrm rot="0">
              <a:off x="0" y="0"/>
              <a:ext cx="14177836" cy="4744641"/>
              <a:chOff x="0" y="0"/>
              <a:chExt cx="5606795" cy="1876325"/>
            </a:xfrm>
          </p:grpSpPr>
          <p:sp>
            <p:nvSpPr>
              <p:cNvPr name="Freeform 16" id="16"/>
              <p:cNvSpPr/>
              <p:nvPr/>
            </p:nvSpPr>
            <p:spPr>
              <a:xfrm flipH="false" flipV="false" rot="0">
                <a:off x="0" y="0"/>
                <a:ext cx="5606795" cy="1876325"/>
              </a:xfrm>
              <a:custGeom>
                <a:avLst/>
                <a:gdLst/>
                <a:ahLst/>
                <a:cxnLst/>
                <a:rect r="r" b="b" t="t" l="l"/>
                <a:pathLst>
                  <a:path h="1876325" w="5606795">
                    <a:moveTo>
                      <a:pt x="5482335" y="1876325"/>
                    </a:moveTo>
                    <a:lnTo>
                      <a:pt x="124460" y="1876325"/>
                    </a:lnTo>
                    <a:cubicBezTo>
                      <a:pt x="55880" y="1876325"/>
                      <a:pt x="0" y="1820445"/>
                      <a:pt x="0" y="1751865"/>
                    </a:cubicBezTo>
                    <a:lnTo>
                      <a:pt x="0" y="124460"/>
                    </a:lnTo>
                    <a:cubicBezTo>
                      <a:pt x="0" y="55880"/>
                      <a:pt x="55880" y="0"/>
                      <a:pt x="124460" y="0"/>
                    </a:cubicBezTo>
                    <a:lnTo>
                      <a:pt x="5482335" y="0"/>
                    </a:lnTo>
                    <a:cubicBezTo>
                      <a:pt x="5550915" y="0"/>
                      <a:pt x="5606795" y="55880"/>
                      <a:pt x="5606795" y="124460"/>
                    </a:cubicBezTo>
                    <a:lnTo>
                      <a:pt x="5606795" y="1751865"/>
                    </a:lnTo>
                    <a:cubicBezTo>
                      <a:pt x="5606795" y="1820445"/>
                      <a:pt x="5550915" y="1876325"/>
                      <a:pt x="5482335" y="1876325"/>
                    </a:cubicBezTo>
                    <a:close/>
                  </a:path>
                </a:pathLst>
              </a:custGeom>
              <a:solidFill>
                <a:srgbClr val="D8A1A6"/>
              </a:solidFill>
            </p:spPr>
          </p:sp>
        </p:grpSp>
        <p:sp>
          <p:nvSpPr>
            <p:cNvPr name="TextBox 17" id="17"/>
            <p:cNvSpPr txBox="true"/>
            <p:nvPr/>
          </p:nvSpPr>
          <p:spPr>
            <a:xfrm rot="0">
              <a:off x="916793" y="229225"/>
              <a:ext cx="12079533" cy="692480"/>
            </a:xfrm>
            <a:prstGeom prst="rect">
              <a:avLst/>
            </a:prstGeom>
          </p:spPr>
          <p:txBody>
            <a:bodyPr anchor="t" rtlCol="false" tIns="0" lIns="0" bIns="0" rIns="0">
              <a:spAutoFit/>
            </a:bodyPr>
            <a:lstStyle/>
            <a:p>
              <a:pPr algn="l">
                <a:lnSpc>
                  <a:spcPts val="4172"/>
                </a:lnSpc>
              </a:pPr>
              <a:r>
                <a:rPr lang="en-US" sz="3234">
                  <a:solidFill>
                    <a:srgbClr val="000000"/>
                  </a:solidFill>
                  <a:latin typeface="Baloo"/>
                  <a:ea typeface="Baloo"/>
                  <a:cs typeface="Baloo"/>
                  <a:sym typeface="Baloo"/>
                </a:rPr>
                <a:t>Ưu, nhược điểm:</a:t>
              </a:r>
            </a:p>
          </p:txBody>
        </p:sp>
        <p:sp>
          <p:nvSpPr>
            <p:cNvPr name="TextBox 18" id="18"/>
            <p:cNvSpPr txBox="true"/>
            <p:nvPr/>
          </p:nvSpPr>
          <p:spPr>
            <a:xfrm rot="0">
              <a:off x="916793" y="1207046"/>
              <a:ext cx="12344250" cy="3092395"/>
            </a:xfrm>
            <a:prstGeom prst="rect">
              <a:avLst/>
            </a:prstGeom>
          </p:spPr>
          <p:txBody>
            <a:bodyPr anchor="t" rtlCol="false" tIns="0" lIns="0" bIns="0" rIns="0">
              <a:spAutoFit/>
            </a:bodyPr>
            <a:lstStyle/>
            <a:p>
              <a:pPr algn="l">
                <a:lnSpc>
                  <a:spcPts val="2683"/>
                </a:lnSpc>
              </a:pPr>
              <a:r>
                <a:rPr lang="en-US" sz="2048">
                  <a:solidFill>
                    <a:srgbClr val="000000"/>
                  </a:solidFill>
                  <a:latin typeface="Clear Sans"/>
                  <a:ea typeface="Clear Sans"/>
                  <a:cs typeface="Clear Sans"/>
                  <a:sym typeface="Clear Sans"/>
                </a:rPr>
                <a:t>·  Chi phí thấp.</a:t>
              </a:r>
            </a:p>
            <a:p>
              <a:pPr algn="l">
                <a:lnSpc>
                  <a:spcPts val="2683"/>
                </a:lnSpc>
              </a:pPr>
              <a:r>
                <a:rPr lang="en-US" sz="2048">
                  <a:solidFill>
                    <a:srgbClr val="000000"/>
                  </a:solidFill>
                  <a:latin typeface="Clear Sans"/>
                  <a:ea typeface="Clear Sans"/>
                  <a:cs typeface="Clear Sans"/>
                  <a:sym typeface="Clear Sans"/>
                </a:rPr>
                <a:t>·  Cung cấp dữ liệu thực tế và đáng tin cậy.</a:t>
              </a:r>
            </a:p>
            <a:p>
              <a:pPr algn="l">
                <a:lnSpc>
                  <a:spcPts val="2683"/>
                </a:lnSpc>
              </a:pPr>
              <a:r>
                <a:rPr lang="en-US" sz="2048">
                  <a:solidFill>
                    <a:srgbClr val="000000"/>
                  </a:solidFill>
                  <a:latin typeface="Clear Sans"/>
                  <a:ea typeface="Clear Sans"/>
                  <a:cs typeface="Clear Sans"/>
                  <a:sym typeface="Clear Sans"/>
                </a:rPr>
                <a:t>·  Không cần sự tham gia trực tiếp của người dùng.</a:t>
              </a:r>
            </a:p>
            <a:p>
              <a:pPr algn="l">
                <a:lnSpc>
                  <a:spcPts val="2683"/>
                </a:lnSpc>
              </a:pPr>
            </a:p>
            <a:p>
              <a:pPr algn="l">
                <a:lnSpc>
                  <a:spcPts val="2683"/>
                </a:lnSpc>
              </a:pPr>
              <a:r>
                <a:rPr lang="en-US" sz="2048">
                  <a:solidFill>
                    <a:srgbClr val="000000"/>
                  </a:solidFill>
                  <a:latin typeface="Clear Sans"/>
                  <a:ea typeface="Clear Sans"/>
                  <a:cs typeface="Clear Sans"/>
                  <a:sym typeface="Clear Sans"/>
                </a:rPr>
                <a:t>·  Thông tin chỉ giới hạn trong tài liệu.</a:t>
              </a:r>
            </a:p>
            <a:p>
              <a:pPr algn="l">
                <a:lnSpc>
                  <a:spcPts val="2683"/>
                </a:lnSpc>
              </a:pPr>
              <a:r>
                <a:rPr lang="en-US" sz="2048">
                  <a:solidFill>
                    <a:srgbClr val="000000"/>
                  </a:solidFill>
                  <a:latin typeface="Clear Sans"/>
                  <a:ea typeface="Clear Sans"/>
                  <a:cs typeface="Clear Sans"/>
                  <a:sym typeface="Clear Sans"/>
                </a:rPr>
                <a:t>·  Không giải thích được lý do đằng sau các thông tin.</a:t>
              </a:r>
            </a:p>
            <a:p>
              <a:pPr algn="l">
                <a:lnSpc>
                  <a:spcPts val="2683"/>
                </a:lnSpc>
              </a:pPr>
              <a:r>
                <a:rPr lang="en-US" sz="2048">
                  <a:solidFill>
                    <a:srgbClr val="000000"/>
                  </a:solidFill>
                  <a:latin typeface="Clear Sans"/>
                  <a:ea typeface="Clear Sans"/>
                  <a:cs typeface="Clear Sans"/>
                  <a:sym typeface="Clear Sans"/>
                </a:rPr>
                <a:t>·  Có thể lỗi thời hoặc không đầy đủ.</a:t>
              </a:r>
            </a:p>
          </p:txBody>
        </p:sp>
      </p:grpSp>
      <p:sp>
        <p:nvSpPr>
          <p:cNvPr name="TextBox 19" id="19"/>
          <p:cNvSpPr txBox="true"/>
          <p:nvPr/>
        </p:nvSpPr>
        <p:spPr>
          <a:xfrm rot="0">
            <a:off x="7321938" y="895771"/>
            <a:ext cx="9632932" cy="143891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  Sử dụng các tài liệu hiện có như báo cáo, sơ đồ, hướng dẫn, chính sách, hoặc bất kỳ tài liệu nào liên quan đến hệ thống hiện tại.</a:t>
            </a:r>
          </a:p>
          <a:p>
            <a:pPr algn="just">
              <a:lnSpc>
                <a:spcPts val="2860"/>
              </a:lnSpc>
            </a:pPr>
            <a:r>
              <a:rPr lang="en-US" sz="2200">
                <a:solidFill>
                  <a:srgbClr val="000000"/>
                </a:solidFill>
                <a:latin typeface="Clear Sans"/>
                <a:ea typeface="Clear Sans"/>
                <a:cs typeface="Clear Sans"/>
                <a:sym typeface="Clear Sans"/>
              </a:rPr>
              <a:t>·  Thích hợp để hiểu các quy trình và thông tin đã được ghi nhận.</a:t>
            </a:r>
          </a:p>
          <a:p>
            <a:pPr algn="l">
              <a:lnSpc>
                <a:spcPts val="2860"/>
              </a:lnSpc>
            </a:pPr>
          </a:p>
        </p:txBody>
      </p:sp>
      <p:sp>
        <p:nvSpPr>
          <p:cNvPr name="TextBox 20" id="20"/>
          <p:cNvSpPr txBox="true"/>
          <p:nvPr/>
        </p:nvSpPr>
        <p:spPr>
          <a:xfrm rot="0">
            <a:off x="7321938" y="4194262"/>
            <a:ext cx="9524987" cy="1173480"/>
          </a:xfrm>
          <a:prstGeom prst="rect">
            <a:avLst/>
          </a:prstGeom>
        </p:spPr>
        <p:txBody>
          <a:bodyPr anchor="t" rtlCol="false" tIns="0" lIns="0" bIns="0" rIns="0">
            <a:spAutoFit/>
          </a:bodyPr>
          <a:lstStyle/>
          <a:p>
            <a:pPr algn="just">
              <a:lnSpc>
                <a:spcPts val="4680"/>
              </a:lnSpc>
            </a:pPr>
            <a:r>
              <a:rPr lang="en-US" sz="3600">
                <a:solidFill>
                  <a:srgbClr val="000000"/>
                </a:solidFill>
                <a:latin typeface="Baloo"/>
                <a:ea typeface="Baloo"/>
                <a:cs typeface="Baloo"/>
                <a:sym typeface="Baloo"/>
              </a:rPr>
              <a:t>Cách tiến hành</a:t>
            </a:r>
          </a:p>
          <a:p>
            <a:pPr algn="just">
              <a:lnSpc>
                <a:spcPts val="4680"/>
              </a:lnSpc>
              <a:spcBef>
                <a:spcPct val="0"/>
              </a:spcBef>
            </a:pPr>
          </a:p>
        </p:txBody>
      </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643633" y="3480106"/>
            <a:ext cx="9133702" cy="8617511"/>
          </a:xfrm>
          <a:prstGeom prst="rect">
            <a:avLst/>
          </a:prstGeom>
        </p:spPr>
      </p:pic>
      <p:sp>
        <p:nvSpPr>
          <p:cNvPr name="TextBox 3" id="3"/>
          <p:cNvSpPr txBox="true"/>
          <p:nvPr/>
        </p:nvSpPr>
        <p:spPr>
          <a:xfrm rot="0">
            <a:off x="189798" y="3399315"/>
            <a:ext cx="6436125" cy="3286125"/>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Quan sát (Observation)</a:t>
            </a:r>
          </a:p>
          <a:p>
            <a:pPr algn="l">
              <a:lnSpc>
                <a:spcPts val="8640"/>
              </a:lnSpc>
            </a:pPr>
          </a:p>
        </p:txBody>
      </p:sp>
      <p:grpSp>
        <p:nvGrpSpPr>
          <p:cNvPr name="Group 4" id="4"/>
          <p:cNvGrpSpPr/>
          <p:nvPr/>
        </p:nvGrpSpPr>
        <p:grpSpPr>
          <a:xfrm rot="0">
            <a:off x="6625923" y="0"/>
            <a:ext cx="10633377" cy="2185663"/>
            <a:chOff x="0" y="0"/>
            <a:chExt cx="14177836" cy="2914217"/>
          </a:xfrm>
        </p:grpSpPr>
        <p:grpSp>
          <p:nvGrpSpPr>
            <p:cNvPr name="Group 5" id="5"/>
            <p:cNvGrpSpPr/>
            <p:nvPr/>
          </p:nvGrpSpPr>
          <p:grpSpPr>
            <a:xfrm rot="0">
              <a:off x="0" y="0"/>
              <a:ext cx="14177836" cy="2914217"/>
              <a:chOff x="0" y="0"/>
              <a:chExt cx="5364342" cy="1102626"/>
            </a:xfrm>
          </p:grpSpPr>
          <p:sp>
            <p:nvSpPr>
              <p:cNvPr name="Freeform 6" id="6"/>
              <p:cNvSpPr/>
              <p:nvPr/>
            </p:nvSpPr>
            <p:spPr>
              <a:xfrm flipH="false" flipV="false" rot="0">
                <a:off x="0" y="0"/>
                <a:ext cx="5364342" cy="1102627"/>
              </a:xfrm>
              <a:custGeom>
                <a:avLst/>
                <a:gdLst/>
                <a:ahLst/>
                <a:cxnLst/>
                <a:rect r="r" b="b" t="t" l="l"/>
                <a:pathLst>
                  <a:path h="1102627" w="5364342">
                    <a:moveTo>
                      <a:pt x="5239882" y="1102626"/>
                    </a:moveTo>
                    <a:lnTo>
                      <a:pt x="124460" y="1102626"/>
                    </a:lnTo>
                    <a:cubicBezTo>
                      <a:pt x="55880" y="1102626"/>
                      <a:pt x="0" y="1046746"/>
                      <a:pt x="0" y="978166"/>
                    </a:cubicBezTo>
                    <a:lnTo>
                      <a:pt x="0" y="124460"/>
                    </a:lnTo>
                    <a:cubicBezTo>
                      <a:pt x="0" y="55880"/>
                      <a:pt x="55880" y="0"/>
                      <a:pt x="124460" y="0"/>
                    </a:cubicBezTo>
                    <a:lnTo>
                      <a:pt x="5239882" y="0"/>
                    </a:lnTo>
                    <a:cubicBezTo>
                      <a:pt x="5308462" y="0"/>
                      <a:pt x="5364342" y="55880"/>
                      <a:pt x="5364342" y="124460"/>
                    </a:cubicBezTo>
                    <a:lnTo>
                      <a:pt x="5364342" y="978167"/>
                    </a:lnTo>
                    <a:cubicBezTo>
                      <a:pt x="5364342" y="1046746"/>
                      <a:pt x="5308462" y="1102627"/>
                      <a:pt x="5239882" y="1102627"/>
                    </a:cubicBezTo>
                    <a:close/>
                  </a:path>
                </a:pathLst>
              </a:custGeom>
              <a:solidFill>
                <a:srgbClr val="D8A1A6"/>
              </a:solidFill>
            </p:spPr>
          </p:sp>
        </p:grpSp>
        <p:sp>
          <p:nvSpPr>
            <p:cNvPr name="TextBox 7" id="7"/>
            <p:cNvSpPr txBox="true"/>
            <p:nvPr/>
          </p:nvSpPr>
          <p:spPr>
            <a:xfrm rot="0">
              <a:off x="916793" y="250832"/>
              <a:ext cx="12079533" cy="710840"/>
            </a:xfrm>
            <a:prstGeom prst="rect">
              <a:avLst/>
            </a:prstGeom>
          </p:spPr>
          <p:txBody>
            <a:bodyPr anchor="t" rtlCol="false" tIns="0" lIns="0" bIns="0" rIns="0">
              <a:spAutoFit/>
            </a:bodyPr>
            <a:lstStyle/>
            <a:p>
              <a:pPr algn="l">
                <a:lnSpc>
                  <a:spcPts val="4395"/>
                </a:lnSpc>
              </a:pPr>
              <a:r>
                <a:rPr lang="en-US" sz="3381">
                  <a:solidFill>
                    <a:srgbClr val="000000"/>
                  </a:solidFill>
                  <a:latin typeface="Baloo"/>
                  <a:ea typeface="Baloo"/>
                  <a:cs typeface="Baloo"/>
                  <a:sym typeface="Baloo"/>
                </a:rPr>
                <a:t>Đặc trưng:</a:t>
              </a:r>
            </a:p>
          </p:txBody>
        </p:sp>
      </p:grpSp>
      <p:grpSp>
        <p:nvGrpSpPr>
          <p:cNvPr name="Group 8" id="8"/>
          <p:cNvGrpSpPr/>
          <p:nvPr/>
        </p:nvGrpSpPr>
        <p:grpSpPr>
          <a:xfrm rot="0">
            <a:off x="6625923" y="2221606"/>
            <a:ext cx="10633377" cy="4494566"/>
            <a:chOff x="0" y="0"/>
            <a:chExt cx="14177836" cy="5992754"/>
          </a:xfrm>
        </p:grpSpPr>
        <p:grpSp>
          <p:nvGrpSpPr>
            <p:cNvPr name="Group 9" id="9"/>
            <p:cNvGrpSpPr/>
            <p:nvPr/>
          </p:nvGrpSpPr>
          <p:grpSpPr>
            <a:xfrm rot="0">
              <a:off x="0" y="0"/>
              <a:ext cx="14177836" cy="5992754"/>
              <a:chOff x="0" y="0"/>
              <a:chExt cx="5265430" cy="2225617"/>
            </a:xfrm>
          </p:grpSpPr>
          <p:sp>
            <p:nvSpPr>
              <p:cNvPr name="Freeform 10" id="10"/>
              <p:cNvSpPr/>
              <p:nvPr/>
            </p:nvSpPr>
            <p:spPr>
              <a:xfrm flipH="false" flipV="false" rot="0">
                <a:off x="0" y="0"/>
                <a:ext cx="5265431" cy="2225617"/>
              </a:xfrm>
              <a:custGeom>
                <a:avLst/>
                <a:gdLst/>
                <a:ahLst/>
                <a:cxnLst/>
                <a:rect r="r" b="b" t="t" l="l"/>
                <a:pathLst>
                  <a:path h="2225617" w="5265431">
                    <a:moveTo>
                      <a:pt x="5140970" y="2225617"/>
                    </a:moveTo>
                    <a:lnTo>
                      <a:pt x="124460" y="2225617"/>
                    </a:lnTo>
                    <a:cubicBezTo>
                      <a:pt x="55880" y="2225617"/>
                      <a:pt x="0" y="2169737"/>
                      <a:pt x="0" y="2101157"/>
                    </a:cubicBezTo>
                    <a:lnTo>
                      <a:pt x="0" y="124460"/>
                    </a:lnTo>
                    <a:cubicBezTo>
                      <a:pt x="0" y="55880"/>
                      <a:pt x="55880" y="0"/>
                      <a:pt x="124460" y="0"/>
                    </a:cubicBezTo>
                    <a:lnTo>
                      <a:pt x="5140970" y="0"/>
                    </a:lnTo>
                    <a:cubicBezTo>
                      <a:pt x="5209550" y="0"/>
                      <a:pt x="5265431" y="55880"/>
                      <a:pt x="5265431" y="124460"/>
                    </a:cubicBezTo>
                    <a:lnTo>
                      <a:pt x="5265431" y="2101157"/>
                    </a:lnTo>
                    <a:cubicBezTo>
                      <a:pt x="5265431" y="2169737"/>
                      <a:pt x="5209550" y="2225617"/>
                      <a:pt x="5140970" y="2225617"/>
                    </a:cubicBezTo>
                    <a:close/>
                  </a:path>
                </a:pathLst>
              </a:custGeom>
              <a:solidFill>
                <a:srgbClr val="D8A1A6"/>
              </a:solidFill>
            </p:spPr>
          </p:sp>
        </p:grpSp>
        <p:sp>
          <p:nvSpPr>
            <p:cNvPr name="TextBox 11" id="11"/>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2" id="12"/>
            <p:cNvSpPr txBox="true"/>
            <p:nvPr/>
          </p:nvSpPr>
          <p:spPr>
            <a:xfrm rot="0">
              <a:off x="916793" y="1275288"/>
              <a:ext cx="12344250" cy="4243403"/>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  Khi cần kiểm tra xem quy trình thực tế có khớp với mô tả tài liệu hoặc ý kiến người dùng.</a:t>
              </a:r>
            </a:p>
            <a:p>
              <a:pPr algn="l">
                <a:lnSpc>
                  <a:spcPts val="2835"/>
                </a:lnSpc>
              </a:pPr>
              <a:r>
                <a:rPr lang="en-US" sz="2181">
                  <a:solidFill>
                    <a:srgbClr val="000000"/>
                  </a:solidFill>
                  <a:latin typeface="Clear Sans"/>
                  <a:ea typeface="Clear Sans"/>
                  <a:cs typeface="Clear Sans"/>
                  <a:sym typeface="Clear Sans"/>
                </a:rPr>
                <a:t>·  Phù hợp trong việc tìm hiểu hệ thống hiện tại (as-is).</a:t>
              </a:r>
            </a:p>
            <a:p>
              <a:pPr algn="l">
                <a:lnSpc>
                  <a:spcPts val="2835"/>
                </a:lnSpc>
              </a:pPr>
            </a:p>
            <a:p>
              <a:pPr algn="l">
                <a:lnSpc>
                  <a:spcPts val="2835"/>
                </a:lnSpc>
              </a:pPr>
              <a:r>
                <a:rPr lang="en-US" sz="2181">
                  <a:solidFill>
                    <a:srgbClr val="000000"/>
                  </a:solidFill>
                  <a:latin typeface="Clear Sans"/>
                  <a:ea typeface="Clear Sans"/>
                  <a:cs typeface="Clear Sans"/>
                  <a:sym typeface="Clear Sans"/>
                </a:rPr>
                <a:t> </a:t>
              </a:r>
            </a:p>
            <a:p>
              <a:pPr algn="l">
                <a:lnSpc>
                  <a:spcPts val="2835"/>
                </a:lnSpc>
              </a:pPr>
              <a:r>
                <a:rPr lang="en-US" sz="2181">
                  <a:solidFill>
                    <a:srgbClr val="000000"/>
                  </a:solidFill>
                  <a:latin typeface="Clear Sans"/>
                  <a:ea typeface="Clear Sans"/>
                  <a:cs typeface="Clear Sans"/>
                  <a:sym typeface="Clear Sans"/>
                </a:rPr>
                <a:t> Xác định quy trình hoặc hoạt động cần quan sát.</a:t>
              </a:r>
            </a:p>
            <a:p>
              <a:pPr algn="l">
                <a:lnSpc>
                  <a:spcPts val="2835"/>
                </a:lnSpc>
              </a:pPr>
              <a:r>
                <a:rPr lang="en-US" sz="2181">
                  <a:solidFill>
                    <a:srgbClr val="000000"/>
                  </a:solidFill>
                  <a:latin typeface="Clear Sans"/>
                  <a:ea typeface="Clear Sans"/>
                  <a:cs typeface="Clear Sans"/>
                  <a:sym typeface="Clear Sans"/>
                </a:rPr>
                <a:t>·  Lên kế hoạch quan sát, bao gồm thời gian, địa điểm, và công cụ ghi.</a:t>
              </a:r>
            </a:p>
            <a:p>
              <a:pPr algn="l">
                <a:lnSpc>
                  <a:spcPts val="2835"/>
                </a:lnSpc>
              </a:pPr>
              <a:r>
                <a:rPr lang="en-US" sz="2181">
                  <a:solidFill>
                    <a:srgbClr val="000000"/>
                  </a:solidFill>
                  <a:latin typeface="Clear Sans"/>
                  <a:ea typeface="Clear Sans"/>
                  <a:cs typeface="Clear Sans"/>
                  <a:sym typeface="Clear Sans"/>
                </a:rPr>
                <a:t>·  Quan sát một cách thụ động hoặc chủ động.</a:t>
              </a:r>
            </a:p>
            <a:p>
              <a:pPr algn="l">
                <a:lnSpc>
                  <a:spcPts val="2835"/>
                </a:lnSpc>
              </a:pPr>
              <a:r>
                <a:rPr lang="en-US" sz="2181">
                  <a:solidFill>
                    <a:srgbClr val="000000"/>
                  </a:solidFill>
                  <a:latin typeface="Clear Sans"/>
                  <a:ea typeface="Clear Sans"/>
                  <a:cs typeface="Clear Sans"/>
                  <a:sym typeface="Clear Sans"/>
                </a:rPr>
                <a:t>·  Ghi nhận các hành động, hành vi, và sự tương tác.</a:t>
              </a: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6625923" y="6752115"/>
            <a:ext cx="10633377" cy="3475965"/>
            <a:chOff x="0" y="0"/>
            <a:chExt cx="14177836" cy="4634620"/>
          </a:xfrm>
        </p:grpSpPr>
        <p:grpSp>
          <p:nvGrpSpPr>
            <p:cNvPr name="Group 15" id="15"/>
            <p:cNvGrpSpPr/>
            <p:nvPr/>
          </p:nvGrpSpPr>
          <p:grpSpPr>
            <a:xfrm rot="0">
              <a:off x="0" y="0"/>
              <a:ext cx="14177836" cy="4634620"/>
              <a:chOff x="0" y="0"/>
              <a:chExt cx="5265430" cy="1721227"/>
            </a:xfrm>
          </p:grpSpPr>
          <p:sp>
            <p:nvSpPr>
              <p:cNvPr name="Freeform 16" id="16"/>
              <p:cNvSpPr/>
              <p:nvPr/>
            </p:nvSpPr>
            <p:spPr>
              <a:xfrm flipH="false" flipV="false" rot="0">
                <a:off x="0" y="0"/>
                <a:ext cx="5265431" cy="1721227"/>
              </a:xfrm>
              <a:custGeom>
                <a:avLst/>
                <a:gdLst/>
                <a:ahLst/>
                <a:cxnLst/>
                <a:rect r="r" b="b" t="t" l="l"/>
                <a:pathLst>
                  <a:path h="1721227" w="5265431">
                    <a:moveTo>
                      <a:pt x="5140970" y="1721227"/>
                    </a:moveTo>
                    <a:lnTo>
                      <a:pt x="124460" y="1721227"/>
                    </a:lnTo>
                    <a:cubicBezTo>
                      <a:pt x="55880" y="1721227"/>
                      <a:pt x="0" y="1665347"/>
                      <a:pt x="0" y="1596766"/>
                    </a:cubicBezTo>
                    <a:lnTo>
                      <a:pt x="0" y="124460"/>
                    </a:lnTo>
                    <a:cubicBezTo>
                      <a:pt x="0" y="55880"/>
                      <a:pt x="55880" y="0"/>
                      <a:pt x="124460" y="0"/>
                    </a:cubicBezTo>
                    <a:lnTo>
                      <a:pt x="5140970" y="0"/>
                    </a:lnTo>
                    <a:cubicBezTo>
                      <a:pt x="5209550" y="0"/>
                      <a:pt x="5265431" y="55880"/>
                      <a:pt x="5265431" y="124460"/>
                    </a:cubicBezTo>
                    <a:lnTo>
                      <a:pt x="5265431" y="1596767"/>
                    </a:lnTo>
                    <a:cubicBezTo>
                      <a:pt x="5265431" y="1665347"/>
                      <a:pt x="5209550" y="1721227"/>
                      <a:pt x="5140970" y="1721227"/>
                    </a:cubicBezTo>
                    <a:close/>
                  </a:path>
                </a:pathLst>
              </a:custGeom>
              <a:solidFill>
                <a:srgbClr val="D8A1A6"/>
              </a:solidFill>
            </p:spPr>
          </p:sp>
        </p:grpSp>
        <p:sp>
          <p:nvSpPr>
            <p:cNvPr name="TextBox 17" id="17"/>
            <p:cNvSpPr txBox="true"/>
            <p:nvPr/>
          </p:nvSpPr>
          <p:spPr>
            <a:xfrm rot="0">
              <a:off x="916793" y="265606"/>
              <a:ext cx="12079533" cy="715854"/>
            </a:xfrm>
            <a:prstGeom prst="rect">
              <a:avLst/>
            </a:prstGeom>
          </p:spPr>
          <p:txBody>
            <a:bodyPr anchor="t" rtlCol="false" tIns="0" lIns="0" bIns="0" rIns="0">
              <a:spAutoFit/>
            </a:bodyPr>
            <a:lstStyle/>
            <a:p>
              <a:pPr algn="l">
                <a:lnSpc>
                  <a:spcPts val="4443"/>
                </a:lnSpc>
              </a:pPr>
              <a:r>
                <a:rPr lang="en-US" sz="3444">
                  <a:solidFill>
                    <a:srgbClr val="000000"/>
                  </a:solidFill>
                  <a:latin typeface="Baloo"/>
                  <a:ea typeface="Baloo"/>
                  <a:cs typeface="Baloo"/>
                  <a:sym typeface="Baloo"/>
                </a:rPr>
                <a:t>Ưu, nhược điểm:</a:t>
              </a:r>
            </a:p>
          </p:txBody>
        </p:sp>
        <p:sp>
          <p:nvSpPr>
            <p:cNvPr name="TextBox 18" id="18"/>
            <p:cNvSpPr txBox="true"/>
            <p:nvPr/>
          </p:nvSpPr>
          <p:spPr>
            <a:xfrm rot="0">
              <a:off x="916793" y="1277011"/>
              <a:ext cx="12344250" cy="2883546"/>
            </a:xfrm>
            <a:prstGeom prst="rect">
              <a:avLst/>
            </a:prstGeom>
          </p:spPr>
          <p:txBody>
            <a:bodyPr anchor="t" rtlCol="false" tIns="0" lIns="0" bIns="0" rIns="0">
              <a:spAutoFit/>
            </a:bodyPr>
            <a:lstStyle/>
            <a:p>
              <a:pPr algn="l">
                <a:lnSpc>
                  <a:spcPts val="2857"/>
                </a:lnSpc>
              </a:pPr>
              <a:r>
                <a:rPr lang="en-US" sz="2181">
                  <a:solidFill>
                    <a:srgbClr val="000000"/>
                  </a:solidFill>
                  <a:latin typeface="Clear Sans"/>
                  <a:ea typeface="Clear Sans"/>
                  <a:cs typeface="Clear Sans"/>
                  <a:sym typeface="Clear Sans"/>
                </a:rPr>
                <a:t>·  Cung cấp thông tin thực tế, chính xác.</a:t>
              </a:r>
            </a:p>
            <a:p>
              <a:pPr algn="l">
                <a:lnSpc>
                  <a:spcPts val="2857"/>
                </a:lnSpc>
              </a:pPr>
              <a:r>
                <a:rPr lang="en-US" sz="2181">
                  <a:solidFill>
                    <a:srgbClr val="000000"/>
                  </a:solidFill>
                  <a:latin typeface="Clear Sans"/>
                  <a:ea typeface="Clear Sans"/>
                  <a:cs typeface="Clear Sans"/>
                  <a:sym typeface="Clear Sans"/>
                </a:rPr>
                <a:t>·  Dễ phát hiện các sai lệch giữa quy trình lý thuyết và thực tế.</a:t>
              </a:r>
            </a:p>
            <a:p>
              <a:pPr algn="l">
                <a:lnSpc>
                  <a:spcPts val="2857"/>
                </a:lnSpc>
              </a:pPr>
            </a:p>
            <a:p>
              <a:pPr algn="l">
                <a:lnSpc>
                  <a:spcPts val="2857"/>
                </a:lnSpc>
              </a:pPr>
              <a:r>
                <a:rPr lang="en-US" sz="2181">
                  <a:solidFill>
                    <a:srgbClr val="000000"/>
                  </a:solidFill>
                  <a:latin typeface="Clear Sans"/>
                  <a:ea typeface="Clear Sans"/>
                  <a:cs typeface="Clear Sans"/>
                  <a:sym typeface="Clear Sans"/>
                </a:rPr>
                <a:t>·  Tốn thời gian và công sức.</a:t>
              </a:r>
            </a:p>
            <a:p>
              <a:pPr algn="l">
                <a:lnSpc>
                  <a:spcPts val="2857"/>
                </a:lnSpc>
              </a:pPr>
              <a:r>
                <a:rPr lang="en-US" sz="2181">
                  <a:solidFill>
                    <a:srgbClr val="000000"/>
                  </a:solidFill>
                  <a:latin typeface="Clear Sans"/>
                  <a:ea typeface="Clear Sans"/>
                  <a:cs typeface="Clear Sans"/>
                  <a:sym typeface="Clear Sans"/>
                </a:rPr>
                <a:t>·  Không giải thích được ý kiến hay động cơ đằng sau hành vi.</a:t>
              </a:r>
            </a:p>
            <a:p>
              <a:pPr algn="l">
                <a:lnSpc>
                  <a:spcPts val="2857"/>
                </a:lnSpc>
              </a:pPr>
              <a:r>
                <a:rPr lang="en-US" sz="2181">
                  <a:solidFill>
                    <a:srgbClr val="000000"/>
                  </a:solidFill>
                  <a:latin typeface="Clear Sans"/>
                  <a:ea typeface="Clear Sans"/>
                  <a:cs typeface="Clear Sans"/>
                  <a:sym typeface="Clear Sans"/>
                </a:rPr>
                <a:t>·  Có thể bị ảnh hưởng bởi việc quan sát viên xuất hiện.</a:t>
              </a:r>
            </a:p>
          </p:txBody>
        </p:sp>
      </p:grpSp>
      <p:sp>
        <p:nvSpPr>
          <p:cNvPr name="TextBox 19" id="19"/>
          <p:cNvSpPr txBox="true"/>
          <p:nvPr/>
        </p:nvSpPr>
        <p:spPr>
          <a:xfrm rot="0">
            <a:off x="7321938" y="895771"/>
            <a:ext cx="9632932" cy="143891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  Nhà phân tích trực tiếp theo dõi và ghi nhận các hoạt động của người dùng trong môi trường thực tế.</a:t>
            </a:r>
          </a:p>
          <a:p>
            <a:pPr algn="just">
              <a:lnSpc>
                <a:spcPts val="2860"/>
              </a:lnSpc>
            </a:pPr>
            <a:r>
              <a:rPr lang="en-US" sz="2200">
                <a:solidFill>
                  <a:srgbClr val="000000"/>
                </a:solidFill>
                <a:latin typeface="Clear Sans"/>
                <a:ea typeface="Clear Sans"/>
                <a:cs typeface="Clear Sans"/>
                <a:sym typeface="Clear Sans"/>
              </a:rPr>
              <a:t>·  Tập trung vào việc hiểu cách các quy trình được thực hiện trên thực tế</a:t>
            </a:r>
          </a:p>
          <a:p>
            <a:pPr algn="just">
              <a:lnSpc>
                <a:spcPts val="2860"/>
              </a:lnSpc>
            </a:pPr>
          </a:p>
        </p:txBody>
      </p:sp>
      <p:sp>
        <p:nvSpPr>
          <p:cNvPr name="TextBox 20" id="20"/>
          <p:cNvSpPr txBox="true"/>
          <p:nvPr/>
        </p:nvSpPr>
        <p:spPr>
          <a:xfrm rot="0">
            <a:off x="7375911" y="4326589"/>
            <a:ext cx="9524987" cy="582930"/>
          </a:xfrm>
          <a:prstGeom prst="rect">
            <a:avLst/>
          </a:prstGeom>
        </p:spPr>
        <p:txBody>
          <a:bodyPr anchor="t" rtlCol="false" tIns="0" lIns="0" bIns="0" rIns="0">
            <a:spAutoFit/>
          </a:bodyPr>
          <a:lstStyle/>
          <a:p>
            <a:pPr algn="just">
              <a:lnSpc>
                <a:spcPts val="4680"/>
              </a:lnSpc>
              <a:spcBef>
                <a:spcPct val="0"/>
              </a:spcBef>
            </a:pPr>
            <a:r>
              <a:rPr lang="en-US" sz="3600">
                <a:solidFill>
                  <a:srgbClr val="000000"/>
                </a:solidFill>
                <a:latin typeface="Baloo"/>
                <a:ea typeface="Baloo"/>
                <a:cs typeface="Baloo"/>
                <a:sym typeface="Baloo"/>
              </a:rPr>
              <a:t>Cách tiến hành</a:t>
            </a:r>
          </a:p>
        </p:txBody>
      </p:sp>
      <p:sp>
        <p:nvSpPr>
          <p:cNvPr name="TextBox 21" id="21"/>
          <p:cNvSpPr txBox="true"/>
          <p:nvPr/>
        </p:nvSpPr>
        <p:spPr>
          <a:xfrm rot="0">
            <a:off x="7321938" y="4890469"/>
            <a:ext cx="10409035" cy="934720"/>
          </a:xfrm>
          <a:prstGeom prst="rect">
            <a:avLst/>
          </a:prstGeom>
        </p:spPr>
        <p:txBody>
          <a:bodyPr anchor="t" rtlCol="false" tIns="0" lIns="0" bIns="0" rIns="0">
            <a:spAutoFit/>
          </a:bodyPr>
          <a:lstStyle/>
          <a:p>
            <a:pPr algn="l">
              <a:lnSpc>
                <a:spcPts val="2860"/>
              </a:lnSpc>
            </a:pPr>
            <a:r>
              <a:rPr lang="en-US" sz="2200">
                <a:solidFill>
                  <a:srgbClr val="000000"/>
                </a:solidFill>
                <a:latin typeface="Clear Sans"/>
                <a:ea typeface="Clear Sans"/>
                <a:cs typeface="Clear Sans"/>
                <a:sym typeface="Clear Sans"/>
              </a:rPr>
              <a:t>·</a:t>
            </a:r>
          </a:p>
          <a:p>
            <a:pPr algn="ctr">
              <a:lnSpc>
                <a:spcPts val="4680"/>
              </a:lnSpc>
              <a:spcBef>
                <a:spcPct val="0"/>
              </a:spcBef>
            </a:pPr>
          </a:p>
        </p:txBody>
      </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28564" y="4095543"/>
            <a:ext cx="9133702" cy="8617511"/>
          </a:xfrm>
          <a:prstGeom prst="rect">
            <a:avLst/>
          </a:prstGeom>
        </p:spPr>
      </p:pic>
      <p:sp>
        <p:nvSpPr>
          <p:cNvPr name="TextBox 3" id="3"/>
          <p:cNvSpPr txBox="true"/>
          <p:nvPr/>
        </p:nvSpPr>
        <p:spPr>
          <a:xfrm rot="0">
            <a:off x="189798" y="4069815"/>
            <a:ext cx="6436125" cy="3962400"/>
          </a:xfrm>
          <a:prstGeom prst="rect">
            <a:avLst/>
          </a:prstGeom>
        </p:spPr>
        <p:txBody>
          <a:bodyPr anchor="t" rtlCol="false" tIns="0" lIns="0" bIns="0" rIns="0">
            <a:spAutoFit/>
          </a:bodyPr>
          <a:lstStyle/>
          <a:p>
            <a:pPr algn="l">
              <a:lnSpc>
                <a:spcPts val="7920"/>
              </a:lnSpc>
            </a:pPr>
            <a:r>
              <a:rPr lang="en-US" sz="6600">
                <a:solidFill>
                  <a:srgbClr val="000000"/>
                </a:solidFill>
                <a:latin typeface="Baloo"/>
                <a:ea typeface="Baloo"/>
                <a:cs typeface="Baloo"/>
                <a:sym typeface="Baloo"/>
              </a:rPr>
              <a:t>Bảng hỏi (Questionnaires)</a:t>
            </a:r>
          </a:p>
          <a:p>
            <a:pPr algn="l">
              <a:lnSpc>
                <a:spcPts val="6840"/>
              </a:lnSpc>
            </a:pPr>
          </a:p>
          <a:p>
            <a:pPr algn="l">
              <a:lnSpc>
                <a:spcPts val="8640"/>
              </a:lnSpc>
            </a:pPr>
          </a:p>
        </p:txBody>
      </p:sp>
      <p:grpSp>
        <p:nvGrpSpPr>
          <p:cNvPr name="Group 4" id="4"/>
          <p:cNvGrpSpPr/>
          <p:nvPr/>
        </p:nvGrpSpPr>
        <p:grpSpPr>
          <a:xfrm rot="0">
            <a:off x="6625923" y="0"/>
            <a:ext cx="10633377" cy="2185663"/>
            <a:chOff x="0" y="0"/>
            <a:chExt cx="14177836" cy="2914217"/>
          </a:xfrm>
        </p:grpSpPr>
        <p:grpSp>
          <p:nvGrpSpPr>
            <p:cNvPr name="Group 5" id="5"/>
            <p:cNvGrpSpPr/>
            <p:nvPr/>
          </p:nvGrpSpPr>
          <p:grpSpPr>
            <a:xfrm rot="0">
              <a:off x="0" y="0"/>
              <a:ext cx="14177836" cy="2914217"/>
              <a:chOff x="0" y="0"/>
              <a:chExt cx="5364342" cy="1102626"/>
            </a:xfrm>
          </p:grpSpPr>
          <p:sp>
            <p:nvSpPr>
              <p:cNvPr name="Freeform 6" id="6"/>
              <p:cNvSpPr/>
              <p:nvPr/>
            </p:nvSpPr>
            <p:spPr>
              <a:xfrm flipH="false" flipV="false" rot="0">
                <a:off x="0" y="0"/>
                <a:ext cx="5364342" cy="1102627"/>
              </a:xfrm>
              <a:custGeom>
                <a:avLst/>
                <a:gdLst/>
                <a:ahLst/>
                <a:cxnLst/>
                <a:rect r="r" b="b" t="t" l="l"/>
                <a:pathLst>
                  <a:path h="1102627" w="5364342">
                    <a:moveTo>
                      <a:pt x="5239882" y="1102626"/>
                    </a:moveTo>
                    <a:lnTo>
                      <a:pt x="124460" y="1102626"/>
                    </a:lnTo>
                    <a:cubicBezTo>
                      <a:pt x="55880" y="1102626"/>
                      <a:pt x="0" y="1046746"/>
                      <a:pt x="0" y="978166"/>
                    </a:cubicBezTo>
                    <a:lnTo>
                      <a:pt x="0" y="124460"/>
                    </a:lnTo>
                    <a:cubicBezTo>
                      <a:pt x="0" y="55880"/>
                      <a:pt x="55880" y="0"/>
                      <a:pt x="124460" y="0"/>
                    </a:cubicBezTo>
                    <a:lnTo>
                      <a:pt x="5239882" y="0"/>
                    </a:lnTo>
                    <a:cubicBezTo>
                      <a:pt x="5308462" y="0"/>
                      <a:pt x="5364342" y="55880"/>
                      <a:pt x="5364342" y="124460"/>
                    </a:cubicBezTo>
                    <a:lnTo>
                      <a:pt x="5364342" y="978167"/>
                    </a:lnTo>
                    <a:cubicBezTo>
                      <a:pt x="5364342" y="1046746"/>
                      <a:pt x="5308462" y="1102627"/>
                      <a:pt x="5239882" y="1102627"/>
                    </a:cubicBezTo>
                    <a:close/>
                  </a:path>
                </a:pathLst>
              </a:custGeom>
              <a:solidFill>
                <a:srgbClr val="D8A1A6"/>
              </a:solidFill>
            </p:spPr>
          </p:sp>
        </p:grpSp>
        <p:sp>
          <p:nvSpPr>
            <p:cNvPr name="TextBox 7" id="7"/>
            <p:cNvSpPr txBox="true"/>
            <p:nvPr/>
          </p:nvSpPr>
          <p:spPr>
            <a:xfrm rot="0">
              <a:off x="916793" y="250832"/>
              <a:ext cx="12079533" cy="710840"/>
            </a:xfrm>
            <a:prstGeom prst="rect">
              <a:avLst/>
            </a:prstGeom>
          </p:spPr>
          <p:txBody>
            <a:bodyPr anchor="t" rtlCol="false" tIns="0" lIns="0" bIns="0" rIns="0">
              <a:spAutoFit/>
            </a:bodyPr>
            <a:lstStyle/>
            <a:p>
              <a:pPr algn="l">
                <a:lnSpc>
                  <a:spcPts val="4395"/>
                </a:lnSpc>
              </a:pPr>
              <a:r>
                <a:rPr lang="en-US" sz="3381">
                  <a:solidFill>
                    <a:srgbClr val="000000"/>
                  </a:solidFill>
                  <a:latin typeface="Baloo"/>
                  <a:ea typeface="Baloo"/>
                  <a:cs typeface="Baloo"/>
                  <a:sym typeface="Baloo"/>
                </a:rPr>
                <a:t>Đặc trưng:</a:t>
              </a:r>
            </a:p>
          </p:txBody>
        </p:sp>
      </p:grpSp>
      <p:grpSp>
        <p:nvGrpSpPr>
          <p:cNvPr name="Group 8" id="8"/>
          <p:cNvGrpSpPr/>
          <p:nvPr/>
        </p:nvGrpSpPr>
        <p:grpSpPr>
          <a:xfrm rot="0">
            <a:off x="6625923" y="2404561"/>
            <a:ext cx="10633377" cy="4140252"/>
            <a:chOff x="0" y="0"/>
            <a:chExt cx="14177836" cy="5520336"/>
          </a:xfrm>
        </p:grpSpPr>
        <p:grpSp>
          <p:nvGrpSpPr>
            <p:cNvPr name="Group 9" id="9"/>
            <p:cNvGrpSpPr/>
            <p:nvPr/>
          </p:nvGrpSpPr>
          <p:grpSpPr>
            <a:xfrm rot="0">
              <a:off x="0" y="0"/>
              <a:ext cx="14177836" cy="5520336"/>
              <a:chOff x="0" y="0"/>
              <a:chExt cx="5265430" cy="2050168"/>
            </a:xfrm>
          </p:grpSpPr>
          <p:sp>
            <p:nvSpPr>
              <p:cNvPr name="Freeform 10" id="10"/>
              <p:cNvSpPr/>
              <p:nvPr/>
            </p:nvSpPr>
            <p:spPr>
              <a:xfrm flipH="false" flipV="false" rot="0">
                <a:off x="0" y="0"/>
                <a:ext cx="5265431" cy="2050168"/>
              </a:xfrm>
              <a:custGeom>
                <a:avLst/>
                <a:gdLst/>
                <a:ahLst/>
                <a:cxnLst/>
                <a:rect r="r" b="b" t="t" l="l"/>
                <a:pathLst>
                  <a:path h="2050168" w="5265431">
                    <a:moveTo>
                      <a:pt x="5140970" y="2050168"/>
                    </a:moveTo>
                    <a:lnTo>
                      <a:pt x="124460" y="2050168"/>
                    </a:lnTo>
                    <a:cubicBezTo>
                      <a:pt x="55880" y="2050168"/>
                      <a:pt x="0" y="1994288"/>
                      <a:pt x="0" y="1925708"/>
                    </a:cubicBezTo>
                    <a:lnTo>
                      <a:pt x="0" y="124460"/>
                    </a:lnTo>
                    <a:cubicBezTo>
                      <a:pt x="0" y="55880"/>
                      <a:pt x="55880" y="0"/>
                      <a:pt x="124460" y="0"/>
                    </a:cubicBezTo>
                    <a:lnTo>
                      <a:pt x="5140970" y="0"/>
                    </a:lnTo>
                    <a:cubicBezTo>
                      <a:pt x="5209550" y="0"/>
                      <a:pt x="5265431" y="55880"/>
                      <a:pt x="5265431" y="124460"/>
                    </a:cubicBezTo>
                    <a:lnTo>
                      <a:pt x="5265431" y="1925708"/>
                    </a:lnTo>
                    <a:cubicBezTo>
                      <a:pt x="5265431" y="1994288"/>
                      <a:pt x="5209550" y="2050168"/>
                      <a:pt x="5140970" y="2050168"/>
                    </a:cubicBezTo>
                    <a:close/>
                  </a:path>
                </a:pathLst>
              </a:custGeom>
              <a:solidFill>
                <a:srgbClr val="D8A1A6"/>
              </a:solidFill>
            </p:spPr>
          </p:sp>
        </p:grpSp>
        <p:sp>
          <p:nvSpPr>
            <p:cNvPr name="TextBox 11" id="11"/>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2" id="12"/>
            <p:cNvSpPr txBox="true"/>
            <p:nvPr/>
          </p:nvSpPr>
          <p:spPr>
            <a:xfrm rot="0">
              <a:off x="916793" y="1275288"/>
              <a:ext cx="12344250" cy="3770985"/>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  Khi cần thu thập thông tin từ nhiều nguồn trong thời gian ngắn.</a:t>
              </a:r>
            </a:p>
            <a:p>
              <a:pPr algn="l">
                <a:lnSpc>
                  <a:spcPts val="2835"/>
                </a:lnSpc>
              </a:pPr>
              <a:r>
                <a:rPr lang="en-US" sz="2181">
                  <a:solidFill>
                    <a:srgbClr val="000000"/>
                  </a:solidFill>
                  <a:latin typeface="Clear Sans"/>
                  <a:ea typeface="Clear Sans"/>
                  <a:cs typeface="Clear Sans"/>
                  <a:sym typeface="Clear Sans"/>
                </a:rPr>
                <a:t>·  Thường dùng để hiểu hệ thống hiện tại hoặc đề xuất cải tiến chung.</a:t>
              </a:r>
            </a:p>
            <a:p>
              <a:pPr algn="l">
                <a:lnSpc>
                  <a:spcPts val="2835"/>
                </a:lnSpc>
              </a:pPr>
            </a:p>
            <a:p>
              <a:pPr algn="l">
                <a:lnSpc>
                  <a:spcPts val="2835"/>
                </a:lnSpc>
              </a:pPr>
            </a:p>
            <a:p>
              <a:pPr algn="l">
                <a:lnSpc>
                  <a:spcPts val="2835"/>
                </a:lnSpc>
              </a:pPr>
            </a:p>
            <a:p>
              <a:pPr algn="l">
                <a:lnSpc>
                  <a:spcPts val="2835"/>
                </a:lnSpc>
              </a:pPr>
            </a:p>
            <a:p>
              <a:pPr algn="l">
                <a:lnSpc>
                  <a:spcPts val="2835"/>
                </a:lnSpc>
              </a:pPr>
            </a:p>
            <a:p>
              <a:pPr algn="l">
                <a:lnSpc>
                  <a:spcPts val="2835"/>
                </a:lnSpc>
              </a:pP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7321938" y="4031715"/>
            <a:ext cx="9524987" cy="1173480"/>
          </a:xfrm>
          <a:prstGeom prst="rect">
            <a:avLst/>
          </a:prstGeom>
        </p:spPr>
        <p:txBody>
          <a:bodyPr anchor="t" rtlCol="false" tIns="0" lIns="0" bIns="0" rIns="0">
            <a:spAutoFit/>
          </a:bodyPr>
          <a:lstStyle/>
          <a:p>
            <a:pPr algn="just">
              <a:lnSpc>
                <a:spcPts val="4680"/>
              </a:lnSpc>
            </a:pPr>
            <a:r>
              <a:rPr lang="en-US" sz="3600">
                <a:solidFill>
                  <a:srgbClr val="000000"/>
                </a:solidFill>
                <a:latin typeface="Baloo"/>
                <a:ea typeface="Baloo"/>
                <a:cs typeface="Baloo"/>
                <a:sym typeface="Baloo"/>
              </a:rPr>
              <a:t>Cách tiến hành</a:t>
            </a:r>
          </a:p>
          <a:p>
            <a:pPr algn="just">
              <a:lnSpc>
                <a:spcPts val="4680"/>
              </a:lnSpc>
              <a:spcBef>
                <a:spcPct val="0"/>
              </a:spcBef>
            </a:pPr>
          </a:p>
        </p:txBody>
      </p:sp>
      <p:sp>
        <p:nvSpPr>
          <p:cNvPr name="TextBox 15" id="15"/>
          <p:cNvSpPr txBox="true"/>
          <p:nvPr/>
        </p:nvSpPr>
        <p:spPr>
          <a:xfrm rot="0">
            <a:off x="7321938" y="4618455"/>
            <a:ext cx="10409035" cy="2538730"/>
          </a:xfrm>
          <a:prstGeom prst="rect">
            <a:avLst/>
          </a:prstGeom>
        </p:spPr>
        <p:txBody>
          <a:bodyPr anchor="t" rtlCol="false" tIns="0" lIns="0" bIns="0" rIns="0">
            <a:spAutoFit/>
          </a:bodyPr>
          <a:lstStyle/>
          <a:p>
            <a:pPr algn="l">
              <a:lnSpc>
                <a:spcPts val="2990"/>
              </a:lnSpc>
            </a:pPr>
            <a:r>
              <a:rPr lang="en-US" sz="2300">
                <a:solidFill>
                  <a:srgbClr val="000000"/>
                </a:solidFill>
                <a:latin typeface="Clear Sans"/>
                <a:ea typeface="Clear Sans"/>
                <a:cs typeface="Clear Sans"/>
                <a:sym typeface="Clear Sans"/>
              </a:rPr>
              <a:t>·  Thiết kế bảng hỏi với các câu hỏi rõ ràng và phù hợp.</a:t>
            </a:r>
          </a:p>
          <a:p>
            <a:pPr algn="l">
              <a:lnSpc>
                <a:spcPts val="2990"/>
              </a:lnSpc>
            </a:pPr>
            <a:r>
              <a:rPr lang="en-US" sz="2300">
                <a:solidFill>
                  <a:srgbClr val="000000"/>
                </a:solidFill>
                <a:latin typeface="Clear Sans"/>
                <a:ea typeface="Clear Sans"/>
                <a:cs typeface="Clear Sans"/>
                <a:sym typeface="Clear Sans"/>
              </a:rPr>
              <a:t>·  Gửi bảng hỏi đến các bên liên quan (qua email, giấy hoặc hệ thống trực tuyến).</a:t>
            </a:r>
          </a:p>
          <a:p>
            <a:pPr algn="l">
              <a:lnSpc>
                <a:spcPts val="2990"/>
              </a:lnSpc>
            </a:pPr>
            <a:r>
              <a:rPr lang="en-US" sz="2300">
                <a:solidFill>
                  <a:srgbClr val="000000"/>
                </a:solidFill>
                <a:latin typeface="Clear Sans"/>
                <a:ea typeface="Clear Sans"/>
                <a:cs typeface="Clear Sans"/>
                <a:sym typeface="Clear Sans"/>
              </a:rPr>
              <a:t>·  Thu thập và phân tích các câu trả lời.</a:t>
            </a:r>
          </a:p>
          <a:p>
            <a:pPr algn="ctr">
              <a:lnSpc>
                <a:spcPts val="4680"/>
              </a:lnSpc>
            </a:pPr>
          </a:p>
          <a:p>
            <a:pPr algn="ctr">
              <a:lnSpc>
                <a:spcPts val="3770"/>
              </a:lnSpc>
              <a:spcBef>
                <a:spcPct val="0"/>
              </a:spcBef>
            </a:pPr>
          </a:p>
        </p:txBody>
      </p:sp>
      <p:grpSp>
        <p:nvGrpSpPr>
          <p:cNvPr name="Group 16" id="16"/>
          <p:cNvGrpSpPr/>
          <p:nvPr/>
        </p:nvGrpSpPr>
        <p:grpSpPr>
          <a:xfrm rot="0">
            <a:off x="6625923" y="6763888"/>
            <a:ext cx="10633377" cy="3475965"/>
            <a:chOff x="0" y="0"/>
            <a:chExt cx="14177836" cy="4634620"/>
          </a:xfrm>
        </p:grpSpPr>
        <p:grpSp>
          <p:nvGrpSpPr>
            <p:cNvPr name="Group 17" id="17"/>
            <p:cNvGrpSpPr/>
            <p:nvPr/>
          </p:nvGrpSpPr>
          <p:grpSpPr>
            <a:xfrm rot="0">
              <a:off x="0" y="0"/>
              <a:ext cx="14177836" cy="4634620"/>
              <a:chOff x="0" y="0"/>
              <a:chExt cx="5265430" cy="1721227"/>
            </a:xfrm>
          </p:grpSpPr>
          <p:sp>
            <p:nvSpPr>
              <p:cNvPr name="Freeform 18" id="18"/>
              <p:cNvSpPr/>
              <p:nvPr/>
            </p:nvSpPr>
            <p:spPr>
              <a:xfrm flipH="false" flipV="false" rot="0">
                <a:off x="0" y="0"/>
                <a:ext cx="5265431" cy="1721227"/>
              </a:xfrm>
              <a:custGeom>
                <a:avLst/>
                <a:gdLst/>
                <a:ahLst/>
                <a:cxnLst/>
                <a:rect r="r" b="b" t="t" l="l"/>
                <a:pathLst>
                  <a:path h="1721227" w="5265431">
                    <a:moveTo>
                      <a:pt x="5140970" y="1721227"/>
                    </a:moveTo>
                    <a:lnTo>
                      <a:pt x="124460" y="1721227"/>
                    </a:lnTo>
                    <a:cubicBezTo>
                      <a:pt x="55880" y="1721227"/>
                      <a:pt x="0" y="1665347"/>
                      <a:pt x="0" y="1596766"/>
                    </a:cubicBezTo>
                    <a:lnTo>
                      <a:pt x="0" y="124460"/>
                    </a:lnTo>
                    <a:cubicBezTo>
                      <a:pt x="0" y="55880"/>
                      <a:pt x="55880" y="0"/>
                      <a:pt x="124460" y="0"/>
                    </a:cubicBezTo>
                    <a:lnTo>
                      <a:pt x="5140970" y="0"/>
                    </a:lnTo>
                    <a:cubicBezTo>
                      <a:pt x="5209550" y="0"/>
                      <a:pt x="5265431" y="55880"/>
                      <a:pt x="5265431" y="124460"/>
                    </a:cubicBezTo>
                    <a:lnTo>
                      <a:pt x="5265431" y="1596767"/>
                    </a:lnTo>
                    <a:cubicBezTo>
                      <a:pt x="5265431" y="1665347"/>
                      <a:pt x="5209550" y="1721227"/>
                      <a:pt x="5140970" y="1721227"/>
                    </a:cubicBezTo>
                    <a:close/>
                  </a:path>
                </a:pathLst>
              </a:custGeom>
              <a:solidFill>
                <a:srgbClr val="D8A1A6"/>
              </a:solidFill>
            </p:spPr>
          </p:sp>
        </p:grpSp>
        <p:sp>
          <p:nvSpPr>
            <p:cNvPr name="TextBox 19" id="19"/>
            <p:cNvSpPr txBox="true"/>
            <p:nvPr/>
          </p:nvSpPr>
          <p:spPr>
            <a:xfrm rot="0">
              <a:off x="916793" y="265606"/>
              <a:ext cx="12079533" cy="715854"/>
            </a:xfrm>
            <a:prstGeom prst="rect">
              <a:avLst/>
            </a:prstGeom>
          </p:spPr>
          <p:txBody>
            <a:bodyPr anchor="t" rtlCol="false" tIns="0" lIns="0" bIns="0" rIns="0">
              <a:spAutoFit/>
            </a:bodyPr>
            <a:lstStyle/>
            <a:p>
              <a:pPr algn="l">
                <a:lnSpc>
                  <a:spcPts val="4443"/>
                </a:lnSpc>
              </a:pPr>
              <a:r>
                <a:rPr lang="en-US" sz="3444">
                  <a:solidFill>
                    <a:srgbClr val="000000"/>
                  </a:solidFill>
                  <a:latin typeface="Baloo"/>
                  <a:ea typeface="Baloo"/>
                  <a:cs typeface="Baloo"/>
                  <a:sym typeface="Baloo"/>
                </a:rPr>
                <a:t>Ưu, nhược điểm:</a:t>
              </a:r>
            </a:p>
          </p:txBody>
        </p:sp>
        <p:sp>
          <p:nvSpPr>
            <p:cNvPr name="TextBox 20" id="20"/>
            <p:cNvSpPr txBox="true"/>
            <p:nvPr/>
          </p:nvSpPr>
          <p:spPr>
            <a:xfrm rot="0">
              <a:off x="916793" y="1277011"/>
              <a:ext cx="12344250" cy="2883546"/>
            </a:xfrm>
            <a:prstGeom prst="rect">
              <a:avLst/>
            </a:prstGeom>
          </p:spPr>
          <p:txBody>
            <a:bodyPr anchor="t" rtlCol="false" tIns="0" lIns="0" bIns="0" rIns="0">
              <a:spAutoFit/>
            </a:bodyPr>
            <a:lstStyle/>
            <a:p>
              <a:pPr algn="l">
                <a:lnSpc>
                  <a:spcPts val="2857"/>
                </a:lnSpc>
              </a:pPr>
              <a:r>
                <a:rPr lang="en-US" sz="2181">
                  <a:solidFill>
                    <a:srgbClr val="000000"/>
                  </a:solidFill>
                  <a:latin typeface="Clear Sans"/>
                  <a:ea typeface="Clear Sans"/>
                  <a:cs typeface="Clear Sans"/>
                  <a:sym typeface="Clear Sans"/>
                </a:rPr>
                <a:t>·  Dễ dàng tiếp cận nhiều người cùng lúc.</a:t>
              </a:r>
            </a:p>
            <a:p>
              <a:pPr algn="l">
                <a:lnSpc>
                  <a:spcPts val="2857"/>
                </a:lnSpc>
              </a:pPr>
              <a:r>
                <a:rPr lang="en-US" sz="2181">
                  <a:solidFill>
                    <a:srgbClr val="000000"/>
                  </a:solidFill>
                  <a:latin typeface="Clear Sans"/>
                  <a:ea typeface="Clear Sans"/>
                  <a:cs typeface="Clear Sans"/>
                  <a:sym typeface="Clear Sans"/>
                </a:rPr>
                <a:t>Chi phí thấp và nhanh chóng.</a:t>
              </a:r>
            </a:p>
            <a:p>
              <a:pPr algn="l">
                <a:lnSpc>
                  <a:spcPts val="2857"/>
                </a:lnSpc>
              </a:pPr>
            </a:p>
            <a:p>
              <a:pPr algn="l">
                <a:lnSpc>
                  <a:spcPts val="2857"/>
                </a:lnSpc>
              </a:pPr>
              <a:r>
                <a:rPr lang="en-US" sz="2181">
                  <a:solidFill>
                    <a:srgbClr val="000000"/>
                  </a:solidFill>
                  <a:latin typeface="Clear Sans"/>
                  <a:ea typeface="Clear Sans"/>
                  <a:cs typeface="Clear Sans"/>
                  <a:sym typeface="Clear Sans"/>
                </a:rPr>
                <a:t>·  Thông tin thường không chi tiết.</a:t>
              </a:r>
            </a:p>
            <a:p>
              <a:pPr algn="l">
                <a:lnSpc>
                  <a:spcPts val="2857"/>
                </a:lnSpc>
              </a:pPr>
              <a:r>
                <a:rPr lang="en-US" sz="2181">
                  <a:solidFill>
                    <a:srgbClr val="000000"/>
                  </a:solidFill>
                  <a:latin typeface="Clear Sans"/>
                  <a:ea typeface="Clear Sans"/>
                  <a:cs typeface="Clear Sans"/>
                  <a:sym typeface="Clear Sans"/>
                </a:rPr>
                <a:t>·  Tỷ lệ phản hồi có thể thấp.</a:t>
              </a:r>
            </a:p>
            <a:p>
              <a:pPr algn="l">
                <a:lnSpc>
                  <a:spcPts val="2857"/>
                </a:lnSpc>
              </a:pPr>
              <a:r>
                <a:rPr lang="en-US" sz="2181">
                  <a:solidFill>
                    <a:srgbClr val="000000"/>
                  </a:solidFill>
                  <a:latin typeface="Clear Sans"/>
                  <a:ea typeface="Clear Sans"/>
                  <a:cs typeface="Clear Sans"/>
                  <a:sym typeface="Clear Sans"/>
                </a:rPr>
                <a:t>·  Không giải thích được lý do đằng sau câu trả lời.</a:t>
              </a:r>
            </a:p>
          </p:txBody>
        </p:sp>
      </p:grpSp>
      <p:pic>
        <p:nvPicPr>
          <p:cNvPr name="Picture 21" id="21"/>
          <p:cNvPicPr>
            <a:picLocks noChangeAspect="true"/>
          </p:cNvPicPr>
          <p:nvPr/>
        </p:nvPicPr>
        <p:blipFill>
          <a:blip r:embed="rId5"/>
          <a:srcRect l="0" t="0" r="0" b="0"/>
          <a:stretch>
            <a:fillRect/>
          </a:stretch>
        </p:blipFill>
        <p:spPr>
          <a:xfrm flipH="false" flipV="false" rot="0">
            <a:off x="1402982" y="6544813"/>
            <a:ext cx="3140423" cy="2465232"/>
          </a:xfrm>
          <a:prstGeom prst="rect">
            <a:avLst/>
          </a:prstGeom>
        </p:spPr>
      </p:pic>
      <p:sp>
        <p:nvSpPr>
          <p:cNvPr name="TextBox 22" id="22"/>
          <p:cNvSpPr txBox="true"/>
          <p:nvPr/>
        </p:nvSpPr>
        <p:spPr>
          <a:xfrm rot="0">
            <a:off x="7321938" y="895771"/>
            <a:ext cx="9632932" cy="143891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  Gửi các câu hỏi dạng trắc nghiệm hoặc tự luận đến một nhóm người dùng để thu thập thông tin.</a:t>
            </a:r>
          </a:p>
          <a:p>
            <a:pPr algn="just">
              <a:lnSpc>
                <a:spcPts val="2860"/>
              </a:lnSpc>
            </a:pPr>
            <a:r>
              <a:rPr lang="en-US" sz="2200">
                <a:solidFill>
                  <a:srgbClr val="000000"/>
                </a:solidFill>
                <a:latin typeface="Clear Sans"/>
                <a:ea typeface="Clear Sans"/>
                <a:cs typeface="Clear Sans"/>
                <a:sym typeface="Clear Sans"/>
              </a:rPr>
              <a:t>Phù hợp khi cần khảo sát trên quy mô lớn.</a:t>
            </a:r>
          </a:p>
          <a:p>
            <a:pPr algn="just">
              <a:lnSpc>
                <a:spcPts val="2860"/>
              </a:lnSpc>
            </a:pP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47544" y="4304321"/>
            <a:ext cx="9133702" cy="8617511"/>
          </a:xfrm>
          <a:prstGeom prst="rect">
            <a:avLst/>
          </a:prstGeom>
        </p:spPr>
      </p:pic>
      <p:sp>
        <p:nvSpPr>
          <p:cNvPr name="TextBox 3" id="3"/>
          <p:cNvSpPr txBox="true"/>
          <p:nvPr/>
        </p:nvSpPr>
        <p:spPr>
          <a:xfrm rot="0">
            <a:off x="569394" y="2950118"/>
            <a:ext cx="6436125" cy="5476875"/>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JAD (Joint Application Development)</a:t>
            </a:r>
          </a:p>
          <a:p>
            <a:pPr algn="l">
              <a:lnSpc>
                <a:spcPts val="8640"/>
              </a:lnSpc>
            </a:pPr>
          </a:p>
          <a:p>
            <a:pPr algn="l">
              <a:lnSpc>
                <a:spcPts val="8640"/>
              </a:lnSpc>
            </a:pPr>
          </a:p>
        </p:txBody>
      </p:sp>
      <p:grpSp>
        <p:nvGrpSpPr>
          <p:cNvPr name="Group 4" id="4"/>
          <p:cNvGrpSpPr/>
          <p:nvPr/>
        </p:nvGrpSpPr>
        <p:grpSpPr>
          <a:xfrm rot="0">
            <a:off x="6625923" y="0"/>
            <a:ext cx="10633377" cy="1763664"/>
            <a:chOff x="0" y="0"/>
            <a:chExt cx="14177836" cy="2351553"/>
          </a:xfrm>
        </p:grpSpPr>
        <p:grpSp>
          <p:nvGrpSpPr>
            <p:cNvPr name="Group 5" id="5"/>
            <p:cNvGrpSpPr/>
            <p:nvPr/>
          </p:nvGrpSpPr>
          <p:grpSpPr>
            <a:xfrm rot="0">
              <a:off x="0" y="0"/>
              <a:ext cx="14177836" cy="2351553"/>
              <a:chOff x="0" y="0"/>
              <a:chExt cx="6826383" cy="1132232"/>
            </a:xfrm>
          </p:grpSpPr>
          <p:sp>
            <p:nvSpPr>
              <p:cNvPr name="Freeform 6" id="6"/>
              <p:cNvSpPr/>
              <p:nvPr/>
            </p:nvSpPr>
            <p:spPr>
              <a:xfrm flipH="false" flipV="false" rot="0">
                <a:off x="0" y="0"/>
                <a:ext cx="6826383" cy="1132232"/>
              </a:xfrm>
              <a:custGeom>
                <a:avLst/>
                <a:gdLst/>
                <a:ahLst/>
                <a:cxnLst/>
                <a:rect r="r" b="b" t="t" l="l"/>
                <a:pathLst>
                  <a:path h="1132232" w="6826383">
                    <a:moveTo>
                      <a:pt x="6701923" y="1132232"/>
                    </a:moveTo>
                    <a:lnTo>
                      <a:pt x="124460" y="1132232"/>
                    </a:lnTo>
                    <a:cubicBezTo>
                      <a:pt x="55880" y="1132232"/>
                      <a:pt x="0" y="1076352"/>
                      <a:pt x="0" y="1007772"/>
                    </a:cubicBezTo>
                    <a:lnTo>
                      <a:pt x="0" y="124460"/>
                    </a:lnTo>
                    <a:cubicBezTo>
                      <a:pt x="0" y="55880"/>
                      <a:pt x="55880" y="0"/>
                      <a:pt x="124460" y="0"/>
                    </a:cubicBezTo>
                    <a:lnTo>
                      <a:pt x="6701923" y="0"/>
                    </a:lnTo>
                    <a:cubicBezTo>
                      <a:pt x="6770504" y="0"/>
                      <a:pt x="6826383" y="55880"/>
                      <a:pt x="6826383" y="124460"/>
                    </a:cubicBezTo>
                    <a:lnTo>
                      <a:pt x="6826383" y="1007772"/>
                    </a:lnTo>
                    <a:cubicBezTo>
                      <a:pt x="6826383" y="1076352"/>
                      <a:pt x="6770504" y="1132232"/>
                      <a:pt x="6701923" y="1132232"/>
                    </a:cubicBezTo>
                    <a:close/>
                  </a:path>
                </a:pathLst>
              </a:custGeom>
              <a:solidFill>
                <a:srgbClr val="D8A1A6"/>
              </a:solidFill>
            </p:spPr>
          </p:sp>
        </p:grpSp>
        <p:sp>
          <p:nvSpPr>
            <p:cNvPr name="TextBox 7" id="7"/>
            <p:cNvSpPr txBox="true"/>
            <p:nvPr/>
          </p:nvSpPr>
          <p:spPr>
            <a:xfrm rot="0">
              <a:off x="916793" y="190990"/>
              <a:ext cx="12079533" cy="626204"/>
            </a:xfrm>
            <a:prstGeom prst="rect">
              <a:avLst/>
            </a:prstGeom>
          </p:spPr>
          <p:txBody>
            <a:bodyPr anchor="t" rtlCol="false" tIns="0" lIns="0" bIns="0" rIns="0">
              <a:spAutoFit/>
            </a:bodyPr>
            <a:lstStyle/>
            <a:p>
              <a:pPr algn="l">
                <a:lnSpc>
                  <a:spcPts val="3844"/>
                </a:lnSpc>
              </a:pPr>
              <a:r>
                <a:rPr lang="en-US" sz="2956">
                  <a:solidFill>
                    <a:srgbClr val="000000"/>
                  </a:solidFill>
                  <a:latin typeface="Baloo"/>
                  <a:ea typeface="Baloo"/>
                  <a:cs typeface="Baloo"/>
                  <a:sym typeface="Baloo"/>
                </a:rPr>
                <a:t>Đặc trưng:</a:t>
              </a:r>
            </a:p>
          </p:txBody>
        </p:sp>
      </p:grpSp>
      <p:grpSp>
        <p:nvGrpSpPr>
          <p:cNvPr name="Group 8" id="8"/>
          <p:cNvGrpSpPr/>
          <p:nvPr/>
        </p:nvGrpSpPr>
        <p:grpSpPr>
          <a:xfrm rot="0">
            <a:off x="6625923" y="1841146"/>
            <a:ext cx="10633377" cy="4140252"/>
            <a:chOff x="0" y="0"/>
            <a:chExt cx="14177836" cy="5520336"/>
          </a:xfrm>
        </p:grpSpPr>
        <p:grpSp>
          <p:nvGrpSpPr>
            <p:cNvPr name="Group 9" id="9"/>
            <p:cNvGrpSpPr/>
            <p:nvPr/>
          </p:nvGrpSpPr>
          <p:grpSpPr>
            <a:xfrm rot="0">
              <a:off x="0" y="0"/>
              <a:ext cx="14177836" cy="5520336"/>
              <a:chOff x="0" y="0"/>
              <a:chExt cx="5265430" cy="2050168"/>
            </a:xfrm>
          </p:grpSpPr>
          <p:sp>
            <p:nvSpPr>
              <p:cNvPr name="Freeform 10" id="10"/>
              <p:cNvSpPr/>
              <p:nvPr/>
            </p:nvSpPr>
            <p:spPr>
              <a:xfrm flipH="false" flipV="false" rot="0">
                <a:off x="0" y="0"/>
                <a:ext cx="5265431" cy="2050168"/>
              </a:xfrm>
              <a:custGeom>
                <a:avLst/>
                <a:gdLst/>
                <a:ahLst/>
                <a:cxnLst/>
                <a:rect r="r" b="b" t="t" l="l"/>
                <a:pathLst>
                  <a:path h="2050168" w="5265431">
                    <a:moveTo>
                      <a:pt x="5140970" y="2050168"/>
                    </a:moveTo>
                    <a:lnTo>
                      <a:pt x="124460" y="2050168"/>
                    </a:lnTo>
                    <a:cubicBezTo>
                      <a:pt x="55880" y="2050168"/>
                      <a:pt x="0" y="1994288"/>
                      <a:pt x="0" y="1925708"/>
                    </a:cubicBezTo>
                    <a:lnTo>
                      <a:pt x="0" y="124460"/>
                    </a:lnTo>
                    <a:cubicBezTo>
                      <a:pt x="0" y="55880"/>
                      <a:pt x="55880" y="0"/>
                      <a:pt x="124460" y="0"/>
                    </a:cubicBezTo>
                    <a:lnTo>
                      <a:pt x="5140970" y="0"/>
                    </a:lnTo>
                    <a:cubicBezTo>
                      <a:pt x="5209550" y="0"/>
                      <a:pt x="5265431" y="55880"/>
                      <a:pt x="5265431" y="124460"/>
                    </a:cubicBezTo>
                    <a:lnTo>
                      <a:pt x="5265431" y="1925708"/>
                    </a:lnTo>
                    <a:cubicBezTo>
                      <a:pt x="5265431" y="1994288"/>
                      <a:pt x="5209550" y="2050168"/>
                      <a:pt x="5140970" y="2050168"/>
                    </a:cubicBezTo>
                    <a:close/>
                  </a:path>
                </a:pathLst>
              </a:custGeom>
              <a:solidFill>
                <a:srgbClr val="D8A1A6"/>
              </a:solidFill>
            </p:spPr>
          </p:sp>
        </p:grpSp>
        <p:sp>
          <p:nvSpPr>
            <p:cNvPr name="TextBox 11" id="11"/>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2" id="12"/>
            <p:cNvSpPr txBox="true"/>
            <p:nvPr/>
          </p:nvSpPr>
          <p:spPr>
            <a:xfrm rot="0">
              <a:off x="916793" y="1275288"/>
              <a:ext cx="12344250" cy="3770985"/>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  Khi dự án lớn hoặc yêu cầu sự tích hợp và đồng thuận nhanh chóng.</a:t>
              </a:r>
            </a:p>
            <a:p>
              <a:pPr algn="l">
                <a:lnSpc>
                  <a:spcPts val="2835"/>
                </a:lnSpc>
              </a:pPr>
              <a:r>
                <a:rPr lang="en-US" sz="2181">
                  <a:solidFill>
                    <a:srgbClr val="000000"/>
                  </a:solidFill>
                  <a:latin typeface="Clear Sans"/>
                  <a:ea typeface="Clear Sans"/>
                  <a:cs typeface="Clear Sans"/>
                  <a:sym typeface="Clear Sans"/>
                </a:rPr>
                <a:t>·  Thích hợp ở cả ba giai đoạn: hiểu hệ thống hiện tại, cải tiến, hoặc xây dựng hệ thống mới</a:t>
              </a:r>
            </a:p>
            <a:p>
              <a:pPr algn="l">
                <a:lnSpc>
                  <a:spcPts val="2835"/>
                </a:lnSpc>
              </a:pPr>
            </a:p>
            <a:p>
              <a:pPr algn="l">
                <a:lnSpc>
                  <a:spcPts val="2835"/>
                </a:lnSpc>
              </a:pPr>
            </a:p>
            <a:p>
              <a:pPr algn="l">
                <a:lnSpc>
                  <a:spcPts val="2835"/>
                </a:lnSpc>
              </a:pPr>
            </a:p>
            <a:p>
              <a:pPr algn="l">
                <a:lnSpc>
                  <a:spcPts val="2835"/>
                </a:lnSpc>
              </a:pPr>
            </a:p>
            <a:p>
              <a:pPr algn="l">
                <a:lnSpc>
                  <a:spcPts val="2835"/>
                </a:lnSpc>
              </a:pP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7126145" y="725802"/>
            <a:ext cx="9632932" cy="71501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  Một buổi họp hoặc workshop có sự tham gia của nhiều bên liên quan để thu thập yêu cầu và giải quyết mâu thuẫn ngay lập tức.</a:t>
            </a:r>
          </a:p>
        </p:txBody>
      </p:sp>
      <p:sp>
        <p:nvSpPr>
          <p:cNvPr name="TextBox 15" id="15"/>
          <p:cNvSpPr txBox="true"/>
          <p:nvPr/>
        </p:nvSpPr>
        <p:spPr>
          <a:xfrm rot="0">
            <a:off x="7180118" y="3855823"/>
            <a:ext cx="9524987" cy="1173480"/>
          </a:xfrm>
          <a:prstGeom prst="rect">
            <a:avLst/>
          </a:prstGeom>
        </p:spPr>
        <p:txBody>
          <a:bodyPr anchor="t" rtlCol="false" tIns="0" lIns="0" bIns="0" rIns="0">
            <a:spAutoFit/>
          </a:bodyPr>
          <a:lstStyle/>
          <a:p>
            <a:pPr algn="just">
              <a:lnSpc>
                <a:spcPts val="4680"/>
              </a:lnSpc>
            </a:pPr>
            <a:r>
              <a:rPr lang="en-US" sz="3600">
                <a:solidFill>
                  <a:srgbClr val="000000"/>
                </a:solidFill>
                <a:latin typeface="Baloo"/>
                <a:ea typeface="Baloo"/>
                <a:cs typeface="Baloo"/>
                <a:sym typeface="Baloo"/>
              </a:rPr>
              <a:t>Cách tiến hành</a:t>
            </a:r>
          </a:p>
          <a:p>
            <a:pPr algn="just">
              <a:lnSpc>
                <a:spcPts val="4680"/>
              </a:lnSpc>
              <a:spcBef>
                <a:spcPct val="0"/>
              </a:spcBef>
            </a:pPr>
          </a:p>
        </p:txBody>
      </p:sp>
      <p:sp>
        <p:nvSpPr>
          <p:cNvPr name="TextBox 16" id="16"/>
          <p:cNvSpPr txBox="true"/>
          <p:nvPr/>
        </p:nvSpPr>
        <p:spPr>
          <a:xfrm rot="0">
            <a:off x="7302958" y="4442563"/>
            <a:ext cx="10409035" cy="2162810"/>
          </a:xfrm>
          <a:prstGeom prst="rect">
            <a:avLst/>
          </a:prstGeom>
        </p:spPr>
        <p:txBody>
          <a:bodyPr anchor="t" rtlCol="false" tIns="0" lIns="0" bIns="0" rIns="0">
            <a:spAutoFit/>
          </a:bodyPr>
          <a:lstStyle/>
          <a:p>
            <a:pPr algn="l">
              <a:lnSpc>
                <a:spcPts val="2860"/>
              </a:lnSpc>
            </a:pPr>
            <a:r>
              <a:rPr lang="en-US" sz="2200">
                <a:solidFill>
                  <a:srgbClr val="000000"/>
                </a:solidFill>
                <a:latin typeface="Clear Sans"/>
                <a:ea typeface="Clear Sans"/>
                <a:cs typeface="Clear Sans"/>
                <a:sym typeface="Clear Sans"/>
              </a:rPr>
              <a:t>·  Chuẩn bị kế hoạch, danh sách người tham gia, và tài liệu liên quan.</a:t>
            </a:r>
          </a:p>
          <a:p>
            <a:pPr algn="l">
              <a:lnSpc>
                <a:spcPts val="2860"/>
              </a:lnSpc>
            </a:pPr>
            <a:r>
              <a:rPr lang="en-US" sz="2200">
                <a:solidFill>
                  <a:srgbClr val="000000"/>
                </a:solidFill>
                <a:latin typeface="Clear Sans"/>
                <a:ea typeface="Clear Sans"/>
                <a:cs typeface="Clear Sans"/>
                <a:sym typeface="Clear Sans"/>
              </a:rPr>
              <a:t>·  Mời các bên liên quan tham dự.</a:t>
            </a:r>
          </a:p>
          <a:p>
            <a:pPr algn="l">
              <a:lnSpc>
                <a:spcPts val="2860"/>
              </a:lnSpc>
            </a:pPr>
            <a:r>
              <a:rPr lang="en-US" sz="2200">
                <a:solidFill>
                  <a:srgbClr val="000000"/>
                </a:solidFill>
                <a:latin typeface="Clear Sans"/>
                <a:ea typeface="Clear Sans"/>
                <a:cs typeface="Clear Sans"/>
                <a:sym typeface="Clear Sans"/>
              </a:rPr>
              <a:t>·  Điều phối cuộc họp, ghi nhận ý kiến, và giải quyết xung đột tại chỗ.</a:t>
            </a:r>
          </a:p>
          <a:p>
            <a:pPr algn="l">
              <a:lnSpc>
                <a:spcPts val="2860"/>
              </a:lnSpc>
            </a:pPr>
            <a:r>
              <a:rPr lang="en-US" sz="2200">
                <a:solidFill>
                  <a:srgbClr val="000000"/>
                </a:solidFill>
                <a:latin typeface="Clear Sans"/>
                <a:ea typeface="Clear Sans"/>
                <a:cs typeface="Clear Sans"/>
                <a:sym typeface="Clear Sans"/>
              </a:rPr>
              <a:t>·  Tổng hợp thông tin và hoàn chỉnh yêu cầu.</a:t>
            </a:r>
          </a:p>
          <a:p>
            <a:pPr algn="l">
              <a:lnSpc>
                <a:spcPts val="2860"/>
              </a:lnSpc>
            </a:pPr>
          </a:p>
          <a:p>
            <a:pPr algn="l">
              <a:lnSpc>
                <a:spcPts val="2860"/>
              </a:lnSpc>
              <a:spcBef>
                <a:spcPct val="0"/>
              </a:spcBef>
            </a:pPr>
          </a:p>
        </p:txBody>
      </p:sp>
      <p:grpSp>
        <p:nvGrpSpPr>
          <p:cNvPr name="Group 17" id="17"/>
          <p:cNvGrpSpPr/>
          <p:nvPr/>
        </p:nvGrpSpPr>
        <p:grpSpPr>
          <a:xfrm rot="0">
            <a:off x="6625923" y="6105223"/>
            <a:ext cx="10633377" cy="3947101"/>
            <a:chOff x="0" y="0"/>
            <a:chExt cx="14177836" cy="5262801"/>
          </a:xfrm>
        </p:grpSpPr>
        <p:grpSp>
          <p:nvGrpSpPr>
            <p:cNvPr name="Group 18" id="18"/>
            <p:cNvGrpSpPr/>
            <p:nvPr/>
          </p:nvGrpSpPr>
          <p:grpSpPr>
            <a:xfrm rot="0">
              <a:off x="0" y="0"/>
              <a:ext cx="14177836" cy="5262801"/>
              <a:chOff x="0" y="0"/>
              <a:chExt cx="5971102" cy="2216468"/>
            </a:xfrm>
          </p:grpSpPr>
          <p:sp>
            <p:nvSpPr>
              <p:cNvPr name="Freeform 19" id="19"/>
              <p:cNvSpPr/>
              <p:nvPr/>
            </p:nvSpPr>
            <p:spPr>
              <a:xfrm flipH="false" flipV="false" rot="0">
                <a:off x="0" y="0"/>
                <a:ext cx="5971102" cy="2216468"/>
              </a:xfrm>
              <a:custGeom>
                <a:avLst/>
                <a:gdLst/>
                <a:ahLst/>
                <a:cxnLst/>
                <a:rect r="r" b="b" t="t" l="l"/>
                <a:pathLst>
                  <a:path h="2216468" w="5971102">
                    <a:moveTo>
                      <a:pt x="5846642" y="2216468"/>
                    </a:moveTo>
                    <a:lnTo>
                      <a:pt x="124460" y="2216468"/>
                    </a:lnTo>
                    <a:cubicBezTo>
                      <a:pt x="55880" y="2216468"/>
                      <a:pt x="0" y="2160588"/>
                      <a:pt x="0" y="2092008"/>
                    </a:cubicBezTo>
                    <a:lnTo>
                      <a:pt x="0" y="124460"/>
                    </a:lnTo>
                    <a:cubicBezTo>
                      <a:pt x="0" y="55880"/>
                      <a:pt x="55880" y="0"/>
                      <a:pt x="124460" y="0"/>
                    </a:cubicBezTo>
                    <a:lnTo>
                      <a:pt x="5846642" y="0"/>
                    </a:lnTo>
                    <a:cubicBezTo>
                      <a:pt x="5915222" y="0"/>
                      <a:pt x="5971102" y="55880"/>
                      <a:pt x="5971102" y="124460"/>
                    </a:cubicBezTo>
                    <a:lnTo>
                      <a:pt x="5971102" y="2092008"/>
                    </a:lnTo>
                    <a:cubicBezTo>
                      <a:pt x="5971102" y="2160588"/>
                      <a:pt x="5915222" y="2216468"/>
                      <a:pt x="5846642" y="2216468"/>
                    </a:cubicBezTo>
                    <a:close/>
                  </a:path>
                </a:pathLst>
              </a:custGeom>
              <a:solidFill>
                <a:srgbClr val="D8A1A6"/>
              </a:solidFill>
            </p:spPr>
          </p:sp>
        </p:grpSp>
        <p:sp>
          <p:nvSpPr>
            <p:cNvPr name="TextBox 20" id="20"/>
            <p:cNvSpPr txBox="true"/>
            <p:nvPr/>
          </p:nvSpPr>
          <p:spPr>
            <a:xfrm rot="0">
              <a:off x="916793" y="212915"/>
              <a:ext cx="12079533" cy="3956290"/>
            </a:xfrm>
            <a:prstGeom prst="rect">
              <a:avLst/>
            </a:prstGeom>
          </p:spPr>
          <p:txBody>
            <a:bodyPr anchor="t" rtlCol="false" tIns="0" lIns="0" bIns="0" rIns="0">
              <a:spAutoFit/>
            </a:bodyPr>
            <a:lstStyle/>
            <a:p>
              <a:pPr algn="l">
                <a:lnSpc>
                  <a:spcPts val="3918"/>
                </a:lnSpc>
              </a:pPr>
              <a:r>
                <a:rPr lang="en-US" sz="3037">
                  <a:solidFill>
                    <a:srgbClr val="000000"/>
                  </a:solidFill>
                  <a:latin typeface="Baloo"/>
                  <a:ea typeface="Baloo"/>
                  <a:cs typeface="Baloo"/>
                  <a:sym typeface="Baloo"/>
                </a:rPr>
                <a:t>Ưu, nhược điểm:</a:t>
              </a:r>
            </a:p>
            <a:p>
              <a:pPr algn="l">
                <a:lnSpc>
                  <a:spcPts val="3918"/>
                </a:lnSpc>
              </a:pPr>
            </a:p>
            <a:p>
              <a:pPr algn="l">
                <a:lnSpc>
                  <a:spcPts val="3918"/>
                </a:lnSpc>
              </a:pPr>
            </a:p>
            <a:p>
              <a:pPr algn="l">
                <a:lnSpc>
                  <a:spcPts val="3918"/>
                </a:lnSpc>
              </a:pPr>
            </a:p>
            <a:p>
              <a:pPr algn="l">
                <a:lnSpc>
                  <a:spcPts val="3918"/>
                </a:lnSpc>
              </a:pPr>
            </a:p>
            <a:p>
              <a:pPr algn="l">
                <a:lnSpc>
                  <a:spcPts val="3918"/>
                </a:lnSpc>
              </a:pPr>
            </a:p>
          </p:txBody>
        </p:sp>
      </p:grpSp>
      <p:sp>
        <p:nvSpPr>
          <p:cNvPr name="TextBox 21" id="21"/>
          <p:cNvSpPr txBox="true"/>
          <p:nvPr/>
        </p:nvSpPr>
        <p:spPr>
          <a:xfrm rot="0">
            <a:off x="7302958" y="6868703"/>
            <a:ext cx="9792716" cy="3088005"/>
          </a:xfrm>
          <a:prstGeom prst="rect">
            <a:avLst/>
          </a:prstGeom>
        </p:spPr>
        <p:txBody>
          <a:bodyPr anchor="t" rtlCol="false" tIns="0" lIns="0" bIns="0" rIns="0">
            <a:spAutoFit/>
          </a:bodyPr>
          <a:lstStyle/>
          <a:p>
            <a:pPr algn="l">
              <a:lnSpc>
                <a:spcPts val="2730"/>
              </a:lnSpc>
            </a:pPr>
            <a:r>
              <a:rPr lang="en-US" sz="2100">
                <a:solidFill>
                  <a:srgbClr val="000000"/>
                </a:solidFill>
                <a:latin typeface="Clear Sans"/>
                <a:ea typeface="Clear Sans"/>
                <a:cs typeface="Clear Sans"/>
                <a:sym typeface="Clear Sans"/>
              </a:rPr>
              <a:t>·</a:t>
            </a:r>
            <a:r>
              <a:rPr lang="en-US" sz="2100">
                <a:solidFill>
                  <a:srgbClr val="000000"/>
                </a:solidFill>
                <a:latin typeface="Clear Sans"/>
                <a:ea typeface="Clear Sans"/>
                <a:cs typeface="Clear Sans"/>
                <a:sym typeface="Clear Sans"/>
              </a:rPr>
              <a:t> Tích hợp thông tin ngay lập tức.</a:t>
            </a:r>
          </a:p>
          <a:p>
            <a:pPr algn="l">
              <a:lnSpc>
                <a:spcPts val="2730"/>
              </a:lnSpc>
            </a:pPr>
            <a:r>
              <a:rPr lang="en-US" sz="2100">
                <a:solidFill>
                  <a:srgbClr val="000000"/>
                </a:solidFill>
                <a:latin typeface="Clear Sans"/>
                <a:ea typeface="Clear Sans"/>
                <a:cs typeface="Clear Sans"/>
                <a:sym typeface="Clear Sans"/>
              </a:rPr>
              <a:t>· Giải quyết mâu thuẫn nhanh chóng.</a:t>
            </a:r>
          </a:p>
          <a:p>
            <a:pPr algn="l">
              <a:lnSpc>
                <a:spcPts val="2730"/>
              </a:lnSpc>
            </a:pPr>
            <a:r>
              <a:rPr lang="en-US" sz="2100">
                <a:solidFill>
                  <a:srgbClr val="000000"/>
                </a:solidFill>
                <a:latin typeface="Clear Sans"/>
                <a:ea typeface="Clear Sans"/>
                <a:cs typeface="Clear Sans"/>
                <a:sym typeface="Clear Sans"/>
              </a:rPr>
              <a:t>· Tăng sự đồng thuận và tham gia của người dùng.</a:t>
            </a:r>
          </a:p>
          <a:p>
            <a:pPr algn="l">
              <a:lnSpc>
                <a:spcPts val="2730"/>
              </a:lnSpc>
            </a:pPr>
            <a:r>
              <a:rPr lang="en-US" sz="2100">
                <a:solidFill>
                  <a:srgbClr val="000000"/>
                </a:solidFill>
                <a:latin typeface="Clear Sans"/>
                <a:ea typeface="Clear Sans"/>
                <a:cs typeface="Clear Sans"/>
                <a:sym typeface="Clear Sans"/>
              </a:rPr>
              <a:t>· Cấu trúc có tính tổ chức cao </a:t>
            </a:r>
          </a:p>
          <a:p>
            <a:pPr algn="l">
              <a:lnSpc>
                <a:spcPts val="2730"/>
              </a:lnSpc>
            </a:pPr>
          </a:p>
          <a:p>
            <a:pPr algn="l">
              <a:lnSpc>
                <a:spcPts val="2730"/>
              </a:lnSpc>
            </a:pPr>
            <a:r>
              <a:rPr lang="en-US" sz="2100">
                <a:solidFill>
                  <a:srgbClr val="000000"/>
                </a:solidFill>
                <a:latin typeface="Clear Sans"/>
                <a:ea typeface="Clear Sans"/>
                <a:cs typeface="Clear Sans"/>
                <a:sym typeface="Clear Sans"/>
              </a:rPr>
              <a:t>· Chi phí cao (phải tập hợp nhiều người, thuê chuyên gia tư vấn).</a:t>
            </a:r>
          </a:p>
          <a:p>
            <a:pPr algn="l">
              <a:lnSpc>
                <a:spcPts val="2730"/>
              </a:lnSpc>
            </a:pPr>
            <a:r>
              <a:rPr lang="en-US" sz="2100">
                <a:solidFill>
                  <a:srgbClr val="000000"/>
                </a:solidFill>
                <a:latin typeface="Clear Sans"/>
                <a:ea typeface="Clear Sans"/>
                <a:cs typeface="Clear Sans"/>
                <a:sym typeface="Clear Sans"/>
              </a:rPr>
              <a:t>· Yêu cầu kỹ năng điều phối cao.</a:t>
            </a:r>
          </a:p>
          <a:p>
            <a:pPr algn="l">
              <a:lnSpc>
                <a:spcPts val="2730"/>
              </a:lnSpc>
            </a:pPr>
            <a:r>
              <a:rPr lang="en-US" sz="2100">
                <a:solidFill>
                  <a:srgbClr val="000000"/>
                </a:solidFill>
                <a:latin typeface="Clear Sans"/>
                <a:ea typeface="Clear Sans"/>
                <a:cs typeface="Clear Sans"/>
                <a:sym typeface="Clear Sans"/>
              </a:rPr>
              <a:t>· Mất thời gian và nguồn lực lớn</a:t>
            </a:r>
          </a:p>
          <a:p>
            <a:pPr algn="l">
              <a:lnSpc>
                <a:spcPts val="2730"/>
              </a:lnSpc>
              <a:spcBef>
                <a:spcPct val="0"/>
              </a:spcBef>
            </a:pPr>
            <a:r>
              <a:rPr lang="en-US" sz="2100">
                <a:solidFill>
                  <a:srgbClr val="000000"/>
                </a:solidFill>
                <a:latin typeface="Clear Sans"/>
                <a:ea typeface="Clear Sans"/>
                <a:cs typeface="Clear Sans"/>
                <a:sym typeface="Clear Sans"/>
              </a:rPr>
              <a:t>· Khó duy trì tính linh hoạt</a:t>
            </a:r>
          </a:p>
        </p:txBody>
      </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28564" y="4095543"/>
            <a:ext cx="9133702" cy="8617511"/>
          </a:xfrm>
          <a:prstGeom prst="rect">
            <a:avLst/>
          </a:prstGeom>
        </p:spPr>
      </p:pic>
      <p:grpSp>
        <p:nvGrpSpPr>
          <p:cNvPr name="Group 3" id="3"/>
          <p:cNvGrpSpPr/>
          <p:nvPr/>
        </p:nvGrpSpPr>
        <p:grpSpPr>
          <a:xfrm rot="0">
            <a:off x="6625923" y="0"/>
            <a:ext cx="10633377" cy="2123088"/>
            <a:chOff x="0" y="0"/>
            <a:chExt cx="14177836" cy="2830784"/>
          </a:xfrm>
        </p:grpSpPr>
        <p:grpSp>
          <p:nvGrpSpPr>
            <p:cNvPr name="Group 4" id="4"/>
            <p:cNvGrpSpPr/>
            <p:nvPr/>
          </p:nvGrpSpPr>
          <p:grpSpPr>
            <a:xfrm rot="0">
              <a:off x="0" y="0"/>
              <a:ext cx="14177836" cy="2830784"/>
              <a:chOff x="0" y="0"/>
              <a:chExt cx="5522448" cy="1102626"/>
            </a:xfrm>
          </p:grpSpPr>
          <p:sp>
            <p:nvSpPr>
              <p:cNvPr name="Freeform 5" id="5"/>
              <p:cNvSpPr/>
              <p:nvPr/>
            </p:nvSpPr>
            <p:spPr>
              <a:xfrm flipH="false" flipV="false" rot="0">
                <a:off x="0" y="0"/>
                <a:ext cx="5522448" cy="1102627"/>
              </a:xfrm>
              <a:custGeom>
                <a:avLst/>
                <a:gdLst/>
                <a:ahLst/>
                <a:cxnLst/>
                <a:rect r="r" b="b" t="t" l="l"/>
                <a:pathLst>
                  <a:path h="1102627" w="5522448">
                    <a:moveTo>
                      <a:pt x="5397988" y="1102626"/>
                    </a:moveTo>
                    <a:lnTo>
                      <a:pt x="124460" y="1102626"/>
                    </a:lnTo>
                    <a:cubicBezTo>
                      <a:pt x="55880" y="1102626"/>
                      <a:pt x="0" y="1046746"/>
                      <a:pt x="0" y="978166"/>
                    </a:cubicBezTo>
                    <a:lnTo>
                      <a:pt x="0" y="124460"/>
                    </a:lnTo>
                    <a:cubicBezTo>
                      <a:pt x="0" y="55880"/>
                      <a:pt x="55880" y="0"/>
                      <a:pt x="124460" y="0"/>
                    </a:cubicBezTo>
                    <a:lnTo>
                      <a:pt x="5397988" y="0"/>
                    </a:lnTo>
                    <a:cubicBezTo>
                      <a:pt x="5466568" y="0"/>
                      <a:pt x="5522448" y="55880"/>
                      <a:pt x="5522448" y="124460"/>
                    </a:cubicBezTo>
                    <a:lnTo>
                      <a:pt x="5522448" y="978167"/>
                    </a:lnTo>
                    <a:cubicBezTo>
                      <a:pt x="5522448" y="1046746"/>
                      <a:pt x="5466568" y="1102627"/>
                      <a:pt x="5397988" y="1102627"/>
                    </a:cubicBezTo>
                    <a:close/>
                  </a:path>
                </a:pathLst>
              </a:custGeom>
              <a:solidFill>
                <a:srgbClr val="D8A1A6"/>
              </a:solidFill>
            </p:spPr>
          </p:sp>
        </p:grpSp>
        <p:sp>
          <p:nvSpPr>
            <p:cNvPr name="TextBox 6" id="6"/>
            <p:cNvSpPr txBox="true"/>
            <p:nvPr/>
          </p:nvSpPr>
          <p:spPr>
            <a:xfrm rot="0">
              <a:off x="916793" y="242833"/>
              <a:ext cx="12079533" cy="691307"/>
            </a:xfrm>
            <a:prstGeom prst="rect">
              <a:avLst/>
            </a:prstGeom>
          </p:spPr>
          <p:txBody>
            <a:bodyPr anchor="t" rtlCol="false" tIns="0" lIns="0" bIns="0" rIns="0">
              <a:spAutoFit/>
            </a:bodyPr>
            <a:lstStyle/>
            <a:p>
              <a:pPr algn="l">
                <a:lnSpc>
                  <a:spcPts val="4269"/>
                </a:lnSpc>
              </a:pPr>
              <a:r>
                <a:rPr lang="en-US" sz="3284">
                  <a:solidFill>
                    <a:srgbClr val="000000"/>
                  </a:solidFill>
                  <a:latin typeface="Baloo"/>
                  <a:ea typeface="Baloo"/>
                  <a:cs typeface="Baloo"/>
                  <a:sym typeface="Baloo"/>
                </a:rPr>
                <a:t>Đặc trưng:</a:t>
              </a:r>
            </a:p>
          </p:txBody>
        </p:sp>
      </p:grpSp>
      <p:grpSp>
        <p:nvGrpSpPr>
          <p:cNvPr name="Group 7" id="7"/>
          <p:cNvGrpSpPr/>
          <p:nvPr/>
        </p:nvGrpSpPr>
        <p:grpSpPr>
          <a:xfrm rot="0">
            <a:off x="6625923" y="2286577"/>
            <a:ext cx="10633377" cy="3785938"/>
            <a:chOff x="0" y="0"/>
            <a:chExt cx="14177836" cy="5047918"/>
          </a:xfrm>
        </p:grpSpPr>
        <p:grpSp>
          <p:nvGrpSpPr>
            <p:cNvPr name="Group 8" id="8"/>
            <p:cNvGrpSpPr/>
            <p:nvPr/>
          </p:nvGrpSpPr>
          <p:grpSpPr>
            <a:xfrm rot="0">
              <a:off x="0" y="0"/>
              <a:ext cx="14177836" cy="5047918"/>
              <a:chOff x="0" y="0"/>
              <a:chExt cx="5265430" cy="1874719"/>
            </a:xfrm>
          </p:grpSpPr>
          <p:sp>
            <p:nvSpPr>
              <p:cNvPr name="Freeform 9" id="9"/>
              <p:cNvSpPr/>
              <p:nvPr/>
            </p:nvSpPr>
            <p:spPr>
              <a:xfrm flipH="false" flipV="false" rot="0">
                <a:off x="0" y="0"/>
                <a:ext cx="5265431" cy="1874719"/>
              </a:xfrm>
              <a:custGeom>
                <a:avLst/>
                <a:gdLst/>
                <a:ahLst/>
                <a:cxnLst/>
                <a:rect r="r" b="b" t="t" l="l"/>
                <a:pathLst>
                  <a:path h="1874719" w="5265431">
                    <a:moveTo>
                      <a:pt x="5140970" y="1874719"/>
                    </a:moveTo>
                    <a:lnTo>
                      <a:pt x="124460" y="1874719"/>
                    </a:lnTo>
                    <a:cubicBezTo>
                      <a:pt x="55880" y="1874719"/>
                      <a:pt x="0" y="1818839"/>
                      <a:pt x="0" y="1750259"/>
                    </a:cubicBezTo>
                    <a:lnTo>
                      <a:pt x="0" y="124460"/>
                    </a:lnTo>
                    <a:cubicBezTo>
                      <a:pt x="0" y="55880"/>
                      <a:pt x="55880" y="0"/>
                      <a:pt x="124460" y="0"/>
                    </a:cubicBezTo>
                    <a:lnTo>
                      <a:pt x="5140970" y="0"/>
                    </a:lnTo>
                    <a:cubicBezTo>
                      <a:pt x="5209550" y="0"/>
                      <a:pt x="5265431" y="55880"/>
                      <a:pt x="5265431" y="124460"/>
                    </a:cubicBezTo>
                    <a:lnTo>
                      <a:pt x="5265431" y="1750259"/>
                    </a:lnTo>
                    <a:cubicBezTo>
                      <a:pt x="5265431" y="1818839"/>
                      <a:pt x="5209550" y="1874719"/>
                      <a:pt x="5140970" y="1874719"/>
                    </a:cubicBezTo>
                    <a:close/>
                  </a:path>
                </a:pathLst>
              </a:custGeom>
              <a:solidFill>
                <a:srgbClr val="D8A1A6"/>
              </a:solidFill>
            </p:spPr>
          </p:sp>
        </p:grpSp>
        <p:sp>
          <p:nvSpPr>
            <p:cNvPr name="TextBox 10" id="10"/>
            <p:cNvSpPr txBox="true"/>
            <p:nvPr/>
          </p:nvSpPr>
          <p:spPr>
            <a:xfrm rot="0">
              <a:off x="916793" y="265606"/>
              <a:ext cx="12079533" cy="714132"/>
            </a:xfrm>
            <a:prstGeom prst="rect">
              <a:avLst/>
            </a:prstGeom>
          </p:spPr>
          <p:txBody>
            <a:bodyPr anchor="t" rtlCol="false" tIns="0" lIns="0" bIns="0" rIns="0">
              <a:spAutoFit/>
            </a:bodyPr>
            <a:lstStyle/>
            <a:p>
              <a:pPr algn="l">
                <a:lnSpc>
                  <a:spcPts val="4477"/>
                </a:lnSpc>
              </a:pPr>
              <a:r>
                <a:rPr lang="en-US" sz="3444">
                  <a:solidFill>
                    <a:srgbClr val="000000"/>
                  </a:solidFill>
                  <a:latin typeface="Baloo"/>
                  <a:ea typeface="Baloo"/>
                  <a:cs typeface="Baloo"/>
                  <a:sym typeface="Baloo"/>
                </a:rPr>
                <a:t>Dùng cho trường hợp nào:</a:t>
              </a:r>
              <a:r>
                <a:rPr lang="en-US" sz="3444">
                  <a:solidFill>
                    <a:srgbClr val="000000"/>
                  </a:solidFill>
                  <a:latin typeface="Baloo"/>
                  <a:ea typeface="Baloo"/>
                  <a:cs typeface="Baloo"/>
                  <a:sym typeface="Baloo"/>
                </a:rPr>
                <a:t>  </a:t>
              </a:r>
            </a:p>
          </p:txBody>
        </p:sp>
        <p:sp>
          <p:nvSpPr>
            <p:cNvPr name="TextBox 11" id="11"/>
            <p:cNvSpPr txBox="true"/>
            <p:nvPr/>
          </p:nvSpPr>
          <p:spPr>
            <a:xfrm rot="0">
              <a:off x="916793" y="1275288"/>
              <a:ext cx="12344250" cy="3298567"/>
            </a:xfrm>
            <a:prstGeom prst="rect">
              <a:avLst/>
            </a:prstGeom>
          </p:spPr>
          <p:txBody>
            <a:bodyPr anchor="t" rtlCol="false" tIns="0" lIns="0" bIns="0" rIns="0">
              <a:spAutoFit/>
            </a:bodyPr>
            <a:lstStyle/>
            <a:p>
              <a:pPr algn="l">
                <a:lnSpc>
                  <a:spcPts val="2835"/>
                </a:lnSpc>
              </a:pPr>
              <a:r>
                <a:rPr lang="en-US" sz="2181">
                  <a:solidFill>
                    <a:srgbClr val="000000"/>
                  </a:solidFill>
                  <a:latin typeface="Clear Sans"/>
                  <a:ea typeface="Clear Sans"/>
                  <a:cs typeface="Clear Sans"/>
                  <a:sym typeface="Clear Sans"/>
                </a:rPr>
                <a:t>·Giai đoạn đầu của dự án, để xác định phạm vi và yêu cầu tổng quát</a:t>
              </a:r>
            </a:p>
            <a:p>
              <a:pPr algn="l">
                <a:lnSpc>
                  <a:spcPts val="2835"/>
                </a:lnSpc>
              </a:pPr>
            </a:p>
            <a:p>
              <a:pPr algn="l">
                <a:lnSpc>
                  <a:spcPts val="2835"/>
                </a:lnSpc>
              </a:pPr>
            </a:p>
            <a:p>
              <a:pPr algn="l">
                <a:lnSpc>
                  <a:spcPts val="2835"/>
                </a:lnSpc>
              </a:pPr>
            </a:p>
            <a:p>
              <a:pPr algn="l">
                <a:lnSpc>
                  <a:spcPts val="2835"/>
                </a:lnSpc>
              </a:pPr>
            </a:p>
            <a:p>
              <a:pPr algn="l">
                <a:lnSpc>
                  <a:spcPts val="2835"/>
                </a:lnSpc>
              </a:pPr>
            </a:p>
            <a:p>
              <a:pPr algn="l">
                <a:lnSpc>
                  <a:spcPts val="2835"/>
                </a:lnSpc>
              </a:pPr>
            </a:p>
          </p:txBody>
        </p:sp>
      </p:grpSp>
      <p:sp>
        <p:nvSpPr>
          <p:cNvPr name="Freeform 12" id="12"/>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7321938" y="3677110"/>
            <a:ext cx="9524987" cy="1173480"/>
          </a:xfrm>
          <a:prstGeom prst="rect">
            <a:avLst/>
          </a:prstGeom>
        </p:spPr>
        <p:txBody>
          <a:bodyPr anchor="t" rtlCol="false" tIns="0" lIns="0" bIns="0" rIns="0">
            <a:spAutoFit/>
          </a:bodyPr>
          <a:lstStyle/>
          <a:p>
            <a:pPr algn="just">
              <a:lnSpc>
                <a:spcPts val="4680"/>
              </a:lnSpc>
            </a:pPr>
            <a:r>
              <a:rPr lang="en-US" sz="3600">
                <a:solidFill>
                  <a:srgbClr val="000000"/>
                </a:solidFill>
                <a:latin typeface="Baloo"/>
                <a:ea typeface="Baloo"/>
                <a:cs typeface="Baloo"/>
                <a:sym typeface="Baloo"/>
              </a:rPr>
              <a:t>Cách tiến hành</a:t>
            </a:r>
          </a:p>
          <a:p>
            <a:pPr algn="just">
              <a:lnSpc>
                <a:spcPts val="4680"/>
              </a:lnSpc>
              <a:spcBef>
                <a:spcPct val="0"/>
              </a:spcBef>
            </a:pPr>
          </a:p>
        </p:txBody>
      </p:sp>
      <p:sp>
        <p:nvSpPr>
          <p:cNvPr name="TextBox 14" id="14"/>
          <p:cNvSpPr txBox="true"/>
          <p:nvPr/>
        </p:nvSpPr>
        <p:spPr>
          <a:xfrm rot="0">
            <a:off x="7321938" y="4263850"/>
            <a:ext cx="10409035" cy="2249170"/>
          </a:xfrm>
          <a:prstGeom prst="rect">
            <a:avLst/>
          </a:prstGeom>
        </p:spPr>
        <p:txBody>
          <a:bodyPr anchor="t" rtlCol="false" tIns="0" lIns="0" bIns="0" rIns="0">
            <a:spAutoFit/>
          </a:bodyPr>
          <a:lstStyle/>
          <a:p>
            <a:pPr algn="l">
              <a:lnSpc>
                <a:spcPts val="2860"/>
              </a:lnSpc>
            </a:pPr>
            <a:r>
              <a:rPr lang="en-US" sz="2200">
                <a:solidFill>
                  <a:srgbClr val="000000"/>
                </a:solidFill>
                <a:latin typeface="Clear Sans"/>
                <a:ea typeface="Clear Sans"/>
                <a:cs typeface="Clear Sans"/>
                <a:sym typeface="Clear Sans"/>
              </a:rPr>
              <a:t>·Chuẩn Bị: Xác định mục tiêu, chọn người tham gia và người điều phối.</a:t>
            </a:r>
          </a:p>
          <a:p>
            <a:pPr algn="l">
              <a:lnSpc>
                <a:spcPts val="2860"/>
              </a:lnSpc>
            </a:pPr>
            <a:r>
              <a:rPr lang="en-US" sz="2200">
                <a:solidFill>
                  <a:srgbClr val="000000"/>
                </a:solidFill>
                <a:latin typeface="Clear Sans"/>
                <a:ea typeface="Clear Sans"/>
                <a:cs typeface="Clear Sans"/>
                <a:sym typeface="Clear Sans"/>
              </a:rPr>
              <a:t>·Tiến Hành: Giới thiệu mục tiêu, thu thập các yêu cầu có chọn lọc..</a:t>
            </a:r>
          </a:p>
          <a:p>
            <a:pPr algn="l">
              <a:lnSpc>
                <a:spcPts val="2860"/>
              </a:lnSpc>
            </a:pPr>
            <a:r>
              <a:rPr lang="en-US" sz="2200">
                <a:solidFill>
                  <a:srgbClr val="000000"/>
                </a:solidFill>
                <a:latin typeface="Clear Sans"/>
                <a:ea typeface="Clear Sans"/>
                <a:cs typeface="Clear Sans"/>
                <a:sym typeface="Clear Sans"/>
              </a:rPr>
              <a:t>·Kết Thúc: Tổng kết kết quả và xác định các yêu cầu để thực hiện dự án.</a:t>
            </a:r>
          </a:p>
          <a:p>
            <a:pPr algn="l">
              <a:lnSpc>
                <a:spcPts val="4680"/>
              </a:lnSpc>
            </a:pPr>
          </a:p>
          <a:p>
            <a:pPr algn="l">
              <a:lnSpc>
                <a:spcPts val="4680"/>
              </a:lnSpc>
              <a:spcBef>
                <a:spcPct val="0"/>
              </a:spcBef>
            </a:pPr>
          </a:p>
        </p:txBody>
      </p:sp>
      <p:grpSp>
        <p:nvGrpSpPr>
          <p:cNvPr name="Group 15" id="15"/>
          <p:cNvGrpSpPr/>
          <p:nvPr/>
        </p:nvGrpSpPr>
        <p:grpSpPr>
          <a:xfrm rot="0">
            <a:off x="6625923" y="6236004"/>
            <a:ext cx="10633377" cy="3894366"/>
            <a:chOff x="0" y="0"/>
            <a:chExt cx="14177836" cy="5192489"/>
          </a:xfrm>
        </p:grpSpPr>
        <p:grpSp>
          <p:nvGrpSpPr>
            <p:cNvPr name="Group 16" id="16"/>
            <p:cNvGrpSpPr/>
            <p:nvPr/>
          </p:nvGrpSpPr>
          <p:grpSpPr>
            <a:xfrm rot="0">
              <a:off x="0" y="0"/>
              <a:ext cx="14177836" cy="5192489"/>
              <a:chOff x="0" y="0"/>
              <a:chExt cx="5265430" cy="1928410"/>
            </a:xfrm>
          </p:grpSpPr>
          <p:sp>
            <p:nvSpPr>
              <p:cNvPr name="Freeform 17" id="17"/>
              <p:cNvSpPr/>
              <p:nvPr/>
            </p:nvSpPr>
            <p:spPr>
              <a:xfrm flipH="false" flipV="false" rot="0">
                <a:off x="0" y="0"/>
                <a:ext cx="5265431" cy="1928411"/>
              </a:xfrm>
              <a:custGeom>
                <a:avLst/>
                <a:gdLst/>
                <a:ahLst/>
                <a:cxnLst/>
                <a:rect r="r" b="b" t="t" l="l"/>
                <a:pathLst>
                  <a:path h="1928411" w="5265431">
                    <a:moveTo>
                      <a:pt x="5140970" y="1928410"/>
                    </a:moveTo>
                    <a:lnTo>
                      <a:pt x="124460" y="1928410"/>
                    </a:lnTo>
                    <a:cubicBezTo>
                      <a:pt x="55880" y="1928410"/>
                      <a:pt x="0" y="1872530"/>
                      <a:pt x="0" y="1803950"/>
                    </a:cubicBezTo>
                    <a:lnTo>
                      <a:pt x="0" y="124460"/>
                    </a:lnTo>
                    <a:cubicBezTo>
                      <a:pt x="0" y="55880"/>
                      <a:pt x="55880" y="0"/>
                      <a:pt x="124460" y="0"/>
                    </a:cubicBezTo>
                    <a:lnTo>
                      <a:pt x="5140970" y="0"/>
                    </a:lnTo>
                    <a:cubicBezTo>
                      <a:pt x="5209550" y="0"/>
                      <a:pt x="5265431" y="55880"/>
                      <a:pt x="5265431" y="124460"/>
                    </a:cubicBezTo>
                    <a:lnTo>
                      <a:pt x="5265431" y="1803951"/>
                    </a:lnTo>
                    <a:cubicBezTo>
                      <a:pt x="5265431" y="1872530"/>
                      <a:pt x="5209550" y="1928411"/>
                      <a:pt x="5140970" y="1928411"/>
                    </a:cubicBezTo>
                    <a:close/>
                  </a:path>
                </a:pathLst>
              </a:custGeom>
              <a:solidFill>
                <a:srgbClr val="D8A1A6"/>
              </a:solidFill>
            </p:spPr>
          </p:sp>
        </p:grpSp>
        <p:sp>
          <p:nvSpPr>
            <p:cNvPr name="TextBox 18" id="18"/>
            <p:cNvSpPr txBox="true"/>
            <p:nvPr/>
          </p:nvSpPr>
          <p:spPr>
            <a:xfrm rot="0">
              <a:off x="916793" y="265606"/>
              <a:ext cx="12079533" cy="715854"/>
            </a:xfrm>
            <a:prstGeom prst="rect">
              <a:avLst/>
            </a:prstGeom>
          </p:spPr>
          <p:txBody>
            <a:bodyPr anchor="t" rtlCol="false" tIns="0" lIns="0" bIns="0" rIns="0">
              <a:spAutoFit/>
            </a:bodyPr>
            <a:lstStyle/>
            <a:p>
              <a:pPr algn="l">
                <a:lnSpc>
                  <a:spcPts val="4443"/>
                </a:lnSpc>
              </a:pPr>
              <a:r>
                <a:rPr lang="en-US" sz="3444">
                  <a:solidFill>
                    <a:srgbClr val="000000"/>
                  </a:solidFill>
                  <a:latin typeface="Baloo"/>
                  <a:ea typeface="Baloo"/>
                  <a:cs typeface="Baloo"/>
                  <a:sym typeface="Baloo"/>
                </a:rPr>
                <a:t>Ưu, nhược điểm:</a:t>
              </a:r>
            </a:p>
          </p:txBody>
        </p:sp>
        <p:sp>
          <p:nvSpPr>
            <p:cNvPr name="TextBox 19" id="19"/>
            <p:cNvSpPr txBox="true"/>
            <p:nvPr/>
          </p:nvSpPr>
          <p:spPr>
            <a:xfrm rot="0">
              <a:off x="916793" y="1286536"/>
              <a:ext cx="12344250" cy="3431890"/>
            </a:xfrm>
            <a:prstGeom prst="rect">
              <a:avLst/>
            </a:prstGeom>
          </p:spPr>
          <p:txBody>
            <a:bodyPr anchor="t" rtlCol="false" tIns="0" lIns="0" bIns="0" rIns="0">
              <a:spAutoFit/>
            </a:bodyPr>
            <a:lstStyle/>
            <a:p>
              <a:pPr algn="l">
                <a:lnSpc>
                  <a:spcPts val="2988"/>
                </a:lnSpc>
              </a:pPr>
              <a:r>
                <a:rPr lang="en-US" sz="2281">
                  <a:solidFill>
                    <a:srgbClr val="000000"/>
                  </a:solidFill>
                  <a:latin typeface="Clear Sans"/>
                  <a:ea typeface="Clear Sans"/>
                  <a:cs typeface="Clear Sans"/>
                  <a:sym typeface="Clear Sans"/>
                </a:rPr>
                <a:t>·Tạo cơ hội sáng tạo và giải quyết vấn đề hiệu quả.</a:t>
              </a:r>
            </a:p>
            <a:p>
              <a:pPr algn="l">
                <a:lnSpc>
                  <a:spcPts val="2988"/>
                </a:lnSpc>
              </a:pPr>
              <a:r>
                <a:rPr lang="en-US" sz="2281">
                  <a:solidFill>
                    <a:srgbClr val="000000"/>
                  </a:solidFill>
                  <a:latin typeface="Clear Sans"/>
                  <a:ea typeface="Clear Sans"/>
                  <a:cs typeface="Clear Sans"/>
                  <a:sym typeface="Clear Sans"/>
                </a:rPr>
                <a:t>·  Nâng cao sự tham gia và hợp tác từ các thành viên.</a:t>
              </a:r>
            </a:p>
            <a:p>
              <a:pPr algn="l">
                <a:lnSpc>
                  <a:spcPts val="2988"/>
                </a:lnSpc>
              </a:pPr>
              <a:r>
                <a:rPr lang="en-US" sz="2281">
                  <a:solidFill>
                    <a:srgbClr val="000000"/>
                  </a:solidFill>
                  <a:latin typeface="Clear Sans"/>
                  <a:ea typeface="Clear Sans"/>
                  <a:cs typeface="Clear Sans"/>
                  <a:sym typeface="Clear Sans"/>
                </a:rPr>
                <a:t>·  Xây dựng mối quan hệ trong nhóm và tổ chức.</a:t>
              </a:r>
            </a:p>
            <a:p>
              <a:pPr algn="l">
                <a:lnSpc>
                  <a:spcPts val="2988"/>
                </a:lnSpc>
              </a:pPr>
            </a:p>
            <a:p>
              <a:pPr algn="l">
                <a:lnSpc>
                  <a:spcPts val="2988"/>
                </a:lnSpc>
              </a:pPr>
              <a:r>
                <a:rPr lang="en-US" sz="2281">
                  <a:solidFill>
                    <a:srgbClr val="000000"/>
                  </a:solidFill>
                  <a:latin typeface="Clear Sans"/>
                  <a:ea typeface="Clear Sans"/>
                  <a:cs typeface="Clear Sans"/>
                  <a:sym typeface="Clear Sans"/>
                </a:rPr>
                <a:t>·Cần có sự điều phối tốt để mọi người có thể tập trung cho hội thảo</a:t>
              </a:r>
            </a:p>
            <a:p>
              <a:pPr algn="l">
                <a:lnSpc>
                  <a:spcPts val="2988"/>
                </a:lnSpc>
              </a:pPr>
              <a:r>
                <a:rPr lang="en-US" sz="2281">
                  <a:solidFill>
                    <a:srgbClr val="000000"/>
                  </a:solidFill>
                  <a:latin typeface="Clear Sans"/>
                  <a:ea typeface="Clear Sans"/>
                  <a:cs typeface="Clear Sans"/>
                  <a:sym typeface="Clear Sans"/>
                </a:rPr>
                <a:t>·  Khó duy trì sự tập trung với nhóm lớn .</a:t>
              </a:r>
            </a:p>
            <a:p>
              <a:pPr algn="l">
                <a:lnSpc>
                  <a:spcPts val="2857"/>
                </a:lnSpc>
              </a:pPr>
            </a:p>
          </p:txBody>
        </p:sp>
      </p:grpSp>
      <p:sp>
        <p:nvSpPr>
          <p:cNvPr name="TextBox 20" id="20"/>
          <p:cNvSpPr txBox="true"/>
          <p:nvPr/>
        </p:nvSpPr>
        <p:spPr>
          <a:xfrm rot="0">
            <a:off x="588374" y="3443454"/>
            <a:ext cx="6436125" cy="2190750"/>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Workshops</a:t>
            </a:r>
          </a:p>
          <a:p>
            <a:pPr algn="l">
              <a:lnSpc>
                <a:spcPts val="8640"/>
              </a:lnSpc>
            </a:pPr>
          </a:p>
        </p:txBody>
      </p:sp>
      <p:sp>
        <p:nvSpPr>
          <p:cNvPr name="TextBox 21" id="21"/>
          <p:cNvSpPr txBox="true"/>
          <p:nvPr/>
        </p:nvSpPr>
        <p:spPr>
          <a:xfrm rot="0">
            <a:off x="7321938" y="724953"/>
            <a:ext cx="9632932" cy="1076960"/>
          </a:xfrm>
          <a:prstGeom prst="rect">
            <a:avLst/>
          </a:prstGeom>
        </p:spPr>
        <p:txBody>
          <a:bodyPr anchor="t" rtlCol="false" tIns="0" lIns="0" bIns="0" rIns="0">
            <a:spAutoFit/>
          </a:bodyPr>
          <a:lstStyle/>
          <a:p>
            <a:pPr algn="just">
              <a:lnSpc>
                <a:spcPts val="2860"/>
              </a:lnSpc>
            </a:pPr>
            <a:r>
              <a:rPr lang="en-US" sz="2200">
                <a:solidFill>
                  <a:srgbClr val="000000"/>
                </a:solidFill>
                <a:latin typeface="Clear Sans"/>
                <a:ea typeface="Clear Sans"/>
                <a:cs typeface="Clear Sans"/>
                <a:sym typeface="Clear Sans"/>
              </a:rPr>
              <a:t>·Tập trung vào các vấn đề có tính tổng quát như yêu cầu nghiệp vụ, hệ thống tổng thể</a:t>
            </a:r>
          </a:p>
          <a:p>
            <a:pPr algn="just">
              <a:lnSpc>
                <a:spcPts val="2860"/>
              </a:lnSpc>
            </a:pPr>
          </a:p>
        </p:txBody>
      </p:sp>
      <p:pic>
        <p:nvPicPr>
          <p:cNvPr name="Picture 22" id="22"/>
          <p:cNvPicPr>
            <a:picLocks noChangeAspect="true"/>
          </p:cNvPicPr>
          <p:nvPr/>
        </p:nvPicPr>
        <p:blipFill>
          <a:blip r:embed="rId5"/>
          <a:srcRect l="0" t="0" r="0" b="0"/>
          <a:stretch>
            <a:fillRect/>
          </a:stretch>
        </p:blipFill>
        <p:spPr>
          <a:xfrm flipH="false" flipV="false" rot="0">
            <a:off x="1028700" y="5261199"/>
            <a:ext cx="4455806" cy="4114800"/>
          </a:xfrm>
          <a:prstGeom prst="rect">
            <a:avLst/>
          </a:prstGeom>
        </p:spPr>
      </p:pic>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3528564" y="3867786"/>
            <a:ext cx="9133702" cy="8617511"/>
          </a:xfrm>
          <a:prstGeom prst="rect">
            <a:avLst/>
          </a:prstGeom>
        </p:spPr>
      </p:pic>
      <p:sp>
        <p:nvSpPr>
          <p:cNvPr name="TextBox 3" id="3"/>
          <p:cNvSpPr txBox="true"/>
          <p:nvPr/>
        </p:nvSpPr>
        <p:spPr>
          <a:xfrm rot="0">
            <a:off x="1659290" y="3450115"/>
            <a:ext cx="6436125" cy="2190750"/>
          </a:xfrm>
          <a:prstGeom prst="rect">
            <a:avLst/>
          </a:prstGeom>
        </p:spPr>
        <p:txBody>
          <a:bodyPr anchor="t" rtlCol="false" tIns="0" lIns="0" bIns="0" rIns="0">
            <a:spAutoFit/>
          </a:bodyPr>
          <a:lstStyle/>
          <a:p>
            <a:pPr algn="l">
              <a:lnSpc>
                <a:spcPts val="8640"/>
              </a:lnSpc>
            </a:pPr>
            <a:r>
              <a:rPr lang="en-US" sz="7200">
                <a:solidFill>
                  <a:srgbClr val="000000"/>
                </a:solidFill>
                <a:latin typeface="Baloo"/>
                <a:ea typeface="Baloo"/>
                <a:cs typeface="Baloo"/>
                <a:sym typeface="Baloo"/>
              </a:rPr>
              <a:t>FAST</a:t>
            </a:r>
          </a:p>
          <a:p>
            <a:pPr algn="l">
              <a:lnSpc>
                <a:spcPts val="8640"/>
              </a:lnSpc>
            </a:pPr>
          </a:p>
        </p:txBody>
      </p:sp>
      <p:grpSp>
        <p:nvGrpSpPr>
          <p:cNvPr name="Group 4" id="4"/>
          <p:cNvGrpSpPr/>
          <p:nvPr/>
        </p:nvGrpSpPr>
        <p:grpSpPr>
          <a:xfrm rot="0">
            <a:off x="6169278" y="115971"/>
            <a:ext cx="10937807" cy="2080812"/>
            <a:chOff x="0" y="0"/>
            <a:chExt cx="14583742" cy="2774416"/>
          </a:xfrm>
        </p:grpSpPr>
        <p:grpSp>
          <p:nvGrpSpPr>
            <p:cNvPr name="Group 5" id="5"/>
            <p:cNvGrpSpPr/>
            <p:nvPr/>
          </p:nvGrpSpPr>
          <p:grpSpPr>
            <a:xfrm rot="0">
              <a:off x="0" y="0"/>
              <a:ext cx="14583742" cy="2774416"/>
              <a:chOff x="0" y="0"/>
              <a:chExt cx="5837311" cy="1110492"/>
            </a:xfrm>
          </p:grpSpPr>
          <p:sp>
            <p:nvSpPr>
              <p:cNvPr name="Freeform 6" id="6"/>
              <p:cNvSpPr/>
              <p:nvPr/>
            </p:nvSpPr>
            <p:spPr>
              <a:xfrm flipH="false" flipV="false" rot="0">
                <a:off x="0" y="0"/>
                <a:ext cx="5837312" cy="1110492"/>
              </a:xfrm>
              <a:custGeom>
                <a:avLst/>
                <a:gdLst/>
                <a:ahLst/>
                <a:cxnLst/>
                <a:rect r="r" b="b" t="t" l="l"/>
                <a:pathLst>
                  <a:path h="1110492" w="5837312">
                    <a:moveTo>
                      <a:pt x="5712851" y="1110492"/>
                    </a:moveTo>
                    <a:lnTo>
                      <a:pt x="124460" y="1110492"/>
                    </a:lnTo>
                    <a:cubicBezTo>
                      <a:pt x="55880" y="1110492"/>
                      <a:pt x="0" y="1054612"/>
                      <a:pt x="0" y="986032"/>
                    </a:cubicBezTo>
                    <a:lnTo>
                      <a:pt x="0" y="124460"/>
                    </a:lnTo>
                    <a:cubicBezTo>
                      <a:pt x="0" y="55880"/>
                      <a:pt x="55880" y="0"/>
                      <a:pt x="124460" y="0"/>
                    </a:cubicBezTo>
                    <a:lnTo>
                      <a:pt x="5712851" y="0"/>
                    </a:lnTo>
                    <a:cubicBezTo>
                      <a:pt x="5781431" y="0"/>
                      <a:pt x="5837312" y="55880"/>
                      <a:pt x="5837312" y="124460"/>
                    </a:cubicBezTo>
                    <a:lnTo>
                      <a:pt x="5837312" y="986032"/>
                    </a:lnTo>
                    <a:cubicBezTo>
                      <a:pt x="5837312" y="1054612"/>
                      <a:pt x="5781431" y="1110492"/>
                      <a:pt x="5712851" y="1110492"/>
                    </a:cubicBezTo>
                    <a:close/>
                  </a:path>
                </a:pathLst>
              </a:custGeom>
              <a:solidFill>
                <a:srgbClr val="D8A1A6"/>
              </a:solidFill>
            </p:spPr>
          </p:sp>
        </p:grpSp>
        <p:sp>
          <p:nvSpPr>
            <p:cNvPr name="TextBox 7" id="7"/>
            <p:cNvSpPr txBox="true"/>
            <p:nvPr/>
          </p:nvSpPr>
          <p:spPr>
            <a:xfrm rot="0">
              <a:off x="943040" y="235544"/>
              <a:ext cx="12425366" cy="693161"/>
            </a:xfrm>
            <a:prstGeom prst="rect">
              <a:avLst/>
            </a:prstGeom>
          </p:spPr>
          <p:txBody>
            <a:bodyPr anchor="t" rtlCol="false" tIns="0" lIns="0" bIns="0" rIns="0">
              <a:spAutoFit/>
            </a:bodyPr>
            <a:lstStyle/>
            <a:p>
              <a:pPr algn="l">
                <a:lnSpc>
                  <a:spcPts val="4277"/>
                </a:lnSpc>
              </a:pPr>
              <a:r>
                <a:rPr lang="en-US" sz="3290">
                  <a:solidFill>
                    <a:srgbClr val="000000"/>
                  </a:solidFill>
                  <a:latin typeface="Baloo"/>
                  <a:ea typeface="Baloo"/>
                  <a:cs typeface="Baloo"/>
                  <a:sym typeface="Baloo"/>
                </a:rPr>
                <a:t>Đặc trưng:</a:t>
              </a:r>
            </a:p>
          </p:txBody>
        </p:sp>
      </p:grpSp>
      <p:grpSp>
        <p:nvGrpSpPr>
          <p:cNvPr name="Group 8" id="8"/>
          <p:cNvGrpSpPr/>
          <p:nvPr/>
        </p:nvGrpSpPr>
        <p:grpSpPr>
          <a:xfrm rot="0">
            <a:off x="6169278" y="2264275"/>
            <a:ext cx="10937807" cy="3877496"/>
            <a:chOff x="0" y="0"/>
            <a:chExt cx="14583742" cy="5169995"/>
          </a:xfrm>
        </p:grpSpPr>
        <p:grpSp>
          <p:nvGrpSpPr>
            <p:cNvPr name="Group 9" id="9"/>
            <p:cNvGrpSpPr/>
            <p:nvPr/>
          </p:nvGrpSpPr>
          <p:grpSpPr>
            <a:xfrm rot="0">
              <a:off x="0" y="0"/>
              <a:ext cx="14583742" cy="5169995"/>
              <a:chOff x="0" y="0"/>
              <a:chExt cx="6081346" cy="2155861"/>
            </a:xfrm>
          </p:grpSpPr>
          <p:sp>
            <p:nvSpPr>
              <p:cNvPr name="Freeform 10" id="10"/>
              <p:cNvSpPr/>
              <p:nvPr/>
            </p:nvSpPr>
            <p:spPr>
              <a:xfrm flipH="false" flipV="false" rot="0">
                <a:off x="0" y="0"/>
                <a:ext cx="6081346" cy="2155862"/>
              </a:xfrm>
              <a:custGeom>
                <a:avLst/>
                <a:gdLst/>
                <a:ahLst/>
                <a:cxnLst/>
                <a:rect r="r" b="b" t="t" l="l"/>
                <a:pathLst>
                  <a:path h="2155862" w="6081346">
                    <a:moveTo>
                      <a:pt x="5956886" y="2155861"/>
                    </a:moveTo>
                    <a:lnTo>
                      <a:pt x="124460" y="2155861"/>
                    </a:lnTo>
                    <a:cubicBezTo>
                      <a:pt x="55880" y="2155861"/>
                      <a:pt x="0" y="2099982"/>
                      <a:pt x="0" y="2031401"/>
                    </a:cubicBezTo>
                    <a:lnTo>
                      <a:pt x="0" y="124460"/>
                    </a:lnTo>
                    <a:cubicBezTo>
                      <a:pt x="0" y="55880"/>
                      <a:pt x="55880" y="0"/>
                      <a:pt x="124460" y="0"/>
                    </a:cubicBezTo>
                    <a:lnTo>
                      <a:pt x="5956886" y="0"/>
                    </a:lnTo>
                    <a:cubicBezTo>
                      <a:pt x="6025466" y="0"/>
                      <a:pt x="6081346" y="55880"/>
                      <a:pt x="6081346" y="124460"/>
                    </a:cubicBezTo>
                    <a:lnTo>
                      <a:pt x="6081346" y="2031402"/>
                    </a:lnTo>
                    <a:cubicBezTo>
                      <a:pt x="6081346" y="2099982"/>
                      <a:pt x="6025466" y="2155862"/>
                      <a:pt x="5956886" y="2155862"/>
                    </a:cubicBezTo>
                    <a:close/>
                  </a:path>
                </a:pathLst>
              </a:custGeom>
              <a:solidFill>
                <a:srgbClr val="D8A1A6"/>
              </a:solidFill>
            </p:spPr>
          </p:sp>
        </p:grpSp>
        <p:sp>
          <p:nvSpPr>
            <p:cNvPr name="TextBox 11" id="11"/>
            <p:cNvSpPr txBox="true"/>
            <p:nvPr/>
          </p:nvSpPr>
          <p:spPr>
            <a:xfrm rot="0">
              <a:off x="943040" y="224945"/>
              <a:ext cx="12425366" cy="665083"/>
            </a:xfrm>
            <a:prstGeom prst="rect">
              <a:avLst/>
            </a:prstGeom>
          </p:spPr>
          <p:txBody>
            <a:bodyPr anchor="t" rtlCol="false" tIns="0" lIns="0" bIns="0" rIns="0">
              <a:spAutoFit/>
            </a:bodyPr>
            <a:lstStyle/>
            <a:p>
              <a:pPr algn="l">
                <a:lnSpc>
                  <a:spcPts val="4103"/>
                </a:lnSpc>
              </a:pPr>
              <a:r>
                <a:rPr lang="en-US" sz="3156">
                  <a:solidFill>
                    <a:srgbClr val="000000"/>
                  </a:solidFill>
                  <a:latin typeface="Baloo"/>
                  <a:ea typeface="Baloo"/>
                  <a:cs typeface="Baloo"/>
                  <a:sym typeface="Baloo"/>
                </a:rPr>
                <a:t>Dùng cho trường hợp nào:</a:t>
              </a:r>
              <a:r>
                <a:rPr lang="en-US" sz="3156">
                  <a:solidFill>
                    <a:srgbClr val="000000"/>
                  </a:solidFill>
                  <a:latin typeface="Baloo"/>
                  <a:ea typeface="Baloo"/>
                  <a:cs typeface="Baloo"/>
                  <a:sym typeface="Baloo"/>
                </a:rPr>
                <a:t>  </a:t>
              </a:r>
            </a:p>
          </p:txBody>
        </p:sp>
        <p:sp>
          <p:nvSpPr>
            <p:cNvPr name="TextBox 12" id="12"/>
            <p:cNvSpPr txBox="true"/>
            <p:nvPr/>
          </p:nvSpPr>
          <p:spPr>
            <a:xfrm rot="0">
              <a:off x="943040" y="1159652"/>
              <a:ext cx="12697662" cy="3588133"/>
            </a:xfrm>
            <a:prstGeom prst="rect">
              <a:avLst/>
            </a:prstGeom>
          </p:spPr>
          <p:txBody>
            <a:bodyPr anchor="t" rtlCol="false" tIns="0" lIns="0" bIns="0" rIns="0">
              <a:spAutoFit/>
            </a:bodyPr>
            <a:lstStyle/>
            <a:p>
              <a:pPr algn="l">
                <a:lnSpc>
                  <a:spcPts val="3150"/>
                </a:lnSpc>
              </a:pPr>
              <a:r>
                <a:rPr lang="en-US" sz="2423">
                  <a:solidFill>
                    <a:srgbClr val="000000"/>
                  </a:solidFill>
                  <a:latin typeface="Clear Sans"/>
                  <a:ea typeface="Clear Sans"/>
                  <a:cs typeface="Clear Sans"/>
                  <a:sym typeface="Clear Sans"/>
                </a:rPr>
                <a:t>·Giai đoạn phân tích chi tiết, nhằm tạo tài liệu chính thức cho hệ thống</a:t>
              </a:r>
            </a:p>
            <a:p>
              <a:pPr algn="l">
                <a:lnSpc>
                  <a:spcPts val="2525"/>
                </a:lnSpc>
              </a:pPr>
            </a:p>
            <a:p>
              <a:pPr algn="l">
                <a:lnSpc>
                  <a:spcPts val="2525"/>
                </a:lnSpc>
              </a:pPr>
            </a:p>
            <a:p>
              <a:pPr algn="l">
                <a:lnSpc>
                  <a:spcPts val="2525"/>
                </a:lnSpc>
              </a:pPr>
            </a:p>
            <a:p>
              <a:pPr algn="l">
                <a:lnSpc>
                  <a:spcPts val="2525"/>
                </a:lnSpc>
              </a:pPr>
            </a:p>
            <a:p>
              <a:pPr algn="l">
                <a:lnSpc>
                  <a:spcPts val="2525"/>
                </a:lnSpc>
              </a:pPr>
            </a:p>
            <a:p>
              <a:pPr algn="l">
                <a:lnSpc>
                  <a:spcPts val="2641"/>
                </a:lnSpc>
              </a:pPr>
            </a:p>
          </p:txBody>
        </p:sp>
      </p:grpSp>
      <p:sp>
        <p:nvSpPr>
          <p:cNvPr name="Freeform 13" id="13"/>
          <p:cNvSpPr/>
          <p:nvPr/>
        </p:nvSpPr>
        <p:spPr>
          <a:xfrm flipH="false" flipV="false" rot="5820624">
            <a:off x="-622345" y="-2652794"/>
            <a:ext cx="4514573" cy="5305588"/>
          </a:xfrm>
          <a:custGeom>
            <a:avLst/>
            <a:gdLst/>
            <a:ahLst/>
            <a:cxnLst/>
            <a:rect r="r" b="b" t="t" l="l"/>
            <a:pathLst>
              <a:path h="5305588" w="4514573">
                <a:moveTo>
                  <a:pt x="0" y="0"/>
                </a:moveTo>
                <a:lnTo>
                  <a:pt x="4514573" y="0"/>
                </a:lnTo>
                <a:lnTo>
                  <a:pt x="4514573"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6169278" y="6209264"/>
            <a:ext cx="10937807" cy="3934555"/>
            <a:chOff x="0" y="0"/>
            <a:chExt cx="14583742" cy="5246073"/>
          </a:xfrm>
        </p:grpSpPr>
        <p:grpSp>
          <p:nvGrpSpPr>
            <p:cNvPr name="Group 15" id="15"/>
            <p:cNvGrpSpPr/>
            <p:nvPr/>
          </p:nvGrpSpPr>
          <p:grpSpPr>
            <a:xfrm rot="0">
              <a:off x="0" y="0"/>
              <a:ext cx="14583742" cy="5246073"/>
              <a:chOff x="0" y="0"/>
              <a:chExt cx="6086067" cy="2189284"/>
            </a:xfrm>
          </p:grpSpPr>
          <p:sp>
            <p:nvSpPr>
              <p:cNvPr name="Freeform 16" id="16"/>
              <p:cNvSpPr/>
              <p:nvPr/>
            </p:nvSpPr>
            <p:spPr>
              <a:xfrm flipH="false" flipV="false" rot="0">
                <a:off x="0" y="0"/>
                <a:ext cx="6086067" cy="2189284"/>
              </a:xfrm>
              <a:custGeom>
                <a:avLst/>
                <a:gdLst/>
                <a:ahLst/>
                <a:cxnLst/>
                <a:rect r="r" b="b" t="t" l="l"/>
                <a:pathLst>
                  <a:path h="2189284" w="6086067">
                    <a:moveTo>
                      <a:pt x="5961607" y="2189284"/>
                    </a:moveTo>
                    <a:lnTo>
                      <a:pt x="124460" y="2189284"/>
                    </a:lnTo>
                    <a:cubicBezTo>
                      <a:pt x="55880" y="2189284"/>
                      <a:pt x="0" y="2133404"/>
                      <a:pt x="0" y="2064824"/>
                    </a:cubicBezTo>
                    <a:lnTo>
                      <a:pt x="0" y="124460"/>
                    </a:lnTo>
                    <a:cubicBezTo>
                      <a:pt x="0" y="55880"/>
                      <a:pt x="55880" y="0"/>
                      <a:pt x="124460" y="0"/>
                    </a:cubicBezTo>
                    <a:lnTo>
                      <a:pt x="5961607" y="0"/>
                    </a:lnTo>
                    <a:cubicBezTo>
                      <a:pt x="6030187" y="0"/>
                      <a:pt x="6086067" y="55880"/>
                      <a:pt x="6086067" y="124460"/>
                    </a:cubicBezTo>
                    <a:lnTo>
                      <a:pt x="6086067" y="2064824"/>
                    </a:lnTo>
                    <a:cubicBezTo>
                      <a:pt x="6086067" y="2133404"/>
                      <a:pt x="6030187" y="2189284"/>
                      <a:pt x="5961607" y="2189284"/>
                    </a:cubicBezTo>
                    <a:close/>
                  </a:path>
                </a:pathLst>
              </a:custGeom>
              <a:solidFill>
                <a:srgbClr val="D8A1A6"/>
              </a:solidFill>
            </p:spPr>
          </p:sp>
        </p:grpSp>
        <p:sp>
          <p:nvSpPr>
            <p:cNvPr name="TextBox 17" id="17"/>
            <p:cNvSpPr txBox="true"/>
            <p:nvPr/>
          </p:nvSpPr>
          <p:spPr>
            <a:xfrm rot="0">
              <a:off x="943040" y="234274"/>
              <a:ext cx="12425366" cy="639158"/>
            </a:xfrm>
            <a:prstGeom prst="rect">
              <a:avLst/>
            </a:prstGeom>
          </p:spPr>
          <p:txBody>
            <a:bodyPr anchor="t" rtlCol="false" tIns="0" lIns="0" bIns="0" rIns="0">
              <a:spAutoFit/>
            </a:bodyPr>
            <a:lstStyle/>
            <a:p>
              <a:pPr algn="l">
                <a:lnSpc>
                  <a:spcPts val="3954"/>
                </a:lnSpc>
              </a:pPr>
              <a:r>
                <a:rPr lang="en-US" sz="3065">
                  <a:solidFill>
                    <a:srgbClr val="000000"/>
                  </a:solidFill>
                  <a:latin typeface="Baloo"/>
                  <a:ea typeface="Baloo"/>
                  <a:cs typeface="Baloo"/>
                  <a:sym typeface="Baloo"/>
                </a:rPr>
                <a:t>Ưu, nhược điểm:</a:t>
              </a:r>
            </a:p>
          </p:txBody>
        </p:sp>
        <p:sp>
          <p:nvSpPr>
            <p:cNvPr name="TextBox 18" id="18"/>
            <p:cNvSpPr txBox="true"/>
            <p:nvPr/>
          </p:nvSpPr>
          <p:spPr>
            <a:xfrm rot="0">
              <a:off x="943040" y="1142831"/>
              <a:ext cx="12697662" cy="3681359"/>
            </a:xfrm>
            <a:prstGeom prst="rect">
              <a:avLst/>
            </a:prstGeom>
          </p:spPr>
          <p:txBody>
            <a:bodyPr anchor="t" rtlCol="false" tIns="0" lIns="0" bIns="0" rIns="0">
              <a:spAutoFit/>
            </a:bodyPr>
            <a:lstStyle/>
            <a:p>
              <a:pPr algn="l">
                <a:lnSpc>
                  <a:spcPts val="3178"/>
                </a:lnSpc>
              </a:pPr>
              <a:r>
                <a:rPr lang="en-US" sz="2426">
                  <a:solidFill>
                    <a:srgbClr val="000000"/>
                  </a:solidFill>
                  <a:latin typeface="Clear Sans"/>
                  <a:ea typeface="Clear Sans"/>
                  <a:cs typeface="Clear Sans"/>
                  <a:sym typeface="Clear Sans"/>
                </a:rPr>
                <a:t>·Tính minh bạch và đồng thuận</a:t>
              </a:r>
            </a:p>
            <a:p>
              <a:pPr algn="l">
                <a:lnSpc>
                  <a:spcPts val="3178"/>
                </a:lnSpc>
              </a:pPr>
              <a:r>
                <a:rPr lang="en-US" sz="2426">
                  <a:solidFill>
                    <a:srgbClr val="000000"/>
                  </a:solidFill>
                  <a:latin typeface="Clear Sans"/>
                  <a:ea typeface="Clear Sans"/>
                  <a:cs typeface="Clear Sans"/>
                  <a:sym typeface="Clear Sans"/>
                </a:rPr>
                <a:t>·Tối ưu thời gian</a:t>
              </a:r>
            </a:p>
            <a:p>
              <a:pPr algn="l">
                <a:lnSpc>
                  <a:spcPts val="3178"/>
                </a:lnSpc>
              </a:pPr>
              <a:r>
                <a:rPr lang="en-US" sz="2426">
                  <a:solidFill>
                    <a:srgbClr val="000000"/>
                  </a:solidFill>
                  <a:latin typeface="Clear Sans"/>
                  <a:ea typeface="Clear Sans"/>
                  <a:cs typeface="Clear Sans"/>
                  <a:sym typeface="Clear Sans"/>
                </a:rPr>
                <a:t>·Đảm bảo chất lượng yêu cầu</a:t>
              </a:r>
            </a:p>
            <a:p>
              <a:pPr algn="l">
                <a:lnSpc>
                  <a:spcPts val="3178"/>
                </a:lnSpc>
              </a:pPr>
            </a:p>
            <a:p>
              <a:pPr algn="l">
                <a:lnSpc>
                  <a:spcPts val="3178"/>
                </a:lnSpc>
              </a:pPr>
              <a:r>
                <a:rPr lang="en-US" sz="2426">
                  <a:solidFill>
                    <a:srgbClr val="000000"/>
                  </a:solidFill>
                  <a:latin typeface="Clear Sans"/>
                  <a:ea typeface="Clear Sans"/>
                  <a:cs typeface="Clear Sans"/>
                  <a:sym typeface="Clear Sans"/>
                </a:rPr>
                <a:t>·Phụ thuộc vào người điều phối</a:t>
              </a:r>
            </a:p>
            <a:p>
              <a:pPr algn="l">
                <a:lnSpc>
                  <a:spcPts val="3178"/>
                </a:lnSpc>
              </a:pPr>
              <a:r>
                <a:rPr lang="en-US" sz="2426">
                  <a:solidFill>
                    <a:srgbClr val="000000"/>
                  </a:solidFill>
                  <a:latin typeface="Clear Sans"/>
                  <a:ea typeface="Clear Sans"/>
                  <a:cs typeface="Clear Sans"/>
                  <a:sym typeface="Clear Sans"/>
                </a:rPr>
                <a:t>·Khó khăn trong tổ chức</a:t>
              </a:r>
            </a:p>
            <a:p>
              <a:pPr algn="l">
                <a:lnSpc>
                  <a:spcPts val="3178"/>
                </a:lnSpc>
              </a:pPr>
              <a:r>
                <a:rPr lang="en-US" sz="2426">
                  <a:solidFill>
                    <a:srgbClr val="000000"/>
                  </a:solidFill>
                  <a:latin typeface="Clear Sans"/>
                  <a:ea typeface="Clear Sans"/>
                  <a:cs typeface="Clear Sans"/>
                  <a:sym typeface="Clear Sans"/>
                </a:rPr>
                <a:t>·Không phù hợp với các dự án nhỏ, đơn giản</a:t>
              </a:r>
            </a:p>
          </p:txBody>
        </p:sp>
      </p:grpSp>
      <p:pic>
        <p:nvPicPr>
          <p:cNvPr name="Picture 19" id="19"/>
          <p:cNvPicPr>
            <a:picLocks noChangeAspect="true"/>
          </p:cNvPicPr>
          <p:nvPr/>
        </p:nvPicPr>
        <p:blipFill>
          <a:blip r:embed="rId5"/>
          <a:srcRect l="0" t="0" r="0" b="0"/>
          <a:stretch>
            <a:fillRect/>
          </a:stretch>
        </p:blipFill>
        <p:spPr>
          <a:xfrm flipH="false" flipV="false" rot="0">
            <a:off x="1256157" y="5042377"/>
            <a:ext cx="3053698" cy="4425649"/>
          </a:xfrm>
          <a:prstGeom prst="rect">
            <a:avLst/>
          </a:prstGeom>
        </p:spPr>
      </p:pic>
      <p:sp>
        <p:nvSpPr>
          <p:cNvPr name="TextBox 20" id="20"/>
          <p:cNvSpPr txBox="true"/>
          <p:nvPr/>
        </p:nvSpPr>
        <p:spPr>
          <a:xfrm rot="0">
            <a:off x="6767743" y="1000125"/>
            <a:ext cx="9632932" cy="797560"/>
          </a:xfrm>
          <a:prstGeom prst="rect">
            <a:avLst/>
          </a:prstGeom>
        </p:spPr>
        <p:txBody>
          <a:bodyPr anchor="t" rtlCol="false" tIns="0" lIns="0" bIns="0" rIns="0">
            <a:spAutoFit/>
          </a:bodyPr>
          <a:lstStyle/>
          <a:p>
            <a:pPr algn="just">
              <a:lnSpc>
                <a:spcPts val="3249"/>
              </a:lnSpc>
            </a:pPr>
            <a:r>
              <a:rPr lang="en-US" sz="2499">
                <a:solidFill>
                  <a:srgbClr val="000000"/>
                </a:solidFill>
                <a:latin typeface="Clear Sans"/>
                <a:ea typeface="Clear Sans"/>
                <a:cs typeface="Clear Sans"/>
                <a:sym typeface="Clear Sans"/>
              </a:rPr>
              <a:t>·Tập trung vào đặc tả, yêu cầu cụ thể của ứng dụng hoặc hệ thống.</a:t>
            </a:r>
          </a:p>
          <a:p>
            <a:pPr algn="just">
              <a:lnSpc>
                <a:spcPts val="3120"/>
              </a:lnSpc>
            </a:pPr>
          </a:p>
        </p:txBody>
      </p:sp>
      <p:sp>
        <p:nvSpPr>
          <p:cNvPr name="TextBox 21" id="21"/>
          <p:cNvSpPr txBox="true"/>
          <p:nvPr/>
        </p:nvSpPr>
        <p:spPr>
          <a:xfrm rot="0">
            <a:off x="6875688" y="4076156"/>
            <a:ext cx="9524987" cy="582930"/>
          </a:xfrm>
          <a:prstGeom prst="rect">
            <a:avLst/>
          </a:prstGeom>
        </p:spPr>
        <p:txBody>
          <a:bodyPr anchor="t" rtlCol="false" tIns="0" lIns="0" bIns="0" rIns="0">
            <a:spAutoFit/>
          </a:bodyPr>
          <a:lstStyle/>
          <a:p>
            <a:pPr algn="just">
              <a:lnSpc>
                <a:spcPts val="4680"/>
              </a:lnSpc>
              <a:spcBef>
                <a:spcPct val="0"/>
              </a:spcBef>
            </a:pPr>
            <a:r>
              <a:rPr lang="en-US" sz="3600">
                <a:solidFill>
                  <a:srgbClr val="000000"/>
                </a:solidFill>
                <a:latin typeface="Baloo"/>
                <a:ea typeface="Baloo"/>
                <a:cs typeface="Baloo"/>
                <a:sym typeface="Baloo"/>
              </a:rPr>
              <a:t>Cách tiến hành</a:t>
            </a:r>
          </a:p>
        </p:txBody>
      </p:sp>
      <p:sp>
        <p:nvSpPr>
          <p:cNvPr name="TextBox 22" id="22"/>
          <p:cNvSpPr txBox="true"/>
          <p:nvPr/>
        </p:nvSpPr>
        <p:spPr>
          <a:xfrm rot="0">
            <a:off x="6875688" y="4630511"/>
            <a:ext cx="10525594" cy="1225550"/>
          </a:xfrm>
          <a:prstGeom prst="rect">
            <a:avLst/>
          </a:prstGeom>
        </p:spPr>
        <p:txBody>
          <a:bodyPr anchor="t" rtlCol="false" tIns="0" lIns="0" bIns="0" rIns="0">
            <a:spAutoFit/>
          </a:bodyPr>
          <a:lstStyle/>
          <a:p>
            <a:pPr algn="l">
              <a:lnSpc>
                <a:spcPts val="3250"/>
              </a:lnSpc>
            </a:pPr>
            <a:r>
              <a:rPr lang="en-US" sz="2500">
                <a:solidFill>
                  <a:srgbClr val="000000"/>
                </a:solidFill>
                <a:latin typeface="Clear Sans"/>
                <a:ea typeface="Clear Sans"/>
                <a:cs typeface="Clear Sans"/>
                <a:sym typeface="Clear Sans"/>
              </a:rPr>
              <a:t>·Chuẩn bị</a:t>
            </a:r>
          </a:p>
          <a:p>
            <a:pPr algn="l">
              <a:lnSpc>
                <a:spcPts val="3250"/>
              </a:lnSpc>
            </a:pPr>
            <a:r>
              <a:rPr lang="en-US" sz="2500">
                <a:solidFill>
                  <a:srgbClr val="000000"/>
                </a:solidFill>
                <a:latin typeface="Clear Sans"/>
                <a:ea typeface="Clear Sans"/>
                <a:cs typeface="Clear Sans"/>
                <a:sym typeface="Clear Sans"/>
              </a:rPr>
              <a:t>·Tổ chức</a:t>
            </a:r>
          </a:p>
          <a:p>
            <a:pPr algn="l">
              <a:lnSpc>
                <a:spcPts val="3250"/>
              </a:lnSpc>
              <a:spcBef>
                <a:spcPct val="0"/>
              </a:spcBef>
            </a:pPr>
            <a:r>
              <a:rPr lang="en-US" sz="2500">
                <a:solidFill>
                  <a:srgbClr val="000000"/>
                </a:solidFill>
                <a:latin typeface="Clear Sans"/>
                <a:ea typeface="Clear Sans"/>
                <a:cs typeface="Clear Sans"/>
                <a:sym typeface="Clear Sans"/>
              </a:rPr>
              <a:t>·Thu thập yêu cầu và tổng kết báo cáo</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4902"/>
              </a:srgbClr>
            </a:solidFill>
          </p:spPr>
        </p:sp>
      </p:grpSp>
      <p:sp>
        <p:nvSpPr>
          <p:cNvPr name="Freeform 5" id="5"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grpSp>
        <p:nvGrpSpPr>
          <p:cNvPr name="Group 6" id="6"/>
          <p:cNvGrpSpPr/>
          <p:nvPr/>
        </p:nvGrpSpPr>
        <p:grpSpPr>
          <a:xfrm rot="0">
            <a:off x="7411792" y="3117055"/>
            <a:ext cx="8587160" cy="4141400"/>
            <a:chOff x="0" y="0"/>
            <a:chExt cx="7862163" cy="3791750"/>
          </a:xfrm>
        </p:grpSpPr>
        <p:sp>
          <p:nvSpPr>
            <p:cNvPr name="Freeform 7" id="7"/>
            <p:cNvSpPr/>
            <p:nvPr/>
          </p:nvSpPr>
          <p:spPr>
            <a:xfrm flipH="false" flipV="false" rot="0">
              <a:off x="0" y="0"/>
              <a:ext cx="7862163" cy="3791750"/>
            </a:xfrm>
            <a:custGeom>
              <a:avLst/>
              <a:gdLst/>
              <a:ahLst/>
              <a:cxnLst/>
              <a:rect r="r" b="b" t="t" l="l"/>
              <a:pathLst>
                <a:path h="3791750" w="7862163">
                  <a:moveTo>
                    <a:pt x="0" y="0"/>
                  </a:moveTo>
                  <a:lnTo>
                    <a:pt x="7862163" y="0"/>
                  </a:lnTo>
                  <a:lnTo>
                    <a:pt x="7862163" y="3791750"/>
                  </a:lnTo>
                  <a:lnTo>
                    <a:pt x="0" y="3791750"/>
                  </a:lnTo>
                  <a:close/>
                </a:path>
              </a:pathLst>
            </a:custGeom>
            <a:solidFill>
              <a:srgbClr val="000000">
                <a:alpha val="0"/>
              </a:srgbClr>
            </a:solidFill>
          </p:spPr>
        </p:sp>
        <p:sp>
          <p:nvSpPr>
            <p:cNvPr name="TextBox 8" id="8"/>
            <p:cNvSpPr txBox="true"/>
            <p:nvPr/>
          </p:nvSpPr>
          <p:spPr>
            <a:xfrm>
              <a:off x="0" y="-28575"/>
              <a:ext cx="7862163" cy="3820325"/>
            </a:xfrm>
            <a:prstGeom prst="rect">
              <a:avLst/>
            </a:prstGeom>
          </p:spPr>
          <p:txBody>
            <a:bodyPr anchor="t" rtlCol="false" tIns="0" lIns="0" bIns="0" rIns="0"/>
            <a:lstStyle/>
            <a:p>
              <a:pPr algn="l">
                <a:lnSpc>
                  <a:spcPts val="7125"/>
                </a:lnSpc>
              </a:pPr>
              <a:r>
                <a:rPr lang="en-US" b="true" sz="5700" spc="-114">
                  <a:solidFill>
                    <a:srgbClr val="FD883D"/>
                  </a:solidFill>
                  <a:latin typeface="Source Serif Pro Bold"/>
                  <a:ea typeface="Source Serif Pro Bold"/>
                  <a:cs typeface="Source Serif Pro Bold"/>
                  <a:sym typeface="Source Serif Pro Bold"/>
                </a:rPr>
                <a:t>     So sánh các kỹ thuật </a:t>
              </a:r>
            </a:p>
            <a:p>
              <a:pPr algn="l">
                <a:lnSpc>
                  <a:spcPts val="7125"/>
                </a:lnSpc>
              </a:pPr>
              <a:r>
                <a:rPr lang="en-US" b="true" sz="5700" spc="-115">
                  <a:solidFill>
                    <a:srgbClr val="FD883D"/>
                  </a:solidFill>
                  <a:latin typeface="Source Serif Pro Bold"/>
                  <a:ea typeface="Source Serif Pro Bold"/>
                  <a:cs typeface="Source Serif Pro Bold"/>
                  <a:sym typeface="Source Serif Pro Bold"/>
                </a:rPr>
                <a:t>          thu thập yêu cầu</a:t>
              </a:r>
            </a:p>
          </p:txBody>
        </p:sp>
      </p:gr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8493"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4902"/>
              </a:srgbClr>
            </a:solidFill>
          </p:spPr>
        </p:sp>
      </p:grpSp>
      <p:sp>
        <p:nvSpPr>
          <p:cNvPr name="Freeform 5" id="5" descr="preencoded.png"/>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6" id="6"/>
          <p:cNvGrpSpPr/>
          <p:nvPr/>
        </p:nvGrpSpPr>
        <p:grpSpPr>
          <a:xfrm rot="0">
            <a:off x="1605463" y="2032629"/>
            <a:ext cx="13703838" cy="1364930"/>
            <a:chOff x="0" y="0"/>
            <a:chExt cx="17991243" cy="1791964"/>
          </a:xfrm>
        </p:grpSpPr>
        <p:sp>
          <p:nvSpPr>
            <p:cNvPr name="Freeform 7" id="7"/>
            <p:cNvSpPr/>
            <p:nvPr/>
          </p:nvSpPr>
          <p:spPr>
            <a:xfrm flipH="false" flipV="false" rot="0">
              <a:off x="0" y="0"/>
              <a:ext cx="17991243" cy="1791964"/>
            </a:xfrm>
            <a:custGeom>
              <a:avLst/>
              <a:gdLst/>
              <a:ahLst/>
              <a:cxnLst/>
              <a:rect r="r" b="b" t="t" l="l"/>
              <a:pathLst>
                <a:path h="1791964" w="17991243">
                  <a:moveTo>
                    <a:pt x="0" y="0"/>
                  </a:moveTo>
                  <a:lnTo>
                    <a:pt x="17991243" y="0"/>
                  </a:lnTo>
                  <a:lnTo>
                    <a:pt x="17991243" y="1791964"/>
                  </a:lnTo>
                  <a:lnTo>
                    <a:pt x="0" y="1791964"/>
                  </a:lnTo>
                  <a:close/>
                </a:path>
              </a:pathLst>
            </a:custGeom>
            <a:solidFill>
              <a:srgbClr val="000000">
                <a:alpha val="0"/>
              </a:srgbClr>
            </a:solidFill>
          </p:spPr>
        </p:sp>
        <p:sp>
          <p:nvSpPr>
            <p:cNvPr name="TextBox 8" id="8"/>
            <p:cNvSpPr txBox="true"/>
            <p:nvPr/>
          </p:nvSpPr>
          <p:spPr>
            <a:xfrm>
              <a:off x="0" y="-28575"/>
              <a:ext cx="17991243" cy="1820539"/>
            </a:xfrm>
            <a:prstGeom prst="rect">
              <a:avLst/>
            </a:prstGeom>
          </p:spPr>
          <p:txBody>
            <a:bodyPr anchor="t" rtlCol="false" tIns="0" lIns="0" bIns="0" rIns="0"/>
            <a:lstStyle/>
            <a:p>
              <a:pPr algn="l">
                <a:lnSpc>
                  <a:spcPts val="6875"/>
                </a:lnSpc>
              </a:pPr>
              <a:r>
                <a:rPr lang="en-US" sz="5500" spc="-111">
                  <a:solidFill>
                    <a:srgbClr val="000000"/>
                  </a:solidFill>
                  <a:latin typeface="Baloo"/>
                  <a:ea typeface="Baloo"/>
                  <a:cs typeface="Baloo"/>
                  <a:sym typeface="Baloo"/>
                </a:rPr>
                <a:t>Phỏng vấn, Phân tích Tài liệu và Quan sát</a:t>
              </a:r>
            </a:p>
          </p:txBody>
        </p:sp>
      </p:grpSp>
      <p:grpSp>
        <p:nvGrpSpPr>
          <p:cNvPr name="Group 9" id="9"/>
          <p:cNvGrpSpPr/>
          <p:nvPr/>
        </p:nvGrpSpPr>
        <p:grpSpPr>
          <a:xfrm rot="0">
            <a:off x="1047155" y="4016871"/>
            <a:ext cx="3520231" cy="611632"/>
            <a:chOff x="0" y="0"/>
            <a:chExt cx="4693642" cy="815509"/>
          </a:xfrm>
        </p:grpSpPr>
        <p:sp>
          <p:nvSpPr>
            <p:cNvPr name="Freeform 10" id="10"/>
            <p:cNvSpPr/>
            <p:nvPr/>
          </p:nvSpPr>
          <p:spPr>
            <a:xfrm flipH="false" flipV="false" rot="0">
              <a:off x="0" y="0"/>
              <a:ext cx="4693642" cy="815509"/>
            </a:xfrm>
            <a:custGeom>
              <a:avLst/>
              <a:gdLst/>
              <a:ahLst/>
              <a:cxnLst/>
              <a:rect r="r" b="b" t="t" l="l"/>
              <a:pathLst>
                <a:path h="815509" w="4693642">
                  <a:moveTo>
                    <a:pt x="0" y="0"/>
                  </a:moveTo>
                  <a:lnTo>
                    <a:pt x="4693642" y="0"/>
                  </a:lnTo>
                  <a:lnTo>
                    <a:pt x="4693642" y="815509"/>
                  </a:lnTo>
                  <a:lnTo>
                    <a:pt x="0" y="815509"/>
                  </a:lnTo>
                  <a:close/>
                </a:path>
              </a:pathLst>
            </a:custGeom>
            <a:solidFill>
              <a:srgbClr val="000000">
                <a:alpha val="0"/>
              </a:srgbClr>
            </a:solidFill>
          </p:spPr>
        </p:sp>
        <p:sp>
          <p:nvSpPr>
            <p:cNvPr name="TextBox 11" id="11"/>
            <p:cNvSpPr txBox="true"/>
            <p:nvPr/>
          </p:nvSpPr>
          <p:spPr>
            <a:xfrm>
              <a:off x="0" y="-19050"/>
              <a:ext cx="4693642" cy="834559"/>
            </a:xfrm>
            <a:prstGeom prst="rect">
              <a:avLst/>
            </a:prstGeom>
          </p:spPr>
          <p:txBody>
            <a:bodyPr anchor="t" rtlCol="false" tIns="0" lIns="0" bIns="0" rIns="0"/>
            <a:lstStyle/>
            <a:p>
              <a:pPr algn="l">
                <a:lnSpc>
                  <a:spcPts val="3437"/>
                </a:lnSpc>
              </a:pPr>
              <a:r>
                <a:rPr lang="en-US" sz="2750" spc="-55">
                  <a:solidFill>
                    <a:srgbClr val="000000"/>
                  </a:solidFill>
                  <a:latin typeface="Baloo"/>
                  <a:ea typeface="Baloo"/>
                  <a:cs typeface="Baloo"/>
                  <a:sym typeface="Baloo"/>
                </a:rPr>
                <a:t>Phỏng vấn</a:t>
              </a:r>
            </a:p>
          </p:txBody>
        </p:sp>
      </p:grpSp>
      <p:grpSp>
        <p:nvGrpSpPr>
          <p:cNvPr name="Group 12" id="12"/>
          <p:cNvGrpSpPr/>
          <p:nvPr/>
        </p:nvGrpSpPr>
        <p:grpSpPr>
          <a:xfrm rot="0">
            <a:off x="1047155" y="4755951"/>
            <a:ext cx="4910732" cy="3054950"/>
            <a:chOff x="0" y="0"/>
            <a:chExt cx="6547643" cy="4073267"/>
          </a:xfrm>
        </p:grpSpPr>
        <p:sp>
          <p:nvSpPr>
            <p:cNvPr name="Freeform 13" id="13"/>
            <p:cNvSpPr/>
            <p:nvPr/>
          </p:nvSpPr>
          <p:spPr>
            <a:xfrm flipH="false" flipV="false" rot="0">
              <a:off x="0" y="0"/>
              <a:ext cx="6547643" cy="4073267"/>
            </a:xfrm>
            <a:custGeom>
              <a:avLst/>
              <a:gdLst/>
              <a:ahLst/>
              <a:cxnLst/>
              <a:rect r="r" b="b" t="t" l="l"/>
              <a:pathLst>
                <a:path h="4073267" w="6547643">
                  <a:moveTo>
                    <a:pt x="0" y="0"/>
                  </a:moveTo>
                  <a:lnTo>
                    <a:pt x="6547643" y="0"/>
                  </a:lnTo>
                  <a:lnTo>
                    <a:pt x="6547643" y="4073267"/>
                  </a:lnTo>
                  <a:lnTo>
                    <a:pt x="0" y="4073267"/>
                  </a:lnTo>
                  <a:close/>
                </a:path>
              </a:pathLst>
            </a:custGeom>
            <a:solidFill>
              <a:srgbClr val="000000">
                <a:alpha val="0"/>
              </a:srgbClr>
            </a:solidFill>
          </p:spPr>
        </p:sp>
        <p:sp>
          <p:nvSpPr>
            <p:cNvPr name="TextBox 14" id="14"/>
            <p:cNvSpPr txBox="true"/>
            <p:nvPr/>
          </p:nvSpPr>
          <p:spPr>
            <a:xfrm>
              <a:off x="0" y="-104775"/>
              <a:ext cx="6547643" cy="41780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Gặp trực tiếp hoặc trực tuyến để thu thập thông tin từ người dùng. Cung cấp thông tin chi tiết, hiểu rõ lý do và ngữ cảnh của yêu cầu. Tuy nhiên, chi phí trung bình và tốn thời gian nếu phải phỏng vấn nhiều người.</a:t>
              </a:r>
            </a:p>
          </p:txBody>
        </p:sp>
      </p:grpSp>
      <p:grpSp>
        <p:nvGrpSpPr>
          <p:cNvPr name="Group 15" id="15"/>
          <p:cNvGrpSpPr/>
          <p:nvPr/>
        </p:nvGrpSpPr>
        <p:grpSpPr>
          <a:xfrm rot="0">
            <a:off x="6697266" y="4016871"/>
            <a:ext cx="3520231" cy="611632"/>
            <a:chOff x="0" y="0"/>
            <a:chExt cx="4693642" cy="815509"/>
          </a:xfrm>
        </p:grpSpPr>
        <p:sp>
          <p:nvSpPr>
            <p:cNvPr name="Freeform 16" id="16"/>
            <p:cNvSpPr/>
            <p:nvPr/>
          </p:nvSpPr>
          <p:spPr>
            <a:xfrm flipH="false" flipV="false" rot="0">
              <a:off x="0" y="0"/>
              <a:ext cx="4693642" cy="815509"/>
            </a:xfrm>
            <a:custGeom>
              <a:avLst/>
              <a:gdLst/>
              <a:ahLst/>
              <a:cxnLst/>
              <a:rect r="r" b="b" t="t" l="l"/>
              <a:pathLst>
                <a:path h="815509" w="4693642">
                  <a:moveTo>
                    <a:pt x="0" y="0"/>
                  </a:moveTo>
                  <a:lnTo>
                    <a:pt x="4693642" y="0"/>
                  </a:lnTo>
                  <a:lnTo>
                    <a:pt x="4693642" y="815509"/>
                  </a:lnTo>
                  <a:lnTo>
                    <a:pt x="0" y="815509"/>
                  </a:lnTo>
                  <a:close/>
                </a:path>
              </a:pathLst>
            </a:custGeom>
            <a:solidFill>
              <a:srgbClr val="000000">
                <a:alpha val="0"/>
              </a:srgbClr>
            </a:solidFill>
          </p:spPr>
        </p:sp>
        <p:sp>
          <p:nvSpPr>
            <p:cNvPr name="TextBox 17" id="17"/>
            <p:cNvSpPr txBox="true"/>
            <p:nvPr/>
          </p:nvSpPr>
          <p:spPr>
            <a:xfrm>
              <a:off x="0" y="-19050"/>
              <a:ext cx="4693642" cy="834559"/>
            </a:xfrm>
            <a:prstGeom prst="rect">
              <a:avLst/>
            </a:prstGeom>
          </p:spPr>
          <p:txBody>
            <a:bodyPr anchor="t" rtlCol="false" tIns="0" lIns="0" bIns="0" rIns="0"/>
            <a:lstStyle/>
            <a:p>
              <a:pPr algn="l">
                <a:lnSpc>
                  <a:spcPts val="3437"/>
                </a:lnSpc>
              </a:pPr>
              <a:r>
                <a:rPr lang="en-US" sz="2750" spc="-55">
                  <a:solidFill>
                    <a:srgbClr val="000000"/>
                  </a:solidFill>
                  <a:latin typeface="Baloo"/>
                  <a:ea typeface="Baloo"/>
                  <a:cs typeface="Baloo"/>
                  <a:sym typeface="Baloo"/>
                </a:rPr>
                <a:t>Phân tích Tài liệu</a:t>
              </a:r>
            </a:p>
          </p:txBody>
        </p:sp>
      </p:grpSp>
      <p:grpSp>
        <p:nvGrpSpPr>
          <p:cNvPr name="Group 18" id="18"/>
          <p:cNvGrpSpPr/>
          <p:nvPr/>
        </p:nvGrpSpPr>
        <p:grpSpPr>
          <a:xfrm rot="0">
            <a:off x="6697266" y="4755951"/>
            <a:ext cx="4910732" cy="2540600"/>
            <a:chOff x="0" y="0"/>
            <a:chExt cx="6547643" cy="3387467"/>
          </a:xfrm>
        </p:grpSpPr>
        <p:sp>
          <p:nvSpPr>
            <p:cNvPr name="Freeform 19" id="19"/>
            <p:cNvSpPr/>
            <p:nvPr/>
          </p:nvSpPr>
          <p:spPr>
            <a:xfrm flipH="false" flipV="false" rot="0">
              <a:off x="0" y="0"/>
              <a:ext cx="6547643" cy="3387467"/>
            </a:xfrm>
            <a:custGeom>
              <a:avLst/>
              <a:gdLst/>
              <a:ahLst/>
              <a:cxnLst/>
              <a:rect r="r" b="b" t="t" l="l"/>
              <a:pathLst>
                <a:path h="3387467" w="6547643">
                  <a:moveTo>
                    <a:pt x="0" y="0"/>
                  </a:moveTo>
                  <a:lnTo>
                    <a:pt x="6547643" y="0"/>
                  </a:lnTo>
                  <a:lnTo>
                    <a:pt x="6547643" y="3387467"/>
                  </a:lnTo>
                  <a:lnTo>
                    <a:pt x="0" y="3387467"/>
                  </a:lnTo>
                  <a:close/>
                </a:path>
              </a:pathLst>
            </a:custGeom>
            <a:solidFill>
              <a:srgbClr val="000000">
                <a:alpha val="0"/>
              </a:srgbClr>
            </a:solidFill>
          </p:spPr>
        </p:sp>
        <p:sp>
          <p:nvSpPr>
            <p:cNvPr name="TextBox 20" id="20"/>
            <p:cNvSpPr txBox="true"/>
            <p:nvPr/>
          </p:nvSpPr>
          <p:spPr>
            <a:xfrm>
              <a:off x="0" y="-104775"/>
              <a:ext cx="6547643" cy="34922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Sử dụng tài liệu có sẵn để hiểu hệ thống. Cung cấp dữ liệu thực tế từ tài liệu, chi phí thấp và nhanh chóng. Tuy nhiên, mức độ thông tin chi tiết trung bình và không xử lý xung đột thông tin.</a:t>
              </a:r>
            </a:p>
          </p:txBody>
        </p:sp>
      </p:grpSp>
      <p:grpSp>
        <p:nvGrpSpPr>
          <p:cNvPr name="Group 21" id="21"/>
          <p:cNvGrpSpPr/>
          <p:nvPr/>
        </p:nvGrpSpPr>
        <p:grpSpPr>
          <a:xfrm rot="0">
            <a:off x="12347376" y="4016871"/>
            <a:ext cx="3520231" cy="611632"/>
            <a:chOff x="0" y="0"/>
            <a:chExt cx="4693642" cy="815509"/>
          </a:xfrm>
        </p:grpSpPr>
        <p:sp>
          <p:nvSpPr>
            <p:cNvPr name="Freeform 22" id="22"/>
            <p:cNvSpPr/>
            <p:nvPr/>
          </p:nvSpPr>
          <p:spPr>
            <a:xfrm flipH="false" flipV="false" rot="0">
              <a:off x="0" y="0"/>
              <a:ext cx="4693642" cy="815509"/>
            </a:xfrm>
            <a:custGeom>
              <a:avLst/>
              <a:gdLst/>
              <a:ahLst/>
              <a:cxnLst/>
              <a:rect r="r" b="b" t="t" l="l"/>
              <a:pathLst>
                <a:path h="815509" w="4693642">
                  <a:moveTo>
                    <a:pt x="0" y="0"/>
                  </a:moveTo>
                  <a:lnTo>
                    <a:pt x="4693642" y="0"/>
                  </a:lnTo>
                  <a:lnTo>
                    <a:pt x="4693642" y="815509"/>
                  </a:lnTo>
                  <a:lnTo>
                    <a:pt x="0" y="815509"/>
                  </a:lnTo>
                  <a:close/>
                </a:path>
              </a:pathLst>
            </a:custGeom>
            <a:solidFill>
              <a:srgbClr val="000000">
                <a:alpha val="0"/>
              </a:srgbClr>
            </a:solidFill>
          </p:spPr>
        </p:sp>
        <p:sp>
          <p:nvSpPr>
            <p:cNvPr name="TextBox 23" id="23"/>
            <p:cNvSpPr txBox="true"/>
            <p:nvPr/>
          </p:nvSpPr>
          <p:spPr>
            <a:xfrm>
              <a:off x="0" y="-19050"/>
              <a:ext cx="4693642" cy="834559"/>
            </a:xfrm>
            <a:prstGeom prst="rect">
              <a:avLst/>
            </a:prstGeom>
          </p:spPr>
          <p:txBody>
            <a:bodyPr anchor="t" rtlCol="false" tIns="0" lIns="0" bIns="0" rIns="0"/>
            <a:lstStyle/>
            <a:p>
              <a:pPr algn="l">
                <a:lnSpc>
                  <a:spcPts val="3437"/>
                </a:lnSpc>
              </a:pPr>
              <a:r>
                <a:rPr lang="en-US" sz="2750" spc="-55">
                  <a:solidFill>
                    <a:srgbClr val="000000"/>
                  </a:solidFill>
                  <a:latin typeface="Baloo"/>
                  <a:ea typeface="Baloo"/>
                  <a:cs typeface="Baloo"/>
                  <a:sym typeface="Baloo"/>
                </a:rPr>
                <a:t>Quan sát</a:t>
              </a:r>
            </a:p>
          </p:txBody>
        </p:sp>
      </p:grpSp>
      <p:grpSp>
        <p:nvGrpSpPr>
          <p:cNvPr name="Group 24" id="24"/>
          <p:cNvGrpSpPr/>
          <p:nvPr/>
        </p:nvGrpSpPr>
        <p:grpSpPr>
          <a:xfrm rot="0">
            <a:off x="12347376" y="4755951"/>
            <a:ext cx="4910732" cy="3054950"/>
            <a:chOff x="0" y="0"/>
            <a:chExt cx="6547643" cy="4073267"/>
          </a:xfrm>
        </p:grpSpPr>
        <p:sp>
          <p:nvSpPr>
            <p:cNvPr name="Freeform 25" id="25"/>
            <p:cNvSpPr/>
            <p:nvPr/>
          </p:nvSpPr>
          <p:spPr>
            <a:xfrm flipH="false" flipV="false" rot="0">
              <a:off x="0" y="0"/>
              <a:ext cx="6547643" cy="4073267"/>
            </a:xfrm>
            <a:custGeom>
              <a:avLst/>
              <a:gdLst/>
              <a:ahLst/>
              <a:cxnLst/>
              <a:rect r="r" b="b" t="t" l="l"/>
              <a:pathLst>
                <a:path h="4073267" w="6547643">
                  <a:moveTo>
                    <a:pt x="0" y="0"/>
                  </a:moveTo>
                  <a:lnTo>
                    <a:pt x="6547643" y="0"/>
                  </a:lnTo>
                  <a:lnTo>
                    <a:pt x="6547643" y="4073267"/>
                  </a:lnTo>
                  <a:lnTo>
                    <a:pt x="0" y="4073267"/>
                  </a:lnTo>
                  <a:close/>
                </a:path>
              </a:pathLst>
            </a:custGeom>
            <a:solidFill>
              <a:srgbClr val="000000">
                <a:alpha val="0"/>
              </a:srgbClr>
            </a:solidFill>
          </p:spPr>
        </p:sp>
        <p:sp>
          <p:nvSpPr>
            <p:cNvPr name="TextBox 26" id="26"/>
            <p:cNvSpPr txBox="true"/>
            <p:nvPr/>
          </p:nvSpPr>
          <p:spPr>
            <a:xfrm>
              <a:off x="0" y="-104775"/>
              <a:ext cx="6547643" cy="41780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Quan sát trực tiếp các hoạt động thực tế. Cung cấp thông tin về hành vi thực tế, chi phí thấp nhưng tốn thời gian. Tuy nhiên, mức độ thông tin chi tiết thấp và không giải quyết xung đột ý kiến.</a:t>
              </a:r>
            </a:p>
          </p:txBody>
        </p:sp>
      </p:gr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14</a:t>
            </a:r>
          </a:p>
        </p:txBody>
      </p:sp>
      <p:pic>
        <p:nvPicPr>
          <p:cNvPr name="Picture 28" id="28"/>
          <p:cNvPicPr>
            <a:picLocks noChangeAspect="true"/>
          </p:cNvPicPr>
          <p:nvPr/>
        </p:nvPicPr>
        <p:blipFill>
          <a:blip r:embed="rId4"/>
          <a:srcRect l="0" t="0" r="0" b="0"/>
          <a:stretch>
            <a:fillRect/>
          </a:stretch>
        </p:blipFill>
        <p:spPr>
          <a:xfrm flipH="true" flipV="false" rot="0">
            <a:off x="6368260" y="0"/>
            <a:ext cx="11958233" cy="2098730"/>
          </a:xfrm>
          <a:prstGeom prst="rect">
            <a:avLst/>
          </a:prstGeom>
        </p:spPr>
      </p:pic>
      <p:pic>
        <p:nvPicPr>
          <p:cNvPr name="Picture 29" id="29"/>
          <p:cNvPicPr>
            <a:picLocks noChangeAspect="true"/>
          </p:cNvPicPr>
          <p:nvPr/>
        </p:nvPicPr>
        <p:blipFill>
          <a:blip r:embed="rId5"/>
          <a:srcRect l="0" t="0" r="64034" b="46739"/>
          <a:stretch>
            <a:fillRect/>
          </a:stretch>
        </p:blipFill>
        <p:spPr>
          <a:xfrm flipH="true" flipV="true" rot="5400000">
            <a:off x="1080054" y="5150730"/>
            <a:ext cx="4331879" cy="6415001"/>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1214708" y="475610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4"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4902"/>
              </a:srgbClr>
            </a:solidFill>
          </p:spPr>
        </p:sp>
      </p:grpSp>
      <p:grpSp>
        <p:nvGrpSpPr>
          <p:cNvPr name="Group 5" id="5"/>
          <p:cNvGrpSpPr/>
          <p:nvPr/>
        </p:nvGrpSpPr>
        <p:grpSpPr>
          <a:xfrm rot="0">
            <a:off x="679560" y="2251130"/>
            <a:ext cx="9107389" cy="1008571"/>
            <a:chOff x="0" y="0"/>
            <a:chExt cx="12143185" cy="1344761"/>
          </a:xfrm>
        </p:grpSpPr>
        <p:sp>
          <p:nvSpPr>
            <p:cNvPr name="Freeform 6" id="6"/>
            <p:cNvSpPr/>
            <p:nvPr/>
          </p:nvSpPr>
          <p:spPr>
            <a:xfrm flipH="false" flipV="false" rot="0">
              <a:off x="0" y="0"/>
              <a:ext cx="12143186" cy="1344761"/>
            </a:xfrm>
            <a:custGeom>
              <a:avLst/>
              <a:gdLst/>
              <a:ahLst/>
              <a:cxnLst/>
              <a:rect r="r" b="b" t="t" l="l"/>
              <a:pathLst>
                <a:path h="1344761" w="12143186">
                  <a:moveTo>
                    <a:pt x="0" y="0"/>
                  </a:moveTo>
                  <a:lnTo>
                    <a:pt x="12143186" y="0"/>
                  </a:lnTo>
                  <a:lnTo>
                    <a:pt x="12143186" y="1344761"/>
                  </a:lnTo>
                  <a:lnTo>
                    <a:pt x="0" y="1344761"/>
                  </a:lnTo>
                  <a:close/>
                </a:path>
              </a:pathLst>
            </a:custGeom>
            <a:solidFill>
              <a:srgbClr val="000000">
                <a:alpha val="0"/>
              </a:srgbClr>
            </a:solidFill>
          </p:spPr>
        </p:sp>
        <p:sp>
          <p:nvSpPr>
            <p:cNvPr name="TextBox 7" id="7"/>
            <p:cNvSpPr txBox="true"/>
            <p:nvPr/>
          </p:nvSpPr>
          <p:spPr>
            <a:xfrm>
              <a:off x="0" y="-19050"/>
              <a:ext cx="12143185" cy="1363811"/>
            </a:xfrm>
            <a:prstGeom prst="rect">
              <a:avLst/>
            </a:prstGeom>
          </p:spPr>
          <p:txBody>
            <a:bodyPr anchor="t" rtlCol="false" tIns="0" lIns="0" bIns="0" rIns="0"/>
            <a:lstStyle/>
            <a:p>
              <a:pPr algn="l">
                <a:lnSpc>
                  <a:spcPts val="6875"/>
                </a:lnSpc>
              </a:pPr>
              <a:r>
                <a:rPr lang="en-US" b="true" sz="5500" spc="-111">
                  <a:solidFill>
                    <a:srgbClr val="000000"/>
                  </a:solidFill>
                  <a:latin typeface="Source Serif Pro Bold"/>
                  <a:ea typeface="Source Serif Pro Bold"/>
                  <a:cs typeface="Source Serif Pro Bold"/>
                  <a:sym typeface="Source Serif Pro Bold"/>
                </a:rPr>
                <a:t>Bảng Hỏi, JAD và Hội Thảo  </a:t>
              </a:r>
            </a:p>
          </p:txBody>
        </p:sp>
      </p:grpSp>
      <p:grpSp>
        <p:nvGrpSpPr>
          <p:cNvPr name="Group 8" id="8"/>
          <p:cNvGrpSpPr/>
          <p:nvPr/>
        </p:nvGrpSpPr>
        <p:grpSpPr>
          <a:xfrm rot="0">
            <a:off x="1355824" y="4136677"/>
            <a:ext cx="3676749" cy="637337"/>
            <a:chOff x="0" y="0"/>
            <a:chExt cx="4693642" cy="813608"/>
          </a:xfrm>
        </p:grpSpPr>
        <p:sp>
          <p:nvSpPr>
            <p:cNvPr name="Freeform 9" id="9"/>
            <p:cNvSpPr/>
            <p:nvPr/>
          </p:nvSpPr>
          <p:spPr>
            <a:xfrm flipH="false" flipV="false" rot="0">
              <a:off x="0" y="0"/>
              <a:ext cx="4693642" cy="813608"/>
            </a:xfrm>
            <a:custGeom>
              <a:avLst/>
              <a:gdLst/>
              <a:ahLst/>
              <a:cxnLst/>
              <a:rect r="r" b="b" t="t" l="l"/>
              <a:pathLst>
                <a:path h="813608" w="4693642">
                  <a:moveTo>
                    <a:pt x="0" y="0"/>
                  </a:moveTo>
                  <a:lnTo>
                    <a:pt x="4693642" y="0"/>
                  </a:lnTo>
                  <a:lnTo>
                    <a:pt x="4693642" y="813608"/>
                  </a:lnTo>
                  <a:lnTo>
                    <a:pt x="0" y="813608"/>
                  </a:lnTo>
                  <a:close/>
                </a:path>
              </a:pathLst>
            </a:custGeom>
            <a:solidFill>
              <a:srgbClr val="000000">
                <a:alpha val="0"/>
              </a:srgbClr>
            </a:solidFill>
          </p:spPr>
        </p:sp>
        <p:sp>
          <p:nvSpPr>
            <p:cNvPr name="TextBox 10" id="10"/>
            <p:cNvSpPr txBox="true"/>
            <p:nvPr/>
          </p:nvSpPr>
          <p:spPr>
            <a:xfrm>
              <a:off x="0" y="-19050"/>
              <a:ext cx="4693642" cy="832658"/>
            </a:xfrm>
            <a:prstGeom prst="rect">
              <a:avLst/>
            </a:prstGeom>
          </p:spPr>
          <p:txBody>
            <a:bodyPr anchor="t" rtlCol="false" tIns="0" lIns="0" bIns="0" rIns="0"/>
            <a:lstStyle/>
            <a:p>
              <a:pPr algn="l">
                <a:lnSpc>
                  <a:spcPts val="3562"/>
                </a:lnSpc>
              </a:pPr>
              <a:r>
                <a:rPr lang="en-US" sz="2850" spc="-57">
                  <a:solidFill>
                    <a:srgbClr val="272525"/>
                  </a:solidFill>
                  <a:latin typeface="Baloo"/>
                  <a:ea typeface="Baloo"/>
                  <a:cs typeface="Baloo"/>
                  <a:sym typeface="Baloo"/>
                </a:rPr>
                <a:t>Bảng Hỏi</a:t>
              </a:r>
            </a:p>
          </p:txBody>
        </p:sp>
      </p:grpSp>
      <p:grpSp>
        <p:nvGrpSpPr>
          <p:cNvPr name="Group 11" id="11"/>
          <p:cNvGrpSpPr/>
          <p:nvPr/>
        </p:nvGrpSpPr>
        <p:grpSpPr>
          <a:xfrm rot="0">
            <a:off x="1355824" y="4756100"/>
            <a:ext cx="4581079" cy="3054950"/>
            <a:chOff x="0" y="0"/>
            <a:chExt cx="6108105" cy="4073267"/>
          </a:xfrm>
        </p:grpSpPr>
        <p:sp>
          <p:nvSpPr>
            <p:cNvPr name="Freeform 12" id="12"/>
            <p:cNvSpPr/>
            <p:nvPr/>
          </p:nvSpPr>
          <p:spPr>
            <a:xfrm flipH="false" flipV="false" rot="0">
              <a:off x="0" y="0"/>
              <a:ext cx="6108105" cy="4073267"/>
            </a:xfrm>
            <a:custGeom>
              <a:avLst/>
              <a:gdLst/>
              <a:ahLst/>
              <a:cxnLst/>
              <a:rect r="r" b="b" t="t" l="l"/>
              <a:pathLst>
                <a:path h="4073267" w="6108105">
                  <a:moveTo>
                    <a:pt x="0" y="0"/>
                  </a:moveTo>
                  <a:lnTo>
                    <a:pt x="6108105" y="0"/>
                  </a:lnTo>
                  <a:lnTo>
                    <a:pt x="6108105" y="4073267"/>
                  </a:lnTo>
                  <a:lnTo>
                    <a:pt x="0" y="4073267"/>
                  </a:lnTo>
                  <a:close/>
                </a:path>
              </a:pathLst>
            </a:custGeom>
            <a:solidFill>
              <a:srgbClr val="000000">
                <a:alpha val="0"/>
              </a:srgbClr>
            </a:solidFill>
          </p:spPr>
        </p:sp>
        <p:sp>
          <p:nvSpPr>
            <p:cNvPr name="TextBox 13" id="13"/>
            <p:cNvSpPr txBox="true"/>
            <p:nvPr/>
          </p:nvSpPr>
          <p:spPr>
            <a:xfrm>
              <a:off x="0" y="-104775"/>
              <a:ext cx="6108105" cy="41780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Gửi bảng câu hỏi để thu thập thông tin từ nhiều nguồn. Thu thập ý kiến nhanh chóng và ít tốn kém, phạm vi thu thập thông tin rộng. Tuy nhiên, mức độ thông tin chi tiết trung bình và không giải quyết xung đột ý kiến.</a:t>
              </a:r>
            </a:p>
          </p:txBody>
        </p:sp>
      </p:grpSp>
      <p:grpSp>
        <p:nvGrpSpPr>
          <p:cNvPr name="Group 14" id="14"/>
          <p:cNvGrpSpPr/>
          <p:nvPr/>
        </p:nvGrpSpPr>
        <p:grpSpPr>
          <a:xfrm rot="0">
            <a:off x="6853386" y="4136677"/>
            <a:ext cx="3520231" cy="637337"/>
            <a:chOff x="0" y="0"/>
            <a:chExt cx="4693642" cy="849782"/>
          </a:xfrm>
        </p:grpSpPr>
        <p:sp>
          <p:nvSpPr>
            <p:cNvPr name="Freeform 15" id="15"/>
            <p:cNvSpPr/>
            <p:nvPr/>
          </p:nvSpPr>
          <p:spPr>
            <a:xfrm flipH="false" flipV="false" rot="0">
              <a:off x="0" y="0"/>
              <a:ext cx="4693642" cy="849782"/>
            </a:xfrm>
            <a:custGeom>
              <a:avLst/>
              <a:gdLst/>
              <a:ahLst/>
              <a:cxnLst/>
              <a:rect r="r" b="b" t="t" l="l"/>
              <a:pathLst>
                <a:path h="849782" w="4693642">
                  <a:moveTo>
                    <a:pt x="0" y="0"/>
                  </a:moveTo>
                  <a:lnTo>
                    <a:pt x="4693642" y="0"/>
                  </a:lnTo>
                  <a:lnTo>
                    <a:pt x="4693642" y="849782"/>
                  </a:lnTo>
                  <a:lnTo>
                    <a:pt x="0" y="849782"/>
                  </a:lnTo>
                  <a:close/>
                </a:path>
              </a:pathLst>
            </a:custGeom>
            <a:solidFill>
              <a:srgbClr val="000000">
                <a:alpha val="0"/>
              </a:srgbClr>
            </a:solidFill>
          </p:spPr>
        </p:sp>
        <p:sp>
          <p:nvSpPr>
            <p:cNvPr name="TextBox 16" id="16"/>
            <p:cNvSpPr txBox="true"/>
            <p:nvPr/>
          </p:nvSpPr>
          <p:spPr>
            <a:xfrm>
              <a:off x="0" y="-19050"/>
              <a:ext cx="4693642" cy="868832"/>
            </a:xfrm>
            <a:prstGeom prst="rect">
              <a:avLst/>
            </a:prstGeom>
          </p:spPr>
          <p:txBody>
            <a:bodyPr anchor="t" rtlCol="false" tIns="0" lIns="0" bIns="0" rIns="0"/>
            <a:lstStyle/>
            <a:p>
              <a:pPr algn="l">
                <a:lnSpc>
                  <a:spcPts val="3562"/>
                </a:lnSpc>
              </a:pPr>
              <a:r>
                <a:rPr lang="en-US" sz="2850" spc="-57">
                  <a:solidFill>
                    <a:srgbClr val="272525"/>
                  </a:solidFill>
                  <a:latin typeface="Baloo"/>
                  <a:ea typeface="Baloo"/>
                  <a:cs typeface="Baloo"/>
                  <a:sym typeface="Baloo"/>
                </a:rPr>
                <a:t>JAD</a:t>
              </a:r>
            </a:p>
          </p:txBody>
        </p:sp>
      </p:grpSp>
      <p:grpSp>
        <p:nvGrpSpPr>
          <p:cNvPr name="Group 17" id="17"/>
          <p:cNvGrpSpPr/>
          <p:nvPr/>
        </p:nvGrpSpPr>
        <p:grpSpPr>
          <a:xfrm rot="0">
            <a:off x="6853386" y="4756100"/>
            <a:ext cx="4581079" cy="3054950"/>
            <a:chOff x="0" y="0"/>
            <a:chExt cx="6108105" cy="4073267"/>
          </a:xfrm>
        </p:grpSpPr>
        <p:sp>
          <p:nvSpPr>
            <p:cNvPr name="Freeform 18" id="18"/>
            <p:cNvSpPr/>
            <p:nvPr/>
          </p:nvSpPr>
          <p:spPr>
            <a:xfrm flipH="false" flipV="false" rot="0">
              <a:off x="0" y="0"/>
              <a:ext cx="6108105" cy="4073267"/>
            </a:xfrm>
            <a:custGeom>
              <a:avLst/>
              <a:gdLst/>
              <a:ahLst/>
              <a:cxnLst/>
              <a:rect r="r" b="b" t="t" l="l"/>
              <a:pathLst>
                <a:path h="4073267" w="6108105">
                  <a:moveTo>
                    <a:pt x="0" y="0"/>
                  </a:moveTo>
                  <a:lnTo>
                    <a:pt x="6108105" y="0"/>
                  </a:lnTo>
                  <a:lnTo>
                    <a:pt x="6108105" y="4073267"/>
                  </a:lnTo>
                  <a:lnTo>
                    <a:pt x="0" y="4073267"/>
                  </a:lnTo>
                  <a:close/>
                </a:path>
              </a:pathLst>
            </a:custGeom>
            <a:solidFill>
              <a:srgbClr val="000000">
                <a:alpha val="0"/>
              </a:srgbClr>
            </a:solidFill>
          </p:spPr>
        </p:sp>
        <p:sp>
          <p:nvSpPr>
            <p:cNvPr name="TextBox 19" id="19"/>
            <p:cNvSpPr txBox="true"/>
            <p:nvPr/>
          </p:nvSpPr>
          <p:spPr>
            <a:xfrm>
              <a:off x="0" y="-104775"/>
              <a:ext cx="6108105" cy="41780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Họp tập trung với nhiều bên liên quan, xử lý mâu thuẫn ngay tại chỗ. Cung cấp thông tin chi tiết, tích hợp ý kiến ngay lập tức, chi phí cao nhưng tiết kiệm thời gian tổng hợp thông tin.</a:t>
              </a:r>
            </a:p>
          </p:txBody>
        </p:sp>
      </p:grpSp>
      <p:grpSp>
        <p:nvGrpSpPr>
          <p:cNvPr name="Group 20" id="20"/>
          <p:cNvGrpSpPr/>
          <p:nvPr/>
        </p:nvGrpSpPr>
        <p:grpSpPr>
          <a:xfrm rot="0">
            <a:off x="12350949" y="4136677"/>
            <a:ext cx="3520231" cy="637337"/>
            <a:chOff x="0" y="0"/>
            <a:chExt cx="4693642" cy="849782"/>
          </a:xfrm>
        </p:grpSpPr>
        <p:sp>
          <p:nvSpPr>
            <p:cNvPr name="Freeform 21" id="21"/>
            <p:cNvSpPr/>
            <p:nvPr/>
          </p:nvSpPr>
          <p:spPr>
            <a:xfrm flipH="false" flipV="false" rot="0">
              <a:off x="0" y="0"/>
              <a:ext cx="4693642" cy="849782"/>
            </a:xfrm>
            <a:custGeom>
              <a:avLst/>
              <a:gdLst/>
              <a:ahLst/>
              <a:cxnLst/>
              <a:rect r="r" b="b" t="t" l="l"/>
              <a:pathLst>
                <a:path h="849782" w="4693642">
                  <a:moveTo>
                    <a:pt x="0" y="0"/>
                  </a:moveTo>
                  <a:lnTo>
                    <a:pt x="4693642" y="0"/>
                  </a:lnTo>
                  <a:lnTo>
                    <a:pt x="4693642" y="849782"/>
                  </a:lnTo>
                  <a:lnTo>
                    <a:pt x="0" y="849782"/>
                  </a:lnTo>
                  <a:close/>
                </a:path>
              </a:pathLst>
            </a:custGeom>
            <a:solidFill>
              <a:srgbClr val="000000">
                <a:alpha val="0"/>
              </a:srgbClr>
            </a:solidFill>
          </p:spPr>
        </p:sp>
        <p:sp>
          <p:nvSpPr>
            <p:cNvPr name="TextBox 22" id="22"/>
            <p:cNvSpPr txBox="true"/>
            <p:nvPr/>
          </p:nvSpPr>
          <p:spPr>
            <a:xfrm>
              <a:off x="0" y="-19050"/>
              <a:ext cx="4693642" cy="868832"/>
            </a:xfrm>
            <a:prstGeom prst="rect">
              <a:avLst/>
            </a:prstGeom>
          </p:spPr>
          <p:txBody>
            <a:bodyPr anchor="t" rtlCol="false" tIns="0" lIns="0" bIns="0" rIns="0"/>
            <a:lstStyle/>
            <a:p>
              <a:pPr algn="l">
                <a:lnSpc>
                  <a:spcPts val="3562"/>
                </a:lnSpc>
              </a:pPr>
              <a:r>
                <a:rPr lang="en-US" sz="2850" spc="-57">
                  <a:solidFill>
                    <a:srgbClr val="272525"/>
                  </a:solidFill>
                  <a:latin typeface="Baloo"/>
                  <a:ea typeface="Baloo"/>
                  <a:cs typeface="Baloo"/>
                  <a:sym typeface="Baloo"/>
                </a:rPr>
                <a:t>Hội Thảo</a:t>
              </a:r>
            </a:p>
          </p:txBody>
        </p:sp>
      </p:grpSp>
      <p:grpSp>
        <p:nvGrpSpPr>
          <p:cNvPr name="Group 23" id="23"/>
          <p:cNvGrpSpPr/>
          <p:nvPr/>
        </p:nvGrpSpPr>
        <p:grpSpPr>
          <a:xfrm rot="0">
            <a:off x="12350949" y="4756100"/>
            <a:ext cx="4581079" cy="3054950"/>
            <a:chOff x="0" y="0"/>
            <a:chExt cx="6108105" cy="4073267"/>
          </a:xfrm>
        </p:grpSpPr>
        <p:sp>
          <p:nvSpPr>
            <p:cNvPr name="Freeform 24" id="24"/>
            <p:cNvSpPr/>
            <p:nvPr/>
          </p:nvSpPr>
          <p:spPr>
            <a:xfrm flipH="false" flipV="false" rot="0">
              <a:off x="0" y="0"/>
              <a:ext cx="6108105" cy="4073267"/>
            </a:xfrm>
            <a:custGeom>
              <a:avLst/>
              <a:gdLst/>
              <a:ahLst/>
              <a:cxnLst/>
              <a:rect r="r" b="b" t="t" l="l"/>
              <a:pathLst>
                <a:path h="4073267" w="6108105">
                  <a:moveTo>
                    <a:pt x="0" y="0"/>
                  </a:moveTo>
                  <a:lnTo>
                    <a:pt x="6108105" y="0"/>
                  </a:lnTo>
                  <a:lnTo>
                    <a:pt x="6108105" y="4073267"/>
                  </a:lnTo>
                  <a:lnTo>
                    <a:pt x="0" y="4073267"/>
                  </a:lnTo>
                  <a:close/>
                </a:path>
              </a:pathLst>
            </a:custGeom>
            <a:solidFill>
              <a:srgbClr val="000000">
                <a:alpha val="0"/>
              </a:srgbClr>
            </a:solidFill>
          </p:spPr>
        </p:sp>
        <p:sp>
          <p:nvSpPr>
            <p:cNvPr name="TextBox 25" id="25"/>
            <p:cNvSpPr txBox="true"/>
            <p:nvPr/>
          </p:nvSpPr>
          <p:spPr>
            <a:xfrm>
              <a:off x="0" y="-104775"/>
              <a:ext cx="6108105" cy="41780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Tập trung vào vấn đề tổng quát, yêu cầu nghiệp vụ. Phạm vi thu thập thông tin rộng, chi phí trung bình. Tuy nhiên, mức độ thông tin chi tiết trung bình và phụ thuộc vào kỹ năng điều phối.</a:t>
              </a:r>
            </a:p>
          </p:txBody>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15</a:t>
            </a:r>
          </a:p>
        </p:txBody>
      </p:sp>
      <p:pic>
        <p:nvPicPr>
          <p:cNvPr name="Picture 27" id="27"/>
          <p:cNvPicPr>
            <a:picLocks noChangeAspect="true"/>
          </p:cNvPicPr>
          <p:nvPr/>
        </p:nvPicPr>
        <p:blipFill>
          <a:blip r:embed="rId3"/>
          <a:srcRect l="0" t="0" r="0" b="0"/>
          <a:stretch>
            <a:fillRect/>
          </a:stretch>
        </p:blipFill>
        <p:spPr>
          <a:xfrm flipH="true" flipV="false" rot="0">
            <a:off x="6415001" y="0"/>
            <a:ext cx="11958233" cy="2098730"/>
          </a:xfrm>
          <a:prstGeom prst="rect">
            <a:avLst/>
          </a:prstGeom>
        </p:spPr>
      </p:pic>
      <p:pic>
        <p:nvPicPr>
          <p:cNvPr name="Picture 28" id="28"/>
          <p:cNvPicPr>
            <a:picLocks noChangeAspect="true"/>
          </p:cNvPicPr>
          <p:nvPr/>
        </p:nvPicPr>
        <p:blipFill>
          <a:blip r:embed="rId4"/>
          <a:srcRect l="0" t="0" r="64034" b="46739"/>
          <a:stretch>
            <a:fillRect/>
          </a:stretch>
        </p:blipFill>
        <p:spPr>
          <a:xfrm flipH="true" flipV="true" rot="5400000">
            <a:off x="1041561" y="5150879"/>
            <a:ext cx="4331879" cy="6415001"/>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65518" y="-374005"/>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4902"/>
              </a:srgbClr>
            </a:solidFill>
          </p:spPr>
        </p:sp>
      </p:grpSp>
      <p:sp>
        <p:nvSpPr>
          <p:cNvPr name="Freeform 5" id="5" descr="preencoded.png"/>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grpSp>
        <p:nvGrpSpPr>
          <p:cNvPr name="Group 7" id="7"/>
          <p:cNvGrpSpPr/>
          <p:nvPr/>
        </p:nvGrpSpPr>
        <p:grpSpPr>
          <a:xfrm rot="0">
            <a:off x="320472" y="349294"/>
            <a:ext cx="7040612" cy="880021"/>
            <a:chOff x="0" y="0"/>
            <a:chExt cx="9387483" cy="1173362"/>
          </a:xfrm>
        </p:grpSpPr>
        <p:sp>
          <p:nvSpPr>
            <p:cNvPr name="Freeform 8" id="8"/>
            <p:cNvSpPr/>
            <p:nvPr/>
          </p:nvSpPr>
          <p:spPr>
            <a:xfrm flipH="false" flipV="false" rot="0">
              <a:off x="0" y="0"/>
              <a:ext cx="9387484" cy="1173362"/>
            </a:xfrm>
            <a:custGeom>
              <a:avLst/>
              <a:gdLst/>
              <a:ahLst/>
              <a:cxnLst/>
              <a:rect r="r" b="b" t="t" l="l"/>
              <a:pathLst>
                <a:path h="1173362" w="9387484">
                  <a:moveTo>
                    <a:pt x="0" y="0"/>
                  </a:moveTo>
                  <a:lnTo>
                    <a:pt x="9387484" y="0"/>
                  </a:lnTo>
                  <a:lnTo>
                    <a:pt x="9387484" y="1173362"/>
                  </a:lnTo>
                  <a:lnTo>
                    <a:pt x="0" y="1173362"/>
                  </a:lnTo>
                  <a:close/>
                </a:path>
              </a:pathLst>
            </a:custGeom>
            <a:solidFill>
              <a:srgbClr val="000000">
                <a:alpha val="0"/>
              </a:srgbClr>
            </a:solidFill>
          </p:spPr>
        </p:sp>
        <p:sp>
          <p:nvSpPr>
            <p:cNvPr name="TextBox 9" id="9"/>
            <p:cNvSpPr txBox="true"/>
            <p:nvPr/>
          </p:nvSpPr>
          <p:spPr>
            <a:xfrm>
              <a:off x="0" y="-19050"/>
              <a:ext cx="9387483" cy="1192412"/>
            </a:xfrm>
            <a:prstGeom prst="rect">
              <a:avLst/>
            </a:prstGeom>
          </p:spPr>
          <p:txBody>
            <a:bodyPr anchor="t" rtlCol="false" tIns="0" lIns="0" bIns="0" rIns="0"/>
            <a:lstStyle/>
            <a:p>
              <a:pPr algn="l">
                <a:lnSpc>
                  <a:spcPts val="6875"/>
                </a:lnSpc>
              </a:pPr>
              <a:r>
                <a:rPr lang="en-US" b="true" sz="5500" spc="-111">
                  <a:solidFill>
                    <a:srgbClr val="000000"/>
                  </a:solidFill>
                  <a:latin typeface="Source Serif Pro Bold"/>
                  <a:ea typeface="Source Serif Pro Bold"/>
                  <a:cs typeface="Source Serif Pro Bold"/>
                  <a:sym typeface="Source Serif Pro Bold"/>
                </a:rPr>
                <a:t>FAST và Kết luận</a:t>
              </a:r>
            </a:p>
          </p:txBody>
        </p:sp>
      </p:grpSp>
      <p:sp>
        <p:nvSpPr>
          <p:cNvPr name="Freeform 10" id="10" descr="preencoded.png"/>
          <p:cNvSpPr/>
          <p:nvPr/>
        </p:nvSpPr>
        <p:spPr>
          <a:xfrm flipH="false" flipV="false" rot="0">
            <a:off x="280690" y="1880295"/>
            <a:ext cx="748010" cy="748010"/>
          </a:xfrm>
          <a:custGeom>
            <a:avLst/>
            <a:gdLst/>
            <a:ahLst/>
            <a:cxnLst/>
            <a:rect r="r" b="b" t="t" l="l"/>
            <a:pathLst>
              <a:path h="748010" w="748010">
                <a:moveTo>
                  <a:pt x="0" y="0"/>
                </a:moveTo>
                <a:lnTo>
                  <a:pt x="748010" y="0"/>
                </a:lnTo>
                <a:lnTo>
                  <a:pt x="748010" y="748010"/>
                </a:lnTo>
                <a:lnTo>
                  <a:pt x="0" y="748010"/>
                </a:lnTo>
                <a:lnTo>
                  <a:pt x="0" y="0"/>
                </a:lnTo>
                <a:close/>
              </a:path>
            </a:pathLst>
          </a:custGeom>
          <a:blipFill>
            <a:blip r:embed="rId5"/>
            <a:stretch>
              <a:fillRect l="0" t="0" r="0" b="0"/>
            </a:stretch>
          </a:blipFill>
        </p:spPr>
      </p:sp>
      <p:grpSp>
        <p:nvGrpSpPr>
          <p:cNvPr name="Group 11" id="11"/>
          <p:cNvGrpSpPr/>
          <p:nvPr/>
        </p:nvGrpSpPr>
        <p:grpSpPr>
          <a:xfrm rot="0">
            <a:off x="1243653" y="2055614"/>
            <a:ext cx="3520231" cy="521151"/>
            <a:chOff x="0" y="0"/>
            <a:chExt cx="4693642" cy="694868"/>
          </a:xfrm>
        </p:grpSpPr>
        <p:sp>
          <p:nvSpPr>
            <p:cNvPr name="Freeform 12" id="12"/>
            <p:cNvSpPr/>
            <p:nvPr/>
          </p:nvSpPr>
          <p:spPr>
            <a:xfrm flipH="false" flipV="false" rot="0">
              <a:off x="0" y="0"/>
              <a:ext cx="4693642" cy="694868"/>
            </a:xfrm>
            <a:custGeom>
              <a:avLst/>
              <a:gdLst/>
              <a:ahLst/>
              <a:cxnLst/>
              <a:rect r="r" b="b" t="t" l="l"/>
              <a:pathLst>
                <a:path h="694868" w="4693642">
                  <a:moveTo>
                    <a:pt x="0" y="0"/>
                  </a:moveTo>
                  <a:lnTo>
                    <a:pt x="4693642" y="0"/>
                  </a:lnTo>
                  <a:lnTo>
                    <a:pt x="4693642" y="694868"/>
                  </a:lnTo>
                  <a:lnTo>
                    <a:pt x="0" y="694868"/>
                  </a:lnTo>
                  <a:close/>
                </a:path>
              </a:pathLst>
            </a:custGeom>
            <a:solidFill>
              <a:srgbClr val="000000">
                <a:alpha val="0"/>
              </a:srgbClr>
            </a:solidFill>
          </p:spPr>
        </p:sp>
        <p:sp>
          <p:nvSpPr>
            <p:cNvPr name="TextBox 13" id="13"/>
            <p:cNvSpPr txBox="true"/>
            <p:nvPr/>
          </p:nvSpPr>
          <p:spPr>
            <a:xfrm>
              <a:off x="0" y="-9525"/>
              <a:ext cx="4693642" cy="704393"/>
            </a:xfrm>
            <a:prstGeom prst="rect">
              <a:avLst/>
            </a:prstGeom>
          </p:spPr>
          <p:txBody>
            <a:bodyPr anchor="t" rtlCol="false" tIns="0" lIns="0" bIns="0" rIns="0"/>
            <a:lstStyle/>
            <a:p>
              <a:pPr algn="l">
                <a:lnSpc>
                  <a:spcPts val="3562"/>
                </a:lnSpc>
              </a:pPr>
              <a:r>
                <a:rPr lang="en-US" b="true" sz="2850" spc="-57">
                  <a:solidFill>
                    <a:srgbClr val="272525"/>
                  </a:solidFill>
                  <a:latin typeface="Source Serif Pro Bold"/>
                  <a:ea typeface="Source Serif Pro Bold"/>
                  <a:cs typeface="Source Serif Pro Bold"/>
                  <a:sym typeface="Source Serif Pro Bold"/>
                </a:rPr>
                <a:t>Thời gian</a:t>
              </a:r>
            </a:p>
          </p:txBody>
        </p:sp>
      </p:grpSp>
      <p:grpSp>
        <p:nvGrpSpPr>
          <p:cNvPr name="Group 14" id="14"/>
          <p:cNvGrpSpPr/>
          <p:nvPr/>
        </p:nvGrpSpPr>
        <p:grpSpPr>
          <a:xfrm rot="0">
            <a:off x="320472" y="2869555"/>
            <a:ext cx="4443412" cy="1511900"/>
            <a:chOff x="0" y="0"/>
            <a:chExt cx="5924550" cy="2015867"/>
          </a:xfrm>
        </p:grpSpPr>
        <p:sp>
          <p:nvSpPr>
            <p:cNvPr name="Freeform 15" id="15"/>
            <p:cNvSpPr/>
            <p:nvPr/>
          </p:nvSpPr>
          <p:spPr>
            <a:xfrm flipH="false" flipV="false" rot="0">
              <a:off x="0" y="0"/>
              <a:ext cx="5924550" cy="2015867"/>
            </a:xfrm>
            <a:custGeom>
              <a:avLst/>
              <a:gdLst/>
              <a:ahLst/>
              <a:cxnLst/>
              <a:rect r="r" b="b" t="t" l="l"/>
              <a:pathLst>
                <a:path h="2015867" w="5924550">
                  <a:moveTo>
                    <a:pt x="0" y="0"/>
                  </a:moveTo>
                  <a:lnTo>
                    <a:pt x="5924550" y="0"/>
                  </a:lnTo>
                  <a:lnTo>
                    <a:pt x="5924550" y="2015867"/>
                  </a:lnTo>
                  <a:lnTo>
                    <a:pt x="0" y="2015867"/>
                  </a:lnTo>
                  <a:close/>
                </a:path>
              </a:pathLst>
            </a:custGeom>
            <a:solidFill>
              <a:srgbClr val="000000">
                <a:alpha val="0"/>
              </a:srgbClr>
            </a:solidFill>
          </p:spPr>
        </p:sp>
        <p:sp>
          <p:nvSpPr>
            <p:cNvPr name="TextBox 16" id="16"/>
            <p:cNvSpPr txBox="true"/>
            <p:nvPr/>
          </p:nvSpPr>
          <p:spPr>
            <a:xfrm>
              <a:off x="0" y="-104775"/>
              <a:ext cx="5924550" cy="21206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Nếu thời gian ngắn và ít nguồn lực: Chọn bảng hỏi hoặc phân tích tài liệu.</a:t>
              </a:r>
            </a:p>
          </p:txBody>
        </p:sp>
      </p:grpSp>
      <p:sp>
        <p:nvSpPr>
          <p:cNvPr name="Freeform 17" id="17" descr="preencoded.png"/>
          <p:cNvSpPr/>
          <p:nvPr/>
        </p:nvSpPr>
        <p:spPr>
          <a:xfrm flipH="false" flipV="false" rot="0">
            <a:off x="5939284" y="1880295"/>
            <a:ext cx="748010" cy="748010"/>
          </a:xfrm>
          <a:custGeom>
            <a:avLst/>
            <a:gdLst/>
            <a:ahLst/>
            <a:cxnLst/>
            <a:rect r="r" b="b" t="t" l="l"/>
            <a:pathLst>
              <a:path h="748010" w="748010">
                <a:moveTo>
                  <a:pt x="0" y="0"/>
                </a:moveTo>
                <a:lnTo>
                  <a:pt x="748010" y="0"/>
                </a:lnTo>
                <a:lnTo>
                  <a:pt x="748010" y="748010"/>
                </a:lnTo>
                <a:lnTo>
                  <a:pt x="0" y="748010"/>
                </a:lnTo>
                <a:lnTo>
                  <a:pt x="0" y="0"/>
                </a:lnTo>
                <a:close/>
              </a:path>
            </a:pathLst>
          </a:custGeom>
          <a:blipFill>
            <a:blip r:embed="rId6"/>
            <a:stretch>
              <a:fillRect l="0" t="0" r="0" b="0"/>
            </a:stretch>
          </a:blipFill>
        </p:spPr>
      </p:sp>
      <p:grpSp>
        <p:nvGrpSpPr>
          <p:cNvPr name="Group 18" id="18"/>
          <p:cNvGrpSpPr/>
          <p:nvPr/>
        </p:nvGrpSpPr>
        <p:grpSpPr>
          <a:xfrm rot="0">
            <a:off x="6906369" y="2055614"/>
            <a:ext cx="3520231" cy="572691"/>
            <a:chOff x="0" y="0"/>
            <a:chExt cx="4693642" cy="763588"/>
          </a:xfrm>
        </p:grpSpPr>
        <p:sp>
          <p:nvSpPr>
            <p:cNvPr name="Freeform 19" id="19"/>
            <p:cNvSpPr/>
            <p:nvPr/>
          </p:nvSpPr>
          <p:spPr>
            <a:xfrm flipH="false" flipV="false" rot="0">
              <a:off x="0" y="0"/>
              <a:ext cx="4693642" cy="763588"/>
            </a:xfrm>
            <a:custGeom>
              <a:avLst/>
              <a:gdLst/>
              <a:ahLst/>
              <a:cxnLst/>
              <a:rect r="r" b="b" t="t" l="l"/>
              <a:pathLst>
                <a:path h="763588" w="4693642">
                  <a:moveTo>
                    <a:pt x="0" y="0"/>
                  </a:moveTo>
                  <a:lnTo>
                    <a:pt x="4693642" y="0"/>
                  </a:lnTo>
                  <a:lnTo>
                    <a:pt x="4693642" y="763588"/>
                  </a:lnTo>
                  <a:lnTo>
                    <a:pt x="0" y="763588"/>
                  </a:lnTo>
                  <a:close/>
                </a:path>
              </a:pathLst>
            </a:custGeom>
            <a:solidFill>
              <a:srgbClr val="000000">
                <a:alpha val="0"/>
              </a:srgbClr>
            </a:solidFill>
          </p:spPr>
        </p:sp>
        <p:sp>
          <p:nvSpPr>
            <p:cNvPr name="TextBox 20" id="20"/>
            <p:cNvSpPr txBox="true"/>
            <p:nvPr/>
          </p:nvSpPr>
          <p:spPr>
            <a:xfrm>
              <a:off x="0" y="-9525"/>
              <a:ext cx="4693642" cy="773113"/>
            </a:xfrm>
            <a:prstGeom prst="rect">
              <a:avLst/>
            </a:prstGeom>
          </p:spPr>
          <p:txBody>
            <a:bodyPr anchor="t" rtlCol="false" tIns="0" lIns="0" bIns="0" rIns="0"/>
            <a:lstStyle/>
            <a:p>
              <a:pPr algn="l">
                <a:lnSpc>
                  <a:spcPts val="3562"/>
                </a:lnSpc>
              </a:pPr>
              <a:r>
                <a:rPr lang="en-US" b="true" sz="2850" spc="-57">
                  <a:solidFill>
                    <a:srgbClr val="272525"/>
                  </a:solidFill>
                  <a:latin typeface="Source Serif Pro Bold"/>
                  <a:ea typeface="Source Serif Pro Bold"/>
                  <a:cs typeface="Source Serif Pro Bold"/>
                  <a:sym typeface="Source Serif Pro Bold"/>
                </a:rPr>
                <a:t>Chi phí</a:t>
              </a:r>
            </a:p>
          </p:txBody>
        </p:sp>
      </p:grpSp>
      <p:grpSp>
        <p:nvGrpSpPr>
          <p:cNvPr name="Group 21" id="21"/>
          <p:cNvGrpSpPr/>
          <p:nvPr/>
        </p:nvGrpSpPr>
        <p:grpSpPr>
          <a:xfrm rot="0">
            <a:off x="5939284" y="2869555"/>
            <a:ext cx="4443561" cy="1511900"/>
            <a:chOff x="0" y="0"/>
            <a:chExt cx="5924748" cy="2015867"/>
          </a:xfrm>
        </p:grpSpPr>
        <p:sp>
          <p:nvSpPr>
            <p:cNvPr name="Freeform 22" id="22"/>
            <p:cNvSpPr/>
            <p:nvPr/>
          </p:nvSpPr>
          <p:spPr>
            <a:xfrm flipH="false" flipV="false" rot="0">
              <a:off x="0" y="0"/>
              <a:ext cx="5924748" cy="2015867"/>
            </a:xfrm>
            <a:custGeom>
              <a:avLst/>
              <a:gdLst/>
              <a:ahLst/>
              <a:cxnLst/>
              <a:rect r="r" b="b" t="t" l="l"/>
              <a:pathLst>
                <a:path h="2015867" w="5924748">
                  <a:moveTo>
                    <a:pt x="0" y="0"/>
                  </a:moveTo>
                  <a:lnTo>
                    <a:pt x="5924748" y="0"/>
                  </a:lnTo>
                  <a:lnTo>
                    <a:pt x="5924748" y="2015867"/>
                  </a:lnTo>
                  <a:lnTo>
                    <a:pt x="0" y="2015867"/>
                  </a:lnTo>
                  <a:close/>
                </a:path>
              </a:pathLst>
            </a:custGeom>
            <a:solidFill>
              <a:srgbClr val="000000">
                <a:alpha val="0"/>
              </a:srgbClr>
            </a:solidFill>
          </p:spPr>
        </p:sp>
        <p:sp>
          <p:nvSpPr>
            <p:cNvPr name="TextBox 23" id="23"/>
            <p:cNvSpPr txBox="true"/>
            <p:nvPr/>
          </p:nvSpPr>
          <p:spPr>
            <a:xfrm>
              <a:off x="0" y="-104775"/>
              <a:ext cx="5924748" cy="21206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Nếu chi phí thấp quan trọng: Phân tích tài liệu hoặc bảng hỏi là lựa chọn phù hợp.</a:t>
              </a:r>
            </a:p>
          </p:txBody>
        </p:sp>
      </p:grpSp>
      <p:sp>
        <p:nvSpPr>
          <p:cNvPr name="Freeform 24" id="24" descr="preencoded.png"/>
          <p:cNvSpPr/>
          <p:nvPr/>
        </p:nvSpPr>
        <p:spPr>
          <a:xfrm flipH="false" flipV="false" rot="0">
            <a:off x="495643" y="4769495"/>
            <a:ext cx="748010" cy="748010"/>
          </a:xfrm>
          <a:custGeom>
            <a:avLst/>
            <a:gdLst/>
            <a:ahLst/>
            <a:cxnLst/>
            <a:rect r="r" b="b" t="t" l="l"/>
            <a:pathLst>
              <a:path h="748010" w="748010">
                <a:moveTo>
                  <a:pt x="0" y="0"/>
                </a:moveTo>
                <a:lnTo>
                  <a:pt x="748010" y="0"/>
                </a:lnTo>
                <a:lnTo>
                  <a:pt x="748010" y="748010"/>
                </a:lnTo>
                <a:lnTo>
                  <a:pt x="0" y="748010"/>
                </a:lnTo>
                <a:lnTo>
                  <a:pt x="0" y="0"/>
                </a:lnTo>
                <a:close/>
              </a:path>
            </a:pathLst>
          </a:custGeom>
          <a:blipFill>
            <a:blip r:embed="rId7"/>
            <a:stretch>
              <a:fillRect l="0" t="0" r="0" b="0"/>
            </a:stretch>
          </a:blipFill>
        </p:spPr>
      </p:sp>
      <p:grpSp>
        <p:nvGrpSpPr>
          <p:cNvPr name="Group 25" id="25"/>
          <p:cNvGrpSpPr/>
          <p:nvPr/>
        </p:nvGrpSpPr>
        <p:grpSpPr>
          <a:xfrm rot="0">
            <a:off x="1382814" y="4982114"/>
            <a:ext cx="3520231" cy="521151"/>
            <a:chOff x="0" y="0"/>
            <a:chExt cx="4693642" cy="694868"/>
          </a:xfrm>
        </p:grpSpPr>
        <p:sp>
          <p:nvSpPr>
            <p:cNvPr name="Freeform 26" id="26"/>
            <p:cNvSpPr/>
            <p:nvPr/>
          </p:nvSpPr>
          <p:spPr>
            <a:xfrm flipH="false" flipV="false" rot="0">
              <a:off x="0" y="0"/>
              <a:ext cx="4693642" cy="694868"/>
            </a:xfrm>
            <a:custGeom>
              <a:avLst/>
              <a:gdLst/>
              <a:ahLst/>
              <a:cxnLst/>
              <a:rect r="r" b="b" t="t" l="l"/>
              <a:pathLst>
                <a:path h="694868" w="4693642">
                  <a:moveTo>
                    <a:pt x="0" y="0"/>
                  </a:moveTo>
                  <a:lnTo>
                    <a:pt x="4693642" y="0"/>
                  </a:lnTo>
                  <a:lnTo>
                    <a:pt x="4693642" y="694868"/>
                  </a:lnTo>
                  <a:lnTo>
                    <a:pt x="0" y="694868"/>
                  </a:lnTo>
                  <a:close/>
                </a:path>
              </a:pathLst>
            </a:custGeom>
            <a:solidFill>
              <a:srgbClr val="000000">
                <a:alpha val="0"/>
              </a:srgbClr>
            </a:solidFill>
          </p:spPr>
        </p:sp>
        <p:sp>
          <p:nvSpPr>
            <p:cNvPr name="TextBox 27" id="27"/>
            <p:cNvSpPr txBox="true"/>
            <p:nvPr/>
          </p:nvSpPr>
          <p:spPr>
            <a:xfrm>
              <a:off x="0" y="-9525"/>
              <a:ext cx="4693642" cy="704393"/>
            </a:xfrm>
            <a:prstGeom prst="rect">
              <a:avLst/>
            </a:prstGeom>
          </p:spPr>
          <p:txBody>
            <a:bodyPr anchor="t" rtlCol="false" tIns="0" lIns="0" bIns="0" rIns="0"/>
            <a:lstStyle/>
            <a:p>
              <a:pPr algn="l">
                <a:lnSpc>
                  <a:spcPts val="3562"/>
                </a:lnSpc>
              </a:pPr>
              <a:r>
                <a:rPr lang="en-US" b="true" sz="2850" spc="-57">
                  <a:solidFill>
                    <a:srgbClr val="272525"/>
                  </a:solidFill>
                  <a:latin typeface="Source Serif Pro Bold"/>
                  <a:ea typeface="Source Serif Pro Bold"/>
                  <a:cs typeface="Source Serif Pro Bold"/>
                  <a:sym typeface="Source Serif Pro Bold"/>
                </a:rPr>
                <a:t>Chi tiết</a:t>
              </a:r>
            </a:p>
          </p:txBody>
        </p:sp>
      </p:grpSp>
      <p:grpSp>
        <p:nvGrpSpPr>
          <p:cNvPr name="Group 28" id="28"/>
          <p:cNvGrpSpPr/>
          <p:nvPr/>
        </p:nvGrpSpPr>
        <p:grpSpPr>
          <a:xfrm rot="0">
            <a:off x="320472" y="5947562"/>
            <a:ext cx="4443412" cy="997550"/>
            <a:chOff x="0" y="0"/>
            <a:chExt cx="5924550" cy="1330067"/>
          </a:xfrm>
        </p:grpSpPr>
        <p:sp>
          <p:nvSpPr>
            <p:cNvPr name="Freeform 29" id="29"/>
            <p:cNvSpPr/>
            <p:nvPr/>
          </p:nvSpPr>
          <p:spPr>
            <a:xfrm flipH="false" flipV="false" rot="0">
              <a:off x="0" y="0"/>
              <a:ext cx="5924550" cy="1330067"/>
            </a:xfrm>
            <a:custGeom>
              <a:avLst/>
              <a:gdLst/>
              <a:ahLst/>
              <a:cxnLst/>
              <a:rect r="r" b="b" t="t" l="l"/>
              <a:pathLst>
                <a:path h="1330067" w="5924550">
                  <a:moveTo>
                    <a:pt x="0" y="0"/>
                  </a:moveTo>
                  <a:lnTo>
                    <a:pt x="5924550" y="0"/>
                  </a:lnTo>
                  <a:lnTo>
                    <a:pt x="5924550" y="1330067"/>
                  </a:lnTo>
                  <a:lnTo>
                    <a:pt x="0" y="1330067"/>
                  </a:lnTo>
                  <a:close/>
                </a:path>
              </a:pathLst>
            </a:custGeom>
            <a:solidFill>
              <a:srgbClr val="000000">
                <a:alpha val="0"/>
              </a:srgbClr>
            </a:solidFill>
          </p:spPr>
        </p:sp>
        <p:sp>
          <p:nvSpPr>
            <p:cNvPr name="TextBox 30" id="30"/>
            <p:cNvSpPr txBox="true"/>
            <p:nvPr/>
          </p:nvSpPr>
          <p:spPr>
            <a:xfrm>
              <a:off x="0" y="-104775"/>
              <a:ext cx="5924550" cy="14348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Nếu cần thông tin chi tiết: Chọn phỏng vấn, JAD, hoặc FAST.</a:t>
              </a:r>
            </a:p>
          </p:txBody>
        </p:sp>
      </p:grpSp>
      <p:grpSp>
        <p:nvGrpSpPr>
          <p:cNvPr name="Group 31" id="31"/>
          <p:cNvGrpSpPr/>
          <p:nvPr/>
        </p:nvGrpSpPr>
        <p:grpSpPr>
          <a:xfrm rot="0">
            <a:off x="7018366" y="5077569"/>
            <a:ext cx="3520231" cy="521151"/>
            <a:chOff x="0" y="0"/>
            <a:chExt cx="4693642" cy="694868"/>
          </a:xfrm>
        </p:grpSpPr>
        <p:sp>
          <p:nvSpPr>
            <p:cNvPr name="Freeform 32" id="32"/>
            <p:cNvSpPr/>
            <p:nvPr/>
          </p:nvSpPr>
          <p:spPr>
            <a:xfrm flipH="false" flipV="false" rot="0">
              <a:off x="0" y="0"/>
              <a:ext cx="4693642" cy="694868"/>
            </a:xfrm>
            <a:custGeom>
              <a:avLst/>
              <a:gdLst/>
              <a:ahLst/>
              <a:cxnLst/>
              <a:rect r="r" b="b" t="t" l="l"/>
              <a:pathLst>
                <a:path h="694868" w="4693642">
                  <a:moveTo>
                    <a:pt x="0" y="0"/>
                  </a:moveTo>
                  <a:lnTo>
                    <a:pt x="4693642" y="0"/>
                  </a:lnTo>
                  <a:lnTo>
                    <a:pt x="4693642" y="694868"/>
                  </a:lnTo>
                  <a:lnTo>
                    <a:pt x="0" y="694868"/>
                  </a:lnTo>
                  <a:close/>
                </a:path>
              </a:pathLst>
            </a:custGeom>
            <a:solidFill>
              <a:srgbClr val="000000">
                <a:alpha val="0"/>
              </a:srgbClr>
            </a:solidFill>
          </p:spPr>
        </p:sp>
        <p:sp>
          <p:nvSpPr>
            <p:cNvPr name="TextBox 33" id="33"/>
            <p:cNvSpPr txBox="true"/>
            <p:nvPr/>
          </p:nvSpPr>
          <p:spPr>
            <a:xfrm>
              <a:off x="0" y="-9525"/>
              <a:ext cx="4693642" cy="704393"/>
            </a:xfrm>
            <a:prstGeom prst="rect">
              <a:avLst/>
            </a:prstGeom>
          </p:spPr>
          <p:txBody>
            <a:bodyPr anchor="t" rtlCol="false" tIns="0" lIns="0" bIns="0" rIns="0"/>
            <a:lstStyle/>
            <a:p>
              <a:pPr algn="l">
                <a:lnSpc>
                  <a:spcPts val="3562"/>
                </a:lnSpc>
              </a:pPr>
              <a:r>
                <a:rPr lang="en-US" b="true" sz="2850" spc="-57">
                  <a:solidFill>
                    <a:srgbClr val="272525"/>
                  </a:solidFill>
                  <a:latin typeface="Source Serif Pro Bold"/>
                  <a:ea typeface="Source Serif Pro Bold"/>
                  <a:cs typeface="Source Serif Pro Bold"/>
                  <a:sym typeface="Source Serif Pro Bold"/>
                </a:rPr>
                <a:t>Tích hợp</a:t>
              </a:r>
            </a:p>
          </p:txBody>
        </p:sp>
      </p:grpSp>
      <p:grpSp>
        <p:nvGrpSpPr>
          <p:cNvPr name="Group 34" id="34"/>
          <p:cNvGrpSpPr/>
          <p:nvPr/>
        </p:nvGrpSpPr>
        <p:grpSpPr>
          <a:xfrm rot="0">
            <a:off x="6095036" y="5984230"/>
            <a:ext cx="4443561" cy="997550"/>
            <a:chOff x="0" y="0"/>
            <a:chExt cx="5924748" cy="1330067"/>
          </a:xfrm>
        </p:grpSpPr>
        <p:sp>
          <p:nvSpPr>
            <p:cNvPr name="Freeform 35" id="35"/>
            <p:cNvSpPr/>
            <p:nvPr/>
          </p:nvSpPr>
          <p:spPr>
            <a:xfrm flipH="false" flipV="false" rot="0">
              <a:off x="0" y="0"/>
              <a:ext cx="5924748" cy="1330067"/>
            </a:xfrm>
            <a:custGeom>
              <a:avLst/>
              <a:gdLst/>
              <a:ahLst/>
              <a:cxnLst/>
              <a:rect r="r" b="b" t="t" l="l"/>
              <a:pathLst>
                <a:path h="1330067" w="5924748">
                  <a:moveTo>
                    <a:pt x="0" y="0"/>
                  </a:moveTo>
                  <a:lnTo>
                    <a:pt x="5924748" y="0"/>
                  </a:lnTo>
                  <a:lnTo>
                    <a:pt x="5924748" y="1330067"/>
                  </a:lnTo>
                  <a:lnTo>
                    <a:pt x="0" y="1330067"/>
                  </a:lnTo>
                  <a:close/>
                </a:path>
              </a:pathLst>
            </a:custGeom>
            <a:solidFill>
              <a:srgbClr val="000000">
                <a:alpha val="0"/>
              </a:srgbClr>
            </a:solidFill>
          </p:spPr>
        </p:sp>
        <p:sp>
          <p:nvSpPr>
            <p:cNvPr name="TextBox 36" id="36"/>
            <p:cNvSpPr txBox="true"/>
            <p:nvPr/>
          </p:nvSpPr>
          <p:spPr>
            <a:xfrm>
              <a:off x="0" y="-104775"/>
              <a:ext cx="5924748" cy="1434842"/>
            </a:xfrm>
            <a:prstGeom prst="rect">
              <a:avLst/>
            </a:prstGeom>
          </p:spPr>
          <p:txBody>
            <a:bodyPr anchor="t" rtlCol="false" tIns="0" lIns="0" bIns="0" rIns="0"/>
            <a:lstStyle/>
            <a:p>
              <a:pPr algn="l">
                <a:lnSpc>
                  <a:spcPts val="4074"/>
                </a:lnSpc>
              </a:pPr>
              <a:r>
                <a:rPr lang="en-US" sz="2512" spc="-51">
                  <a:solidFill>
                    <a:srgbClr val="272525"/>
                  </a:solidFill>
                  <a:latin typeface="Source Sans Pro"/>
                  <a:ea typeface="Source Sans Pro"/>
                  <a:cs typeface="Source Sans Pro"/>
                  <a:sym typeface="Source Sans Pro"/>
                </a:rPr>
                <a:t>Nếu yêu cầu tích hợp thông tin phức tạp: JAD là kỹ thuật tối ưu.</a:t>
              </a:r>
            </a:p>
          </p:txBody>
        </p:sp>
      </p:grpSp>
      <p:sp>
        <p:nvSpPr>
          <p:cNvPr name="Freeform 37" id="37" descr="preencoded.png"/>
          <p:cNvSpPr/>
          <p:nvPr/>
        </p:nvSpPr>
        <p:spPr>
          <a:xfrm flipH="false" flipV="false" rot="0">
            <a:off x="5962822" y="4857870"/>
            <a:ext cx="748010" cy="748010"/>
          </a:xfrm>
          <a:custGeom>
            <a:avLst/>
            <a:gdLst/>
            <a:ahLst/>
            <a:cxnLst/>
            <a:rect r="r" b="b" t="t" l="l"/>
            <a:pathLst>
              <a:path h="748010" w="748010">
                <a:moveTo>
                  <a:pt x="0" y="0"/>
                </a:moveTo>
                <a:lnTo>
                  <a:pt x="748010" y="0"/>
                </a:lnTo>
                <a:lnTo>
                  <a:pt x="748010" y="748010"/>
                </a:lnTo>
                <a:lnTo>
                  <a:pt x="0" y="748010"/>
                </a:lnTo>
                <a:lnTo>
                  <a:pt x="0" y="0"/>
                </a:lnTo>
                <a:close/>
              </a:path>
            </a:pathLst>
          </a:custGeom>
          <a:blipFill>
            <a:blip r:embed="rId8"/>
            <a:stretch>
              <a:fillRect l="0" t="0" r="0" b="0"/>
            </a:stretch>
          </a:blipFill>
        </p:spPr>
      </p:sp>
      <p:grpSp>
        <p:nvGrpSpPr>
          <p:cNvPr name="Group 38" id="38"/>
          <p:cNvGrpSpPr/>
          <p:nvPr/>
        </p:nvGrpSpPr>
        <p:grpSpPr>
          <a:xfrm rot="0">
            <a:off x="2971094" y="8769258"/>
            <a:ext cx="6684390" cy="1174842"/>
            <a:chOff x="0" y="0"/>
            <a:chExt cx="5924550" cy="1041294"/>
          </a:xfrm>
        </p:grpSpPr>
        <p:sp>
          <p:nvSpPr>
            <p:cNvPr name="Freeform 39" id="39"/>
            <p:cNvSpPr/>
            <p:nvPr/>
          </p:nvSpPr>
          <p:spPr>
            <a:xfrm flipH="false" flipV="false" rot="0">
              <a:off x="0" y="0"/>
              <a:ext cx="5924550" cy="1041294"/>
            </a:xfrm>
            <a:custGeom>
              <a:avLst/>
              <a:gdLst/>
              <a:ahLst/>
              <a:cxnLst/>
              <a:rect r="r" b="b" t="t" l="l"/>
              <a:pathLst>
                <a:path h="1041294" w="5924550">
                  <a:moveTo>
                    <a:pt x="0" y="0"/>
                  </a:moveTo>
                  <a:lnTo>
                    <a:pt x="5924550" y="0"/>
                  </a:lnTo>
                  <a:lnTo>
                    <a:pt x="5924550" y="1041294"/>
                  </a:lnTo>
                  <a:lnTo>
                    <a:pt x="0" y="1041294"/>
                  </a:lnTo>
                  <a:close/>
                </a:path>
              </a:pathLst>
            </a:custGeom>
            <a:solidFill>
              <a:srgbClr val="000000">
                <a:alpha val="0"/>
              </a:srgbClr>
            </a:solidFill>
          </p:spPr>
        </p:sp>
        <p:sp>
          <p:nvSpPr>
            <p:cNvPr name="TextBox 40" id="40"/>
            <p:cNvSpPr txBox="true"/>
            <p:nvPr/>
          </p:nvSpPr>
          <p:spPr>
            <a:xfrm>
              <a:off x="0" y="-104775"/>
              <a:ext cx="5924550" cy="1146069"/>
            </a:xfrm>
            <a:prstGeom prst="rect">
              <a:avLst/>
            </a:prstGeom>
          </p:spPr>
          <p:txBody>
            <a:bodyPr anchor="t" rtlCol="false" tIns="0" lIns="0" bIns="0" rIns="0"/>
            <a:lstStyle/>
            <a:p>
              <a:pPr algn="l">
                <a:lnSpc>
                  <a:spcPts val="4072"/>
                </a:lnSpc>
              </a:pPr>
              <a:r>
                <a:rPr lang="en-US" sz="2512" spc="-50">
                  <a:solidFill>
                    <a:srgbClr val="272525"/>
                  </a:solidFill>
                  <a:latin typeface="Source Sans Pro"/>
                  <a:ea typeface="Source Sans Pro"/>
                  <a:cs typeface="Source Sans Pro"/>
                  <a:sym typeface="Source Sans Pro"/>
                </a:rPr>
                <a:t> Chọn bảng hỏi hoặc phân tích tài liệu.</a:t>
              </a:r>
            </a:p>
            <a:p>
              <a:pPr algn="l">
                <a:lnSpc>
                  <a:spcPts val="4074"/>
                </a:lnSpc>
              </a:pPr>
            </a:p>
          </p:txBody>
        </p:sp>
      </p:grpSp>
      <p:grpSp>
        <p:nvGrpSpPr>
          <p:cNvPr name="Group 41" id="41"/>
          <p:cNvGrpSpPr/>
          <p:nvPr/>
        </p:nvGrpSpPr>
        <p:grpSpPr>
          <a:xfrm rot="0">
            <a:off x="3498135" y="7770465"/>
            <a:ext cx="3520231" cy="567208"/>
            <a:chOff x="0" y="0"/>
            <a:chExt cx="4693642" cy="756277"/>
          </a:xfrm>
        </p:grpSpPr>
        <p:sp>
          <p:nvSpPr>
            <p:cNvPr name="Freeform 42" id="42"/>
            <p:cNvSpPr/>
            <p:nvPr/>
          </p:nvSpPr>
          <p:spPr>
            <a:xfrm flipH="false" flipV="false" rot="0">
              <a:off x="0" y="0"/>
              <a:ext cx="4693642" cy="756277"/>
            </a:xfrm>
            <a:custGeom>
              <a:avLst/>
              <a:gdLst/>
              <a:ahLst/>
              <a:cxnLst/>
              <a:rect r="r" b="b" t="t" l="l"/>
              <a:pathLst>
                <a:path h="756277" w="4693642">
                  <a:moveTo>
                    <a:pt x="0" y="0"/>
                  </a:moveTo>
                  <a:lnTo>
                    <a:pt x="4693642" y="0"/>
                  </a:lnTo>
                  <a:lnTo>
                    <a:pt x="4693642" y="756277"/>
                  </a:lnTo>
                  <a:lnTo>
                    <a:pt x="0" y="756277"/>
                  </a:lnTo>
                  <a:close/>
                </a:path>
              </a:pathLst>
            </a:custGeom>
            <a:solidFill>
              <a:srgbClr val="000000">
                <a:alpha val="0"/>
              </a:srgbClr>
            </a:solidFill>
          </p:spPr>
        </p:sp>
        <p:sp>
          <p:nvSpPr>
            <p:cNvPr name="TextBox 43" id="43"/>
            <p:cNvSpPr txBox="true"/>
            <p:nvPr/>
          </p:nvSpPr>
          <p:spPr>
            <a:xfrm>
              <a:off x="0" y="-9525"/>
              <a:ext cx="4693642" cy="765802"/>
            </a:xfrm>
            <a:prstGeom prst="rect">
              <a:avLst/>
            </a:prstGeom>
          </p:spPr>
          <p:txBody>
            <a:bodyPr anchor="t" rtlCol="false" tIns="0" lIns="0" bIns="0" rIns="0"/>
            <a:lstStyle/>
            <a:p>
              <a:pPr algn="l">
                <a:lnSpc>
                  <a:spcPts val="3562"/>
                </a:lnSpc>
              </a:pPr>
              <a:r>
                <a:rPr lang="en-US" b="true" sz="2850" spc="-57">
                  <a:solidFill>
                    <a:srgbClr val="272525"/>
                  </a:solidFill>
                  <a:latin typeface="Source Serif Pro Bold"/>
                  <a:ea typeface="Source Serif Pro Bold"/>
                  <a:cs typeface="Source Serif Pro Bold"/>
                  <a:sym typeface="Source Serif Pro Bold"/>
                </a:rPr>
                <a:t>Phạm vi mở rộng</a:t>
              </a:r>
            </a:p>
          </p:txBody>
        </p:sp>
      </p:grpSp>
      <p:sp>
        <p:nvSpPr>
          <p:cNvPr name="TextBox 44" id="4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16</a:t>
            </a:r>
          </a:p>
        </p:txBody>
      </p:sp>
      <p:sp>
        <p:nvSpPr>
          <p:cNvPr name="Freeform 45" id="45" descr="preencoded.png"/>
          <p:cNvSpPr/>
          <p:nvPr/>
        </p:nvSpPr>
        <p:spPr>
          <a:xfrm flipH="false" flipV="false" rot="0">
            <a:off x="2542178" y="7589663"/>
            <a:ext cx="748010" cy="748010"/>
          </a:xfrm>
          <a:custGeom>
            <a:avLst/>
            <a:gdLst/>
            <a:ahLst/>
            <a:cxnLst/>
            <a:rect r="r" b="b" t="t" l="l"/>
            <a:pathLst>
              <a:path h="748010" w="748010">
                <a:moveTo>
                  <a:pt x="0" y="0"/>
                </a:moveTo>
                <a:lnTo>
                  <a:pt x="748010" y="0"/>
                </a:lnTo>
                <a:lnTo>
                  <a:pt x="748010" y="748010"/>
                </a:lnTo>
                <a:lnTo>
                  <a:pt x="0" y="748010"/>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765936" y="2365242"/>
            <a:ext cx="7074427" cy="1042035"/>
          </a:xfrm>
          <a:prstGeom prst="rect">
            <a:avLst/>
          </a:prstGeom>
        </p:spPr>
        <p:txBody>
          <a:bodyPr anchor="t" rtlCol="false" tIns="0" lIns="0" bIns="0" rIns="0">
            <a:spAutoFit/>
          </a:bodyPr>
          <a:lstStyle/>
          <a:p>
            <a:pPr algn="l">
              <a:lnSpc>
                <a:spcPts val="8280"/>
              </a:lnSpc>
            </a:pPr>
            <a:r>
              <a:rPr lang="en-US" sz="6900">
                <a:solidFill>
                  <a:srgbClr val="000000"/>
                </a:solidFill>
                <a:latin typeface="Baloo"/>
                <a:ea typeface="Baloo"/>
                <a:cs typeface="Baloo"/>
                <a:sym typeface="Baloo"/>
              </a:rPr>
              <a:t>Nguồn tham khảo</a:t>
            </a:r>
          </a:p>
        </p:txBody>
      </p:sp>
      <p:pic>
        <p:nvPicPr>
          <p:cNvPr name="Picture 3" id="3"/>
          <p:cNvPicPr>
            <a:picLocks noChangeAspect="true"/>
          </p:cNvPicPr>
          <p:nvPr/>
        </p:nvPicPr>
        <p:blipFill>
          <a:blip r:embed="rId2"/>
          <a:srcRect l="0" t="0" r="0" b="0"/>
          <a:stretch>
            <a:fillRect/>
          </a:stretch>
        </p:blipFill>
        <p:spPr>
          <a:xfrm flipH="true" flipV="false" rot="0">
            <a:off x="-21944" y="0"/>
            <a:ext cx="11958233" cy="2098730"/>
          </a:xfrm>
          <a:prstGeom prst="rect">
            <a:avLst/>
          </a:prstGeom>
        </p:spPr>
      </p:pic>
      <p:pic>
        <p:nvPicPr>
          <p:cNvPr name="Picture 4" id="4"/>
          <p:cNvPicPr>
            <a:picLocks noChangeAspect="true"/>
          </p:cNvPicPr>
          <p:nvPr/>
        </p:nvPicPr>
        <p:blipFill>
          <a:blip r:embed="rId3"/>
          <a:srcRect l="0" t="0" r="64034" b="46739"/>
          <a:stretch>
            <a:fillRect/>
          </a:stretch>
        </p:blipFill>
        <p:spPr>
          <a:xfrm flipH="true" flipV="true" rot="5400000">
            <a:off x="1041561" y="4941242"/>
            <a:ext cx="4331879" cy="6415001"/>
          </a:xfrm>
          <a:prstGeom prst="rect">
            <a:avLst/>
          </a:prstGeom>
        </p:spPr>
      </p:pic>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17</a:t>
            </a:r>
          </a:p>
        </p:txBody>
      </p:sp>
      <p:sp>
        <p:nvSpPr>
          <p:cNvPr name="TextBox 6" id="6"/>
          <p:cNvSpPr txBox="true"/>
          <p:nvPr/>
        </p:nvSpPr>
        <p:spPr>
          <a:xfrm rot="0">
            <a:off x="765936" y="3626352"/>
            <a:ext cx="15478987" cy="4874260"/>
          </a:xfrm>
          <a:prstGeom prst="rect">
            <a:avLst/>
          </a:prstGeom>
        </p:spPr>
        <p:txBody>
          <a:bodyPr anchor="t" rtlCol="false" tIns="0" lIns="0" bIns="0" rIns="0">
            <a:spAutoFit/>
          </a:bodyPr>
          <a:lstStyle/>
          <a:p>
            <a:pPr algn="l">
              <a:lnSpc>
                <a:spcPts val="4550"/>
              </a:lnSpc>
            </a:pPr>
            <a:r>
              <a:rPr lang="en-US" sz="3500">
                <a:solidFill>
                  <a:srgbClr val="000000"/>
                </a:solidFill>
                <a:latin typeface="Baloo"/>
                <a:ea typeface="Baloo"/>
                <a:cs typeface="Baloo"/>
                <a:sym typeface="Baloo"/>
              </a:rPr>
              <a:t>Introduction to Facilitated Application Specification Techniques (FAST):</a:t>
            </a:r>
          </a:p>
          <a:p>
            <a:pPr algn="l">
              <a:lnSpc>
                <a:spcPts val="4420"/>
              </a:lnSpc>
            </a:pPr>
            <a:r>
              <a:rPr lang="en-US" sz="3400">
                <a:solidFill>
                  <a:srgbClr val="000000"/>
                </a:solidFill>
                <a:latin typeface="Clear Sans"/>
                <a:ea typeface="Clear Sans"/>
                <a:cs typeface="Clear Sans"/>
                <a:sym typeface="Clear Sans"/>
              </a:rPr>
              <a:t>      </a:t>
            </a:r>
            <a:r>
              <a:rPr lang="en-US" sz="3400" i="true" b="true">
                <a:solidFill>
                  <a:srgbClr val="000000"/>
                </a:solidFill>
                <a:latin typeface="Clear Sans Bold Italics"/>
                <a:ea typeface="Clear Sans Bold Italics"/>
                <a:cs typeface="Clear Sans Bold Italics"/>
                <a:sym typeface="Clear Sans Bold Italics"/>
              </a:rPr>
              <a:t>  </a:t>
            </a:r>
            <a:r>
              <a:rPr lang="en-US" b="true" sz="3400" i="true" u="sng">
                <a:solidFill>
                  <a:srgbClr val="000000"/>
                </a:solidFill>
                <a:latin typeface="Clear Sans Bold Italics"/>
                <a:ea typeface="Clear Sans Bold Italics"/>
                <a:cs typeface="Clear Sans Bold Italics"/>
                <a:sym typeface="Clear Sans Bold Italics"/>
              </a:rPr>
              <a:t> </a:t>
            </a:r>
            <a:r>
              <a:rPr lang="en-US" b="true" sz="3400" i="true" u="sng">
                <a:solidFill>
                  <a:srgbClr val="000000"/>
                </a:solidFill>
                <a:latin typeface="Clear Sans Bold Italics"/>
                <a:ea typeface="Clear Sans Bold Italics"/>
                <a:cs typeface="Clear Sans Bold Italics"/>
                <a:sym typeface="Clear Sans Bold Italics"/>
              </a:rPr>
              <a:t>https://www.tutorsglobe.com/homework-help/software-engineering/facilitated-application-specification-techniques-7720.aspx#:~:text=This%20approach%20is%20also%20called,a%20preliminary%20set%20of%20solution</a:t>
            </a:r>
          </a:p>
          <a:p>
            <a:pPr algn="l">
              <a:lnSpc>
                <a:spcPts val="4550"/>
              </a:lnSpc>
            </a:pPr>
          </a:p>
          <a:p>
            <a:pPr algn="l">
              <a:lnSpc>
                <a:spcPts val="4550"/>
              </a:lnSpc>
            </a:pPr>
            <a:r>
              <a:rPr lang="en-US" sz="3500">
                <a:solidFill>
                  <a:srgbClr val="000000"/>
                </a:solidFill>
                <a:latin typeface="Baloo"/>
                <a:ea typeface="Baloo"/>
                <a:cs typeface="Baloo"/>
                <a:sym typeface="Baloo"/>
              </a:rPr>
              <a:t>What is a workshop and why should you run one?</a:t>
            </a:r>
          </a:p>
          <a:p>
            <a:pPr algn="l">
              <a:lnSpc>
                <a:spcPts val="3770"/>
              </a:lnSpc>
            </a:pPr>
            <a:r>
              <a:rPr lang="en-US" sz="2900">
                <a:solidFill>
                  <a:srgbClr val="000000"/>
                </a:solidFill>
                <a:latin typeface="Clear Sans"/>
                <a:ea typeface="Clear Sans"/>
                <a:cs typeface="Clear Sans"/>
                <a:sym typeface="Clear Sans"/>
              </a:rPr>
              <a:t>     </a:t>
            </a:r>
            <a:r>
              <a:rPr lang="en-US" sz="2900" b="true">
                <a:solidFill>
                  <a:srgbClr val="000000"/>
                </a:solidFill>
                <a:latin typeface="Clear Sans Bold"/>
                <a:ea typeface="Clear Sans Bold"/>
                <a:cs typeface="Clear Sans Bold"/>
                <a:sym typeface="Clear Sans Bold"/>
              </a:rPr>
              <a:t>    </a:t>
            </a:r>
            <a:r>
              <a:rPr lang="en-US" b="true" sz="2900" u="sng">
                <a:solidFill>
                  <a:srgbClr val="000000"/>
                </a:solidFill>
                <a:latin typeface="Clear Sans Bold"/>
                <a:ea typeface="Clear Sans Bold"/>
                <a:cs typeface="Clear Sans Bold"/>
                <a:sym typeface="Clear Sans Bold"/>
                <a:hlinkClick r:id="rId4" tooltip="https://www.sessionlab.com/blog/what-is-a-workshop/"/>
              </a:rPr>
              <a:t>https://www.sessionlab.com/blog/what-is-a-workshop/</a:t>
            </a:r>
          </a:p>
          <a:p>
            <a:pPr algn="l">
              <a:lnSpc>
                <a:spcPts val="377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408585">
            <a:off x="4499355" y="-533795"/>
            <a:ext cx="9289290" cy="10369815"/>
          </a:xfrm>
          <a:prstGeom prst="rect">
            <a:avLst/>
          </a:prstGeom>
        </p:spPr>
      </p:pic>
      <p:sp>
        <p:nvSpPr>
          <p:cNvPr name="TextBox 3" id="3"/>
          <p:cNvSpPr txBox="true"/>
          <p:nvPr/>
        </p:nvSpPr>
        <p:spPr>
          <a:xfrm rot="0">
            <a:off x="4005476" y="2917237"/>
            <a:ext cx="9444385" cy="3467100"/>
          </a:xfrm>
          <a:prstGeom prst="rect">
            <a:avLst/>
          </a:prstGeom>
        </p:spPr>
        <p:txBody>
          <a:bodyPr anchor="t" rtlCol="false" tIns="0" lIns="0" bIns="0" rIns="0">
            <a:spAutoFit/>
          </a:bodyPr>
          <a:lstStyle/>
          <a:p>
            <a:pPr algn="ctr">
              <a:lnSpc>
                <a:spcPts val="13679"/>
              </a:lnSpc>
            </a:pPr>
            <a:r>
              <a:rPr lang="en-US" sz="11399">
                <a:solidFill>
                  <a:srgbClr val="000000"/>
                </a:solidFill>
                <a:latin typeface="Baloo"/>
                <a:ea typeface="Baloo"/>
                <a:cs typeface="Baloo"/>
                <a:sym typeface="Baloo"/>
              </a:rPr>
              <a:t>Thank for watching !</a:t>
            </a:r>
          </a:p>
        </p:txBody>
      </p:sp>
      <p:pic>
        <p:nvPicPr>
          <p:cNvPr name="Picture 4" id="4"/>
          <p:cNvPicPr>
            <a:picLocks noChangeAspect="true"/>
          </p:cNvPicPr>
          <p:nvPr/>
        </p:nvPicPr>
        <p:blipFill>
          <a:blip r:embed="rId3"/>
          <a:srcRect l="62989" t="67035" r="0" b="0"/>
          <a:stretch>
            <a:fillRect/>
          </a:stretch>
        </p:blipFill>
        <p:spPr>
          <a:xfrm flipH="false" flipV="false" rot="5400000">
            <a:off x="-202103" y="6179918"/>
            <a:ext cx="4312936" cy="3841377"/>
          </a:xfrm>
          <a:prstGeom prst="rect">
            <a:avLst/>
          </a:prstGeom>
        </p:spPr>
      </p:pic>
      <p:pic>
        <p:nvPicPr>
          <p:cNvPr name="Picture 5" id="5"/>
          <p:cNvPicPr>
            <a:picLocks noChangeAspect="true"/>
          </p:cNvPicPr>
          <p:nvPr/>
        </p:nvPicPr>
        <p:blipFill>
          <a:blip r:embed="rId4"/>
          <a:srcRect l="0" t="0" r="0" b="0"/>
          <a:stretch>
            <a:fillRect/>
          </a:stretch>
        </p:blipFill>
        <p:spPr>
          <a:xfrm flipH="false" flipV="false" rot="0">
            <a:off x="11640279" y="-4239083"/>
            <a:ext cx="8152651" cy="8478165"/>
          </a:xfrm>
          <a:prstGeom prst="rect">
            <a:avLst/>
          </a:prstGeom>
        </p:spPr>
      </p:pic>
      <p:sp>
        <p:nvSpPr>
          <p:cNvPr name="Freeform 6" id="6"/>
          <p:cNvSpPr/>
          <p:nvPr/>
        </p:nvSpPr>
        <p:spPr>
          <a:xfrm flipH="false" flipV="false" rot="0">
            <a:off x="-313205" y="-1351572"/>
            <a:ext cx="6459105" cy="5590654"/>
          </a:xfrm>
          <a:custGeom>
            <a:avLst/>
            <a:gdLst/>
            <a:ahLst/>
            <a:cxnLst/>
            <a:rect r="r" b="b" t="t" l="l"/>
            <a:pathLst>
              <a:path h="5590654" w="6459105">
                <a:moveTo>
                  <a:pt x="0" y="0"/>
                </a:moveTo>
                <a:lnTo>
                  <a:pt x="6459105" y="0"/>
                </a:lnTo>
                <a:lnTo>
                  <a:pt x="6459105" y="5590655"/>
                </a:lnTo>
                <a:lnTo>
                  <a:pt x="0" y="5590655"/>
                </a:lnTo>
                <a:lnTo>
                  <a:pt x="0" y="0"/>
                </a:lnTo>
                <a:close/>
              </a:path>
            </a:pathLst>
          </a:custGeom>
          <a:blipFill>
            <a:blip r:embed="rId5"/>
            <a:stretch>
              <a:fillRect l="0" t="0" r="0" b="0"/>
            </a:stretch>
          </a:blipFill>
        </p:spPr>
      </p:sp>
      <p:sp>
        <p:nvSpPr>
          <p:cNvPr name="Freeform 7" id="7"/>
          <p:cNvSpPr/>
          <p:nvPr/>
        </p:nvSpPr>
        <p:spPr>
          <a:xfrm flipH="false" flipV="false" rot="0">
            <a:off x="9792261" y="5517562"/>
            <a:ext cx="7315200" cy="3968496"/>
          </a:xfrm>
          <a:custGeom>
            <a:avLst/>
            <a:gdLst/>
            <a:ahLst/>
            <a:cxnLst/>
            <a:rect r="r" b="b" t="t" l="l"/>
            <a:pathLst>
              <a:path h="3968496" w="7315200">
                <a:moveTo>
                  <a:pt x="0" y="0"/>
                </a:moveTo>
                <a:lnTo>
                  <a:pt x="7315200" y="0"/>
                </a:lnTo>
                <a:lnTo>
                  <a:pt x="7315200" y="3968496"/>
                </a:lnTo>
                <a:lnTo>
                  <a:pt x="0" y="39684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983079" y="6043206"/>
            <a:ext cx="4877457" cy="4114800"/>
          </a:xfrm>
          <a:custGeom>
            <a:avLst/>
            <a:gdLst/>
            <a:ahLst/>
            <a:cxnLst/>
            <a:rect r="r" b="b" t="t" l="l"/>
            <a:pathLst>
              <a:path h="4114800" w="4877457">
                <a:moveTo>
                  <a:pt x="0" y="0"/>
                </a:moveTo>
                <a:lnTo>
                  <a:pt x="4877457" y="0"/>
                </a:lnTo>
                <a:lnTo>
                  <a:pt x="487745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3677" y="282953"/>
            <a:ext cx="4618653" cy="4114800"/>
          </a:xfrm>
          <a:custGeom>
            <a:avLst/>
            <a:gdLst/>
            <a:ahLst/>
            <a:cxnLst/>
            <a:rect r="r" b="b" t="t" l="l"/>
            <a:pathLst>
              <a:path h="4114800" w="4618653">
                <a:moveTo>
                  <a:pt x="0" y="0"/>
                </a:moveTo>
                <a:lnTo>
                  <a:pt x="4618653" y="0"/>
                </a:lnTo>
                <a:lnTo>
                  <a:pt x="461865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DAGbmyB1ptk</dc:identifier>
  <dcterms:modified xsi:type="dcterms:W3CDTF">2011-08-01T06:04:30Z</dcterms:modified>
  <cp:revision>1</cp:revision>
  <dc:title>N9_PTYC</dc:title>
</cp:coreProperties>
</file>