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media/image10.svg" ContentType="image/svg+xml"/>
  <Override PartName="/ppt/media/image12.svg" ContentType="image/svg+xml"/>
  <Override PartName="/ppt/media/image14.svg" ContentType="image/svg+xml"/>
  <Override PartName="/ppt/media/image17.svg" ContentType="image/svg+xml"/>
  <Override PartName="/ppt/media/image19.svg" ContentType="image/svg+xml"/>
  <Override PartName="/ppt/media/image2.svg" ContentType="image/svg+xml"/>
  <Override PartName="/ppt/media/image4.svg" ContentType="image/svg+xml"/>
  <Override PartName="/ppt/media/image6.svg" ContentType="image/svg+xml"/>
  <Override PartName="/ppt/media/image8.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Lst>
  <p:sldSz cx="18288000" cy="10287000"/>
  <p:notesSz cx="6858000" cy="9144000"/>
  <p:embeddedFontLst>
    <p:embeddedFont>
      <p:font typeface="Cabin Bold" panose="00000800000000000000"/>
      <p:bold r:id="rId20"/>
    </p:embeddedFont>
    <p:embeddedFont>
      <p:font typeface="Cabin" panose="00000500000000000000"/>
      <p:regular r:id="rId21"/>
    </p:embeddedFont>
    <p:embeddedFont>
      <p:font typeface="Calibri" panose="020F0502020204030204" charset="0"/>
      <p:regular r:id="rId22"/>
      <p:bold r:id="rId23"/>
      <p:italic r:id="rId24"/>
      <p:boldItalic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5" Type="http://schemas.openxmlformats.org/officeDocument/2006/relationships/font" Target="fonts/font6.fntdata"/><Relationship Id="rId24" Type="http://schemas.openxmlformats.org/officeDocument/2006/relationships/font" Target="fonts/font5.fntdata"/><Relationship Id="rId23" Type="http://schemas.openxmlformats.org/officeDocument/2006/relationships/font" Target="fonts/font4.fntdata"/><Relationship Id="rId22" Type="http://schemas.openxmlformats.org/officeDocument/2006/relationships/font" Target="fonts/font3.fntdata"/><Relationship Id="rId21" Type="http://schemas.openxmlformats.org/officeDocument/2006/relationships/font" Target="fonts/font2.fntdata"/><Relationship Id="rId20" Type="http://schemas.openxmlformats.org/officeDocument/2006/relationships/font" Target="fonts/font1.fntdata"/><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sv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sv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svg"/><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1.xml"/><Relationship Id="rId2" Type="http://schemas.openxmlformats.org/officeDocument/2006/relationships/image" Target="../media/image14.svg"/><Relationship Id="rId1"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jpe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7.svg"/><Relationship Id="rId1"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9.svg"/><Relationship Id="rId1"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5034C4"/>
        </a:solidFill>
        <a:effectLst/>
      </p:bgPr>
    </p:bg>
    <p:spTree>
      <p:nvGrpSpPr>
        <p:cNvPr id="1" name=""/>
        <p:cNvGrpSpPr/>
        <p:nvPr/>
      </p:nvGrpSpPr>
      <p:grpSpPr>
        <a:xfrm>
          <a:off x="0" y="0"/>
          <a:ext cx="0" cy="0"/>
          <a:chOff x="0" y="0"/>
          <a:chExt cx="0" cy="0"/>
        </a:xfrm>
      </p:grpSpPr>
      <p:grpSp>
        <p:nvGrpSpPr>
          <p:cNvPr id="2" name="Group 2"/>
          <p:cNvGrpSpPr/>
          <p:nvPr/>
        </p:nvGrpSpPr>
        <p:grpSpPr>
          <a:xfrm rot="0">
            <a:off x="0" y="7612069"/>
            <a:ext cx="18288000" cy="2674931"/>
            <a:chOff x="0" y="0"/>
            <a:chExt cx="4816593" cy="704508"/>
          </a:xfrm>
        </p:grpSpPr>
        <p:sp>
          <p:nvSpPr>
            <p:cNvPr id="3" name="Freeform 3"/>
            <p:cNvSpPr/>
            <p:nvPr/>
          </p:nvSpPr>
          <p:spPr>
            <a:xfrm>
              <a:off x="0" y="0"/>
              <a:ext cx="4816592" cy="704508"/>
            </a:xfrm>
            <a:custGeom>
              <a:avLst/>
              <a:gdLst/>
              <a:ahLst/>
              <a:cxnLst/>
              <a:rect l="l" t="t" r="r" b="b"/>
              <a:pathLst>
                <a:path w="4816592" h="704508">
                  <a:moveTo>
                    <a:pt x="0" y="0"/>
                  </a:moveTo>
                  <a:lnTo>
                    <a:pt x="4816592" y="0"/>
                  </a:lnTo>
                  <a:lnTo>
                    <a:pt x="4816592" y="704508"/>
                  </a:lnTo>
                  <a:lnTo>
                    <a:pt x="0" y="704508"/>
                  </a:lnTo>
                  <a:close/>
                </a:path>
              </a:pathLst>
            </a:custGeom>
            <a:solidFill>
              <a:srgbClr val="FFFFFF"/>
            </a:solidFill>
          </p:spPr>
        </p:sp>
        <p:sp>
          <p:nvSpPr>
            <p:cNvPr id="4" name="TextBox 4"/>
            <p:cNvSpPr txBox="1"/>
            <p:nvPr/>
          </p:nvSpPr>
          <p:spPr>
            <a:xfrm>
              <a:off x="0" y="-38100"/>
              <a:ext cx="4816593" cy="742608"/>
            </a:xfrm>
            <a:prstGeom prst="rect">
              <a:avLst/>
            </a:prstGeom>
          </p:spPr>
          <p:txBody>
            <a:bodyPr lIns="50800" tIns="50800" rIns="50800" bIns="50800" rtlCol="0" anchor="ctr"/>
            <a:lstStyle/>
            <a:p>
              <a:pPr algn="ctr">
                <a:lnSpc>
                  <a:spcPts val="2100"/>
                </a:lnSpc>
              </a:pPr>
            </a:p>
          </p:txBody>
        </p:sp>
      </p:grpSp>
      <p:sp>
        <p:nvSpPr>
          <p:cNvPr id="5" name="Freeform 5"/>
          <p:cNvSpPr/>
          <p:nvPr/>
        </p:nvSpPr>
        <p:spPr>
          <a:xfrm>
            <a:off x="1600351" y="800145"/>
            <a:ext cx="5503176" cy="8623210"/>
          </a:xfrm>
          <a:custGeom>
            <a:avLst/>
            <a:gdLst/>
            <a:ahLst/>
            <a:cxnLst/>
            <a:rect l="l" t="t" r="r" b="b"/>
            <a:pathLst>
              <a:path w="5503176" h="8623210">
                <a:moveTo>
                  <a:pt x="0" y="0"/>
                </a:moveTo>
                <a:lnTo>
                  <a:pt x="5503176" y="0"/>
                </a:lnTo>
                <a:lnTo>
                  <a:pt x="5503176" y="8623210"/>
                </a:lnTo>
                <a:lnTo>
                  <a:pt x="0" y="862321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6" name="TextBox 6"/>
          <p:cNvSpPr txBox="1"/>
          <p:nvPr/>
        </p:nvSpPr>
        <p:spPr>
          <a:xfrm>
            <a:off x="7333527" y="2703186"/>
            <a:ext cx="11541603" cy="4153033"/>
          </a:xfrm>
          <a:prstGeom prst="rect">
            <a:avLst/>
          </a:prstGeom>
        </p:spPr>
        <p:txBody>
          <a:bodyPr lIns="0" tIns="0" rIns="0" bIns="0" rtlCol="0" anchor="t">
            <a:spAutoFit/>
          </a:bodyPr>
          <a:lstStyle/>
          <a:p>
            <a:pPr algn="l">
              <a:lnSpc>
                <a:spcPts val="16635"/>
              </a:lnSpc>
            </a:pPr>
            <a:r>
              <a:rPr lang="en-US" sz="11965" b="1">
                <a:solidFill>
                  <a:srgbClr val="FFFFFF"/>
                </a:solidFill>
                <a:latin typeface="Cabin Bold" panose="00000800000000000000"/>
                <a:ea typeface="Cabin Bold" panose="00000800000000000000"/>
                <a:cs typeface="Cabin Bold" panose="00000800000000000000"/>
                <a:sym typeface="Cabin Bold" panose="00000800000000000000"/>
              </a:rPr>
              <a:t>Introduction</a:t>
            </a:r>
            <a:endParaRPr lang="en-US" sz="11965" b="1">
              <a:solidFill>
                <a:srgbClr val="FFFFFF"/>
              </a:solidFill>
              <a:latin typeface="Cabin Bold" panose="00000800000000000000"/>
              <a:ea typeface="Cabin Bold" panose="00000800000000000000"/>
              <a:cs typeface="Cabin Bold" panose="00000800000000000000"/>
              <a:sym typeface="Cabin Bold" panose="00000800000000000000"/>
            </a:endParaRPr>
          </a:p>
          <a:p>
            <a:pPr algn="l">
              <a:lnSpc>
                <a:spcPts val="16635"/>
              </a:lnSpc>
            </a:pPr>
          </a:p>
        </p:txBody>
      </p:sp>
      <p:sp>
        <p:nvSpPr>
          <p:cNvPr id="7" name="TextBox 7"/>
          <p:cNvSpPr txBox="1"/>
          <p:nvPr/>
        </p:nvSpPr>
        <p:spPr>
          <a:xfrm>
            <a:off x="7596005" y="7734298"/>
            <a:ext cx="10246805" cy="2831850"/>
          </a:xfrm>
          <a:prstGeom prst="rect">
            <a:avLst/>
          </a:prstGeom>
        </p:spPr>
        <p:txBody>
          <a:bodyPr lIns="0" tIns="0" rIns="0" bIns="0" rtlCol="0" anchor="t">
            <a:spAutoFit/>
          </a:bodyPr>
          <a:lstStyle/>
          <a:p>
            <a:pPr algn="just">
              <a:lnSpc>
                <a:spcPts val="4565"/>
              </a:lnSpc>
            </a:pPr>
            <a:r>
              <a:rPr lang="en-US" sz="3260" u="sng">
                <a:solidFill>
                  <a:srgbClr val="5034C4"/>
                </a:solidFill>
                <a:latin typeface="Cabin" panose="00000500000000000000"/>
                <a:ea typeface="Cabin" panose="00000500000000000000"/>
                <a:cs typeface="Cabin" panose="00000500000000000000"/>
                <a:sym typeface="Cabin" panose="00000500000000000000"/>
              </a:rPr>
              <a:t>chương này mô tả các kỹ thuật mô hình hóa yêu cầu và các phương pháp làm việc nhóm mà các nhà phân tích hệ thống sử dụng để hình dung và tài liệu hóa các hệ thống mới.</a:t>
            </a:r>
            <a:endParaRPr lang="en-US" sz="3260" u="sng">
              <a:solidFill>
                <a:srgbClr val="5034C4"/>
              </a:solidFill>
              <a:latin typeface="Cabin" panose="00000500000000000000"/>
              <a:ea typeface="Cabin" panose="00000500000000000000"/>
              <a:cs typeface="Cabin" panose="00000500000000000000"/>
              <a:sym typeface="Cabin" panose="00000500000000000000"/>
            </a:endParaRPr>
          </a:p>
          <a:p>
            <a:pPr algn="just">
              <a:lnSpc>
                <a:spcPts val="4565"/>
              </a:lnSpc>
            </a:p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C3EBEF"/>
        </a:solidFill>
        <a:effectLst/>
      </p:bgPr>
    </p:bg>
    <p:spTree>
      <p:nvGrpSpPr>
        <p:cNvPr id="1" name=""/>
        <p:cNvGrpSpPr/>
        <p:nvPr/>
      </p:nvGrpSpPr>
      <p:grpSpPr>
        <a:xfrm>
          <a:off x="0" y="0"/>
          <a:ext cx="0" cy="0"/>
          <a:chOff x="0" y="0"/>
          <a:chExt cx="0" cy="0"/>
        </a:xfrm>
      </p:grpSpPr>
      <p:grpSp>
        <p:nvGrpSpPr>
          <p:cNvPr id="2" name="Group 2"/>
          <p:cNvGrpSpPr/>
          <p:nvPr/>
        </p:nvGrpSpPr>
        <p:grpSpPr>
          <a:xfrm rot="0">
            <a:off x="8174448" y="0"/>
            <a:ext cx="9920466" cy="10421174"/>
            <a:chOff x="0" y="0"/>
            <a:chExt cx="7484142" cy="7861884"/>
          </a:xfrm>
        </p:grpSpPr>
        <p:sp>
          <p:nvSpPr>
            <p:cNvPr id="3" name="Freeform 3"/>
            <p:cNvSpPr/>
            <p:nvPr/>
          </p:nvSpPr>
          <p:spPr>
            <a:xfrm>
              <a:off x="0" y="0"/>
              <a:ext cx="7484142" cy="7861884"/>
            </a:xfrm>
            <a:custGeom>
              <a:avLst/>
              <a:gdLst/>
              <a:ahLst/>
              <a:cxnLst/>
              <a:rect l="l" t="t" r="r" b="b"/>
              <a:pathLst>
                <a:path w="7484142" h="7861884">
                  <a:moveTo>
                    <a:pt x="0" y="0"/>
                  </a:moveTo>
                  <a:lnTo>
                    <a:pt x="7484142" y="0"/>
                  </a:lnTo>
                  <a:lnTo>
                    <a:pt x="7484142" y="7861884"/>
                  </a:lnTo>
                  <a:lnTo>
                    <a:pt x="0" y="7861884"/>
                  </a:lnTo>
                  <a:close/>
                </a:path>
              </a:pathLst>
            </a:custGeom>
            <a:solidFill>
              <a:srgbClr val="FFFFFF"/>
            </a:solidFill>
            <a:ln w="9525" cap="sq">
              <a:solidFill>
                <a:srgbClr val="5034C4"/>
              </a:solidFill>
              <a:prstDash val="solid"/>
              <a:miter/>
            </a:ln>
          </p:spPr>
        </p:sp>
        <p:sp>
          <p:nvSpPr>
            <p:cNvPr id="4" name="TextBox 4"/>
            <p:cNvSpPr txBox="1"/>
            <p:nvPr/>
          </p:nvSpPr>
          <p:spPr>
            <a:xfrm>
              <a:off x="0" y="-66675"/>
              <a:ext cx="7484142" cy="7928559"/>
            </a:xfrm>
            <a:prstGeom prst="rect">
              <a:avLst/>
            </a:prstGeom>
          </p:spPr>
          <p:txBody>
            <a:bodyPr lIns="254000" tIns="254000" rIns="254000" bIns="254000" rtlCol="0" anchor="ctr"/>
            <a:lstStyle/>
            <a:p>
              <a:pPr algn="just">
                <a:lnSpc>
                  <a:spcPts val="4900"/>
                </a:lnSpc>
              </a:pPr>
            </a:p>
            <a:p>
              <a:pPr algn="just">
                <a:lnSpc>
                  <a:spcPts val="4900"/>
                </a:lnSpc>
              </a:pPr>
              <a:r>
                <a:rPr lang="en-US" sz="3500">
                  <a:solidFill>
                    <a:srgbClr val="5034C4"/>
                  </a:solidFill>
                  <a:latin typeface="Cabin" panose="00000500000000000000"/>
                  <a:ea typeface="Cabin" panose="00000500000000000000"/>
                  <a:cs typeface="Cabin" panose="00000500000000000000"/>
                  <a:sym typeface="Cabin" panose="00000500000000000000"/>
                </a:rPr>
                <a:t>Thiết kế ứng dụng chung (JAD) là một phương pháp phát triển hệ thống hấp dẫn trực quan bao gồm các phương pháp tiếp cận để tăng cường sự tham gia của người dùng, đẩy nhanh quá trình phát triển và cải thiện chất lượng của các thông số kỹ thuật.</a:t>
              </a:r>
              <a:endParaRPr lang="en-US" sz="3500">
                <a:solidFill>
                  <a:srgbClr val="5034C4"/>
                </a:solidFill>
                <a:latin typeface="Cabin" panose="00000500000000000000"/>
                <a:ea typeface="Cabin" panose="00000500000000000000"/>
                <a:cs typeface="Cabin" panose="00000500000000000000"/>
                <a:sym typeface="Cabin" panose="00000500000000000000"/>
              </a:endParaRPr>
            </a:p>
            <a:p>
              <a:pPr algn="just">
                <a:lnSpc>
                  <a:spcPts val="4900"/>
                </a:lnSpc>
              </a:pPr>
              <a:r>
                <a:rPr lang="en-US" sz="3500">
                  <a:solidFill>
                    <a:srgbClr val="5034C4"/>
                  </a:solidFill>
                  <a:latin typeface="Cabin" panose="00000500000000000000"/>
                  <a:ea typeface="Cabin" panose="00000500000000000000"/>
                  <a:cs typeface="Cabin" panose="00000500000000000000"/>
                  <a:sym typeface="Cabin" panose="00000500000000000000"/>
                </a:rPr>
                <a:t>JAD (Joint Application Development): Tập trung vào việc thu thập yêu cầu và mô hình hóa hệ thống thông qua sự tương tác trực tiếp giữa người dùng và nhà phát triển. RAD: Một phiên bản rút gọn của SDLC, người dùng tham gia vào tất cả các giai đoạn phát triển. Agile: Nhóm các phương pháp nhấn mạnh sự linh hoạt, thích ứng và tương tác chặt chẽ với khách hàng.</a:t>
              </a:r>
              <a:endParaRPr lang="en-US" sz="3500">
                <a:solidFill>
                  <a:srgbClr val="5034C4"/>
                </a:solidFill>
                <a:latin typeface="Cabin" panose="00000500000000000000"/>
                <a:ea typeface="Cabin" panose="00000500000000000000"/>
                <a:cs typeface="Cabin" panose="00000500000000000000"/>
                <a:sym typeface="Cabin" panose="00000500000000000000"/>
              </a:endParaRPr>
            </a:p>
            <a:p>
              <a:pPr algn="just">
                <a:lnSpc>
                  <a:spcPts val="4900"/>
                </a:lnSpc>
              </a:pPr>
            </a:p>
          </p:txBody>
        </p:sp>
      </p:grpSp>
      <p:sp>
        <p:nvSpPr>
          <p:cNvPr id="5" name="TextBox 5"/>
          <p:cNvSpPr txBox="1"/>
          <p:nvPr/>
        </p:nvSpPr>
        <p:spPr>
          <a:xfrm>
            <a:off x="725279" y="533521"/>
            <a:ext cx="8633645" cy="4141948"/>
          </a:xfrm>
          <a:prstGeom prst="rect">
            <a:avLst/>
          </a:prstGeom>
        </p:spPr>
        <p:txBody>
          <a:bodyPr lIns="0" tIns="0" rIns="0" bIns="0" rtlCol="0" anchor="t">
            <a:spAutoFit/>
          </a:bodyPr>
          <a:lstStyle/>
          <a:p>
            <a:pPr algn="l">
              <a:lnSpc>
                <a:spcPts val="16390"/>
              </a:lnSpc>
            </a:pPr>
            <a:r>
              <a:rPr lang="en-US" sz="13660" b="1">
                <a:solidFill>
                  <a:srgbClr val="5034C4"/>
                </a:solidFill>
                <a:latin typeface="Cabin Bold" panose="00000800000000000000"/>
                <a:ea typeface="Cabin Bold" panose="00000800000000000000"/>
                <a:cs typeface="Cabin Bold" panose="00000800000000000000"/>
                <a:sym typeface="Cabin Bold" panose="00000800000000000000"/>
              </a:rPr>
              <a:t>Use Case</a:t>
            </a:r>
            <a:endParaRPr lang="en-US" sz="13660" b="1">
              <a:solidFill>
                <a:srgbClr val="5034C4"/>
              </a:solidFill>
              <a:latin typeface="Cabin Bold" panose="00000800000000000000"/>
              <a:ea typeface="Cabin Bold" panose="00000800000000000000"/>
              <a:cs typeface="Cabin Bold" panose="00000800000000000000"/>
              <a:sym typeface="Cabin Bold" panose="00000800000000000000"/>
            </a:endParaRPr>
          </a:p>
          <a:p>
            <a:pPr algn="l">
              <a:lnSpc>
                <a:spcPts val="16390"/>
              </a:lnSpc>
            </a:p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1425887"/>
            <a:ext cx="10546591" cy="2914650"/>
          </a:xfrm>
          <a:prstGeom prst="rect">
            <a:avLst/>
          </a:prstGeom>
        </p:spPr>
        <p:txBody>
          <a:bodyPr lIns="0" tIns="0" rIns="0" bIns="0" rtlCol="0" anchor="t">
            <a:spAutoFit/>
          </a:bodyPr>
          <a:lstStyle/>
          <a:p>
            <a:pPr algn="l">
              <a:lnSpc>
                <a:spcPts val="7680"/>
              </a:lnSpc>
            </a:pPr>
            <a:r>
              <a:rPr lang="en-US" sz="6400" b="1">
                <a:solidFill>
                  <a:srgbClr val="7AC7CF"/>
                </a:solidFill>
                <a:latin typeface="Cabin Bold" panose="00000800000000000000"/>
                <a:ea typeface="Cabin Bold" panose="00000800000000000000"/>
                <a:cs typeface="Cabin Bold" panose="00000800000000000000"/>
                <a:sym typeface="Cabin Bold" panose="00000800000000000000"/>
              </a:rPr>
              <a:t>Identifying the Major Use Cases:</a:t>
            </a:r>
            <a:endParaRPr lang="en-US" sz="6400" b="1">
              <a:solidFill>
                <a:srgbClr val="7AC7CF"/>
              </a:solidFill>
              <a:latin typeface="Cabin Bold" panose="00000800000000000000"/>
              <a:ea typeface="Cabin Bold" panose="00000800000000000000"/>
              <a:cs typeface="Cabin Bold" panose="00000800000000000000"/>
              <a:sym typeface="Cabin Bold" panose="00000800000000000000"/>
            </a:endParaRPr>
          </a:p>
          <a:p>
            <a:pPr algn="l">
              <a:lnSpc>
                <a:spcPts val="7680"/>
              </a:lnSpc>
            </a:pPr>
          </a:p>
        </p:txBody>
      </p:sp>
      <p:grpSp>
        <p:nvGrpSpPr>
          <p:cNvPr id="3" name="Group 3"/>
          <p:cNvGrpSpPr/>
          <p:nvPr/>
        </p:nvGrpSpPr>
        <p:grpSpPr>
          <a:xfrm rot="0">
            <a:off x="0" y="5257882"/>
            <a:ext cx="18288000" cy="5029118"/>
            <a:chOff x="0" y="0"/>
            <a:chExt cx="4816593" cy="1324541"/>
          </a:xfrm>
        </p:grpSpPr>
        <p:sp>
          <p:nvSpPr>
            <p:cNvPr id="4" name="Freeform 4"/>
            <p:cNvSpPr/>
            <p:nvPr/>
          </p:nvSpPr>
          <p:spPr>
            <a:xfrm>
              <a:off x="0" y="0"/>
              <a:ext cx="4816592" cy="1324541"/>
            </a:xfrm>
            <a:custGeom>
              <a:avLst/>
              <a:gdLst/>
              <a:ahLst/>
              <a:cxnLst/>
              <a:rect l="l" t="t" r="r" b="b"/>
              <a:pathLst>
                <a:path w="4816592" h="1324541">
                  <a:moveTo>
                    <a:pt x="0" y="0"/>
                  </a:moveTo>
                  <a:lnTo>
                    <a:pt x="4816592" y="0"/>
                  </a:lnTo>
                  <a:lnTo>
                    <a:pt x="4816592" y="1324541"/>
                  </a:lnTo>
                  <a:lnTo>
                    <a:pt x="0" y="1324541"/>
                  </a:lnTo>
                  <a:close/>
                </a:path>
              </a:pathLst>
            </a:custGeom>
            <a:solidFill>
              <a:srgbClr val="EAE5FF"/>
            </a:solidFill>
          </p:spPr>
        </p:sp>
        <p:sp>
          <p:nvSpPr>
            <p:cNvPr id="5" name="TextBox 5"/>
            <p:cNvSpPr txBox="1"/>
            <p:nvPr/>
          </p:nvSpPr>
          <p:spPr>
            <a:xfrm>
              <a:off x="0" y="-38100"/>
              <a:ext cx="4816593" cy="1362641"/>
            </a:xfrm>
            <a:prstGeom prst="rect">
              <a:avLst/>
            </a:prstGeom>
          </p:spPr>
          <p:txBody>
            <a:bodyPr lIns="50800" tIns="50800" rIns="50800" bIns="50800" rtlCol="0" anchor="ctr"/>
            <a:lstStyle/>
            <a:p>
              <a:pPr algn="ctr">
                <a:lnSpc>
                  <a:spcPts val="2100"/>
                </a:lnSpc>
              </a:pPr>
            </a:p>
          </p:txBody>
        </p:sp>
      </p:grpSp>
      <p:sp>
        <p:nvSpPr>
          <p:cNvPr id="6" name="TextBox 6"/>
          <p:cNvSpPr txBox="1"/>
          <p:nvPr/>
        </p:nvSpPr>
        <p:spPr>
          <a:xfrm>
            <a:off x="328930" y="5660390"/>
            <a:ext cx="10614025" cy="3329940"/>
          </a:xfrm>
          <a:prstGeom prst="rect">
            <a:avLst/>
          </a:prstGeom>
        </p:spPr>
        <p:txBody>
          <a:bodyPr lIns="0" tIns="0" rIns="0" bIns="0" rtlCol="0" anchor="t">
            <a:noAutofit/>
          </a:bodyPr>
          <a:lstStyle/>
          <a:p>
            <a:pPr algn="just">
              <a:lnSpc>
                <a:spcPts val="4505"/>
              </a:lnSpc>
            </a:pPr>
            <a:r>
              <a:rPr lang="en-US" sz="3220" u="sng">
                <a:solidFill>
                  <a:srgbClr val="5034C4"/>
                </a:solidFill>
                <a:latin typeface="Cabin" panose="00000500000000000000"/>
                <a:ea typeface="Cabin" panose="00000500000000000000"/>
                <a:cs typeface="Cabin" panose="00000500000000000000"/>
                <a:sym typeface="Cabin" panose="00000500000000000000"/>
              </a:rPr>
              <a:t>Mục đích là cung cấp hệ thống thông tin tốt nhất có thể, với chi phí thấp nhất có thể, trong thời gian ngắn nhất có thể. Để đạt được kết quả tốt nhất. Sự tham gia nhiều hơn của người dùng thường dẫn đến giao tiếp tốt hơn, thời gian phát triển nhanh hơn và người dùng hài lòng hơn.</a:t>
            </a:r>
            <a:endParaRPr lang="en-US" sz="3220" u="sng">
              <a:solidFill>
                <a:srgbClr val="5034C4"/>
              </a:solidFill>
              <a:latin typeface="Cabin" panose="00000500000000000000"/>
              <a:ea typeface="Cabin" panose="00000500000000000000"/>
              <a:cs typeface="Cabin" panose="00000500000000000000"/>
              <a:sym typeface="Cabin" panose="00000500000000000000"/>
            </a:endParaRPr>
          </a:p>
          <a:p>
            <a:pPr algn="just">
              <a:lnSpc>
                <a:spcPts val="4505"/>
              </a:lnSpc>
            </a:pPr>
          </a:p>
        </p:txBody>
      </p:sp>
      <p:sp>
        <p:nvSpPr>
          <p:cNvPr id="7" name="Freeform 7"/>
          <p:cNvSpPr/>
          <p:nvPr/>
        </p:nvSpPr>
        <p:spPr>
          <a:xfrm>
            <a:off x="11376698" y="2543175"/>
            <a:ext cx="7372055" cy="5200650"/>
          </a:xfrm>
          <a:custGeom>
            <a:avLst/>
            <a:gdLst/>
            <a:ahLst/>
            <a:cxnLst/>
            <a:rect l="l" t="t" r="r" b="b"/>
            <a:pathLst>
              <a:path w="7372055" h="5200650">
                <a:moveTo>
                  <a:pt x="0" y="0"/>
                </a:moveTo>
                <a:lnTo>
                  <a:pt x="7372055" y="0"/>
                </a:lnTo>
                <a:lnTo>
                  <a:pt x="7372055" y="5200650"/>
                </a:lnTo>
                <a:lnTo>
                  <a:pt x="0" y="520065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9144000" y="0"/>
            <a:ext cx="9144000" cy="10287000"/>
            <a:chOff x="0" y="0"/>
            <a:chExt cx="2408296" cy="2709333"/>
          </a:xfrm>
        </p:grpSpPr>
        <p:sp>
          <p:nvSpPr>
            <p:cNvPr id="3" name="Freeform 3"/>
            <p:cNvSpPr/>
            <p:nvPr/>
          </p:nvSpPr>
          <p:spPr>
            <a:xfrm>
              <a:off x="0" y="0"/>
              <a:ext cx="2408296" cy="2709333"/>
            </a:xfrm>
            <a:custGeom>
              <a:avLst/>
              <a:gdLst/>
              <a:ahLst/>
              <a:cxnLst/>
              <a:rect l="l" t="t" r="r" b="b"/>
              <a:pathLst>
                <a:path w="2408296" h="2709333">
                  <a:moveTo>
                    <a:pt x="0" y="0"/>
                  </a:moveTo>
                  <a:lnTo>
                    <a:pt x="2408296" y="0"/>
                  </a:lnTo>
                  <a:lnTo>
                    <a:pt x="2408296" y="2709333"/>
                  </a:lnTo>
                  <a:lnTo>
                    <a:pt x="0" y="2709333"/>
                  </a:lnTo>
                  <a:close/>
                </a:path>
              </a:pathLst>
            </a:custGeom>
            <a:solidFill>
              <a:srgbClr val="5034C4"/>
            </a:solidFill>
          </p:spPr>
        </p:sp>
        <p:sp>
          <p:nvSpPr>
            <p:cNvPr id="4" name="TextBox 4"/>
            <p:cNvSpPr txBox="1"/>
            <p:nvPr/>
          </p:nvSpPr>
          <p:spPr>
            <a:xfrm>
              <a:off x="0" y="-38100"/>
              <a:ext cx="2408296" cy="2747433"/>
            </a:xfrm>
            <a:prstGeom prst="rect">
              <a:avLst/>
            </a:prstGeom>
          </p:spPr>
          <p:txBody>
            <a:bodyPr lIns="50800" tIns="50800" rIns="50800" bIns="50800" rtlCol="0" anchor="ctr"/>
            <a:lstStyle/>
            <a:p>
              <a:pPr algn="ctr">
                <a:lnSpc>
                  <a:spcPts val="2100"/>
                </a:lnSpc>
              </a:pPr>
            </a:p>
          </p:txBody>
        </p:sp>
      </p:grpSp>
      <p:grpSp>
        <p:nvGrpSpPr>
          <p:cNvPr id="5" name="Group 5"/>
          <p:cNvGrpSpPr/>
          <p:nvPr/>
        </p:nvGrpSpPr>
        <p:grpSpPr>
          <a:xfrm rot="0">
            <a:off x="1123950" y="4751670"/>
            <a:ext cx="246171" cy="246171"/>
            <a:chOff x="0" y="0"/>
            <a:chExt cx="6350000" cy="6350000"/>
          </a:xfrm>
        </p:grpSpPr>
        <p:sp>
          <p:nvSpPr>
            <p:cNvPr id="6" name="Freeform 6"/>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alpha val="0"/>
              </a:srgbClr>
            </a:solidFill>
          </p:spPr>
        </p:sp>
      </p:grpSp>
      <p:grpSp>
        <p:nvGrpSpPr>
          <p:cNvPr id="7" name="Group 7"/>
          <p:cNvGrpSpPr/>
          <p:nvPr/>
        </p:nvGrpSpPr>
        <p:grpSpPr>
          <a:xfrm rot="0">
            <a:off x="1028700" y="6432985"/>
            <a:ext cx="246171" cy="246171"/>
            <a:chOff x="0" y="0"/>
            <a:chExt cx="6350000" cy="6350000"/>
          </a:xfrm>
        </p:grpSpPr>
        <p:sp>
          <p:nvSpPr>
            <p:cNvPr id="8" name="Freeform 8"/>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alpha val="0"/>
              </a:srgbClr>
            </a:solidFill>
          </p:spPr>
        </p:sp>
      </p:grpSp>
      <p:grpSp>
        <p:nvGrpSpPr>
          <p:cNvPr id="9" name="Group 9"/>
          <p:cNvGrpSpPr/>
          <p:nvPr/>
        </p:nvGrpSpPr>
        <p:grpSpPr>
          <a:xfrm rot="0">
            <a:off x="1028700" y="7857230"/>
            <a:ext cx="246171" cy="246171"/>
            <a:chOff x="0" y="0"/>
            <a:chExt cx="6350000" cy="6350000"/>
          </a:xfrm>
        </p:grpSpPr>
        <p:sp>
          <p:nvSpPr>
            <p:cNvPr id="10" name="Freeform 10"/>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alpha val="0"/>
              </a:srgbClr>
            </a:solidFill>
          </p:spPr>
        </p:sp>
      </p:grpSp>
      <p:sp>
        <p:nvSpPr>
          <p:cNvPr id="11" name="TextBox 11"/>
          <p:cNvSpPr txBox="1"/>
          <p:nvPr/>
        </p:nvSpPr>
        <p:spPr>
          <a:xfrm>
            <a:off x="1538704" y="4599565"/>
            <a:ext cx="6651965" cy="1189355"/>
          </a:xfrm>
          <a:prstGeom prst="rect">
            <a:avLst/>
          </a:prstGeom>
        </p:spPr>
        <p:txBody>
          <a:bodyPr lIns="0" tIns="0" rIns="0" bIns="0" rtlCol="0" anchor="t">
            <a:spAutoFit/>
          </a:bodyPr>
          <a:lstStyle/>
          <a:p>
            <a:pPr algn="just">
              <a:lnSpc>
                <a:spcPts val="3220"/>
              </a:lnSpc>
            </a:pPr>
            <a:r>
              <a:rPr lang="en-US" sz="2300">
                <a:solidFill>
                  <a:srgbClr val="5034C4"/>
                </a:solidFill>
                <a:latin typeface="Cabin" panose="00000500000000000000"/>
                <a:ea typeface="Cabin" panose="00000500000000000000"/>
                <a:cs typeface="Cabin" panose="00000500000000000000"/>
                <a:sym typeface="Cabin" panose="00000500000000000000"/>
              </a:rPr>
              <a:t>Phỏng vấn, xem xét tài liệu, quan sát, bảng câu hỏi, lấy mẫu và nghiên cứu.</a:t>
            </a:r>
            <a:endParaRPr lang="en-US" sz="2300">
              <a:solidFill>
                <a:srgbClr val="5034C4"/>
              </a:solidFill>
              <a:latin typeface="Cabin" panose="00000500000000000000"/>
              <a:ea typeface="Cabin" panose="00000500000000000000"/>
              <a:cs typeface="Cabin" panose="00000500000000000000"/>
              <a:sym typeface="Cabin" panose="00000500000000000000"/>
            </a:endParaRPr>
          </a:p>
          <a:p>
            <a:pPr algn="just">
              <a:lnSpc>
                <a:spcPts val="3220"/>
              </a:lnSpc>
            </a:pPr>
          </a:p>
        </p:txBody>
      </p:sp>
      <p:sp>
        <p:nvSpPr>
          <p:cNvPr id="12" name="TextBox 12"/>
          <p:cNvSpPr txBox="1"/>
          <p:nvPr/>
        </p:nvSpPr>
        <p:spPr>
          <a:xfrm>
            <a:off x="1538704" y="6280880"/>
            <a:ext cx="6651965" cy="1589405"/>
          </a:xfrm>
          <a:prstGeom prst="rect">
            <a:avLst/>
          </a:prstGeom>
        </p:spPr>
        <p:txBody>
          <a:bodyPr lIns="0" tIns="0" rIns="0" bIns="0" rtlCol="0" anchor="t">
            <a:spAutoFit/>
          </a:bodyPr>
          <a:lstStyle/>
          <a:p>
            <a:pPr algn="just">
              <a:lnSpc>
                <a:spcPts val="3220"/>
              </a:lnSpc>
            </a:pPr>
            <a:r>
              <a:rPr lang="en-US" sz="2300">
                <a:solidFill>
                  <a:srgbClr val="5034C4"/>
                </a:solidFill>
                <a:latin typeface="Cabin" panose="00000500000000000000"/>
                <a:ea typeface="Cabin" panose="00000500000000000000"/>
                <a:cs typeface="Cabin" panose="00000500000000000000"/>
                <a:sym typeface="Cabin" panose="00000500000000000000"/>
              </a:rPr>
              <a:t>Phỏng vấn thành công đòi hỏi phải có kế hoạch tốt và kỹ năng giao tiếp và quan hệ giữa các cá nhân mạnh mẽ.</a:t>
            </a:r>
            <a:endParaRPr lang="en-US" sz="2300">
              <a:solidFill>
                <a:srgbClr val="5034C4"/>
              </a:solidFill>
              <a:latin typeface="Cabin" panose="00000500000000000000"/>
              <a:ea typeface="Cabin" panose="00000500000000000000"/>
              <a:cs typeface="Cabin" panose="00000500000000000000"/>
              <a:sym typeface="Cabin" panose="00000500000000000000"/>
            </a:endParaRPr>
          </a:p>
          <a:p>
            <a:pPr algn="just">
              <a:lnSpc>
                <a:spcPts val="3220"/>
              </a:lnSpc>
            </a:pPr>
          </a:p>
        </p:txBody>
      </p:sp>
      <p:sp>
        <p:nvSpPr>
          <p:cNvPr id="13" name="TextBox 13"/>
          <p:cNvSpPr txBox="1"/>
          <p:nvPr/>
        </p:nvSpPr>
        <p:spPr>
          <a:xfrm>
            <a:off x="1538704" y="7829565"/>
            <a:ext cx="6651965" cy="1589405"/>
          </a:xfrm>
          <a:prstGeom prst="rect">
            <a:avLst/>
          </a:prstGeom>
        </p:spPr>
        <p:txBody>
          <a:bodyPr lIns="0" tIns="0" rIns="0" bIns="0" rtlCol="0" anchor="t">
            <a:spAutoFit/>
          </a:bodyPr>
          <a:lstStyle/>
          <a:p>
            <a:pPr algn="just">
              <a:lnSpc>
                <a:spcPts val="3220"/>
              </a:lnSpc>
            </a:pPr>
            <a:r>
              <a:rPr lang="en-US" sz="2300">
                <a:solidFill>
                  <a:srgbClr val="5034C4"/>
                </a:solidFill>
                <a:latin typeface="Cabin" panose="00000500000000000000"/>
                <a:ea typeface="Cabin" panose="00000500000000000000"/>
                <a:cs typeface="Cabin" panose="00000500000000000000"/>
                <a:sym typeface="Cabin" panose="00000500000000000000"/>
              </a:rPr>
              <a:t>Nhà phân tích hệ thống phải quyết định những người sẽ phỏng vấn, đặt mục tiêu phỏng vấn và chuẩn bị, tiến hành và phân tích các cuộc phỏng vấn.</a:t>
            </a:r>
            <a:endParaRPr lang="en-US" sz="2300">
              <a:solidFill>
                <a:srgbClr val="5034C4"/>
              </a:solidFill>
              <a:latin typeface="Cabin" panose="00000500000000000000"/>
              <a:ea typeface="Cabin" panose="00000500000000000000"/>
              <a:cs typeface="Cabin" panose="00000500000000000000"/>
              <a:sym typeface="Cabin" panose="00000500000000000000"/>
            </a:endParaRPr>
          </a:p>
          <a:p>
            <a:pPr algn="just">
              <a:lnSpc>
                <a:spcPts val="3220"/>
              </a:lnSpc>
            </a:pPr>
          </a:p>
        </p:txBody>
      </p:sp>
      <p:grpSp>
        <p:nvGrpSpPr>
          <p:cNvPr id="14" name="Group 14"/>
          <p:cNvGrpSpPr/>
          <p:nvPr/>
        </p:nvGrpSpPr>
        <p:grpSpPr>
          <a:xfrm rot="0">
            <a:off x="10135016" y="4751670"/>
            <a:ext cx="246171" cy="246171"/>
            <a:chOff x="0" y="0"/>
            <a:chExt cx="6350000" cy="6350000"/>
          </a:xfrm>
        </p:grpSpPr>
        <p:sp>
          <p:nvSpPr>
            <p:cNvPr id="15" name="Freeform 15"/>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C3EBEF"/>
            </a:solidFill>
          </p:spPr>
        </p:sp>
      </p:grpSp>
      <p:grpSp>
        <p:nvGrpSpPr>
          <p:cNvPr id="16" name="Group 16"/>
          <p:cNvGrpSpPr/>
          <p:nvPr/>
        </p:nvGrpSpPr>
        <p:grpSpPr>
          <a:xfrm rot="0">
            <a:off x="10135016" y="6432985"/>
            <a:ext cx="246171" cy="246171"/>
            <a:chOff x="0" y="0"/>
            <a:chExt cx="6350000" cy="6350000"/>
          </a:xfrm>
        </p:grpSpPr>
        <p:sp>
          <p:nvSpPr>
            <p:cNvPr id="17" name="Freeform 17"/>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C3EBEF"/>
            </a:solidFill>
          </p:spPr>
        </p:sp>
      </p:grpSp>
      <p:grpSp>
        <p:nvGrpSpPr>
          <p:cNvPr id="18" name="Group 18"/>
          <p:cNvGrpSpPr/>
          <p:nvPr/>
        </p:nvGrpSpPr>
        <p:grpSpPr>
          <a:xfrm rot="0">
            <a:off x="10135016" y="7904750"/>
            <a:ext cx="246171" cy="246171"/>
            <a:chOff x="0" y="0"/>
            <a:chExt cx="6350000" cy="6350000"/>
          </a:xfrm>
        </p:grpSpPr>
        <p:sp>
          <p:nvSpPr>
            <p:cNvPr id="19" name="Freeform 19"/>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C3EBEF"/>
            </a:solidFill>
          </p:spPr>
        </p:sp>
      </p:grpSp>
      <p:sp>
        <p:nvSpPr>
          <p:cNvPr id="20" name="TextBox 20"/>
          <p:cNvSpPr txBox="1"/>
          <p:nvPr/>
        </p:nvSpPr>
        <p:spPr>
          <a:xfrm>
            <a:off x="10609786" y="4704045"/>
            <a:ext cx="6651965" cy="789305"/>
          </a:xfrm>
          <a:prstGeom prst="rect">
            <a:avLst/>
          </a:prstGeom>
        </p:spPr>
        <p:txBody>
          <a:bodyPr lIns="0" tIns="0" rIns="0" bIns="0" rtlCol="0" anchor="t">
            <a:spAutoFit/>
          </a:bodyPr>
          <a:lstStyle/>
          <a:p>
            <a:pPr algn="just">
              <a:lnSpc>
                <a:spcPts val="3220"/>
              </a:lnSpc>
            </a:pPr>
            <a:r>
              <a:rPr lang="en-US" sz="2300">
                <a:solidFill>
                  <a:srgbClr val="FFFFFF"/>
                </a:solidFill>
                <a:latin typeface="Cabin" panose="00000500000000000000"/>
                <a:ea typeface="Cabin" panose="00000500000000000000"/>
                <a:cs typeface="Cabin" panose="00000500000000000000"/>
                <a:sym typeface="Cabin" panose="00000500000000000000"/>
              </a:rPr>
              <a:t> Đầu ra, đầu vào, quy trình, hiệu suất và kiểm soát.</a:t>
            </a:r>
            <a:endParaRPr lang="en-US" sz="2300">
              <a:solidFill>
                <a:srgbClr val="FFFFFF"/>
              </a:solidFill>
              <a:latin typeface="Cabin" panose="00000500000000000000"/>
              <a:ea typeface="Cabin" panose="00000500000000000000"/>
              <a:cs typeface="Cabin" panose="00000500000000000000"/>
              <a:sym typeface="Cabin" panose="00000500000000000000"/>
            </a:endParaRPr>
          </a:p>
          <a:p>
            <a:pPr algn="just">
              <a:lnSpc>
                <a:spcPts val="3220"/>
              </a:lnSpc>
            </a:pPr>
          </a:p>
        </p:txBody>
      </p:sp>
      <p:sp>
        <p:nvSpPr>
          <p:cNvPr id="21" name="TextBox 21"/>
          <p:cNvSpPr txBox="1"/>
          <p:nvPr/>
        </p:nvSpPr>
        <p:spPr>
          <a:xfrm>
            <a:off x="10607335" y="7532431"/>
            <a:ext cx="6651965" cy="1189355"/>
          </a:xfrm>
          <a:prstGeom prst="rect">
            <a:avLst/>
          </a:prstGeom>
        </p:spPr>
        <p:txBody>
          <a:bodyPr lIns="0" tIns="0" rIns="0" bIns="0" rtlCol="0" anchor="t">
            <a:spAutoFit/>
          </a:bodyPr>
          <a:lstStyle/>
          <a:p>
            <a:pPr algn="just">
              <a:lnSpc>
                <a:spcPts val="3220"/>
              </a:lnSpc>
            </a:pPr>
            <a:r>
              <a:rPr lang="en-US" sz="2300">
                <a:solidFill>
                  <a:srgbClr val="FFFFFF"/>
                </a:solidFill>
                <a:latin typeface="Cabin" panose="00000500000000000000"/>
                <a:ea typeface="Cabin" panose="00000500000000000000"/>
                <a:cs typeface="Cabin" panose="00000500000000000000"/>
                <a:sym typeface="Cabin" panose="00000500000000000000"/>
              </a:rPr>
              <a:t>Xem xét khả năng mở rộng để đảm bảo hệ thống có thể mở rộng trong tương lai.</a:t>
            </a:r>
            <a:endParaRPr lang="en-US" sz="2300">
              <a:solidFill>
                <a:srgbClr val="FFFFFF"/>
              </a:solidFill>
              <a:latin typeface="Cabin" panose="00000500000000000000"/>
              <a:ea typeface="Cabin" panose="00000500000000000000"/>
              <a:cs typeface="Cabin" panose="00000500000000000000"/>
              <a:sym typeface="Cabin" panose="00000500000000000000"/>
            </a:endParaRPr>
          </a:p>
          <a:p>
            <a:pPr algn="just">
              <a:lnSpc>
                <a:spcPts val="3220"/>
              </a:lnSpc>
            </a:pPr>
          </a:p>
        </p:txBody>
      </p:sp>
      <p:sp>
        <p:nvSpPr>
          <p:cNvPr id="22" name="TextBox 22"/>
          <p:cNvSpPr txBox="1"/>
          <p:nvPr/>
        </p:nvSpPr>
        <p:spPr>
          <a:xfrm>
            <a:off x="10607335" y="6260731"/>
            <a:ext cx="6651965" cy="789305"/>
          </a:xfrm>
          <a:prstGeom prst="rect">
            <a:avLst/>
          </a:prstGeom>
        </p:spPr>
        <p:txBody>
          <a:bodyPr lIns="0" tIns="0" rIns="0" bIns="0" rtlCol="0" anchor="t">
            <a:spAutoFit/>
          </a:bodyPr>
          <a:lstStyle/>
          <a:p>
            <a:pPr algn="just">
              <a:lnSpc>
                <a:spcPts val="3220"/>
              </a:lnSpc>
            </a:pPr>
            <a:r>
              <a:rPr lang="en-US" sz="2300">
                <a:solidFill>
                  <a:srgbClr val="FFFFFF"/>
                </a:solidFill>
                <a:latin typeface="Cabin" panose="00000500000000000000"/>
                <a:ea typeface="Cabin" panose="00000500000000000000"/>
                <a:cs typeface="Cabin" panose="00000500000000000000"/>
                <a:sym typeface="Cabin" panose="00000500000000000000"/>
              </a:rPr>
              <a:t>Tiếp cận theo nhóm phổ biến để tìm hiểu thực tế và mô hình hóa yêu cầu.</a:t>
            </a:r>
            <a:endParaRPr lang="en-US" sz="2300">
              <a:solidFill>
                <a:srgbClr val="FFFFFF"/>
              </a:solidFill>
              <a:latin typeface="Cabin" panose="00000500000000000000"/>
              <a:ea typeface="Cabin" panose="00000500000000000000"/>
              <a:cs typeface="Cabin" panose="00000500000000000000"/>
              <a:sym typeface="Cabin" panose="00000500000000000000"/>
            </a:endParaRPr>
          </a:p>
        </p:txBody>
      </p:sp>
      <p:sp>
        <p:nvSpPr>
          <p:cNvPr id="23" name="TextBox 23"/>
          <p:cNvSpPr txBox="1"/>
          <p:nvPr/>
        </p:nvSpPr>
        <p:spPr>
          <a:xfrm>
            <a:off x="0" y="1608356"/>
            <a:ext cx="9006179" cy="1914525"/>
          </a:xfrm>
          <a:prstGeom prst="rect">
            <a:avLst/>
          </a:prstGeom>
        </p:spPr>
        <p:txBody>
          <a:bodyPr lIns="0" tIns="0" rIns="0" bIns="0" rtlCol="0" anchor="t">
            <a:spAutoFit/>
          </a:bodyPr>
          <a:lstStyle/>
          <a:p>
            <a:pPr algn="l">
              <a:lnSpc>
                <a:spcPts val="7625"/>
              </a:lnSpc>
            </a:pPr>
            <a:r>
              <a:rPr lang="en-US" sz="6355" b="1">
                <a:solidFill>
                  <a:srgbClr val="5034C4"/>
                </a:solidFill>
                <a:latin typeface="Cabin Bold" panose="00000800000000000000"/>
                <a:ea typeface="Cabin Bold" panose="00000800000000000000"/>
                <a:cs typeface="Cabin Bold" panose="00000800000000000000"/>
                <a:sym typeface="Cabin Bold" panose="00000800000000000000"/>
              </a:rPr>
              <a:t>Quá trình tìm hiểu thực tế</a:t>
            </a:r>
            <a:endParaRPr lang="en-US" sz="6355" b="1">
              <a:solidFill>
                <a:srgbClr val="5034C4"/>
              </a:solidFill>
              <a:latin typeface="Cabin Bold" panose="00000800000000000000"/>
              <a:ea typeface="Cabin Bold" panose="00000800000000000000"/>
              <a:cs typeface="Cabin Bold" panose="00000800000000000000"/>
              <a:sym typeface="Cabin Bold" panose="00000800000000000000"/>
            </a:endParaRPr>
          </a:p>
          <a:p>
            <a:pPr algn="l">
              <a:lnSpc>
                <a:spcPts val="7625"/>
              </a:lnSpc>
            </a:pPr>
          </a:p>
        </p:txBody>
      </p:sp>
      <p:sp>
        <p:nvSpPr>
          <p:cNvPr id="24" name="TextBox 24"/>
          <p:cNvSpPr txBox="1"/>
          <p:nvPr/>
        </p:nvSpPr>
        <p:spPr>
          <a:xfrm>
            <a:off x="9998378" y="932081"/>
            <a:ext cx="7869878" cy="2590800"/>
          </a:xfrm>
          <a:prstGeom prst="rect">
            <a:avLst/>
          </a:prstGeom>
        </p:spPr>
        <p:txBody>
          <a:bodyPr lIns="0" tIns="0" rIns="0" bIns="0" rtlCol="0" anchor="t">
            <a:spAutoFit/>
          </a:bodyPr>
          <a:lstStyle/>
          <a:p>
            <a:pPr algn="just">
              <a:lnSpc>
                <a:spcPts val="6870"/>
              </a:lnSpc>
            </a:pPr>
            <a:r>
              <a:rPr lang="en-US" sz="5725" b="1">
                <a:solidFill>
                  <a:srgbClr val="FFFFFF"/>
                </a:solidFill>
                <a:latin typeface="Cabin Bold" panose="00000800000000000000"/>
                <a:ea typeface="Cabin Bold" panose="00000800000000000000"/>
                <a:cs typeface="Cabin Bold" panose="00000800000000000000"/>
                <a:sym typeface="Cabin Bold" panose="00000800000000000000"/>
              </a:rPr>
              <a:t>Các yêu cầu liên quan đến doanh nghiệp cho hệ thống thông tin mới</a:t>
            </a:r>
            <a:endParaRPr lang="en-US" sz="5725" b="1">
              <a:solidFill>
                <a:srgbClr val="FFFFFF"/>
              </a:solidFill>
              <a:latin typeface="Cabin Bold" panose="00000800000000000000"/>
              <a:ea typeface="Cabin Bold" panose="00000800000000000000"/>
              <a:cs typeface="Cabin Bold" panose="00000800000000000000"/>
              <a:sym typeface="Cabin Bold" panose="00000800000000000000"/>
            </a:endParaRPr>
          </a:p>
        </p:txBody>
      </p:sp>
      <p:grpSp>
        <p:nvGrpSpPr>
          <p:cNvPr id="25" name="Group 25"/>
          <p:cNvGrpSpPr/>
          <p:nvPr/>
        </p:nvGrpSpPr>
        <p:grpSpPr>
          <a:xfrm rot="0">
            <a:off x="1063933" y="4751670"/>
            <a:ext cx="246171" cy="3399251"/>
            <a:chOff x="0" y="0"/>
            <a:chExt cx="328228" cy="4532335"/>
          </a:xfrm>
        </p:grpSpPr>
        <p:grpSp>
          <p:nvGrpSpPr>
            <p:cNvPr id="26" name="Group 26"/>
            <p:cNvGrpSpPr/>
            <p:nvPr/>
          </p:nvGrpSpPr>
          <p:grpSpPr>
            <a:xfrm rot="0">
              <a:off x="0" y="0"/>
              <a:ext cx="328228" cy="328228"/>
              <a:chOff x="0" y="0"/>
              <a:chExt cx="6350000" cy="6350000"/>
            </a:xfrm>
          </p:grpSpPr>
          <p:sp>
            <p:nvSpPr>
              <p:cNvPr id="27" name="Freeform 27"/>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C3EBEF"/>
              </a:solidFill>
            </p:spPr>
          </p:sp>
        </p:grpSp>
        <p:grpSp>
          <p:nvGrpSpPr>
            <p:cNvPr id="28" name="Group 28"/>
            <p:cNvGrpSpPr/>
            <p:nvPr/>
          </p:nvGrpSpPr>
          <p:grpSpPr>
            <a:xfrm rot="0">
              <a:off x="0" y="2241754"/>
              <a:ext cx="328228" cy="328228"/>
              <a:chOff x="0" y="0"/>
              <a:chExt cx="6350000" cy="6350000"/>
            </a:xfrm>
          </p:grpSpPr>
          <p:sp>
            <p:nvSpPr>
              <p:cNvPr id="29" name="Freeform 29"/>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C3EBEF"/>
              </a:solidFill>
            </p:spPr>
          </p:sp>
        </p:grpSp>
        <p:grpSp>
          <p:nvGrpSpPr>
            <p:cNvPr id="30" name="Group 30"/>
            <p:cNvGrpSpPr/>
            <p:nvPr/>
          </p:nvGrpSpPr>
          <p:grpSpPr>
            <a:xfrm rot="0">
              <a:off x="0" y="4204107"/>
              <a:ext cx="328228" cy="328228"/>
              <a:chOff x="0" y="0"/>
              <a:chExt cx="6350000" cy="6350000"/>
            </a:xfrm>
          </p:grpSpPr>
          <p:sp>
            <p:nvSpPr>
              <p:cNvPr id="31" name="Freeform 31"/>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C3EBEF"/>
              </a:solidFill>
            </p:spPr>
          </p:sp>
        </p:grpSp>
      </p:grpSp>
    </p:spTree>
  </p:cSld>
  <p:clrMapOvr>
    <a:masterClrMapping/>
  </p:clrMapOvr>
  <mc:AlternateContent xmlns:mc="http://schemas.openxmlformats.org/markup-compatibility/2006">
    <mc:Choice xmlns:p14="http://schemas.microsoft.com/office/powerpoint/2010/main" Requires="p14">
      <p:transition spd="slow" p14:dur="1000">
        <p:wedge/>
      </p:transition>
    </mc:Choice>
    <mc:Fallback>
      <p:transition spd="slow">
        <p:wedg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C3EBEF"/>
        </a:solidFill>
        <a:effectLst/>
      </p:bgPr>
    </p:bg>
    <p:spTree>
      <p:nvGrpSpPr>
        <p:cNvPr id="1" name=""/>
        <p:cNvGrpSpPr/>
        <p:nvPr/>
      </p:nvGrpSpPr>
      <p:grpSpPr>
        <a:xfrm>
          <a:off x="0" y="0"/>
          <a:ext cx="0" cy="0"/>
          <a:chOff x="0" y="0"/>
          <a:chExt cx="0" cy="0"/>
        </a:xfrm>
      </p:grpSpPr>
      <p:sp>
        <p:nvSpPr>
          <p:cNvPr id="2" name="TextBox 2"/>
          <p:cNvSpPr txBox="1"/>
          <p:nvPr/>
        </p:nvSpPr>
        <p:spPr>
          <a:xfrm>
            <a:off x="536843" y="587525"/>
            <a:ext cx="15597945" cy="2352675"/>
          </a:xfrm>
          <a:prstGeom prst="rect">
            <a:avLst/>
          </a:prstGeom>
        </p:spPr>
        <p:txBody>
          <a:bodyPr lIns="0" tIns="0" rIns="0" bIns="0" rtlCol="0" anchor="t">
            <a:spAutoFit/>
          </a:bodyPr>
          <a:lstStyle/>
          <a:p>
            <a:pPr algn="l">
              <a:lnSpc>
                <a:spcPts val="9960"/>
              </a:lnSpc>
            </a:pPr>
            <a:r>
              <a:rPr lang="en-US" sz="8300" b="1">
                <a:solidFill>
                  <a:srgbClr val="5034C4"/>
                </a:solidFill>
                <a:latin typeface="Cabin Bold" panose="00000800000000000000"/>
                <a:ea typeface="Cabin Bold" panose="00000800000000000000"/>
                <a:cs typeface="Cabin Bold" panose="00000800000000000000"/>
                <a:sym typeface="Cabin Bold" panose="00000800000000000000"/>
              </a:rPr>
              <a:t>Summary</a:t>
            </a:r>
            <a:endParaRPr lang="en-US" sz="8300" b="1">
              <a:solidFill>
                <a:srgbClr val="5034C4"/>
              </a:solidFill>
              <a:latin typeface="Cabin Bold" panose="00000800000000000000"/>
              <a:ea typeface="Cabin Bold" panose="00000800000000000000"/>
              <a:cs typeface="Cabin Bold" panose="00000800000000000000"/>
              <a:sym typeface="Cabin Bold" panose="00000800000000000000"/>
            </a:endParaRPr>
          </a:p>
          <a:p>
            <a:pPr algn="l">
              <a:lnSpc>
                <a:spcPts val="8640"/>
              </a:lnSpc>
            </a:pPr>
          </a:p>
        </p:txBody>
      </p:sp>
      <p:grpSp>
        <p:nvGrpSpPr>
          <p:cNvPr id="3" name="Group 3"/>
          <p:cNvGrpSpPr/>
          <p:nvPr/>
        </p:nvGrpSpPr>
        <p:grpSpPr>
          <a:xfrm rot="0">
            <a:off x="6448014" y="1028700"/>
            <a:ext cx="10293616" cy="9512487"/>
            <a:chOff x="0" y="0"/>
            <a:chExt cx="13724822" cy="12683316"/>
          </a:xfrm>
        </p:grpSpPr>
        <p:sp>
          <p:nvSpPr>
            <p:cNvPr id="4" name="TextBox 4"/>
            <p:cNvSpPr txBox="1"/>
            <p:nvPr/>
          </p:nvSpPr>
          <p:spPr>
            <a:xfrm>
              <a:off x="0" y="-114300"/>
              <a:ext cx="13724822" cy="4141977"/>
            </a:xfrm>
            <a:prstGeom prst="rect">
              <a:avLst/>
            </a:prstGeom>
          </p:spPr>
          <p:txBody>
            <a:bodyPr lIns="0" tIns="0" rIns="0" bIns="0" rtlCol="0" anchor="t">
              <a:spAutoFit/>
            </a:bodyPr>
            <a:lstStyle/>
            <a:p>
              <a:pPr algn="just">
                <a:lnSpc>
                  <a:spcPts val="8325"/>
                </a:lnSpc>
              </a:pPr>
              <a:r>
                <a:rPr lang="en-US" sz="5945" b="1">
                  <a:solidFill>
                    <a:srgbClr val="7AC7CF"/>
                  </a:solidFill>
                  <a:latin typeface="Cabin Bold" panose="00000800000000000000"/>
                  <a:ea typeface="Cabin Bold" panose="00000800000000000000"/>
                  <a:cs typeface="Cabin Bold" panose="00000800000000000000"/>
                  <a:sym typeface="Cabin Bold" panose="00000800000000000000"/>
                </a:rPr>
                <a:t>QUÁ TRÌNH PHÁT TRIỂN HỆ THỐNG</a:t>
              </a:r>
              <a:endParaRPr lang="en-US" sz="5945" b="1">
                <a:solidFill>
                  <a:srgbClr val="7AC7CF"/>
                </a:solidFill>
                <a:latin typeface="Cabin Bold" panose="00000800000000000000"/>
                <a:ea typeface="Cabin Bold" panose="00000800000000000000"/>
                <a:cs typeface="Cabin Bold" panose="00000800000000000000"/>
                <a:sym typeface="Cabin Bold" panose="00000800000000000000"/>
              </a:endParaRPr>
            </a:p>
            <a:p>
              <a:pPr algn="just">
                <a:lnSpc>
                  <a:spcPts val="8325"/>
                </a:lnSpc>
              </a:pPr>
            </a:p>
          </p:txBody>
        </p:sp>
        <p:sp>
          <p:nvSpPr>
            <p:cNvPr id="5" name="TextBox 5"/>
            <p:cNvSpPr txBox="1"/>
            <p:nvPr/>
          </p:nvSpPr>
          <p:spPr>
            <a:xfrm>
              <a:off x="0" y="8629549"/>
              <a:ext cx="13724822" cy="4053532"/>
            </a:xfrm>
            <a:prstGeom prst="rect">
              <a:avLst/>
            </a:prstGeom>
          </p:spPr>
          <p:txBody>
            <a:bodyPr lIns="0" tIns="0" rIns="0" bIns="0" rtlCol="0" anchor="t">
              <a:spAutoFit/>
            </a:bodyPr>
            <a:lstStyle/>
            <a:p>
              <a:pPr algn="just">
                <a:lnSpc>
                  <a:spcPts val="6075"/>
                </a:lnSpc>
              </a:pPr>
              <a:r>
                <a:rPr lang="en-US" sz="4340">
                  <a:solidFill>
                    <a:srgbClr val="5034C4"/>
                  </a:solidFill>
                  <a:latin typeface="Cabin" panose="00000500000000000000"/>
                  <a:ea typeface="Cabin" panose="00000500000000000000"/>
                  <a:cs typeface="Cabin" panose="00000500000000000000"/>
                  <a:sym typeface="Cabin" panose="00000500000000000000"/>
                </a:rPr>
                <a:t>Sự tham gia tích cực của người dùng cải thiện giao tiếp, đẩy nhanh tiến độ và tăng sự hài lòng.</a:t>
              </a:r>
              <a:endParaRPr lang="en-US" sz="4340">
                <a:solidFill>
                  <a:srgbClr val="5034C4"/>
                </a:solidFill>
                <a:latin typeface="Cabin" panose="00000500000000000000"/>
                <a:ea typeface="Cabin" panose="00000500000000000000"/>
                <a:cs typeface="Cabin" panose="00000500000000000000"/>
                <a:sym typeface="Cabin" panose="00000500000000000000"/>
              </a:endParaRPr>
            </a:p>
            <a:p>
              <a:pPr algn="just">
                <a:lnSpc>
                  <a:spcPts val="6075"/>
                </a:lnSpc>
              </a:pPr>
            </a:p>
          </p:txBody>
        </p:sp>
        <p:sp>
          <p:nvSpPr>
            <p:cNvPr id="6" name="TextBox 6"/>
            <p:cNvSpPr txBox="1"/>
            <p:nvPr/>
          </p:nvSpPr>
          <p:spPr>
            <a:xfrm>
              <a:off x="0" y="4252485"/>
              <a:ext cx="13724822" cy="3605034"/>
            </a:xfrm>
            <a:prstGeom prst="rect">
              <a:avLst/>
            </a:prstGeom>
          </p:spPr>
          <p:txBody>
            <a:bodyPr lIns="0" tIns="0" rIns="0" bIns="0" rtlCol="0" anchor="t">
              <a:spAutoFit/>
            </a:bodyPr>
            <a:lstStyle/>
            <a:p>
              <a:pPr algn="just">
                <a:lnSpc>
                  <a:spcPts val="7290"/>
                </a:lnSpc>
              </a:pPr>
              <a:r>
                <a:rPr lang="en-US" sz="5210" u="sng">
                  <a:solidFill>
                    <a:srgbClr val="5034C4"/>
                  </a:solidFill>
                  <a:latin typeface="Cabin" panose="00000500000000000000"/>
                  <a:ea typeface="Cabin" panose="00000500000000000000"/>
                  <a:cs typeface="Cabin" panose="00000500000000000000"/>
                  <a:sym typeface="Cabin" panose="00000500000000000000"/>
                </a:rPr>
                <a:t>Tập trung vào cung cấp thông tin tối ưu với chi phí thấp và thời gian ngắn.</a:t>
              </a:r>
              <a:endParaRPr lang="en-US" sz="5210" u="sng">
                <a:solidFill>
                  <a:srgbClr val="5034C4"/>
                </a:solidFill>
                <a:latin typeface="Cabin" panose="00000500000000000000"/>
                <a:ea typeface="Cabin" panose="00000500000000000000"/>
                <a:cs typeface="Cabin" panose="00000500000000000000"/>
                <a:sym typeface="Cabin" panose="00000500000000000000"/>
              </a:endParaRPr>
            </a:p>
            <a:p>
              <a:pPr algn="just">
                <a:lnSpc>
                  <a:spcPts val="7290"/>
                </a:lnSpc>
              </a:pPr>
            </a:p>
          </p:txBody>
        </p:sp>
      </p:grpSp>
    </p:spTree>
  </p:cSld>
  <p:clrMapOvr>
    <a:masterClrMapping/>
  </p:clrMapOvr>
  <mc:AlternateContent xmlns:mc="http://schemas.openxmlformats.org/markup-compatibility/2006">
    <mc:Choice xmlns:p14="http://schemas.microsoft.com/office/powerpoint/2010/main" Requires="p14">
      <p:transition spd="med" p14:dur="750">
        <p:pull/>
      </p:transition>
    </mc:Choice>
    <mc:Fallback>
      <p:transition spd="med">
        <p:pull/>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5034C4"/>
        </a:solidFill>
        <a:effectLst/>
      </p:bgPr>
    </p:bg>
    <p:spTree>
      <p:nvGrpSpPr>
        <p:cNvPr id="1" name=""/>
        <p:cNvGrpSpPr/>
        <p:nvPr/>
      </p:nvGrpSpPr>
      <p:grpSpPr>
        <a:xfrm>
          <a:off x="0" y="0"/>
          <a:ext cx="0" cy="0"/>
          <a:chOff x="0" y="0"/>
          <a:chExt cx="0" cy="0"/>
        </a:xfrm>
      </p:grpSpPr>
      <p:sp>
        <p:nvSpPr>
          <p:cNvPr id="2" name="Freeform 2"/>
          <p:cNvSpPr/>
          <p:nvPr/>
        </p:nvSpPr>
        <p:spPr>
          <a:xfrm>
            <a:off x="4148864" y="1536476"/>
            <a:ext cx="3149512" cy="6276201"/>
          </a:xfrm>
          <a:custGeom>
            <a:avLst/>
            <a:gdLst/>
            <a:ahLst/>
            <a:cxnLst/>
            <a:rect l="l" t="t" r="r" b="b"/>
            <a:pathLst>
              <a:path w="3149512" h="6276201">
                <a:moveTo>
                  <a:pt x="0" y="0"/>
                </a:moveTo>
                <a:lnTo>
                  <a:pt x="3149512" y="0"/>
                </a:lnTo>
                <a:lnTo>
                  <a:pt x="3149512" y="6276202"/>
                </a:lnTo>
                <a:lnTo>
                  <a:pt x="0" y="6276202"/>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TextBox 3"/>
          <p:cNvSpPr txBox="1"/>
          <p:nvPr/>
        </p:nvSpPr>
        <p:spPr>
          <a:xfrm>
            <a:off x="256356" y="29570"/>
            <a:ext cx="8294073" cy="4181596"/>
          </a:xfrm>
          <a:prstGeom prst="rect">
            <a:avLst/>
          </a:prstGeom>
        </p:spPr>
        <p:txBody>
          <a:bodyPr lIns="0" tIns="0" rIns="0" bIns="0" rtlCol="0" anchor="t">
            <a:spAutoFit/>
          </a:bodyPr>
          <a:lstStyle/>
          <a:p>
            <a:pPr algn="l">
              <a:lnSpc>
                <a:spcPts val="11155"/>
              </a:lnSpc>
            </a:pPr>
            <a:r>
              <a:rPr lang="en-US" sz="7965" b="1">
                <a:solidFill>
                  <a:srgbClr val="FFFFFF"/>
                </a:solidFill>
                <a:latin typeface="Cabin Bold" panose="00000800000000000000"/>
                <a:ea typeface="Cabin Bold" panose="00000800000000000000"/>
                <a:cs typeface="Cabin Bold" panose="00000800000000000000"/>
                <a:sym typeface="Cabin Bold" panose="00000800000000000000"/>
              </a:rPr>
              <a:t>Đặc trưng của kỹ thuật:</a:t>
            </a:r>
            <a:endParaRPr lang="en-US" sz="7965" b="1">
              <a:solidFill>
                <a:srgbClr val="FFFFFF"/>
              </a:solidFill>
              <a:latin typeface="Cabin Bold" panose="00000800000000000000"/>
              <a:ea typeface="Cabin Bold" panose="00000800000000000000"/>
              <a:cs typeface="Cabin Bold" panose="00000800000000000000"/>
              <a:sym typeface="Cabin Bold" panose="00000800000000000000"/>
            </a:endParaRPr>
          </a:p>
          <a:p>
            <a:pPr algn="l">
              <a:lnSpc>
                <a:spcPts val="11155"/>
              </a:lnSpc>
            </a:pPr>
          </a:p>
        </p:txBody>
      </p:sp>
      <p:grpSp>
        <p:nvGrpSpPr>
          <p:cNvPr id="4" name="Group 4"/>
          <p:cNvGrpSpPr/>
          <p:nvPr/>
        </p:nvGrpSpPr>
        <p:grpSpPr>
          <a:xfrm rot="0">
            <a:off x="8053489" y="505521"/>
            <a:ext cx="9611109" cy="9275958"/>
            <a:chOff x="0" y="0"/>
            <a:chExt cx="12814812" cy="12367945"/>
          </a:xfrm>
        </p:grpSpPr>
        <p:sp>
          <p:nvSpPr>
            <p:cNvPr id="5" name="TextBox 5"/>
            <p:cNvSpPr txBox="1"/>
            <p:nvPr/>
          </p:nvSpPr>
          <p:spPr>
            <a:xfrm>
              <a:off x="0" y="309525"/>
              <a:ext cx="12814812" cy="5854276"/>
            </a:xfrm>
            <a:prstGeom prst="rect">
              <a:avLst/>
            </a:prstGeom>
          </p:spPr>
          <p:txBody>
            <a:bodyPr lIns="0" tIns="0" rIns="0" bIns="0" rtlCol="0" anchor="t">
              <a:spAutoFit/>
            </a:bodyPr>
            <a:lstStyle/>
            <a:p>
              <a:pPr algn="just">
                <a:lnSpc>
                  <a:spcPts val="4620"/>
                </a:lnSpc>
              </a:pPr>
              <a:r>
                <a:rPr lang="en-US" sz="3300" b="1" u="sng">
                  <a:solidFill>
                    <a:srgbClr val="7AC7CF"/>
                  </a:solidFill>
                  <a:latin typeface="Cabin Bold" panose="00000800000000000000"/>
                  <a:ea typeface="Cabin Bold" panose="00000800000000000000"/>
                  <a:cs typeface="Cabin Bold" panose="00000800000000000000"/>
                  <a:sym typeface="Cabin Bold" panose="00000800000000000000"/>
                </a:rPr>
                <a:t> -Mục tiêu của bộ phận CNTT là cung cấp hệ thống thông tin tốt nhất có thể, với chi phí thấp nhất có thể, trong thời gian ngắn nhất có thể. xem người dùng là đối tác trong quá trình phát triển.</a:t>
              </a:r>
              <a:endParaRPr lang="en-US" sz="3300" b="1" u="sng">
                <a:solidFill>
                  <a:srgbClr val="7AC7CF"/>
                </a:solidFill>
                <a:latin typeface="Cabin Bold" panose="00000800000000000000"/>
                <a:ea typeface="Cabin Bold" panose="00000800000000000000"/>
                <a:cs typeface="Cabin Bold" panose="00000800000000000000"/>
                <a:sym typeface="Cabin Bold" panose="00000800000000000000"/>
              </a:endParaRPr>
            </a:p>
            <a:p>
              <a:pPr algn="just">
                <a:lnSpc>
                  <a:spcPts val="4620"/>
                </a:lnSpc>
              </a:pPr>
              <a:r>
                <a:rPr lang="en-US" sz="3300" b="1" u="sng">
                  <a:solidFill>
                    <a:srgbClr val="7AC7CF"/>
                  </a:solidFill>
                  <a:latin typeface="Cabin Bold" panose="00000800000000000000"/>
                  <a:ea typeface="Cabin Bold" panose="00000800000000000000"/>
                  <a:cs typeface="Cabin Bold" panose="00000800000000000000"/>
                  <a:sym typeface="Cabin Bold" panose="00000800000000000000"/>
                </a:rPr>
                <a:t> -Sự tham gia nhiều hơn của người dùng thường dẫn đến giao tiếp tốt hơn, thời gian phát triển nhanh hơn và người dùng hài lòng hơn.</a:t>
              </a:r>
              <a:endParaRPr lang="en-US" sz="3300" b="1" u="sng">
                <a:solidFill>
                  <a:srgbClr val="7AC7CF"/>
                </a:solidFill>
                <a:latin typeface="Cabin Bold" panose="00000800000000000000"/>
                <a:ea typeface="Cabin Bold" panose="00000800000000000000"/>
                <a:cs typeface="Cabin Bold" panose="00000800000000000000"/>
                <a:sym typeface="Cabin Bold" panose="00000800000000000000"/>
              </a:endParaRPr>
            </a:p>
            <a:p>
              <a:pPr algn="just">
                <a:lnSpc>
                  <a:spcPts val="105"/>
                </a:lnSpc>
              </a:pPr>
            </a:p>
            <a:p>
              <a:pPr algn="just">
                <a:lnSpc>
                  <a:spcPts val="2240"/>
                </a:lnSpc>
              </a:pPr>
            </a:p>
          </p:txBody>
        </p:sp>
        <p:sp>
          <p:nvSpPr>
            <p:cNvPr id="6" name="TextBox 6"/>
            <p:cNvSpPr txBox="1"/>
            <p:nvPr/>
          </p:nvSpPr>
          <p:spPr>
            <a:xfrm>
              <a:off x="0" y="7784679"/>
              <a:ext cx="12814812" cy="4345304"/>
            </a:xfrm>
            <a:prstGeom prst="rect">
              <a:avLst/>
            </a:prstGeom>
          </p:spPr>
          <p:txBody>
            <a:bodyPr lIns="0" tIns="0" rIns="0" bIns="0" rtlCol="0" anchor="t">
              <a:spAutoFit/>
            </a:bodyPr>
            <a:lstStyle/>
            <a:p>
              <a:pPr algn="just">
                <a:lnSpc>
                  <a:spcPts val="5280"/>
                </a:lnSpc>
              </a:pPr>
              <a:r>
                <a:rPr lang="en-US" sz="3300">
                  <a:solidFill>
                    <a:srgbClr val="FFFFFF"/>
                  </a:solidFill>
                  <a:latin typeface="Cabin" panose="00000500000000000000"/>
                  <a:ea typeface="Cabin" panose="00000500000000000000"/>
                  <a:cs typeface="Cabin" panose="00000500000000000000"/>
                  <a:sym typeface="Cabin" panose="00000500000000000000"/>
                </a:rPr>
                <a:t>Trong bài báo này, chúng tôi trình bày một trường hợp tích hợp JAD và kỹ thuật nhóm danh nghĩa (NGT), một giao thức nhóm được thiết kế để giải quyết các vấn đề tương tự như những vấn đề gặp phải trong JAD.</a:t>
              </a:r>
              <a:endParaRPr lang="en-US" sz="3300">
                <a:solidFill>
                  <a:srgbClr val="FFFFFF"/>
                </a:solidFill>
                <a:latin typeface="Cabin" panose="00000500000000000000"/>
                <a:ea typeface="Cabin" panose="00000500000000000000"/>
                <a:cs typeface="Cabin" panose="00000500000000000000"/>
                <a:sym typeface="Cabin" panose="00000500000000000000"/>
              </a:endParaRPr>
            </a:p>
            <a:p>
              <a:pPr algn="just">
                <a:lnSpc>
                  <a:spcPts val="5280"/>
                </a:lnSpc>
              </a:pPr>
            </a:p>
          </p:txBody>
        </p:sp>
      </p:grpSp>
      <p:sp>
        <p:nvSpPr>
          <p:cNvPr id="7" name="TextBox 7"/>
          <p:cNvSpPr txBox="1"/>
          <p:nvPr/>
        </p:nvSpPr>
        <p:spPr>
          <a:xfrm>
            <a:off x="256356" y="8155501"/>
            <a:ext cx="5727204" cy="2119873"/>
          </a:xfrm>
          <a:prstGeom prst="rect">
            <a:avLst/>
          </a:prstGeom>
        </p:spPr>
        <p:txBody>
          <a:bodyPr lIns="0" tIns="0" rIns="0" bIns="0" rtlCol="0" anchor="t">
            <a:spAutoFit/>
          </a:bodyPr>
          <a:lstStyle/>
          <a:p>
            <a:pPr algn="just">
              <a:lnSpc>
                <a:spcPts val="3430"/>
              </a:lnSpc>
            </a:pPr>
            <a:r>
              <a:rPr lang="en-US" sz="2145">
                <a:solidFill>
                  <a:srgbClr val="FFFFFF"/>
                </a:solidFill>
                <a:latin typeface="Cabin" panose="00000500000000000000"/>
                <a:ea typeface="Cabin" panose="00000500000000000000"/>
                <a:cs typeface="Cabin" panose="00000500000000000000"/>
                <a:sym typeface="Cabin" panose="00000500000000000000"/>
              </a:rPr>
              <a:t>Evan W. DugganCherian S. Thachenkary (2003) Higher Quality Requirements: Supporting Joint Application Development with the Nominal Group Technique</a:t>
            </a:r>
            <a:endParaRPr lang="en-US" sz="2145">
              <a:solidFill>
                <a:srgbClr val="FFFFFF"/>
              </a:solidFill>
              <a:latin typeface="Cabin" panose="00000500000000000000"/>
              <a:ea typeface="Cabin" panose="00000500000000000000"/>
              <a:cs typeface="Cabin" panose="00000500000000000000"/>
              <a:sym typeface="Cabin" panose="00000500000000000000"/>
            </a:endParaRPr>
          </a:p>
          <a:p>
            <a:pPr algn="just">
              <a:lnSpc>
                <a:spcPts val="3430"/>
              </a:lnSpc>
            </a:p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3757983">
            <a:off x="5310914" y="-2439917"/>
            <a:ext cx="11166320" cy="21899658"/>
            <a:chOff x="0" y="0"/>
            <a:chExt cx="2940924" cy="5767811"/>
          </a:xfrm>
        </p:grpSpPr>
        <p:sp>
          <p:nvSpPr>
            <p:cNvPr id="3" name="Freeform 3"/>
            <p:cNvSpPr/>
            <p:nvPr/>
          </p:nvSpPr>
          <p:spPr>
            <a:xfrm>
              <a:off x="0" y="0"/>
              <a:ext cx="2940924" cy="5767811"/>
            </a:xfrm>
            <a:custGeom>
              <a:avLst/>
              <a:gdLst/>
              <a:ahLst/>
              <a:cxnLst/>
              <a:rect l="l" t="t" r="r" b="b"/>
              <a:pathLst>
                <a:path w="2940924" h="5767811">
                  <a:moveTo>
                    <a:pt x="0" y="0"/>
                  </a:moveTo>
                  <a:lnTo>
                    <a:pt x="2940924" y="0"/>
                  </a:lnTo>
                  <a:lnTo>
                    <a:pt x="2940924" y="5767811"/>
                  </a:lnTo>
                  <a:lnTo>
                    <a:pt x="0" y="5767811"/>
                  </a:lnTo>
                  <a:close/>
                </a:path>
              </a:pathLst>
            </a:custGeom>
            <a:solidFill>
              <a:srgbClr val="5034C4"/>
            </a:solidFill>
          </p:spPr>
        </p:sp>
        <p:sp>
          <p:nvSpPr>
            <p:cNvPr id="4" name="TextBox 4"/>
            <p:cNvSpPr txBox="1"/>
            <p:nvPr/>
          </p:nvSpPr>
          <p:spPr>
            <a:xfrm>
              <a:off x="0" y="-38100"/>
              <a:ext cx="2940924" cy="5805911"/>
            </a:xfrm>
            <a:prstGeom prst="rect">
              <a:avLst/>
            </a:prstGeom>
          </p:spPr>
          <p:txBody>
            <a:bodyPr lIns="50800" tIns="50800" rIns="50800" bIns="50800" rtlCol="0" anchor="ctr"/>
            <a:lstStyle/>
            <a:p>
              <a:pPr algn="ctr">
                <a:lnSpc>
                  <a:spcPts val="2100"/>
                </a:lnSpc>
              </a:pPr>
            </a:p>
          </p:txBody>
        </p:sp>
      </p:grpSp>
      <p:sp>
        <p:nvSpPr>
          <p:cNvPr id="5" name="Freeform 5"/>
          <p:cNvSpPr/>
          <p:nvPr/>
        </p:nvSpPr>
        <p:spPr>
          <a:xfrm>
            <a:off x="1028700" y="1203650"/>
            <a:ext cx="6313310" cy="6626566"/>
          </a:xfrm>
          <a:custGeom>
            <a:avLst/>
            <a:gdLst/>
            <a:ahLst/>
            <a:cxnLst/>
            <a:rect l="l" t="t" r="r" b="b"/>
            <a:pathLst>
              <a:path w="6313310" h="6626566">
                <a:moveTo>
                  <a:pt x="0" y="0"/>
                </a:moveTo>
                <a:lnTo>
                  <a:pt x="6313310" y="0"/>
                </a:lnTo>
                <a:lnTo>
                  <a:pt x="6313310" y="6626566"/>
                </a:lnTo>
                <a:lnTo>
                  <a:pt x="0" y="6626566"/>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6" name="TextBox 6"/>
          <p:cNvSpPr txBox="1"/>
          <p:nvPr/>
        </p:nvSpPr>
        <p:spPr>
          <a:xfrm>
            <a:off x="8861003" y="5144377"/>
            <a:ext cx="7621597" cy="3200346"/>
          </a:xfrm>
          <a:prstGeom prst="rect">
            <a:avLst/>
          </a:prstGeom>
        </p:spPr>
        <p:txBody>
          <a:bodyPr lIns="0" tIns="0" rIns="0" bIns="0" rtlCol="0" anchor="t">
            <a:spAutoFit/>
          </a:bodyPr>
          <a:lstStyle/>
          <a:p>
            <a:pPr algn="l">
              <a:lnSpc>
                <a:spcPts val="12605"/>
              </a:lnSpc>
            </a:pPr>
            <a:r>
              <a:rPr lang="en-US" sz="10505" b="1">
                <a:solidFill>
                  <a:srgbClr val="C3EBEF"/>
                </a:solidFill>
                <a:latin typeface="Cabin Bold" panose="00000800000000000000"/>
                <a:ea typeface="Cabin Bold" panose="00000800000000000000"/>
                <a:cs typeface="Cabin Bold" panose="00000800000000000000"/>
                <a:sym typeface="Cabin Bold" panose="00000800000000000000"/>
              </a:rPr>
              <a:t>Lợi ích </a:t>
            </a:r>
            <a:r>
              <a:rPr lang="en-US" sz="10505" b="1">
                <a:solidFill>
                  <a:srgbClr val="FFFFFF"/>
                </a:solidFill>
                <a:latin typeface="Cabin Bold" panose="00000800000000000000"/>
                <a:ea typeface="Cabin Bold" panose="00000800000000000000"/>
                <a:cs typeface="Cabin Bold" panose="00000800000000000000"/>
                <a:sym typeface="Cabin Bold" panose="00000800000000000000"/>
              </a:rPr>
              <a:t>của Công nghệ</a:t>
            </a:r>
            <a:endParaRPr lang="en-US" sz="10505" b="1">
              <a:solidFill>
                <a:srgbClr val="FFFFFF"/>
              </a:solidFill>
              <a:latin typeface="Cabin Bold" panose="00000800000000000000"/>
              <a:ea typeface="Cabin Bold" panose="00000800000000000000"/>
              <a:cs typeface="Cabin Bold" panose="00000800000000000000"/>
              <a:sym typeface="Cabin Bold" panose="00000800000000000000"/>
            </a:endParaRPr>
          </a:p>
        </p:txBody>
      </p:sp>
      <p:sp>
        <p:nvSpPr>
          <p:cNvPr id="7" name="Freeform 7"/>
          <p:cNvSpPr/>
          <p:nvPr/>
        </p:nvSpPr>
        <p:spPr>
          <a:xfrm>
            <a:off x="8269954" y="1646458"/>
            <a:ext cx="2608193" cy="2209851"/>
          </a:xfrm>
          <a:custGeom>
            <a:avLst/>
            <a:gdLst/>
            <a:ahLst/>
            <a:cxnLst/>
            <a:rect l="l" t="t" r="r" b="b"/>
            <a:pathLst>
              <a:path w="2608193" h="2209851">
                <a:moveTo>
                  <a:pt x="0" y="0"/>
                </a:moveTo>
                <a:lnTo>
                  <a:pt x="2608193" y="0"/>
                </a:lnTo>
                <a:lnTo>
                  <a:pt x="2608193" y="2209851"/>
                </a:lnTo>
                <a:lnTo>
                  <a:pt x="0" y="220985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Freeform 8"/>
          <p:cNvSpPr/>
          <p:nvPr/>
        </p:nvSpPr>
        <p:spPr>
          <a:xfrm>
            <a:off x="11431900" y="568361"/>
            <a:ext cx="1239902" cy="1532463"/>
          </a:xfrm>
          <a:custGeom>
            <a:avLst/>
            <a:gdLst/>
            <a:ahLst/>
            <a:cxnLst/>
            <a:rect l="l" t="t" r="r" b="b"/>
            <a:pathLst>
              <a:path w="1239902" h="1532463">
                <a:moveTo>
                  <a:pt x="0" y="0"/>
                </a:moveTo>
                <a:lnTo>
                  <a:pt x="1239902" y="0"/>
                </a:lnTo>
                <a:lnTo>
                  <a:pt x="1239902" y="1532463"/>
                </a:lnTo>
                <a:lnTo>
                  <a:pt x="0" y="153246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1028700" y="3854496"/>
            <a:ext cx="4940981" cy="5403804"/>
            <a:chOff x="0" y="0"/>
            <a:chExt cx="1301328" cy="1423224"/>
          </a:xfrm>
        </p:grpSpPr>
        <p:sp>
          <p:nvSpPr>
            <p:cNvPr id="3" name="Freeform 3"/>
            <p:cNvSpPr/>
            <p:nvPr/>
          </p:nvSpPr>
          <p:spPr>
            <a:xfrm>
              <a:off x="0" y="0"/>
              <a:ext cx="1301328" cy="1423224"/>
            </a:xfrm>
            <a:custGeom>
              <a:avLst/>
              <a:gdLst/>
              <a:ahLst/>
              <a:cxnLst/>
              <a:rect l="l" t="t" r="r" b="b"/>
              <a:pathLst>
                <a:path w="1301328" h="1423224">
                  <a:moveTo>
                    <a:pt x="70510" y="0"/>
                  </a:moveTo>
                  <a:lnTo>
                    <a:pt x="1230819" y="0"/>
                  </a:lnTo>
                  <a:cubicBezTo>
                    <a:pt x="1249519" y="0"/>
                    <a:pt x="1267453" y="7429"/>
                    <a:pt x="1280676" y="20652"/>
                  </a:cubicBezTo>
                  <a:cubicBezTo>
                    <a:pt x="1293900" y="33875"/>
                    <a:pt x="1301328" y="51809"/>
                    <a:pt x="1301328" y="70510"/>
                  </a:cubicBezTo>
                  <a:lnTo>
                    <a:pt x="1301328" y="1352715"/>
                  </a:lnTo>
                  <a:cubicBezTo>
                    <a:pt x="1301328" y="1371415"/>
                    <a:pt x="1293900" y="1389349"/>
                    <a:pt x="1280676" y="1402573"/>
                  </a:cubicBezTo>
                  <a:cubicBezTo>
                    <a:pt x="1267453" y="1415796"/>
                    <a:pt x="1249519" y="1423224"/>
                    <a:pt x="1230819" y="1423224"/>
                  </a:cubicBezTo>
                  <a:lnTo>
                    <a:pt x="70510" y="1423224"/>
                  </a:lnTo>
                  <a:cubicBezTo>
                    <a:pt x="51809" y="1423224"/>
                    <a:pt x="33875" y="1415796"/>
                    <a:pt x="20652" y="1402573"/>
                  </a:cubicBezTo>
                  <a:cubicBezTo>
                    <a:pt x="7429" y="1389349"/>
                    <a:pt x="0" y="1371415"/>
                    <a:pt x="0" y="1352715"/>
                  </a:cubicBezTo>
                  <a:lnTo>
                    <a:pt x="0" y="70510"/>
                  </a:lnTo>
                  <a:cubicBezTo>
                    <a:pt x="0" y="51809"/>
                    <a:pt x="7429" y="33875"/>
                    <a:pt x="20652" y="20652"/>
                  </a:cubicBezTo>
                  <a:cubicBezTo>
                    <a:pt x="33875" y="7429"/>
                    <a:pt x="51809" y="0"/>
                    <a:pt x="70510" y="0"/>
                  </a:cubicBezTo>
                  <a:close/>
                </a:path>
              </a:pathLst>
            </a:custGeom>
            <a:solidFill>
              <a:srgbClr val="5034C4">
                <a:alpha val="4706"/>
              </a:srgbClr>
            </a:solidFill>
          </p:spPr>
        </p:sp>
        <p:sp>
          <p:nvSpPr>
            <p:cNvPr id="4" name="TextBox 4"/>
            <p:cNvSpPr txBox="1"/>
            <p:nvPr/>
          </p:nvSpPr>
          <p:spPr>
            <a:xfrm>
              <a:off x="0" y="-38100"/>
              <a:ext cx="1301328" cy="1461324"/>
            </a:xfrm>
            <a:prstGeom prst="rect">
              <a:avLst/>
            </a:prstGeom>
          </p:spPr>
          <p:txBody>
            <a:bodyPr lIns="50800" tIns="50800" rIns="50800" bIns="50800" rtlCol="0" anchor="ctr"/>
            <a:lstStyle/>
            <a:p>
              <a:pPr algn="ctr">
                <a:lnSpc>
                  <a:spcPts val="2100"/>
                </a:lnSpc>
              </a:pPr>
            </a:p>
          </p:txBody>
        </p:sp>
      </p:grpSp>
      <p:grpSp>
        <p:nvGrpSpPr>
          <p:cNvPr id="5" name="Group 5"/>
          <p:cNvGrpSpPr/>
          <p:nvPr/>
        </p:nvGrpSpPr>
        <p:grpSpPr>
          <a:xfrm rot="0">
            <a:off x="6699379" y="3854496"/>
            <a:ext cx="4940981" cy="5403804"/>
            <a:chOff x="0" y="0"/>
            <a:chExt cx="1301328" cy="1423224"/>
          </a:xfrm>
        </p:grpSpPr>
        <p:sp>
          <p:nvSpPr>
            <p:cNvPr id="6" name="Freeform 6"/>
            <p:cNvSpPr/>
            <p:nvPr/>
          </p:nvSpPr>
          <p:spPr>
            <a:xfrm>
              <a:off x="0" y="0"/>
              <a:ext cx="1301328" cy="1423224"/>
            </a:xfrm>
            <a:custGeom>
              <a:avLst/>
              <a:gdLst/>
              <a:ahLst/>
              <a:cxnLst/>
              <a:rect l="l" t="t" r="r" b="b"/>
              <a:pathLst>
                <a:path w="1301328" h="1423224">
                  <a:moveTo>
                    <a:pt x="70510" y="0"/>
                  </a:moveTo>
                  <a:lnTo>
                    <a:pt x="1230819" y="0"/>
                  </a:lnTo>
                  <a:cubicBezTo>
                    <a:pt x="1249519" y="0"/>
                    <a:pt x="1267453" y="7429"/>
                    <a:pt x="1280676" y="20652"/>
                  </a:cubicBezTo>
                  <a:cubicBezTo>
                    <a:pt x="1293900" y="33875"/>
                    <a:pt x="1301328" y="51809"/>
                    <a:pt x="1301328" y="70510"/>
                  </a:cubicBezTo>
                  <a:lnTo>
                    <a:pt x="1301328" y="1352715"/>
                  </a:lnTo>
                  <a:cubicBezTo>
                    <a:pt x="1301328" y="1371415"/>
                    <a:pt x="1293900" y="1389349"/>
                    <a:pt x="1280676" y="1402573"/>
                  </a:cubicBezTo>
                  <a:cubicBezTo>
                    <a:pt x="1267453" y="1415796"/>
                    <a:pt x="1249519" y="1423224"/>
                    <a:pt x="1230819" y="1423224"/>
                  </a:cubicBezTo>
                  <a:lnTo>
                    <a:pt x="70510" y="1423224"/>
                  </a:lnTo>
                  <a:cubicBezTo>
                    <a:pt x="51809" y="1423224"/>
                    <a:pt x="33875" y="1415796"/>
                    <a:pt x="20652" y="1402573"/>
                  </a:cubicBezTo>
                  <a:cubicBezTo>
                    <a:pt x="7429" y="1389349"/>
                    <a:pt x="0" y="1371415"/>
                    <a:pt x="0" y="1352715"/>
                  </a:cubicBezTo>
                  <a:lnTo>
                    <a:pt x="0" y="70510"/>
                  </a:lnTo>
                  <a:cubicBezTo>
                    <a:pt x="0" y="51809"/>
                    <a:pt x="7429" y="33875"/>
                    <a:pt x="20652" y="20652"/>
                  </a:cubicBezTo>
                  <a:cubicBezTo>
                    <a:pt x="33875" y="7429"/>
                    <a:pt x="51809" y="0"/>
                    <a:pt x="70510" y="0"/>
                  </a:cubicBezTo>
                  <a:close/>
                </a:path>
              </a:pathLst>
            </a:custGeom>
            <a:solidFill>
              <a:srgbClr val="5034C4">
                <a:alpha val="4706"/>
              </a:srgbClr>
            </a:solidFill>
          </p:spPr>
        </p:sp>
        <p:sp>
          <p:nvSpPr>
            <p:cNvPr id="7" name="TextBox 7"/>
            <p:cNvSpPr txBox="1"/>
            <p:nvPr/>
          </p:nvSpPr>
          <p:spPr>
            <a:xfrm>
              <a:off x="0" y="-38100"/>
              <a:ext cx="1301328" cy="1461324"/>
            </a:xfrm>
            <a:prstGeom prst="rect">
              <a:avLst/>
            </a:prstGeom>
          </p:spPr>
          <p:txBody>
            <a:bodyPr lIns="50800" tIns="50800" rIns="50800" bIns="50800" rtlCol="0" anchor="ctr"/>
            <a:lstStyle/>
            <a:p>
              <a:pPr algn="ctr">
                <a:lnSpc>
                  <a:spcPts val="2100"/>
                </a:lnSpc>
              </a:pPr>
            </a:p>
          </p:txBody>
        </p:sp>
      </p:grpSp>
      <p:grpSp>
        <p:nvGrpSpPr>
          <p:cNvPr id="8" name="Group 8"/>
          <p:cNvGrpSpPr/>
          <p:nvPr/>
        </p:nvGrpSpPr>
        <p:grpSpPr>
          <a:xfrm rot="0">
            <a:off x="12370058" y="3854496"/>
            <a:ext cx="4940981" cy="5403804"/>
            <a:chOff x="0" y="0"/>
            <a:chExt cx="1301328" cy="1423224"/>
          </a:xfrm>
        </p:grpSpPr>
        <p:sp>
          <p:nvSpPr>
            <p:cNvPr id="9" name="Freeform 9"/>
            <p:cNvSpPr/>
            <p:nvPr/>
          </p:nvSpPr>
          <p:spPr>
            <a:xfrm>
              <a:off x="0" y="0"/>
              <a:ext cx="1301328" cy="1423224"/>
            </a:xfrm>
            <a:custGeom>
              <a:avLst/>
              <a:gdLst/>
              <a:ahLst/>
              <a:cxnLst/>
              <a:rect l="l" t="t" r="r" b="b"/>
              <a:pathLst>
                <a:path w="1301328" h="1423224">
                  <a:moveTo>
                    <a:pt x="70510" y="0"/>
                  </a:moveTo>
                  <a:lnTo>
                    <a:pt x="1230819" y="0"/>
                  </a:lnTo>
                  <a:cubicBezTo>
                    <a:pt x="1249519" y="0"/>
                    <a:pt x="1267453" y="7429"/>
                    <a:pt x="1280676" y="20652"/>
                  </a:cubicBezTo>
                  <a:cubicBezTo>
                    <a:pt x="1293900" y="33875"/>
                    <a:pt x="1301328" y="51809"/>
                    <a:pt x="1301328" y="70510"/>
                  </a:cubicBezTo>
                  <a:lnTo>
                    <a:pt x="1301328" y="1352715"/>
                  </a:lnTo>
                  <a:cubicBezTo>
                    <a:pt x="1301328" y="1371415"/>
                    <a:pt x="1293900" y="1389349"/>
                    <a:pt x="1280676" y="1402573"/>
                  </a:cubicBezTo>
                  <a:cubicBezTo>
                    <a:pt x="1267453" y="1415796"/>
                    <a:pt x="1249519" y="1423224"/>
                    <a:pt x="1230819" y="1423224"/>
                  </a:cubicBezTo>
                  <a:lnTo>
                    <a:pt x="70510" y="1423224"/>
                  </a:lnTo>
                  <a:cubicBezTo>
                    <a:pt x="51809" y="1423224"/>
                    <a:pt x="33875" y="1415796"/>
                    <a:pt x="20652" y="1402573"/>
                  </a:cubicBezTo>
                  <a:cubicBezTo>
                    <a:pt x="7429" y="1389349"/>
                    <a:pt x="0" y="1371415"/>
                    <a:pt x="0" y="1352715"/>
                  </a:cubicBezTo>
                  <a:lnTo>
                    <a:pt x="0" y="70510"/>
                  </a:lnTo>
                  <a:cubicBezTo>
                    <a:pt x="0" y="51809"/>
                    <a:pt x="7429" y="33875"/>
                    <a:pt x="20652" y="20652"/>
                  </a:cubicBezTo>
                  <a:cubicBezTo>
                    <a:pt x="33875" y="7429"/>
                    <a:pt x="51809" y="0"/>
                    <a:pt x="70510" y="0"/>
                  </a:cubicBezTo>
                  <a:close/>
                </a:path>
              </a:pathLst>
            </a:custGeom>
            <a:solidFill>
              <a:srgbClr val="5034C4">
                <a:alpha val="4706"/>
              </a:srgbClr>
            </a:solidFill>
          </p:spPr>
        </p:sp>
        <p:sp>
          <p:nvSpPr>
            <p:cNvPr id="10" name="TextBox 10"/>
            <p:cNvSpPr txBox="1"/>
            <p:nvPr/>
          </p:nvSpPr>
          <p:spPr>
            <a:xfrm>
              <a:off x="0" y="-38100"/>
              <a:ext cx="1301328" cy="1461324"/>
            </a:xfrm>
            <a:prstGeom prst="rect">
              <a:avLst/>
            </a:prstGeom>
          </p:spPr>
          <p:txBody>
            <a:bodyPr lIns="50800" tIns="50800" rIns="50800" bIns="50800" rtlCol="0" anchor="ctr"/>
            <a:lstStyle/>
            <a:p>
              <a:pPr algn="ctr">
                <a:lnSpc>
                  <a:spcPts val="2100"/>
                </a:lnSpc>
              </a:pPr>
            </a:p>
          </p:txBody>
        </p:sp>
      </p:grpSp>
      <p:sp>
        <p:nvSpPr>
          <p:cNvPr id="11" name="TextBox 11"/>
          <p:cNvSpPr txBox="1"/>
          <p:nvPr/>
        </p:nvSpPr>
        <p:spPr>
          <a:xfrm>
            <a:off x="1321958" y="4133026"/>
            <a:ext cx="4354464" cy="4696925"/>
          </a:xfrm>
          <a:prstGeom prst="rect">
            <a:avLst/>
          </a:prstGeom>
        </p:spPr>
        <p:txBody>
          <a:bodyPr lIns="0" tIns="0" rIns="0" bIns="0" rtlCol="0" anchor="t">
            <a:spAutoFit/>
          </a:bodyPr>
          <a:lstStyle/>
          <a:p>
            <a:pPr algn="just">
              <a:lnSpc>
                <a:spcPts val="4665"/>
              </a:lnSpc>
            </a:pPr>
            <a:r>
              <a:rPr lang="en-US" sz="3330">
                <a:solidFill>
                  <a:srgbClr val="5034C4"/>
                </a:solidFill>
                <a:latin typeface="Cabin" panose="00000500000000000000"/>
                <a:ea typeface="Cabin" panose="00000500000000000000"/>
                <a:cs typeface="Cabin" panose="00000500000000000000"/>
                <a:sym typeface="Cabin" panose="00000500000000000000"/>
              </a:rPr>
              <a:t>phương pháp tiếp cận để tăng cường sự tham gia của người dùng, đẩy nhanh quá trình phát triển và cải thiện chất lượng của các thông số kỹ thuật.</a:t>
            </a:r>
            <a:endParaRPr lang="en-US" sz="3330">
              <a:solidFill>
                <a:srgbClr val="5034C4"/>
              </a:solidFill>
              <a:latin typeface="Cabin" panose="00000500000000000000"/>
              <a:ea typeface="Cabin" panose="00000500000000000000"/>
              <a:cs typeface="Cabin" panose="00000500000000000000"/>
              <a:sym typeface="Cabin" panose="00000500000000000000"/>
            </a:endParaRPr>
          </a:p>
          <a:p>
            <a:pPr algn="just">
              <a:lnSpc>
                <a:spcPts val="4665"/>
              </a:lnSpc>
            </a:pPr>
          </a:p>
        </p:txBody>
      </p:sp>
      <p:sp>
        <p:nvSpPr>
          <p:cNvPr id="12" name="TextBox 12"/>
          <p:cNvSpPr txBox="1"/>
          <p:nvPr/>
        </p:nvSpPr>
        <p:spPr>
          <a:xfrm>
            <a:off x="1028700" y="1028700"/>
            <a:ext cx="13653657" cy="2114550"/>
          </a:xfrm>
          <a:prstGeom prst="rect">
            <a:avLst/>
          </a:prstGeom>
        </p:spPr>
        <p:txBody>
          <a:bodyPr lIns="0" tIns="0" rIns="0" bIns="0" rtlCol="0" anchor="t">
            <a:spAutoFit/>
          </a:bodyPr>
          <a:lstStyle/>
          <a:p>
            <a:pPr algn="l">
              <a:lnSpc>
                <a:spcPts val="8400"/>
              </a:lnSpc>
            </a:pPr>
            <a:r>
              <a:rPr lang="en-US" sz="7000" b="1">
                <a:solidFill>
                  <a:srgbClr val="5034C4"/>
                </a:solidFill>
                <a:latin typeface="Cabin Bold" panose="00000800000000000000"/>
                <a:ea typeface="Cabin Bold" panose="00000800000000000000"/>
                <a:cs typeface="Cabin Bold" panose="00000800000000000000"/>
                <a:sym typeface="Cabin Bold" panose="00000800000000000000"/>
              </a:rPr>
              <a:t>Dùng trong trường hợp nào</a:t>
            </a:r>
            <a:endParaRPr lang="en-US" sz="7000" b="1">
              <a:solidFill>
                <a:srgbClr val="5034C4"/>
              </a:solidFill>
              <a:latin typeface="Cabin Bold" panose="00000800000000000000"/>
              <a:ea typeface="Cabin Bold" panose="00000800000000000000"/>
              <a:cs typeface="Cabin Bold" panose="00000800000000000000"/>
              <a:sym typeface="Cabin Bold" panose="00000800000000000000"/>
            </a:endParaRPr>
          </a:p>
          <a:p>
            <a:pPr algn="l">
              <a:lnSpc>
                <a:spcPts val="8400"/>
              </a:lnSpc>
            </a:pPr>
          </a:p>
        </p:txBody>
      </p:sp>
      <p:sp>
        <p:nvSpPr>
          <p:cNvPr id="13" name="TextBox 13"/>
          <p:cNvSpPr txBox="1"/>
          <p:nvPr/>
        </p:nvSpPr>
        <p:spPr>
          <a:xfrm>
            <a:off x="6992637" y="3970825"/>
            <a:ext cx="4354464" cy="5287475"/>
          </a:xfrm>
          <a:prstGeom prst="rect">
            <a:avLst/>
          </a:prstGeom>
        </p:spPr>
        <p:txBody>
          <a:bodyPr lIns="0" tIns="0" rIns="0" bIns="0" rtlCol="0" anchor="t">
            <a:spAutoFit/>
          </a:bodyPr>
          <a:lstStyle/>
          <a:p>
            <a:pPr algn="just">
              <a:lnSpc>
                <a:spcPts val="4665"/>
              </a:lnSpc>
            </a:pPr>
            <a:r>
              <a:rPr lang="en-US" sz="3330">
                <a:solidFill>
                  <a:srgbClr val="5034C4"/>
                </a:solidFill>
                <a:latin typeface="Cabin" panose="00000500000000000000"/>
                <a:ea typeface="Cabin" panose="00000500000000000000"/>
                <a:cs typeface="Cabin" panose="00000500000000000000"/>
                <a:sym typeface="Cabin" panose="00000500000000000000"/>
              </a:rPr>
              <a:t>Một nghiên cứu trong ngành chỉ ra rằng JAD, khi được sử dụng kết hợp với các kỹ thuật cải tiến quy trình phần mềm khác, có thể góp phần ngăn ngừa lỗi phần mềm</a:t>
            </a:r>
            <a:endParaRPr lang="en-US" sz="3330">
              <a:solidFill>
                <a:srgbClr val="5034C4"/>
              </a:solidFill>
              <a:latin typeface="Cabin" panose="00000500000000000000"/>
              <a:ea typeface="Cabin" panose="00000500000000000000"/>
              <a:cs typeface="Cabin" panose="00000500000000000000"/>
              <a:sym typeface="Cabin" panose="00000500000000000000"/>
            </a:endParaRPr>
          </a:p>
          <a:p>
            <a:pPr algn="just">
              <a:lnSpc>
                <a:spcPts val="4665"/>
              </a:lnSpc>
            </a:pPr>
          </a:p>
        </p:txBody>
      </p:sp>
      <p:sp>
        <p:nvSpPr>
          <p:cNvPr id="14" name="TextBox 14"/>
          <p:cNvSpPr txBox="1"/>
          <p:nvPr/>
        </p:nvSpPr>
        <p:spPr>
          <a:xfrm>
            <a:off x="12663317" y="4133026"/>
            <a:ext cx="4354464" cy="4696925"/>
          </a:xfrm>
          <a:prstGeom prst="rect">
            <a:avLst/>
          </a:prstGeom>
        </p:spPr>
        <p:txBody>
          <a:bodyPr lIns="0" tIns="0" rIns="0" bIns="0" rtlCol="0" anchor="t">
            <a:spAutoFit/>
          </a:bodyPr>
          <a:lstStyle/>
          <a:p>
            <a:pPr algn="just">
              <a:lnSpc>
                <a:spcPts val="4665"/>
              </a:lnSpc>
            </a:pPr>
            <a:r>
              <a:rPr lang="en-US" sz="3330">
                <a:solidFill>
                  <a:srgbClr val="5034C4"/>
                </a:solidFill>
                <a:latin typeface="Cabin" panose="00000500000000000000"/>
                <a:ea typeface="Cabin" panose="00000500000000000000"/>
                <a:cs typeface="Cabin" panose="00000500000000000000"/>
                <a:sym typeface="Cabin" panose="00000500000000000000"/>
              </a:rPr>
              <a:t>Một tính năng chính của JAD là sử dụng một người dẫn chương trình được đào tạo về các kỹ thuật động lực nhóm để điều phối các buổi hội thảo </a:t>
            </a:r>
            <a:endParaRPr lang="en-US" sz="3330">
              <a:solidFill>
                <a:srgbClr val="5034C4"/>
              </a:solidFill>
              <a:latin typeface="Cabin" panose="00000500000000000000"/>
              <a:ea typeface="Cabin" panose="00000500000000000000"/>
              <a:cs typeface="Cabin" panose="00000500000000000000"/>
              <a:sym typeface="Cabin" panose="00000500000000000000"/>
            </a:endParaRPr>
          </a:p>
          <a:p>
            <a:pPr algn="just">
              <a:lnSpc>
                <a:spcPts val="4665"/>
              </a:lnSpc>
            </a:p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8812995" y="245476"/>
            <a:ext cx="9144000" cy="6491109"/>
          </a:xfrm>
          <a:prstGeom prst="rect">
            <a:avLst/>
          </a:prstGeom>
        </p:spPr>
        <p:txBody>
          <a:bodyPr lIns="0" tIns="0" rIns="0" bIns="0" rtlCol="0" anchor="t">
            <a:spAutoFit/>
          </a:bodyPr>
          <a:lstStyle/>
          <a:p>
            <a:pPr algn="just">
              <a:lnSpc>
                <a:spcPts val="4025"/>
              </a:lnSpc>
            </a:pPr>
            <a:r>
              <a:rPr lang="en-US" sz="2875" b="1" u="sng">
                <a:solidFill>
                  <a:srgbClr val="5034C4"/>
                </a:solidFill>
                <a:latin typeface="Cabin Bold" panose="00000800000000000000"/>
                <a:ea typeface="Cabin Bold" panose="00000800000000000000"/>
                <a:cs typeface="Cabin Bold" panose="00000800000000000000"/>
                <a:sym typeface="Cabin Bold" panose="00000800000000000000"/>
              </a:rPr>
              <a:t>1.CHUẨN BỊ</a:t>
            </a:r>
            <a:endParaRPr lang="en-US" sz="2875" b="1" u="sng">
              <a:solidFill>
                <a:srgbClr val="5034C4"/>
              </a:solidFill>
              <a:latin typeface="Cabin Bold" panose="00000800000000000000"/>
              <a:ea typeface="Cabin Bold" panose="00000800000000000000"/>
              <a:cs typeface="Cabin Bold" panose="00000800000000000000"/>
              <a:sym typeface="Cabin Bold" panose="00000800000000000000"/>
            </a:endParaRPr>
          </a:p>
          <a:p>
            <a:pPr algn="just">
              <a:lnSpc>
                <a:spcPts val="4025"/>
              </a:lnSpc>
            </a:pPr>
          </a:p>
          <a:p>
            <a:pPr algn="just">
              <a:lnSpc>
                <a:spcPts val="3735"/>
              </a:lnSpc>
            </a:pPr>
            <a:r>
              <a:rPr lang="en-US" sz="2665" b="1">
                <a:solidFill>
                  <a:srgbClr val="5034C4"/>
                </a:solidFill>
                <a:latin typeface="Cabin Bold" panose="00000800000000000000"/>
                <a:ea typeface="Cabin Bold" panose="00000800000000000000"/>
                <a:cs typeface="Cabin Bold" panose="00000800000000000000"/>
                <a:sym typeface="Cabin Bold" panose="00000800000000000000"/>
              </a:rPr>
              <a:t>· XÁC ĐỊNH MỤC TIÊU</a:t>
            </a:r>
            <a:r>
              <a:rPr lang="en-US" sz="2665">
                <a:solidFill>
                  <a:srgbClr val="5034C4"/>
                </a:solidFill>
                <a:latin typeface="Cabin" panose="00000500000000000000"/>
                <a:ea typeface="Cabin" panose="00000500000000000000"/>
                <a:cs typeface="Cabin" panose="00000500000000000000"/>
                <a:sym typeface="Cabin" panose="00000500000000000000"/>
              </a:rPr>
              <a:t>: RÕ RÀNG VỀ MỤC TIÊU CỦA DỰ ÁN VÀ CÁC VẤN ĐỀ CẦN GIẢI QUYẾT TRONG BUỔI HỘI THẢO JAD.</a:t>
            </a:r>
            <a:endParaRPr lang="en-US" sz="2665">
              <a:solidFill>
                <a:srgbClr val="5034C4"/>
              </a:solidFill>
              <a:latin typeface="Cabin" panose="00000500000000000000"/>
              <a:ea typeface="Cabin" panose="00000500000000000000"/>
              <a:cs typeface="Cabin" panose="00000500000000000000"/>
              <a:sym typeface="Cabin" panose="00000500000000000000"/>
            </a:endParaRPr>
          </a:p>
          <a:p>
            <a:pPr algn="just">
              <a:lnSpc>
                <a:spcPts val="3735"/>
              </a:lnSpc>
            </a:pPr>
            <a:r>
              <a:rPr lang="en-US" sz="2665" b="1">
                <a:solidFill>
                  <a:srgbClr val="5034C4"/>
                </a:solidFill>
                <a:latin typeface="Cabin Bold" panose="00000800000000000000"/>
                <a:ea typeface="Cabin Bold" panose="00000800000000000000"/>
                <a:cs typeface="Cabin Bold" panose="00000800000000000000"/>
                <a:sym typeface="Cabin Bold" panose="00000800000000000000"/>
              </a:rPr>
              <a:t>· CHỌN THÀNH VIÊN THAM GIA</a:t>
            </a:r>
            <a:r>
              <a:rPr lang="en-US" sz="2665">
                <a:solidFill>
                  <a:srgbClr val="5034C4"/>
                </a:solidFill>
                <a:latin typeface="Cabin" panose="00000500000000000000"/>
                <a:ea typeface="Cabin" panose="00000500000000000000"/>
                <a:cs typeface="Cabin" panose="00000500000000000000"/>
                <a:sym typeface="Cabin" panose="00000500000000000000"/>
              </a:rPr>
              <a:t>: BAO GỒM CÁC BÊN LIÊN QUAN CHÍNH (STAKEHOLDERS), NHÓM PHÁT TRIỂN, NGƯỜI DÙNG CUỐI VÀ NGƯỜI ĐIỀU PHỐI (FACILITATOR).</a:t>
            </a:r>
            <a:endParaRPr lang="en-US" sz="2665">
              <a:solidFill>
                <a:srgbClr val="5034C4"/>
              </a:solidFill>
              <a:latin typeface="Cabin" panose="00000500000000000000"/>
              <a:ea typeface="Cabin" panose="00000500000000000000"/>
              <a:cs typeface="Cabin" panose="00000500000000000000"/>
              <a:sym typeface="Cabin" panose="00000500000000000000"/>
            </a:endParaRPr>
          </a:p>
          <a:p>
            <a:pPr algn="just">
              <a:lnSpc>
                <a:spcPts val="3735"/>
              </a:lnSpc>
            </a:pPr>
            <a:r>
              <a:rPr lang="en-US" sz="2665" b="1">
                <a:solidFill>
                  <a:srgbClr val="5034C4"/>
                </a:solidFill>
                <a:latin typeface="Cabin Bold" panose="00000800000000000000"/>
                <a:ea typeface="Cabin Bold" panose="00000800000000000000"/>
                <a:cs typeface="Cabin Bold" panose="00000800000000000000"/>
                <a:sym typeface="Cabin Bold" panose="00000800000000000000"/>
              </a:rPr>
              <a:t>· LÊN KẾ HOẠCH</a:t>
            </a:r>
            <a:r>
              <a:rPr lang="en-US" sz="2665">
                <a:solidFill>
                  <a:srgbClr val="5034C4"/>
                </a:solidFill>
                <a:latin typeface="Cabin" panose="00000500000000000000"/>
                <a:ea typeface="Cabin" panose="00000500000000000000"/>
                <a:cs typeface="Cabin" panose="00000500000000000000"/>
                <a:sym typeface="Cabin" panose="00000500000000000000"/>
              </a:rPr>
              <a:t>: XÁC ĐỊNH THỜI GIAN, ĐỊA ĐIỂM, VÀ TÀI LIỆU CẦN THIẾT CHO BUỔI HỘI THẢO.</a:t>
            </a:r>
            <a:endParaRPr lang="en-US" sz="2665">
              <a:solidFill>
                <a:srgbClr val="5034C4"/>
              </a:solidFill>
              <a:latin typeface="Cabin" panose="00000500000000000000"/>
              <a:ea typeface="Cabin" panose="00000500000000000000"/>
              <a:cs typeface="Cabin" panose="00000500000000000000"/>
              <a:sym typeface="Cabin" panose="00000500000000000000"/>
            </a:endParaRPr>
          </a:p>
          <a:p>
            <a:pPr algn="just">
              <a:lnSpc>
                <a:spcPts val="3735"/>
              </a:lnSpc>
            </a:pPr>
            <a:r>
              <a:rPr lang="en-US" sz="2665" b="1">
                <a:solidFill>
                  <a:srgbClr val="5034C4"/>
                </a:solidFill>
                <a:latin typeface="Cabin Bold" panose="00000800000000000000"/>
                <a:ea typeface="Cabin Bold" panose="00000800000000000000"/>
                <a:cs typeface="Cabin Bold" panose="00000800000000000000"/>
                <a:sym typeface="Cabin Bold" panose="00000800000000000000"/>
              </a:rPr>
              <a:t>CHUẨN BỊ TÀI LIỆU</a:t>
            </a:r>
            <a:r>
              <a:rPr lang="en-US" sz="2665">
                <a:solidFill>
                  <a:srgbClr val="5034C4"/>
                </a:solidFill>
                <a:latin typeface="Cabin" panose="00000500000000000000"/>
                <a:ea typeface="Cabin" panose="00000500000000000000"/>
                <a:cs typeface="Cabin" panose="00000500000000000000"/>
                <a:sym typeface="Cabin" panose="00000500000000000000"/>
              </a:rPr>
              <a:t>: CHUẨN BỊ CÁC TÀI LIỆU LIÊN QUAN NHƯ YÊU CẦU DỰ ÁN, BẢN MÔ TẢ SƠ BỘ HỆ THỐNG, CÁC CÂU HỎI CẦN THẢO LUẬN.</a:t>
            </a:r>
            <a:endParaRPr lang="en-US" sz="2665">
              <a:solidFill>
                <a:srgbClr val="5034C4"/>
              </a:solidFill>
              <a:latin typeface="Cabin" panose="00000500000000000000"/>
              <a:ea typeface="Cabin" panose="00000500000000000000"/>
              <a:cs typeface="Cabin" panose="00000500000000000000"/>
              <a:sym typeface="Cabin" panose="00000500000000000000"/>
            </a:endParaRPr>
          </a:p>
          <a:p>
            <a:pPr algn="just">
              <a:lnSpc>
                <a:spcPts val="2820"/>
              </a:lnSpc>
            </a:pPr>
          </a:p>
        </p:txBody>
      </p:sp>
      <p:sp>
        <p:nvSpPr>
          <p:cNvPr id="3" name="TextBox 3"/>
          <p:cNvSpPr txBox="1"/>
          <p:nvPr/>
        </p:nvSpPr>
        <p:spPr>
          <a:xfrm>
            <a:off x="8812995" y="6717527"/>
            <a:ext cx="9144000" cy="3116135"/>
          </a:xfrm>
          <a:prstGeom prst="rect">
            <a:avLst/>
          </a:prstGeom>
        </p:spPr>
        <p:txBody>
          <a:bodyPr lIns="0" tIns="0" rIns="0" bIns="0" rtlCol="0" anchor="t">
            <a:spAutoFit/>
          </a:bodyPr>
          <a:lstStyle/>
          <a:p>
            <a:pPr algn="just">
              <a:lnSpc>
                <a:spcPts val="3595"/>
              </a:lnSpc>
            </a:pPr>
            <a:r>
              <a:rPr lang="en-US" sz="2565" b="1" u="sng">
                <a:solidFill>
                  <a:srgbClr val="5034C4"/>
                </a:solidFill>
                <a:latin typeface="Cabin Bold" panose="00000800000000000000"/>
                <a:ea typeface="Cabin Bold" panose="00000800000000000000"/>
                <a:cs typeface="Cabin Bold" panose="00000800000000000000"/>
                <a:sym typeface="Cabin Bold" panose="00000800000000000000"/>
              </a:rPr>
              <a:t>2. HỌP ĐỊNH HƯỚNG (KICK-OFF)</a:t>
            </a:r>
            <a:endParaRPr lang="en-US" sz="2565" b="1" u="sng">
              <a:solidFill>
                <a:srgbClr val="5034C4"/>
              </a:solidFill>
              <a:latin typeface="Cabin Bold" panose="00000800000000000000"/>
              <a:ea typeface="Cabin Bold" panose="00000800000000000000"/>
              <a:cs typeface="Cabin Bold" panose="00000800000000000000"/>
              <a:sym typeface="Cabin Bold" panose="00000800000000000000"/>
            </a:endParaRPr>
          </a:p>
          <a:p>
            <a:pPr algn="just">
              <a:lnSpc>
                <a:spcPts val="3595"/>
              </a:lnSpc>
            </a:pPr>
          </a:p>
          <a:p>
            <a:pPr algn="just">
              <a:lnSpc>
                <a:spcPts val="3595"/>
              </a:lnSpc>
            </a:pPr>
            <a:r>
              <a:rPr lang="en-US" sz="2565">
                <a:solidFill>
                  <a:srgbClr val="5034C4"/>
                </a:solidFill>
                <a:latin typeface="Cabin" panose="00000500000000000000"/>
                <a:ea typeface="Cabin" panose="00000500000000000000"/>
                <a:cs typeface="Cabin" panose="00000500000000000000"/>
                <a:sym typeface="Cabin" panose="00000500000000000000"/>
              </a:rPr>
              <a:t>· NGƯỜI ĐIỀU PHỐI GIỚI THIỆU VỀ QUY TRÌNH JAD VÀ VAI TRÒ CỦA TỪNG THÀNH VIÊN.</a:t>
            </a:r>
            <a:endParaRPr lang="en-US" sz="2565">
              <a:solidFill>
                <a:srgbClr val="5034C4"/>
              </a:solidFill>
              <a:latin typeface="Cabin" panose="00000500000000000000"/>
              <a:ea typeface="Cabin" panose="00000500000000000000"/>
              <a:cs typeface="Cabin" panose="00000500000000000000"/>
              <a:sym typeface="Cabin" panose="00000500000000000000"/>
            </a:endParaRPr>
          </a:p>
          <a:p>
            <a:pPr algn="just">
              <a:lnSpc>
                <a:spcPts val="3595"/>
              </a:lnSpc>
            </a:pPr>
            <a:r>
              <a:rPr lang="en-US" sz="2565">
                <a:solidFill>
                  <a:srgbClr val="5034C4"/>
                </a:solidFill>
                <a:latin typeface="Cabin" panose="00000500000000000000"/>
                <a:ea typeface="Cabin" panose="00000500000000000000"/>
                <a:cs typeface="Cabin" panose="00000500000000000000"/>
                <a:sym typeface="Cabin" panose="00000500000000000000"/>
              </a:rPr>
              <a:t>· XÁC ĐỊNH CÁC MỤC TIÊU CHÍNH VÀ CÁC VẤN ĐỀ CẦN THẢO LUẬN TRONG BUỔI JAD.</a:t>
            </a:r>
            <a:endParaRPr lang="en-US" sz="2565">
              <a:solidFill>
                <a:srgbClr val="5034C4"/>
              </a:solidFill>
              <a:latin typeface="Cabin" panose="00000500000000000000"/>
              <a:ea typeface="Cabin" panose="00000500000000000000"/>
              <a:cs typeface="Cabin" panose="00000500000000000000"/>
              <a:sym typeface="Cabin" panose="00000500000000000000"/>
            </a:endParaRPr>
          </a:p>
          <a:p>
            <a:pPr algn="just">
              <a:lnSpc>
                <a:spcPts val="3595"/>
              </a:lnSpc>
            </a:pPr>
          </a:p>
        </p:txBody>
      </p:sp>
      <p:grpSp>
        <p:nvGrpSpPr>
          <p:cNvPr id="4" name="Group 4"/>
          <p:cNvGrpSpPr/>
          <p:nvPr/>
        </p:nvGrpSpPr>
        <p:grpSpPr>
          <a:xfrm rot="0">
            <a:off x="1028700" y="1028700"/>
            <a:ext cx="6914997" cy="8229600"/>
            <a:chOff x="0" y="0"/>
            <a:chExt cx="1821234" cy="2167467"/>
          </a:xfrm>
        </p:grpSpPr>
        <p:sp>
          <p:nvSpPr>
            <p:cNvPr id="5" name="Freeform 5"/>
            <p:cNvSpPr/>
            <p:nvPr/>
          </p:nvSpPr>
          <p:spPr>
            <a:xfrm>
              <a:off x="0" y="0"/>
              <a:ext cx="1821234" cy="2167467"/>
            </a:xfrm>
            <a:custGeom>
              <a:avLst/>
              <a:gdLst/>
              <a:ahLst/>
              <a:cxnLst/>
              <a:rect l="l" t="t" r="r" b="b"/>
              <a:pathLst>
                <a:path w="1821234" h="2167467">
                  <a:moveTo>
                    <a:pt x="50381" y="0"/>
                  </a:moveTo>
                  <a:lnTo>
                    <a:pt x="1770853" y="0"/>
                  </a:lnTo>
                  <a:cubicBezTo>
                    <a:pt x="1784215" y="0"/>
                    <a:pt x="1797029" y="5308"/>
                    <a:pt x="1806478" y="14756"/>
                  </a:cubicBezTo>
                  <a:cubicBezTo>
                    <a:pt x="1815926" y="24205"/>
                    <a:pt x="1821234" y="37019"/>
                    <a:pt x="1821234" y="50381"/>
                  </a:cubicBezTo>
                  <a:lnTo>
                    <a:pt x="1821234" y="2117086"/>
                  </a:lnTo>
                  <a:cubicBezTo>
                    <a:pt x="1821234" y="2130447"/>
                    <a:pt x="1815926" y="2143262"/>
                    <a:pt x="1806478" y="2152710"/>
                  </a:cubicBezTo>
                  <a:cubicBezTo>
                    <a:pt x="1797029" y="2162159"/>
                    <a:pt x="1784215" y="2167467"/>
                    <a:pt x="1770853" y="2167467"/>
                  </a:cubicBezTo>
                  <a:lnTo>
                    <a:pt x="50381" y="2167467"/>
                  </a:lnTo>
                  <a:cubicBezTo>
                    <a:pt x="37019" y="2167467"/>
                    <a:pt x="24205" y="2162159"/>
                    <a:pt x="14756" y="2152710"/>
                  </a:cubicBezTo>
                  <a:cubicBezTo>
                    <a:pt x="5308" y="2143262"/>
                    <a:pt x="0" y="2130447"/>
                    <a:pt x="0" y="2117086"/>
                  </a:cubicBezTo>
                  <a:lnTo>
                    <a:pt x="0" y="50381"/>
                  </a:lnTo>
                  <a:cubicBezTo>
                    <a:pt x="0" y="37019"/>
                    <a:pt x="5308" y="24205"/>
                    <a:pt x="14756" y="14756"/>
                  </a:cubicBezTo>
                  <a:cubicBezTo>
                    <a:pt x="24205" y="5308"/>
                    <a:pt x="37019" y="0"/>
                    <a:pt x="50381" y="0"/>
                  </a:cubicBezTo>
                  <a:close/>
                </a:path>
              </a:pathLst>
            </a:custGeom>
            <a:solidFill>
              <a:srgbClr val="5034C4">
                <a:alpha val="4706"/>
              </a:srgbClr>
            </a:solidFill>
          </p:spPr>
        </p:sp>
        <p:sp>
          <p:nvSpPr>
            <p:cNvPr id="6" name="TextBox 6"/>
            <p:cNvSpPr txBox="1"/>
            <p:nvPr/>
          </p:nvSpPr>
          <p:spPr>
            <a:xfrm>
              <a:off x="0" y="-38100"/>
              <a:ext cx="1821234" cy="2205567"/>
            </a:xfrm>
            <a:prstGeom prst="rect">
              <a:avLst/>
            </a:prstGeom>
          </p:spPr>
          <p:txBody>
            <a:bodyPr lIns="50800" tIns="50800" rIns="50800" bIns="50800" rtlCol="0" anchor="ctr"/>
            <a:lstStyle/>
            <a:p>
              <a:pPr algn="ctr">
                <a:lnSpc>
                  <a:spcPts val="2100"/>
                </a:lnSpc>
              </a:pPr>
            </a:p>
          </p:txBody>
        </p:sp>
      </p:grpSp>
      <p:sp>
        <p:nvSpPr>
          <p:cNvPr id="7" name="TextBox 7"/>
          <p:cNvSpPr txBox="1"/>
          <p:nvPr/>
        </p:nvSpPr>
        <p:spPr>
          <a:xfrm>
            <a:off x="1060205" y="4050714"/>
            <a:ext cx="6883493" cy="2416603"/>
          </a:xfrm>
          <a:prstGeom prst="rect">
            <a:avLst/>
          </a:prstGeom>
        </p:spPr>
        <p:txBody>
          <a:bodyPr lIns="0" tIns="0" rIns="0" bIns="0" rtlCol="0" anchor="t">
            <a:spAutoFit/>
          </a:bodyPr>
          <a:lstStyle/>
          <a:p>
            <a:pPr algn="l">
              <a:lnSpc>
                <a:spcPts val="9505"/>
              </a:lnSpc>
            </a:pPr>
            <a:r>
              <a:rPr lang="en-US" sz="7920" b="1">
                <a:solidFill>
                  <a:srgbClr val="5034C4"/>
                </a:solidFill>
                <a:latin typeface="Cabin Bold" panose="00000800000000000000"/>
                <a:ea typeface="Cabin Bold" panose="00000800000000000000"/>
                <a:cs typeface="Cabin Bold" panose="00000800000000000000"/>
                <a:sym typeface="Cabin Bold" panose="00000800000000000000"/>
              </a:rPr>
              <a:t>Cách tiến hành</a:t>
            </a:r>
            <a:endParaRPr lang="en-US" sz="7920" b="1">
              <a:solidFill>
                <a:srgbClr val="5034C4"/>
              </a:solidFill>
              <a:latin typeface="Cabin Bold" panose="00000800000000000000"/>
              <a:ea typeface="Cabin Bold" panose="00000800000000000000"/>
              <a:cs typeface="Cabin Bold" panose="00000800000000000000"/>
              <a:sym typeface="Cabin Bold" panose="00000800000000000000"/>
            </a:endParaRPr>
          </a:p>
          <a:p>
            <a:pPr algn="l">
              <a:lnSpc>
                <a:spcPts val="9505"/>
              </a:lnSpc>
            </a:p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0" y="3157586"/>
            <a:ext cx="18288000" cy="7129414"/>
            <a:chOff x="0" y="0"/>
            <a:chExt cx="4816593" cy="1877706"/>
          </a:xfrm>
        </p:grpSpPr>
        <p:sp>
          <p:nvSpPr>
            <p:cNvPr id="3" name="Freeform 3"/>
            <p:cNvSpPr/>
            <p:nvPr/>
          </p:nvSpPr>
          <p:spPr>
            <a:xfrm>
              <a:off x="0" y="0"/>
              <a:ext cx="4816592" cy="1877706"/>
            </a:xfrm>
            <a:custGeom>
              <a:avLst/>
              <a:gdLst/>
              <a:ahLst/>
              <a:cxnLst/>
              <a:rect l="l" t="t" r="r" b="b"/>
              <a:pathLst>
                <a:path w="4816592" h="1877706">
                  <a:moveTo>
                    <a:pt x="0" y="0"/>
                  </a:moveTo>
                  <a:lnTo>
                    <a:pt x="4816592" y="0"/>
                  </a:lnTo>
                  <a:lnTo>
                    <a:pt x="4816592" y="1877706"/>
                  </a:lnTo>
                  <a:lnTo>
                    <a:pt x="0" y="1877706"/>
                  </a:lnTo>
                  <a:close/>
                </a:path>
              </a:pathLst>
            </a:custGeom>
            <a:solidFill>
              <a:srgbClr val="5034C4">
                <a:alpha val="4706"/>
              </a:srgbClr>
            </a:solidFill>
          </p:spPr>
        </p:sp>
        <p:sp>
          <p:nvSpPr>
            <p:cNvPr id="4" name="TextBox 4"/>
            <p:cNvSpPr txBox="1"/>
            <p:nvPr/>
          </p:nvSpPr>
          <p:spPr>
            <a:xfrm>
              <a:off x="0" y="-38100"/>
              <a:ext cx="4816593" cy="1915806"/>
            </a:xfrm>
            <a:prstGeom prst="rect">
              <a:avLst/>
            </a:prstGeom>
          </p:spPr>
          <p:txBody>
            <a:bodyPr lIns="50800" tIns="50800" rIns="50800" bIns="50800" rtlCol="0" anchor="ctr"/>
            <a:lstStyle/>
            <a:p>
              <a:pPr algn="ctr">
                <a:lnSpc>
                  <a:spcPts val="2100"/>
                </a:lnSpc>
              </a:pPr>
            </a:p>
          </p:txBody>
        </p:sp>
      </p:grpSp>
      <p:sp>
        <p:nvSpPr>
          <p:cNvPr id="5" name="Freeform 5"/>
          <p:cNvSpPr/>
          <p:nvPr/>
        </p:nvSpPr>
        <p:spPr>
          <a:xfrm>
            <a:off x="1028700" y="3942151"/>
            <a:ext cx="4761624" cy="5560283"/>
          </a:xfrm>
          <a:custGeom>
            <a:avLst/>
            <a:gdLst/>
            <a:ahLst/>
            <a:cxnLst/>
            <a:rect l="l" t="t" r="r" b="b"/>
            <a:pathLst>
              <a:path w="4761624" h="5560283">
                <a:moveTo>
                  <a:pt x="0" y="0"/>
                </a:moveTo>
                <a:lnTo>
                  <a:pt x="4761624" y="0"/>
                </a:lnTo>
                <a:lnTo>
                  <a:pt x="4761624" y="5560284"/>
                </a:lnTo>
                <a:lnTo>
                  <a:pt x="0" y="5560284"/>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6" name="TextBox 6"/>
          <p:cNvSpPr txBox="1"/>
          <p:nvPr/>
        </p:nvSpPr>
        <p:spPr>
          <a:xfrm>
            <a:off x="2191853" y="1093200"/>
            <a:ext cx="13904295" cy="771476"/>
          </a:xfrm>
          <a:prstGeom prst="rect">
            <a:avLst/>
          </a:prstGeom>
        </p:spPr>
        <p:txBody>
          <a:bodyPr lIns="0" tIns="0" rIns="0" bIns="0" rtlCol="0" anchor="t">
            <a:spAutoFit/>
          </a:bodyPr>
          <a:lstStyle/>
          <a:p>
            <a:pPr algn="ctr">
              <a:lnSpc>
                <a:spcPts val="6300"/>
              </a:lnSpc>
            </a:pPr>
            <a:r>
              <a:rPr lang="en-US" sz="4500" b="1">
                <a:solidFill>
                  <a:srgbClr val="5034C4"/>
                </a:solidFill>
                <a:latin typeface="Cabin Bold" panose="00000800000000000000"/>
                <a:ea typeface="Cabin Bold" panose="00000800000000000000"/>
                <a:cs typeface="Cabin Bold" panose="00000800000000000000"/>
                <a:sym typeface="Cabin Bold" panose="00000800000000000000"/>
              </a:rPr>
              <a:t>3. Thực hiện hội thảo JAD</a:t>
            </a:r>
            <a:endParaRPr lang="en-US" sz="4500" b="1">
              <a:solidFill>
                <a:srgbClr val="5034C4"/>
              </a:solidFill>
              <a:latin typeface="Cabin Bold" panose="00000800000000000000"/>
              <a:ea typeface="Cabin Bold" panose="00000800000000000000"/>
              <a:cs typeface="Cabin Bold" panose="00000800000000000000"/>
              <a:sym typeface="Cabin Bold" panose="00000800000000000000"/>
            </a:endParaRPr>
          </a:p>
        </p:txBody>
      </p:sp>
      <p:graphicFrame>
        <p:nvGraphicFramePr>
          <p:cNvPr id="7" name="Table 7"/>
          <p:cNvGraphicFramePr>
            <a:graphicFrameLocks noGrp="1"/>
          </p:cNvGraphicFramePr>
          <p:nvPr>
            <p:custDataLst>
              <p:tags r:id="rId3"/>
            </p:custDataLst>
          </p:nvPr>
        </p:nvGraphicFramePr>
        <p:xfrm>
          <a:off x="6493510" y="3298190"/>
          <a:ext cx="10946130" cy="6974205"/>
        </p:xfrm>
        <a:graphic>
          <a:graphicData uri="http://schemas.openxmlformats.org/drawingml/2006/table">
            <a:tbl>
              <a:tblPr/>
              <a:tblGrid>
                <a:gridCol w="1140460"/>
                <a:gridCol w="9805670"/>
              </a:tblGrid>
              <a:tr h="2230755">
                <a:tc>
                  <a:txBody>
                    <a:bodyPr rtlCol="0"/>
                    <a:lstStyle/>
                    <a:p>
                      <a:pPr algn="r">
                        <a:lnSpc>
                          <a:spcPts val="3780"/>
                        </a:lnSpc>
                        <a:defRPr/>
                      </a:pPr>
                      <a:r>
                        <a:rPr lang="en-US" sz="2700" b="1">
                          <a:solidFill>
                            <a:srgbClr val="7AC7CF"/>
                          </a:solidFill>
                          <a:latin typeface="Cabin Bold" panose="00000800000000000000"/>
                          <a:ea typeface="Cabin Bold" panose="00000800000000000000"/>
                          <a:cs typeface="Cabin Bold" panose="00000800000000000000"/>
                          <a:sym typeface="Cabin Bold" panose="00000800000000000000"/>
                        </a:rPr>
                        <a:t>01</a:t>
                      </a:r>
                      <a:endParaRPr lang="en-US" sz="1100"/>
                    </a:p>
                  </a:txBody>
                  <a:tcPr marL="190500" marR="190500" marT="190500" marB="190500" anchor="t">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rtlCol="0"/>
                    <a:lstStyle/>
                    <a:p>
                      <a:pPr algn="just">
                        <a:lnSpc>
                          <a:spcPts val="4200"/>
                        </a:lnSpc>
                        <a:defRPr/>
                      </a:pPr>
                      <a:r>
                        <a:rPr lang="en-US" sz="2400">
                          <a:solidFill>
                            <a:srgbClr val="5034C4"/>
                          </a:solidFill>
                          <a:latin typeface="Cabin" panose="00000500000000000000"/>
                          <a:ea typeface="Cabin" panose="00000500000000000000"/>
                          <a:cs typeface="Cabin" panose="00000500000000000000"/>
                          <a:sym typeface="Cabin" panose="00000500000000000000"/>
                        </a:rPr>
                        <a:t>Thu thập yêu cầu: Người dùng và các bên liên quan cùng thảo luận về nhu cầu và yêu cầu cụ thể của hệ thống. Đây là giai đoạn để nhóm phát triển hiểu rõ những gì người dùng mong muốn.</a:t>
                      </a:r>
                      <a:endParaRPr lang="en-US" sz="2400"/>
                    </a:p>
                    <a:p>
                      <a:pPr algn="just">
                        <a:lnSpc>
                          <a:spcPts val="4200"/>
                        </a:lnSpc>
                      </a:pPr>
                      <a:endParaRPr lang="en-US" sz="2400"/>
                    </a:p>
                  </a:txBody>
                  <a:tcPr marL="190500" marR="190500" marT="190500" marB="190500" anchor="t">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r>
              <a:tr h="2462530">
                <a:tc>
                  <a:txBody>
                    <a:bodyPr rtlCol="0"/>
                    <a:lstStyle/>
                    <a:p>
                      <a:pPr algn="r">
                        <a:lnSpc>
                          <a:spcPts val="3780"/>
                        </a:lnSpc>
                        <a:defRPr/>
                      </a:pPr>
                      <a:r>
                        <a:rPr lang="en-US" sz="2700" b="1">
                          <a:solidFill>
                            <a:srgbClr val="7AC7CF"/>
                          </a:solidFill>
                          <a:latin typeface="Cabin Bold" panose="00000800000000000000"/>
                          <a:ea typeface="Cabin Bold" panose="00000800000000000000"/>
                          <a:cs typeface="Cabin Bold" panose="00000800000000000000"/>
                          <a:sym typeface="Cabin Bold" panose="00000800000000000000"/>
                        </a:rPr>
                        <a:t>02</a:t>
                      </a:r>
                      <a:endParaRPr lang="en-US" sz="1100"/>
                    </a:p>
                  </a:txBody>
                  <a:tcPr marL="190500" marR="190500" marT="190500" marB="190500" anchor="t">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rtlCol="0"/>
                    <a:lstStyle/>
                    <a:p>
                      <a:pPr algn="just">
                        <a:lnSpc>
                          <a:spcPts val="4060"/>
                        </a:lnSpc>
                        <a:defRPr/>
                      </a:pPr>
                      <a:r>
                        <a:rPr lang="en-US" sz="2400">
                          <a:solidFill>
                            <a:srgbClr val="5034C4"/>
                          </a:solidFill>
                          <a:latin typeface="Cabin" panose="00000500000000000000"/>
                          <a:ea typeface="Cabin" panose="00000500000000000000"/>
                          <a:cs typeface="Cabin" panose="00000500000000000000"/>
                          <a:sym typeface="Cabin" panose="00000500000000000000"/>
                        </a:rPr>
                        <a:t>Xây dựng mô hình: Cùng nhau phát thảo các mô hình hoặc sơ đồ liên quan đến hệ thống, ví dụ như sơ đồ quy trình nghiệp vụ, sơ đồ chức năng, hoặc bản phác thảo giao diện người dùng.</a:t>
                      </a:r>
                      <a:endParaRPr lang="en-US" sz="2400"/>
                    </a:p>
                    <a:p>
                      <a:pPr algn="just">
                        <a:lnSpc>
                          <a:spcPts val="4060"/>
                        </a:lnSpc>
                      </a:pPr>
                      <a:endParaRPr lang="en-US" sz="2400"/>
                    </a:p>
                  </a:txBody>
                  <a:tcPr marL="190500" marR="190500" marT="190500" marB="190500" anchor="t">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r>
              <a:tr h="1997075">
                <a:tc>
                  <a:txBody>
                    <a:bodyPr rtlCol="0"/>
                    <a:lstStyle/>
                    <a:p>
                      <a:pPr algn="r">
                        <a:lnSpc>
                          <a:spcPts val="3780"/>
                        </a:lnSpc>
                        <a:defRPr/>
                      </a:pPr>
                      <a:r>
                        <a:rPr lang="en-US" sz="2700" b="1">
                          <a:solidFill>
                            <a:srgbClr val="7AC7CF"/>
                          </a:solidFill>
                          <a:latin typeface="Cabin Bold" panose="00000800000000000000"/>
                          <a:ea typeface="Cabin Bold" panose="00000800000000000000"/>
                          <a:cs typeface="Cabin Bold" panose="00000800000000000000"/>
                          <a:sym typeface="Cabin Bold" panose="00000800000000000000"/>
                        </a:rPr>
                        <a:t>03</a:t>
                      </a:r>
                      <a:endParaRPr lang="en-US" sz="1100"/>
                    </a:p>
                  </a:txBody>
                  <a:tcPr marL="190500" marR="190500" marT="190500" marB="190500" anchor="t">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rtlCol="0"/>
                    <a:lstStyle/>
                    <a:p>
                      <a:pPr algn="just">
                        <a:lnSpc>
                          <a:spcPts val="4200"/>
                        </a:lnSpc>
                        <a:defRPr/>
                      </a:pPr>
                      <a:r>
                        <a:rPr lang="en-US" sz="2400">
                          <a:solidFill>
                            <a:srgbClr val="5034C4"/>
                          </a:solidFill>
                          <a:latin typeface="Cabin" panose="00000500000000000000"/>
                          <a:ea typeface="Cabin" panose="00000500000000000000"/>
                          <a:cs typeface="Cabin" panose="00000500000000000000"/>
                          <a:sym typeface="Cabin" panose="00000500000000000000"/>
                        </a:rPr>
                        <a:t>· Đánh giá và điều chỉnh: Trong quá trình thảo luận, các yêu cầu có thể được điều chỉnh hoặc bổ sung cho phù hợp hơn với thực tế.</a:t>
                      </a:r>
                      <a:endParaRPr lang="en-US" sz="2400"/>
                    </a:p>
                    <a:p>
                      <a:pPr algn="just">
                        <a:lnSpc>
                          <a:spcPts val="4200"/>
                        </a:lnSpc>
                      </a:pPr>
                      <a:endParaRPr lang="en-US" sz="2400"/>
                    </a:p>
                  </a:txBody>
                  <a:tcPr marL="190500" marR="190500" marT="190500" marB="190500" anchor="t">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r>
            </a:tbl>
          </a:graphicData>
        </a:graphic>
      </p:graphicFrame>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l="-29226" b="-53157"/>
            </a:stretch>
          </a:blipFill>
        </p:spPr>
      </p:sp>
      <p:sp>
        <p:nvSpPr>
          <p:cNvPr id="3" name="TextBox 3"/>
          <p:cNvSpPr txBox="1"/>
          <p:nvPr/>
        </p:nvSpPr>
        <p:spPr>
          <a:xfrm>
            <a:off x="1924083" y="2138045"/>
            <a:ext cx="14439834" cy="5906135"/>
          </a:xfrm>
          <a:prstGeom prst="rect">
            <a:avLst/>
          </a:prstGeom>
        </p:spPr>
        <p:txBody>
          <a:bodyPr lIns="0" tIns="0" rIns="0" bIns="0" rtlCol="0" anchor="t">
            <a:spAutoFit/>
          </a:bodyPr>
          <a:lstStyle/>
          <a:p>
            <a:pPr algn="just">
              <a:lnSpc>
                <a:spcPts val="7840"/>
              </a:lnSpc>
            </a:pPr>
            <a:r>
              <a:rPr lang="en-US" sz="5600" b="1">
                <a:solidFill>
                  <a:srgbClr val="FFFFFF"/>
                </a:solidFill>
                <a:latin typeface="Cabin Bold" panose="00000800000000000000"/>
                <a:ea typeface="Cabin Bold" panose="00000800000000000000"/>
                <a:cs typeface="Cabin Bold" panose="00000800000000000000"/>
                <a:sym typeface="Cabin Bold" panose="00000800000000000000"/>
              </a:rPr>
              <a:t>4. Tài liệu hóa yêu cầu</a:t>
            </a:r>
            <a:endParaRPr lang="en-US" sz="5600" b="1">
              <a:solidFill>
                <a:srgbClr val="FFFFFF"/>
              </a:solidFill>
              <a:latin typeface="Cabin Bold" panose="00000800000000000000"/>
              <a:ea typeface="Cabin Bold" panose="00000800000000000000"/>
              <a:cs typeface="Cabin Bold" panose="00000800000000000000"/>
              <a:sym typeface="Cabin Bold" panose="00000800000000000000"/>
            </a:endParaRPr>
          </a:p>
          <a:p>
            <a:pPr algn="just">
              <a:lnSpc>
                <a:spcPts val="7840"/>
              </a:lnSpc>
            </a:pPr>
            <a:r>
              <a:rPr lang="en-US" sz="5600" b="1">
                <a:solidFill>
                  <a:srgbClr val="C3EBEF"/>
                </a:solidFill>
                <a:latin typeface="Cabin Bold" panose="00000800000000000000"/>
                <a:ea typeface="Cabin Bold" panose="00000800000000000000"/>
                <a:cs typeface="Cabin Bold" panose="00000800000000000000"/>
                <a:sym typeface="Cabin Bold" panose="00000800000000000000"/>
              </a:rPr>
              <a:t>· Sau buổi hội thảo, nhóm phát triển cần ghi lại các yêu cầu và mô hình đã thống nhất.</a:t>
            </a:r>
            <a:endParaRPr lang="en-US" sz="5600" b="1">
              <a:solidFill>
                <a:srgbClr val="C3EBEF"/>
              </a:solidFill>
              <a:latin typeface="Cabin Bold" panose="00000800000000000000"/>
              <a:ea typeface="Cabin Bold" panose="00000800000000000000"/>
              <a:cs typeface="Cabin Bold" panose="00000800000000000000"/>
              <a:sym typeface="Cabin Bold" panose="00000800000000000000"/>
            </a:endParaRPr>
          </a:p>
          <a:p>
            <a:pPr algn="just">
              <a:lnSpc>
                <a:spcPts val="7840"/>
              </a:lnSpc>
            </a:pPr>
            <a:r>
              <a:rPr lang="en-US" sz="5600" b="1">
                <a:solidFill>
                  <a:srgbClr val="C3EBEF"/>
                </a:solidFill>
                <a:latin typeface="Cabin Bold" panose="00000800000000000000"/>
                <a:ea typeface="Cabin Bold" panose="00000800000000000000"/>
                <a:cs typeface="Cabin Bold" panose="00000800000000000000"/>
                <a:sym typeface="Cabin Bold" panose="00000800000000000000"/>
              </a:rPr>
              <a:t>-Tài liệu cần được gửi lại cho tất cả các bên tham gia để xác nhận tính chính xác và đầy đủ.</a:t>
            </a:r>
            <a:endParaRPr lang="en-US" sz="5600" b="1">
              <a:solidFill>
                <a:srgbClr val="C3EBEF"/>
              </a:solidFill>
              <a:latin typeface="Cabin Bold" panose="00000800000000000000"/>
              <a:ea typeface="Cabin Bold" panose="00000800000000000000"/>
              <a:cs typeface="Cabin Bold" panose="00000800000000000000"/>
              <a:sym typeface="Cabin Bold" panose="00000800000000000000"/>
            </a:endParaRPr>
          </a:p>
          <a:p>
            <a:pPr algn="just">
              <a:lnSpc>
                <a:spcPts val="7840"/>
              </a:lnSpc>
            </a:p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5034C4"/>
        </a:solidFill>
        <a:effectLst/>
      </p:bgPr>
    </p:bg>
    <p:spTree>
      <p:nvGrpSpPr>
        <p:cNvPr id="1" name=""/>
        <p:cNvGrpSpPr/>
        <p:nvPr/>
      </p:nvGrpSpPr>
      <p:grpSpPr>
        <a:xfrm>
          <a:off x="0" y="0"/>
          <a:ext cx="0" cy="0"/>
          <a:chOff x="0" y="0"/>
          <a:chExt cx="0" cy="0"/>
        </a:xfrm>
      </p:grpSpPr>
      <p:grpSp>
        <p:nvGrpSpPr>
          <p:cNvPr id="2" name="Group 2"/>
          <p:cNvGrpSpPr/>
          <p:nvPr/>
        </p:nvGrpSpPr>
        <p:grpSpPr>
          <a:xfrm rot="7250774">
            <a:off x="1213903" y="-2596792"/>
            <a:ext cx="11166320" cy="21899658"/>
            <a:chOff x="0" y="0"/>
            <a:chExt cx="2940924" cy="5767811"/>
          </a:xfrm>
        </p:grpSpPr>
        <p:sp>
          <p:nvSpPr>
            <p:cNvPr id="3" name="Freeform 3"/>
            <p:cNvSpPr/>
            <p:nvPr/>
          </p:nvSpPr>
          <p:spPr>
            <a:xfrm>
              <a:off x="0" y="0"/>
              <a:ext cx="2940924" cy="5767811"/>
            </a:xfrm>
            <a:custGeom>
              <a:avLst/>
              <a:gdLst/>
              <a:ahLst/>
              <a:cxnLst/>
              <a:rect l="l" t="t" r="r" b="b"/>
              <a:pathLst>
                <a:path w="2940924" h="5767811">
                  <a:moveTo>
                    <a:pt x="0" y="0"/>
                  </a:moveTo>
                  <a:lnTo>
                    <a:pt x="2940924" y="0"/>
                  </a:lnTo>
                  <a:lnTo>
                    <a:pt x="2940924" y="5767811"/>
                  </a:lnTo>
                  <a:lnTo>
                    <a:pt x="0" y="5767811"/>
                  </a:lnTo>
                  <a:close/>
                </a:path>
              </a:pathLst>
            </a:custGeom>
            <a:solidFill>
              <a:srgbClr val="C3EBEF"/>
            </a:solidFill>
          </p:spPr>
        </p:sp>
        <p:sp>
          <p:nvSpPr>
            <p:cNvPr id="4" name="TextBox 4"/>
            <p:cNvSpPr txBox="1"/>
            <p:nvPr/>
          </p:nvSpPr>
          <p:spPr>
            <a:xfrm>
              <a:off x="0" y="-38100"/>
              <a:ext cx="2940924" cy="5805911"/>
            </a:xfrm>
            <a:prstGeom prst="rect">
              <a:avLst/>
            </a:prstGeom>
          </p:spPr>
          <p:txBody>
            <a:bodyPr lIns="50800" tIns="50800" rIns="50800" bIns="50800" rtlCol="0" anchor="ctr"/>
            <a:lstStyle/>
            <a:p>
              <a:pPr algn="ctr">
                <a:lnSpc>
                  <a:spcPts val="2100"/>
                </a:lnSpc>
              </a:pPr>
            </a:p>
          </p:txBody>
        </p:sp>
      </p:grpSp>
      <p:sp>
        <p:nvSpPr>
          <p:cNvPr id="5" name="TextBox 5"/>
          <p:cNvSpPr txBox="1"/>
          <p:nvPr/>
        </p:nvSpPr>
        <p:spPr>
          <a:xfrm>
            <a:off x="201189" y="6481763"/>
            <a:ext cx="14957322" cy="3190875"/>
          </a:xfrm>
          <a:prstGeom prst="rect">
            <a:avLst/>
          </a:prstGeom>
        </p:spPr>
        <p:txBody>
          <a:bodyPr lIns="0" tIns="0" rIns="0" bIns="0" rtlCol="0" anchor="t">
            <a:spAutoFit/>
          </a:bodyPr>
          <a:lstStyle/>
          <a:p>
            <a:pPr marL="906780" lvl="1" indent="-453390" algn="just">
              <a:lnSpc>
                <a:spcPts val="5040"/>
              </a:lnSpc>
              <a:buFont typeface="Arial" panose="020B0604020202020204"/>
              <a:buChar char="•"/>
            </a:pPr>
            <a:r>
              <a:rPr lang="en-US" sz="4200">
                <a:solidFill>
                  <a:srgbClr val="5034C4"/>
                </a:solidFill>
                <a:latin typeface="Cabin" panose="00000500000000000000"/>
                <a:ea typeface="Cabin" panose="00000500000000000000"/>
                <a:cs typeface="Cabin" panose="00000500000000000000"/>
                <a:sym typeface="Cabin" panose="00000500000000000000"/>
              </a:rPr>
              <a:t>Các bên liên quan sẽ xem xét và phê duyệt tài liệu yêu cầu đã được thu thập trong quá trình JAD.</a:t>
            </a:r>
            <a:endParaRPr lang="en-US" sz="4200">
              <a:solidFill>
                <a:srgbClr val="5034C4"/>
              </a:solidFill>
              <a:latin typeface="Cabin" panose="00000500000000000000"/>
              <a:ea typeface="Cabin" panose="00000500000000000000"/>
              <a:cs typeface="Cabin" panose="00000500000000000000"/>
              <a:sym typeface="Cabin" panose="00000500000000000000"/>
            </a:endParaRPr>
          </a:p>
          <a:p>
            <a:pPr marL="906780" lvl="1" indent="-453390" algn="just">
              <a:lnSpc>
                <a:spcPts val="5040"/>
              </a:lnSpc>
              <a:buFont typeface="Arial" panose="020B0604020202020204"/>
              <a:buChar char="•"/>
            </a:pPr>
            <a:r>
              <a:rPr lang="en-US" sz="4200">
                <a:solidFill>
                  <a:srgbClr val="5034C4"/>
                </a:solidFill>
                <a:latin typeface="Cabin" panose="00000500000000000000"/>
                <a:ea typeface="Cabin" panose="00000500000000000000"/>
                <a:cs typeface="Cabin" panose="00000500000000000000"/>
                <a:sym typeface="Cabin" panose="00000500000000000000"/>
              </a:rPr>
              <a:t>Đảm bảo tất cả các yêu cầu đều được đồng ý trước khi bắt đầu các giai đoạn phát triển tiếp theo.</a:t>
            </a:r>
            <a:endParaRPr lang="en-US" sz="4200">
              <a:solidFill>
                <a:srgbClr val="5034C4"/>
              </a:solidFill>
              <a:latin typeface="Cabin" panose="00000500000000000000"/>
              <a:ea typeface="Cabin" panose="00000500000000000000"/>
              <a:cs typeface="Cabin" panose="00000500000000000000"/>
              <a:sym typeface="Cabin" panose="00000500000000000000"/>
            </a:endParaRPr>
          </a:p>
          <a:p>
            <a:pPr algn="just">
              <a:lnSpc>
                <a:spcPts val="5040"/>
              </a:lnSpc>
            </a:pPr>
          </a:p>
        </p:txBody>
      </p:sp>
      <p:sp>
        <p:nvSpPr>
          <p:cNvPr id="6" name="Freeform 6"/>
          <p:cNvSpPr/>
          <p:nvPr/>
        </p:nvSpPr>
        <p:spPr>
          <a:xfrm>
            <a:off x="10277293" y="-175829"/>
            <a:ext cx="8358946" cy="5319329"/>
          </a:xfrm>
          <a:custGeom>
            <a:avLst/>
            <a:gdLst/>
            <a:ahLst/>
            <a:cxnLst/>
            <a:rect l="l" t="t" r="r" b="b"/>
            <a:pathLst>
              <a:path w="8358946" h="5319329">
                <a:moveTo>
                  <a:pt x="0" y="0"/>
                </a:moveTo>
                <a:lnTo>
                  <a:pt x="8358946" y="0"/>
                </a:lnTo>
                <a:lnTo>
                  <a:pt x="8358946" y="5319329"/>
                </a:lnTo>
                <a:lnTo>
                  <a:pt x="0" y="5319329"/>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7" name="TextBox 7"/>
          <p:cNvSpPr txBox="1"/>
          <p:nvPr/>
        </p:nvSpPr>
        <p:spPr>
          <a:xfrm>
            <a:off x="201189" y="2398110"/>
            <a:ext cx="7862676" cy="812165"/>
          </a:xfrm>
          <a:prstGeom prst="rect">
            <a:avLst/>
          </a:prstGeom>
        </p:spPr>
        <p:txBody>
          <a:bodyPr lIns="0" tIns="0" rIns="0" bIns="0" rtlCol="0" anchor="t">
            <a:spAutoFit/>
          </a:bodyPr>
          <a:lstStyle/>
          <a:p>
            <a:pPr algn="l">
              <a:lnSpc>
                <a:spcPts val="6685"/>
              </a:lnSpc>
            </a:pPr>
            <a:r>
              <a:rPr lang="en-US" sz="4775">
                <a:solidFill>
                  <a:srgbClr val="5034C4"/>
                </a:solidFill>
                <a:latin typeface="Cabin" panose="00000500000000000000"/>
                <a:ea typeface="Cabin" panose="00000500000000000000"/>
                <a:cs typeface="Cabin" panose="00000500000000000000"/>
                <a:sym typeface="Cabin" panose="00000500000000000000"/>
              </a:rPr>
              <a:t>5. ĐÁNH GIÁ VÀ PHÊ DUYỆT</a:t>
            </a:r>
            <a:endParaRPr lang="en-US" sz="4775">
              <a:solidFill>
                <a:srgbClr val="5034C4"/>
              </a:solidFill>
              <a:latin typeface="Cabin" panose="00000500000000000000"/>
              <a:ea typeface="Cabin" panose="00000500000000000000"/>
              <a:cs typeface="Cabin" panose="00000500000000000000"/>
              <a:sym typeface="Cabin" panose="0000050000000000000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5034C4"/>
        </a:solidFill>
        <a:effectLst/>
      </p:bgPr>
    </p:bg>
    <p:spTree>
      <p:nvGrpSpPr>
        <p:cNvPr id="1" name=""/>
        <p:cNvGrpSpPr/>
        <p:nvPr/>
      </p:nvGrpSpPr>
      <p:grpSpPr>
        <a:xfrm>
          <a:off x="0" y="0"/>
          <a:ext cx="0" cy="0"/>
          <a:chOff x="0" y="0"/>
          <a:chExt cx="0" cy="0"/>
        </a:xfrm>
      </p:grpSpPr>
      <p:grpSp>
        <p:nvGrpSpPr>
          <p:cNvPr id="2" name="Group 2"/>
          <p:cNvGrpSpPr/>
          <p:nvPr/>
        </p:nvGrpSpPr>
        <p:grpSpPr>
          <a:xfrm rot="0">
            <a:off x="807308" y="325917"/>
            <a:ext cx="9111069" cy="9635166"/>
            <a:chOff x="0" y="0"/>
            <a:chExt cx="12148092" cy="12846888"/>
          </a:xfrm>
        </p:grpSpPr>
        <p:sp>
          <p:nvSpPr>
            <p:cNvPr id="3" name="TextBox 3"/>
            <p:cNvSpPr txBox="1"/>
            <p:nvPr/>
          </p:nvSpPr>
          <p:spPr>
            <a:xfrm>
              <a:off x="0" y="63536"/>
              <a:ext cx="12148092" cy="4686300"/>
            </a:xfrm>
            <a:prstGeom prst="rect">
              <a:avLst/>
            </a:prstGeom>
          </p:spPr>
          <p:txBody>
            <a:bodyPr lIns="0" tIns="0" rIns="0" bIns="0" rtlCol="0" anchor="t">
              <a:spAutoFit/>
            </a:bodyPr>
            <a:lstStyle/>
            <a:p>
              <a:pPr algn="l">
                <a:lnSpc>
                  <a:spcPts val="9240"/>
                </a:lnSpc>
              </a:pPr>
              <a:r>
                <a:rPr lang="en-US" sz="7700" b="1">
                  <a:solidFill>
                    <a:srgbClr val="FFFFFF"/>
                  </a:solidFill>
                  <a:latin typeface="Cabin Bold" panose="00000800000000000000"/>
                  <a:ea typeface="Cabin Bold" panose="00000800000000000000"/>
                  <a:cs typeface="Cabin Bold" panose="00000800000000000000"/>
                  <a:sym typeface="Cabin Bold" panose="00000800000000000000"/>
                </a:rPr>
                <a:t>6.Theo dõi và cập nhật</a:t>
              </a:r>
              <a:endParaRPr lang="en-US" sz="7700" b="1">
                <a:solidFill>
                  <a:srgbClr val="FFFFFF"/>
                </a:solidFill>
                <a:latin typeface="Cabin Bold" panose="00000800000000000000"/>
                <a:ea typeface="Cabin Bold" panose="00000800000000000000"/>
                <a:cs typeface="Cabin Bold" panose="00000800000000000000"/>
                <a:sym typeface="Cabin Bold" panose="00000800000000000000"/>
              </a:endParaRPr>
            </a:p>
            <a:p>
              <a:pPr algn="l">
                <a:lnSpc>
                  <a:spcPts val="9240"/>
                </a:lnSpc>
              </a:pPr>
            </a:p>
          </p:txBody>
        </p:sp>
        <p:sp>
          <p:nvSpPr>
            <p:cNvPr id="4" name="TextBox 4"/>
            <p:cNvSpPr txBox="1"/>
            <p:nvPr/>
          </p:nvSpPr>
          <p:spPr>
            <a:xfrm>
              <a:off x="0" y="5832651"/>
              <a:ext cx="12148092" cy="6964680"/>
            </a:xfrm>
            <a:prstGeom prst="rect">
              <a:avLst/>
            </a:prstGeom>
          </p:spPr>
          <p:txBody>
            <a:bodyPr lIns="0" tIns="0" rIns="0" bIns="0" rtlCol="0" anchor="t">
              <a:spAutoFit/>
            </a:bodyPr>
            <a:lstStyle/>
            <a:p>
              <a:pPr algn="just">
                <a:lnSpc>
                  <a:spcPts val="5460"/>
                </a:lnSpc>
              </a:pPr>
              <a:r>
                <a:rPr lang="en-US" sz="3900">
                  <a:solidFill>
                    <a:srgbClr val="FFFFFF"/>
                  </a:solidFill>
                  <a:latin typeface="Cabin" panose="00000500000000000000"/>
                  <a:ea typeface="Cabin" panose="00000500000000000000"/>
                  <a:cs typeface="Cabin" panose="00000500000000000000"/>
                  <a:sym typeface="Cabin" panose="00000500000000000000"/>
                </a:rPr>
                <a:t>· Sau khi quá trình phát triển hệ thống diễn ra, có thể cần quay lại để điều chỉnh yêu cầu dựa trên những thay đổi trong quá trình thực hiện.</a:t>
              </a:r>
              <a:endParaRPr lang="en-US" sz="3900">
                <a:solidFill>
                  <a:srgbClr val="FFFFFF"/>
                </a:solidFill>
                <a:latin typeface="Cabin" panose="00000500000000000000"/>
                <a:ea typeface="Cabin" panose="00000500000000000000"/>
                <a:cs typeface="Cabin" panose="00000500000000000000"/>
                <a:sym typeface="Cabin" panose="00000500000000000000"/>
              </a:endParaRPr>
            </a:p>
            <a:p>
              <a:pPr algn="just">
                <a:lnSpc>
                  <a:spcPts val="5460"/>
                </a:lnSpc>
              </a:pPr>
              <a:r>
                <a:rPr lang="en-US" sz="3900">
                  <a:solidFill>
                    <a:srgbClr val="FFFFFF"/>
                  </a:solidFill>
                  <a:latin typeface="Cabin" panose="00000500000000000000"/>
                  <a:ea typeface="Cabin" panose="00000500000000000000"/>
                  <a:cs typeface="Cabin" panose="00000500000000000000"/>
                  <a:sym typeface="Cabin" panose="00000500000000000000"/>
                </a:rPr>
                <a:t>· Tiến hành các buổi JAD bổ sung nếu cần để đảm bảo mọi thay đổi đều được thống nhất giữa các bên.</a:t>
              </a:r>
              <a:endParaRPr lang="en-US" sz="3900">
                <a:solidFill>
                  <a:srgbClr val="FFFFFF"/>
                </a:solidFill>
                <a:latin typeface="Cabin" panose="00000500000000000000"/>
                <a:ea typeface="Cabin" panose="00000500000000000000"/>
                <a:cs typeface="Cabin" panose="00000500000000000000"/>
                <a:sym typeface="Cabin" panose="00000500000000000000"/>
              </a:endParaRPr>
            </a:p>
            <a:p>
              <a:pPr algn="l">
                <a:lnSpc>
                  <a:spcPts val="3570"/>
                </a:lnSpc>
              </a:pPr>
            </a:p>
          </p:txBody>
        </p:sp>
      </p:grpSp>
      <p:sp>
        <p:nvSpPr>
          <p:cNvPr id="5" name="Freeform 5"/>
          <p:cNvSpPr/>
          <p:nvPr/>
        </p:nvSpPr>
        <p:spPr>
          <a:xfrm>
            <a:off x="12081672" y="1971850"/>
            <a:ext cx="4336510" cy="6343300"/>
          </a:xfrm>
          <a:custGeom>
            <a:avLst/>
            <a:gdLst/>
            <a:ahLst/>
            <a:cxnLst/>
            <a:rect l="l" t="t" r="r" b="b"/>
            <a:pathLst>
              <a:path w="4336510" h="6343300">
                <a:moveTo>
                  <a:pt x="0" y="0"/>
                </a:moveTo>
                <a:lnTo>
                  <a:pt x="4336510" y="0"/>
                </a:lnTo>
                <a:lnTo>
                  <a:pt x="4336510" y="6343300"/>
                </a:lnTo>
                <a:lnTo>
                  <a:pt x="0" y="634330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7324796" y="161139"/>
          <a:ext cx="10624116" cy="9964722"/>
        </p:xfrm>
        <a:graphic>
          <a:graphicData uri="http://schemas.openxmlformats.org/drawingml/2006/table">
            <a:tbl>
              <a:tblPr/>
              <a:tblGrid>
                <a:gridCol w="3294732"/>
                <a:gridCol w="7329384"/>
              </a:tblGrid>
              <a:tr h="5202222">
                <a:tc>
                  <a:txBody>
                    <a:bodyPr rtlCol="0"/>
                    <a:lstStyle/>
                    <a:p>
                      <a:pPr algn="r">
                        <a:lnSpc>
                          <a:spcPts val="5320"/>
                        </a:lnSpc>
                        <a:defRPr/>
                      </a:pPr>
                      <a:r>
                        <a:rPr lang="en-US" sz="3800" b="1">
                          <a:solidFill>
                            <a:srgbClr val="7AC7CF"/>
                          </a:solidFill>
                          <a:latin typeface="Cabin Bold" panose="00000800000000000000"/>
                          <a:ea typeface="Cabin Bold" panose="00000800000000000000"/>
                          <a:cs typeface="Cabin Bold" panose="00000800000000000000"/>
                          <a:sym typeface="Cabin Bold" panose="00000800000000000000"/>
                        </a:rPr>
                        <a:t>+Ưu điểm:</a:t>
                      </a:r>
                      <a:endParaRPr lang="en-US" sz="1100"/>
                    </a:p>
                    <a:p>
                      <a:pPr algn="r">
                        <a:lnSpc>
                          <a:spcPts val="5320"/>
                        </a:lnSpc>
                      </a:pPr>
                    </a:p>
                  </a:txBody>
                  <a:tcPr marL="190500" marR="190500" marT="190500" marB="190500" anchor="t">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rtlCol="0"/>
                    <a:lstStyle/>
                    <a:p>
                      <a:pPr algn="just">
                        <a:lnSpc>
                          <a:spcPts val="3780"/>
                        </a:lnSpc>
                        <a:defRPr/>
                      </a:pPr>
                      <a:r>
                        <a:rPr lang="en-US" sz="2700">
                          <a:solidFill>
                            <a:srgbClr val="5034C4"/>
                          </a:solidFill>
                          <a:latin typeface="Cabin" panose="00000500000000000000"/>
                          <a:ea typeface="Cabin" panose="00000500000000000000"/>
                          <a:cs typeface="Cabin" panose="00000500000000000000"/>
                          <a:sym typeface="Cabin" panose="00000500000000000000"/>
                        </a:rPr>
                        <a:t> Tăng sự tham gia của người dùng: Người dùng trực tiếp tham gia vào quá trình xác định yêu cầu, giúp đảm bảo hệ thống đáp ứng đúng nhu cầu. Nâng cao chất lượng yêu cầu: Mô hình yêu cầu được xây dựng chính xác và chi tiết hơn, giảm thiểu rủi ro phát sinh sau này. Tăng sự chấp nhận: Người dùng cảm thấy có quyền sở hữu đối với hệ thống mới và sẵn sàng hỗ trợ.</a:t>
                      </a:r>
                      <a:endParaRPr lang="en-US" sz="1100"/>
                    </a:p>
                    <a:p>
                      <a:pPr algn="just">
                        <a:lnSpc>
                          <a:spcPts val="3780"/>
                        </a:lnSpc>
                      </a:pPr>
                    </a:p>
                  </a:txBody>
                  <a:tcPr marL="190500" marR="190500" marT="190500" marB="190500" anchor="t">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r>
              <a:tr h="4762500">
                <a:tc>
                  <a:txBody>
                    <a:bodyPr rtlCol="0"/>
                    <a:lstStyle/>
                    <a:p>
                      <a:pPr algn="r">
                        <a:lnSpc>
                          <a:spcPts val="5320"/>
                        </a:lnSpc>
                        <a:defRPr/>
                      </a:pPr>
                      <a:r>
                        <a:rPr lang="en-US" sz="3800" b="1">
                          <a:solidFill>
                            <a:srgbClr val="7AC7CF"/>
                          </a:solidFill>
                          <a:latin typeface="Cabin Bold" panose="00000800000000000000"/>
                          <a:ea typeface="Cabin Bold" panose="00000800000000000000"/>
                          <a:cs typeface="Cabin Bold" panose="00000800000000000000"/>
                          <a:sym typeface="Cabin Bold" panose="00000800000000000000"/>
                        </a:rPr>
                        <a:t>+Nhược điểm:</a:t>
                      </a:r>
                      <a:endParaRPr lang="en-US" sz="1100"/>
                    </a:p>
                    <a:p>
                      <a:pPr algn="r">
                        <a:lnSpc>
                          <a:spcPts val="5320"/>
                        </a:lnSpc>
                      </a:pPr>
                    </a:p>
                  </a:txBody>
                  <a:tcPr marL="190500" marR="190500" marT="190500" marB="190500" anchor="t">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rtlCol="0"/>
                    <a:lstStyle/>
                    <a:p>
                      <a:pPr algn="just">
                        <a:lnSpc>
                          <a:spcPts val="3780"/>
                        </a:lnSpc>
                        <a:defRPr/>
                      </a:pPr>
                      <a:r>
                        <a:rPr lang="en-US" sz="2700">
                          <a:solidFill>
                            <a:srgbClr val="5034C4"/>
                          </a:solidFill>
                          <a:latin typeface="Cabin" panose="00000500000000000000"/>
                          <a:ea typeface="Cabin" panose="00000500000000000000"/>
                          <a:cs typeface="Cabin" panose="00000500000000000000"/>
                          <a:sym typeface="Cabin" panose="00000500000000000000"/>
                        </a:rPr>
                        <a:t>Chi phí cao: Cần đầu tư thời gian và nguồn lực để tổ chức các phiên họp JAD. Khó quản lý: Nếu nhóm quá lớn hoặc dự án quá phức tạp, việc quản lý các phiên họp có thể khó khăn. Phát triển ứng dụng nhanh (RAD) là một kỹ thuật theo nhóm giúp tăng tốc quá trình phát triển hệ thống thông tin và tạo ra một hệ thống thông tin hoạt động.</a:t>
                      </a:r>
                      <a:endParaRPr lang="en-US" sz="1100"/>
                    </a:p>
                    <a:p>
                      <a:pPr algn="just">
                        <a:lnSpc>
                          <a:spcPts val="3780"/>
                        </a:lnSpc>
                      </a:pPr>
                    </a:p>
                  </a:txBody>
                  <a:tcPr marL="190500" marR="190500" marT="190500" marB="190500" anchor="t">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r>
            </a:tbl>
          </a:graphicData>
        </a:graphic>
      </p:graphicFrame>
      <p:sp>
        <p:nvSpPr>
          <p:cNvPr id="3" name="TextBox 3"/>
          <p:cNvSpPr txBox="1"/>
          <p:nvPr/>
        </p:nvSpPr>
        <p:spPr>
          <a:xfrm>
            <a:off x="394275" y="933450"/>
            <a:ext cx="6726141" cy="3548599"/>
          </a:xfrm>
          <a:prstGeom prst="rect">
            <a:avLst/>
          </a:prstGeom>
        </p:spPr>
        <p:txBody>
          <a:bodyPr lIns="0" tIns="0" rIns="0" bIns="0" rtlCol="0" anchor="t">
            <a:spAutoFit/>
          </a:bodyPr>
          <a:lstStyle/>
          <a:p>
            <a:pPr algn="just">
              <a:lnSpc>
                <a:spcPts val="7055"/>
              </a:lnSpc>
            </a:pPr>
            <a:r>
              <a:rPr lang="en-US" sz="5040">
                <a:solidFill>
                  <a:srgbClr val="5034C4"/>
                </a:solidFill>
                <a:latin typeface="Cabin" panose="00000500000000000000"/>
                <a:ea typeface="Cabin" panose="00000500000000000000"/>
                <a:cs typeface="Cabin" panose="00000500000000000000"/>
                <a:sym typeface="Cabin" panose="00000500000000000000"/>
              </a:rPr>
              <a:t>-ƯU ĐIỂM VÀ NHƯỢC ĐIỂM SO VỚI CÁC KỸ THUẬT KHÁC: </a:t>
            </a:r>
            <a:endParaRPr lang="en-US" sz="5040">
              <a:solidFill>
                <a:srgbClr val="5034C4"/>
              </a:solidFill>
              <a:latin typeface="Cabin" panose="00000500000000000000"/>
              <a:ea typeface="Cabin" panose="00000500000000000000"/>
              <a:cs typeface="Cabin" panose="00000500000000000000"/>
              <a:sym typeface="Cabin" panose="00000500000000000000"/>
            </a:endParaRPr>
          </a:p>
          <a:p>
            <a:pPr algn="just">
              <a:lnSpc>
                <a:spcPts val="7055"/>
              </a:lnSpc>
            </a:pPr>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tags/tag1.xml><?xml version="1.0" encoding="utf-8"?>
<p:tagLst xmlns:p="http://schemas.openxmlformats.org/presentationml/2006/main">
  <p:tag name="TABLE_ENDDRAG_ORIGIN_RECT" val="861*550"/>
  <p:tag name="TABLE_ENDDRAG_RECT" val="511*259*861*550"/>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5722</Words>
  <Application>WPS Presentation</Application>
  <PresentationFormat>On-screen Show (4:3)</PresentationFormat>
  <Paragraphs>148</Paragraphs>
  <Slides>14</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14</vt:i4>
      </vt:variant>
    </vt:vector>
  </HeadingPairs>
  <TitlesOfParts>
    <vt:vector size="24" baseType="lpstr">
      <vt:lpstr>Arial</vt:lpstr>
      <vt:lpstr>SimSun</vt:lpstr>
      <vt:lpstr>Wingdings</vt:lpstr>
      <vt:lpstr>Cabin Bold</vt:lpstr>
      <vt:lpstr>Cabin</vt:lpstr>
      <vt:lpstr>Arial</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Công nghệ trong Doanh nghiệp và tại Nơi làm việc Bản thuyết trình công nghệ với Màu tím Xanh mòng két Phong cách Minh hoạ</dc:title>
  <dc:creator/>
  <cp:lastModifiedBy>Tăng Gia Huy</cp:lastModifiedBy>
  <cp:revision>6</cp:revision>
  <dcterms:created xsi:type="dcterms:W3CDTF">2006-08-16T00:00:00Z</dcterms:created>
  <dcterms:modified xsi:type="dcterms:W3CDTF">2025-01-10T13:13:29Z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08A6D9B8628342449476892DEC165D24_13</vt:lpwstr>
  </property>
  <property fmtid="{D5CDD505-2E9C-101B-9397-08002B2CF9AE}" pid="3" name="KSOProductBuildVer">
    <vt:lpwstr>1033-12.2.0.19805</vt:lpwstr>
  </property>
</Properties>
</file>