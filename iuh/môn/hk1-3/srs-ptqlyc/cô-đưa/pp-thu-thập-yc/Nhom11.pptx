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8288000" cy="10287000"/>
  <p:notesSz cx="6858000" cy="9144000"/>
  <p:embeddedFontLst>
    <p:embeddedFont>
      <p:font typeface="Aptos Black" panose="020B0004020202020204" pitchFamily="34" charset="0"/>
      <p:bold r:id="rId18"/>
      <p:boldItalic r:id="rId19"/>
    </p:embeddedFont>
    <p:embeddedFont>
      <p:font typeface="Aristotelica Pro Bold" panose="020B0604020202020204" charset="0"/>
      <p:regular r:id="rId20"/>
    </p:embeddedFont>
    <p:embeddedFont>
      <p:font typeface="Baloo" panose="020B0604020202020204" charset="0"/>
      <p:regular r:id="rId21"/>
    </p:embeddedFont>
    <p:embeddedFont>
      <p:font typeface="Bobby Jones Soft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1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90C70-3FCD-42E8-9EE2-2DF11D45EF26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19182-C31C-4EEE-8473-47C1870B5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40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19182-C31C-4EEE-8473-47C1870B52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0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sv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4.svg"/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10.png"/><Relationship Id="rId5" Type="http://schemas.openxmlformats.org/officeDocument/2006/relationships/image" Target="../media/image25.png"/><Relationship Id="rId15" Type="http://schemas.openxmlformats.org/officeDocument/2006/relationships/image" Target="../media/image20.svg"/><Relationship Id="rId10" Type="http://schemas.openxmlformats.org/officeDocument/2006/relationships/image" Target="../media/image18.svg"/><Relationship Id="rId4" Type="http://schemas.openxmlformats.org/officeDocument/2006/relationships/image" Target="../media/image24.svg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4.svg"/><Relationship Id="rId18" Type="http://schemas.openxmlformats.org/officeDocument/2006/relationships/image" Target="../media/image29.png"/><Relationship Id="rId3" Type="http://schemas.openxmlformats.org/officeDocument/2006/relationships/image" Target="../media/image23.png"/><Relationship Id="rId21" Type="http://schemas.openxmlformats.org/officeDocument/2006/relationships/image" Target="../media/image32.svg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17" Type="http://schemas.openxmlformats.org/officeDocument/2006/relationships/image" Target="../media/image28.svg"/><Relationship Id="rId2" Type="http://schemas.openxmlformats.org/officeDocument/2006/relationships/image" Target="../media/image1.jpe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10.png"/><Relationship Id="rId5" Type="http://schemas.openxmlformats.org/officeDocument/2006/relationships/image" Target="../media/image25.png"/><Relationship Id="rId15" Type="http://schemas.openxmlformats.org/officeDocument/2006/relationships/image" Target="../media/image20.svg"/><Relationship Id="rId10" Type="http://schemas.openxmlformats.org/officeDocument/2006/relationships/image" Target="../media/image18.svg"/><Relationship Id="rId19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9.png"/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12" Type="http://schemas.openxmlformats.org/officeDocument/2006/relationships/image" Target="../media/image10.pn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18.svg"/><Relationship Id="rId5" Type="http://schemas.openxmlformats.org/officeDocument/2006/relationships/image" Target="../media/image24.svg"/><Relationship Id="rId15" Type="http://schemas.openxmlformats.org/officeDocument/2006/relationships/image" Target="../media/image33.png"/><Relationship Id="rId10" Type="http://schemas.openxmlformats.org/officeDocument/2006/relationships/image" Target="../media/image17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Relationship Id="rId1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4.svg"/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2" Type="http://schemas.openxmlformats.org/officeDocument/2006/relationships/image" Target="../media/image1.jpe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10.png"/><Relationship Id="rId5" Type="http://schemas.openxmlformats.org/officeDocument/2006/relationships/image" Target="../media/image25.png"/><Relationship Id="rId15" Type="http://schemas.openxmlformats.org/officeDocument/2006/relationships/image" Target="../media/image20.svg"/><Relationship Id="rId10" Type="http://schemas.openxmlformats.org/officeDocument/2006/relationships/image" Target="../media/image18.svg"/><Relationship Id="rId4" Type="http://schemas.openxmlformats.org/officeDocument/2006/relationships/image" Target="../media/image24.svg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4.svg"/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17" Type="http://schemas.openxmlformats.org/officeDocument/2006/relationships/image" Target="../media/image36.png"/><Relationship Id="rId2" Type="http://schemas.openxmlformats.org/officeDocument/2006/relationships/image" Target="../media/image1.jpe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10.png"/><Relationship Id="rId5" Type="http://schemas.openxmlformats.org/officeDocument/2006/relationships/image" Target="../media/image25.png"/><Relationship Id="rId15" Type="http://schemas.openxmlformats.org/officeDocument/2006/relationships/image" Target="../media/image20.svg"/><Relationship Id="rId10" Type="http://schemas.openxmlformats.org/officeDocument/2006/relationships/image" Target="../media/image18.svg"/><Relationship Id="rId4" Type="http://schemas.openxmlformats.org/officeDocument/2006/relationships/image" Target="../media/image24.svg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4.svg"/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2" Type="http://schemas.openxmlformats.org/officeDocument/2006/relationships/image" Target="../media/image1.jpe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10.png"/><Relationship Id="rId5" Type="http://schemas.openxmlformats.org/officeDocument/2006/relationships/image" Target="../media/image25.png"/><Relationship Id="rId15" Type="http://schemas.openxmlformats.org/officeDocument/2006/relationships/image" Target="../media/image20.svg"/><Relationship Id="rId10" Type="http://schemas.openxmlformats.org/officeDocument/2006/relationships/image" Target="../media/image18.svg"/><Relationship Id="rId4" Type="http://schemas.openxmlformats.org/officeDocument/2006/relationships/image" Target="../media/image24.svg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9.png"/><Relationship Id="rId3" Type="http://schemas.openxmlformats.org/officeDocument/2006/relationships/image" Target="../media/image23.png"/><Relationship Id="rId7" Type="http://schemas.openxmlformats.org/officeDocument/2006/relationships/image" Target="../media/image16.svg"/><Relationship Id="rId12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3.png"/><Relationship Id="rId5" Type="http://schemas.openxmlformats.org/officeDocument/2006/relationships/image" Target="../media/image26.png"/><Relationship Id="rId15" Type="http://schemas.openxmlformats.org/officeDocument/2006/relationships/image" Target="../media/image38.png"/><Relationship Id="rId10" Type="http://schemas.openxmlformats.org/officeDocument/2006/relationships/image" Target="../media/image10.png"/><Relationship Id="rId4" Type="http://schemas.openxmlformats.org/officeDocument/2006/relationships/image" Target="../media/image24.svg"/><Relationship Id="rId9" Type="http://schemas.openxmlformats.org/officeDocument/2006/relationships/image" Target="../media/image18.svg"/><Relationship Id="rId1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4.svg"/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2" Type="http://schemas.openxmlformats.org/officeDocument/2006/relationships/image" Target="../media/image1.jpe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10.png"/><Relationship Id="rId5" Type="http://schemas.openxmlformats.org/officeDocument/2006/relationships/image" Target="../media/image25.png"/><Relationship Id="rId15" Type="http://schemas.openxmlformats.org/officeDocument/2006/relationships/image" Target="../media/image20.svg"/><Relationship Id="rId10" Type="http://schemas.openxmlformats.org/officeDocument/2006/relationships/image" Target="../media/image18.svg"/><Relationship Id="rId4" Type="http://schemas.openxmlformats.org/officeDocument/2006/relationships/image" Target="../media/image24.svg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0.png"/><Relationship Id="rId3" Type="http://schemas.openxmlformats.org/officeDocument/2006/relationships/image" Target="../media/image23.png"/><Relationship Id="rId7" Type="http://schemas.openxmlformats.org/officeDocument/2006/relationships/image" Target="../media/image16.svg"/><Relationship Id="rId12" Type="http://schemas.openxmlformats.org/officeDocument/2006/relationships/image" Target="../media/image14.svg"/><Relationship Id="rId2" Type="http://schemas.openxmlformats.org/officeDocument/2006/relationships/image" Target="../media/image1.jpe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3.png"/><Relationship Id="rId5" Type="http://schemas.openxmlformats.org/officeDocument/2006/relationships/image" Target="../media/image25.png"/><Relationship Id="rId15" Type="http://schemas.openxmlformats.org/officeDocument/2006/relationships/image" Target="../media/image19.png"/><Relationship Id="rId10" Type="http://schemas.openxmlformats.org/officeDocument/2006/relationships/image" Target="../media/image40.png"/><Relationship Id="rId4" Type="http://schemas.openxmlformats.org/officeDocument/2006/relationships/image" Target="../media/image24.svg"/><Relationship Id="rId9" Type="http://schemas.openxmlformats.org/officeDocument/2006/relationships/image" Target="../media/image18.svg"/><Relationship Id="rId1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4.svg"/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10.png"/><Relationship Id="rId5" Type="http://schemas.openxmlformats.org/officeDocument/2006/relationships/image" Target="../media/image25.png"/><Relationship Id="rId15" Type="http://schemas.openxmlformats.org/officeDocument/2006/relationships/image" Target="../media/image20.svg"/><Relationship Id="rId10" Type="http://schemas.openxmlformats.org/officeDocument/2006/relationships/image" Target="../media/image18.svg"/><Relationship Id="rId4" Type="http://schemas.openxmlformats.org/officeDocument/2006/relationships/image" Target="../media/image24.svg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4.svg"/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2" Type="http://schemas.openxmlformats.org/officeDocument/2006/relationships/image" Target="../media/image1.jpe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10.png"/><Relationship Id="rId5" Type="http://schemas.openxmlformats.org/officeDocument/2006/relationships/image" Target="../media/image25.png"/><Relationship Id="rId15" Type="http://schemas.openxmlformats.org/officeDocument/2006/relationships/image" Target="../media/image20.svg"/><Relationship Id="rId10" Type="http://schemas.openxmlformats.org/officeDocument/2006/relationships/image" Target="../media/image18.svg"/><Relationship Id="rId4" Type="http://schemas.openxmlformats.org/officeDocument/2006/relationships/image" Target="../media/image24.svg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4.svg"/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2" Type="http://schemas.openxmlformats.org/officeDocument/2006/relationships/image" Target="../media/image1.jpe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10.png"/><Relationship Id="rId5" Type="http://schemas.openxmlformats.org/officeDocument/2006/relationships/image" Target="../media/image25.png"/><Relationship Id="rId15" Type="http://schemas.openxmlformats.org/officeDocument/2006/relationships/image" Target="../media/image20.svg"/><Relationship Id="rId10" Type="http://schemas.openxmlformats.org/officeDocument/2006/relationships/image" Target="../media/image18.svg"/><Relationship Id="rId4" Type="http://schemas.openxmlformats.org/officeDocument/2006/relationships/image" Target="../media/image24.svg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4.svg"/><Relationship Id="rId18" Type="http://schemas.openxmlformats.org/officeDocument/2006/relationships/hyperlink" Target="https://www.booksfree.org/wp-content/uploads/2022/03/Software_Requirements_3rd_Edition_compressed.pdf" TargetMode="External"/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17" Type="http://schemas.openxmlformats.org/officeDocument/2006/relationships/hyperlink" Target="https://moodle.znu.edu.ua/pluginfile.php/196199/mod_resource/content/3/BABOK.pdf" TargetMode="External"/><Relationship Id="rId2" Type="http://schemas.openxmlformats.org/officeDocument/2006/relationships/image" Target="../media/image1.jpeg"/><Relationship Id="rId16" Type="http://schemas.openxmlformats.org/officeDocument/2006/relationships/hyperlink" Target="https://www.apexglobal.com.vn/en/ung-dung-ky-thuat-quan-sat-observation-vao-qua-trinh-phan-tich-nghiep-vu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10.png"/><Relationship Id="rId5" Type="http://schemas.openxmlformats.org/officeDocument/2006/relationships/image" Target="../media/image25.png"/><Relationship Id="rId15" Type="http://schemas.openxmlformats.org/officeDocument/2006/relationships/image" Target="../media/image20.svg"/><Relationship Id="rId10" Type="http://schemas.openxmlformats.org/officeDocument/2006/relationships/image" Target="../media/image18.svg"/><Relationship Id="rId19" Type="http://schemas.openxmlformats.org/officeDocument/2006/relationships/hyperlink" Target="https://www.researchgate.net/profile/Ogbonnaya-Jr-Akpara/publication/330811319_Requirements_Specification/links/5c549ab6a6fdccd6b5da65bf/Requirements-Specification.pdf" TargetMode="External"/><Relationship Id="rId4" Type="http://schemas.openxmlformats.org/officeDocument/2006/relationships/image" Target="../media/image24.svg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5.png"/><Relationship Id="rId3" Type="http://schemas.openxmlformats.org/officeDocument/2006/relationships/image" Target="../media/image2.png"/><Relationship Id="rId21" Type="http://schemas.openxmlformats.org/officeDocument/2006/relationships/image" Target="../media/image18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2.svg"/><Relationship Id="rId2" Type="http://schemas.openxmlformats.org/officeDocument/2006/relationships/image" Target="../media/image1.jpeg"/><Relationship Id="rId16" Type="http://schemas.openxmlformats.org/officeDocument/2006/relationships/image" Target="../media/image21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23" Type="http://schemas.openxmlformats.org/officeDocument/2006/relationships/image" Target="../media/image20.svg"/><Relationship Id="rId10" Type="http://schemas.openxmlformats.org/officeDocument/2006/relationships/image" Target="../media/image9.svg"/><Relationship Id="rId19" Type="http://schemas.openxmlformats.org/officeDocument/2006/relationships/image" Target="../media/image16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492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666" b="-14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824152" y="8065958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383401" y="6872086"/>
            <a:ext cx="5018049" cy="4114800"/>
          </a:xfrm>
          <a:custGeom>
            <a:avLst/>
            <a:gdLst/>
            <a:ahLst/>
            <a:cxnLst/>
            <a:rect l="l" t="t" r="r" b="b"/>
            <a:pathLst>
              <a:path w="5018049" h="4114800">
                <a:moveTo>
                  <a:pt x="0" y="0"/>
                </a:moveTo>
                <a:lnTo>
                  <a:pt x="5018049" y="0"/>
                </a:lnTo>
                <a:lnTo>
                  <a:pt x="50180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570681" y="6172200"/>
            <a:ext cx="3022508" cy="4114800"/>
          </a:xfrm>
          <a:custGeom>
            <a:avLst/>
            <a:gdLst/>
            <a:ahLst/>
            <a:cxnLst/>
            <a:rect l="l" t="t" r="r" b="b"/>
            <a:pathLst>
              <a:path w="3022508" h="4114800">
                <a:moveTo>
                  <a:pt x="0" y="0"/>
                </a:moveTo>
                <a:lnTo>
                  <a:pt x="3022508" y="0"/>
                </a:lnTo>
                <a:lnTo>
                  <a:pt x="3022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20031" y="8276779"/>
            <a:ext cx="7315200" cy="2726575"/>
          </a:xfrm>
          <a:custGeom>
            <a:avLst/>
            <a:gdLst/>
            <a:ahLst/>
            <a:cxnLst/>
            <a:rect l="l" t="t" r="r" b="b"/>
            <a:pathLst>
              <a:path w="7315200" h="2726575">
                <a:moveTo>
                  <a:pt x="0" y="0"/>
                </a:moveTo>
                <a:lnTo>
                  <a:pt x="7315200" y="0"/>
                </a:lnTo>
                <a:lnTo>
                  <a:pt x="7315200" y="2726575"/>
                </a:lnTo>
                <a:lnTo>
                  <a:pt x="0" y="27265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734322" y="6651896"/>
            <a:ext cx="3766398" cy="4053523"/>
          </a:xfrm>
          <a:custGeom>
            <a:avLst/>
            <a:gdLst/>
            <a:ahLst/>
            <a:cxnLst/>
            <a:rect l="l" t="t" r="r" b="b"/>
            <a:pathLst>
              <a:path w="3766398" h="4053523">
                <a:moveTo>
                  <a:pt x="0" y="0"/>
                </a:moveTo>
                <a:lnTo>
                  <a:pt x="3766398" y="0"/>
                </a:lnTo>
                <a:lnTo>
                  <a:pt x="3766398" y="4053523"/>
                </a:lnTo>
                <a:lnTo>
                  <a:pt x="0" y="40535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7591729" y="8276779"/>
            <a:ext cx="2087003" cy="2489917"/>
          </a:xfrm>
          <a:custGeom>
            <a:avLst/>
            <a:gdLst/>
            <a:ahLst/>
            <a:cxnLst/>
            <a:rect l="l" t="t" r="r" b="b"/>
            <a:pathLst>
              <a:path w="2087003" h="2489917">
                <a:moveTo>
                  <a:pt x="2087003" y="0"/>
                </a:moveTo>
                <a:lnTo>
                  <a:pt x="0" y="0"/>
                </a:lnTo>
                <a:lnTo>
                  <a:pt x="0" y="2489917"/>
                </a:lnTo>
                <a:lnTo>
                  <a:pt x="2087003" y="2489917"/>
                </a:lnTo>
                <a:lnTo>
                  <a:pt x="208700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321365" y="7454905"/>
            <a:ext cx="2775883" cy="3311791"/>
          </a:xfrm>
          <a:custGeom>
            <a:avLst/>
            <a:gdLst/>
            <a:ahLst/>
            <a:cxnLst/>
            <a:rect l="l" t="t" r="r" b="b"/>
            <a:pathLst>
              <a:path w="2775883" h="3311791">
                <a:moveTo>
                  <a:pt x="0" y="0"/>
                </a:moveTo>
                <a:lnTo>
                  <a:pt x="2775883" y="0"/>
                </a:lnTo>
                <a:lnTo>
                  <a:pt x="2775883" y="3311791"/>
                </a:lnTo>
                <a:lnTo>
                  <a:pt x="0" y="33117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010898" y="7277100"/>
            <a:ext cx="5085708" cy="4114800"/>
          </a:xfrm>
          <a:custGeom>
            <a:avLst/>
            <a:gdLst/>
            <a:ahLst/>
            <a:cxnLst/>
            <a:rect l="l" t="t" r="r" b="b"/>
            <a:pathLst>
              <a:path w="5085708" h="4114800">
                <a:moveTo>
                  <a:pt x="0" y="0"/>
                </a:moveTo>
                <a:lnTo>
                  <a:pt x="5085708" y="0"/>
                </a:lnTo>
                <a:lnTo>
                  <a:pt x="50857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10267570">
            <a:off x="13772545" y="-555300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415197" y="-160405"/>
            <a:ext cx="3766398" cy="3485630"/>
          </a:xfrm>
          <a:custGeom>
            <a:avLst/>
            <a:gdLst/>
            <a:ahLst/>
            <a:cxnLst/>
            <a:rect l="l" t="t" r="r" b="b"/>
            <a:pathLst>
              <a:path w="3766398" h="3485630">
                <a:moveTo>
                  <a:pt x="0" y="0"/>
                </a:moveTo>
                <a:lnTo>
                  <a:pt x="3766398" y="0"/>
                </a:lnTo>
                <a:lnTo>
                  <a:pt x="3766398" y="3485630"/>
                </a:lnTo>
                <a:lnTo>
                  <a:pt x="0" y="348563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3275562">
            <a:off x="5600018" y="-3199864"/>
            <a:ext cx="5506423" cy="4114800"/>
          </a:xfrm>
          <a:custGeom>
            <a:avLst/>
            <a:gdLst/>
            <a:ahLst/>
            <a:cxnLst/>
            <a:rect l="l" t="t" r="r" b="b"/>
            <a:pathLst>
              <a:path w="5506423" h="4114800">
                <a:moveTo>
                  <a:pt x="0" y="0"/>
                </a:moveTo>
                <a:lnTo>
                  <a:pt x="5506424" y="0"/>
                </a:lnTo>
                <a:lnTo>
                  <a:pt x="55064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148877" y="1932183"/>
            <a:ext cx="16513048" cy="166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697"/>
              </a:lnSpc>
            </a:pPr>
            <a:r>
              <a:rPr lang="en-US" sz="9784">
                <a:solidFill>
                  <a:srgbClr val="F1E4CA"/>
                </a:solidFill>
                <a:latin typeface="Baloo"/>
                <a:ea typeface="Baloo"/>
                <a:cs typeface="Baloo"/>
                <a:sym typeface="Baloo"/>
              </a:rPr>
              <a:t>PHÂN TÍCH QUẢN LÝ YÊU CẦU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427802" y="4487275"/>
            <a:ext cx="13432395" cy="1312449"/>
            <a:chOff x="0" y="0"/>
            <a:chExt cx="3537750" cy="34566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537750" cy="345666"/>
            </a:xfrm>
            <a:custGeom>
              <a:avLst/>
              <a:gdLst/>
              <a:ahLst/>
              <a:cxnLst/>
              <a:rect l="l" t="t" r="r" b="b"/>
              <a:pathLst>
                <a:path w="3537750" h="345666">
                  <a:moveTo>
                    <a:pt x="23054" y="0"/>
                  </a:moveTo>
                  <a:lnTo>
                    <a:pt x="3514696" y="0"/>
                  </a:lnTo>
                  <a:cubicBezTo>
                    <a:pt x="3527428" y="0"/>
                    <a:pt x="3537750" y="10322"/>
                    <a:pt x="3537750" y="23054"/>
                  </a:cubicBezTo>
                  <a:lnTo>
                    <a:pt x="3537750" y="322611"/>
                  </a:lnTo>
                  <a:cubicBezTo>
                    <a:pt x="3537750" y="328726"/>
                    <a:pt x="3535321" y="334590"/>
                    <a:pt x="3530998" y="338913"/>
                  </a:cubicBezTo>
                  <a:cubicBezTo>
                    <a:pt x="3526674" y="343237"/>
                    <a:pt x="3520810" y="345666"/>
                    <a:pt x="3514696" y="345666"/>
                  </a:cubicBezTo>
                  <a:lnTo>
                    <a:pt x="23054" y="345666"/>
                  </a:lnTo>
                  <a:cubicBezTo>
                    <a:pt x="16940" y="345666"/>
                    <a:pt x="11076" y="343237"/>
                    <a:pt x="6752" y="338913"/>
                  </a:cubicBezTo>
                  <a:cubicBezTo>
                    <a:pt x="2429" y="334590"/>
                    <a:pt x="0" y="328726"/>
                    <a:pt x="0" y="322611"/>
                  </a:cubicBezTo>
                  <a:lnTo>
                    <a:pt x="0" y="23054"/>
                  </a:lnTo>
                  <a:cubicBezTo>
                    <a:pt x="0" y="16940"/>
                    <a:pt x="2429" y="11076"/>
                    <a:pt x="6752" y="6752"/>
                  </a:cubicBezTo>
                  <a:cubicBezTo>
                    <a:pt x="11076" y="2429"/>
                    <a:pt x="16940" y="0"/>
                    <a:pt x="23054" y="0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  <a:ln w="38100" cap="rnd">
              <a:solidFill>
                <a:srgbClr val="5D3505">
                  <a:alpha val="4470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537750" cy="39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4659431" y="4843588"/>
            <a:ext cx="599825" cy="599825"/>
          </a:xfrm>
          <a:custGeom>
            <a:avLst/>
            <a:gdLst/>
            <a:ahLst/>
            <a:cxnLst/>
            <a:rect l="l" t="t" r="r" b="b"/>
            <a:pathLst>
              <a:path w="599825" h="599825">
                <a:moveTo>
                  <a:pt x="0" y="0"/>
                </a:moveTo>
                <a:lnTo>
                  <a:pt x="599825" y="0"/>
                </a:lnTo>
                <a:lnTo>
                  <a:pt x="599825" y="599824"/>
                </a:lnTo>
                <a:lnTo>
                  <a:pt x="0" y="59982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3028744" y="4714875"/>
            <a:ext cx="500202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dirty="0">
                <a:solidFill>
                  <a:srgbClr val="330E04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 Group 11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6883" y="7600622"/>
            <a:ext cx="3634760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16"/>
              </a:lnSpc>
            </a:pPr>
            <a:endParaRPr lang="en-US" sz="4654" dirty="0">
              <a:solidFill>
                <a:schemeClr val="accent6">
                  <a:lumMod val="75000"/>
                </a:schemeClr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7C8B9BF8-7833-2A29-7851-826658FA1628}"/>
              </a:ext>
            </a:extLst>
          </p:cNvPr>
          <p:cNvSpPr/>
          <p:nvPr/>
        </p:nvSpPr>
        <p:spPr>
          <a:xfrm>
            <a:off x="10636613" y="6987386"/>
            <a:ext cx="4055632" cy="1312449"/>
          </a:xfrm>
          <a:custGeom>
            <a:avLst/>
            <a:gdLst/>
            <a:ahLst/>
            <a:cxnLst/>
            <a:rect l="l" t="t" r="r" b="b"/>
            <a:pathLst>
              <a:path w="3537750" h="345666">
                <a:moveTo>
                  <a:pt x="23054" y="0"/>
                </a:moveTo>
                <a:lnTo>
                  <a:pt x="3514696" y="0"/>
                </a:lnTo>
                <a:cubicBezTo>
                  <a:pt x="3527428" y="0"/>
                  <a:pt x="3537750" y="10322"/>
                  <a:pt x="3537750" y="23054"/>
                </a:cubicBezTo>
                <a:lnTo>
                  <a:pt x="3537750" y="322611"/>
                </a:lnTo>
                <a:cubicBezTo>
                  <a:pt x="3537750" y="328726"/>
                  <a:pt x="3535321" y="334590"/>
                  <a:pt x="3530998" y="338913"/>
                </a:cubicBezTo>
                <a:cubicBezTo>
                  <a:pt x="3526674" y="343237"/>
                  <a:pt x="3520810" y="345666"/>
                  <a:pt x="3514696" y="345666"/>
                </a:cubicBezTo>
                <a:lnTo>
                  <a:pt x="23054" y="345666"/>
                </a:lnTo>
                <a:cubicBezTo>
                  <a:pt x="16940" y="345666"/>
                  <a:pt x="11076" y="343237"/>
                  <a:pt x="6752" y="338913"/>
                </a:cubicBezTo>
                <a:cubicBezTo>
                  <a:pt x="2429" y="334590"/>
                  <a:pt x="0" y="328726"/>
                  <a:pt x="0" y="322611"/>
                </a:cubicBezTo>
                <a:lnTo>
                  <a:pt x="0" y="23054"/>
                </a:lnTo>
                <a:cubicBezTo>
                  <a:pt x="0" y="16940"/>
                  <a:pt x="2429" y="11076"/>
                  <a:pt x="6752" y="6752"/>
                </a:cubicBezTo>
                <a:cubicBezTo>
                  <a:pt x="11076" y="2429"/>
                  <a:pt x="16940" y="0"/>
                  <a:pt x="23054" y="0"/>
                </a:cubicBezTo>
                <a:close/>
              </a:path>
            </a:pathLst>
          </a:custGeom>
          <a:solidFill>
            <a:srgbClr val="FBD1AF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F0793D17-C2FA-3626-B8A9-3F36A0ED090A}"/>
              </a:ext>
            </a:extLst>
          </p:cNvPr>
          <p:cNvSpPr txBox="1"/>
          <p:nvPr/>
        </p:nvSpPr>
        <p:spPr>
          <a:xfrm>
            <a:off x="11038863" y="7220850"/>
            <a:ext cx="500202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vi-VN" sz="4500" b="1" dirty="0">
                <a:solidFill>
                  <a:schemeClr val="accent6">
                    <a:lumMod val="75000"/>
                  </a:schemeClr>
                </a:solidFill>
                <a:latin typeface="Aptos Black" panose="020F0502020204030204" pitchFamily="34" charset="0"/>
                <a:ea typeface="Aristotelica Pro Bold"/>
                <a:cs typeface="Aristotelica Pro Bold"/>
                <a:sym typeface="Aristotelica Pro Bold"/>
              </a:rPr>
              <a:t>DHHTTT19A</a:t>
            </a:r>
            <a:endParaRPr lang="en-US" sz="4500" b="1" dirty="0">
              <a:solidFill>
                <a:schemeClr val="accent6">
                  <a:lumMod val="75000"/>
                </a:schemeClr>
              </a:solidFill>
              <a:latin typeface="Aristotelica Pro Bold"/>
              <a:ea typeface="Aristotelica Pro Bold"/>
              <a:cs typeface="Aristotelica Pro Bold"/>
              <a:sym typeface="Aristotelica Pro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666" b="-14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5016636"/>
            <a:ext cx="16230600" cy="4778696"/>
          </a:xfrm>
          <a:custGeom>
            <a:avLst/>
            <a:gdLst/>
            <a:ahLst/>
            <a:cxnLst/>
            <a:rect l="l" t="t" r="r" b="b"/>
            <a:pathLst>
              <a:path w="16230600" h="4778696">
                <a:moveTo>
                  <a:pt x="0" y="0"/>
                </a:moveTo>
                <a:lnTo>
                  <a:pt x="16230600" y="0"/>
                </a:lnTo>
                <a:lnTo>
                  <a:pt x="16230600" y="4778695"/>
                </a:lnTo>
                <a:lnTo>
                  <a:pt x="0" y="4778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4114800"/>
            <a:chOff x="0" y="0"/>
            <a:chExt cx="4274726" cy="10837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083733"/>
            </a:xfrm>
            <a:custGeom>
              <a:avLst/>
              <a:gdLst/>
              <a:ahLst/>
              <a:cxnLst/>
              <a:rect l="l" t="t" r="r" b="b"/>
              <a:pathLst>
                <a:path w="4274726" h="1083733">
                  <a:moveTo>
                    <a:pt x="0" y="0"/>
                  </a:moveTo>
                  <a:lnTo>
                    <a:pt x="4274726" y="0"/>
                  </a:lnTo>
                  <a:lnTo>
                    <a:pt x="427472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F1E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274726" cy="1131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939165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 t="-19027" b="-190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0" y="79375"/>
            <a:ext cx="18288000" cy="1529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 dirty="0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group members</a:t>
            </a:r>
          </a:p>
        </p:txBody>
      </p:sp>
      <p:sp>
        <p:nvSpPr>
          <p:cNvPr id="9" name="Freeform 9"/>
          <p:cNvSpPr/>
          <p:nvPr/>
        </p:nvSpPr>
        <p:spPr>
          <a:xfrm rot="2090202">
            <a:off x="16188870" y="1067164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2" y="0"/>
                </a:lnTo>
                <a:lnTo>
                  <a:pt x="1489442" y="565987"/>
                </a:lnTo>
                <a:lnTo>
                  <a:pt x="0" y="565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0267570">
            <a:off x="14032130" y="-690228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2141916">
            <a:off x="605711" y="1084178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1" y="0"/>
                </a:lnTo>
                <a:lnTo>
                  <a:pt x="1489441" y="565988"/>
                </a:lnTo>
                <a:lnTo>
                  <a:pt x="0" y="5659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1646047" y="0"/>
            <a:ext cx="3766398" cy="3485630"/>
          </a:xfrm>
          <a:custGeom>
            <a:avLst/>
            <a:gdLst/>
            <a:ahLst/>
            <a:cxnLst/>
            <a:rect l="l" t="t" r="r" b="b"/>
            <a:pathLst>
              <a:path w="3766398" h="3485630">
                <a:moveTo>
                  <a:pt x="0" y="0"/>
                </a:moveTo>
                <a:lnTo>
                  <a:pt x="3766398" y="0"/>
                </a:lnTo>
                <a:lnTo>
                  <a:pt x="3766398" y="3485630"/>
                </a:lnTo>
                <a:lnTo>
                  <a:pt x="0" y="34856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0" y="7430547"/>
            <a:ext cx="2700863" cy="2906758"/>
          </a:xfrm>
          <a:custGeom>
            <a:avLst/>
            <a:gdLst/>
            <a:ahLst/>
            <a:cxnLst/>
            <a:rect l="l" t="t" r="r" b="b"/>
            <a:pathLst>
              <a:path w="2700863" h="2906758">
                <a:moveTo>
                  <a:pt x="0" y="0"/>
                </a:moveTo>
                <a:lnTo>
                  <a:pt x="2700863" y="0"/>
                </a:lnTo>
                <a:lnTo>
                  <a:pt x="2700863" y="2906758"/>
                </a:lnTo>
                <a:lnTo>
                  <a:pt x="0" y="29067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4703648" y="7396458"/>
            <a:ext cx="3584352" cy="2900067"/>
          </a:xfrm>
          <a:custGeom>
            <a:avLst/>
            <a:gdLst/>
            <a:ahLst/>
            <a:cxnLst/>
            <a:rect l="l" t="t" r="r" b="b"/>
            <a:pathLst>
              <a:path w="3584352" h="2900067">
                <a:moveTo>
                  <a:pt x="0" y="0"/>
                </a:moveTo>
                <a:lnTo>
                  <a:pt x="3584352" y="0"/>
                </a:lnTo>
                <a:lnTo>
                  <a:pt x="3584352" y="2900067"/>
                </a:lnTo>
                <a:lnTo>
                  <a:pt x="0" y="29000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1839933" y="1608455"/>
          <a:ext cx="14814038" cy="6904733"/>
        </p:xfrm>
        <a:graphic>
          <a:graphicData uri="http://schemas.openxmlformats.org/drawingml/2006/table">
            <a:tbl>
              <a:tblPr/>
              <a:tblGrid>
                <a:gridCol w="116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8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21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53564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STT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MSSV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Họ tên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Công việc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197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23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21021521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Nguyễn Bảo Kha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18157" lvl="1" indent="-259078" algn="l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 Cách tiến hành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921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21083671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Nguyễn Minh Khánh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18157" lvl="1" indent="-259078" algn="ctr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Đánh giá ưu và nhược điểm của kỹ thuật, so sánh với các kỹ thuật khác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197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51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21000251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Phạm Đức Tài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18160" lvl="1" indent="-259080" algn="just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Các cách tiếp cận cơ bản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6043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21015721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Nguyễn Thị Hồng Thắm (Nhóm trưởng)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18157" lvl="1" indent="-259078" algn="ctr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Đặc trưng của kỹ thuật Observation, và làm slide, ví dụ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197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61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21014621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Lư Minh Thuận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18157" lvl="1" indent="-259078" algn="l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 Khái niệm, dùng trong trường hợp nào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Freeform 16"/>
          <p:cNvSpPr/>
          <p:nvPr/>
        </p:nvSpPr>
        <p:spPr>
          <a:xfrm rot="-7792194">
            <a:off x="6823855" y="8448522"/>
            <a:ext cx="5055136" cy="3777565"/>
          </a:xfrm>
          <a:custGeom>
            <a:avLst/>
            <a:gdLst/>
            <a:ahLst/>
            <a:cxnLst/>
            <a:rect l="l" t="t" r="r" b="b"/>
            <a:pathLst>
              <a:path w="5055136" h="3777565">
                <a:moveTo>
                  <a:pt x="0" y="0"/>
                </a:moveTo>
                <a:lnTo>
                  <a:pt x="5055136" y="0"/>
                </a:lnTo>
                <a:lnTo>
                  <a:pt x="5055136" y="3777565"/>
                </a:lnTo>
                <a:lnTo>
                  <a:pt x="0" y="377756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666" b="-14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5016636"/>
            <a:ext cx="16230600" cy="4778696"/>
          </a:xfrm>
          <a:custGeom>
            <a:avLst/>
            <a:gdLst/>
            <a:ahLst/>
            <a:cxnLst/>
            <a:rect l="l" t="t" r="r" b="b"/>
            <a:pathLst>
              <a:path w="16230600" h="4778696">
                <a:moveTo>
                  <a:pt x="0" y="0"/>
                </a:moveTo>
                <a:lnTo>
                  <a:pt x="16230600" y="0"/>
                </a:lnTo>
                <a:lnTo>
                  <a:pt x="16230600" y="4778695"/>
                </a:lnTo>
                <a:lnTo>
                  <a:pt x="0" y="4778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4114800"/>
            <a:chOff x="0" y="0"/>
            <a:chExt cx="4274726" cy="10837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083733"/>
            </a:xfrm>
            <a:custGeom>
              <a:avLst/>
              <a:gdLst/>
              <a:ahLst/>
              <a:cxnLst/>
              <a:rect l="l" t="t" r="r" b="b"/>
              <a:pathLst>
                <a:path w="4274726" h="1083733">
                  <a:moveTo>
                    <a:pt x="0" y="0"/>
                  </a:moveTo>
                  <a:lnTo>
                    <a:pt x="4274726" y="0"/>
                  </a:lnTo>
                  <a:lnTo>
                    <a:pt x="427472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F1E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274726" cy="1131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939165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 t="-19027" b="-190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2090202">
            <a:off x="16188870" y="1067164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2" y="0"/>
                </a:lnTo>
                <a:lnTo>
                  <a:pt x="1489442" y="565987"/>
                </a:lnTo>
                <a:lnTo>
                  <a:pt x="0" y="565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10267570">
            <a:off x="14032130" y="-690228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2141916">
            <a:off x="605711" y="1084178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1" y="0"/>
                </a:lnTo>
                <a:lnTo>
                  <a:pt x="1489441" y="565988"/>
                </a:lnTo>
                <a:lnTo>
                  <a:pt x="0" y="5659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-1646047" y="0"/>
            <a:ext cx="3766398" cy="3485630"/>
          </a:xfrm>
          <a:custGeom>
            <a:avLst/>
            <a:gdLst/>
            <a:ahLst/>
            <a:cxnLst/>
            <a:rect l="l" t="t" r="r" b="b"/>
            <a:pathLst>
              <a:path w="3766398" h="3485630">
                <a:moveTo>
                  <a:pt x="0" y="0"/>
                </a:moveTo>
                <a:lnTo>
                  <a:pt x="3766398" y="0"/>
                </a:lnTo>
                <a:lnTo>
                  <a:pt x="3766398" y="3485630"/>
                </a:lnTo>
                <a:lnTo>
                  <a:pt x="0" y="34856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0" y="7430547"/>
            <a:ext cx="2700863" cy="2906758"/>
          </a:xfrm>
          <a:custGeom>
            <a:avLst/>
            <a:gdLst/>
            <a:ahLst/>
            <a:cxnLst/>
            <a:rect l="l" t="t" r="r" b="b"/>
            <a:pathLst>
              <a:path w="2700863" h="2906758">
                <a:moveTo>
                  <a:pt x="0" y="0"/>
                </a:moveTo>
                <a:lnTo>
                  <a:pt x="2700863" y="0"/>
                </a:lnTo>
                <a:lnTo>
                  <a:pt x="2700863" y="2906758"/>
                </a:lnTo>
                <a:lnTo>
                  <a:pt x="0" y="29067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4703648" y="7396458"/>
            <a:ext cx="3584352" cy="2900067"/>
          </a:xfrm>
          <a:custGeom>
            <a:avLst/>
            <a:gdLst/>
            <a:ahLst/>
            <a:cxnLst/>
            <a:rect l="l" t="t" r="r" b="b"/>
            <a:pathLst>
              <a:path w="3584352" h="2900067">
                <a:moveTo>
                  <a:pt x="0" y="0"/>
                </a:moveTo>
                <a:lnTo>
                  <a:pt x="3584352" y="0"/>
                </a:lnTo>
                <a:lnTo>
                  <a:pt x="3584352" y="2900067"/>
                </a:lnTo>
                <a:lnTo>
                  <a:pt x="0" y="29000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7792194">
            <a:off x="6823855" y="8448522"/>
            <a:ext cx="5055136" cy="3777565"/>
          </a:xfrm>
          <a:custGeom>
            <a:avLst/>
            <a:gdLst/>
            <a:ahLst/>
            <a:cxnLst/>
            <a:rect l="l" t="t" r="r" b="b"/>
            <a:pathLst>
              <a:path w="5055136" h="3777565">
                <a:moveTo>
                  <a:pt x="0" y="0"/>
                </a:moveTo>
                <a:lnTo>
                  <a:pt x="5055136" y="0"/>
                </a:lnTo>
                <a:lnTo>
                  <a:pt x="5055136" y="3777565"/>
                </a:lnTo>
                <a:lnTo>
                  <a:pt x="0" y="377756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126175" y="2018942"/>
            <a:ext cx="2807802" cy="1828581"/>
          </a:xfrm>
          <a:custGeom>
            <a:avLst/>
            <a:gdLst/>
            <a:ahLst/>
            <a:cxnLst/>
            <a:rect l="l" t="t" r="r" b="b"/>
            <a:pathLst>
              <a:path w="2807802" h="1828581">
                <a:moveTo>
                  <a:pt x="0" y="0"/>
                </a:moveTo>
                <a:lnTo>
                  <a:pt x="2807802" y="0"/>
                </a:lnTo>
                <a:lnTo>
                  <a:pt x="2807802" y="1828581"/>
                </a:lnTo>
                <a:lnTo>
                  <a:pt x="0" y="182858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5619855" y="2018942"/>
            <a:ext cx="2862510" cy="1864210"/>
          </a:xfrm>
          <a:custGeom>
            <a:avLst/>
            <a:gdLst/>
            <a:ahLst/>
            <a:cxnLst/>
            <a:rect l="l" t="t" r="r" b="b"/>
            <a:pathLst>
              <a:path w="2862510" h="1864210">
                <a:moveTo>
                  <a:pt x="0" y="0"/>
                </a:moveTo>
                <a:lnTo>
                  <a:pt x="2862510" y="0"/>
                </a:lnTo>
                <a:lnTo>
                  <a:pt x="2862510" y="1864209"/>
                </a:lnTo>
                <a:lnTo>
                  <a:pt x="0" y="18642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9987666" y="2041921"/>
            <a:ext cx="2862690" cy="1864327"/>
          </a:xfrm>
          <a:custGeom>
            <a:avLst/>
            <a:gdLst/>
            <a:ahLst/>
            <a:cxnLst/>
            <a:rect l="l" t="t" r="r" b="b"/>
            <a:pathLst>
              <a:path w="2862690" h="1864327">
                <a:moveTo>
                  <a:pt x="0" y="0"/>
                </a:moveTo>
                <a:lnTo>
                  <a:pt x="2862689" y="0"/>
                </a:lnTo>
                <a:lnTo>
                  <a:pt x="2862689" y="1864327"/>
                </a:lnTo>
                <a:lnTo>
                  <a:pt x="0" y="186432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4355656" y="2005624"/>
            <a:ext cx="2806169" cy="1827517"/>
          </a:xfrm>
          <a:custGeom>
            <a:avLst/>
            <a:gdLst/>
            <a:ahLst/>
            <a:cxnLst/>
            <a:rect l="l" t="t" r="r" b="b"/>
            <a:pathLst>
              <a:path w="2806169" h="1827517">
                <a:moveTo>
                  <a:pt x="0" y="0"/>
                </a:moveTo>
                <a:lnTo>
                  <a:pt x="2806169" y="0"/>
                </a:lnTo>
                <a:lnTo>
                  <a:pt x="2806169" y="1827517"/>
                </a:lnTo>
                <a:lnTo>
                  <a:pt x="0" y="182751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3990111" y="2580236"/>
            <a:ext cx="1448151" cy="660719"/>
          </a:xfrm>
          <a:custGeom>
            <a:avLst/>
            <a:gdLst/>
            <a:ahLst/>
            <a:cxnLst/>
            <a:rect l="l" t="t" r="r" b="b"/>
            <a:pathLst>
              <a:path w="1448151" h="660719">
                <a:moveTo>
                  <a:pt x="0" y="0"/>
                </a:moveTo>
                <a:lnTo>
                  <a:pt x="1448151" y="0"/>
                </a:lnTo>
                <a:lnTo>
                  <a:pt x="1448151" y="660719"/>
                </a:lnTo>
                <a:lnTo>
                  <a:pt x="0" y="66071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8482365" y="2643725"/>
            <a:ext cx="1448151" cy="660719"/>
          </a:xfrm>
          <a:custGeom>
            <a:avLst/>
            <a:gdLst/>
            <a:ahLst/>
            <a:cxnLst/>
            <a:rect l="l" t="t" r="r" b="b"/>
            <a:pathLst>
              <a:path w="1448151" h="660719">
                <a:moveTo>
                  <a:pt x="0" y="0"/>
                </a:moveTo>
                <a:lnTo>
                  <a:pt x="1448151" y="0"/>
                </a:lnTo>
                <a:lnTo>
                  <a:pt x="1448151" y="660719"/>
                </a:lnTo>
                <a:lnTo>
                  <a:pt x="0" y="66071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2850355" y="2692251"/>
            <a:ext cx="1448151" cy="660719"/>
          </a:xfrm>
          <a:custGeom>
            <a:avLst/>
            <a:gdLst/>
            <a:ahLst/>
            <a:cxnLst/>
            <a:rect l="l" t="t" r="r" b="b"/>
            <a:pathLst>
              <a:path w="1448151" h="660719">
                <a:moveTo>
                  <a:pt x="0" y="0"/>
                </a:moveTo>
                <a:lnTo>
                  <a:pt x="1448151" y="0"/>
                </a:lnTo>
                <a:lnTo>
                  <a:pt x="1448151" y="660719"/>
                </a:lnTo>
                <a:lnTo>
                  <a:pt x="0" y="66071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8960414" y="5776598"/>
            <a:ext cx="3254196" cy="2119295"/>
          </a:xfrm>
          <a:custGeom>
            <a:avLst/>
            <a:gdLst/>
            <a:ahLst/>
            <a:cxnLst/>
            <a:rect l="l" t="t" r="r" b="b"/>
            <a:pathLst>
              <a:path w="3254196" h="2119295">
                <a:moveTo>
                  <a:pt x="0" y="0"/>
                </a:moveTo>
                <a:lnTo>
                  <a:pt x="3254197" y="0"/>
                </a:lnTo>
                <a:lnTo>
                  <a:pt x="3254197" y="2119295"/>
                </a:lnTo>
                <a:lnTo>
                  <a:pt x="0" y="211929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2254777" y="5436993"/>
            <a:ext cx="4821023" cy="3139691"/>
          </a:xfrm>
          <a:custGeom>
            <a:avLst/>
            <a:gdLst/>
            <a:ahLst/>
            <a:cxnLst/>
            <a:rect l="l" t="t" r="r" b="b"/>
            <a:pathLst>
              <a:path w="4821023" h="3139691">
                <a:moveTo>
                  <a:pt x="0" y="0"/>
                </a:moveTo>
                <a:lnTo>
                  <a:pt x="4821023" y="0"/>
                </a:lnTo>
                <a:lnTo>
                  <a:pt x="4821023" y="3139691"/>
                </a:lnTo>
                <a:lnTo>
                  <a:pt x="0" y="313969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 rot="10670104">
            <a:off x="7261770" y="6496220"/>
            <a:ext cx="1587607" cy="724346"/>
          </a:xfrm>
          <a:custGeom>
            <a:avLst/>
            <a:gdLst/>
            <a:ahLst/>
            <a:cxnLst/>
            <a:rect l="l" t="t" r="r" b="b"/>
            <a:pathLst>
              <a:path w="1587607" h="724346">
                <a:moveTo>
                  <a:pt x="0" y="0"/>
                </a:moveTo>
                <a:lnTo>
                  <a:pt x="1587606" y="0"/>
                </a:lnTo>
                <a:lnTo>
                  <a:pt x="1587606" y="724346"/>
                </a:lnTo>
                <a:lnTo>
                  <a:pt x="0" y="7243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 rot="10023877">
            <a:off x="12267561" y="6650463"/>
            <a:ext cx="1589223" cy="568147"/>
          </a:xfrm>
          <a:custGeom>
            <a:avLst/>
            <a:gdLst/>
            <a:ahLst/>
            <a:cxnLst/>
            <a:rect l="l" t="t" r="r" b="b"/>
            <a:pathLst>
              <a:path w="1589223" h="568147">
                <a:moveTo>
                  <a:pt x="0" y="0"/>
                </a:moveTo>
                <a:lnTo>
                  <a:pt x="1589223" y="0"/>
                </a:lnTo>
                <a:lnTo>
                  <a:pt x="1589223" y="568147"/>
                </a:lnTo>
                <a:lnTo>
                  <a:pt x="0" y="56814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587163" y="2658755"/>
            <a:ext cx="2017263" cy="563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4"/>
              </a:lnSpc>
              <a:spcBef>
                <a:spcPct val="0"/>
              </a:spcBef>
            </a:pPr>
            <a:r>
              <a:rPr lang="en-US" sz="3295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Khái niệm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1136" y="408570"/>
            <a:ext cx="17245728" cy="1410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81"/>
              </a:lnSpc>
            </a:pPr>
            <a:r>
              <a:rPr lang="en-US" sz="7843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Tổng</a:t>
            </a:r>
            <a:r>
              <a:rPr lang="en-US" sz="7843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7843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quan</a:t>
            </a:r>
            <a:r>
              <a:rPr lang="en-US" sz="7843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7843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về</a:t>
            </a:r>
            <a:r>
              <a:rPr lang="en-US" sz="7843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7843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kỹ</a:t>
            </a:r>
            <a:r>
              <a:rPr lang="en-US" sz="7843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7843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thuật</a:t>
            </a:r>
            <a:r>
              <a:rPr lang="en-US" sz="7843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observation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145904" y="2658755"/>
            <a:ext cx="2017263" cy="563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4"/>
              </a:lnSpc>
              <a:spcBef>
                <a:spcPct val="0"/>
              </a:spcBef>
            </a:pPr>
            <a:r>
              <a:rPr lang="en-US" sz="3295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Mục tiêu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500552" y="2658755"/>
            <a:ext cx="2017263" cy="563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4"/>
              </a:lnSpc>
              <a:spcBef>
                <a:spcPct val="0"/>
              </a:spcBef>
            </a:pPr>
            <a:r>
              <a:rPr lang="en-US" sz="3295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Đặc trưng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870006" y="2635685"/>
            <a:ext cx="1891870" cy="840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2"/>
              </a:lnSpc>
            </a:pPr>
            <a:r>
              <a:rPr lang="en-US" sz="3295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Cách tiếp cận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21085" y="6443031"/>
            <a:ext cx="1932856" cy="887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3"/>
              </a:lnSpc>
            </a:pPr>
            <a:r>
              <a:rPr lang="en-US" sz="3295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Cách tiến hành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95794" y="6514874"/>
            <a:ext cx="4138989" cy="17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4"/>
              </a:lnSpc>
              <a:spcBef>
                <a:spcPct val="0"/>
              </a:spcBef>
            </a:pPr>
            <a:r>
              <a:rPr lang="en-US" sz="3295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Ưu, nhược điểm và so sánh với các kỹ thuật khác, ví dụ</a:t>
            </a:r>
          </a:p>
        </p:txBody>
      </p:sp>
      <p:sp>
        <p:nvSpPr>
          <p:cNvPr id="33" name="Freeform 33"/>
          <p:cNvSpPr/>
          <p:nvPr/>
        </p:nvSpPr>
        <p:spPr>
          <a:xfrm>
            <a:off x="13574431" y="4888712"/>
            <a:ext cx="2856167" cy="1860079"/>
          </a:xfrm>
          <a:custGeom>
            <a:avLst/>
            <a:gdLst/>
            <a:ahLst/>
            <a:cxnLst/>
            <a:rect l="l" t="t" r="r" b="b"/>
            <a:pathLst>
              <a:path w="2856167" h="1860079">
                <a:moveTo>
                  <a:pt x="0" y="0"/>
                </a:moveTo>
                <a:lnTo>
                  <a:pt x="2856167" y="0"/>
                </a:lnTo>
                <a:lnTo>
                  <a:pt x="2856167" y="1860079"/>
                </a:lnTo>
                <a:lnTo>
                  <a:pt x="0" y="18600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3905257" y="5494143"/>
            <a:ext cx="2143661" cy="768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998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Trường hợp sử dụng</a:t>
            </a:r>
          </a:p>
        </p:txBody>
      </p:sp>
      <p:sp>
        <p:nvSpPr>
          <p:cNvPr id="35" name="Freeform 35"/>
          <p:cNvSpPr/>
          <p:nvPr/>
        </p:nvSpPr>
        <p:spPr>
          <a:xfrm rot="7371424">
            <a:off x="15697471" y="4236058"/>
            <a:ext cx="1589223" cy="568147"/>
          </a:xfrm>
          <a:custGeom>
            <a:avLst/>
            <a:gdLst/>
            <a:ahLst/>
            <a:cxnLst/>
            <a:rect l="l" t="t" r="r" b="b"/>
            <a:pathLst>
              <a:path w="1589223" h="568147">
                <a:moveTo>
                  <a:pt x="0" y="0"/>
                </a:moveTo>
                <a:lnTo>
                  <a:pt x="1589223" y="0"/>
                </a:lnTo>
                <a:lnTo>
                  <a:pt x="1589223" y="568147"/>
                </a:lnTo>
                <a:lnTo>
                  <a:pt x="0" y="56814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666" b="-14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5007111"/>
            <a:ext cx="16230600" cy="4778696"/>
          </a:xfrm>
          <a:custGeom>
            <a:avLst/>
            <a:gdLst/>
            <a:ahLst/>
            <a:cxnLst/>
            <a:rect l="l" t="t" r="r" b="b"/>
            <a:pathLst>
              <a:path w="16230600" h="4778696">
                <a:moveTo>
                  <a:pt x="0" y="0"/>
                </a:moveTo>
                <a:lnTo>
                  <a:pt x="16230600" y="0"/>
                </a:lnTo>
                <a:lnTo>
                  <a:pt x="16230600" y="4778695"/>
                </a:lnTo>
                <a:lnTo>
                  <a:pt x="0" y="47786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4114800"/>
            <a:chOff x="0" y="0"/>
            <a:chExt cx="4274726" cy="10837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083733"/>
            </a:xfrm>
            <a:custGeom>
              <a:avLst/>
              <a:gdLst/>
              <a:ahLst/>
              <a:cxnLst/>
              <a:rect l="l" t="t" r="r" b="b"/>
              <a:pathLst>
                <a:path w="4274726" h="1083733">
                  <a:moveTo>
                    <a:pt x="0" y="0"/>
                  </a:moveTo>
                  <a:lnTo>
                    <a:pt x="4274726" y="0"/>
                  </a:lnTo>
                  <a:lnTo>
                    <a:pt x="427472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F1E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274726" cy="1131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580512" y="969812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</a:blip>
            <a:stretch>
              <a:fillRect t="-19027" b="-190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0" y="98425"/>
            <a:ext cx="18288000" cy="1387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dirty="0" err="1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Kỹ</a:t>
            </a:r>
            <a:r>
              <a:rPr lang="en-US" sz="8000" dirty="0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</a:t>
            </a:r>
            <a:r>
              <a:rPr lang="en-US" sz="8000" dirty="0" err="1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thuật</a:t>
            </a:r>
            <a:r>
              <a:rPr lang="en-US" sz="8000" dirty="0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Observations</a:t>
            </a:r>
          </a:p>
        </p:txBody>
      </p:sp>
      <p:sp>
        <p:nvSpPr>
          <p:cNvPr id="10" name="Freeform 10"/>
          <p:cNvSpPr/>
          <p:nvPr/>
        </p:nvSpPr>
        <p:spPr>
          <a:xfrm rot="-10267570">
            <a:off x="14032130" y="-690228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2141916">
            <a:off x="605711" y="1084178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1" y="0"/>
                </a:lnTo>
                <a:lnTo>
                  <a:pt x="1489441" y="565988"/>
                </a:lnTo>
                <a:lnTo>
                  <a:pt x="0" y="5659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1646047" y="0"/>
            <a:ext cx="3766398" cy="3485630"/>
          </a:xfrm>
          <a:custGeom>
            <a:avLst/>
            <a:gdLst/>
            <a:ahLst/>
            <a:cxnLst/>
            <a:rect l="l" t="t" r="r" b="b"/>
            <a:pathLst>
              <a:path w="3766398" h="3485630">
                <a:moveTo>
                  <a:pt x="0" y="0"/>
                </a:moveTo>
                <a:lnTo>
                  <a:pt x="3766398" y="0"/>
                </a:lnTo>
                <a:lnTo>
                  <a:pt x="3766398" y="3485630"/>
                </a:lnTo>
                <a:lnTo>
                  <a:pt x="0" y="34856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47987" y="7396458"/>
            <a:ext cx="2700863" cy="2906758"/>
          </a:xfrm>
          <a:custGeom>
            <a:avLst/>
            <a:gdLst/>
            <a:ahLst/>
            <a:cxnLst/>
            <a:rect l="l" t="t" r="r" b="b"/>
            <a:pathLst>
              <a:path w="2700863" h="2906758">
                <a:moveTo>
                  <a:pt x="0" y="0"/>
                </a:moveTo>
                <a:lnTo>
                  <a:pt x="2700863" y="0"/>
                </a:lnTo>
                <a:lnTo>
                  <a:pt x="2700863" y="2906759"/>
                </a:lnTo>
                <a:lnTo>
                  <a:pt x="0" y="29067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7199409">
            <a:off x="6781313" y="9552142"/>
            <a:ext cx="5506423" cy="4114800"/>
          </a:xfrm>
          <a:custGeom>
            <a:avLst/>
            <a:gdLst/>
            <a:ahLst/>
            <a:cxnLst/>
            <a:rect l="l" t="t" r="r" b="b"/>
            <a:pathLst>
              <a:path w="5506423" h="4114800">
                <a:moveTo>
                  <a:pt x="0" y="0"/>
                </a:moveTo>
                <a:lnTo>
                  <a:pt x="5506424" y="0"/>
                </a:lnTo>
                <a:lnTo>
                  <a:pt x="55064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149545" y="1969664"/>
            <a:ext cx="9822512" cy="5804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just">
              <a:lnSpc>
                <a:spcPts val="5104"/>
              </a:lnSpc>
              <a:buFont typeface="Arial"/>
              <a:buChar char="•"/>
            </a:pP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Khái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niệm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:</a:t>
            </a:r>
          </a:p>
          <a:p>
            <a:pPr algn="just">
              <a:lnSpc>
                <a:spcPts val="4060"/>
              </a:lnSpc>
              <a:spcBef>
                <a:spcPct val="0"/>
              </a:spcBef>
            </a:pP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Kỹ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thuật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observation (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quan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sát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)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là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một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phương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pháp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thu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thập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thông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tin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được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sử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dụng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trong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phân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tích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yêu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cầu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phát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triển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hệ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thống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.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Đây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là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quá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trình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mà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nhà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phân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tích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trực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tiếp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theo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dõi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các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quy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trình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,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hoạt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động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cách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hệ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thống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hiện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tại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vận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hành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trong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thực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tế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,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thay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vì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chỉ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dựa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vào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các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cuộc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phỏng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vấn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hoặc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tài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liệu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mô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tả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. </a:t>
            </a:r>
          </a:p>
          <a:p>
            <a:pPr marL="626111" lvl="1" indent="-313055" algn="just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Mục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tiêu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:</a:t>
            </a:r>
          </a:p>
          <a:p>
            <a:pPr algn="just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Hiểu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rõ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hơn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về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các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hoạt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động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thực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tế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của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hệ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thống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,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xác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minh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tính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chính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xác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của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các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dữ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liệu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thu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thập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được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từ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các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kỹ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thuật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khác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như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phỏng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vấn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hoặc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phân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tích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tài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liệu</a:t>
            </a:r>
            <a:r>
              <a:rPr lang="en-US" sz="2900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.</a:t>
            </a:r>
          </a:p>
        </p:txBody>
      </p:sp>
      <p:pic>
        <p:nvPicPr>
          <p:cNvPr id="21" name="Picture 20" descr="A diagram of a padlock&#10;&#10;Description automatically generated">
            <a:extLst>
              <a:ext uri="{FF2B5EF4-FFF2-40B4-BE49-F238E27FC236}">
                <a16:creationId xmlns:a16="http://schemas.microsoft.com/office/drawing/2014/main" id="{7E6E5391-9A22-926F-75A0-CD487C33556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8680" y="1579819"/>
            <a:ext cx="6748717" cy="7084856"/>
          </a:xfrm>
          <a:prstGeom prst="rect">
            <a:avLst/>
          </a:prstGeom>
        </p:spPr>
      </p:pic>
      <p:sp>
        <p:nvSpPr>
          <p:cNvPr id="14" name="Freeform 14"/>
          <p:cNvSpPr/>
          <p:nvPr/>
        </p:nvSpPr>
        <p:spPr>
          <a:xfrm>
            <a:off x="14703648" y="7808267"/>
            <a:ext cx="3584352" cy="2900067"/>
          </a:xfrm>
          <a:custGeom>
            <a:avLst/>
            <a:gdLst/>
            <a:ahLst/>
            <a:cxnLst/>
            <a:rect l="l" t="t" r="r" b="b"/>
            <a:pathLst>
              <a:path w="3584352" h="2900067">
                <a:moveTo>
                  <a:pt x="0" y="0"/>
                </a:moveTo>
                <a:lnTo>
                  <a:pt x="3584352" y="0"/>
                </a:lnTo>
                <a:lnTo>
                  <a:pt x="3584352" y="2900066"/>
                </a:lnTo>
                <a:lnTo>
                  <a:pt x="0" y="29000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9"/>
          <p:cNvSpPr/>
          <p:nvPr/>
        </p:nvSpPr>
        <p:spPr>
          <a:xfrm rot="2090202">
            <a:off x="16188870" y="1067164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2" y="0"/>
                </a:lnTo>
                <a:lnTo>
                  <a:pt x="1489442" y="565987"/>
                </a:lnTo>
                <a:lnTo>
                  <a:pt x="0" y="5659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666" b="-14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5007111"/>
            <a:ext cx="16230600" cy="4778696"/>
          </a:xfrm>
          <a:custGeom>
            <a:avLst/>
            <a:gdLst/>
            <a:ahLst/>
            <a:cxnLst/>
            <a:rect l="l" t="t" r="r" b="b"/>
            <a:pathLst>
              <a:path w="16230600" h="4778696">
                <a:moveTo>
                  <a:pt x="0" y="0"/>
                </a:moveTo>
                <a:lnTo>
                  <a:pt x="16230600" y="0"/>
                </a:lnTo>
                <a:lnTo>
                  <a:pt x="16230600" y="4778695"/>
                </a:lnTo>
                <a:lnTo>
                  <a:pt x="0" y="4778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4114800"/>
            <a:chOff x="0" y="0"/>
            <a:chExt cx="4274726" cy="10837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083733"/>
            </a:xfrm>
            <a:custGeom>
              <a:avLst/>
              <a:gdLst/>
              <a:ahLst/>
              <a:cxnLst/>
              <a:rect l="l" t="t" r="r" b="b"/>
              <a:pathLst>
                <a:path w="4274726" h="1083733">
                  <a:moveTo>
                    <a:pt x="0" y="0"/>
                  </a:moveTo>
                  <a:lnTo>
                    <a:pt x="4274726" y="0"/>
                  </a:lnTo>
                  <a:lnTo>
                    <a:pt x="427472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F1E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274726" cy="1131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 t="-19027" b="-190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-46074" y="222325"/>
            <a:ext cx="18288000" cy="1387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dirty="0" err="1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Kỹ</a:t>
            </a:r>
            <a:r>
              <a:rPr lang="en-US" sz="8000" dirty="0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</a:t>
            </a:r>
            <a:r>
              <a:rPr lang="en-US" sz="8000" dirty="0" err="1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thuật</a:t>
            </a:r>
            <a:r>
              <a:rPr lang="en-US" sz="8000" dirty="0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Observations</a:t>
            </a:r>
          </a:p>
        </p:txBody>
      </p:sp>
      <p:sp>
        <p:nvSpPr>
          <p:cNvPr id="9" name="Freeform 9"/>
          <p:cNvSpPr/>
          <p:nvPr/>
        </p:nvSpPr>
        <p:spPr>
          <a:xfrm rot="2090202">
            <a:off x="16188870" y="1067164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2" y="0"/>
                </a:lnTo>
                <a:lnTo>
                  <a:pt x="1489442" y="565987"/>
                </a:lnTo>
                <a:lnTo>
                  <a:pt x="0" y="565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0267570">
            <a:off x="14032130" y="-690228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2141916">
            <a:off x="605711" y="1084178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1" y="0"/>
                </a:lnTo>
                <a:lnTo>
                  <a:pt x="1489441" y="565988"/>
                </a:lnTo>
                <a:lnTo>
                  <a:pt x="0" y="5659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1646047" y="0"/>
            <a:ext cx="3766398" cy="3485630"/>
          </a:xfrm>
          <a:custGeom>
            <a:avLst/>
            <a:gdLst/>
            <a:ahLst/>
            <a:cxnLst/>
            <a:rect l="l" t="t" r="r" b="b"/>
            <a:pathLst>
              <a:path w="3766398" h="3485630">
                <a:moveTo>
                  <a:pt x="0" y="0"/>
                </a:moveTo>
                <a:lnTo>
                  <a:pt x="3766398" y="0"/>
                </a:lnTo>
                <a:lnTo>
                  <a:pt x="3766398" y="3485630"/>
                </a:lnTo>
                <a:lnTo>
                  <a:pt x="0" y="34856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47987" y="7396458"/>
            <a:ext cx="2700863" cy="2906758"/>
          </a:xfrm>
          <a:custGeom>
            <a:avLst/>
            <a:gdLst/>
            <a:ahLst/>
            <a:cxnLst/>
            <a:rect l="l" t="t" r="r" b="b"/>
            <a:pathLst>
              <a:path w="2700863" h="2906758">
                <a:moveTo>
                  <a:pt x="0" y="0"/>
                </a:moveTo>
                <a:lnTo>
                  <a:pt x="2700863" y="0"/>
                </a:lnTo>
                <a:lnTo>
                  <a:pt x="2700863" y="2906759"/>
                </a:lnTo>
                <a:lnTo>
                  <a:pt x="0" y="29067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4703648" y="7808267"/>
            <a:ext cx="3584352" cy="2900067"/>
          </a:xfrm>
          <a:custGeom>
            <a:avLst/>
            <a:gdLst/>
            <a:ahLst/>
            <a:cxnLst/>
            <a:rect l="l" t="t" r="r" b="b"/>
            <a:pathLst>
              <a:path w="3584352" h="2900067">
                <a:moveTo>
                  <a:pt x="0" y="0"/>
                </a:moveTo>
                <a:lnTo>
                  <a:pt x="3584352" y="0"/>
                </a:lnTo>
                <a:lnTo>
                  <a:pt x="3584352" y="2900066"/>
                </a:lnTo>
                <a:lnTo>
                  <a:pt x="0" y="29000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7199409">
            <a:off x="6781313" y="9552142"/>
            <a:ext cx="5506423" cy="4114800"/>
          </a:xfrm>
          <a:custGeom>
            <a:avLst/>
            <a:gdLst/>
            <a:ahLst/>
            <a:cxnLst/>
            <a:rect l="l" t="t" r="r" b="b"/>
            <a:pathLst>
              <a:path w="5506423" h="4114800">
                <a:moveTo>
                  <a:pt x="0" y="0"/>
                </a:moveTo>
                <a:lnTo>
                  <a:pt x="5506424" y="0"/>
                </a:lnTo>
                <a:lnTo>
                  <a:pt x="55064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2379659" y="1932383"/>
            <a:ext cx="14116165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3474"/>
              </a:lnSpc>
              <a:buFont typeface="Arial"/>
              <a:buChar char="•"/>
            </a:pPr>
            <a:r>
              <a:rPr lang="en-US" sz="2499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Đặc</a:t>
            </a:r>
            <a:r>
              <a:rPr lang="en-US" sz="2499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499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trưng</a:t>
            </a:r>
            <a:r>
              <a:rPr lang="en-US" sz="2499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499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của</a:t>
            </a:r>
            <a:r>
              <a:rPr lang="en-US" sz="2499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499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kỹ</a:t>
            </a:r>
            <a:r>
              <a:rPr lang="en-US" sz="2499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499" dirty="0" err="1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thuật</a:t>
            </a:r>
            <a:r>
              <a:rPr lang="en-US" sz="2499" dirty="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:</a:t>
            </a:r>
          </a:p>
        </p:txBody>
      </p:sp>
      <p:pic>
        <p:nvPicPr>
          <p:cNvPr id="22" name="Picture 21" descr="A screen shot of a black background&#10;&#10;Description automatically generated">
            <a:extLst>
              <a:ext uri="{FF2B5EF4-FFF2-40B4-BE49-F238E27FC236}">
                <a16:creationId xmlns:a16="http://schemas.microsoft.com/office/drawing/2014/main" id="{F0D1F55D-F3DA-EE08-DCAE-E70EBD2F68F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539" y="2749002"/>
            <a:ext cx="13058775" cy="5343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666" b="-14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5007111"/>
            <a:ext cx="16230600" cy="4778696"/>
          </a:xfrm>
          <a:custGeom>
            <a:avLst/>
            <a:gdLst/>
            <a:ahLst/>
            <a:cxnLst/>
            <a:rect l="l" t="t" r="r" b="b"/>
            <a:pathLst>
              <a:path w="16230600" h="4778696">
                <a:moveTo>
                  <a:pt x="0" y="0"/>
                </a:moveTo>
                <a:lnTo>
                  <a:pt x="16230600" y="0"/>
                </a:lnTo>
                <a:lnTo>
                  <a:pt x="16230600" y="4778695"/>
                </a:lnTo>
                <a:lnTo>
                  <a:pt x="0" y="4778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4114800"/>
            <a:chOff x="0" y="0"/>
            <a:chExt cx="4274726" cy="10837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083733"/>
            </a:xfrm>
            <a:custGeom>
              <a:avLst/>
              <a:gdLst/>
              <a:ahLst/>
              <a:cxnLst/>
              <a:rect l="l" t="t" r="r" b="b"/>
              <a:pathLst>
                <a:path w="4274726" h="1083733">
                  <a:moveTo>
                    <a:pt x="0" y="0"/>
                  </a:moveTo>
                  <a:lnTo>
                    <a:pt x="4274726" y="0"/>
                  </a:lnTo>
                  <a:lnTo>
                    <a:pt x="427472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F1E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274726" cy="1131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 t="-19027" b="-190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0" y="334944"/>
            <a:ext cx="18288000" cy="1387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dirty="0" err="1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Kỹ</a:t>
            </a:r>
            <a:r>
              <a:rPr lang="en-US" sz="8000" dirty="0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</a:t>
            </a:r>
            <a:r>
              <a:rPr lang="en-US" sz="8000" dirty="0" err="1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thuật</a:t>
            </a:r>
            <a:r>
              <a:rPr lang="en-US" sz="8000" dirty="0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Observations</a:t>
            </a:r>
          </a:p>
        </p:txBody>
      </p:sp>
      <p:sp>
        <p:nvSpPr>
          <p:cNvPr id="9" name="Freeform 9"/>
          <p:cNvSpPr/>
          <p:nvPr/>
        </p:nvSpPr>
        <p:spPr>
          <a:xfrm rot="2090202">
            <a:off x="16188870" y="1067164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2" y="0"/>
                </a:lnTo>
                <a:lnTo>
                  <a:pt x="1489442" y="565987"/>
                </a:lnTo>
                <a:lnTo>
                  <a:pt x="0" y="565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0267570">
            <a:off x="14032130" y="-690228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2141916">
            <a:off x="605711" y="1084178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1" y="0"/>
                </a:lnTo>
                <a:lnTo>
                  <a:pt x="1489441" y="565988"/>
                </a:lnTo>
                <a:lnTo>
                  <a:pt x="0" y="5659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1646047" y="0"/>
            <a:ext cx="3766398" cy="3485630"/>
          </a:xfrm>
          <a:custGeom>
            <a:avLst/>
            <a:gdLst/>
            <a:ahLst/>
            <a:cxnLst/>
            <a:rect l="l" t="t" r="r" b="b"/>
            <a:pathLst>
              <a:path w="3766398" h="3485630">
                <a:moveTo>
                  <a:pt x="0" y="0"/>
                </a:moveTo>
                <a:lnTo>
                  <a:pt x="3766398" y="0"/>
                </a:lnTo>
                <a:lnTo>
                  <a:pt x="3766398" y="3485630"/>
                </a:lnTo>
                <a:lnTo>
                  <a:pt x="0" y="34856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47987" y="7396458"/>
            <a:ext cx="2700863" cy="2906758"/>
          </a:xfrm>
          <a:custGeom>
            <a:avLst/>
            <a:gdLst/>
            <a:ahLst/>
            <a:cxnLst/>
            <a:rect l="l" t="t" r="r" b="b"/>
            <a:pathLst>
              <a:path w="2700863" h="2906758">
                <a:moveTo>
                  <a:pt x="0" y="0"/>
                </a:moveTo>
                <a:lnTo>
                  <a:pt x="2700863" y="0"/>
                </a:lnTo>
                <a:lnTo>
                  <a:pt x="2700863" y="2906759"/>
                </a:lnTo>
                <a:lnTo>
                  <a:pt x="0" y="29067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4703648" y="7808267"/>
            <a:ext cx="3584352" cy="2900067"/>
          </a:xfrm>
          <a:custGeom>
            <a:avLst/>
            <a:gdLst/>
            <a:ahLst/>
            <a:cxnLst/>
            <a:rect l="l" t="t" r="r" b="b"/>
            <a:pathLst>
              <a:path w="3584352" h="2900067">
                <a:moveTo>
                  <a:pt x="0" y="0"/>
                </a:moveTo>
                <a:lnTo>
                  <a:pt x="3584352" y="0"/>
                </a:lnTo>
                <a:lnTo>
                  <a:pt x="3584352" y="2900066"/>
                </a:lnTo>
                <a:lnTo>
                  <a:pt x="0" y="29000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7199409">
            <a:off x="6781313" y="9552142"/>
            <a:ext cx="5506423" cy="4114800"/>
          </a:xfrm>
          <a:custGeom>
            <a:avLst/>
            <a:gdLst/>
            <a:ahLst/>
            <a:cxnLst/>
            <a:rect l="l" t="t" r="r" b="b"/>
            <a:pathLst>
              <a:path w="5506423" h="4114800">
                <a:moveTo>
                  <a:pt x="0" y="0"/>
                </a:moveTo>
                <a:lnTo>
                  <a:pt x="5506424" y="0"/>
                </a:lnTo>
                <a:lnTo>
                  <a:pt x="55064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796006" y="2936895"/>
            <a:ext cx="4191000" cy="3620748"/>
          </a:xfrm>
          <a:custGeom>
            <a:avLst/>
            <a:gdLst/>
            <a:ahLst/>
            <a:cxnLst/>
            <a:rect l="l" t="t" r="r" b="b"/>
            <a:pathLst>
              <a:path w="6186601" h="3711961">
                <a:moveTo>
                  <a:pt x="0" y="0"/>
                </a:moveTo>
                <a:lnTo>
                  <a:pt x="6186602" y="0"/>
                </a:lnTo>
                <a:lnTo>
                  <a:pt x="6186602" y="3711960"/>
                </a:lnTo>
                <a:lnTo>
                  <a:pt x="0" y="371196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9" name="Picture 18" descr="A screenshot of a device&#10;&#10;Description automatically generated">
            <a:extLst>
              <a:ext uri="{FF2B5EF4-FFF2-40B4-BE49-F238E27FC236}">
                <a16:creationId xmlns:a16="http://schemas.microsoft.com/office/drawing/2014/main" id="{A2991D39-0060-6C6A-8863-0CFB6BBE8EF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006" y="1782398"/>
            <a:ext cx="9949578" cy="69141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666" b="-14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5007111"/>
            <a:ext cx="16230600" cy="4778696"/>
          </a:xfrm>
          <a:custGeom>
            <a:avLst/>
            <a:gdLst/>
            <a:ahLst/>
            <a:cxnLst/>
            <a:rect l="l" t="t" r="r" b="b"/>
            <a:pathLst>
              <a:path w="16230600" h="4778696">
                <a:moveTo>
                  <a:pt x="0" y="0"/>
                </a:moveTo>
                <a:lnTo>
                  <a:pt x="16230600" y="0"/>
                </a:lnTo>
                <a:lnTo>
                  <a:pt x="16230600" y="4778695"/>
                </a:lnTo>
                <a:lnTo>
                  <a:pt x="0" y="4778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4114800"/>
            <a:chOff x="0" y="0"/>
            <a:chExt cx="4274726" cy="10837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083733"/>
            </a:xfrm>
            <a:custGeom>
              <a:avLst/>
              <a:gdLst/>
              <a:ahLst/>
              <a:cxnLst/>
              <a:rect l="l" t="t" r="r" b="b"/>
              <a:pathLst>
                <a:path w="4274726" h="1083733">
                  <a:moveTo>
                    <a:pt x="0" y="0"/>
                  </a:moveTo>
                  <a:lnTo>
                    <a:pt x="4274726" y="0"/>
                  </a:lnTo>
                  <a:lnTo>
                    <a:pt x="427472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F1E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274726" cy="1131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 t="-19027" b="-190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0" y="98425"/>
            <a:ext cx="18288000" cy="1387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dirty="0" err="1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Kỹ</a:t>
            </a:r>
            <a:r>
              <a:rPr lang="en-US" sz="8000" dirty="0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</a:t>
            </a:r>
            <a:r>
              <a:rPr lang="en-US" sz="8000" dirty="0" err="1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thuật</a:t>
            </a:r>
            <a:r>
              <a:rPr lang="en-US" sz="8000" dirty="0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Observations</a:t>
            </a:r>
          </a:p>
        </p:txBody>
      </p:sp>
      <p:sp>
        <p:nvSpPr>
          <p:cNvPr id="9" name="Freeform 9"/>
          <p:cNvSpPr/>
          <p:nvPr/>
        </p:nvSpPr>
        <p:spPr>
          <a:xfrm rot="2090202">
            <a:off x="16188870" y="1067164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2" y="0"/>
                </a:lnTo>
                <a:lnTo>
                  <a:pt x="1489442" y="565987"/>
                </a:lnTo>
                <a:lnTo>
                  <a:pt x="0" y="565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0267570">
            <a:off x="14032130" y="-690228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2141916">
            <a:off x="605711" y="1084178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1" y="0"/>
                </a:lnTo>
                <a:lnTo>
                  <a:pt x="1489441" y="565988"/>
                </a:lnTo>
                <a:lnTo>
                  <a:pt x="0" y="5659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1646047" y="0"/>
            <a:ext cx="3766398" cy="3485630"/>
          </a:xfrm>
          <a:custGeom>
            <a:avLst/>
            <a:gdLst/>
            <a:ahLst/>
            <a:cxnLst/>
            <a:rect l="l" t="t" r="r" b="b"/>
            <a:pathLst>
              <a:path w="3766398" h="3485630">
                <a:moveTo>
                  <a:pt x="0" y="0"/>
                </a:moveTo>
                <a:lnTo>
                  <a:pt x="3766398" y="0"/>
                </a:lnTo>
                <a:lnTo>
                  <a:pt x="3766398" y="3485630"/>
                </a:lnTo>
                <a:lnTo>
                  <a:pt x="0" y="34856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47987" y="7396458"/>
            <a:ext cx="2700863" cy="2906758"/>
          </a:xfrm>
          <a:custGeom>
            <a:avLst/>
            <a:gdLst/>
            <a:ahLst/>
            <a:cxnLst/>
            <a:rect l="l" t="t" r="r" b="b"/>
            <a:pathLst>
              <a:path w="2700863" h="2906758">
                <a:moveTo>
                  <a:pt x="0" y="0"/>
                </a:moveTo>
                <a:lnTo>
                  <a:pt x="2700863" y="0"/>
                </a:lnTo>
                <a:lnTo>
                  <a:pt x="2700863" y="2906759"/>
                </a:lnTo>
                <a:lnTo>
                  <a:pt x="0" y="29067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4703648" y="7808267"/>
            <a:ext cx="3584352" cy="2900067"/>
          </a:xfrm>
          <a:custGeom>
            <a:avLst/>
            <a:gdLst/>
            <a:ahLst/>
            <a:cxnLst/>
            <a:rect l="l" t="t" r="r" b="b"/>
            <a:pathLst>
              <a:path w="3584352" h="2900067">
                <a:moveTo>
                  <a:pt x="0" y="0"/>
                </a:moveTo>
                <a:lnTo>
                  <a:pt x="3584352" y="0"/>
                </a:lnTo>
                <a:lnTo>
                  <a:pt x="3584352" y="2900066"/>
                </a:lnTo>
                <a:lnTo>
                  <a:pt x="0" y="29000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7199409">
            <a:off x="6781313" y="9552142"/>
            <a:ext cx="5506423" cy="4114800"/>
          </a:xfrm>
          <a:custGeom>
            <a:avLst/>
            <a:gdLst/>
            <a:ahLst/>
            <a:cxnLst/>
            <a:rect l="l" t="t" r="r" b="b"/>
            <a:pathLst>
              <a:path w="5506423" h="4114800">
                <a:moveTo>
                  <a:pt x="0" y="0"/>
                </a:moveTo>
                <a:lnTo>
                  <a:pt x="5506424" y="0"/>
                </a:lnTo>
                <a:lnTo>
                  <a:pt x="55064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2034701" y="2376855"/>
            <a:ext cx="4898890" cy="3782203"/>
          </a:xfrm>
          <a:custGeom>
            <a:avLst/>
            <a:gdLst/>
            <a:ahLst/>
            <a:cxnLst/>
            <a:rect l="l" t="t" r="r" b="b"/>
            <a:pathLst>
              <a:path w="4898890" h="3782203">
                <a:moveTo>
                  <a:pt x="0" y="0"/>
                </a:moveTo>
                <a:lnTo>
                  <a:pt x="4898890" y="0"/>
                </a:lnTo>
                <a:lnTo>
                  <a:pt x="4898890" y="3782203"/>
                </a:lnTo>
                <a:lnTo>
                  <a:pt x="0" y="378220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9326" t="-1678" r="-19121" b="-23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350431" y="2143950"/>
            <a:ext cx="10184735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693206"/>
                </a:solidFill>
                <a:latin typeface="Baloo"/>
                <a:ea typeface="Baloo"/>
                <a:cs typeface="Baloo"/>
                <a:sym typeface="Baloo"/>
              </a:rPr>
              <a:t>Dùng trong trường hợp:</a:t>
            </a:r>
          </a:p>
          <a:p>
            <a:pPr algn="just">
              <a:lnSpc>
                <a:spcPts val="4060"/>
              </a:lnSpc>
              <a:spcBef>
                <a:spcPct val="0"/>
              </a:spcBef>
            </a:pPr>
            <a:endParaRPr lang="en-US" sz="2900">
              <a:solidFill>
                <a:srgbClr val="693206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264374" y="2616034"/>
            <a:ext cx="8754764" cy="6233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7"/>
              </a:lnSpc>
            </a:pP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-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Phân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tích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các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tình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huống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ngoại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lệ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không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được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quy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định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trong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quy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trình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chuẩn</a:t>
            </a:r>
            <a:endParaRPr lang="en-US" sz="2900" dirty="0">
              <a:solidFill>
                <a:srgbClr val="5D3505"/>
              </a:solidFill>
              <a:latin typeface="Baloo"/>
              <a:ea typeface="Baloo"/>
              <a:cs typeface="Baloo"/>
              <a:sym typeface="Baloo"/>
            </a:endParaRPr>
          </a:p>
          <a:p>
            <a:pPr algn="l">
              <a:lnSpc>
                <a:spcPts val="5017"/>
              </a:lnSpc>
            </a:pP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- Quan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sát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chi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tiết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từng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bước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trong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một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giao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dịch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hoặc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quy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trình</a:t>
            </a:r>
            <a:endParaRPr lang="en-US" sz="2900" dirty="0">
              <a:solidFill>
                <a:srgbClr val="5D3505"/>
              </a:solidFill>
              <a:latin typeface="Baloo"/>
              <a:ea typeface="Baloo"/>
              <a:cs typeface="Baloo"/>
              <a:sym typeface="Baloo"/>
            </a:endParaRPr>
          </a:p>
          <a:p>
            <a:pPr algn="l">
              <a:lnSpc>
                <a:spcPts val="5017"/>
              </a:lnSpc>
            </a:pP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-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Kiểm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tra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biểu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mẫu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,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hồ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sơ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báo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cáo</a:t>
            </a:r>
            <a:endParaRPr lang="en-US" sz="2900" dirty="0">
              <a:solidFill>
                <a:srgbClr val="5D3505"/>
              </a:solidFill>
              <a:latin typeface="Baloo"/>
              <a:ea typeface="Baloo"/>
              <a:cs typeface="Baloo"/>
              <a:sym typeface="Baloo"/>
            </a:endParaRPr>
          </a:p>
          <a:p>
            <a:pPr algn="l">
              <a:lnSpc>
                <a:spcPts val="5017"/>
              </a:lnSpc>
            </a:pP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-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Phân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tích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tương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tác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của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người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dùng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với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hệ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thống</a:t>
            </a:r>
            <a:endParaRPr lang="en-US" sz="2900" dirty="0">
              <a:solidFill>
                <a:srgbClr val="5D3505"/>
              </a:solidFill>
              <a:latin typeface="Baloo"/>
              <a:ea typeface="Baloo"/>
              <a:cs typeface="Baloo"/>
              <a:sym typeface="Baloo"/>
            </a:endParaRPr>
          </a:p>
          <a:p>
            <a:pPr algn="l">
              <a:lnSpc>
                <a:spcPts val="5017"/>
              </a:lnSpc>
            </a:pP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-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Đánh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giá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hiệu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quả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giá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trị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của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các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báo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cáo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hiện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tại</a:t>
            </a:r>
            <a:endParaRPr lang="en-US" sz="2900" dirty="0">
              <a:solidFill>
                <a:srgbClr val="5D3505"/>
              </a:solidFill>
              <a:latin typeface="Baloo"/>
              <a:ea typeface="Baloo"/>
              <a:cs typeface="Baloo"/>
              <a:sym typeface="Baloo"/>
            </a:endParaRPr>
          </a:p>
          <a:p>
            <a:pPr algn="l">
              <a:lnSpc>
                <a:spcPts val="5017"/>
              </a:lnSpc>
            </a:pP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-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Phân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tích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gián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đoạn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thời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gian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ngừng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hoạt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động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của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hệ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thống</a:t>
            </a:r>
            <a:endParaRPr lang="en-US" sz="2900" dirty="0">
              <a:solidFill>
                <a:srgbClr val="5D3505"/>
              </a:solidFill>
              <a:latin typeface="Baloo"/>
              <a:ea typeface="Baloo"/>
              <a:cs typeface="Baloo"/>
              <a:sym typeface="Baloo"/>
            </a:endParaRPr>
          </a:p>
          <a:p>
            <a:pPr algn="l">
              <a:lnSpc>
                <a:spcPts val="5017"/>
              </a:lnSpc>
            </a:pP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- Thu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thập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thông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tin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để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cải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tiến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hệ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thống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hiện</a:t>
            </a:r>
            <a:r>
              <a:rPr lang="en-US" sz="2900" dirty="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900" dirty="0" err="1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tại</a:t>
            </a:r>
            <a:endParaRPr lang="en-US" sz="2900" dirty="0">
              <a:solidFill>
                <a:srgbClr val="5D3505"/>
              </a:solidFill>
              <a:latin typeface="Baloo"/>
              <a:ea typeface="Baloo"/>
              <a:cs typeface="Baloo"/>
              <a:sym typeface="Balo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666" b="-14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89486" y="5007110"/>
            <a:ext cx="16230600" cy="4778696"/>
          </a:xfrm>
          <a:custGeom>
            <a:avLst/>
            <a:gdLst/>
            <a:ahLst/>
            <a:cxnLst/>
            <a:rect l="l" t="t" r="r" b="b"/>
            <a:pathLst>
              <a:path w="16230600" h="4778696">
                <a:moveTo>
                  <a:pt x="0" y="0"/>
                </a:moveTo>
                <a:lnTo>
                  <a:pt x="16230600" y="0"/>
                </a:lnTo>
                <a:lnTo>
                  <a:pt x="16230600" y="4778695"/>
                </a:lnTo>
                <a:lnTo>
                  <a:pt x="0" y="4778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4114800"/>
            <a:chOff x="0" y="0"/>
            <a:chExt cx="4274726" cy="10837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083733"/>
            </a:xfrm>
            <a:custGeom>
              <a:avLst/>
              <a:gdLst/>
              <a:ahLst/>
              <a:cxnLst/>
              <a:rect l="l" t="t" r="r" b="b"/>
              <a:pathLst>
                <a:path w="4274726" h="1083733">
                  <a:moveTo>
                    <a:pt x="0" y="0"/>
                  </a:moveTo>
                  <a:lnTo>
                    <a:pt x="4274726" y="0"/>
                  </a:lnTo>
                  <a:lnTo>
                    <a:pt x="427472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F1E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274726" cy="1131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0" y="311341"/>
            <a:ext cx="18288000" cy="1318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dirty="0" err="1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Cách</a:t>
            </a:r>
            <a:r>
              <a:rPr lang="en-US" sz="7700" dirty="0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</a:t>
            </a:r>
            <a:r>
              <a:rPr lang="en-US" sz="7700" dirty="0" err="1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tiến</a:t>
            </a:r>
            <a:r>
              <a:rPr lang="en-US" sz="7700" dirty="0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</a:t>
            </a:r>
            <a:r>
              <a:rPr lang="en-US" sz="7700" dirty="0" err="1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hành</a:t>
            </a:r>
            <a:r>
              <a:rPr lang="en-US" sz="7700" dirty="0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</a:t>
            </a:r>
          </a:p>
        </p:txBody>
      </p:sp>
      <p:sp>
        <p:nvSpPr>
          <p:cNvPr id="9" name="Freeform 9"/>
          <p:cNvSpPr/>
          <p:nvPr/>
        </p:nvSpPr>
        <p:spPr>
          <a:xfrm rot="2090202">
            <a:off x="16188870" y="1067164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2" y="0"/>
                </a:lnTo>
                <a:lnTo>
                  <a:pt x="1489442" y="565987"/>
                </a:lnTo>
                <a:lnTo>
                  <a:pt x="0" y="565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0267570">
            <a:off x="14032130" y="-690228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2141916">
            <a:off x="605711" y="1084178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1" y="0"/>
                </a:lnTo>
                <a:lnTo>
                  <a:pt x="1489441" y="565988"/>
                </a:lnTo>
                <a:lnTo>
                  <a:pt x="0" y="5659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1646047" y="0"/>
            <a:ext cx="3766398" cy="3485630"/>
          </a:xfrm>
          <a:custGeom>
            <a:avLst/>
            <a:gdLst/>
            <a:ahLst/>
            <a:cxnLst/>
            <a:rect l="l" t="t" r="r" b="b"/>
            <a:pathLst>
              <a:path w="3766398" h="3485630">
                <a:moveTo>
                  <a:pt x="0" y="0"/>
                </a:moveTo>
                <a:lnTo>
                  <a:pt x="3766398" y="0"/>
                </a:lnTo>
                <a:lnTo>
                  <a:pt x="3766398" y="3485630"/>
                </a:lnTo>
                <a:lnTo>
                  <a:pt x="0" y="3485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0" y="7405983"/>
            <a:ext cx="2700863" cy="2906758"/>
          </a:xfrm>
          <a:custGeom>
            <a:avLst/>
            <a:gdLst/>
            <a:ahLst/>
            <a:cxnLst/>
            <a:rect l="l" t="t" r="r" b="b"/>
            <a:pathLst>
              <a:path w="2700863" h="2906758">
                <a:moveTo>
                  <a:pt x="0" y="0"/>
                </a:moveTo>
                <a:lnTo>
                  <a:pt x="2700863" y="0"/>
                </a:lnTo>
                <a:lnTo>
                  <a:pt x="2700863" y="2906759"/>
                </a:lnTo>
                <a:lnTo>
                  <a:pt x="0" y="29067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4703648" y="7396458"/>
            <a:ext cx="3584352" cy="2900067"/>
          </a:xfrm>
          <a:custGeom>
            <a:avLst/>
            <a:gdLst/>
            <a:ahLst/>
            <a:cxnLst/>
            <a:rect l="l" t="t" r="r" b="b"/>
            <a:pathLst>
              <a:path w="3584352" h="2900067">
                <a:moveTo>
                  <a:pt x="0" y="0"/>
                </a:moveTo>
                <a:lnTo>
                  <a:pt x="3584352" y="0"/>
                </a:lnTo>
                <a:lnTo>
                  <a:pt x="3584352" y="2900067"/>
                </a:lnTo>
                <a:lnTo>
                  <a:pt x="0" y="29000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7199409">
            <a:off x="6781313" y="9552142"/>
            <a:ext cx="5506423" cy="4114800"/>
          </a:xfrm>
          <a:custGeom>
            <a:avLst/>
            <a:gdLst/>
            <a:ahLst/>
            <a:cxnLst/>
            <a:rect l="l" t="t" r="r" b="b"/>
            <a:pathLst>
              <a:path w="5506423" h="4114800">
                <a:moveTo>
                  <a:pt x="0" y="0"/>
                </a:moveTo>
                <a:lnTo>
                  <a:pt x="5506424" y="0"/>
                </a:lnTo>
                <a:lnTo>
                  <a:pt x="55064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5" name="Picture 24" descr="A road with colorful pointers and text&#10;&#10;Description automatically generated">
            <a:extLst>
              <a:ext uri="{FF2B5EF4-FFF2-40B4-BE49-F238E27FC236}">
                <a16:creationId xmlns:a16="http://schemas.microsoft.com/office/drawing/2014/main" id="{1297AF4D-0AB2-E382-DB57-75E1AF10085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03"/>
          <a:stretch/>
        </p:blipFill>
        <p:spPr>
          <a:xfrm>
            <a:off x="3109837" y="1367172"/>
            <a:ext cx="12951599" cy="84976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666" b="-14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5007111"/>
            <a:ext cx="16230600" cy="4778696"/>
          </a:xfrm>
          <a:custGeom>
            <a:avLst/>
            <a:gdLst/>
            <a:ahLst/>
            <a:cxnLst/>
            <a:rect l="l" t="t" r="r" b="b"/>
            <a:pathLst>
              <a:path w="16230600" h="4778696">
                <a:moveTo>
                  <a:pt x="0" y="0"/>
                </a:moveTo>
                <a:lnTo>
                  <a:pt x="16230600" y="0"/>
                </a:lnTo>
                <a:lnTo>
                  <a:pt x="16230600" y="4778695"/>
                </a:lnTo>
                <a:lnTo>
                  <a:pt x="0" y="4778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4114800"/>
            <a:chOff x="0" y="0"/>
            <a:chExt cx="4274726" cy="10837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083733"/>
            </a:xfrm>
            <a:custGeom>
              <a:avLst/>
              <a:gdLst/>
              <a:ahLst/>
              <a:cxnLst/>
              <a:rect l="l" t="t" r="r" b="b"/>
              <a:pathLst>
                <a:path w="4274726" h="1083733">
                  <a:moveTo>
                    <a:pt x="0" y="0"/>
                  </a:moveTo>
                  <a:lnTo>
                    <a:pt x="4274726" y="0"/>
                  </a:lnTo>
                  <a:lnTo>
                    <a:pt x="427472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F1E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274726" cy="1131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 t="-19027" b="-190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2090202">
            <a:off x="16188870" y="1067164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2" y="0"/>
                </a:lnTo>
                <a:lnTo>
                  <a:pt x="1489442" y="565987"/>
                </a:lnTo>
                <a:lnTo>
                  <a:pt x="0" y="565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10267570">
            <a:off x="14032130" y="-690228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2141916">
            <a:off x="605711" y="1084178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1" y="0"/>
                </a:lnTo>
                <a:lnTo>
                  <a:pt x="1489441" y="565988"/>
                </a:lnTo>
                <a:lnTo>
                  <a:pt x="0" y="5659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-1646047" y="0"/>
            <a:ext cx="3766398" cy="3485630"/>
          </a:xfrm>
          <a:custGeom>
            <a:avLst/>
            <a:gdLst/>
            <a:ahLst/>
            <a:cxnLst/>
            <a:rect l="l" t="t" r="r" b="b"/>
            <a:pathLst>
              <a:path w="3766398" h="3485630">
                <a:moveTo>
                  <a:pt x="0" y="0"/>
                </a:moveTo>
                <a:lnTo>
                  <a:pt x="3766398" y="0"/>
                </a:lnTo>
                <a:lnTo>
                  <a:pt x="3766398" y="3485630"/>
                </a:lnTo>
                <a:lnTo>
                  <a:pt x="0" y="34856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990075" y="7731984"/>
            <a:ext cx="2700863" cy="2906758"/>
          </a:xfrm>
          <a:custGeom>
            <a:avLst/>
            <a:gdLst/>
            <a:ahLst/>
            <a:cxnLst/>
            <a:rect l="l" t="t" r="r" b="b"/>
            <a:pathLst>
              <a:path w="2700863" h="2906758">
                <a:moveTo>
                  <a:pt x="0" y="0"/>
                </a:moveTo>
                <a:lnTo>
                  <a:pt x="2700863" y="0"/>
                </a:lnTo>
                <a:lnTo>
                  <a:pt x="2700863" y="2906758"/>
                </a:lnTo>
                <a:lnTo>
                  <a:pt x="0" y="29067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4703648" y="7396458"/>
            <a:ext cx="3584352" cy="2900067"/>
          </a:xfrm>
          <a:custGeom>
            <a:avLst/>
            <a:gdLst/>
            <a:ahLst/>
            <a:cxnLst/>
            <a:rect l="l" t="t" r="r" b="b"/>
            <a:pathLst>
              <a:path w="3584352" h="2900067">
                <a:moveTo>
                  <a:pt x="0" y="0"/>
                </a:moveTo>
                <a:lnTo>
                  <a:pt x="3584352" y="0"/>
                </a:lnTo>
                <a:lnTo>
                  <a:pt x="3584352" y="2900067"/>
                </a:lnTo>
                <a:lnTo>
                  <a:pt x="0" y="29000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7199409">
            <a:off x="6781313" y="9552142"/>
            <a:ext cx="5506423" cy="4114800"/>
          </a:xfrm>
          <a:custGeom>
            <a:avLst/>
            <a:gdLst/>
            <a:ahLst/>
            <a:cxnLst/>
            <a:rect l="l" t="t" r="r" b="b"/>
            <a:pathLst>
              <a:path w="5506423" h="4114800">
                <a:moveTo>
                  <a:pt x="0" y="0"/>
                </a:moveTo>
                <a:lnTo>
                  <a:pt x="5506424" y="0"/>
                </a:lnTo>
                <a:lnTo>
                  <a:pt x="55064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154001" y="762557"/>
            <a:ext cx="16105299" cy="77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5600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Ưu</a:t>
            </a:r>
            <a:r>
              <a:rPr lang="en-US" sz="5600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0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điểm</a:t>
            </a:r>
            <a:r>
              <a:rPr lang="en-US" sz="5600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0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của</a:t>
            </a:r>
            <a:r>
              <a:rPr lang="en-US" sz="5600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0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kỹ</a:t>
            </a:r>
            <a:r>
              <a:rPr lang="en-US" sz="5600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0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thuật</a:t>
            </a:r>
            <a:r>
              <a:rPr lang="en-US" sz="5600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observation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20351" y="1960223"/>
            <a:ext cx="1166659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just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endParaRPr lang="en-US" sz="2900" dirty="0">
              <a:solidFill>
                <a:srgbClr val="5D3505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pic>
        <p:nvPicPr>
          <p:cNvPr id="23" name="Picture 22" descr="A screen shot of a black background&#10;&#10;Description automatically generated">
            <a:extLst>
              <a:ext uri="{FF2B5EF4-FFF2-40B4-BE49-F238E27FC236}">
                <a16:creationId xmlns:a16="http://schemas.microsoft.com/office/drawing/2014/main" id="{D06C10CE-9028-B2A7-13DC-EB1D81A2CDE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083" y="-213318"/>
            <a:ext cx="16237833" cy="103480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666" b="-1466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028700" y="5007111"/>
            <a:ext cx="16230600" cy="4778696"/>
          </a:xfrm>
          <a:custGeom>
            <a:avLst/>
            <a:gdLst/>
            <a:ahLst/>
            <a:cxnLst/>
            <a:rect l="l" t="t" r="r" b="b"/>
            <a:pathLst>
              <a:path w="16230600" h="4778696">
                <a:moveTo>
                  <a:pt x="0" y="0"/>
                </a:moveTo>
                <a:lnTo>
                  <a:pt x="16230600" y="0"/>
                </a:lnTo>
                <a:lnTo>
                  <a:pt x="16230600" y="4778695"/>
                </a:lnTo>
                <a:lnTo>
                  <a:pt x="0" y="4778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4114800"/>
            <a:chOff x="0" y="0"/>
            <a:chExt cx="4274726" cy="10837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083733"/>
            </a:xfrm>
            <a:custGeom>
              <a:avLst/>
              <a:gdLst/>
              <a:ahLst/>
              <a:cxnLst/>
              <a:rect l="l" t="t" r="r" b="b"/>
              <a:pathLst>
                <a:path w="4274726" h="1083733">
                  <a:moveTo>
                    <a:pt x="0" y="0"/>
                  </a:moveTo>
                  <a:lnTo>
                    <a:pt x="4274726" y="0"/>
                  </a:lnTo>
                  <a:lnTo>
                    <a:pt x="427472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F1E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274726" cy="1131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892311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 t="-19027" b="-190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10267570">
            <a:off x="14032130" y="-690228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-1646047" y="0"/>
            <a:ext cx="3766398" cy="3485630"/>
          </a:xfrm>
          <a:custGeom>
            <a:avLst/>
            <a:gdLst/>
            <a:ahLst/>
            <a:cxnLst/>
            <a:rect l="l" t="t" r="r" b="b"/>
            <a:pathLst>
              <a:path w="3766398" h="3485630">
                <a:moveTo>
                  <a:pt x="0" y="0"/>
                </a:moveTo>
                <a:lnTo>
                  <a:pt x="3766398" y="0"/>
                </a:lnTo>
                <a:lnTo>
                  <a:pt x="3766398" y="3485630"/>
                </a:lnTo>
                <a:lnTo>
                  <a:pt x="0" y="3485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737963" y="827466"/>
            <a:ext cx="15492762" cy="78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8"/>
              </a:lnSpc>
            </a:pP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Nhược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điểm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của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kỹ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thuật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observation </a:t>
            </a:r>
          </a:p>
        </p:txBody>
      </p:sp>
      <p:pic>
        <p:nvPicPr>
          <p:cNvPr id="27" name="Picture 26" descr="A diagram of a diagram&#10;&#10;Description automatically generated">
            <a:extLst>
              <a:ext uri="{FF2B5EF4-FFF2-40B4-BE49-F238E27FC236}">
                <a16:creationId xmlns:a16="http://schemas.microsoft.com/office/drawing/2014/main" id="{D1E80E3E-1AAC-F69F-6BA2-5D1C4127BB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63" b="4620"/>
          <a:stretch/>
        </p:blipFill>
        <p:spPr>
          <a:xfrm>
            <a:off x="1399450" y="1426745"/>
            <a:ext cx="16230600" cy="8059210"/>
          </a:xfrm>
          <a:prstGeom prst="rect">
            <a:avLst/>
          </a:prstGeom>
        </p:spPr>
      </p:pic>
      <p:sp>
        <p:nvSpPr>
          <p:cNvPr id="13" name="Freeform 13"/>
          <p:cNvSpPr/>
          <p:nvPr/>
        </p:nvSpPr>
        <p:spPr>
          <a:xfrm>
            <a:off x="14703648" y="7396458"/>
            <a:ext cx="3584352" cy="2900067"/>
          </a:xfrm>
          <a:custGeom>
            <a:avLst/>
            <a:gdLst/>
            <a:ahLst/>
            <a:cxnLst/>
            <a:rect l="l" t="t" r="r" b="b"/>
            <a:pathLst>
              <a:path w="3584352" h="2900067">
                <a:moveTo>
                  <a:pt x="0" y="0"/>
                </a:moveTo>
                <a:lnTo>
                  <a:pt x="3584352" y="0"/>
                </a:lnTo>
                <a:lnTo>
                  <a:pt x="3584352" y="2900067"/>
                </a:lnTo>
                <a:lnTo>
                  <a:pt x="0" y="29000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492642" y="8229797"/>
            <a:ext cx="2700863" cy="2906758"/>
          </a:xfrm>
          <a:custGeom>
            <a:avLst/>
            <a:gdLst/>
            <a:ahLst/>
            <a:cxnLst/>
            <a:rect l="l" t="t" r="r" b="b"/>
            <a:pathLst>
              <a:path w="2700863" h="2906758">
                <a:moveTo>
                  <a:pt x="0" y="0"/>
                </a:moveTo>
                <a:lnTo>
                  <a:pt x="2700862" y="0"/>
                </a:lnTo>
                <a:lnTo>
                  <a:pt x="2700862" y="2906759"/>
                </a:lnTo>
                <a:lnTo>
                  <a:pt x="0" y="29067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2090202">
            <a:off x="16188870" y="1067164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2" y="0"/>
                </a:lnTo>
                <a:lnTo>
                  <a:pt x="1489442" y="565987"/>
                </a:lnTo>
                <a:lnTo>
                  <a:pt x="0" y="56598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2141916">
            <a:off x="605711" y="1084178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1" y="0"/>
                </a:lnTo>
                <a:lnTo>
                  <a:pt x="1489441" y="565988"/>
                </a:lnTo>
                <a:lnTo>
                  <a:pt x="0" y="56598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7199409">
            <a:off x="6909622" y="9249888"/>
            <a:ext cx="5506423" cy="4114800"/>
          </a:xfrm>
          <a:custGeom>
            <a:avLst/>
            <a:gdLst/>
            <a:ahLst/>
            <a:cxnLst/>
            <a:rect l="l" t="t" r="r" b="b"/>
            <a:pathLst>
              <a:path w="5506423" h="4114800">
                <a:moveTo>
                  <a:pt x="0" y="0"/>
                </a:moveTo>
                <a:lnTo>
                  <a:pt x="5506424" y="0"/>
                </a:lnTo>
                <a:lnTo>
                  <a:pt x="55064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666" b="-14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5007111"/>
            <a:ext cx="16230600" cy="4778696"/>
          </a:xfrm>
          <a:custGeom>
            <a:avLst/>
            <a:gdLst/>
            <a:ahLst/>
            <a:cxnLst/>
            <a:rect l="l" t="t" r="r" b="b"/>
            <a:pathLst>
              <a:path w="16230600" h="4778696">
                <a:moveTo>
                  <a:pt x="0" y="0"/>
                </a:moveTo>
                <a:lnTo>
                  <a:pt x="16230600" y="0"/>
                </a:lnTo>
                <a:lnTo>
                  <a:pt x="16230600" y="4778695"/>
                </a:lnTo>
                <a:lnTo>
                  <a:pt x="0" y="4778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4114800"/>
            <a:chOff x="0" y="0"/>
            <a:chExt cx="4274726" cy="10837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083733"/>
            </a:xfrm>
            <a:custGeom>
              <a:avLst/>
              <a:gdLst/>
              <a:ahLst/>
              <a:cxnLst/>
              <a:rect l="l" t="t" r="r" b="b"/>
              <a:pathLst>
                <a:path w="4274726" h="1083733">
                  <a:moveTo>
                    <a:pt x="0" y="0"/>
                  </a:moveTo>
                  <a:lnTo>
                    <a:pt x="4274726" y="0"/>
                  </a:lnTo>
                  <a:lnTo>
                    <a:pt x="427472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F1E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274726" cy="1131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892311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 t="-19027" b="-190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2090202">
            <a:off x="16188870" y="1067164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2" y="0"/>
                </a:lnTo>
                <a:lnTo>
                  <a:pt x="1489442" y="565987"/>
                </a:lnTo>
                <a:lnTo>
                  <a:pt x="0" y="565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10267570">
            <a:off x="14032130" y="-690228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2141916">
            <a:off x="605711" y="1084178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1" y="0"/>
                </a:lnTo>
                <a:lnTo>
                  <a:pt x="1489441" y="565988"/>
                </a:lnTo>
                <a:lnTo>
                  <a:pt x="0" y="5659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-1646047" y="0"/>
            <a:ext cx="3766398" cy="3485630"/>
          </a:xfrm>
          <a:custGeom>
            <a:avLst/>
            <a:gdLst/>
            <a:ahLst/>
            <a:cxnLst/>
            <a:rect l="l" t="t" r="r" b="b"/>
            <a:pathLst>
              <a:path w="3766398" h="3485630">
                <a:moveTo>
                  <a:pt x="0" y="0"/>
                </a:moveTo>
                <a:lnTo>
                  <a:pt x="3766398" y="0"/>
                </a:lnTo>
                <a:lnTo>
                  <a:pt x="3766398" y="3485630"/>
                </a:lnTo>
                <a:lnTo>
                  <a:pt x="0" y="34856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1014223" y="8196560"/>
            <a:ext cx="2700863" cy="2906758"/>
          </a:xfrm>
          <a:custGeom>
            <a:avLst/>
            <a:gdLst/>
            <a:ahLst/>
            <a:cxnLst/>
            <a:rect l="l" t="t" r="r" b="b"/>
            <a:pathLst>
              <a:path w="2700863" h="2906758">
                <a:moveTo>
                  <a:pt x="0" y="0"/>
                </a:moveTo>
                <a:lnTo>
                  <a:pt x="2700862" y="0"/>
                </a:lnTo>
                <a:lnTo>
                  <a:pt x="2700862" y="2906759"/>
                </a:lnTo>
                <a:lnTo>
                  <a:pt x="0" y="29067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4703648" y="7396458"/>
            <a:ext cx="3584352" cy="2900067"/>
          </a:xfrm>
          <a:custGeom>
            <a:avLst/>
            <a:gdLst/>
            <a:ahLst/>
            <a:cxnLst/>
            <a:rect l="l" t="t" r="r" b="b"/>
            <a:pathLst>
              <a:path w="3584352" h="2900067">
                <a:moveTo>
                  <a:pt x="0" y="0"/>
                </a:moveTo>
                <a:lnTo>
                  <a:pt x="3584352" y="0"/>
                </a:lnTo>
                <a:lnTo>
                  <a:pt x="3584352" y="2900067"/>
                </a:lnTo>
                <a:lnTo>
                  <a:pt x="0" y="29000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7199409">
            <a:off x="6781313" y="9552142"/>
            <a:ext cx="5506423" cy="4114800"/>
          </a:xfrm>
          <a:custGeom>
            <a:avLst/>
            <a:gdLst/>
            <a:ahLst/>
            <a:cxnLst/>
            <a:rect l="l" t="t" r="r" b="b"/>
            <a:pathLst>
              <a:path w="5506423" h="4114800">
                <a:moveTo>
                  <a:pt x="0" y="0"/>
                </a:moveTo>
                <a:lnTo>
                  <a:pt x="5506424" y="0"/>
                </a:lnTo>
                <a:lnTo>
                  <a:pt x="55064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1800271" y="1919780"/>
          <a:ext cx="14514442" cy="6614091"/>
        </p:xfrm>
        <a:graphic>
          <a:graphicData uri="http://schemas.openxmlformats.org/drawingml/2006/table">
            <a:tbl>
              <a:tblPr/>
              <a:tblGrid>
                <a:gridCol w="2315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0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8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8384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</a:t>
                      </a:r>
                      <a:r>
                        <a:rPr lang="en-US" sz="24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Khía</a:t>
                      </a:r>
                      <a:r>
                        <a:rPr lang="en-US" sz="24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cạnh</a:t>
                      </a:r>
                      <a:endParaRPr lang="en-US" sz="1100" dirty="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Observation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Interview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Questionnaire 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JAD 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8084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Mức độ khách quan 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Cao (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dựa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trên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hành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vi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thực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tế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)  </a:t>
                      </a:r>
                      <a:endParaRPr lang="en-US" sz="1100" dirty="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Thấp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(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dựa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trên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ý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kiến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cá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nhân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).  </a:t>
                      </a:r>
                      <a:endParaRPr lang="en-US" sz="1100" dirty="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Trung bình (phụ thuộc vào câu hỏi). 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Cao (nếu nhóm đồng thuận). 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9989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Tốn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thời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gian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</a:t>
                      </a:r>
                      <a:endParaRPr lang="en-US" sz="1100" dirty="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Cao (quan sát lâu để có đủ dữ liệu). 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Trung bình (phỏng vấn từng người). 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Thấp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(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gửi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và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nhận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kết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quả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nhanh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).  </a:t>
                      </a:r>
                      <a:endParaRPr lang="en-US" sz="1100" dirty="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Cao (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tổ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chức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nhóm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).  </a:t>
                      </a:r>
                      <a:endParaRPr lang="en-US" sz="1100" dirty="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7507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Chi phí 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Cao (cần thời gian và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công cụ).  </a:t>
                      </a:r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Trung bình (phụ thuộc số lượng người). 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Thấp (đặc biệt khi sử dụng công cụ tự động). 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Cao (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nhiều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người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tham</a:t>
                      </a:r>
                      <a:endParaRPr lang="en-US" sz="1100" dirty="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gia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).  </a:t>
                      </a:r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0127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Khả năng phát hiện yêu cầu ngầm 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Rất cao (quan sát hành vi tự nhiên). 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Trung bình (nếu người dùng được hỏi đúng). 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Thấp (phụ thuộc vào câu hỏi). 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Trung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bình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(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tùy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thuộc</a:t>
                      </a:r>
                      <a:endParaRPr lang="en-US" sz="1100" dirty="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vào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 </a:t>
                      </a:r>
                      <a:r>
                        <a:rPr lang="en-US" sz="2099" dirty="0" err="1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nhóm</a:t>
                      </a:r>
                      <a:r>
                        <a:rPr lang="en-US" sz="2099" dirty="0">
                          <a:solidFill>
                            <a:srgbClr val="5D3505"/>
                          </a:solidFill>
                          <a:latin typeface="Baloo"/>
                          <a:ea typeface="Baloo"/>
                          <a:cs typeface="Baloo"/>
                          <a:sym typeface="Baloo"/>
                        </a:rPr>
                        <a:t>).  </a:t>
                      </a:r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6"/>
          <p:cNvSpPr txBox="1"/>
          <p:nvPr/>
        </p:nvSpPr>
        <p:spPr>
          <a:xfrm>
            <a:off x="1350432" y="785413"/>
            <a:ext cx="15492762" cy="78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8"/>
              </a:lnSpc>
            </a:pP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So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sánh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với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các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kỹ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thuật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khác</a:t>
            </a:r>
            <a:endParaRPr lang="en-US" sz="5602" dirty="0">
              <a:solidFill>
                <a:schemeClr val="accent6">
                  <a:lumMod val="75000"/>
                </a:schemeClr>
              </a:solidFill>
              <a:latin typeface="Baloo"/>
              <a:ea typeface="Baloo"/>
              <a:cs typeface="Baloo"/>
              <a:sym typeface="Balo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666" b="-14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5007111"/>
            <a:ext cx="16230600" cy="4778696"/>
          </a:xfrm>
          <a:custGeom>
            <a:avLst/>
            <a:gdLst/>
            <a:ahLst/>
            <a:cxnLst/>
            <a:rect l="l" t="t" r="r" b="b"/>
            <a:pathLst>
              <a:path w="16230600" h="4778696">
                <a:moveTo>
                  <a:pt x="0" y="0"/>
                </a:moveTo>
                <a:lnTo>
                  <a:pt x="16230600" y="0"/>
                </a:lnTo>
                <a:lnTo>
                  <a:pt x="16230600" y="4778695"/>
                </a:lnTo>
                <a:lnTo>
                  <a:pt x="0" y="4778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4114800"/>
            <a:chOff x="0" y="0"/>
            <a:chExt cx="4274726" cy="10837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083733"/>
            </a:xfrm>
            <a:custGeom>
              <a:avLst/>
              <a:gdLst/>
              <a:ahLst/>
              <a:cxnLst/>
              <a:rect l="l" t="t" r="r" b="b"/>
              <a:pathLst>
                <a:path w="4274726" h="1083733">
                  <a:moveTo>
                    <a:pt x="0" y="0"/>
                  </a:moveTo>
                  <a:lnTo>
                    <a:pt x="4274726" y="0"/>
                  </a:lnTo>
                  <a:lnTo>
                    <a:pt x="427472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F1E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274726" cy="1131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892311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 t="-19027" b="-190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2090202">
            <a:off x="16188870" y="1067164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2" y="0"/>
                </a:lnTo>
                <a:lnTo>
                  <a:pt x="1489442" y="565987"/>
                </a:lnTo>
                <a:lnTo>
                  <a:pt x="0" y="565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10267570">
            <a:off x="14032130" y="-690228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2141916">
            <a:off x="605711" y="1084178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1" y="0"/>
                </a:lnTo>
                <a:lnTo>
                  <a:pt x="1489441" y="565988"/>
                </a:lnTo>
                <a:lnTo>
                  <a:pt x="0" y="5659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-1646047" y="0"/>
            <a:ext cx="3766398" cy="3485630"/>
          </a:xfrm>
          <a:custGeom>
            <a:avLst/>
            <a:gdLst/>
            <a:ahLst/>
            <a:cxnLst/>
            <a:rect l="l" t="t" r="r" b="b"/>
            <a:pathLst>
              <a:path w="3766398" h="3485630">
                <a:moveTo>
                  <a:pt x="0" y="0"/>
                </a:moveTo>
                <a:lnTo>
                  <a:pt x="3766398" y="0"/>
                </a:lnTo>
                <a:lnTo>
                  <a:pt x="3766398" y="3485630"/>
                </a:lnTo>
                <a:lnTo>
                  <a:pt x="0" y="34856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1014223" y="8196560"/>
            <a:ext cx="2700863" cy="2906758"/>
          </a:xfrm>
          <a:custGeom>
            <a:avLst/>
            <a:gdLst/>
            <a:ahLst/>
            <a:cxnLst/>
            <a:rect l="l" t="t" r="r" b="b"/>
            <a:pathLst>
              <a:path w="2700863" h="2906758">
                <a:moveTo>
                  <a:pt x="0" y="0"/>
                </a:moveTo>
                <a:lnTo>
                  <a:pt x="2700862" y="0"/>
                </a:lnTo>
                <a:lnTo>
                  <a:pt x="2700862" y="2906759"/>
                </a:lnTo>
                <a:lnTo>
                  <a:pt x="0" y="29067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4703648" y="7396458"/>
            <a:ext cx="3584352" cy="2900067"/>
          </a:xfrm>
          <a:custGeom>
            <a:avLst/>
            <a:gdLst/>
            <a:ahLst/>
            <a:cxnLst/>
            <a:rect l="l" t="t" r="r" b="b"/>
            <a:pathLst>
              <a:path w="3584352" h="2900067">
                <a:moveTo>
                  <a:pt x="0" y="0"/>
                </a:moveTo>
                <a:lnTo>
                  <a:pt x="3584352" y="0"/>
                </a:lnTo>
                <a:lnTo>
                  <a:pt x="3584352" y="2900067"/>
                </a:lnTo>
                <a:lnTo>
                  <a:pt x="0" y="29000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7199409">
            <a:off x="6781313" y="9552142"/>
            <a:ext cx="5506423" cy="4114800"/>
          </a:xfrm>
          <a:custGeom>
            <a:avLst/>
            <a:gdLst/>
            <a:ahLst/>
            <a:cxnLst/>
            <a:rect l="l" t="t" r="r" b="b"/>
            <a:pathLst>
              <a:path w="5506423" h="4114800">
                <a:moveTo>
                  <a:pt x="0" y="0"/>
                </a:moveTo>
                <a:lnTo>
                  <a:pt x="5506424" y="0"/>
                </a:lnTo>
                <a:lnTo>
                  <a:pt x="55064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933959" y="2980882"/>
            <a:ext cx="3575639" cy="3264754"/>
          </a:xfrm>
          <a:custGeom>
            <a:avLst/>
            <a:gdLst/>
            <a:ahLst/>
            <a:cxnLst/>
            <a:rect l="l" t="t" r="r" b="b"/>
            <a:pathLst>
              <a:path w="3575639" h="3264754">
                <a:moveTo>
                  <a:pt x="0" y="0"/>
                </a:moveTo>
                <a:lnTo>
                  <a:pt x="3575639" y="0"/>
                </a:lnTo>
                <a:lnTo>
                  <a:pt x="3575639" y="3264755"/>
                </a:lnTo>
                <a:lnTo>
                  <a:pt x="0" y="326475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4508" b="-136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062338" y="2933257"/>
            <a:ext cx="10197344" cy="3060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3131"/>
                </a:solidFill>
                <a:latin typeface="Baloo"/>
                <a:ea typeface="Baloo"/>
                <a:cs typeface="Baloo"/>
                <a:sym typeface="Baloo"/>
              </a:rPr>
              <a:t>Tình huống</a:t>
            </a:r>
            <a:r>
              <a:rPr lang="en-US" sz="290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: Cải thiện quy trình phục vụ khách hàng tại một nhà hàng nhanh.</a:t>
            </a:r>
          </a:p>
          <a:p>
            <a:pPr marL="626111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3131"/>
                </a:solidFill>
                <a:latin typeface="Baloo"/>
                <a:ea typeface="Baloo"/>
                <a:cs typeface="Baloo"/>
                <a:sym typeface="Baloo"/>
              </a:rPr>
              <a:t>Mục tiêu</a:t>
            </a:r>
            <a:r>
              <a:rPr lang="en-US" sz="2900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: Tìm hiểu cách nhân viên và khách hàng tương tác trong giờ cao điểm để nhận diện các vấn đề và cải tiến quy trình phục vụ.</a:t>
            </a:r>
          </a:p>
          <a:p>
            <a:pPr algn="just">
              <a:lnSpc>
                <a:spcPts val="4060"/>
              </a:lnSpc>
            </a:pPr>
            <a:endParaRPr lang="en-US" sz="2900">
              <a:solidFill>
                <a:srgbClr val="5D3505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46481" y="702792"/>
            <a:ext cx="15492762" cy="78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8"/>
              </a:lnSpc>
            </a:pP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Ví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dụ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thực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tế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sử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dụng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kỹ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thuật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Observation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666" b="-14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5007111"/>
            <a:ext cx="16230600" cy="4778696"/>
          </a:xfrm>
          <a:custGeom>
            <a:avLst/>
            <a:gdLst/>
            <a:ahLst/>
            <a:cxnLst/>
            <a:rect l="l" t="t" r="r" b="b"/>
            <a:pathLst>
              <a:path w="16230600" h="4778696">
                <a:moveTo>
                  <a:pt x="0" y="0"/>
                </a:moveTo>
                <a:lnTo>
                  <a:pt x="16230600" y="0"/>
                </a:lnTo>
                <a:lnTo>
                  <a:pt x="16230600" y="4778695"/>
                </a:lnTo>
                <a:lnTo>
                  <a:pt x="0" y="4778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4114800"/>
            <a:chOff x="0" y="0"/>
            <a:chExt cx="4274726" cy="10837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083733"/>
            </a:xfrm>
            <a:custGeom>
              <a:avLst/>
              <a:gdLst/>
              <a:ahLst/>
              <a:cxnLst/>
              <a:rect l="l" t="t" r="r" b="b"/>
              <a:pathLst>
                <a:path w="4274726" h="1083733">
                  <a:moveTo>
                    <a:pt x="0" y="0"/>
                  </a:moveTo>
                  <a:lnTo>
                    <a:pt x="4274726" y="0"/>
                  </a:lnTo>
                  <a:lnTo>
                    <a:pt x="427472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F1E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274726" cy="1131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892311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 t="-19027" b="-190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2090202">
            <a:off x="16188870" y="1067164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2" y="0"/>
                </a:lnTo>
                <a:lnTo>
                  <a:pt x="1489442" y="565987"/>
                </a:lnTo>
                <a:lnTo>
                  <a:pt x="0" y="565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10267570">
            <a:off x="14032130" y="-690228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2141916">
            <a:off x="605711" y="1084178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1" y="0"/>
                </a:lnTo>
                <a:lnTo>
                  <a:pt x="1489441" y="565988"/>
                </a:lnTo>
                <a:lnTo>
                  <a:pt x="0" y="5659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-1646047" y="0"/>
            <a:ext cx="3766398" cy="3485630"/>
          </a:xfrm>
          <a:custGeom>
            <a:avLst/>
            <a:gdLst/>
            <a:ahLst/>
            <a:cxnLst/>
            <a:rect l="l" t="t" r="r" b="b"/>
            <a:pathLst>
              <a:path w="3766398" h="3485630">
                <a:moveTo>
                  <a:pt x="0" y="0"/>
                </a:moveTo>
                <a:lnTo>
                  <a:pt x="3766398" y="0"/>
                </a:lnTo>
                <a:lnTo>
                  <a:pt x="3766398" y="3485630"/>
                </a:lnTo>
                <a:lnTo>
                  <a:pt x="0" y="34856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1014223" y="8196560"/>
            <a:ext cx="2700863" cy="2906758"/>
          </a:xfrm>
          <a:custGeom>
            <a:avLst/>
            <a:gdLst/>
            <a:ahLst/>
            <a:cxnLst/>
            <a:rect l="l" t="t" r="r" b="b"/>
            <a:pathLst>
              <a:path w="2700863" h="2906758">
                <a:moveTo>
                  <a:pt x="0" y="0"/>
                </a:moveTo>
                <a:lnTo>
                  <a:pt x="2700862" y="0"/>
                </a:lnTo>
                <a:lnTo>
                  <a:pt x="2700862" y="2906759"/>
                </a:lnTo>
                <a:lnTo>
                  <a:pt x="0" y="29067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5751818" y="7797786"/>
            <a:ext cx="3584352" cy="2900067"/>
          </a:xfrm>
          <a:custGeom>
            <a:avLst/>
            <a:gdLst/>
            <a:ahLst/>
            <a:cxnLst/>
            <a:rect l="l" t="t" r="r" b="b"/>
            <a:pathLst>
              <a:path w="3584352" h="2900067">
                <a:moveTo>
                  <a:pt x="0" y="0"/>
                </a:moveTo>
                <a:lnTo>
                  <a:pt x="3584351" y="0"/>
                </a:lnTo>
                <a:lnTo>
                  <a:pt x="3584351" y="2900066"/>
                </a:lnTo>
                <a:lnTo>
                  <a:pt x="0" y="29000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7199409">
            <a:off x="6781313" y="9552142"/>
            <a:ext cx="5506423" cy="4114800"/>
          </a:xfrm>
          <a:custGeom>
            <a:avLst/>
            <a:gdLst/>
            <a:ahLst/>
            <a:cxnLst/>
            <a:rect l="l" t="t" r="r" b="b"/>
            <a:pathLst>
              <a:path w="5506423" h="4114800">
                <a:moveTo>
                  <a:pt x="0" y="0"/>
                </a:moveTo>
                <a:lnTo>
                  <a:pt x="5506424" y="0"/>
                </a:lnTo>
                <a:lnTo>
                  <a:pt x="55064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539554" y="621505"/>
            <a:ext cx="15492762" cy="78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8"/>
              </a:lnSpc>
            </a:pP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Ví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dụ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thực</a:t>
            </a:r>
            <a:r>
              <a:rPr lang="en-US" sz="5602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02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tế</a:t>
            </a:r>
            <a:endParaRPr lang="en-US" sz="5602" dirty="0">
              <a:solidFill>
                <a:schemeClr val="accent6">
                  <a:lumMod val="75000"/>
                </a:schemeClr>
              </a:solidFill>
              <a:latin typeface="Baloo"/>
              <a:ea typeface="Baloo"/>
              <a:cs typeface="Baloo"/>
              <a:sym typeface="Baloo"/>
            </a:endParaRPr>
          </a:p>
        </p:txBody>
      </p:sp>
      <p:pic>
        <p:nvPicPr>
          <p:cNvPr id="19" name="Picture 18" descr="A group of colorful rectangular objects with text&#10;&#10;Description automatically generated with medium confidence">
            <a:extLst>
              <a:ext uri="{FF2B5EF4-FFF2-40B4-BE49-F238E27FC236}">
                <a16:creationId xmlns:a16="http://schemas.microsoft.com/office/drawing/2014/main" id="{ADCB5621-04E5-A6A3-6AC8-69B38479B0A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03" y="986606"/>
            <a:ext cx="16883063" cy="76236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666" b="-14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5007111"/>
            <a:ext cx="16230600" cy="4778696"/>
          </a:xfrm>
          <a:custGeom>
            <a:avLst/>
            <a:gdLst/>
            <a:ahLst/>
            <a:cxnLst/>
            <a:rect l="l" t="t" r="r" b="b"/>
            <a:pathLst>
              <a:path w="16230600" h="4778696">
                <a:moveTo>
                  <a:pt x="0" y="0"/>
                </a:moveTo>
                <a:lnTo>
                  <a:pt x="16230600" y="0"/>
                </a:lnTo>
                <a:lnTo>
                  <a:pt x="16230600" y="4778695"/>
                </a:lnTo>
                <a:lnTo>
                  <a:pt x="0" y="4778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4114800"/>
            <a:chOff x="0" y="0"/>
            <a:chExt cx="4274726" cy="10837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083733"/>
            </a:xfrm>
            <a:custGeom>
              <a:avLst/>
              <a:gdLst/>
              <a:ahLst/>
              <a:cxnLst/>
              <a:rect l="l" t="t" r="r" b="b"/>
              <a:pathLst>
                <a:path w="4274726" h="1083733">
                  <a:moveTo>
                    <a:pt x="0" y="0"/>
                  </a:moveTo>
                  <a:lnTo>
                    <a:pt x="4274726" y="0"/>
                  </a:lnTo>
                  <a:lnTo>
                    <a:pt x="427472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F1E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274726" cy="1131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 t="-19027" b="-190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0" y="79375"/>
            <a:ext cx="18288000" cy="170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Tài</a:t>
            </a:r>
            <a:r>
              <a:rPr lang="en-US" sz="9500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9500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liệu</a:t>
            </a:r>
            <a:r>
              <a:rPr lang="en-US" sz="9500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9500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tham</a:t>
            </a:r>
            <a:r>
              <a:rPr lang="en-US" sz="9500" dirty="0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9500" dirty="0" err="1">
                <a:solidFill>
                  <a:schemeClr val="accent6">
                    <a:lumMod val="75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khảo</a:t>
            </a:r>
            <a:endParaRPr lang="en-US" sz="9500" dirty="0">
              <a:solidFill>
                <a:schemeClr val="accent6">
                  <a:lumMod val="75000"/>
                </a:schemeClr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9" name="Freeform 9"/>
          <p:cNvSpPr/>
          <p:nvPr/>
        </p:nvSpPr>
        <p:spPr>
          <a:xfrm rot="2090202">
            <a:off x="16188870" y="1067164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2" y="0"/>
                </a:lnTo>
                <a:lnTo>
                  <a:pt x="1489442" y="565987"/>
                </a:lnTo>
                <a:lnTo>
                  <a:pt x="0" y="565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0267570">
            <a:off x="14032130" y="-690228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2141916">
            <a:off x="605711" y="1084178"/>
            <a:ext cx="1489442" cy="565988"/>
          </a:xfrm>
          <a:custGeom>
            <a:avLst/>
            <a:gdLst/>
            <a:ahLst/>
            <a:cxnLst/>
            <a:rect l="l" t="t" r="r" b="b"/>
            <a:pathLst>
              <a:path w="1489442" h="565988">
                <a:moveTo>
                  <a:pt x="0" y="0"/>
                </a:moveTo>
                <a:lnTo>
                  <a:pt x="1489441" y="0"/>
                </a:lnTo>
                <a:lnTo>
                  <a:pt x="1489441" y="565988"/>
                </a:lnTo>
                <a:lnTo>
                  <a:pt x="0" y="5659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1646047" y="0"/>
            <a:ext cx="3766398" cy="3485630"/>
          </a:xfrm>
          <a:custGeom>
            <a:avLst/>
            <a:gdLst/>
            <a:ahLst/>
            <a:cxnLst/>
            <a:rect l="l" t="t" r="r" b="b"/>
            <a:pathLst>
              <a:path w="3766398" h="3485630">
                <a:moveTo>
                  <a:pt x="0" y="0"/>
                </a:moveTo>
                <a:lnTo>
                  <a:pt x="3766398" y="0"/>
                </a:lnTo>
                <a:lnTo>
                  <a:pt x="3766398" y="3485630"/>
                </a:lnTo>
                <a:lnTo>
                  <a:pt x="0" y="34856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0" y="7405983"/>
            <a:ext cx="2700863" cy="2906758"/>
          </a:xfrm>
          <a:custGeom>
            <a:avLst/>
            <a:gdLst/>
            <a:ahLst/>
            <a:cxnLst/>
            <a:rect l="l" t="t" r="r" b="b"/>
            <a:pathLst>
              <a:path w="2700863" h="2906758">
                <a:moveTo>
                  <a:pt x="0" y="0"/>
                </a:moveTo>
                <a:lnTo>
                  <a:pt x="2700863" y="0"/>
                </a:lnTo>
                <a:lnTo>
                  <a:pt x="2700863" y="2906759"/>
                </a:lnTo>
                <a:lnTo>
                  <a:pt x="0" y="29067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4703648" y="7396458"/>
            <a:ext cx="3584352" cy="2900067"/>
          </a:xfrm>
          <a:custGeom>
            <a:avLst/>
            <a:gdLst/>
            <a:ahLst/>
            <a:cxnLst/>
            <a:rect l="l" t="t" r="r" b="b"/>
            <a:pathLst>
              <a:path w="3584352" h="2900067">
                <a:moveTo>
                  <a:pt x="0" y="0"/>
                </a:moveTo>
                <a:lnTo>
                  <a:pt x="3584352" y="0"/>
                </a:lnTo>
                <a:lnTo>
                  <a:pt x="3584352" y="2900067"/>
                </a:lnTo>
                <a:lnTo>
                  <a:pt x="0" y="29000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7199409">
            <a:off x="6781313" y="9552142"/>
            <a:ext cx="5506423" cy="4114800"/>
          </a:xfrm>
          <a:custGeom>
            <a:avLst/>
            <a:gdLst/>
            <a:ahLst/>
            <a:cxnLst/>
            <a:rect l="l" t="t" r="r" b="b"/>
            <a:pathLst>
              <a:path w="5506423" h="4114800">
                <a:moveTo>
                  <a:pt x="0" y="0"/>
                </a:moveTo>
                <a:lnTo>
                  <a:pt x="5506424" y="0"/>
                </a:lnTo>
                <a:lnTo>
                  <a:pt x="55064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2120351" y="2608559"/>
            <a:ext cx="13855679" cy="464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758" lvl="1" indent="-283379" algn="just">
              <a:lnSpc>
                <a:spcPts val="3675"/>
              </a:lnSpc>
              <a:buFont typeface="Arial"/>
              <a:buChar char="•"/>
            </a:pPr>
            <a:r>
              <a:rPr lang="en-US" sz="2625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Tai lieu 1_Systems_Analysis_Design_UML_5th-ed.pdf</a:t>
            </a:r>
          </a:p>
          <a:p>
            <a:pPr marL="566758" lvl="1" indent="-283379" algn="just">
              <a:lnSpc>
                <a:spcPts val="3675"/>
              </a:lnSpc>
              <a:buFont typeface="Arial"/>
              <a:buChar char="•"/>
            </a:pPr>
            <a:r>
              <a:rPr lang="en-US" sz="2625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Tai lieu 2_Systems Analysis and Design-10th-ed.pdf</a:t>
            </a:r>
          </a:p>
          <a:p>
            <a:pPr marL="566758" lvl="1" indent="-283379" algn="just">
              <a:lnSpc>
                <a:spcPts val="3675"/>
              </a:lnSpc>
              <a:buFont typeface="Arial"/>
              <a:buChar char="•"/>
            </a:pPr>
            <a:r>
              <a:rPr lang="en-US" sz="2625" u="sng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  <a:hlinkClick r:id="rId16" tooltip="https://www.apexglobal.com.vn/en/ung-dung-ky-thuat-quan-sat-observation-vao-qua-trinh-phan-tich-nghiep-vu/"/>
              </a:rPr>
              <a:t>https://www.apexglobal.com.vn/en/ung-dung-ky-thuat-quan-sat-observation-vao-qua-trinh-phan-tich-nghiep-vu/</a:t>
            </a:r>
          </a:p>
          <a:p>
            <a:pPr marL="566758" lvl="1" indent="-283379" algn="just">
              <a:lnSpc>
                <a:spcPts val="3675"/>
              </a:lnSpc>
              <a:buFont typeface="Arial"/>
              <a:buChar char="•"/>
            </a:pPr>
            <a:r>
              <a:rPr lang="en-US" sz="2625" u="sng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  <a:hlinkClick r:id="rId17" tooltip="https://moodle.znu.edu.ua/pluginfile.php/196199/mod_resource/content/3/BABOK.pdf"/>
              </a:rPr>
              <a:t>BABOK® Guide v3 - IIBA</a:t>
            </a:r>
            <a:r>
              <a:rPr lang="en-US" sz="2625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: Mục tiêu và quy trình thực hiện (Trang 163–175)</a:t>
            </a:r>
          </a:p>
          <a:p>
            <a:pPr marL="566758" lvl="1" indent="-283379" algn="just">
              <a:lnSpc>
                <a:spcPts val="3675"/>
              </a:lnSpc>
              <a:buFont typeface="Arial"/>
              <a:buChar char="•"/>
            </a:pPr>
            <a:r>
              <a:rPr lang="en-US" sz="2625" u="sng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  <a:hlinkClick r:id="rId18" tooltip="https://www.booksfree.org/wp-content/uploads/2022/03/Software_Requirements_3rd_Edition_compressed.pdf"/>
              </a:rPr>
              <a:t>Software Requirements, 3rd Edition</a:t>
            </a:r>
            <a:r>
              <a:rPr lang="en-US" sz="2625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: cho các ưu và nhược điểm của Observation (Trang 85–100)</a:t>
            </a:r>
          </a:p>
          <a:p>
            <a:pPr marL="566758" lvl="1" indent="-283379" algn="just">
              <a:lnSpc>
                <a:spcPts val="3675"/>
              </a:lnSpc>
              <a:buFont typeface="Arial"/>
              <a:buChar char="•"/>
            </a:pPr>
            <a:r>
              <a:rPr lang="en-US" sz="2625" u="sng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  <a:hlinkClick r:id="rId19" tooltip="https://www.researchgate.net/profile/Ogbonnaya-Jr-Akpara/publication/330811319_Requirements_Specification/links/5c549ab6a6fdccd6b5da65bf/Requirements-Specification.pdf"/>
              </a:rPr>
              <a:t>Mastering the Requirements Process</a:t>
            </a:r>
            <a:r>
              <a:rPr lang="en-US" sz="2625">
                <a:solidFill>
                  <a:srgbClr val="5D3505"/>
                </a:solidFill>
                <a:latin typeface="Baloo"/>
                <a:ea typeface="Baloo"/>
                <a:cs typeface="Baloo"/>
                <a:sym typeface="Baloo"/>
              </a:rPr>
              <a:t> : có cái nhìn về Observation (Trang 115–125) và so sánh nó với cái kỹ thuật khác (Trang 65–80)</a:t>
            </a:r>
          </a:p>
          <a:p>
            <a:pPr algn="just">
              <a:lnSpc>
                <a:spcPts val="3675"/>
              </a:lnSpc>
            </a:pPr>
            <a:endParaRPr lang="en-US" sz="2625">
              <a:solidFill>
                <a:srgbClr val="5D3505"/>
              </a:solidFill>
              <a:latin typeface="Baloo"/>
              <a:ea typeface="Baloo"/>
              <a:cs typeface="Baloo"/>
              <a:sym typeface="Balo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666" b="-14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427803" y="4487275"/>
            <a:ext cx="13432395" cy="1312449"/>
            <a:chOff x="0" y="0"/>
            <a:chExt cx="3537750" cy="345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37750" cy="345666"/>
            </a:xfrm>
            <a:custGeom>
              <a:avLst/>
              <a:gdLst/>
              <a:ahLst/>
              <a:cxnLst/>
              <a:rect l="l" t="t" r="r" b="b"/>
              <a:pathLst>
                <a:path w="3537750" h="345666">
                  <a:moveTo>
                    <a:pt x="23054" y="0"/>
                  </a:moveTo>
                  <a:lnTo>
                    <a:pt x="3514696" y="0"/>
                  </a:lnTo>
                  <a:cubicBezTo>
                    <a:pt x="3527428" y="0"/>
                    <a:pt x="3537750" y="10322"/>
                    <a:pt x="3537750" y="23054"/>
                  </a:cubicBezTo>
                  <a:lnTo>
                    <a:pt x="3537750" y="322611"/>
                  </a:lnTo>
                  <a:cubicBezTo>
                    <a:pt x="3537750" y="328726"/>
                    <a:pt x="3535321" y="334590"/>
                    <a:pt x="3530998" y="338913"/>
                  </a:cubicBezTo>
                  <a:cubicBezTo>
                    <a:pt x="3526674" y="343237"/>
                    <a:pt x="3520810" y="345666"/>
                    <a:pt x="3514696" y="345666"/>
                  </a:cubicBezTo>
                  <a:lnTo>
                    <a:pt x="23054" y="345666"/>
                  </a:lnTo>
                  <a:cubicBezTo>
                    <a:pt x="16940" y="345666"/>
                    <a:pt x="11076" y="343237"/>
                    <a:pt x="6752" y="338913"/>
                  </a:cubicBezTo>
                  <a:cubicBezTo>
                    <a:pt x="2429" y="334590"/>
                    <a:pt x="0" y="328726"/>
                    <a:pt x="0" y="322611"/>
                  </a:cubicBezTo>
                  <a:lnTo>
                    <a:pt x="0" y="23054"/>
                  </a:lnTo>
                  <a:cubicBezTo>
                    <a:pt x="0" y="16940"/>
                    <a:pt x="2429" y="11076"/>
                    <a:pt x="6752" y="6752"/>
                  </a:cubicBezTo>
                  <a:cubicBezTo>
                    <a:pt x="11076" y="2429"/>
                    <a:pt x="16940" y="0"/>
                    <a:pt x="23054" y="0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  <a:ln w="38100" cap="rnd">
              <a:solidFill>
                <a:srgbClr val="5D3505">
                  <a:alpha val="4470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37750" cy="39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824152" y="8065958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494727" y="6687050"/>
            <a:ext cx="5018049" cy="4114800"/>
          </a:xfrm>
          <a:custGeom>
            <a:avLst/>
            <a:gdLst/>
            <a:ahLst/>
            <a:cxnLst/>
            <a:rect l="l" t="t" r="r" b="b"/>
            <a:pathLst>
              <a:path w="5018049" h="4114800">
                <a:moveTo>
                  <a:pt x="0" y="0"/>
                </a:moveTo>
                <a:lnTo>
                  <a:pt x="5018049" y="0"/>
                </a:lnTo>
                <a:lnTo>
                  <a:pt x="50180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5570681" y="6172200"/>
            <a:ext cx="3022508" cy="4114800"/>
          </a:xfrm>
          <a:custGeom>
            <a:avLst/>
            <a:gdLst/>
            <a:ahLst/>
            <a:cxnLst/>
            <a:rect l="l" t="t" r="r" b="b"/>
            <a:pathLst>
              <a:path w="3022508" h="4114800">
                <a:moveTo>
                  <a:pt x="0" y="0"/>
                </a:moveTo>
                <a:lnTo>
                  <a:pt x="3022508" y="0"/>
                </a:lnTo>
                <a:lnTo>
                  <a:pt x="3022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20031" y="8276779"/>
            <a:ext cx="7315200" cy="2726575"/>
          </a:xfrm>
          <a:custGeom>
            <a:avLst/>
            <a:gdLst/>
            <a:ahLst/>
            <a:cxnLst/>
            <a:rect l="l" t="t" r="r" b="b"/>
            <a:pathLst>
              <a:path w="7315200" h="2726575">
                <a:moveTo>
                  <a:pt x="0" y="0"/>
                </a:moveTo>
                <a:lnTo>
                  <a:pt x="7315200" y="0"/>
                </a:lnTo>
                <a:lnTo>
                  <a:pt x="7315200" y="2726575"/>
                </a:lnTo>
                <a:lnTo>
                  <a:pt x="0" y="27265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734322" y="6651896"/>
            <a:ext cx="3766398" cy="4053523"/>
          </a:xfrm>
          <a:custGeom>
            <a:avLst/>
            <a:gdLst/>
            <a:ahLst/>
            <a:cxnLst/>
            <a:rect l="l" t="t" r="r" b="b"/>
            <a:pathLst>
              <a:path w="3766398" h="4053523">
                <a:moveTo>
                  <a:pt x="0" y="0"/>
                </a:moveTo>
                <a:lnTo>
                  <a:pt x="3766398" y="0"/>
                </a:lnTo>
                <a:lnTo>
                  <a:pt x="3766398" y="4053523"/>
                </a:lnTo>
                <a:lnTo>
                  <a:pt x="0" y="40535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>
            <a:off x="7591729" y="8276779"/>
            <a:ext cx="2087003" cy="2489917"/>
          </a:xfrm>
          <a:custGeom>
            <a:avLst/>
            <a:gdLst/>
            <a:ahLst/>
            <a:cxnLst/>
            <a:rect l="l" t="t" r="r" b="b"/>
            <a:pathLst>
              <a:path w="2087003" h="2489917">
                <a:moveTo>
                  <a:pt x="2087003" y="0"/>
                </a:moveTo>
                <a:lnTo>
                  <a:pt x="0" y="0"/>
                </a:lnTo>
                <a:lnTo>
                  <a:pt x="0" y="2489917"/>
                </a:lnTo>
                <a:lnTo>
                  <a:pt x="2087003" y="2489917"/>
                </a:lnTo>
                <a:lnTo>
                  <a:pt x="208700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321365" y="7454905"/>
            <a:ext cx="2775883" cy="3311791"/>
          </a:xfrm>
          <a:custGeom>
            <a:avLst/>
            <a:gdLst/>
            <a:ahLst/>
            <a:cxnLst/>
            <a:rect l="l" t="t" r="r" b="b"/>
            <a:pathLst>
              <a:path w="2775883" h="3311791">
                <a:moveTo>
                  <a:pt x="0" y="0"/>
                </a:moveTo>
                <a:lnTo>
                  <a:pt x="2775883" y="0"/>
                </a:lnTo>
                <a:lnTo>
                  <a:pt x="2775883" y="3311791"/>
                </a:lnTo>
                <a:lnTo>
                  <a:pt x="0" y="33117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3032076" y="7200900"/>
            <a:ext cx="5085708" cy="4114800"/>
          </a:xfrm>
          <a:custGeom>
            <a:avLst/>
            <a:gdLst/>
            <a:ahLst/>
            <a:cxnLst/>
            <a:rect l="l" t="t" r="r" b="b"/>
            <a:pathLst>
              <a:path w="5085708" h="4114800">
                <a:moveTo>
                  <a:pt x="0" y="0"/>
                </a:moveTo>
                <a:lnTo>
                  <a:pt x="5085708" y="0"/>
                </a:lnTo>
                <a:lnTo>
                  <a:pt x="50857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4704603" y="4843588"/>
            <a:ext cx="599825" cy="599825"/>
          </a:xfrm>
          <a:custGeom>
            <a:avLst/>
            <a:gdLst/>
            <a:ahLst/>
            <a:cxnLst/>
            <a:rect l="l" t="t" r="r" b="b"/>
            <a:pathLst>
              <a:path w="599825" h="599825">
                <a:moveTo>
                  <a:pt x="0" y="0"/>
                </a:moveTo>
                <a:lnTo>
                  <a:pt x="599825" y="0"/>
                </a:lnTo>
                <a:lnTo>
                  <a:pt x="599825" y="599824"/>
                </a:lnTo>
                <a:lnTo>
                  <a:pt x="0" y="59982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10267570">
            <a:off x="13772545" y="-555300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-415197" y="-160405"/>
            <a:ext cx="3766398" cy="3485630"/>
          </a:xfrm>
          <a:custGeom>
            <a:avLst/>
            <a:gdLst/>
            <a:ahLst/>
            <a:cxnLst/>
            <a:rect l="l" t="t" r="r" b="b"/>
            <a:pathLst>
              <a:path w="3766398" h="3485630">
                <a:moveTo>
                  <a:pt x="0" y="0"/>
                </a:moveTo>
                <a:lnTo>
                  <a:pt x="3766398" y="0"/>
                </a:lnTo>
                <a:lnTo>
                  <a:pt x="3766398" y="3485630"/>
                </a:lnTo>
                <a:lnTo>
                  <a:pt x="0" y="348563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 rot="3275562">
            <a:off x="5600018" y="-3199864"/>
            <a:ext cx="5506423" cy="4114800"/>
          </a:xfrm>
          <a:custGeom>
            <a:avLst/>
            <a:gdLst/>
            <a:ahLst/>
            <a:cxnLst/>
            <a:rect l="l" t="t" r="r" b="b"/>
            <a:pathLst>
              <a:path w="5506423" h="4114800">
                <a:moveTo>
                  <a:pt x="0" y="0"/>
                </a:moveTo>
                <a:lnTo>
                  <a:pt x="5506424" y="0"/>
                </a:lnTo>
                <a:lnTo>
                  <a:pt x="55064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0" y="1467850"/>
            <a:ext cx="18288000" cy="261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dirty="0">
                <a:solidFill>
                  <a:schemeClr val="accent6">
                    <a:lumMod val="75000"/>
                  </a:schemeClr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thank you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73916" y="4714875"/>
            <a:ext cx="5002029" cy="771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330E04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 Group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752</Words>
  <Application>Microsoft Office PowerPoint</Application>
  <PresentationFormat>Custom</PresentationFormat>
  <Paragraphs>99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Baloo</vt:lpstr>
      <vt:lpstr>Aptos Black</vt:lpstr>
      <vt:lpstr>Aristotelica Pro Bold</vt:lpstr>
      <vt:lpstr>Bobby Jones Soft</vt:lpstr>
      <vt:lpstr>Arial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Beige Vintage Classic Illustration Paper Project History Presentation</dc:title>
  <cp:lastModifiedBy>Lư Minh Thuận</cp:lastModifiedBy>
  <cp:revision>3</cp:revision>
  <dcterms:created xsi:type="dcterms:W3CDTF">2006-08-16T00:00:00Z</dcterms:created>
  <dcterms:modified xsi:type="dcterms:W3CDTF">2025-01-09T17:11:02Z</dcterms:modified>
  <dc:identifier>DAGbl-e3ncw</dc:identifier>
</cp:coreProperties>
</file>